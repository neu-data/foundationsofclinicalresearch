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Last Saturday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a:t>
            </a:r>
          </a:p>
          <a:p>
            <a:r>
              <a:rPr lang="en-US" sz="1400" b="0" dirty="0"/>
              <a:t>The course dataset FLUID-ICU comes back twice: in 6.2 (comparing groups) and 6.4 (models, survival and missing data). Each group interprets its own results pack; those interpretations become the Results section of the manuscript in Weeks 7-8.</a:t>
            </a:r>
          </a:p>
          <a:p>
            <a:r>
              <a:rPr lang="en-US" sz="1400" b="0" dirty="0"/>
              <a:t>Timing: recap 0:00, 6.1 at 0:10, 6.2 at 0:50, break at 1:10, 6.3 at 1:25, 6.4 at 2:00, proposal builder at 2:25, wrap-up at 2:55.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read each question aloud; 2 minutes alone, 2 with a neighbour, then reveal.</a:t>
            </a:r>
          </a:p>
          <a:p>
            <a:r>
              <a:rPr lang="en-US" sz="1400" b="0" dirty="0"/>
              <a:t>Q1: median (IQR),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Read three or four exit sentences from Session 5 before starting 6.1.</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sample and population, confidence intervals, p-values, a check, errors and power, sample size with a live demo, choosing a test,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day. Take your time.</a:t>
            </a:r>
          </a:p>
          <a:p>
            <a:r>
              <a:rPr lang="en-US" sz="1400" b="0" dirty="0"/>
              <a:t>We simulated the same study 20 times, 25 patients each, from a population where the true mean fluid balance is 30 ml/kg (dashed line). Each study gives a different estimate (dot) and a different 95%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Avoid saying 'the p-value is the probability that the result is due to chance'; see the next slide.</a:t>
            </a:r>
          </a:p>
          <a:p>
            <a:r>
              <a:rPr lang="en-US" sz="1400" b="0" dirty="0"/>
              <a:t>Ask: does a small p-value tell you the effect is big? Expected: no. That is misinterpretation number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Ask the room to vote 'true or false' on each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blueprint's appraisal checklist asks exactly this: no 'trend' for p = 0.42.</a:t>
            </a:r>
          </a:p>
          <a:p>
            <a:r>
              <a:rPr lang="en-US" sz="1400" b="0" dirty="0"/>
              <a:t>5. 'Results: p = 0.02.' Not enough: the reader needs the size of the effect and its uncertainty. Paper 2 does it right: HR 2.13 (95% CI 1.48-3.06), p &lt; 0.001.</a:t>
            </a:r>
          </a:p>
          <a:p>
            <a:r>
              <a:rPr lang="en-US" sz="1400" b="0" dirty="0"/>
              <a:t>These five statements are in the true/false exercise in the participant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Show of hands or coloured cards (green true, red false) for each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room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which error is worse when testing a new, expensive and risky drug? And for a cheap, safe intervention? There is no single right answer; let the room debate for one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SD). Alpha and power are usually fixed at 5%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If short of time, do Steps 2 and 3 only. Full script with expected outputs in Course/Demos/s6_demo.md.</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Expected: about 356 per group without continuity correction (about 376 with it). Different methods give slightly different numbers; that is normal.</a:t>
            </a:r>
          </a:p>
          <a:p>
            <a:r>
              <a:rPr lang="en-US" sz="1400" b="0" dirty="0"/>
              <a:t>Step 4: change one input at a time: power 90% (n rises to about 477 per group); difference 40% vs 35% (n rises above 1400 per group). Ask the room to predict the direction before you click.</a:t>
            </a:r>
          </a:p>
          <a:p>
            <a:r>
              <a:rPr lang="en-US" sz="1400" b="0" dirty="0"/>
              <a:t>Step 5: if the internet fails, open Course/Resources/tools/sample_size_calculator.xlsx and show the same three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chart is one of the take-home tools of the course. It is also the basis of the 'choose the test' exercise.</a:t>
            </a:r>
          </a:p>
          <a:p>
            <a:r>
              <a:rPr lang="en-US" sz="1400" b="0" dirty="0"/>
              <a:t>Ask: comparing the proportion with AKI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chart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For each scenario, the room calls out the test using the decision chart (number or category? shape or counts? paired?).</a:t>
            </a:r>
          </a:p>
          <a:p>
            <a:r>
              <a:rPr lang="en-US" sz="1400" b="0" dirty="0"/>
              <a:t>1. Mann-Whitney U: numerical, skewed, two independent groups (this is the FLUID-ICU ICU-stay question).</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a 6-minute live demo of the tests, the results table, a worked example, then 7 minutes for groups to interpret their own comparison).</a:t>
            </a:r>
          </a:p>
          <a:p>
            <a:r>
              <a:rPr lang="en-US" sz="1400" b="0" dirty="0"/>
              <a:t>Key message: the decision chart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Course/Demos/s6_demo.md (Part B), using Course/Data/R/03_compare.R.</a:t>
            </a:r>
          </a:p>
          <a:p>
            <a:r>
              <a:rPr lang="en-US" sz="1400" b="0" dirty="0"/>
              <a:t>For each comparison, ask the room to name the test BEFORE you run it (decision chart).</a:t>
            </a:r>
          </a:p>
          <a:p>
            <a:r>
              <a:rPr lang="en-US" sz="1400" b="0" dirty="0"/>
              <a:t>Show: age with a t-test; SOFA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134/373 (35.9%) vs 45/245 (18.4%); risk difference 17.6 percentage points (95% CI 10.7 to 24.4); RR 1.96; chi-square p &lt; 0.001.</a:t>
            </a:r>
          </a:p>
          <a:p>
            <a:r>
              <a:rPr lang="en-US" sz="1400" b="0" dirty="0"/>
              <a:t>AKI (binary): 230/373 (61.7%) vs 71/245 (29.0%); chi-square p &lt; 0.001.</a:t>
            </a:r>
          </a:p>
          <a:p>
            <a:r>
              <a:rPr lang="en-US" sz="1400" b="0" dirty="0"/>
              <a:t>Ventilator-free days (count 0-28, piled up at 0 and 28): median 20 (0 to 28) vs 28 (22 to 28); Mann-Whitney p &lt; 0.001.</a:t>
            </a:r>
          </a:p>
          <a:p>
            <a:r>
              <a:rPr lang="en-US" sz="1400" b="0" dirty="0"/>
              <a:t>ICU stay in survivors (skewed): median 7.5 (5.2 to 11.2) vs 4.8 (3.3 to 7.1) days; Mann-Whitney p &lt; 0.001; Hodges-Lehmann difference 2.5 days (95% CI 1.8 to 3.2).</a:t>
            </a:r>
          </a:p>
          <a:p>
            <a:r>
              <a:rPr lang="en-US" sz="1400" b="0" dirty="0"/>
              <a:t>All unadjusted: the positive-balance group was sicker at the start (Table 1). These differences mix the effect of fluid with the effect of severity. That is why 6.4 adjusts.</a:t>
            </a:r>
          </a:p>
          <a:p>
            <a:r>
              <a:rPr lang="en-US" sz="1400" b="0" dirty="0"/>
              <a:t>Ask: which number would you put in the abstract for death: p &lt; 0.001, or the risk difference with its CI? Expected: the risk difference with its CI (and later the adjusted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4; model answers in s6_solutions.md.</a:t>
            </a:r>
          </a:p>
          <a:p>
            <a:r>
              <a:rPr lang="en-US" sz="1400" b="1" dirty="0"/>
              <a:t>Model sentences by question:</a:t>
            </a:r>
          </a:p>
          <a:p>
            <a:r>
              <a:rPr lang="en-US" sz="1400" b="0" dirty="0"/>
              <a:t>Q1: mortality 35.9% vs 18.4% (risk difference 17.6 points, 95% CI 10.7 to 24.4).</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Reason for bias (all groups): confounding by indication; the positive-balance group was sicker.</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open 04_models.R and 05_missing.R on the projector laptop and check the fallback figures for 6.4.</a:t>
            </a:r>
          </a:p>
          <a:p>
            <a:r>
              <a:rPr lang="en-US" sz="1400" b="0" dirty="0"/>
              <a:t>Collect the questions groups noted about their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correlation, linear and logistic regression, which model, adjustment, reading a regression table with a 5-minute check, overfitting, survival analysis and the running-example forest plot; interaction, null values and prediction/ML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a study of length of stay in days analysed as a number. Which model and which no-effect value? Expected: linear, 0. (A statistician may choose a different model for skewed data, but the reading principle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on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shown in red: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in pairs (5 minutes: 3 in pairs, 2 feedback). Table and answer key in Course/Practicals/s6_exercises.md and Course/Solutions/s6_solutions.md (exercise 5).</a:t>
            </a:r>
          </a:p>
          <a:p>
            <a:r>
              <a:rPr lang="en-US" sz="1400" b="0" dirty="0"/>
              <a:t>What to listen for: correct reference groups ('vs no'), the word 'odds' rather than 'risk', 'associated with' rather than 'causes', and correct reading of CIs that include 1.</a:t>
            </a:r>
          </a:p>
          <a:p>
            <a:r>
              <a:rPr lang="en-US" sz="1400" b="0" dirty="0"/>
              <a:t>Model sentence for the main exposure: 'After adjusting for age, sex and severity, patients who received benzodiazepines had about twice the odds of developing delirium (OR 2.1, 95% CI 1.4 to 3.2).'</a:t>
            </a:r>
          </a:p>
          <a:p>
            <a:r>
              <a:rPr lang="en-US" sz="1400" b="0" dirty="0"/>
              <a:t>The authors' conclusion question and the Kaplan-Meier exercise (6) can be homework.</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(section 6.4).</a:t>
            </a:r>
          </a:p>
          <a:p>
            <a:r>
              <a:rPr lang="en-US" sz="1400" b="0" dirty="0"/>
              <a:t>Paper 2 shows exactly this kind of figure (Kaplan-Meier survival to day 28 in its matched cohorts).</a:t>
            </a:r>
          </a:p>
          <a:p>
            <a:r>
              <a:rPr lang="en-US" sz="1400" b="0" dirty="0"/>
              <a:t>Ask: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the SAP, crude vs adjusted OR, the adjusted model, Kaplan-Meier and Cox, missing lactate, complete-case vs multiple imputation, then a 7-minute group worksheet).</a:t>
            </a:r>
          </a:p>
          <a:p>
            <a:r>
              <a:rPr lang="en-US" sz="1400" b="0" dirty="0"/>
              <a:t>Key message: this is 6.3 (models) applied to FLUID-ICU, and the payoff of Weeks 5-6: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from 6.3 / Session 6 exists for FLUID-ICU. Show Course/Data/SAP_FLUID-ICU.md on screen.</a:t>
            </a:r>
          </a:p>
          <a:p>
            <a:r>
              <a:rPr lang="en-US" sz="1400" b="0" dirty="0"/>
              <a:t>Primary analysis: 28-day mortality by multivariable logistic regression; effect measure: odds ratio with 95% CI; the crude OR and the risk difference are also reported.</a:t>
            </a:r>
          </a:p>
          <a:p>
            <a:r>
              <a:rPr lang="en-US" sz="1400" b="0" dirty="0"/>
              <a:t>Confounders chosen in advance from clinical knowledge (a simple causal diagram): age; severity (SOFA, lactate, vasopressor, mechanical ventilation); chronic kidney disease. Variables measured after day 3 (AKI,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why does writing this first protect the authors? Expected: nobody can accuse them of choosing the analysis that gave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Take 4 minutes.</a:t>
            </a:r>
          </a:p>
          <a:p>
            <a:r>
              <a:rPr lang="en-US" sz="1400" b="0" dirty="0"/>
              <a:t>Crude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a:t>
            </a:r>
          </a:p>
          <a:p>
            <a:r>
              <a:rPr lang="en-US" sz="1400" b="0" dirty="0"/>
              <a:t>Ask: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8; model answers in s6_solutions.md.</a:t>
            </a:r>
          </a:p>
          <a:p>
            <a:r>
              <a:rPr lang="en-US" sz="1400" b="1" dirty="0"/>
              <a:t>Key numbers by question (all in key_results.md and the results packs):</a:t>
            </a:r>
          </a:p>
          <a:p>
            <a:r>
              <a:rPr lang="en-US" sz="1400" b="0" dirty="0"/>
              <a:t>Q1: crude OR 2.49 (1.70 to 3.70), adjusted 1.62 (1.02 to 2.59); Cox adjusted HR 1.46 (1.00 to 2.13); MI adjusted OR 1.70 (1.09 to 2.64).</a:t>
            </a:r>
          </a:p>
          <a:p>
            <a:r>
              <a:rPr lang="en-US" sz="1400" b="0" dirty="0"/>
              <a:t>Q2: AKI OR per 10 ml/kg crude 1.37 (1.27 to 1.47), adjusted 1.27 (1.16 to 1.40).</a:t>
            </a:r>
          </a:p>
          <a:p>
            <a:r>
              <a:rPr lang="en-US" sz="1400" b="0" dirty="0"/>
              <a:t>Q3: ventilator-free days per 10 ml/kg crude -1.48 (-1.84 to -1.13), adjusted -0.61 (-1.00 to -0.21) days.</a:t>
            </a:r>
          </a:p>
          <a:p>
            <a:r>
              <a:rPr lang="en-US" sz="1400" b="0" dirty="0"/>
              <a:t>Q4: lactate OR per 1 mmol/L adjusted CC 1.39 (1.24 to 1.57) vs MI 1.45 (1.29 to 1.64).</a:t>
            </a:r>
          </a:p>
          <a:p>
            <a:r>
              <a:rPr lang="en-US" sz="1400" b="0" dirty="0"/>
              <a:t>Q5: ICU stay ratio of geometric means crude 1.50 (1.34 to 1.68),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drafted in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Imputation and sensitivity analyses are Level 2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Groups complete Part 3 of the proposal template; the worksheet (Session 6 exercises, exercise 9) has the same headings.</a:t>
            </a:r>
          </a:p>
          <a:p>
            <a:r>
              <a:rPr lang="en-US" sz="1400" b="0" dirty="0"/>
              <a:t>Call the time at 8, 18, 23 and 30 minutes.</a:t>
            </a:r>
          </a:p>
          <a:p>
            <a:r>
              <a:rPr lang="en-US" sz="1400" b="0" dirty="0"/>
              <a:t>Facilitators circulate and ask: Is your outcome a number, a category or time-to-event, so which test or model? Where does your expected effect size come from? What is most likely to be missing, and why (MCAR / MAR / MNAR thinking)?</a:t>
            </a:r>
          </a:p>
          <a:p>
            <a:r>
              <a:rPr lang="en-US" sz="1400" b="0" dirty="0"/>
              <a:t>The FLUID-ICU SAP is a good model: groups have just seen that it was written before the analysis.</a:t>
            </a:r>
          </a:p>
          <a:p>
            <a:r>
              <a:rPr lang="en-US" sz="1400" b="0" dirty="0"/>
              <a:t>Sample size: groups need the four inputs and a source, not necessarily a final number. Offer to run the spreadsheet for them.</a:t>
            </a:r>
          </a:p>
          <a:p>
            <a:r>
              <a:rPr lang="en-US" sz="1400" b="0" dirty="0"/>
              <a:t>Common problems: 'SPSS will be used' as the analysis plan; stepwise selection; no word on missing data; sample size = 'all patients we can get'.</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a:t>
            </a:r>
          </a:p>
          <a:p>
            <a:r>
              <a:rPr lang="en-US" sz="1400" b="0" dirty="0"/>
              <a:t>95% CI: range of plausible values. p-value: how surprising the data would be if there were no effect.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after accounting for confounders. Hazard ratio: ratio of death rates over time (Cox). Censoring: follow-up ended without the event.</a:t>
            </a:r>
          </a:p>
          <a:p>
            <a:r>
              <a:rPr lang="en-US" sz="1400" b="0" dirty="0"/>
              <a:t>SAP: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missing lactate was reported, handled with multiple imputation and checked against complete-case analysis.</a:t>
            </a:r>
          </a:p>
          <a:p>
            <a:r>
              <a:rPr lang="en-US" sz="1400" b="0" dirty="0"/>
              <a:t>Next two Saturdays: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A good answer: 'The true hazard ratio is plausibly between 1.48 and 3.06; all values are above 1, so the data suggest higher mortality.' Read a few at the start of Session 7.</a:t>
            </a:r>
          </a:p>
          <a:p>
            <a:r>
              <a:rPr lang="en-US" sz="1400" b="0" dirty="0"/>
              <a:t>Homework: finish Part 3 of the proposal; start preparing the 6-minute presentation (6 slides, Course/Assignment/presentation_guide.md); re-read the group's results pack and the group interpretation worksheet, which become the Methods and Results drafted in Session 7; optional exercises in the Session 6 worksheet.</a:t>
            </a:r>
          </a:p>
          <a:p>
            <a:r>
              <a:rPr lang="en-US" sz="1400" b="0" dirty="0"/>
              <a:t>Thank the room: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6.3 (interaction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2's question.</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3's question.</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 coming up).</a:t>
            </a:r>
          </a:p>
          <a:p>
            <a:r>
              <a:rPr lang="en-US" sz="1400" b="0" dirty="0"/>
              <a:t>Ask: if we had studied 400 patients instead of 40, what would happen to the interval? Expected: narrower. That is the dance of the confidence intervals and the sample-size slide in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Sessions 7-8's appraisal.</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(6.3 and 6.4).</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(6.3 and 6.4)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see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today: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alone (2 min), then compare with your neighbour (2 min)</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 (reveal after)</a:t>
            </a:r>
          </a:p>
          <a:p>
            <a:pPr marL="274320" indent="-274320" algn="l">
              <a:lnSpc>
                <a:spcPct val="104000"/>
              </a:lnSpc>
              <a:spcBef>
                <a:spcPts val="300"/>
              </a:spcBef>
              <a:buFont typeface="Arial"/>
              <a:buChar char="•"/>
            </a:pPr>
            <a:r>
              <a:rPr lang="en-US" sz="1500" dirty="0">
                <a:solidFill>
                  <a:srgbClr val="000000"/>
                </a:solidFill>
                <a:latin typeface="Arial"/>
                <a:cs typeface="Arial"/>
              </a:rPr>
              <a:t>Q1: median (IQR)</a:t>
            </a:r>
          </a:p>
          <a:p>
            <a:pPr marL="274320" indent="-274320" algn="l">
              <a:lnSpc>
                <a:spcPct val="104000"/>
              </a:lnSpc>
              <a:spcBef>
                <a:spcPts val="300"/>
              </a:spcBef>
              <a:buFont typeface="Arial"/>
              <a:buChar char="•"/>
            </a:pPr>
            <a:r>
              <a:rPr lang="en-US" sz="1500" dirty="0">
                <a:solidFill>
                  <a:srgbClr val="000000"/>
                </a:solidFill>
                <a:latin typeface="Arial"/>
                <a:cs typeface="Arial"/>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is NOT the chance</a:t>
            </a:r>
          </a:p>
          <a:p>
            <a:pPr marL="0" indent="0" algn="l">
              <a:lnSpc>
                <a:spcPct val="104000"/>
              </a:lnSpc>
              <a:spcBef>
                <a:spcPts val="400"/>
              </a:spcBef>
              <a:buNone/>
            </a:pPr>
            <a:r>
              <a:rPr lang="en-US" sz="1450" dirty="0">
                <a:solidFill>
                  <a:srgbClr val="000000"/>
                </a:solidFill>
                <a:latin typeface="Arial"/>
                <a:cs typeface="Arial"/>
              </a:rPr>
              <a:t>that there is no effect</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Small p is NOT</a:t>
            </a:r>
          </a:p>
          <a:p>
            <a:pPr marL="0" indent="0" algn="l">
              <a:lnSpc>
                <a:spcPct val="104000"/>
              </a:lnSpc>
              <a:spcBef>
                <a:spcPts val="400"/>
              </a:spcBef>
              <a:buNone/>
            </a:pPr>
            <a:r>
              <a:rPr lang="en-US" sz="1450" dirty="0">
                <a:solidFill>
                  <a:srgbClr val="000000"/>
                </a:solidFill>
                <a:latin typeface="Arial"/>
                <a:cs typeface="Arial"/>
              </a:rPr>
              <a:t>a big or important effect</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&gt; 0.05 is NOT</a:t>
            </a:r>
          </a:p>
          <a:p>
            <a:pPr marL="0" indent="0" algn="l">
              <a:lnSpc>
                <a:spcPct val="104000"/>
              </a:lnSpc>
              <a:spcBef>
                <a:spcPts val="400"/>
              </a:spcBef>
              <a:buNone/>
            </a:pPr>
            <a:r>
              <a:rPr lang="en-US" sz="1450" dirty="0">
                <a:solidFill>
                  <a:srgbClr val="000000"/>
                </a:solidFill>
                <a:latin typeface="Arial"/>
                <a:cs typeface="Arial"/>
              </a:rPr>
              <a:t>proof of no effect</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 0.08 is NOT</a:t>
            </a:r>
          </a:p>
          <a:p>
            <a:pPr marL="0" indent="0" algn="l">
              <a:lnSpc>
                <a:spcPct val="104000"/>
              </a:lnSpc>
              <a:spcBef>
                <a:spcPts val="400"/>
              </a:spcBef>
              <a:buNone/>
            </a:pPr>
            <a:r>
              <a:rPr lang="en-US" sz="1450" dirty="0">
                <a:solidFill>
                  <a:srgbClr val="000000"/>
                </a:solidFill>
                <a:latin typeface="Arial"/>
                <a:cs typeface="Arial"/>
              </a:rPr>
              <a:t>'almost significant'</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alone is NOT enough:</a:t>
            </a:r>
          </a:p>
          <a:p>
            <a:pPr marL="0" indent="0" algn="l">
              <a:lnSpc>
                <a:spcPct val="104000"/>
              </a:lnSpc>
              <a:spcBef>
                <a:spcPts val="400"/>
              </a:spcBef>
              <a:buNone/>
            </a:pPr>
            <a:r>
              <a:rPr lang="en-US" sz="1450" dirty="0">
                <a:solidFill>
                  <a:srgbClr val="000000"/>
                </a:solidFill>
                <a:latin typeface="Arial"/>
                <a:cs typeface="Arial"/>
              </a:rPr>
              <a:t>give effect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2.13 (95% CI 1.48-3.06)':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True</a:t>
            </a:r>
          </a:p>
          <a:p>
            <a:pPr marL="274320" indent="-274320" algn="l">
              <a:lnSpc>
                <a:spcPct val="104000"/>
              </a:lnSpc>
              <a:spcBef>
                <a:spcPts val="300"/>
              </a:spcBef>
              <a:buFont typeface="Arial"/>
              <a:buChar char="•"/>
            </a:pPr>
            <a:r>
              <a:rPr lang="en-US" sz="1500" dirty="0">
                <a:solidFill>
                  <a:srgbClr val="000000"/>
                </a:solidFill>
                <a:latin typeface="Arial"/>
                <a:cs typeface="Arial"/>
              </a:rPr>
              <a:t>False: we do not know</a:t>
            </a:r>
          </a:p>
          <a:p>
            <a:pPr marL="274320" indent="-274320" algn="l">
              <a:lnSpc>
                <a:spcPct val="104000"/>
              </a:lnSpc>
              <a:spcBef>
                <a:spcPts val="300"/>
              </a:spcBef>
              <a:buFont typeface="Arial"/>
              <a:buChar char="•"/>
            </a:pPr>
            <a:r>
              <a:rPr lang="en-US" sz="1500" dirty="0">
                <a:solidFill>
                  <a:srgbClr val="000000"/>
                </a:solidFill>
                <a:latin typeface="Arial"/>
                <a:cs typeface="Arial"/>
              </a:rPr>
              <a:t>False: p assumes no effect</a:t>
            </a:r>
          </a:p>
          <a:p>
            <a:pPr marL="274320" indent="-274320" algn="l">
              <a:lnSpc>
                <a:spcPct val="104000"/>
              </a:lnSpc>
              <a:spcBef>
                <a:spcPts val="300"/>
              </a:spcBef>
              <a:buFont typeface="Arial"/>
              <a:buChar char="•"/>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Alpha = risk of a false alarm; power = chance of detecting a real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in the browser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35, power 80%, alpha 5% →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and watch the number move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What changes n?</a:t>
            </a:r>
          </a:p>
          <a:p>
            <a:pPr marL="274320" indent="-274320" algn="l">
              <a:lnSpc>
                <a:spcPct val="104000"/>
              </a:lnSpc>
              <a:spcBef>
                <a:spcPts val="300"/>
              </a:spcBef>
              <a:buFont typeface="Arial"/>
              <a:buChar char="•"/>
            </a:pPr>
            <a:r>
              <a:rPr lang="en-US" sz="1500" dirty="0">
                <a:solidFill>
                  <a:srgbClr val="000000"/>
                </a:solidFill>
                <a:latin typeface="Arial"/>
                <a:cs typeface="Arial"/>
              </a:rPr>
              <a:t>Smaller effect: n goes UP</a:t>
            </a:r>
          </a:p>
          <a:p>
            <a:pPr marL="274320" indent="-274320" algn="l">
              <a:lnSpc>
                <a:spcPct val="104000"/>
              </a:lnSpc>
              <a:spcBef>
                <a:spcPts val="300"/>
              </a:spcBef>
              <a:buFont typeface="Arial"/>
              <a:buChar char="•"/>
            </a:pPr>
            <a:r>
              <a:rPr lang="en-US" sz="1500" dirty="0">
                <a:solidFill>
                  <a:srgbClr val="000000"/>
                </a:solidFill>
                <a:latin typeface="Arial"/>
                <a:cs typeface="Arial"/>
              </a:rPr>
              <a:t>More noise (SD): n goes UP</a:t>
            </a:r>
          </a:p>
          <a:p>
            <a:pPr marL="274320" indent="-274320" algn="l">
              <a:lnSpc>
                <a:spcPct val="104000"/>
              </a:lnSpc>
              <a:spcBef>
                <a:spcPts val="300"/>
              </a:spcBef>
              <a:buFont typeface="Arial"/>
              <a:buChar char="•"/>
            </a:pPr>
            <a:r>
              <a:rPr lang="en-US" sz="1500" dirty="0">
                <a:solidFill>
                  <a:srgbClr val="000000"/>
                </a:solidFill>
                <a:latin typeface="Arial"/>
                <a:cs typeface="Arial"/>
              </a:rPr>
              <a:t>More power: n goes UP</a:t>
            </a:r>
          </a:p>
          <a:p>
            <a:pPr marL="274320" indent="-274320" algn="l">
              <a:lnSpc>
                <a:spcPct val="104000"/>
              </a:lnSpc>
              <a:spcBef>
                <a:spcPts val="300"/>
              </a:spcBef>
              <a:buFont typeface="Arial"/>
              <a:buChar char="•"/>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Groups know which 4 numbers they need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Outcome type + shape + paired or not =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Mann-Whitney U</a:t>
            </a:r>
          </a:p>
          <a:p>
            <a:pPr marL="274320" indent="-274320" algn="l">
              <a:lnSpc>
                <a:spcPct val="104000"/>
              </a:lnSpc>
              <a:spcBef>
                <a:spcPts val="300"/>
              </a:spcBef>
              <a:buFont typeface="Arial"/>
              <a:buChar char="•"/>
            </a:pPr>
            <a:r>
              <a:rPr lang="en-US" sz="1500" dirty="0">
                <a:solidFill>
                  <a:srgbClr val="000000"/>
                </a:solidFill>
                <a:latin typeface="Arial"/>
                <a:cs typeface="Arial"/>
              </a:rPr>
              <a:t>Chi-square</a:t>
            </a:r>
          </a:p>
          <a:p>
            <a:pPr marL="274320" indent="-274320" algn="l">
              <a:lnSpc>
                <a:spcPct val="104000"/>
              </a:lnSpc>
              <a:spcBef>
                <a:spcPts val="300"/>
              </a:spcBef>
              <a:buFont typeface="Arial"/>
              <a:buChar char="•"/>
            </a:pPr>
            <a:r>
              <a:rPr lang="en-US" sz="1500" dirty="0">
                <a:solidFill>
                  <a:srgbClr val="000000"/>
                </a:solidFill>
                <a:latin typeface="Arial"/>
                <a:cs typeface="Arial"/>
              </a:rPr>
              <a:t>Paired t-test</a:t>
            </a:r>
          </a:p>
          <a:p>
            <a:pPr marL="274320" indent="-274320" algn="l">
              <a:lnSpc>
                <a:spcPct val="104000"/>
              </a:lnSpc>
              <a:spcBef>
                <a:spcPts val="300"/>
              </a:spcBef>
              <a:buFont typeface="Arial"/>
              <a:buChar char="•"/>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chart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Decision chart</a:t>
            </a:r>
          </a:p>
          <a:p>
            <a:pPr marL="274320" indent="-274320" algn="l">
              <a:lnSpc>
                <a:spcPct val="104000"/>
              </a:lnSpc>
              <a:spcBef>
                <a:spcPts val="300"/>
              </a:spcBef>
              <a:buFont typeface="Arial"/>
              <a:buChar char="•"/>
            </a:pPr>
            <a:r>
              <a:rPr lang="en-US" sz="1500" dirty="0">
                <a:solidFill>
                  <a:srgbClr val="000000"/>
                </a:solidFill>
                <a:latin typeface="Arial"/>
                <a:cs typeface="Arial"/>
              </a:rPr>
              <a:t>Number or category?</a:t>
            </a:r>
          </a:p>
          <a:p>
            <a:pPr marL="274320" indent="-274320" algn="l">
              <a:lnSpc>
                <a:spcPct val="104000"/>
              </a:lnSpc>
              <a:spcBef>
                <a:spcPts val="300"/>
              </a:spcBef>
              <a:buFont typeface="Arial"/>
              <a:buChar char="•"/>
            </a:pPr>
            <a:r>
              <a:rPr lang="en-US" sz="1500" dirty="0">
                <a:solidFill>
                  <a:srgbClr val="000000"/>
                </a:solidFill>
                <a:latin typeface="Arial"/>
                <a:cs typeface="Arial"/>
              </a:rPr>
              <a:t>Symmetric or skewed?</a:t>
            </a:r>
          </a:p>
          <a:p>
            <a:pPr marL="274320" indent="-274320" algn="l">
              <a:lnSpc>
                <a:spcPct val="104000"/>
              </a:lnSpc>
              <a:spcBef>
                <a:spcPts val="300"/>
              </a:spcBef>
              <a:buFont typeface="Arial"/>
              <a:buChar char="•"/>
            </a:pPr>
            <a:r>
              <a:rPr lang="en-US" sz="1500" dirty="0">
                <a:solidFill>
                  <a:srgbClr val="000000"/>
                </a:solidFill>
                <a:latin typeface="Arial"/>
                <a:cs typeface="Arial"/>
              </a:rPr>
              <a:t>Paired or not?</a:t>
            </a:r>
          </a:p>
          <a:p>
            <a:pPr marL="274320" indent="-274320" algn="l">
              <a:lnSpc>
                <a:spcPct val="104000"/>
              </a:lnSpc>
              <a:spcBef>
                <a:spcPts val="300"/>
              </a:spcBef>
              <a:buFont typeface="Arial"/>
              <a:buChar char="•"/>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134/373 = 35.9%</a:t>
            </a:r>
          </a:p>
          <a:p>
            <a:pPr marL="0" indent="0" algn="l">
              <a:lnSpc>
                <a:spcPct val="104000"/>
              </a:lnSpc>
              <a:spcBef>
                <a:spcPts val="200"/>
              </a:spcBef>
              <a:buNone/>
            </a:pPr>
            <a:r>
              <a:rPr lang="en-US" sz="1500" dirty="0">
                <a:solidFill>
                  <a:srgbClr val="000000"/>
                </a:solidFill>
                <a:latin typeface="Arial"/>
                <a:cs typeface="Arial"/>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17.6 percentage points</a:t>
            </a:r>
          </a:p>
          <a:p>
            <a:pPr marL="0" indent="0" algn="l">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RR 1.96:</a:t>
            </a:r>
          </a:p>
          <a:p>
            <a:pPr marL="0" indent="0" algn="l">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Chi-square</a:t>
            </a:r>
          </a:p>
          <a:p>
            <a:pPr marL="0" indent="0" algn="l">
              <a:lnSpc>
                <a:spcPct val="104000"/>
              </a:lnSpc>
              <a:spcBef>
                <a:spcPts val="200"/>
              </a:spcBef>
              <a:buNone/>
            </a:pPr>
            <a:r>
              <a:rPr lang="en-US" sz="1500" dirty="0">
                <a:solidFill>
                  <a:srgbClr val="000000"/>
                </a:solidFill>
                <a:latin typeface="Arial"/>
                <a:cs typeface="Arial"/>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Unadjusted:</a:t>
            </a:r>
          </a:p>
          <a:p>
            <a:pPr marL="0" indent="0" algn="l">
              <a:lnSpc>
                <a:spcPct val="104000"/>
              </a:lnSpc>
              <a:spcBef>
                <a:spcPts val="200"/>
              </a:spcBef>
              <a:buNone/>
            </a:pPr>
            <a:r>
              <a:rPr lang="en-US" sz="1500" dirty="0">
                <a:solidFill>
                  <a:srgbClr val="000000"/>
                </a:solidFill>
                <a:latin typeface="Arial"/>
                <a:cs typeface="Arial"/>
              </a:rPr>
              <a:t>sicker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your group's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Find your outcome in your results pack (comparison table)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the result as an effect with its 95% CI (or medians with IQR)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one sentence for your Results section: no 'significant' alone, no causal words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Note one reason the comparison could be biased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Avoid</a:t>
            </a:r>
          </a:p>
          <a:p>
            <a:pPr marL="274320" indent="-274320" algn="l">
              <a:lnSpc>
                <a:spcPct val="104000"/>
              </a:lnSpc>
              <a:spcBef>
                <a:spcPts val="300"/>
              </a:spcBef>
              <a:buFont typeface="Arial"/>
              <a:buChar char="•"/>
            </a:pPr>
            <a:r>
              <a:rPr lang="en-US" sz="1500" dirty="0">
                <a:solidFill>
                  <a:srgbClr val="000000"/>
                </a:solidFill>
                <a:latin typeface="Arial"/>
                <a:cs typeface="Arial"/>
              </a:rPr>
              <a:t>p-value alone</a:t>
            </a:r>
          </a:p>
          <a:p>
            <a:pPr marL="274320" indent="-274320" algn="l">
              <a:lnSpc>
                <a:spcPct val="104000"/>
              </a:lnSpc>
              <a:spcBef>
                <a:spcPts val="300"/>
              </a:spcBef>
              <a:buFont typeface="Arial"/>
              <a:buChar char="•"/>
            </a:pPr>
            <a:r>
              <a:rPr lang="en-US" sz="1500" dirty="0">
                <a:solidFill>
                  <a:srgbClr val="000000"/>
                </a:solidFill>
                <a:latin typeface="Arial"/>
                <a:cs typeface="Arial"/>
              </a:rPr>
              <a:t>'proves', 'causes'</a:t>
            </a:r>
          </a:p>
          <a:p>
            <a:pPr marL="274320" indent="-274320" algn="l">
              <a:lnSpc>
                <a:spcPct val="104000"/>
              </a:lnSpc>
              <a:spcBef>
                <a:spcPts val="300"/>
              </a:spcBef>
              <a:buFont typeface="Arial"/>
              <a:buChar char="•"/>
            </a:pPr>
            <a:r>
              <a:rPr lang="en-US" sz="1500" dirty="0">
                <a:solidFill>
                  <a:srgbClr val="000000"/>
                </a:solidFill>
                <a:latin typeface="Arial"/>
                <a:cs typeface="Arial"/>
              </a:rPr>
              <a:t>'trend' for p &gt; 0.05</a:t>
            </a:r>
          </a:p>
          <a:p>
            <a:pPr marL="274320" indent="-274320" algn="l">
              <a:lnSpc>
                <a:spcPct val="104000"/>
              </a:lnSpc>
              <a:spcBef>
                <a:spcPts val="300"/>
              </a:spcBef>
              <a:buFont typeface="Arial"/>
              <a:buChar char="•"/>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your outcome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Stretch, coffee, fresh air</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Groups: note one question about your comparison results</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We restart with 6.3: relationships and models</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After the break</a:t>
            </a:r>
          </a:p>
          <a:p>
            <a:pPr marL="274320" indent="-274320" algn="l">
              <a:lnSpc>
                <a:spcPct val="104000"/>
              </a:lnSpc>
              <a:spcBef>
                <a:spcPts val="300"/>
              </a:spcBef>
              <a:buFont typeface="Arial"/>
              <a:buChar char="•"/>
            </a:pPr>
            <a:r>
              <a:rPr lang="en-US" sz="1500" dirty="0">
                <a:solidFill>
                  <a:srgbClr val="000000"/>
                </a:solidFill>
                <a:latin typeface="Arial"/>
                <a:cs typeface="Arial"/>
              </a:rPr>
              <a:t>Correlation</a:t>
            </a:r>
          </a:p>
          <a:p>
            <a:pPr marL="274320" indent="-274320" algn="l">
              <a:lnSpc>
                <a:spcPct val="104000"/>
              </a:lnSpc>
              <a:spcBef>
                <a:spcPts val="300"/>
              </a:spcBef>
              <a:buFont typeface="Arial"/>
              <a:buChar char="•"/>
            </a:pPr>
            <a:r>
              <a:rPr lang="en-US" sz="1500" dirty="0">
                <a:solidFill>
                  <a:srgbClr val="000000"/>
                </a:solidFill>
                <a:latin typeface="Arial"/>
                <a:cs typeface="Arial"/>
              </a:rPr>
              <a:t>Linear and logistic regression</a:t>
            </a:r>
          </a:p>
          <a:p>
            <a:pPr marL="274320" indent="-274320" algn="l">
              <a:lnSpc>
                <a:spcPct val="104000"/>
              </a:lnSpc>
              <a:spcBef>
                <a:spcPts val="300"/>
              </a:spcBef>
              <a:buFont typeface="Arial"/>
              <a:buChar char="•"/>
            </a:pPr>
            <a:r>
              <a:rPr lang="en-US" sz="1500" dirty="0">
                <a:solidFill>
                  <a:srgbClr val="000000"/>
                </a:solidFill>
                <a:latin typeface="Arial"/>
                <a:cs typeface="Arial"/>
              </a:rPr>
              <a:t>Adjustment</a:t>
            </a:r>
          </a:p>
          <a:p>
            <a:pPr marL="274320" indent="-274320" algn="l">
              <a:lnSpc>
                <a:spcPct val="104000"/>
              </a:lnSpc>
              <a:spcBef>
                <a:spcPts val="300"/>
              </a:spcBef>
              <a:buFont typeface="Arial"/>
              <a:buChar char="•"/>
            </a:pPr>
            <a:r>
              <a:rPr lang="en-US" sz="1500" dirty="0">
                <a:solidFill>
                  <a:srgbClr val="000000"/>
                </a:solidFill>
                <a:latin typeface="Arial"/>
                <a:cs typeface="Arial"/>
              </a:rPr>
              <a:t>Kaplan-Meier and Cox</a:t>
            </a:r>
          </a:p>
          <a:p>
            <a:pPr marL="274320" indent="-274320" algn="l">
              <a:lnSpc>
                <a:spcPct val="104000"/>
              </a:lnSpc>
              <a:spcBef>
                <a:spcPts val="300"/>
              </a:spcBef>
              <a:buFont typeface="Arial"/>
              <a:buChar char="•"/>
            </a:pPr>
            <a:r>
              <a:rPr lang="en-US" sz="1500" dirty="0">
                <a:solidFill>
                  <a:srgbClr val="000000"/>
                </a:solidFill>
                <a:latin typeface="Arial"/>
                <a:cs typeface="Arial"/>
              </a:rPr>
              <a:t>Your dataset models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effect, 95% CI, does the CI include the null?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a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Worksheet 'Session 6, exercise 5': a mock table on hospital-acquired delirium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row: comparison, effect, 95% CI, does it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ONE plain-language sentence for the main exposure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Homework: exercise 6 (read a Kaplan-Meier curve)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The 4-step reading</a:t>
            </a:r>
          </a:p>
          <a:p>
            <a:pPr marL="274320" indent="-274320" algn="l">
              <a:lnSpc>
                <a:spcPct val="104000"/>
              </a:lnSpc>
              <a:spcBef>
                <a:spcPts val="300"/>
              </a:spcBef>
              <a:buFont typeface="Arial"/>
              <a:buChar char="•"/>
            </a:pPr>
            <a:r>
              <a:rPr lang="en-US" sz="1500" dirty="0">
                <a:solidFill>
                  <a:srgbClr val="000000"/>
                </a:solidFill>
                <a:latin typeface="Arial"/>
                <a:cs typeface="Arial"/>
              </a:rPr>
              <a:t>What is compared?</a:t>
            </a:r>
          </a:p>
          <a:p>
            <a:pPr marL="274320" indent="-274320" algn="l">
              <a:lnSpc>
                <a:spcPct val="104000"/>
              </a:lnSpc>
              <a:spcBef>
                <a:spcPts val="300"/>
              </a:spcBef>
              <a:buFont typeface="Arial"/>
              <a:buChar char="•"/>
            </a:pPr>
            <a:r>
              <a:rPr lang="en-US" sz="1500" dirty="0">
                <a:solidFill>
                  <a:srgbClr val="000000"/>
                </a:solidFill>
                <a:latin typeface="Arial"/>
                <a:cs typeface="Arial"/>
              </a:rPr>
              <a:t>How big is the effect?</a:t>
            </a:r>
          </a:p>
          <a:p>
            <a:pPr marL="274320" indent="-274320" algn="l">
              <a:lnSpc>
                <a:spcPct val="104000"/>
              </a:lnSpc>
              <a:spcBef>
                <a:spcPts val="300"/>
              </a:spcBef>
              <a:buFont typeface="Arial"/>
              <a:buChar char="•"/>
            </a:pPr>
            <a:r>
              <a:rPr lang="en-US" sz="1500" dirty="0">
                <a:solidFill>
                  <a:srgbClr val="000000"/>
                </a:solidFill>
                <a:latin typeface="Arial"/>
                <a:cs typeface="Arial"/>
              </a:rPr>
              <a:t>How wide is the CI?</a:t>
            </a:r>
          </a:p>
          <a:p>
            <a:pPr marL="274320" indent="-274320" algn="l">
              <a:lnSpc>
                <a:spcPct val="104000"/>
              </a:lnSpc>
              <a:spcBef>
                <a:spcPts val="300"/>
              </a:spcBef>
              <a:buFont typeface="Arial"/>
              <a:buChar char="•"/>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One correct plain-language sentence per pair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SAP_FLUID-ICU.md: written and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28-day death</a:t>
            </a:r>
          </a:p>
          <a:p>
            <a:pPr marL="0" indent="0" algn="l">
              <a:lnSpc>
                <a:spcPct val="104000"/>
              </a:lnSpc>
              <a:spcBef>
                <a:spcPts val="200"/>
              </a:spcBef>
              <a:buNone/>
            </a:pPr>
            <a:r>
              <a:rPr lang="en-US" sz="1500" dirty="0">
                <a:solidFill>
                  <a:srgbClr val="000000"/>
                </a:solidFill>
                <a:latin typeface="Arial"/>
                <a:cs typeface="Arial"/>
              </a:rPr>
              <a:t>logistic regression,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Age, SOFA, lactate,</a:t>
            </a:r>
          </a:p>
          <a:p>
            <a:pPr marL="0" indent="0" algn="l">
              <a:lnSpc>
                <a:spcPct val="104000"/>
              </a:lnSpc>
              <a:spcBef>
                <a:spcPts val="200"/>
              </a:spcBef>
              <a:buNone/>
            </a:pPr>
            <a:r>
              <a:rPr lang="en-US" sz="1500" dirty="0">
                <a:solidFill>
                  <a:srgbClr val="000000"/>
                </a:solidFill>
                <a:latin typeface="Arial"/>
                <a:cs typeface="Arial"/>
              </a:rPr>
              <a:t>vasopressor, ventilation,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Kaplan-Meier, log-rank</a:t>
            </a:r>
          </a:p>
          <a:p>
            <a:pPr marL="0" indent="0" algn="l">
              <a:lnSpc>
                <a:spcPct val="104000"/>
              </a:lnSpc>
              <a:spcBef>
                <a:spcPts val="200"/>
              </a:spcBef>
              <a:buNone/>
            </a:pPr>
            <a:r>
              <a:rPr lang="en-US" sz="1500" dirty="0">
                <a:solidFill>
                  <a:srgbClr val="000000"/>
                </a:solidFill>
                <a:latin typeface="Arial"/>
                <a:cs typeface="Arial"/>
              </a:rPr>
              <a:t>Cox hazard ratio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ONE pre-specified:</a:t>
            </a:r>
          </a:p>
          <a:p>
            <a:pPr marL="0" indent="0" algn="l">
              <a:lnSpc>
                <a:spcPct val="104000"/>
              </a:lnSpc>
              <a:spcBef>
                <a:spcPts val="200"/>
              </a:spcBef>
              <a:buNone/>
            </a:pPr>
            <a:r>
              <a:rPr lang="en-US" sz="1500" dirty="0">
                <a:solidFill>
                  <a:srgbClr val="000000"/>
                </a:solidFill>
                <a:latin typeface="Arial"/>
                <a:cs typeface="Arial"/>
              </a:rPr>
              <a:t>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Complete case +</a:t>
            </a:r>
          </a:p>
          <a:p>
            <a:pPr marL="0" indent="0" algn="l">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2.17</a:t>
            </a:r>
          </a:p>
          <a:p>
            <a:pPr marL="0" indent="0" algn="l">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1.46</a:t>
            </a:r>
          </a:p>
          <a:p>
            <a:pPr marL="0" indent="0" algn="l">
              <a:lnSpc>
                <a:spcPct val="104000"/>
              </a:lnSpc>
              <a:spcBef>
                <a:spcPts val="400"/>
              </a:spcBef>
              <a:buNone/>
            </a:pPr>
            <a:r>
              <a:rPr lang="en-US" sz="1600" dirty="0">
                <a:solidFill>
                  <a:srgbClr val="000000"/>
                </a:solidFill>
                <a:latin typeface="Arial"/>
                <a:cs typeface="Arial"/>
              </a:rPr>
              <a:t>95% CI 1.00 to 2.13</a:t>
            </a:r>
          </a:p>
          <a:p>
            <a:pPr marL="0" indent="0" algn="l">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Proportional hazards:</a:t>
            </a:r>
          </a:p>
          <a:p>
            <a:pPr marL="0" indent="0" algn="l">
              <a:lnSpc>
                <a:spcPct val="104000"/>
              </a:lnSpc>
              <a:spcBef>
                <a:spcPts val="400"/>
              </a:spcBef>
              <a:buNone/>
            </a:pPr>
            <a:r>
              <a:rPr lang="en-US" sz="1600" dirty="0">
                <a:solidFill>
                  <a:srgbClr val="000000"/>
                </a:solidFill>
                <a:latin typeface="Arial"/>
                <a:cs typeface="Arial"/>
              </a:rPr>
              <a:t>global test p = 0.10</a:t>
            </a:r>
          </a:p>
          <a:p>
            <a:pPr marL="0" indent="0" algn="l">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Adjusted OR 1.62, p = 0.044</a:t>
            </a:r>
          </a:p>
          <a:p>
            <a:pPr marL="0" indent="0" algn="l">
              <a:lnSpc>
                <a:spcPct val="104000"/>
              </a:lnSpc>
              <a:spcBef>
                <a:spcPts val="400"/>
              </a:spcBef>
              <a:buNone/>
            </a:pPr>
            <a:r>
              <a:rPr lang="en-US" sz="1600" dirty="0">
                <a:solidFill>
                  <a:srgbClr val="000000"/>
                </a:solidFill>
                <a:latin typeface="Arial"/>
                <a:cs typeface="Arial"/>
              </a:rPr>
              <a:t>Adjusted HR 1.46, p = 0.053</a:t>
            </a:r>
          </a:p>
          <a:p>
            <a:pPr marL="0" indent="0" algn="l">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your group's model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Find your crude and adjusted estimates in your results pack</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How much did adjustment change the estimate?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Does the adjusted 95% CI include 1 (or 0)?</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Look at the imputation result in your pack: close to the main one? (details in Level 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two Results sentences: crude, then adjusted, with CIs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Words to use</a:t>
            </a:r>
          </a:p>
          <a:p>
            <a:pPr marL="274320" indent="-274320" algn="l">
              <a:lnSpc>
                <a:spcPct val="104000"/>
              </a:lnSpc>
              <a:spcBef>
                <a:spcPts val="300"/>
              </a:spcBef>
              <a:buFont typeface="Arial"/>
              <a:buChar char="•"/>
            </a:pPr>
            <a:r>
              <a:rPr lang="en-US" sz="1500" dirty="0">
                <a:solidFill>
                  <a:srgbClr val="000000"/>
                </a:solidFill>
                <a:latin typeface="Arial"/>
                <a:cs typeface="Arial"/>
              </a:rPr>
              <a:t>'associated with'</a:t>
            </a:r>
          </a:p>
          <a:p>
            <a:pPr marL="274320" indent="-274320" algn="l">
              <a:lnSpc>
                <a:spcPct val="104000"/>
              </a:lnSpc>
              <a:spcBef>
                <a:spcPts val="300"/>
              </a:spcBef>
              <a:buFont typeface="Arial"/>
              <a:buChar char="•"/>
            </a:pPr>
            <a:r>
              <a:rPr lang="en-US" sz="1500" dirty="0">
                <a:solidFill>
                  <a:srgbClr val="000000"/>
                </a:solidFill>
                <a:latin typeface="Arial"/>
                <a:cs typeface="Arial"/>
              </a:rPr>
              <a:t>'after adjustment for'</a:t>
            </a:r>
          </a:p>
          <a:p>
            <a:pPr marL="274320" indent="-274320" algn="l">
              <a:lnSpc>
                <a:spcPct val="104000"/>
              </a:lnSpc>
              <a:spcBef>
                <a:spcPts val="300"/>
              </a:spcBef>
              <a:buFont typeface="Arial"/>
              <a:buChar char="•"/>
            </a:pPr>
            <a:r>
              <a:rPr lang="en-US" sz="1500" dirty="0">
                <a:solidFill>
                  <a:srgbClr val="000000"/>
                </a:solidFill>
                <a:latin typeface="Arial"/>
                <a:cs typeface="Arial"/>
              </a:rPr>
              <a:t>'95% CI'</a:t>
            </a:r>
          </a:p>
          <a:p>
            <a:pPr marL="274320" indent="-274320" algn="l">
              <a:lnSpc>
                <a:spcPct val="104000"/>
              </a:lnSpc>
              <a:spcBef>
                <a:spcPts val="300"/>
              </a:spcBef>
              <a:buFont typeface="Arial"/>
              <a:buChar char="•"/>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your model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Example from the running example (restrictive fluids trial).</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40% vs 30% mortality</a:t>
            </a:r>
          </a:p>
          <a:p>
            <a:pPr marL="0" indent="0" algn="l">
              <a:lnSpc>
                <a:spcPct val="104000"/>
              </a:lnSpc>
              <a:spcBef>
                <a:spcPts val="400"/>
              </a:spcBef>
              <a:buNone/>
            </a:pPr>
            <a:r>
              <a:rPr lang="en-US" sz="1600" dirty="0">
                <a:solidFill>
                  <a:srgbClr val="000000"/>
                </a:solidFill>
                <a:latin typeface="Arial"/>
                <a:cs typeface="Arial"/>
              </a:rPr>
              <a:t>power 80%, alpha 5%</a:t>
            </a:r>
          </a:p>
          <a:p>
            <a:pPr marL="0" indent="0" algn="l">
              <a:lnSpc>
                <a:spcPct val="104000"/>
              </a:lnSpc>
              <a:spcBef>
                <a:spcPts val="400"/>
              </a:spcBef>
              <a:buNone/>
            </a:pPr>
            <a:r>
              <a:rPr lang="en-US" sz="1600" dirty="0">
                <a:solidFill>
                  <a:srgbClr val="000000"/>
                </a:solidFill>
                <a:latin typeface="Arial"/>
                <a:cs typeface="Arial"/>
              </a:rPr>
              <a:t>356 per group + 10%</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Describe: n (%), median (IQR)</a:t>
            </a:r>
          </a:p>
          <a:p>
            <a:pPr marL="0" indent="0" algn="l">
              <a:lnSpc>
                <a:spcPct val="104000"/>
              </a:lnSpc>
              <a:spcBef>
                <a:spcPts val="400"/>
              </a:spcBef>
              <a:buNone/>
            </a:pPr>
            <a:r>
              <a:rPr lang="en-US" sz="1600" dirty="0">
                <a:solidFill>
                  <a:srgbClr val="000000"/>
                </a:solidFill>
                <a:latin typeface="Arial"/>
                <a:cs typeface="Arial"/>
              </a:rPr>
              <a:t>Compare: chi-square</a:t>
            </a:r>
          </a:p>
          <a:p>
            <a:pPr marL="0" indent="0" algn="l">
              <a:lnSpc>
                <a:spcPct val="104000"/>
              </a:lnSpc>
              <a:spcBef>
                <a:spcPts val="400"/>
              </a:spcBef>
              <a:buNone/>
            </a:pPr>
            <a:r>
              <a:rPr lang="en-US" sz="1600" dirty="0">
                <a:solidFill>
                  <a:srgbClr val="000000"/>
                </a:solidFill>
                <a:latin typeface="Arial"/>
                <a:cs typeface="Arial"/>
              </a:rPr>
              <a:t>Report: RR + 95% CI</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Chosen in advance</a:t>
            </a:r>
          </a:p>
          <a:p>
            <a:pPr marL="0" indent="0" algn="l">
              <a:lnSpc>
                <a:spcPct val="104000"/>
              </a:lnSpc>
              <a:spcBef>
                <a:spcPts val="400"/>
              </a:spcBef>
              <a:buNone/>
            </a:pPr>
            <a:r>
              <a:rPr lang="en-US" sz="1600" dirty="0">
                <a:solidFill>
                  <a:srgbClr val="000000"/>
                </a:solidFill>
                <a:latin typeface="Arial"/>
                <a:cs typeface="Arial"/>
              </a:rPr>
              <a:t>about 10 events</a:t>
            </a:r>
          </a:p>
          <a:p>
            <a:pPr marL="0" indent="0" algn="l">
              <a:lnSpc>
                <a:spcPct val="104000"/>
              </a:lnSpc>
              <a:spcBef>
                <a:spcPts val="400"/>
              </a:spcBef>
              <a:buNone/>
            </a:pPr>
            <a:r>
              <a:rPr lang="en-US" sz="1600" dirty="0">
                <a:solidFill>
                  <a:srgbClr val="000000"/>
                </a:solidFill>
                <a:latin typeface="Arial"/>
                <a:cs typeface="Arial"/>
              </a:rPr>
              <a:t>per variable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Expected gaps + why</a:t>
            </a:r>
          </a:p>
          <a:p>
            <a:pPr marL="0" indent="0" algn="l">
              <a:lnSpc>
                <a:spcPct val="104000"/>
              </a:lnSpc>
              <a:spcBef>
                <a:spcPts val="400"/>
              </a:spcBef>
              <a:buNone/>
            </a:pPr>
            <a:r>
              <a:rPr lang="en-US" sz="1600" dirty="0">
                <a:solidFill>
                  <a:srgbClr val="000000"/>
                </a:solidFill>
                <a:latin typeface="Arial"/>
                <a:cs typeface="Arial"/>
              </a:rPr>
              <a:t>Prevention</a:t>
            </a:r>
          </a:p>
          <a:p>
            <a:pPr marL="0" indent="0" algn="l">
              <a:lnSpc>
                <a:spcPct val="104000"/>
              </a:lnSpc>
              <a:spcBef>
                <a:spcPts val="400"/>
              </a:spcBef>
              <a:buNone/>
            </a:pPr>
            <a:r>
              <a:rPr lang="en-US" sz="1600" dirty="0">
                <a:solidFill>
                  <a:srgbClr val="000000"/>
                </a:solidFill>
                <a:latin typeface="Arial"/>
                <a:cs typeface="Arial"/>
              </a:rPr>
              <a:t>CC + MI check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Sample-size statement: the 4 inputs and where they come from (8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Analysis plan: summary, test or model, effect measure + 95% CI (10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Confounders to adjust for, within about 10 events per variable (5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Missing-data plan: expected gaps, prevention, how missing data will be reported (7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Use these tools</a:t>
            </a:r>
          </a:p>
          <a:p>
            <a:pPr marL="274320" indent="-274320" algn="l">
              <a:lnSpc>
                <a:spcPct val="104000"/>
              </a:lnSpc>
              <a:spcBef>
                <a:spcPts val="300"/>
              </a:spcBef>
              <a:buFont typeface="Arial"/>
              <a:buChar char="•"/>
            </a:pPr>
            <a:r>
              <a:rPr lang="en-US" sz="1500" dirty="0">
                <a:solidFill>
                  <a:srgbClr val="000000"/>
                </a:solidFill>
                <a:latin typeface="Arial"/>
                <a:cs typeface="Arial"/>
              </a:rPr>
              <a:t>Sample-size spreadsheet</a:t>
            </a:r>
          </a:p>
          <a:p>
            <a:pPr marL="274320" indent="-274320" algn="l">
              <a:lnSpc>
                <a:spcPct val="104000"/>
              </a:lnSpc>
              <a:spcBef>
                <a:spcPts val="300"/>
              </a:spcBef>
              <a:buFont typeface="Arial"/>
              <a:buChar char="•"/>
            </a:pPr>
            <a:r>
              <a:rPr lang="en-US" sz="1500" dirty="0">
                <a:solidFill>
                  <a:srgbClr val="000000"/>
                </a:solidFill>
                <a:latin typeface="Arial"/>
                <a:cs typeface="Arial"/>
              </a:rPr>
              <a:t>Test decision chart</a:t>
            </a:r>
          </a:p>
          <a:p>
            <a:pPr marL="274320" indent="-274320" algn="l">
              <a:lnSpc>
                <a:spcPct val="104000"/>
              </a:lnSpc>
              <a:spcBef>
                <a:spcPts val="300"/>
              </a:spcBef>
              <a:buFont typeface="Arial"/>
              <a:buChar char="•"/>
            </a:pPr>
            <a:r>
              <a:rPr lang="en-US" sz="1500" dirty="0">
                <a:solidFill>
                  <a:srgbClr val="000000"/>
                </a:solidFill>
                <a:latin typeface="Arial"/>
                <a:cs typeface="Arial"/>
              </a:rPr>
              <a:t>FLUID-ICU SAP as a model</a:t>
            </a:r>
          </a:p>
          <a:p>
            <a:pPr marL="274320" indent="-274320" algn="l">
              <a:lnSpc>
                <a:spcPct val="104000"/>
              </a:lnSpc>
              <a:spcBef>
                <a:spcPts val="300"/>
              </a:spcBef>
              <a:buFont typeface="Arial"/>
              <a:buChar char="•"/>
            </a:pPr>
            <a:r>
              <a:rPr lang="en-US" sz="1500" dirty="0">
                <a:solidFill>
                  <a:srgbClr val="000000"/>
                </a:solidFill>
                <a:latin typeface="Arial"/>
                <a:cs typeface="Arial"/>
              </a:rPr>
              <a:t>Worksheet: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3 completed in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95% CI</a:t>
            </a:r>
          </a:p>
          <a:p>
            <a:pPr marL="0" indent="0" algn="l">
              <a:lnSpc>
                <a:spcPct val="104000"/>
              </a:lnSpc>
              <a:spcBef>
                <a:spcPts val="400"/>
              </a:spcBef>
              <a:buNone/>
            </a:pPr>
            <a:r>
              <a:rPr lang="en-US" sz="1600" dirty="0">
                <a:solidFill>
                  <a:srgbClr val="000000"/>
                </a:solidFill>
                <a:latin typeface="Arial"/>
                <a:cs typeface="Arial"/>
              </a:rPr>
              <a:t>p-value</a:t>
            </a:r>
          </a:p>
          <a:p>
            <a:pPr marL="0" indent="0" algn="l">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t-test / Mann-Whitney</a:t>
            </a:r>
          </a:p>
          <a:p>
            <a:pPr marL="0" indent="0" algn="l">
              <a:lnSpc>
                <a:spcPct val="104000"/>
              </a:lnSpc>
              <a:spcBef>
                <a:spcPts val="400"/>
              </a:spcBef>
              <a:buNone/>
            </a:pPr>
            <a:r>
              <a:rPr lang="en-US" sz="1600" dirty="0">
                <a:solidFill>
                  <a:srgbClr val="000000"/>
                </a:solidFill>
                <a:latin typeface="Arial"/>
                <a:cs typeface="Arial"/>
              </a:rPr>
              <a:t>Chi-square</a:t>
            </a:r>
          </a:p>
          <a:p>
            <a:pPr marL="0" indent="0" algn="l">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Adjusted OR</a:t>
            </a:r>
          </a:p>
          <a:p>
            <a:pPr marL="0" indent="0" algn="l">
              <a:lnSpc>
                <a:spcPct val="104000"/>
              </a:lnSpc>
              <a:spcBef>
                <a:spcPts val="400"/>
              </a:spcBef>
              <a:buNone/>
            </a:pPr>
            <a:r>
              <a:rPr lang="en-US" sz="1600" dirty="0">
                <a:solidFill>
                  <a:srgbClr val="000000"/>
                </a:solidFill>
                <a:latin typeface="Arial"/>
                <a:cs typeface="Arial"/>
              </a:rPr>
              <a:t>Hazard ratio</a:t>
            </a:r>
          </a:p>
          <a:p>
            <a:pPr marL="0" indent="0" algn="l">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SAP</a:t>
            </a:r>
          </a:p>
          <a:p>
            <a:pPr marL="0" indent="0" algn="l">
              <a:lnSpc>
                <a:spcPct val="104000"/>
              </a:lnSpc>
              <a:spcBef>
                <a:spcPts val="400"/>
              </a:spcBef>
              <a:buNone/>
            </a:pPr>
            <a:r>
              <a:rPr lang="en-US" sz="1600" dirty="0">
                <a:solidFill>
                  <a:srgbClr val="000000"/>
                </a:solidFill>
                <a:latin typeface="Arial"/>
                <a:cs typeface="Arial"/>
              </a:rPr>
              <a:t>MCAR / MAR / MNAR</a:t>
            </a:r>
          </a:p>
          <a:p>
            <a:pPr marL="0" indent="0" algn="l">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Effect + 95% CI</a:t>
            </a:r>
          </a:p>
          <a:p>
            <a:pPr marL="0" indent="0" algn="l">
              <a:lnSpc>
                <a:spcPct val="104000"/>
              </a:lnSpc>
              <a:spcBef>
                <a:spcPts val="400"/>
              </a:spcBef>
              <a:buNone/>
            </a:pPr>
            <a:r>
              <a:rPr lang="en-US" sz="1750" dirty="0">
                <a:solidFill>
                  <a:srgbClr val="000000"/>
                </a:solidFill>
                <a:latin typeface="Arial"/>
                <a:cs typeface="Arial"/>
              </a:rPr>
              <a:t>Where is the null?</a:t>
            </a:r>
          </a:p>
          <a:p>
            <a:pPr marL="0" indent="0" algn="l">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Crude vs adjusted</a:t>
            </a:r>
          </a:p>
          <a:p>
            <a:pPr marL="0" indent="0" algn="l">
              <a:lnSpc>
                <a:spcPct val="104000"/>
              </a:lnSpc>
              <a:spcBef>
                <a:spcPts val="400"/>
              </a:spcBef>
              <a:buNone/>
            </a:pPr>
            <a:r>
              <a:rPr lang="en-US" sz="1750" dirty="0">
                <a:solidFill>
                  <a:srgbClr val="000000"/>
                </a:solidFill>
                <a:latin typeface="Arial"/>
                <a:cs typeface="Arial"/>
              </a:rPr>
              <a:t>Confounders chosen</a:t>
            </a:r>
          </a:p>
          <a:p>
            <a:pPr marL="0" indent="0" algn="l">
              <a:lnSpc>
                <a:spcPct val="104000"/>
              </a:lnSpc>
              <a:spcBef>
                <a:spcPts val="400"/>
              </a:spcBef>
              <a:buNone/>
            </a:pPr>
            <a:r>
              <a:rPr lang="en-US" sz="1750" dirty="0">
                <a:solidFill>
                  <a:srgbClr val="000000"/>
                </a:solidFill>
                <a:latin typeface="Arial"/>
                <a:cs typeface="Arial"/>
              </a:rPr>
              <a:t>in advance</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SAP before the data</a:t>
            </a:r>
          </a:p>
          <a:p>
            <a:pPr marL="0" indent="0" algn="l">
              <a:lnSpc>
                <a:spcPct val="104000"/>
              </a:lnSpc>
              <a:spcBef>
                <a:spcPts val="400"/>
              </a:spcBef>
              <a:buNone/>
            </a:pPr>
            <a:r>
              <a:rPr lang="en-US" sz="1750" dirty="0">
                <a:solidFill>
                  <a:srgbClr val="000000"/>
                </a:solidFill>
                <a:latin typeface="Arial"/>
                <a:cs typeface="Arial"/>
              </a:rPr>
              <a:t>Missing data: report,</a:t>
            </a:r>
          </a:p>
          <a:p>
            <a:pPr marL="0" indent="0" algn="l">
              <a:lnSpc>
                <a:spcPct val="104000"/>
              </a:lnSpc>
              <a:spcBef>
                <a:spcPts val="400"/>
              </a:spcBef>
              <a:buNone/>
            </a:pPr>
            <a:r>
              <a:rPr lang="en-US" sz="1750" dirty="0">
                <a:solidFill>
                  <a:srgbClr val="000000"/>
                </a:solidFill>
                <a:latin typeface="Arial"/>
                <a:cs typeface="Arial"/>
              </a:rPr>
              <a:t>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write one sentence explaining what '95% CI 1.48 to 3.06' tells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proposal Part 3; prepare the 6-minute presentation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Re-read your results pack: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Weeks 7-8</a:t>
            </a:r>
          </a:p>
          <a:p>
            <a:pPr marL="274320" indent="-274320" algn="l">
              <a:lnSpc>
                <a:spcPct val="104000"/>
              </a:lnSpc>
              <a:spcBef>
                <a:spcPts val="300"/>
              </a:spcBef>
              <a:buFont typeface="Arial"/>
              <a:buChar char="•"/>
            </a:pPr>
            <a:r>
              <a:rPr lang="en-US" sz="1500" dirty="0">
                <a:solidFill>
                  <a:srgbClr val="000000"/>
                </a:solidFill>
                <a:latin typeface="Arial"/>
                <a:cs typeface="Arial"/>
              </a:rPr>
              <a:t>Protocol, ethics, registration</a:t>
            </a:r>
          </a:p>
          <a:p>
            <a:pPr marL="274320" indent="-274320" algn="l">
              <a:lnSpc>
                <a:spcPct val="104000"/>
              </a:lnSpc>
              <a:spcBef>
                <a:spcPts val="300"/>
              </a:spcBef>
              <a:buFont typeface="Arial"/>
              <a:buChar char="•"/>
            </a:pPr>
            <a:r>
              <a:rPr lang="en-US" sz="1500" dirty="0">
                <a:solidFill>
                  <a:srgbClr val="000000"/>
                </a:solidFill>
                <a:latin typeface="Arial"/>
                <a:cs typeface="Arial"/>
              </a:rPr>
              <a:t>Research integrity</a:t>
            </a:r>
          </a:p>
          <a:p>
            <a:pPr marL="274320" indent="-274320" algn="l">
              <a:lnSpc>
                <a:spcPct val="104000"/>
              </a:lnSpc>
              <a:spcBef>
                <a:spcPts val="300"/>
              </a:spcBef>
              <a:buFont typeface="Arial"/>
              <a:buChar char="•"/>
            </a:pPr>
            <a:r>
              <a:rPr lang="en-US" sz="1500" dirty="0">
                <a:solidFill>
                  <a:srgbClr val="000000"/>
                </a:solidFill>
                <a:latin typeface="Arial"/>
                <a:cs typeface="Arial"/>
              </a:rPr>
              <a:t>Writing Methods and Results</a:t>
            </a:r>
          </a:p>
          <a:p>
            <a:pPr marL="274320" indent="-274320" algn="l">
              <a:lnSpc>
                <a:spcPct val="104000"/>
              </a:lnSpc>
              <a:spcBef>
                <a:spcPts val="300"/>
              </a:spcBef>
              <a:buFont typeface="Arial"/>
              <a:buChar char="•"/>
            </a:pPr>
            <a:r>
              <a:rPr lang="en-US" sz="1500" dirty="0">
                <a:solidFill>
                  <a:srgbClr val="000000"/>
                </a:solidFill>
                <a:latin typeface="Arial"/>
                <a:cs typeface="Arial"/>
              </a:rPr>
              <a:t>Getting published</a:t>
            </a:r>
          </a:p>
          <a:p>
            <a:pPr marL="274320" indent="-274320" algn="l">
              <a:lnSpc>
                <a:spcPct val="104000"/>
              </a:lnSpc>
              <a:spcBef>
                <a:spcPts val="300"/>
              </a:spcBef>
              <a:buFont typeface="Arial"/>
              <a:buChar char="•"/>
            </a:pPr>
            <a:r>
              <a:rPr lang="en-US" sz="1500" dirty="0">
                <a:solidFill>
                  <a:srgbClr val="000000"/>
                </a:solidFill>
                <a:latin typeface="Arial"/>
                <a:cs typeface="Arial"/>
              </a:rPr>
              <a:t>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Exit sentence on a sticky note;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primary outcome: cumulative fluid balance at day 5.</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Median 6.9 vs 35.0 ml/kg</a:t>
            </a:r>
          </a:p>
          <a:p>
            <a:pPr marL="0" indent="0" algn="l">
              <a:lnSpc>
                <a:spcPct val="104000"/>
              </a:lnSpc>
              <a:spcBef>
                <a:spcPts val="400"/>
              </a:spcBef>
              <a:buNone/>
            </a:pPr>
            <a:r>
              <a:rPr lang="en-US" sz="1750" dirty="0">
                <a:solidFill>
                  <a:srgbClr val="000000"/>
                </a:solidFill>
                <a:latin typeface="Arial"/>
                <a:cs typeface="Arial"/>
              </a:rPr>
              <a:t>Mean difference 13.2 ml/kg</a:t>
            </a:r>
          </a:p>
          <a:p>
            <a:pPr marL="0" indent="0" algn="l">
              <a:lnSpc>
                <a:spcPct val="104000"/>
              </a:lnSpc>
              <a:spcBef>
                <a:spcPts val="400"/>
              </a:spcBef>
              <a:buNone/>
            </a:pPr>
            <a:r>
              <a:rPr lang="en-US" sz="1750" dirty="0">
                <a:solidFill>
                  <a:srgbClr val="000000"/>
                </a:solidFill>
                <a:latin typeface="Arial"/>
                <a:cs typeface="Arial"/>
              </a:rPr>
              <a:t>95% CI -15.2 to 41.6</a:t>
            </a:r>
          </a:p>
          <a:p>
            <a:pPr marL="0" indent="0" algn="l">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0 = no difference</a:t>
            </a:r>
          </a:p>
          <a:p>
            <a:pPr marL="0" indent="0" algn="l">
              <a:lnSpc>
                <a:spcPct val="104000"/>
              </a:lnSpc>
              <a:spcBef>
                <a:spcPts val="400"/>
              </a:spcBef>
              <a:buNone/>
            </a:pPr>
            <a:r>
              <a:rPr lang="en-US" sz="1750" dirty="0">
                <a:solidFill>
                  <a:srgbClr val="000000"/>
                </a:solidFill>
                <a:latin typeface="Arial"/>
                <a:cs typeface="Arial"/>
              </a:rPr>
              <a:t>The CI includes 0</a:t>
            </a:r>
          </a:p>
          <a:p>
            <a:pPr marL="0" indent="0" algn="l">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From 15 ml/kg in one direction</a:t>
            </a:r>
          </a:p>
          <a:p>
            <a:pPr marL="0" indent="0" algn="l">
              <a:lnSpc>
                <a:spcPct val="104000"/>
              </a:lnSpc>
              <a:spcBef>
                <a:spcPts val="400"/>
              </a:spcBef>
              <a:buNone/>
            </a:pPr>
            <a:r>
              <a:rPr lang="en-US" sz="1750" dirty="0">
                <a:solidFill>
                  <a:srgbClr val="000000"/>
                </a:solidFill>
                <a:latin typeface="Arial"/>
                <a:cs typeface="Arial"/>
              </a:rPr>
              <a:t>to 42 ml/kg in the other</a:t>
            </a:r>
          </a:p>
          <a:p>
            <a:pPr marL="0" indent="0" algn="l">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words you will meet in every survival paper.</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Compares whole KM curves</a:t>
            </a:r>
          </a:p>
          <a:p>
            <a:pPr marL="0" indent="0" algn="l">
              <a:lnSpc>
                <a:spcPct val="104000"/>
              </a:lnSpc>
              <a:spcBef>
                <a:spcPts val="400"/>
              </a:spcBef>
              <a:buNone/>
            </a:pPr>
            <a:r>
              <a:rPr lang="en-US" sz="1750" dirty="0">
                <a:solidFill>
                  <a:srgbClr val="000000"/>
                </a:solidFill>
                <a:latin typeface="Arial"/>
                <a:cs typeface="Arial"/>
              </a:rPr>
              <a:t>Gives a p-value</a:t>
            </a:r>
          </a:p>
          <a:p>
            <a:pPr marL="0" indent="0" algn="l">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Gives a hazard ratio (HR)</a:t>
            </a:r>
          </a:p>
          <a:p>
            <a:pPr marL="0" indent="0" algn="l">
              <a:lnSpc>
                <a:spcPct val="104000"/>
              </a:lnSpc>
              <a:spcBef>
                <a:spcPts val="400"/>
              </a:spcBef>
              <a:buNone/>
            </a:pPr>
            <a:r>
              <a:rPr lang="en-US" sz="1750" dirty="0">
                <a:solidFill>
                  <a:srgbClr val="000000"/>
                </a:solidFill>
                <a:latin typeface="Arial"/>
                <a:cs typeface="Arial"/>
              </a:rPr>
              <a:t>with 95% CI, null = 1</a:t>
            </a:r>
          </a:p>
          <a:p>
            <a:pPr marL="0" indent="0" algn="l">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Assumes the HR is constant</a:t>
            </a:r>
          </a:p>
          <a:p>
            <a:pPr marL="0" indent="0" algn="l">
              <a:lnSpc>
                <a:spcPct val="104000"/>
              </a:lnSpc>
              <a:spcBef>
                <a:spcPts val="400"/>
              </a:spcBef>
              <a:buNone/>
            </a:pPr>
            <a:r>
              <a:rPr lang="en-US" sz="1750" dirty="0">
                <a:solidFill>
                  <a:srgbClr val="000000"/>
                </a:solidFill>
                <a:latin typeface="Arial"/>
                <a:cs typeface="Arial"/>
              </a:rPr>
              <a:t>over time</a:t>
            </a:r>
          </a:p>
          <a:p>
            <a:pPr marL="0" indent="0" algn="l">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Paper 2: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Predict an individual's risk</a:t>
            </a:r>
          </a:p>
          <a:p>
            <a:pPr marL="0" indent="0" algn="l">
              <a:lnSpc>
                <a:spcPct val="104000"/>
              </a:lnSpc>
              <a:spcBef>
                <a:spcPts val="400"/>
              </a:spcBef>
              <a:buNone/>
            </a:pPr>
            <a:r>
              <a:rPr lang="en-US" sz="1600" dirty="0">
                <a:solidFill>
                  <a:srgbClr val="000000"/>
                </a:solidFill>
                <a:latin typeface="Arial"/>
                <a:cs typeface="Arial"/>
              </a:rPr>
              <a:t>Not to explain causes</a:t>
            </a:r>
          </a:p>
          <a:p>
            <a:pPr marL="0" indent="0" algn="l">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ML needs MANY events</a:t>
            </a:r>
          </a:p>
          <a:p>
            <a:pPr marL="0" indent="0" algn="l">
              <a:lnSpc>
                <a:spcPct val="104000"/>
              </a:lnSpc>
              <a:spcBef>
                <a:spcPts val="400"/>
              </a:spcBef>
              <a:buNone/>
            </a:pPr>
            <a:r>
              <a:rPr lang="en-US" sz="1600" dirty="0">
                <a:solidFill>
                  <a:srgbClr val="000000"/>
                </a:solidFill>
                <a:latin typeface="Arial"/>
                <a:cs typeface="Arial"/>
              </a:rPr>
              <a:t>Overfitting risk is high</a:t>
            </a:r>
          </a:p>
          <a:p>
            <a:pPr marL="0" indent="0" algn="l">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Discrimination (AUC)</a:t>
            </a:r>
          </a:p>
          <a:p>
            <a:pPr marL="0" indent="0" algn="l">
              <a:lnSpc>
                <a:spcPct val="104000"/>
              </a:lnSpc>
              <a:spcBef>
                <a:spcPts val="400"/>
              </a:spcBef>
              <a:buNone/>
            </a:pPr>
            <a:r>
              <a:rPr lang="en-US" sz="1600" dirty="0">
                <a:solidFill>
                  <a:srgbClr val="000000"/>
                </a:solidFill>
                <a:latin typeface="Arial"/>
                <a:cs typeface="Arial"/>
              </a:rPr>
              <a:t>Calibration plot</a:t>
            </a:r>
          </a:p>
          <a:p>
            <a:pPr marL="0" indent="0" algn="l">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TRIPOD+AI checklist</a:t>
            </a:r>
          </a:p>
          <a:p>
            <a:pPr marL="0" indent="0" algn="l">
              <a:lnSpc>
                <a:spcPct val="104000"/>
              </a:lnSpc>
              <a:spcBef>
                <a:spcPts val="400"/>
              </a:spcBef>
              <a:buNone/>
            </a:pPr>
            <a:r>
              <a:rPr lang="en-US" sz="1600" dirty="0">
                <a:solidFill>
                  <a:srgbClr val="000000"/>
                </a:solidFill>
                <a:latin typeface="Arial"/>
                <a:cs typeface="Arial"/>
              </a:rPr>
              <a:t>Code, data, fairness</a:t>
            </a:r>
          </a:p>
          <a:p>
            <a:pPr marL="0" indent="0" algn="l">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 missing per variable</a:t>
            </a:r>
          </a:p>
          <a:p>
            <a:pPr marL="0" indent="0" algn="l">
              <a:lnSpc>
                <a:spcPct val="104000"/>
              </a:lnSpc>
              <a:spcBef>
                <a:spcPts val="400"/>
              </a:spcBef>
              <a:buNone/>
            </a:pPr>
            <a:r>
              <a:rPr lang="en-US" sz="1600" dirty="0">
                <a:solidFill>
                  <a:srgbClr val="000000"/>
                </a:solidFill>
                <a:latin typeface="Arial"/>
                <a:cs typeface="Arial"/>
              </a:rPr>
              <a:t>Flow diagram: who and why</a:t>
            </a:r>
          </a:p>
          <a:p>
            <a:pPr marL="0" indent="0" algn="l">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Patients with vs without</a:t>
            </a:r>
          </a:p>
          <a:p>
            <a:pPr marL="0" indent="0" algn="l">
              <a:lnSpc>
                <a:spcPct val="104000"/>
              </a:lnSpc>
              <a:spcBef>
                <a:spcPts val="400"/>
              </a:spcBef>
              <a:buNone/>
            </a:pPr>
            <a:r>
              <a:rPr lang="en-US" sz="1600" dirty="0">
                <a:solidFill>
                  <a:srgbClr val="000000"/>
                </a:solidFill>
                <a:latin typeface="Arial"/>
                <a:cs typeface="Arial"/>
              </a:rPr>
              <a:t>complete data</a:t>
            </a:r>
          </a:p>
          <a:p>
            <a:pPr marL="0" indent="0" algn="l">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Complete-case vs MI</a:t>
            </a:r>
          </a:p>
          <a:p>
            <a:pPr marL="0" indent="0" algn="l">
              <a:lnSpc>
                <a:spcPct val="104000"/>
              </a:lnSpc>
              <a:spcBef>
                <a:spcPts val="400"/>
              </a:spcBef>
              <a:buNone/>
            </a:pPr>
            <a:r>
              <a:rPr lang="en-US" sz="1600" dirty="0">
                <a:solidFill>
                  <a:srgbClr val="000000"/>
                </a:solidFill>
                <a:latin typeface="Arial"/>
                <a:cs typeface="Arial"/>
              </a:rPr>
              <a:t>Example script: 05_missing.R</a:t>
            </a:r>
          </a:p>
          <a:p>
            <a:pPr marL="0" indent="0" algn="l">
              <a:lnSpc>
                <a:spcPct val="104000"/>
              </a:lnSpc>
              <a:spcBef>
                <a:spcPts val="400"/>
              </a:spcBef>
              <a:buNone/>
            </a:pPr>
            <a:r>
              <a:rPr lang="en-US" sz="1600" dirty="0">
                <a:solidFill>
                  <a:srgbClr val="000000"/>
                </a:solidFill>
                <a:latin typeface="Arial"/>
                <a:cs typeface="Arial"/>
              </a:rPr>
              <a:t>Done hands-on in Level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Write it in the SAP</a:t>
            </a:r>
          </a:p>
          <a:p>
            <a:pPr marL="0" indent="0" algn="l">
              <a:lnSpc>
                <a:spcPct val="104000"/>
              </a:lnSpc>
              <a:spcBef>
                <a:spcPts val="400"/>
              </a:spcBef>
              <a:buNone/>
            </a:pPr>
            <a:r>
              <a:rPr lang="en-US" sz="1600" dirty="0">
                <a:solidFill>
                  <a:srgbClr val="000000"/>
                </a:solidFill>
                <a:latin typeface="Arial"/>
                <a:cs typeface="Arial"/>
              </a:rPr>
              <a:t>before you see the data</a:t>
            </a:r>
          </a:p>
          <a:p>
            <a:pPr marL="0" indent="0" algn="l">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