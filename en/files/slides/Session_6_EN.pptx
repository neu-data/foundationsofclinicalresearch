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 id="318" r:id="rId162"/>
    <p:sldId id="319" r:id="rId163"/>
    <p:sldId id="320" r:id="rId16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 Id="rId162" Type="http://schemas.openxmlformats.org/officeDocument/2006/relationships/slide" Target="slides/slide63.xml"/><Relationship Id="rId163" Type="http://schemas.openxmlformats.org/officeDocument/2006/relationships/slide" Target="slides/slide64.xml"/><Relationship Id="rId164" Type="http://schemas.openxmlformats.org/officeDocument/2006/relationships/slide" Target="slides/slide6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6 (19:30-22:30, break 20:40-20:55). The most technical session: go slowly, drop extra slides, never checks.</a:t>
            </a:r>
          </a:p>
          <a:p>
            <a:r>
              <a:rPr lang="en-US" sz="1400" b="0" dirty="0"/>
              <a:t>FLUID-ICU returns in 6.2 (comparisons) and 6.4 (models, survival, missing data): Q1 in full, Q2 to Q5 briefly.</a:t>
            </a:r>
          </a:p>
          <a:p>
            <a:r>
              <a:rPr lang="en-US" sz="1400" b="0" dirty="0"/>
              <a:t>At the end, each participant chooses one question for the Results section and receives the manuscript brief.</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(19:30-19:40). Q1 as a poll, Q2 and Q3: call on two or three people. Then reveal.</a:t>
            </a:r>
          </a:p>
          <a:p>
            <a:r>
              <a:rPr lang="en-US" sz="1400" b="0" dirty="0"/>
              <a:t>Q1: median (IQR). Q2: unit, time point, 'not done' option. Q3: range check. The log records the ID, the value, the action, the reason, who and when.</a:t>
            </a:r>
          </a:p>
          <a:p>
            <a:r>
              <a:rPr lang="en-US" sz="1400" b="0" dirty="0"/>
              <a:t>First read three or four Session 5 exit answers and correct misunderstandings.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6.1 (19:40-20:20).</a:t>
            </a:r>
          </a:p>
          <a:p>
            <a:r>
              <a:rPr lang="en-US" sz="1400" b="0" dirty="0"/>
              <a:t>We study a sample and use statistics to say how far our answer might be from the truth.</a:t>
            </a:r>
          </a:p>
          <a:p>
            <a:r>
              <a:rPr lang="en-US" sz="1400" b="0" dirty="0"/>
              <a:t>Reassure: reading CIs and p-values correctly is more than many published authors manage.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most important picture tonight. Same study 20 times, 25 patients each: 19 intervals contain the true value, one misses. That is what '95%' means.</a:t>
            </a:r>
          </a:p>
          <a:p>
            <a:r>
              <a:rPr lang="en-US" sz="1400" b="0" dirty="0"/>
              <a:t>In real life you see one interval and never the dashed line.</a:t>
            </a:r>
          </a:p>
          <a:p>
            <a:r>
              <a:rPr lang="en-US" sz="1400" b="0" dirty="0"/>
              <a:t>Safe wording: 'a range of plausible values'.</a:t>
            </a:r>
          </a:p>
          <a:p>
            <a:r>
              <a:rPr lang="en-US" sz="1400" b="0" dirty="0"/>
              <a:t>Ask: what makes intervals shorter? Expected: more patients, less variability.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Imagine no real difference (H0): chance alone scatters results around zero. The p-value is the orange area: results at least as extreme as ours.</a:t>
            </a:r>
          </a:p>
          <a:p>
            <a:r>
              <a:rPr lang="en-US" sz="1400" b="0" dirty="0"/>
              <a:t>p = 0.04: surprising if there were no difference. p = 0.42 (Paper 1): not surprising, but not proof of no difference.</a:t>
            </a:r>
          </a:p>
          <a:p>
            <a:r>
              <a:rPr lang="en-US" sz="1400" b="0" dirty="0"/>
              <a:t>0.05 is a convention: 0.049 and 0.051 are the same evidence.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Two-sided is the default: benefit and harm both count. Paper 1 and the FLUID-ICU SAP use two-sided tests.</a:t>
            </a:r>
          </a:p>
          <a:p>
            <a:r>
              <a:rPr lang="en-US" sz="1400" b="0" dirty="0"/>
              <a:t>One-sided halves the p-value: acceptable only with a reason written before the data. Switching after seeing results is p-hacking.</a:t>
            </a:r>
          </a:p>
          <a:p>
            <a:r>
              <a:rPr lang="en-US" sz="1400" b="0" dirty="0"/>
              <a:t>Non-inferiority is a different design with its own margin.</a:t>
            </a:r>
          </a:p>
          <a:p>
            <a:r>
              <a:rPr lang="en-US" sz="1400" b="0" dirty="0"/>
              <a:t>Poll: 'one-sided p = 0.03' with no reason. Convinced? Expected: no.</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Run a quick true/false poll on each card before explaining.</a:t>
            </a:r>
          </a:p>
          <a:p>
            <a:r>
              <a:rPr lang="en-US" sz="1400" b="0" dirty="0"/>
              <a:t>1: p assumes H0, it is not its probability. 2: a tiny p can come with a trivial effect. 3: Paper 1, p = 0.42 with a wide CI means 'we do not know'. 4: no 'trend'. 5: give the effect and its CI, as Paper 2 does (HR 2.13, 1.48-3.06).</a:t>
            </a:r>
          </a:p>
          <a:p>
            <a:r>
              <a:rPr lang="en-US" sz="1400" b="0" dirty="0"/>
              <a:t>Also in Exercise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(3 minutes), one true/false poll each.</a:t>
            </a:r>
          </a:p>
          <a:p>
            <a:r>
              <a:rPr lang="en-US" sz="1400" b="0" dirty="0"/>
              <a:t>1 true. 2 false: absence of evidence is not evidence of absence. 3 false: p assumes no effect. 4 true.</a:t>
            </a:r>
          </a:p>
          <a:p>
            <a:r>
              <a:rPr lang="en-US" sz="1400" b="0" dirty="0"/>
              <a:t>If the class splits on 2 or 3, go back to the p-value picture.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test is a fire alarm. Type I error: false alarm (alpha, 5%). Type II error: missed fire (beta). Power: the alarm rings when there is a fire (aim 80-90%).</a:t>
            </a:r>
          </a:p>
          <a:p>
            <a:r>
              <a:rPr lang="en-US" sz="1400" b="0" dirty="0"/>
              <a:t>A small 'negative' trial may be a missed fire: Paper 1 was a pilot.</a:t>
            </a:r>
          </a:p>
          <a:p>
            <a:r>
              <a:rPr lang="en-US" sz="1400" b="0" dirty="0"/>
              <a:t>Ask: which error is worse for an expensive, risky drug? For a cheap, safe one?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Fewer patients are needed when the difference is bigger and patients vary less.</a:t>
            </a:r>
          </a:p>
          <a:p>
            <a:r>
              <a:rPr lang="en-US" sz="1400" b="0" dirty="0"/>
              <a:t>Halve the difference: about four times the patients.</a:t>
            </a:r>
          </a:p>
          <a:p>
            <a:r>
              <a:rPr lang="en-US" sz="1400" b="0" dirty="0"/>
              <a:t>Paper 1: 70 vs 40 ml/kg, SD 35, 80% power: 22 per group, 50 in total with deaths.</a:t>
            </a:r>
          </a:p>
          <a:p>
            <a:r>
              <a:rPr lang="en-US" sz="1400" b="0" dirty="0"/>
              <a:t>The expected effect comes from earlier studies or the smallest difference that would change practice.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5 minutes. Script: s6_demo.md, Part A.</a:t>
            </a:r>
          </a:p>
          <a:p>
            <a:r>
              <a:rPr lang="en-US" sz="1400" b="0" dirty="0"/>
              <a:t>Reproduce Paper 1 (70 vs 40, SD 35): 22 per group. Then mortality 40% vs 30%: about 356 per group.</a:t>
            </a:r>
          </a:p>
          <a:p>
            <a:r>
              <a:rPr lang="en-US" sz="1400" b="0" dirty="0"/>
              <a:t>Change one input at a time and poll the direction first.</a:t>
            </a:r>
          </a:p>
          <a:p>
            <a:r>
              <a:rPr lang="en-US" sz="1400" b="0" dirty="0"/>
              <a:t>Offline: the sample-size spreadsheet. Participants watch and predict, they do not calculate.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questions choose the test: number or category, then shape or counts. Paired data use the last column.</a:t>
            </a:r>
          </a:p>
          <a:p>
            <a:r>
              <a:rPr lang="en-US" sz="1400" b="0" dirty="0"/>
              <a:t>Paper 1 used Mann-Whitney because fluid balance is skewed.</a:t>
            </a:r>
          </a:p>
          <a:p>
            <a:r>
              <a:rPr lang="en-US" sz="1400" b="0" dirty="0"/>
              <a:t>Three or more groups: mention ANOVA or Kruskal-Wallis only.</a:t>
            </a:r>
          </a:p>
          <a:p>
            <a:r>
              <a:rPr lang="en-US" sz="1400" b="0" dirty="0"/>
              <a:t>Ask: AKI in 24 vs 24 patients, 3 and 7 events? Expected: Fisher's exact.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Same 20 patients: as two clouds the change is hidden, joined as pairs every line goes down. Each patient is their own control.</a:t>
            </a:r>
          </a:p>
          <a:p>
            <a:r>
              <a:rPr lang="en-US" sz="1400" b="0" dirty="0"/>
              <a:t>Common mistake: an unpaired test on before/after data.</a:t>
            </a:r>
          </a:p>
          <a:p>
            <a:r>
              <a:rPr lang="en-US" sz="1400" b="0" dirty="0"/>
              <a:t>Ask: pain scores before and after a new protocol in 30 patients? Expected: paired.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Test 20 colours with no real effect and one comes out at p = 0.03. With 20 tests the chance of at least one false alarm is about 64%.</a:t>
            </a:r>
          </a:p>
          <a:p>
            <a:r>
              <a:rPr lang="en-US" sz="1400" b="0" dirty="0"/>
              <a:t>Remedies: one pre-specified primary outcome, the rest exploratory, Bonferroni if needed, report every test.</a:t>
            </a:r>
          </a:p>
          <a:p>
            <a:r>
              <a:rPr lang="en-US" sz="1400" b="0" dirty="0"/>
              <a:t>Ask: 12 subgroups, one with p = 0.04. Convinced? Expected: not very.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(3 minutes), one poll per scenario.</a:t>
            </a:r>
          </a:p>
          <a:p>
            <a:r>
              <a:rPr lang="en-US" sz="1400" b="0" dirty="0"/>
              <a:t>1 Mann-Whitney (skewed, this is Q5). 2 chi-square. 3 paired t-test. 4 Fisher's exact.</a:t>
            </a:r>
          </a:p>
          <a:p>
            <a:r>
              <a:rPr lang="en-US" sz="1400" b="0" dirty="0"/>
              <a:t>Next: these tests on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6.2 (20:20-20:40).</a:t>
            </a:r>
          </a:p>
          <a:p>
            <a:r>
              <a:rPr lang="en-US" sz="1400" b="0" dirty="0"/>
              <a:t>The decision table applied to FLUID-ICU. All comparisons are unadjusted: the positive-balance group was sicker (Table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6 minutes. Script: s6_demo.md, Part B (03_compare.R).</a:t>
            </a:r>
          </a:p>
          <a:p>
            <a:r>
              <a:rPr lang="en-US" sz="1400" b="0" dirty="0"/>
              <a:t>Call on someone to name the test before each run.</a:t>
            </a:r>
          </a:p>
          <a:p>
            <a:r>
              <a:rPr lang="en-US" sz="1400" b="0" dirty="0"/>
              <a:t>Show death as a 2x2 table: 134/373 (35.9%) vs 45/245 (18.4%). End with the wrong t-test on skewed ICU stay.</a:t>
            </a:r>
          </a:p>
          <a:p>
            <a:r>
              <a:rPr lang="en-US" sz="1400" b="0" dirty="0"/>
              <a:t>If R fails, use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One test per outcome type, each result read as an effect.</a:t>
            </a:r>
          </a:p>
          <a:p>
            <a:r>
              <a:rPr lang="en-US" sz="1400" b="0" dirty="0"/>
              <a:t>Death (Q1): risk difference 17.6 points (10.7 to 24.4). AKI (Q2): 61.7% vs 29.0%. Ventilator-free days (Q3): median 20 vs 28. ICU stay in survivors (Q5): difference 2.5 days (1.8 to 3.2).</a:t>
            </a:r>
          </a:p>
          <a:p>
            <a:r>
              <a:rPr lang="en-US" sz="1400" b="0" dirty="0"/>
              <a:t>All unadjusted: they mix fluid and severity.</a:t>
            </a:r>
          </a:p>
          <a:p>
            <a:r>
              <a:rPr lang="en-US" sz="1400" b="0" dirty="0"/>
              <a:t>Ask: which number goes in an abstract? Expected: the effect with its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the Session 4 2x2 table on the dataset.</a:t>
            </a:r>
          </a:p>
          <a:p>
            <a:r>
              <a:rPr lang="en-US" sz="1400" b="0" dirty="0"/>
              <a:t>35.9% vs 18.4%: difference 17.6 points (10.7 to 24.4), RR 1.96, p &lt; 0.001.</a:t>
            </a:r>
          </a:p>
          <a:p>
            <a:r>
              <a:rPr lang="en-US" sz="1400" b="0" dirty="0"/>
              <a:t>But the positive group was sicker: the crude comparison cannot separate fluid from severity.</a:t>
            </a:r>
          </a:p>
          <a:p>
            <a:r>
              <a:rPr lang="en-US" sz="1400" b="0" dirty="0"/>
              <a:t>Model Results sentence: 'Twenty-eight-day mortality was 35.9% with a positive and 18.4% with a negative balance (risk difference 17.6 percentage points, 95% CI 10.7 to 24.4).'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 class, 7 minutes (20:33-20:40). Exercise 4. Answers: s6_solutions.md.</a:t>
            </a:r>
          </a:p>
          <a:p>
            <a:r>
              <a:rPr lang="en-US" sz="1400" b="0" dirty="0"/>
              <a:t>Q1 (4 min): poll the test (chi-square), build one Results sentence with the CI, then ask for a bias: confounding by indication.</a:t>
            </a:r>
          </a:p>
          <a:p>
            <a:r>
              <a:rPr lang="en-US" sz="1400" b="0" dirty="0"/>
              <a:t>Q2 to Q5 (3 min): read one sentence each from the solutions.</a:t>
            </a:r>
          </a:p>
          <a:p>
            <a:r>
              <a:rPr lang="en-US" sz="1400" b="0" dirty="0"/>
              <a:t>Participants later redo it for the question they choose. Then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(20:40-20:55). Say: we restart at 20:55 with 6.3.</a:t>
            </a:r>
          </a:p>
          <a:p>
            <a:r>
              <a:rPr lang="en-US" sz="1400" b="0" dirty="0"/>
              <a:t>Open 04_models.R and 05_missing.R. Collect chat questions about the comparisons and answer them at the start of 6.3.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6.3 (20:55-21:30).</a:t>
            </a:r>
          </a:p>
          <a:p>
            <a:r>
              <a:rPr lang="en-US" sz="1400" b="0" dirty="0"/>
              <a:t>Every model answers one question: how is the outcome related to the exposure, and how sure are we? Read four things: the outcome, the model, the number, the 'no effect' value.</a:t>
            </a:r>
          </a:p>
          <a:p>
            <a:r>
              <a:rPr lang="en-US" sz="1400" b="0" dirty="0"/>
              <a:t>Models are a main tool against measured confounding (Session 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 summarises a scatter plot in one number, from -1 to +1.</a:t>
            </a:r>
          </a:p>
          <a:p>
            <a:r>
              <a:rPr lang="en-US" sz="1400" b="0" dirty="0"/>
              <a:t>The last panel is the trap: r near 0 but a strong curve. Always look at the plot.</a:t>
            </a:r>
          </a:p>
          <a:p>
            <a:r>
              <a:rPr lang="en-US" sz="1400" b="0" dirty="0"/>
              <a:t>With many patients a tiny r can be 'significant' and useless.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Linear regression: the best straight line for a numerical outcome. Slope = change per unit of exposure, null 0. R² = how much the line explains.</a:t>
            </a:r>
          </a:p>
          <a:p>
            <a:r>
              <a:rPr lang="en-US" sz="1400" b="0" dirty="0"/>
              <a:t>Adding variables gives 'adjusted' slopes.</a:t>
            </a:r>
          </a:p>
          <a:p>
            <a:r>
              <a:rPr lang="en-US" sz="1400" b="0" dirty="0"/>
              <a:t>Ask: B = -15 (-19 to -11)? Expected: each extra litre goes with a P/F ratio about 15 lower.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For yes/no outcomes the curve is an S. The model reports an OR per unit (here 1.42 per mmol/L lactate). Null 1.</a:t>
            </a:r>
          </a:p>
          <a:p>
            <a:r>
              <a:rPr lang="en-US" sz="1400" b="0" dirty="0"/>
              <a:t>Common mistake: 'OR 1.42 means 42% more deaths'. It is 42% higher odds.</a:t>
            </a:r>
          </a:p>
          <a:p>
            <a:r>
              <a:rPr lang="en-US" sz="1400" b="0" dirty="0"/>
              <a:t>Ask: what if lactate had no effect? Expected: a flat line, OR 1.</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outcome decides the model: number, linear (difference, null 0). Yes/no, logistic (OR, null 1). Time to event, Cox (HR, null 1).</a:t>
            </a:r>
          </a:p>
          <a:p>
            <a:r>
              <a:rPr lang="en-US" sz="1400" b="0" dirty="0"/>
              <a:t>Common mistake: looking for 0 in an OR table.</a:t>
            </a:r>
          </a:p>
          <a:p>
            <a:r>
              <a:rPr lang="en-US" sz="1400" b="0" dirty="0"/>
              <a:t>Ask: length of stay as a number? Expected: linear, null 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Crude: more fluid, more deaths (33% vs 18%). Split by severity: no difference in either stratum.</a:t>
            </a:r>
          </a:p>
          <a:p>
            <a:r>
              <a:rPr lang="en-US" sz="1400" b="0" dirty="0"/>
              <a:t>Severity drove both: confounding by indication. A model does this split for many confounders at once.</a:t>
            </a:r>
          </a:p>
          <a:p>
            <a:r>
              <a:rPr lang="en-US" sz="1400" b="0" dirty="0"/>
              <a:t>Only measured confounders can be adjusted for. Only randomisation handles the rest.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each row in four steps: the comparison (reference and unit), the effect, the CI, does the CI include 1?</a:t>
            </a:r>
          </a:p>
          <a:p>
            <a:r>
              <a:rPr lang="en-US" sz="1400" b="0" dirty="0"/>
              <a:t>OR 1.80 (1.20 to 2.70): 1.8 times the odds, adjusted.</a:t>
            </a:r>
          </a:p>
          <a:p>
            <a:r>
              <a:rPr lang="en-US" sz="1400" b="0" dirty="0"/>
              <a:t>Sex and lactate rows include 1: compatible with no association.</a:t>
            </a:r>
          </a:p>
          <a:p>
            <a:r>
              <a:rPr lang="en-US" sz="1400" b="0" dirty="0"/>
              <a:t>Mock data. Say 'associated', and 'odds', not 'risk'.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(4 minutes), using the previous table.</a:t>
            </a:r>
          </a:p>
          <a:p>
            <a:r>
              <a:rPr lang="en-US" sz="1400" b="0" dirty="0"/>
              <a:t>Poll 1: yes, compatible with no association. Poll 2: odds multiplied by 1.15 per SOFA point ('15% more deaths' is the classic wrong answer).</a:t>
            </a:r>
          </a:p>
          <a:p>
            <a:r>
              <a:rPr lang="en-US" sz="1400" b="0" dirty="0"/>
              <a:t>Model sentence: 'After adjustment, patients with a positive balance had about 1.8 times the odds of death by day 28 (OR 1.80, 95% CI 1.20 to 2.70).'</a:t>
            </a:r>
          </a:p>
          <a:p>
            <a:r>
              <a:rPr lang="en-US" sz="1400" b="0" dirty="0"/>
              <a:t>Exercises 5 and 6 are homework.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Too many variables for too few events: the model learns the noise and fails on new patients.</a:t>
            </a:r>
          </a:p>
          <a:p>
            <a:r>
              <a:rPr lang="en-US" sz="1400" b="0" dirty="0"/>
              <a:t>Rule of thumb: about 10 events per variable. Stepwise selection keeps chance findings.</a:t>
            </a:r>
          </a:p>
          <a:p>
            <a:r>
              <a:rPr lang="en-US" sz="1400" b="0" dirty="0"/>
              <a:t>Choose confounders in advance and write them in the SAP.</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circle is a censored patient: followed until then, without the event. Censored is not excluded: they still tell us they were alive up to that day.</a:t>
            </a:r>
          </a:p>
          <a:p>
            <a:r>
              <a:rPr lang="en-US" sz="1400" b="0" dirty="0"/>
              <a:t>Ask: discharged home on day 9, never contacted again? Expected: censored at day 9.</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Four reading steps: steps down are deaths, ticks are censored patients, the gap is the difference, and the numbers at risk show how certain the right end is.</a:t>
            </a:r>
          </a:p>
          <a:p>
            <a:r>
              <a:rPr lang="en-US" sz="1400" b="0" dirty="0"/>
              <a:t>The log-rank test gives a p-value, not the size of the effect (Cox, 6.4).</a:t>
            </a:r>
          </a:p>
          <a:p>
            <a:r>
              <a:rPr lang="en-US" sz="1400" b="0" dirty="0"/>
              <a:t>Ask: curves cross half-way? Expected: the effect changes over time.</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6.4 (21:30-21:55): the models applied to FLUID-ICU. You will see confounding by indication shrink an odds ratio.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the SAP on screen (SAP_FLUID-ICU.md). Primary: logistic regression for 28-day death. Confounders chosen in advance. Kaplan-Meier and Cox as support. One subgroup. Complete case plus multiple imputation.</a:t>
            </a:r>
          </a:p>
          <a:p>
            <a:r>
              <a:rPr lang="en-US" sz="1400" b="0" dirty="0"/>
              <a:t>AKI and dialysis are not adjusted for: they come after the fluid.</a:t>
            </a:r>
          </a:p>
          <a:p>
            <a:r>
              <a:rPr lang="en-US" sz="1400" b="0" dirty="0"/>
              <a:t>Ask: why write this first? Expected: no one can say you chose the analysis with the best p-value.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key picture of the dataset (4 minutes).</a:t>
            </a:r>
          </a:p>
          <a:p>
            <a:r>
              <a:rPr lang="en-US" sz="1400" b="0" dirty="0"/>
              <a:t>Crude OR 2.49 (1.70 to 3.70). Crude in the same 527 complete cases 2.22. Adjusted 1.62 (1.02 to 2.59), p = 0.044.</a:t>
            </a:r>
          </a:p>
          <a:p>
            <a:r>
              <a:rPr lang="en-US" sz="1400" b="0" dirty="0"/>
              <a:t>It shrank because sicker patients got more fluid and died more. What remains is modest and imprecise, and still an association.</a:t>
            </a:r>
          </a:p>
          <a:p>
            <a:r>
              <a:rPr lang="en-US" sz="1400" b="0" dirty="0"/>
              <a:t>Ask: adjust for AKI too? Expected: no, it comes after the fluid.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Q1 model as a forest plot (n = 527). Positive balance: OR 1.62 (1.02 to 2.59).</a:t>
            </a:r>
          </a:p>
          <a:p>
            <a:r>
              <a:rPr lang="en-US" sz="1400" b="0" dirty="0"/>
              <a:t>The other rows are confounders: they are there to adjust, not to interpret.</a:t>
            </a:r>
          </a:p>
          <a:p>
            <a:r>
              <a:rPr lang="en-US" sz="1400" b="0" dirty="0"/>
              <a:t>Ask: which row goes in your abstract? Expected: only the exposure row, with its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real curve with the four steps. Most deaths are in the first week.</a:t>
            </a:r>
          </a:p>
          <a:p>
            <a:r>
              <a:rPr lang="en-US" sz="1400" b="0" dirty="0"/>
              <a:t>Day-28 survival 81.6% vs 64.1%, log-rank p &lt; 0.001, but unadjusted.</a:t>
            </a:r>
          </a:p>
          <a:p>
            <a:r>
              <a:rPr lang="en-US" sz="1400" b="0" dirty="0"/>
              <a:t>Ask: is the gap larger early or late? Expected: it opens early, then the curves run roughly parallel.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Cox adjusted HR 1.46 (1.00 to 2.13), p = 0.053. Proportional hazards acceptable (p = 0.10).</a:t>
            </a:r>
          </a:p>
          <a:p>
            <a:r>
              <a:rPr lang="en-US" sz="1400" b="0" dirty="0"/>
              <a:t>The lesson: OR p = 0.044 and HR p = 0.053 tell the same story. Never let 0.05 decide what you believe.</a:t>
            </a:r>
          </a:p>
          <a:p>
            <a:r>
              <a:rPr lang="en-US" sz="1400" b="0" dirty="0"/>
              <a:t>Ask: how would you write this in the Results? Expected: both estimates with their CIs.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RR: risks, from a 2x2 table (trials, cohorts). OR: odds, from case-control studies and logistic regression, close to the RR only when the outcome is rare. HR: event rates over time, from Cox.</a:t>
            </a:r>
          </a:p>
          <a:p>
            <a:r>
              <a:rPr lang="en-US" sz="1400" b="0" dirty="0"/>
              <a:t>Ask: Paper 2 compared deaths over time. Which ratio? Expected: HR.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Three mechanisms on the same 8 patients. MCAR: unrelated to the patient. MAR: depends on something recorded, imputation can help. MNAR: depends on the missing value itself, no method fully fixes it.</a:t>
            </a:r>
          </a:p>
          <a:p>
            <a:r>
              <a:rPr lang="en-US" sz="1400" b="0" dirty="0"/>
              <a:t>The data cannot prove which applies: write down why values are missing.</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Lactate missing in 93 of 620 (15.0%), mostly in less sick patients (median SOFA 5 vs 8, mortality 19.4% vs 30.6%).</a:t>
            </a:r>
          </a:p>
          <a:p>
            <a:r>
              <a:rPr lang="en-US" sz="1400" b="0" dirty="0"/>
              <a:t>So not MCAR: complete cases drop the less sick. MAR is plausible, which suits multiple imputation.</a:t>
            </a:r>
          </a:p>
          <a:p>
            <a:r>
              <a:rPr lang="en-US" sz="1400" b="0" dirty="0"/>
              <a:t>Ask: why would lactate not be measured in the less sick?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sensitivity analysis from the SAP.</a:t>
            </a:r>
          </a:p>
          <a:p>
            <a:r>
              <a:rPr lang="en-US" sz="1400" b="0" dirty="0"/>
              <a:t>Q4: OR per mmol/L 1.39 (complete case, n = 527) vs 1.45 (imputation, n = 620).</a:t>
            </a:r>
          </a:p>
          <a:p>
            <a:r>
              <a:rPr lang="en-US" sz="1400" b="0" dirty="0"/>
              <a:t>Q1: adjusted OR 1.70 (1.09 to 2.64) with imputation vs 1.62 in complete cases.</a:t>
            </a:r>
          </a:p>
          <a:p>
            <a:r>
              <a:rPr lang="en-US" sz="1400" b="0" dirty="0"/>
              <a:t>The conclusion does not depend on how missing lactate was handled.</a:t>
            </a:r>
          </a:p>
          <a:p>
            <a:r>
              <a:rPr lang="en-US" sz="1400" b="0" dirty="0"/>
              <a:t>Ask: how would you report this? Expected: both estimates, and that they were similar.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 class, 7 minutes (21:48-21:55). Exercise 8. Answers: s6_solutions.md.</a:t>
            </a:r>
          </a:p>
          <a:p>
            <a:r>
              <a:rPr lang="en-US" sz="1400" b="0" dirty="0"/>
              <a:t>Q1 (4 min): crude 2.49, adjusted 1.62. Ask why it shrank. Type two Results sentences, crude then adjusted, with CIs.</a:t>
            </a:r>
          </a:p>
          <a:p>
            <a:r>
              <a:rPr lang="en-US" sz="1400" b="0" dirty="0"/>
              <a:t>Q2 to Q5 (3 min): read one line each from the solutions.</a:t>
            </a:r>
          </a:p>
          <a:p>
            <a:r>
              <a:rPr lang="en-US" sz="1400" b="0" dirty="0"/>
              <a:t>Pattern: every adjusted estimate is closer to no effect. These sentences are the core of each participant's Results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for 1 minute before modelling.</a:t>
            </a:r>
          </a:p>
          <a:p>
            <a:r>
              <a:rPr lang="en-US" sz="1400" b="0" dirty="0"/>
              <a:t>Sample size in one sentence with its four inputs and the drop-out allowance (356 per group, 396 with 10% loss).</a:t>
            </a:r>
          </a:p>
          <a:p>
            <a:r>
              <a:rPr lang="en-US" sz="1400" b="0" dirty="0"/>
              <a:t>Analysis plan in plain words, confounders in advance, a missing-data plan.</a:t>
            </a:r>
          </a:p>
          <a:p>
            <a:r>
              <a:rPr lang="en-US" sz="1400" b="0" dirty="0"/>
              <a:t>Each participant writes this for their own proposal.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6, 30 minutes (21:55-22:25). Template: Research_Proposal_Template.docx. Worksheet: Exercise 9.</a:t>
            </a:r>
          </a:p>
          <a:p>
            <a:r>
              <a:rPr lang="en-US" sz="1400" b="0" dirty="0"/>
              <a:t>Model live (18 min): sample size, analysis plan, confounders, missing-data plan. Then 10 minutes on their own sample-size inputs, 2 minutes for questions.</a:t>
            </a:r>
          </a:p>
          <a:p>
            <a:r>
              <a:rPr lang="en-US" sz="1400" b="0" dirty="0"/>
              <a:t>Watch for: 'SPSS will be used' as a plan, stepwise selection, no word on missing data.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(2 minutes). Point to a word and call on someone for a one-line definition.</a:t>
            </a:r>
          </a:p>
          <a:p>
            <a:r>
              <a:rPr lang="en-US" sz="1400" b="0" dirty="0"/>
              <a:t>All terms are in the English-Vietnamese glossary.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(1 minute). Ask volunteers for one example per card.</a:t>
            </a:r>
          </a:p>
          <a:p>
            <a:r>
              <a:rPr lang="en-US" sz="1400" b="0" dirty="0"/>
              <a:t>Next Saturday: ethics, integrity, Methods and Results (the Results written live on Q1).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Product 2 (2 minutes). Say it plainly: we give you the results, you write a submission-ready Results section. The other sections are all taught in Sessions 7 and 8. Submitting them is optional, and we give feedback on them too.</a:t>
            </a:r>
          </a:p>
          <a:p>
            <a:r>
              <a:rPr lang="en-US" sz="1400" b="0" dirty="0"/>
              <a:t>Ask everyone to post their question (Q1 to Q5) in the chat. Q1 is the easiest start because it is modelled live next Saturday.</a:t>
            </a:r>
          </a:p>
          <a:p>
            <a:r>
              <a:rPr lang="en-US" sz="1400" b="0" dirty="0"/>
              <a:t>After the session, email the manuscript brief (Manuscript_Brief.pdf) and the manuscript template.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(22:25-22:30).</a:t>
            </a:r>
          </a:p>
          <a:p>
            <a:r>
              <a:rPr lang="en-US" sz="1400" b="0" dirty="0"/>
              <a:t>Exit question: what does '95% CI 1.48 to 3.06' tell you? Good answer: the true HR is plausibly 1.48 to 3.06, all above 1. Open Session 7 with two or three answers.</a:t>
            </a:r>
          </a:p>
          <a:p>
            <a:r>
              <a:rPr lang="en-US" sz="1400" b="0" dirty="0"/>
              <a:t>Homework: Part 3 of the proposal, start the 6 slides, choose a question and read its results pack.</a:t>
            </a:r>
          </a:p>
          <a:p>
            <a:r>
              <a:rPr lang="en-US" sz="1400" b="0" dirty="0"/>
              <a:t>After the session: email the manuscript brief to everyone.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optional, for a fast class 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one pre-specified effect modifier: heart failure (n = 90) OR 4.39 (1.65 to 12.38) vs 1.29 without, p for interaction 0.031.</a:t>
            </a:r>
          </a:p>
          <a:p>
            <a:r>
              <a:rPr lang="en-US" sz="1400" b="0" dirty="0"/>
              <a:t>Plausible, but small and imprecise: report it as exploratory.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Q2. AKI rises across balance groups: 29%, 54%, 63%, 75%. Adjusted OR 1.27 (1.16 to 1.40) per 10 ml/kg.</a:t>
            </a:r>
          </a:p>
          <a:p>
            <a:r>
              <a:rPr lang="en-US" sz="1400" b="0" dirty="0"/>
              <a:t>Caution: AKI can also cause a positive balance (reverse causation).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Q3. Ventilator-free days pile up at 0 (death) and 28: report medians, use non-parametric tests.</a:t>
            </a:r>
          </a:p>
          <a:p>
            <a:r>
              <a:rPr lang="en-US" sz="1400" b="0" dirty="0"/>
              <a:t>Adjusted -0.61 days (-1.00 to -0.21) per 10 ml/kg.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sample is the patients we study, the population everyone we want to learn about. 12 of 40 died: 30% (95% CI 17% to 47%).</a:t>
            </a:r>
          </a:p>
          <a:p>
            <a:r>
              <a:rPr lang="en-US" sz="1400" b="0" dirty="0"/>
              <a:t>Ask: 400 patients instead of 40? Expected: a narrower interval.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Read every CI in three steps: the estimate, where the null is, how wide.</a:t>
            </a:r>
          </a:p>
          <a:p>
            <a:r>
              <a:rPr lang="en-US" sz="1400" b="0" dirty="0"/>
              <a:t>Paper 1: 13.2 ml/kg (-15.2 to 41.6), p = 0.42. Includes 0 and also a large difference: we do not know.</a:t>
            </a:r>
          </a:p>
          <a:p>
            <a:r>
              <a:rPr lang="en-US" sz="1400" b="0" dirty="0"/>
              <a:t>If asked why 13.2 is not 35.0 minus 6.9: it is a difference in means, the medians describe skewed data.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Paper 2 forest plot: day 1 HR 1.17 (0.85-1.60) crosses 1. Day 2 HR 2.13 (1.48-3.06) and day 3 HR 1.56 (1.10-2.22) are above 1.</a:t>
            </a:r>
          </a:p>
          <a:p>
            <a:r>
              <a:rPr lang="en-US" sz="1400" b="0" dirty="0"/>
              <a:t>Associated, not caused: residual confounding remains.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Log-rank: a p-value, no size, no adjustment. Cox: an adjusted HR with its CI. Proportional hazards: the HR is assumed constant, check it when curves cross.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Left: r = 0.98 but the device reads 0.9 lower: correlation is not agreement (use Bland-Altman). Right: fluid and ICU stay correlate only through severity.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Parallel lines: one adjusted effect is enough. Different slopes: interaction, report the effect in each group.</a:t>
            </a:r>
          </a:p>
          <a:p>
            <a:r>
              <a:rPr lang="en-US" sz="1400" b="0" dirty="0"/>
              <a:t>Pre-specify the few interactions you test, and test the interaction itself.</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Find the null first: 0 for differences (Paper 1 crosses it), 1 for ratios (Paper 2 day 2 is above it).</a:t>
            </a:r>
          </a:p>
          <a:p>
            <a:r>
              <a:rPr lang="en-US" sz="1400" b="0" dirty="0"/>
              <a:t>A CI that excludes the null means p &lt; 0.05, and the CI also gives size and precision.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Prediction models are judged by discrimination (AUC), calibration and external validation. A high AUC alone is not enough.</a:t>
            </a:r>
          </a:p>
          <a:p>
            <a:r>
              <a:rPr lang="en-US" sz="1400" b="0" dirty="0"/>
              <a:t>Ask: a vendor quotes AUC 0.92 in its own data. What do you ask?</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Machine learning is prediction. Four questions: what is it for, enough data, does it work (AUC, calibration, external validation), is it reported (TRIPOD+AI)?</a:t>
            </a:r>
          </a:p>
          <a:p>
            <a:r>
              <a:rPr lang="en-US" sz="1400" b="0" dirty="0"/>
              <a:t>Accuracy is not the same as benefit.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Complete case: simple, loses patients, biased unless MCAR. Multiple imputation: fill each gap several times, analyse each, pool. It is honest about what we do not know.</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What a reviewer looks for: missing values reported per variable, patients with and without complete data compared, a sensitivity analysis, and a plan written in advance.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on screen while people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4.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5.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6.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7.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8.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9.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0.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1.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2.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3.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4.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5.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16.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17.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18.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 Id="rId4" Type="http://schemas.openxmlformats.org/officeDocument/2006/relationships/image" Target="../media/image19.pn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 Id="rId4" Type="http://schemas.openxmlformats.org/officeDocument/2006/relationships/image" Target="../media/image20.pn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 Id="rId4" Type="http://schemas.openxmlformats.org/officeDocument/2006/relationships/image" Target="../media/image21.pn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 Id="rId4" Type="http://schemas.openxmlformats.org/officeDocument/2006/relationships/image" Target="../media/image22.pn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 Id="rId4" Type="http://schemas.openxmlformats.org/officeDocument/2006/relationships/image" Target="../media/image23.pn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 Id="rId4" Type="http://schemas.openxmlformats.org/officeDocument/2006/relationships/image" Target="../media/image24.pn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 Id="rId4" Type="http://schemas.openxmlformats.org/officeDocument/2006/relationships/image" Target="../media/image25.pn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 Id="rId4" Type="http://schemas.openxmlformats.org/officeDocument/2006/relationships/image" Target="../media/image26.pn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 Id="rId4" Type="http://schemas.openxmlformats.org/officeDocument/2006/relationships/image" Target="../media/image27.pn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 Id="rId4" Type="http://schemas.openxmlformats.org/officeDocument/2006/relationships/image" Target="../media/image28.pn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_rels/slide6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3.xml"/>
<Relationship Id="rId3" Type="http://schemas.openxmlformats.org/officeDocument/2006/relationships/image" Target="../media/image1.jpg"/>
<Relationship Id="rId4" Type="http://schemas.openxmlformats.org/officeDocument/2006/relationships/image" Target="../media/image29.png"/>
</Relationships>
</file>

<file path=ppt/slides/_rels/slide6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4.xml"/>
<Relationship Id="rId3" Type="http://schemas.openxmlformats.org/officeDocument/2006/relationships/image" Target="../media/image1.jpg"/>
</Relationships>
</file>

<file path=ppt/slides/_rels/slide6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Session 6 · Analyse: from sample to answer</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6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5 (10 min)</a:t>
            </a:r>
          </a:p>
          <a:p>
            <a:pPr marL="274320" indent="-274320" algn="l">
              <a:spcBef>
                <a:spcPts val="440"/>
              </a:spcBef>
              <a:buFont typeface="Arial"/>
              <a:buChar char="•"/>
            </a:pPr>
            <a:r>
              <a:rPr lang="en-US" sz="1900" dirty="0">
                <a:solidFill>
                  <a:srgbClr val="000000"/>
                </a:solidFill>
                <a:latin typeface="Arial"/>
                <a:cs typeface="Arial"/>
              </a:rPr>
              <a:t>6.1 From sample to population: CI, p-value, one- or two-sided, power, sample size, choosing a test</a:t>
            </a:r>
          </a:p>
          <a:p>
            <a:pPr marL="274320" indent="-274320" algn="l">
              <a:spcBef>
                <a:spcPts val="440"/>
              </a:spcBef>
              <a:buFont typeface="Arial"/>
              <a:buChar char="•"/>
            </a:pPr>
            <a:r>
              <a:rPr lang="en-US" sz="1900" dirty="0">
                <a:solidFill>
                  <a:srgbClr val="000000"/>
                </a:solidFill>
                <a:latin typeface="Arial"/>
                <a:cs typeface="Arial"/>
              </a:rPr>
              <a:t>6.2 Compare groups in the course dataset (live R demo)</a:t>
            </a:r>
          </a:p>
          <a:p>
            <a:pPr marL="274320" indent="-274320" algn="l">
              <a:spcBef>
                <a:spcPts val="440"/>
              </a:spcBef>
              <a:buFont typeface="Arial"/>
              <a:buChar char="•"/>
            </a:pPr>
            <a:r>
              <a:rPr lang="en-US" sz="1900" dirty="0">
                <a:solidFill>
                  <a:srgbClr val="000000"/>
                </a:solidFill>
                <a:latin typeface="Arial"/>
                <a:cs typeface="Arial"/>
              </a:rPr>
              <a:t>6.3 Relationships and models: regression, Kaplan-Meier and Cox</a:t>
            </a:r>
          </a:p>
          <a:p>
            <a:pPr marL="274320" indent="-274320" algn="l">
              <a:spcBef>
                <a:spcPts val="440"/>
              </a:spcBef>
              <a:buFont typeface="Arial"/>
              <a:buChar char="•"/>
            </a:pPr>
            <a:r>
              <a:rPr lang="en-US" sz="1900" dirty="0">
                <a:solidFill>
                  <a:srgbClr val="000000"/>
                </a:solidFill>
                <a:latin typeface="Arial"/>
                <a:cs typeface="Arial"/>
              </a:rPr>
              <a:t>6.4 Model the course dataset: adjusted OR, Cox HR, missing data, the SAP</a:t>
            </a:r>
          </a:p>
          <a:p>
            <a:pPr marL="274320" indent="-274320" algn="l">
              <a:spcBef>
                <a:spcPts val="440"/>
              </a:spcBef>
              <a:buFont typeface="Arial"/>
              <a:buChar char="•"/>
            </a:pPr>
            <a:r>
              <a:rPr lang="en-US" sz="1900" dirty="0">
                <a:solidFill>
                  <a:srgbClr val="000000"/>
                </a:solidFill>
                <a:latin typeface="Arial"/>
                <a:cs typeface="Arial"/>
              </a:rPr>
              <a:t>Proposal builder 6: sample size, analysis plan, missing-data plan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 5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ICU length of stay in 300 patients is right-skewed. Which summary goes in Table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A CRF item reads 'Lactate: ____'. Name two things missing.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In the raw FLUID-ICU data, one age was 210. Which check catches it, and what goes in the cleaning log?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in a poll. Q2 and Q3: two or three people answer with the microphone on (1 to 2 minutes each)</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 (reveal after)</a:t>
            </a:r>
          </a:p>
          <a:p>
            <a:pPr marL="0" indent="0" algn="ctr">
              <a:lnSpc>
                <a:spcPct val="104000"/>
              </a:lnSpc>
              <a:spcBef>
                <a:spcPts val="300"/>
              </a:spcBef>
              <a:buNone/>
            </a:pPr>
            <a:r>
              <a:rPr lang="en-US" sz="1500" dirty="0">
                <a:solidFill>
                  <a:srgbClr val="000000"/>
                </a:solidFill>
                <a:latin typeface="Arial"/>
                <a:cs typeface="Arial"/>
              </a:rPr>
              <a:t>Q1: median (IQR)</a:t>
            </a:r>
          </a:p>
          <a:p>
            <a:pPr marL="0" indent="0" algn="ctr">
              <a:lnSpc>
                <a:spcPct val="104000"/>
              </a:lnSpc>
              <a:spcBef>
                <a:spcPts val="300"/>
              </a:spcBef>
              <a:buNone/>
            </a:pPr>
            <a:r>
              <a:rPr lang="en-US" sz="1500" dirty="0">
                <a:solidFill>
                  <a:srgbClr val="000000"/>
                </a:solidFill>
                <a:latin typeface="Arial"/>
                <a:cs typeface="Arial"/>
              </a:rPr>
              <a:t>Q2: unit (mmol/L), time point, 'not done' option</a:t>
            </a:r>
          </a:p>
          <a:p>
            <a:pPr marL="0" indent="0" algn="ctr">
              <a:lnSpc>
                <a:spcPct val="104000"/>
              </a:lnSpc>
              <a:spcBef>
                <a:spcPts val="300"/>
              </a:spcBef>
              <a:buNone/>
            </a:pPr>
            <a:r>
              <a:rPr lang="en-US" sz="1500" dirty="0">
                <a:solidFill>
                  <a:srgbClr val="000000"/>
                </a:solidFill>
                <a:latin typeface="Arial"/>
                <a:cs typeface="Arial"/>
              </a:rPr>
              <a:t>Q3: range check. The value, the correction, the reason, who and when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back on track with data types, CRF items and cleaning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6.1 From sample to population, without fear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We study a few patients to learn about many.</a:t>
            </a:r>
          </a:p>
          <a:p>
            <a:pPr marL="0" indent="0" algn="ctr">
              <a:spcBef>
                <a:spcPts val="1200"/>
              </a:spcBef>
              <a:buNone/>
            </a:pPr>
            <a:r>
              <a:rPr lang="en-US" sz="1900" i="1" dirty="0">
                <a:solidFill>
                  <a:srgbClr val="595959"/>
                </a:solidFill>
                <a:latin typeface="Arial"/>
                <a:cs typeface="Arial"/>
              </a:rPr>
              <a:t>6.1 From sample to population  |  40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dance of the confidence intervals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About 95 of 100 such intervals capture the truth. We never know which ones.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p-value in one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 = how surprising our result would be if there were truly no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One-sided or two-sided? Two-sided is the default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H0 (null hypothesis): no difference. H1 (alternative hypothesis): there is a difference. The direction of H1 decides which tails count.</a:t>
            </a:r>
          </a:p>
        </p:txBody>
      </p:sp>
      <p:sp>
        <p:nvSpPr>
          <p:cNvPr id="70" name="CardHead"/>
          <p:cNvSpPr/>
          <p:nvPr/>
        </p:nvSpPr>
        <p:spPr>
          <a:xfrm>
            <a:off x="457200" y="20238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Two-sided (the default)</a:t>
            </a:r>
          </a:p>
        </p:txBody>
      </p:sp>
      <p:sp>
        <p:nvSpPr>
          <p:cNvPr id="71" name="CardBody"/>
          <p:cNvSpPr/>
          <p:nvPr/>
        </p:nvSpPr>
        <p:spPr>
          <a:xfrm>
            <a:off x="457200"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H1: the groups differ, in either direction</a:t>
            </a:r>
          </a:p>
          <a:p>
            <a:pPr marL="0" indent="0" algn="ctr">
              <a:lnSpc>
                <a:spcPct val="104000"/>
              </a:lnSpc>
              <a:spcBef>
                <a:spcPts val="400"/>
              </a:spcBef>
              <a:buNone/>
            </a:pPr>
            <a:r>
              <a:rPr lang="en-US" sz="1750" dirty="0">
                <a:solidFill>
                  <a:srgbClr val="000000"/>
                </a:solidFill>
                <a:latin typeface="Arial"/>
                <a:cs typeface="Arial"/>
              </a:rPr>
              <a:t>Benefit and harm both count</a:t>
            </a:r>
          </a:p>
          <a:p>
            <a:pPr marL="0" indent="0" algn="ctr">
              <a:lnSpc>
                <a:spcPct val="104000"/>
              </a:lnSpc>
              <a:spcBef>
                <a:spcPts val="400"/>
              </a:spcBef>
              <a:buNone/>
            </a:pPr>
            <a:r>
              <a:rPr lang="en-US" sz="1750" dirty="0">
                <a:solidFill>
                  <a:srgbClr val="000000"/>
                </a:solidFill>
                <a:latin typeface="Arial"/>
                <a:cs typeface="Arial"/>
              </a:rPr>
              <a:t>The p-value uses both tails</a:t>
            </a:r>
          </a:p>
        </p:txBody>
      </p:sp>
      <p:sp>
        <p:nvSpPr>
          <p:cNvPr id="72" name="CardHead"/>
          <p:cNvSpPr/>
          <p:nvPr/>
        </p:nvSpPr>
        <p:spPr>
          <a:xfrm>
            <a:off x="4283066" y="2023812"/>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One-sided (rarely justified)</a:t>
            </a:r>
          </a:p>
        </p:txBody>
      </p:sp>
      <p:sp>
        <p:nvSpPr>
          <p:cNvPr id="73" name="CardBody"/>
          <p:cNvSpPr/>
          <p:nvPr/>
        </p:nvSpPr>
        <p:spPr>
          <a:xfrm>
            <a:off x="4283066"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H1: one direction only, e.g. 'restrictive is better'</a:t>
            </a:r>
          </a:p>
          <a:p>
            <a:pPr marL="0" indent="0" algn="ctr">
              <a:lnSpc>
                <a:spcPct val="104000"/>
              </a:lnSpc>
              <a:spcBef>
                <a:spcPts val="400"/>
              </a:spcBef>
              <a:buNone/>
            </a:pPr>
            <a:r>
              <a:rPr lang="en-US" sz="1750" dirty="0">
                <a:solidFill>
                  <a:srgbClr val="000000"/>
                </a:solidFill>
                <a:latin typeface="Arial"/>
                <a:cs typeface="Arial"/>
              </a:rPr>
              <a:t>Needs a strong reason, written before the data</a:t>
            </a:r>
          </a:p>
          <a:p>
            <a:pPr marL="0" indent="0" algn="ctr">
              <a:lnSpc>
                <a:spcPct val="104000"/>
              </a:lnSpc>
              <a:spcBef>
                <a:spcPts val="400"/>
              </a:spcBef>
              <a:buNone/>
            </a:pPr>
            <a:r>
              <a:rPr lang="en-US" sz="1750" dirty="0">
                <a:solidFill>
                  <a:srgbClr val="000000"/>
                </a:solidFill>
                <a:latin typeface="Arial"/>
                <a:cs typeface="Arial"/>
              </a:rPr>
              <a:t>Same data give about half the p-value</a:t>
            </a:r>
          </a:p>
        </p:txBody>
      </p:sp>
      <p:sp>
        <p:nvSpPr>
          <p:cNvPr id="74" name="CardHead"/>
          <p:cNvSpPr/>
          <p:nvPr/>
        </p:nvSpPr>
        <p:spPr>
          <a:xfrm>
            <a:off x="8108932" y="20238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Not non-inferiority</a:t>
            </a:r>
          </a:p>
        </p:txBody>
      </p:sp>
      <p:sp>
        <p:nvSpPr>
          <p:cNvPr id="75" name="CardBody"/>
          <p:cNvSpPr/>
          <p:nvPr/>
        </p:nvSpPr>
        <p:spPr>
          <a:xfrm>
            <a:off x="8108932"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Non-inferiority is a different design</a:t>
            </a:r>
          </a:p>
          <a:p>
            <a:pPr marL="0" indent="0" algn="ctr">
              <a:lnSpc>
                <a:spcPct val="104000"/>
              </a:lnSpc>
              <a:spcBef>
                <a:spcPts val="400"/>
              </a:spcBef>
              <a:buNone/>
            </a:pPr>
            <a:r>
              <a:rPr lang="en-US" sz="1750" dirty="0">
                <a:solidFill>
                  <a:srgbClr val="000000"/>
                </a:solidFill>
                <a:latin typeface="Arial"/>
                <a:cs typeface="Arial"/>
              </a:rPr>
              <a:t>It has a margin set in advance (Session 3)</a:t>
            </a:r>
          </a:p>
          <a:p>
            <a:pPr marL="0" indent="0" algn="ctr">
              <a:lnSpc>
                <a:spcPct val="104000"/>
              </a:lnSpc>
              <a:spcBef>
                <a:spcPts val="400"/>
              </a:spcBef>
              <a:buNone/>
            </a:pPr>
            <a:r>
              <a:rPr lang="en-US" sz="1750" dirty="0">
                <a:solidFill>
                  <a:srgbClr val="000000"/>
                </a:solidFill>
                <a:latin typeface="Arial"/>
                <a:cs typeface="Arial"/>
              </a:rPr>
              <a:t>It needs its own sample size and analysis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Use two-sided tests. A one-sided test chosen after seeing the data is not acceptable.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Five common p-value mistakes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Each of these sentences appears in published papers. All are wrong. (H0 = the null hypothesis: no difference.)</a:t>
            </a:r>
          </a:p>
        </p:txBody>
      </p:sp>
      <p:sp>
        <p:nvSpPr>
          <p:cNvPr id="70" name="CardHead"/>
          <p:cNvSpPr/>
          <p:nvPr/>
        </p:nvSpPr>
        <p:spPr>
          <a:xfrm>
            <a:off x="457200" y="228945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'Chance of H0'</a:t>
            </a:r>
          </a:p>
        </p:txBody>
      </p:sp>
      <p:sp>
        <p:nvSpPr>
          <p:cNvPr id="71" name="CardBody"/>
          <p:cNvSpPr/>
          <p:nvPr/>
        </p:nvSpPr>
        <p:spPr>
          <a:xfrm>
            <a:off x="45720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is not the chance that there is no effect</a:t>
            </a:r>
          </a:p>
        </p:txBody>
      </p:sp>
      <p:sp>
        <p:nvSpPr>
          <p:cNvPr id="72" name="CardHead"/>
          <p:cNvSpPr/>
          <p:nvPr/>
        </p:nvSpPr>
        <p:spPr>
          <a:xfrm>
            <a:off x="2752720" y="228945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'Big effect'</a:t>
            </a:r>
          </a:p>
        </p:txBody>
      </p:sp>
      <p:sp>
        <p:nvSpPr>
          <p:cNvPr id="73" name="CardBody"/>
          <p:cNvSpPr/>
          <p:nvPr/>
        </p:nvSpPr>
        <p:spPr>
          <a:xfrm>
            <a:off x="275272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 small p is not a big or important effect</a:t>
            </a:r>
          </a:p>
        </p:txBody>
      </p:sp>
      <p:sp>
        <p:nvSpPr>
          <p:cNvPr id="74" name="CardHead"/>
          <p:cNvSpPr/>
          <p:nvPr/>
        </p:nvSpPr>
        <p:spPr>
          <a:xfrm>
            <a:off x="5048240" y="228945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'No effect'</a:t>
            </a:r>
          </a:p>
        </p:txBody>
      </p:sp>
      <p:sp>
        <p:nvSpPr>
          <p:cNvPr id="75" name="CardBody"/>
          <p:cNvSpPr/>
          <p:nvPr/>
        </p:nvSpPr>
        <p:spPr>
          <a:xfrm>
            <a:off x="504824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&gt; 0.05 is not proof of no effect</a:t>
            </a:r>
          </a:p>
        </p:txBody>
      </p:sp>
      <p:sp>
        <p:nvSpPr>
          <p:cNvPr id="76" name="CardHead"/>
          <p:cNvSpPr/>
          <p:nvPr/>
        </p:nvSpPr>
        <p:spPr>
          <a:xfrm>
            <a:off x="7343760" y="228945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'A trend'</a:t>
            </a:r>
          </a:p>
        </p:txBody>
      </p:sp>
      <p:sp>
        <p:nvSpPr>
          <p:cNvPr id="77" name="CardBody"/>
          <p:cNvSpPr/>
          <p:nvPr/>
        </p:nvSpPr>
        <p:spPr>
          <a:xfrm>
            <a:off x="734376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 0.08 is not 'almost significant'</a:t>
            </a:r>
          </a:p>
        </p:txBody>
      </p:sp>
      <p:sp>
        <p:nvSpPr>
          <p:cNvPr id="78" name="CardHead"/>
          <p:cNvSpPr/>
          <p:nvPr/>
        </p:nvSpPr>
        <p:spPr>
          <a:xfrm>
            <a:off x="9639280" y="2289454"/>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'Only p'</a:t>
            </a:r>
          </a:p>
        </p:txBody>
      </p:sp>
      <p:sp>
        <p:nvSpPr>
          <p:cNvPr id="79" name="CardBody"/>
          <p:cNvSpPr/>
          <p:nvPr/>
        </p:nvSpPr>
        <p:spPr>
          <a:xfrm>
            <a:off x="963928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alone is not enough</a:t>
            </a:r>
          </a:p>
          <a:p>
            <a:pPr marL="0" indent="0" algn="ctr">
              <a:lnSpc>
                <a:spcPct val="104000"/>
              </a:lnSpc>
              <a:spcBef>
                <a:spcPts val="400"/>
              </a:spcBef>
              <a:buNone/>
            </a:pPr>
            <a:r>
              <a:rPr lang="en-US" sz="1450" dirty="0">
                <a:solidFill>
                  <a:srgbClr val="000000"/>
                </a:solidFill>
                <a:latin typeface="Arial"/>
                <a:cs typeface="Arial"/>
              </a:rPr>
              <a:t>Give the effect and its 95% CI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the effect size with its 95% CI. The p-value is a supporting actor.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CI and p-value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'Hazard ratio (HR) 2.13, 95% confidence interval (CI) 1.48 to 3.06': the data are compatible with a true HR from about 1.5 to 3.1. True or false?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0.42, so the two strategies are equivalent.' True or false?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0.03 means a 3% chance that there is no effect.' True or false?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larger study usually gives a narrower CI.' True or false?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True</a:t>
            </a:r>
          </a:p>
          <a:p>
            <a:pPr marL="0" indent="0" algn="ctr">
              <a:lnSpc>
                <a:spcPct val="104000"/>
              </a:lnSpc>
              <a:spcBef>
                <a:spcPts val="300"/>
              </a:spcBef>
              <a:buNone/>
            </a:pPr>
            <a:r>
              <a:rPr lang="en-US" sz="1500" dirty="0">
                <a:solidFill>
                  <a:srgbClr val="000000"/>
                </a:solidFill>
                <a:latin typeface="Arial"/>
                <a:cs typeface="Arial"/>
              </a:rPr>
              <a:t>False: we do not know</a:t>
            </a:r>
          </a:p>
          <a:p>
            <a:pPr marL="0" indent="0" algn="ctr">
              <a:lnSpc>
                <a:spcPct val="104000"/>
              </a:lnSpc>
              <a:spcBef>
                <a:spcPts val="300"/>
              </a:spcBef>
              <a:buNone/>
            </a:pPr>
            <a:r>
              <a:rPr lang="en-US" sz="1500" dirty="0">
                <a:solidFill>
                  <a:srgbClr val="000000"/>
                </a:solidFill>
                <a:latin typeface="Arial"/>
                <a:cs typeface="Arial"/>
              </a:rPr>
              <a:t>False: p assumes no effect</a:t>
            </a:r>
          </a:p>
          <a:p>
            <a:pPr marL="0" indent="0" algn="ctr">
              <a:lnSpc>
                <a:spcPct val="104000"/>
              </a:lnSpc>
              <a:spcBef>
                <a:spcPts val="300"/>
              </a:spcBef>
              <a:buNone/>
            </a:pPr>
            <a:r>
              <a:rPr lang="en-US" sz="1500" dirty="0">
                <a:solidFill>
                  <a:srgbClr val="000000"/>
                </a:solidFill>
                <a:latin typeface="Arial"/>
                <a:cs typeface="Arial"/>
              </a:rPr>
              <a:t>True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read a CI and avoid the classic p-value mistakes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Type I and type II errors: the fire alarm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2056656"/>
          <a:ext cx="11277600" cy="151728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There is a fire (real effect)</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No fire (no real effect)</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Alarm rings (p &lt; 0.05, 'significant')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Correct alarm: power (aim for 80-90%)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False alarm: type I error (alpha, usually 5%)</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Alarm silent (p of 0.05 or more)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Missed fire: type II error (beta)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Correctly quiet</a:t>
                      </a:r>
                    </a:p>
                  </a:txBody>
                  <a:tcPr marL="73152" marR="73152" marT="45720" marB="45720" anchor="ctr">
                    <a:solidFill>
                      <a:srgbClr val="F5F9FA"/>
                    </a:solidFill>
                  </a:tcPr>
                </a:tc>
              </a:tr>
            </a:tbl>
          </a:graphicData>
        </a:graphic>
      </p:graphicFrame>
      <p:sp>
        <p:nvSpPr>
          <p:cNvPr id="31" name="Caption"/>
          <p:cNvSpPr txBox="1"/>
          <p:nvPr/>
        </p:nvSpPr>
        <p:spPr>
          <a:xfrm>
            <a:off x="457200" y="366393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Alpha = risk of a false alarm. Power = chance of detecting a real effect. A less sensitive alarm (smaller alpha) gives fewer false alarms but more missed fires, unless you buy a better alarm: more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Sample size: bigger effect, less noise = fewer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Sample size depends on the effect you hope to detect and on the noise.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an online sample-size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a free online calculator (for example OpenEpi) on the shared screen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Two means: 70 vs 40 ml/kg, SD (standard deviation) 35, power 80%, alpha 5%: 22 per group</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Two proportions: mortality 40% vs 30%: about 356 per group</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Change one input at a time. Predict the direction first (poll)</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Offline fallback: the Neudata sample-size spreadsheet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What changes n?</a:t>
            </a:r>
          </a:p>
          <a:p>
            <a:pPr marL="0" indent="0" algn="ctr">
              <a:lnSpc>
                <a:spcPct val="104000"/>
              </a:lnSpc>
              <a:spcBef>
                <a:spcPts val="300"/>
              </a:spcBef>
              <a:buNone/>
            </a:pPr>
            <a:r>
              <a:rPr lang="en-US" sz="1500" dirty="0">
                <a:solidFill>
                  <a:srgbClr val="000000"/>
                </a:solidFill>
                <a:latin typeface="Arial"/>
                <a:cs typeface="Arial"/>
              </a:rPr>
              <a:t>Smaller effect: n goes up</a:t>
            </a:r>
          </a:p>
          <a:p>
            <a:pPr marL="0" indent="0" algn="ctr">
              <a:lnSpc>
                <a:spcPct val="104000"/>
              </a:lnSpc>
              <a:spcBef>
                <a:spcPts val="300"/>
              </a:spcBef>
              <a:buNone/>
            </a:pPr>
            <a:r>
              <a:rPr lang="en-US" sz="1500" dirty="0">
                <a:solidFill>
                  <a:srgbClr val="000000"/>
                </a:solidFill>
                <a:latin typeface="Arial"/>
                <a:cs typeface="Arial"/>
              </a:rPr>
              <a:t>More noise (SD): n goes up</a:t>
            </a:r>
          </a:p>
          <a:p>
            <a:pPr marL="0" indent="0" algn="ctr">
              <a:lnSpc>
                <a:spcPct val="104000"/>
              </a:lnSpc>
              <a:spcBef>
                <a:spcPts val="300"/>
              </a:spcBef>
              <a:buNone/>
            </a:pPr>
            <a:r>
              <a:rPr lang="en-US" sz="1500" dirty="0">
                <a:solidFill>
                  <a:srgbClr val="000000"/>
                </a:solidFill>
                <a:latin typeface="Arial"/>
                <a:cs typeface="Arial"/>
              </a:rPr>
              <a:t>More power: n goes up</a:t>
            </a:r>
          </a:p>
          <a:p>
            <a:pPr marL="0" indent="0" algn="ctr">
              <a:lnSpc>
                <a:spcPct val="104000"/>
              </a:lnSpc>
              <a:spcBef>
                <a:spcPts val="300"/>
              </a:spcBef>
              <a:buNone/>
            </a:pPr>
            <a:r>
              <a:rPr lang="en-US" sz="1500" dirty="0">
                <a:solidFill>
                  <a:srgbClr val="000000"/>
                </a:solidFill>
                <a:latin typeface="Arial"/>
                <a:cs typeface="Arial"/>
              </a:rPr>
              <a:t>Add 10-20% for drop-outs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knows the 4 numbers needed for their own sample-size statement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Choosing a test: one decision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892870"/>
          <a:ext cx="11277600" cy="2008640"/>
        </p:xfrm>
        <a:graphic>
          <a:graphicData uri="http://schemas.openxmlformats.org/drawingml/2006/table">
            <a:tbl>
              <a:tblPr firstRow="1" bandRow="1">
                <a:tableStyleId>{5C22544A-7EE6-4342-B048-85BDC9FD1C3A}</a:tableStyleId>
              </a:tblPr>
              <a:tblGrid>
                <a:gridCol w="2819400"/>
                <a:gridCol w="2819400"/>
                <a:gridCol w="2819400"/>
                <a:gridCol w="2819400"/>
              </a:tblGrid>
              <a:tr h="568640">
                <a:tc>
                  <a:txBody>
                    <a:bodyPr/>
                    <a:lstStyle/>
                    <a:p>
                      <a:pPr algn="l"/>
                      <a:r>
                        <a:rPr lang="en-US" sz="1500" b="1" dirty="0">
                          <a:solidFill>
                            <a:srgbClr val="FFFFFF"/>
                          </a:solidFill>
                          <a:latin typeface="Arial"/>
                          <a:cs typeface="Arial"/>
                        </a:rPr>
                        <a:t>Outcome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Shape or counts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Two independent groups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Same patients twice (paired)</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A number (continuous)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Roughly symmetric</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t-test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Paired t-test</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 number (continuous)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Skewed, or small sample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Mann-Whitney U</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Wilcoxon signed-rank</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A category (yes/no)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Expected counts 5 or more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Chi-square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McNemar</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 category (yes/no)</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Small counts (under 5)</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Fisher's exact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McNemar</a:t>
                      </a:r>
                    </a:p>
                  </a:txBody>
                  <a:tcPr marL="73152" marR="73152" marT="45720" marB="45720" anchor="ctr">
                    <a:solidFill>
                      <a:srgbClr val="F5F9FA"/>
                    </a:solidFill>
                  </a:tcPr>
                </a:tc>
              </a:tr>
            </a:tbl>
          </a:graphicData>
        </a:graphic>
      </p:graphicFrame>
      <p:sp>
        <p:nvSpPr>
          <p:cNvPr id="31" name="Caption"/>
          <p:cNvSpPr txBox="1"/>
          <p:nvPr/>
        </p:nvSpPr>
        <p:spPr>
          <a:xfrm>
            <a:off x="457200" y="399151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Outcome type + shape + paired or not = the right test. Paper 1 (Boulet 2024) used Mann-Whitney because fluid balance was skewed.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Paired or unpaired? Same patients or different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Same patients measured twice = paired test. Different patients = unpaired.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Multiple comparisons: the jelly-bean problem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What to do</a:t>
            </a:r>
          </a:p>
          <a:p>
            <a:pPr marL="274320" indent="-274320" algn="l">
              <a:spcBef>
                <a:spcPts val="440"/>
              </a:spcBef>
              <a:buFont typeface="Arial"/>
              <a:buChar char="•"/>
            </a:pPr>
            <a:r>
              <a:rPr lang="en-US" sz="1450" dirty="0">
                <a:solidFill>
                  <a:srgbClr val="000000"/>
                </a:solidFill>
                <a:latin typeface="Arial"/>
                <a:cs typeface="Arial"/>
              </a:rPr>
              <a:t>Pre-specify one primary outcome</a:t>
            </a:r>
          </a:p>
          <a:p>
            <a:pPr marL="274320" indent="-274320" algn="l">
              <a:spcBef>
                <a:spcPts val="440"/>
              </a:spcBef>
              <a:buFont typeface="Arial"/>
              <a:buChar char="•"/>
            </a:pPr>
            <a:r>
              <a:rPr lang="en-US" sz="1450" dirty="0">
                <a:solidFill>
                  <a:srgbClr val="000000"/>
                </a:solidFill>
                <a:latin typeface="Arial"/>
                <a:cs typeface="Arial"/>
              </a:rPr>
              <a:t>Label the rest as exploratory</a:t>
            </a:r>
          </a:p>
          <a:p>
            <a:pPr marL="274320" indent="-274320" algn="l">
              <a:spcBef>
                <a:spcPts val="440"/>
              </a:spcBef>
              <a:buFont typeface="Arial"/>
              <a:buChar char="•"/>
            </a:pPr>
            <a:r>
              <a:rPr lang="en-US" sz="1450" dirty="0">
                <a:solidFill>
                  <a:srgbClr val="000000"/>
                </a:solidFill>
                <a:latin typeface="Arial"/>
                <a:cs typeface="Arial"/>
              </a:rPr>
              <a:t>Adjust, e.g. Bonferroni: 0.05 / number of tests</a:t>
            </a:r>
          </a:p>
          <a:p>
            <a:pPr marL="274320" indent="-274320" algn="l">
              <a:spcBef>
                <a:spcPts val="440"/>
              </a:spcBef>
              <a:buFont typeface="Arial"/>
              <a:buChar char="•"/>
            </a:pPr>
            <a:r>
              <a:rPr lang="en-US" sz="1450" dirty="0">
                <a:solidFill>
                  <a:srgbClr val="000000"/>
                </a:solidFill>
                <a:latin typeface="Arial"/>
                <a:cs typeface="Arial"/>
              </a:rPr>
              <a:t>Report every test you ran</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Test 20 things and one will be 'significant' by chance alone.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which test?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ICU stay (skewed) in positive vs negative fluid balance groups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28-day death (yes/no) in 300 vs 300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at admission and 6 h later in the same 40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Dialysis (yes/no): 2 of 24 vs 5 of 24 patients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Mann-Whitney U</a:t>
            </a:r>
          </a:p>
          <a:p>
            <a:pPr marL="0" indent="0" algn="ctr">
              <a:lnSpc>
                <a:spcPct val="104000"/>
              </a:lnSpc>
              <a:spcBef>
                <a:spcPts val="300"/>
              </a:spcBef>
              <a:buNone/>
            </a:pPr>
            <a:r>
              <a:rPr lang="en-US" sz="1500" dirty="0">
                <a:solidFill>
                  <a:srgbClr val="000000"/>
                </a:solidFill>
                <a:latin typeface="Arial"/>
                <a:cs typeface="Arial"/>
              </a:rPr>
              <a:t>Chi-square</a:t>
            </a:r>
          </a:p>
          <a:p>
            <a:pPr marL="0" indent="0" algn="ctr">
              <a:lnSpc>
                <a:spcPct val="104000"/>
              </a:lnSpc>
              <a:spcBef>
                <a:spcPts val="300"/>
              </a:spcBef>
              <a:buNone/>
            </a:pPr>
            <a:r>
              <a:rPr lang="en-US" sz="1500" dirty="0">
                <a:solidFill>
                  <a:srgbClr val="000000"/>
                </a:solidFill>
                <a:latin typeface="Arial"/>
                <a:cs typeface="Arial"/>
              </a:rPr>
              <a:t>Paired t-test</a:t>
            </a:r>
          </a:p>
          <a:p>
            <a:pPr marL="0" indent="0" algn="ctr">
              <a:lnSpc>
                <a:spcPct val="104000"/>
              </a:lnSpc>
              <a:spcBef>
                <a:spcPts val="300"/>
              </a:spcBef>
              <a:buNone/>
            </a:pPr>
            <a:r>
              <a:rPr lang="en-US" sz="1500" dirty="0">
                <a:solidFill>
                  <a:srgbClr val="000000"/>
                </a:solidFill>
                <a:latin typeface="Arial"/>
                <a:cs typeface="Arial"/>
              </a:rPr>
              <a:t>Fisher's exact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use the decision 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6.2 Compare groups in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Choose the test from the outcome, then read the result as an effect with a CI.</a:t>
            </a:r>
          </a:p>
          <a:p>
            <a:pPr marL="0" indent="0" algn="ctr">
              <a:spcBef>
                <a:spcPts val="1200"/>
              </a:spcBef>
              <a:buNone/>
            </a:pPr>
            <a:r>
              <a:rPr lang="en-US" sz="1900" i="1" dirty="0">
                <a:solidFill>
                  <a:srgbClr val="595959"/>
                </a:solidFill>
                <a:latin typeface="Arial"/>
                <a:cs typeface="Arial"/>
              </a:rPr>
              <a:t>6.2 Compare groups in the course dataset  |  20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comparing two groups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03_compare.R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Age (symmetric): t-test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SOFA and lactate (skewed): Mann-Whitney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28-day death (yes/no): 2x2 table and chi-square</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The common mistake: a t-test on skewed ICU stay</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Decision table</a:t>
            </a:r>
          </a:p>
          <a:p>
            <a:pPr marL="0" indent="0" algn="ctr">
              <a:lnSpc>
                <a:spcPct val="104000"/>
              </a:lnSpc>
              <a:spcBef>
                <a:spcPts val="300"/>
              </a:spcBef>
              <a:buNone/>
            </a:pPr>
            <a:r>
              <a:rPr lang="en-US" sz="1500" dirty="0">
                <a:solidFill>
                  <a:srgbClr val="000000"/>
                </a:solidFill>
                <a:latin typeface="Arial"/>
                <a:cs typeface="Arial"/>
              </a:rPr>
              <a:t>Number or category?</a:t>
            </a:r>
          </a:p>
          <a:p>
            <a:pPr marL="0" indent="0" algn="ctr">
              <a:lnSpc>
                <a:spcPct val="104000"/>
              </a:lnSpc>
              <a:spcBef>
                <a:spcPts val="300"/>
              </a:spcBef>
              <a:buNone/>
            </a:pPr>
            <a:r>
              <a:rPr lang="en-US" sz="1500" dirty="0">
                <a:solidFill>
                  <a:srgbClr val="000000"/>
                </a:solidFill>
                <a:latin typeface="Arial"/>
                <a:cs typeface="Arial"/>
              </a:rPr>
              <a:t>Symmetric or skewed?</a:t>
            </a:r>
          </a:p>
          <a:p>
            <a:pPr marL="0" indent="0" algn="ctr">
              <a:lnSpc>
                <a:spcPct val="104000"/>
              </a:lnSpc>
              <a:spcBef>
                <a:spcPts val="300"/>
              </a:spcBef>
              <a:buNone/>
            </a:pPr>
            <a:r>
              <a:rPr lang="en-US" sz="1500" dirty="0">
                <a:solidFill>
                  <a:srgbClr val="000000"/>
                </a:solidFill>
                <a:latin typeface="Arial"/>
                <a:cs typeface="Arial"/>
              </a:rPr>
              <a:t>Paired or not?</a:t>
            </a:r>
          </a:p>
          <a:p>
            <a:pPr marL="0" indent="0" algn="ctr">
              <a:lnSpc>
                <a:spcPct val="104000"/>
              </a:lnSpc>
              <a:spcBef>
                <a:spcPts val="300"/>
              </a:spcBef>
              <a:buNone/>
            </a:pPr>
            <a:r>
              <a:rPr lang="en-US" sz="1500" dirty="0">
                <a:solidFill>
                  <a:srgbClr val="000000"/>
                </a:solidFill>
                <a:latin typeface="Arial"/>
                <a:cs typeface="Arial"/>
              </a:rPr>
              <a:t>Effect + 95% CI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the test chosen from the outcome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four outcomes, four comparisons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52123"/>
          <a:ext cx="11277600" cy="333088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507680">
                <a:tc>
                  <a:txBody>
                    <a:bodyPr/>
                    <a:lstStyle/>
                    <a:p>
                      <a:pPr algn="l"/>
                      <a:r>
                        <a:rPr lang="en-US" sz="1300" b="1" dirty="0">
                          <a:solidFill>
                            <a:srgbClr val="FFFFFF"/>
                          </a:solidFill>
                          <a:latin typeface="Arial"/>
                          <a:cs typeface="Arial"/>
                        </a:rPr>
                        <a:t>Outcome (type)</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Negative balance (n = 245)</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Positive balance (n = 373)</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Test</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Result</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28-day death (yes/no)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45 (18.4%)</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134 (35.9%)</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Chi-square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Risk difference 17.6 points (95% CI 10.7 to 24.4), p &lt; 0.001</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Acute kidney injury (yes/no)</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71 (29.0%)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230 (61.7%)</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Chi-square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 &lt; 0.001</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Ventilator-free days (0-28, skewed)</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Median 28 (22 to 28)</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Median 20 (0 to 28)</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Mann-Whitney</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 &lt; 0.001</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ICU stay in survivors (days, skewed)</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4.8 (3.3 to 7.1), n = 200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7.5 (5.2 to 11.2), n = 239</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Mann-Whitney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Difference 2.5 days (95% CI 1.8 to 3.2), p &lt; 0.001</a:t>
                      </a:r>
                    </a:p>
                  </a:txBody>
                  <a:tcPr marL="73152" marR="73152" marT="45720" marB="45720" anchor="ctr">
                    <a:solidFill>
                      <a:srgbClr val="F5F9FA"/>
                    </a:solidFill>
                  </a:tcPr>
                </a:tc>
              </a:tr>
            </a:tbl>
          </a:graphicData>
        </a:graphic>
      </p:graphicFrame>
      <p:sp>
        <p:nvSpPr>
          <p:cNvPr id="31" name="Caption"/>
          <p:cNvSpPr txBox="1"/>
          <p:nvPr/>
        </p:nvSpPr>
        <p:spPr>
          <a:xfrm>
            <a:off x="457200" y="487300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 (%) or median (IQR). Unadjusted comparisons, simulated data (key_results.md). Every outcome is worse in the positive-balance group, before any adjustment.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reading the mortality comparison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1 (Q1), unadjusted: positive vs negative fluid balance by day 3.</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Risks</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Positive: 134/373 = 35.9%</a:t>
            </a:r>
          </a:p>
          <a:p>
            <a:pPr marL="0" indent="0" algn="ctr">
              <a:lnSpc>
                <a:spcPct val="104000"/>
              </a:lnSpc>
              <a:spcBef>
                <a:spcPts val="200"/>
              </a:spcBef>
              <a:buNone/>
            </a:pPr>
            <a:r>
              <a:rPr lang="en-US" sz="1500" dirty="0">
                <a:solidFill>
                  <a:srgbClr val="000000"/>
                </a:solidFill>
                <a:latin typeface="Arial"/>
                <a:cs typeface="Arial"/>
              </a:rPr>
              <a:t>Negative: 45/245 = 18.4%</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Difference</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17.6 percentage points</a:t>
            </a:r>
          </a:p>
          <a:p>
            <a:pPr marL="0" indent="0" algn="ctr">
              <a:lnSpc>
                <a:spcPct val="104000"/>
              </a:lnSpc>
              <a:spcBef>
                <a:spcPts val="200"/>
              </a:spcBef>
              <a:buNone/>
            </a:pPr>
            <a:r>
              <a:rPr lang="en-US" sz="1500" dirty="0">
                <a:solidFill>
                  <a:srgbClr val="000000"/>
                </a:solidFill>
                <a:latin typeface="Arial"/>
                <a:cs typeface="Arial"/>
              </a:rPr>
              <a:t>95% CI 10.7 to 24.4</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Ratio</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Risk ratio (RR) 1.96</a:t>
            </a:r>
          </a:p>
          <a:p>
            <a:pPr marL="0" indent="0" algn="ctr">
              <a:lnSpc>
                <a:spcPct val="104000"/>
              </a:lnSpc>
              <a:spcBef>
                <a:spcPts val="200"/>
              </a:spcBef>
              <a:buNone/>
            </a:pPr>
            <a:r>
              <a:rPr lang="en-US" sz="1500" dirty="0">
                <a:solidFill>
                  <a:srgbClr val="000000"/>
                </a:solidFill>
                <a:latin typeface="Arial"/>
                <a:cs typeface="Arial"/>
              </a:rPr>
              <a:t>About twice the risk</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Test</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Chi-square, p &lt; 0.001</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But...</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Unadjusted: the positive group was sicker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the effect and its CI. Then ask what else could explain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Interpret the comparisons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Q1 in full: 28-day death in the comparison table of the Q1 results pack (PDF)</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which test was used, and why that test?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say the result as an effect with its 95% CI. The instructor builds one Results sentence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one reason the comparison could be biased</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to Q5: the instructor reads each result in one sentence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Avoid</a:t>
            </a:r>
          </a:p>
          <a:p>
            <a:pPr marL="0" indent="0" algn="ctr">
              <a:lnSpc>
                <a:spcPct val="104000"/>
              </a:lnSpc>
              <a:spcBef>
                <a:spcPts val="300"/>
              </a:spcBef>
              <a:buNone/>
            </a:pPr>
            <a:r>
              <a:rPr lang="en-US" sz="1500" dirty="0">
                <a:solidFill>
                  <a:srgbClr val="000000"/>
                </a:solidFill>
                <a:latin typeface="Arial"/>
                <a:cs typeface="Arial"/>
              </a:rPr>
              <a:t>p-value alone</a:t>
            </a:r>
          </a:p>
          <a:p>
            <a:pPr marL="0" indent="0" algn="ctr">
              <a:lnSpc>
                <a:spcPct val="104000"/>
              </a:lnSpc>
              <a:spcBef>
                <a:spcPts val="300"/>
              </a:spcBef>
              <a:buNone/>
            </a:pPr>
            <a:r>
              <a:rPr lang="en-US" sz="1500" dirty="0">
                <a:solidFill>
                  <a:srgbClr val="000000"/>
                </a:solidFill>
                <a:latin typeface="Arial"/>
                <a:cs typeface="Arial"/>
              </a:rPr>
              <a:t>'proves', 'causes'</a:t>
            </a:r>
          </a:p>
          <a:p>
            <a:pPr marL="0" indent="0" algn="ctr">
              <a:lnSpc>
                <a:spcPct val="104000"/>
              </a:lnSpc>
              <a:spcBef>
                <a:spcPts val="300"/>
              </a:spcBef>
              <a:buNone/>
            </a:pPr>
            <a:r>
              <a:rPr lang="en-US" sz="1500" dirty="0">
                <a:solidFill>
                  <a:srgbClr val="000000"/>
                </a:solidFill>
                <a:latin typeface="Arial"/>
                <a:cs typeface="Arial"/>
              </a:rPr>
              <a:t>'trend' for p &gt; 0.05</a:t>
            </a:r>
          </a:p>
          <a:p>
            <a:pPr marL="0" indent="0" algn="ctr">
              <a:lnSpc>
                <a:spcPct val="104000"/>
              </a:lnSpc>
              <a:spcBef>
                <a:spcPts val="300"/>
              </a:spcBef>
              <a:buNone/>
            </a:pPr>
            <a:r>
              <a:rPr lang="en-US" sz="1500" dirty="0">
                <a:solidFill>
                  <a:srgbClr val="000000"/>
                </a:solidFill>
                <a:latin typeface="Arial"/>
                <a:cs typeface="Arial"/>
              </a:rPr>
              <a:t>Forgetting the 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One Results sentence for Q1, one line each for Q2 to Q5 (Exercise 4)</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6.3 Relationships and models (concepts)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You do not need to run a model to read one.</a:t>
            </a:r>
          </a:p>
          <a:p>
            <a:pPr marL="0" indent="0" algn="ctr">
              <a:spcBef>
                <a:spcPts val="1200"/>
              </a:spcBef>
              <a:buNone/>
            </a:pPr>
            <a:r>
              <a:rPr lang="en-US" sz="1900" i="1" dirty="0">
                <a:solidFill>
                  <a:srgbClr val="595959"/>
                </a:solidFill>
                <a:latin typeface="Arial"/>
                <a:cs typeface="Arial"/>
              </a:rPr>
              <a:t>6.3 Relationships and models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Correlation: how closely two numbers move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 measures straight-line association, from -1 to +1. Always look at the plot.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Linear regression: the best straight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Slope = change in the outcome per unit of exposure. R² = how much the line explains.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Logistic regression: an S-curve for yes/no outcomes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Logistic regression turns a yes/no outcome into an odds ratio per unit of exposure.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Which model? It depends on the outcome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35901"/>
          <a:ext cx="11277600" cy="208592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500" b="1" dirty="0">
                          <a:solidFill>
                            <a:srgbClr val="FFFFFF"/>
                          </a:solidFill>
                          <a:latin typeface="Arial"/>
                          <a:cs typeface="Arial"/>
                        </a:rPr>
                        <a:t>Your outcome is...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Model</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The paper reports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'No effect' value</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A number, e.g. fluid balance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Linear regression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Coefficient (B): a difference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Yes / no, e.g. died by day 28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Logistic regression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Odds ratio (OR)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Time to event, e.g. time to death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Cox regression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Hazard ratio (HR)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a:t>
                      </a:r>
                    </a:p>
                  </a:txBody>
                  <a:tcPr marL="73152" marR="73152" marT="45720" marB="45720" anchor="ctr">
                    <a:solidFill>
                      <a:srgbClr val="FFFFFF"/>
                    </a:solidFill>
                  </a:tcPr>
                </a:tc>
              </a:tr>
            </a:tbl>
          </a:graphicData>
        </a:graphic>
      </p:graphicFrame>
      <p:sp>
        <p:nvSpPr>
          <p:cNvPr id="31" name="Caption"/>
          <p:cNvSpPr txBox="1"/>
          <p:nvPr/>
        </p:nvSpPr>
        <p:spPr>
          <a:xfrm>
            <a:off x="457200" y="411182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The outcome type tells you the model and the number to 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'adjusted' means: compare like with like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Simulated numbers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Adjusting = comparing patients who are alike on the confounders.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Reading a regression table, row by row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25136"/>
          <a:ext cx="11277600" cy="341184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568640">
                <a:tc>
                  <a:txBody>
                    <a:bodyPr/>
                    <a:lstStyle/>
                    <a:p>
                      <a:pPr algn="l"/>
                      <a:r>
                        <a:rPr lang="en-US" sz="1500" b="1" dirty="0">
                          <a:solidFill>
                            <a:srgbClr val="FFFFFF"/>
                          </a:solidFill>
                          <a:latin typeface="Arial"/>
                          <a:cs typeface="Arial"/>
                        </a:rPr>
                        <a:t>Variable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Adjusted OR</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95% CI</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p-value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Does the CI include 1?</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Positive fluid balance (yes vs no)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1.80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 to 2.70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0.004</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Age (per 10 years)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1.25</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1.10 to 1.42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&lt; 0.001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No</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SOFA score (per 1 point)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1.15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1.08 to 1.23</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&lt; 0.001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Female (vs male)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0.92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0.65 to 1.30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0.64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Yes: compatible with no effect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Lactate (per 1 mmol/L)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1.10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0.98 to 1.24</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0.11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Yes: compatible with no effect</a:t>
                      </a:r>
                    </a:p>
                  </a:txBody>
                  <a:tcPr marL="73152" marR="73152" marT="45720" marB="45720" anchor="ctr">
                    <a:solidFill>
                      <a:srgbClr val="FFFFFF"/>
                    </a:solidFill>
                  </a:tcPr>
                </a:tc>
              </a:tr>
            </a:tbl>
          </a:graphicData>
        </a:graphic>
      </p:graphicFrame>
      <p:sp>
        <p:nvSpPr>
          <p:cNvPr id="31" name="Caption"/>
          <p:cNvSpPr txBox="1"/>
          <p:nvPr/>
        </p:nvSpPr>
        <p:spPr>
          <a:xfrm>
            <a:off x="457200" y="492697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Outcome: death by day 28. Multivariable logistic regression, mock data. The rows below row 1 are the confounders the authors 'adjusted for'. Read each row: comparison, effect, 95% CI, does the CI include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read the regression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4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Use the table on the previous slide ('Reading a regression table')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for female sex, does the 95% CI include 1? What does that mean?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what does 'OR 1.15 per SOFA point' mean?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Question for the class: one plain-language sentence for positive fluid balance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Extra practice at home: Exercises 5 and 6 of the exercise sheet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The 4-step reading</a:t>
            </a:r>
          </a:p>
          <a:p>
            <a:pPr marL="0" indent="0" algn="ctr">
              <a:lnSpc>
                <a:spcPct val="104000"/>
              </a:lnSpc>
              <a:spcBef>
                <a:spcPts val="300"/>
              </a:spcBef>
              <a:buNone/>
            </a:pPr>
            <a:r>
              <a:rPr lang="en-US" sz="1500" dirty="0">
                <a:solidFill>
                  <a:srgbClr val="000000"/>
                </a:solidFill>
                <a:latin typeface="Arial"/>
                <a:cs typeface="Arial"/>
              </a:rPr>
              <a:t>What is compared?</a:t>
            </a:r>
          </a:p>
          <a:p>
            <a:pPr marL="0" indent="0" algn="ctr">
              <a:lnSpc>
                <a:spcPct val="104000"/>
              </a:lnSpc>
              <a:spcBef>
                <a:spcPts val="300"/>
              </a:spcBef>
              <a:buNone/>
            </a:pPr>
            <a:r>
              <a:rPr lang="en-US" sz="1500" dirty="0">
                <a:solidFill>
                  <a:srgbClr val="000000"/>
                </a:solidFill>
                <a:latin typeface="Arial"/>
                <a:cs typeface="Arial"/>
              </a:rPr>
              <a:t>How big is the effect?</a:t>
            </a:r>
          </a:p>
          <a:p>
            <a:pPr marL="0" indent="0" algn="ctr">
              <a:lnSpc>
                <a:spcPct val="104000"/>
              </a:lnSpc>
              <a:spcBef>
                <a:spcPts val="300"/>
              </a:spcBef>
              <a:buNone/>
            </a:pPr>
            <a:r>
              <a:rPr lang="en-US" sz="1500" dirty="0">
                <a:solidFill>
                  <a:srgbClr val="000000"/>
                </a:solidFill>
                <a:latin typeface="Arial"/>
                <a:cs typeface="Arial"/>
              </a:rPr>
              <a:t>How wide is the CI?</a:t>
            </a:r>
          </a:p>
          <a:p>
            <a:pPr marL="0" indent="0" algn="ctr">
              <a:lnSpc>
                <a:spcPct val="104000"/>
              </a:lnSpc>
              <a:spcBef>
                <a:spcPts val="300"/>
              </a:spcBef>
              <a:buNone/>
            </a:pPr>
            <a:r>
              <a:rPr lang="en-US" sz="1500" dirty="0">
                <a:solidFill>
                  <a:srgbClr val="000000"/>
                </a:solidFill>
                <a:latin typeface="Arial"/>
                <a:cs typeface="Arial"/>
              </a:rPr>
              <a:t>Does it cross 1 (or 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correct plain-language sentence, agreed by the class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Overfitting: too many variables for too few events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Why stepwise misleads</a:t>
            </a:r>
          </a:p>
          <a:p>
            <a:pPr marL="274320" indent="-274320" algn="l">
              <a:spcBef>
                <a:spcPts val="440"/>
              </a:spcBef>
              <a:buFont typeface="Arial"/>
              <a:buChar char="•"/>
            </a:pPr>
            <a:r>
              <a:rPr lang="en-US" sz="1450" dirty="0">
                <a:solidFill>
                  <a:srgbClr val="000000"/>
                </a:solidFill>
                <a:latin typeface="Arial"/>
                <a:cs typeface="Arial"/>
              </a:rPr>
              <a:t>Picks variables by p-value</a:t>
            </a:r>
          </a:p>
          <a:p>
            <a:pPr marL="274320" indent="-274320" algn="l">
              <a:spcBef>
                <a:spcPts val="440"/>
              </a:spcBef>
              <a:buFont typeface="Arial"/>
              <a:buChar char="•"/>
            </a:pPr>
            <a:r>
              <a:rPr lang="en-US" sz="1450" dirty="0">
                <a:solidFill>
                  <a:srgbClr val="000000"/>
                </a:solidFill>
                <a:latin typeface="Arial"/>
                <a:cs typeface="Arial"/>
              </a:rPr>
              <a:t>Finds chance 'predictors'</a:t>
            </a:r>
          </a:p>
          <a:p>
            <a:pPr marL="274320" indent="-274320" algn="l">
              <a:spcBef>
                <a:spcPts val="440"/>
              </a:spcBef>
              <a:buFont typeface="Arial"/>
              <a:buChar char="•"/>
            </a:pPr>
            <a:r>
              <a:rPr lang="en-US" sz="1450" dirty="0">
                <a:solidFill>
                  <a:srgbClr val="000000"/>
                </a:solidFill>
                <a:latin typeface="Arial"/>
                <a:cs typeface="Arial"/>
              </a:rPr>
              <a:t>Effects too big, CIs too narrow</a:t>
            </a:r>
          </a:p>
          <a:p>
            <a:pPr marL="274320" indent="-274320" algn="l">
              <a:spcBef>
                <a:spcPts val="440"/>
              </a:spcBef>
              <a:buFont typeface="Arial"/>
              <a:buChar char="•"/>
            </a:pPr>
            <a:r>
              <a:rPr lang="en-US" sz="1450" dirty="0">
                <a:solidFill>
                  <a:srgbClr val="000000"/>
                </a:solidFill>
                <a:latin typeface="Arial"/>
                <a:cs typeface="Arial"/>
              </a:rPr>
              <a:t>Better: choose confounders in advance</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Plan about 10 events per variable and choose variables by knowledge, not p-values.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Survival analysis starts with censoring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Censored patients still count: they tell us they survived up to that 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to read a Kaplan-Meier curve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steps, the ticks, the gap, and always the numbers at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6.4 Model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Adjust for what you planned, read the CI, and be honest about the gaps.</a:t>
            </a:r>
          </a:p>
          <a:p>
            <a:pPr marL="0" indent="0" algn="ctr">
              <a:spcBef>
                <a:spcPts val="1200"/>
              </a:spcBef>
              <a:buNone/>
            </a:pPr>
            <a:r>
              <a:rPr lang="en-US" sz="1900" i="1" dirty="0">
                <a:solidFill>
                  <a:srgbClr val="595959"/>
                </a:solidFill>
                <a:latin typeface="Arial"/>
                <a:cs typeface="Arial"/>
              </a:rPr>
              <a:t>6.4 Model the course dataset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SAP came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statistical analysis plan (SAP) was signed before the database was locked.</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Primary</a:t>
            </a:r>
          </a:p>
        </p:txBody>
      </p:sp>
      <p:sp>
        <p:nvSpPr>
          <p:cNvPr id="81" name="StepText"/>
          <p:cNvSpPr/>
          <p:nvPr/>
        </p:nvSpPr>
        <p:spPr>
          <a:xfrm>
            <a:off x="49720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28-day death</a:t>
            </a:r>
          </a:p>
          <a:p>
            <a:pPr marL="0" indent="0" algn="ctr">
              <a:lnSpc>
                <a:spcPct val="104000"/>
              </a:lnSpc>
              <a:spcBef>
                <a:spcPts val="200"/>
              </a:spcBef>
              <a:buNone/>
            </a:pPr>
            <a:r>
              <a:rPr lang="en-US" sz="1500" dirty="0">
                <a:solidFill>
                  <a:srgbClr val="000000"/>
                </a:solidFill>
                <a:latin typeface="Arial"/>
                <a:cs typeface="Arial"/>
              </a:rPr>
              <a:t>Logistic regression, odds ratio (OR)</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Confounders</a:t>
            </a:r>
          </a:p>
        </p:txBody>
      </p:sp>
      <p:sp>
        <p:nvSpPr>
          <p:cNvPr id="83" name="StepText"/>
          <p:cNvSpPr/>
          <p:nvPr/>
        </p:nvSpPr>
        <p:spPr>
          <a:xfrm>
            <a:off x="274072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Age, SOFA, lactate</a:t>
            </a:r>
          </a:p>
          <a:p>
            <a:pPr marL="0" indent="0" algn="ctr">
              <a:lnSpc>
                <a:spcPct val="104000"/>
              </a:lnSpc>
              <a:spcBef>
                <a:spcPts val="200"/>
              </a:spcBef>
              <a:buNone/>
            </a:pPr>
            <a:r>
              <a:rPr lang="en-US" sz="1500" dirty="0">
                <a:solidFill>
                  <a:srgbClr val="000000"/>
                </a:solidFill>
                <a:latin typeface="Arial"/>
                <a:cs typeface="Arial"/>
              </a:rPr>
              <a:t>Vasopressor, ventilation</a:t>
            </a:r>
          </a:p>
          <a:p>
            <a:pPr marL="0" indent="0" algn="ctr">
              <a:lnSpc>
                <a:spcPct val="104000"/>
              </a:lnSpc>
              <a:spcBef>
                <a:spcPts val="200"/>
              </a:spcBef>
              <a:buNone/>
            </a:pPr>
            <a:r>
              <a:rPr lang="en-US" sz="1500" dirty="0">
                <a:solidFill>
                  <a:srgbClr val="000000"/>
                </a:solidFill>
                <a:latin typeface="Arial"/>
                <a:cs typeface="Arial"/>
              </a:rPr>
              <a:t>Chronic kidney disease (CKD)</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Supportive</a:t>
            </a:r>
          </a:p>
        </p:txBody>
      </p:sp>
      <p:sp>
        <p:nvSpPr>
          <p:cNvPr id="85" name="StepText"/>
          <p:cNvSpPr/>
          <p:nvPr/>
        </p:nvSpPr>
        <p:spPr>
          <a:xfrm>
            <a:off x="498424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Kaplan-Meier and log-rank test</a:t>
            </a:r>
          </a:p>
          <a:p>
            <a:pPr marL="0" indent="0" algn="ctr">
              <a:lnSpc>
                <a:spcPct val="104000"/>
              </a:lnSpc>
              <a:spcBef>
                <a:spcPts val="200"/>
              </a:spcBef>
              <a:buNone/>
            </a:pPr>
            <a:r>
              <a:rPr lang="en-US" sz="1500" dirty="0">
                <a:solidFill>
                  <a:srgbClr val="000000"/>
                </a:solidFill>
                <a:latin typeface="Arial"/>
                <a:cs typeface="Arial"/>
              </a:rPr>
              <a:t>Cox hazard ratio (HR)</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Subgroup</a:t>
            </a:r>
          </a:p>
        </p:txBody>
      </p:sp>
      <p:sp>
        <p:nvSpPr>
          <p:cNvPr id="87" name="StepText"/>
          <p:cNvSpPr/>
          <p:nvPr/>
        </p:nvSpPr>
        <p:spPr>
          <a:xfrm>
            <a:off x="722776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One pre-specified: heart failure</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Missing data</a:t>
            </a:r>
          </a:p>
        </p:txBody>
      </p:sp>
      <p:sp>
        <p:nvSpPr>
          <p:cNvPr id="89" name="StepText"/>
          <p:cNvSpPr/>
          <p:nvPr/>
        </p:nvSpPr>
        <p:spPr>
          <a:xfrm>
            <a:off x="947128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Complete-case analysis</a:t>
            </a:r>
          </a:p>
          <a:p>
            <a:pPr marL="0" indent="0" algn="ctr">
              <a:lnSpc>
                <a:spcPct val="104000"/>
              </a:lnSpc>
              <a:spcBef>
                <a:spcPts val="200"/>
              </a:spcBef>
              <a:buNone/>
            </a:pPr>
            <a:r>
              <a:rPr lang="en-US" sz="1500" dirty="0">
                <a:solidFill>
                  <a:srgbClr val="000000"/>
                </a:solidFill>
                <a:latin typeface="Arial"/>
                <a:cs typeface="Arial"/>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Everything on the next slides was decided before anyone saw the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by indication, made visible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28644" y="1150000"/>
            <a:ext cx="993471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Crude OR 2.49 shrinks to 1.62 after adjusting for severity: still above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adjusted model, as a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each row: comparison, OR, 95% CI, does it cross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Kaplan-Meier: survival to day 28 by fluid balance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Day-28 survival 81.6% vs 64.1%, log-rank p &lt; 0.001: unadjusted.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Cox model: the same story in hazard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Q1 supportive analysis (04_models.R). HR = hazard ratio. OR = odds ratio.</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Crude HR</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2.17</a:t>
            </a:r>
          </a:p>
          <a:p>
            <a:pPr marL="0" indent="0" algn="ctr">
              <a:lnSpc>
                <a:spcPct val="104000"/>
              </a:lnSpc>
              <a:spcBef>
                <a:spcPts val="400"/>
              </a:spcBef>
              <a:buNone/>
            </a:pPr>
            <a:r>
              <a:rPr lang="en-US" sz="1600" dirty="0">
                <a:solidFill>
                  <a:srgbClr val="000000"/>
                </a:solidFill>
                <a:latin typeface="Arial"/>
                <a:cs typeface="Arial"/>
              </a:rPr>
              <a:t>95% CI 1.55 to 3.05</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Adjusted HR</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1.46</a:t>
            </a:r>
          </a:p>
          <a:p>
            <a:pPr marL="0" indent="0" algn="ctr">
              <a:lnSpc>
                <a:spcPct val="104000"/>
              </a:lnSpc>
              <a:spcBef>
                <a:spcPts val="400"/>
              </a:spcBef>
              <a:buNone/>
            </a:pPr>
            <a:r>
              <a:rPr lang="en-US" sz="1600" dirty="0">
                <a:solidFill>
                  <a:srgbClr val="000000"/>
                </a:solidFill>
                <a:latin typeface="Arial"/>
                <a:cs typeface="Arial"/>
              </a:rPr>
              <a:t>95% CI 1.00 to 2.13</a:t>
            </a:r>
          </a:p>
          <a:p>
            <a:pPr marL="0" indent="0" algn="ctr">
              <a:lnSpc>
                <a:spcPct val="104000"/>
              </a:lnSpc>
              <a:spcBef>
                <a:spcPts val="400"/>
              </a:spcBef>
              <a:buNone/>
            </a:pPr>
            <a:r>
              <a:rPr lang="en-US" sz="1600" dirty="0">
                <a:solidFill>
                  <a:srgbClr val="000000"/>
                </a:solidFill>
                <a:latin typeface="Arial"/>
                <a:cs typeface="Arial"/>
              </a:rPr>
              <a:t>p = 0.053</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Assumption</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Proportional hazards: global test p = 0.10</a:t>
            </a:r>
          </a:p>
          <a:p>
            <a:pPr marL="0" indent="0" algn="ctr">
              <a:lnSpc>
                <a:spcPct val="104000"/>
              </a:lnSpc>
              <a:spcBef>
                <a:spcPts val="400"/>
              </a:spcBef>
              <a:buNone/>
            </a:pPr>
            <a:r>
              <a:rPr lang="en-US" sz="1600" dirty="0">
                <a:solidFill>
                  <a:srgbClr val="000000"/>
                </a:solidFill>
                <a:latin typeface="Arial"/>
                <a:cs typeface="Arial"/>
              </a:rPr>
              <a:t>Acceptable</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Compare</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Adjusted OR 1.62, p = 0.044</a:t>
            </a:r>
          </a:p>
          <a:p>
            <a:pPr marL="0" indent="0" algn="ctr">
              <a:lnSpc>
                <a:spcPct val="104000"/>
              </a:lnSpc>
              <a:spcBef>
                <a:spcPts val="400"/>
              </a:spcBef>
              <a:buNone/>
            </a:pPr>
            <a:r>
              <a:rPr lang="en-US" sz="1600" dirty="0">
                <a:solidFill>
                  <a:srgbClr val="000000"/>
                </a:solidFill>
                <a:latin typeface="Arial"/>
                <a:cs typeface="Arial"/>
              </a:rPr>
              <a:t>Adjusted HR 1.46, p = 0.053</a:t>
            </a:r>
          </a:p>
          <a:p>
            <a:pPr marL="0" indent="0" algn="ctr">
              <a:lnSpc>
                <a:spcPct val="104000"/>
              </a:lnSpc>
              <a:spcBef>
                <a:spcPts val="400"/>
              </a:spcBef>
              <a:buNone/>
            </a:pPr>
            <a:r>
              <a:rPr lang="en-US" sz="1600" dirty="0">
                <a:solidFill>
                  <a:srgbClr val="000000"/>
                </a:solidFill>
                <a:latin typeface="Arial"/>
                <a:cs typeface="Arial"/>
              </a:rPr>
              <a:t>Same direction and size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 = 0.044 and p = 0.053 tell the same story: read the estimates and CIs.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RR, OR and HR: what each means and when you meet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All three compare two groups. 1 = no difference. Above 1: more events. Below 1: fewer.</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Risk ratio (RR)</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Risk in one group / risk in the other</a:t>
            </a:r>
          </a:p>
          <a:p>
            <a:pPr marL="0" indent="0" algn="ctr">
              <a:lnSpc>
                <a:spcPct val="104000"/>
              </a:lnSpc>
              <a:spcBef>
                <a:spcPts val="400"/>
              </a:spcBef>
              <a:buNone/>
            </a:pPr>
            <a:r>
              <a:rPr lang="en-US" sz="1750" dirty="0">
                <a:solidFill>
                  <a:srgbClr val="000000"/>
                </a:solidFill>
                <a:latin typeface="Arial"/>
                <a:cs typeface="Arial"/>
              </a:rPr>
              <a:t>Trials and cohorts, from a 2x2 table</a:t>
            </a:r>
          </a:p>
          <a:p>
            <a:pPr marL="0" indent="0" algn="ctr">
              <a:lnSpc>
                <a:spcPct val="104000"/>
              </a:lnSpc>
              <a:spcBef>
                <a:spcPts val="400"/>
              </a:spcBef>
              <a:buNone/>
            </a:pPr>
            <a:r>
              <a:rPr lang="en-US" sz="1750" dirty="0">
                <a:solidFill>
                  <a:srgbClr val="000000"/>
                </a:solidFill>
                <a:latin typeface="Arial"/>
                <a:cs typeface="Arial"/>
              </a:rPr>
              <a:t>Session 4</a:t>
            </a:r>
          </a:p>
        </p:txBody>
      </p:sp>
      <p:sp>
        <p:nvSpPr>
          <p:cNvPr id="72" name="CardHead"/>
          <p:cNvSpPr/>
          <p:nvPr/>
        </p:nvSpPr>
        <p:spPr>
          <a:xfrm>
            <a:off x="4283066" y="1925948"/>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Odds ratio (OR)</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Odds in one group / odds in the other</a:t>
            </a:r>
          </a:p>
          <a:p>
            <a:pPr marL="0" indent="0" algn="ctr">
              <a:lnSpc>
                <a:spcPct val="104000"/>
              </a:lnSpc>
              <a:spcBef>
                <a:spcPts val="400"/>
              </a:spcBef>
              <a:buNone/>
            </a:pPr>
            <a:r>
              <a:rPr lang="en-US" sz="1750" dirty="0">
                <a:solidFill>
                  <a:srgbClr val="000000"/>
                </a:solidFill>
                <a:latin typeface="Arial"/>
                <a:cs typeface="Arial"/>
              </a:rPr>
              <a:t>Case-control studies and logistic regression</a:t>
            </a:r>
          </a:p>
          <a:p>
            <a:pPr marL="0" indent="0" algn="ctr">
              <a:lnSpc>
                <a:spcPct val="104000"/>
              </a:lnSpc>
              <a:spcBef>
                <a:spcPts val="400"/>
              </a:spcBef>
              <a:buNone/>
            </a:pPr>
            <a:r>
              <a:rPr lang="en-US" sz="1750" dirty="0">
                <a:solidFill>
                  <a:srgbClr val="000000"/>
                </a:solidFill>
                <a:latin typeface="Arial"/>
                <a:cs typeface="Arial"/>
              </a:rPr>
              <a:t>Close to the RR when the outcome is rare</a:t>
            </a:r>
          </a:p>
        </p:txBody>
      </p:sp>
      <p:sp>
        <p:nvSpPr>
          <p:cNvPr id="74" name="CardHead"/>
          <p:cNvSpPr/>
          <p:nvPr/>
        </p:nvSpPr>
        <p:spPr>
          <a:xfrm>
            <a:off x="8108932"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Hazard ratio (HR)</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Event rate over time, one group vs the other</a:t>
            </a:r>
          </a:p>
          <a:p>
            <a:pPr marL="0" indent="0" algn="ctr">
              <a:lnSpc>
                <a:spcPct val="104000"/>
              </a:lnSpc>
              <a:spcBef>
                <a:spcPts val="400"/>
              </a:spcBef>
              <a:buNone/>
            </a:pPr>
            <a:r>
              <a:rPr lang="en-US" sz="1750" dirty="0">
                <a:solidFill>
                  <a:srgbClr val="000000"/>
                </a:solidFill>
                <a:latin typeface="Arial"/>
                <a:cs typeface="Arial"/>
              </a:rPr>
              <a:t>Time to event: Kaplan-Meier and Cox regression</a:t>
            </a:r>
          </a:p>
          <a:p>
            <a:pPr marL="0" indent="0" algn="ctr">
              <a:lnSpc>
                <a:spcPct val="104000"/>
              </a:lnSpc>
              <a:spcBef>
                <a:spcPts val="400"/>
              </a:spcBef>
              <a:buNone/>
            </a:pPr>
            <a:r>
              <a:rPr lang="en-US" sz="1750" dirty="0">
                <a:solidFill>
                  <a:srgbClr val="000000"/>
                </a:solidFill>
                <a:latin typeface="Arial"/>
                <a:cs typeface="Arial"/>
              </a:rPr>
              <a:t>Session 6</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outcome and the design decide the ratio: risk (RR), odds (OR) or rate over time (HR).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is it missing? MCAR, MAR and MNAR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reason data are missing decides how dangerous the gaps 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 is missing lactate? Not a random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Lactate was missing mostly in less sick patients: not MCAR, but MAR is plausible.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Complete case vs multiple imputation (Q4)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Multiple imputation keeps all 620 patients. The answer changes only modestly.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Interpret the models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Q1 in full: crude and adjusted OR in the model table of the Q1 results pack (PDF)</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how much did adjustment change the estimate, and why?</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does the adjusted 95% CI include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Together we write two Results sentences: crude, then adjusted, with CIs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to Q5: crude and adjusted estimates read in one line each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Words to use</a:t>
            </a:r>
          </a:p>
          <a:p>
            <a:pPr marL="0" indent="0" algn="ctr">
              <a:lnSpc>
                <a:spcPct val="104000"/>
              </a:lnSpc>
              <a:spcBef>
                <a:spcPts val="300"/>
              </a:spcBef>
              <a:buNone/>
            </a:pPr>
            <a:r>
              <a:rPr lang="en-US" sz="1500" dirty="0">
                <a:solidFill>
                  <a:srgbClr val="000000"/>
                </a:solidFill>
                <a:latin typeface="Arial"/>
                <a:cs typeface="Arial"/>
              </a:rPr>
              <a:t>'associated with'</a:t>
            </a:r>
          </a:p>
          <a:p>
            <a:pPr marL="0" indent="0" algn="ctr">
              <a:lnSpc>
                <a:spcPct val="104000"/>
              </a:lnSpc>
              <a:spcBef>
                <a:spcPts val="300"/>
              </a:spcBef>
              <a:buNone/>
            </a:pPr>
            <a:r>
              <a:rPr lang="en-US" sz="1500" dirty="0">
                <a:solidFill>
                  <a:srgbClr val="000000"/>
                </a:solidFill>
                <a:latin typeface="Arial"/>
                <a:cs typeface="Arial"/>
              </a:rPr>
              <a:t>'after adjustment for'</a:t>
            </a:r>
          </a:p>
          <a:p>
            <a:pPr marL="0" indent="0" algn="ctr">
              <a:lnSpc>
                <a:spcPct val="104000"/>
              </a:lnSpc>
              <a:spcBef>
                <a:spcPts val="300"/>
              </a:spcBef>
              <a:buNone/>
            </a:pPr>
            <a:r>
              <a:rPr lang="en-US" sz="1500" dirty="0">
                <a:solidFill>
                  <a:srgbClr val="000000"/>
                </a:solidFill>
                <a:latin typeface="Arial"/>
                <a:cs typeface="Arial"/>
              </a:rPr>
              <a:t>'95% CI'</a:t>
            </a:r>
          </a:p>
          <a:p>
            <a:pPr marL="0" indent="0" algn="ctr">
              <a:lnSpc>
                <a:spcPct val="104000"/>
              </a:lnSpc>
              <a:spcBef>
                <a:spcPts val="300"/>
              </a:spcBef>
              <a:buNone/>
            </a:pPr>
            <a:r>
              <a:rPr lang="en-US" sz="1500" dirty="0">
                <a:solidFill>
                  <a:srgbClr val="000000"/>
                </a:solidFill>
                <a:latin typeface="Arial"/>
                <a:cs typeface="Arial"/>
              </a:rPr>
              <a:t>not 'caused'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Two Results sentences for Q1, one line each for Q2 to Q5 (Exercise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6: what a good one contains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Modelled on the running example (a restrictive fluids trial).</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Sample size</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Mortality 40% vs 30%</a:t>
            </a:r>
          </a:p>
          <a:p>
            <a:pPr marL="0" indent="0" algn="ctr">
              <a:lnSpc>
                <a:spcPct val="104000"/>
              </a:lnSpc>
              <a:spcBef>
                <a:spcPts val="400"/>
              </a:spcBef>
              <a:buNone/>
            </a:pPr>
            <a:r>
              <a:rPr lang="en-US" sz="1600" dirty="0">
                <a:solidFill>
                  <a:srgbClr val="000000"/>
                </a:solidFill>
                <a:latin typeface="Arial"/>
                <a:cs typeface="Arial"/>
              </a:rPr>
              <a:t>Power 80%, alpha 5% two-sided</a:t>
            </a:r>
          </a:p>
          <a:p>
            <a:pPr marL="0" indent="0" algn="ctr">
              <a:lnSpc>
                <a:spcPct val="104000"/>
              </a:lnSpc>
              <a:spcBef>
                <a:spcPts val="400"/>
              </a:spcBef>
              <a:buNone/>
            </a:pPr>
            <a:r>
              <a:rPr lang="en-US" sz="1600" dirty="0">
                <a:solidFill>
                  <a:srgbClr val="000000"/>
                </a:solidFill>
                <a:latin typeface="Arial"/>
                <a:cs typeface="Arial"/>
              </a:rPr>
              <a:t>356 per group, plus 10%</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Analysis plan</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Describe: n (%), median (IQR)</a:t>
            </a:r>
          </a:p>
          <a:p>
            <a:pPr marL="0" indent="0" algn="ctr">
              <a:lnSpc>
                <a:spcPct val="104000"/>
              </a:lnSpc>
              <a:spcBef>
                <a:spcPts val="400"/>
              </a:spcBef>
              <a:buNone/>
            </a:pPr>
            <a:r>
              <a:rPr lang="en-US" sz="1600" dirty="0">
                <a:solidFill>
                  <a:srgbClr val="000000"/>
                </a:solidFill>
                <a:latin typeface="Arial"/>
                <a:cs typeface="Arial"/>
              </a:rPr>
              <a:t>Compare: chi-square</a:t>
            </a:r>
          </a:p>
          <a:p>
            <a:pPr marL="0" indent="0" algn="ctr">
              <a:lnSpc>
                <a:spcPct val="104000"/>
              </a:lnSpc>
              <a:spcBef>
                <a:spcPts val="400"/>
              </a:spcBef>
              <a:buNone/>
            </a:pPr>
            <a:r>
              <a:rPr lang="en-US" sz="1600" dirty="0">
                <a:solidFill>
                  <a:srgbClr val="000000"/>
                </a:solidFill>
                <a:latin typeface="Arial"/>
                <a:cs typeface="Arial"/>
              </a:rPr>
              <a:t>Report: RR with 95% CI</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Confounders</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Chosen in advance</a:t>
            </a:r>
          </a:p>
          <a:p>
            <a:pPr marL="0" indent="0" algn="ctr">
              <a:lnSpc>
                <a:spcPct val="104000"/>
              </a:lnSpc>
              <a:spcBef>
                <a:spcPts val="400"/>
              </a:spcBef>
              <a:buNone/>
            </a:pPr>
            <a:r>
              <a:rPr lang="en-US" sz="1600" dirty="0">
                <a:solidFill>
                  <a:srgbClr val="000000"/>
                </a:solidFill>
                <a:latin typeface="Arial"/>
                <a:cs typeface="Arial"/>
              </a:rPr>
              <a:t>About 10 events per variable</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Missing data</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Expected gaps and why</a:t>
            </a:r>
          </a:p>
          <a:p>
            <a:pPr marL="0" indent="0" algn="ctr">
              <a:lnSpc>
                <a:spcPct val="104000"/>
              </a:lnSpc>
              <a:spcBef>
                <a:spcPts val="400"/>
              </a:spcBef>
              <a:buNone/>
            </a:pPr>
            <a:r>
              <a:rPr lang="en-US" sz="1600" dirty="0">
                <a:solidFill>
                  <a:srgbClr val="000000"/>
                </a:solidFill>
                <a:latin typeface="Arial"/>
                <a:cs typeface="Arial"/>
              </a:rPr>
              <a:t>Prevention</a:t>
            </a:r>
          </a:p>
          <a:p>
            <a:pPr marL="0" indent="0" algn="ctr">
              <a:lnSpc>
                <a:spcPct val="104000"/>
              </a:lnSpc>
              <a:spcBef>
                <a:spcPts val="400"/>
              </a:spcBef>
              <a:buNone/>
            </a:pPr>
            <a:r>
              <a:rPr lang="en-US" sz="1600" dirty="0">
                <a:solidFill>
                  <a:srgbClr val="000000"/>
                </a:solidFill>
                <a:latin typeface="Arial"/>
                <a:cs typeface="Arial"/>
              </a:rPr>
              <a:t>How it will be reported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Today: how many patients, which analysis, and what if data are missing.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6: sample size and analysis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 instructor models each part live on the running example (18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Sample size, analysis plan, confounders, missing-data plan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Then draft your own sample-size inputs in your proposal template (10 min, on your own)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Questions (2 min): raise your hand or use the chat. The other parts are homework</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Use these tools</a:t>
            </a:r>
          </a:p>
          <a:p>
            <a:pPr marL="0" indent="0" algn="ctr">
              <a:lnSpc>
                <a:spcPct val="104000"/>
              </a:lnSpc>
              <a:spcBef>
                <a:spcPts val="300"/>
              </a:spcBef>
              <a:buNone/>
            </a:pPr>
            <a:r>
              <a:rPr lang="en-US" sz="1500" dirty="0">
                <a:solidFill>
                  <a:srgbClr val="000000"/>
                </a:solidFill>
                <a:latin typeface="Arial"/>
                <a:cs typeface="Arial"/>
              </a:rPr>
              <a:t>Sample-size spreadsheet</a:t>
            </a:r>
          </a:p>
          <a:p>
            <a:pPr marL="0" indent="0" algn="ctr">
              <a:lnSpc>
                <a:spcPct val="104000"/>
              </a:lnSpc>
              <a:spcBef>
                <a:spcPts val="300"/>
              </a:spcBef>
              <a:buNone/>
            </a:pPr>
            <a:r>
              <a:rPr lang="en-US" sz="1500" dirty="0">
                <a:solidFill>
                  <a:srgbClr val="000000"/>
                </a:solidFill>
                <a:latin typeface="Arial"/>
                <a:cs typeface="Arial"/>
              </a:rPr>
              <a:t>Test decision table (6.1)</a:t>
            </a:r>
          </a:p>
          <a:p>
            <a:pPr marL="0" indent="0" algn="ctr">
              <a:lnSpc>
                <a:spcPct val="104000"/>
              </a:lnSpc>
              <a:spcBef>
                <a:spcPts val="300"/>
              </a:spcBef>
              <a:buNone/>
            </a:pPr>
            <a:r>
              <a:rPr lang="en-US" sz="1500" dirty="0">
                <a:solidFill>
                  <a:srgbClr val="000000"/>
                </a:solidFill>
                <a:latin typeface="Arial"/>
                <a:cs typeface="Arial"/>
              </a:rPr>
              <a:t>FLUID-ICU SAP as a model</a:t>
            </a:r>
          </a:p>
          <a:p>
            <a:pPr marL="0" indent="0" algn="ctr">
              <a:lnSpc>
                <a:spcPct val="104000"/>
              </a:lnSpc>
              <a:spcBef>
                <a:spcPts val="300"/>
              </a:spcBef>
              <a:buNone/>
            </a:pPr>
            <a:r>
              <a:rPr lang="en-US" sz="1500" dirty="0">
                <a:solidFill>
                  <a:srgbClr val="000000"/>
                </a:solidFill>
                <a:latin typeface="Arial"/>
                <a:cs typeface="Arial"/>
              </a:rPr>
              <a:t>Exercise sheet: Exercise 9</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own proposal, Part 3 completed: sample size started now, the rest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Twelve words you should now be able to explain to a colleague.</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Uncertainty</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95% CI</a:t>
            </a:r>
          </a:p>
          <a:p>
            <a:pPr marL="0" indent="0" algn="ctr">
              <a:lnSpc>
                <a:spcPct val="104000"/>
              </a:lnSpc>
              <a:spcBef>
                <a:spcPts val="400"/>
              </a:spcBef>
              <a:buNone/>
            </a:pPr>
            <a:r>
              <a:rPr lang="en-US" sz="1600" dirty="0">
                <a:solidFill>
                  <a:srgbClr val="000000"/>
                </a:solidFill>
                <a:latin typeface="Arial"/>
                <a:cs typeface="Arial"/>
              </a:rPr>
              <a:t>p-value (two-sided)</a:t>
            </a:r>
          </a:p>
          <a:p>
            <a:pPr marL="0" indent="0" algn="ctr">
              <a:lnSpc>
                <a:spcPct val="104000"/>
              </a:lnSpc>
              <a:spcBef>
                <a:spcPts val="400"/>
              </a:spcBef>
              <a:buNone/>
            </a:pPr>
            <a:r>
              <a:rPr lang="en-US" sz="1600" dirty="0">
                <a:solidFill>
                  <a:srgbClr val="000000"/>
                </a:solidFill>
                <a:latin typeface="Arial"/>
                <a:cs typeface="Arial"/>
              </a:rPr>
              <a:t>Power</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Comparing</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t-test / Mann-Whitney</a:t>
            </a:r>
          </a:p>
          <a:p>
            <a:pPr marL="0" indent="0" algn="ctr">
              <a:lnSpc>
                <a:spcPct val="104000"/>
              </a:lnSpc>
              <a:spcBef>
                <a:spcPts val="400"/>
              </a:spcBef>
              <a:buNone/>
            </a:pPr>
            <a:r>
              <a:rPr lang="en-US" sz="1600" dirty="0">
                <a:solidFill>
                  <a:srgbClr val="000000"/>
                </a:solidFill>
                <a:latin typeface="Arial"/>
                <a:cs typeface="Arial"/>
              </a:rPr>
              <a:t>Chi-square</a:t>
            </a:r>
          </a:p>
          <a:p>
            <a:pPr marL="0" indent="0" algn="ctr">
              <a:lnSpc>
                <a:spcPct val="104000"/>
              </a:lnSpc>
              <a:spcBef>
                <a:spcPts val="400"/>
              </a:spcBef>
              <a:buNone/>
            </a:pPr>
            <a:r>
              <a:rPr lang="en-US" sz="1600" dirty="0">
                <a:solidFill>
                  <a:srgbClr val="000000"/>
                </a:solidFill>
                <a:latin typeface="Arial"/>
                <a:cs typeface="Arial"/>
              </a:rPr>
              <a:t>Paired</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Models</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Adjusted OR</a:t>
            </a:r>
          </a:p>
          <a:p>
            <a:pPr marL="0" indent="0" algn="ctr">
              <a:lnSpc>
                <a:spcPct val="104000"/>
              </a:lnSpc>
              <a:spcBef>
                <a:spcPts val="400"/>
              </a:spcBef>
              <a:buNone/>
            </a:pPr>
            <a:r>
              <a:rPr lang="en-US" sz="1600" dirty="0">
                <a:solidFill>
                  <a:srgbClr val="000000"/>
                </a:solidFill>
                <a:latin typeface="Arial"/>
                <a:cs typeface="Arial"/>
              </a:rPr>
              <a:t>Hazard ratio</a:t>
            </a:r>
          </a:p>
          <a:p>
            <a:pPr marL="0" indent="0" algn="ctr">
              <a:lnSpc>
                <a:spcPct val="104000"/>
              </a:lnSpc>
              <a:spcBef>
                <a:spcPts val="400"/>
              </a:spcBef>
              <a:buNone/>
            </a:pPr>
            <a:r>
              <a:rPr lang="en-US" sz="1600" dirty="0">
                <a:solidFill>
                  <a:srgbClr val="000000"/>
                </a:solidFill>
                <a:latin typeface="Arial"/>
                <a:cs typeface="Arial"/>
              </a:rPr>
              <a:t>Censoring</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Honesty</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SAP</a:t>
            </a:r>
          </a:p>
          <a:p>
            <a:pPr marL="0" indent="0" algn="ctr">
              <a:lnSpc>
                <a:spcPct val="104000"/>
              </a:lnSpc>
              <a:spcBef>
                <a:spcPts val="400"/>
              </a:spcBef>
              <a:buNone/>
            </a:pPr>
            <a:r>
              <a:rPr lang="en-US" sz="1600" dirty="0">
                <a:solidFill>
                  <a:srgbClr val="000000"/>
                </a:solidFill>
                <a:latin typeface="Arial"/>
                <a:cs typeface="Arial"/>
              </a:rPr>
              <a:t>MCAR / MAR / MNAR</a:t>
            </a:r>
          </a:p>
          <a:p>
            <a:pPr marL="0" indent="0" algn="ctr">
              <a:lnSpc>
                <a:spcPct val="104000"/>
              </a:lnSpc>
              <a:spcBef>
                <a:spcPts val="400"/>
              </a:spcBef>
              <a:buNone/>
            </a:pPr>
            <a:r>
              <a:rPr lang="en-US" sz="1600" dirty="0">
                <a:solidFill>
                  <a:srgbClr val="000000"/>
                </a:solidFill>
                <a:latin typeface="Arial"/>
                <a:cs typeface="Arial"/>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one word is unclear, ask now or look it up in the glossary.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6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Three messages to take home.</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Read the CI</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Effect + 95% CI</a:t>
            </a:r>
          </a:p>
          <a:p>
            <a:pPr marL="0" indent="0" algn="ctr">
              <a:lnSpc>
                <a:spcPct val="104000"/>
              </a:lnSpc>
              <a:spcBef>
                <a:spcPts val="400"/>
              </a:spcBef>
              <a:buNone/>
            </a:pPr>
            <a:r>
              <a:rPr lang="en-US" sz="1750" dirty="0">
                <a:solidFill>
                  <a:srgbClr val="000000"/>
                </a:solidFill>
                <a:latin typeface="Arial"/>
                <a:cs typeface="Arial"/>
              </a:rPr>
              <a:t>Where is the null?</a:t>
            </a:r>
          </a:p>
          <a:p>
            <a:pPr marL="0" indent="0" algn="ctr">
              <a:lnSpc>
                <a:spcPct val="104000"/>
              </a:lnSpc>
              <a:spcBef>
                <a:spcPts val="400"/>
              </a:spcBef>
              <a:buNone/>
            </a:pPr>
            <a:r>
              <a:rPr lang="en-US" sz="1750" dirty="0">
                <a:solidFill>
                  <a:srgbClr val="000000"/>
                </a:solidFill>
                <a:latin typeface="Arial"/>
                <a:cs typeface="Arial"/>
              </a:rPr>
              <a:t>p is a supporting actor</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Adjust honestly</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Crude vs adjusted</a:t>
            </a:r>
          </a:p>
          <a:p>
            <a:pPr marL="0" indent="0" algn="ctr">
              <a:lnSpc>
                <a:spcPct val="104000"/>
              </a:lnSpc>
              <a:spcBef>
                <a:spcPts val="400"/>
              </a:spcBef>
              <a:buNone/>
            </a:pPr>
            <a:r>
              <a:rPr lang="en-US" sz="1750" dirty="0">
                <a:solidFill>
                  <a:srgbClr val="000000"/>
                </a:solidFill>
                <a:latin typeface="Arial"/>
                <a:cs typeface="Arial"/>
              </a:rPr>
              <a:t>Confounders chosen in advance</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Plan first</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SAP before the data</a:t>
            </a:r>
          </a:p>
          <a:p>
            <a:pPr marL="0" indent="0" algn="ctr">
              <a:lnSpc>
                <a:spcPct val="104000"/>
              </a:lnSpc>
              <a:spcBef>
                <a:spcPts val="400"/>
              </a:spcBef>
              <a:buNone/>
            </a:pPr>
            <a:r>
              <a:rPr lang="en-US" sz="1750" dirty="0">
                <a:solidFill>
                  <a:srgbClr val="000000"/>
                </a:solidFill>
                <a:latin typeface="Arial"/>
                <a:cs typeface="Arial"/>
              </a:rPr>
              <a:t>Two-sided tests</a:t>
            </a:r>
          </a:p>
          <a:p>
            <a:pPr marL="0" indent="0" algn="ctr">
              <a:lnSpc>
                <a:spcPct val="104000"/>
              </a:lnSpc>
              <a:spcBef>
                <a:spcPts val="400"/>
              </a:spcBef>
              <a:buNone/>
            </a:pPr>
            <a:r>
              <a:rPr lang="en-US" sz="1750" dirty="0">
                <a:solidFill>
                  <a:srgbClr val="000000"/>
                </a:solidFill>
                <a:latin typeface="Arial"/>
                <a:cs typeface="Arial"/>
              </a:rPr>
              <a:t>Missing data: report, handle, test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analysis is planned before, adjusted honestly and read through its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Your second product: the Results section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Choose one FLUID-ICU question (Q1 to Q5) tonight. The manuscript brief arrives by email.</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Required</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The Results section for your question</a:t>
            </a:r>
          </a:p>
          <a:p>
            <a:pPr marL="0" indent="0" algn="ctr">
              <a:lnSpc>
                <a:spcPct val="104000"/>
              </a:lnSpc>
              <a:spcBef>
                <a:spcPts val="400"/>
              </a:spcBef>
              <a:buNone/>
            </a:pPr>
            <a:r>
              <a:rPr lang="en-US" sz="1750" dirty="0">
                <a:solidFill>
                  <a:srgbClr val="000000"/>
                </a:solidFill>
                <a:latin typeface="Arial"/>
                <a:cs typeface="Arial"/>
              </a:rPr>
              <a:t>A working title</a:t>
            </a:r>
          </a:p>
          <a:p>
            <a:pPr marL="0" indent="0" algn="ctr">
              <a:lnSpc>
                <a:spcPct val="104000"/>
              </a:lnSpc>
              <a:spcBef>
                <a:spcPts val="400"/>
              </a:spcBef>
              <a:buNone/>
            </a:pPr>
            <a:r>
              <a:rPr lang="en-US" sz="1750" dirty="0">
                <a:solidFill>
                  <a:srgbClr val="000000"/>
                </a:solidFill>
                <a:latin typeface="Arial"/>
                <a:cs typeface="Arial"/>
              </a:rPr>
              <a:t>Table 1 and one main table or figure</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Optional to submit</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Methods, Introduction</a:t>
            </a:r>
          </a:p>
          <a:p>
            <a:pPr marL="0" indent="0" algn="ctr">
              <a:lnSpc>
                <a:spcPct val="104000"/>
              </a:lnSpc>
              <a:spcBef>
                <a:spcPts val="400"/>
              </a:spcBef>
              <a:buNone/>
            </a:pPr>
            <a:r>
              <a:rPr lang="en-US" sz="1750" dirty="0">
                <a:solidFill>
                  <a:srgbClr val="000000"/>
                </a:solidFill>
                <a:latin typeface="Arial"/>
                <a:cs typeface="Arial"/>
              </a:rPr>
              <a:t>Discussion, Abstract</a:t>
            </a:r>
          </a:p>
          <a:p>
            <a:pPr marL="0" indent="0" algn="ctr">
              <a:lnSpc>
                <a:spcPct val="104000"/>
              </a:lnSpc>
              <a:spcBef>
                <a:spcPts val="400"/>
              </a:spcBef>
              <a:buNone/>
            </a:pPr>
            <a:r>
              <a:rPr lang="en-US" sz="1750" dirty="0">
                <a:solidFill>
                  <a:srgbClr val="000000"/>
                </a:solidFill>
                <a:latin typeface="Arial"/>
                <a:cs typeface="Arial"/>
              </a:rPr>
              <a:t>All taught in Sessions 7 and 8</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When</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Session 7: Results written live on Q1</a:t>
            </a:r>
          </a:p>
          <a:p>
            <a:pPr marL="0" indent="0" algn="ctr">
              <a:lnSpc>
                <a:spcPct val="104000"/>
              </a:lnSpc>
              <a:spcBef>
                <a:spcPts val="400"/>
              </a:spcBef>
              <a:buNone/>
            </a:pPr>
            <a:r>
              <a:rPr lang="en-US" sz="1750" dirty="0">
                <a:solidFill>
                  <a:srgbClr val="000000"/>
                </a:solidFill>
                <a:latin typeface="Arial"/>
                <a:cs typeface="Arial"/>
              </a:rPr>
              <a:t>Session 8: improve your draft</a:t>
            </a:r>
          </a:p>
          <a:p>
            <a:pPr marL="0" indent="0" algn="ctr">
              <a:lnSpc>
                <a:spcPct val="104000"/>
              </a:lnSpc>
              <a:spcBef>
                <a:spcPts val="400"/>
              </a:spcBef>
              <a:buNone/>
            </a:pPr>
            <a:r>
              <a:rPr lang="en-US" sz="1750" dirty="0">
                <a:solidFill>
                  <a:srgbClr val="000000"/>
                </a:solidFill>
                <a:latin typeface="Arial"/>
                <a:cs typeface="Arial"/>
              </a:rPr>
              <a:t>Due 23:59, Sunday 20 December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Tell the course lead your question tonight, in the chat or by email.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Key words, recap and your Results section (previous slides)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in one sentence, what does '95% CI 1.48 to 3.06' tell you?</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Part 3 of your own proposal. Start your proposal slides (everyone submits them)</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Choose your FLUID-ICU question tonight and read its results pack</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Weeks 7-8</a:t>
            </a:r>
          </a:p>
          <a:p>
            <a:pPr marL="0" indent="0" algn="ctr">
              <a:lnSpc>
                <a:spcPct val="104000"/>
              </a:lnSpc>
              <a:spcBef>
                <a:spcPts val="300"/>
              </a:spcBef>
              <a:buNone/>
            </a:pPr>
            <a:r>
              <a:rPr lang="en-US" sz="1500" dirty="0">
                <a:solidFill>
                  <a:srgbClr val="000000"/>
                </a:solidFill>
                <a:latin typeface="Arial"/>
                <a:cs typeface="Arial"/>
              </a:rPr>
              <a:t>Protocol, ethics, registration</a:t>
            </a:r>
          </a:p>
          <a:p>
            <a:pPr marL="0" indent="0" algn="ctr">
              <a:lnSpc>
                <a:spcPct val="104000"/>
              </a:lnSpc>
              <a:spcBef>
                <a:spcPts val="300"/>
              </a:spcBef>
              <a:buNone/>
            </a:pPr>
            <a:r>
              <a:rPr lang="en-US" sz="1500" dirty="0">
                <a:solidFill>
                  <a:srgbClr val="000000"/>
                </a:solidFill>
                <a:latin typeface="Arial"/>
                <a:cs typeface="Arial"/>
              </a:rPr>
              <a:t>Research integrity</a:t>
            </a:r>
          </a:p>
          <a:p>
            <a:pPr marL="0" indent="0" algn="ctr">
              <a:lnSpc>
                <a:spcPct val="104000"/>
              </a:lnSpc>
              <a:spcBef>
                <a:spcPts val="300"/>
              </a:spcBef>
              <a:buNone/>
            </a:pPr>
            <a:r>
              <a:rPr lang="en-US" sz="1500" dirty="0">
                <a:solidFill>
                  <a:srgbClr val="000000"/>
                </a:solidFill>
                <a:latin typeface="Arial"/>
                <a:cs typeface="Arial"/>
              </a:rPr>
              <a:t>Writing every section of a paper</a:t>
            </a:r>
          </a:p>
          <a:p>
            <a:pPr marL="0" indent="0" algn="ctr">
              <a:lnSpc>
                <a:spcPct val="104000"/>
              </a:lnSpc>
              <a:spcBef>
                <a:spcPts val="300"/>
              </a:spcBef>
              <a:buNone/>
            </a:pPr>
            <a:r>
              <a:rPr lang="en-US" sz="1500" dirty="0">
                <a:solidFill>
                  <a:srgbClr val="000000"/>
                </a:solidFill>
                <a:latin typeface="Arial"/>
                <a:cs typeface="Arial"/>
              </a:rPr>
              <a:t>Getting published</a:t>
            </a:r>
          </a:p>
          <a:p>
            <a:pPr marL="0" indent="0" algn="ctr">
              <a:lnSpc>
                <a:spcPct val="104000"/>
              </a:lnSpc>
              <a:spcBef>
                <a:spcPts val="300"/>
              </a:spcBef>
              <a:buNone/>
            </a:pPr>
            <a:r>
              <a:rPr lang="en-US" sz="1500" dirty="0">
                <a:solidFill>
                  <a:srgbClr val="000000"/>
                </a:solidFill>
                <a:latin typeface="Arial"/>
                <a:cs typeface="Arial"/>
              </a:rPr>
              <a:t>Volunteer presentations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Exit answer in the chat. Part 3 complete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use if time allows, or for self-study.</a:t>
            </a:r>
          </a:p>
          <a:p>
            <a:pPr marL="0" indent="0" algn="ctr">
              <a:spcBef>
                <a:spcPts val="1200"/>
              </a:spcBef>
              <a:buNone/>
            </a:pPr>
            <a:r>
              <a:rPr lang="en-US" sz="1900" i="1" dirty="0">
                <a:solidFill>
                  <a:srgbClr val="595959"/>
                </a:solidFill>
                <a:latin typeface="Arial"/>
                <a:cs typeface="Arial"/>
              </a:rPr>
              <a:t>Interaction, null values, prediction and machine learning, missing-data details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the pre-specified interaction with heart failure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Stronger association in heart failure (p for interaction 0.031): needs confirmation.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AKI rises with fluid balance (Q2)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dose-response gradient: 29%, 54%, 63%, 75% AKI across balance groups.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ventilator-free days, a tricky outcome (Q3)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Piled up at 0 and 28: report medians and use non-parametric tests.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Sample and population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sample gives an estimate. The CI says how precise it 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Reading a 95% CI in a real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Paper 1 (Boulet 2024, pilot RCT), primary outcome: cumulative fluid balance at day 5.</a:t>
            </a:r>
          </a:p>
        </p:txBody>
      </p:sp>
      <p:sp>
        <p:nvSpPr>
          <p:cNvPr id="70" name="CardHead"/>
          <p:cNvSpPr/>
          <p:nvPr/>
        </p:nvSpPr>
        <p:spPr>
          <a:xfrm>
            <a:off x="457200" y="2094224"/>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The result</a:t>
            </a:r>
          </a:p>
        </p:txBody>
      </p:sp>
      <p:sp>
        <p:nvSpPr>
          <p:cNvPr id="71" name="CardBody"/>
          <p:cNvSpPr/>
          <p:nvPr/>
        </p:nvSpPr>
        <p:spPr>
          <a:xfrm>
            <a:off x="457200" y="2734224"/>
            <a:ext cx="3625866"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Median 6.9 vs 35.0 ml/kg</a:t>
            </a:r>
          </a:p>
          <a:p>
            <a:pPr marL="0" indent="0" algn="ctr">
              <a:lnSpc>
                <a:spcPct val="104000"/>
              </a:lnSpc>
              <a:spcBef>
                <a:spcPts val="400"/>
              </a:spcBef>
              <a:buNone/>
            </a:pPr>
            <a:r>
              <a:rPr lang="en-US" sz="1750" dirty="0">
                <a:solidFill>
                  <a:srgbClr val="000000"/>
                </a:solidFill>
                <a:latin typeface="Arial"/>
                <a:cs typeface="Arial"/>
              </a:rPr>
              <a:t>Mean difference 13.2 ml/kg</a:t>
            </a:r>
          </a:p>
          <a:p>
            <a:pPr marL="0" indent="0" algn="ctr">
              <a:lnSpc>
                <a:spcPct val="104000"/>
              </a:lnSpc>
              <a:spcBef>
                <a:spcPts val="400"/>
              </a:spcBef>
              <a:buNone/>
            </a:pPr>
            <a:r>
              <a:rPr lang="en-US" sz="1750" dirty="0">
                <a:solidFill>
                  <a:srgbClr val="000000"/>
                </a:solidFill>
                <a:latin typeface="Arial"/>
                <a:cs typeface="Arial"/>
              </a:rPr>
              <a:t>95% CI -15.2 to 41.6</a:t>
            </a:r>
          </a:p>
          <a:p>
            <a:pPr marL="0" indent="0" algn="ctr">
              <a:lnSpc>
                <a:spcPct val="104000"/>
              </a:lnSpc>
              <a:spcBef>
                <a:spcPts val="400"/>
              </a:spcBef>
              <a:buNone/>
            </a:pPr>
            <a:r>
              <a:rPr lang="en-US" sz="1750" dirty="0">
                <a:solidFill>
                  <a:srgbClr val="000000"/>
                </a:solidFill>
                <a:latin typeface="Arial"/>
                <a:cs typeface="Arial"/>
              </a:rPr>
              <a:t>p = 0.42</a:t>
            </a:r>
          </a:p>
        </p:txBody>
      </p:sp>
      <p:sp>
        <p:nvSpPr>
          <p:cNvPr id="72" name="CardHead"/>
          <p:cNvSpPr/>
          <p:nvPr/>
        </p:nvSpPr>
        <p:spPr>
          <a:xfrm>
            <a:off x="4283066" y="2094224"/>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Where is 0?</a:t>
            </a:r>
          </a:p>
        </p:txBody>
      </p:sp>
      <p:sp>
        <p:nvSpPr>
          <p:cNvPr id="73" name="CardBody"/>
          <p:cNvSpPr/>
          <p:nvPr/>
        </p:nvSpPr>
        <p:spPr>
          <a:xfrm>
            <a:off x="4283066" y="2734224"/>
            <a:ext cx="3625866"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0 = no difference</a:t>
            </a:r>
          </a:p>
          <a:p>
            <a:pPr marL="0" indent="0" algn="ctr">
              <a:lnSpc>
                <a:spcPct val="104000"/>
              </a:lnSpc>
              <a:spcBef>
                <a:spcPts val="400"/>
              </a:spcBef>
              <a:buNone/>
            </a:pPr>
            <a:r>
              <a:rPr lang="en-US" sz="1750" dirty="0">
                <a:solidFill>
                  <a:srgbClr val="000000"/>
                </a:solidFill>
                <a:latin typeface="Arial"/>
                <a:cs typeface="Arial"/>
              </a:rPr>
              <a:t>The CI includes 0</a:t>
            </a:r>
          </a:p>
          <a:p>
            <a:pPr marL="0" indent="0" algn="ctr">
              <a:lnSpc>
                <a:spcPct val="104000"/>
              </a:lnSpc>
              <a:spcBef>
                <a:spcPts val="400"/>
              </a:spcBef>
              <a:buNone/>
            </a:pPr>
            <a:r>
              <a:rPr lang="en-US" sz="1750" dirty="0">
                <a:solidFill>
                  <a:srgbClr val="000000"/>
                </a:solidFill>
                <a:latin typeface="Arial"/>
                <a:cs typeface="Arial"/>
              </a:rPr>
              <a:t>So 'no difference' is compatible with the data</a:t>
            </a:r>
          </a:p>
        </p:txBody>
      </p:sp>
      <p:sp>
        <p:nvSpPr>
          <p:cNvPr id="74" name="CardHead"/>
          <p:cNvSpPr/>
          <p:nvPr/>
        </p:nvSpPr>
        <p:spPr>
          <a:xfrm>
            <a:off x="8108932" y="2094224"/>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How wide?</a:t>
            </a:r>
          </a:p>
        </p:txBody>
      </p:sp>
      <p:sp>
        <p:nvSpPr>
          <p:cNvPr id="75" name="CardBody"/>
          <p:cNvSpPr/>
          <p:nvPr/>
        </p:nvSpPr>
        <p:spPr>
          <a:xfrm>
            <a:off x="8108932" y="2734224"/>
            <a:ext cx="3625866"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From 15 ml/kg in one direction to 42 ml/kg in the other</a:t>
            </a:r>
          </a:p>
          <a:p>
            <a:pPr marL="0" indent="0" algn="ctr">
              <a:lnSpc>
                <a:spcPct val="104000"/>
              </a:lnSpc>
              <a:spcBef>
                <a:spcPts val="400"/>
              </a:spcBef>
              <a:buNone/>
            </a:pPr>
            <a:r>
              <a:rPr lang="en-US" sz="1750" dirty="0">
                <a:solidFill>
                  <a:srgbClr val="000000"/>
                </a:solidFill>
                <a:latin typeface="Arial"/>
                <a:cs typeface="Arial"/>
              </a:rPr>
              <a:t>Very imprecise: only 48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'Not significant' with a wide CI means 'we do not know', not 'no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the running example in one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Paper 2 (Hyun 2023): positive vs negative cumulative fluid balance, propensity-matched cohorts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Day 1: CI crosses 1. Days 2 and 3: CIs above 1, so higher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Log-rank, Cox and proportional hazards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Three terms you will meet in every survival paper. KM = Kaplan-Meier. HR = hazard ratio.</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Log-rank test</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Compares whole KM curves</a:t>
            </a:r>
          </a:p>
          <a:p>
            <a:pPr marL="0" indent="0" algn="ctr">
              <a:lnSpc>
                <a:spcPct val="104000"/>
              </a:lnSpc>
              <a:spcBef>
                <a:spcPts val="400"/>
              </a:spcBef>
              <a:buNone/>
            </a:pPr>
            <a:r>
              <a:rPr lang="en-US" sz="1750" dirty="0">
                <a:solidFill>
                  <a:srgbClr val="000000"/>
                </a:solidFill>
                <a:latin typeface="Arial"/>
                <a:cs typeface="Arial"/>
              </a:rPr>
              <a:t>Gives a p-value</a:t>
            </a:r>
          </a:p>
          <a:p>
            <a:pPr marL="0" indent="0" algn="ctr">
              <a:lnSpc>
                <a:spcPct val="104000"/>
              </a:lnSpc>
              <a:spcBef>
                <a:spcPts val="400"/>
              </a:spcBef>
              <a:buNone/>
            </a:pPr>
            <a:r>
              <a:rPr lang="en-US" sz="1750" dirty="0">
                <a:solidFill>
                  <a:srgbClr val="000000"/>
                </a:solidFill>
                <a:latin typeface="Arial"/>
                <a:cs typeface="Arial"/>
              </a:rPr>
              <a:t>No effect size, no adjustment</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Cox regression</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Gives an HR with its 95% CI</a:t>
            </a:r>
          </a:p>
          <a:p>
            <a:pPr marL="0" indent="0" algn="ctr">
              <a:lnSpc>
                <a:spcPct val="104000"/>
              </a:lnSpc>
              <a:spcBef>
                <a:spcPts val="400"/>
              </a:spcBef>
              <a:buNone/>
            </a:pPr>
            <a:r>
              <a:rPr lang="en-US" sz="1750" dirty="0">
                <a:solidFill>
                  <a:srgbClr val="000000"/>
                </a:solidFill>
                <a:latin typeface="Arial"/>
                <a:cs typeface="Arial"/>
              </a:rPr>
              <a:t>No effect = 1</a:t>
            </a:r>
          </a:p>
          <a:p>
            <a:pPr marL="0" indent="0" algn="ctr">
              <a:lnSpc>
                <a:spcPct val="104000"/>
              </a:lnSpc>
              <a:spcBef>
                <a:spcPts val="400"/>
              </a:spcBef>
              <a:buNone/>
            </a:pPr>
            <a:r>
              <a:rPr lang="en-US" sz="1750" dirty="0">
                <a:solidFill>
                  <a:srgbClr val="000000"/>
                </a:solidFill>
                <a:latin typeface="Arial"/>
                <a:cs typeface="Arial"/>
              </a:rPr>
              <a:t>Can adjust for confounders</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Proportional hazards</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Assumes the HR is constant over time</a:t>
            </a:r>
          </a:p>
          <a:p>
            <a:pPr marL="0" indent="0" algn="ctr">
              <a:lnSpc>
                <a:spcPct val="104000"/>
              </a:lnSpc>
              <a:spcBef>
                <a:spcPts val="400"/>
              </a:spcBef>
              <a:buNone/>
            </a:pPr>
            <a:r>
              <a:rPr lang="en-US" sz="1750" dirty="0">
                <a:solidFill>
                  <a:srgbClr val="000000"/>
                </a:solidFill>
                <a:latin typeface="Arial"/>
                <a:cs typeface="Arial"/>
              </a:rPr>
              <a:t>Crossing curves: be careful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Paper 2 (Hyun 2023): Cox HR 2.13 (1.48-3.06), about double the hazard of death.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Correlation is not agreement, and not causation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High r does not mean two methods agree, nor that one causes the other.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Extra: Interaction in a model: does the effect differ between groups?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Parallel lines: adjust. Different slopes: report the effect for each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The 'no effect' line: 0 for differences, 1 for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Find the null value first, then see if the CI crosses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Prediction models: discrimination and calibration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prediction model separates patients and gets the risks right, in new hospitals too.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Prediction and machine learning: how to judge a model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Machine learning (ML) is a flexible way to build prediction models. The same questions apply.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 is it for?</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Predict an individual's risk</a:t>
            </a:r>
          </a:p>
          <a:p>
            <a:pPr marL="0" indent="0" algn="ctr">
              <a:lnSpc>
                <a:spcPct val="104000"/>
              </a:lnSpc>
              <a:spcBef>
                <a:spcPts val="400"/>
              </a:spcBef>
              <a:buNone/>
            </a:pPr>
            <a:r>
              <a:rPr lang="en-US" sz="1600" dirty="0">
                <a:solidFill>
                  <a:srgbClr val="000000"/>
                </a:solidFill>
                <a:latin typeface="Arial"/>
                <a:cs typeface="Arial"/>
              </a:rPr>
              <a:t>Not to explain causes</a:t>
            </a:r>
          </a:p>
          <a:p>
            <a:pPr marL="0" indent="0" algn="ctr">
              <a:lnSpc>
                <a:spcPct val="104000"/>
              </a:lnSpc>
              <a:spcBef>
                <a:spcPts val="400"/>
              </a:spcBef>
              <a:buNone/>
            </a:pPr>
            <a:r>
              <a:rPr lang="en-US" sz="1600" dirty="0">
                <a:solidFill>
                  <a:srgbClr val="000000"/>
                </a:solidFill>
                <a:latin typeface="Arial"/>
                <a:cs typeface="Arial"/>
              </a:rPr>
              <a:t>Who, when, which decision?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Enough data?</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ML needs many events</a:t>
            </a:r>
          </a:p>
          <a:p>
            <a:pPr marL="0" indent="0" algn="ctr">
              <a:lnSpc>
                <a:spcPct val="104000"/>
              </a:lnSpc>
              <a:spcBef>
                <a:spcPts val="400"/>
              </a:spcBef>
              <a:buNone/>
            </a:pPr>
            <a:r>
              <a:rPr lang="en-US" sz="1600" dirty="0">
                <a:solidFill>
                  <a:srgbClr val="000000"/>
                </a:solidFill>
                <a:latin typeface="Arial"/>
                <a:cs typeface="Arial"/>
              </a:rPr>
              <a:t>Overfitting risk is high</a:t>
            </a:r>
          </a:p>
          <a:p>
            <a:pPr marL="0" indent="0" algn="ctr">
              <a:lnSpc>
                <a:spcPct val="104000"/>
              </a:lnSpc>
              <a:spcBef>
                <a:spcPts val="400"/>
              </a:spcBef>
              <a:buNone/>
            </a:pPr>
            <a:r>
              <a:rPr lang="en-US" sz="1600" dirty="0">
                <a:solidFill>
                  <a:srgbClr val="000000"/>
                </a:solidFill>
                <a:latin typeface="Arial"/>
                <a:cs typeface="Arial"/>
              </a:rPr>
              <a:t>Internal validation done?</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Does it work?</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Discrimination (AUC)</a:t>
            </a:r>
          </a:p>
          <a:p>
            <a:pPr marL="0" indent="0" algn="ctr">
              <a:lnSpc>
                <a:spcPct val="104000"/>
              </a:lnSpc>
              <a:spcBef>
                <a:spcPts val="400"/>
              </a:spcBef>
              <a:buNone/>
            </a:pPr>
            <a:r>
              <a:rPr lang="en-US" sz="1600" dirty="0">
                <a:solidFill>
                  <a:srgbClr val="000000"/>
                </a:solidFill>
                <a:latin typeface="Arial"/>
                <a:cs typeface="Arial"/>
              </a:rPr>
              <a:t>Calibration plot</a:t>
            </a:r>
          </a:p>
          <a:p>
            <a:pPr marL="0" indent="0" algn="ctr">
              <a:lnSpc>
                <a:spcPct val="104000"/>
              </a:lnSpc>
              <a:spcBef>
                <a:spcPts val="400"/>
              </a:spcBef>
              <a:buNone/>
            </a:pPr>
            <a:r>
              <a:rPr lang="en-US" sz="1600" dirty="0">
                <a:solidFill>
                  <a:srgbClr val="000000"/>
                </a:solidFill>
                <a:latin typeface="Arial"/>
                <a:cs typeface="Arial"/>
              </a:rPr>
              <a:t>External validation</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Is it reported?</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TRIPOD+AI checklist</a:t>
            </a:r>
          </a:p>
          <a:p>
            <a:pPr marL="0" indent="0" algn="ctr">
              <a:lnSpc>
                <a:spcPct val="104000"/>
              </a:lnSpc>
              <a:spcBef>
                <a:spcPts val="400"/>
              </a:spcBef>
              <a:buNone/>
            </a:pPr>
            <a:r>
              <a:rPr lang="en-US" sz="1600" dirty="0">
                <a:solidFill>
                  <a:srgbClr val="000000"/>
                </a:solidFill>
                <a:latin typeface="Arial"/>
                <a:cs typeface="Arial"/>
              </a:rPr>
              <a:t>Code, data, fairness</a:t>
            </a:r>
          </a:p>
          <a:p>
            <a:pPr marL="0" indent="0" algn="ctr">
              <a:lnSpc>
                <a:spcPct val="104000"/>
              </a:lnSpc>
              <a:spcBef>
                <a:spcPts val="400"/>
              </a:spcBef>
              <a:buNone/>
            </a:pPr>
            <a:r>
              <a:rPr lang="en-US" sz="1600" dirty="0">
                <a:solidFill>
                  <a:srgbClr val="000000"/>
                </a:solidFill>
                <a:latin typeface="Arial"/>
                <a:cs typeface="Arial"/>
              </a:rPr>
              <a:t>Impact on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An AI score is a prediction model: ask for calibration and external validation.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Complete-case analysis vs multiple imputation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Multiple imputation keeps every patient and admits the uncertainty of the gaps.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Report and test your missing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Four things a reviewer will look for. MI = multiple imputation.</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Report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 missing per variable</a:t>
            </a:r>
          </a:p>
          <a:p>
            <a:pPr marL="0" indent="0" algn="ctr">
              <a:lnSpc>
                <a:spcPct val="104000"/>
              </a:lnSpc>
              <a:spcBef>
                <a:spcPts val="400"/>
              </a:spcBef>
              <a:buNone/>
            </a:pPr>
            <a:r>
              <a:rPr lang="en-US" sz="1600" dirty="0">
                <a:solidFill>
                  <a:srgbClr val="000000"/>
                </a:solidFill>
                <a:latin typeface="Arial"/>
                <a:cs typeface="Arial"/>
              </a:rPr>
              <a:t>Flow diagram: who and why</a:t>
            </a:r>
          </a:p>
          <a:p>
            <a:pPr marL="0" indent="0" algn="ctr">
              <a:lnSpc>
                <a:spcPct val="104000"/>
              </a:lnSpc>
              <a:spcBef>
                <a:spcPts val="400"/>
              </a:spcBef>
              <a:buNone/>
            </a:pPr>
            <a:r>
              <a:rPr lang="en-US" sz="1600" dirty="0">
                <a:solidFill>
                  <a:srgbClr val="000000"/>
                </a:solidFill>
                <a:latin typeface="Arial"/>
                <a:cs typeface="Arial"/>
              </a:rPr>
              <a:t>In Table 1 or a footnote</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Compare</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Patients with vs without complete data</a:t>
            </a:r>
          </a:p>
          <a:p>
            <a:pPr marL="0" indent="0" algn="ctr">
              <a:lnSpc>
                <a:spcPct val="104000"/>
              </a:lnSpc>
              <a:spcBef>
                <a:spcPts val="400"/>
              </a:spcBef>
              <a:buNone/>
            </a:pPr>
            <a:r>
              <a:rPr lang="en-US" sz="1600" dirty="0">
                <a:solidFill>
                  <a:srgbClr val="000000"/>
                </a:solidFill>
                <a:latin typeface="Arial"/>
                <a:cs typeface="Arial"/>
              </a:rPr>
              <a:t>Are they different?</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Sensitivity (Level 3)</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Complete case vs MI</a:t>
            </a:r>
          </a:p>
          <a:p>
            <a:pPr marL="0" indent="0" algn="ctr">
              <a:lnSpc>
                <a:spcPct val="104000"/>
              </a:lnSpc>
              <a:spcBef>
                <a:spcPts val="400"/>
              </a:spcBef>
              <a:buNone/>
            </a:pPr>
            <a:r>
              <a:rPr lang="en-US" sz="1600" dirty="0">
                <a:solidFill>
                  <a:srgbClr val="000000"/>
                </a:solidFill>
                <a:latin typeface="Arial"/>
                <a:cs typeface="Arial"/>
              </a:rPr>
              <a:t>Example script: 05_missing.R</a:t>
            </a:r>
          </a:p>
          <a:p>
            <a:pPr marL="0" indent="0" algn="ctr">
              <a:lnSpc>
                <a:spcPct val="104000"/>
              </a:lnSpc>
              <a:spcBef>
                <a:spcPts val="400"/>
              </a:spcBef>
              <a:buNone/>
            </a:pPr>
            <a:r>
              <a:rPr lang="en-US" sz="1600" dirty="0">
                <a:solidFill>
                  <a:srgbClr val="000000"/>
                </a:solidFill>
                <a:latin typeface="Arial"/>
                <a:cs typeface="Arial"/>
              </a:rPr>
              <a:t>Done hands-on in Level 3, Module H</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Plan</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Write it in the SAP before you see the data</a:t>
            </a:r>
          </a:p>
          <a:p>
            <a:pPr marL="0" indent="0" algn="ctr">
              <a:lnSpc>
                <a:spcPct val="104000"/>
              </a:lnSpc>
              <a:spcBef>
                <a:spcPts val="400"/>
              </a:spcBef>
              <a:buNone/>
            </a:pPr>
            <a:r>
              <a:rPr lang="en-US" sz="1600" dirty="0">
                <a:solidFill>
                  <a:srgbClr val="000000"/>
                </a:solidFill>
                <a:latin typeface="Arial"/>
                <a:cs typeface="Arial"/>
              </a:rPr>
              <a:t>Part 3 of your proposal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Missing data are a result: report them, handle them, test the answer.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