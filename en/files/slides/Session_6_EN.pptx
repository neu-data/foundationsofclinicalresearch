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 id="305" r:id="rId149"/>
    <p:sldId id="306" r:id="rId150"/>
    <p:sldId id="307" r:id="rId151"/>
    <p:sldId id="308" r:id="rId152"/>
    <p:sldId id="309" r:id="rId153"/>
    <p:sldId id="310" r:id="rId154"/>
    <p:sldId id="311" r:id="rId155"/>
    <p:sldId id="312" r:id="rId156"/>
    <p:sldId id="313" r:id="rId157"/>
    <p:sldId id="314" r:id="rId158"/>
    <p:sldId id="315" r:id="rId159"/>
    <p:sldId id="316" r:id="rId160"/>
    <p:sldId id="317" r:id="rId16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 Id="rId149" Type="http://schemas.openxmlformats.org/officeDocument/2006/relationships/slide" Target="slides/slide50.xml"/><Relationship Id="rId150" Type="http://schemas.openxmlformats.org/officeDocument/2006/relationships/slide" Target="slides/slide51.xml"/><Relationship Id="rId151" Type="http://schemas.openxmlformats.org/officeDocument/2006/relationships/slide" Target="slides/slide52.xml"/><Relationship Id="rId152" Type="http://schemas.openxmlformats.org/officeDocument/2006/relationships/slide" Target="slides/slide53.xml"/><Relationship Id="rId153" Type="http://schemas.openxmlformats.org/officeDocument/2006/relationships/slide" Target="slides/slide54.xml"/><Relationship Id="rId154" Type="http://schemas.openxmlformats.org/officeDocument/2006/relationships/slide" Target="slides/slide55.xml"/><Relationship Id="rId155" Type="http://schemas.openxmlformats.org/officeDocument/2006/relationships/slide" Target="slides/slide56.xml"/><Relationship Id="rId156" Type="http://schemas.openxmlformats.org/officeDocument/2006/relationships/slide" Target="slides/slide57.xml"/><Relationship Id="rId157" Type="http://schemas.openxmlformats.org/officeDocument/2006/relationships/slide" Target="slides/slide58.xml"/><Relationship Id="rId158" Type="http://schemas.openxmlformats.org/officeDocument/2006/relationships/slide" Target="slides/slide59.xml"/><Relationship Id="rId159" Type="http://schemas.openxmlformats.org/officeDocument/2006/relationships/slide" Target="slides/slide60.xml"/><Relationship Id="rId160" Type="http://schemas.openxmlformats.org/officeDocument/2006/relationships/slide" Target="slides/slide61.xml"/><Relationship Id="rId161" Type="http://schemas.openxmlformats.org/officeDocument/2006/relationships/slide" Target="slides/slide62.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Welcome back. Yesterday (Session 5) we collected, cleaned and described the data. Today we ANALYSE: how a sample answers a question about a population, and how to read the numbers a computer gives us.</a:t>
            </a:r>
          </a:p>
          <a:p>
            <a:r>
              <a:rPr lang="en-US" sz="1400" b="0" dirty="0"/>
              <a:t>Key promise: still no formulas. Every idea is a picture, a worked example from the running example, then a one-minute check.</a:t>
            </a:r>
          </a:p>
          <a:p>
            <a:r>
              <a:rPr lang="en-US" sz="1400" b="0" dirty="0"/>
              <a:t>The course dataset FLUID-ICU comes back twice: in 6.2 (comparing groups) and 6.4 (models, survival and missing data). Each group interprets its own results pack; those interpretations become the Results section of the manuscript in Weekend 4.</a:t>
            </a:r>
          </a:p>
          <a:p>
            <a:r>
              <a:rPr lang="en-US" sz="1400" b="0" dirty="0"/>
              <a:t>Timing: recap 0:00, 6.1 at 0:10, 6.2 at 0:50, break at 1:10, 6.3 at 1:25, 6.4 at 2:00, proposal builder at 2:25, wrap-up at 2:55.</a:t>
            </a:r>
          </a:p>
          <a:p>
            <a:r>
              <a:rPr lang="en-US" sz="1400" b="0" dirty="0"/>
              <a:t>This is the most technical session of the course. Go slowly; drop extra slides, not checks.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Purpose: wake up Session 5 and catch anyone who missed it. No marks.</a:t>
            </a:r>
          </a:p>
          <a:p>
            <a:r>
              <a:rPr lang="en-US" sz="1400" b="0" dirty="0"/>
              <a:t>Run it: read each question aloud; 2 minutes alone, 2 with a neighbour, then reveal.</a:t>
            </a:r>
          </a:p>
          <a:p>
            <a:r>
              <a:rPr lang="en-US" sz="1400" b="0" dirty="0"/>
              <a:t>Q1: median (IQR), because the mean is pulled by a few very long stays.</a:t>
            </a:r>
          </a:p>
          <a:p>
            <a:r>
              <a:rPr lang="en-US" sz="1400" b="0" dirty="0"/>
              <a:t>Q2: the unit (mmol/L), the time point (at ICU admission? highest in 24 h?), and a 'not done' option; also the number of decimal places.</a:t>
            </a:r>
          </a:p>
          <a:p>
            <a:r>
              <a:rPr lang="en-US" sz="1400" b="0" dirty="0"/>
              <a:t>Q3: a range check (allowed range from the data dictionary). In FLUID-ICU it was patient FLU-529: the value was set to missing and a query sent to the site. The cleaning log records the patient ID, the original value, what was done (here: set to missing), the reason (source document checked) and who did it when.</a:t>
            </a:r>
          </a:p>
          <a:p>
            <a:r>
              <a:rPr lang="en-US" sz="1400" b="0" dirty="0"/>
              <a:t>Read three or four exit sentences from Session 5 before starting 6.1.</a:t>
            </a:r>
          </a:p>
          <a:p>
            <a:r>
              <a:rPr lang="en-US" sz="1400" b="0" dirty="0"/>
              <a:t>Timing: 10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6.1 opener (40 minutes: sample and population, confidence intervals, p-values, a check, errors and power, sample size with a live demo, choosing a test, multiple comparisons, a second check).</a:t>
            </a:r>
          </a:p>
          <a:p>
            <a:r>
              <a:rPr lang="en-US" sz="1400" b="0" dirty="0"/>
              <a:t>Key message: statistics exists because we cannot study every patient with septic shock in the world. We study a sample and use statistics to say how far our answer might be from the truth.</a:t>
            </a:r>
          </a:p>
          <a:p>
            <a:r>
              <a:rPr lang="en-US" sz="1400" b="0" dirty="0"/>
              <a:t>Reassure: today you learn to READ confidence intervals and p-values correctly. That is more than many published authors manage.</a:t>
            </a:r>
          </a:p>
          <a:p>
            <a:r>
              <a:rPr lang="en-US" sz="1400" b="0" dirty="0"/>
              <a:t>Transition: we study a sample of 40, 400 or 620 patients; how far is our estimate from the truth? The dance of the confidence intervals shows it (the sample-and-population picture is an extra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this is the most important picture of the day. Take your time.</a:t>
            </a:r>
          </a:p>
          <a:p>
            <a:r>
              <a:rPr lang="en-US" sz="1400" b="0" dirty="0"/>
              <a:t>We simulated the same study 20 times, 25 patients each, from a population where the true mean fluid balance is 30 ml/kg (dashed line). Each study gives a different estimate (dot) and a different 95% CI (vertical line). The intervals 'dance'.</a:t>
            </a:r>
          </a:p>
          <a:p>
            <a:r>
              <a:rPr lang="en-US" sz="1400" b="0" dirty="0"/>
              <a:t>19 of the 20 intervals contain the true value; one (red) misses it. That is what '95%' means: the METHOD captures the truth in about 95% of studies.</a:t>
            </a:r>
          </a:p>
          <a:p>
            <a:r>
              <a:rPr lang="en-US" sz="1400" b="0" dirty="0"/>
              <a:t>In real life you run ONE study, you see ONE interval, and you cannot see the dashed line. You do not know if yours is one of the lucky 19 or the unlucky one.</a:t>
            </a:r>
          </a:p>
          <a:p>
            <a:r>
              <a:rPr lang="en-US" sz="1400" b="0" dirty="0"/>
              <a:t>Practical reading: a 95% CI is the range of values for the true effect that are compatible with our data. Narrow interval = precise; wide interval = imprecise.</a:t>
            </a:r>
          </a:p>
          <a:p>
            <a:r>
              <a:rPr lang="en-US" sz="1400" b="0" dirty="0"/>
              <a:t>Common misinterpretation: 'there is a 95% probability that the true value lies in THIS interval'. Strictly, the 95% refers to the method over many repeats. For teaching at this level, 'a range of plausible values' is the safe wording.</a:t>
            </a:r>
          </a:p>
          <a:p>
            <a:r>
              <a:rPr lang="en-US" sz="1400" b="0" dirty="0"/>
              <a:t>Ask: what makes the intervals shorter? Expected: more patients, less variability between patients.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start by imagining that there is NO real difference between the groups (the null hypothesis). Even then, chance alone produces results that scatter around 'no difference': that is the bell curve.</a:t>
            </a:r>
          </a:p>
          <a:p>
            <a:r>
              <a:rPr lang="en-US" sz="1400" b="0" dirty="0"/>
              <a:t>Now place OUR result on the picture. The p-value is the orange area: the proportion of results at least as extreme as ours (in either direction) that chance alone would produce if there were no real difference.</a:t>
            </a:r>
          </a:p>
          <a:p>
            <a:r>
              <a:rPr lang="en-US" sz="1400" b="0" dirty="0"/>
              <a:t>p = 0.04 means: if there were truly no difference, results this extreme or more would happen about 4 times in 100 studies. That is fairly surprising, so we doubt the 'no difference' assumption.</a:t>
            </a:r>
          </a:p>
          <a:p>
            <a:r>
              <a:rPr lang="en-US" sz="1400" b="0" dirty="0"/>
              <a:t>p = 0.42 (Paper 1) means: results like this would be common even with no real difference. Not surprising, so no evidence against 'no difference'. But not proof of 'no difference' either.</a:t>
            </a:r>
          </a:p>
          <a:p>
            <a:r>
              <a:rPr lang="en-US" sz="1400" b="0" dirty="0"/>
              <a:t>The 0.05 cut-off is a convention, not a law of nature. p = 0.049 and p = 0.051 are practically the same evidence.</a:t>
            </a:r>
          </a:p>
          <a:p>
            <a:r>
              <a:rPr lang="en-US" sz="1400" b="0" dirty="0"/>
              <a:t>Avoid saying 'the p-value is the probability that the result is due to chance'; see the next slide.</a:t>
            </a:r>
          </a:p>
          <a:p>
            <a:r>
              <a:rPr lang="en-US" sz="1400" b="0" dirty="0"/>
              <a:t>Ask: does a small p-value tell you the effect is big? Expected: no. That is misinterpretation number 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five misinterpretations, one per card. Ask the room to vote 'true or false' on each before you explain.</a:t>
            </a:r>
          </a:p>
          <a:p>
            <a:r>
              <a:rPr lang="en-US" sz="1400" b="0" dirty="0"/>
              <a:t>1. 'p = 0.03 means a 3% chance that the null hypothesis is true.' False: p is calculated ASSUMING the null is true; it cannot also be the probability of the null.</a:t>
            </a:r>
          </a:p>
          <a:p>
            <a:r>
              <a:rPr lang="en-US" sz="1400" b="0" dirty="0"/>
              <a:t>2. 'p &lt; 0.001, so the effect is large.' False: with thousands of patients, a clinically trivial difference can have a tiny p-value. Look at the effect size and ask if it matters to patients.</a:t>
            </a:r>
          </a:p>
          <a:p>
            <a:r>
              <a:rPr lang="en-US" sz="1400" b="0" dirty="0"/>
              <a:t>3. 'p = 0.42, so the two strategies are equivalent.' False: Paper 1 is the perfect example. The wide CI shows we simply do not know.</a:t>
            </a:r>
          </a:p>
          <a:p>
            <a:r>
              <a:rPr lang="en-US" sz="1400" b="0" dirty="0"/>
              <a:t>4. 'p = 0.08 shows a trend towards benefit.' False: a p-value does not move towards anything. The blueprint's appraisal checklist asks exactly this: no 'trend' for p = 0.42.</a:t>
            </a:r>
          </a:p>
          <a:p>
            <a:r>
              <a:rPr lang="en-US" sz="1400" b="0" dirty="0"/>
              <a:t>5. 'Results: p = 0.02.' Not enough: the reader needs the size of the effect and its uncertainty. Paper 2 does it right: HR 2.13 (95% CI 1.48-3.06), p &lt; 0.001.</a:t>
            </a:r>
          </a:p>
          <a:p>
            <a:r>
              <a:rPr lang="en-US" sz="1400" b="0" dirty="0"/>
              <a:t>These five statements are in the true/false exercise in the participant worksheet.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your understanding (3 minutes). Show of hands or coloured cards (green true, red false) for each statement, then reveal.</a:t>
            </a:r>
          </a:p>
          <a:p>
            <a:r>
              <a:rPr lang="en-US" sz="1400" b="0" dirty="0"/>
              <a:t>1. True: the practical reading of a 95% CI (Paper 2, day 2).</a:t>
            </a:r>
          </a:p>
          <a:p>
            <a:r>
              <a:rPr lang="en-US" sz="1400" b="0" dirty="0"/>
              <a:t>2. False: absence of evidence is not evidence of absence; Paper 1's CI was wide (-15.2 to 41.6).</a:t>
            </a:r>
          </a:p>
          <a:p>
            <a:r>
              <a:rPr lang="en-US" sz="1400" b="0" dirty="0"/>
              <a:t>3. False: p is calculated assuming there is no effect; it is not the probability of no effect.</a:t>
            </a:r>
          </a:p>
          <a:p>
            <a:r>
              <a:rPr lang="en-US" sz="1400" b="0" dirty="0"/>
              <a:t>4. True: more patients, more precision.</a:t>
            </a:r>
          </a:p>
          <a:p>
            <a:r>
              <a:rPr lang="en-US" sz="1400" b="0" dirty="0"/>
              <a:t>If the room splits on 2 or 3, go back to the p-value picture for one minute; this is the most important misunderstanding to fix today.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a statistical test is like a fire alarm. Two things can go wrong.</a:t>
            </a:r>
          </a:p>
          <a:p>
            <a:r>
              <a:rPr lang="en-US" sz="1400" b="0" dirty="0"/>
              <a:t>Type I error (false alarm): the alarm rings but there is no fire. We conclude the treatment works when it does not. We accept a 5% risk of this: that is alpha = 0.05.</a:t>
            </a:r>
          </a:p>
          <a:p>
            <a:r>
              <a:rPr lang="en-US" sz="1400" b="0" dirty="0"/>
              <a:t>Type II error (missed fire): there IS a fire but the alarm stays silent. The treatment works but our study fails to show it. Its risk is called beta.</a:t>
            </a:r>
          </a:p>
          <a:p>
            <a:r>
              <a:rPr lang="en-US" sz="1400" b="0" dirty="0"/>
              <a:t>Power = 1 - beta = the chance that the alarm rings when there really is a fire. We usually aim for 80% or 90%.</a:t>
            </a:r>
          </a:p>
          <a:p>
            <a:r>
              <a:rPr lang="en-US" sz="1400" b="0" dirty="0"/>
              <a:t>Trade-off: making the alarm less sensitive (smaller alpha) gives fewer false alarms but more missed fires, unless you buy a better alarm: more patients.</a:t>
            </a:r>
          </a:p>
          <a:p>
            <a:r>
              <a:rPr lang="en-US" sz="1400" b="0" dirty="0"/>
              <a:t>Clinical link: a small trial that is 'negative' may simply be a missed fire. Paper 1 was a pilot designed to detect a large difference; a smaller real difference could easily be missed.</a:t>
            </a:r>
          </a:p>
          <a:p>
            <a:r>
              <a:rPr lang="en-US" sz="1400" b="0" dirty="0"/>
              <a:t>Ask: which error is worse when testing a new, expensive and risky drug? And for a cheap, safe intervention? There is no single right answer; let the room debate for one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you need fewer patients when (1) the difference you want to detect is bigger and (2) patients vary less (less noise, smaller SD). Alpha and power are usually fixed at 5% and 80-90%.</a:t>
            </a:r>
          </a:p>
          <a:p>
            <a:r>
              <a:rPr lang="en-US" sz="1400" b="0" dirty="0"/>
              <a:t>Read the curves: for a 30 ml/kg difference with SD 35, you need 22 patients per group (red dot). Halve the difference to 15 ml/kg and you need about four times as many (86 per group). With noisier data (SD 50), every point moves up.</a:t>
            </a:r>
          </a:p>
          <a:p>
            <a:r>
              <a:rPr lang="en-US" sz="1400" b="0" dirty="0"/>
              <a:t>Running example: this is exactly the calculation in Paper 1's methods: they expected 70 vs 40 ml/kg with SD 35, 80% power, alpha 5% two-sided: 22 per group, 44 in total, increased by 10% for deaths to 50 patients.</a:t>
            </a:r>
          </a:p>
          <a:p>
            <a:r>
              <a:rPr lang="en-US" sz="1400" b="0" dirty="0"/>
              <a:t>The hardest input is the expected effect: take it from previous studies, pilot data, or the smallest difference that would change practice (the minimal clinically important difference). Do not choose it just to make the number small.</a:t>
            </a:r>
          </a:p>
          <a:p>
            <a:r>
              <a:rPr lang="en-US" sz="1400" b="0" dirty="0"/>
              <a:t>Common mistake: 'we included all patients from last year' with no calculation; reviewers will ask about power.</a:t>
            </a:r>
          </a:p>
          <a:p>
            <a:r>
              <a:rPr lang="en-US" sz="1400" b="0" dirty="0"/>
              <a:t>Transition: let us do this live.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Live demo, 8 minutes. If short of time, do Steps 2 and 3 only. Full script with expected outputs in Course/Demos/s6_demo.md.</a:t>
            </a:r>
          </a:p>
          <a:p>
            <a:r>
              <a:rPr lang="en-US" sz="1400" b="0" dirty="0"/>
              <a:t>Step 1: open the calculator. Say: any free, reputable calculator works; what matters is understanding the inputs.</a:t>
            </a:r>
          </a:p>
          <a:p>
            <a:r>
              <a:rPr lang="en-US" sz="1400" b="0" dirty="0"/>
              <a:t>Step 2: two independent means, reproduce Paper 1: mean 1 = 70, mean 2 = 40, SD 35 in both groups, alpha 5% two-sided, power 80%, ratio 1. Expected: 22 per group (44 total). Add 10% for deaths: 50. Matches the paper.</a:t>
            </a:r>
          </a:p>
          <a:p>
            <a:r>
              <a:rPr lang="en-US" sz="1400" b="0" dirty="0"/>
              <a:t>Step 3: two proportions (our real question: 28-day mortality). Usual care 40%, restrictive 30%, power 80%, alpha 5%. Expected: about 356 per group without continuity correction (about 376 with it). Different methods give slightly different numbers; that is normal.</a:t>
            </a:r>
          </a:p>
          <a:p>
            <a:r>
              <a:rPr lang="en-US" sz="1400" b="0" dirty="0"/>
              <a:t>Step 4: change one input at a time: power 90% (n rises to about 477 per group); difference 40% vs 35% (n rises above 1400 per group). Ask the room to predict the direction before you click.</a:t>
            </a:r>
          </a:p>
          <a:p>
            <a:r>
              <a:rPr lang="en-US" sz="1400" b="0" dirty="0"/>
              <a:t>Step 5: if the internet fails, open Course/Resources/tools/sample_size_calculator.xlsx and show the same three examples; the yellow cells are inputs.</a:t>
            </a:r>
          </a:p>
          <a:p>
            <a:r>
              <a:rPr lang="en-US" sz="1400" b="0" dirty="0"/>
              <a:t>Key message: Paper 1 needed 50 patients for fluid balance, but a mortality trial needs hundreds per group. The outcome you choose changes everything.</a:t>
            </a:r>
          </a:p>
          <a:p>
            <a:r>
              <a:rPr lang="en-US" sz="1400" b="0" dirty="0"/>
              <a:t>Do NOT let participants calculate; they watch and predict.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for comparing two groups, two questions choose the test.</a:t>
            </a:r>
          </a:p>
          <a:p>
            <a:r>
              <a:rPr lang="en-US" sz="1400" b="0" dirty="0"/>
              <a:t>Question 1: what is the outcome? A number (continuous) or a category (yes/no)?</a:t>
            </a:r>
          </a:p>
          <a:p>
            <a:r>
              <a:rPr lang="en-US" sz="1400" b="0" dirty="0"/>
              <a:t>Question 2a (numbers): is it roughly symmetric? Then t-test (compares means). Skewed or very small sample? Then Mann-Whitney U (compares distributions/ranks; often reported with medians).</a:t>
            </a:r>
          </a:p>
          <a:p>
            <a:r>
              <a:rPr lang="en-US" sz="1400" b="0" dirty="0"/>
              <a:t>Question 2b (categories): are the expected counts in each cell 5 or more? Then chi-square. Small counts? Then Fisher's exact test.</a:t>
            </a:r>
          </a:p>
          <a:p>
            <a:r>
              <a:rPr lang="en-US" sz="1400" b="0" dirty="0"/>
              <a:t>Paired data (same patients measured before and after, or matched pairs): use the paired version: paired t-test, Wilcoxon signed-rank, McNemar.</a:t>
            </a:r>
          </a:p>
          <a:p>
            <a:r>
              <a:rPr lang="en-US" sz="1400" b="0" dirty="0"/>
              <a:t>Running example: Paper 1 used a Mann-Whitney test because fluid balance is skewed: consistent with reporting medians.</a:t>
            </a:r>
          </a:p>
          <a:p>
            <a:r>
              <a:rPr lang="en-US" sz="1400" b="0" dirty="0"/>
              <a:t>Three or more groups: ANOVA or Kruskal-Wallis. Mention only; ask a statistician.</a:t>
            </a:r>
          </a:p>
          <a:p>
            <a:r>
              <a:rPr lang="en-US" sz="1400" b="0" dirty="0"/>
              <a:t>This chart is one of the take-home tools of the course. It is also the basis of the 'choose the test' exercise.</a:t>
            </a:r>
          </a:p>
          <a:p>
            <a:r>
              <a:rPr lang="en-US" sz="1400" b="0" dirty="0"/>
              <a:t>Ask: comparing the proportion with AKI in 24 vs 24 patients, with only 3 and 7 events? Expected: Fisher's exact (small counts).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decision chart asked 'paired or not?'. This picture shows why it matters.</a:t>
            </a:r>
          </a:p>
          <a:p>
            <a:r>
              <a:rPr lang="en-US" sz="1400" b="0" dirty="0"/>
              <a:t>Simulated lactate in 20 patients at ICU admission and 6 hours later. Left: drawn as two separate clouds, the before and after values overlap heavily; patients differ a lot from each other, and that variation hides the change.</a:t>
            </a:r>
          </a:p>
          <a:p>
            <a:r>
              <a:rPr lang="en-US" sz="1400" b="0" dirty="0"/>
              <a:t>Right: the same numbers, but each patient's two values are joined. Every line goes down. Each patient is their own control, so the between-patient noise disappears. A paired test (paired t-test, or Wilcoxon signed-rank if skewed) uses exactly this, and has much more power.</a:t>
            </a:r>
          </a:p>
          <a:p>
            <a:r>
              <a:rPr lang="en-US" sz="1400" b="0" dirty="0"/>
              <a:t>Paired designs: before/after in the same patients, crossover trials, matched pairs (Paper 2 matched patients 1:1 on a propensity score and analysed the pairs).</a:t>
            </a:r>
          </a:p>
          <a:p>
            <a:r>
              <a:rPr lang="en-US" sz="1400" b="0" dirty="0"/>
              <a:t>Common mistake: analysing before/after data with an unpaired t-test. It throws away the pairing and can miss a real change.</a:t>
            </a:r>
          </a:p>
          <a:p>
            <a:r>
              <a:rPr lang="en-US" sz="1400" b="0" dirty="0"/>
              <a:t>Ask: you measure pain scores in 30 patients before and after a new analgesia protocol. Paired or unpaired? Expected: paired.</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every test carries a 5% risk of a false alarm. Run many tests and false alarms become almost certain.</a:t>
            </a:r>
          </a:p>
          <a:p>
            <a:r>
              <a:rPr lang="en-US" sz="1400" b="0" dirty="0"/>
              <a:t>The picture (inspired by a famous cartoon): researchers test whether jelly beans cause acne. Nothing is found overall, so they test 20 colours separately. With no real effect anywhere (simulated), one colour comes out at p = 0.03, and the headline reads 'Green jelly beans cause acne!'.</a:t>
            </a:r>
          </a:p>
          <a:p>
            <a:r>
              <a:rPr lang="en-US" sz="1400" b="0" dirty="0"/>
              <a:t>With 20 independent tests and no real effect, the chance of at least one p &lt; 0.05 is about 64%.</a:t>
            </a:r>
          </a:p>
          <a:p>
            <a:r>
              <a:rPr lang="en-US" sz="1400" b="0" dirty="0"/>
              <a:t>Clinical versions: 10 secondary outcomes, 8 subgroups, 5 time points, several lab values, all tested and only the 'significant' one reported.</a:t>
            </a:r>
          </a:p>
          <a:p>
            <a:r>
              <a:rPr lang="en-US" sz="1400" b="0" dirty="0"/>
              <a:t>Remedies (side panel): pre-specify one primary outcome in the protocol or SAP (6.4); call everything else exploratory; adjust the threshold when many tests answer the same question (Bonferroni: 0.05 divided by the number of tests, so 0.0025 for 20 tests); and report all tests, not just the winners.</a:t>
            </a:r>
          </a:p>
          <a:p>
            <a:r>
              <a:rPr lang="en-US" sz="1400" b="0" dirty="0"/>
              <a:t>Ask: a paper reports 12 subgroups and highlights the one with p = 0.04. How convinced are you? Expected: not very; it needs confirmation.</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your understanding (3 minutes). For each scenario, the room calls out the test using the decision chart (number or category? shape or counts? paired?).</a:t>
            </a:r>
          </a:p>
          <a:p>
            <a:r>
              <a:rPr lang="en-US" sz="1400" b="0" dirty="0"/>
              <a:t>1. Mann-Whitney U: numerical, skewed, two independent groups (this is the FLUID-ICU ICU-stay question).</a:t>
            </a:r>
          </a:p>
          <a:p>
            <a:r>
              <a:rPr lang="en-US" sz="1400" b="0" dirty="0"/>
              <a:t>2. Chi-square: binary outcome, two large independent groups.</a:t>
            </a:r>
          </a:p>
          <a:p>
            <a:r>
              <a:rPr lang="en-US" sz="1400" b="0" dirty="0"/>
              <a:t>3. Paired t-test (or Wilcoxon signed-rank if the changes are skewed): same patients twice.</a:t>
            </a:r>
          </a:p>
          <a:p>
            <a:r>
              <a:rPr lang="en-US" sz="1400" b="0" dirty="0"/>
              <a:t>4. Fisher's exact: binary outcome, very small counts.</a:t>
            </a:r>
          </a:p>
          <a:p>
            <a:r>
              <a:rPr lang="en-US" sz="1400" b="0" dirty="0"/>
              <a:t>Transition: now we run exactly these tests on the course dataset (6.2).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6.2 opener (20 minutes: a 6-minute live demo of the tests, the results table, a worked example, then 7 minutes for groups to interpret their own comparison).</a:t>
            </a:r>
          </a:p>
          <a:p>
            <a:r>
              <a:rPr lang="en-US" sz="1400" b="0" dirty="0"/>
              <a:t>Key message: the decision chart from 6.1, applied to FLUID-ICU. All comparisons here are UNADJUSTED: remember Table 1 (the positive-balance group was sicker).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Live demo, 6 minutes. Full script: Course/Demos/s6_demo.md (Part B), using Course/Data/R/03_compare.R.</a:t>
            </a:r>
          </a:p>
          <a:p>
            <a:r>
              <a:rPr lang="en-US" sz="1400" b="0" dirty="0"/>
              <a:t>For each comparison, ask the room to name the test BEFORE you run it (decision chart).</a:t>
            </a:r>
          </a:p>
          <a:p>
            <a:r>
              <a:rPr lang="en-US" sz="1400" b="0" dirty="0"/>
              <a:t>Show: age with a t-test; SOFA and lactate with Mann-Whitney (note that 91 patients have no lactate, so n changes); 28-day death as a 2x2 table: 134/373 (35.9%) vs 45/245 (18.4%), chi-square p &lt; 0.001; the 'wrong' t-test on skewed ICU stay in survivors (difference in means 2.7 days) next to the Mann-Whitney / Hodges-Lehmann difference (2.5 days).</a:t>
            </a:r>
          </a:p>
          <a:p>
            <a:r>
              <a:rPr lang="en-US" sz="1400" b="0" dirty="0"/>
              <a:t>If R fails: use the next slide (all results in one table).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right test for each outcome type, and the result read as an effect.</a:t>
            </a:r>
          </a:p>
          <a:p>
            <a:r>
              <a:rPr lang="en-US" sz="1400" b="0" dirty="0"/>
              <a:t>28-day death (binary): 134/373 (35.9%) vs 45/245 (18.4%); risk difference 17.6 percentage points (95% CI 10.7 to 24.4); RR 1.96; chi-square p &lt; 0.001.</a:t>
            </a:r>
          </a:p>
          <a:p>
            <a:r>
              <a:rPr lang="en-US" sz="1400" b="0" dirty="0"/>
              <a:t>AKI (binary): 230/373 (61.7%) vs 71/245 (29.0%); chi-square p &lt; 0.001.</a:t>
            </a:r>
          </a:p>
          <a:p>
            <a:r>
              <a:rPr lang="en-US" sz="1400" b="0" dirty="0"/>
              <a:t>Ventilator-free days (count 0-28, piled up at 0 and 28): median 20 (0 to 28) vs 28 (22 to 28); Mann-Whitney p &lt; 0.001.</a:t>
            </a:r>
          </a:p>
          <a:p>
            <a:r>
              <a:rPr lang="en-US" sz="1400" b="0" dirty="0"/>
              <a:t>ICU stay in survivors (skewed): median 7.5 (5.2 to 11.2) vs 4.8 (3.3 to 7.1) days; Mann-Whitney p &lt; 0.001; Hodges-Lehmann difference 2.5 days (95% CI 1.8 to 3.2).</a:t>
            </a:r>
          </a:p>
          <a:p>
            <a:r>
              <a:rPr lang="en-US" sz="1400" b="0" dirty="0"/>
              <a:t>All unadjusted: the positive-balance group was sicker at the start (Table 1). These differences mix the effect of fluid with the effect of severity. That is why 6.4 adjusts.</a:t>
            </a:r>
          </a:p>
          <a:p>
            <a:r>
              <a:rPr lang="en-US" sz="1400" b="0" dirty="0"/>
              <a:t>Ask: which number would you put in the abstract for death: p &lt; 0.001, or the risk difference with its CI? Expected: the risk difference with its CI (and later the adjusted OR).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Worked example (3 minutes), the only calculation step: the 2x2 table from Session 4 applied to the dataset.</a:t>
            </a:r>
          </a:p>
          <a:p>
            <a:r>
              <a:rPr lang="en-US" sz="1400" b="0" dirty="0"/>
              <a:t>Risks: 134 of 373 patients with a positive balance died (35.9%); 45 of 245 with a negative balance (18.4%).</a:t>
            </a:r>
          </a:p>
          <a:p>
            <a:r>
              <a:rPr lang="en-US" sz="1400" b="0" dirty="0"/>
              <a:t>Risk difference: 35.9 - 18.4 = 17.6 percentage points (rounding), 95% CI 10.7 to 24.4: far from 0.</a:t>
            </a:r>
          </a:p>
          <a:p>
            <a:r>
              <a:rPr lang="en-US" sz="1400" b="0" dirty="0"/>
              <a:t>Risk ratio: 35.9 / 18.4 = 1.96: about twice the risk.</a:t>
            </a:r>
          </a:p>
          <a:p>
            <a:r>
              <a:rPr lang="en-US" sz="1400" b="0" dirty="0"/>
              <a:t>Test: chi-square p &lt; 0.001: such a difference would be very surprising if there were no difference.</a:t>
            </a:r>
          </a:p>
          <a:p>
            <a:r>
              <a:rPr lang="en-US" sz="1400" b="0" dirty="0"/>
              <a:t>But: this is a cohort; patients with a positive balance were sicker (SOFA 8 vs 6). The crude comparison cannot separate fluid from severity.</a:t>
            </a:r>
          </a:p>
          <a:p>
            <a:r>
              <a:rPr lang="en-US" sz="1400" b="0" dirty="0"/>
              <a:t>Model sentence: 'Twenty-eight-day mortality was 35.9% in patients with a positive balance and 18.4% in those with a negative balance (risk difference 17.6 percentage points, 95% CI 10.7 to 24.4).'</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Group worksheet, 7 minutes (5 work, 2 feedback). Session 6 exercises, exercise 4; model answers in s6_solutions.md.</a:t>
            </a:r>
          </a:p>
          <a:p>
            <a:r>
              <a:rPr lang="en-US" sz="1400" b="1" dirty="0"/>
              <a:t>Model sentences by question:</a:t>
            </a:r>
          </a:p>
          <a:p>
            <a:r>
              <a:rPr lang="en-US" sz="1400" b="0" dirty="0"/>
              <a:t>Q1: mortality 35.9% vs 18.4% (risk difference 17.6 points, 95% CI 10.7 to 24.4).</a:t>
            </a:r>
          </a:p>
          <a:p>
            <a:r>
              <a:rPr lang="en-US" sz="1400" b="0" dirty="0"/>
              <a:t>Q2: AKI 61.7% vs 29.0% (positive vs negative balance), chi-square p &lt; 0.001.</a:t>
            </a:r>
          </a:p>
          <a:p>
            <a:r>
              <a:rPr lang="en-US" sz="1400" b="0" dirty="0"/>
              <a:t>Q3: ventilator-free days median 20 (0 to 28) vs 28 (22 to 28), Mann-Whitney p &lt; 0.001.</a:t>
            </a:r>
          </a:p>
          <a:p>
            <a:r>
              <a:rPr lang="en-US" sz="1400" b="0" dirty="0"/>
              <a:t>Q4: median lactate 3.1 (2.2 to 4.5) mmol/L in non-survivors vs 2.3 (1.6 to 3.4) in survivors.</a:t>
            </a:r>
          </a:p>
          <a:p>
            <a:r>
              <a:rPr lang="en-US" sz="1400" b="0" dirty="0"/>
              <a:t>Q5: ICU stay in survivors median 7.5 (5.2 to 11.2) vs 4.8 (3.3 to 7.1) days; Hodges-Lehmann difference 2.5 days (95% CI 1.8 to 3.2).</a:t>
            </a:r>
          </a:p>
          <a:p>
            <a:r>
              <a:rPr lang="en-US" sz="1400" b="0" dirty="0"/>
              <a:t>Reason for bias (all groups): confounding by indication; the positive-balance group was sicker.</a:t>
            </a:r>
          </a:p>
          <a:p>
            <a:r>
              <a:rPr lang="en-US" sz="1400" b="0" dirty="0"/>
              <a:t>Then break.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Break: 15 minutes. Start again on time (1:25).</a:t>
            </a:r>
          </a:p>
          <a:p>
            <a:r>
              <a:rPr lang="en-US" sz="1400" b="0" dirty="0"/>
              <a:t>During the break: open 04_models.R and 05_missing.R on the projector laptop and check the fallback figures for 6.4.</a:t>
            </a:r>
          </a:p>
          <a:p>
            <a:r>
              <a:rPr lang="en-US" sz="1400" b="0" dirty="0"/>
              <a:t>Collect the questions groups noted about their comparison results; answer the common ones at the start of 6.3.</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6.3 opener (35 minutes: correlation, linear and logistic regression, which model, adjustment, reading a regression table with a 5-minute check, overfitting, survival analysis and the running-example forest plot; interaction, null values and prediction/ML are extra slides).</a:t>
            </a:r>
          </a:p>
          <a:p>
            <a:r>
              <a:rPr lang="en-US" sz="1400" b="0" dirty="0"/>
              <a:t>Key message: every model answers the same question in a different language: how is the outcome related to the exposure, and how sure are we? You need four things to read any of them: what the outcome is, which model goes with it, what the number means (coefficient, OR or HR) and where the 'no effect' value is.</a:t>
            </a:r>
          </a:p>
          <a:p>
            <a:r>
              <a:rPr lang="en-US" sz="1400" b="0" dirty="0"/>
              <a:t>Link back to Session 4: confounding by indication. Models are one of the main tools for dealing with measured confounders in observational studies.</a:t>
            </a:r>
          </a:p>
          <a:p>
            <a:r>
              <a:rPr lang="en-US" sz="1400" b="0" dirty="0"/>
              <a:t>Transition: start with the simplest relationship, two numbers on a scatter plot.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correlation coefficient r summarises a scatter plot of two numerical variables in one number.</a:t>
            </a:r>
          </a:p>
          <a:p>
            <a:r>
              <a:rPr lang="en-US" sz="1400" b="0" dirty="0"/>
              <a:t>Read the panels: r near +1, points close to a rising line; r around 0.5, a loose cloud with a trend; r near 0, no straight-line link; r negative, one goes up while the other goes down.</a:t>
            </a:r>
          </a:p>
          <a:p>
            <a:r>
              <a:rPr lang="en-US" sz="1400" b="0" dirty="0"/>
              <a:t>The last panel is the trap: r is near 0, but there is a very strong curved relationship (think of an optimal dose, or U-shaped mortality with blood pressure). r only measures STRAIGHT-line association, so always look at the plot.</a:t>
            </a:r>
          </a:p>
          <a:p>
            <a:r>
              <a:rPr lang="en-US" sz="1400" b="0" dirty="0"/>
              <a:t>Rough guide (not a rule): 0.1 weak, 0.3 moderate, 0.5 or more strong, but the clinical meaning matters more.</a:t>
            </a:r>
          </a:p>
          <a:p>
            <a:r>
              <a:rPr lang="en-US" sz="1400" b="0" dirty="0"/>
              <a:t>r has a p-value too; with many patients, a tiny r like 0.1 can be 'significant' and still useless.</a:t>
            </a:r>
          </a:p>
          <a:p>
            <a:r>
              <a:rPr lang="en-US" sz="1400" b="0" dirty="0"/>
              <a:t>Ask: which panel looks like age versus systolic blood pressure in adults? Expected: moderate positive.</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linear regression draws the straight line that best fits the points, for a NUMERICAL outcome.</a:t>
            </a:r>
          </a:p>
          <a:p>
            <a:r>
              <a:rPr lang="en-US" sz="1400" b="0" dirty="0"/>
              <a:t>Intercept: the expected outcome when the exposure is 0 (here a P/F ratio of about 292 with a fluid balance of 0). Often not interesting on its own.</a:t>
            </a:r>
          </a:p>
          <a:p>
            <a:r>
              <a:rPr lang="en-US" sz="1400" b="0" dirty="0"/>
              <a:t>Slope: how much the outcome changes for each one-unit increase in the exposure: here about -15 per extra litre of fluid balance. This is the coefficient B you read in a regression table, with its 95% CI; null value 0.</a:t>
            </a:r>
          </a:p>
          <a:p>
            <a:r>
              <a:rPr lang="en-US" sz="1400" b="0" dirty="0"/>
              <a:t>R²: the proportion of the variation in the outcome explained by the line (here about 0.6). Many other factors explain the rest.</a:t>
            </a:r>
          </a:p>
          <a:p>
            <a:r>
              <a:rPr lang="en-US" sz="1400" b="0" dirty="0"/>
              <a:t>Adding more variables to the model (multivariable regression) gives each slope 'adjusted for' the others: the same idea as the stratification picture, done by the computer.</a:t>
            </a:r>
          </a:p>
          <a:p>
            <a:r>
              <a:rPr lang="en-US" sz="1400" b="0" dirty="0"/>
              <a:t>Data are simulated; this is not a claim about real oxygenation.</a:t>
            </a:r>
          </a:p>
          <a:p>
            <a:r>
              <a:rPr lang="en-US" sz="1400" b="0" dirty="0"/>
              <a:t>Common mistake: extrapolating the line beyond the data (a fluid balance of 20 L would predict a negative P/F ratio).</a:t>
            </a:r>
          </a:p>
          <a:p>
            <a:r>
              <a:rPr lang="en-US" sz="1400" b="0" dirty="0"/>
              <a:t>Ask: in the table, B = -15 (95% CI -19 to -11). What does it mean? Expected: each extra litre is associated with a P/F ratio about 15 points lower, plausibly 11 to 19.</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when the outcome is yes/no (died by day 28), a straight line does not work: probabilities cannot go below 0% or above 100%. Logistic regression fits an S-shaped curve instead.</a:t>
            </a:r>
          </a:p>
          <a:p>
            <a:r>
              <a:rPr lang="en-US" sz="1400" b="0" dirty="0"/>
              <a:t>Grey dots: each simulated patient, at the top if they died and at the bottom if they survived. Blue curve: the probability of death at each lactate level: about 9% at 2 mmol/L, 29% at 6, 62% at 10.</a:t>
            </a:r>
          </a:p>
          <a:p>
            <a:r>
              <a:rPr lang="en-US" sz="1400" b="0" dirty="0"/>
              <a:t>The model reports an odds ratio: here each extra 1 mmol/L multiplies the ODDS of death by 1.42. The OR is constant along the curve; the change in probability is not (small at the ends, large in the middle).</a:t>
            </a:r>
          </a:p>
          <a:p>
            <a:r>
              <a:rPr lang="en-US" sz="1400" b="0" dirty="0"/>
              <a:t>This is the OR you read in a logistic regression table, with its 95% CI; null value 1. Adjusted ORs come from a model with several variables.</a:t>
            </a:r>
          </a:p>
          <a:p>
            <a:r>
              <a:rPr lang="en-US" sz="1400" b="0" dirty="0"/>
              <a:t>Common mistake: 'OR 1.42 means 42% more deaths'. It is 42% higher odds per unit; the risk change depends on where you are on the curve.</a:t>
            </a:r>
          </a:p>
          <a:p>
            <a:r>
              <a:rPr lang="en-US" sz="1400" b="0" dirty="0"/>
              <a:t>Ask: what would the curve look like if lactate had no effect? Expected: a flat horizontal line, OR = 1.</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outcome decides the model, just as it decided the test.</a:t>
            </a:r>
          </a:p>
          <a:p>
            <a:r>
              <a:rPr lang="en-US" sz="1400" b="0" dirty="0"/>
              <a:t>A number (fluid balance in ml/kg): linear regression. Reports a coefficient (B or beta), which is a DIFFERENCE in the outcome per unit of the exposure. No effect = 0.</a:t>
            </a:r>
          </a:p>
          <a:p>
            <a:r>
              <a:rPr lang="en-US" sz="1400" b="0" dirty="0"/>
              <a:t>Yes/no (died by day 28): logistic regression. Reports an odds ratio (OR). No effect = 1.</a:t>
            </a:r>
          </a:p>
          <a:p>
            <a:r>
              <a:rPr lang="en-US" sz="1400" b="0" dirty="0"/>
              <a:t>Time to event (time to death, with patients censored if still alive at day 28): Cox regression. Reports a hazard ratio (HR). No effect = 1. Paper 2 used Cox regression.</a:t>
            </a:r>
          </a:p>
          <a:p>
            <a:r>
              <a:rPr lang="en-US" sz="1400" b="0" dirty="0"/>
              <a:t>Why 0 vs 1? A difference of 0 means no difference; a ratio of 1 means the two groups are the same (2 divided by 2 = 1).</a:t>
            </a:r>
          </a:p>
          <a:p>
            <a:r>
              <a:rPr lang="en-US" sz="1400" b="0" dirty="0"/>
              <a:t>Common mistake: looking for 'does the CI cross 0' in an OR table. For ratios it is 1.</a:t>
            </a:r>
          </a:p>
          <a:p>
            <a:r>
              <a:rPr lang="en-US" sz="1400" b="0" dirty="0"/>
              <a:t>Ask: a study of length of stay in days analysed as a number. Which model and which no-effect value? Expected: linear, 0. (A statistician may choose a different model for skewed data, but the reading principle is the same.)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adjusting for a confounder means comparing patients who are alike on that confounder.</a:t>
            </a:r>
          </a:p>
          <a:p>
            <a:r>
              <a:rPr lang="en-US" sz="1400" b="0" dirty="0"/>
              <a:t>Left (crude): patients who received a lot of fluid died more often (33% vs 18%). It looks as if fluid is harmful.</a:t>
            </a:r>
          </a:p>
          <a:p>
            <a:r>
              <a:rPr lang="en-US" sz="1400" b="0" dirty="0"/>
              <a:t>Right (stratified by severity): among less sick patients, 10% died with high or low fluid. Among sicker patients, 40% died either way. Within each level of severity there is NO difference.</a:t>
            </a:r>
          </a:p>
          <a:p>
            <a:r>
              <a:rPr lang="en-US" sz="1400" b="0" dirty="0"/>
              <a:t>What happened? Sicker patients were both more likely to receive more fluid (150 of 200) and more likely to die. Severity created the crude difference: confounding by indication, exactly as on Session 4.</a:t>
            </a:r>
          </a:p>
          <a:p>
            <a:r>
              <a:rPr lang="en-US" sz="1400" b="0" dirty="0"/>
              <a:t>A regression model does the same thing as this split, but for many confounders at once (age, SOFA, lactate, ...). Paper 2 used propensity-score matching for the same purpose.</a:t>
            </a:r>
          </a:p>
          <a:p>
            <a:r>
              <a:rPr lang="en-US" sz="1400" b="0" dirty="0"/>
              <a:t>Limitation: you can only adjust for confounders you MEASURED. Unmeasured confounding remains; only randomisation protects against it.</a:t>
            </a:r>
          </a:p>
          <a:p>
            <a:r>
              <a:rPr lang="en-US" sz="1400" b="0" dirty="0"/>
              <a:t>Ask: after adjustment, can we say fluid does not cause death? Expected: not with certainty; other unmeasured confounders may exist, and these numbers are simulated.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a regression table has one row per variable in the model. Read each row in four steps.</a:t>
            </a:r>
          </a:p>
          <a:p>
            <a:r>
              <a:rPr lang="en-US" sz="1400" b="0" dirty="0"/>
              <a:t>1. The comparison: 'positive fluid balance (yes vs no)'; 'age per 10 years'; 'female vs male'. Always check the reference group and the unit.</a:t>
            </a:r>
          </a:p>
          <a:p>
            <a:r>
              <a:rPr lang="en-US" sz="1400" b="0" dirty="0"/>
              <a:t>2. The effect: OR 1.80. Patients with positive fluid balance had 1.8 times the odds of death, adjusted for the other variables in the table.</a:t>
            </a:r>
          </a:p>
          <a:p>
            <a:r>
              <a:rPr lang="en-US" sz="1400" b="0" dirty="0"/>
              <a:t>3. The 95% CI: 1.20 to 2.70. Plausible values from a 20% to a 170% increase in odds.</a:t>
            </a:r>
          </a:p>
          <a:p>
            <a:r>
              <a:rPr lang="en-US" sz="1400" b="0" dirty="0"/>
              <a:t>4. The null: does the CI include 1? No, so p &lt; 0.05 (p = 0.004). For female sex (0.65-1.30) and lactate (0.98-1.24) the CI includes 1, shown in red: compatible with no association.</a:t>
            </a:r>
          </a:p>
          <a:p>
            <a:r>
              <a:rPr lang="en-US" sz="1400" b="0" dirty="0"/>
              <a:t>Per-unit rows: OR 1.15 per SOFA point means each extra point multiplies the odds by 1.15; 5 extra points multiply them by about 2 (1.15 to the power 5).</a:t>
            </a:r>
          </a:p>
          <a:p>
            <a:r>
              <a:rPr lang="en-US" sz="1400" b="0" dirty="0"/>
              <a:t>This table is mock data, built so the p-values agree with the CIs.</a:t>
            </a:r>
          </a:p>
          <a:p>
            <a:r>
              <a:rPr lang="en-US" sz="1400" b="0" dirty="0"/>
              <a:t>Wording: 'associated with', not 'caused'. It is an observational analysis.</a:t>
            </a:r>
          </a:p>
          <a:p>
            <a:r>
              <a:rPr lang="en-US" sz="1400" b="0" dirty="0"/>
              <a:t>Common mistake: interpreting an OR of 1.8 as '80% more deaths'. It is 80% higher ODDS; when the outcome is common (like ICU death), the risk ratio is smaller than the OR.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your understanding in pairs (5 minutes: 3 in pairs, 2 feedback). Table and answer key in Course/Practicals/s6_exercises.md and Course/Solutions/s6_solutions.md (exercise 5).</a:t>
            </a:r>
          </a:p>
          <a:p>
            <a:r>
              <a:rPr lang="en-US" sz="1400" b="0" dirty="0"/>
              <a:t>What to listen for: correct reference groups ('vs no'), the word 'odds' rather than 'risk', 'associated with' rather than 'causes', and correct reading of CIs that include 1.</a:t>
            </a:r>
          </a:p>
          <a:p>
            <a:r>
              <a:rPr lang="en-US" sz="1400" b="0" dirty="0"/>
              <a:t>Model sentence for the main exposure: 'After adjusting for age, sex and severity, patients who received benzodiazepines had about twice the odds of developing delirium (OR 2.1, 95% CI 1.4 to 3.2).'</a:t>
            </a:r>
          </a:p>
          <a:p>
            <a:r>
              <a:rPr lang="en-US" sz="1400" b="0" dirty="0"/>
              <a:t>The authors' conclusion question and the Kaplan-Meier exercise (6) can be homework.</a:t>
            </a:r>
          </a:p>
          <a:p>
            <a:r>
              <a:rPr lang="en-US" sz="1400" b="0" dirty="0"/>
              <a:t>Transition: next, why too many variables can mislead (overfitting), then survival analysis.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a model with too many variables for the number of events learns the noise in YOUR data, not the truth. It fits your patients perfectly and fails on the next ones.</a:t>
            </a:r>
          </a:p>
          <a:p>
            <a:r>
              <a:rPr lang="en-US" sz="1400" b="0" dirty="0"/>
              <a:t>Picture: the red curve passes through all 10 filled points (our data) but misses the hollow points (new patients); the simple teal line does better on new patients.</a:t>
            </a:r>
          </a:p>
          <a:p>
            <a:r>
              <a:rPr lang="en-US" sz="1400" b="0" dirty="0"/>
              <a:t>Rule of thumb: about 10 events (deaths, not patients) per variable in a logistic or Cox model. 80 deaths: no more than about 8 variables, including categories counted separately. Some modern guidance asks for more.</a:t>
            </a:r>
          </a:p>
          <a:p>
            <a:r>
              <a:rPr lang="en-US" sz="1400" b="0" dirty="0"/>
              <a:t>Stepwise selection (side panel): letting the software add or drop variables by p-value. It looks objective but it multiplies the multiple-comparison problem, keeps chance findings, overestimates the effects that survive, gives CIs that are too narrow, and different samples pick different variables.</a:t>
            </a:r>
          </a:p>
          <a:p>
            <a:r>
              <a:rPr lang="en-US" sz="1400" b="0" dirty="0"/>
              <a:t>Better: choose confounders in advance from clinical knowledge and the literature (a causal diagram helps), write them in the SAP (6.4), and keep within the events-per-variable budget.</a:t>
            </a:r>
          </a:p>
          <a:p>
            <a:r>
              <a:rPr lang="en-US" sz="1400" b="0" dirty="0"/>
              <a:t>Ask: a study of 40 deaths reports a model with 15 variables chosen by stepwise selection. Concerns? Expected: overfitting; results will not replicate.</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time-to-event outcomes need special methods because not everyone has the event while we watch.</a:t>
            </a:r>
          </a:p>
          <a:p>
            <a:r>
              <a:rPr lang="en-US" sz="1400" b="0" dirty="0"/>
              <a:t>Each line is a patient followed from ICU admission. A red X is the event (death). A circle is a censored patient: we stop watching before any event, because they were lost to follow-up (transferred, phone unreachable) or because the study ended at day 28.</a:t>
            </a:r>
          </a:p>
          <a:p>
            <a:r>
              <a:rPr lang="en-US" sz="1400" b="0" dirty="0"/>
              <a:t>Censored does NOT mean excluded. Patient 3 tells us they were alive for 12 days, and survival methods use that information. Dropping them, or counting them as survivors for the full 28 days, both bias the result.</a:t>
            </a:r>
          </a:p>
          <a:p>
            <a:r>
              <a:rPr lang="en-US" sz="1400" b="0" dirty="0"/>
              <a:t>Why not just compare the proportion dead at day 28? You can, if everyone is followed to day 28. Survival methods also use WHEN deaths happen and handle unequal follow-up.</a:t>
            </a:r>
          </a:p>
          <a:p>
            <a:r>
              <a:rPr lang="en-US" sz="1400" b="0" dirty="0"/>
              <a:t>Assumption: censoring is unrelated to the outcome (being transferred out for palliative care would break it). Sound familiar? It is the same logic as missing data (6.4).</a:t>
            </a:r>
          </a:p>
          <a:p>
            <a:r>
              <a:rPr lang="en-US" sz="1400" b="0" dirty="0"/>
              <a:t>Ask: a patient is discharged home on day 9 and not contacted again. Event or censored? Expected: censored at day 9.</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Kaplan-Meier (KM) curve shows the proportion still alive over time in each group, using censored patients correctly.</a:t>
            </a:r>
          </a:p>
          <a:p>
            <a:r>
              <a:rPr lang="en-US" sz="1400" b="1" dirty="0"/>
              <a:t>Walk through the four reading steps on the right of the figure:</a:t>
            </a:r>
          </a:p>
          <a:p>
            <a:r>
              <a:rPr lang="en-US" sz="1400" b="0" dirty="0"/>
              <a:t>1. Each step down is one or more deaths.</a:t>
            </a:r>
          </a:p>
          <a:p>
            <a:r>
              <a:rPr lang="en-US" sz="1400" b="0" dirty="0"/>
              <a:t>2. Each small vertical tick is a censored patient.</a:t>
            </a:r>
          </a:p>
          <a:p>
            <a:r>
              <a:rPr lang="en-US" sz="1400" b="0" dirty="0"/>
              <a:t>3. The vertical gap between curves is the difference in survival at that time; here about 70% vs 59% alive at day 28 (simulated cohort, 150 per group, mirroring Paper 2's question).</a:t>
            </a:r>
          </a:p>
          <a:p>
            <a:r>
              <a:rPr lang="en-US" sz="1400" b="0" dirty="0"/>
              <a:t>4. The numbers at risk under the plot show how many patients are still being followed. As they shrink, the right end of the curve rests on few patients and becomes less certain. A figure without numbers at risk hides this; reviewers will ask for them.</a:t>
            </a:r>
          </a:p>
          <a:p>
            <a:r>
              <a:rPr lang="en-US" sz="1400" b="0" dirty="0"/>
              <a:t>The log-rank test compares the whole curves and gives a p-value (here p = 0.040). It does not give the size of the effect; that comes from the Cox model (next slide).</a:t>
            </a:r>
          </a:p>
          <a:p>
            <a:r>
              <a:rPr lang="en-US" sz="1400" b="0" dirty="0"/>
              <a:t>Paper 2 shows exactly this kind of figure (Kaplan-Meier survival to day 28 in its matched cohorts).</a:t>
            </a:r>
          </a:p>
          <a:p>
            <a:r>
              <a:rPr lang="en-US" sz="1400" b="0" dirty="0"/>
              <a:t>Ask: if the curves cross half-way, what does that suggest? Expected: the effect changes over time; the proportional-hazards assumption may not hold.</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6.4 opener (25 minutes: the SAP, crude vs adjusted OR, the adjusted model, Kaplan-Meier and Cox, missing lactate, complete-case vs multiple imputation, then a 7-minute group worksheet).</a:t>
            </a:r>
          </a:p>
          <a:p>
            <a:r>
              <a:rPr lang="en-US" sz="1400" b="0" dirty="0"/>
              <a:t>Key message: this is 6.3 (models) applied to FLUID-ICU, and the payoff of the whole weekend: you will SEE confounding by indication shrink an odds ratio.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statistical analysis plan from 6.3 / Session 6 exists for FLUID-ICU. Show Course/Data/SAP_FLUID-ICU.md on screen.</a:t>
            </a:r>
          </a:p>
          <a:p>
            <a:r>
              <a:rPr lang="en-US" sz="1400" b="0" dirty="0"/>
              <a:t>Primary analysis: 28-day mortality by multivariable logistic regression; effect measure: odds ratio with 95% CI; the crude OR and the risk difference are also reported.</a:t>
            </a:r>
          </a:p>
          <a:p>
            <a:r>
              <a:rPr lang="en-US" sz="1400" b="0" dirty="0"/>
              <a:t>Confounders chosen in advance from clinical knowledge (a simple causal diagram): age; severity (SOFA, lactate, vasopressor, mechanical ventilation); chronic kidney disease. Variables measured after day 3 (AKI, dialysis) are NOT adjusted for: they are outcomes or mediators.</a:t>
            </a:r>
          </a:p>
          <a:p>
            <a:r>
              <a:rPr lang="en-US" sz="1400" b="0" dirty="0"/>
              <a:t>Supportive analysis: Kaplan-Meier curves with numbers at risk, log-rank test, Cox model with the same confounders; proportional hazards checked.</a:t>
            </a:r>
          </a:p>
          <a:p>
            <a:r>
              <a:rPr lang="en-US" sz="1400" b="0" dirty="0"/>
              <a:t>One pre-specified effect modifier: heart failure (an extra slide shows the result).</a:t>
            </a:r>
          </a:p>
          <a:p>
            <a:r>
              <a:rPr lang="en-US" sz="1400" b="0" dirty="0"/>
              <a:t>Missing data: assessed and handled by complete case plus multiple imputation (m = 20) as sensitivity analysis.</a:t>
            </a:r>
          </a:p>
          <a:p>
            <a:r>
              <a:rPr lang="en-US" sz="1400" b="0" dirty="0"/>
              <a:t>Ask: why does writing this first protect the authors? Expected: nobody can accuse them of choosing the analysis that gave the 'best' p-value.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key picture of the course dataset. Take 4 minutes.</a:t>
            </a:r>
          </a:p>
          <a:p>
            <a:r>
              <a:rPr lang="en-US" sz="1400" b="0" dirty="0"/>
              <a:t>Crude OR, all 618 patients: 2.49 (95% CI 1.70 to 3.70): positive balance looks strongly associated with death.</a:t>
            </a:r>
          </a:p>
          <a:p>
            <a:r>
              <a:rPr lang="en-US" sz="1400" b="0" dirty="0"/>
              <a:t>Crude OR in the 527 complete cases: 2.22 (1.48 to 3.39): same patients as the adjusted model, so the comparison is fair.</a:t>
            </a:r>
          </a:p>
          <a:p>
            <a:r>
              <a:rPr lang="en-US" sz="1400" b="0" dirty="0"/>
              <a:t>Adjusted OR (age, SOFA, lactate, vasopressor, ventilation, CKD), n = 527: 1.62 (95% CI 1.02 to 2.59), p = 0.044.</a:t>
            </a:r>
          </a:p>
          <a:p>
            <a:r>
              <a:rPr lang="en-US" sz="1400" b="0" dirty="0"/>
              <a:t>Why it shrinks: sicker patients receive more fluid and die more often. Part of the crude association was severity, not fluid. This is confounding by indication, exactly the stratification picture from 6.3, done by the model.</a:t>
            </a:r>
          </a:p>
          <a:p>
            <a:r>
              <a:rPr lang="en-US" sz="1400" b="0" dirty="0"/>
              <a:t>What remains: an adjusted association that is smaller and less precise; the lower CI limit is close to 1. It is compatible with a modest harm, or with almost no effect.</a:t>
            </a:r>
          </a:p>
          <a:p>
            <a:r>
              <a:rPr lang="en-US" sz="1400" b="0" dirty="0"/>
              <a:t>It is still an association: unmeasured confounding (severity we did not record) may remain.</a:t>
            </a:r>
          </a:p>
          <a:p>
            <a:r>
              <a:rPr lang="en-US" sz="1400" b="0" dirty="0"/>
              <a:t>Ask: if we had adjusted for AKI as well, would that be right? Expected: no; AKI happens after the fluid and may be on the pathway (a mediator), as the SAP says.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multivariable logistic model of Q1 drawn as a forest plot (all ORs adjusted for each other; n = 527).</a:t>
            </a:r>
          </a:p>
          <a:p>
            <a:r>
              <a:rPr lang="en-US" sz="1400" b="0" dirty="0"/>
              <a:t>Positive fluid balance: OR 1.62 (1.02 to 2.59).</a:t>
            </a:r>
          </a:p>
          <a:p>
            <a:r>
              <a:rPr lang="en-US" sz="1400" b="0" dirty="0"/>
              <a:t>The other rows are the confounders: severity markers (SOFA per point, lactate per mmol/L, vasopressor, ventilation), age per year, CKD. They are in the model to adjust; they are not the question. Do not over-interpret them (the 'Table 2 fallacy').</a:t>
            </a:r>
          </a:p>
          <a:p>
            <a:r>
              <a:rPr lang="en-US" sz="1400" b="0" dirty="0"/>
              <a:t>Notice the units: per year, per point, per mmol/L: a small OR per unit can be a large effect over many units.</a:t>
            </a:r>
          </a:p>
          <a:p>
            <a:r>
              <a:rPr lang="en-US" sz="1400" b="0" dirty="0"/>
              <a:t>Ask: which row would go in your abstract? Expected: only the exposure row (positive balance), with its CI.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read a real Kaplan-Meier figure with the four steps from 6.3.</a:t>
            </a:r>
          </a:p>
          <a:p>
            <a:r>
              <a:rPr lang="en-US" sz="1400" b="0" dirty="0"/>
              <a:t>Steps down are deaths; most deaths happen in the first week.</a:t>
            </a:r>
          </a:p>
          <a:p>
            <a:r>
              <a:rPr lang="en-US" sz="1400" b="0" dirty="0"/>
              <a:t>The gap: day-28 survival 81.6% (negative balance) vs 64.1% (positive balance).</a:t>
            </a:r>
          </a:p>
          <a:p>
            <a:r>
              <a:rPr lang="en-US" sz="1400" b="0" dirty="0"/>
              <a:t>Numbers at risk under the plot: 245 and 373 at day 0, shrinking as patients die.</a:t>
            </a:r>
          </a:p>
          <a:p>
            <a:r>
              <a:rPr lang="en-US" sz="1400" b="0" dirty="0"/>
              <a:t>Log-rank test: p &lt; 0.001 (chi-square 21.4): the curves differ. But the log-rank test is unadjusted: the same confounding as the crude OR.</a:t>
            </a:r>
          </a:p>
          <a:p>
            <a:r>
              <a:rPr lang="en-US" sz="1400" b="0" dirty="0"/>
              <a:t>Ask: is the difference larger early or late? Expected: it opens in the first days and then the curves run roughly parallel, which is reassuring for the proportional-hazards assumption of the Cox model (next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Cox model gives a hazard ratio, adjusted for the same confounders.</a:t>
            </a:r>
          </a:p>
          <a:p>
            <a:r>
              <a:rPr lang="en-US" sz="1400" b="0" dirty="0"/>
              <a:t>Crude HR 2.17 (95% CI 1.55 to 3.05) shrinks to an adjusted HR of 1.46 (95% CI 1.00 to 2.13), p = 0.053: the same confounding as for the OR.</a:t>
            </a:r>
          </a:p>
          <a:p>
            <a:r>
              <a:rPr lang="en-US" sz="1400" b="0" dirty="0"/>
              <a:t>Proportional hazards checked: global test p = 0.10; no strong evidence against the assumption.</a:t>
            </a:r>
          </a:p>
          <a:p>
            <a:r>
              <a:rPr lang="en-US" sz="1400" b="0" dirty="0"/>
              <a:t>The big lesson: the logistic model gives p = 0.044 and the Cox model p = 0.053. One is 'significant', the other is not, but they say the same thing: a moderate association, imprecise, with a lower limit close to 1. Never let 0.05 decide whether you believe a finding (the five p-value mistakes, 6.1).</a:t>
            </a:r>
          </a:p>
          <a:p>
            <a:r>
              <a:rPr lang="en-US" sz="1400" b="0" dirty="0"/>
              <a:t>Ask: how would you write this in the Results? Expected: report both estimates with their CIs, and describe the association as modest and imprecise.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three mechanisms, shown on the same 8 patients with some lactate values missing.</a:t>
            </a:r>
          </a:p>
          <a:p>
            <a:r>
              <a:rPr lang="en-US" sz="1400" b="0" dirty="0"/>
              <a:t>MCAR, missing completely at random: a tube dropped, an analyser broke. Missingness has nothing to do with the patient. The remaining patients are a random subset; a complete-case analysis is unbiased, just less precise. Rare in practice.</a:t>
            </a:r>
          </a:p>
          <a:p>
            <a:r>
              <a:rPr lang="en-US" sz="1400" b="0" dirty="0"/>
              <a:t>MAR, missing at random (given what we recorded): lactate was not measured for night admissions. Missingness depends on something we HAVE in the data (admission time). Methods such as multiple imputation can use that recorded variable to correct the bias.</a:t>
            </a:r>
          </a:p>
          <a:p>
            <a:r>
              <a:rPr lang="en-US" sz="1400" b="0" dirty="0"/>
              <a:t>MNAR, missing not at random: the missing lactates are the highest ones (the sickest patients, values off the analyser's scale; red numbers we never see). Missingness depends on the missing value itself. No statistical method can fully fix this; we can only test how much it might matter (sensitivity analysis).</a:t>
            </a:r>
          </a:p>
          <a:p>
            <a:r>
              <a:rPr lang="en-US" sz="1400" b="0" dirty="0"/>
              <a:t>We can never prove which mechanism applies from the data alone; clinical knowledge of WHY values are missing is essential. Write the reasons down when you collect data.</a:t>
            </a:r>
          </a:p>
          <a:p>
            <a:r>
              <a:rPr lang="en-US" sz="1400" b="0" dirty="0"/>
              <a:t>Remember the first missing-data slide in 5.1: the sickest patients going missing is MNAR, the worst case.</a:t>
            </a:r>
          </a:p>
          <a:p>
            <a:r>
              <a:rPr lang="en-US" sz="1400" b="0" dirty="0"/>
              <a:t>Ask: day-28 outcome missing for patients transferred to another hospital. Which mechanism is most likely? Expected: possibly MNAR (sicker or improving patients transferred); at least MAR if transfer reason is recorded.</a:t>
            </a:r>
          </a:p>
          <a:p>
            <a:r>
              <a:rPr lang="en-US" sz="1400" b="0" dirty="0"/>
              <a:t>Timing: 2 minutes; then FLUID-ICU's own missing lactate.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before handling missing data, ask WHY it is missing (previous slide: MCAR, MAR, MNAR).</a:t>
            </a:r>
          </a:p>
          <a:p>
            <a:r>
              <a:rPr lang="en-US" sz="1400" b="0" dirty="0"/>
              <a:t>Lactate is missing for 93 of 620 patients (15.0%). The figure shows the proportion missing by SOFA score: much higher in the least sick patients.</a:t>
            </a:r>
          </a:p>
          <a:p>
            <a:r>
              <a:rPr lang="en-US" sz="1400" b="0" dirty="0"/>
              <a:t>Patients without lactate had a median SOFA of 5 (4 to 6) vs 8 (6 to 10) in those with lactate, and lower mortality: 18/93 (19.4%) vs 161/527 (30.6%).</a:t>
            </a:r>
          </a:p>
          <a:p>
            <a:r>
              <a:rPr lang="en-US" sz="1400" b="0" dirty="0"/>
              <a:t>So the data are not missing completely at random (MCAR): a complete-case analysis drops mostly the less sick patients. Missingness depends on things we recorded (severity, ICU): missing at random (MAR) is plausible, which is the situation where multiple imputation works well.</a:t>
            </a:r>
          </a:p>
          <a:p>
            <a:r>
              <a:rPr lang="en-US" sz="1400" b="0" dirty="0"/>
              <a:t>Ask: clinically, why would lactate not be measured in the less sick? Expected: the clinician judged it unnecessary, or no point-of-care analyser in one ICU.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sensitivity analysis planned in the SAP.</a:t>
            </a:r>
          </a:p>
          <a:p>
            <a:r>
              <a:rPr lang="en-US" sz="1400" b="0" dirty="0"/>
              <a:t>Q4 (lactate and 28-day death), OR per 1 mmol/L adjusted for age, sex, diabetes, CKD and heart failure: complete case 1.39 (1.24 to 1.57), n = 527; multiple imputation 1.45 (1.29 to 1.64), n = 620. Adding SOFA: 1.21 (1.05 to 1.39) vs 1.23 (1.07 to 1.42).</a:t>
            </a:r>
          </a:p>
          <a:p>
            <a:r>
              <a:rPr lang="en-US" sz="1400" b="0" dirty="0"/>
              <a:t>Q1 primary model with multiple imputation (m = 20, n = 620): adjusted OR 1.70 (95% CI 1.09 to 2.64), p = 0.020, compared with 1.62 (1.02 to 2.59) in complete cases.</a:t>
            </a:r>
          </a:p>
          <a:p>
            <a:r>
              <a:rPr lang="en-US" sz="1400" b="0" dirty="0"/>
              <a:t>Interpretation: the conclusions do not depend on how the missing lactate was handled: a robust result. Had the two approaches disagreed strongly, we would have to say so.</a:t>
            </a:r>
          </a:p>
          <a:p>
            <a:r>
              <a:rPr lang="en-US" sz="1400" b="0" dirty="0"/>
              <a:t>Note also: the median lactate was 2.6 mmol/L in complete cases and 2.4 after imputation: the imputed values are lower, as expected, because the missing patients were less sick.</a:t>
            </a:r>
          </a:p>
          <a:p>
            <a:r>
              <a:rPr lang="en-US" sz="1400" b="0" dirty="0"/>
              <a:t>Ask: what would you write in the Methods? Expected: 'Missing lactate (15.0%) was handled by multiple imputation (20 data sets) as a sensitivity analysis; results were similar to the complete-case analysis.'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Group worksheet, 7 minutes (5 work, 2 feedback). Session 6 exercises, exercise 8; model answers in s6_solutions.md.</a:t>
            </a:r>
          </a:p>
          <a:p>
            <a:r>
              <a:rPr lang="en-US" sz="1400" b="1" dirty="0"/>
              <a:t>Key numbers by question (all in key_results.md and the results packs):</a:t>
            </a:r>
          </a:p>
          <a:p>
            <a:r>
              <a:rPr lang="en-US" sz="1400" b="0" dirty="0"/>
              <a:t>Q1: crude OR 2.49 (1.70 to 3.70) -&gt; adjusted 1.62 (1.02 to 2.59); Cox adjusted HR 1.46 (1.00 to 2.13); MI adjusted OR 1.70 (1.09 to 2.64).</a:t>
            </a:r>
          </a:p>
          <a:p>
            <a:r>
              <a:rPr lang="en-US" sz="1400" b="0" dirty="0"/>
              <a:t>Q2: AKI OR per 10 ml/kg crude 1.37 (1.27 to 1.47) -&gt; adjusted 1.27 (1.16 to 1.40).</a:t>
            </a:r>
          </a:p>
          <a:p>
            <a:r>
              <a:rPr lang="en-US" sz="1400" b="0" dirty="0"/>
              <a:t>Q3: ventilator-free days per 10 ml/kg crude -1.48 (-1.84 to -1.13) -&gt; adjusted -0.61 (-1.00 to -0.21) days.</a:t>
            </a:r>
          </a:p>
          <a:p>
            <a:r>
              <a:rPr lang="en-US" sz="1400" b="0" dirty="0"/>
              <a:t>Q4: lactate OR per 1 mmol/L adjusted CC 1.39 (1.24 to 1.57) vs MI 1.45 (1.29 to 1.64).</a:t>
            </a:r>
          </a:p>
          <a:p>
            <a:r>
              <a:rPr lang="en-US" sz="1400" b="0" dirty="0"/>
              <a:t>Q5: ICU stay ratio of geometric means crude 1.50 (1.34 to 1.68) -&gt; adjusted 1.24 (1.10 to 1.39).</a:t>
            </a:r>
          </a:p>
          <a:p>
            <a:r>
              <a:rPr lang="en-US" sz="1400" b="0" dirty="0"/>
              <a:t>Pattern to point out: in every question the adjusted estimate is closer to 'no effect' than the crude one, the fingerprint of confounding by indication.</a:t>
            </a:r>
          </a:p>
          <a:p>
            <a:r>
              <a:rPr lang="en-US" sz="1400" b="0" dirty="0"/>
              <a:t>These sentences become the core of the Results section drafted in Session 7.</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Show for 1 minute before groups start.</a:t>
            </a:r>
          </a:p>
          <a:p>
            <a:r>
              <a:rPr lang="en-US" sz="1400" b="0" dirty="0"/>
              <a:t>Sample size: one sentence with the four inputs (expected values in each group, alpha, power) and the drop-out allowance: 'Assuming 28-day mortality of 40% with usual care and 30% with the restrictive strategy, 356 patients per group give 80% power at a two-sided alpha of 5%; allowing 10% loss to follow-up, we will recruit 396 per group.' (356 / 0.9 = 395.6, rounded up.)</a:t>
            </a:r>
          </a:p>
          <a:p>
            <a:r>
              <a:rPr lang="en-US" sz="1400" b="0" dirty="0"/>
              <a:t>Analysis plan in plain language: the summary for each variable type, the test or model for the primary outcome, the effect measure with its 95% CI.</a:t>
            </a:r>
          </a:p>
          <a:p>
            <a:r>
              <a:rPr lang="en-US" sz="1400" b="0" dirty="0"/>
              <a:t>Confounders: for observational designs, name them (from Part 2's bias section) within the events-per-variable budget; no stepwise selection.</a:t>
            </a:r>
          </a:p>
          <a:p>
            <a:r>
              <a:rPr lang="en-US" sz="1400" b="0" dirty="0"/>
              <a:t>Missing-data plan: expected missingness and why (MCAR / MAR / MNAR thinking), prevention (Session 5), and how missing data will be reported (how many, in whom). Imputation and sensitivity analyses are Level 2 topics.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Proposal builder 6: 30 minutes. Groups complete Part 3 of the proposal template; the worksheet (Session 6 exercises, exercise 9) has the same headings.</a:t>
            </a:r>
          </a:p>
          <a:p>
            <a:r>
              <a:rPr lang="en-US" sz="1400" b="0" dirty="0"/>
              <a:t>Call the time at 8, 18, 23 and 30 minutes.</a:t>
            </a:r>
          </a:p>
          <a:p>
            <a:r>
              <a:rPr lang="en-US" sz="1400" b="0" dirty="0"/>
              <a:t>Facilitators circulate and ask: Is your outcome a number, a category or time-to-event, so which test or model? Where does your expected effect size come from? What is most likely to be missing, and why (MCAR / MAR / MNAR thinking)?</a:t>
            </a:r>
          </a:p>
          <a:p>
            <a:r>
              <a:rPr lang="en-US" sz="1400" b="0" dirty="0"/>
              <a:t>The FLUID-ICU SAP is a good model: groups have just seen that it was written before the analysis.</a:t>
            </a:r>
          </a:p>
          <a:p>
            <a:r>
              <a:rPr lang="en-US" sz="1400" b="0" dirty="0"/>
              <a:t>Sample size: groups need the four inputs and a source, not necessarily a final number. Offer to run the spreadsheet for them.</a:t>
            </a:r>
          </a:p>
          <a:p>
            <a:r>
              <a:rPr lang="en-US" sz="1400" b="0" dirty="0"/>
              <a:t>Common problems: 'SPSS will be used' as the analysis plan; stepwise selection; no word on missing data; sample size = 'all patients we can get'.</a:t>
            </a:r>
          </a:p>
          <a:p>
            <a:r>
              <a:rPr lang="en-US" sz="1400" b="0" dirty="0"/>
              <a:t>At 2:55, stop for the wrap-up.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words of the day (2 minutes). Point to each word and ask the room for a one-line definition.</a:t>
            </a:r>
          </a:p>
          <a:p>
            <a:r>
              <a:rPr lang="en-US" sz="1400" b="0" dirty="0"/>
              <a:t>95% CI: range of plausible values. p-value: how surprising the data would be if there were no effect. Power: chance of detecting a real effect.</a:t>
            </a:r>
          </a:p>
          <a:p>
            <a:r>
              <a:rPr lang="en-US" sz="1400" b="0" dirty="0"/>
              <a:t>t-test / Mann-Whitney: compare a number between two groups (symmetric / skewed). Chi-square: compare proportions. Paired: same patients measured twice.</a:t>
            </a:r>
          </a:p>
          <a:p>
            <a:r>
              <a:rPr lang="en-US" sz="1400" b="0" dirty="0"/>
              <a:t>Adjusted OR: odds ratio after accounting for confounders. Hazard ratio: ratio of death rates over time (Cox). Censoring: follow-up ended without the event.</a:t>
            </a:r>
          </a:p>
          <a:p>
            <a:r>
              <a:rPr lang="en-US" sz="1400" b="0" dirty="0"/>
              <a:t>SAP: analysis plan written before seeing the data. MCAR / MAR / MNAR: why data are missing. Multiple imputation: filling gaps several times and pooling, honestly.</a:t>
            </a:r>
          </a:p>
          <a:p>
            <a:r>
              <a:rPr lang="en-US" sz="1400" b="0" dirty="0"/>
              <a:t>All terms are in the EN-VN glossary.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Session recap (2 minutes). Ask three volunteers for one example from today for each card.</a:t>
            </a:r>
          </a:p>
          <a:p>
            <a:r>
              <a:rPr lang="en-US" sz="1400" b="0" dirty="0"/>
              <a:t>Read the CI: the size, the direction, the precision; the null value 0 or 1; avoid the five p-value mistakes.</a:t>
            </a:r>
          </a:p>
          <a:p>
            <a:r>
              <a:rPr lang="en-US" sz="1400" b="0" dirty="0"/>
              <a:t>Adjust honestly: FLUID-ICU showed confounding by indication: the crude OR shrank after adjustment for severity. Confounders are chosen from knowledge, not by stepwise selection.</a:t>
            </a:r>
          </a:p>
          <a:p>
            <a:r>
              <a:rPr lang="en-US" sz="1400" b="0" dirty="0"/>
              <a:t>Plan first: the FLUID-ICU SAP was written before the analysis; missing lactate was reported, handled with multiple imputation and checked against complete-case analysis.</a:t>
            </a:r>
          </a:p>
          <a:p>
            <a:r>
              <a:rPr lang="en-US" sz="1400" b="0" dirty="0"/>
              <a:t>Next weekend: write it up (Methods and Results in Session 7, the rest and publication in Session 8).</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Wrap-up: 5 minutes, including the key-words and recap slides.</a:t>
            </a:r>
          </a:p>
          <a:p>
            <a:r>
              <a:rPr lang="en-US" sz="1400" b="0" dirty="0"/>
              <a:t>Exit question on a sticky note. A good answer: 'The true hazard ratio is plausibly between 1.48 and 3.06; all values are above 1, so the data suggest higher mortality.' Read a few at the start of Session 7.</a:t>
            </a:r>
          </a:p>
          <a:p>
            <a:r>
              <a:rPr lang="en-US" sz="1400" b="0" dirty="0"/>
              <a:t>Homework: finish Part 3 of the proposal; start preparing the 6-minute presentation (6 slides, Course/Assignment/presentation_guide.md); re-read the group's results pack and the group interpretation worksheet, which become the Methods and Results drafted in Session 7; optional exercises in the Session 6 worksheet.</a:t>
            </a:r>
          </a:p>
          <a:p>
            <a:r>
              <a:rPr lang="en-US" sz="1400" b="0" dirty="0"/>
              <a:t>Thank the room: this was the most technical session of the course. Acknowledge that they stayed with it.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the slides after this point are optional. Use them if the room is ahead of time, or point participants to them for self-study (they are in the handout deck).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the one pre-specified effect modifier in the FLUID-ICU SAP.</a:t>
            </a:r>
          </a:p>
          <a:p>
            <a:r>
              <a:rPr lang="en-US" sz="1400" b="0" dirty="0"/>
              <a:t>Adjusted OR for death, positive vs negative balance: heart failure (n = 90) 4.39 (95% CI 1.65 to 12.38); no heart failure (n = 437) 1.29 (0.77 to 2.19). Interaction p = 0.031 (Wald; likelihood-ratio test p = 0.028).</a:t>
            </a:r>
          </a:p>
          <a:p>
            <a:r>
              <a:rPr lang="en-US" sz="1400" b="0" dirty="0"/>
              <a:t>Clinically plausible: patients with heart failure tolerate fluid less well.</a:t>
            </a:r>
          </a:p>
          <a:p>
            <a:r>
              <a:rPr lang="en-US" sz="1400" b="0" dirty="0"/>
              <a:t>But: small subgroup (90 patients), very wide CI, and the SAP said an interaction p &lt; 0.05 is 'evidence needing confirmation, not a definite finding'. Report it as exploratory.</a:t>
            </a:r>
          </a:p>
          <a:p>
            <a:r>
              <a:rPr lang="en-US" sz="1400" b="0" dirty="0"/>
              <a:t>Link to 6.3 (interaction slide) and to multiple comparisons (one pre-specified test, not 20 post hoc subgroups).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group 2's question.</a:t>
            </a:r>
          </a:p>
          <a:p>
            <a:r>
              <a:rPr lang="en-US" sz="1400" b="0" dirty="0"/>
              <a:t>AKI (KDIGO stage 1 or more) by cumulative balance: 0 ml/kg or less 29%; above 0 to 20: 54%; above 20 to 40: 63%; above 40: 75%. A gradient (dose-response) is one of the Bradford Hill considerations (Session 4).</a:t>
            </a:r>
          </a:p>
          <a:p>
            <a:r>
              <a:rPr lang="en-US" sz="1400" b="0" dirty="0"/>
              <a:t>OR per 10 ml/kg: crude 1.37 (1.27 to 1.47), adjusted 1.27 (1.16 to 1.40), p &lt; 0.001 (n = 527).</a:t>
            </a:r>
          </a:p>
          <a:p>
            <a:r>
              <a:rPr lang="en-US" sz="1400" b="0" dirty="0"/>
              <a:t>Caution: reverse causation is possible: patients developing AKI pass less urine, so their balance becomes more positive. The timing of AKI vs the balance matters; discuss it in the limitations.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group 3's question.</a:t>
            </a:r>
          </a:p>
          <a:p>
            <a:r>
              <a:rPr lang="en-US" sz="1400" b="0" dirty="0"/>
              <a:t>Ventilator-free days to day 28 are 0 for patients who died or stayed ventilated, and 28 for those never ventilated: two piles, nothing like a bell.</a:t>
            </a:r>
          </a:p>
          <a:p>
            <a:r>
              <a:rPr lang="en-US" sz="1400" b="0" dirty="0"/>
              <a:t>Median 20 (0 to 28) days in the positive-balance group vs 28 (22 to 28) in the negative; Mann-Whitney p &lt; 0.001.</a:t>
            </a:r>
          </a:p>
          <a:p>
            <a:r>
              <a:rPr lang="en-US" sz="1400" b="0" dirty="0"/>
              <a:t>Linear regression per 10 ml/kg: crude -1.48 (-1.84 to -1.13) days, adjusted -0.61 (-1.00 to -0.21) days, p = 0.003 (n = 527).</a:t>
            </a:r>
          </a:p>
          <a:p>
            <a:r>
              <a:rPr lang="en-US" sz="1400" b="0" dirty="0"/>
              <a:t>Teaching point: always look at the distribution before choosing the summary and the model.</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the POPULATION is everyone we want to learn about (all adults with septic shock); we never see all of them. The SAMPLE is the patients we actually study.</a:t>
            </a:r>
          </a:p>
          <a:p>
            <a:r>
              <a:rPr lang="en-US" sz="1400" b="0" dirty="0"/>
              <a:t>In our sample of 40 patients, 12 died: 30%. That is our ESTIMATE of the true mortality.</a:t>
            </a:r>
          </a:p>
          <a:p>
            <a:r>
              <a:rPr lang="en-US" sz="1400" b="0" dirty="0"/>
              <a:t>A different sample of 40 would give a slightly different number, maybe 25% or 35%. This variation from sample to sample is called sampling error. It is not a mistake; it is chance.</a:t>
            </a:r>
          </a:p>
          <a:p>
            <a:r>
              <a:rPr lang="en-US" sz="1400" b="0" dirty="0"/>
              <a:t>The 95% confidence interval (17% to 47%) expresses that uncertainty: the true mortality could plausibly be anywhere in that range. With only 40 patients, the range is wide.</a:t>
            </a:r>
          </a:p>
          <a:p>
            <a:r>
              <a:rPr lang="en-US" sz="1400" b="0" dirty="0"/>
              <a:t>Two conditions for a sample to tell us about the population: it must be representative (selection, from Session 4) and large enough (precision, coming up).</a:t>
            </a:r>
          </a:p>
          <a:p>
            <a:r>
              <a:rPr lang="en-US" sz="1400" b="0" dirty="0"/>
              <a:t>Ask: if we had studied 400 patients instead of 40, what would happen to the interval? Expected: narrower. That is the next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read every CI in three steps: the estimate, where the 'no-effect' value is, and how wide the interval is.</a:t>
            </a:r>
          </a:p>
          <a:p>
            <a:r>
              <a:rPr lang="en-US" sz="1400" b="0" dirty="0"/>
              <a:t>Paper 1 (Boulet 2024, RCT): median day-5 cumulative fluid balance 6.9 ml/kg (restrictive) vs 35.0 ml/kg (usual care); the paper also reports the difference in MEANS: 13.2 ml/kg with 95% CI -15.2 to 41.6, p = 0.42.</a:t>
            </a:r>
          </a:p>
          <a:p>
            <a:r>
              <a:rPr lang="en-US" sz="1400" b="0" dirty="0"/>
              <a:t>The interval includes 0, so the data are compatible with no difference. But it also includes a large difference of 40 ml/kg. Conclusion: the study cannot tell us whether the strategy works. It was a pilot of 48 patients.</a:t>
            </a:r>
          </a:p>
          <a:p>
            <a:r>
              <a:rPr lang="en-US" sz="1400" b="0" dirty="0"/>
              <a:t>If someone asks why 13.2 is not 35.0 minus 6.9 (28.1): 13.2 is the difference between the two group MEANS, which the authors report with its 95% CI; the medians describe the skewed data. Means and medians differ when data are skewed, which is exactly the lesson of 5.3.</a:t>
            </a:r>
          </a:p>
          <a:p>
            <a:r>
              <a:rPr lang="en-US" sz="1400" b="0" dirty="0"/>
              <a:t>Common mistake: reading p = 0.42 as 'the restrictive strategy does not work'. Absence of evidence is not evidence of absence.</a:t>
            </a:r>
          </a:p>
          <a:p>
            <a:r>
              <a:rPr lang="en-US" sz="1400" b="0" dirty="0"/>
              <a:t>Ask: what would the CI look like if the trial had 500 patients? Expected: much narrower, possibly excluding 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a forest plot shows several estimates with their CIs against the null line. Each square is an HR, each horizontal line its 95% CI.</a:t>
            </a:r>
          </a:p>
          <a:p>
            <a:r>
              <a:rPr lang="en-US" sz="1400" b="1" dirty="0"/>
              <a:t>Paper 2 (Hyun 2023, Ann Intensive Care), 28-day mortality, positive vs negative cumulative fluid balance:</a:t>
            </a:r>
          </a:p>
          <a:p>
            <a:r>
              <a:rPr lang="en-US" sz="1400" b="0" dirty="0"/>
              <a:t>Day 1 (483 matched pairs): HR 1.17 (0.85-1.60), p = 0.354. Crosses 1: no clear association.</a:t>
            </a:r>
          </a:p>
          <a:p>
            <a:r>
              <a:rPr lang="en-US" sz="1400" b="0" dirty="0"/>
              <a:t>Day 2 (373 pairs): HR 2.13 (1.48-3.06), p &lt; 0.001. Entirely above 1: about double the hazard.</a:t>
            </a:r>
          </a:p>
          <a:p>
            <a:r>
              <a:rPr lang="en-US" sz="1400" b="0" dirty="0"/>
              <a:t>Day 3 (392 pairs): HR 1.56 (1.10-2.22), p = 0.012. Above 1, but the lower limit is close to 1.</a:t>
            </a:r>
          </a:p>
          <a:p>
            <a:r>
              <a:rPr lang="en-US" sz="1400" b="0" dirty="0"/>
              <a:t>Interpretation: a positive balance that persists beyond the first day is associated with higher mortality. Associated, not caused: this is a cohort, and even after matching, sicker patients may still receive more fluid (residual confounding).</a:t>
            </a:r>
          </a:p>
          <a:p>
            <a:r>
              <a:rPr lang="en-US" sz="1400" b="0" dirty="0"/>
              <a:t>Compare with Paper 1: an RCT showing no clear difference in fluid balance. The two designs answer different questions with different strengths; this is the core of Sessions 7-8's appraisal.</a:t>
            </a:r>
          </a:p>
          <a:p>
            <a:r>
              <a:rPr lang="en-US" sz="1400" b="0" dirty="0"/>
              <a:t>Ask: why are the day-1 CI and the day-2 CI different widths? Expected: different numbers of patients and events, and different variability.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the three tools that go with a KM curve.</a:t>
            </a:r>
          </a:p>
          <a:p>
            <a:r>
              <a:rPr lang="en-US" sz="1400" b="0" dirty="0"/>
              <a:t>Log-rank test: answers 'are the curves different?' with a p-value. It cannot adjust for confounders and does not say how big the difference is.</a:t>
            </a:r>
          </a:p>
          <a:p>
            <a:r>
              <a:rPr lang="en-US" sz="1400" b="0" dirty="0"/>
              <a:t>Cox (proportional hazards) regression: gives a hazard ratio, the ratio of the instantaneous death rates between groups, with a 95% CI; null value 1. Like logistic regression, it can include several variables, so the HR can be adjusted. Paper 2 used a (clustered) Cox model on its matched pairs: day-2 HR 2.13 (95% CI 1.48 to 3.06).</a:t>
            </a:r>
          </a:p>
          <a:p>
            <a:r>
              <a:rPr lang="en-US" sz="1400" b="0" dirty="0"/>
              <a:t>Proportional hazards: the Cox model assumes the HR is the same throughout follow-up. If the KM curves cross or converge strongly, one HR is misleading; good papers say how they checked this assumption.</a:t>
            </a:r>
          </a:p>
          <a:p>
            <a:r>
              <a:rPr lang="en-US" sz="1400" b="0" dirty="0"/>
              <a:t>HR versus RR: an HR of 2 means the death rate at any moment is twice as high; it is not exactly 'twice as many deaths by day 28', although it is often close when events are uncommon.</a:t>
            </a:r>
          </a:p>
          <a:p>
            <a:r>
              <a:rPr lang="en-US" sz="1400" b="0" dirty="0"/>
              <a:t>Ask: a paper shows KM curves that cross at day 10 and reports one HR of 1.0. What might be hidden? Expected: early harm and late benefit (or the reverse) cancelling out.</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two classic misuses of correlation.</a:t>
            </a:r>
          </a:p>
          <a:p>
            <a:r>
              <a:rPr lang="en-US" sz="1400" b="0" dirty="0"/>
              <a:t>Left, agreement: a bedside lactate device against the main laboratory (simulated). r = 0.98, so many authors write 'excellent agreement'. But every point lies below the line of perfect agreement: the device reads about 0.9 mmol/L lower. Correlation measures whether values rise together, not whether they are the same. To compare two measurement methods, use a Bland-Altman plot (differences against averages, with limits of agreement).</a:t>
            </a:r>
          </a:p>
          <a:p>
            <a:r>
              <a:rPr lang="en-US" sz="1400" b="0" dirty="0"/>
              <a:t>Right, causation: more fluid on day 1 goes with longer ICU stay (r = 0.85). But within each severity group there is no relationship at all; severity drives both. This is confounding again (Session 4), and the reason we adjust in models (next slides).</a:t>
            </a:r>
          </a:p>
          <a:p>
            <a:r>
              <a:rPr lang="en-US" sz="1400" b="0" dirty="0"/>
              <a:t>Ask: a new point-of-care haemoglobin meter correlates r = 0.95 with the lab. Can you replace the lab test? Expected: not yet; check agreement (bias and limits) first.</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adjustment (previous slides) assumes the exposure has the same effect in everyone. Interaction (also called effect modification, Session 4) means the effect is different in different groups.</a:t>
            </a:r>
          </a:p>
          <a:p>
            <a:r>
              <a:rPr lang="en-US" sz="1400" b="0" dirty="0"/>
              <a:t>Left, no interaction: mortality rises with fluid balance at the same rate in patients with and without ARDS; ARDS patients simply start higher. One adjusted estimate is enough.</a:t>
            </a:r>
          </a:p>
          <a:p>
            <a:r>
              <a:rPr lang="en-US" sz="1400" b="0" dirty="0"/>
              <a:t>Right, interaction: fluid balance hardly matters without ARDS but matters a lot with ARDS. A single 'average' effect would describe nobody. The model includes an interaction term (fluid x ARDS); if it is important, report the effect in each group.</a:t>
            </a:r>
          </a:p>
          <a:p>
            <a:r>
              <a:rPr lang="en-US" sz="1400" b="0" dirty="0"/>
              <a:t>Rules: pre-specify the few interactions you will test, with a clinical reason (multiple comparisons again!), and do not claim a subgroup difference just because one subgroup has p &lt; 0.05 and the other does not; test the interaction itself.</a:t>
            </a:r>
          </a:p>
          <a:p>
            <a:r>
              <a:rPr lang="en-US" sz="1400" b="0" dirty="0"/>
              <a:t>Lines are illustrative.</a:t>
            </a:r>
          </a:p>
          <a:p>
            <a:r>
              <a:rPr lang="en-US" sz="1400" b="0" dirty="0"/>
              <a:t>Ask: confounding or interaction? 'The drug works in women but not in men.' Expected: interaction (effect modification).</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put both running-example papers side by side.</a:t>
            </a:r>
          </a:p>
          <a:p>
            <a:r>
              <a:rPr lang="en-US" sz="1400" b="0" dirty="0"/>
              <a:t>Left, Paper 1 (mean difference, null = 0): 13.2 ml/kg (95% CI -15.2 to 41.6). The interval crosses 0: no statistically significant difference, and very imprecise.</a:t>
            </a:r>
          </a:p>
          <a:p>
            <a:r>
              <a:rPr lang="en-US" sz="1400" b="0" dirty="0"/>
              <a:t>Right, Paper 2, day-2 cohort (ratio, null = 1): HR 2.13 (95% CI 1.48 to 3.06), p &lt; 0.001. The whole interval is above 1: positive fluid balance by day 2 was associated with higher 28-day mortality.</a:t>
            </a:r>
          </a:p>
          <a:p>
            <a:r>
              <a:rPr lang="en-US" sz="1400" b="0" dirty="0"/>
              <a:t>Note the ratio scale is drawn on a log scale: HR 0.5 (halving) and HR 2 (doubling) are equally far from 1. That is why forest plots of ratios look symmetric around 1.</a:t>
            </a:r>
          </a:p>
          <a:p>
            <a:r>
              <a:rPr lang="en-US" sz="1400" b="0" dirty="0"/>
              <a:t>Rule: CI excludes the null value means p &lt; 0.05 (for a 95% CI), and vice versa. The CI tells you everything the p-value does, plus the size and precision.</a:t>
            </a:r>
          </a:p>
          <a:p>
            <a:r>
              <a:rPr lang="en-US" sz="1400" b="0" dirty="0"/>
              <a:t>Ask: if a CI for an HR were 0.95 to 1.40, significant or not? Expected: not significant; it includes 1.</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so far, models EXPLAINED (is fluid associated with death, adjusted for confounders?). Prediction models PREDICT an individual's risk (SOFA, APACHE, sepsis early-warning alerts, machine-learning scores). They are judged differently.</a:t>
            </a:r>
          </a:p>
          <a:p>
            <a:r>
              <a:rPr lang="en-US" sz="1400" b="0" dirty="0"/>
              <a:t>Discrimination (left): does the model give higher risks to patients who die than to those who survive? Measured by the c-statistic (= area under the ROC curve, AUC): 0.5 is a coin toss, 1.0 perfect; here about 0.89 (simulated).</a:t>
            </a:r>
          </a:p>
          <a:p>
            <a:r>
              <a:rPr lang="en-US" sz="1400" b="0" dirty="0"/>
              <a:t>Calibration (middle): when the model predicts 30%, do about 30% die? Points on the diagonal line = well calibrated.</a:t>
            </a:r>
          </a:p>
          <a:p>
            <a:r>
              <a:rPr lang="en-US" sz="1400" b="0" dirty="0"/>
              <a:t>External validation (right): the same model in a new hospital over-predicts risk (points below the line). Case mix, treatments and measurement differ. A model must be tested on patients who were NOT used to build it, ideally elsewhere, before anyone uses it.</a:t>
            </a:r>
          </a:p>
          <a:p>
            <a:r>
              <a:rPr lang="en-US" sz="1400" b="0" dirty="0"/>
              <a:t>A high AUC alone is not enough: a model can rank patients well and still give wrong absolute risks.</a:t>
            </a:r>
          </a:p>
          <a:p>
            <a:r>
              <a:rPr lang="en-US" sz="1400" b="0" dirty="0"/>
              <a:t>Ask: a vendor says its sepsis alert has an AUC of 0.92 'in our development data'. What do you ask? Expected: calibration, and external validation in a setting like ours.</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machine learning (ML) and AI tools are prediction models built with flexible algorithms (random forests, neural networks). Judge them with four questions.</a:t>
            </a:r>
          </a:p>
          <a:p>
            <a:r>
              <a:rPr lang="en-US" sz="1400" b="0" dirty="0"/>
              <a:t>What is it for? Prediction answers 'who is at high risk?', not 'what causes death?'. A variable that predicts well (e.g. being in the ICU at night) need not be a cause. Ask which decision the prediction will change.</a:t>
            </a:r>
          </a:p>
          <a:p>
            <a:r>
              <a:rPr lang="en-US" sz="1400" b="0" dirty="0"/>
              <a:t>Enough data? Flexible methods overfit easily; they need many more events than a regression model. Check how internal validation was done (cross-validation, bootstrapping, a held-out sample).</a:t>
            </a:r>
          </a:p>
          <a:p>
            <a:r>
              <a:rPr lang="en-US" sz="1400" b="0" dirty="0"/>
              <a:t>Does it work? Discrimination and calibration, and above all external validation in a different time or place.</a:t>
            </a:r>
          </a:p>
          <a:p>
            <a:r>
              <a:rPr lang="en-US" sz="1400" b="0" dirty="0"/>
              <a:t>Is it reported properly? TRIPOD+AI is the reporting guideline for prediction models, including AI (on EQUATOR, Sessions 7-8). Look for missing data handling, fairness across groups, and whether the model has been tested for impact on patient outcomes, not just accuracy.</a:t>
            </a:r>
          </a:p>
          <a:p>
            <a:r>
              <a:rPr lang="en-US" sz="1400" b="0" dirty="0"/>
              <a:t>The optional Advanced Modules include building and validating prediction models.</a:t>
            </a:r>
          </a:p>
          <a:p>
            <a:r>
              <a:rPr lang="en-US" sz="1400" b="0" dirty="0"/>
              <a:t>Ask: is an early-warning score with excellent accuracy but no impact study ready for routine use? Expected: not yet; accuracy is not the same as benefit.</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two common ways to handle gaps, shown as a picture. No formulas.</a:t>
            </a:r>
          </a:p>
          <a:p>
            <a:r>
              <a:rPr lang="en-US" sz="1400" b="0" dirty="0"/>
              <a:t>Complete-case analysis (top): use only patients with no missing values in the variables analysed. Simple and the default in most software, but you lose patients (here 3 of 5 rows) and the answer is biased unless data are MCAR. With many variables, small gaps in each add up to large losses.</a:t>
            </a:r>
          </a:p>
          <a:p>
            <a:r>
              <a:rPr lang="en-US" sz="1400" b="0" dirty="0"/>
              <a:t>Multiple imputation (bottom), the idea in three steps: 1. Fill each gap several times (here 5) with plausible values predicted from the other recorded variables, each time with a little random variation. 2. Analyse each completed dataset in the usual way. 3. Pool the results into one estimate whose CI includes the extra uncertainty from not knowing the missing values.</a:t>
            </a:r>
          </a:p>
          <a:p>
            <a:r>
              <a:rPr lang="en-US" sz="1400" b="0" dirty="0"/>
              <a:t>Works well when data are MAR and the imputation model includes the variables that explain the missingness. It is not 'making up data': it is honest about what we do not know.</a:t>
            </a:r>
          </a:p>
          <a:p>
            <a:r>
              <a:rPr lang="en-US" sz="1400" b="0" dirty="0"/>
              <a:t>Numbers are illustrative. In 6.4 you see it run on the course dataset; your job is to recognise it and ask whether it was appropriate.</a:t>
            </a:r>
          </a:p>
          <a:p>
            <a:r>
              <a:rPr lang="en-US" sz="1400" b="0" dirty="0"/>
              <a:t>Ask: a paper excludes 30% of patients for missing data and does a complete-case analysis only. What do you ask? Expected: who was excluded, were they different, and was there a sensitivity analysis with imputation?</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what a good paper (and your proposal) says about missing data.</a:t>
            </a:r>
          </a:p>
          <a:p>
            <a:r>
              <a:rPr lang="en-US" sz="1400" b="0" dirty="0"/>
              <a:t>Report: the number of missing values for each variable (Table 1 'n' column or a footnote) and, for the outcome, a flow diagram showing who was lost and why (CONSORT, STROBE, Sessions 7-8).</a:t>
            </a:r>
          </a:p>
          <a:p>
            <a:r>
              <a:rPr lang="en-US" sz="1400" b="0" dirty="0"/>
              <a:t>Compare: patients with complete data against those with gaps on baseline characteristics. Big differences suggest the gaps are not random.</a:t>
            </a:r>
          </a:p>
          <a:p>
            <a:r>
              <a:rPr lang="en-US" sz="1400" b="0" dirty="0"/>
              <a:t>Sensitivity analysis: repeat the main analysis in a different way: complete-case vs multiple imputation; for a missing binary outcome, a best case (all missing survived) and worst case (all missing died). If the conclusion holds in all versions, it is robust. If it flips, say so.</a:t>
            </a:r>
          </a:p>
          <a:p>
            <a:r>
              <a:rPr lang="en-US" sz="1400" b="0" dirty="0"/>
              <a:t>Plan: all of this goes in the SAP and in Part 3 of your proposal today: expected missingness, prevention (5.1), and how missing data will be reported.</a:t>
            </a:r>
          </a:p>
          <a:p>
            <a:r>
              <a:rPr lang="en-US" sz="1400" b="0" dirty="0"/>
              <a:t>Ask: Paper 1 analysed 48 of 50 randomised patients; two control patients withdrew. Is that a problem? Expected: small loss (4%), reported transparently; a sensitivity analysis would still be good practice.</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Copyright slide - leave on screen while participants leave.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 Id="rId4" Type="http://schemas.openxmlformats.org/officeDocument/2006/relationships/image" Target="../media/image2.pn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 Id="rId4" Type="http://schemas.openxmlformats.org/officeDocument/2006/relationships/image" Target="../media/image3.pn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 Id="rId4" Type="http://schemas.openxmlformats.org/officeDocument/2006/relationships/image" Target="../media/image4.pn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 Id="rId4" Type="http://schemas.openxmlformats.org/officeDocument/2006/relationships/image" Target="../media/image5.pn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 Id="rId4" Type="http://schemas.openxmlformats.org/officeDocument/2006/relationships/image" Target="../media/image6.pn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 Id="rId4" Type="http://schemas.openxmlformats.org/officeDocument/2006/relationships/image" Target="../media/image7.pn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 Id="rId4" Type="http://schemas.openxmlformats.org/officeDocument/2006/relationships/image" Target="../media/image8.pn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 Id="rId4" Type="http://schemas.openxmlformats.org/officeDocument/2006/relationships/image" Target="../media/image9.pn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 Id="rId4" Type="http://schemas.openxmlformats.org/officeDocument/2006/relationships/image" Target="../media/image10.pn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 Id="rId4" Type="http://schemas.openxmlformats.org/officeDocument/2006/relationships/image" Target="../media/image11.pn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 Id="rId4" Type="http://schemas.openxmlformats.org/officeDocument/2006/relationships/image" Target="../media/image12.pn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 Id="rId4" Type="http://schemas.openxmlformats.org/officeDocument/2006/relationships/image" Target="../media/image13.pn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 Id="rId4" Type="http://schemas.openxmlformats.org/officeDocument/2006/relationships/image" Target="../media/image14.pn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 Id="rId4" Type="http://schemas.openxmlformats.org/officeDocument/2006/relationships/image" Target="../media/image15.pn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 Id="rId4" Type="http://schemas.openxmlformats.org/officeDocument/2006/relationships/image" Target="../media/image16.pn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 Id="rId4" Type="http://schemas.openxmlformats.org/officeDocument/2006/relationships/image" Target="../media/image17.pn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 Id="rId4" Type="http://schemas.openxmlformats.org/officeDocument/2006/relationships/image" Target="../media/image18.pn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 Id="rId4" Type="http://schemas.openxmlformats.org/officeDocument/2006/relationships/image" Target="../media/image19.pn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 Id="rId4" Type="http://schemas.openxmlformats.org/officeDocument/2006/relationships/image" Target="../media/image20.pn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 Id="rId4" Type="http://schemas.openxmlformats.org/officeDocument/2006/relationships/image" Target="../media/image21.pn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 Id="rId4" Type="http://schemas.openxmlformats.org/officeDocument/2006/relationships/image" Target="../media/image22.pn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 Id="rId4" Type="http://schemas.openxmlformats.org/officeDocument/2006/relationships/image" Target="../media/image23.pn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 Id="rId4" Type="http://schemas.openxmlformats.org/officeDocument/2006/relationships/image" Target="../media/image24.pn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 Id="rId4" Type="http://schemas.openxmlformats.org/officeDocument/2006/relationships/image" Target="../media/image25.pn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 Id="rId4" Type="http://schemas.openxmlformats.org/officeDocument/2006/relationships/image" Target="../media/image26.png"/>
</Relationships>
</file>

<file path=ppt/slides/_rels/slide5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0.xml"/>
<Relationship Id="rId3" Type="http://schemas.openxmlformats.org/officeDocument/2006/relationships/image" Target="../media/image1.jpg"/>
<Relationship Id="rId4" Type="http://schemas.openxmlformats.org/officeDocument/2006/relationships/image" Target="../media/image27.png"/>
</Relationships>
</file>

<file path=ppt/slides/_rels/slide5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1.xml"/>
<Relationship Id="rId3" Type="http://schemas.openxmlformats.org/officeDocument/2006/relationships/image" Target="../media/image1.jpg"/>
<Relationship Id="rId4" Type="http://schemas.openxmlformats.org/officeDocument/2006/relationships/image" Target="../media/image28.png"/>
</Relationships>
</file>

<file path=ppt/slides/_rels/slide5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2.xml"/>
<Relationship Id="rId3" Type="http://schemas.openxmlformats.org/officeDocument/2006/relationships/image" Target="../media/image1.jpg"/>
</Relationships>
</file>

<file path=ppt/slides/_rels/slide5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3.xml"/>
<Relationship Id="rId3" Type="http://schemas.openxmlformats.org/officeDocument/2006/relationships/image" Target="../media/image1.jpg"/>
<Relationship Id="rId4" Type="http://schemas.openxmlformats.org/officeDocument/2006/relationships/image" Target="../media/image29.png"/>
</Relationships>
</file>

<file path=ppt/slides/_rels/slide5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4.xml"/>
<Relationship Id="rId3" Type="http://schemas.openxmlformats.org/officeDocument/2006/relationships/image" Target="../media/image1.jpg"/>
</Relationships>
</file>

<file path=ppt/slides/_rels/slide5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5.xml"/>
<Relationship Id="rId3" Type="http://schemas.openxmlformats.org/officeDocument/2006/relationships/image" Target="../media/image1.jpg"/>
<Relationship Id="rId4" Type="http://schemas.openxmlformats.org/officeDocument/2006/relationships/image" Target="../media/image30.png"/>
</Relationships>
</file>

<file path=ppt/slides/_rels/slide5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6.xml"/>
<Relationship Id="rId3" Type="http://schemas.openxmlformats.org/officeDocument/2006/relationships/image" Target="../media/image1.jpg"/>
<Relationship Id="rId4" Type="http://schemas.openxmlformats.org/officeDocument/2006/relationships/image" Target="../media/image31.png"/>
</Relationships>
</file>

<file path=ppt/slides/_rels/slide5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7.xml"/>
<Relationship Id="rId3" Type="http://schemas.openxmlformats.org/officeDocument/2006/relationships/image" Target="../media/image1.jpg"/>
<Relationship Id="rId4" Type="http://schemas.openxmlformats.org/officeDocument/2006/relationships/image" Target="../media/image32.png"/>
</Relationships>
</file>

<file path=ppt/slides/_rels/slide5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8.xml"/>
<Relationship Id="rId3" Type="http://schemas.openxmlformats.org/officeDocument/2006/relationships/image" Target="../media/image1.jpg"/>
<Relationship Id="rId4" Type="http://schemas.openxmlformats.org/officeDocument/2006/relationships/image" Target="../media/image33.png"/>
</Relationships>
</file>

<file path=ppt/slides/_rels/slide5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9.xml"/>
<Relationship Id="rId3" Type="http://schemas.openxmlformats.org/officeDocument/2006/relationships/image" Target="../media/image1.jpg"/>
</Relationships>
</file>

<file path=ppt/slides/_rels/slide6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0.xml"/>
<Relationship Id="rId3" Type="http://schemas.openxmlformats.org/officeDocument/2006/relationships/image" Target="../media/image1.jpg"/>
<Relationship Id="rId4" Type="http://schemas.openxmlformats.org/officeDocument/2006/relationships/image" Target="../media/image34.png"/>
</Relationships>
</file>

<file path=ppt/slides/_rels/slide6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1.xml"/>
<Relationship Id="rId3" Type="http://schemas.openxmlformats.org/officeDocument/2006/relationships/image" Target="../media/image1.jpg"/>
</Relationships>
</file>

<file path=ppt/slides/_rels/slide6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2.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Century Gothic"/>
                <a:cs typeface="Century Gothic"/>
              </a:rPr>
              <a:t>Session 6 · Analyse: from sample to answer</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Century Gothic"/>
                <a:cs typeface="Century Gothic"/>
              </a:rPr>
              <a:t>Weekend 3 · Sunday</a:t>
            </a:r>
          </a:p>
          <a:p>
            <a:pPr>
              <a:buNone/>
            </a:pPr>
            <a:endParaRPr sz="800"/>
          </a:p>
          <a:p>
            <a:pPr marL="274320" indent="-274320" algn="l">
              <a:spcBef>
                <a:spcPts val="440"/>
              </a:spcBef>
              <a:buFont typeface="Arial"/>
              <a:buChar char="•"/>
            </a:pPr>
            <a:r>
              <a:rPr lang="en-US" sz="1900" dirty="0">
                <a:solidFill>
                  <a:srgbClr val="000000"/>
                </a:solidFill>
                <a:latin typeface="Century Gothic"/>
                <a:cs typeface="Century Gothic"/>
              </a:rPr>
              <a:t>Recap quiz on Session 5 (10 min)</a:t>
            </a:r>
          </a:p>
          <a:p>
            <a:pPr marL="274320" indent="-274320" algn="l">
              <a:spcBef>
                <a:spcPts val="440"/>
              </a:spcBef>
              <a:buFont typeface="Arial"/>
              <a:buChar char="•"/>
            </a:pPr>
            <a:r>
              <a:rPr lang="en-US" sz="1900" dirty="0">
                <a:solidFill>
                  <a:srgbClr val="000000"/>
                </a:solidFill>
                <a:latin typeface="Century Gothic"/>
                <a:cs typeface="Century Gothic"/>
              </a:rPr>
              <a:t>6.1 From sample to population: CI, p-value, power, sample size, choosing a test</a:t>
            </a:r>
          </a:p>
          <a:p>
            <a:pPr marL="274320" indent="-274320" algn="l">
              <a:spcBef>
                <a:spcPts val="440"/>
              </a:spcBef>
              <a:buFont typeface="Arial"/>
              <a:buChar char="•"/>
            </a:pPr>
            <a:r>
              <a:rPr lang="en-US" sz="1900" dirty="0">
                <a:solidFill>
                  <a:srgbClr val="000000"/>
                </a:solidFill>
                <a:latin typeface="Century Gothic"/>
                <a:cs typeface="Century Gothic"/>
              </a:rPr>
              <a:t>6.2 Compare groups in the course dataset (live R demo)</a:t>
            </a:r>
          </a:p>
          <a:p>
            <a:pPr marL="274320" indent="-274320" algn="l">
              <a:spcBef>
                <a:spcPts val="440"/>
              </a:spcBef>
              <a:buFont typeface="Arial"/>
              <a:buChar char="•"/>
            </a:pPr>
            <a:r>
              <a:rPr lang="en-US" sz="1900" dirty="0">
                <a:solidFill>
                  <a:srgbClr val="000000"/>
                </a:solidFill>
                <a:latin typeface="Century Gothic"/>
                <a:cs typeface="Century Gothic"/>
              </a:rPr>
              <a:t>6.3 Relationships and models: regression, Kaplan-Meier and Cox</a:t>
            </a:r>
          </a:p>
          <a:p>
            <a:pPr marL="274320" indent="-274320" algn="l">
              <a:spcBef>
                <a:spcPts val="440"/>
              </a:spcBef>
              <a:buFont typeface="Arial"/>
              <a:buChar char="•"/>
            </a:pPr>
            <a:r>
              <a:rPr lang="en-US" sz="1900" dirty="0">
                <a:solidFill>
                  <a:srgbClr val="000000"/>
                </a:solidFill>
                <a:latin typeface="Century Gothic"/>
                <a:cs typeface="Century Gothic"/>
              </a:rPr>
              <a:t>6.4 Model the course dataset: adjusted OR, Cox HR, missing data, the SAP</a:t>
            </a:r>
          </a:p>
          <a:p>
            <a:pPr marL="274320" indent="-274320" algn="l">
              <a:spcBef>
                <a:spcPts val="440"/>
              </a:spcBef>
              <a:buFont typeface="Arial"/>
              <a:buChar char="•"/>
            </a:pPr>
            <a:r>
              <a:rPr lang="en-US" sz="1900" dirty="0">
                <a:solidFill>
                  <a:srgbClr val="000000"/>
                </a:solidFill>
                <a:latin typeface="Century Gothic"/>
                <a:cs typeface="Century Gothic"/>
              </a:rPr>
              <a:t>Proposal builder 6: sample size, analysis plan, missing-data plan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Recap quiz: Session 5 in three questions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10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Q1. ICU length of stay in 300 patients is right-skewed. Which summary goes in Table 1?</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Q2. A CRF item reads 'Lactate: ____'. Name two things missing.</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Q3. In the raw FLUID-ICU data, one age was 210. Which check catches it, and what goes in the cleaning log?</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Answer alone (2 min), then compare with your neighbour (2 min)</a:t>
            </a:r>
          </a:p>
        </p:txBody>
      </p:sp>
      <p:sp>
        <p:nvSpPr>
          <p:cNvPr id="52" name="Side"/>
          <p:cNvSpPr/>
          <p:nvPr/>
        </p:nvSpPr>
        <p:spPr>
          <a:xfrm>
            <a:off x="7423760" y="1720000"/>
            <a:ext cx="4311040" cy="19299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Century Gothic"/>
                <a:cs typeface="Century Gothic"/>
              </a:rPr>
              <a:t>Answers (reveal after)</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Q1: median (IQR)</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Q2: unit (mmol/L), time point, 'not done' option</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Q3: range check; the value, the correction, the reason, who and when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Everyone back on track with data types, CRF items and cleaning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6.1 From sample to population, without fear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We study a few patients to learn about many.</a:t>
            </a:r>
          </a:p>
          <a:p>
            <a:pPr marL="0" indent="0" algn="ctr">
              <a:spcBef>
                <a:spcPts val="1200"/>
              </a:spcBef>
              <a:buNone/>
            </a:pPr>
            <a:r>
              <a:rPr lang="en-US" sz="1900" i="1" dirty="0">
                <a:solidFill>
                  <a:srgbClr val="595959"/>
                </a:solidFill>
                <a:latin typeface="Century Gothic"/>
                <a:cs typeface="Century Gothic"/>
              </a:rPr>
              <a:t>6.1 From sample to population  |  40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dance of the confidence intervals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About 95 of 100 such intervals capture the truth; we never know which ones.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p-value in one picture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p = how surprising our result would be if there were truly no difference.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Five common p-value mistakes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Each of these sentences appears in published papers. All are wrong.</a:t>
            </a:r>
          </a:p>
        </p:txBody>
      </p:sp>
      <p:sp>
        <p:nvSpPr>
          <p:cNvPr id="70" name="CardHead"/>
          <p:cNvSpPr/>
          <p:nvPr/>
        </p:nvSpPr>
        <p:spPr>
          <a:xfrm>
            <a:off x="457200" y="2191590"/>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1. 'Chance of H0'</a:t>
            </a:r>
          </a:p>
        </p:txBody>
      </p:sp>
      <p:sp>
        <p:nvSpPr>
          <p:cNvPr id="71" name="CardBody"/>
          <p:cNvSpPr/>
          <p:nvPr/>
        </p:nvSpPr>
        <p:spPr>
          <a:xfrm>
            <a:off x="45720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p is NOT the chance</a:t>
            </a:r>
          </a:p>
          <a:p>
            <a:pPr marL="0" indent="0" algn="l">
              <a:lnSpc>
                <a:spcPct val="104000"/>
              </a:lnSpc>
              <a:spcBef>
                <a:spcPts val="400"/>
              </a:spcBef>
              <a:buNone/>
            </a:pPr>
            <a:r>
              <a:rPr lang="en-US" sz="1450" dirty="0">
                <a:solidFill>
                  <a:srgbClr val="000000"/>
                </a:solidFill>
                <a:latin typeface="Century Gothic"/>
                <a:cs typeface="Century Gothic"/>
              </a:rPr>
              <a:t>that there is no effect</a:t>
            </a:r>
          </a:p>
        </p:txBody>
      </p:sp>
      <p:sp>
        <p:nvSpPr>
          <p:cNvPr id="72" name="CardHead"/>
          <p:cNvSpPr/>
          <p:nvPr/>
        </p:nvSpPr>
        <p:spPr>
          <a:xfrm>
            <a:off x="2752720" y="2191590"/>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2. 'Big effect'</a:t>
            </a:r>
          </a:p>
        </p:txBody>
      </p:sp>
      <p:sp>
        <p:nvSpPr>
          <p:cNvPr id="73" name="CardBody"/>
          <p:cNvSpPr/>
          <p:nvPr/>
        </p:nvSpPr>
        <p:spPr>
          <a:xfrm>
            <a:off x="275272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Small p is NOT</a:t>
            </a:r>
          </a:p>
          <a:p>
            <a:pPr marL="0" indent="0" algn="l">
              <a:lnSpc>
                <a:spcPct val="104000"/>
              </a:lnSpc>
              <a:spcBef>
                <a:spcPts val="400"/>
              </a:spcBef>
              <a:buNone/>
            </a:pPr>
            <a:r>
              <a:rPr lang="en-US" sz="1450" dirty="0">
                <a:solidFill>
                  <a:srgbClr val="000000"/>
                </a:solidFill>
                <a:latin typeface="Century Gothic"/>
                <a:cs typeface="Century Gothic"/>
              </a:rPr>
              <a:t>a big or important effect</a:t>
            </a:r>
          </a:p>
        </p:txBody>
      </p:sp>
      <p:sp>
        <p:nvSpPr>
          <p:cNvPr id="74" name="CardHead"/>
          <p:cNvSpPr/>
          <p:nvPr/>
        </p:nvSpPr>
        <p:spPr>
          <a:xfrm>
            <a:off x="5048240" y="2191590"/>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3. 'No effect'</a:t>
            </a:r>
          </a:p>
        </p:txBody>
      </p:sp>
      <p:sp>
        <p:nvSpPr>
          <p:cNvPr id="75" name="CardBody"/>
          <p:cNvSpPr/>
          <p:nvPr/>
        </p:nvSpPr>
        <p:spPr>
          <a:xfrm>
            <a:off x="504824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p &gt; 0.05 is NOT</a:t>
            </a:r>
          </a:p>
          <a:p>
            <a:pPr marL="0" indent="0" algn="l">
              <a:lnSpc>
                <a:spcPct val="104000"/>
              </a:lnSpc>
              <a:spcBef>
                <a:spcPts val="400"/>
              </a:spcBef>
              <a:buNone/>
            </a:pPr>
            <a:r>
              <a:rPr lang="en-US" sz="1450" dirty="0">
                <a:solidFill>
                  <a:srgbClr val="000000"/>
                </a:solidFill>
                <a:latin typeface="Century Gothic"/>
                <a:cs typeface="Century Gothic"/>
              </a:rPr>
              <a:t>proof of no effect</a:t>
            </a:r>
          </a:p>
        </p:txBody>
      </p:sp>
      <p:sp>
        <p:nvSpPr>
          <p:cNvPr id="76" name="CardHead"/>
          <p:cNvSpPr/>
          <p:nvPr/>
        </p:nvSpPr>
        <p:spPr>
          <a:xfrm>
            <a:off x="7343760" y="2191590"/>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4. 'A trend'</a:t>
            </a:r>
          </a:p>
        </p:txBody>
      </p:sp>
      <p:sp>
        <p:nvSpPr>
          <p:cNvPr id="77" name="CardBody"/>
          <p:cNvSpPr/>
          <p:nvPr/>
        </p:nvSpPr>
        <p:spPr>
          <a:xfrm>
            <a:off x="734376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p = 0.08 is NOT</a:t>
            </a:r>
          </a:p>
          <a:p>
            <a:pPr marL="0" indent="0" algn="l">
              <a:lnSpc>
                <a:spcPct val="104000"/>
              </a:lnSpc>
              <a:spcBef>
                <a:spcPts val="400"/>
              </a:spcBef>
              <a:buNone/>
            </a:pPr>
            <a:r>
              <a:rPr lang="en-US" sz="1450" dirty="0">
                <a:solidFill>
                  <a:srgbClr val="000000"/>
                </a:solidFill>
                <a:latin typeface="Century Gothic"/>
                <a:cs typeface="Century Gothic"/>
              </a:rPr>
              <a:t>'almost significant'</a:t>
            </a:r>
          </a:p>
        </p:txBody>
      </p:sp>
      <p:sp>
        <p:nvSpPr>
          <p:cNvPr id="78" name="CardHead"/>
          <p:cNvSpPr/>
          <p:nvPr/>
        </p:nvSpPr>
        <p:spPr>
          <a:xfrm>
            <a:off x="9639280" y="2191590"/>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5. 'Only p'</a:t>
            </a:r>
          </a:p>
        </p:txBody>
      </p:sp>
      <p:sp>
        <p:nvSpPr>
          <p:cNvPr id="79" name="CardBody"/>
          <p:cNvSpPr/>
          <p:nvPr/>
        </p:nvSpPr>
        <p:spPr>
          <a:xfrm>
            <a:off x="963928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p alone is NOT enough:</a:t>
            </a:r>
          </a:p>
          <a:p>
            <a:pPr marL="0" indent="0" algn="l">
              <a:lnSpc>
                <a:spcPct val="104000"/>
              </a:lnSpc>
              <a:spcBef>
                <a:spcPts val="400"/>
              </a:spcBef>
              <a:buNone/>
            </a:pPr>
            <a:r>
              <a:rPr lang="en-US" sz="1450" dirty="0">
                <a:solidFill>
                  <a:srgbClr val="000000"/>
                </a:solidFill>
                <a:latin typeface="Century Gothic"/>
                <a:cs typeface="Century Gothic"/>
              </a:rPr>
              <a:t>give effect + 95% CI</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Report the effect size with its 95% CI; the p-value is a supporting actor.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Check your understanding: CI and p-value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'HR 2.13 (95% CI 1.48-3.06)': the data are compatible with a true HR from about 1.5 to 3.1. True or false?</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'p = 0.42, so the two strategies are equivalent.' True or false?</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'p = 0.03 means a 3% chance that there is no effect.' True or false?</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'A larger study usually gives a narrower CI.' True or false?</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Century Gothic"/>
                <a:cs typeface="Century Gothic"/>
              </a:rPr>
              <a:t>Answers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True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False: we do not know</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False: p assumes no effect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True</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Everyone can read a CI and avoid the classic p-value mistakes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Type I and type II errors: the fire alarm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014367" y="1150000"/>
            <a:ext cx="10163265"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Alpha = risk of a false alarm; power = chance of detecting a real effect.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Sample size: bigger effect, less noise = fewer patients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Sample size depends on the effect you hope to detect and on the noise.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Live demo: an online sample-size calculator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LIVE DEMO   |   8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B5651D"/>
                </a:solidFill>
                <a:latin typeface="Century Gothic"/>
                <a:cs typeface="Century Gothic"/>
              </a:rPr>
              <a:t>1.  </a:t>
            </a:r>
            <a:r>
              <a:rPr lang="en-US" sz="1650" dirty="0">
                <a:solidFill>
                  <a:srgbClr val="000000"/>
                </a:solidFill>
                <a:latin typeface="Century Gothic"/>
                <a:cs typeface="Century Gothic"/>
              </a:rPr>
              <a:t>Open a free online calculator (for example OpenEpi) in the browser</a:t>
            </a:r>
          </a:p>
          <a:p>
            <a:pPr marL="380000" indent="-380000" algn="l">
              <a:lnSpc>
                <a:spcPct val="104000"/>
              </a:lnSpc>
              <a:spcBef>
                <a:spcPts val="450"/>
              </a:spcBef>
              <a:buNone/>
            </a:pPr>
            <a:r>
              <a:rPr lang="en-US" sz="1650" b="1" dirty="0">
                <a:solidFill>
                  <a:srgbClr val="B5651D"/>
                </a:solidFill>
                <a:latin typeface="Century Gothic"/>
                <a:cs typeface="Century Gothic"/>
              </a:rPr>
              <a:t>2.  </a:t>
            </a:r>
            <a:r>
              <a:rPr lang="en-US" sz="1650" dirty="0">
                <a:solidFill>
                  <a:srgbClr val="000000"/>
                </a:solidFill>
                <a:latin typeface="Century Gothic"/>
                <a:cs typeface="Century Gothic"/>
              </a:rPr>
              <a:t>Two means: 70 vs 40 ml/kg, SD 35, power 80%, alpha 5% -&gt; 22 per group</a:t>
            </a:r>
          </a:p>
          <a:p>
            <a:pPr marL="380000" indent="-380000" algn="l">
              <a:lnSpc>
                <a:spcPct val="104000"/>
              </a:lnSpc>
              <a:spcBef>
                <a:spcPts val="450"/>
              </a:spcBef>
              <a:buNone/>
            </a:pPr>
            <a:r>
              <a:rPr lang="en-US" sz="1650" b="1" dirty="0">
                <a:solidFill>
                  <a:srgbClr val="B5651D"/>
                </a:solidFill>
                <a:latin typeface="Century Gothic"/>
                <a:cs typeface="Century Gothic"/>
              </a:rPr>
              <a:t>3.  </a:t>
            </a:r>
            <a:r>
              <a:rPr lang="en-US" sz="1650" dirty="0">
                <a:solidFill>
                  <a:srgbClr val="000000"/>
                </a:solidFill>
                <a:latin typeface="Century Gothic"/>
                <a:cs typeface="Century Gothic"/>
              </a:rPr>
              <a:t>Two proportions: mortality 40% vs 30% -&gt; about 356 per group</a:t>
            </a:r>
          </a:p>
          <a:p>
            <a:pPr marL="380000" indent="-380000" algn="l">
              <a:lnSpc>
                <a:spcPct val="104000"/>
              </a:lnSpc>
              <a:spcBef>
                <a:spcPts val="450"/>
              </a:spcBef>
              <a:buNone/>
            </a:pPr>
            <a:r>
              <a:rPr lang="en-US" sz="1650" b="1" dirty="0">
                <a:solidFill>
                  <a:srgbClr val="B5651D"/>
                </a:solidFill>
                <a:latin typeface="Century Gothic"/>
                <a:cs typeface="Century Gothic"/>
              </a:rPr>
              <a:t>4.  </a:t>
            </a:r>
            <a:r>
              <a:rPr lang="en-US" sz="1650" dirty="0">
                <a:solidFill>
                  <a:srgbClr val="000000"/>
                </a:solidFill>
                <a:latin typeface="Century Gothic"/>
                <a:cs typeface="Century Gothic"/>
              </a:rPr>
              <a:t>Change one input at a time and watch the number move</a:t>
            </a:r>
          </a:p>
          <a:p>
            <a:pPr marL="380000" indent="-380000" algn="l">
              <a:lnSpc>
                <a:spcPct val="104000"/>
              </a:lnSpc>
              <a:spcBef>
                <a:spcPts val="450"/>
              </a:spcBef>
              <a:buNone/>
            </a:pPr>
            <a:r>
              <a:rPr lang="en-US" sz="1650" b="1" dirty="0">
                <a:solidFill>
                  <a:srgbClr val="B5651D"/>
                </a:solidFill>
                <a:latin typeface="Century Gothic"/>
                <a:cs typeface="Century Gothic"/>
              </a:rPr>
              <a:t>5.  </a:t>
            </a:r>
            <a:r>
              <a:rPr lang="en-US" sz="1650" dirty="0">
                <a:solidFill>
                  <a:srgbClr val="000000"/>
                </a:solidFill>
                <a:latin typeface="Century Gothic"/>
                <a:cs typeface="Century Gothic"/>
              </a:rPr>
              <a:t>Offline fallback: the Neudata sample-size spreadsheet</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B5651D"/>
                </a:solidFill>
                <a:latin typeface="Century Gothic"/>
                <a:cs typeface="Century Gothic"/>
              </a:rPr>
              <a:t>What changes n?</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Smaller effect: n goes UP</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More noise (SD): n goes UP</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More power: n goes UP</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Add 10-20% for drop-outs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l">
              <a:buNone/>
            </a:pPr>
            <a:r>
              <a:rPr lang="en-US" sz="1300" b="1" dirty="0">
                <a:solidFill>
                  <a:srgbClr val="B5651D"/>
                </a:solidFill>
                <a:latin typeface="Century Gothic"/>
                <a:cs typeface="Century Gothic"/>
              </a:rPr>
              <a:t>OUTPUT   </a:t>
            </a:r>
            <a:r>
              <a:rPr lang="en-US" sz="1500" dirty="0">
                <a:solidFill>
                  <a:srgbClr val="000000"/>
                </a:solidFill>
                <a:latin typeface="Century Gothic"/>
                <a:cs typeface="Century Gothic"/>
              </a:rPr>
              <a:t>Groups know which 4 numbers they need for their own sample-size statement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Choosing a test: one decision chart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Outcome type + shape + paired or not = the right test.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Paired or unpaired? Same patients or different patients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Same patients measured twice = paired test; different patients = unpaired.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Multiple comparisons: the jelly-bean problem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Century Gothic"/>
                <a:cs typeface="Century Gothic"/>
              </a:rPr>
              <a:t>What to do</a:t>
            </a:r>
          </a:p>
          <a:p>
            <a:pPr marL="274320" indent="-274320" algn="l">
              <a:spcBef>
                <a:spcPts val="440"/>
              </a:spcBef>
              <a:buFont typeface="Arial"/>
              <a:buChar char="•"/>
            </a:pPr>
            <a:r>
              <a:rPr lang="en-US" sz="1450" dirty="0">
                <a:solidFill>
                  <a:srgbClr val="000000"/>
                </a:solidFill>
                <a:latin typeface="Century Gothic"/>
                <a:cs typeface="Century Gothic"/>
              </a:rPr>
              <a:t>Pre-specify ONE primary outcome</a:t>
            </a:r>
          </a:p>
          <a:p>
            <a:pPr marL="274320" indent="-274320" algn="l">
              <a:spcBef>
                <a:spcPts val="440"/>
              </a:spcBef>
              <a:buFont typeface="Arial"/>
              <a:buChar char="•"/>
            </a:pPr>
            <a:r>
              <a:rPr lang="en-US" sz="1450" dirty="0">
                <a:solidFill>
                  <a:srgbClr val="000000"/>
                </a:solidFill>
                <a:latin typeface="Century Gothic"/>
                <a:cs typeface="Century Gothic"/>
              </a:rPr>
              <a:t>Label the rest as exploratory</a:t>
            </a:r>
          </a:p>
          <a:p>
            <a:pPr marL="274320" indent="-274320" algn="l">
              <a:spcBef>
                <a:spcPts val="440"/>
              </a:spcBef>
              <a:buFont typeface="Arial"/>
              <a:buChar char="•"/>
            </a:pPr>
            <a:r>
              <a:rPr lang="en-US" sz="1450" dirty="0">
                <a:solidFill>
                  <a:srgbClr val="000000"/>
                </a:solidFill>
                <a:latin typeface="Century Gothic"/>
                <a:cs typeface="Century Gothic"/>
              </a:rPr>
              <a:t>Adjust, e.g. Bonferroni: 0.05 / number of tests</a:t>
            </a:r>
          </a:p>
          <a:p>
            <a:pPr marL="274320" indent="-274320" algn="l">
              <a:spcBef>
                <a:spcPts val="440"/>
              </a:spcBef>
              <a:buFont typeface="Arial"/>
              <a:buChar char="•"/>
            </a:pPr>
            <a:r>
              <a:rPr lang="en-US" sz="1450" dirty="0">
                <a:solidFill>
                  <a:srgbClr val="000000"/>
                </a:solidFill>
                <a:latin typeface="Century Gothic"/>
                <a:cs typeface="Century Gothic"/>
              </a:rPr>
              <a:t>Report every test you ran</a:t>
            </a:r>
          </a:p>
        </p:txBody>
      </p:sp>
      <p:pic>
        <p:nvPicPr>
          <p:cNvPr id="25" name="Figure"/>
          <p:cNvPicPr>
            <a:picLocks noChangeAspect="1"/>
          </p:cNvPicPr>
          <p:nvPr/>
        </p:nvPicPr>
        <p:blipFill>
          <a:blip r:embed="rId4"/>
          <a:stretch>
            <a:fillRect/>
          </a:stretch>
        </p:blipFill>
        <p:spPr>
          <a:xfrm>
            <a:off x="4307200" y="1150000"/>
            <a:ext cx="622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Test 20 things and one will be 'significant' by chance alone.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Check your understanding: which test?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ICU stay (skewed) in positive vs negative fluid balance groups</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28-day death (yes/no) in 300 vs 300 patients</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Lactate at admission and 6 h later in the same 40 patients</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Dialysis (yes/no): 2 of 24 vs 5 of 24 patients</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Century Gothic"/>
                <a:cs typeface="Century Gothic"/>
              </a:rPr>
              <a:t>Answers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Mann-Whitney U</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Chi-square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Paired t-test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Fisher's exact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Everyone can use the decision chart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6.2 Compare groups in the course dataset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Choose the test from the outcome, then read the result as an effect with a CI.</a:t>
            </a:r>
          </a:p>
          <a:p>
            <a:pPr marL="0" indent="0" algn="ctr">
              <a:spcBef>
                <a:spcPts val="1200"/>
              </a:spcBef>
              <a:buNone/>
            </a:pPr>
            <a:r>
              <a:rPr lang="en-US" sz="1900" i="1" dirty="0">
                <a:solidFill>
                  <a:srgbClr val="595959"/>
                </a:solidFill>
                <a:latin typeface="Century Gothic"/>
                <a:cs typeface="Century Gothic"/>
              </a:rPr>
              <a:t>6.2 Compare groups in the course dataset  |  20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Live demo: comparing two groups in 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LIVE DEMO   |   6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B5651D"/>
                </a:solidFill>
                <a:latin typeface="Century Gothic"/>
                <a:cs typeface="Century Gothic"/>
              </a:rPr>
              <a:t>1.  </a:t>
            </a:r>
            <a:r>
              <a:rPr lang="en-US" sz="1650" dirty="0">
                <a:solidFill>
                  <a:srgbClr val="000000"/>
                </a:solidFill>
                <a:latin typeface="Century Gothic"/>
                <a:cs typeface="Century Gothic"/>
              </a:rPr>
              <a:t>Open 03_compare.R</a:t>
            </a:r>
          </a:p>
          <a:p>
            <a:pPr marL="380000" indent="-380000" algn="l">
              <a:lnSpc>
                <a:spcPct val="104000"/>
              </a:lnSpc>
              <a:spcBef>
                <a:spcPts val="450"/>
              </a:spcBef>
              <a:buNone/>
            </a:pPr>
            <a:r>
              <a:rPr lang="en-US" sz="1650" b="1" dirty="0">
                <a:solidFill>
                  <a:srgbClr val="B5651D"/>
                </a:solidFill>
                <a:latin typeface="Century Gothic"/>
                <a:cs typeface="Century Gothic"/>
              </a:rPr>
              <a:t>2.  </a:t>
            </a:r>
            <a:r>
              <a:rPr lang="en-US" sz="1650" dirty="0">
                <a:solidFill>
                  <a:srgbClr val="000000"/>
                </a:solidFill>
                <a:latin typeface="Century Gothic"/>
                <a:cs typeface="Century Gothic"/>
              </a:rPr>
              <a:t>Age (symmetric): t-test</a:t>
            </a:r>
          </a:p>
          <a:p>
            <a:pPr marL="380000" indent="-380000" algn="l">
              <a:lnSpc>
                <a:spcPct val="104000"/>
              </a:lnSpc>
              <a:spcBef>
                <a:spcPts val="450"/>
              </a:spcBef>
              <a:buNone/>
            </a:pPr>
            <a:r>
              <a:rPr lang="en-US" sz="1650" b="1" dirty="0">
                <a:solidFill>
                  <a:srgbClr val="B5651D"/>
                </a:solidFill>
                <a:latin typeface="Century Gothic"/>
                <a:cs typeface="Century Gothic"/>
              </a:rPr>
              <a:t>3.  </a:t>
            </a:r>
            <a:r>
              <a:rPr lang="en-US" sz="1650" dirty="0">
                <a:solidFill>
                  <a:srgbClr val="000000"/>
                </a:solidFill>
                <a:latin typeface="Century Gothic"/>
                <a:cs typeface="Century Gothic"/>
              </a:rPr>
              <a:t>SOFA and lactate (skewed): Mann-Whitney</a:t>
            </a:r>
          </a:p>
          <a:p>
            <a:pPr marL="380000" indent="-380000" algn="l">
              <a:lnSpc>
                <a:spcPct val="104000"/>
              </a:lnSpc>
              <a:spcBef>
                <a:spcPts val="450"/>
              </a:spcBef>
              <a:buNone/>
            </a:pPr>
            <a:r>
              <a:rPr lang="en-US" sz="1650" b="1" dirty="0">
                <a:solidFill>
                  <a:srgbClr val="B5651D"/>
                </a:solidFill>
                <a:latin typeface="Century Gothic"/>
                <a:cs typeface="Century Gothic"/>
              </a:rPr>
              <a:t>4.  </a:t>
            </a:r>
            <a:r>
              <a:rPr lang="en-US" sz="1650" dirty="0">
                <a:solidFill>
                  <a:srgbClr val="000000"/>
                </a:solidFill>
                <a:latin typeface="Century Gothic"/>
                <a:cs typeface="Century Gothic"/>
              </a:rPr>
              <a:t>28-day death (yes/no): 2x2 table and chi-square</a:t>
            </a:r>
          </a:p>
          <a:p>
            <a:pPr marL="380000" indent="-380000" algn="l">
              <a:lnSpc>
                <a:spcPct val="104000"/>
              </a:lnSpc>
              <a:spcBef>
                <a:spcPts val="450"/>
              </a:spcBef>
              <a:buNone/>
            </a:pPr>
            <a:r>
              <a:rPr lang="en-US" sz="1650" b="1" dirty="0">
                <a:solidFill>
                  <a:srgbClr val="B5651D"/>
                </a:solidFill>
                <a:latin typeface="Century Gothic"/>
                <a:cs typeface="Century Gothic"/>
              </a:rPr>
              <a:t>5.  </a:t>
            </a:r>
            <a:r>
              <a:rPr lang="en-US" sz="1650" dirty="0">
                <a:solidFill>
                  <a:srgbClr val="000000"/>
                </a:solidFill>
                <a:latin typeface="Century Gothic"/>
                <a:cs typeface="Century Gothic"/>
              </a:rPr>
              <a:t>The common mistake: a t-test on skewed ICU stay</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B5651D"/>
                </a:solidFill>
                <a:latin typeface="Century Gothic"/>
                <a:cs typeface="Century Gothic"/>
              </a:rPr>
              <a:t>Decision chart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Number or category?</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Symmetric or skewed?</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Paired or not?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Effect + 95% CI</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l">
              <a:buNone/>
            </a:pPr>
            <a:r>
              <a:rPr lang="en-US" sz="1300" b="1" dirty="0">
                <a:solidFill>
                  <a:srgbClr val="B5651D"/>
                </a:solidFill>
                <a:latin typeface="Century Gothic"/>
                <a:cs typeface="Century Gothic"/>
              </a:rPr>
              <a:t>OUTPUT   </a:t>
            </a:r>
            <a:r>
              <a:rPr lang="en-US" sz="1500" dirty="0">
                <a:solidFill>
                  <a:srgbClr val="000000"/>
                </a:solidFill>
                <a:latin typeface="Century Gothic"/>
                <a:cs typeface="Century Gothic"/>
              </a:rPr>
              <a:t>Everyone has seen the test chosen from the outcome type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FLUID-ICU: four outcomes, four comparisons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Every outcome is worse in the positive-balance group, before any adjustment.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Worked example: reading the mortality comparison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Q1, unadjusted: positive vs negative fluid balance by day 3.</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Risks</a:t>
            </a:r>
          </a:p>
        </p:txBody>
      </p:sp>
      <p:sp>
        <p:nvSpPr>
          <p:cNvPr id="81" name="StepText"/>
          <p:cNvSpPr/>
          <p:nvPr/>
        </p:nvSpPr>
        <p:spPr>
          <a:xfrm>
            <a:off x="49720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134/373 = 35.9%</a:t>
            </a:r>
          </a:p>
          <a:p>
            <a:pPr marL="0" indent="0" algn="l">
              <a:lnSpc>
                <a:spcPct val="104000"/>
              </a:lnSpc>
              <a:spcBef>
                <a:spcPts val="200"/>
              </a:spcBef>
              <a:buNone/>
            </a:pPr>
            <a:r>
              <a:rPr lang="en-US" sz="1500" dirty="0">
                <a:solidFill>
                  <a:srgbClr val="000000"/>
                </a:solidFill>
                <a:latin typeface="Century Gothic"/>
                <a:cs typeface="Century Gothic"/>
              </a:rPr>
              <a:t>45/245 = 18.4%</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Difference</a:t>
            </a:r>
          </a:p>
        </p:txBody>
      </p:sp>
      <p:sp>
        <p:nvSpPr>
          <p:cNvPr id="83" name="StepText"/>
          <p:cNvSpPr/>
          <p:nvPr/>
        </p:nvSpPr>
        <p:spPr>
          <a:xfrm>
            <a:off x="274072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17.6 percentage points</a:t>
            </a:r>
          </a:p>
          <a:p>
            <a:pPr marL="0" indent="0" algn="l">
              <a:lnSpc>
                <a:spcPct val="104000"/>
              </a:lnSpc>
              <a:spcBef>
                <a:spcPts val="200"/>
              </a:spcBef>
              <a:buNone/>
            </a:pPr>
            <a:r>
              <a:rPr lang="en-US" sz="1500" dirty="0">
                <a:solidFill>
                  <a:srgbClr val="000000"/>
                </a:solidFill>
                <a:latin typeface="Century Gothic"/>
                <a:cs typeface="Century Gothic"/>
              </a:rPr>
              <a:t>95% CI 10.7 to 24.4</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Ratio</a:t>
            </a:r>
          </a:p>
        </p:txBody>
      </p:sp>
      <p:sp>
        <p:nvSpPr>
          <p:cNvPr id="85" name="StepText"/>
          <p:cNvSpPr/>
          <p:nvPr/>
        </p:nvSpPr>
        <p:spPr>
          <a:xfrm>
            <a:off x="498424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RR 1.96:</a:t>
            </a:r>
          </a:p>
          <a:p>
            <a:pPr marL="0" indent="0" algn="l">
              <a:lnSpc>
                <a:spcPct val="104000"/>
              </a:lnSpc>
              <a:spcBef>
                <a:spcPts val="200"/>
              </a:spcBef>
              <a:buNone/>
            </a:pPr>
            <a:r>
              <a:rPr lang="en-US" sz="1500" dirty="0">
                <a:solidFill>
                  <a:srgbClr val="000000"/>
                </a:solidFill>
                <a:latin typeface="Century Gothic"/>
                <a:cs typeface="Century Gothic"/>
              </a:rPr>
              <a:t>about twice the risk</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Test</a:t>
            </a:r>
          </a:p>
        </p:txBody>
      </p:sp>
      <p:sp>
        <p:nvSpPr>
          <p:cNvPr id="87" name="StepText"/>
          <p:cNvSpPr/>
          <p:nvPr/>
        </p:nvSpPr>
        <p:spPr>
          <a:xfrm>
            <a:off x="722776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Chi-square</a:t>
            </a:r>
          </a:p>
          <a:p>
            <a:pPr marL="0" indent="0" algn="l">
              <a:lnSpc>
                <a:spcPct val="104000"/>
              </a:lnSpc>
              <a:spcBef>
                <a:spcPts val="200"/>
              </a:spcBef>
              <a:buNone/>
            </a:pPr>
            <a:r>
              <a:rPr lang="en-US" sz="1500" dirty="0">
                <a:solidFill>
                  <a:srgbClr val="000000"/>
                </a:solidFill>
                <a:latin typeface="Century Gothic"/>
                <a:cs typeface="Century Gothic"/>
              </a:rPr>
              <a:t>p &lt; 0.001</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But...</a:t>
            </a:r>
          </a:p>
        </p:txBody>
      </p:sp>
      <p:sp>
        <p:nvSpPr>
          <p:cNvPr id="89" name="StepText"/>
          <p:cNvSpPr/>
          <p:nvPr/>
        </p:nvSpPr>
        <p:spPr>
          <a:xfrm>
            <a:off x="947128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Unadjusted:</a:t>
            </a:r>
          </a:p>
          <a:p>
            <a:pPr marL="0" indent="0" algn="l">
              <a:lnSpc>
                <a:spcPct val="104000"/>
              </a:lnSpc>
              <a:spcBef>
                <a:spcPts val="200"/>
              </a:spcBef>
              <a:buNone/>
            </a:pPr>
            <a:r>
              <a:rPr lang="en-US" sz="1500" dirty="0">
                <a:solidFill>
                  <a:srgbClr val="000000"/>
                </a:solidFill>
                <a:latin typeface="Century Gothic"/>
                <a:cs typeface="Century Gothic"/>
              </a:rPr>
              <a:t>sicker patients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Report the effect and its CI; then ask what else could explain 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Interpret your group's comparison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GROUP WORK   |   7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Century Gothic"/>
                <a:cs typeface="Century Gothic"/>
              </a:rPr>
              <a:t>1.  </a:t>
            </a:r>
            <a:r>
              <a:rPr lang="en-US" sz="1650" dirty="0">
                <a:solidFill>
                  <a:srgbClr val="000000"/>
                </a:solidFill>
                <a:latin typeface="Century Gothic"/>
                <a:cs typeface="Century Gothic"/>
              </a:rPr>
              <a:t>Find your outcome in your results pack (comparison table)</a:t>
            </a:r>
          </a:p>
          <a:p>
            <a:pPr marL="380000" indent="-380000" algn="l">
              <a:lnSpc>
                <a:spcPct val="104000"/>
              </a:lnSpc>
              <a:spcBef>
                <a:spcPts val="450"/>
              </a:spcBef>
              <a:buNone/>
            </a:pPr>
            <a:r>
              <a:rPr lang="en-US" sz="1650" b="1" dirty="0">
                <a:solidFill>
                  <a:srgbClr val="0D7377"/>
                </a:solidFill>
                <a:latin typeface="Century Gothic"/>
                <a:cs typeface="Century Gothic"/>
              </a:rPr>
              <a:t>2.  </a:t>
            </a:r>
            <a:r>
              <a:rPr lang="en-US" sz="1650" dirty="0">
                <a:solidFill>
                  <a:srgbClr val="000000"/>
                </a:solidFill>
                <a:latin typeface="Century Gothic"/>
                <a:cs typeface="Century Gothic"/>
              </a:rPr>
              <a:t>Which test was used, and why that test?</a:t>
            </a:r>
          </a:p>
          <a:p>
            <a:pPr marL="380000" indent="-380000" algn="l">
              <a:lnSpc>
                <a:spcPct val="104000"/>
              </a:lnSpc>
              <a:spcBef>
                <a:spcPts val="450"/>
              </a:spcBef>
              <a:buNone/>
            </a:pPr>
            <a:r>
              <a:rPr lang="en-US" sz="1650" b="1" dirty="0">
                <a:solidFill>
                  <a:srgbClr val="0D7377"/>
                </a:solidFill>
                <a:latin typeface="Century Gothic"/>
                <a:cs typeface="Century Gothic"/>
              </a:rPr>
              <a:t>3.  </a:t>
            </a:r>
            <a:r>
              <a:rPr lang="en-US" sz="1650" dirty="0">
                <a:solidFill>
                  <a:srgbClr val="000000"/>
                </a:solidFill>
                <a:latin typeface="Century Gothic"/>
                <a:cs typeface="Century Gothic"/>
              </a:rPr>
              <a:t>Write the result as an effect with its 95% CI (or medians with IQR)</a:t>
            </a:r>
          </a:p>
          <a:p>
            <a:pPr marL="380000" indent="-380000" algn="l">
              <a:lnSpc>
                <a:spcPct val="104000"/>
              </a:lnSpc>
              <a:spcBef>
                <a:spcPts val="450"/>
              </a:spcBef>
              <a:buNone/>
            </a:pPr>
            <a:r>
              <a:rPr lang="en-US" sz="1650" b="1" dirty="0">
                <a:solidFill>
                  <a:srgbClr val="0D7377"/>
                </a:solidFill>
                <a:latin typeface="Century Gothic"/>
                <a:cs typeface="Century Gothic"/>
              </a:rPr>
              <a:t>4.  </a:t>
            </a:r>
            <a:r>
              <a:rPr lang="en-US" sz="1650" dirty="0">
                <a:solidFill>
                  <a:srgbClr val="000000"/>
                </a:solidFill>
                <a:latin typeface="Century Gothic"/>
                <a:cs typeface="Century Gothic"/>
              </a:rPr>
              <a:t>Write one sentence for your Results section: no 'significant' alone, no causal words</a:t>
            </a:r>
          </a:p>
          <a:p>
            <a:pPr marL="380000" indent="-380000" algn="l">
              <a:lnSpc>
                <a:spcPct val="104000"/>
              </a:lnSpc>
              <a:spcBef>
                <a:spcPts val="450"/>
              </a:spcBef>
              <a:buNone/>
            </a:pPr>
            <a:r>
              <a:rPr lang="en-US" sz="1650" b="1" dirty="0">
                <a:solidFill>
                  <a:srgbClr val="0D7377"/>
                </a:solidFill>
                <a:latin typeface="Century Gothic"/>
                <a:cs typeface="Century Gothic"/>
              </a:rPr>
              <a:t>5.  </a:t>
            </a:r>
            <a:r>
              <a:rPr lang="en-US" sz="1650" dirty="0">
                <a:solidFill>
                  <a:srgbClr val="000000"/>
                </a:solidFill>
                <a:latin typeface="Century Gothic"/>
                <a:cs typeface="Century Gothic"/>
              </a:rPr>
              <a:t>Note one reason the comparison could be biased</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Century Gothic"/>
                <a:cs typeface="Century Gothic"/>
              </a:rPr>
              <a:t>Avoid</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p-value alone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'proves', 'causes'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'trend' for p &gt; 0.05</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Forgetting the 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Century Gothic"/>
                <a:cs typeface="Century Gothic"/>
              </a:rPr>
              <a:t>OUTPUT   </a:t>
            </a:r>
            <a:r>
              <a:rPr lang="en-US" sz="1500" dirty="0">
                <a:solidFill>
                  <a:srgbClr val="000000"/>
                </a:solidFill>
                <a:latin typeface="Century Gothic"/>
                <a:cs typeface="Century Gothic"/>
              </a:rPr>
              <a:t>One Results sentence for your outcome (exercise 4)</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Break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8A99A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BREAK   |   15 min</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8A99A3"/>
                </a:solidFill>
                <a:latin typeface="Century Gothic"/>
                <a:cs typeface="Century Gothic"/>
              </a:rPr>
              <a:t>1.  </a:t>
            </a:r>
            <a:r>
              <a:rPr lang="en-US" sz="1650" dirty="0">
                <a:solidFill>
                  <a:srgbClr val="000000"/>
                </a:solidFill>
                <a:latin typeface="Century Gothic"/>
                <a:cs typeface="Century Gothic"/>
              </a:rPr>
              <a:t>Stretch, coffee, fresh air</a:t>
            </a:r>
          </a:p>
          <a:p>
            <a:pPr marL="380000" indent="-380000" algn="l">
              <a:lnSpc>
                <a:spcPct val="104000"/>
              </a:lnSpc>
              <a:spcBef>
                <a:spcPts val="450"/>
              </a:spcBef>
              <a:buNone/>
            </a:pPr>
            <a:r>
              <a:rPr lang="en-US" sz="1650" b="1" dirty="0">
                <a:solidFill>
                  <a:srgbClr val="8A99A3"/>
                </a:solidFill>
                <a:latin typeface="Century Gothic"/>
                <a:cs typeface="Century Gothic"/>
              </a:rPr>
              <a:t>2.  </a:t>
            </a:r>
            <a:r>
              <a:rPr lang="en-US" sz="1650" dirty="0">
                <a:solidFill>
                  <a:srgbClr val="000000"/>
                </a:solidFill>
                <a:latin typeface="Century Gothic"/>
                <a:cs typeface="Century Gothic"/>
              </a:rPr>
              <a:t>Groups: note one question about your comparison results</a:t>
            </a:r>
          </a:p>
          <a:p>
            <a:pPr marL="380000" indent="-380000" algn="l">
              <a:lnSpc>
                <a:spcPct val="104000"/>
              </a:lnSpc>
              <a:spcBef>
                <a:spcPts val="450"/>
              </a:spcBef>
              <a:buNone/>
            </a:pPr>
            <a:r>
              <a:rPr lang="en-US" sz="1650" b="1" dirty="0">
                <a:solidFill>
                  <a:srgbClr val="8A99A3"/>
                </a:solidFill>
                <a:latin typeface="Century Gothic"/>
                <a:cs typeface="Century Gothic"/>
              </a:rPr>
              <a:t>3.  </a:t>
            </a:r>
            <a:r>
              <a:rPr lang="en-US" sz="1650" dirty="0">
                <a:solidFill>
                  <a:srgbClr val="000000"/>
                </a:solidFill>
                <a:latin typeface="Century Gothic"/>
                <a:cs typeface="Century Gothic"/>
              </a:rPr>
              <a:t>We restart with 6.3: relationships and models</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8A99A3"/>
                </a:solidFill>
                <a:latin typeface="Century Gothic"/>
                <a:cs typeface="Century Gothic"/>
              </a:rPr>
              <a:t>After the break</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Correlation</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Linear and logistic regression</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Adjustment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Kaplan-Meier and Cox</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Your dataset models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6.3 Relationships and models (concepts)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You do not need to run a model to read one.</a:t>
            </a:r>
          </a:p>
          <a:p>
            <a:pPr marL="0" indent="0" algn="ctr">
              <a:spcBef>
                <a:spcPts val="1200"/>
              </a:spcBef>
              <a:buNone/>
            </a:pPr>
            <a:r>
              <a:rPr lang="en-US" sz="1900" i="1" dirty="0">
                <a:solidFill>
                  <a:srgbClr val="595959"/>
                </a:solidFill>
                <a:latin typeface="Century Gothic"/>
                <a:cs typeface="Century Gothic"/>
              </a:rPr>
              <a:t>6.3 Relationships and models  |  35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Correlation: how closely two numbers move together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457200" y="1150000"/>
            <a:ext cx="11277600" cy="4135119"/>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r measures straight-line association, from -1 to +1. Always look at the plot.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Linear regression: the best straight line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Slope = change in the outcome per unit of exposure; R² = how much the line explains.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Logistic regression: an S-curve for yes/no outcomes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Logistic regression turns a yes/no outcome into an odds ratio per unit of exposure.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Which model? It depends on the outcome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Outcome type tells you the model and the number to read.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What 'adjusted' means: compare like with like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Century Gothic"/>
                <a:cs typeface="Century Gothic"/>
              </a:rPr>
              <a:t>Simulated numbers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Adjusting = comparing patients who are alike on the confounders.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Reading a regression table, row by row</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Read each row: comparison, effect, 95% CI, does the CI include the null?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Check your understanding: read a regression table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GROUP WORK   |   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Century Gothic"/>
                <a:cs typeface="Century Gothic"/>
              </a:rPr>
              <a:t>1.  </a:t>
            </a:r>
            <a:r>
              <a:rPr lang="en-US" sz="1650" dirty="0">
                <a:solidFill>
                  <a:srgbClr val="000000"/>
                </a:solidFill>
                <a:latin typeface="Century Gothic"/>
                <a:cs typeface="Century Gothic"/>
              </a:rPr>
              <a:t>Worksheet 'Session 6, exercise 5': a mock table on hospital-acquired delirium</a:t>
            </a:r>
          </a:p>
          <a:p>
            <a:pPr marL="380000" indent="-380000" algn="l">
              <a:lnSpc>
                <a:spcPct val="104000"/>
              </a:lnSpc>
              <a:spcBef>
                <a:spcPts val="450"/>
              </a:spcBef>
              <a:buNone/>
            </a:pPr>
            <a:r>
              <a:rPr lang="en-US" sz="1650" b="1" dirty="0">
                <a:solidFill>
                  <a:srgbClr val="0D7377"/>
                </a:solidFill>
                <a:latin typeface="Century Gothic"/>
                <a:cs typeface="Century Gothic"/>
              </a:rPr>
              <a:t>2.  </a:t>
            </a:r>
            <a:r>
              <a:rPr lang="en-US" sz="1650" dirty="0">
                <a:solidFill>
                  <a:srgbClr val="000000"/>
                </a:solidFill>
                <a:latin typeface="Century Gothic"/>
                <a:cs typeface="Century Gothic"/>
              </a:rPr>
              <a:t>For each row: comparison, effect, 95% CI, does it include 1?</a:t>
            </a:r>
          </a:p>
          <a:p>
            <a:pPr marL="380000" indent="-380000" algn="l">
              <a:lnSpc>
                <a:spcPct val="104000"/>
              </a:lnSpc>
              <a:spcBef>
                <a:spcPts val="450"/>
              </a:spcBef>
              <a:buNone/>
            </a:pPr>
            <a:r>
              <a:rPr lang="en-US" sz="1650" b="1" dirty="0">
                <a:solidFill>
                  <a:srgbClr val="0D7377"/>
                </a:solidFill>
                <a:latin typeface="Century Gothic"/>
                <a:cs typeface="Century Gothic"/>
              </a:rPr>
              <a:t>3.  </a:t>
            </a:r>
            <a:r>
              <a:rPr lang="en-US" sz="1650" dirty="0">
                <a:solidFill>
                  <a:srgbClr val="000000"/>
                </a:solidFill>
                <a:latin typeface="Century Gothic"/>
                <a:cs typeface="Century Gothic"/>
              </a:rPr>
              <a:t>Write ONE plain-language sentence for the main exposure</a:t>
            </a:r>
          </a:p>
          <a:p>
            <a:pPr marL="380000" indent="-380000" algn="l">
              <a:lnSpc>
                <a:spcPct val="104000"/>
              </a:lnSpc>
              <a:spcBef>
                <a:spcPts val="450"/>
              </a:spcBef>
              <a:buNone/>
            </a:pPr>
            <a:r>
              <a:rPr lang="en-US" sz="1650" b="1" dirty="0">
                <a:solidFill>
                  <a:srgbClr val="0D7377"/>
                </a:solidFill>
                <a:latin typeface="Century Gothic"/>
                <a:cs typeface="Century Gothic"/>
              </a:rPr>
              <a:t>4.  </a:t>
            </a:r>
            <a:r>
              <a:rPr lang="en-US" sz="1650" dirty="0">
                <a:solidFill>
                  <a:srgbClr val="000000"/>
                </a:solidFill>
                <a:latin typeface="Century Gothic"/>
                <a:cs typeface="Century Gothic"/>
              </a:rPr>
              <a:t>Homework: exercise 6 (read a Kaplan-Meier curve)</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Century Gothic"/>
                <a:cs typeface="Century Gothic"/>
              </a:rPr>
              <a:t>The 4-step reading</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What is compared?</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How big is the effect?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How wide is the CI?</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Does it cross 1 (or 0)?</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Century Gothic"/>
                <a:cs typeface="Century Gothic"/>
              </a:rPr>
              <a:t>OUTPUT   </a:t>
            </a:r>
            <a:r>
              <a:rPr lang="en-US" sz="1500" dirty="0">
                <a:solidFill>
                  <a:srgbClr val="000000"/>
                </a:solidFill>
                <a:latin typeface="Century Gothic"/>
                <a:cs typeface="Century Gothic"/>
              </a:rPr>
              <a:t>One correct plain-language sentence per pair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Overfitting: too many variables for too few events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Century Gothic"/>
                <a:cs typeface="Century Gothic"/>
              </a:rPr>
              <a:t>Why stepwise misleads</a:t>
            </a:r>
          </a:p>
          <a:p>
            <a:pPr marL="274320" indent="-274320" algn="l">
              <a:spcBef>
                <a:spcPts val="440"/>
              </a:spcBef>
              <a:buFont typeface="Arial"/>
              <a:buChar char="•"/>
            </a:pPr>
            <a:r>
              <a:rPr lang="en-US" sz="1450" dirty="0">
                <a:solidFill>
                  <a:srgbClr val="000000"/>
                </a:solidFill>
                <a:latin typeface="Century Gothic"/>
                <a:cs typeface="Century Gothic"/>
              </a:rPr>
              <a:t>Picks variables by p-value</a:t>
            </a:r>
          </a:p>
          <a:p>
            <a:pPr marL="274320" indent="-274320" algn="l">
              <a:spcBef>
                <a:spcPts val="440"/>
              </a:spcBef>
              <a:buFont typeface="Arial"/>
              <a:buChar char="•"/>
            </a:pPr>
            <a:r>
              <a:rPr lang="en-US" sz="1450" dirty="0">
                <a:solidFill>
                  <a:srgbClr val="000000"/>
                </a:solidFill>
                <a:latin typeface="Century Gothic"/>
                <a:cs typeface="Century Gothic"/>
              </a:rPr>
              <a:t>Finds chance 'predictors'</a:t>
            </a:r>
          </a:p>
          <a:p>
            <a:pPr marL="274320" indent="-274320" algn="l">
              <a:spcBef>
                <a:spcPts val="440"/>
              </a:spcBef>
              <a:buFont typeface="Arial"/>
              <a:buChar char="•"/>
            </a:pPr>
            <a:r>
              <a:rPr lang="en-US" sz="1450" dirty="0">
                <a:solidFill>
                  <a:srgbClr val="000000"/>
                </a:solidFill>
                <a:latin typeface="Century Gothic"/>
                <a:cs typeface="Century Gothic"/>
              </a:rPr>
              <a:t>Effects too big, CIs too narrow</a:t>
            </a:r>
          </a:p>
          <a:p>
            <a:pPr marL="274320" indent="-274320" algn="l">
              <a:spcBef>
                <a:spcPts val="440"/>
              </a:spcBef>
              <a:buFont typeface="Arial"/>
              <a:buChar char="•"/>
            </a:pPr>
            <a:r>
              <a:rPr lang="en-US" sz="1450" dirty="0">
                <a:solidFill>
                  <a:srgbClr val="000000"/>
                </a:solidFill>
                <a:latin typeface="Century Gothic"/>
                <a:cs typeface="Century Gothic"/>
              </a:rPr>
              <a:t>Better: choose confounders in advance</a:t>
            </a:r>
          </a:p>
        </p:txBody>
      </p:sp>
      <p:pic>
        <p:nvPicPr>
          <p:cNvPr id="25" name="Figure"/>
          <p:cNvPicPr>
            <a:picLocks noChangeAspect="1"/>
          </p:cNvPicPr>
          <p:nvPr/>
        </p:nvPicPr>
        <p:blipFill>
          <a:blip r:embed="rId4"/>
          <a:stretch>
            <a:fillRect/>
          </a:stretch>
        </p:blipFill>
        <p:spPr>
          <a:xfrm>
            <a:off x="4307200" y="1150000"/>
            <a:ext cx="622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Plan about 10 events per variable and choose variables by knowledge, not p-values.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Survival analysis starts with censoring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Censored patients still count: they tell us they survived up to that day.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How to read a Kaplan-Meier curve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Read the steps, the ticks, the gap, and always the numbers at risk.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6.4 Model the course dataset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Adjust for what you planned, read the CI, and be honest about the gaps.</a:t>
            </a:r>
          </a:p>
          <a:p>
            <a:pPr marL="0" indent="0" algn="ctr">
              <a:spcBef>
                <a:spcPts val="1200"/>
              </a:spcBef>
              <a:buNone/>
            </a:pPr>
            <a:r>
              <a:rPr lang="en-US" sz="1900" i="1" dirty="0">
                <a:solidFill>
                  <a:srgbClr val="595959"/>
                </a:solidFill>
                <a:latin typeface="Century Gothic"/>
                <a:cs typeface="Century Gothic"/>
              </a:rPr>
              <a:t>6.4 Model the course dataset  |  25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SAP came first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SAP_FLUID-ICU.md: written and signed before the database was locked.</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Primary</a:t>
            </a:r>
          </a:p>
        </p:txBody>
      </p:sp>
      <p:sp>
        <p:nvSpPr>
          <p:cNvPr id="81" name="StepText"/>
          <p:cNvSpPr/>
          <p:nvPr/>
        </p:nvSpPr>
        <p:spPr>
          <a:xfrm>
            <a:off x="49720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28-day death</a:t>
            </a:r>
          </a:p>
          <a:p>
            <a:pPr marL="0" indent="0" algn="l">
              <a:lnSpc>
                <a:spcPct val="104000"/>
              </a:lnSpc>
              <a:spcBef>
                <a:spcPts val="200"/>
              </a:spcBef>
              <a:buNone/>
            </a:pPr>
            <a:r>
              <a:rPr lang="en-US" sz="1500" dirty="0">
                <a:solidFill>
                  <a:srgbClr val="000000"/>
                </a:solidFill>
                <a:latin typeface="Century Gothic"/>
                <a:cs typeface="Century Gothic"/>
              </a:rPr>
              <a:t>logistic regression, OR</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Confounders</a:t>
            </a:r>
          </a:p>
        </p:txBody>
      </p:sp>
      <p:sp>
        <p:nvSpPr>
          <p:cNvPr id="83" name="StepText"/>
          <p:cNvSpPr/>
          <p:nvPr/>
        </p:nvSpPr>
        <p:spPr>
          <a:xfrm>
            <a:off x="274072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Age, SOFA, lactate,</a:t>
            </a:r>
          </a:p>
          <a:p>
            <a:pPr marL="0" indent="0" algn="l">
              <a:lnSpc>
                <a:spcPct val="104000"/>
              </a:lnSpc>
              <a:spcBef>
                <a:spcPts val="200"/>
              </a:spcBef>
              <a:buNone/>
            </a:pPr>
            <a:r>
              <a:rPr lang="en-US" sz="1500" dirty="0">
                <a:solidFill>
                  <a:srgbClr val="000000"/>
                </a:solidFill>
                <a:latin typeface="Century Gothic"/>
                <a:cs typeface="Century Gothic"/>
              </a:rPr>
              <a:t>vasopressor, ventilation, CKD</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Supportive</a:t>
            </a:r>
          </a:p>
        </p:txBody>
      </p:sp>
      <p:sp>
        <p:nvSpPr>
          <p:cNvPr id="85" name="StepText"/>
          <p:cNvSpPr/>
          <p:nvPr/>
        </p:nvSpPr>
        <p:spPr>
          <a:xfrm>
            <a:off x="498424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Kaplan-Meier, log-rank</a:t>
            </a:r>
          </a:p>
          <a:p>
            <a:pPr marL="0" indent="0" algn="l">
              <a:lnSpc>
                <a:spcPct val="104000"/>
              </a:lnSpc>
              <a:spcBef>
                <a:spcPts val="200"/>
              </a:spcBef>
              <a:buNone/>
            </a:pPr>
            <a:r>
              <a:rPr lang="en-US" sz="1500" dirty="0">
                <a:solidFill>
                  <a:srgbClr val="000000"/>
                </a:solidFill>
                <a:latin typeface="Century Gothic"/>
                <a:cs typeface="Century Gothic"/>
              </a:rPr>
              <a:t>Cox hazard ratio</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Subgroup</a:t>
            </a:r>
          </a:p>
        </p:txBody>
      </p:sp>
      <p:sp>
        <p:nvSpPr>
          <p:cNvPr id="87" name="StepText"/>
          <p:cNvSpPr/>
          <p:nvPr/>
        </p:nvSpPr>
        <p:spPr>
          <a:xfrm>
            <a:off x="722776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ONE pre-specified:</a:t>
            </a:r>
          </a:p>
          <a:p>
            <a:pPr marL="0" indent="0" algn="l">
              <a:lnSpc>
                <a:spcPct val="104000"/>
              </a:lnSpc>
              <a:spcBef>
                <a:spcPts val="200"/>
              </a:spcBef>
              <a:buNone/>
            </a:pPr>
            <a:r>
              <a:rPr lang="en-US" sz="1500" dirty="0">
                <a:solidFill>
                  <a:srgbClr val="000000"/>
                </a:solidFill>
                <a:latin typeface="Century Gothic"/>
                <a:cs typeface="Century Gothic"/>
              </a:rPr>
              <a:t>heart failure</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Missing data</a:t>
            </a:r>
          </a:p>
        </p:txBody>
      </p:sp>
      <p:sp>
        <p:nvSpPr>
          <p:cNvPr id="89" name="StepText"/>
          <p:cNvSpPr/>
          <p:nvPr/>
        </p:nvSpPr>
        <p:spPr>
          <a:xfrm>
            <a:off x="947128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Complete case +</a:t>
            </a:r>
          </a:p>
          <a:p>
            <a:pPr marL="0" indent="0" algn="l">
              <a:lnSpc>
                <a:spcPct val="104000"/>
              </a:lnSpc>
              <a:spcBef>
                <a:spcPts val="200"/>
              </a:spcBef>
              <a:buNone/>
            </a:pPr>
            <a:r>
              <a:rPr lang="en-US" sz="1500" dirty="0">
                <a:solidFill>
                  <a:srgbClr val="000000"/>
                </a:solidFill>
                <a:latin typeface="Century Gothic"/>
                <a:cs typeface="Century Gothic"/>
              </a:rPr>
              <a:t>multiple imputation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Everything on the next slides was decided before anyone saw the results.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Confounding by indication, made visible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28644" y="1150000"/>
            <a:ext cx="993471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Crude OR 2.49 shrinks to 1.62 after adjusting for severity: still above 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adjusted model, as a forest plot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Read each row: comparison, OR, 95% CI, does it cross 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Kaplan-Meier: survival to day 28 by fluid balance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Day-28 survival 81.6% vs 64.1%, log-rank p &lt; 0.001: unadjusted.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Cox model: the same story in hazard ratios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Q1 supportive analysis (04_models.R).</a:t>
            </a:r>
          </a:p>
        </p:txBody>
      </p:sp>
      <p:sp>
        <p:nvSpPr>
          <p:cNvPr id="70" name="CardHead"/>
          <p:cNvSpPr/>
          <p:nvPr/>
        </p:nvSpPr>
        <p:spPr>
          <a:xfrm>
            <a:off x="457200" y="1973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Crude HR</a:t>
            </a:r>
          </a:p>
        </p:txBody>
      </p:sp>
      <p:sp>
        <p:nvSpPr>
          <p:cNvPr id="71" name="CardBody"/>
          <p:cNvSpPr/>
          <p:nvPr/>
        </p:nvSpPr>
        <p:spPr>
          <a:xfrm>
            <a:off x="4572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2.17</a:t>
            </a:r>
          </a:p>
          <a:p>
            <a:pPr marL="0" indent="0" algn="l">
              <a:lnSpc>
                <a:spcPct val="104000"/>
              </a:lnSpc>
              <a:spcBef>
                <a:spcPts val="400"/>
              </a:spcBef>
              <a:buNone/>
            </a:pPr>
            <a:r>
              <a:rPr lang="en-US" sz="1600" dirty="0">
                <a:solidFill>
                  <a:srgbClr val="000000"/>
                </a:solidFill>
                <a:latin typeface="Century Gothic"/>
                <a:cs typeface="Century Gothic"/>
              </a:rPr>
              <a:t>95% CI 1.55 to 3.05</a:t>
            </a:r>
          </a:p>
        </p:txBody>
      </p:sp>
      <p:sp>
        <p:nvSpPr>
          <p:cNvPr id="72" name="CardHead"/>
          <p:cNvSpPr/>
          <p:nvPr/>
        </p:nvSpPr>
        <p:spPr>
          <a:xfrm>
            <a:off x="3326600" y="1973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Adjusted HR</a:t>
            </a:r>
          </a:p>
        </p:txBody>
      </p:sp>
      <p:sp>
        <p:nvSpPr>
          <p:cNvPr id="73" name="CardBody"/>
          <p:cNvSpPr/>
          <p:nvPr/>
        </p:nvSpPr>
        <p:spPr>
          <a:xfrm>
            <a:off x="33266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1.46</a:t>
            </a:r>
          </a:p>
          <a:p>
            <a:pPr marL="0" indent="0" algn="l">
              <a:lnSpc>
                <a:spcPct val="104000"/>
              </a:lnSpc>
              <a:spcBef>
                <a:spcPts val="400"/>
              </a:spcBef>
              <a:buNone/>
            </a:pPr>
            <a:r>
              <a:rPr lang="en-US" sz="1600" dirty="0">
                <a:solidFill>
                  <a:srgbClr val="000000"/>
                </a:solidFill>
                <a:latin typeface="Century Gothic"/>
                <a:cs typeface="Century Gothic"/>
              </a:rPr>
              <a:t>95% CI 1.00 to 2.13</a:t>
            </a:r>
          </a:p>
          <a:p>
            <a:pPr marL="0" indent="0" algn="l">
              <a:lnSpc>
                <a:spcPct val="104000"/>
              </a:lnSpc>
              <a:spcBef>
                <a:spcPts val="400"/>
              </a:spcBef>
              <a:buNone/>
            </a:pPr>
            <a:r>
              <a:rPr lang="en-US" sz="1600" dirty="0">
                <a:solidFill>
                  <a:srgbClr val="000000"/>
                </a:solidFill>
                <a:latin typeface="Century Gothic"/>
                <a:cs typeface="Century Gothic"/>
              </a:rPr>
              <a:t>p = 0.053</a:t>
            </a:r>
          </a:p>
        </p:txBody>
      </p:sp>
      <p:sp>
        <p:nvSpPr>
          <p:cNvPr id="74" name="CardHead"/>
          <p:cNvSpPr/>
          <p:nvPr/>
        </p:nvSpPr>
        <p:spPr>
          <a:xfrm>
            <a:off x="6196000" y="19735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Assumption</a:t>
            </a:r>
          </a:p>
        </p:txBody>
      </p:sp>
      <p:sp>
        <p:nvSpPr>
          <p:cNvPr id="75" name="CardBody"/>
          <p:cNvSpPr/>
          <p:nvPr/>
        </p:nvSpPr>
        <p:spPr>
          <a:xfrm>
            <a:off x="61960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Proportional hazards:</a:t>
            </a:r>
          </a:p>
          <a:p>
            <a:pPr marL="0" indent="0" algn="l">
              <a:lnSpc>
                <a:spcPct val="104000"/>
              </a:lnSpc>
              <a:spcBef>
                <a:spcPts val="400"/>
              </a:spcBef>
              <a:buNone/>
            </a:pPr>
            <a:r>
              <a:rPr lang="en-US" sz="1600" dirty="0">
                <a:solidFill>
                  <a:srgbClr val="000000"/>
                </a:solidFill>
                <a:latin typeface="Century Gothic"/>
                <a:cs typeface="Century Gothic"/>
              </a:rPr>
              <a:t>global test p = 0.10</a:t>
            </a:r>
          </a:p>
          <a:p>
            <a:pPr marL="0" indent="0" algn="l">
              <a:lnSpc>
                <a:spcPct val="104000"/>
              </a:lnSpc>
              <a:spcBef>
                <a:spcPts val="400"/>
              </a:spcBef>
              <a:buNone/>
            </a:pPr>
            <a:r>
              <a:rPr lang="en-US" sz="1600" dirty="0">
                <a:solidFill>
                  <a:srgbClr val="000000"/>
                </a:solidFill>
                <a:latin typeface="Century Gothic"/>
                <a:cs typeface="Century Gothic"/>
              </a:rPr>
              <a:t>acceptable</a:t>
            </a:r>
          </a:p>
        </p:txBody>
      </p:sp>
      <p:sp>
        <p:nvSpPr>
          <p:cNvPr id="76" name="CardHead"/>
          <p:cNvSpPr/>
          <p:nvPr/>
        </p:nvSpPr>
        <p:spPr>
          <a:xfrm>
            <a:off x="9065400" y="1973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Compare</a:t>
            </a:r>
          </a:p>
        </p:txBody>
      </p:sp>
      <p:sp>
        <p:nvSpPr>
          <p:cNvPr id="77" name="CardBody"/>
          <p:cNvSpPr/>
          <p:nvPr/>
        </p:nvSpPr>
        <p:spPr>
          <a:xfrm>
            <a:off x="90654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Adjusted OR 1.62, p = 0.044</a:t>
            </a:r>
          </a:p>
          <a:p>
            <a:pPr marL="0" indent="0" algn="l">
              <a:lnSpc>
                <a:spcPct val="104000"/>
              </a:lnSpc>
              <a:spcBef>
                <a:spcPts val="400"/>
              </a:spcBef>
              <a:buNone/>
            </a:pPr>
            <a:r>
              <a:rPr lang="en-US" sz="1600" dirty="0">
                <a:solidFill>
                  <a:srgbClr val="000000"/>
                </a:solidFill>
                <a:latin typeface="Century Gothic"/>
                <a:cs typeface="Century Gothic"/>
              </a:rPr>
              <a:t>Adjusted HR 1.46, p = 0.053</a:t>
            </a:r>
          </a:p>
          <a:p>
            <a:pPr marL="0" indent="0" algn="l">
              <a:lnSpc>
                <a:spcPct val="104000"/>
              </a:lnSpc>
              <a:spcBef>
                <a:spcPts val="400"/>
              </a:spcBef>
              <a:buNone/>
            </a:pPr>
            <a:r>
              <a:rPr lang="en-US" sz="1600" dirty="0">
                <a:solidFill>
                  <a:srgbClr val="000000"/>
                </a:solidFill>
                <a:latin typeface="Century Gothic"/>
                <a:cs typeface="Century Gothic"/>
              </a:rPr>
              <a:t>Same direction and size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p = 0.044 and p = 0.053 tell the same story: read the estimates and CIs.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Why is it missing? MCAR, MAR and MNAR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The reason data are missing decides how dangerous the gaps are.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Who is missing lactate? Not a random 15%</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Lactate was missing mostly in less sick patients: not MCAR; MAR is plausible.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Complete case vs multiple imputation (Q4)</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Multiple imputation keeps all 620 patients; the answer changes only modestly.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Interpret your group's model (worksheet)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GROUP WORK   |   7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Century Gothic"/>
                <a:cs typeface="Century Gothic"/>
              </a:rPr>
              <a:t>1.  </a:t>
            </a:r>
            <a:r>
              <a:rPr lang="en-US" sz="1650" dirty="0">
                <a:solidFill>
                  <a:srgbClr val="000000"/>
                </a:solidFill>
                <a:latin typeface="Century Gothic"/>
                <a:cs typeface="Century Gothic"/>
              </a:rPr>
              <a:t>Find your crude and adjusted estimates in your results pack</a:t>
            </a:r>
          </a:p>
          <a:p>
            <a:pPr marL="380000" indent="-380000" algn="l">
              <a:lnSpc>
                <a:spcPct val="104000"/>
              </a:lnSpc>
              <a:spcBef>
                <a:spcPts val="450"/>
              </a:spcBef>
              <a:buNone/>
            </a:pPr>
            <a:r>
              <a:rPr lang="en-US" sz="1650" b="1" dirty="0">
                <a:solidFill>
                  <a:srgbClr val="0D7377"/>
                </a:solidFill>
                <a:latin typeface="Century Gothic"/>
                <a:cs typeface="Century Gothic"/>
              </a:rPr>
              <a:t>2.  </a:t>
            </a:r>
            <a:r>
              <a:rPr lang="en-US" sz="1650" dirty="0">
                <a:solidFill>
                  <a:srgbClr val="000000"/>
                </a:solidFill>
                <a:latin typeface="Century Gothic"/>
                <a:cs typeface="Century Gothic"/>
              </a:rPr>
              <a:t>How much did adjustment change the estimate? Why?</a:t>
            </a:r>
          </a:p>
          <a:p>
            <a:pPr marL="380000" indent="-380000" algn="l">
              <a:lnSpc>
                <a:spcPct val="104000"/>
              </a:lnSpc>
              <a:spcBef>
                <a:spcPts val="450"/>
              </a:spcBef>
              <a:buNone/>
            </a:pPr>
            <a:r>
              <a:rPr lang="en-US" sz="1650" b="1" dirty="0">
                <a:solidFill>
                  <a:srgbClr val="0D7377"/>
                </a:solidFill>
                <a:latin typeface="Century Gothic"/>
                <a:cs typeface="Century Gothic"/>
              </a:rPr>
              <a:t>3.  </a:t>
            </a:r>
            <a:r>
              <a:rPr lang="en-US" sz="1650" dirty="0">
                <a:solidFill>
                  <a:srgbClr val="000000"/>
                </a:solidFill>
                <a:latin typeface="Century Gothic"/>
                <a:cs typeface="Century Gothic"/>
              </a:rPr>
              <a:t>Does the adjusted 95% CI include 1 (or 0)?</a:t>
            </a:r>
          </a:p>
          <a:p>
            <a:pPr marL="380000" indent="-380000" algn="l">
              <a:lnSpc>
                <a:spcPct val="104000"/>
              </a:lnSpc>
              <a:spcBef>
                <a:spcPts val="450"/>
              </a:spcBef>
              <a:buNone/>
            </a:pPr>
            <a:r>
              <a:rPr lang="en-US" sz="1650" b="1" dirty="0">
                <a:solidFill>
                  <a:srgbClr val="0D7377"/>
                </a:solidFill>
                <a:latin typeface="Century Gothic"/>
                <a:cs typeface="Century Gothic"/>
              </a:rPr>
              <a:t>4.  </a:t>
            </a:r>
            <a:r>
              <a:rPr lang="en-US" sz="1650" dirty="0">
                <a:solidFill>
                  <a:srgbClr val="000000"/>
                </a:solidFill>
                <a:latin typeface="Century Gothic"/>
                <a:cs typeface="Century Gothic"/>
              </a:rPr>
              <a:t>Look at the imputation result in your pack: close to the main one? (details in Level 2)</a:t>
            </a:r>
          </a:p>
          <a:p>
            <a:pPr marL="380000" indent="-380000" algn="l">
              <a:lnSpc>
                <a:spcPct val="104000"/>
              </a:lnSpc>
              <a:spcBef>
                <a:spcPts val="450"/>
              </a:spcBef>
              <a:buNone/>
            </a:pPr>
            <a:r>
              <a:rPr lang="en-US" sz="1650" b="1" dirty="0">
                <a:solidFill>
                  <a:srgbClr val="0D7377"/>
                </a:solidFill>
                <a:latin typeface="Century Gothic"/>
                <a:cs typeface="Century Gothic"/>
              </a:rPr>
              <a:t>5.  </a:t>
            </a:r>
            <a:r>
              <a:rPr lang="en-US" sz="1650" dirty="0">
                <a:solidFill>
                  <a:srgbClr val="000000"/>
                </a:solidFill>
                <a:latin typeface="Century Gothic"/>
                <a:cs typeface="Century Gothic"/>
              </a:rPr>
              <a:t>Write two Results sentences: crude, then adjusted, with CIs</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Century Gothic"/>
                <a:cs typeface="Century Gothic"/>
              </a:rPr>
              <a:t>Words to use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'associated with'</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'after adjustment for'</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'95% CI'</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not 'caused'</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Century Gothic"/>
                <a:cs typeface="Century Gothic"/>
              </a:rPr>
              <a:t>OUTPUT   </a:t>
            </a:r>
            <a:r>
              <a:rPr lang="en-US" sz="1500" dirty="0">
                <a:solidFill>
                  <a:srgbClr val="000000"/>
                </a:solidFill>
                <a:latin typeface="Century Gothic"/>
                <a:cs typeface="Century Gothic"/>
              </a:rPr>
              <a:t>Two Results sentences for your model (exercise 8)</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Proposal builder 6: what a good one contains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Example from the running example (restrictive fluids trial).</a:t>
            </a:r>
          </a:p>
        </p:txBody>
      </p:sp>
      <p:sp>
        <p:nvSpPr>
          <p:cNvPr id="70" name="CardHead"/>
          <p:cNvSpPr/>
          <p:nvPr/>
        </p:nvSpPr>
        <p:spPr>
          <a:xfrm>
            <a:off x="457200" y="21429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Sample size</a:t>
            </a:r>
          </a:p>
        </p:txBody>
      </p:sp>
      <p:sp>
        <p:nvSpPr>
          <p:cNvPr id="71" name="CardBody"/>
          <p:cNvSpPr/>
          <p:nvPr/>
        </p:nvSpPr>
        <p:spPr>
          <a:xfrm>
            <a:off x="4572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40% vs 30% mortality</a:t>
            </a:r>
          </a:p>
          <a:p>
            <a:pPr marL="0" indent="0" algn="l">
              <a:lnSpc>
                <a:spcPct val="104000"/>
              </a:lnSpc>
              <a:spcBef>
                <a:spcPts val="400"/>
              </a:spcBef>
              <a:buNone/>
            </a:pPr>
            <a:r>
              <a:rPr lang="en-US" sz="1600" dirty="0">
                <a:solidFill>
                  <a:srgbClr val="000000"/>
                </a:solidFill>
                <a:latin typeface="Century Gothic"/>
                <a:cs typeface="Century Gothic"/>
              </a:rPr>
              <a:t>power 80%, alpha 5%</a:t>
            </a:r>
          </a:p>
          <a:p>
            <a:pPr marL="0" indent="0" algn="l">
              <a:lnSpc>
                <a:spcPct val="104000"/>
              </a:lnSpc>
              <a:spcBef>
                <a:spcPts val="400"/>
              </a:spcBef>
              <a:buNone/>
            </a:pPr>
            <a:r>
              <a:rPr lang="en-US" sz="1600" dirty="0">
                <a:solidFill>
                  <a:srgbClr val="000000"/>
                </a:solidFill>
                <a:latin typeface="Century Gothic"/>
                <a:cs typeface="Century Gothic"/>
              </a:rPr>
              <a:t>356 per group + 10%</a:t>
            </a:r>
          </a:p>
        </p:txBody>
      </p:sp>
      <p:sp>
        <p:nvSpPr>
          <p:cNvPr id="72" name="CardHead"/>
          <p:cNvSpPr/>
          <p:nvPr/>
        </p:nvSpPr>
        <p:spPr>
          <a:xfrm>
            <a:off x="3326600" y="21429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Analysis plan</a:t>
            </a:r>
          </a:p>
        </p:txBody>
      </p:sp>
      <p:sp>
        <p:nvSpPr>
          <p:cNvPr id="73" name="CardBody"/>
          <p:cNvSpPr/>
          <p:nvPr/>
        </p:nvSpPr>
        <p:spPr>
          <a:xfrm>
            <a:off x="33266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Describe: n (%), median (IQR)</a:t>
            </a:r>
          </a:p>
          <a:p>
            <a:pPr marL="0" indent="0" algn="l">
              <a:lnSpc>
                <a:spcPct val="104000"/>
              </a:lnSpc>
              <a:spcBef>
                <a:spcPts val="400"/>
              </a:spcBef>
              <a:buNone/>
            </a:pPr>
            <a:r>
              <a:rPr lang="en-US" sz="1600" dirty="0">
                <a:solidFill>
                  <a:srgbClr val="000000"/>
                </a:solidFill>
                <a:latin typeface="Century Gothic"/>
                <a:cs typeface="Century Gothic"/>
              </a:rPr>
              <a:t>Compare: chi-square</a:t>
            </a:r>
          </a:p>
          <a:p>
            <a:pPr marL="0" indent="0" algn="l">
              <a:lnSpc>
                <a:spcPct val="104000"/>
              </a:lnSpc>
              <a:spcBef>
                <a:spcPts val="400"/>
              </a:spcBef>
              <a:buNone/>
            </a:pPr>
            <a:r>
              <a:rPr lang="en-US" sz="1600" dirty="0">
                <a:solidFill>
                  <a:srgbClr val="000000"/>
                </a:solidFill>
                <a:latin typeface="Century Gothic"/>
                <a:cs typeface="Century Gothic"/>
              </a:rPr>
              <a:t>Report: RR + 95% CI</a:t>
            </a:r>
          </a:p>
        </p:txBody>
      </p:sp>
      <p:sp>
        <p:nvSpPr>
          <p:cNvPr id="74" name="CardHead"/>
          <p:cNvSpPr/>
          <p:nvPr/>
        </p:nvSpPr>
        <p:spPr>
          <a:xfrm>
            <a:off x="6196000" y="214290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Confounders</a:t>
            </a:r>
          </a:p>
        </p:txBody>
      </p:sp>
      <p:sp>
        <p:nvSpPr>
          <p:cNvPr id="75" name="CardBody"/>
          <p:cNvSpPr/>
          <p:nvPr/>
        </p:nvSpPr>
        <p:spPr>
          <a:xfrm>
            <a:off x="61960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Chosen in advance</a:t>
            </a:r>
          </a:p>
          <a:p>
            <a:pPr marL="0" indent="0" algn="l">
              <a:lnSpc>
                <a:spcPct val="104000"/>
              </a:lnSpc>
              <a:spcBef>
                <a:spcPts val="400"/>
              </a:spcBef>
              <a:buNone/>
            </a:pPr>
            <a:r>
              <a:rPr lang="en-US" sz="1600" dirty="0">
                <a:solidFill>
                  <a:srgbClr val="000000"/>
                </a:solidFill>
                <a:latin typeface="Century Gothic"/>
                <a:cs typeface="Century Gothic"/>
              </a:rPr>
              <a:t>about 10 events</a:t>
            </a:r>
          </a:p>
          <a:p>
            <a:pPr marL="0" indent="0" algn="l">
              <a:lnSpc>
                <a:spcPct val="104000"/>
              </a:lnSpc>
              <a:spcBef>
                <a:spcPts val="400"/>
              </a:spcBef>
              <a:buNone/>
            </a:pPr>
            <a:r>
              <a:rPr lang="en-US" sz="1600" dirty="0">
                <a:solidFill>
                  <a:srgbClr val="000000"/>
                </a:solidFill>
                <a:latin typeface="Century Gothic"/>
                <a:cs typeface="Century Gothic"/>
              </a:rPr>
              <a:t>per variable</a:t>
            </a:r>
          </a:p>
        </p:txBody>
      </p:sp>
      <p:sp>
        <p:nvSpPr>
          <p:cNvPr id="76" name="CardHead"/>
          <p:cNvSpPr/>
          <p:nvPr/>
        </p:nvSpPr>
        <p:spPr>
          <a:xfrm>
            <a:off x="9065400" y="21429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Missing data</a:t>
            </a:r>
          </a:p>
        </p:txBody>
      </p:sp>
      <p:sp>
        <p:nvSpPr>
          <p:cNvPr id="77" name="CardBody"/>
          <p:cNvSpPr/>
          <p:nvPr/>
        </p:nvSpPr>
        <p:spPr>
          <a:xfrm>
            <a:off x="90654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Expected gaps + why</a:t>
            </a:r>
          </a:p>
          <a:p>
            <a:pPr marL="0" indent="0" algn="l">
              <a:lnSpc>
                <a:spcPct val="104000"/>
              </a:lnSpc>
              <a:spcBef>
                <a:spcPts val="400"/>
              </a:spcBef>
              <a:buNone/>
            </a:pPr>
            <a:r>
              <a:rPr lang="en-US" sz="1600" dirty="0">
                <a:solidFill>
                  <a:srgbClr val="000000"/>
                </a:solidFill>
                <a:latin typeface="Century Gothic"/>
                <a:cs typeface="Century Gothic"/>
              </a:rPr>
              <a:t>Prevention</a:t>
            </a:r>
          </a:p>
          <a:p>
            <a:pPr marL="0" indent="0" algn="l">
              <a:lnSpc>
                <a:spcPct val="104000"/>
              </a:lnSpc>
              <a:spcBef>
                <a:spcPts val="400"/>
              </a:spcBef>
              <a:buNone/>
            </a:pPr>
            <a:r>
              <a:rPr lang="en-US" sz="1600" dirty="0">
                <a:solidFill>
                  <a:srgbClr val="000000"/>
                </a:solidFill>
                <a:latin typeface="Century Gothic"/>
                <a:cs typeface="Century Gothic"/>
              </a:rPr>
              <a:t>CC + MI check</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Today: how many patients, which analysis, and what if data are missing.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Proposal builder 6: sample size and analysis plan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PROPOSAL BUILDER   |   30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55F56"/>
                </a:solidFill>
                <a:latin typeface="Century Gothic"/>
                <a:cs typeface="Century Gothic"/>
              </a:rPr>
              <a:t>1.  </a:t>
            </a:r>
            <a:r>
              <a:rPr lang="en-US" sz="1650" dirty="0">
                <a:solidFill>
                  <a:srgbClr val="000000"/>
                </a:solidFill>
                <a:latin typeface="Century Gothic"/>
                <a:cs typeface="Century Gothic"/>
              </a:rPr>
              <a:t>Sample-size statement: the 4 inputs and where they come from (8 min)</a:t>
            </a:r>
          </a:p>
          <a:p>
            <a:pPr marL="380000" indent="-380000" algn="l">
              <a:lnSpc>
                <a:spcPct val="104000"/>
              </a:lnSpc>
              <a:spcBef>
                <a:spcPts val="450"/>
              </a:spcBef>
              <a:buNone/>
            </a:pPr>
            <a:r>
              <a:rPr lang="en-US" sz="1650" b="1" dirty="0">
                <a:solidFill>
                  <a:srgbClr val="055F56"/>
                </a:solidFill>
                <a:latin typeface="Century Gothic"/>
                <a:cs typeface="Century Gothic"/>
              </a:rPr>
              <a:t>2.  </a:t>
            </a:r>
            <a:r>
              <a:rPr lang="en-US" sz="1650" dirty="0">
                <a:solidFill>
                  <a:srgbClr val="000000"/>
                </a:solidFill>
                <a:latin typeface="Century Gothic"/>
                <a:cs typeface="Century Gothic"/>
              </a:rPr>
              <a:t>Analysis plan: summary, test or model, effect measure + 95% CI (10 min)</a:t>
            </a:r>
          </a:p>
          <a:p>
            <a:pPr marL="380000" indent="-380000" algn="l">
              <a:lnSpc>
                <a:spcPct val="104000"/>
              </a:lnSpc>
              <a:spcBef>
                <a:spcPts val="450"/>
              </a:spcBef>
              <a:buNone/>
            </a:pPr>
            <a:r>
              <a:rPr lang="en-US" sz="1650" b="1" dirty="0">
                <a:solidFill>
                  <a:srgbClr val="055F56"/>
                </a:solidFill>
                <a:latin typeface="Century Gothic"/>
                <a:cs typeface="Century Gothic"/>
              </a:rPr>
              <a:t>3.  </a:t>
            </a:r>
            <a:r>
              <a:rPr lang="en-US" sz="1650" dirty="0">
                <a:solidFill>
                  <a:srgbClr val="000000"/>
                </a:solidFill>
                <a:latin typeface="Century Gothic"/>
                <a:cs typeface="Century Gothic"/>
              </a:rPr>
              <a:t>Confounders to adjust for, within about 10 events per variable (5 min)</a:t>
            </a:r>
          </a:p>
          <a:p>
            <a:pPr marL="380000" indent="-380000" algn="l">
              <a:lnSpc>
                <a:spcPct val="104000"/>
              </a:lnSpc>
              <a:spcBef>
                <a:spcPts val="450"/>
              </a:spcBef>
              <a:buNone/>
            </a:pPr>
            <a:r>
              <a:rPr lang="en-US" sz="1650" b="1" dirty="0">
                <a:solidFill>
                  <a:srgbClr val="055F56"/>
                </a:solidFill>
                <a:latin typeface="Century Gothic"/>
                <a:cs typeface="Century Gothic"/>
              </a:rPr>
              <a:t>4.  </a:t>
            </a:r>
            <a:r>
              <a:rPr lang="en-US" sz="1650" dirty="0">
                <a:solidFill>
                  <a:srgbClr val="000000"/>
                </a:solidFill>
                <a:latin typeface="Century Gothic"/>
                <a:cs typeface="Century Gothic"/>
              </a:rPr>
              <a:t>Missing-data plan: expected gaps, prevention, how missing data will be reported (7 min)</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55F56"/>
                </a:solidFill>
                <a:latin typeface="Century Gothic"/>
                <a:cs typeface="Century Gothic"/>
              </a:rPr>
              <a:t>Use these tools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Sample-size spreadsheet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Test decision chart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FLUID-ICU SAP as a model</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Worksheet: exercise 9</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l">
              <a:buNone/>
            </a:pPr>
            <a:r>
              <a:rPr lang="en-US" sz="1300" b="1" dirty="0">
                <a:solidFill>
                  <a:srgbClr val="055F56"/>
                </a:solidFill>
                <a:latin typeface="Century Gothic"/>
                <a:cs typeface="Century Gothic"/>
              </a:rPr>
              <a:t>OUTPUT   </a:t>
            </a:r>
            <a:r>
              <a:rPr lang="en-US" sz="1500" dirty="0">
                <a:solidFill>
                  <a:srgbClr val="000000"/>
                </a:solidFill>
                <a:latin typeface="Century Gothic"/>
                <a:cs typeface="Century Gothic"/>
              </a:rPr>
              <a:t>Proposal Part 3 completed in the group template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Key words of the day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Twelve words you should now be able to explain to a colleague.</a:t>
            </a:r>
          </a:p>
        </p:txBody>
      </p:sp>
      <p:sp>
        <p:nvSpPr>
          <p:cNvPr id="70" name="CardHead"/>
          <p:cNvSpPr/>
          <p:nvPr/>
        </p:nvSpPr>
        <p:spPr>
          <a:xfrm>
            <a:off x="457200" y="221000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Uncertainty</a:t>
            </a:r>
          </a:p>
        </p:txBody>
      </p:sp>
      <p:sp>
        <p:nvSpPr>
          <p:cNvPr id="71" name="CardBody"/>
          <p:cNvSpPr/>
          <p:nvPr/>
        </p:nvSpPr>
        <p:spPr>
          <a:xfrm>
            <a:off x="4572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95% CI</a:t>
            </a:r>
          </a:p>
          <a:p>
            <a:pPr marL="0" indent="0" algn="l">
              <a:lnSpc>
                <a:spcPct val="104000"/>
              </a:lnSpc>
              <a:spcBef>
                <a:spcPts val="400"/>
              </a:spcBef>
              <a:buNone/>
            </a:pPr>
            <a:r>
              <a:rPr lang="en-US" sz="1600" dirty="0">
                <a:solidFill>
                  <a:srgbClr val="000000"/>
                </a:solidFill>
                <a:latin typeface="Century Gothic"/>
                <a:cs typeface="Century Gothic"/>
              </a:rPr>
              <a:t>p-value</a:t>
            </a:r>
          </a:p>
          <a:p>
            <a:pPr marL="0" indent="0" algn="l">
              <a:lnSpc>
                <a:spcPct val="104000"/>
              </a:lnSpc>
              <a:spcBef>
                <a:spcPts val="400"/>
              </a:spcBef>
              <a:buNone/>
            </a:pPr>
            <a:r>
              <a:rPr lang="en-US" sz="1600" dirty="0">
                <a:solidFill>
                  <a:srgbClr val="000000"/>
                </a:solidFill>
                <a:latin typeface="Century Gothic"/>
                <a:cs typeface="Century Gothic"/>
              </a:rPr>
              <a:t>Power</a:t>
            </a:r>
          </a:p>
        </p:txBody>
      </p:sp>
      <p:sp>
        <p:nvSpPr>
          <p:cNvPr id="72" name="CardHead"/>
          <p:cNvSpPr/>
          <p:nvPr/>
        </p:nvSpPr>
        <p:spPr>
          <a:xfrm>
            <a:off x="3326600" y="221000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Comparing</a:t>
            </a:r>
          </a:p>
        </p:txBody>
      </p:sp>
      <p:sp>
        <p:nvSpPr>
          <p:cNvPr id="73" name="CardBody"/>
          <p:cNvSpPr/>
          <p:nvPr/>
        </p:nvSpPr>
        <p:spPr>
          <a:xfrm>
            <a:off x="33266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t-test / Mann-Whitney</a:t>
            </a:r>
          </a:p>
          <a:p>
            <a:pPr marL="0" indent="0" algn="l">
              <a:lnSpc>
                <a:spcPct val="104000"/>
              </a:lnSpc>
              <a:spcBef>
                <a:spcPts val="400"/>
              </a:spcBef>
              <a:buNone/>
            </a:pPr>
            <a:r>
              <a:rPr lang="en-US" sz="1600" dirty="0">
                <a:solidFill>
                  <a:srgbClr val="000000"/>
                </a:solidFill>
                <a:latin typeface="Century Gothic"/>
                <a:cs typeface="Century Gothic"/>
              </a:rPr>
              <a:t>Chi-square</a:t>
            </a:r>
          </a:p>
          <a:p>
            <a:pPr marL="0" indent="0" algn="l">
              <a:lnSpc>
                <a:spcPct val="104000"/>
              </a:lnSpc>
              <a:spcBef>
                <a:spcPts val="400"/>
              </a:spcBef>
              <a:buNone/>
            </a:pPr>
            <a:r>
              <a:rPr lang="en-US" sz="1600" dirty="0">
                <a:solidFill>
                  <a:srgbClr val="000000"/>
                </a:solidFill>
                <a:latin typeface="Century Gothic"/>
                <a:cs typeface="Century Gothic"/>
              </a:rPr>
              <a:t>Paired</a:t>
            </a:r>
          </a:p>
        </p:txBody>
      </p:sp>
      <p:sp>
        <p:nvSpPr>
          <p:cNvPr id="74" name="CardHead"/>
          <p:cNvSpPr/>
          <p:nvPr/>
        </p:nvSpPr>
        <p:spPr>
          <a:xfrm>
            <a:off x="6196000" y="221000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Models</a:t>
            </a:r>
          </a:p>
        </p:txBody>
      </p:sp>
      <p:sp>
        <p:nvSpPr>
          <p:cNvPr id="75" name="CardBody"/>
          <p:cNvSpPr/>
          <p:nvPr/>
        </p:nvSpPr>
        <p:spPr>
          <a:xfrm>
            <a:off x="61960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Adjusted OR</a:t>
            </a:r>
          </a:p>
          <a:p>
            <a:pPr marL="0" indent="0" algn="l">
              <a:lnSpc>
                <a:spcPct val="104000"/>
              </a:lnSpc>
              <a:spcBef>
                <a:spcPts val="400"/>
              </a:spcBef>
              <a:buNone/>
            </a:pPr>
            <a:r>
              <a:rPr lang="en-US" sz="1600" dirty="0">
                <a:solidFill>
                  <a:srgbClr val="000000"/>
                </a:solidFill>
                <a:latin typeface="Century Gothic"/>
                <a:cs typeface="Century Gothic"/>
              </a:rPr>
              <a:t>Hazard ratio</a:t>
            </a:r>
          </a:p>
          <a:p>
            <a:pPr marL="0" indent="0" algn="l">
              <a:lnSpc>
                <a:spcPct val="104000"/>
              </a:lnSpc>
              <a:spcBef>
                <a:spcPts val="400"/>
              </a:spcBef>
              <a:buNone/>
            </a:pPr>
            <a:r>
              <a:rPr lang="en-US" sz="1600" dirty="0">
                <a:solidFill>
                  <a:srgbClr val="000000"/>
                </a:solidFill>
                <a:latin typeface="Century Gothic"/>
                <a:cs typeface="Century Gothic"/>
              </a:rPr>
              <a:t>Censoring</a:t>
            </a:r>
          </a:p>
        </p:txBody>
      </p:sp>
      <p:sp>
        <p:nvSpPr>
          <p:cNvPr id="76" name="CardHead"/>
          <p:cNvSpPr/>
          <p:nvPr/>
        </p:nvSpPr>
        <p:spPr>
          <a:xfrm>
            <a:off x="9065400" y="221000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Honesty</a:t>
            </a:r>
          </a:p>
        </p:txBody>
      </p:sp>
      <p:sp>
        <p:nvSpPr>
          <p:cNvPr id="77" name="CardBody"/>
          <p:cNvSpPr/>
          <p:nvPr/>
        </p:nvSpPr>
        <p:spPr>
          <a:xfrm>
            <a:off x="90654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SAP</a:t>
            </a:r>
          </a:p>
          <a:p>
            <a:pPr marL="0" indent="0" algn="l">
              <a:lnSpc>
                <a:spcPct val="104000"/>
              </a:lnSpc>
              <a:spcBef>
                <a:spcPts val="400"/>
              </a:spcBef>
              <a:buNone/>
            </a:pPr>
            <a:r>
              <a:rPr lang="en-US" sz="1600" dirty="0">
                <a:solidFill>
                  <a:srgbClr val="000000"/>
                </a:solidFill>
                <a:latin typeface="Century Gothic"/>
                <a:cs typeface="Century Gothic"/>
              </a:rPr>
              <a:t>MCAR / MAR / MNAR</a:t>
            </a:r>
          </a:p>
          <a:p>
            <a:pPr marL="0" indent="0" algn="l">
              <a:lnSpc>
                <a:spcPct val="104000"/>
              </a:lnSpc>
              <a:spcBef>
                <a:spcPts val="400"/>
              </a:spcBef>
              <a:buNone/>
            </a:pPr>
            <a:r>
              <a:rPr lang="en-US" sz="1600" dirty="0">
                <a:solidFill>
                  <a:srgbClr val="000000"/>
                </a:solidFill>
                <a:latin typeface="Century Gothic"/>
                <a:cs typeface="Century Gothic"/>
              </a:rPr>
              <a:t>Multiple imputation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If one word is unclear, ask now or look it up in the glossary.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Session 6 recap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Three messages to take home.</a:t>
            </a:r>
          </a:p>
        </p:txBody>
      </p:sp>
      <p:sp>
        <p:nvSpPr>
          <p:cNvPr id="70" name="CardHead"/>
          <p:cNvSpPr/>
          <p:nvPr/>
        </p:nvSpPr>
        <p:spPr>
          <a:xfrm>
            <a:off x="457200" y="2203761"/>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1. Read the CI</a:t>
            </a:r>
          </a:p>
        </p:txBody>
      </p:sp>
      <p:sp>
        <p:nvSpPr>
          <p:cNvPr id="71" name="CardBody"/>
          <p:cNvSpPr/>
          <p:nvPr/>
        </p:nvSpPr>
        <p:spPr>
          <a:xfrm>
            <a:off x="457200" y="2843761"/>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Effect + 95% CI</a:t>
            </a:r>
          </a:p>
          <a:p>
            <a:pPr marL="0" indent="0" algn="l">
              <a:lnSpc>
                <a:spcPct val="104000"/>
              </a:lnSpc>
              <a:spcBef>
                <a:spcPts val="400"/>
              </a:spcBef>
              <a:buNone/>
            </a:pPr>
            <a:r>
              <a:rPr lang="en-US" sz="1750" dirty="0">
                <a:solidFill>
                  <a:srgbClr val="000000"/>
                </a:solidFill>
                <a:latin typeface="Century Gothic"/>
                <a:cs typeface="Century Gothic"/>
              </a:rPr>
              <a:t>Where is the null?</a:t>
            </a:r>
          </a:p>
          <a:p>
            <a:pPr marL="0" indent="0" algn="l">
              <a:lnSpc>
                <a:spcPct val="104000"/>
              </a:lnSpc>
              <a:spcBef>
                <a:spcPts val="400"/>
              </a:spcBef>
              <a:buNone/>
            </a:pPr>
            <a:r>
              <a:rPr lang="en-US" sz="1750" dirty="0">
                <a:solidFill>
                  <a:srgbClr val="000000"/>
                </a:solidFill>
                <a:latin typeface="Century Gothic"/>
                <a:cs typeface="Century Gothic"/>
              </a:rPr>
              <a:t>p is a supporting actor</a:t>
            </a:r>
          </a:p>
        </p:txBody>
      </p:sp>
      <p:sp>
        <p:nvSpPr>
          <p:cNvPr id="72" name="CardHead"/>
          <p:cNvSpPr/>
          <p:nvPr/>
        </p:nvSpPr>
        <p:spPr>
          <a:xfrm>
            <a:off x="4283066" y="2203761"/>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2. Adjust honestly</a:t>
            </a:r>
          </a:p>
        </p:txBody>
      </p:sp>
      <p:sp>
        <p:nvSpPr>
          <p:cNvPr id="73" name="CardBody"/>
          <p:cNvSpPr/>
          <p:nvPr/>
        </p:nvSpPr>
        <p:spPr>
          <a:xfrm>
            <a:off x="4283066" y="2843761"/>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Crude vs adjusted</a:t>
            </a:r>
          </a:p>
          <a:p>
            <a:pPr marL="0" indent="0" algn="l">
              <a:lnSpc>
                <a:spcPct val="104000"/>
              </a:lnSpc>
              <a:spcBef>
                <a:spcPts val="400"/>
              </a:spcBef>
              <a:buNone/>
            </a:pPr>
            <a:r>
              <a:rPr lang="en-US" sz="1750" dirty="0">
                <a:solidFill>
                  <a:srgbClr val="000000"/>
                </a:solidFill>
                <a:latin typeface="Century Gothic"/>
                <a:cs typeface="Century Gothic"/>
              </a:rPr>
              <a:t>Confounders chosen</a:t>
            </a:r>
          </a:p>
          <a:p>
            <a:pPr marL="0" indent="0" algn="l">
              <a:lnSpc>
                <a:spcPct val="104000"/>
              </a:lnSpc>
              <a:spcBef>
                <a:spcPts val="400"/>
              </a:spcBef>
              <a:buNone/>
            </a:pPr>
            <a:r>
              <a:rPr lang="en-US" sz="1750" dirty="0">
                <a:solidFill>
                  <a:srgbClr val="000000"/>
                </a:solidFill>
                <a:latin typeface="Century Gothic"/>
                <a:cs typeface="Century Gothic"/>
              </a:rPr>
              <a:t>in advance</a:t>
            </a:r>
          </a:p>
        </p:txBody>
      </p:sp>
      <p:sp>
        <p:nvSpPr>
          <p:cNvPr id="74" name="CardHead"/>
          <p:cNvSpPr/>
          <p:nvPr/>
        </p:nvSpPr>
        <p:spPr>
          <a:xfrm>
            <a:off x="8108932" y="2203761"/>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3. Plan first</a:t>
            </a:r>
          </a:p>
        </p:txBody>
      </p:sp>
      <p:sp>
        <p:nvSpPr>
          <p:cNvPr id="75" name="CardBody"/>
          <p:cNvSpPr/>
          <p:nvPr/>
        </p:nvSpPr>
        <p:spPr>
          <a:xfrm>
            <a:off x="8108932" y="2843761"/>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SAP before the data</a:t>
            </a:r>
          </a:p>
          <a:p>
            <a:pPr marL="0" indent="0" algn="l">
              <a:lnSpc>
                <a:spcPct val="104000"/>
              </a:lnSpc>
              <a:spcBef>
                <a:spcPts val="400"/>
              </a:spcBef>
              <a:buNone/>
            </a:pPr>
            <a:r>
              <a:rPr lang="en-US" sz="1750" dirty="0">
                <a:solidFill>
                  <a:srgbClr val="000000"/>
                </a:solidFill>
                <a:latin typeface="Century Gothic"/>
                <a:cs typeface="Century Gothic"/>
              </a:rPr>
              <a:t>Missing data: report,</a:t>
            </a:r>
          </a:p>
          <a:p>
            <a:pPr marL="0" indent="0" algn="l">
              <a:lnSpc>
                <a:spcPct val="104000"/>
              </a:lnSpc>
              <a:spcBef>
                <a:spcPts val="400"/>
              </a:spcBef>
              <a:buNone/>
            </a:pPr>
            <a:r>
              <a:rPr lang="en-US" sz="1750" dirty="0">
                <a:solidFill>
                  <a:srgbClr val="000000"/>
                </a:solidFill>
                <a:latin typeface="Century Gothic"/>
                <a:cs typeface="Century Gothic"/>
              </a:rPr>
              <a:t>handle, test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 good analysis is planned before, adjusted honestly and read through its CI.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Wrap-up and homework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DISCUSSION   |   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1F5C7A"/>
                </a:solidFill>
                <a:latin typeface="Century Gothic"/>
                <a:cs typeface="Century Gothic"/>
              </a:rPr>
              <a:t>1.  </a:t>
            </a:r>
            <a:r>
              <a:rPr lang="en-US" sz="1650" dirty="0">
                <a:solidFill>
                  <a:srgbClr val="000000"/>
                </a:solidFill>
                <a:latin typeface="Century Gothic"/>
                <a:cs typeface="Century Gothic"/>
              </a:rPr>
              <a:t>Key words and recap (previous two slides)</a:t>
            </a:r>
          </a:p>
          <a:p>
            <a:pPr marL="380000" indent="-380000" algn="l">
              <a:lnSpc>
                <a:spcPct val="104000"/>
              </a:lnSpc>
              <a:spcBef>
                <a:spcPts val="450"/>
              </a:spcBef>
              <a:buNone/>
            </a:pPr>
            <a:r>
              <a:rPr lang="en-US" sz="1650" b="1" dirty="0">
                <a:solidFill>
                  <a:srgbClr val="1F5C7A"/>
                </a:solidFill>
                <a:latin typeface="Century Gothic"/>
                <a:cs typeface="Century Gothic"/>
              </a:rPr>
              <a:t>2.  </a:t>
            </a:r>
            <a:r>
              <a:rPr lang="en-US" sz="1650" dirty="0">
                <a:solidFill>
                  <a:srgbClr val="000000"/>
                </a:solidFill>
                <a:latin typeface="Century Gothic"/>
                <a:cs typeface="Century Gothic"/>
              </a:rPr>
              <a:t>Exit question: write one sentence explaining what '95% CI 1.48 to 3.06' tells you</a:t>
            </a:r>
          </a:p>
          <a:p>
            <a:pPr marL="380000" indent="-380000" algn="l">
              <a:lnSpc>
                <a:spcPct val="104000"/>
              </a:lnSpc>
              <a:spcBef>
                <a:spcPts val="450"/>
              </a:spcBef>
              <a:buNone/>
            </a:pPr>
            <a:r>
              <a:rPr lang="en-US" sz="1650" b="1" dirty="0">
                <a:solidFill>
                  <a:srgbClr val="1F5C7A"/>
                </a:solidFill>
                <a:latin typeface="Century Gothic"/>
                <a:cs typeface="Century Gothic"/>
              </a:rPr>
              <a:t>3.  </a:t>
            </a:r>
            <a:r>
              <a:rPr lang="en-US" sz="1650" dirty="0">
                <a:solidFill>
                  <a:srgbClr val="000000"/>
                </a:solidFill>
                <a:latin typeface="Century Gothic"/>
                <a:cs typeface="Century Gothic"/>
              </a:rPr>
              <a:t>Homework: finish your proposal Part 3; prepare the 6-minute presentation</a:t>
            </a:r>
          </a:p>
          <a:p>
            <a:pPr marL="380000" indent="-380000" algn="l">
              <a:lnSpc>
                <a:spcPct val="104000"/>
              </a:lnSpc>
              <a:spcBef>
                <a:spcPts val="450"/>
              </a:spcBef>
              <a:buNone/>
            </a:pPr>
            <a:r>
              <a:rPr lang="en-US" sz="1650" b="1" dirty="0">
                <a:solidFill>
                  <a:srgbClr val="1F5C7A"/>
                </a:solidFill>
                <a:latin typeface="Century Gothic"/>
                <a:cs typeface="Century Gothic"/>
              </a:rPr>
              <a:t>4.  </a:t>
            </a:r>
            <a:r>
              <a:rPr lang="en-US" sz="1650" dirty="0">
                <a:solidFill>
                  <a:srgbClr val="000000"/>
                </a:solidFill>
                <a:latin typeface="Century Gothic"/>
                <a:cs typeface="Century Gothic"/>
              </a:rPr>
              <a:t>Re-read your results pack: it becomes your Methods and Results in Session 7</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1F5C7A"/>
                </a:solidFill>
                <a:latin typeface="Century Gothic"/>
                <a:cs typeface="Century Gothic"/>
              </a:rPr>
              <a:t>Next weekend</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Protocol, ethics, registration</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Research integrity</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Writing Methods and Results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Getting published</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Presentations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l">
              <a:buNone/>
            </a:pPr>
            <a:r>
              <a:rPr lang="en-US" sz="1300" b="1" dirty="0">
                <a:solidFill>
                  <a:srgbClr val="1F5C7A"/>
                </a:solidFill>
                <a:latin typeface="Century Gothic"/>
                <a:cs typeface="Century Gothic"/>
              </a:rPr>
              <a:t>OUTPUT   </a:t>
            </a:r>
            <a:r>
              <a:rPr lang="en-US" sz="1500" dirty="0">
                <a:solidFill>
                  <a:srgbClr val="000000"/>
                </a:solidFill>
                <a:latin typeface="Century Gothic"/>
                <a:cs typeface="Century Gothic"/>
              </a:rPr>
              <a:t>Exit sentence on a sticky note; Part 3 complete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Extra slides — Session 6</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Extra slides: use if time allows, or for self-study.</a:t>
            </a:r>
          </a:p>
          <a:p>
            <a:pPr marL="0" indent="0" algn="ctr">
              <a:spcBef>
                <a:spcPts val="1200"/>
              </a:spcBef>
              <a:buNone/>
            </a:pPr>
            <a:r>
              <a:rPr lang="en-US" sz="1900" i="1" dirty="0">
                <a:solidFill>
                  <a:srgbClr val="595959"/>
                </a:solidFill>
                <a:latin typeface="Century Gothic"/>
                <a:cs typeface="Century Gothic"/>
              </a:rPr>
              <a:t>Interaction, null values, prediction and machine learning, missing-data details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Century Gothic"/>
                <a:cs typeface="Century Gothic"/>
              </a:rPr>
              <a:t>Extra: the pre-specified interaction with heart failure (Q1)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Stronger association in heart failure (p for interaction 0.031): needs confirmation.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Extra: AKI rises with fluid balance (Q2)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 dose-response gradient: 29%, 54%, 63%, 75% AKI across balance groups.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Extra: ventilator-free days, a tricky outcome (Q3)</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Piled up at 0 and 28: report medians and use non-parametric tests.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Extra: Sample and population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 sample gives an estimate; the CI says how precise it is.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Extra: Reading a 95% CI in a real paper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Paper 1, primary outcome: cumulative fluid balance at day 5.</a:t>
            </a:r>
          </a:p>
        </p:txBody>
      </p:sp>
      <p:sp>
        <p:nvSpPr>
          <p:cNvPr id="70" name="CardHead"/>
          <p:cNvSpPr/>
          <p:nvPr/>
        </p:nvSpPr>
        <p:spPr>
          <a:xfrm>
            <a:off x="457200" y="201855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The result</a:t>
            </a:r>
          </a:p>
        </p:txBody>
      </p:sp>
      <p:sp>
        <p:nvSpPr>
          <p:cNvPr id="71" name="CardBody"/>
          <p:cNvSpPr/>
          <p:nvPr/>
        </p:nvSpPr>
        <p:spPr>
          <a:xfrm>
            <a:off x="457200"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Median 6.9 vs 35.0 ml/kg</a:t>
            </a:r>
          </a:p>
          <a:p>
            <a:pPr marL="0" indent="0" algn="l">
              <a:lnSpc>
                <a:spcPct val="104000"/>
              </a:lnSpc>
              <a:spcBef>
                <a:spcPts val="400"/>
              </a:spcBef>
              <a:buNone/>
            </a:pPr>
            <a:r>
              <a:rPr lang="en-US" sz="1750" dirty="0">
                <a:solidFill>
                  <a:srgbClr val="000000"/>
                </a:solidFill>
                <a:latin typeface="Century Gothic"/>
                <a:cs typeface="Century Gothic"/>
              </a:rPr>
              <a:t>Mean difference 13.2 ml/kg</a:t>
            </a:r>
          </a:p>
          <a:p>
            <a:pPr marL="0" indent="0" algn="l">
              <a:lnSpc>
                <a:spcPct val="104000"/>
              </a:lnSpc>
              <a:spcBef>
                <a:spcPts val="400"/>
              </a:spcBef>
              <a:buNone/>
            </a:pPr>
            <a:r>
              <a:rPr lang="en-US" sz="1750" dirty="0">
                <a:solidFill>
                  <a:srgbClr val="000000"/>
                </a:solidFill>
                <a:latin typeface="Century Gothic"/>
                <a:cs typeface="Century Gothic"/>
              </a:rPr>
              <a:t>95% CI -15.2 to 41.6</a:t>
            </a:r>
          </a:p>
          <a:p>
            <a:pPr marL="0" indent="0" algn="l">
              <a:lnSpc>
                <a:spcPct val="104000"/>
              </a:lnSpc>
              <a:spcBef>
                <a:spcPts val="400"/>
              </a:spcBef>
              <a:buNone/>
            </a:pPr>
            <a:r>
              <a:rPr lang="en-US" sz="1750" dirty="0">
                <a:solidFill>
                  <a:srgbClr val="000000"/>
                </a:solidFill>
                <a:latin typeface="Century Gothic"/>
                <a:cs typeface="Century Gothic"/>
              </a:rPr>
              <a:t>p = 0.42</a:t>
            </a:r>
          </a:p>
        </p:txBody>
      </p:sp>
      <p:sp>
        <p:nvSpPr>
          <p:cNvPr id="72" name="CardHead"/>
          <p:cNvSpPr/>
          <p:nvPr/>
        </p:nvSpPr>
        <p:spPr>
          <a:xfrm>
            <a:off x="4283066" y="20185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Where is 0?</a:t>
            </a:r>
          </a:p>
        </p:txBody>
      </p:sp>
      <p:sp>
        <p:nvSpPr>
          <p:cNvPr id="73" name="CardBody"/>
          <p:cNvSpPr/>
          <p:nvPr/>
        </p:nvSpPr>
        <p:spPr>
          <a:xfrm>
            <a:off x="4283066"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0 = no difference</a:t>
            </a:r>
          </a:p>
          <a:p>
            <a:pPr marL="0" indent="0" algn="l">
              <a:lnSpc>
                <a:spcPct val="104000"/>
              </a:lnSpc>
              <a:spcBef>
                <a:spcPts val="400"/>
              </a:spcBef>
              <a:buNone/>
            </a:pPr>
            <a:r>
              <a:rPr lang="en-US" sz="1750" dirty="0">
                <a:solidFill>
                  <a:srgbClr val="000000"/>
                </a:solidFill>
                <a:latin typeface="Century Gothic"/>
                <a:cs typeface="Century Gothic"/>
              </a:rPr>
              <a:t>The CI includes 0</a:t>
            </a:r>
          </a:p>
          <a:p>
            <a:pPr marL="0" indent="0" algn="l">
              <a:lnSpc>
                <a:spcPct val="104000"/>
              </a:lnSpc>
              <a:spcBef>
                <a:spcPts val="400"/>
              </a:spcBef>
              <a:buNone/>
            </a:pPr>
            <a:r>
              <a:rPr lang="en-US" sz="1750" dirty="0">
                <a:solidFill>
                  <a:srgbClr val="000000"/>
                </a:solidFill>
                <a:latin typeface="Century Gothic"/>
                <a:cs typeface="Century Gothic"/>
              </a:rPr>
              <a:t>So 'no difference' is compatible with the data</a:t>
            </a:r>
          </a:p>
        </p:txBody>
      </p:sp>
      <p:sp>
        <p:nvSpPr>
          <p:cNvPr id="74" name="CardHead"/>
          <p:cNvSpPr/>
          <p:nvPr/>
        </p:nvSpPr>
        <p:spPr>
          <a:xfrm>
            <a:off x="8108932" y="2018552"/>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How wide?</a:t>
            </a:r>
          </a:p>
        </p:txBody>
      </p:sp>
      <p:sp>
        <p:nvSpPr>
          <p:cNvPr id="75" name="CardBody"/>
          <p:cNvSpPr/>
          <p:nvPr/>
        </p:nvSpPr>
        <p:spPr>
          <a:xfrm>
            <a:off x="8108932"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From 15 ml/kg in one direction</a:t>
            </a:r>
          </a:p>
          <a:p>
            <a:pPr marL="0" indent="0" algn="l">
              <a:lnSpc>
                <a:spcPct val="104000"/>
              </a:lnSpc>
              <a:spcBef>
                <a:spcPts val="400"/>
              </a:spcBef>
              <a:buNone/>
            </a:pPr>
            <a:r>
              <a:rPr lang="en-US" sz="1750" dirty="0">
                <a:solidFill>
                  <a:srgbClr val="000000"/>
                </a:solidFill>
                <a:latin typeface="Century Gothic"/>
                <a:cs typeface="Century Gothic"/>
              </a:rPr>
              <a:t>to 42 ml/kg in the other</a:t>
            </a:r>
          </a:p>
          <a:p>
            <a:pPr marL="0" indent="0" algn="l">
              <a:lnSpc>
                <a:spcPct val="104000"/>
              </a:lnSpc>
              <a:spcBef>
                <a:spcPts val="400"/>
              </a:spcBef>
              <a:buNone/>
            </a:pPr>
            <a:r>
              <a:rPr lang="en-US" sz="1750" dirty="0">
                <a:solidFill>
                  <a:srgbClr val="000000"/>
                </a:solidFill>
                <a:latin typeface="Century Gothic"/>
                <a:cs typeface="Century Gothic"/>
              </a:rPr>
              <a:t>Very imprecise: only 48 patients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'Not significant' with a wide CI means 'we do not know', not 'no effect'.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Extra: Forest plot: the running example in one picture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Century Gothic"/>
                <a:cs typeface="Century Gothic"/>
              </a:rPr>
              <a:t>Paper 2 (Hyun 2023): positive vs negative cumulative fluid balance, propensity-matched cohorts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Day 1: CI crosses 1. Days 2 and 3: CIs above 1, so higher risk.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Extra: Log-rank, Cox and proportional hazards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Three words you will meet in every survival paper.</a:t>
            </a:r>
          </a:p>
        </p:txBody>
      </p:sp>
      <p:sp>
        <p:nvSpPr>
          <p:cNvPr id="70" name="CardHead"/>
          <p:cNvSpPr/>
          <p:nvPr/>
        </p:nvSpPr>
        <p:spPr>
          <a:xfrm>
            <a:off x="457200" y="2203761"/>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Log-rank test</a:t>
            </a:r>
          </a:p>
        </p:txBody>
      </p:sp>
      <p:sp>
        <p:nvSpPr>
          <p:cNvPr id="71" name="CardBody"/>
          <p:cNvSpPr/>
          <p:nvPr/>
        </p:nvSpPr>
        <p:spPr>
          <a:xfrm>
            <a:off x="457200" y="2843761"/>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Compares whole KM curves</a:t>
            </a:r>
          </a:p>
          <a:p>
            <a:pPr marL="0" indent="0" algn="l">
              <a:lnSpc>
                <a:spcPct val="104000"/>
              </a:lnSpc>
              <a:spcBef>
                <a:spcPts val="400"/>
              </a:spcBef>
              <a:buNone/>
            </a:pPr>
            <a:r>
              <a:rPr lang="en-US" sz="1750" dirty="0">
                <a:solidFill>
                  <a:srgbClr val="000000"/>
                </a:solidFill>
                <a:latin typeface="Century Gothic"/>
                <a:cs typeface="Century Gothic"/>
              </a:rPr>
              <a:t>Gives a p-value</a:t>
            </a:r>
          </a:p>
          <a:p>
            <a:pPr marL="0" indent="0" algn="l">
              <a:lnSpc>
                <a:spcPct val="104000"/>
              </a:lnSpc>
              <a:spcBef>
                <a:spcPts val="400"/>
              </a:spcBef>
              <a:buNone/>
            </a:pPr>
            <a:r>
              <a:rPr lang="en-US" sz="1750" dirty="0">
                <a:solidFill>
                  <a:srgbClr val="000000"/>
                </a:solidFill>
                <a:latin typeface="Century Gothic"/>
                <a:cs typeface="Century Gothic"/>
              </a:rPr>
              <a:t>No effect size, no adjustment</a:t>
            </a:r>
          </a:p>
        </p:txBody>
      </p:sp>
      <p:sp>
        <p:nvSpPr>
          <p:cNvPr id="72" name="CardHead"/>
          <p:cNvSpPr/>
          <p:nvPr/>
        </p:nvSpPr>
        <p:spPr>
          <a:xfrm>
            <a:off x="4283066" y="2203761"/>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Cox regression</a:t>
            </a:r>
          </a:p>
        </p:txBody>
      </p:sp>
      <p:sp>
        <p:nvSpPr>
          <p:cNvPr id="73" name="CardBody"/>
          <p:cNvSpPr/>
          <p:nvPr/>
        </p:nvSpPr>
        <p:spPr>
          <a:xfrm>
            <a:off x="4283066" y="2843761"/>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Gives a hazard ratio (HR)</a:t>
            </a:r>
          </a:p>
          <a:p>
            <a:pPr marL="0" indent="0" algn="l">
              <a:lnSpc>
                <a:spcPct val="104000"/>
              </a:lnSpc>
              <a:spcBef>
                <a:spcPts val="400"/>
              </a:spcBef>
              <a:buNone/>
            </a:pPr>
            <a:r>
              <a:rPr lang="en-US" sz="1750" dirty="0">
                <a:solidFill>
                  <a:srgbClr val="000000"/>
                </a:solidFill>
                <a:latin typeface="Century Gothic"/>
                <a:cs typeface="Century Gothic"/>
              </a:rPr>
              <a:t>with 95% CI, null = 1</a:t>
            </a:r>
          </a:p>
          <a:p>
            <a:pPr marL="0" indent="0" algn="l">
              <a:lnSpc>
                <a:spcPct val="104000"/>
              </a:lnSpc>
              <a:spcBef>
                <a:spcPts val="400"/>
              </a:spcBef>
              <a:buNone/>
            </a:pPr>
            <a:r>
              <a:rPr lang="en-US" sz="1750" dirty="0">
                <a:solidFill>
                  <a:srgbClr val="000000"/>
                </a:solidFill>
                <a:latin typeface="Century Gothic"/>
                <a:cs typeface="Century Gothic"/>
              </a:rPr>
              <a:t>Can adjust for confounders</a:t>
            </a:r>
          </a:p>
        </p:txBody>
      </p:sp>
      <p:sp>
        <p:nvSpPr>
          <p:cNvPr id="74" name="CardHead"/>
          <p:cNvSpPr/>
          <p:nvPr/>
        </p:nvSpPr>
        <p:spPr>
          <a:xfrm>
            <a:off x="8108932" y="2203761"/>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Proportional hazards</a:t>
            </a:r>
          </a:p>
        </p:txBody>
      </p:sp>
      <p:sp>
        <p:nvSpPr>
          <p:cNvPr id="75" name="CardBody"/>
          <p:cNvSpPr/>
          <p:nvPr/>
        </p:nvSpPr>
        <p:spPr>
          <a:xfrm>
            <a:off x="8108932" y="2843761"/>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Assumes the HR is constant</a:t>
            </a:r>
          </a:p>
          <a:p>
            <a:pPr marL="0" indent="0" algn="l">
              <a:lnSpc>
                <a:spcPct val="104000"/>
              </a:lnSpc>
              <a:spcBef>
                <a:spcPts val="400"/>
              </a:spcBef>
              <a:buNone/>
            </a:pPr>
            <a:r>
              <a:rPr lang="en-US" sz="1750" dirty="0">
                <a:solidFill>
                  <a:srgbClr val="000000"/>
                </a:solidFill>
                <a:latin typeface="Century Gothic"/>
                <a:cs typeface="Century Gothic"/>
              </a:rPr>
              <a:t>over time</a:t>
            </a:r>
          </a:p>
          <a:p>
            <a:pPr marL="0" indent="0" algn="l">
              <a:lnSpc>
                <a:spcPct val="104000"/>
              </a:lnSpc>
              <a:spcBef>
                <a:spcPts val="400"/>
              </a:spcBef>
              <a:buNone/>
            </a:pPr>
            <a:r>
              <a:rPr lang="en-US" sz="1750" dirty="0">
                <a:solidFill>
                  <a:srgbClr val="000000"/>
                </a:solidFill>
                <a:latin typeface="Century Gothic"/>
                <a:cs typeface="Century Gothic"/>
              </a:rPr>
              <a:t>Crossing curves: be careful</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Paper 2: Cox HR 2.13 (1.48-3.06): about double the hazard of death.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Extra: Correlation is not agreement, and not causation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High r does not mean two methods agree, nor that one causes the other.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100" b="1" dirty="0">
                <a:solidFill>
                  <a:srgbClr val="0D7377"/>
                </a:solidFill>
                <a:latin typeface="Century Gothic"/>
                <a:cs typeface="Century Gothic"/>
              </a:rPr>
              <a:t>Extra: Interaction in a model: does the effect differ between groups?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Parallel lines: adjust. Different slopes: report the effect for each group.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Century Gothic"/>
                <a:cs typeface="Century Gothic"/>
              </a:rPr>
              <a:t>Extra: The 'no effect' line: 0 for differences, 1 for ratios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Find the null value first, then see if the CI crosses 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Century Gothic"/>
                <a:cs typeface="Century Gothic"/>
              </a:rPr>
              <a:t>Extra: Prediction models: discrimination and calibration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 good prediction model separates patients AND gets the risks right, in new hospitals too.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Century Gothic"/>
                <a:cs typeface="Century Gothic"/>
              </a:rPr>
              <a:t>Extra: Prediction and machine learning: how to judge a model</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Machine learning is a flexible way to build prediction models; the same questions apply.</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What is it for?</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Predict an individual's risk</a:t>
            </a:r>
          </a:p>
          <a:p>
            <a:pPr marL="0" indent="0" algn="l">
              <a:lnSpc>
                <a:spcPct val="104000"/>
              </a:lnSpc>
              <a:spcBef>
                <a:spcPts val="400"/>
              </a:spcBef>
              <a:buNone/>
            </a:pPr>
            <a:r>
              <a:rPr lang="en-US" sz="1600" dirty="0">
                <a:solidFill>
                  <a:srgbClr val="000000"/>
                </a:solidFill>
                <a:latin typeface="Century Gothic"/>
                <a:cs typeface="Century Gothic"/>
              </a:rPr>
              <a:t>Not to explain causes</a:t>
            </a:r>
          </a:p>
          <a:p>
            <a:pPr marL="0" indent="0" algn="l">
              <a:lnSpc>
                <a:spcPct val="104000"/>
              </a:lnSpc>
              <a:spcBef>
                <a:spcPts val="400"/>
              </a:spcBef>
              <a:buNone/>
            </a:pPr>
            <a:r>
              <a:rPr lang="en-US" sz="1600" dirty="0">
                <a:solidFill>
                  <a:srgbClr val="000000"/>
                </a:solidFill>
                <a:latin typeface="Century Gothic"/>
                <a:cs typeface="Century Gothic"/>
              </a:rPr>
              <a:t>Who, when, which decision?</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Enough data?</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ML needs MANY events</a:t>
            </a:r>
          </a:p>
          <a:p>
            <a:pPr marL="0" indent="0" algn="l">
              <a:lnSpc>
                <a:spcPct val="104000"/>
              </a:lnSpc>
              <a:spcBef>
                <a:spcPts val="400"/>
              </a:spcBef>
              <a:buNone/>
            </a:pPr>
            <a:r>
              <a:rPr lang="en-US" sz="1600" dirty="0">
                <a:solidFill>
                  <a:srgbClr val="000000"/>
                </a:solidFill>
                <a:latin typeface="Century Gothic"/>
                <a:cs typeface="Century Gothic"/>
              </a:rPr>
              <a:t>Overfitting risk is high</a:t>
            </a:r>
          </a:p>
          <a:p>
            <a:pPr marL="0" indent="0" algn="l">
              <a:lnSpc>
                <a:spcPct val="104000"/>
              </a:lnSpc>
              <a:spcBef>
                <a:spcPts val="400"/>
              </a:spcBef>
              <a:buNone/>
            </a:pPr>
            <a:r>
              <a:rPr lang="en-US" sz="1600" dirty="0">
                <a:solidFill>
                  <a:srgbClr val="000000"/>
                </a:solidFill>
                <a:latin typeface="Century Gothic"/>
                <a:cs typeface="Century Gothic"/>
              </a:rPr>
              <a:t>Internal validation done?</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Does it work?</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Discrimination (AUC)</a:t>
            </a:r>
          </a:p>
          <a:p>
            <a:pPr marL="0" indent="0" algn="l">
              <a:lnSpc>
                <a:spcPct val="104000"/>
              </a:lnSpc>
              <a:spcBef>
                <a:spcPts val="400"/>
              </a:spcBef>
              <a:buNone/>
            </a:pPr>
            <a:r>
              <a:rPr lang="en-US" sz="1600" dirty="0">
                <a:solidFill>
                  <a:srgbClr val="000000"/>
                </a:solidFill>
                <a:latin typeface="Century Gothic"/>
                <a:cs typeface="Century Gothic"/>
              </a:rPr>
              <a:t>Calibration plot</a:t>
            </a:r>
          </a:p>
          <a:p>
            <a:pPr marL="0" indent="0" algn="l">
              <a:lnSpc>
                <a:spcPct val="104000"/>
              </a:lnSpc>
              <a:spcBef>
                <a:spcPts val="400"/>
              </a:spcBef>
              <a:buNone/>
            </a:pPr>
            <a:r>
              <a:rPr lang="en-US" sz="1600" dirty="0">
                <a:solidFill>
                  <a:srgbClr val="000000"/>
                </a:solidFill>
                <a:latin typeface="Century Gothic"/>
                <a:cs typeface="Century Gothic"/>
              </a:rPr>
              <a:t>EXTERNAL validation</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Is it reported?</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TRIPOD+AI checklist</a:t>
            </a:r>
          </a:p>
          <a:p>
            <a:pPr marL="0" indent="0" algn="l">
              <a:lnSpc>
                <a:spcPct val="104000"/>
              </a:lnSpc>
              <a:spcBef>
                <a:spcPts val="400"/>
              </a:spcBef>
              <a:buNone/>
            </a:pPr>
            <a:r>
              <a:rPr lang="en-US" sz="1600" dirty="0">
                <a:solidFill>
                  <a:srgbClr val="000000"/>
                </a:solidFill>
                <a:latin typeface="Century Gothic"/>
                <a:cs typeface="Century Gothic"/>
              </a:rPr>
              <a:t>Code, data, fairness</a:t>
            </a:r>
          </a:p>
          <a:p>
            <a:pPr marL="0" indent="0" algn="l">
              <a:lnSpc>
                <a:spcPct val="104000"/>
              </a:lnSpc>
              <a:spcBef>
                <a:spcPts val="400"/>
              </a:spcBef>
              <a:buNone/>
            </a:pPr>
            <a:r>
              <a:rPr lang="en-US" sz="1600" dirty="0">
                <a:solidFill>
                  <a:srgbClr val="000000"/>
                </a:solidFill>
                <a:latin typeface="Century Gothic"/>
                <a:cs typeface="Century Gothic"/>
              </a:rPr>
              <a:t>Impact on patients?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An AI score is a prediction model: ask for calibration and external validation.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Extra: Complete-case analysis vs multiple imputation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Multiple imputation keeps every patient and admits the uncertainty of the gaps.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Extra: Report and test your missing data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Four things a reviewer will look for.</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Report</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n missing per variable</a:t>
            </a:r>
          </a:p>
          <a:p>
            <a:pPr marL="0" indent="0" algn="l">
              <a:lnSpc>
                <a:spcPct val="104000"/>
              </a:lnSpc>
              <a:spcBef>
                <a:spcPts val="400"/>
              </a:spcBef>
              <a:buNone/>
            </a:pPr>
            <a:r>
              <a:rPr lang="en-US" sz="1600" dirty="0">
                <a:solidFill>
                  <a:srgbClr val="000000"/>
                </a:solidFill>
                <a:latin typeface="Century Gothic"/>
                <a:cs typeface="Century Gothic"/>
              </a:rPr>
              <a:t>Flow diagram: who and why</a:t>
            </a:r>
          </a:p>
          <a:p>
            <a:pPr marL="0" indent="0" algn="l">
              <a:lnSpc>
                <a:spcPct val="104000"/>
              </a:lnSpc>
              <a:spcBef>
                <a:spcPts val="400"/>
              </a:spcBef>
              <a:buNone/>
            </a:pPr>
            <a:r>
              <a:rPr lang="en-US" sz="1600" dirty="0">
                <a:solidFill>
                  <a:srgbClr val="000000"/>
                </a:solidFill>
                <a:latin typeface="Century Gothic"/>
                <a:cs typeface="Century Gothic"/>
              </a:rPr>
              <a:t>In Table 1 or a footnote</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Compare</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Patients with vs without</a:t>
            </a:r>
          </a:p>
          <a:p>
            <a:pPr marL="0" indent="0" algn="l">
              <a:lnSpc>
                <a:spcPct val="104000"/>
              </a:lnSpc>
              <a:spcBef>
                <a:spcPts val="400"/>
              </a:spcBef>
              <a:buNone/>
            </a:pPr>
            <a:r>
              <a:rPr lang="en-US" sz="1600" dirty="0">
                <a:solidFill>
                  <a:srgbClr val="000000"/>
                </a:solidFill>
                <a:latin typeface="Century Gothic"/>
                <a:cs typeface="Century Gothic"/>
              </a:rPr>
              <a:t>complete data</a:t>
            </a:r>
          </a:p>
          <a:p>
            <a:pPr marL="0" indent="0" algn="l">
              <a:lnSpc>
                <a:spcPct val="104000"/>
              </a:lnSpc>
              <a:spcBef>
                <a:spcPts val="400"/>
              </a:spcBef>
              <a:buNone/>
            </a:pPr>
            <a:r>
              <a:rPr lang="en-US" sz="1600" dirty="0">
                <a:solidFill>
                  <a:srgbClr val="000000"/>
                </a:solidFill>
                <a:latin typeface="Century Gothic"/>
                <a:cs typeface="Century Gothic"/>
              </a:rPr>
              <a:t>Are they different?</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Sensitivity (Level 2)</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Complete-case vs MI</a:t>
            </a:r>
          </a:p>
          <a:p>
            <a:pPr marL="0" indent="0" algn="l">
              <a:lnSpc>
                <a:spcPct val="104000"/>
              </a:lnSpc>
              <a:spcBef>
                <a:spcPts val="400"/>
              </a:spcBef>
              <a:buNone/>
            </a:pPr>
            <a:r>
              <a:rPr lang="en-US" sz="1600" dirty="0">
                <a:solidFill>
                  <a:srgbClr val="000000"/>
                </a:solidFill>
                <a:latin typeface="Century Gothic"/>
                <a:cs typeface="Century Gothic"/>
              </a:rPr>
              <a:t>Example script: 05_missing.R</a:t>
            </a:r>
          </a:p>
          <a:p>
            <a:pPr marL="0" indent="0" algn="l">
              <a:lnSpc>
                <a:spcPct val="104000"/>
              </a:lnSpc>
              <a:spcBef>
                <a:spcPts val="400"/>
              </a:spcBef>
              <a:buNone/>
            </a:pPr>
            <a:r>
              <a:rPr lang="en-US" sz="1600" dirty="0">
                <a:solidFill>
                  <a:srgbClr val="000000"/>
                </a:solidFill>
                <a:latin typeface="Century Gothic"/>
                <a:cs typeface="Century Gothic"/>
              </a:rPr>
              <a:t>Done hands-on in Level 2</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Plan</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Write it in the SAP</a:t>
            </a:r>
          </a:p>
          <a:p>
            <a:pPr marL="0" indent="0" algn="l">
              <a:lnSpc>
                <a:spcPct val="104000"/>
              </a:lnSpc>
              <a:spcBef>
                <a:spcPts val="400"/>
              </a:spcBef>
              <a:buNone/>
            </a:pPr>
            <a:r>
              <a:rPr lang="en-US" sz="1600" dirty="0">
                <a:solidFill>
                  <a:srgbClr val="000000"/>
                </a:solidFill>
                <a:latin typeface="Century Gothic"/>
                <a:cs typeface="Century Gothic"/>
              </a:rPr>
              <a:t>before you see the data</a:t>
            </a:r>
          </a:p>
          <a:p>
            <a:pPr marL="0" indent="0" algn="l">
              <a:lnSpc>
                <a:spcPct val="104000"/>
              </a:lnSpc>
              <a:spcBef>
                <a:spcPts val="400"/>
              </a:spcBef>
              <a:buNone/>
            </a:pPr>
            <a:r>
              <a:rPr lang="en-US" sz="1600" dirty="0">
                <a:solidFill>
                  <a:srgbClr val="000000"/>
                </a:solidFill>
                <a:latin typeface="Century Gothic"/>
                <a:cs typeface="Century Gothic"/>
              </a:rPr>
              <a:t>Part 3 of your proposal</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Missing data are a result: report them, handle them, test the answer.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Century Gothic"/>
                <a:cs typeface="Century Gothic"/>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