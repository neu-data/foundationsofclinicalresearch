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We meet online, 19:30 to 22:30 with a 15-minute break. Last Saturday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 a poll, or two or three people called on with the microphone on.</a:t>
            </a:r>
          </a:p>
          <a:p>
            <a:r>
              <a:rPr lang="en-US" sz="1400" b="0" dirty="0"/>
              <a:t>The course dataset FLUID-ICU comes back twice: in 6.2 (comparing groups) and 6.4 (models, survival and missing data). We work through the five FLUID-ICU questions together: Question 1 (Q1) in full, Q2 to Q5 as shorter worked examples. Watch closely the question you chose for your manuscript: these interpretations become the Results section you write in Weeks 7-8 from its results pack.</a:t>
            </a:r>
          </a:p>
          <a:p>
            <a:r>
              <a:rPr lang="en-US" sz="1400" b="0" dirty="0"/>
              <a:t>Abbreviations used today, each defined on its slide: CI (confidence interval), OR (odds ratio), HR (hazard ratio), SAP (statistical analysis plan).</a:t>
            </a:r>
          </a:p>
          <a:p>
            <a:r>
              <a:rPr lang="en-US" sz="1400" b="0" dirty="0"/>
              <a:t>Timing: recap 19:30, 6.1 at 19:40, 6.2 at 20:20, break at 20:40, 6.3 at 20:55, 6.4 at 21:30, proposal builder at 21:55, wrap-up at 22:25.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Q1 as a poll (mean (SD) or median (IQR)). Q2 and Q3: call on two or three people each. Then reveal.</a:t>
            </a:r>
          </a:p>
          <a:p>
            <a:r>
              <a:rPr lang="en-US" sz="1400" b="0" dirty="0"/>
              <a:t>Q1: median (IQR, interquartile range),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Before starting 6.1, read three or four of the Session 5 exit answers (sent in the chat last week) and correct any common misunderstanding.</a:t>
            </a:r>
          </a:p>
          <a:p>
            <a:r>
              <a:rPr lang="en-US" sz="1400" b="0" dirty="0"/>
              <a:t>Timing: 10 minutes (19:30 to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19:40 to 20:20: confidence intervals, p-values, one- or two-sided tests, five p-value mistakes, a check, errors and power, sample size with a 5-minute live demo, choosing a test, paired data,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evening. Take your time.</a:t>
            </a:r>
          </a:p>
          <a:p>
            <a:r>
              <a:rPr lang="en-US" sz="1400" b="0" dirty="0"/>
              <a:t>We simulated the same study 20 times, 25 patients each, from a population where the true mean fluid balance is 30 ml/kg (dashed line). Each study gives a different estimate (dot) and a different 95% confidence interval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(call on two or three people, microphone on):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H0).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Boulet 2024, a pilot RCT of restrictive vs usual fluids in septic shock, in the course folder, Course/Papers)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Note the words 'in either direction': the orange area sits in both tails. That is a two-sided p-value, the default. The next slide explains why.</a:t>
            </a:r>
          </a:p>
          <a:p>
            <a:r>
              <a:rPr lang="en-US" sz="1400" b="0" dirty="0"/>
              <a:t>Ask (call on two or three people, microphone on): does a small p-value tell you the effect is big? Expected: no. That is mistake number 2, two slides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starts from two hypotheses. H0, the null hypothesis: no difference between the groups. H1, the alternative hypothesis: there is a difference. The question is whether H1 allows a difference in both directions or in one direction only.</a:t>
            </a:r>
          </a:p>
          <a:p>
            <a:r>
              <a:rPr lang="en-US" sz="1400" b="0" dirty="0"/>
              <a:t>Two-sided (the default): H1 says 'the restrictive strategy changes mortality', up or down. A result far out in either tail counts as evidence. This protects patients: a new treatment can harm as well as help, and we want to detect both. Paper 1's sample size used alpha 5% two-sided. The FLUID-ICU SAP (statistical analysis plan, Course/Data/SAP_FLUID-ICU.md) uses two-sided tests throughout.</a:t>
            </a:r>
          </a:p>
          <a:p>
            <a:r>
              <a:rPr lang="en-US" sz="1400" b="0" dirty="0"/>
              <a:t>One-sided: H1 says 'the restrictive strategy lowers mortality'. A result in the other direction, however extreme, is treated as 'no difference'. Because only one tail counts, the same data give about half the p-value (a two-sided p of 0.08 becomes a one-sided p of 0.04). That is the temptation, and why reviewers distrust one-sided tests.</a:t>
            </a:r>
          </a:p>
          <a:p>
            <a:r>
              <a:rPr lang="en-US" sz="1400" b="0" dirty="0"/>
              <a:t>When is one-sided acceptable? Only with a strong reason stated in the protocol before the data are seen, typically when a difference in the other direction is impossible or would lead to exactly the same decision. That is rare in clinical research. Switching to one-sided after seeing the results is a form of p-hacking.</a:t>
            </a:r>
          </a:p>
          <a:p>
            <a:r>
              <a:rPr lang="en-US" sz="1400" b="0" dirty="0"/>
              <a:t>Not the same as non-inferiority: a non-inferiority trial (Session 3, the margin picture) asks whether a new treatment is not worse than the old one by more than a margin fixed in advance. It looks one-directional, but it is a different design, with its own hypotheses, margin, sample size and analysis. Do not turn a superiority trial into a non-inferiority one by switching to a one-sided test.</a:t>
            </a:r>
          </a:p>
          <a:p>
            <a:r>
              <a:rPr lang="en-US" sz="1400" b="0" dirty="0"/>
              <a:t>Ask (poll): a trial reports 'one-sided p = 0.03' without explaining why. Convinced? Expected: no. Ask why one-sided, and whether it was planned. The two-sided p would be about 0.06.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Launch a quick true/false poll on each sentence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course appraisal checklist asks exactly this: no 'trend' for p = 0.42.</a:t>
            </a:r>
          </a:p>
          <a:p>
            <a:r>
              <a:rPr lang="en-US" sz="1400" b="0" dirty="0"/>
              <a:t>5. 'Results: p = 0.02.' Not enough: the reader needs the size of the effect and its uncertainty. Paper 2 (Hyun 2023, a propensity-matched cohort of fluid balance and mortality, Course/Papers) does it right: hazard ratio (HR) 2.13 (95% CI 1.48-3.06), p &lt; 0.001.</a:t>
            </a:r>
          </a:p>
          <a:p>
            <a:r>
              <a:rPr lang="en-US" sz="1400" b="0" dirty="0"/>
              <a:t>These five statements are in Exercise 1 (true or false) of the Session 6 exercise sheet (PDF sent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One true/false poll per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class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(call on two or three people, microphone on): which error is worse when testing a new, expensive and risky drug? And for a cheap, safe intervention? There is no single right answer. Read two or three replies.</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standard deviation, SD). Alpha and power are usually fixed at 5% (two-sided)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5 minutes (shortened from 8 to make room for the one-sided vs two-sided slide). Full script with expected outputs in Course/Demos/s6_demo.md (Part A).</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two-sided. Expected: about 356 per group without continuity correction (about 376 with it). Different methods give slightly different numbers. That is normal.</a:t>
            </a:r>
          </a:p>
          <a:p>
            <a:r>
              <a:rPr lang="en-US" sz="1400" b="0" dirty="0"/>
              <a:t>Step 4 (one or two changes only): power 90% (n rises to about 477 per group). Difference 40% vs 35% (n rises above 1400 per group). Ask the class to predict the direction in a poll before you click.</a:t>
            </a:r>
          </a:p>
          <a:p>
            <a:r>
              <a:rPr lang="en-US" sz="1400" b="0" dirty="0"/>
              <a:t>Step 5: if the internet fails, open Course/Resources/tools/sample_size_calculator.xlsx and show the same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in the last column: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table is one of the take-home tools of the course (it is also in the Session 6 exercise sheet, Exercise 2). It replaces the earlier flow-chart picture with an editable table. The content is the same.</a:t>
            </a:r>
          </a:p>
          <a:p>
            <a:r>
              <a:rPr lang="en-US" sz="1400" b="0" dirty="0"/>
              <a:t>Ask (call on two or three people, microphone on): comparing the proportion with acute kidney injury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table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(call on two or three people, microphone on):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(call on two or three people, microphone on):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One poll per scenario with the four test names as options, using the decision table (number or category? shape or counts? paired?).</a:t>
            </a:r>
          </a:p>
          <a:p>
            <a:r>
              <a:rPr lang="en-US" sz="1400" b="0" dirty="0"/>
              <a:t>1. Mann-Whitney U: numerical, skewed, two independent groups (this is the FLUID-ICU ICU-stay question, Q5).</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20:20 to 20:40: a 6-minute live demo of the tests, the results table, a worked example on Q1, then 7 minutes interpreting the comparisons together: Q1 in full, Q2 to Q5 briefly).</a:t>
            </a:r>
          </a:p>
          <a:p>
            <a:r>
              <a:rPr lang="en-US" sz="1400" b="0" dirty="0"/>
              <a:t>Key message: the decision table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6 minutes. Full script: Course/Demos/s6_demo.md (Part B), using Course/Data/R/03_compare.R.</a:t>
            </a:r>
          </a:p>
          <a:p>
            <a:r>
              <a:rPr lang="en-US" sz="1400" b="0" dirty="0"/>
              <a:t>For each comparison, call on someone to name the test before you run it (decision table).</a:t>
            </a:r>
          </a:p>
          <a:p>
            <a:r>
              <a:rPr lang="en-US" sz="1400" b="0" dirty="0"/>
              <a:t>Show: age with a t-test. SOFA (severity score)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Q1): 134/373 (35.9%) vs 45/245 (18.4%), risk difference 17.6 percentage points (95% CI 10.7 to 24.4), RR 1.96. Chi-square p &lt; 0.001.</a:t>
            </a:r>
          </a:p>
          <a:p>
            <a:r>
              <a:rPr lang="en-US" sz="1400" b="0" dirty="0"/>
              <a:t>AKI (binary, Q2): 230/373 (61.7%) vs 71/245 (29.0%). Chi-square p &lt; 0.001.</a:t>
            </a:r>
          </a:p>
          <a:p>
            <a:r>
              <a:rPr lang="en-US" sz="1400" b="0" dirty="0"/>
              <a:t>Ventilator-free days (count 0-28, piled up at 0 and 28, Q3): median 20 (0 to 28) vs 28 (22 to 28). Mann-Whitney p &lt; 0.001.</a:t>
            </a:r>
          </a:p>
          <a:p>
            <a:r>
              <a:rPr lang="en-US" sz="1400" b="0" dirty="0"/>
              <a:t>ICU stay in survivors (skewed, Q5): median 7.5 (5.2 to 11.2) vs 4.8 (3.3 to 7.1) days. Mann-Whitney p &lt; 0.001, Hodges-Lehmann difference 2.5 days (95% CI 1.8 to 3.2).</a:t>
            </a:r>
          </a:p>
          <a:p>
            <a:r>
              <a:rPr lang="en-US" sz="1400" b="0" dirty="0"/>
              <a:t>(Q4 compares lactate between non-survivors and survivors: median 3.1 vs 2.3 mmol/L, it is in the Q4 results pack.)</a:t>
            </a:r>
          </a:p>
          <a:p>
            <a:r>
              <a:rPr lang="en-US" sz="1400" b="0" dirty="0"/>
              <a:t>All unadjusted: the positive-balance group was sicker at the start (Table 1). These differences mix the effect of fluid with the effect of severity. That is why 6.4 adjusts.</a:t>
            </a:r>
          </a:p>
          <a:p>
            <a:r>
              <a:rPr lang="en-US" sz="1400" b="0" dirty="0"/>
              <a:t>Ask (call on two or three people, microphone on): which number would you put in the abstract for death: p &lt; 0.001, or the risk difference with its CI? Expected: the risk difference with its CI (and later the adjusted OR).</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(two-sided):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7 minutes (20:33 to 20:40). Exercise 4 of the Session 6 exercise sheet has the same questions. Each participant completes it later for the question they chose. Model answers in Course/Solutions/s6_solutions.md.</a:t>
            </a:r>
          </a:p>
          <a:p>
            <a:r>
              <a:rPr lang="en-US" sz="1400" b="0" dirty="0"/>
              <a:t>Q1 in full (4 minutes): poll on the test (chi-square: binary outcome, two large groups). Call on two or three people for the effect. Type the class sentence in the shared document: 'Twenty-eight-day mortality was 35.9% with a positive and 18.4% with a negative balance (risk difference 17.6 percentage points, 95% CI 10.7 to 24.4).' Then ask about bias: confounding by indication. The positive-balance group was sicker.</a:t>
            </a:r>
          </a:p>
          <a:p>
            <a:r>
              <a:rPr lang="en-US" sz="1400" b="1" dirty="0"/>
              <a:t>Q2 to Q5 (3 minutes), one sentence each, read by the instructor:</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restart at 20:55 with 6.3 (correlation, linear and logistic regression, adjustment, Kaplan-Meier and Cox, the FLUID-ICU models). Anyone may post a question about the comparisons in the chat.</a:t>
            </a:r>
          </a:p>
          <a:p>
            <a:r>
              <a:rPr lang="en-US" sz="1400" b="0" dirty="0"/>
              <a:t>Break: 15 minutes (20:40 to 20:55). Start again on time.</a:t>
            </a:r>
          </a:p>
          <a:p>
            <a:r>
              <a:rPr lang="en-US" sz="1400" b="0" dirty="0"/>
              <a:t>During the break: open 04_models.R and 05_missing.R and check the fallback figures for 6.4.</a:t>
            </a:r>
          </a:p>
          <a:p>
            <a:r>
              <a:rPr lang="en-US" sz="1400" b="0" dirty="0"/>
              <a:t>Collect the questions posted in the chat about the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20:55 to 21:30: correlation, linear and logistic regression, which model, adjustment, reading a regression table with a 4-minute check, overfitting, censoring and reading a Kaplan-Meier curve, interaction, null values and prediction/machine learning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(call on two or three people, microphone on):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PaO2 divided by FiO2,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(call on two or three people, microphone on):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(OR):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(call on two or three people, microphone on):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(call on two or three people, microphone on): a study of length of stay in days analysed as a number. Which model and which no-effect value? Expected: linear, 0. (A statistician may choose a different model for skewed data, but the reading principle is the same.)</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in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(call on two or three people, microphone on):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(last column):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a:p>
            <a:r>
              <a:rPr lang="en-US" sz="1400" b="0" dirty="0"/>
              <a:t>This slide is now an editable table (it was a picture before). The 'Does the CI include 1?' column replaces the red colouring.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(4 minutes), on the running-example table from the previous slide (go back to it on screen).</a:t>
            </a:r>
          </a:p>
          <a:p>
            <a:r>
              <a:rPr lang="en-US" sz="1400" b="0" dirty="0"/>
              <a:t>Poll 1: yes, 0.65 to 1.30 includes 1: compatible with no association between sex and death.</a:t>
            </a:r>
          </a:p>
          <a:p>
            <a:r>
              <a:rPr lang="en-US" sz="1400" b="0" dirty="0"/>
              <a:t>Poll 2: each extra SOFA point multiplies the odds of death by 1.15, adjusted for the other variables (options: '15% more deaths per point' is the classic wrong answer: it is odds, not risk).</a:t>
            </a:r>
          </a:p>
          <a:p>
            <a:r>
              <a:rPr lang="en-US" sz="1400" b="0" dirty="0"/>
              <a:t>Call on two or three people, pick a good answer and refine it on screen. Model sentence: 'After adjusting for age, SOFA, sex and lactate, patients with a positive fluid balance had about 1.8 times the odds of death by day 28 (OR 1.80, 95% CI 1.20 to 2.70).'</a:t>
            </a:r>
          </a:p>
          <a:p>
            <a:r>
              <a:rPr lang="en-US" sz="1400" b="0" dirty="0"/>
              <a:t>What to listen for: correct reference groups ('vs no'), the word 'odds' rather than 'risk', 'associated with' rather than 'causes'.</a:t>
            </a:r>
          </a:p>
          <a:p>
            <a:r>
              <a:rPr lang="en-US" sz="1400" b="0" dirty="0"/>
              <a:t>Extra practice (homework): Exercise 5 of the Session 6 exercise sheet (a mock table on delirium, another example) and Exercise 6 (read a Kaplan-Meier curve). Answers in Course/Solutions/s6_solutions.md.</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(call on two or three people, microphone on):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(call on two or three people, microphone on):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(section 6.4).</a:t>
            </a:r>
          </a:p>
          <a:p>
            <a:r>
              <a:rPr lang="en-US" sz="1400" b="0" dirty="0"/>
              <a:t>Paper 2 shows exactly this kind of figure (Kaplan-Meier survival to day 28 in its matched cohorts).</a:t>
            </a:r>
          </a:p>
          <a:p>
            <a:r>
              <a:rPr lang="en-US" sz="1400" b="0" dirty="0"/>
              <a:t>Ask (call on two or three people, microphone on):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21:30 to 21:55: the SAP, crude vs adjusted OR, the adjusted model, Kaplan-Meier and Cox, missing lactate, complete-case vs multiple imputation, then 7 minutes interpreting the models together: Q1 in full, Q2 to Q5 briefly).</a:t>
            </a:r>
          </a:p>
          <a:p>
            <a:r>
              <a:rPr lang="en-US" sz="1400" b="0" dirty="0"/>
              <a:t>Key message: this is 6.3 (models) applied to FLUID-ICU, and the payoff of Weeks 5-6: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exists for FLUID-ICU. Show Course/Data/SAP_FLUID-ICU.md on the shared screen.</a:t>
            </a:r>
          </a:p>
          <a:p>
            <a:r>
              <a:rPr lang="en-US" sz="1400" b="0" dirty="0"/>
              <a:t>Primary analysis: 28-day mortality by multivariable logistic regression. Effect measure: odds ratio with 95% CI. The crude OR and the risk difference are also reported. All tests two-sided.</a:t>
            </a:r>
          </a:p>
          <a:p>
            <a:r>
              <a:rPr lang="en-US" sz="1400" b="0" dirty="0"/>
              <a:t>Confounders chosen in advance from clinical knowledge (a simple causal diagram): age. Severity (SOFA, lactate, vasopressor, mechanical ventilation). Chronic kidney disease. Variables measured after day 3 (acute kidney injury,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(call on two or three people, microphone on): why does writing this first protect the authors? Expected: nobody can accuse them of choosing the analysis that gave the 'best' p-value (or of switching to a one-sided 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(Q1). Take 4 minutes.</a:t>
            </a:r>
          </a:p>
          <a:p>
            <a:r>
              <a:rPr lang="en-US" sz="1400" b="0" dirty="0"/>
              <a:t>Crude odds ratio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(call on two or three people, microphone on):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(chronic kidney disease).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(call on two or three people, microphone on):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(Q1)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(call on two or three people, microphone on):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 And never rescue p = 0.053 by switching to a one-sided test (6.1).</a:t>
            </a:r>
          </a:p>
          <a:p>
            <a:r>
              <a:rPr lang="en-US" sz="1400" b="0" dirty="0"/>
              <a:t>Ask (call on two or three people, microphone on):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one place where participants see the three ratios side by side (reviewer request).</a:t>
            </a:r>
          </a:p>
          <a:p>
            <a:r>
              <a:rPr lang="en-US" sz="1400" b="0" dirty="0"/>
              <a:t>RR: a proportion of patients with the event in each group, used in trials and cohorts with a fixed follow-up (Session 4, 2x2 table).</a:t>
            </a:r>
          </a:p>
          <a:p>
            <a:r>
              <a:rPr lang="en-US" sz="1400" b="0" dirty="0"/>
              <a:t>OR: odds instead of risk. It is what a case-control study can estimate and what logistic regression reports. When the outcome is rare (under about 10%) the OR is close to the RR. When the outcome is common, the OR looks bigger than the RR (Session 4).</a:t>
            </a:r>
          </a:p>
          <a:p>
            <a:r>
              <a:rPr lang="en-US" sz="1400" b="0" dirty="0"/>
              <a:t>HR: compares the rate of events over time and uses everyone's follow-up time, including censored patients. Cox regression reports it (Paper 2 and FLUID-ICU Q1).</a:t>
            </a:r>
          </a:p>
          <a:p>
            <a:r>
              <a:rPr lang="en-US" sz="1400" b="0" dirty="0"/>
              <a:t>Ask (call on two or three people, microphone on): in Paper 2, deaths by day 28 were compared over time. Which ratio? Expected: HR.</a:t>
            </a:r>
          </a:p>
          <a:p>
            <a:r>
              <a:rPr lang="en-US" sz="1400" b="0" dirty="0"/>
              <a:t>Timing: 2 minutes, taken from the discussion on the Cox slide before, so the segment time is unchanged.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 (This slide stays a picture: the small data tables, with the hidden values in red, are the point.)</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(call on two or three people, microphone on):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(call on two or three people, microphone on):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(call on two or three people, microphone on):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7 minutes (21:48 to 21:55). Exercise 8 of the Session 6 exercise sheet has the same questions. Each participant completes it later for the question they chose. Model answers in Course/Solutions/s6_solutions.md.</a:t>
            </a:r>
          </a:p>
          <a:p>
            <a:r>
              <a:rPr lang="en-US" sz="1400" b="0" dirty="0"/>
              <a:t>Q1 in full (4 minutes): crude OR 2.49 (1.70 to 3.70), adjusted 1.62 (1.02 to 2.59): it shrank because severity was a confounder (confounding by indication). Poll: no, the adjusted CI does not include 1, but its lower limit is close to 1. Type the class sentences: 'Positive fluid balance was associated with higher 28-day mortality (crude OR 2.49, 95% CI 1.70 to 3.70). After adjustment for age, SOFA, lactate, vasopressor use, mechanical ventilation and chronic kidney disease, the association was smaller (adjusted OR 1.62, 95% CI 1.02 to 2.59).' Mention the Cox adjusted HR 1.46 (1.00 to 2.13) and the multiple-imputation adjusted OR 1.70 (1.09 to 2.64).</a:t>
            </a:r>
          </a:p>
          <a:p>
            <a:r>
              <a:rPr lang="en-US" sz="1400" b="1" dirty="0"/>
              <a:t>Q2 to Q5 (3 minutes), one line each, read by the instructor:</a:t>
            </a:r>
          </a:p>
          <a:p>
            <a:r>
              <a:rPr lang="en-US" sz="1400" b="0" dirty="0"/>
              <a:t>Q2: AKI OR per 10 ml/kg crude 1.37 (1.27 to 1.47), adjusted 1.27 (1.16 to 1.40).</a:t>
            </a:r>
          </a:p>
          <a:p>
            <a:r>
              <a:rPr lang="en-US" sz="1400" b="0" dirty="0"/>
              <a:t>Q3: ventilator-free days per 10 ml/kg crude -1.48 (-1.84 to -1.13), adjusted -0.61 (-1.00 to -0.21) days.</a:t>
            </a:r>
          </a:p>
          <a:p>
            <a:r>
              <a:rPr lang="en-US" sz="1400" b="0" dirty="0"/>
              <a:t>Q4: lactate OR per 1 mmol/L adjusted, complete case 1.39 (1.24 to 1.57) vs multiple imputation 1.45 (1.29 to 1.64).</a:t>
            </a:r>
          </a:p>
          <a:p>
            <a:r>
              <a:rPr lang="en-US" sz="1400" b="0" dirty="0"/>
              <a:t>Q5: ICU stay ratio of geometric means crude 1.50 (1.34 to 1.68),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each participant drafts in Session 7 for their chosen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the instructor starts modelling.</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 and 'all tests two-sided'.</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Level 2 touches on imputation. Imputation and sensitivity analyses in depth are in Level 3 (Module H).</a:t>
            </a:r>
          </a:p>
          <a:p>
            <a:r>
              <a:rPr lang="en-US" sz="1400" b="0" dirty="0"/>
              <a:t>Each participant writes this for their own research question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 to 22:25). Template: Course/Templates/Research_Proposal_Template.docx. Worksheet: Exercise 9 of the Session 6 exercise sheet, with the same headings.</a:t>
            </a:r>
          </a:p>
          <a:p>
            <a:r>
              <a:rPr lang="en-US" sz="1400" b="0" dirty="0"/>
              <a:t>Model live (18 minutes) on the running example, typing into a copy of the template on the shared screen: sample-size statement with its four inputs and sources (6 min, using Course/Resources/tools/sample_size_calculator.xlsx), plain-language analysis plan (5 min), confounders within about 10 events per variable (3 min), missing-data plan (4 min). Call on people for suggestions as you go.</a:t>
            </a:r>
          </a:p>
          <a:p>
            <a:r>
              <a:rPr lang="en-US" sz="1400" b="0" dirty="0"/>
              <a:t>Individual slot (10 minutes): everyone writes the four sample-size inputs for their own study and where each comes from (cameras can stay off). A final number is not needed yet. Then 2 minutes for questions in the chat.</a:t>
            </a:r>
          </a:p>
          <a:p>
            <a:r>
              <a:rPr lang="en-US" sz="1400" b="0" dirty="0"/>
              <a:t>The FLUID-ICU SAP is a good model: participants have just seen that it was written before the analysis.</a:t>
            </a:r>
          </a:p>
          <a:p>
            <a:r>
              <a:rPr lang="en-US" sz="1400" b="0" dirty="0"/>
              <a:t>Common problems to mention while modelling: 'SPSS will be used' as the analysis plan. Stepwise selection. No word on missing data. Sample size = 'all patients we can get'. A one-sided test without a reason.</a:t>
            </a:r>
          </a:p>
          <a:p>
            <a:r>
              <a:rPr lang="en-US" sz="1400" b="0" dirty="0"/>
              <a:t>Homework: complete Part 3 (analysis plan, confounders, missing-data plan) in your own template. Offer to check sample-size inputs by email.</a:t>
            </a:r>
          </a:p>
          <a:p>
            <a:r>
              <a:rPr lang="en-US" sz="1400" b="0" dirty="0"/>
              <a:t>At 22:25,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call on someone for a one-line definition, microphone on.</a:t>
            </a:r>
          </a:p>
          <a:p>
            <a:r>
              <a:rPr lang="en-US" sz="1400" b="0" dirty="0"/>
              <a:t>95% CI (confidence interval): range of plausible values. p-value: how surprising the data would be if there were no effect. Two-sided by default.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odds ratio after accounting for confounders. Hazard ratio: ratio of death rates over time (Cox). Censoring: follow-up ended without the event.</a:t>
            </a:r>
          </a:p>
          <a:p>
            <a:r>
              <a:rPr lang="en-US" sz="1400" b="0" dirty="0"/>
              <a:t>SAP (statistical analysis plan):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(raise-hand button)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with two-sided tests. Missing lactate was reported, handled with multiple imputation and checked against complete-case analysis.</a:t>
            </a:r>
          </a:p>
          <a:p>
            <a:r>
              <a:rPr lang="en-US" sz="1400" b="0" dirty="0"/>
              <a:t>Next two Saturdays: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(22:25 to 22:30), including the key-words and recap slides.</a:t>
            </a:r>
          </a:p>
          <a:p>
            <a:r>
              <a:rPr lang="en-US" sz="1400" b="0" dirty="0"/>
              <a:t>Exit question in the chat. Purpose: it checks the single most important skill of today, reading a CI. A good answer: 'The true hazard ratio is plausibly between 1.48 and 3.06. All values are above 1, so the data suggest higher mortality.' Read the answers before Session 7 and open Session 7 with two or three of them.</a:t>
            </a:r>
          </a:p>
          <a:p>
            <a:r>
              <a:rPr lang="en-US" sz="1400" b="0" dirty="0"/>
              <a:t>Homework: finish Part 3 of your own proposal. Start your proposal slides (6 slides, Course/Assignment/presentation_guide.md): everyone submits slides, and about five volunteers present in Session 8 (6 minutes each). Re-read the results pack of the question you chose (Q1 to Q5) and your notes from today's worked examples, which become the Methods and Results you draft in Session 7. Optional exercises in the Session 6 exercise sheet (Exercises 2, 3, 5, 6 and 7).</a:t>
            </a:r>
          </a:p>
          <a:p>
            <a:r>
              <a:rPr lang="en-US" sz="1400" b="0" dirty="0"/>
              <a:t>Thank the class: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the interaction extra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Question 2 (Q2), acute kidney injury (AKI).</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a:p>
            <a:r>
              <a:rPr lang="en-US" sz="1400" b="0" dirty="0"/>
              <a:t>Useful for anyone who chose Q2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Question 3 (Q3).</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 Useful for anyone who chose Q3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a:t>
            </a:r>
          </a:p>
          <a:p>
            <a:r>
              <a:rPr lang="en-US" sz="1400" b="0" dirty="0"/>
              <a:t>Ask: if we had studied 400 patients instead of 40, what would happen to the interval? Expected: narrower. That is the dance of the confidence intervals and the sample-size slide in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the appraisal in Sessions 7-8.</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(6.3 and 6.4).</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(6.3 and 6.4)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(acute respiratory distress syndrome).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a two-sided test),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(AUC, area under the ROC curve)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saw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0.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1.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2.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3.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24.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5.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6.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7.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8.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 Id="rId4" Type="http://schemas.openxmlformats.org/officeDocument/2006/relationships/image" Target="../media/image29.pn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median (IQR)</a:t>
            </a:r>
          </a:p>
          <a:p>
            <a:pPr marL="0" indent="0" algn="ctr">
              <a:lnSpc>
                <a:spcPct val="104000"/>
              </a:lnSpc>
              <a:spcBef>
                <a:spcPts val="300"/>
              </a:spcBef>
              <a:buNone/>
            </a:pPr>
            <a:r>
              <a:rPr lang="en-US" sz="1500" dirty="0">
                <a:solidFill>
                  <a:srgbClr val="000000"/>
                </a:solidFill>
                <a:latin typeface="Arial"/>
                <a:cs typeface="Arial"/>
              </a:rPr>
              <a:t>Q2: unit (mmol/L), time point, 'not done' option</a:t>
            </a:r>
          </a:p>
          <a:p>
            <a:pPr marL="0" indent="0" algn="ctr">
              <a:lnSpc>
                <a:spcPct val="104000"/>
              </a:lnSpc>
              <a:spcBef>
                <a:spcPts val="300"/>
              </a:spcBef>
              <a:buNone/>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the groups differ, in either direction</a:t>
            </a:r>
          </a:p>
          <a:p>
            <a:pPr marL="0" indent="0" algn="ctr">
              <a:lnSpc>
                <a:spcPct val="104000"/>
              </a:lnSpc>
              <a:spcBef>
                <a:spcPts val="400"/>
              </a:spcBef>
              <a:buNone/>
            </a:pPr>
            <a:r>
              <a:rPr lang="en-US" sz="1750" dirty="0">
                <a:solidFill>
                  <a:srgbClr val="000000"/>
                </a:solidFill>
                <a:latin typeface="Arial"/>
                <a:cs typeface="Arial"/>
              </a:rPr>
              <a:t>Benefit and harm both count</a:t>
            </a:r>
          </a:p>
          <a:p>
            <a:pPr marL="0" indent="0" algn="ctr">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one direction only, e.g. 'restrictive is better'</a:t>
            </a:r>
          </a:p>
          <a:p>
            <a:pPr marL="0" indent="0" algn="ctr">
              <a:lnSpc>
                <a:spcPct val="104000"/>
              </a:lnSpc>
              <a:spcBef>
                <a:spcPts val="400"/>
              </a:spcBef>
              <a:buNone/>
            </a:pPr>
            <a:r>
              <a:rPr lang="en-US" sz="1750" dirty="0">
                <a:solidFill>
                  <a:srgbClr val="000000"/>
                </a:solidFill>
                <a:latin typeface="Arial"/>
                <a:cs typeface="Arial"/>
              </a:rPr>
              <a:t>Needs a strong reason, written before the data</a:t>
            </a:r>
          </a:p>
          <a:p>
            <a:pPr marL="0" indent="0" algn="ctr">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Non-inferiority is a different design</a:t>
            </a:r>
          </a:p>
          <a:p>
            <a:pPr marL="0" indent="0" algn="ctr">
              <a:lnSpc>
                <a:spcPct val="104000"/>
              </a:lnSpc>
              <a:spcBef>
                <a:spcPts val="400"/>
              </a:spcBef>
              <a:buNone/>
            </a:pPr>
            <a:r>
              <a:rPr lang="en-US" sz="1750" dirty="0">
                <a:solidFill>
                  <a:srgbClr val="000000"/>
                </a:solidFill>
                <a:latin typeface="Arial"/>
                <a:cs typeface="Arial"/>
              </a:rPr>
              <a:t>It has a margin set in advance (Session 3)</a:t>
            </a:r>
          </a:p>
          <a:p>
            <a:pPr marL="0" indent="0" algn="ctr">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alone is not enough</a:t>
            </a:r>
          </a:p>
          <a:p>
            <a:pPr marL="0" indent="0" algn="ctr">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True</a:t>
            </a:r>
          </a:p>
          <a:p>
            <a:pPr marL="0" indent="0" algn="ctr">
              <a:lnSpc>
                <a:spcPct val="104000"/>
              </a:lnSpc>
              <a:spcBef>
                <a:spcPts val="300"/>
              </a:spcBef>
              <a:buNone/>
            </a:pPr>
            <a:r>
              <a:rPr lang="en-US" sz="1500" dirty="0">
                <a:solidFill>
                  <a:srgbClr val="000000"/>
                </a:solidFill>
                <a:latin typeface="Arial"/>
                <a:cs typeface="Arial"/>
              </a:rPr>
              <a:t>False: we do not know</a:t>
            </a:r>
          </a:p>
          <a:p>
            <a:pPr marL="0" indent="0" algn="ctr">
              <a:lnSpc>
                <a:spcPct val="104000"/>
              </a:lnSpc>
              <a:spcBef>
                <a:spcPts val="300"/>
              </a:spcBef>
              <a:buNone/>
            </a:pPr>
            <a:r>
              <a:rPr lang="en-US" sz="1500" dirty="0">
                <a:solidFill>
                  <a:srgbClr val="000000"/>
                </a:solidFill>
                <a:latin typeface="Arial"/>
                <a:cs typeface="Arial"/>
              </a:rPr>
              <a:t>False: p assumes no effect</a:t>
            </a:r>
          </a:p>
          <a:p>
            <a:pPr marL="0" indent="0" algn="ctr">
              <a:lnSpc>
                <a:spcPct val="104000"/>
              </a:lnSpc>
              <a:spcBef>
                <a:spcPts val="300"/>
              </a:spcBef>
              <a:buNone/>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What changes n?</a:t>
            </a:r>
          </a:p>
          <a:p>
            <a:pPr marL="0" indent="0" algn="ctr">
              <a:lnSpc>
                <a:spcPct val="104000"/>
              </a:lnSpc>
              <a:spcBef>
                <a:spcPts val="300"/>
              </a:spcBef>
              <a:buNone/>
            </a:pPr>
            <a:r>
              <a:rPr lang="en-US" sz="1500" dirty="0">
                <a:solidFill>
                  <a:srgbClr val="000000"/>
                </a:solidFill>
                <a:latin typeface="Arial"/>
                <a:cs typeface="Arial"/>
              </a:rPr>
              <a:t>Smaller effect: n goes up</a:t>
            </a:r>
          </a:p>
          <a:p>
            <a:pPr marL="0" indent="0" algn="ctr">
              <a:lnSpc>
                <a:spcPct val="104000"/>
              </a:lnSpc>
              <a:spcBef>
                <a:spcPts val="300"/>
              </a:spcBef>
              <a:buNone/>
            </a:pPr>
            <a:r>
              <a:rPr lang="en-US" sz="1500" dirty="0">
                <a:solidFill>
                  <a:srgbClr val="000000"/>
                </a:solidFill>
                <a:latin typeface="Arial"/>
                <a:cs typeface="Arial"/>
              </a:rPr>
              <a:t>More noise (SD): n goes up</a:t>
            </a:r>
          </a:p>
          <a:p>
            <a:pPr marL="0" indent="0" algn="ctr">
              <a:lnSpc>
                <a:spcPct val="104000"/>
              </a:lnSpc>
              <a:spcBef>
                <a:spcPts val="300"/>
              </a:spcBef>
              <a:buNone/>
            </a:pPr>
            <a:r>
              <a:rPr lang="en-US" sz="1500" dirty="0">
                <a:solidFill>
                  <a:srgbClr val="000000"/>
                </a:solidFill>
                <a:latin typeface="Arial"/>
                <a:cs typeface="Arial"/>
              </a:rPr>
              <a:t>More power: n goes up</a:t>
            </a:r>
          </a:p>
          <a:p>
            <a:pPr marL="0" indent="0" algn="ctr">
              <a:lnSpc>
                <a:spcPct val="104000"/>
              </a:lnSpc>
              <a:spcBef>
                <a:spcPts val="300"/>
              </a:spcBef>
              <a:buNone/>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Chi-square</a:t>
            </a:r>
          </a:p>
          <a:p>
            <a:pPr marL="0" indent="0" algn="ctr">
              <a:lnSpc>
                <a:spcPct val="104000"/>
              </a:lnSpc>
              <a:spcBef>
                <a:spcPts val="300"/>
              </a:spcBef>
              <a:buNone/>
            </a:pPr>
            <a:r>
              <a:rPr lang="en-US" sz="1500" dirty="0">
                <a:solidFill>
                  <a:srgbClr val="000000"/>
                </a:solidFill>
                <a:latin typeface="Arial"/>
                <a:cs typeface="Arial"/>
              </a:rPr>
              <a:t>Paired t-test</a:t>
            </a:r>
          </a:p>
          <a:p>
            <a:pPr marL="0" indent="0" algn="ctr">
              <a:lnSpc>
                <a:spcPct val="104000"/>
              </a:lnSpc>
              <a:spcBef>
                <a:spcPts val="300"/>
              </a:spcBef>
              <a:buNone/>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Decision table</a:t>
            </a:r>
          </a:p>
          <a:p>
            <a:pPr marL="0" indent="0" algn="ctr">
              <a:lnSpc>
                <a:spcPct val="104000"/>
              </a:lnSpc>
              <a:spcBef>
                <a:spcPts val="300"/>
              </a:spcBef>
              <a:buNone/>
            </a:pPr>
            <a:r>
              <a:rPr lang="en-US" sz="1500" dirty="0">
                <a:solidFill>
                  <a:srgbClr val="000000"/>
                </a:solidFill>
                <a:latin typeface="Arial"/>
                <a:cs typeface="Arial"/>
              </a:rPr>
              <a:t>Number or category?</a:t>
            </a:r>
          </a:p>
          <a:p>
            <a:pPr marL="0" indent="0" algn="ctr">
              <a:lnSpc>
                <a:spcPct val="104000"/>
              </a:lnSpc>
              <a:spcBef>
                <a:spcPts val="300"/>
              </a:spcBef>
              <a:buNone/>
            </a:pPr>
            <a:r>
              <a:rPr lang="en-US" sz="1500" dirty="0">
                <a:solidFill>
                  <a:srgbClr val="000000"/>
                </a:solidFill>
                <a:latin typeface="Arial"/>
                <a:cs typeface="Arial"/>
              </a:rPr>
              <a:t>Symmetric or skewed?</a:t>
            </a:r>
          </a:p>
          <a:p>
            <a:pPr marL="0" indent="0" algn="ctr">
              <a:lnSpc>
                <a:spcPct val="104000"/>
              </a:lnSpc>
              <a:spcBef>
                <a:spcPts val="300"/>
              </a:spcBef>
              <a:buNone/>
            </a:pPr>
            <a:r>
              <a:rPr lang="en-US" sz="1500" dirty="0">
                <a:solidFill>
                  <a:srgbClr val="000000"/>
                </a:solidFill>
                <a:latin typeface="Arial"/>
                <a:cs typeface="Arial"/>
              </a:rPr>
              <a:t>Paired or not?</a:t>
            </a:r>
          </a:p>
          <a:p>
            <a:pPr marL="0" indent="0" algn="ctr">
              <a:lnSpc>
                <a:spcPct val="104000"/>
              </a:lnSpc>
              <a:spcBef>
                <a:spcPts val="300"/>
              </a:spcBef>
              <a:buNone/>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Positive: 134/373 = 35.9%</a:t>
            </a:r>
          </a:p>
          <a:p>
            <a:pPr marL="0" indent="0" algn="ctr">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percentage points</a:t>
            </a:r>
          </a:p>
          <a:p>
            <a:pPr marL="0" indent="0" algn="ctr">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Risk ratio (RR) 1.96</a:t>
            </a:r>
          </a:p>
          <a:p>
            <a:pPr marL="0" indent="0" algn="ctr">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Avoid</a:t>
            </a:r>
          </a:p>
          <a:p>
            <a:pPr marL="0" indent="0" algn="ctr">
              <a:lnSpc>
                <a:spcPct val="104000"/>
              </a:lnSpc>
              <a:spcBef>
                <a:spcPts val="300"/>
              </a:spcBef>
              <a:buNone/>
            </a:pPr>
            <a:r>
              <a:rPr lang="en-US" sz="1500" dirty="0">
                <a:solidFill>
                  <a:srgbClr val="000000"/>
                </a:solidFill>
                <a:latin typeface="Arial"/>
                <a:cs typeface="Arial"/>
              </a:rPr>
              <a:t>p-value alone</a:t>
            </a:r>
          </a:p>
          <a:p>
            <a:pPr marL="0" indent="0" algn="ctr">
              <a:lnSpc>
                <a:spcPct val="104000"/>
              </a:lnSpc>
              <a:spcBef>
                <a:spcPts val="300"/>
              </a:spcBef>
              <a:buNone/>
            </a:pPr>
            <a:r>
              <a:rPr lang="en-US" sz="1500" dirty="0">
                <a:solidFill>
                  <a:srgbClr val="000000"/>
                </a:solidFill>
                <a:latin typeface="Arial"/>
                <a:cs typeface="Arial"/>
              </a:rPr>
              <a:t>'proves', 'causes'</a:t>
            </a:r>
          </a:p>
          <a:p>
            <a:pPr marL="0" indent="0" algn="ctr">
              <a:lnSpc>
                <a:spcPct val="104000"/>
              </a:lnSpc>
              <a:spcBef>
                <a:spcPts val="300"/>
              </a:spcBef>
              <a:buNone/>
            </a:pPr>
            <a:r>
              <a:rPr lang="en-US" sz="1500" dirty="0">
                <a:solidFill>
                  <a:srgbClr val="000000"/>
                </a:solidFill>
                <a:latin typeface="Arial"/>
                <a:cs typeface="Arial"/>
              </a:rPr>
              <a:t>'trend' for p &gt; 0.05</a:t>
            </a:r>
          </a:p>
          <a:p>
            <a:pPr marL="0" indent="0" algn="ctr">
              <a:lnSpc>
                <a:spcPct val="104000"/>
              </a:lnSpc>
              <a:spcBef>
                <a:spcPts val="300"/>
              </a:spcBef>
              <a:buNone/>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The 4-step reading</a:t>
            </a:r>
          </a:p>
          <a:p>
            <a:pPr marL="0" indent="0" algn="ctr">
              <a:lnSpc>
                <a:spcPct val="104000"/>
              </a:lnSpc>
              <a:spcBef>
                <a:spcPts val="300"/>
              </a:spcBef>
              <a:buNone/>
            </a:pPr>
            <a:r>
              <a:rPr lang="en-US" sz="1500" dirty="0">
                <a:solidFill>
                  <a:srgbClr val="000000"/>
                </a:solidFill>
                <a:latin typeface="Arial"/>
                <a:cs typeface="Arial"/>
              </a:rPr>
              <a:t>What is compared?</a:t>
            </a:r>
          </a:p>
          <a:p>
            <a:pPr marL="0" indent="0" algn="ctr">
              <a:lnSpc>
                <a:spcPct val="104000"/>
              </a:lnSpc>
              <a:spcBef>
                <a:spcPts val="300"/>
              </a:spcBef>
              <a:buNone/>
            </a:pPr>
            <a:r>
              <a:rPr lang="en-US" sz="1500" dirty="0">
                <a:solidFill>
                  <a:srgbClr val="000000"/>
                </a:solidFill>
                <a:latin typeface="Arial"/>
                <a:cs typeface="Arial"/>
              </a:rPr>
              <a:t>How big is the effect?</a:t>
            </a:r>
          </a:p>
          <a:p>
            <a:pPr marL="0" indent="0" algn="ctr">
              <a:lnSpc>
                <a:spcPct val="104000"/>
              </a:lnSpc>
              <a:spcBef>
                <a:spcPts val="300"/>
              </a:spcBef>
              <a:buNone/>
            </a:pPr>
            <a:r>
              <a:rPr lang="en-US" sz="1500" dirty="0">
                <a:solidFill>
                  <a:srgbClr val="000000"/>
                </a:solidFill>
                <a:latin typeface="Arial"/>
                <a:cs typeface="Arial"/>
              </a:rPr>
              <a:t>How wide is the CI?</a:t>
            </a:r>
          </a:p>
          <a:p>
            <a:pPr marL="0" indent="0" algn="ctr">
              <a:lnSpc>
                <a:spcPct val="104000"/>
              </a:lnSpc>
              <a:spcBef>
                <a:spcPts val="300"/>
              </a:spcBef>
              <a:buNone/>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28-day death</a:t>
            </a:r>
          </a:p>
          <a:p>
            <a:pPr marL="0" indent="0" algn="ctr">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Age, SOFA, lactate</a:t>
            </a:r>
          </a:p>
          <a:p>
            <a:pPr marL="0" indent="0" algn="ctr">
              <a:lnSpc>
                <a:spcPct val="104000"/>
              </a:lnSpc>
              <a:spcBef>
                <a:spcPts val="200"/>
              </a:spcBef>
              <a:buNone/>
            </a:pPr>
            <a:r>
              <a:rPr lang="en-US" sz="1500" dirty="0">
                <a:solidFill>
                  <a:srgbClr val="000000"/>
                </a:solidFill>
                <a:latin typeface="Arial"/>
                <a:cs typeface="Arial"/>
              </a:rPr>
              <a:t>Vasopressor, ventilation</a:t>
            </a:r>
          </a:p>
          <a:p>
            <a:pPr marL="0" indent="0" algn="ctr">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and log-rank test</a:t>
            </a:r>
          </a:p>
          <a:p>
            <a:pPr marL="0" indent="0" algn="ctr">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Complete-case analysis</a:t>
            </a:r>
          </a:p>
          <a:p>
            <a:pPr marL="0" indent="0" algn="ctr">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95% CI 1.00 to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Proportional hazards: global test p = 0.10</a:t>
            </a:r>
          </a:p>
          <a:p>
            <a:pPr marL="0" indent="0" algn="ctr">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 1.62, p = 0.044</a:t>
            </a:r>
          </a:p>
          <a:p>
            <a:pPr marL="0" indent="0" algn="ctr">
              <a:lnSpc>
                <a:spcPct val="104000"/>
              </a:lnSpc>
              <a:spcBef>
                <a:spcPts val="400"/>
              </a:spcBef>
              <a:buNone/>
            </a:pPr>
            <a:r>
              <a:rPr lang="en-US" sz="1600" dirty="0">
                <a:solidFill>
                  <a:srgbClr val="000000"/>
                </a:solidFill>
                <a:latin typeface="Arial"/>
                <a:cs typeface="Arial"/>
              </a:rPr>
              <a:t>Adjusted HR 1.46, p = 0.053</a:t>
            </a:r>
          </a:p>
          <a:p>
            <a:pPr marL="0" indent="0" algn="ctr">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and HR: what each means and when you meet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All three compare two groups. 1 = no difference. Above 1: more events. Below 1: fewer.</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ratio (RR)</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Risk in one group / risk in the other</a:t>
            </a:r>
          </a:p>
          <a:p>
            <a:pPr marL="0" indent="0" algn="ctr">
              <a:lnSpc>
                <a:spcPct val="104000"/>
              </a:lnSpc>
              <a:spcBef>
                <a:spcPts val="400"/>
              </a:spcBef>
              <a:buNone/>
            </a:pPr>
            <a:r>
              <a:rPr lang="en-US" sz="1750" dirty="0">
                <a:solidFill>
                  <a:srgbClr val="000000"/>
                </a:solidFill>
                <a:latin typeface="Arial"/>
                <a:cs typeface="Arial"/>
              </a:rPr>
              <a:t>Trials and cohorts, from a 2x2 table</a:t>
            </a:r>
          </a:p>
          <a:p>
            <a:pPr marL="0" indent="0" algn="ctr">
              <a:lnSpc>
                <a:spcPct val="104000"/>
              </a:lnSpc>
              <a:spcBef>
                <a:spcPts val="400"/>
              </a:spcBef>
              <a:buNone/>
            </a:pPr>
            <a:r>
              <a:rPr lang="en-US" sz="1750" dirty="0">
                <a:solidFill>
                  <a:srgbClr val="000000"/>
                </a:solidFill>
                <a:latin typeface="Arial"/>
                <a:cs typeface="Arial"/>
              </a:rPr>
              <a:t>Session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Odds ratio (OR)</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in one group / odds in the other</a:t>
            </a:r>
          </a:p>
          <a:p>
            <a:pPr marL="0" indent="0" algn="ctr">
              <a:lnSpc>
                <a:spcPct val="104000"/>
              </a:lnSpc>
              <a:spcBef>
                <a:spcPts val="400"/>
              </a:spcBef>
              <a:buNone/>
            </a:pPr>
            <a:r>
              <a:rPr lang="en-US" sz="1750" dirty="0">
                <a:solidFill>
                  <a:srgbClr val="000000"/>
                </a:solidFill>
                <a:latin typeface="Arial"/>
                <a:cs typeface="Arial"/>
              </a:rPr>
              <a:t>Case-control studies and logistic regression</a:t>
            </a:r>
          </a:p>
          <a:p>
            <a:pPr marL="0" indent="0" algn="ctr">
              <a:lnSpc>
                <a:spcPct val="104000"/>
              </a:lnSpc>
              <a:spcBef>
                <a:spcPts val="400"/>
              </a:spcBef>
              <a:buNone/>
            </a:pPr>
            <a:r>
              <a:rPr lang="en-US" sz="1750" dirty="0">
                <a:solidFill>
                  <a:srgbClr val="000000"/>
                </a:solidFill>
                <a:latin typeface="Arial"/>
                <a:cs typeface="Arial"/>
              </a:rPr>
              <a:t>Close to the RR when the outcome is rare</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Hazard ratio (HR)</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Event rate over time, one group vs the other</a:t>
            </a:r>
          </a:p>
          <a:p>
            <a:pPr marL="0" indent="0" algn="ctr">
              <a:lnSpc>
                <a:spcPct val="104000"/>
              </a:lnSpc>
              <a:spcBef>
                <a:spcPts val="400"/>
              </a:spcBef>
              <a:buNone/>
            </a:pPr>
            <a:r>
              <a:rPr lang="en-US" sz="1750" dirty="0">
                <a:solidFill>
                  <a:srgbClr val="000000"/>
                </a:solidFill>
                <a:latin typeface="Arial"/>
                <a:cs typeface="Arial"/>
              </a:rPr>
              <a:t>Time to event: Kaplan-Meier and Cox regression</a:t>
            </a:r>
          </a:p>
          <a:p>
            <a:pPr marL="0" indent="0" algn="ctr">
              <a:lnSpc>
                <a:spcPct val="104000"/>
              </a:lnSpc>
              <a:spcBef>
                <a:spcPts val="400"/>
              </a:spcBef>
              <a:buNone/>
            </a:pPr>
            <a:r>
              <a:rPr lang="en-US" sz="1750" dirty="0">
                <a:solidFill>
                  <a:srgbClr val="000000"/>
                </a:solidFill>
                <a:latin typeface="Arial"/>
                <a:cs typeface="Arial"/>
              </a:rPr>
              <a:t>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outcome and the design decide the ratio: risk (RR), odds (OR) or rate over time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Words to use</a:t>
            </a:r>
          </a:p>
          <a:p>
            <a:pPr marL="0" indent="0" algn="ctr">
              <a:lnSpc>
                <a:spcPct val="104000"/>
              </a:lnSpc>
              <a:spcBef>
                <a:spcPts val="300"/>
              </a:spcBef>
              <a:buNone/>
            </a:pPr>
            <a:r>
              <a:rPr lang="en-US" sz="1500" dirty="0">
                <a:solidFill>
                  <a:srgbClr val="000000"/>
                </a:solidFill>
                <a:latin typeface="Arial"/>
                <a:cs typeface="Arial"/>
              </a:rPr>
              <a:t>'associated with'</a:t>
            </a:r>
          </a:p>
          <a:p>
            <a:pPr marL="0" indent="0" algn="ctr">
              <a:lnSpc>
                <a:spcPct val="104000"/>
              </a:lnSpc>
              <a:spcBef>
                <a:spcPts val="300"/>
              </a:spcBef>
              <a:buNone/>
            </a:pPr>
            <a:r>
              <a:rPr lang="en-US" sz="1500" dirty="0">
                <a:solidFill>
                  <a:srgbClr val="000000"/>
                </a:solidFill>
                <a:latin typeface="Arial"/>
                <a:cs typeface="Arial"/>
              </a:rPr>
              <a:t>'after adjustment for'</a:t>
            </a:r>
          </a:p>
          <a:p>
            <a:pPr marL="0" indent="0" algn="ctr">
              <a:lnSpc>
                <a:spcPct val="104000"/>
              </a:lnSpc>
              <a:spcBef>
                <a:spcPts val="300"/>
              </a:spcBef>
              <a:buNone/>
            </a:pPr>
            <a:r>
              <a:rPr lang="en-US" sz="1500" dirty="0">
                <a:solidFill>
                  <a:srgbClr val="000000"/>
                </a:solidFill>
                <a:latin typeface="Arial"/>
                <a:cs typeface="Arial"/>
              </a:rPr>
              <a:t>'95% CI'</a:t>
            </a:r>
          </a:p>
          <a:p>
            <a:pPr marL="0" indent="0" algn="ctr">
              <a:lnSpc>
                <a:spcPct val="104000"/>
              </a:lnSpc>
              <a:spcBef>
                <a:spcPts val="300"/>
              </a:spcBef>
              <a:buNone/>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Mortality 40% vs 30%</a:t>
            </a:r>
          </a:p>
          <a:p>
            <a:pPr marL="0" indent="0" algn="ctr">
              <a:lnSpc>
                <a:spcPct val="104000"/>
              </a:lnSpc>
              <a:spcBef>
                <a:spcPts val="400"/>
              </a:spcBef>
              <a:buNone/>
            </a:pPr>
            <a:r>
              <a:rPr lang="en-US" sz="1600" dirty="0">
                <a:solidFill>
                  <a:srgbClr val="000000"/>
                </a:solidFill>
                <a:latin typeface="Arial"/>
                <a:cs typeface="Arial"/>
              </a:rPr>
              <a:t>Power 80%, alpha 5% two-sided</a:t>
            </a:r>
          </a:p>
          <a:p>
            <a:pPr marL="0" indent="0" algn="ctr">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 n (%), median (IQR)</a:t>
            </a:r>
          </a:p>
          <a:p>
            <a:pPr marL="0" indent="0" algn="ctr">
              <a:lnSpc>
                <a:spcPct val="104000"/>
              </a:lnSpc>
              <a:spcBef>
                <a:spcPts val="400"/>
              </a:spcBef>
              <a:buNone/>
            </a:pPr>
            <a:r>
              <a:rPr lang="en-US" sz="1600" dirty="0">
                <a:solidFill>
                  <a:srgbClr val="000000"/>
                </a:solidFill>
                <a:latin typeface="Arial"/>
                <a:cs typeface="Arial"/>
              </a:rPr>
              <a:t>Compare: chi-square</a:t>
            </a:r>
          </a:p>
          <a:p>
            <a:pPr marL="0" indent="0" algn="ctr">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Chosen in advance</a:t>
            </a:r>
          </a:p>
          <a:p>
            <a:pPr marL="0" indent="0" algn="ctr">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Expected gaps and why</a:t>
            </a:r>
          </a:p>
          <a:p>
            <a:pPr marL="0" indent="0" algn="ctr">
              <a:lnSpc>
                <a:spcPct val="104000"/>
              </a:lnSpc>
              <a:spcBef>
                <a:spcPts val="400"/>
              </a:spcBef>
              <a:buNone/>
            </a:pPr>
            <a:r>
              <a:rPr lang="en-US" sz="1600" dirty="0">
                <a:solidFill>
                  <a:srgbClr val="000000"/>
                </a:solidFill>
                <a:latin typeface="Arial"/>
                <a:cs typeface="Arial"/>
              </a:rPr>
              <a:t>Prevention</a:t>
            </a:r>
          </a:p>
          <a:p>
            <a:pPr marL="0" indent="0" algn="ctr">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Sample-size spreadsheet</a:t>
            </a:r>
          </a:p>
          <a:p>
            <a:pPr marL="0" indent="0" algn="ctr">
              <a:lnSpc>
                <a:spcPct val="104000"/>
              </a:lnSpc>
              <a:spcBef>
                <a:spcPts val="300"/>
              </a:spcBef>
              <a:buNone/>
            </a:pPr>
            <a:r>
              <a:rPr lang="en-US" sz="1500" dirty="0">
                <a:solidFill>
                  <a:srgbClr val="000000"/>
                </a:solidFill>
                <a:latin typeface="Arial"/>
                <a:cs typeface="Arial"/>
              </a:rPr>
              <a:t>Test decision table (6.1)</a:t>
            </a:r>
          </a:p>
          <a:p>
            <a:pPr marL="0" indent="0" algn="ctr">
              <a:lnSpc>
                <a:spcPct val="104000"/>
              </a:lnSpc>
              <a:spcBef>
                <a:spcPts val="300"/>
              </a:spcBef>
              <a:buNone/>
            </a:pPr>
            <a:r>
              <a:rPr lang="en-US" sz="1500" dirty="0">
                <a:solidFill>
                  <a:srgbClr val="000000"/>
                </a:solidFill>
                <a:latin typeface="Arial"/>
                <a:cs typeface="Arial"/>
              </a:rPr>
              <a:t>FLUID-ICU SAP as a model</a:t>
            </a:r>
          </a:p>
          <a:p>
            <a:pPr marL="0" indent="0" algn="ctr">
              <a:lnSpc>
                <a:spcPct val="104000"/>
              </a:lnSpc>
              <a:spcBef>
                <a:spcPts val="300"/>
              </a:spcBef>
              <a:buNone/>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95% CI</a:t>
            </a:r>
          </a:p>
          <a:p>
            <a:pPr marL="0" indent="0" algn="ctr">
              <a:lnSpc>
                <a:spcPct val="104000"/>
              </a:lnSpc>
              <a:spcBef>
                <a:spcPts val="400"/>
              </a:spcBef>
              <a:buNone/>
            </a:pPr>
            <a:r>
              <a:rPr lang="en-US" sz="1600" dirty="0">
                <a:solidFill>
                  <a:srgbClr val="000000"/>
                </a:solidFill>
                <a:latin typeface="Arial"/>
                <a:cs typeface="Arial"/>
              </a:rPr>
              <a:t>p-value (two-sided)</a:t>
            </a:r>
          </a:p>
          <a:p>
            <a:pPr marL="0" indent="0" algn="ctr">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t-test / Mann-Whitney</a:t>
            </a:r>
          </a:p>
          <a:p>
            <a:pPr marL="0" indent="0" algn="ctr">
              <a:lnSpc>
                <a:spcPct val="104000"/>
              </a:lnSpc>
              <a:spcBef>
                <a:spcPts val="400"/>
              </a:spcBef>
              <a:buNone/>
            </a:pPr>
            <a:r>
              <a:rPr lang="en-US" sz="1600" dirty="0">
                <a:solidFill>
                  <a:srgbClr val="000000"/>
                </a:solidFill>
                <a:latin typeface="Arial"/>
                <a:cs typeface="Arial"/>
              </a:rPr>
              <a:t>Chi-square</a:t>
            </a:r>
          </a:p>
          <a:p>
            <a:pPr marL="0" indent="0" algn="ctr">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a:t>
            </a:r>
          </a:p>
          <a:p>
            <a:pPr marL="0" indent="0" algn="ctr">
              <a:lnSpc>
                <a:spcPct val="104000"/>
              </a:lnSpc>
              <a:spcBef>
                <a:spcPts val="400"/>
              </a:spcBef>
              <a:buNone/>
            </a:pPr>
            <a:r>
              <a:rPr lang="en-US" sz="1600" dirty="0">
                <a:solidFill>
                  <a:srgbClr val="000000"/>
                </a:solidFill>
                <a:latin typeface="Arial"/>
                <a:cs typeface="Arial"/>
              </a:rPr>
              <a:t>Hazard ratio</a:t>
            </a:r>
          </a:p>
          <a:p>
            <a:pPr marL="0" indent="0" algn="ctr">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+ 95% CI</a:t>
            </a:r>
          </a:p>
          <a:p>
            <a:pPr marL="0" indent="0" algn="ctr">
              <a:lnSpc>
                <a:spcPct val="104000"/>
              </a:lnSpc>
              <a:spcBef>
                <a:spcPts val="400"/>
              </a:spcBef>
              <a:buNone/>
            </a:pPr>
            <a:r>
              <a:rPr lang="en-US" sz="1750" dirty="0">
                <a:solidFill>
                  <a:srgbClr val="000000"/>
                </a:solidFill>
                <a:latin typeface="Arial"/>
                <a:cs typeface="Arial"/>
              </a:rPr>
              <a:t>Where is the null?</a:t>
            </a:r>
          </a:p>
          <a:p>
            <a:pPr marL="0" indent="0" algn="ctr">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Crude vs adjusted</a:t>
            </a:r>
          </a:p>
          <a:p>
            <a:pPr marL="0" indent="0" algn="ctr">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before the data</a:t>
            </a:r>
          </a:p>
          <a:p>
            <a:pPr marL="0" indent="0" algn="ctr">
              <a:lnSpc>
                <a:spcPct val="104000"/>
              </a:lnSpc>
              <a:spcBef>
                <a:spcPts val="400"/>
              </a:spcBef>
              <a:buNone/>
            </a:pPr>
            <a:r>
              <a:rPr lang="en-US" sz="1750" dirty="0">
                <a:solidFill>
                  <a:srgbClr val="000000"/>
                </a:solidFill>
                <a:latin typeface="Arial"/>
                <a:cs typeface="Arial"/>
              </a:rPr>
              <a:t>Two-sided tests</a:t>
            </a:r>
          </a:p>
          <a:p>
            <a:pPr marL="0" indent="0" algn="ctr">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Re-read the results pack of the question you chose: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Weeks 7-8</a:t>
            </a:r>
          </a:p>
          <a:p>
            <a:pPr marL="0" indent="0" algn="ctr">
              <a:lnSpc>
                <a:spcPct val="104000"/>
              </a:lnSpc>
              <a:spcBef>
                <a:spcPts val="300"/>
              </a:spcBef>
              <a:buNone/>
            </a:pPr>
            <a:r>
              <a:rPr lang="en-US" sz="1500" dirty="0">
                <a:solidFill>
                  <a:srgbClr val="000000"/>
                </a:solidFill>
                <a:latin typeface="Arial"/>
                <a:cs typeface="Arial"/>
              </a:rPr>
              <a:t>Protocol, ethics, registration</a:t>
            </a:r>
          </a:p>
          <a:p>
            <a:pPr marL="0" indent="0" algn="ctr">
              <a:lnSpc>
                <a:spcPct val="104000"/>
              </a:lnSpc>
              <a:spcBef>
                <a:spcPts val="300"/>
              </a:spcBef>
              <a:buNone/>
            </a:pPr>
            <a:r>
              <a:rPr lang="en-US" sz="1500" dirty="0">
                <a:solidFill>
                  <a:srgbClr val="000000"/>
                </a:solidFill>
                <a:latin typeface="Arial"/>
                <a:cs typeface="Arial"/>
              </a:rPr>
              <a:t>Research integrity</a:t>
            </a:r>
          </a:p>
          <a:p>
            <a:pPr marL="0" indent="0" algn="ctr">
              <a:lnSpc>
                <a:spcPct val="104000"/>
              </a:lnSpc>
              <a:spcBef>
                <a:spcPts val="300"/>
              </a:spcBef>
              <a:buNone/>
            </a:pPr>
            <a:r>
              <a:rPr lang="en-US" sz="1500" dirty="0">
                <a:solidFill>
                  <a:srgbClr val="000000"/>
                </a:solidFill>
                <a:latin typeface="Arial"/>
                <a:cs typeface="Arial"/>
              </a:rPr>
              <a:t>Writing Methods and Results</a:t>
            </a:r>
          </a:p>
          <a:p>
            <a:pPr marL="0" indent="0" algn="ctr">
              <a:lnSpc>
                <a:spcPct val="104000"/>
              </a:lnSpc>
              <a:spcBef>
                <a:spcPts val="300"/>
              </a:spcBef>
              <a:buNone/>
            </a:pPr>
            <a:r>
              <a:rPr lang="en-US" sz="1500" dirty="0">
                <a:solidFill>
                  <a:srgbClr val="000000"/>
                </a:solidFill>
                <a:latin typeface="Arial"/>
                <a:cs typeface="Arial"/>
              </a:rPr>
              <a:t>Getting published</a:t>
            </a:r>
          </a:p>
          <a:p>
            <a:pPr marL="0" indent="0" algn="ctr">
              <a:lnSpc>
                <a:spcPct val="104000"/>
              </a:lnSpc>
              <a:spcBef>
                <a:spcPts val="300"/>
              </a:spcBef>
              <a:buNone/>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Course/Papers), primary outcome: cumulative fluid balance at day 5.</a:t>
            </a:r>
          </a:p>
        </p:txBody>
      </p:sp>
      <p:sp>
        <p:nvSpPr>
          <p:cNvPr id="70" name="CardHead"/>
          <p:cNvSpPr/>
          <p:nvPr/>
        </p:nvSpPr>
        <p:spPr>
          <a:xfrm>
            <a:off x="457200" y="219208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832088"/>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Median 6.9 vs 35.0 ml/kg</a:t>
            </a:r>
          </a:p>
          <a:p>
            <a:pPr marL="0" indent="0" algn="ctr">
              <a:lnSpc>
                <a:spcPct val="104000"/>
              </a:lnSpc>
              <a:spcBef>
                <a:spcPts val="400"/>
              </a:spcBef>
              <a:buNone/>
            </a:pPr>
            <a:r>
              <a:rPr lang="en-US" sz="1750" dirty="0">
                <a:solidFill>
                  <a:srgbClr val="000000"/>
                </a:solidFill>
                <a:latin typeface="Arial"/>
                <a:cs typeface="Arial"/>
              </a:rPr>
              <a:t>Mean difference 13.2 ml/kg</a:t>
            </a:r>
          </a:p>
          <a:p>
            <a:pPr marL="0" indent="0" algn="ctr">
              <a:lnSpc>
                <a:spcPct val="104000"/>
              </a:lnSpc>
              <a:spcBef>
                <a:spcPts val="400"/>
              </a:spcBef>
              <a:buNone/>
            </a:pPr>
            <a:r>
              <a:rPr lang="en-US" sz="1750" dirty="0">
                <a:solidFill>
                  <a:srgbClr val="000000"/>
                </a:solidFill>
                <a:latin typeface="Arial"/>
                <a:cs typeface="Arial"/>
              </a:rPr>
              <a:t>95% CI -15.2 to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19208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832088"/>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no difference</a:t>
            </a:r>
          </a:p>
          <a:p>
            <a:pPr marL="0" indent="0" algn="ctr">
              <a:lnSpc>
                <a:spcPct val="104000"/>
              </a:lnSpc>
              <a:spcBef>
                <a:spcPts val="400"/>
              </a:spcBef>
              <a:buNone/>
            </a:pPr>
            <a:r>
              <a:rPr lang="en-US" sz="1750" dirty="0">
                <a:solidFill>
                  <a:srgbClr val="000000"/>
                </a:solidFill>
                <a:latin typeface="Arial"/>
                <a:cs typeface="Arial"/>
              </a:rPr>
              <a:t>The CI includes 0</a:t>
            </a:r>
          </a:p>
          <a:p>
            <a:pPr marL="0" indent="0" algn="ctr">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19208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832088"/>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ctr">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Compares whole KM curves</a:t>
            </a:r>
          </a:p>
          <a:p>
            <a:pPr marL="0" indent="0" algn="ctr">
              <a:lnSpc>
                <a:spcPct val="104000"/>
              </a:lnSpc>
              <a:spcBef>
                <a:spcPts val="400"/>
              </a:spcBef>
              <a:buNone/>
            </a:pPr>
            <a:r>
              <a:rPr lang="en-US" sz="1750" dirty="0">
                <a:solidFill>
                  <a:srgbClr val="000000"/>
                </a:solidFill>
                <a:latin typeface="Arial"/>
                <a:cs typeface="Arial"/>
              </a:rPr>
              <a:t>Gives a p-value</a:t>
            </a:r>
          </a:p>
          <a:p>
            <a:pPr marL="0" indent="0" algn="ctr">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Gives an HR with its 95% CI</a:t>
            </a:r>
          </a:p>
          <a:p>
            <a:pPr marL="0" indent="0" algn="ctr">
              <a:lnSpc>
                <a:spcPct val="104000"/>
              </a:lnSpc>
              <a:spcBef>
                <a:spcPts val="400"/>
              </a:spcBef>
              <a:buNone/>
            </a:pPr>
            <a:r>
              <a:rPr lang="en-US" sz="1750" dirty="0">
                <a:solidFill>
                  <a:srgbClr val="000000"/>
                </a:solidFill>
                <a:latin typeface="Arial"/>
                <a:cs typeface="Arial"/>
              </a:rPr>
              <a:t>No effect = 1</a:t>
            </a:r>
          </a:p>
          <a:p>
            <a:pPr marL="0" indent="0" algn="ctr">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Assumes the HR is constant over time</a:t>
            </a:r>
          </a:p>
          <a:p>
            <a:pPr marL="0" indent="0" algn="ctr">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Predict an individual's risk</a:t>
            </a:r>
          </a:p>
          <a:p>
            <a:pPr marL="0" indent="0" algn="ctr">
              <a:lnSpc>
                <a:spcPct val="104000"/>
              </a:lnSpc>
              <a:spcBef>
                <a:spcPts val="400"/>
              </a:spcBef>
              <a:buNone/>
            </a:pPr>
            <a:r>
              <a:rPr lang="en-US" sz="1600" dirty="0">
                <a:solidFill>
                  <a:srgbClr val="000000"/>
                </a:solidFill>
                <a:latin typeface="Arial"/>
                <a:cs typeface="Arial"/>
              </a:rPr>
              <a:t>Not to explain causes</a:t>
            </a:r>
          </a:p>
          <a:p>
            <a:pPr marL="0" indent="0" algn="ctr">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ML needs many events</a:t>
            </a:r>
          </a:p>
          <a:p>
            <a:pPr marL="0" indent="0" algn="ctr">
              <a:lnSpc>
                <a:spcPct val="104000"/>
              </a:lnSpc>
              <a:spcBef>
                <a:spcPts val="400"/>
              </a:spcBef>
              <a:buNone/>
            </a:pPr>
            <a:r>
              <a:rPr lang="en-US" sz="1600" dirty="0">
                <a:solidFill>
                  <a:srgbClr val="000000"/>
                </a:solidFill>
                <a:latin typeface="Arial"/>
                <a:cs typeface="Arial"/>
              </a:rPr>
              <a:t>Overfitting risk is high</a:t>
            </a:r>
          </a:p>
          <a:p>
            <a:pPr marL="0" indent="0" algn="ctr">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Discrimination (AUC)</a:t>
            </a:r>
          </a:p>
          <a:p>
            <a:pPr marL="0" indent="0" algn="ctr">
              <a:lnSpc>
                <a:spcPct val="104000"/>
              </a:lnSpc>
              <a:spcBef>
                <a:spcPts val="400"/>
              </a:spcBef>
              <a:buNone/>
            </a:pPr>
            <a:r>
              <a:rPr lang="en-US" sz="1600" dirty="0">
                <a:solidFill>
                  <a:srgbClr val="000000"/>
                </a:solidFill>
                <a:latin typeface="Arial"/>
                <a:cs typeface="Arial"/>
              </a:rPr>
              <a:t>Calibration plot</a:t>
            </a:r>
          </a:p>
          <a:p>
            <a:pPr marL="0" indent="0" algn="ctr">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TRIPOD+AI checklist</a:t>
            </a:r>
          </a:p>
          <a:p>
            <a:pPr marL="0" indent="0" algn="ctr">
              <a:lnSpc>
                <a:spcPct val="104000"/>
              </a:lnSpc>
              <a:spcBef>
                <a:spcPts val="400"/>
              </a:spcBef>
              <a:buNone/>
            </a:pPr>
            <a:r>
              <a:rPr lang="en-US" sz="1600" dirty="0">
                <a:solidFill>
                  <a:srgbClr val="000000"/>
                </a:solidFill>
                <a:latin typeface="Arial"/>
                <a:cs typeface="Arial"/>
              </a:rPr>
              <a:t>Code, data, fairness</a:t>
            </a:r>
          </a:p>
          <a:p>
            <a:pPr marL="0" indent="0" algn="ctr">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 missing per variable</a:t>
            </a:r>
          </a:p>
          <a:p>
            <a:pPr marL="0" indent="0" algn="ctr">
              <a:lnSpc>
                <a:spcPct val="104000"/>
              </a:lnSpc>
              <a:spcBef>
                <a:spcPts val="400"/>
              </a:spcBef>
              <a:buNone/>
            </a:pPr>
            <a:r>
              <a:rPr lang="en-US" sz="1600" dirty="0">
                <a:solidFill>
                  <a:srgbClr val="000000"/>
                </a:solidFill>
                <a:latin typeface="Arial"/>
                <a:cs typeface="Arial"/>
              </a:rPr>
              <a:t>Flow diagram: who and why</a:t>
            </a:r>
          </a:p>
          <a:p>
            <a:pPr marL="0" indent="0" algn="ctr">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Patients with vs without complete data</a:t>
            </a:r>
          </a:p>
          <a:p>
            <a:pPr marL="0" indent="0" algn="ctr">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Complete case vs MI</a:t>
            </a:r>
          </a:p>
          <a:p>
            <a:pPr marL="0" indent="0" algn="ctr">
              <a:lnSpc>
                <a:spcPct val="104000"/>
              </a:lnSpc>
              <a:spcBef>
                <a:spcPts val="400"/>
              </a:spcBef>
              <a:buNone/>
            </a:pPr>
            <a:r>
              <a:rPr lang="en-US" sz="1600" dirty="0">
                <a:solidFill>
                  <a:srgbClr val="000000"/>
                </a:solidFill>
                <a:latin typeface="Arial"/>
                <a:cs typeface="Arial"/>
              </a:rPr>
              <a:t>Example script: 05_missing.R</a:t>
            </a:r>
          </a:p>
          <a:p>
            <a:pPr marL="0" indent="0" algn="ctr">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Write it in the SAP before you see the data</a:t>
            </a:r>
          </a:p>
          <a:p>
            <a:pPr marL="0" indent="0" algn="ctr">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