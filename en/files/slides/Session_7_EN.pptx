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(0:00). Week 7, Saturday. Two halves today: before the break we protect the patient and the science (ethics, integrity) and finish Proposal Part 4; after the break we start WRITING the FLUID-ICU manuscript.</a:t>
            </a:r>
          </a:p>
          <a:p>
            <a:r>
              <a:rPr lang="en-US" sz="1400" b="0" dirty="0"/>
              <a:t>Pace: slow. Every block has a worked example and a 1-minute check. If time is short, drop slides from the 'Extra slides: Session 7' section at the end, never the workshop.</a:t>
            </a:r>
          </a:p>
          <a:p>
            <a:r>
              <a:rPr lang="en-US" sz="1400" b="0" dirty="0"/>
              <a:t>Before you start: results packs (Course/Data/results_packs/Q1-Q5) printed, one per group; the manuscript template open on each group's laptop if they have one.</a:t>
            </a:r>
          </a:p>
          <a:p>
            <a:r>
              <a:rPr lang="en-US" sz="1400" b="0" dirty="0"/>
              <a:t>Timing: this slide 1 minute, then the 10-minute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(0:01-0:10). Ask, wait, then reveal the answer panel.</a:t>
            </a:r>
          </a:p>
          <a:p>
            <a:r>
              <a:rPr lang="en-US" sz="1400" b="0" dirty="0"/>
              <a:t>Q1 links straight to today's writing: in the Results we report BOTH crude and adjusted estimates (STROBE item 16), and in the Discussion we explain why they differ.</a:t>
            </a:r>
          </a:p>
          <a:p>
            <a:r>
              <a:rPr lang="en-US" sz="1400" b="0" dirty="0"/>
              <a:t>Q5: ask one person per group. This is the number they will write about after the break. If a group cannot say it, sit with them during the break and go through their results pack.</a:t>
            </a:r>
          </a:p>
          <a:p>
            <a:r>
              <a:rPr lang="en-US" sz="1400" b="0" dirty="0"/>
              <a:t>Show of hands for each question; spend longest where the room is split.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products, two rows. Product 1, your own research proposal, gets its last part today (ethics, registration, feasibility, publication plan) and is presented next Saturday.</a:t>
            </a:r>
          </a:p>
          <a:p>
            <a:r>
              <a:rPr lang="en-US" sz="1400" b="0" dirty="0"/>
              <a:t>Product 2, the FLUID-ICU draft manuscript, moves from 'reading the analysis' (Session 6) to WRITING: today Methods and Results, next Saturday Introduction, Discussion, Abstract and Title.</a:t>
            </a:r>
          </a:p>
          <a:p>
            <a:r>
              <a:rPr lang="en-US" sz="1400" b="0" dirty="0"/>
              <a:t>Ask: which group question does your group have? (Q1-Q5.) Make sure everyone knows.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(0:10-0:40). Eleven slides including two worked examples and a 1-minute check.</a:t>
            </a:r>
          </a:p>
          <a:p>
            <a:r>
              <a:rPr lang="en-US" sz="1400" b="0" dirty="0"/>
              <a:t>About 2.5 minutes per slide. The ICU consent slide and its worked example deserve the most time: it is the real-life problem of this department.</a:t>
            </a:r>
          </a:p>
          <a:p>
            <a:r>
              <a:rPr lang="en-US" sz="1400" b="0" dirty="0"/>
              <a:t>Link: everything in this block becomes a paragraph of Proposal Part 4 (Proposal builder 7 at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protocol is the full written plan of the study, written and approved BEFORE the first patient is enrolled. SPIRIT 2025 is the international checklist for what a trial protocol should contain; observational studies follow the same logic.</a:t>
            </a:r>
          </a:p>
          <a:p>
            <a:r>
              <a:rPr lang="en-US" sz="1400" b="0" dirty="0"/>
              <a:t>Walk the four columns: WHO &amp; WHAT (title page, registration, team, funding), WHY (Part 1), HOW (Parts 2 and 3), PROTECT &amp; SHARE (Part 4, today).</a:t>
            </a:r>
          </a:p>
          <a:p>
            <a:r>
              <a:rPr lang="en-US" sz="1400" b="0" dirty="0"/>
              <a:t>Point to the foundation bar: changes after approval are made as formal amendments, approved before they are applied, never quietly.</a:t>
            </a:r>
          </a:p>
          <a:p>
            <a:r>
              <a:rPr lang="en-US" sz="1400" b="0" dirty="0"/>
              <a:t>Running example: Paper 1 says its protocol and statistical analysis plan were registered at ClinicalTrials.gov (NCT04947904) before the first patient. That is what lets a reader check the authors did what they planned.</a:t>
            </a:r>
          </a:p>
          <a:p>
            <a:r>
              <a:rPr lang="en-US" sz="1400" b="0" dirty="0"/>
              <a:t>Ask: which column of your proposal is weakest right now? Expected: HOW (sample size or analysis plan). Reassure: the template in Templates/ follows exactly this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Declaration of Helsinki (World Medical Association, latest revision October 2024) is the ethical foundation for research with people. Its core: the rights and interests of the individual participant come before the goal of new knowledge; a protocol approved by an independent research ethics committee before the study starts; free, informed consent; risks minimised and justified; privacy protected; every study registered before the first participant and ALL results made public, including negative and inconclusive ones.</a:t>
            </a:r>
          </a:p>
          <a:p>
            <a:r>
              <a:rPr lang="en-US" sz="1400" b="0" dirty="0"/>
              <a:t>The 2024 revision speaks of 'participants' rather than 'subjects', strengthens the protection of vulnerable groups and of people who cannot consent, and stresses scientific integrity.</a:t>
            </a:r>
          </a:p>
          <a:p>
            <a:r>
              <a:rPr lang="en-US" sz="1400" b="0" dirty="0"/>
              <a:t>ICH E6(R3) Good Clinical Practice (adopted by ICH in January 2025) is the international quality standard for clinical trials: qualified people, quality built into the design, risk-proportionate monitoring, reliable and traceable data, clear roles. Its spirit applies to every study.</a:t>
            </a:r>
          </a:p>
          <a:p>
            <a:r>
              <a:rPr lang="en-US" sz="1400" b="0" dirty="0"/>
              <a:t>Misconception: 'GCP is only for drug companies'. Paper 1, an academic ICU trial, states its analyses followed ICH-GCP.</a:t>
            </a:r>
          </a:p>
          <a:p>
            <a:r>
              <a:rPr lang="en-US" sz="1400" b="0" dirty="0"/>
              <a:t>Ask: which of these 12 icons would be hardest in our unit? Typical answer: reliable data (charts incomplete) or protected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left to right. Most institutions want a scientific or department review first; then the dossier goes to the research ethics committee (also called IRB or IEC).</a:t>
            </a:r>
          </a:p>
          <a:p>
            <a:r>
              <a:rPr lang="en-US" sz="1400" b="0" dirty="0"/>
              <a:t>The dossier: protocol, participant information and consent form, data collection form (CRF), investigator CVs and GCP training records, budget and insurance where required.</a:t>
            </a:r>
          </a:p>
          <a:p>
            <a:r>
              <a:rPr lang="en-US" sz="1400" b="0" dirty="0"/>
              <a:t>Review types: some low-risk studies are exempt or get an expedited review; trials and anything with more than minimal risk go to the full committee. Your committee decides the category, not you.</a:t>
            </a:r>
          </a:p>
          <a:p>
            <a:r>
              <a:rPr lang="en-US" sz="1400" b="0" dirty="0"/>
              <a:t>Questions and revisions are normal. Plan 1-3 months for the whole journey.</a:t>
            </a:r>
          </a:p>
          <a:p>
            <a:r>
              <a:rPr lang="en-US" sz="1400" b="0" dirty="0"/>
              <a:t>Trials are registered in a public registry (e.g. ClinicalTrials.gov or a WHO-recognised registry) before the first patient; journals refuse unregistered trials.</a:t>
            </a:r>
          </a:p>
          <a:p>
            <a:r>
              <a:rPr lang="en-US" sz="1400" b="0" dirty="0"/>
              <a:t>Misconception to kill: 'we can collect data now and ask for approval later'. Committees cannot approve retrospectively, and journals will reject the paper.</a:t>
            </a:r>
          </a:p>
          <a:p>
            <a:r>
              <a:rPr lang="en-US" sz="1400" b="0" dirty="0"/>
              <a:t>Running example: Paper 1 gives its committee name and approval number in the Methods; Paper 2 gives the IRB approval number in its Declarations.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registration puts the study's existence, design and primary outcome on a public record BEFORE anyone is enrolled. It prevents hidden negative studies and outcome switching.</a:t>
            </a:r>
          </a:p>
          <a:p>
            <a:r>
              <a:rPr lang="en-US" sz="1400" b="0" dirty="0"/>
              <a:t>Clinical trials: registration is mandatory. ICMJE journals will not publish a trial that was not registered before the first participant, and many countries require it by law. Use ClinicalTrials.gov or another WHO primary registry. The WHO ICTRP portal searches all of them at once; it is a search portal, not a registry itself.</a:t>
            </a:r>
          </a:p>
          <a:p>
            <a:r>
              <a:rPr lang="en-US" sz="1400" b="0" dirty="0"/>
              <a:t>Systematic reviews: register the protocol on PROSPERO before data extraction; many journals expect it.</a:t>
            </a:r>
          </a:p>
          <a:p>
            <a:r>
              <a:rPr lang="en-US" sz="1400" b="0" dirty="0"/>
              <a:t>Observational studies: registration is encouraged rather than required. Check the target journal and local rules. The Declaration of Helsinki asks for every study with human participants to be registered.</a:t>
            </a:r>
          </a:p>
          <a:p>
            <a:r>
              <a:rPr lang="en-US" sz="1400" b="0" dirty="0"/>
              <a:t>Running example: Paper 1 was registered as NCT04947904 on 1 July 2021, and the first patient was enrolled in September 2021, so registration was prospective. Its registration number is in the abstract.</a:t>
            </a:r>
          </a:p>
          <a:p>
            <a:r>
              <a:rPr lang="en-US" sz="1400" b="0" dirty="0"/>
              <a:t>Ask: your group's study, does it need registration? Expected: trials yes; most cohort proposals 'recommended'.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 minute + 1 minute answers). Read each scenario, count fingers, then reveal.</a:t>
            </a:r>
          </a:p>
          <a:p>
            <a:r>
              <a:rPr lang="en-US" sz="1400" b="0" dirty="0"/>
              <a:t>Scenario 4 starts a useful discussion: audit compares practice with a standard and is usually approved through the quality office, not registered. If you plan to publish it as research, ask the ethics committee first (Session 1: research vs audit vs QI).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valid consent needs all four: information, understanding, voluntariness and a record.</a:t>
            </a:r>
          </a:p>
          <a:p>
            <a:r>
              <a:rPr lang="en-US" sz="1400" b="0" dirty="0"/>
              <a:t>Patients often ask nurses and pharmacists afterwards 'what did I sign?', so this is everybody's job, not only the investigator's.</a:t>
            </a:r>
          </a:p>
          <a:p>
            <a:r>
              <a:rPr lang="en-US" sz="1400" b="0" dirty="0"/>
              <a:t>Withdrawal: participants may leave at any time without giving a reason and without any effect on their care. Running example: in Paper 1, two control patients withdrew consent and were not analysed. That is the right being respected, and it is why the trial analysed 48 of 50.</a:t>
            </a:r>
          </a:p>
          <a:p>
            <a:r>
              <a:rPr lang="en-US" sz="1400" b="0" dirty="0"/>
              <a:t>Common mistake: a consent form written at university reading level, in a language the family does not read fluently. Ask the committee for its template (there is also one in Templates/).</a:t>
            </a:r>
          </a:p>
          <a:p>
            <a:r>
              <a:rPr lang="en-US" sz="1400" b="0" dirty="0"/>
              <a:t>Ask: who in your group would take consent in your study, and when? Expected answer: a trained team member who is NOT the treating doctor under time pressure, if possible.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real-life ICU problem: most of our patients are sedated, delirious or in shock when they become eligible.</a:t>
            </a:r>
          </a:p>
          <a:p>
            <a:r>
              <a:rPr lang="en-US" sz="1400" b="0" dirty="0"/>
              <a:t>Read the flowchart left to right. 1) Can the patient decide now? Then the patient consents. 2) If not, a legally authorised representative (surrogate: usually family, as defined by local law) consents, and the patient is asked again when able. 3) If no representative can be reached in time and the treatment cannot wait, research may proceed ONLY if the protocol explains why and the ethics committee approved this emergency procedure in advance; consent to continue is then sought as soon as possible. This is 'deferred consent'. The 2024 Declaration of Helsinki allows exactly this, under these conditions.</a:t>
            </a:r>
          </a:p>
          <a:p>
            <a:r>
              <a:rPr lang="en-US" sz="1400" b="0" dirty="0"/>
              <a:t>Paper 1 used this: written consent from the patient or legal surrogate 'before randomization or as soon as possible thereafter' (page 3).</a:t>
            </a:r>
          </a:p>
          <a:p>
            <a:r>
              <a:rPr lang="en-US" sz="1400" b="0" dirty="0"/>
              <a:t>Paper 2 is different: a registry using routine data. The committee waived individual consent and the data were de-identified before analysis (page 8).</a:t>
            </a:r>
          </a:p>
          <a:p>
            <a:r>
              <a:rPr lang="en-US" sz="1400" b="0" dirty="0"/>
              <a:t>Local law decides who may act as representative and whether deferred consent is allowed. Check with your committee before you write the protocol.</a:t>
            </a:r>
          </a:p>
          <a:p>
            <a:r>
              <a:rPr lang="en-US" sz="1400" b="0" dirty="0"/>
              <a:t>Ask: if a family refuses after the patient was enrolled under deferred consent, what happens? Expected: the patient leaves the study; whether data already collected may be used depends on the approved protocol and what the family agrees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Ask the room for each card BEFORE revealing the bottom line (cover it or click through slowly).</a:t>
            </a:r>
          </a:p>
          <a:p>
            <a:r>
              <a:rPr lang="en-US" sz="1400" b="0" dirty="0"/>
              <a:t>Mr A: capacity present, so the patient decides.</a:t>
            </a:r>
          </a:p>
          <a:p>
            <a:r>
              <a:rPr lang="en-US" sz="1400" b="0" dirty="0"/>
              <a:t>Mrs B: lacks capacity now. The legally authorised representative (here the daughter, if local law allows) consents. Mrs B is asked to continue when she regains capacity, and she may withdraw.</a:t>
            </a:r>
          </a:p>
          <a:p>
            <a:r>
              <a:rPr lang="en-US" sz="1400" b="0" dirty="0"/>
              <a:t>Mr C: no representative in time and treatment cannot wait. Deferred consent applies ONLY if the protocol describes it and the committee approved it; seek consent from family or patient as soon as possible. Paper 1 used this route.</a:t>
            </a:r>
          </a:p>
          <a:p>
            <a:r>
              <a:rPr lang="en-US" sz="1400" b="0" dirty="0"/>
              <a:t>Misconception: 'the treating doctor can consent for the patient'. No. The treating doctor is not the representative.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confidentiality is protected by design, not by good intentions.</a:t>
            </a:r>
          </a:p>
          <a:p>
            <a:r>
              <a:rPr lang="en-US" sz="1400" b="0" dirty="0"/>
              <a:t>Before: direct identifiers such as name, hospital number, exact date of birth, address, phone, photos. After: a study code, age instead of birth date, month instead of exact dates, and only the variables in your data dictionary.</a:t>
            </a:r>
          </a:p>
          <a:p>
            <a:r>
              <a:rPr lang="en-US" sz="1400" b="0" dirty="0"/>
              <a:t>The key file that links codes to identities is kept separately, password-protected and locked, with access for one or two named people only.</a:t>
            </a:r>
          </a:p>
          <a:p>
            <a:r>
              <a:rPr lang="en-US" sz="1400" b="0" dirty="0"/>
              <a:t>Beware indirect identification: 'the only 19-year-old with ECMO in March' is identifiable even without a name. Report very small groups with care.</a:t>
            </a:r>
          </a:p>
          <a:p>
            <a:r>
              <a:rPr lang="en-US" sz="1400" b="0" dirty="0"/>
              <a:t>Practical rules: no patient data on personal phones, messaging apps, private email or public cloud and AI tools; encrypted, institution-approved storage only.</a:t>
            </a:r>
          </a:p>
          <a:p>
            <a:r>
              <a:rPr lang="en-US" sz="1400" b="0" dirty="0"/>
              <a:t>Running example: Paper 2 states that patient information was anonymised and de-identified before analysis.</a:t>
            </a:r>
          </a:p>
          <a:p>
            <a:r>
              <a:rPr lang="en-US" sz="1400" b="0" dirty="0"/>
              <a:t>Ask: where would your group's key file live? Expected answer: an institution-approved, password-protected location, not a USB stick in a pocket.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linking 7.1 to the manuscript. Make clear FLUID-ICU is a SIMULATED teaching dataset with no real approval, so in the course manuscripts groups write: 'This analysis uses a simulated teaching dataset; no ethics approval was required.' In a real cohort the paragraph would read like the four cards.</a:t>
            </a:r>
          </a:p>
          <a:p>
            <a:r>
              <a:rPr lang="en-US" sz="1400" b="0" dirty="0"/>
              <a:t>Model sentence (real study): 'The study was approved by the ethics committees of the four participating hospitals (number, date), which waived individual consent because data were collected during routine care and analysed after de-identification.'</a:t>
            </a:r>
          </a:p>
          <a:p>
            <a:r>
              <a:rPr lang="en-US" sz="1400" b="0" dirty="0"/>
              <a:t>Ask: which STROBE item does this belong to? Expected: the Methods (it is listed among other information; most journals ask for it in a 'Declarations' section too).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tiles. TIMELINE: ethics approval alone can take 1-3 months; recruitment always takes longer than planned. BUDGET: name the headings even if the amounts are small (staff time, materials or tests, publication fee). PEOPLE: who collects data on night shifts and weekends, who analyses, and is there protected time? RECRUITMENT: Paper 1 screened 1201 patients in three ICUs over 17 months to randomise 50 (about 4%). Most eligible-looking patients are not eligible or not enrolled. DATA: is the variable already recorded routinely? Paper 2 could not study diuretics because the registry never recorded them.</a:t>
            </a:r>
          </a:p>
          <a:p>
            <a:r>
              <a:rPr lang="en-US" sz="1400" b="0" dirty="0"/>
              <a:t>Rule of thumb: count how many patients meeting your criteria your unit saw last year, then assume you will enrol a fraction of them.</a:t>
            </a:r>
          </a:p>
          <a:p>
            <a:r>
              <a:rPr lang="en-US" sz="1400" b="0" dirty="0"/>
              <a:t>Ask: which tile is the biggest risk for your group's study? Expected answers: recruitment and people (night-shift data collection).</a:t>
            </a:r>
          </a:p>
          <a:p>
            <a:r>
              <a:rPr lang="en-US" sz="1400" b="0" dirty="0"/>
              <a:t>This is the only feasibility slide in Level 1. Do not go deeper.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(0:40-1:00). Six slides (about 2 minutes each) and the 5-minute scenario quiz.</a:t>
            </a:r>
          </a:p>
          <a:p>
            <a:r>
              <a:rPr lang="en-US" sz="1400" b="0" dirty="0"/>
              <a:t>Tone: this is not about catching cheats. Most integrity problems start as small shortcuts under pressure: a missing value 'filled in', an outlier 'cleaned', a boss added as author. We want people to recognise the slope early.</a:t>
            </a:r>
          </a:p>
          <a:p>
            <a:r>
              <a:rPr lang="en-US" sz="1400" b="0" dirty="0"/>
              <a:t>Link to the manuscript: every group's draft will need an authorship (CRediT), conflicts-of-interest, data-availability and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three classic forms of research misconduct (FFP).</a:t>
            </a:r>
          </a:p>
          <a:p>
            <a:r>
              <a:rPr lang="en-US" sz="1400" b="0" dirty="0"/>
              <a:t>Fabrication: making up data or patients (e.g. filling day-3 fluid balances 'from memory' because the chart is lost).</a:t>
            </a:r>
          </a:p>
          <a:p>
            <a:r>
              <a:rPr lang="en-US" sz="1400" b="0" dirty="0"/>
              <a:t>Falsification: changing, selecting or leaving out data, images or results so the story looks better (e.g. dropping two 'odd' patients after seeing they weaken the result).</a:t>
            </a:r>
          </a:p>
          <a:p>
            <a:r>
              <a:rPr lang="en-US" sz="1400" b="0" dirty="0"/>
              <a:t>Plagiarism: using other people's words, ideas or figures without credit, including copying a paragraph WITH a citation but without quotation marks.</a:t>
            </a:r>
          </a:p>
          <a:p>
            <a:r>
              <a:rPr lang="en-US" sz="1400" b="0" dirty="0"/>
              <a:t>Honest error is not misconduct, but it must be corrected openly (a correction or erratum).</a:t>
            </a:r>
          </a:p>
          <a:p>
            <a:r>
              <a:rPr lang="en-US" sz="1400" b="0" dirty="0"/>
              <a:t>Link to Session 5: the data-quality plan (range checks, pre-specified rules for outliers) is what protects you from accidental falsification.</a:t>
            </a:r>
          </a:p>
          <a:p>
            <a:r>
              <a:rPr lang="en-US" sz="1400" b="0" dirty="0"/>
              <a:t>Ask: which of these three is the most common in student theses? Expected answer: plagiarism, often copy-paste in the introduction. Similarity-check software will find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practices distort the evidence that doctors and guideline panels rely on.</a:t>
            </a:r>
          </a:p>
          <a:p>
            <a:r>
              <a:rPr lang="en-US" sz="1400" b="0" dirty="0"/>
              <a:t>Duplicate publication counts the same patients twice in a meta-analysis and can exaggerate an effect. A legitimate secondary paper is fine if it is clearly cross-referenced and adds something new.</a:t>
            </a:r>
          </a:p>
          <a:p>
            <a:r>
              <a:rPr lang="en-US" sz="1400" b="0" dirty="0"/>
              <a:t>Salami slicing: e.g. mortality in one paper, length of stay in another and ventilation days in a third, from the same cohort, each without mentioning the others.</a:t>
            </a:r>
          </a:p>
          <a:p>
            <a:r>
              <a:rPr lang="en-US" sz="1400" b="0" dirty="0"/>
              <a:t>Selective reporting and outcome switching are why trials must be registered with ONE primary outcome before the first patient. Running example: Paper 1 registered its protocol at ClinicalTrials.gov on 1 July 2021, before recruitment began in September 2021, and reported its negative primary outcome plainly in the abstract. That is good practice.</a:t>
            </a:r>
          </a:p>
          <a:p>
            <a:r>
              <a:rPr lang="en-US" sz="1400" b="0" dirty="0"/>
              <a:t>Ask: Paper 1's primary outcome was negative. Why does it matter that it was published at all? Expected: publication bias. If only positive trials appear, the literature overstates benefit.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International Committee of Medical Journal Editors (ICMJE) requires ALL four criteria for authorship: 1) substantial contribution to conception or design, or to acquisition, analysis or interpretation of data; 2) drafting or critically revising the work; 3) final approval of the version to be published; 4) agreement to be accountable for all aspects of the work.</a:t>
            </a:r>
          </a:p>
          <a:p>
            <a:r>
              <a:rPr lang="en-US" sz="1400" b="0" dirty="0"/>
              <a:t>Anyone who contributed but does not meet all four goes in the Acknowledgements (data collectors, the pharmacist who checked adherence, the department head who provided support).</a:t>
            </a:r>
          </a:p>
          <a:p>
            <a:r>
              <a:rPr lang="en-US" sz="1400" b="0" dirty="0"/>
              <a:t>Gift author: a name added for seniority or friendship. Ghost author: someone who did the work (often a junior or a paid writer) but is not named. Both are misconduct.</a:t>
            </a:r>
          </a:p>
          <a:p>
            <a:r>
              <a:rPr lang="en-US" sz="1400" b="0" dirty="0"/>
              <a:t>Running example: Paper 2 is published 'on behalf of' a study group, and the group members are listed in the Acknowledgements. That is a correct way to credit a large network.</a:t>
            </a:r>
          </a:p>
          <a:p>
            <a:r>
              <a:rPr lang="en-US" sz="1400" b="0" dirty="0"/>
              <a:t>Ask: data collection alone, is that enough for authorship? Expected answer: no, not without criteria 2, 3 and 4.</a:t>
            </a:r>
          </a:p>
          <a:p>
            <a:r>
              <a:rPr lang="en-US" sz="1400" b="0" dirty="0"/>
              <a:t>Practical tip: agree the author list and order in writing at the protocol stage and revisit it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conflict (competing) interest is anything that could be seen to influence your judgement, financial or not. Having one is common and not wrong; hiding it is.</a:t>
            </a:r>
          </a:p>
          <a:p>
            <a:r>
              <a:rPr lang="en-US" sz="1400" b="0" dirty="0"/>
              <a:t>Financial: consultancy, speaker fees, grants, travel support, shares, patents, employment. Non-financial: personal relationships, membership of a guideline panel, strong prior beliefs, academic rivalry.</a:t>
            </a:r>
          </a:p>
          <a:p>
            <a:r>
              <a:rPr lang="en-US" sz="1400" b="0" dirty="0"/>
              <a:t>Every author completes the journal's disclosure form (most journals use the ICMJE disclosure form), usually covering the last 36 months.</a:t>
            </a:r>
          </a:p>
          <a:p>
            <a:r>
              <a:rPr lang="en-US" sz="1400" b="0" dirty="0"/>
              <a:t>Funding statement: who paid, the grant number, and the role of the funder in design, data collection, analysis, writing and the decision to publish.</a:t>
            </a:r>
          </a:p>
          <a:p>
            <a:r>
              <a:rPr lang="en-US" sz="1400" b="0" dirty="0"/>
              <a:t>Running example: Paper 2 states its funder had no role in the design, data collection and analysis or manuscript preparation, an ICMJE requirement that is often forgotten (annotation #39). Paper 1 states an internal hospital grant and no competing interests (page 12).</a:t>
            </a:r>
          </a:p>
          <a:p>
            <a:r>
              <a:rPr lang="en-US" sz="1400" b="0" dirty="0"/>
              <a:t>Ask: a drug company paid your travel to a congress last year. Do you declare it on a fluids paper? Expected: yes if it could be perceived as relevant. When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increasingly ask for a data-sharing statement; ICMJE requires one for clinical trials, and trials must describe their data-sharing plan when they register.</a:t>
            </a:r>
          </a:p>
          <a:p>
            <a:r>
              <a:rPr lang="en-US" sz="1400" b="0" dirty="0"/>
              <a:t>The ladder: not available; 'available on reasonable request' (the weakest promise, used by both papers, pages 12 and 8); a controlled-access repository (researchers apply); an open repository with a DOI (for fully de-identified data).</a:t>
            </a:r>
          </a:p>
          <a:p>
            <a:r>
              <a:rPr lang="en-US" sz="1400" b="0" dirty="0"/>
              <a:t>Before you share: the consent form and the ethics approval must allow it, data are de-identified, and you share the data dictionary and analysis code with the data so others can use them.</a:t>
            </a:r>
          </a:p>
          <a:p>
            <a:r>
              <a:rPr lang="en-US" sz="1400" b="0" dirty="0"/>
              <a:t>Link to Session 5: a clean data dictionary is what makes shared data usable.</a:t>
            </a:r>
          </a:p>
          <a:p>
            <a:r>
              <a:rPr lang="en-US" sz="1400" b="0" dirty="0"/>
              <a:t>Ask: what would you need to write in your consent form today so your data can be shared tomorrow? Expected: a sentence asking permission for de-identified data to be shared for future research.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current positions of ICMJE and COPE (Committee on Publication Ethics). AI tools cannot be authors, because they cannot take responsibility or be accountable for the work. Authors who use AI must disclose it (writing help usually in the Acknowledgements, use in data collection, analysis or figures in the Methods), and they remain fully responsible for every word, number and reference, including anything the tool produced.</a:t>
            </a:r>
          </a:p>
          <a:p>
            <a:r>
              <a:rPr lang="en-US" sz="1400" b="0" dirty="0"/>
              <a:t>Never paste identifiable patient data, or a manuscript you are reviewing, into a public AI tool: it breaches confidentiality, and reviewers are bound to keep manuscripts confidential.</a:t>
            </a:r>
          </a:p>
          <a:p>
            <a:r>
              <a:rPr lang="en-US" sz="1400" b="0" dirty="0"/>
              <a:t>AI tools can invent references that look real. Check every citation against PubMed.</a:t>
            </a:r>
          </a:p>
          <a:p>
            <a:r>
              <a:rPr lang="en-US" sz="1400" b="0" dirty="0"/>
              <a:t>Images: AI-generated or AI-altered images are not acceptable as data.</a:t>
            </a:r>
          </a:p>
          <a:p>
            <a:r>
              <a:rPr lang="en-US" sz="1400" b="0" dirty="0"/>
              <a:t>Always check the target journal's own AI policy in its Guide for Authors, because policies change.</a:t>
            </a:r>
          </a:p>
          <a:p>
            <a:r>
              <a:rPr lang="en-US" sz="1400" b="0" dirty="0"/>
              <a:t>Ask: a colleague asks a chatbot to 'write the discussion' and submits it unread. Which of the three NEVER boxes does this hit? Expected: invented references and an unaccountable text, and it is undisclosed.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(0:55-1:00). Scenarios and answer key: Practicals/s7_exercises.md (Part A) and Solutions/s7_solutions.md.</a:t>
            </a:r>
          </a:p>
          <a:p>
            <a:r>
              <a:rPr lang="en-US" sz="1400" b="0" dirty="0"/>
              <a:t>Choose three: 1 (missing data 'filled from memory': RED, fabrication), 3 (head of department as last author without contributing: RED, gift authorship, offer Acknowledgements), 4 (AI polish of the English, checked and disclosed: GREEN; same chatbot fed the patient spreadsheet: RED).</a:t>
            </a:r>
          </a:p>
          <a:p>
            <a:r>
              <a:rPr lang="en-US" sz="1400" b="0" dirty="0"/>
              <a:t>Example on the slide: lending equipment is not authorship (AMBER/RED). Thank them in the Acknowledgements.</a:t>
            </a:r>
          </a:p>
          <a:p>
            <a:r>
              <a:rPr lang="en-US" sz="1400" b="0" dirty="0"/>
              <a:t>Facilitation: coloured cards (or coloured paper) on each table; if you have none, use fingers: 1 = green, 2 = amber, 3 = red.</a:t>
            </a:r>
          </a:p>
          <a:p>
            <a:r>
              <a:rPr lang="en-US" sz="1400" b="0" dirty="0"/>
              <a:t>If groups disagree, that is the teaching moment. Ask each side for one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(1:00-1:15). Call the sub-timings aloud.</a:t>
            </a:r>
          </a:p>
          <a:p>
            <a:r>
              <a:rPr lang="en-US" sz="1400" b="0" dirty="0"/>
              <a:t>Circulate. Typical problems: (1) 'consent will be obtained' with no who/when/how (push for the ICU pathway); (2) retrospective chart reviews assuming no ethics review is needed (wrong: the committee decides and may grant a waiver); (3) recruitment numbers taken from the sample-size calculation instead of the unit's admissions; (4) CONSORT chosen for an observational proposal.</a:t>
            </a:r>
          </a:p>
          <a:p>
            <a:r>
              <a:rPr lang="en-US" sz="1400" b="0" dirty="0"/>
              <a:t>The journal choice and EQUATOR checklist will be checked again in 8.2 next Saturday. A provisional answer is fine today.</a:t>
            </a:r>
          </a:p>
          <a:p>
            <a:r>
              <a:rPr lang="en-US" sz="1400" b="0" dirty="0"/>
              <a:t>Remind: next Saturday each group presents (6 minutes, 6 slides). Slides 5 (ethics &amp; feasibility) and 6 (publication plan) come from this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(1:15-1:30).</a:t>
            </a:r>
          </a:p>
          <a:p>
            <a:r>
              <a:rPr lang="en-US" sz="1400" b="0" dirty="0"/>
              <a:t>During the break: put one printed results pack on each table (Q1 on table 1 ... Q5 on table 5) and the s7 exercise sheet (Part C, workshop instructions).</a:t>
            </a:r>
          </a:p>
          <a:p>
            <a:r>
              <a:rPr lang="en-US" sz="1400" b="0" dirty="0"/>
              <a:t>Use the break to visit any group that could not say its main result in the recap.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(1:30-2:05). Ten slides: writing order, Methods, a worked Methods example from FLUID-ICU, Results, a worked Results example, tables, STROBE, and a 3-minute check.</a:t>
            </a:r>
          </a:p>
          <a:p>
            <a:r>
              <a:rPr lang="en-US" sz="1400" b="0" dirty="0"/>
              <a:t>Every example now comes from the course dataset (Q1, the primary question) or from the two papers.</a:t>
            </a:r>
          </a:p>
          <a:p>
            <a:r>
              <a:rPr lang="en-US" sz="1400" b="0" dirty="0"/>
              <a:t>Pace: 3 minutes per slide. The two worked examples are the heart of the block. Read them slowly with the room.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readers go from title to abstract, introduction, methods, results and discussion. Writers should not. Start from the evidence: draft the tables and figures (the story is in your data), then the Methods (you know what you did, and it can be drafted from the protocol even before the data), then Results (describe the tables), then the Introduction (set up exactly the question you answered), then the Discussion, and only then the abstract and the title.</a:t>
            </a:r>
          </a:p>
          <a:p>
            <a:r>
              <a:rPr lang="en-US" sz="1400" b="0" dirty="0"/>
              <a:t>Why it works: each section is written from something that already exists, and the abstract and title summarise a paper that is finished, so they cannot promise more than the paper delivers.</a:t>
            </a:r>
          </a:p>
          <a:p>
            <a:r>
              <a:rPr lang="en-US" sz="1400" b="0" dirty="0"/>
              <a:t>Misconception: 'I must finish the introduction before I can start'. Many first-time writers stall on the introduction for months.</a:t>
            </a:r>
          </a:p>
          <a:p>
            <a:r>
              <a:rPr lang="en-US" sz="1400" b="0" dirty="0"/>
              <a:t>Ask: which part of your proposal could already become the Methods of your paper? Expected: Parts 2 and 3 (design, participants, variables,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Methods = enough detail to repeat the study, in the order of the reporting checklist (CONSORT or STROBE).</a:t>
            </a:r>
          </a:p>
          <a:p>
            <a:r>
              <a:rPr lang="en-US" sz="1400" b="0" dirty="0"/>
              <a:t>Good practice: Paper 1 puts the ethics committee, approval number, consent procedure and funding inside the Methods (annotation #13); describes the intervention well enough to replicate: staff training, a daily pharmacist check, dilution charts in a supplement (#16); separates one primary outcome from secondary and safety outcomes (#17); states the software and version (#21). Paper 2 defines exactly which inputs and outputs make up fluid balance (#13) and cites its cohort-profile paper instead of repeating it (#12).</a:t>
            </a:r>
          </a:p>
          <a:p>
            <a:r>
              <a:rPr lang="en-US" sz="1400" b="0" dirty="0"/>
              <a:t>To fix: Paper 1 is a 'pilot' with an efficacy sample size whose assumptions (70 vs 40 ml/kg) were not met (#18); it names a Mann-Whitney test but reports mean differences with CIs (#19); about 40 secondary p-values with no word on multiplicity (#20). Paper 2: 'caliper of 0.1' of what? How were missing covariates handled? Clustered by what? (#15, #17); no sample-size statement (#19).</a:t>
            </a:r>
          </a:p>
          <a:p>
            <a:r>
              <a:rPr lang="en-US" sz="1400" b="0" dirty="0"/>
              <a:t>The statistical analysis paragraph: for each comparison, the summary, the test or model, the effect measure with 95% CI, how missing data and multiple comparisons were handled, and the software.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(course dataset). Read each sentence and point to its STROBE item on the right.</a:t>
            </a:r>
          </a:p>
          <a:p>
            <a:r>
              <a:rPr lang="en-US" sz="1400" b="0" dirty="0"/>
              <a:t>All facts come from results pack Q1, section 2: prospective multicentre cohort, 4 ICUs, consecutive adults with sepsis, January 2023 to December 2024; exposure = cumulative balance (in minus out, days 1-3) &gt; 0 ml/kg; outcome = death within 28 days of ICU admission.</a:t>
            </a:r>
          </a:p>
          <a:p>
            <a:r>
              <a:rPr lang="en-US" sz="1400" b="0" dirty="0"/>
              <a:t>STROBE 10 (study size): for a fixed cohort we do not invent a sample-size calculation; we say all eligible patients were included.</a:t>
            </a:r>
          </a:p>
          <a:p>
            <a:r>
              <a:rPr lang="en-US" sz="1400" b="0" dirty="0"/>
              <a:t>The ethics sentence is specific to the course: FLUID-ICU is SIMULATED, and every manuscript must say so.</a:t>
            </a:r>
          </a:p>
          <a:p>
            <a:r>
              <a:rPr lang="en-US" sz="1400" b="0" dirty="0"/>
              <a:t>Ask: which sentence would a reader need to repeat the study? Expected: the exposure definition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This is STROBE item 12 written out for Q1 (results pack Q1, sections 2 and 4-5).</a:t>
            </a:r>
          </a:p>
          <a:p>
            <a:r>
              <a:rPr lang="en-US" sz="1400" b="0" dirty="0"/>
              <a:t>Covariates: age, SOFA, lactate, vasopressor, mechanical ventilation, chronic kidney disease. All were pre-specified in the statistical analysis plan (Session 6), not chosen by looking at p-values.</a:t>
            </a:r>
          </a:p>
          <a:p>
            <a:r>
              <a:rPr lang="en-US" sz="1400" b="0" dirty="0"/>
              <a:t>Missing data: lactate missing in 93/620 (15.0%); main analysis on complete cases (n = 527), multiple imputation (m = 20) as sensitivity.</a:t>
            </a:r>
          </a:p>
          <a:p>
            <a:r>
              <a:rPr lang="en-US" sz="1400" b="0" dirty="0"/>
              <a:t>Effect modification: heart failure, pre-specified.</a:t>
            </a:r>
          </a:p>
          <a:p>
            <a:r>
              <a:rPr lang="en-US" sz="1400" b="0" dirty="0"/>
              <a:t>Misconception: 'the statistics paragraph is for the statistician'. Reviewers read it first; every number in the Results must be traceable to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1) Participants first: how many were screened, included, analysed and why some were lost, with a flow diagram. Paper 1 has its CONSORT flow chart in the main text (annotations #23, #27); Paper 2 keeps it in the supplement although 79% of the registry was excluded (#20).</a:t>
            </a:r>
          </a:p>
          <a:p>
            <a:r>
              <a:rPr lang="en-US" sz="1400" b="0" dirty="0"/>
              <a:t>2) Numbers with confidence intervals, not 'p = 0.42, NS'. Analysing 48 of 50 randomised patients is a modified intention-to-treat analysis and should be called that (#24).</a:t>
            </a:r>
          </a:p>
          <a:p>
            <a:r>
              <a:rPr lang="en-US" sz="1400" b="0" dirty="0"/>
              <a:t>3) No interpretation in the Results. Paper 2 reports its results in the order of the aims, each with HR, CI and P, and no comment (#25).</a:t>
            </a:r>
          </a:p>
          <a:p>
            <a:r>
              <a:rPr lang="en-US" sz="1400" b="0" dirty="0"/>
              <a:t>4) One home for each number: key numbers in the text, all details in the tables, and they must agree. Paper 1's text says creatinine was higher in the intervention group; Table 1 shows the opposite (#25). Text-table contradictions are a classic rejection reason.</a:t>
            </a:r>
          </a:p>
          <a:p>
            <a:r>
              <a:rPr lang="en-US" sz="1400" b="0" dirty="0"/>
              <a:t>Ask: who in your group will check every number in the text against the tables before submission? Name the person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All numbers from Course/Data/key_results.md (SIMULATED data):</a:t>
            </a:r>
          </a:p>
          <a:p>
            <a:r>
              <a:rPr lang="en-US" sz="1400" b="0" dirty="0"/>
              <a:t>Flow: 620 enrolled → 618 with a day-3 balance → 527 in the complete-case adjusted model (91 without lactate or age).</a:t>
            </a:r>
          </a:p>
          <a:p>
            <a:r>
              <a:rPr lang="en-US" sz="1400" b="0" dirty="0"/>
              <a:t>Positive balance 373/618 (60.4%); SOFA median 8 (6 to 10) vs 6 (4 to 8); vasopressor 205/373 (55.0%) vs 61/245 (24.9%).</a:t>
            </a:r>
          </a:p>
          <a:p>
            <a:r>
              <a:rPr lang="en-US" sz="1400" b="0" dirty="0"/>
              <a:t>Deaths: 134/373 (35.9%) vs 45/245 (18.4%). Crude OR 2.49 (1.70 to 3.70); adjusted OR 1.62 (1.02 to 2.59), p 0.044. Sensitivity: multiple imputation OR 1.70 (1.09 to 2.64); adjusted Cox HR 1.46 (1.00 to 2.13).</a:t>
            </a:r>
          </a:p>
          <a:p>
            <a:r>
              <a:rPr lang="en-US" sz="1400" b="0" dirty="0"/>
              <a:t>Point out what is NOT in the paragraph: no 'because', no 'significant', no explanation of why the OR shrank. That belongs to the Discussion next Saturday.</a:t>
            </a:r>
          </a:p>
          <a:p>
            <a:r>
              <a:rPr lang="en-US" sz="1400" b="0" dirty="0"/>
              <a:t>Ask: which STROBE item does the crude-AND-adjusted sentence satisfy?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reviewers and clinicians read tables more carefully than text. A table must stand alone: a title that says what, in whom and when; n in every column header; units and the summary statistic in each row; footnotes defining abbreviations and missing data.</a:t>
            </a:r>
          </a:p>
          <a:p>
            <a:r>
              <a:rPr lang="en-US" sz="1400" b="0" dirty="0"/>
              <a:t>Good practice: Paper 1's Table 1 has n in each column, SD or IQR per row and no baseline p-values, which is correct for a randomised trial (annotation #31). Paper 2's Table 1 adds SMDs and footnotes with the number of patients with missing data (#30); its timeline figure has a self-contained legend (#21).</a:t>
            </a:r>
          </a:p>
          <a:p>
            <a:r>
              <a:rPr lang="en-US" sz="1400" b="0" dirty="0"/>
              <a:t>Errors to avoid: sodium and potassium printed in umol per liter (should be mmol/L) in Paper 1 (#30); a copy-pasted row in Paper 1's Table 2 (#32); wrong figure call-outs in Paper 1 (#28, #41); a vague table title (#34); white-cell units written '* 10^3/L' in Paper 2 (#30). Kaplan-Meier curves should show numbers at risk (Paper 2, #31).</a:t>
            </a:r>
          </a:p>
          <a:p>
            <a:r>
              <a:rPr lang="en-US" sz="1400" b="0" dirty="0"/>
              <a:t>Link to Session 5: the publication-quality table rules. Your FLUID-ICU Table 1 in the results pack already follows them. Check it against this list in the workshop.</a:t>
            </a:r>
          </a:p>
          <a:p>
            <a:r>
              <a:rPr lang="en-US" sz="1400" b="0" dirty="0"/>
              <a:t>Ask: what is wrong with a table titled 'Results'? Expected: it says nothing about what, who or 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from Table 1 to one Results sentence (STROBE 14).</a:t>
            </a:r>
          </a:p>
          <a:p>
            <a:r>
              <a:rPr lang="en-US" sz="1400" b="0" dirty="0"/>
              <a:t>Model sentence: 'Patients with a positive balance were sicker at baseline (median SOFA 8 vs 6; vasopressors 55.0% vs 24.9%) and less often had heart failure (11.5% vs 22.0%).'</a:t>
            </a:r>
          </a:p>
          <a:p>
            <a:r>
              <a:rPr lang="en-US" sz="1400" b="0" dirty="0"/>
              <a:t>Teaching point: the Table 1 sentence describes, it does not test, so no p-values are needed (observational Table 1s often show SMDs instead).</a:t>
            </a:r>
          </a:p>
          <a:p>
            <a:r>
              <a:rPr lang="en-US" sz="1400" b="0" dirty="0"/>
              <a:t>Heart failure is lower in the positive group because clinicians give less fluid in heart failure: a good example of how treatment decisions shape the data.</a:t>
            </a:r>
          </a:p>
          <a:p>
            <a:r>
              <a:rPr lang="en-US" sz="1400" b="0" dirty="0"/>
              <a:t>The full Table 1 with missing-data rows is in each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FLUID-ICU is a cohort, so the paper follows STROBE (cohort version). The numbers in the boxes are the STROBE item numbers for the Methods (4-12) and Results (13-17).</a:t>
            </a:r>
          </a:p>
          <a:p>
            <a:r>
              <a:rPr lang="en-US" sz="1400" b="0" dirty="0"/>
              <a:t>Items groups most often forget: 9 (bias: say how you addressed confounding by indication, i.e. adjustment for severity); 10 (study size: for a fixed dataset say 'all eligible patients in the cohort were included'); 12 (missing data: how lactate was handled); 16 (give BOTH crude and adjusted estimates, with the variables adjusted for).</a:t>
            </a:r>
          </a:p>
          <a:p>
            <a:r>
              <a:rPr lang="en-US" sz="1400" b="0" dirty="0"/>
              <a:t>The full checklist is in the s7 exercise sheet and on equator-network.org (demo next Saturday).</a:t>
            </a:r>
          </a:p>
          <a:p>
            <a:r>
              <a:rPr lang="en-US" sz="1400" b="0" dirty="0"/>
              <a:t>Ask: which item covers Table 1? Expected: 14 (descriptive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(2:02-2:05). Read each sentence; the room calls out M, R or D.</a:t>
            </a:r>
          </a:p>
          <a:p>
            <a:r>
              <a:rPr lang="en-US" sz="1400" b="0" dirty="0"/>
              <a:t>The numbers in sentences 2, 4 and 5 are illustrative ('...'), not FLUID-ICU results.</a:t>
            </a:r>
          </a:p>
          <a:p>
            <a:r>
              <a:rPr lang="en-US" sz="1400" b="0" dirty="0"/>
              <a:t>Sentence 4 is the trick: HOW missing data were handled is Methods; HOW MANY were missing is Results.</a:t>
            </a:r>
          </a:p>
          <a:p>
            <a:r>
              <a:rPr lang="en-US" sz="1400" b="0" dirty="0"/>
              <a:t>Sentence 3 is the classic error: an interpretation slipped into the Results. Move it to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(2:05-2:55). Course dataset. Each group writes the Methods and Results of its FLUID-ICU paper (Q1-Q5) from its results pack.</a:t>
            </a:r>
          </a:p>
          <a:p>
            <a:r>
              <a:rPr lang="en-US" sz="1400" b="0" dirty="0"/>
              <a:t>Instructions for participants: Practicals/s7_exercises.md, Part C. Model paragraphs for Q1: Solutions/s7_solutions.md. Do NOT hand these out before the workshop; show only the worked examples on the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plan and assign roles in 1 minute: two write Methods, two write Results, one prepares Table 1 and one figure or table (title, column headers with n, units, footnotes), and one 'number checker' who compares every number in the text with the results pack.</a:t>
            </a:r>
          </a:p>
          <a:p>
            <a:r>
              <a:rPr lang="en-US" sz="1400" b="0" dirty="0"/>
              <a:t>Word budget: Methods ~300 words (design and setting, participants, variables, statistical analysis); Results ~300 words (participants, Table 1 in one sentence, main result crude and adjusted, one secondary or sensitivity result).</a:t>
            </a:r>
          </a:p>
          <a:p>
            <a:r>
              <a:rPr lang="en-US" sz="1400" b="0" dirty="0"/>
              <a:t>Instructors circulate from minute 5: check each Methods has the statistical paragraph and each Results starts with the participants.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(2:05-2:55). Start a visible 50-minute timer; call each phase.</a:t>
            </a:r>
          </a:p>
          <a:p>
            <a:r>
              <a:rPr lang="en-US" sz="1400" b="0" dirty="0"/>
              <a:t>Circulate in a fixed order (table 1 to 5) so every group gets two visits.</a:t>
            </a:r>
          </a:p>
          <a:p>
            <a:r>
              <a:rPr lang="en-US" sz="1400" b="0" dirty="0"/>
              <a:t>Prompts: 'Where is your statistical paragraph?' 'What was adjusted for?' 'Where are the participants?' 'Is there a number without a confidence interval?' 'Is there an adjective ("significant", "strong") that should be a number?' 'Is there any interpretation in your Results?'</a:t>
            </a:r>
          </a:p>
          <a:p>
            <a:r>
              <a:rPr lang="en-US" sz="1400" b="0" dirty="0"/>
              <a:t>Q4 group (lactate): make sure they report BOTH complete-case and imputed estimates. Q5 group (length of stay): medians and IQR, not means. Q3 group: ventilator-free days are skewed, so check the summary they chose.</a:t>
            </a:r>
          </a:p>
          <a:p>
            <a:r>
              <a:rPr lang="en-US" sz="1400" b="0" dirty="0"/>
              <a:t>At 2:52 ask each group to save and send its draft (email or shared folder). It is the starting file for next Saturday's workshop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Ask someone to explain each in their own words before you read the right-hand column.</a:t>
            </a:r>
          </a:p>
          <a:p>
            <a:r>
              <a:rPr lang="en-US" sz="1400" b="0" dirty="0"/>
              <a:t>These are also the words most likely to appear in the post-course quiz next Saturday.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(2:55-3:00). Read the three take-home messages; ask one person to add a fourth.</a:t>
            </a:r>
          </a:p>
          <a:p>
            <a:r>
              <a:rPr lang="en-US" sz="1400" b="0" dirty="0"/>
              <a:t>Homework: proposal slides (presentation guide: 6 minutes, 6 slides), and a read-through of the manuscript draft. Next Saturday starts with a 5-minute recap and goes straight into writing.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the room moves faster than planned,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almost every clinical paper follows IMRaD (Introduction, Methods, Results and Discussion), framed by the title and abstract and closed by references and declarations.</a:t>
            </a:r>
          </a:p>
          <a:p>
            <a:r>
              <a:rPr lang="en-US" sz="1400" b="0" dirty="0"/>
              <a:t>Introduction: from what is known, to what is not known, to your question (a funnel). Methods: enough detail for someone else to repeat the study. Results: numbers, without opinions. Discussion: answer the question first, compare with other studies, state the limitations, then say what it means.</a:t>
            </a:r>
          </a:p>
          <a:p>
            <a:r>
              <a:rPr lang="en-US" sz="1400" b="0" dirty="0"/>
              <a:t>Running example: Paper 1's introduction is a textbook funnel in three paragraphs (pages 2-3), ending 'The primary objective was to assess the fluid balance after the first 5 days'. Its Discussion opens by answering that question (page 8).</a:t>
            </a:r>
          </a:p>
          <a:p>
            <a:r>
              <a:rPr lang="en-US" sz="1400" b="0" dirty="0"/>
              <a:t>Tip for the appraisal after the break: the hourglass tells you where to look. PICO is in the last paragraph of the Introduction, design and outcome in the Methods, the main effect in the first paragraph of the Results, limitations near the end of the Discussion.</a:t>
            </a:r>
          </a:p>
          <a:p>
            <a:r>
              <a:rPr lang="en-US" sz="1400" b="0" dirty="0"/>
              <a:t>Ask: which section do you read first in a paper? Many will say the abstract and conclusion. That is fine, but the answer to 'can I believe it?' is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is a list of 14 standard roles. It does not replace the ICMJE criteria; it makes each person's contribution visible.</a:t>
            </a:r>
          </a:p>
          <a:p>
            <a:r>
              <a:rPr lang="en-US" sz="1400" b="0" dirty="0"/>
              <a:t>Running example: Paper 1 (page 12) gives a CRediT statement; for example, the statistician is credited for Methodology and Formal analysis. Paper 2 (page 8) describes contributions in free text and states that all authors read and approved the final manuscript. That is acceptable, but CRediT is the format most journals now ask for.</a:t>
            </a:r>
          </a:p>
          <a:p>
            <a:r>
              <a:rPr lang="en-US" sz="1400" b="0" dirty="0"/>
              <a:t>Facilitation: ask each group to write, in their proposal, who would be first author and who would do what. It prevents painful conversations later.</a:t>
            </a:r>
          </a:p>
          <a:p>
            <a:r>
              <a:rPr lang="en-US" sz="1400" b="0" dirty="0"/>
              <a:t>Question: in a hospital, who usually ends up as last author, and why? Expected: the senior supervisor. That is legitimate if they meet all four criteria, and a gift if they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Century Gothic"/>
                <a:cs typeface="Century Gothic"/>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7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Session 6</a:t>
            </a:r>
          </a:p>
          <a:p>
            <a:pPr marL="274320" indent="-274320" algn="l">
              <a:spcBef>
                <a:spcPts val="440"/>
              </a:spcBef>
              <a:buFont typeface="Arial"/>
              <a:buChar char="•"/>
            </a:pPr>
            <a:r>
              <a:rPr lang="en-US" sz="1900" dirty="0">
                <a:solidFill>
                  <a:srgbClr val="000000"/>
                </a:solidFill>
                <a:latin typeface="Century Gothic"/>
                <a:cs typeface="Century Gothic"/>
              </a:rPr>
              <a:t>7.1  Protocol, ethics, consent, registration, feasibility</a:t>
            </a:r>
          </a:p>
          <a:p>
            <a:pPr marL="274320" indent="-274320" algn="l">
              <a:spcBef>
                <a:spcPts val="440"/>
              </a:spcBef>
              <a:buFont typeface="Arial"/>
              <a:buChar char="•"/>
            </a:pPr>
            <a:r>
              <a:rPr lang="en-US" sz="1900" dirty="0">
                <a:solidFill>
                  <a:srgbClr val="000000"/>
                </a:solidFill>
                <a:latin typeface="Century Gothic"/>
                <a:cs typeface="Century Gothic"/>
              </a:rPr>
              <a:t>7.2  Research integrity: authorship, conflicts of interest, data sharing, AI</a:t>
            </a:r>
          </a:p>
          <a:p>
            <a:pPr marL="274320" indent="-274320" algn="l">
              <a:spcBef>
                <a:spcPts val="440"/>
              </a:spcBef>
              <a:buFont typeface="Arial"/>
              <a:buChar char="•"/>
            </a:pPr>
            <a:r>
              <a:rPr lang="en-US" sz="1900" dirty="0">
                <a:solidFill>
                  <a:srgbClr val="000000"/>
                </a:solidFill>
                <a:latin typeface="Century Gothic"/>
                <a:cs typeface="Century Gothic"/>
              </a:rPr>
              <a:t>Proposal builder 7: ethics + publication plan</a:t>
            </a:r>
          </a:p>
          <a:p>
            <a:pPr marL="274320" indent="-274320" algn="l">
              <a:spcBef>
                <a:spcPts val="440"/>
              </a:spcBef>
              <a:buFont typeface="Arial"/>
              <a:buChar char="•"/>
            </a:pPr>
            <a:r>
              <a:rPr lang="en-US" sz="1900" dirty="0">
                <a:solidFill>
                  <a:srgbClr val="000000"/>
                </a:solidFill>
                <a:latin typeface="Century Gothic"/>
                <a:cs typeface="Century Gothic"/>
              </a:rPr>
              <a:t>7.3  Writing the paper (I): Methods, Results, tables, STROBE</a:t>
            </a:r>
          </a:p>
          <a:p>
            <a:pPr marL="274320" indent="-274320" algn="l">
              <a:spcBef>
                <a:spcPts val="440"/>
              </a:spcBef>
              <a:buFont typeface="Arial"/>
              <a:buChar char="•"/>
            </a:pPr>
            <a:r>
              <a:rPr lang="en-US" sz="1900" dirty="0">
                <a:solidFill>
                  <a:srgbClr val="000000"/>
                </a:solidFill>
                <a:latin typeface="Century Gothic"/>
                <a:cs typeface="Century Gothic"/>
              </a:rPr>
              <a:t>Manuscript workshop 1: draft Methods +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crude OR is 2.1; the adjusted OR is 1.4. What happened?</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HR 0.85 (95% CI 0.60 to 1.20): clear benefit?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is missing for 15% of patients. Name one way to handle it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Kaplan-Meier: what does a 'censored' patient mean?</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Your group's FLUID-ICU question: what is its main result?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Confounding: part of the crude link came from severity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No: the CI includes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Complete-case, or multiple imputation + sensitivity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Left the study alive, outcome unknown after that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Protocol, ethics and consent</a:t>
            </a:r>
          </a:p>
          <a:p>
            <a:pPr marL="0" indent="0" algn="ctr">
              <a:spcBef>
                <a:spcPts val="1200"/>
              </a:spcBef>
              <a:buNone/>
            </a:pPr>
            <a:r>
              <a:rPr lang="en-US" sz="1900" i="1" dirty="0">
                <a:solidFill>
                  <a:srgbClr val="595959"/>
                </a:solidFill>
                <a:latin typeface="Century Gothic"/>
                <a:cs typeface="Century Gothic"/>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randomised trial of two dressings for pressure injuries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systematic review of fluid strategies in sepsis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retrospective cohort from ICU charts (like FLUID-ICU)</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clinical audit of hand-hygiene compliance</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Show: 1 finger = must, 2 = should, 3 = not needed</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Must: trial registry, before patient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Should: PROSPERO</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Recommended, not required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Audit: not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Purpose and what will happen</a:t>
            </a:r>
          </a:p>
          <a:p>
            <a:pPr marL="0" indent="0" algn="l">
              <a:lnSpc>
                <a:spcPct val="104000"/>
              </a:lnSpc>
              <a:spcBef>
                <a:spcPts val="400"/>
              </a:spcBef>
              <a:buNone/>
            </a:pPr>
            <a:r>
              <a:rPr lang="en-US" sz="1600" dirty="0">
                <a:solidFill>
                  <a:srgbClr val="000000"/>
                </a:solidFill>
                <a:latin typeface="Century Gothic"/>
                <a:cs typeface="Century Gothic"/>
              </a:rPr>
              <a:t>Risks, benefits, alternatives</a:t>
            </a:r>
          </a:p>
          <a:p>
            <a:pPr marL="0" indent="0" algn="l">
              <a:lnSpc>
                <a:spcPct val="104000"/>
              </a:lnSpc>
              <a:spcBef>
                <a:spcPts val="400"/>
              </a:spcBef>
              <a:buNone/>
            </a:pPr>
            <a:r>
              <a:rPr lang="en-US" sz="1600" dirty="0">
                <a:solidFill>
                  <a:srgbClr val="000000"/>
                </a:solidFill>
                <a:latin typeface="Century Gothic"/>
                <a:cs typeface="Century Gothic"/>
              </a:rPr>
              <a:t>How data are protected</a:t>
            </a:r>
          </a:p>
          <a:p>
            <a:pPr marL="0" indent="0" algn="l">
              <a:lnSpc>
                <a:spcPct val="104000"/>
              </a:lnSpc>
              <a:spcBef>
                <a:spcPts val="400"/>
              </a:spcBef>
              <a:buNone/>
            </a:pPr>
            <a:r>
              <a:rPr lang="en-US" sz="1600" dirty="0">
                <a:solidFill>
                  <a:srgbClr val="000000"/>
                </a:solidFill>
                <a:latin typeface="Century Gothic"/>
                <a:cs typeface="Century Gothic"/>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Plain, local language</a:t>
            </a:r>
          </a:p>
          <a:p>
            <a:pPr marL="0" indent="0" algn="l">
              <a:lnSpc>
                <a:spcPct val="104000"/>
              </a:lnSpc>
              <a:spcBef>
                <a:spcPts val="400"/>
              </a:spcBef>
              <a:buNone/>
            </a:pPr>
            <a:r>
              <a:rPr lang="en-US" sz="1600" dirty="0">
                <a:solidFill>
                  <a:srgbClr val="000000"/>
                </a:solidFill>
                <a:latin typeface="Century Gothic"/>
                <a:cs typeface="Century Gothic"/>
              </a:rPr>
              <a:t>Time to ask questions</a:t>
            </a:r>
          </a:p>
          <a:p>
            <a:pPr marL="0" indent="0" algn="l">
              <a:lnSpc>
                <a:spcPct val="104000"/>
              </a:lnSpc>
              <a:spcBef>
                <a:spcPts val="400"/>
              </a:spcBef>
              <a:buNone/>
            </a:pPr>
            <a:r>
              <a:rPr lang="en-US" sz="1600" dirty="0">
                <a:solidFill>
                  <a:srgbClr val="000000"/>
                </a:solidFill>
                <a:latin typeface="Century Gothic"/>
                <a:cs typeface="Century Gothic"/>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No pressure</a:t>
            </a:r>
          </a:p>
          <a:p>
            <a:pPr marL="0" indent="0" algn="l">
              <a:lnSpc>
                <a:spcPct val="104000"/>
              </a:lnSpc>
              <a:spcBef>
                <a:spcPts val="400"/>
              </a:spcBef>
              <a:buNone/>
            </a:pPr>
            <a:r>
              <a:rPr lang="en-US" sz="1600" dirty="0">
                <a:solidFill>
                  <a:srgbClr val="000000"/>
                </a:solidFill>
                <a:latin typeface="Century Gothic"/>
                <a:cs typeface="Century Gothic"/>
              </a:rPr>
              <a:t>Free to refuse or withdraw</a:t>
            </a:r>
          </a:p>
          <a:p>
            <a:pPr marL="0" indent="0" algn="l">
              <a:lnSpc>
                <a:spcPct val="104000"/>
              </a:lnSpc>
              <a:spcBef>
                <a:spcPts val="400"/>
              </a:spcBef>
              <a:buNone/>
            </a:pPr>
            <a:r>
              <a:rPr lang="en-US" sz="1600" dirty="0">
                <a:solidFill>
                  <a:srgbClr val="000000"/>
                </a:solidFill>
                <a:latin typeface="Century Gothic"/>
                <a:cs typeface="Century Gothic"/>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Signed and dated form</a:t>
            </a:r>
          </a:p>
          <a:p>
            <a:pPr marL="0" indent="0" algn="l">
              <a:lnSpc>
                <a:spcPct val="104000"/>
              </a:lnSpc>
              <a:spcBef>
                <a:spcPts val="400"/>
              </a:spcBef>
              <a:buNone/>
            </a:pPr>
            <a:r>
              <a:rPr lang="en-US" sz="1600" dirty="0">
                <a:solidFill>
                  <a:srgbClr val="000000"/>
                </a:solidFill>
                <a:latin typeface="Century Gothic"/>
                <a:cs typeface="Century Gothic"/>
              </a:rPr>
              <a:t>A copy for the participant</a:t>
            </a:r>
          </a:p>
          <a:p>
            <a:pPr marL="0" indent="0" algn="l">
              <a:lnSpc>
                <a:spcPct val="104000"/>
              </a:lnSpc>
              <a:spcBef>
                <a:spcPts val="400"/>
              </a:spcBef>
              <a:buNone/>
            </a:pPr>
            <a:r>
              <a:rPr lang="en-US" sz="1600" dirty="0">
                <a:solidFill>
                  <a:srgbClr val="000000"/>
                </a:solidFill>
                <a:latin typeface="Century Gothic"/>
                <a:cs typeface="Century Gothic"/>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Walk each patient through the flowchart.</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 A, 54</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Pneumonia, awake, oriented</a:t>
            </a:r>
          </a:p>
          <a:p>
            <a:pPr marL="0" indent="0" algn="l">
              <a:lnSpc>
                <a:spcPct val="104000"/>
              </a:lnSpc>
              <a:spcBef>
                <a:spcPts val="400"/>
              </a:spcBef>
              <a:buNone/>
            </a:pPr>
            <a:r>
              <a:rPr lang="en-US" sz="1750" dirty="0">
                <a:solidFill>
                  <a:srgbClr val="000000"/>
                </a:solidFill>
                <a:latin typeface="Century Gothic"/>
                <a:cs typeface="Century Gothic"/>
              </a:rPr>
              <a:t>Eligible for a fluid trial</a:t>
            </a:r>
          </a:p>
          <a:p>
            <a:pPr marL="0" indent="0" algn="l">
              <a:lnSpc>
                <a:spcPct val="104000"/>
              </a:lnSpc>
              <a:spcBef>
                <a:spcPts val="400"/>
              </a:spcBef>
              <a:buNone/>
            </a:pPr>
            <a:r>
              <a:rPr lang="en-US" sz="1750" b="1" dirty="0">
                <a:solidFill>
                  <a:srgbClr val="2E8B57"/>
                </a:solidFill>
                <a:latin typeface="Century Gothic"/>
                <a:cs typeface="Century Gothic"/>
              </a:rPr>
              <a:t>Patient consents</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Mrs B, 71</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Septic shock, sedated</a:t>
            </a:r>
          </a:p>
          <a:p>
            <a:pPr marL="0" indent="0" algn="l">
              <a:lnSpc>
                <a:spcPct val="104000"/>
              </a:lnSpc>
              <a:spcBef>
                <a:spcPts val="400"/>
              </a:spcBef>
              <a:buNone/>
            </a:pPr>
            <a:r>
              <a:rPr lang="en-US" sz="1750" dirty="0">
                <a:solidFill>
                  <a:srgbClr val="000000"/>
                </a:solidFill>
                <a:latin typeface="Century Gothic"/>
                <a:cs typeface="Century Gothic"/>
              </a:rPr>
              <a:t>Daughter at the bedside</a:t>
            </a:r>
          </a:p>
          <a:p>
            <a:pPr marL="0" indent="0" algn="l">
              <a:lnSpc>
                <a:spcPct val="104000"/>
              </a:lnSpc>
              <a:spcBef>
                <a:spcPts val="400"/>
              </a:spcBef>
              <a:buNone/>
            </a:pPr>
            <a:r>
              <a:rPr lang="en-US" sz="1750" b="1" dirty="0">
                <a:solidFill>
                  <a:srgbClr val="2E8B57"/>
                </a:solidFill>
                <a:latin typeface="Century Gothic"/>
                <a:cs typeface="Century Gothic"/>
              </a:rPr>
              <a:t>Representative consents; ask Mrs B when awake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 C, 38</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Shock at 03:00, no family yet</a:t>
            </a:r>
          </a:p>
          <a:p>
            <a:pPr marL="0" indent="0" algn="l">
              <a:lnSpc>
                <a:spcPct val="104000"/>
              </a:lnSpc>
              <a:spcBef>
                <a:spcPts val="400"/>
              </a:spcBef>
              <a:buNone/>
            </a:pPr>
            <a:r>
              <a:rPr lang="en-US" sz="1750" dirty="0">
                <a:solidFill>
                  <a:srgbClr val="000000"/>
                </a:solidFill>
                <a:latin typeface="Century Gothic"/>
                <a:cs typeface="Century Gothic"/>
              </a:rPr>
              <a:t>Treatment cannot wait; committee approved</a:t>
            </a:r>
          </a:p>
          <a:p>
            <a:pPr marL="0" indent="0" algn="l">
              <a:lnSpc>
                <a:spcPct val="104000"/>
              </a:lnSpc>
              <a:spcBef>
                <a:spcPts val="400"/>
              </a:spcBef>
              <a:buNone/>
            </a:pPr>
            <a:r>
              <a:rPr lang="en-US" sz="1750" b="1" dirty="0">
                <a:solidFill>
                  <a:srgbClr val="D9822B"/>
                </a:solidFill>
                <a:latin typeface="Century Gothic"/>
                <a:cs typeface="Century Gothic"/>
              </a:rPr>
              <a:t>Deferred consent: ask ASAP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Names stay on the ward; only study codes travel.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Ethics committee of each ICU</a:t>
            </a:r>
          </a:p>
          <a:p>
            <a:pPr marL="0" indent="0" algn="l">
              <a:lnSpc>
                <a:spcPct val="104000"/>
              </a:lnSpc>
              <a:spcBef>
                <a:spcPts val="400"/>
              </a:spcBef>
              <a:buNone/>
            </a:pPr>
            <a:r>
              <a:rPr lang="en-US" sz="1600" dirty="0">
                <a:solidFill>
                  <a:srgbClr val="000000"/>
                </a:solidFill>
                <a:latin typeface="Century Gothic"/>
                <a:cs typeface="Century Gothic"/>
              </a:rPr>
              <a:t>Approval number + date</a:t>
            </a:r>
          </a:p>
          <a:p>
            <a:pPr marL="0" indent="0" algn="l">
              <a:lnSpc>
                <a:spcPct val="104000"/>
              </a:lnSpc>
              <a:spcBef>
                <a:spcPts val="400"/>
              </a:spcBef>
              <a:buNone/>
            </a:pPr>
            <a:r>
              <a:rPr lang="en-US" sz="1600" dirty="0">
                <a:solidFill>
                  <a:srgbClr val="000000"/>
                </a:solidFill>
                <a:latin typeface="Century Gothic"/>
                <a:cs typeface="Century Gothic"/>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Routine data, minimal risk</a:t>
            </a:r>
          </a:p>
          <a:p>
            <a:pPr marL="0" indent="0" algn="l">
              <a:lnSpc>
                <a:spcPct val="104000"/>
              </a:lnSpc>
              <a:spcBef>
                <a:spcPts val="400"/>
              </a:spcBef>
              <a:buNone/>
            </a:pPr>
            <a:r>
              <a:rPr lang="en-US" sz="1600" dirty="0">
                <a:solidFill>
                  <a:srgbClr val="000000"/>
                </a:solidFill>
                <a:latin typeface="Century Gothic"/>
                <a:cs typeface="Century Gothic"/>
              </a:rPr>
              <a:t>Committee may WAIVE consent</a:t>
            </a:r>
          </a:p>
          <a:p>
            <a:pPr marL="0" indent="0" algn="l">
              <a:lnSpc>
                <a:spcPct val="104000"/>
              </a:lnSpc>
              <a:spcBef>
                <a:spcPts val="400"/>
              </a:spcBef>
              <a:buNone/>
            </a:pPr>
            <a:r>
              <a:rPr lang="en-US" sz="1600" dirty="0">
                <a:solidFill>
                  <a:srgbClr val="000000"/>
                </a:solidFill>
                <a:latin typeface="Century Gothic"/>
                <a:cs typeface="Century Gothic"/>
              </a:rPr>
              <a:t>(as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Study codes only</a:t>
            </a:r>
          </a:p>
          <a:p>
            <a:pPr marL="0" indent="0" algn="l">
              <a:lnSpc>
                <a:spcPct val="104000"/>
              </a:lnSpc>
              <a:spcBef>
                <a:spcPts val="400"/>
              </a:spcBef>
              <a:buNone/>
            </a:pPr>
            <a:r>
              <a:rPr lang="en-US" sz="1600" dirty="0">
                <a:solidFill>
                  <a:srgbClr val="000000"/>
                </a:solidFill>
                <a:latin typeface="Century Gothic"/>
                <a:cs typeface="Century Gothic"/>
              </a:rPr>
              <a:t>Key file kept in each ICU</a:t>
            </a:r>
          </a:p>
          <a:p>
            <a:pPr marL="0" indent="0" algn="l">
              <a:lnSpc>
                <a:spcPct val="104000"/>
              </a:lnSpc>
              <a:spcBef>
                <a:spcPts val="400"/>
              </a:spcBef>
              <a:buNone/>
            </a:pPr>
            <a:r>
              <a:rPr lang="en-US" sz="1600" dirty="0">
                <a:solidFill>
                  <a:srgbClr val="000000"/>
                </a:solidFill>
                <a:latin typeface="Century Gothic"/>
                <a:cs typeface="Century Gothic"/>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Registration &amp;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Registration recommended</a:t>
            </a:r>
          </a:p>
          <a:p>
            <a:pPr marL="0" indent="0" algn="l">
              <a:lnSpc>
                <a:spcPct val="104000"/>
              </a:lnSpc>
              <a:spcBef>
                <a:spcPts val="400"/>
              </a:spcBef>
              <a:buNone/>
            </a:pPr>
            <a:r>
              <a:rPr lang="en-US" sz="1600" dirty="0">
                <a:solidFill>
                  <a:srgbClr val="000000"/>
                </a:solidFill>
                <a:latin typeface="Century Gothic"/>
                <a:cs typeface="Century Gothic"/>
              </a:rPr>
              <a:t>Data-sharing statement</a:t>
            </a:r>
          </a:p>
          <a:p>
            <a:pPr marL="0" indent="0" algn="l">
              <a:lnSpc>
                <a:spcPct val="104000"/>
              </a:lnSpc>
              <a:spcBef>
                <a:spcPts val="400"/>
              </a:spcBef>
              <a:buNone/>
            </a:pPr>
            <a:r>
              <a:rPr lang="en-US" sz="1600" dirty="0">
                <a:solidFill>
                  <a:srgbClr val="000000"/>
                </a:solidFill>
                <a:latin typeface="Century Gothic"/>
                <a:cs typeface="Century Gothic"/>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Feasibility in one picture: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Research integrity</a:t>
            </a:r>
          </a:p>
          <a:p>
            <a:pPr marL="0" indent="0" algn="ctr">
              <a:spcBef>
                <a:spcPts val="1200"/>
              </a:spcBef>
              <a:buNone/>
            </a:pPr>
            <a:r>
              <a:rPr lang="en-US" sz="1900" i="1" dirty="0">
                <a:solidFill>
                  <a:srgbClr val="595959"/>
                </a:solidFill>
                <a:latin typeface="Century Gothic"/>
                <a:cs typeface="Century Gothic"/>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One study should tell one complete, honest story.</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Duplicate publication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study, same results</a:t>
            </a:r>
          </a:p>
          <a:p>
            <a:pPr marL="0" indent="0" algn="l">
              <a:lnSpc>
                <a:spcPct val="104000"/>
              </a:lnSpc>
              <a:spcBef>
                <a:spcPts val="400"/>
              </a:spcBef>
              <a:buNone/>
            </a:pPr>
            <a:r>
              <a:rPr lang="en-US" sz="1750" dirty="0">
                <a:solidFill>
                  <a:srgbClr val="000000"/>
                </a:solidFill>
                <a:latin typeface="Century Gothic"/>
                <a:cs typeface="Century Gothic"/>
              </a:rPr>
              <a:t>in a second journal</a:t>
            </a:r>
          </a:p>
          <a:p>
            <a:pPr marL="0" indent="0" algn="l">
              <a:lnSpc>
                <a:spcPct val="104000"/>
              </a:lnSpc>
              <a:spcBef>
                <a:spcPts val="400"/>
              </a:spcBef>
              <a:buNone/>
            </a:pPr>
            <a:r>
              <a:rPr lang="en-US" sz="1750" dirty="0">
                <a:solidFill>
                  <a:srgbClr val="000000"/>
                </a:solidFill>
                <a:latin typeface="Century Gothic"/>
                <a:cs typeface="Century Gothic"/>
              </a:rPr>
              <a:t>without saying so</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Salami slicing</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study cut into thin papers</a:t>
            </a:r>
          </a:p>
          <a:p>
            <a:pPr marL="0" indent="0" algn="l">
              <a:lnSpc>
                <a:spcPct val="104000"/>
              </a:lnSpc>
              <a:spcBef>
                <a:spcPts val="400"/>
              </a:spcBef>
              <a:buNone/>
            </a:pPr>
            <a:r>
              <a:rPr lang="en-US" sz="1750" dirty="0">
                <a:solidFill>
                  <a:srgbClr val="000000"/>
                </a:solidFill>
                <a:latin typeface="Century Gothic"/>
                <a:cs typeface="Century Gothic"/>
              </a:rPr>
              <a:t>to multiply publications</a:t>
            </a:r>
          </a:p>
          <a:p>
            <a:pPr marL="0" indent="0" algn="l">
              <a:lnSpc>
                <a:spcPct val="104000"/>
              </a:lnSpc>
              <a:spcBef>
                <a:spcPts val="400"/>
              </a:spcBef>
              <a:buNone/>
            </a:pPr>
            <a:r>
              <a:rPr lang="en-US" sz="1750" dirty="0">
                <a:solidFill>
                  <a:srgbClr val="000000"/>
                </a:solidFill>
                <a:latin typeface="Century Gothic"/>
                <a:cs typeface="Century Gothic"/>
              </a:rPr>
              <a:t>Reader never sees the whole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Selective reporting</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Only the 'significant' outcomes</a:t>
            </a:r>
          </a:p>
          <a:p>
            <a:pPr marL="0" indent="0" algn="l">
              <a:lnSpc>
                <a:spcPct val="104000"/>
              </a:lnSpc>
              <a:spcBef>
                <a:spcPts val="400"/>
              </a:spcBef>
              <a:buNone/>
            </a:pPr>
            <a:r>
              <a:rPr lang="en-US" sz="1750" dirty="0">
                <a:solidFill>
                  <a:srgbClr val="000000"/>
                </a:solidFill>
                <a:latin typeface="Century Gothic"/>
                <a:cs typeface="Century Gothic"/>
              </a:rPr>
              <a:t>Primary outcome switched</a:t>
            </a:r>
          </a:p>
          <a:p>
            <a:pPr marL="0" indent="0" algn="l">
              <a:lnSpc>
                <a:spcPct val="104000"/>
              </a:lnSpc>
              <a:spcBef>
                <a:spcPts val="400"/>
              </a:spcBef>
              <a:buNone/>
            </a:pPr>
            <a:r>
              <a:rPr lang="en-US" sz="1750" dirty="0">
                <a:solidFill>
                  <a:srgbClr val="000000"/>
                </a:solidFill>
                <a:latin typeface="Century Gothic"/>
                <a:cs typeface="Century Gothic"/>
              </a:rPr>
              <a:t>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Read the scenario on the screen or in your handout (6 scenarios)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Each group holds up GREEN (fine), AMBER (fine only if fixed or disclosed) or RED (misconduct)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The instructor asks one group to justify its colour</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We do 3 together now; the rest are in the handout</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Example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colleague lent you an ultrasound machine and asks to be an author.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participant can name FFP, gift/ghost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Who consents in your study? Use the ICU flowchart (5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Registration: needed? which registry? Where is the key file?</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Feasibility: biggest risk and one fix (3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Publication plan: target journal, guideline, authors + CRediT (5 min)</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Working title from your PICO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Worksheet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Practicals/s7_exercises.md, Part B</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slide 5 and 6 for next Saturday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Finish at home this week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4 drafted; slides 5-6 of the presentation outlined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Collect your group's FLUID-ICU results pack</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Open the manuscript template (or take paper)</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Decide who writes Methods, who writes Results</a:t>
            </a:r>
          </a:p>
          <a:p>
            <a:pPr marL="380000" indent="-380000" algn="l">
              <a:lnSpc>
                <a:spcPct val="104000"/>
              </a:lnSpc>
              <a:spcBef>
                <a:spcPts val="450"/>
              </a:spcBef>
              <a:buNone/>
            </a:pPr>
            <a:r>
              <a:rPr lang="en-US" sz="1650" b="1" dirty="0">
                <a:solidFill>
                  <a:srgbClr val="8A99A3"/>
                </a:solidFill>
                <a:latin typeface="Century Gothic"/>
                <a:cs typeface="Century Gothic"/>
              </a:rPr>
              <a:t>4.  </a:t>
            </a:r>
            <a:r>
              <a:rPr lang="en-US" sz="1650" dirty="0">
                <a:solidFill>
                  <a:srgbClr val="000000"/>
                </a:solidFill>
                <a:latin typeface="Century Gothic"/>
                <a:cs typeface="Century Gothic"/>
              </a:rPr>
              <a:t>Back at 1:30 sharp</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7.3 Writing the paper (35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Manuscript workshop 1 (50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Writing the paper (I): Methods and Results</a:t>
            </a:r>
          </a:p>
          <a:p>
            <a:pPr marL="0" indent="0" algn="ctr">
              <a:spcBef>
                <a:spcPts val="1200"/>
              </a:spcBef>
              <a:buNone/>
            </a:pPr>
            <a:r>
              <a:rPr lang="en-US" sz="1900" i="1" dirty="0">
                <a:solidFill>
                  <a:srgbClr val="595959"/>
                </a:solidFill>
                <a:latin typeface="Century Gothic"/>
                <a:cs typeface="Century Gothic"/>
              </a:rPr>
              <a:t>Write what you did and what you found,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If a colleague could not redo your study from the Methods,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Design, setting, dates</a:t>
            </a:r>
          </a:p>
          <a:p>
            <a:pPr marL="0" indent="0" algn="l">
              <a:lnSpc>
                <a:spcPct val="104000"/>
              </a:lnSpc>
              <a:spcBef>
                <a:spcPts val="400"/>
              </a:spcBef>
              <a:buNone/>
            </a:pPr>
            <a:r>
              <a:rPr lang="en-US" sz="1600" dirty="0">
                <a:solidFill>
                  <a:srgbClr val="000000"/>
                </a:solidFill>
                <a:latin typeface="Century Gothic"/>
                <a:cs typeface="Century Gothic"/>
              </a:rPr>
              <a:t>Eligibility criteria</a:t>
            </a:r>
          </a:p>
          <a:p>
            <a:pPr marL="0" indent="0" algn="l">
              <a:lnSpc>
                <a:spcPct val="104000"/>
              </a:lnSpc>
              <a:spcBef>
                <a:spcPts val="400"/>
              </a:spcBef>
              <a:buNone/>
            </a:pPr>
            <a:r>
              <a:rPr lang="en-US" sz="1600" dirty="0">
                <a:solidFill>
                  <a:srgbClr val="000000"/>
                </a:solidFill>
                <a:latin typeface="Century Gothic"/>
                <a:cs typeface="Century Gothic"/>
              </a:rPr>
              <a:t>Ethics no. and consent</a:t>
            </a:r>
          </a:p>
          <a:p>
            <a:pPr marL="0" indent="0" algn="l">
              <a:lnSpc>
                <a:spcPct val="104000"/>
              </a:lnSpc>
              <a:spcBef>
                <a:spcPts val="400"/>
              </a:spcBef>
              <a:buNone/>
            </a:pPr>
            <a:r>
              <a:rPr lang="en-US" sz="1600" dirty="0">
                <a:solidFill>
                  <a:srgbClr val="000000"/>
                </a:solidFill>
                <a:latin typeface="Century Gothic"/>
                <a:cs typeface="Century Gothic"/>
              </a:rPr>
              <a:t>Registration no.</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Intervention in full</a:t>
            </a:r>
          </a:p>
          <a:p>
            <a:pPr marL="0" indent="0" algn="l">
              <a:lnSpc>
                <a:spcPct val="104000"/>
              </a:lnSpc>
              <a:spcBef>
                <a:spcPts val="400"/>
              </a:spcBef>
              <a:buNone/>
            </a:pPr>
            <a:r>
              <a:rPr lang="en-US" sz="1600" dirty="0">
                <a:solidFill>
                  <a:srgbClr val="000000"/>
                </a:solidFill>
                <a:latin typeface="Century Gothic"/>
                <a:cs typeface="Century Gothic"/>
              </a:rPr>
              <a:t>Variables defined</a:t>
            </a:r>
          </a:p>
          <a:p>
            <a:pPr marL="0" indent="0" algn="l">
              <a:lnSpc>
                <a:spcPct val="104000"/>
              </a:lnSpc>
              <a:spcBef>
                <a:spcPts val="400"/>
              </a:spcBef>
              <a:buNone/>
            </a:pPr>
            <a:r>
              <a:rPr lang="en-US" sz="1600" dirty="0">
                <a:solidFill>
                  <a:srgbClr val="000000"/>
                </a:solidFill>
                <a:latin typeface="Century Gothic"/>
                <a:cs typeface="Century Gothic"/>
              </a:rPr>
              <a:t>P1: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ONE primary outcome: how, when</a:t>
            </a:r>
          </a:p>
          <a:p>
            <a:pPr marL="0" indent="0" algn="l">
              <a:lnSpc>
                <a:spcPct val="104000"/>
              </a:lnSpc>
              <a:spcBef>
                <a:spcPts val="400"/>
              </a:spcBef>
              <a:buNone/>
            </a:pPr>
            <a:r>
              <a:rPr lang="en-US" sz="1600" dirty="0">
                <a:solidFill>
                  <a:srgbClr val="000000"/>
                </a:solidFill>
                <a:latin typeface="Century Gothic"/>
                <a:cs typeface="Century Gothic"/>
              </a:rPr>
              <a:t>Sample size: assumptions + source</a:t>
            </a:r>
          </a:p>
          <a:p>
            <a:pPr marL="0" indent="0" algn="l">
              <a:lnSpc>
                <a:spcPct val="104000"/>
              </a:lnSpc>
              <a:spcBef>
                <a:spcPts val="400"/>
              </a:spcBef>
              <a:buNone/>
            </a:pPr>
            <a:r>
              <a:rPr lang="en-US" sz="1600" dirty="0">
                <a:solidFill>
                  <a:srgbClr val="000000"/>
                </a:solidFill>
                <a:latin typeface="Century Gothic"/>
                <a:cs typeface="Century Gothic"/>
              </a:rPr>
              <a:t>P2: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 test for each comparison</a:t>
            </a:r>
          </a:p>
          <a:p>
            <a:pPr marL="0" indent="0" algn="l">
              <a:lnSpc>
                <a:spcPct val="104000"/>
              </a:lnSpc>
              <a:spcBef>
                <a:spcPts val="400"/>
              </a:spcBef>
              <a:buNone/>
            </a:pPr>
            <a:r>
              <a:rPr lang="en-US" sz="1600" dirty="0">
                <a:solidFill>
                  <a:srgbClr val="000000"/>
                </a:solidFill>
                <a:latin typeface="Century Gothic"/>
                <a:cs typeface="Century Gothic"/>
              </a:rPr>
              <a:t>Estimate matches the test</a:t>
            </a:r>
          </a:p>
          <a:p>
            <a:pPr marL="0" indent="0" algn="l">
              <a:lnSpc>
                <a:spcPct val="104000"/>
              </a:lnSpc>
              <a:spcBef>
                <a:spcPts val="400"/>
              </a:spcBef>
              <a:buNone/>
            </a:pPr>
            <a:r>
              <a:rPr lang="en-US" sz="1600" dirty="0">
                <a:solidFill>
                  <a:srgbClr val="000000"/>
                </a:solidFill>
                <a:latin typeface="Century Gothic"/>
                <a:cs typeface="Century Gothic"/>
              </a:rPr>
              <a:t>Missing data, multiplicity</a:t>
            </a:r>
          </a:p>
          <a:p>
            <a:pPr marL="0" indent="0" algn="l">
              <a:lnSpc>
                <a:spcPct val="104000"/>
              </a:lnSpc>
              <a:spcBef>
                <a:spcPts val="400"/>
              </a:spcBef>
              <a:buNone/>
            </a:pPr>
            <a:r>
              <a:rPr lang="en-US" sz="1600" dirty="0">
                <a:solidFill>
                  <a:srgbClr val="000000"/>
                </a:solidFill>
                <a:latin typeface="Century Gothic"/>
                <a:cs typeface="Century Gothic"/>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sentence per STROBE item, and say plainly that the data are simulated.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a method for every comparison you report, chosen before you saw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Participants, Table 1, outcome numbers, crude and adjusted estimates,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Characteristic</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Negative balance (n = 245)</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Positive balance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Age, years, mean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64.6</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SOFA score, median (IQR)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 (4 to 8)</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8 (6 to 10)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Vasopressor,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61 (24.9%)</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Mechanical ventilation,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97 (39.6%)</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Lactate, mmol/L, median (IQR)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2.2 (1.4 to 3.0)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2.9 (1.9 to 4.0)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Heart failure,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54 (22.0%)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SIMULATED data (results pack Q1, Table 1).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Write with the STROBE checklist open and tick each item as you 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'We used logistic regression adjusted for SOFA and age.'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'Of 640 patients screened, 600 were included.'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'This may be because sicker patients received more fluid.'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'Lactate was missing in 15% and was imputed.'</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'28-day mortality was higher with a positive balance (OR ..., 95% CI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Methods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Results (participants)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Discussion (explain)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Methods (+ Results: how many)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1  |  50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Write your Methods and Results</a:t>
            </a:r>
          </a:p>
          <a:p>
            <a:pPr marL="0" indent="0" algn="ctr">
              <a:spcBef>
                <a:spcPts val="1200"/>
              </a:spcBef>
              <a:buNone/>
            </a:pPr>
            <a:r>
              <a:rPr lang="en-US" sz="1900" i="1" dirty="0">
                <a:solidFill>
                  <a:srgbClr val="595959"/>
                </a:solidFill>
                <a:latin typeface="Century Gothic"/>
                <a:cs typeface="Century Gothic"/>
              </a:rPr>
              <a:t>About 600 words, Table 1 and one figure or table, from your results pack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Fifty minutes, six people, one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number in your text must come from your results pack: nobody calculates anything.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1: draft Methods + Results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0-5: read your results pack; agree the main result in one sentence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5-25: Methods (design, setting, participants, variables, statistics)</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25-40: Results (participants, Table 1, crude + adjusted main result)</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40-47: Table 1 + one figure/table with titles and footnotes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47-50: tick STROBE items 4-17; check every number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results pack (Q1-Q5)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Manuscript template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Worked examples (slides)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STROBE items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Methods + Results (~600 words) + Table 1 + one figure/table, saved and shared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Term</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Deferred consent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Enrol first in an emergency, ask consent as soon as possible (committee-approved)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Registration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Public record of a study before patient 1 (mandatory for trials)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FFP</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 misconduct: fabrication, falsification, plagiarism</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ICMJE criteria / CRediT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Who may be an author / who did what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Conflict of interest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Anything that could be seen to influence your judgement. Declare it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STROBE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Reporting checklist for observational studies: Methods items 4-12, Results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 for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Three take-home messages (next to this list)</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This week: finish Proposal Part 4 and your 6 presentation slides</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This week: read your Methods + Results draft once, aloud</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Next Saturday: Introduction, Discussion, Abstract, Title, then present</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Take home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 approval, no data: not even 'a few patients'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Every author meets all four criteria; declare every interest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 what you did; 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Proposal slides ready; Methods + Results draft saved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Session 7</a:t>
            </a:r>
          </a:p>
          <a:p>
            <a:pPr marL="0" indent="0" algn="ctr">
              <a:spcBef>
                <a:spcPts val="1200"/>
              </a:spcBef>
              <a:buNone/>
            </a:pPr>
            <a:r>
              <a:rPr lang="en-US" sz="1900" i="1" dirty="0">
                <a:solidFill>
                  <a:srgbClr val="595959"/>
                </a:solidFill>
                <a:latin typeface="Century Gothic"/>
                <a:cs typeface="Century Gothic"/>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Journals now ask for each author's role in standard words.</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14 CRediT roles</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Conceptualization, Methodology</a:t>
            </a:r>
          </a:p>
          <a:p>
            <a:pPr marL="0" indent="0" algn="l">
              <a:lnSpc>
                <a:spcPct val="104000"/>
              </a:lnSpc>
              <a:spcBef>
                <a:spcPts val="400"/>
              </a:spcBef>
              <a:buNone/>
            </a:pPr>
            <a:r>
              <a:rPr lang="en-US" sz="1750" dirty="0">
                <a:solidFill>
                  <a:srgbClr val="000000"/>
                </a:solidFill>
                <a:latin typeface="Century Gothic"/>
                <a:cs typeface="Century Gothic"/>
              </a:rPr>
              <a:t>Investigation, Formal analysis</a:t>
            </a:r>
          </a:p>
          <a:p>
            <a:pPr marL="0" indent="0" algn="l">
              <a:lnSpc>
                <a:spcPct val="104000"/>
              </a:lnSpc>
              <a:spcBef>
                <a:spcPts val="400"/>
              </a:spcBef>
              <a:buNone/>
            </a:pPr>
            <a:r>
              <a:rPr lang="en-US" sz="1750" dirty="0">
                <a:solidFill>
                  <a:srgbClr val="000000"/>
                </a:solidFill>
                <a:latin typeface="Century Gothic"/>
                <a:cs typeface="Century Gothic"/>
              </a:rPr>
              <a:t>Writing – original draft</a:t>
            </a:r>
          </a:p>
          <a:p>
            <a:pPr marL="0" indent="0" algn="l">
              <a:lnSpc>
                <a:spcPct val="104000"/>
              </a:lnSpc>
              <a:spcBef>
                <a:spcPts val="400"/>
              </a:spcBef>
              <a:buNone/>
            </a:pPr>
            <a:r>
              <a:rPr lang="en-US" sz="1750" dirty="0">
                <a:solidFill>
                  <a:srgbClr val="000000"/>
                </a:solidFill>
                <a:latin typeface="Century Gothic"/>
                <a:cs typeface="Century Gothic"/>
              </a:rPr>
              <a:t>Writing – review &amp; editing</a:t>
            </a:r>
          </a:p>
          <a:p>
            <a:pPr marL="0" indent="0" algn="l">
              <a:lnSpc>
                <a:spcPct val="104000"/>
              </a:lnSpc>
              <a:spcBef>
                <a:spcPts val="400"/>
              </a:spcBef>
              <a:buNone/>
            </a:pPr>
            <a:r>
              <a:rPr lang="en-US" sz="1750" dirty="0">
                <a:solidFill>
                  <a:srgbClr val="000000"/>
                </a:solidFill>
                <a:latin typeface="Century Gothic"/>
                <a:cs typeface="Century Gothic"/>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Paper 1 did it</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NB: Writing – original draft</a:t>
            </a:r>
          </a:p>
          <a:p>
            <a:pPr marL="0" indent="0" algn="l">
              <a:lnSpc>
                <a:spcPct val="104000"/>
              </a:lnSpc>
              <a:spcBef>
                <a:spcPts val="400"/>
              </a:spcBef>
              <a:buNone/>
            </a:pPr>
            <a:r>
              <a:rPr lang="en-US" sz="1750" dirty="0">
                <a:solidFill>
                  <a:srgbClr val="000000"/>
                </a:solidFill>
                <a:latin typeface="Century Gothic"/>
                <a:cs typeface="Century Gothic"/>
              </a:rPr>
              <a:t>CS: Methodology, Formal analysis</a:t>
            </a:r>
          </a:p>
          <a:p>
            <a:pPr marL="0" indent="0" algn="l">
              <a:lnSpc>
                <a:spcPct val="104000"/>
              </a:lnSpc>
              <a:spcBef>
                <a:spcPts val="400"/>
              </a:spcBef>
              <a:buNone/>
            </a:pPr>
            <a:r>
              <a:rPr lang="en-US" sz="1750" dirty="0">
                <a:solidFill>
                  <a:srgbClr val="000000"/>
                </a:solidFill>
                <a:latin typeface="Century Gothic"/>
                <a:cs typeface="Century Gothic"/>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group, today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Agree the author list now</a:t>
            </a:r>
          </a:p>
          <a:p>
            <a:pPr marL="0" indent="0" algn="l">
              <a:lnSpc>
                <a:spcPct val="104000"/>
              </a:lnSpc>
              <a:spcBef>
                <a:spcPts val="400"/>
              </a:spcBef>
              <a:buNone/>
            </a:pPr>
            <a:r>
              <a:rPr lang="en-US" sz="1750" dirty="0">
                <a:solidFill>
                  <a:srgbClr val="000000"/>
                </a:solidFill>
                <a:latin typeface="Century Gothic"/>
                <a:cs typeface="Century Gothic"/>
              </a:rPr>
              <a:t>Write each person's roles</a:t>
            </a:r>
          </a:p>
          <a:p>
            <a:pPr marL="0" indent="0" algn="l">
              <a:lnSpc>
                <a:spcPct val="104000"/>
              </a:lnSpc>
              <a:spcBef>
                <a:spcPts val="400"/>
              </a:spcBef>
              <a:buNone/>
            </a:pPr>
            <a:r>
              <a:rPr lang="en-US" sz="1750" dirty="0">
                <a:solidFill>
                  <a:srgbClr val="000000"/>
                </a:solidFill>
                <a:latin typeface="Century Gothic"/>
                <a:cs typeface="Century Gothic"/>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