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(0:00). Weekend 4, Saturday. Two halves today: before the break we protect the patient and the science (ethics, integrity) and finish Proposal Part 4; after the break we start WRITING the FLUID-ICU manuscript.</a:t>
            </a:r>
          </a:p>
          <a:p>
            <a:r>
              <a:rPr lang="en-US" sz="1400" b="0" dirty="0"/>
              <a:t>Pace: slow. Every block has a worked example and a 1-minute check. If time is short, drop slides from the 'Extra slides - Session 7' section at the end, never the workshop.</a:t>
            </a:r>
          </a:p>
          <a:p>
            <a:r>
              <a:rPr lang="en-US" sz="1400" b="0" dirty="0"/>
              <a:t>Before you start: results packs (Course/Data/results_packs/Q1-Q5) printed, one per group; the manuscript template open on each group's laptop if they have one.</a:t>
            </a:r>
          </a:p>
          <a:p>
            <a:r>
              <a:rPr lang="en-US" sz="1400" b="0" dirty="0"/>
              <a:t>Timing: this slide 1 minute, then the 10-minute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(0:01-0:10). Ask, wait, then reveal the answer panel.</a:t>
            </a:r>
          </a:p>
          <a:p>
            <a:r>
              <a:rPr lang="en-US" sz="1400" b="0" dirty="0"/>
              <a:t>Q1 links straight to today's writing: in the Results we report BOTH crude and adjusted estimates (STROBE item 16), and in the Discussion we explain why they differ.</a:t>
            </a:r>
          </a:p>
          <a:p>
            <a:r>
              <a:rPr lang="en-US" sz="1400" b="0" dirty="0"/>
              <a:t>Q5: ask one person per group - this is the number they will write about after the break. If a group cannot say it, sit with them during the break and go through their results pack.</a:t>
            </a:r>
          </a:p>
          <a:p>
            <a:r>
              <a:rPr lang="en-US" sz="1400" b="0" dirty="0"/>
              <a:t>Show of hands for each question; spend longest where the room is split.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two rows. Product 1 - your own research proposal - gets its last part today (ethics, registration, feasibility, publication plan) and is presented tomorrow.</a:t>
            </a:r>
          </a:p>
          <a:p>
            <a:r>
              <a:rPr lang="en-US" sz="1400" b="0" dirty="0"/>
              <a:t>Product 2 - the FLUID-ICU draft manuscript - moves from 'reading the analysis' (Session 6) to WRITING: today Methods and Results, tomorrow Introduction, Discussion, Abstract and Title.</a:t>
            </a:r>
          </a:p>
          <a:p>
            <a:r>
              <a:rPr lang="en-US" sz="1400" b="0" dirty="0"/>
              <a:t>Ask: which group question does your group have? (Q1-Q5.) Make sure everyone knows.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(0:10-0:40). Eleven slides including two worked examples and a 1-minute check.</a:t>
            </a:r>
          </a:p>
          <a:p>
            <a:r>
              <a:rPr lang="en-US" sz="1400" b="0" dirty="0"/>
              <a:t>About 2.5 minutes per slide. The ICU consent slide and its worked example deserve the most time - it is the real-life problem of this department.</a:t>
            </a:r>
          </a:p>
          <a:p>
            <a:r>
              <a:rPr lang="en-US" sz="1400" b="0" dirty="0"/>
              <a:t>Link: everything in this block becomes a paragraph of Proposal Part 4 (Proposal builder 7 at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is the international checklist for what a trial protocol should contain; observational studies follow the same logic.</a:t>
            </a:r>
          </a:p>
          <a:p>
            <a:r>
              <a:rPr lang="en-US" sz="1400" b="0" dirty="0"/>
              <a:t>Walk the four columns: WHO &amp; WHAT (title page, registration, team, funding), WHY (Part 1), HOW (Parts 2 and 3), PROTECT &amp; SHARE (Part 4, today).</a:t>
            </a:r>
          </a:p>
          <a:p>
            <a:r>
              <a:rPr lang="en-US" sz="1400" b="0" dirty="0"/>
              <a:t>Point to the foundation bar: changes after approval are made as formal amendments, approved before they are applied - not quietly.</a:t>
            </a:r>
          </a:p>
          <a:p>
            <a:r>
              <a:rPr lang="en-US" sz="1400" b="0" dirty="0"/>
              <a:t>Running example: Paper 1 says its protocol and statistical analysis plan were registered at ClinicalTrials.gov (NCT04947904) before the first patient - that is what lets a reader check the authors did what they planned.</a:t>
            </a:r>
          </a:p>
          <a:p>
            <a:r>
              <a:rPr lang="en-US" sz="1400" b="0" dirty="0"/>
              <a:t>Ask: which column of your proposal is weakest right now? Expected: HOW - sample size or analysis plan. Reassure: the template in Templates/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(adopted by ICH in January 2025) is the international quality standard for clinical trials: qualified people, quality built into the design, risk-proportionate monitoring, reliable and traceable data, clear roles. Its spirit applies to every study.</a:t>
            </a:r>
          </a:p>
          <a:p>
            <a:r>
              <a:rPr lang="en-US" sz="1400" b="0" dirty="0"/>
              <a:t>Misconception: 'GCP is only for drug companies'. Paper 1 - an academic ICU trial - states its analyses followed ICH-GCP.</a:t>
            </a:r>
          </a:p>
          <a:p>
            <a:r>
              <a:rPr lang="en-US" sz="1400" b="0" dirty="0"/>
              <a:t>Ask: which of these 12 icons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left to right. Most institutions want a scientific or department review first; then the dossier goes to the research ethics committee (also called IRB or IEC).</a:t>
            </a:r>
          </a:p>
          <a:p>
            <a:r>
              <a:rPr lang="en-US" sz="1400" b="0" dirty="0"/>
              <a:t>The dossier: protocol, participant information and consent form, data collection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 you do not.</a:t>
            </a:r>
          </a:p>
          <a:p>
            <a:r>
              <a:rPr lang="en-US" sz="1400" b="0" dirty="0"/>
              <a:t>Questions and revisions are normal - plan 1-3 months for the whole journey.</a:t>
            </a:r>
          </a:p>
          <a:p>
            <a:r>
              <a:rPr lang="en-US" sz="1400" b="0" dirty="0"/>
              <a:t>Trials are registered in a public registry (e.g. ClinicalTrials.gov or a WHO-recognised registry) before the first patient; journals refuse unregistered trials.</a:t>
            </a:r>
          </a:p>
          <a:p>
            <a:r>
              <a:rPr lang="en-US" sz="1400" b="0" dirty="0"/>
              <a:t>Misconception to kill: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ICMJE journals will not publish a trial that was not registered before the first participant, and many countries require it by law. Use ClinicalTrials.gov or another WHO primary registry; the WHO ICTRP portal searches all of them at once -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 check the target journal and local rules. The Declaration of Helsinki asks for every study with human participants to be registered.</a:t>
            </a:r>
          </a:p>
          <a:p>
            <a:r>
              <a:rPr lang="en-US" sz="1400" b="0" dirty="0"/>
              <a:t>Running example: Paper 1 was registered as NCT04947904 on 1 July 2021; the first patient was enrolled in September 2021 - prospective registration. Its registration number is in the abstract.</a:t>
            </a:r>
          </a:p>
          <a:p>
            <a:r>
              <a:rPr lang="en-US" sz="1400" b="0" dirty="0"/>
              <a:t>Ask: your group's study - does it need registration? Expected: trials yes; most cohort proposals 'recommended'.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 minute + 1 minute answers). Read each scenario, count fingers, then reveal.</a:t>
            </a:r>
          </a:p>
          <a:p>
            <a:r>
              <a:rPr lang="en-US" sz="1400" b="0" dirty="0"/>
              <a:t>Scenario 4 starts a useful discussion: audit compares practice with a standard and is usually approved through the quality office, not registered; but if you plan to publish it as research, ask the ethics committee first (Session 1: research vs audit vs QI).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 information, understanding, voluntariness and a record.</a:t>
            </a:r>
          </a:p>
          <a:p>
            <a:r>
              <a:rPr lang="en-US" sz="1400" b="0" dirty="0"/>
              <a:t>Nurses and pharmacists are often the ones patients ask afterwards 'what did I sign?' -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 that is the right respected, and it is why the trial analysed 48 of 50.</a:t>
            </a:r>
          </a:p>
          <a:p>
            <a:r>
              <a:rPr lang="en-US" sz="1400" b="0" dirty="0"/>
              <a:t>Common mistake: a consent form written at university reading level, in a language the family does not read fluently. Ask the committee for its template (there is also one in Templates/).</a:t>
            </a:r>
          </a:p>
          <a:p>
            <a:r>
              <a:rPr lang="en-US" sz="1400" b="0" dirty="0"/>
              <a:t>Ask: who in your group would take consent in your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a:t>
            </a:r>
          </a:p>
          <a:p>
            <a:r>
              <a:rPr lang="en-US" sz="1400" b="0" dirty="0"/>
              <a:t>Read the flowchart left to right. 1) Can the patient decide now? Then the patient consents. 2) If not, a legally authorised representative (surrogate -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 the committee waived individual consent and the data were de-identified before analysis (page 8).</a:t>
            </a:r>
          </a:p>
          <a:p>
            <a:r>
              <a:rPr lang="en-US" sz="1400" b="0" dirty="0"/>
              <a:t>Local law decides who may act as representative and whether deferred consent is allowed -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Ask the room for each card BEFORE revealing the bottom line (cover it or click through slowly).</a:t>
            </a:r>
          </a:p>
          <a:p>
            <a:r>
              <a:rPr lang="en-US" sz="1400" b="0" dirty="0"/>
              <a:t>Mr A: capacity present - the patient decides.</a:t>
            </a:r>
          </a:p>
          <a:p>
            <a:r>
              <a:rPr lang="en-US" sz="1400" b="0" dirty="0"/>
              <a:t>Mrs B: lacks capacity now; the legally authorised representative (here the daughter, if local law allows) consents; Mrs B is asked to continue when she regains capacity - she may withdraw.</a:t>
            </a:r>
          </a:p>
          <a:p>
            <a:r>
              <a:rPr lang="en-US" sz="1400" b="0" dirty="0"/>
              <a:t>Mr C: no representative in time, treatment cannot wait - deferred consent ONLY if the protocol describes it and the committee approved it; seek consent from family or patient as soon as possible. Paper 1 used this route.</a:t>
            </a:r>
          </a:p>
          <a:p>
            <a:r>
              <a:rPr lang="en-US" sz="1400" b="0" dirty="0"/>
              <a:t>Misconception: 'the treating doctor can consent for the patient'. No -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 name, hospital number, exact date of birth, address, phone, photos. After: a study code, age instead of birth date, month instead of exact dates, and only the variables in your data dictionary.</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where would your group's key file live? Expected answer: an institution-approved, password-protected location -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 there was no real approval - so in the course manuscripts groups write: 'This analysis uses a simulated teaching dataset; no ethics approval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which STROBE item does this belong to? Expected: the Methods (it is listed among other information; most journals ask for it in a 'Declarations' section too).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tiles. TIMELINE: ethics approval alone can take 1-3 months; recruitment always takes longer than planned. BUDGET: name the headings even if the amounts are small - staff time, materials or tests, publication fee. PEOPLE: who collects data on night shifts and weekends, who analyses, and is there protected time? RECRUITMENT: Paper 1 screened 1201 patients in three ICUs over 17 months to randomise 50 (about 4%) -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Ask: which tile is the biggest risk for your group's study? Expected answers: recruitment and people (night-shift data collection).</a:t>
            </a:r>
          </a:p>
          <a:p>
            <a:r>
              <a:rPr lang="en-US" sz="1400" b="0" dirty="0"/>
              <a:t>This is the only feasibility slide in Level 1 -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(0:40-1:00). Six slides (about 2 minutes each) and the 5-minute scenario quiz.</a:t>
            </a:r>
          </a:p>
          <a:p>
            <a:r>
              <a:rPr lang="en-US" sz="1400" b="0" dirty="0"/>
              <a:t>Tone: this is not about catching cheats. Most integrity problems start as small shortcuts under pressure - a missing value 'filled in', an outlier 'cleaned', a boss added as author. We want people to recognise the slope early.</a:t>
            </a:r>
          </a:p>
          <a:p>
            <a:r>
              <a:rPr lang="en-US" sz="1400" b="0" dirty="0"/>
              <a:t>Link to the manuscript: every group's draft will need an authorship (CRediT),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 including copying a paragraph WITH a citation but without quotation marks.</a:t>
            </a:r>
          </a:p>
          <a:p>
            <a:r>
              <a:rPr lang="en-US" sz="1400" b="0" dirty="0"/>
              <a:t>Honest error is not misconduct -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Ask: which of these three is the most common in student theses? Expected answer: plagiarism -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 if it is clearly cross-referenced and adds something new.</a:t>
            </a:r>
          </a:p>
          <a:p>
            <a:r>
              <a:rPr lang="en-US" sz="1400" b="0" dirty="0"/>
              <a:t>Salami slicing: e.g. mortality in one paper, length of stay in another and ventilation days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the pharmacist who checked adherence, the department head who provided support).</a:t>
            </a:r>
          </a:p>
          <a:p>
            <a:r>
              <a:rPr lang="en-US" sz="1400" b="0" dirty="0"/>
              <a:t>Gift author: a name added for seniority or friendship. Ghost author: someone who did the work - often a junior or a paid writer - but is not named. Both are misconduct.</a:t>
            </a:r>
          </a:p>
          <a:p>
            <a:r>
              <a:rPr lang="en-US" sz="1400" b="0" dirty="0"/>
              <a:t>Running example: Paper 2 is published 'on behalf of' a study group; the group members are listed in the Acknowledgements - a correct way to credit a large network.</a:t>
            </a:r>
          </a:p>
          <a:p>
            <a:r>
              <a:rPr lang="en-US" sz="1400" b="0" dirty="0"/>
              <a:t>Ask: data collection alone - is that enough for authorship? Expected answer: no, not without criteria 2, 3 and 4.</a:t>
            </a:r>
          </a:p>
          <a:p>
            <a:r>
              <a:rPr lang="en-US" sz="1400" b="0" dirty="0"/>
              <a:t>Practical tip: agree the author list and order in writing at the protocol stage and revisit it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 financial or not. Having one is common and not wrong; hiding it is.</a:t>
            </a:r>
          </a:p>
          <a:p>
            <a:r>
              <a:rPr lang="en-US" sz="1400" b="0" dirty="0"/>
              <a:t>Financial: consultancy, speaker fees, grants, travel support, shares, patents, employment. Non-financial: personal relationships, membership of a guideline panel, strong prior beliefs, academic rivalry.</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 both papers use it, pages 12 and 8); a controlled-access repository (researchers apply); an open repository with a DOI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 the current positions of ICMJE and COPE (Committee on Publication Ethics): AI tools cannot be authors, because they cannot take responsibility or be accountable for the work. Authors who use AI must disclose it - for writing help usually in the Acknowledgements, for use in data collection, analysis or figures in the Methods -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 policies change.</a:t>
            </a:r>
          </a:p>
          <a:p>
            <a:r>
              <a:rPr lang="en-US" sz="1400" b="0" dirty="0"/>
              <a:t>Ask: a colleague asks a chatbot to 'write the discussion' and submits it unread. Which of the three NEVER boxes does this hit? Expected: invented references and an unaccountable text -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(0:55-1:00). Scenarios and answer key: Practicals/s7_exercises.md (Part A) and Solutions/s7_solutions.md.</a:t>
            </a:r>
          </a:p>
          <a:p>
            <a:r>
              <a:rPr lang="en-US" sz="1400" b="0" dirty="0"/>
              <a:t>Choose three: 1 (missing data 'filled from memory' - RED, fabrication), 3 (head of department as last author without contributing - RED, gift authorship, offer Acknowledgements), 4 (AI polish of the English, checked and disclosed - GREEN; same chatbot fed the patient spreadsheet - RED).</a:t>
            </a:r>
          </a:p>
          <a:p>
            <a:r>
              <a:rPr lang="en-US" sz="1400" b="0" dirty="0"/>
              <a:t>Example on the slide: lending equipment is not authorship - AMBER/RED: thank them in the Acknowledgements.</a:t>
            </a:r>
          </a:p>
          <a:p>
            <a:r>
              <a:rPr lang="en-US" sz="1400" b="0" dirty="0"/>
              <a:t>Facilitation: coloured cards (or coloured paper) on each table; if you have none, use fingers - 1 = green, 2 = amber, 3 = red.</a:t>
            </a:r>
          </a:p>
          <a:p>
            <a:r>
              <a:rPr lang="en-US" sz="1400" b="0" dirty="0"/>
              <a:t>If groups disagree, that is the teaching moment - ask each side for one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(1:00-1:15). Call the sub-timings aloud.</a:t>
            </a:r>
          </a:p>
          <a:p>
            <a:r>
              <a:rPr lang="en-US" sz="1400" b="0" dirty="0"/>
              <a:t>Circulate. Typical problems: (1) 'consent will be obtained' with no who/when/how - push for the ICU pathway; (2) retrospective chart reviews assuming no ethics review is needed - wrong, the committee decides and may grant a waiver; (3) recruitment numbers taken from the sample-size calculation instead of the unit's admissions; (4) CONSORT chosen for an observational proposal.</a:t>
            </a:r>
          </a:p>
          <a:p>
            <a:r>
              <a:rPr lang="en-US" sz="1400" b="0" dirty="0"/>
              <a:t>The journal choice and EQUATOR checklist will be checked again in 8.2 tomorrow - a provisional answer is fine today.</a:t>
            </a:r>
          </a:p>
          <a:p>
            <a:r>
              <a:rPr lang="en-US" sz="1400" b="0" dirty="0"/>
              <a:t>Remind: tomorrow each group presents (6 minutes, 6 slides) - slides 5 (ethics &amp; feasibility) and 6 (publication plan) come from this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(1:15-1:30).</a:t>
            </a:r>
          </a:p>
          <a:p>
            <a:r>
              <a:rPr lang="en-US" sz="1400" b="0" dirty="0"/>
              <a:t>During the break: put one printed results pack on each table (Q1 on table 1 ... Q5 on table 5) and the s7 exercise sheet (Part C, workshop instructions).</a:t>
            </a:r>
          </a:p>
          <a:p>
            <a:r>
              <a:rPr lang="en-US" sz="1400" b="0" dirty="0"/>
              <a:t>Use the break to visit any group that could not say its main result in the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(1:30-2:05). Ten slides: writing order, Methods, a worked Methods example from FLUID-ICU, Results, a worked Results example, tables, STROBE, and a 3-minute check.</a:t>
            </a:r>
          </a:p>
          <a:p>
            <a:r>
              <a:rPr lang="en-US" sz="1400" b="0" dirty="0"/>
              <a:t>Every example now comes from the course dataset (Q1, the primary question) or from the two papers.</a:t>
            </a:r>
          </a:p>
          <a:p>
            <a:r>
              <a:rPr lang="en-US" sz="1400" b="0" dirty="0"/>
              <a:t>Pace: 3 minutes per slide. The two worked examples are the heart of the block - read them slowly with the room.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title - abstract - introduction - methods - results - discussion. Writers should not. Start from the evidence: draft the tables and figures (the story is in your data), then the Methods (you know what you did -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 so they cannot promise more than the paper delivers.</a:t>
            </a:r>
          </a:p>
          <a:p>
            <a:r>
              <a:rPr lang="en-US" sz="1400" b="0" dirty="0"/>
              <a:t>Misconception: 'I must finish the introduction before I can start'. Many first-time writers stall on the introduction for months.</a:t>
            </a:r>
          </a:p>
          <a:p>
            <a:r>
              <a:rPr lang="en-US" sz="1400" b="0" dirty="0"/>
              <a:t>Ask: which part of your proposal could already become the Methods of your paper? Expected: Parts 2 and 3 - design, participants, variables,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or STROBE).</a:t>
            </a:r>
          </a:p>
          <a:p>
            <a:r>
              <a:rPr lang="en-US" sz="1400" b="0" dirty="0"/>
              <a:t>Good practice: Paper 1 puts the ethics committee, approval number, consent procedure and funding inside the Methods (annotation #13); describes the intervention well enough to replicate -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statistical analysis paragraph: for each comparison, the summary, the test or model, the effect measure with 95% CI, how missing data and multiple comparisons were handled, and the software.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(Level 2). Read each sentence and point to its STROBE item on the right.</a:t>
            </a:r>
          </a:p>
          <a:p>
            <a:r>
              <a:rPr lang="en-US" sz="1400" b="0" dirty="0"/>
              <a:t>All facts come from results pack Q1, section 2: prospective multicentre cohort, 4 ICUs, consecutive adults with sepsis, January 2023 -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 every manuscript must say so.</a:t>
            </a:r>
          </a:p>
          <a:p>
            <a:r>
              <a:rPr lang="en-US" sz="1400" b="0" dirty="0"/>
              <a:t>Ask: which sentence would a reader need to repeat the study? Expected: the exposure definition -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a:t>
            </a:r>
          </a:p>
          <a:p>
            <a:r>
              <a:rPr lang="en-US" sz="1400" b="0" dirty="0"/>
              <a:t>Covariates: age, SOFA, lactate, vasopressor, mechanical ventilation, chronic kidney disease - pre-specified in the statistical analysis plan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 and they must agree. Paper 1's text says creatinine was higher in the intervention group; Table 1 shows the opposite (#25). Text-table contradictions are a classic rejection reason.</a:t>
            </a:r>
          </a:p>
          <a:p>
            <a:r>
              <a:rPr lang="en-US" sz="1400" b="0" dirty="0"/>
              <a:t>Ask: who in your group will check every number in the text against the tables before submission? Name the person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All numbers from Course/Data/key_results.md (SIMULATED data):</a:t>
            </a:r>
          </a:p>
          <a:p>
            <a:r>
              <a:rPr lang="en-US" sz="1400" b="0" dirty="0"/>
              <a:t>Flow: 620 enrolled -&gt; 618 with a day-3 balance -&gt;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 that belongs to the Discussion tomorrow.</a:t>
            </a:r>
          </a:p>
          <a:p>
            <a:r>
              <a:rPr lang="en-US" sz="1400" b="0" dirty="0"/>
              <a:t>Ask: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a:t>
            </a:r>
          </a:p>
          <a:p>
            <a:r>
              <a:rPr lang="en-US" sz="1400" b="0" dirty="0"/>
              <a:t>Good practice: Paper 1's Table 1 has n in each column, SD or IQR per row and no baseline p-values - correct for a randomised trial (annotation #31). Paper 2's Table 1 adds SMDs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Your FLUID-ICU Table 1 in the results pack already follows them - check it against this list in the workshop.</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 no p-values needed (observational Table 1s often show SMDs instead).</a:t>
            </a:r>
          </a:p>
          <a:p>
            <a:r>
              <a:rPr lang="en-US" sz="1400" b="0" dirty="0"/>
              <a:t>Heart failure is lower in the positive group because clinicians give less fluid in heart failure - a nice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(cohort version). The numbers in the boxes are the STROBE item numbers for the Methods (4-12) and Results (13-17).</a:t>
            </a:r>
          </a:p>
          <a:p>
            <a:r>
              <a:rPr lang="en-US" sz="1400" b="0" dirty="0"/>
              <a:t>Items groups most often forget: 9 (bias - say how you addressed confounding by indication: adjustment for severity); 10 (study size - for a fixed dataset say 'all eligible patients in the cohort were included'); 12 (missing data - how lactate was handled); 16 (give BOTH crude and adjusted estimates, with the variables adjusted for).</a:t>
            </a:r>
          </a:p>
          <a:p>
            <a:r>
              <a:rPr lang="en-US" sz="1400" b="0" dirty="0"/>
              <a:t>The full checklist is in the s7 exercise sheet and on equator-network.org (demo tomorrow).</a:t>
            </a:r>
          </a:p>
          <a:p>
            <a:r>
              <a:rPr lang="en-US" sz="1400" b="0" dirty="0"/>
              <a:t>Ask: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(2:02-2:05). Read each sentence; the room calls out M, R or D.</a:t>
            </a:r>
          </a:p>
          <a:p>
            <a:r>
              <a:rPr lang="en-US" sz="1400" b="0" dirty="0"/>
              <a:t>The numbers in sentences 2, 4 and 5 are illustrative ('...'), not FLUID-ICU results.</a:t>
            </a:r>
          </a:p>
          <a:p>
            <a:r>
              <a:rPr lang="en-US" sz="1400" b="0" dirty="0"/>
              <a:t>Sentence 4 is the trick: HOW missing data were handled is Methods; HOW MANY were missing is Results.</a:t>
            </a:r>
          </a:p>
          <a:p>
            <a:r>
              <a:rPr lang="en-US" sz="1400" b="0" dirty="0"/>
              <a:t>Sentence 3 is the classic error -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(2:05-2:55). Level 2. Each group writes the Methods and Results of its FLUID-ICU paper (Q1-Q5) from its results pack.</a:t>
            </a:r>
          </a:p>
          <a:p>
            <a:r>
              <a:rPr lang="en-US" sz="1400" b="0" dirty="0"/>
              <a:t>Instructions for participants: Practicals/s7_exercises.md, Part C. Model paragraphs for Q1: Solutions/s7_solutions.md (do NOT hand these out before the workshop - show only the worked examples on the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plan and assign roles in 1 minute: two write Methods, two write Results, one prepares Table 1 and one figure or table (title, column headers with n, units, footnotes), and one 'number checker' who compares every number in the text with the results pack.</a:t>
            </a:r>
          </a:p>
          <a:p>
            <a:r>
              <a:rPr lang="en-US" sz="1400" b="0" dirty="0"/>
              <a:t>Word budget: Methods ~300 words (design and setting, participants, variables, statistical analysis); Results ~300 words (participants, Table 1 in one sentence, main result crude and adjusted, one secondary or sensitivity result).</a:t>
            </a:r>
          </a:p>
          <a:p>
            <a:r>
              <a:rPr lang="en-US" sz="1400" b="0" dirty="0"/>
              <a:t>Instructors circulate from minute 5: check each Methods has the statistical paragraph and each Results starts with the participants.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(2:05-2:55). Start a visible 50-minute timer; call each phase.</a:t>
            </a:r>
          </a:p>
          <a:p>
            <a:r>
              <a:rPr lang="en-US" sz="1400" b="0" dirty="0"/>
              <a:t>Circulate in a fixed order (table 1 to 5) so every group gets two visits.</a:t>
            </a:r>
          </a:p>
          <a:p>
            <a:r>
              <a:rPr lang="en-US" sz="1400" b="0" dirty="0"/>
              <a:t>Prompts: 'Where is your statistical paragraph?' 'What was adjusted for?' 'Where are the participants?' 'Is there a number without a confidence interval?' 'Is there an adjective ("significant", "strong") that should be a number?' 'Is there any interpretation in your Results?'</a:t>
            </a:r>
          </a:p>
          <a:p>
            <a:r>
              <a:rPr lang="en-US" sz="1400" b="0" dirty="0"/>
              <a:t>Q4 group (lactate): make sure they report BOTH complete-case and imputed estimates. Q5 group (length of stay): medians and IQR, not means. Q3 group: ventilator-free days are skewed - check the summary they chose.</a:t>
            </a:r>
          </a:p>
          <a:p>
            <a:r>
              <a:rPr lang="en-US" sz="1400" b="0" dirty="0"/>
              <a:t>At 2:52 ask each group to save and send its draft (email or shared folder) - it is the starting file for tomorrow's workshop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 ask someone to explain each in their own words before you read the right-hand column.</a:t>
            </a:r>
          </a:p>
          <a:p>
            <a:r>
              <a:rPr lang="en-US" sz="1400" b="0" dirty="0"/>
              <a:t>These are also the words most likely to appear in the post-course quiz tomorrow.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Read the three take-home messages; ask one person to add a fourth.</a:t>
            </a:r>
          </a:p>
          <a:p>
            <a:r>
              <a:rPr lang="en-US" sz="1400" b="0" dirty="0"/>
              <a:t>Homework: proposal slides (presentation guide: 6 minutes, 6 slides), and a read-through of the manuscript draft. Tomorrow starts with a 5-minute recap and goes straight into writing.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room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 Introduction, Methods, Results and Discussion -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after the break: the hourglass tells you where to look - PICO in the last paragraph of the Introduction, design and outcome in the Methods, the main effect in the first paragraph of the Results, limitations near the end of the Discussion.</a:t>
            </a:r>
          </a:p>
          <a:p>
            <a:r>
              <a:rPr lang="en-US" sz="1400" b="0" dirty="0"/>
              <a:t>Ask: which section do you read first in a paper? Many will say the abstract and conclusion - fine, but the answer to 'can I believe it?' is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 e.g. the statistician is credited for Methodology and Formal analysis. Paper 2 (page 8) describes contributions in free text and states that all authors read and approved the final manuscript - acceptable, but CRediT is the format most journals now ask for.</a:t>
            </a:r>
          </a:p>
          <a:p>
            <a:r>
              <a:rPr lang="en-US" sz="1400" b="0" dirty="0"/>
              <a:t>Facilitation: ask each group to write, in their proposal, who would be first author and who would do what. It prevents painful conversations later.</a:t>
            </a:r>
          </a:p>
          <a:p>
            <a:r>
              <a:rPr lang="en-US" sz="1400" b="0" dirty="0"/>
              <a:t>Question: in a hospital, who usually ends up as last author, and why? Expected: the senior supervisor - legitimate if they meet all four criteria,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Century Gothic"/>
                <a:cs typeface="Century Gothic"/>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4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Session 6</a:t>
            </a:r>
          </a:p>
          <a:p>
            <a:pPr marL="274320" indent="-274320" algn="l">
              <a:spcBef>
                <a:spcPts val="440"/>
              </a:spcBef>
              <a:buFont typeface="Arial"/>
              <a:buChar char="•"/>
            </a:pPr>
            <a:r>
              <a:rPr lang="en-US" sz="1900" dirty="0">
                <a:solidFill>
                  <a:srgbClr val="000000"/>
                </a:solidFill>
                <a:latin typeface="Century Gothic"/>
                <a:cs typeface="Century Gothic"/>
              </a:rPr>
              <a:t>7.1  Protocol, ethics, consent, registration, feasibility</a:t>
            </a:r>
          </a:p>
          <a:p>
            <a:pPr marL="274320" indent="-274320" algn="l">
              <a:spcBef>
                <a:spcPts val="440"/>
              </a:spcBef>
              <a:buFont typeface="Arial"/>
              <a:buChar char="•"/>
            </a:pPr>
            <a:r>
              <a:rPr lang="en-US" sz="1900" dirty="0">
                <a:solidFill>
                  <a:srgbClr val="000000"/>
                </a:solidFill>
                <a:latin typeface="Century Gothic"/>
                <a:cs typeface="Century Gothic"/>
              </a:rPr>
              <a:t>7.2  Research integrity: authorship, conflicts of interest, data sharing, AI</a:t>
            </a:r>
          </a:p>
          <a:p>
            <a:pPr marL="274320" indent="-274320" algn="l">
              <a:spcBef>
                <a:spcPts val="440"/>
              </a:spcBef>
              <a:buFont typeface="Arial"/>
              <a:buChar char="•"/>
            </a:pPr>
            <a:r>
              <a:rPr lang="en-US" sz="1900" dirty="0">
                <a:solidFill>
                  <a:srgbClr val="000000"/>
                </a:solidFill>
                <a:latin typeface="Century Gothic"/>
                <a:cs typeface="Century Gothic"/>
              </a:rPr>
              <a:t>Proposal builder 7: ethics + publication plan</a:t>
            </a:r>
          </a:p>
          <a:p>
            <a:pPr marL="274320" indent="-274320" algn="l">
              <a:spcBef>
                <a:spcPts val="440"/>
              </a:spcBef>
              <a:buFont typeface="Arial"/>
              <a:buChar char="•"/>
            </a:pPr>
            <a:r>
              <a:rPr lang="en-US" sz="1900" dirty="0">
                <a:solidFill>
                  <a:srgbClr val="000000"/>
                </a:solidFill>
                <a:latin typeface="Century Gothic"/>
                <a:cs typeface="Century Gothic"/>
              </a:rPr>
              <a:t>7.3  Writing the paper (I): Methods, Results, tables, STROBE</a:t>
            </a:r>
          </a:p>
          <a:p>
            <a:pPr marL="274320" indent="-274320" algn="l">
              <a:spcBef>
                <a:spcPts val="440"/>
              </a:spcBef>
              <a:buFont typeface="Arial"/>
              <a:buChar char="•"/>
            </a:pPr>
            <a:r>
              <a:rPr lang="en-US" sz="1900" dirty="0">
                <a:solidFill>
                  <a:srgbClr val="000000"/>
                </a:solidFill>
                <a:latin typeface="Century Gothic"/>
                <a:cs typeface="Century Gothic"/>
              </a:rPr>
              <a:t>Manuscript workshop 1: draft Methods +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crude OR is 2.1; the adjusted OR is 1.4. What happened?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HR 0.85 (95% CI 0.60 to 1.20): clear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is missing for 15% of patients. Name one way to handle it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Kaplan-Meier: what does a 'censored' patient mean?</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Your group's FLUID-ICU question: what is its main result?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Confounding: part of the crude link came from severity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No - the CI includes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Complete-case, or multiple imputation + sensitivity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Left the study alive, outcome unknown after that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Protocol, ethics and consent</a:t>
            </a:r>
          </a:p>
          <a:p>
            <a:pPr marL="0" indent="0" algn="ctr">
              <a:spcBef>
                <a:spcPts val="1200"/>
              </a:spcBef>
              <a:buNone/>
            </a:pPr>
            <a:r>
              <a:rPr lang="en-US" sz="1900" i="1" dirty="0">
                <a:solidFill>
                  <a:srgbClr val="595959"/>
                </a:solidFill>
                <a:latin typeface="Century Gothic"/>
                <a:cs typeface="Century Gothic"/>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ethics-committee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approval letter, no data collection -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randomised trial of two dressings for pressure injuries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systematic review of fluid strategies in sepsis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retrospective cohort from ICU charts (like FLUID-ICU)</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clinical audit of hand-hygiene compliance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Show: 1 finger = must, 2 = should, 3 = not needed</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Must - trial registry, before patient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Should - PROSPERO</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Recommended, not required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Audit: not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Purpose and what will happen</a:t>
            </a:r>
          </a:p>
          <a:p>
            <a:pPr marL="0" indent="0" algn="l">
              <a:lnSpc>
                <a:spcPct val="104000"/>
              </a:lnSpc>
              <a:spcBef>
                <a:spcPts val="400"/>
              </a:spcBef>
              <a:buNone/>
            </a:pPr>
            <a:r>
              <a:rPr lang="en-US" sz="1600" dirty="0">
                <a:solidFill>
                  <a:srgbClr val="000000"/>
                </a:solidFill>
                <a:latin typeface="Century Gothic"/>
                <a:cs typeface="Century Gothic"/>
              </a:rPr>
              <a:t>Risks, benefits, alternatives</a:t>
            </a:r>
          </a:p>
          <a:p>
            <a:pPr marL="0" indent="0" algn="l">
              <a:lnSpc>
                <a:spcPct val="104000"/>
              </a:lnSpc>
              <a:spcBef>
                <a:spcPts val="400"/>
              </a:spcBef>
              <a:buNone/>
            </a:pPr>
            <a:r>
              <a:rPr lang="en-US" sz="1600" dirty="0">
                <a:solidFill>
                  <a:srgbClr val="000000"/>
                </a:solidFill>
                <a:latin typeface="Century Gothic"/>
                <a:cs typeface="Century Gothic"/>
              </a:rPr>
              <a:t>How data are protected</a:t>
            </a:r>
          </a:p>
          <a:p>
            <a:pPr marL="0" indent="0" algn="l">
              <a:lnSpc>
                <a:spcPct val="104000"/>
              </a:lnSpc>
              <a:spcBef>
                <a:spcPts val="400"/>
              </a:spcBef>
              <a:buNone/>
            </a:pPr>
            <a:r>
              <a:rPr lang="en-US" sz="1600" dirty="0">
                <a:solidFill>
                  <a:srgbClr val="000000"/>
                </a:solidFill>
                <a:latin typeface="Century Gothic"/>
                <a:cs typeface="Century Gothic"/>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Plain, local language</a:t>
            </a:r>
          </a:p>
          <a:p>
            <a:pPr marL="0" indent="0" algn="l">
              <a:lnSpc>
                <a:spcPct val="104000"/>
              </a:lnSpc>
              <a:spcBef>
                <a:spcPts val="400"/>
              </a:spcBef>
              <a:buNone/>
            </a:pPr>
            <a:r>
              <a:rPr lang="en-US" sz="1600" dirty="0">
                <a:solidFill>
                  <a:srgbClr val="000000"/>
                </a:solidFill>
                <a:latin typeface="Century Gothic"/>
                <a:cs typeface="Century Gothic"/>
              </a:rPr>
              <a:t>Time to ask questions</a:t>
            </a:r>
          </a:p>
          <a:p>
            <a:pPr marL="0" indent="0" algn="l">
              <a:lnSpc>
                <a:spcPct val="104000"/>
              </a:lnSpc>
              <a:spcBef>
                <a:spcPts val="400"/>
              </a:spcBef>
              <a:buNone/>
            </a:pPr>
            <a:r>
              <a:rPr lang="en-US" sz="1600" dirty="0">
                <a:solidFill>
                  <a:srgbClr val="000000"/>
                </a:solidFill>
                <a:latin typeface="Century Gothic"/>
                <a:cs typeface="Century Gothic"/>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No pressure</a:t>
            </a:r>
          </a:p>
          <a:p>
            <a:pPr marL="0" indent="0" algn="l">
              <a:lnSpc>
                <a:spcPct val="104000"/>
              </a:lnSpc>
              <a:spcBef>
                <a:spcPts val="400"/>
              </a:spcBef>
              <a:buNone/>
            </a:pPr>
            <a:r>
              <a:rPr lang="en-US" sz="1600" dirty="0">
                <a:solidFill>
                  <a:srgbClr val="000000"/>
                </a:solidFill>
                <a:latin typeface="Century Gothic"/>
                <a:cs typeface="Century Gothic"/>
              </a:rPr>
              <a:t>Free to refuse or withdraw</a:t>
            </a:r>
          </a:p>
          <a:p>
            <a:pPr marL="0" indent="0" algn="l">
              <a:lnSpc>
                <a:spcPct val="104000"/>
              </a:lnSpc>
              <a:spcBef>
                <a:spcPts val="400"/>
              </a:spcBef>
              <a:buNone/>
            </a:pPr>
            <a:r>
              <a:rPr lang="en-US" sz="1600" dirty="0">
                <a:solidFill>
                  <a:srgbClr val="000000"/>
                </a:solidFill>
                <a:latin typeface="Century Gothic"/>
                <a:cs typeface="Century Gothic"/>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Signed and dated form</a:t>
            </a:r>
          </a:p>
          <a:p>
            <a:pPr marL="0" indent="0" algn="l">
              <a:lnSpc>
                <a:spcPct val="104000"/>
              </a:lnSpc>
              <a:spcBef>
                <a:spcPts val="400"/>
              </a:spcBef>
              <a:buNone/>
            </a:pPr>
            <a:r>
              <a:rPr lang="en-US" sz="1600" dirty="0">
                <a:solidFill>
                  <a:srgbClr val="000000"/>
                </a:solidFill>
                <a:latin typeface="Century Gothic"/>
                <a:cs typeface="Century Gothic"/>
              </a:rPr>
              <a:t>A copy for the participant</a:t>
            </a:r>
          </a:p>
          <a:p>
            <a:pPr marL="0" indent="0" algn="l">
              <a:lnSpc>
                <a:spcPct val="104000"/>
              </a:lnSpc>
              <a:spcBef>
                <a:spcPts val="400"/>
              </a:spcBef>
              <a:buNone/>
            </a:pPr>
            <a:r>
              <a:rPr lang="en-US" sz="1600" dirty="0">
                <a:solidFill>
                  <a:srgbClr val="000000"/>
                </a:solidFill>
                <a:latin typeface="Century Gothic"/>
                <a:cs typeface="Century Gothic"/>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Patient, then legal representative, then deferred consent - and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Walk each patient through the flowchart.</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A, 54</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Pneumonia, awake, oriented</a:t>
            </a:r>
          </a:p>
          <a:p>
            <a:pPr marL="0" indent="0" algn="l">
              <a:lnSpc>
                <a:spcPct val="104000"/>
              </a:lnSpc>
              <a:spcBef>
                <a:spcPts val="400"/>
              </a:spcBef>
              <a:buNone/>
            </a:pPr>
            <a:r>
              <a:rPr lang="en-US" sz="1750" dirty="0">
                <a:solidFill>
                  <a:srgbClr val="000000"/>
                </a:solidFill>
                <a:latin typeface="Century Gothic"/>
                <a:cs typeface="Century Gothic"/>
              </a:rPr>
              <a:t>Eligible for a fluid trial</a:t>
            </a:r>
          </a:p>
          <a:p>
            <a:pPr marL="0" indent="0" algn="l">
              <a:lnSpc>
                <a:spcPct val="104000"/>
              </a:lnSpc>
              <a:spcBef>
                <a:spcPts val="400"/>
              </a:spcBef>
              <a:buNone/>
            </a:pPr>
            <a:r>
              <a:rPr lang="en-US" sz="1750" b="1" dirty="0">
                <a:solidFill>
                  <a:srgbClr val="2E8B57"/>
                </a:solidFill>
                <a:latin typeface="Century Gothic"/>
                <a:cs typeface="Century Gothic"/>
              </a:rPr>
              <a:t>Patient consents</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Mrs B, 71</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Septic shock, sedated</a:t>
            </a:r>
          </a:p>
          <a:p>
            <a:pPr marL="0" indent="0" algn="l">
              <a:lnSpc>
                <a:spcPct val="104000"/>
              </a:lnSpc>
              <a:spcBef>
                <a:spcPts val="400"/>
              </a:spcBef>
              <a:buNone/>
            </a:pPr>
            <a:r>
              <a:rPr lang="en-US" sz="1750" dirty="0">
                <a:solidFill>
                  <a:srgbClr val="000000"/>
                </a:solidFill>
                <a:latin typeface="Century Gothic"/>
                <a:cs typeface="Century Gothic"/>
              </a:rPr>
              <a:t>Daughter at the bedside</a:t>
            </a:r>
          </a:p>
          <a:p>
            <a:pPr marL="0" indent="0" algn="l">
              <a:lnSpc>
                <a:spcPct val="104000"/>
              </a:lnSpc>
              <a:spcBef>
                <a:spcPts val="400"/>
              </a:spcBef>
              <a:buNone/>
            </a:pPr>
            <a:r>
              <a:rPr lang="en-US" sz="1750" b="1" dirty="0">
                <a:solidFill>
                  <a:srgbClr val="2E8B57"/>
                </a:solidFill>
                <a:latin typeface="Century Gothic"/>
                <a:cs typeface="Century Gothic"/>
              </a:rPr>
              <a:t>Representative consents; ask Mrs B when awake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C, 38</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Shock at 03:00, no family yet</a:t>
            </a:r>
          </a:p>
          <a:p>
            <a:pPr marL="0" indent="0" algn="l">
              <a:lnSpc>
                <a:spcPct val="104000"/>
              </a:lnSpc>
              <a:spcBef>
                <a:spcPts val="400"/>
              </a:spcBef>
              <a:buNone/>
            </a:pPr>
            <a:r>
              <a:rPr lang="en-US" sz="1750" dirty="0">
                <a:solidFill>
                  <a:srgbClr val="000000"/>
                </a:solidFill>
                <a:latin typeface="Century Gothic"/>
                <a:cs typeface="Century Gothic"/>
              </a:rPr>
              <a:t>Treatment cannot wait; committee approved</a:t>
            </a:r>
          </a:p>
          <a:p>
            <a:pPr marL="0" indent="0" algn="l">
              <a:lnSpc>
                <a:spcPct val="104000"/>
              </a:lnSpc>
              <a:spcBef>
                <a:spcPts val="400"/>
              </a:spcBef>
              <a:buNone/>
            </a:pPr>
            <a:r>
              <a:rPr lang="en-US" sz="1750" b="1" dirty="0">
                <a:solidFill>
                  <a:srgbClr val="D9822B"/>
                </a:solidFill>
                <a:latin typeface="Century Gothic"/>
                <a:cs typeface="Century Gothic"/>
              </a:rPr>
              <a:t>Deferred consent: ask ASAP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Names stay on the ward; only study codes travel.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FLUID-ICU is simulated - but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committee of each ICU</a:t>
            </a:r>
          </a:p>
          <a:p>
            <a:pPr marL="0" indent="0" algn="l">
              <a:lnSpc>
                <a:spcPct val="104000"/>
              </a:lnSpc>
              <a:spcBef>
                <a:spcPts val="400"/>
              </a:spcBef>
              <a:buNone/>
            </a:pPr>
            <a:r>
              <a:rPr lang="en-US" sz="1600" dirty="0">
                <a:solidFill>
                  <a:srgbClr val="000000"/>
                </a:solidFill>
                <a:latin typeface="Century Gothic"/>
                <a:cs typeface="Century Gothic"/>
              </a:rPr>
              <a:t>Approval number + date</a:t>
            </a:r>
          </a:p>
          <a:p>
            <a:pPr marL="0" indent="0" algn="l">
              <a:lnSpc>
                <a:spcPct val="104000"/>
              </a:lnSpc>
              <a:spcBef>
                <a:spcPts val="400"/>
              </a:spcBef>
              <a:buNone/>
            </a:pPr>
            <a:r>
              <a:rPr lang="en-US" sz="1600" dirty="0">
                <a:solidFill>
                  <a:srgbClr val="000000"/>
                </a:solidFill>
                <a:latin typeface="Century Gothic"/>
                <a:cs typeface="Century Gothic"/>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Routine data, minimal risk</a:t>
            </a:r>
          </a:p>
          <a:p>
            <a:pPr marL="0" indent="0" algn="l">
              <a:lnSpc>
                <a:spcPct val="104000"/>
              </a:lnSpc>
              <a:spcBef>
                <a:spcPts val="400"/>
              </a:spcBef>
              <a:buNone/>
            </a:pPr>
            <a:r>
              <a:rPr lang="en-US" sz="1600" dirty="0">
                <a:solidFill>
                  <a:srgbClr val="000000"/>
                </a:solidFill>
                <a:latin typeface="Century Gothic"/>
                <a:cs typeface="Century Gothic"/>
              </a:rPr>
              <a:t>Committee may WAIVE consent</a:t>
            </a:r>
          </a:p>
          <a:p>
            <a:pPr marL="0" indent="0" algn="l">
              <a:lnSpc>
                <a:spcPct val="104000"/>
              </a:lnSpc>
              <a:spcBef>
                <a:spcPts val="400"/>
              </a:spcBef>
              <a:buNone/>
            </a:pPr>
            <a:r>
              <a:rPr lang="en-US" sz="1600" dirty="0">
                <a:solidFill>
                  <a:srgbClr val="000000"/>
                </a:solidFill>
                <a:latin typeface="Century Gothic"/>
                <a:cs typeface="Century Gothic"/>
              </a:rPr>
              <a:t>(as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Study codes only</a:t>
            </a:r>
          </a:p>
          <a:p>
            <a:pPr marL="0" indent="0" algn="l">
              <a:lnSpc>
                <a:spcPct val="104000"/>
              </a:lnSpc>
              <a:spcBef>
                <a:spcPts val="400"/>
              </a:spcBef>
              <a:buNone/>
            </a:pPr>
            <a:r>
              <a:rPr lang="en-US" sz="1600" dirty="0">
                <a:solidFill>
                  <a:srgbClr val="000000"/>
                </a:solidFill>
                <a:latin typeface="Century Gothic"/>
                <a:cs typeface="Century Gothic"/>
              </a:rPr>
              <a:t>Key file kept in each ICU</a:t>
            </a:r>
          </a:p>
          <a:p>
            <a:pPr marL="0" indent="0" algn="l">
              <a:lnSpc>
                <a:spcPct val="104000"/>
              </a:lnSpc>
              <a:spcBef>
                <a:spcPts val="400"/>
              </a:spcBef>
              <a:buNone/>
            </a:pPr>
            <a:r>
              <a:rPr lang="en-US" sz="1600" dirty="0">
                <a:solidFill>
                  <a:srgbClr val="000000"/>
                </a:solidFill>
                <a:latin typeface="Century Gothic"/>
                <a:cs typeface="Century Gothic"/>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Registration &amp;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Registration recommended</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Feasibility in one picture: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Research integrity</a:t>
            </a:r>
          </a:p>
          <a:p>
            <a:pPr marL="0" indent="0" algn="ctr">
              <a:spcBef>
                <a:spcPts val="1200"/>
              </a:spcBef>
              <a:buNone/>
            </a:pPr>
            <a:r>
              <a:rPr lang="en-US" sz="1900" i="1" dirty="0">
                <a:solidFill>
                  <a:srgbClr val="595959"/>
                </a:solidFill>
                <a:latin typeface="Century Gothic"/>
                <a:cs typeface="Century Gothic"/>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Fabrication, falsification, plagiarism (FFP)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reported as missing -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One study should tell one complete, honest story.</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Duplicate publication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study, same results</a:t>
            </a:r>
          </a:p>
          <a:p>
            <a:pPr marL="0" indent="0" algn="l">
              <a:lnSpc>
                <a:spcPct val="104000"/>
              </a:lnSpc>
              <a:spcBef>
                <a:spcPts val="400"/>
              </a:spcBef>
              <a:buNone/>
            </a:pPr>
            <a:r>
              <a:rPr lang="en-US" sz="1750" dirty="0">
                <a:solidFill>
                  <a:srgbClr val="000000"/>
                </a:solidFill>
                <a:latin typeface="Century Gothic"/>
                <a:cs typeface="Century Gothic"/>
              </a:rPr>
              <a:t>in a second journal</a:t>
            </a:r>
          </a:p>
          <a:p>
            <a:pPr marL="0" indent="0" algn="l">
              <a:lnSpc>
                <a:spcPct val="104000"/>
              </a:lnSpc>
              <a:spcBef>
                <a:spcPts val="400"/>
              </a:spcBef>
              <a:buNone/>
            </a:pPr>
            <a:r>
              <a:rPr lang="en-US" sz="1750" dirty="0">
                <a:solidFill>
                  <a:srgbClr val="000000"/>
                </a:solidFill>
                <a:latin typeface="Century Gothic"/>
                <a:cs typeface="Century Gothic"/>
              </a:rPr>
              <a:t>without saying so</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Salami slicing</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study cut into thin papers</a:t>
            </a:r>
          </a:p>
          <a:p>
            <a:pPr marL="0" indent="0" algn="l">
              <a:lnSpc>
                <a:spcPct val="104000"/>
              </a:lnSpc>
              <a:spcBef>
                <a:spcPts val="400"/>
              </a:spcBef>
              <a:buNone/>
            </a:pPr>
            <a:r>
              <a:rPr lang="en-US" sz="1750" dirty="0">
                <a:solidFill>
                  <a:srgbClr val="000000"/>
                </a:solidFill>
                <a:latin typeface="Century Gothic"/>
                <a:cs typeface="Century Gothic"/>
              </a:rPr>
              <a:t>to multiply publications</a:t>
            </a:r>
          </a:p>
          <a:p>
            <a:pPr marL="0" indent="0" algn="l">
              <a:lnSpc>
                <a:spcPct val="104000"/>
              </a:lnSpc>
              <a:spcBef>
                <a:spcPts val="400"/>
              </a:spcBef>
              <a:buNone/>
            </a:pPr>
            <a:r>
              <a:rPr lang="en-US" sz="1750" dirty="0">
                <a:solidFill>
                  <a:srgbClr val="000000"/>
                </a:solidFill>
                <a:latin typeface="Century Gothic"/>
                <a:cs typeface="Century Gothic"/>
              </a:rPr>
              <a:t>Reader never sees the whole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Selective reporting</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Only the 'significant' outcomes</a:t>
            </a:r>
          </a:p>
          <a:p>
            <a:pPr marL="0" indent="0" algn="l">
              <a:lnSpc>
                <a:spcPct val="104000"/>
              </a:lnSpc>
              <a:spcBef>
                <a:spcPts val="400"/>
              </a:spcBef>
              <a:buNone/>
            </a:pPr>
            <a:r>
              <a:rPr lang="en-US" sz="1750" dirty="0">
                <a:solidFill>
                  <a:srgbClr val="000000"/>
                </a:solidFill>
                <a:latin typeface="Century Gothic"/>
                <a:cs typeface="Century Gothic"/>
              </a:rPr>
              <a:t>Primary outcome switched</a:t>
            </a:r>
          </a:p>
          <a:p>
            <a:pPr marL="0" indent="0" algn="l">
              <a:lnSpc>
                <a:spcPct val="104000"/>
              </a:lnSpc>
              <a:spcBef>
                <a:spcPts val="400"/>
              </a:spcBef>
              <a:buNone/>
            </a:pPr>
            <a:r>
              <a:rPr lang="en-US" sz="1750" dirty="0">
                <a:solidFill>
                  <a:srgbClr val="000000"/>
                </a:solidFill>
                <a:latin typeface="Century Gothic"/>
                <a:cs typeface="Century Gothic"/>
              </a:rPr>
              <a:t>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All four criteria, for every author -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data sharing at the protocol stage -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scenario on the screen or in your handout (6 scenarios)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Each group holds up GREEN (fine), AMBER (fine only if fixed or disclosed) or RED (misconduct)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 instructor asks one group to justify its colour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We do 3 together now; the rest are in the handout</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Example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colleague lent you an ultrasound machine and asks to be an author.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participant can name FFP, gift/ghost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Who consents in your study? Use the ICU flowchart (5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Registration: needed? which registry? Where is the key file?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Feasibility: biggest risk and one fix (3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Publication plan: target journal, guideline, authors + CRediT (5 min)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from your PICO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Worksheet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Practicals/s7_exercises.md, Part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slide 5 and 6 for tomorrow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Finish at home tonight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4 drafted; slides 5-6 of the presentation outlined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Collect your group's FLUID-ICU results pack</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Open the manuscript template (or take paper)</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Decide who writes Methods, who writes Results</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Back at 1:30 sharp</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7.3 Writing the paper (35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workshop 1 (50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 Methods and Results</a:t>
            </a:r>
          </a:p>
          <a:p>
            <a:pPr marL="0" indent="0" algn="ctr">
              <a:spcBef>
                <a:spcPts val="1200"/>
              </a:spcBef>
              <a:buNone/>
            </a:pPr>
            <a:r>
              <a:rPr lang="en-US" sz="1900" i="1" dirty="0">
                <a:solidFill>
                  <a:srgbClr val="595959"/>
                </a:solidFill>
                <a:latin typeface="Century Gothic"/>
                <a:cs typeface="Century Gothic"/>
              </a:rPr>
              <a:t>Write what you did and what you found -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Design, setting, dates</a:t>
            </a:r>
          </a:p>
          <a:p>
            <a:pPr marL="0" indent="0" algn="l">
              <a:lnSpc>
                <a:spcPct val="104000"/>
              </a:lnSpc>
              <a:spcBef>
                <a:spcPts val="400"/>
              </a:spcBef>
              <a:buNone/>
            </a:pPr>
            <a:r>
              <a:rPr lang="en-US" sz="1600" dirty="0">
                <a:solidFill>
                  <a:srgbClr val="000000"/>
                </a:solidFill>
                <a:latin typeface="Century Gothic"/>
                <a:cs typeface="Century Gothic"/>
              </a:rPr>
              <a:t>Eligibility criteria</a:t>
            </a:r>
          </a:p>
          <a:p>
            <a:pPr marL="0" indent="0" algn="l">
              <a:lnSpc>
                <a:spcPct val="104000"/>
              </a:lnSpc>
              <a:spcBef>
                <a:spcPts val="400"/>
              </a:spcBef>
              <a:buNone/>
            </a:pPr>
            <a:r>
              <a:rPr lang="en-US" sz="1600" dirty="0">
                <a:solidFill>
                  <a:srgbClr val="000000"/>
                </a:solidFill>
                <a:latin typeface="Century Gothic"/>
                <a:cs typeface="Century Gothic"/>
              </a:rPr>
              <a:t>Ethics no. and consent</a:t>
            </a:r>
          </a:p>
          <a:p>
            <a:pPr marL="0" indent="0" algn="l">
              <a:lnSpc>
                <a:spcPct val="104000"/>
              </a:lnSpc>
              <a:spcBef>
                <a:spcPts val="400"/>
              </a:spcBef>
              <a:buNone/>
            </a:pPr>
            <a:r>
              <a:rPr lang="en-US" sz="1600" dirty="0">
                <a:solidFill>
                  <a:srgbClr val="000000"/>
                </a:solidFill>
                <a:latin typeface="Century Gothic"/>
                <a:cs typeface="Century Gothic"/>
              </a:rPr>
              <a:t>Registration no.</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Intervention in full</a:t>
            </a:r>
          </a:p>
          <a:p>
            <a:pPr marL="0" indent="0" algn="l">
              <a:lnSpc>
                <a:spcPct val="104000"/>
              </a:lnSpc>
              <a:spcBef>
                <a:spcPts val="400"/>
              </a:spcBef>
              <a:buNone/>
            </a:pPr>
            <a:r>
              <a:rPr lang="en-US" sz="1600" dirty="0">
                <a:solidFill>
                  <a:srgbClr val="000000"/>
                </a:solidFill>
                <a:latin typeface="Century Gothic"/>
                <a:cs typeface="Century Gothic"/>
              </a:rPr>
              <a:t>Variables defined</a:t>
            </a:r>
          </a:p>
          <a:p>
            <a:pPr marL="0" indent="0" algn="l">
              <a:lnSpc>
                <a:spcPct val="104000"/>
              </a:lnSpc>
              <a:spcBef>
                <a:spcPts val="400"/>
              </a:spcBef>
              <a:buNone/>
            </a:pPr>
            <a:r>
              <a:rPr lang="en-US" sz="1600" dirty="0">
                <a:solidFill>
                  <a:srgbClr val="000000"/>
                </a:solidFill>
                <a:latin typeface="Century Gothic"/>
                <a:cs typeface="Century Gothic"/>
              </a:rPr>
              <a:t>P1: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ONE primary outcome: how, when</a:t>
            </a:r>
          </a:p>
          <a:p>
            <a:pPr marL="0" indent="0" algn="l">
              <a:lnSpc>
                <a:spcPct val="104000"/>
              </a:lnSpc>
              <a:spcBef>
                <a:spcPts val="400"/>
              </a:spcBef>
              <a:buNone/>
            </a:pPr>
            <a:r>
              <a:rPr lang="en-US" sz="1600" dirty="0">
                <a:solidFill>
                  <a:srgbClr val="000000"/>
                </a:solidFill>
                <a:latin typeface="Century Gothic"/>
                <a:cs typeface="Century Gothic"/>
              </a:rPr>
              <a:t>Sample size: assumptions + source</a:t>
            </a:r>
          </a:p>
          <a:p>
            <a:pPr marL="0" indent="0" algn="l">
              <a:lnSpc>
                <a:spcPct val="104000"/>
              </a:lnSpc>
              <a:spcBef>
                <a:spcPts val="400"/>
              </a:spcBef>
              <a:buNone/>
            </a:pPr>
            <a:r>
              <a:rPr lang="en-US" sz="1600" dirty="0">
                <a:solidFill>
                  <a:srgbClr val="000000"/>
                </a:solidFill>
                <a:latin typeface="Century Gothic"/>
                <a:cs typeface="Century Gothic"/>
              </a:rPr>
              <a:t>P2: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test for each comparison</a:t>
            </a:r>
          </a:p>
          <a:p>
            <a:pPr marL="0" indent="0" algn="l">
              <a:lnSpc>
                <a:spcPct val="104000"/>
              </a:lnSpc>
              <a:spcBef>
                <a:spcPts val="400"/>
              </a:spcBef>
              <a:buNone/>
            </a:pPr>
            <a:r>
              <a:rPr lang="en-US" sz="1600" dirty="0">
                <a:solidFill>
                  <a:srgbClr val="000000"/>
                </a:solidFill>
                <a:latin typeface="Century Gothic"/>
                <a:cs typeface="Century Gothic"/>
              </a:rPr>
              <a:t>Estimate matches the test</a:t>
            </a:r>
          </a:p>
          <a:p>
            <a:pPr marL="0" indent="0" algn="l">
              <a:lnSpc>
                <a:spcPct val="104000"/>
              </a:lnSpc>
              <a:spcBef>
                <a:spcPts val="400"/>
              </a:spcBef>
              <a:buNone/>
            </a:pPr>
            <a:r>
              <a:rPr lang="en-US" sz="1600" dirty="0">
                <a:solidFill>
                  <a:srgbClr val="000000"/>
                </a:solidFill>
                <a:latin typeface="Century Gothic"/>
                <a:cs typeface="Century Gothic"/>
              </a:rPr>
              <a:t>Missing data, multiplicity</a:t>
            </a:r>
          </a:p>
          <a:p>
            <a:pPr marL="0" indent="0" algn="l">
              <a:lnSpc>
                <a:spcPct val="104000"/>
              </a:lnSpc>
              <a:spcBef>
                <a:spcPts val="400"/>
              </a:spcBef>
              <a:buNone/>
            </a:pPr>
            <a:r>
              <a:rPr lang="en-US" sz="1600" dirty="0">
                <a:solidFill>
                  <a:srgbClr val="000000"/>
                </a:solidFill>
                <a:latin typeface="Century Gothic"/>
                <a:cs typeface="Century Gothic"/>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sentence per STROBE item - and say plainly that the data are simulated.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a method for every comparison you report - chosen before you saw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Table 1, outcome numbers, crude and adjusted estimates -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Characteristic</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Negative balance (n = 245)</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Positive balance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Age, years, mean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64.6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SOFA score,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(4 to 8)</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8 (6 to 10)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Vasopressor,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 (24.9%)</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Mechanical ventilation,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97 (39.6%)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Lactate, mmol/L,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2.2 (1.4 to 3.0)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2.9 (1.9 to 4.0)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Heart failure,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54 (22.0%)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SIMULATED data (results pack Q1, Table 1).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with the STROBE checklist open -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'We used logistic regression adjusted for SOFA and age.'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'Of 640 patients screened, 600 were included.'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'This may be because sicker patients received more fluid.'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was missing in 15% and was imputed.'</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'28-day mortality was higher with a positive balance (OR ..., 95% CI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Methods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Results (participants)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 (explain)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Methods (+ Results: how many)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  50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Write your Methods and Results</a:t>
            </a:r>
          </a:p>
          <a:p>
            <a:pPr marL="0" indent="0" algn="ctr">
              <a:spcBef>
                <a:spcPts val="1200"/>
              </a:spcBef>
              <a:buNone/>
            </a:pPr>
            <a:r>
              <a:rPr lang="en-US" sz="1900" i="1" dirty="0">
                <a:solidFill>
                  <a:srgbClr val="595959"/>
                </a:solidFill>
                <a:latin typeface="Century Gothic"/>
                <a:cs typeface="Century Gothic"/>
              </a:rPr>
              <a:t>About 600 words, Table 1 and one figure or table - from your results pack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Fifty minutes, six people, one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number in your text must come from your results pack - nobody calculates anything.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draft Methods + Results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0-5: read your results pack; agree the main result in one sentence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5-25: Methods - design, setting, participants, variables, statistics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25-40: Results - participants, Table 1, main result (crude + adjusted)</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40-47: Table 1 + one figure/table with titles and footnotes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47-50: tick STROBE items 4-17; check every number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results pack (Q1-Q5)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Worked examples (slides)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STROBE items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Methods + Results (~600 words) + Table 1 + one figure/table, saved and shared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Deferred consent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Enrol first in an emergency, ask consent as soon as possible (committee-approved)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Registration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record of a study before patient 1 (mandatory for trials)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FFP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Fabrication, falsification, plagiarism - research misconduct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ICMJE criteria / CRediT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Who may be an author / who did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Conflict of interest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Anything that could be seen to influence your judgement - declare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STROBE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Reporting checklist for observational studies: Methods items 4-12, Results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 for tomorrow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Three take-home messages (next to this list)</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Tonight: finish Proposal Part 4 and your 6 presentation slides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Tonight: read your Methods + Results draft once, aloud</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Tomorrow: Introduction, Discussion, Abstract, Title - then present</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Take home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approval, no data - not even 'a few patients'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author meets all four criteria; declare every interest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Proposal slides ready; Methods + Results draft saved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7</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Journals now ask for each author's role in standard words.</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14 CRediT roles</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Conceptualization, Methodology</a:t>
            </a:r>
          </a:p>
          <a:p>
            <a:pPr marL="0" indent="0" algn="l">
              <a:lnSpc>
                <a:spcPct val="104000"/>
              </a:lnSpc>
              <a:spcBef>
                <a:spcPts val="400"/>
              </a:spcBef>
              <a:buNone/>
            </a:pPr>
            <a:r>
              <a:rPr lang="en-US" sz="1750" dirty="0">
                <a:solidFill>
                  <a:srgbClr val="000000"/>
                </a:solidFill>
                <a:latin typeface="Century Gothic"/>
                <a:cs typeface="Century Gothic"/>
              </a:rPr>
              <a:t>Investigation, Formal analysis</a:t>
            </a:r>
          </a:p>
          <a:p>
            <a:pPr marL="0" indent="0" algn="l">
              <a:lnSpc>
                <a:spcPct val="104000"/>
              </a:lnSpc>
              <a:spcBef>
                <a:spcPts val="400"/>
              </a:spcBef>
              <a:buNone/>
            </a:pPr>
            <a:r>
              <a:rPr lang="en-US" sz="1750" dirty="0">
                <a:solidFill>
                  <a:srgbClr val="000000"/>
                </a:solidFill>
                <a:latin typeface="Century Gothic"/>
                <a:cs typeface="Century Gothic"/>
              </a:rPr>
              <a:t>Writing - original draft</a:t>
            </a:r>
          </a:p>
          <a:p>
            <a:pPr marL="0" indent="0" algn="l">
              <a:lnSpc>
                <a:spcPct val="104000"/>
              </a:lnSpc>
              <a:spcBef>
                <a:spcPts val="400"/>
              </a:spcBef>
              <a:buNone/>
            </a:pPr>
            <a:r>
              <a:rPr lang="en-US" sz="1750" dirty="0">
                <a:solidFill>
                  <a:srgbClr val="000000"/>
                </a:solidFill>
                <a:latin typeface="Century Gothic"/>
                <a:cs typeface="Century Gothic"/>
              </a:rPr>
              <a:t>Writing - review &amp; editing</a:t>
            </a:r>
          </a:p>
          <a:p>
            <a:pPr marL="0" indent="0" algn="l">
              <a:lnSpc>
                <a:spcPct val="104000"/>
              </a:lnSpc>
              <a:spcBef>
                <a:spcPts val="400"/>
              </a:spcBef>
              <a:buNone/>
            </a:pPr>
            <a:r>
              <a:rPr lang="en-US" sz="1750" dirty="0">
                <a:solidFill>
                  <a:srgbClr val="000000"/>
                </a:solidFill>
                <a:latin typeface="Century Gothic"/>
                <a:cs typeface="Century Gothic"/>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Paper 1 did it</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NB: Writing - original draft</a:t>
            </a:r>
          </a:p>
          <a:p>
            <a:pPr marL="0" indent="0" algn="l">
              <a:lnSpc>
                <a:spcPct val="104000"/>
              </a:lnSpc>
              <a:spcBef>
                <a:spcPts val="400"/>
              </a:spcBef>
              <a:buNone/>
            </a:pPr>
            <a:r>
              <a:rPr lang="en-US" sz="1750" dirty="0">
                <a:solidFill>
                  <a:srgbClr val="000000"/>
                </a:solidFill>
                <a:latin typeface="Century Gothic"/>
                <a:cs typeface="Century Gothic"/>
              </a:rPr>
              <a:t>CS: Methodology, Formal analysis</a:t>
            </a:r>
          </a:p>
          <a:p>
            <a:pPr marL="0" indent="0" algn="l">
              <a:lnSpc>
                <a:spcPct val="104000"/>
              </a:lnSpc>
              <a:spcBef>
                <a:spcPts val="400"/>
              </a:spcBef>
              <a:buNone/>
            </a:pPr>
            <a:r>
              <a:rPr lang="en-US" sz="1750" dirty="0">
                <a:solidFill>
                  <a:srgbClr val="000000"/>
                </a:solidFill>
                <a:latin typeface="Century Gothic"/>
                <a:cs typeface="Century Gothic"/>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group, today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Agree the author list now</a:t>
            </a:r>
          </a:p>
          <a:p>
            <a:pPr marL="0" indent="0" algn="l">
              <a:lnSpc>
                <a:spcPct val="104000"/>
              </a:lnSpc>
              <a:spcBef>
                <a:spcPts val="400"/>
              </a:spcBef>
              <a:buNone/>
            </a:pPr>
            <a:r>
              <a:rPr lang="en-US" sz="1750" dirty="0">
                <a:solidFill>
                  <a:srgbClr val="000000"/>
                </a:solidFill>
                <a:latin typeface="Century Gothic"/>
                <a:cs typeface="Century Gothic"/>
              </a:rPr>
              <a:t>Write each person's roles</a:t>
            </a:r>
          </a:p>
          <a:p>
            <a:pPr marL="0" indent="0" algn="l">
              <a:lnSpc>
                <a:spcPct val="104000"/>
              </a:lnSpc>
              <a:spcBef>
                <a:spcPts val="400"/>
              </a:spcBef>
              <a:buNone/>
            </a:pPr>
            <a:r>
              <a:rPr lang="en-US" sz="1750" dirty="0">
                <a:solidFill>
                  <a:srgbClr val="000000"/>
                </a:solidFill>
                <a:latin typeface="Century Gothic"/>
                <a:cs typeface="Century Gothic"/>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