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7 (19:30-22:30, break 20:45-21:00). Before the break: ethics, integrity and Proposal Part 4. After the break: IMRaD, Methods and Results.</a:t>
            </a:r>
          </a:p>
          <a:p>
            <a:r>
              <a:rPr lang="en-US" sz="1400" b="0" dirty="0"/>
              <a:t>Before the session, email the exercise sheet, the five results packs, the manuscript template and the list of reviewer pairs.</a:t>
            </a:r>
          </a:p>
          <a:p>
            <a:r>
              <a:rPr lang="en-US" sz="1400" b="0" dirty="0"/>
              <a:t>If time is short, drop extra slides, never the workshop.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Start with two or three Session 6 exit answers.</a:t>
            </a:r>
          </a:p>
          <a:p>
            <a:r>
              <a:rPr lang="en-US" sz="1400" b="0" dirty="0"/>
              <a:t>Questions 1-4: 30 seconds each, call on two or three people, then reveal. Question 1 leads to today: the Results report both crude and adjusted estimates.</a:t>
            </a:r>
          </a:p>
          <a:p>
            <a:r>
              <a:rPr lang="en-US" sz="1400" b="0" dirty="0"/>
              <a:t>Question 5 in the chat: the main result of the question each person chose. Anyone without a question chooses one now.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individual products. Proposal: Part 4 today, submitted next Saturday.</a:t>
            </a:r>
          </a:p>
          <a:p>
            <a:r>
              <a:rPr lang="en-US" sz="1400" b="0" dirty="0"/>
              <a:t>Results section: we give the results for each person's question, they write a submission-ready Results section.</a:t>
            </a:r>
          </a:p>
          <a:p>
            <a:r>
              <a:rPr lang="en-US" sz="1400" b="0" dirty="0"/>
              <a:t>Every section is taught: Methods and Results today, Introduction, Discussion, abstract and title next week. Only the Results must be submitted.</a:t>
            </a:r>
          </a:p>
          <a:p>
            <a:r>
              <a:rPr lang="en-US" sz="1400" b="0" dirty="0"/>
              <a:t>Ask: which question (Q1-Q5) have you chosen?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7.1 (19:40-20:10). Ten slides, about 3 minutes each.</a:t>
            </a:r>
          </a:p>
          <a:p>
            <a:r>
              <a:rPr lang="en-US" sz="1400" b="0" dirty="0"/>
              <a:t>Spend the most time on ICU consent: it is the real problem in our units.</a:t>
            </a:r>
          </a:p>
          <a:p>
            <a:r>
              <a:rPr lang="en-US" sz="1400" b="0" dirty="0"/>
              <a:t>Everything here becomes a paragraph of Proposal Part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protocol is the full plan, approved before the first patient. SPIRIT 2025 is the checklist for trial protocols.</a:t>
            </a:r>
          </a:p>
          <a:p>
            <a:r>
              <a:rPr lang="en-US" sz="1400" b="0" dirty="0"/>
              <a:t>Walk the four cards: they are the four proposal parts.</a:t>
            </a:r>
          </a:p>
          <a:p>
            <a:r>
              <a:rPr lang="en-US" sz="1400" b="0" dirty="0"/>
              <a:t>Paper 1 registered its protocol and SAP before the first patient (NCT04947904).</a:t>
            </a:r>
          </a:p>
          <a:p>
            <a:r>
              <a:rPr lang="en-US" sz="1400" b="0" dirty="0"/>
              <a:t>Poll: which part of your proposal is weakest? Expected: sample size or analysis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Helsinki (2024): the participant comes before new knowledge. Ethics approval, free consent, privacy, registration, publish all results.</a:t>
            </a:r>
          </a:p>
          <a:p>
            <a:r>
              <a:rPr lang="en-US" sz="1400" b="0" dirty="0"/>
              <a:t>GCP (ICH E6(R3), 2025): the quality standard for trials. Paper 1, an academic trial, followed it.</a:t>
            </a:r>
          </a:p>
          <a:p>
            <a:r>
              <a:rPr lang="en-US" sz="1400" b="0" dirty="0"/>
              <a:t>Poll: which of the 12 points would be hardest in our unit?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steps. Most institutions want a scientific review first.</a:t>
            </a:r>
          </a:p>
          <a:p>
            <a:r>
              <a:rPr lang="en-US" sz="1400" b="0" dirty="0"/>
              <a:t>The committee decides the review type, not you. Plan 1 to 3 months.</a:t>
            </a:r>
          </a:p>
          <a:p>
            <a:r>
              <a:rPr lang="en-US" sz="1400" b="0" dirty="0"/>
              <a:t>Misconception: 'collect now, ask later'. Committees cannot approve retrospectively.</a:t>
            </a:r>
          </a:p>
          <a:p>
            <a:r>
              <a:rPr lang="en-US" sz="1400" b="0" dirty="0"/>
              <a:t>Paper 1 gives its approval number in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Registration puts the study and its primary outcome on public record before anyone is enrolled.</a:t>
            </a:r>
          </a:p>
          <a:p>
            <a:r>
              <a:rPr lang="en-US" sz="1400" b="0" dirty="0"/>
              <a:t>Trials: mandatory. Reviews: PROSPERO. Observational: recommended.</a:t>
            </a:r>
          </a:p>
          <a:p>
            <a:r>
              <a:rPr lang="en-US" sz="1400" b="0" dirty="0"/>
              <a:t>Paper 1: registered 1 July 2021, first patient September 2021.</a:t>
            </a:r>
          </a:p>
          <a:p>
            <a:r>
              <a:rPr lang="en-US" sz="1400" b="0" dirty="0"/>
              <a:t>Ask: does your study need registration?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Valid consent needs all four: information, understanding, voluntariness, a record.</a:t>
            </a:r>
          </a:p>
          <a:p>
            <a:r>
              <a:rPr lang="en-US" sz="1400" b="0" dirty="0"/>
              <a:t>In Paper 1, two control patients withdrew and were not analysed: the right respected.</a:t>
            </a:r>
          </a:p>
          <a:p>
            <a:r>
              <a:rPr lang="en-US" sz="1400" b="0" dirty="0"/>
              <a:t>Ask: who takes consent in your study, and when? Expected: a trained team member, not the treating doctor under time pressure.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ICU patients cannot decide when they become eligible.</a:t>
            </a:r>
          </a:p>
          <a:p>
            <a:r>
              <a:rPr lang="en-US" sz="1400" b="0" dirty="0"/>
              <a:t>Patient, then legal representative, then deferred consent only if the committee approved it in advance. Paper 1 used this route. Paper 2 had a waiver for registry data.</a:t>
            </a:r>
          </a:p>
          <a:p>
            <a:r>
              <a:rPr lang="en-US" sz="1400" b="0" dirty="0"/>
              <a:t>Local law decides who may be the representative.</a:t>
            </a:r>
          </a:p>
          <a:p>
            <a:r>
              <a:rPr lang="en-US" sz="1400" b="0" dirty="0"/>
              <a:t>Ask: the family refuses after enrolment. What happens? Expected: the patient leaves the 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Call on someone for each patient before revealing.</a:t>
            </a:r>
          </a:p>
          <a:p>
            <a:r>
              <a:rPr lang="en-US" sz="1400" b="0" dirty="0"/>
              <a:t>Mr A: consents himself. Mrs B: the representative consents, ask her when she can decide. Mr C: deferred consent, only if approved.</a:t>
            </a:r>
          </a:p>
          <a:p>
            <a:r>
              <a:rPr lang="en-US" sz="1400" b="0" dirty="0"/>
              <a:t>Misconception: the treating doctor can consent for the patient. No.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Confidentiality by design: study codes, age instead of birth date, month instead of exact date.</a:t>
            </a:r>
          </a:p>
          <a:p>
            <a:r>
              <a:rPr lang="en-US" sz="1400" b="0" dirty="0"/>
              <a:t>The key file is kept separately, locked, with one or two named people.</a:t>
            </a:r>
          </a:p>
          <a:p>
            <a:r>
              <a:rPr lang="en-US" sz="1400" b="0" dirty="0"/>
              <a:t>No patient data on personal phones, messaging apps or public AI tools.</a:t>
            </a:r>
          </a:p>
          <a:p>
            <a:r>
              <a:rPr lang="en-US" sz="1400" b="0" dirty="0"/>
              <a:t>Ask: where would your key file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If FLUID-ICU were real, the ethics paragraph would answer these four questions in four sentences.</a:t>
            </a:r>
          </a:p>
          <a:p>
            <a:r>
              <a:rPr lang="en-US" sz="1400" b="0" dirty="0"/>
              <a:t>Ask: where does this paragraph go in a real paper? Expected: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five cards. Ethics takes 1-3 months. Recruitment always takes longer: Paper 1 screened 1,201 patients to randomise 50.</a:t>
            </a:r>
          </a:p>
          <a:p>
            <a:r>
              <a:rPr lang="en-US" sz="1400" b="0" dirty="0"/>
              <a:t>Rule of thumb: count last year's eligible patients and expect to enrol a fraction.</a:t>
            </a:r>
          </a:p>
          <a:p>
            <a:r>
              <a:rPr lang="en-US" sz="1400" b="0" dirty="0"/>
              <a:t>Poll: which card is the biggest risk for your 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7.2 (20:10-20:30). Six slides, then a 5-minute scenario poll.</a:t>
            </a:r>
          </a:p>
          <a:p>
            <a:r>
              <a:rPr lang="en-US" sz="1400" b="0" dirty="0"/>
              <a:t>Tone: most integrity problems start as small shortcuts under pressure.</a:t>
            </a:r>
          </a:p>
          <a:p>
            <a:r>
              <a:rPr lang="en-US" sz="1400" b="0" dirty="0"/>
              <a:t>Every Results draft needs the AI-use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Fabrication, falsification, plagiarism. An honest error is not misconduct: correct it openly.</a:t>
            </a:r>
          </a:p>
          <a:p>
            <a:r>
              <a:rPr lang="en-US" sz="1400" b="0" dirty="0"/>
              <a:t>The data-quality plan from Session 5 protects against accidental falsification.</a:t>
            </a:r>
          </a:p>
          <a:p>
            <a:r>
              <a:rPr lang="en-US" sz="1400" b="0" dirty="0"/>
              <a:t>Poll: which is most common in student theses? Expected: plagiarism.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Duplicate publication counts the same patients twice. Salami slicing hides the whole study. Selective reporting is why trials register one primary outcome.</a:t>
            </a:r>
          </a:p>
          <a:p>
            <a:r>
              <a:rPr lang="en-US" sz="1400" b="0" dirty="0"/>
              <a:t>Paper 1 reported its negative primary outcome plainly.</a:t>
            </a:r>
          </a:p>
          <a:p>
            <a:r>
              <a:rPr lang="en-US" sz="1400" b="0" dirty="0"/>
              <a:t>Ask: why does it matter that a negative trial is published? Expected: publication bias.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 author meets all four ICMJE criteria. Others go in the Acknowledgements.</a:t>
            </a:r>
          </a:p>
          <a:p>
            <a:r>
              <a:rPr lang="en-US" sz="1400" b="0" dirty="0"/>
              <a:t>Gift author: named without the work. Ghost author: did the work, not named.</a:t>
            </a:r>
          </a:p>
          <a:p>
            <a:r>
              <a:rPr lang="en-US" sz="1400" b="0" dirty="0"/>
              <a:t>Poll: is data collection alone enough for authorship? Expected: no.</a:t>
            </a:r>
          </a:p>
          <a:p>
            <a:r>
              <a:rPr lang="en-US" sz="1400" b="0" dirty="0"/>
              <a:t>Agree the author list at the protocol stage.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Having an interest is common. Hiding it is the problem. Most journals use the ICMJE form.</a:t>
            </a:r>
          </a:p>
          <a:p>
            <a:r>
              <a:rPr lang="en-US" sz="1400" b="0" dirty="0"/>
              <a:t>Paper 2 states its funder had no role. Paper 1 states an internal grant.</a:t>
            </a:r>
          </a:p>
          <a:p>
            <a:r>
              <a:rPr lang="en-US" sz="1400" b="0" dirty="0"/>
              <a:t>Ask: a company paid your travel last year. Declare it? Expected: if in doubt, declare.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From 'available on request' (both papers) to an open repository with a DOI.</a:t>
            </a:r>
          </a:p>
          <a:p>
            <a:r>
              <a:rPr lang="en-US" sz="1400" b="0" dirty="0"/>
              <a:t>Before sharing: consent and ethics must allow it, data de-identified, dictionary and code included.</a:t>
            </a:r>
          </a:p>
          <a:p>
            <a:r>
              <a:rPr lang="en-US" sz="1400" b="0" dirty="0"/>
              <a:t>Ask: what must your consent form say today so you can share tomorrow?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AI cannot be an author. Disclose its use and check every claim and reference.</a:t>
            </a:r>
          </a:p>
          <a:p>
            <a:r>
              <a:rPr lang="en-US" sz="1400" b="0" dirty="0"/>
              <a:t>Never paste patient data or a manuscript you review into a public AI tool.</a:t>
            </a:r>
          </a:p>
          <a:p>
            <a:r>
              <a:rPr lang="en-US" sz="1400" b="0" dirty="0"/>
              <a:t>Ask: a colleague has a chatbot write the Discussion and submits it unread. Which rules does this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Quiz (20:25-20:30). Scenarios and answers: s7_exercises Part A and s7_solutions.</a:t>
            </a:r>
          </a:p>
          <a:p>
            <a:r>
              <a:rPr lang="en-US" sz="1400" b="0" dirty="0"/>
              <a:t>Use scenarios 1 (red, fabrication), 3 (red, gift authorship) and 4 (green for checked and disclosed polishing, red for the patient spreadsheet).</a:t>
            </a:r>
          </a:p>
          <a:p>
            <a:r>
              <a:rPr lang="en-US" sz="1400" b="0" dirty="0"/>
              <a:t>Ask one person from the largest and one from the smallest colour for a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7 (20:30-20:45). Fill in Part B live for the running example. Answers: s7_solutions Part B.</a:t>
            </a:r>
          </a:p>
          <a:p>
            <a:r>
              <a:rPr lang="en-US" sz="1400" b="0" dirty="0"/>
              <a:t>Watch for: 'consent will be obtained' with no who or when, chart reviews assumed exempt, recruitment from the sample size, CONSORT for a cohort.</a:t>
            </a:r>
          </a:p>
          <a:p>
            <a:r>
              <a:rPr lang="en-US" sz="1400" b="0" dirty="0"/>
              <a:t>Homework: Part 4 of their own proposal. Volunteers who want to present email the course lead by Wednesday 16 December.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(20:45-21:00). Say: we restart at 21:00 with the Results section. Open your results pack and the manuscript template.</a:t>
            </a:r>
          </a:p>
          <a:p>
            <a:r>
              <a:rPr lang="en-US" sz="1400" b="0" dirty="0"/>
              <a:t>Prepare your screen: the template and results pack Q1 side by side.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7.3 (21:00-21:35). Ten slides and a 3-minute check.</a:t>
            </a:r>
          </a:p>
          <a:p>
            <a:r>
              <a:rPr lang="en-US" sz="1400" b="0" dirty="0"/>
              <a:t>IMRaD first, then Methods and Results, each with a worked example on Q1. The check practises both.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Introduction (why), Methods (what we did), Results (what we found), Discussion (what it means). The abstract and title summarise it.</a:t>
            </a:r>
          </a:p>
          <a:p>
            <a:r>
              <a:rPr lang="en-US" sz="1400" b="0" dirty="0"/>
              <a:t>The Introduction narrows to the question, the Discussion widens back to practice. Paper 1's Introduction is a three-paragraph funnel, and its Discussion opens by answering the question.</a:t>
            </a:r>
          </a:p>
          <a:p>
            <a:r>
              <a:rPr lang="en-US" sz="1400" b="0" dirty="0"/>
              <a:t>Today: Methods and Results. Next Saturday: Introduction, Discussion, abstract and title.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Writers start from the evidence: tables first, the title last.</a:t>
            </a:r>
          </a:p>
          <a:p>
            <a:r>
              <a:rPr lang="en-US" sz="1400" b="0" dirty="0"/>
              <a:t>For FLUID-ICU the tables already exist in your results pack, so your Results section starts from them.</a:t>
            </a:r>
          </a:p>
          <a:p>
            <a:r>
              <a:rPr lang="en-US" sz="1400" b="0" dirty="0"/>
              <a:t>Misconception: 'I must finish the Introduction before I can start'.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Methods: enough detail to repeat the study, in STROBE order.</a:t>
            </a:r>
          </a:p>
          <a:p>
            <a:r>
              <a:rPr lang="en-US" sz="1400" b="0" dirty="0"/>
              <a:t>Good: Paper 1 describes its intervention well enough to replicate. To fix: Paper 2 never says how missing covariates were handled.</a:t>
            </a:r>
          </a:p>
          <a:p>
            <a:r>
              <a:rPr lang="en-US" sz="1400" b="0" dirty="0"/>
              <a:t>For FLUID-ICU, all the facts are in the results pack, the SAP and the data dictionary.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sentence per STROBE item, all from results pack Q1, section 2.</a:t>
            </a:r>
          </a:p>
          <a:p>
            <a:r>
              <a:rPr lang="en-US" sz="1400" b="0" dirty="0"/>
              <a:t>Item 10: for a fixed cohort, say all eligible patients were included.</a:t>
            </a:r>
          </a:p>
          <a:p>
            <a:r>
              <a:rPr lang="en-US" sz="1400" b="0" dirty="0"/>
              <a:t>Ask: which sentence would a reader need to repeat the study? Expected: how fluid balance was calculated.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STROBE item 12 for Q1. Covariates were chosen in the SAP before the data were seen.</a:t>
            </a:r>
          </a:p>
          <a:p>
            <a:r>
              <a:rPr lang="en-US" sz="1400" b="0" dirty="0"/>
              <a:t>Every number in the Results must trace back to one sentence here. Reviewers read this paragraph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rules. Participants first, with a flow. Effects with 95% CIs, not 'p = 0.42, NS'. No interpretation. One home per number, and text and tables must agree: Paper 1's text and Table 1 disagree on creatinine.</a:t>
            </a:r>
          </a:p>
          <a:p>
            <a:r>
              <a:rPr lang="en-US" sz="1400" b="0" dirty="0"/>
              <a:t>Before submitting, check every number against your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All numbers from results pack Q1 (simulated). One sentence per STROBE item, 13 to 17.</a:t>
            </a:r>
          </a:p>
          <a:p>
            <a:r>
              <a:rPr lang="en-US" sz="1400" b="0" dirty="0"/>
              <a:t>Point out what is missing: no 'because', no 'significant', no reason why the OR shrank. That belongs in a Discussion.</a:t>
            </a:r>
          </a:p>
          <a:p>
            <a:r>
              <a:rPr lang="en-US" sz="1400" b="0" dirty="0"/>
              <a:t>Poll: which item asks for crude and adjusted estimates? Expected: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table must stand alone: a title that says what, who and when, n per column, units and summary per row, footnotes for abbreviations and missing data.</a:t>
            </a:r>
          </a:p>
          <a:p>
            <a:r>
              <a:rPr lang="en-US" sz="1400" b="0" dirty="0"/>
              <a:t>Errors in the papers: wrong units (Paper 1), no numbers at risk under a Kaplan-Meier curve (Paper 2).</a:t>
            </a:r>
          </a:p>
          <a:p>
            <a:r>
              <a:rPr lang="en-US" sz="1400" b="0" dirty="0"/>
              <a:t>Ask: what is wrong with a table titled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From Table 1 to one Results sentence (STROBE 14): 'Patients with a positive balance were sicker at baseline (median SOFA 8 vs 6, vasopressors 55.0% vs 24.9%) and less often had heart failure (11.5% vs 22.0%).'</a:t>
            </a:r>
          </a:p>
          <a:p>
            <a:r>
              <a:rPr lang="en-US" sz="1400" b="0" dirty="0"/>
              <a:t>The sentence describes, it does not test: no p-values.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FLUID-ICU is a cohort, so STROBE. The Results section covers items 13 to 17.</a:t>
            </a:r>
          </a:p>
          <a:p>
            <a:r>
              <a:rPr lang="en-US" sz="1400" b="0" dirty="0"/>
              <a:t>Most often forgotten: 16 (crude and adjusted, with the variables adjusted for) and missing data.</a:t>
            </a:r>
          </a:p>
          <a:p>
            <a:r>
              <a:rPr lang="en-US" sz="1400" b="0" dirty="0"/>
              <a:t>Poll: which item covers Table 1? Expected: 14.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(21:32-21:35). One poll per sentence.</a:t>
            </a:r>
          </a:p>
          <a:p>
            <a:r>
              <a:rPr lang="en-US" sz="1400" b="0" dirty="0"/>
              <a:t>Sentence 4 is the trick: how missing data were handled is Methods, how many were missing is Results.</a:t>
            </a:r>
          </a:p>
          <a:p>
            <a:r>
              <a:rPr lang="en-US" sz="1400" b="0" dirty="0"/>
              <a:t>Sentence 3 is the classic error: interpretation in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1 (21:35-22:20).</a:t>
            </a:r>
          </a:p>
          <a:p>
            <a:r>
              <a:rPr lang="en-US" sz="1400" b="0" dirty="0"/>
              <a:t>Part 1: you write the Q1 Results live, calling on people for sentences. Part 2: each participant starts the Results for their own question.</a:t>
            </a:r>
          </a:p>
          <a:p>
            <a:r>
              <a:rPr lang="en-US" sz="1400" b="0" dirty="0"/>
              <a:t>Instructions: s7_exercises Part C. Model text: s7_solutions Part C (steer with it, do not paste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(21:35-22:05). Keep a visible timer.</a:t>
            </a:r>
          </a:p>
          <a:p>
            <a:r>
              <a:rPr lang="en-US" sz="1400" b="0" dirty="0"/>
              <a:t>Order: flow, Table 1 sentence, deaths per group, crude and adjusted OR, Cox HR and imputation.</a:t>
            </a:r>
          </a:p>
          <a:p>
            <a:r>
              <a:rPr lang="en-US" sz="1400" b="0" dirty="0"/>
              <a:t>Prompts: 'Is there a number without its CI?' 'Is there an adjective that should be a number?' 'Any interpretation?'</a:t>
            </a:r>
          </a:p>
          <a:p>
            <a:r>
              <a:rPr lang="en-US" sz="1400" b="0" dirty="0"/>
              <a:t>Aim for about 300 words. Send the class draft as a PDF after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(22:05-22:20). Quiet individual writing. Answer questions in the chat.</a:t>
            </a:r>
          </a:p>
          <a:p>
            <a:r>
              <a:rPr lang="en-US" sz="1400" b="0" dirty="0"/>
              <a:t>Q1: rewrite in your own words, do not copy the class draft. Q3: ventilator-free days count death as zero. Q4: report both complete-case and imputed estimates. Q5: survivors only, medians and IQR.</a:t>
            </a:r>
          </a:p>
          <a:p>
            <a:r>
              <a:rPr lang="en-US" sz="1400" b="0" dirty="0"/>
              <a:t>Other sections may be added, but only the Results must be submitted.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(22:20-22:22). Show the term, call on someone to explain it, then reveal.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Peer review (22:22-22:24). Show the list of reviewer pairs on screen and say it was drawn at random. Everyone reviews one draft and receives one review.</a:t>
            </a:r>
          </a:p>
          <a:p>
            <a:r>
              <a:rPr lang="en-US" sz="1400" b="0" dirty="0"/>
              <a:t>Sending the draft straight to the reviewer saves time: the review is due ten days later, the revision ten days after that.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(22:24-22:30). Read the three messages and call on one person to add a fourth.</a:t>
            </a:r>
          </a:p>
          <a:p>
            <a:r>
              <a:rPr lang="en-US" sz="1400" b="0" dirty="0"/>
              <a:t>Read the exit answers before Session 8 and open with them.</a:t>
            </a:r>
          </a:p>
          <a:p>
            <a:r>
              <a:rPr lang="en-US" sz="1400" b="0" dirty="0"/>
              <a:t>Homework: Part 4 of the proposal, the Results draft, the 6 slides (Presentation_Guide).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check. One poll per scenario: must, should or not needed.</a:t>
            </a:r>
          </a:p>
          <a:p>
            <a:r>
              <a:rPr lang="en-US" sz="1400" b="0" dirty="0"/>
              <a:t>Scenario 4: an audit goes through the quality office, not a registry. To publish it as research, ask the ethics committee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names who did what (14 roles). It does not replace the ICMJE criteria.</a:t>
            </a:r>
          </a:p>
          <a:p>
            <a:r>
              <a:rPr lang="en-US" sz="1400" b="0" dirty="0"/>
              <a:t>Paper 1 gives a CRediT statement.</a:t>
            </a:r>
          </a:p>
          <a:p>
            <a:r>
              <a:rPr lang="en-US" sz="1400" b="0" dirty="0"/>
              <a:t>Ask each participant to write who would do what in their own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3.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4.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Session 7 · Protect &amp; write: ethics, integrity, Methods and Results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7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6</a:t>
            </a:r>
          </a:p>
          <a:p>
            <a:pPr marL="274320" indent="-274320" algn="l">
              <a:spcBef>
                <a:spcPts val="440"/>
              </a:spcBef>
              <a:buFont typeface="Arial"/>
              <a:buChar char="•"/>
            </a:pPr>
            <a:r>
              <a:rPr lang="en-US" sz="1900" dirty="0">
                <a:solidFill>
                  <a:srgbClr val="000000"/>
                </a:solidFill>
                <a:latin typeface="Arial"/>
                <a:cs typeface="Arial"/>
              </a:rPr>
              <a:t>19:40  7.1  Protocol, ethics, consent, registration, feasibility</a:t>
            </a:r>
          </a:p>
          <a:p>
            <a:pPr marL="274320" indent="-274320" algn="l">
              <a:spcBef>
                <a:spcPts val="440"/>
              </a:spcBef>
              <a:buFont typeface="Arial"/>
              <a:buChar char="•"/>
            </a:pPr>
            <a:r>
              <a:rPr lang="en-US" sz="1900" dirty="0">
                <a:solidFill>
                  <a:srgbClr val="000000"/>
                </a:solidFill>
                <a:latin typeface="Arial"/>
                <a:cs typeface="Arial"/>
              </a:rPr>
              <a:t>20:10  7.2  Research integrity: authorship, conflicts of interest, data sharing, AI</a:t>
            </a:r>
          </a:p>
          <a:p>
            <a:pPr marL="274320" indent="-274320" algn="l">
              <a:spcBef>
                <a:spcPts val="440"/>
              </a:spcBef>
              <a:buFont typeface="Arial"/>
              <a:buChar char="•"/>
            </a:pPr>
            <a:r>
              <a:rPr lang="en-US" sz="1900" dirty="0">
                <a:solidFill>
                  <a:srgbClr val="000000"/>
                </a:solidFill>
                <a:latin typeface="Arial"/>
                <a:cs typeface="Arial"/>
              </a:rPr>
              <a:t>20:30  Proposal builder 7: ethics and publication plan</a:t>
            </a:r>
          </a:p>
          <a:p>
            <a:pPr marL="274320" indent="-274320" algn="l">
              <a:spcBef>
                <a:spcPts val="440"/>
              </a:spcBef>
              <a:buFont typeface="Arial"/>
              <a:buChar char="•"/>
            </a:pPr>
            <a:r>
              <a:rPr lang="en-US" sz="1900" dirty="0">
                <a:solidFill>
                  <a:srgbClr val="000000"/>
                </a:solidFill>
                <a:latin typeface="Arial"/>
                <a:cs typeface="Arial"/>
              </a:rPr>
              <a:t>21:00  7.3  Writing the paper (I): IMRaD, Methods and Results</a:t>
            </a:r>
          </a:p>
          <a:p>
            <a:pPr marL="274320" indent="-274320" algn="l">
              <a:spcBef>
                <a:spcPts val="440"/>
              </a:spcBef>
              <a:buFont typeface="Arial"/>
              <a:buChar char="•"/>
            </a:pPr>
            <a:r>
              <a:rPr lang="en-US" sz="1900" dirty="0">
                <a:solidFill>
                  <a:srgbClr val="000000"/>
                </a:solidFill>
                <a:latin typeface="Arial"/>
                <a:cs typeface="Arial"/>
              </a:rPr>
              <a:t>21:35  Manuscript workshop 1: the Results section, together then on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6 in five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crude OR (odds ratio) is 2.1. The adjusted OR is 1.4. What happened?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(hazard ratio) 0.85, 95% CI 0.60 to 1.20: a clear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is missing for 15% of patients. Name one way to handle 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Kaplan-Meier curve: what does a 'censored' patient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question you chose (Q1 to Q5): what is its main result? Answer in the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Confounding: part of the crude link came from severity</a:t>
            </a:r>
          </a:p>
          <a:p>
            <a:pPr marL="0" indent="0" algn="ctr">
              <a:lnSpc>
                <a:spcPct val="104000"/>
              </a:lnSpc>
              <a:spcBef>
                <a:spcPts val="300"/>
              </a:spcBef>
              <a:buNone/>
            </a:pPr>
            <a:r>
              <a:rPr lang="en-US" sz="1500" dirty="0">
                <a:solidFill>
                  <a:srgbClr val="000000"/>
                </a:solidFill>
                <a:latin typeface="Arial"/>
                <a:cs typeface="Arial"/>
              </a:rPr>
              <a:t>No: the CI includes 1</a:t>
            </a:r>
          </a:p>
          <a:p>
            <a:pPr marL="0" indent="0" algn="ctr">
              <a:lnSpc>
                <a:spcPct val="104000"/>
              </a:lnSpc>
              <a:spcBef>
                <a:spcPts val="300"/>
              </a:spcBef>
              <a:buNone/>
            </a:pPr>
            <a:r>
              <a:rPr lang="en-US" sz="1500" dirty="0">
                <a:solidFill>
                  <a:srgbClr val="000000"/>
                </a:solidFill>
                <a:latin typeface="Arial"/>
                <a:cs typeface="Arial"/>
              </a:rPr>
              <a:t>Complete-case analysis, or multiple imputation with a sensitivity analysis</a:t>
            </a:r>
          </a:p>
          <a:p>
            <a:pPr marL="0" indent="0" algn="ctr">
              <a:lnSpc>
                <a:spcPct val="104000"/>
              </a:lnSpc>
              <a:spcBef>
                <a:spcPts val="300"/>
              </a:spcBef>
              <a:buNone/>
            </a:pPr>
            <a:r>
              <a:rPr lang="en-US" sz="1500" dirty="0">
                <a:solidFill>
                  <a:srgbClr val="000000"/>
                </a:solidFill>
                <a:latin typeface="Arial"/>
                <a:cs typeface="Arial"/>
              </a:rPr>
              <a:t>Left the study alive. Outcome unknown after that</a:t>
            </a:r>
          </a:p>
          <a:p>
            <a:pPr marL="0" indent="0" algn="ctr">
              <a:lnSpc>
                <a:spcPct val="104000"/>
              </a:lnSpc>
              <a:spcBef>
                <a:spcPts val="300"/>
              </a:spcBef>
              <a:buNone/>
            </a:pPr>
            <a:r>
              <a:rPr lang="en-US" sz="1500" dirty="0">
                <a:solidFill>
                  <a:srgbClr val="000000"/>
                </a:solidFill>
                <a:latin typeface="Arial"/>
                <a:cs typeface="Arial"/>
              </a:rPr>
              <a:t>From your results pack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re-activated: adjustment, CIs, missing data, survival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Today: finish the proposal, start the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the course dataset: a simulated cohort of 620 adults with sepsis in 4 ICUs (Sessions 5-6).</a:t>
            </a:r>
          </a:p>
        </p:txBody>
      </p:sp>
      <p:sp>
        <p:nvSpPr>
          <p:cNvPr id="70" name="CardHead"/>
          <p:cNvSpPr/>
          <p:nvPr/>
        </p:nvSpPr>
        <p:spPr>
          <a:xfrm>
            <a:off x="457200" y="182167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1: your proposal</a:t>
            </a:r>
          </a:p>
        </p:txBody>
      </p:sp>
      <p:sp>
        <p:nvSpPr>
          <p:cNvPr id="71" name="CardBody"/>
          <p:cNvSpPr/>
          <p:nvPr/>
        </p:nvSpPr>
        <p:spPr>
          <a:xfrm>
            <a:off x="457200"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Your own question</a:t>
            </a:r>
          </a:p>
          <a:p>
            <a:pPr marL="0" indent="0" algn="ctr">
              <a:lnSpc>
                <a:spcPct val="104000"/>
              </a:lnSpc>
              <a:spcBef>
                <a:spcPts val="400"/>
              </a:spcBef>
              <a:buNone/>
            </a:pPr>
            <a:r>
              <a:rPr lang="en-US" sz="1750" dirty="0">
                <a:solidFill>
                  <a:srgbClr val="000000"/>
                </a:solidFill>
                <a:latin typeface="Arial"/>
                <a:cs typeface="Arial"/>
              </a:rPr>
              <a:t>Today: Part 4 (ethics, registration, feasibility, publication)</a:t>
            </a:r>
          </a:p>
          <a:p>
            <a:pPr marL="0" indent="0" algn="ctr">
              <a:lnSpc>
                <a:spcPct val="104000"/>
              </a:lnSpc>
              <a:spcBef>
                <a:spcPts val="400"/>
              </a:spcBef>
              <a:buNone/>
            </a:pPr>
            <a:r>
              <a:rPr lang="en-US" sz="1750" dirty="0">
                <a:solidFill>
                  <a:srgbClr val="000000"/>
                </a:solidFill>
                <a:latin typeface="Arial"/>
                <a:cs typeface="Arial"/>
              </a:rPr>
              <a:t>Session 8: submit it. About 5 people present</a:t>
            </a:r>
          </a:p>
        </p:txBody>
      </p:sp>
      <p:sp>
        <p:nvSpPr>
          <p:cNvPr id="72" name="CardHead"/>
          <p:cNvSpPr/>
          <p:nvPr/>
        </p:nvSpPr>
        <p:spPr>
          <a:xfrm>
            <a:off x="4283066" y="182167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2: your Results section</a:t>
            </a:r>
          </a:p>
        </p:txBody>
      </p:sp>
      <p:sp>
        <p:nvSpPr>
          <p:cNvPr id="73" name="CardBody"/>
          <p:cNvSpPr/>
          <p:nvPr/>
        </p:nvSpPr>
        <p:spPr>
          <a:xfrm>
            <a:off x="4283066"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Your FLUID-ICU question (Q1 to Q5)</a:t>
            </a:r>
          </a:p>
          <a:p>
            <a:pPr marL="0" indent="0" algn="ctr">
              <a:lnSpc>
                <a:spcPct val="104000"/>
              </a:lnSpc>
              <a:spcBef>
                <a:spcPts val="400"/>
              </a:spcBef>
              <a:buNone/>
            </a:pPr>
            <a:r>
              <a:rPr lang="en-US" sz="1750" dirty="0">
                <a:solidFill>
                  <a:srgbClr val="000000"/>
                </a:solidFill>
                <a:latin typeface="Arial"/>
                <a:cs typeface="Arial"/>
              </a:rPr>
              <a:t>We give the results. You write</a:t>
            </a:r>
          </a:p>
          <a:p>
            <a:pPr marL="0" indent="0" algn="ctr">
              <a:lnSpc>
                <a:spcPct val="104000"/>
              </a:lnSpc>
              <a:spcBef>
                <a:spcPts val="400"/>
              </a:spcBef>
              <a:buNone/>
            </a:pPr>
            <a:r>
              <a:rPr lang="en-US" sz="1750" dirty="0">
                <a:solidFill>
                  <a:srgbClr val="000000"/>
                </a:solidFill>
                <a:latin typeface="Arial"/>
                <a:cs typeface="Arial"/>
              </a:rPr>
              <a:t>Today: Methods, Results (live on Q1)</a:t>
            </a:r>
          </a:p>
          <a:p>
            <a:pPr marL="0" indent="0" algn="ctr">
              <a:lnSpc>
                <a:spcPct val="104000"/>
              </a:lnSpc>
              <a:spcBef>
                <a:spcPts val="400"/>
              </a:spcBef>
              <a:buNone/>
            </a:pPr>
            <a:r>
              <a:rPr lang="en-US" sz="1750" dirty="0">
                <a:solidFill>
                  <a:srgbClr val="000000"/>
                </a:solidFill>
                <a:latin typeface="Arial"/>
                <a:cs typeface="Arial"/>
              </a:rPr>
              <a:t>Session 8: Introduction, Discussion, abstract, title</a:t>
            </a:r>
          </a:p>
        </p:txBody>
      </p:sp>
      <p:sp>
        <p:nvSpPr>
          <p:cNvPr id="74" name="CardHead"/>
          <p:cNvSpPr/>
          <p:nvPr/>
        </p:nvSpPr>
        <p:spPr>
          <a:xfrm>
            <a:off x="8108932" y="182167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Our two example papers</a:t>
            </a:r>
          </a:p>
        </p:txBody>
      </p:sp>
      <p:sp>
        <p:nvSpPr>
          <p:cNvPr id="75" name="CardBody"/>
          <p:cNvSpPr/>
          <p:nvPr/>
        </p:nvSpPr>
        <p:spPr>
          <a:xfrm>
            <a:off x="8108932"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Paper 1: Boulet 2024, randomised trial, 48 patients</a:t>
            </a:r>
          </a:p>
          <a:p>
            <a:pPr marL="0" indent="0" algn="ctr">
              <a:lnSpc>
                <a:spcPct val="104000"/>
              </a:lnSpc>
              <a:spcBef>
                <a:spcPts val="400"/>
              </a:spcBef>
              <a:buNone/>
            </a:pPr>
            <a:r>
              <a:rPr lang="en-US" sz="1750" dirty="0">
                <a:solidFill>
                  <a:srgbClr val="000000"/>
                </a:solidFill>
                <a:latin typeface="Arial"/>
                <a:cs typeface="Arial"/>
              </a:rPr>
              <a:t>Paper 2: Hyun 2023, cohort, 2,516 patients</a:t>
            </a:r>
          </a:p>
          <a:p>
            <a:pPr marL="0" indent="0" algn="ctr">
              <a:lnSpc>
                <a:spcPct val="104000"/>
              </a:lnSpc>
              <a:spcBef>
                <a:spcPts val="400"/>
              </a:spcBef>
              <a:buNone/>
            </a:pPr>
            <a:r>
              <a:rPr lang="en-US" sz="1750" dirty="0">
                <a:solidFill>
                  <a:srgbClr val="000000"/>
                </a:solidFill>
                <a:latin typeface="Arial"/>
                <a:cs typeface="Arial"/>
              </a:rPr>
              <a:t>PDFs sent by email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the break: proposal Part 4. After the break: Methods and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Protocol, ethics and consent</a:t>
            </a:r>
          </a:p>
          <a:p>
            <a:pPr marL="0" indent="0" algn="ctr">
              <a:spcBef>
                <a:spcPts val="1200"/>
              </a:spcBef>
              <a:buNone/>
            </a:pPr>
            <a:r>
              <a:rPr lang="en-US" sz="1900" i="1" dirty="0">
                <a:solidFill>
                  <a:srgbClr val="595959"/>
                </a:solidFill>
                <a:latin typeface="Arial"/>
                <a:cs typeface="Arial"/>
              </a:rPr>
              <a:t>Protect the patient before the first data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protocol: your study's building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Protocol = the full written plan of a study, approved before the first patient. Trial checklist: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what</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Title page</a:t>
            </a:r>
          </a:p>
          <a:p>
            <a:pPr marL="0" indent="0" algn="ctr">
              <a:lnSpc>
                <a:spcPct val="104000"/>
              </a:lnSpc>
              <a:spcBef>
                <a:spcPts val="400"/>
              </a:spcBef>
              <a:buNone/>
            </a:pPr>
            <a:r>
              <a:rPr lang="en-US" sz="1600" dirty="0">
                <a:solidFill>
                  <a:srgbClr val="000000"/>
                </a:solidFill>
                <a:latin typeface="Arial"/>
                <a:cs typeface="Arial"/>
              </a:rPr>
              <a:t>Title, version, date</a:t>
            </a:r>
          </a:p>
          <a:p>
            <a:pPr marL="0" indent="0" algn="ctr">
              <a:lnSpc>
                <a:spcPct val="104000"/>
              </a:lnSpc>
              <a:spcBef>
                <a:spcPts val="400"/>
              </a:spcBef>
              <a:buNone/>
            </a:pPr>
            <a:r>
              <a:rPr lang="en-US" sz="1600" dirty="0">
                <a:solidFill>
                  <a:srgbClr val="000000"/>
                </a:solidFill>
                <a:latin typeface="Arial"/>
                <a:cs typeface="Arial"/>
              </a:rPr>
              <a:t>Registration number</a:t>
            </a:r>
          </a:p>
          <a:p>
            <a:pPr marL="0" indent="0" algn="ctr">
              <a:lnSpc>
                <a:spcPct val="104000"/>
              </a:lnSpc>
              <a:spcBef>
                <a:spcPts val="400"/>
              </a:spcBef>
              <a:buNone/>
            </a:pPr>
            <a:r>
              <a:rPr lang="en-US" sz="1600" dirty="0">
                <a:solidFill>
                  <a:srgbClr val="000000"/>
                </a:solidFill>
                <a:latin typeface="Arial"/>
                <a:cs typeface="Arial"/>
              </a:rPr>
              <a:t>Team, roles, funding</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Why</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 1</a:t>
            </a:r>
          </a:p>
          <a:p>
            <a:pPr marL="0" indent="0" algn="ctr">
              <a:lnSpc>
                <a:spcPct val="104000"/>
              </a:lnSpc>
              <a:spcBef>
                <a:spcPts val="400"/>
              </a:spcBef>
              <a:buNone/>
            </a:pPr>
            <a:r>
              <a:rPr lang="en-US" sz="1600" dirty="0">
                <a:solidFill>
                  <a:srgbClr val="000000"/>
                </a:solidFill>
                <a:latin typeface="Arial"/>
                <a:cs typeface="Arial"/>
              </a:rPr>
              <a:t>Problem and rationale</a:t>
            </a:r>
          </a:p>
          <a:p>
            <a:pPr marL="0" indent="0" algn="ctr">
              <a:lnSpc>
                <a:spcPct val="104000"/>
              </a:lnSpc>
              <a:spcBef>
                <a:spcPts val="400"/>
              </a:spcBef>
              <a:buNone/>
            </a:pPr>
            <a:r>
              <a:rPr lang="en-US" sz="1600" dirty="0">
                <a:solidFill>
                  <a:srgbClr val="000000"/>
                </a:solidFill>
                <a:latin typeface="Arial"/>
                <a:cs typeface="Arial"/>
              </a:rPr>
              <a:t>Question (PICO)</a:t>
            </a:r>
          </a:p>
          <a:p>
            <a:pPr marL="0" indent="0" algn="ctr">
              <a:lnSpc>
                <a:spcPct val="104000"/>
              </a:lnSpc>
              <a:spcBef>
                <a:spcPts val="400"/>
              </a:spcBef>
              <a:buNone/>
            </a:pPr>
            <a:r>
              <a:rPr lang="en-US" sz="1600" dirty="0">
                <a:solidFill>
                  <a:srgbClr val="000000"/>
                </a:solidFill>
                <a:latin typeface="Arial"/>
                <a:cs typeface="Arial"/>
              </a:rPr>
              <a:t>Aim, objectives, hypothesis</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Parts 2-3</a:t>
            </a:r>
          </a:p>
          <a:p>
            <a:pPr marL="0" indent="0" algn="ctr">
              <a:lnSpc>
                <a:spcPct val="104000"/>
              </a:lnSpc>
              <a:spcBef>
                <a:spcPts val="400"/>
              </a:spcBef>
              <a:buNone/>
            </a:pPr>
            <a:r>
              <a:rPr lang="en-US" sz="1600" dirty="0">
                <a:solidFill>
                  <a:srgbClr val="000000"/>
                </a:solidFill>
                <a:latin typeface="Arial"/>
                <a:cs typeface="Arial"/>
              </a:rPr>
              <a:t>Design, setting, participants</a:t>
            </a:r>
          </a:p>
          <a:p>
            <a:pPr marL="0" indent="0" algn="ctr">
              <a:lnSpc>
                <a:spcPct val="104000"/>
              </a:lnSpc>
              <a:spcBef>
                <a:spcPts val="400"/>
              </a:spcBef>
              <a:buNone/>
            </a:pPr>
            <a:r>
              <a:rPr lang="en-US" sz="1600" dirty="0">
                <a:solidFill>
                  <a:srgbClr val="000000"/>
                </a:solidFill>
                <a:latin typeface="Arial"/>
                <a:cs typeface="Arial"/>
              </a:rPr>
              <a:t>Exposure, outcomes</a:t>
            </a:r>
          </a:p>
          <a:p>
            <a:pPr marL="0" indent="0" algn="ctr">
              <a:lnSpc>
                <a:spcPct val="104000"/>
              </a:lnSpc>
              <a:spcBef>
                <a:spcPts val="400"/>
              </a:spcBef>
              <a:buNone/>
            </a:pPr>
            <a:r>
              <a:rPr lang="en-US" sz="1600" dirty="0">
                <a:solidFill>
                  <a:srgbClr val="000000"/>
                </a:solidFill>
                <a:latin typeface="Arial"/>
                <a:cs typeface="Arial"/>
              </a:rPr>
              <a:t>Sample size, data, analysis plan</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 and share</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 4 (today)</a:t>
            </a:r>
          </a:p>
          <a:p>
            <a:pPr marL="0" indent="0" algn="ctr">
              <a:lnSpc>
                <a:spcPct val="104000"/>
              </a:lnSpc>
              <a:spcBef>
                <a:spcPts val="400"/>
              </a:spcBef>
              <a:buNone/>
            </a:pPr>
            <a:r>
              <a:rPr lang="en-US" sz="1600" dirty="0">
                <a:solidFill>
                  <a:srgbClr val="000000"/>
                </a:solidFill>
                <a:latin typeface="Arial"/>
                <a:cs typeface="Arial"/>
              </a:rPr>
              <a:t>Ethics approval, consent</a:t>
            </a:r>
          </a:p>
          <a:p>
            <a:pPr marL="0" indent="0" algn="ctr">
              <a:lnSpc>
                <a:spcPct val="104000"/>
              </a:lnSpc>
              <a:spcBef>
                <a:spcPts val="400"/>
              </a:spcBef>
              <a:buNone/>
            </a:pPr>
            <a:r>
              <a:rPr lang="en-US" sz="1600" dirty="0">
                <a:solidFill>
                  <a:srgbClr val="000000"/>
                </a:solidFill>
                <a:latin typeface="Arial"/>
                <a:cs typeface="Arial"/>
              </a:rPr>
              <a:t>Confidentiality, data safety</a:t>
            </a:r>
          </a:p>
          <a:p>
            <a:pPr marL="0" indent="0" algn="ctr">
              <a:lnSpc>
                <a:spcPct val="104000"/>
              </a:lnSpc>
              <a:spcBef>
                <a:spcPts val="400"/>
              </a:spcBef>
              <a:buNone/>
            </a:pPr>
            <a:r>
              <a:rPr lang="en-US" sz="1600" dirty="0">
                <a:solidFill>
                  <a:srgbClr val="000000"/>
                </a:solidFill>
                <a:latin typeface="Arial"/>
                <a:cs typeface="Arial"/>
              </a:rPr>
              <a:t>Publication plan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four proposal parts are the skeleton of a protocol.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rule books: Helsinki and Good Clinical Practice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Declaration of Helsinki (World Medical Association,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Participants' rights and well-being first</a:t>
            </a:r>
          </a:p>
          <a:p>
            <a:pPr marL="274320" indent="-274320" algn="l">
              <a:lnSpc>
                <a:spcPct val="104000"/>
              </a:lnSpc>
              <a:spcBef>
                <a:spcPts val="400"/>
              </a:spcBef>
              <a:buFont typeface="Arial"/>
              <a:buChar char="•"/>
            </a:pPr>
            <a:r>
              <a:rPr lang="en-US" sz="1750" dirty="0">
                <a:solidFill>
                  <a:srgbClr val="000000"/>
                </a:solidFill>
                <a:latin typeface="Arial"/>
                <a:cs typeface="Arial"/>
              </a:rPr>
              <a:t>Protocol approved by an ethics committee</a:t>
            </a:r>
          </a:p>
          <a:p>
            <a:pPr marL="274320" indent="-274320" algn="l">
              <a:lnSpc>
                <a:spcPct val="104000"/>
              </a:lnSpc>
              <a:spcBef>
                <a:spcPts val="400"/>
              </a:spcBef>
              <a:buFont typeface="Arial"/>
              <a:buChar char="•"/>
            </a:pPr>
            <a:r>
              <a:rPr lang="en-US" sz="1750" dirty="0">
                <a:solidFill>
                  <a:srgbClr val="000000"/>
                </a:solidFill>
                <a:latin typeface="Arial"/>
                <a:cs typeface="Arial"/>
              </a:rPr>
              <a:t>Free, informed consent</a:t>
            </a:r>
          </a:p>
          <a:p>
            <a:pPr marL="274320" indent="-274320" algn="l">
              <a:lnSpc>
                <a:spcPct val="104000"/>
              </a:lnSpc>
              <a:spcBef>
                <a:spcPts val="400"/>
              </a:spcBef>
              <a:buFont typeface="Arial"/>
              <a:buChar char="•"/>
            </a:pPr>
            <a:r>
              <a:rPr lang="en-US" sz="1750" dirty="0">
                <a:solidFill>
                  <a:srgbClr val="000000"/>
                </a:solidFill>
                <a:latin typeface="Arial"/>
                <a:cs typeface="Arial"/>
              </a:rPr>
              <a:t>Risks minimised and justified</a:t>
            </a:r>
          </a:p>
          <a:p>
            <a:pPr marL="274320" indent="-274320" algn="l">
              <a:lnSpc>
                <a:spcPct val="104000"/>
              </a:lnSpc>
              <a:spcBef>
                <a:spcPts val="400"/>
              </a:spcBef>
              <a:buFont typeface="Arial"/>
              <a:buChar char="•"/>
            </a:pPr>
            <a:r>
              <a:rPr lang="en-US" sz="1750" dirty="0">
                <a:solidFill>
                  <a:srgbClr val="000000"/>
                </a:solidFill>
                <a:latin typeface="Arial"/>
                <a:cs typeface="Arial"/>
              </a:rPr>
              <a:t>Privacy and confidentiality</a:t>
            </a:r>
          </a:p>
          <a:p>
            <a:pPr marL="274320" indent="-274320" algn="l">
              <a:lnSpc>
                <a:spcPct val="104000"/>
              </a:lnSpc>
              <a:spcBef>
                <a:spcPts val="400"/>
              </a:spcBef>
              <a:buFont typeface="Arial"/>
              <a:buChar char="•"/>
            </a:pPr>
            <a:r>
              <a:rPr lang="en-US" sz="1750" dirty="0">
                <a:solidFill>
                  <a:srgbClr val="000000"/>
                </a:solidFill>
                <a:latin typeface="Arial"/>
                <a:cs typeface="Arial"/>
              </a:rPr>
              <a:t>Register first, publish all results</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Good Clinical Practice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Qualified, trained team</a:t>
            </a:r>
          </a:p>
          <a:p>
            <a:pPr marL="274320" indent="-274320" algn="l">
              <a:lnSpc>
                <a:spcPct val="104000"/>
              </a:lnSpc>
              <a:spcBef>
                <a:spcPts val="400"/>
              </a:spcBef>
              <a:buFont typeface="Arial"/>
              <a:buChar char="•"/>
            </a:pPr>
            <a:r>
              <a:rPr lang="en-US" sz="1750" dirty="0">
                <a:solidFill>
                  <a:srgbClr val="000000"/>
                </a:solidFill>
                <a:latin typeface="Arial"/>
                <a:cs typeface="Arial"/>
              </a:rPr>
              <a:t>Quality built in by design</a:t>
            </a:r>
          </a:p>
          <a:p>
            <a:pPr marL="274320" indent="-274320" algn="l">
              <a:lnSpc>
                <a:spcPct val="104000"/>
              </a:lnSpc>
              <a:spcBef>
                <a:spcPts val="400"/>
              </a:spcBef>
              <a:buFont typeface="Arial"/>
              <a:buChar char="•"/>
            </a:pPr>
            <a:r>
              <a:rPr lang="en-US" sz="1750" dirty="0">
                <a:solidFill>
                  <a:srgbClr val="000000"/>
                </a:solidFill>
                <a:latin typeface="Arial"/>
                <a:cs typeface="Arial"/>
              </a:rPr>
              <a:t>Clear, feasible protocol</a:t>
            </a:r>
          </a:p>
          <a:p>
            <a:pPr marL="274320" indent="-274320" algn="l">
              <a:lnSpc>
                <a:spcPct val="104000"/>
              </a:lnSpc>
              <a:spcBef>
                <a:spcPts val="400"/>
              </a:spcBef>
              <a:buFont typeface="Arial"/>
              <a:buChar char="•"/>
            </a:pPr>
            <a:r>
              <a:rPr lang="en-US" sz="1750" dirty="0">
                <a:solidFill>
                  <a:srgbClr val="000000"/>
                </a:solidFill>
                <a:latin typeface="Arial"/>
                <a:cs typeface="Arial"/>
              </a:rPr>
              <a:t>Checks in proportion to the risk</a:t>
            </a:r>
          </a:p>
          <a:p>
            <a:pPr marL="274320" indent="-274320" algn="l">
              <a:lnSpc>
                <a:spcPct val="104000"/>
              </a:lnSpc>
              <a:spcBef>
                <a:spcPts val="400"/>
              </a:spcBef>
              <a:buFont typeface="Arial"/>
              <a:buChar char="•"/>
            </a:pPr>
            <a:r>
              <a:rPr lang="en-US" sz="1750" dirty="0">
                <a:solidFill>
                  <a:srgbClr val="000000"/>
                </a:solidFill>
                <a:latin typeface="Arial"/>
                <a:cs typeface="Arial"/>
              </a:rPr>
              <a:t>Reliable, traceable data</a:t>
            </a:r>
          </a:p>
          <a:p>
            <a:pPr marL="274320" indent="-274320" algn="l">
              <a:lnSpc>
                <a:spcPct val="104000"/>
              </a:lnSpc>
              <a:spcBef>
                <a:spcPts val="400"/>
              </a:spcBef>
              <a:buFont typeface="Arial"/>
              <a:buChar char="•"/>
            </a:pPr>
            <a:r>
              <a:rPr lang="en-US" sz="1750" dirty="0">
                <a:solidFill>
                  <a:srgbClr val="000000"/>
                </a:solidFill>
                <a:latin typeface="Arial"/>
                <a:cs typeface="Arial"/>
              </a:rPr>
              <a:t>Clear roles and responsibilities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Helsinki says why we protect participants. GCP says how we run a trial well.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ethics-committee journey: approval before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Plan 1 to 3 months. Questions and revisions from the committee are normal.</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Prepare</a:t>
            </a:r>
          </a:p>
        </p:txBody>
      </p:sp>
      <p:sp>
        <p:nvSpPr>
          <p:cNvPr id="81" name="StepText"/>
          <p:cNvSpPr/>
          <p:nvPr/>
        </p:nvSpPr>
        <p:spPr>
          <a:xfrm>
            <a:off x="4972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Protocol</a:t>
            </a:r>
          </a:p>
          <a:p>
            <a:pPr marL="0" indent="0" algn="ctr">
              <a:lnSpc>
                <a:spcPct val="104000"/>
              </a:lnSpc>
              <a:spcBef>
                <a:spcPts val="200"/>
              </a:spcBef>
              <a:buNone/>
            </a:pPr>
            <a:r>
              <a:rPr lang="en-US" sz="1500" dirty="0">
                <a:solidFill>
                  <a:srgbClr val="000000"/>
                </a:solidFill>
                <a:latin typeface="Arial"/>
                <a:cs typeface="Arial"/>
              </a:rPr>
              <a:t>Consent form</a:t>
            </a:r>
          </a:p>
          <a:p>
            <a:pPr marL="0" indent="0" algn="ctr">
              <a:lnSpc>
                <a:spcPct val="104000"/>
              </a:lnSpc>
              <a:spcBef>
                <a:spcPts val="200"/>
              </a:spcBef>
              <a:buNone/>
            </a:pPr>
            <a:r>
              <a:rPr lang="en-US" sz="1500" dirty="0">
                <a:solidFill>
                  <a:srgbClr val="000000"/>
                </a:solidFill>
                <a:latin typeface="Arial"/>
                <a:cs typeface="Arial"/>
              </a:rPr>
              <a:t>Case report form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a:t>
            </a:r>
          </a:p>
        </p:txBody>
      </p:sp>
      <p:sp>
        <p:nvSpPr>
          <p:cNvPr id="83" name="StepText"/>
          <p:cNvSpPr/>
          <p:nvPr/>
        </p:nvSpPr>
        <p:spPr>
          <a:xfrm>
            <a:off x="23668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Scientific or department review first</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5" name="StepText"/>
          <p:cNvSpPr/>
          <p:nvPr/>
        </p:nvSpPr>
        <p:spPr>
          <a:xfrm>
            <a:off x="42364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Dossier to the research ethics committee</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Decide</a:t>
            </a:r>
          </a:p>
        </p:txBody>
      </p:sp>
      <p:sp>
        <p:nvSpPr>
          <p:cNvPr id="87" name="StepText"/>
          <p:cNvSpPr/>
          <p:nvPr/>
        </p:nvSpPr>
        <p:spPr>
          <a:xfrm>
            <a:off x="61060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Exempt, expedited or full committee</a:t>
            </a:r>
          </a:p>
          <a:p>
            <a:pPr marL="0" indent="0" algn="ctr">
              <a:lnSpc>
                <a:spcPct val="104000"/>
              </a:lnSpc>
              <a:spcBef>
                <a:spcPts val="200"/>
              </a:spcBef>
              <a:buNone/>
            </a:pPr>
            <a:r>
              <a:rPr lang="en-US" sz="1500" dirty="0">
                <a:solidFill>
                  <a:srgbClr val="000000"/>
                </a:solidFill>
                <a:latin typeface="Arial"/>
                <a:cs typeface="Arial"/>
              </a:rPr>
              <a:t>The committee decides</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Approve</a:t>
            </a:r>
          </a:p>
        </p:txBody>
      </p:sp>
      <p:sp>
        <p:nvSpPr>
          <p:cNvPr id="89" name="StepText"/>
          <p:cNvSpPr/>
          <p:nvPr/>
        </p:nvSpPr>
        <p:spPr>
          <a:xfrm>
            <a:off x="79756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Approval letter with number and date</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Start</a:t>
            </a:r>
          </a:p>
        </p:txBody>
      </p:sp>
      <p:sp>
        <p:nvSpPr>
          <p:cNvPr id="91" name="StepText"/>
          <p:cNvSpPr/>
          <p:nvPr/>
        </p:nvSpPr>
        <p:spPr>
          <a:xfrm>
            <a:off x="98452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Trials: register first</a:t>
            </a:r>
          </a:p>
          <a:p>
            <a:pPr marL="0" indent="0" algn="ctr">
              <a:lnSpc>
                <a:spcPct val="104000"/>
              </a:lnSpc>
              <a:spcBef>
                <a:spcPts val="200"/>
              </a:spcBef>
              <a:buNone/>
            </a:pPr>
            <a:r>
              <a:rPr lang="en-US" sz="1500" dirty="0">
                <a:solidFill>
                  <a:srgbClr val="000000"/>
                </a:solidFill>
                <a:latin typeface="Arial"/>
                <a:cs typeface="Arial"/>
              </a:rPr>
              <a:t>Then the first patient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 approval letter, no data collection: not even 'just a few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Register before the first participant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order: protocol, ethics approval, registration, first participant.</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Clinical trials</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C0392B"/>
                </a:solidFill>
                <a:latin typeface="Arial"/>
                <a:cs typeface="Arial"/>
              </a:rPr>
              <a:t>Mandatory</a:t>
            </a:r>
          </a:p>
          <a:p>
            <a:pPr marL="0" indent="0" algn="ctr">
              <a:lnSpc>
                <a:spcPct val="104000"/>
              </a:lnSpc>
              <a:spcBef>
                <a:spcPts val="400"/>
              </a:spcBef>
              <a:buNone/>
            </a:pPr>
            <a:r>
              <a:rPr lang="en-US" sz="1750" dirty="0">
                <a:solidFill>
                  <a:srgbClr val="000000"/>
                </a:solidFill>
                <a:latin typeface="Arial"/>
                <a:cs typeface="Arial"/>
              </a:rPr>
              <a:t>ClinicalTrials.gov or another who primary registry</a:t>
            </a:r>
          </a:p>
          <a:p>
            <a:pPr marL="0" indent="0" algn="ctr">
              <a:lnSpc>
                <a:spcPct val="104000"/>
              </a:lnSpc>
              <a:spcBef>
                <a:spcPts val="400"/>
              </a:spcBef>
              <a:buNone/>
            </a:pPr>
            <a:r>
              <a:rPr lang="en-US" sz="1750" dirty="0">
                <a:solidFill>
                  <a:srgbClr val="000000"/>
                </a:solidFill>
                <a:latin typeface="Arial"/>
                <a:cs typeface="Arial"/>
              </a:rPr>
              <a:t>Paper 1: registered 1 July 2021, first patient September 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Systematic reviews</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D9822B"/>
                </a:solidFill>
                <a:latin typeface="Arial"/>
                <a:cs typeface="Arial"/>
              </a:rPr>
              <a:t>Expected</a:t>
            </a:r>
          </a:p>
          <a:p>
            <a:pPr marL="0" indent="0" algn="ctr">
              <a:lnSpc>
                <a:spcPct val="104000"/>
              </a:lnSpc>
              <a:spcBef>
                <a:spcPts val="400"/>
              </a:spcBef>
              <a:buNone/>
            </a:pPr>
            <a:r>
              <a:rPr lang="en-US" sz="1750" dirty="0">
                <a:solidFill>
                  <a:srgbClr val="000000"/>
                </a:solidFill>
                <a:latin typeface="Arial"/>
                <a:cs typeface="Arial"/>
              </a:rPr>
              <a:t>PROSPERO, the register for review protocols</a:t>
            </a:r>
          </a:p>
          <a:p>
            <a:pPr marL="0" indent="0" algn="ctr">
              <a:lnSpc>
                <a:spcPct val="104000"/>
              </a:lnSpc>
              <a:spcBef>
                <a:spcPts val="400"/>
              </a:spcBef>
              <a:buNone/>
            </a:pPr>
            <a:r>
              <a:rPr lang="en-US" sz="1750" dirty="0">
                <a:solidFill>
                  <a:srgbClr val="000000"/>
                </a:solidFill>
                <a:latin typeface="Arial"/>
                <a:cs typeface="Arial"/>
              </a:rPr>
              <a:t>Before data extraction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Observational studies</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Recommended</a:t>
            </a:r>
          </a:p>
          <a:p>
            <a:pPr marL="0" indent="0" algn="ctr">
              <a:lnSpc>
                <a:spcPct val="104000"/>
              </a:lnSpc>
              <a:spcBef>
                <a:spcPts val="400"/>
              </a:spcBef>
              <a:buNone/>
            </a:pPr>
            <a:r>
              <a:rPr lang="en-US" sz="1750" dirty="0">
                <a:solidFill>
                  <a:srgbClr val="000000"/>
                </a:solidFill>
                <a:latin typeface="Arial"/>
                <a:cs typeface="Arial"/>
              </a:rPr>
              <a:t>For example on ClinicalTrials.gov</a:t>
            </a:r>
          </a:p>
          <a:p>
            <a:pPr marL="0" indent="0" algn="ctr">
              <a:lnSpc>
                <a:spcPct val="104000"/>
              </a:lnSpc>
              <a:spcBef>
                <a:spcPts val="400"/>
              </a:spcBef>
              <a:buNone/>
            </a:pPr>
            <a:r>
              <a:rPr lang="en-US" sz="1750" dirty="0">
                <a:solidFill>
                  <a:srgbClr val="000000"/>
                </a:solidFill>
                <a:latin typeface="Arial"/>
                <a:cs typeface="Arial"/>
              </a:rPr>
              <a:t>Check the journal and local rules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Trials: no registration before the first patient, no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Informed consent: four essentials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Consent is a conversation, not a signature.</a:t>
            </a:r>
          </a:p>
        </p:txBody>
      </p:sp>
      <p:sp>
        <p:nvSpPr>
          <p:cNvPr id="70" name="CardHead"/>
          <p:cNvSpPr/>
          <p:nvPr/>
        </p:nvSpPr>
        <p:spPr>
          <a:xfrm>
            <a:off x="457200" y="19566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Informed</a:t>
            </a:r>
          </a:p>
        </p:txBody>
      </p:sp>
      <p:sp>
        <p:nvSpPr>
          <p:cNvPr id="71" name="CardBody"/>
          <p:cNvSpPr/>
          <p:nvPr/>
        </p:nvSpPr>
        <p:spPr>
          <a:xfrm>
            <a:off x="4572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Purpose and what will happen</a:t>
            </a:r>
          </a:p>
          <a:p>
            <a:pPr marL="0" indent="0" algn="ctr">
              <a:lnSpc>
                <a:spcPct val="104000"/>
              </a:lnSpc>
              <a:spcBef>
                <a:spcPts val="400"/>
              </a:spcBef>
              <a:buNone/>
            </a:pPr>
            <a:r>
              <a:rPr lang="en-US" sz="1600" dirty="0">
                <a:solidFill>
                  <a:srgbClr val="000000"/>
                </a:solidFill>
                <a:latin typeface="Arial"/>
                <a:cs typeface="Arial"/>
              </a:rPr>
              <a:t>Risks, benefits, alternatives</a:t>
            </a:r>
          </a:p>
          <a:p>
            <a:pPr marL="0" indent="0" algn="ctr">
              <a:lnSpc>
                <a:spcPct val="104000"/>
              </a:lnSpc>
              <a:spcBef>
                <a:spcPts val="400"/>
              </a:spcBef>
              <a:buNone/>
            </a:pPr>
            <a:r>
              <a:rPr lang="en-US" sz="1600" dirty="0">
                <a:solidFill>
                  <a:srgbClr val="000000"/>
                </a:solidFill>
                <a:latin typeface="Arial"/>
                <a:cs typeface="Arial"/>
              </a:rPr>
              <a:t>How data are protected</a:t>
            </a:r>
          </a:p>
          <a:p>
            <a:pPr marL="0" indent="0" algn="ctr">
              <a:lnSpc>
                <a:spcPct val="104000"/>
              </a:lnSpc>
              <a:spcBef>
                <a:spcPts val="400"/>
              </a:spcBef>
              <a:buNone/>
            </a:pPr>
            <a:r>
              <a:rPr lang="en-US" sz="1600" dirty="0">
                <a:solidFill>
                  <a:srgbClr val="000000"/>
                </a:solidFill>
                <a:latin typeface="Arial"/>
                <a:cs typeface="Arial"/>
              </a:rPr>
              <a:t>Who to contact</a:t>
            </a:r>
          </a:p>
        </p:txBody>
      </p:sp>
      <p:sp>
        <p:nvSpPr>
          <p:cNvPr id="72" name="CardHead"/>
          <p:cNvSpPr/>
          <p:nvPr/>
        </p:nvSpPr>
        <p:spPr>
          <a:xfrm>
            <a:off x="3326600" y="19566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Understood</a:t>
            </a:r>
          </a:p>
        </p:txBody>
      </p:sp>
      <p:sp>
        <p:nvSpPr>
          <p:cNvPr id="73" name="CardBody"/>
          <p:cNvSpPr/>
          <p:nvPr/>
        </p:nvSpPr>
        <p:spPr>
          <a:xfrm>
            <a:off x="33266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Plain, local language</a:t>
            </a:r>
          </a:p>
          <a:p>
            <a:pPr marL="0" indent="0" algn="ctr">
              <a:lnSpc>
                <a:spcPct val="104000"/>
              </a:lnSpc>
              <a:spcBef>
                <a:spcPts val="400"/>
              </a:spcBef>
              <a:buNone/>
            </a:pPr>
            <a:r>
              <a:rPr lang="en-US" sz="1600" dirty="0">
                <a:solidFill>
                  <a:srgbClr val="000000"/>
                </a:solidFill>
                <a:latin typeface="Arial"/>
                <a:cs typeface="Arial"/>
              </a:rPr>
              <a:t>Time to ask questions</a:t>
            </a:r>
          </a:p>
          <a:p>
            <a:pPr marL="0" indent="0" algn="ctr">
              <a:lnSpc>
                <a:spcPct val="104000"/>
              </a:lnSpc>
              <a:spcBef>
                <a:spcPts val="400"/>
              </a:spcBef>
              <a:buNone/>
            </a:pPr>
            <a:r>
              <a:rPr lang="en-US" sz="1600" dirty="0">
                <a:solidFill>
                  <a:srgbClr val="000000"/>
                </a:solidFill>
                <a:latin typeface="Arial"/>
                <a:cs typeface="Arial"/>
              </a:rPr>
              <a:t>Teach-back: 'tell me in your words'</a:t>
            </a:r>
          </a:p>
        </p:txBody>
      </p:sp>
      <p:sp>
        <p:nvSpPr>
          <p:cNvPr id="74" name="CardHead"/>
          <p:cNvSpPr/>
          <p:nvPr/>
        </p:nvSpPr>
        <p:spPr>
          <a:xfrm>
            <a:off x="6196000" y="19566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Voluntary</a:t>
            </a:r>
          </a:p>
        </p:txBody>
      </p:sp>
      <p:sp>
        <p:nvSpPr>
          <p:cNvPr id="75" name="CardBody"/>
          <p:cNvSpPr/>
          <p:nvPr/>
        </p:nvSpPr>
        <p:spPr>
          <a:xfrm>
            <a:off x="61960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No pressure</a:t>
            </a:r>
          </a:p>
          <a:p>
            <a:pPr marL="0" indent="0" algn="ctr">
              <a:lnSpc>
                <a:spcPct val="104000"/>
              </a:lnSpc>
              <a:spcBef>
                <a:spcPts val="400"/>
              </a:spcBef>
              <a:buNone/>
            </a:pPr>
            <a:r>
              <a:rPr lang="en-US" sz="1600" dirty="0">
                <a:solidFill>
                  <a:srgbClr val="000000"/>
                </a:solidFill>
                <a:latin typeface="Arial"/>
                <a:cs typeface="Arial"/>
              </a:rPr>
              <a:t>Free to refuse or withdraw</a:t>
            </a:r>
          </a:p>
          <a:p>
            <a:pPr marL="0" indent="0" algn="ctr">
              <a:lnSpc>
                <a:spcPct val="104000"/>
              </a:lnSpc>
              <a:spcBef>
                <a:spcPts val="400"/>
              </a:spcBef>
              <a:buNone/>
            </a:pPr>
            <a:r>
              <a:rPr lang="en-US" sz="1600" dirty="0">
                <a:solidFill>
                  <a:srgbClr val="000000"/>
                </a:solidFill>
                <a:latin typeface="Arial"/>
                <a:cs typeface="Arial"/>
              </a:rPr>
              <a:t>Care is not affected</a:t>
            </a:r>
          </a:p>
        </p:txBody>
      </p:sp>
      <p:sp>
        <p:nvSpPr>
          <p:cNvPr id="76" name="CardHead"/>
          <p:cNvSpPr/>
          <p:nvPr/>
        </p:nvSpPr>
        <p:spPr>
          <a:xfrm>
            <a:off x="9065400" y="19566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Documented</a:t>
            </a:r>
          </a:p>
        </p:txBody>
      </p:sp>
      <p:sp>
        <p:nvSpPr>
          <p:cNvPr id="77" name="CardBody"/>
          <p:cNvSpPr/>
          <p:nvPr/>
        </p:nvSpPr>
        <p:spPr>
          <a:xfrm>
            <a:off x="90654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Signed and dated form</a:t>
            </a:r>
          </a:p>
          <a:p>
            <a:pPr marL="0" indent="0" algn="ctr">
              <a:lnSpc>
                <a:spcPct val="104000"/>
              </a:lnSpc>
              <a:spcBef>
                <a:spcPts val="400"/>
              </a:spcBef>
              <a:buNone/>
            </a:pPr>
            <a:r>
              <a:rPr lang="en-US" sz="1600" dirty="0">
                <a:solidFill>
                  <a:srgbClr val="000000"/>
                </a:solidFill>
                <a:latin typeface="Arial"/>
                <a:cs typeface="Arial"/>
              </a:rPr>
              <a:t>A copy for the participant</a:t>
            </a:r>
          </a:p>
          <a:p>
            <a:pPr marL="0" indent="0" algn="ctr">
              <a:lnSpc>
                <a:spcPct val="104000"/>
              </a:lnSpc>
              <a:spcBef>
                <a:spcPts val="400"/>
              </a:spcBef>
              <a:buNone/>
            </a:pPr>
            <a:r>
              <a:rPr lang="en-US" sz="1600" dirty="0">
                <a:solidFill>
                  <a:srgbClr val="000000"/>
                </a:solidFill>
                <a:latin typeface="Arial"/>
                <a:cs typeface="Arial"/>
              </a:rPr>
              <a:t>Re-consent if the study changes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patient cannot explain the study back to you, consent is not informed.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Consent in the ICU: when the patient cannot decide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Patient, then legal representative, then deferred consent (only if approved).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who consents for these three ICU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Walk each patient through the flowchart on the previous slide.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A, 54</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Pneumonia, awake, oriented</a:t>
            </a:r>
          </a:p>
          <a:p>
            <a:pPr marL="0" indent="0" algn="ctr">
              <a:lnSpc>
                <a:spcPct val="104000"/>
              </a:lnSpc>
              <a:spcBef>
                <a:spcPts val="400"/>
              </a:spcBef>
              <a:buNone/>
            </a:pPr>
            <a:r>
              <a:rPr lang="en-US" sz="1750" dirty="0">
                <a:solidFill>
                  <a:srgbClr val="000000"/>
                </a:solidFill>
                <a:latin typeface="Arial"/>
                <a:cs typeface="Arial"/>
              </a:rPr>
              <a:t>Eligible for a fluid trial</a:t>
            </a:r>
          </a:p>
          <a:p>
            <a:pPr marL="0" indent="0" algn="ctr">
              <a:lnSpc>
                <a:spcPct val="104000"/>
              </a:lnSpc>
              <a:spcBef>
                <a:spcPts val="400"/>
              </a:spcBef>
              <a:buNone/>
            </a:pPr>
            <a:r>
              <a:rPr lang="en-US" sz="1750" b="1" dirty="0">
                <a:solidFill>
                  <a:srgbClr val="2E8B57"/>
                </a:solidFill>
                <a:latin typeface="Arial"/>
                <a:cs typeface="Arial"/>
              </a:rPr>
              <a:t>Patient consents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Mrs B, 71</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Septic shock, sedated</a:t>
            </a:r>
          </a:p>
          <a:p>
            <a:pPr marL="0" indent="0" algn="ctr">
              <a:lnSpc>
                <a:spcPct val="104000"/>
              </a:lnSpc>
              <a:spcBef>
                <a:spcPts val="400"/>
              </a:spcBef>
              <a:buNone/>
            </a:pPr>
            <a:r>
              <a:rPr lang="en-US" sz="1750" dirty="0">
                <a:solidFill>
                  <a:srgbClr val="000000"/>
                </a:solidFill>
                <a:latin typeface="Arial"/>
                <a:cs typeface="Arial"/>
              </a:rPr>
              <a:t>Daughter at the bedside</a:t>
            </a:r>
          </a:p>
          <a:p>
            <a:pPr marL="0" indent="0" algn="ctr">
              <a:lnSpc>
                <a:spcPct val="104000"/>
              </a:lnSpc>
              <a:spcBef>
                <a:spcPts val="400"/>
              </a:spcBef>
              <a:buNone/>
            </a:pPr>
            <a:r>
              <a:rPr lang="en-US" sz="1750" b="1" dirty="0">
                <a:solidFill>
                  <a:srgbClr val="2E8B57"/>
                </a:solidFill>
                <a:latin typeface="Arial"/>
                <a:cs typeface="Arial"/>
              </a:rPr>
              <a:t>Representative consents. Ask Mrs B when awake</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C, 38</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Septic shock at 03:00, no family yet</a:t>
            </a:r>
          </a:p>
          <a:p>
            <a:pPr marL="0" indent="0" algn="ctr">
              <a:lnSpc>
                <a:spcPct val="104000"/>
              </a:lnSpc>
              <a:spcBef>
                <a:spcPts val="400"/>
              </a:spcBef>
              <a:buNone/>
            </a:pPr>
            <a:r>
              <a:rPr lang="en-US" sz="1750" dirty="0">
                <a:solidFill>
                  <a:srgbClr val="000000"/>
                </a:solidFill>
                <a:latin typeface="Arial"/>
                <a:cs typeface="Arial"/>
              </a:rPr>
              <a:t>Treatment cannot wait, committee approved</a:t>
            </a:r>
          </a:p>
          <a:p>
            <a:pPr marL="0" indent="0" algn="ctr">
              <a:lnSpc>
                <a:spcPct val="104000"/>
              </a:lnSpc>
              <a:spcBef>
                <a:spcPts val="400"/>
              </a:spcBef>
              <a:buNone/>
            </a:pPr>
            <a:r>
              <a:rPr lang="en-US" sz="1750" b="1" dirty="0">
                <a:solidFill>
                  <a:srgbClr val="D9822B"/>
                </a:solidFill>
                <a:latin typeface="Arial"/>
                <a:cs typeface="Arial"/>
              </a:rPr>
              <a:t>Deferred consent: ask as soon as possible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pathway and the timing are written in the protocol before patient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Confidentiality: de-identify before you analyse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Before: identifiable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After: de-identified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Name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Study code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Hospital number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Removed</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Date of birth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Age 68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Admission date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Month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Names stay on the ward. Only study codes travel. The key file (code = identity) is locked and kept separately. Beware very small groups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ethics paragraph for a cohort like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simulated. If it were real, this is what the paper would say.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Approval</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Ethics committee of each ICU</a:t>
            </a:r>
          </a:p>
          <a:p>
            <a:pPr marL="0" indent="0" algn="ctr">
              <a:lnSpc>
                <a:spcPct val="104000"/>
              </a:lnSpc>
              <a:spcBef>
                <a:spcPts val="400"/>
              </a:spcBef>
              <a:buNone/>
            </a:pPr>
            <a:r>
              <a:rPr lang="en-US" sz="1600" dirty="0">
                <a:solidFill>
                  <a:srgbClr val="000000"/>
                </a:solidFill>
                <a:latin typeface="Arial"/>
                <a:cs typeface="Arial"/>
              </a:rPr>
              <a:t>Approval number and date</a:t>
            </a:r>
          </a:p>
          <a:p>
            <a:pPr marL="0" indent="0" algn="ctr">
              <a:lnSpc>
                <a:spcPct val="104000"/>
              </a:lnSpc>
              <a:spcBef>
                <a:spcPts val="400"/>
              </a:spcBef>
              <a:buNone/>
            </a:pPr>
            <a:r>
              <a:rPr lang="en-US" sz="1600" dirty="0">
                <a:solidFill>
                  <a:srgbClr val="000000"/>
                </a:solidFill>
                <a:latin typeface="Arial"/>
                <a:cs typeface="Arial"/>
              </a:rPr>
              <a:t>Before data collection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Consent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Routine data, minimal risk</a:t>
            </a:r>
          </a:p>
          <a:p>
            <a:pPr marL="0" indent="0" algn="ctr">
              <a:lnSpc>
                <a:spcPct val="104000"/>
              </a:lnSpc>
              <a:spcBef>
                <a:spcPts val="400"/>
              </a:spcBef>
              <a:buNone/>
            </a:pPr>
            <a:r>
              <a:rPr lang="en-US" sz="1600" dirty="0">
                <a:solidFill>
                  <a:srgbClr val="000000"/>
                </a:solidFill>
                <a:latin typeface="Arial"/>
                <a:cs typeface="Arial"/>
              </a:rPr>
              <a:t>Committee may waive consent (as in Paper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Confidentiality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Study codes only</a:t>
            </a:r>
          </a:p>
          <a:p>
            <a:pPr marL="0" indent="0" algn="ctr">
              <a:lnSpc>
                <a:spcPct val="104000"/>
              </a:lnSpc>
              <a:spcBef>
                <a:spcPts val="400"/>
              </a:spcBef>
              <a:buNone/>
            </a:pPr>
            <a:r>
              <a:rPr lang="en-US" sz="1600" dirty="0">
                <a:solidFill>
                  <a:srgbClr val="000000"/>
                </a:solidFill>
                <a:latin typeface="Arial"/>
                <a:cs typeface="Arial"/>
              </a:rPr>
              <a:t>Key file kept in each ICU</a:t>
            </a:r>
          </a:p>
          <a:p>
            <a:pPr marL="0" indent="0" algn="ctr">
              <a:lnSpc>
                <a:spcPct val="104000"/>
              </a:lnSpc>
              <a:spcBef>
                <a:spcPts val="400"/>
              </a:spcBef>
              <a:buNone/>
            </a:pPr>
            <a:r>
              <a:rPr lang="en-US" sz="1600" dirty="0">
                <a:solidFill>
                  <a:srgbClr val="000000"/>
                </a:solidFill>
                <a:latin typeface="Arial"/>
                <a:cs typeface="Arial"/>
              </a:rPr>
              <a:t>Data de-identified before analysis</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Registration and sharing</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Registration recommended</a:t>
            </a:r>
          </a:p>
          <a:p>
            <a:pPr marL="0" indent="0" algn="ctr">
              <a:lnSpc>
                <a:spcPct val="104000"/>
              </a:lnSpc>
              <a:spcBef>
                <a:spcPts val="400"/>
              </a:spcBef>
              <a:buNone/>
            </a:pPr>
            <a:r>
              <a:rPr lang="en-US" sz="1600" dirty="0">
                <a:solidFill>
                  <a:srgbClr val="000000"/>
                </a:solidFill>
                <a:latin typeface="Arial"/>
                <a:cs typeface="Arial"/>
              </a:rPr>
              <a:t>Data-sharing statement</a:t>
            </a:r>
          </a:p>
          <a:p>
            <a:pPr marL="0" indent="0" algn="ctr">
              <a:lnSpc>
                <a:spcPct val="104000"/>
              </a:lnSpc>
              <a:spcBef>
                <a:spcPts val="400"/>
              </a:spcBef>
              <a:buNone/>
            </a:pPr>
            <a:r>
              <a:rPr lang="en-US" sz="1600" dirty="0">
                <a:solidFill>
                  <a:srgbClr val="000000"/>
                </a:solidFill>
                <a:latin typeface="Arial"/>
                <a:cs typeface="Arial"/>
              </a:rPr>
              <a:t>Data dictionary shared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manuscript's ethics paragraph answers four questions in four sentences.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Feasibility: five honest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Timeline</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Ethics alone: 1 to 3 months</a:t>
            </a:r>
          </a:p>
          <a:p>
            <a:pPr marL="0" indent="0" algn="ctr">
              <a:lnSpc>
                <a:spcPct val="104000"/>
              </a:lnSpc>
              <a:spcBef>
                <a:spcPts val="400"/>
              </a:spcBef>
              <a:buNone/>
            </a:pPr>
            <a:r>
              <a:rPr lang="en-US" sz="1450" dirty="0">
                <a:solidFill>
                  <a:srgbClr val="000000"/>
                </a:solidFill>
                <a:latin typeface="Arial"/>
                <a:cs typeface="Arial"/>
              </a:rPr>
              <a:t>Recruitment takes longer than planned</a:t>
            </a:r>
          </a:p>
          <a:p>
            <a:pPr marL="0" indent="0" algn="ctr">
              <a:lnSpc>
                <a:spcPct val="104000"/>
              </a:lnSpc>
              <a:spcBef>
                <a:spcPts val="400"/>
              </a:spcBef>
              <a:buNone/>
            </a:pPr>
            <a:r>
              <a:rPr lang="en-US" sz="1450" dirty="0">
                <a:solidFill>
                  <a:srgbClr val="000000"/>
                </a:solidFill>
                <a:latin typeface="Arial"/>
                <a:cs typeface="Arial"/>
              </a:rPr>
              <a:t>Draw a simple timeline (Gantt chart)</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Budget</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Staff time</a:t>
            </a:r>
          </a:p>
          <a:p>
            <a:pPr marL="0" indent="0" algn="ctr">
              <a:lnSpc>
                <a:spcPct val="104000"/>
              </a:lnSpc>
              <a:spcBef>
                <a:spcPts val="400"/>
              </a:spcBef>
              <a:buNone/>
            </a:pPr>
            <a:r>
              <a:rPr lang="en-US" sz="1450" dirty="0">
                <a:solidFill>
                  <a:srgbClr val="000000"/>
                </a:solidFill>
                <a:latin typeface="Arial"/>
                <a:cs typeface="Arial"/>
              </a:rPr>
              <a:t>Materials and tests</a:t>
            </a:r>
          </a:p>
          <a:p>
            <a:pPr marL="0" indent="0" algn="ctr">
              <a:lnSpc>
                <a:spcPct val="104000"/>
              </a:lnSpc>
              <a:spcBef>
                <a:spcPts val="400"/>
              </a:spcBef>
              <a:buNone/>
            </a:pPr>
            <a:r>
              <a:rPr lang="en-US" sz="1450" dirty="0">
                <a:solidFill>
                  <a:srgbClr val="000000"/>
                </a:solidFill>
                <a:latin typeface="Arial"/>
                <a:cs typeface="Arial"/>
              </a:rPr>
              <a:t>Publication fee</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People</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Who collects data at night?</a:t>
            </a:r>
          </a:p>
          <a:p>
            <a:pPr marL="0" indent="0" algn="ctr">
              <a:lnSpc>
                <a:spcPct val="104000"/>
              </a:lnSpc>
              <a:spcBef>
                <a:spcPts val="400"/>
              </a:spcBef>
              <a:buNone/>
            </a:pPr>
            <a:r>
              <a:rPr lang="en-US" sz="1450" dirty="0">
                <a:solidFill>
                  <a:srgbClr val="000000"/>
                </a:solidFill>
                <a:latin typeface="Arial"/>
                <a:cs typeface="Arial"/>
              </a:rPr>
              <a:t>Who analyses?</a:t>
            </a:r>
          </a:p>
          <a:p>
            <a:pPr marL="0" indent="0" algn="ctr">
              <a:lnSpc>
                <a:spcPct val="104000"/>
              </a:lnSpc>
              <a:spcBef>
                <a:spcPts val="400"/>
              </a:spcBef>
              <a:buNone/>
            </a:pPr>
            <a:r>
              <a:rPr lang="en-US" sz="1450" dirty="0">
                <a:solidFill>
                  <a:srgbClr val="000000"/>
                </a:solidFill>
                <a:latin typeface="Arial"/>
                <a:cs typeface="Arial"/>
              </a:rPr>
              <a:t>Protected time?</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Recruitment</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Paper 1: 1201 screened, 50 randomised (4%)</a:t>
            </a:r>
          </a:p>
          <a:p>
            <a:pPr marL="0" indent="0" algn="ctr">
              <a:lnSpc>
                <a:spcPct val="104000"/>
              </a:lnSpc>
              <a:spcBef>
                <a:spcPts val="400"/>
              </a:spcBef>
              <a:buNone/>
            </a:pPr>
            <a:r>
              <a:rPr lang="en-US" sz="1450" dirty="0">
                <a:solidFill>
                  <a:srgbClr val="000000"/>
                </a:solidFill>
                <a:latin typeface="Arial"/>
                <a:cs typeface="Arial"/>
              </a:rPr>
              <a:t>17 months, 3 ICUs</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Data</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Recorded routinely?</a:t>
            </a:r>
          </a:p>
          <a:p>
            <a:pPr marL="0" indent="0" algn="ctr">
              <a:lnSpc>
                <a:spcPct val="104000"/>
              </a:lnSpc>
              <a:spcBef>
                <a:spcPts val="400"/>
              </a:spcBef>
              <a:buNone/>
            </a:pPr>
            <a:r>
              <a:rPr lang="en-US" sz="1450" dirty="0">
                <a:solidFill>
                  <a:srgbClr val="000000"/>
                </a:solidFill>
                <a:latin typeface="Arial"/>
                <a:cs typeface="Arial"/>
              </a:rPr>
              <a:t>How much will be missing?</a:t>
            </a:r>
          </a:p>
          <a:p>
            <a:pPr marL="0" indent="0" algn="ctr">
              <a:lnSpc>
                <a:spcPct val="104000"/>
              </a:lnSpc>
              <a:spcBef>
                <a:spcPts val="400"/>
              </a:spcBef>
              <a:buNone/>
            </a:pPr>
            <a:r>
              <a:rPr lang="en-US" sz="1450" dirty="0">
                <a:solidFill>
                  <a:srgbClr val="000000"/>
                </a:solidFill>
                <a:latin typeface="Arial"/>
                <a:cs typeface="Arial"/>
              </a:rPr>
              <a:t>Paper 2: no diuretic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Count the eligible patients in your unit before you write the sample size.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Research integrity</a:t>
            </a:r>
          </a:p>
          <a:p>
            <a:pPr marL="0" indent="0" algn="ctr">
              <a:spcBef>
                <a:spcPts val="1200"/>
              </a:spcBef>
              <a:buNone/>
            </a:pPr>
            <a:r>
              <a:rPr lang="en-US" sz="1900" i="1" dirty="0">
                <a:solidFill>
                  <a:srgbClr val="595959"/>
                </a:solidFill>
                <a:latin typeface="Arial"/>
                <a:cs typeface="Arial"/>
              </a:rPr>
              <a:t>Honest data, honest credit, honest use of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Research misconduct: fabrication, falsification, plagiarism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the three forms of research misconduct. An honest error is not misconduct: correct it openly.</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Fabrication</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Making up data or patients</a:t>
            </a:r>
          </a:p>
          <a:p>
            <a:pPr marL="0" indent="0" algn="ctr">
              <a:lnSpc>
                <a:spcPct val="104000"/>
              </a:lnSpc>
              <a:spcBef>
                <a:spcPts val="400"/>
              </a:spcBef>
              <a:buNone/>
            </a:pPr>
            <a:r>
              <a:rPr lang="en-US" sz="1750" dirty="0">
                <a:solidFill>
                  <a:srgbClr val="000000"/>
                </a:solidFill>
                <a:latin typeface="Arial"/>
                <a:cs typeface="Arial"/>
              </a:rPr>
              <a:t>Example: day-3 fluid balances entered 'from memory'</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Falsification</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Changing or leaving out data to fit the story</a:t>
            </a:r>
          </a:p>
          <a:p>
            <a:pPr marL="0" indent="0" algn="ctr">
              <a:lnSpc>
                <a:spcPct val="104000"/>
              </a:lnSpc>
              <a:spcBef>
                <a:spcPts val="400"/>
              </a:spcBef>
              <a:buNone/>
            </a:pPr>
            <a:r>
              <a:rPr lang="en-US" sz="1750" dirty="0">
                <a:solidFill>
                  <a:srgbClr val="000000"/>
                </a:solidFill>
                <a:latin typeface="Arial"/>
                <a:cs typeface="Arial"/>
              </a:rPr>
              <a:t>Example: dropping two 'odd' patients who weaken the result</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Plagiarism</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Using others' words or ideas without credit</a:t>
            </a:r>
          </a:p>
          <a:p>
            <a:pPr marL="0" indent="0" algn="ctr">
              <a:lnSpc>
                <a:spcPct val="104000"/>
              </a:lnSpc>
              <a:spcBef>
                <a:spcPts val="400"/>
              </a:spcBef>
              <a:buNone/>
            </a:pPr>
            <a:r>
              <a:rPr lang="en-US" sz="1750" dirty="0">
                <a:solidFill>
                  <a:srgbClr val="000000"/>
                </a:solidFill>
                <a:latin typeface="Arial"/>
                <a:cs typeface="Arial"/>
              </a:rPr>
              <a:t>Example: a copied paragraph, cited but without quotation marks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reported as missing: never invented, never quietly removed.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Also off-limits: tricks that distort the record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One study should tell one complete, honest story.</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Duplicate publication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results published twice</a:t>
            </a:r>
          </a:p>
          <a:p>
            <a:pPr marL="0" indent="0" algn="ctr">
              <a:lnSpc>
                <a:spcPct val="104000"/>
              </a:lnSpc>
              <a:spcBef>
                <a:spcPts val="400"/>
              </a:spcBef>
              <a:buNone/>
            </a:pPr>
            <a:r>
              <a:rPr lang="en-US" sz="1750" dirty="0">
                <a:solidFill>
                  <a:srgbClr val="000000"/>
                </a:solidFill>
                <a:latin typeface="Arial"/>
                <a:cs typeface="Arial"/>
              </a:rPr>
              <a:t>The second paper does not say so</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Salami slicing</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study cut into thin papers</a:t>
            </a:r>
          </a:p>
          <a:p>
            <a:pPr marL="0" indent="0" algn="ctr">
              <a:lnSpc>
                <a:spcPct val="104000"/>
              </a:lnSpc>
              <a:spcBef>
                <a:spcPts val="400"/>
              </a:spcBef>
              <a:buNone/>
            </a:pPr>
            <a:r>
              <a:rPr lang="en-US" sz="1750" dirty="0">
                <a:solidFill>
                  <a:srgbClr val="000000"/>
                </a:solidFill>
                <a:latin typeface="Arial"/>
                <a:cs typeface="Arial"/>
              </a:rPr>
              <a:t>Done to multiply publications</a:t>
            </a:r>
          </a:p>
          <a:p>
            <a:pPr marL="0" indent="0" algn="ctr">
              <a:lnSpc>
                <a:spcPct val="104000"/>
              </a:lnSpc>
              <a:spcBef>
                <a:spcPts val="400"/>
              </a:spcBef>
              <a:buNone/>
            </a:pPr>
            <a:r>
              <a:rPr lang="en-US" sz="1750" dirty="0">
                <a:solidFill>
                  <a:srgbClr val="000000"/>
                </a:solidFill>
                <a:latin typeface="Arial"/>
                <a:cs typeface="Arial"/>
              </a:rPr>
              <a:t>The reader never sees the whole</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Selective reporting</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Only the 'significant' outcomes reported</a:t>
            </a:r>
          </a:p>
          <a:p>
            <a:pPr marL="0" indent="0" algn="ctr">
              <a:lnSpc>
                <a:spcPct val="104000"/>
              </a:lnSpc>
              <a:spcBef>
                <a:spcPts val="400"/>
              </a:spcBef>
              <a:buNone/>
            </a:pPr>
            <a:r>
              <a:rPr lang="en-US" sz="1750" dirty="0">
                <a:solidFill>
                  <a:srgbClr val="000000"/>
                </a:solidFill>
                <a:latin typeface="Arial"/>
                <a:cs typeface="Arial"/>
              </a:rPr>
              <a:t>Primary outcome switched after seeing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Register first, pre-specify the primary outcome, report all of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an author? The four ICMJE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International Committee of Medical Journal Editors. An author meets all four.</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Substantial work</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Idea, design, data, analysis or interpretation</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Writing</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Drafted or critically revised the manuscript</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Approval</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Approved the final version</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Accountable</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Answers for all of the work</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Not all four?</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Thank them in the Acknowledgements</a:t>
            </a:r>
          </a:p>
          <a:p>
            <a:pPr marL="0" indent="0" algn="ctr">
              <a:lnSpc>
                <a:spcPct val="104000"/>
              </a:lnSpc>
              <a:spcBef>
                <a:spcPts val="400"/>
              </a:spcBef>
              <a:buNone/>
            </a:pPr>
            <a:r>
              <a:rPr lang="en-US" sz="1450" dirty="0">
                <a:solidFill>
                  <a:srgbClr val="000000"/>
                </a:solidFill>
                <a:latin typeface="Arial"/>
                <a:cs typeface="Arial"/>
              </a:rPr>
              <a:t>Gift author: named, did not do the work</a:t>
            </a:r>
          </a:p>
          <a:p>
            <a:pPr marL="0" indent="0" algn="ctr">
              <a:lnSpc>
                <a:spcPct val="104000"/>
              </a:lnSpc>
              <a:spcBef>
                <a:spcPts val="400"/>
              </a:spcBef>
              <a:buNone/>
            </a:pPr>
            <a:r>
              <a:rPr lang="en-US" sz="1450" dirty="0">
                <a:solidFill>
                  <a:srgbClr val="000000"/>
                </a:solidFill>
                <a:latin typeface="Arial"/>
                <a:cs typeface="Arial"/>
              </a:rPr>
              <a:t>Ghost author: did the work, not named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All four criteria, for every author. Decide the list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Conflicts of interest and funding: declare them all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Financial interests</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Consultancy, speaker fees</a:t>
            </a:r>
          </a:p>
          <a:p>
            <a:pPr marL="0" indent="0" algn="ctr">
              <a:lnSpc>
                <a:spcPct val="104000"/>
              </a:lnSpc>
              <a:spcBef>
                <a:spcPts val="400"/>
              </a:spcBef>
              <a:buNone/>
            </a:pPr>
            <a:r>
              <a:rPr lang="en-US" sz="1750" dirty="0">
                <a:solidFill>
                  <a:srgbClr val="000000"/>
                </a:solidFill>
                <a:latin typeface="Arial"/>
                <a:cs typeface="Arial"/>
              </a:rPr>
              <a:t>Grants, travel support</a:t>
            </a:r>
          </a:p>
          <a:p>
            <a:pPr marL="0" indent="0" algn="ctr">
              <a:lnSpc>
                <a:spcPct val="104000"/>
              </a:lnSpc>
              <a:spcBef>
                <a:spcPts val="400"/>
              </a:spcBef>
              <a:buNone/>
            </a:pPr>
            <a:r>
              <a:rPr lang="en-US" sz="1750" dirty="0">
                <a:solidFill>
                  <a:srgbClr val="000000"/>
                </a:solidFill>
                <a:latin typeface="Arial"/>
                <a:cs typeface="Arial"/>
              </a:rPr>
              <a:t>Shares, patents</a:t>
            </a:r>
          </a:p>
          <a:p>
            <a:pPr marL="0" indent="0" algn="ctr">
              <a:lnSpc>
                <a:spcPct val="104000"/>
              </a:lnSpc>
              <a:spcBef>
                <a:spcPts val="400"/>
              </a:spcBef>
              <a:buNone/>
            </a:pPr>
            <a:r>
              <a:rPr lang="en-US" sz="1750" dirty="0">
                <a:solidFill>
                  <a:srgbClr val="000000"/>
                </a:solidFill>
                <a:latin typeface="Arial"/>
                <a:cs typeface="Arial"/>
              </a:rPr>
              <a:t>Employment</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Non-financial interests</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Personal relationships</a:t>
            </a:r>
          </a:p>
          <a:p>
            <a:pPr marL="0" indent="0" algn="ctr">
              <a:lnSpc>
                <a:spcPct val="104000"/>
              </a:lnSpc>
              <a:spcBef>
                <a:spcPts val="400"/>
              </a:spcBef>
              <a:buNone/>
            </a:pPr>
            <a:r>
              <a:rPr lang="en-US" sz="1750" dirty="0">
                <a:solidFill>
                  <a:srgbClr val="000000"/>
                </a:solidFill>
                <a:latin typeface="Arial"/>
                <a:cs typeface="Arial"/>
              </a:rPr>
              <a:t>Role in a guideline panel</a:t>
            </a:r>
          </a:p>
          <a:p>
            <a:pPr marL="0" indent="0" algn="ctr">
              <a:lnSpc>
                <a:spcPct val="104000"/>
              </a:lnSpc>
              <a:spcBef>
                <a:spcPts val="400"/>
              </a:spcBef>
              <a:buNone/>
            </a:pPr>
            <a:r>
              <a:rPr lang="en-US" sz="1750" dirty="0">
                <a:solidFill>
                  <a:srgbClr val="000000"/>
                </a:solidFill>
                <a:latin typeface="Arial"/>
                <a:cs typeface="Arial"/>
              </a:rPr>
              <a:t>Strong prior beliefs</a:t>
            </a:r>
          </a:p>
          <a:p>
            <a:pPr marL="0" indent="0" algn="ctr">
              <a:lnSpc>
                <a:spcPct val="104000"/>
              </a:lnSpc>
              <a:spcBef>
                <a:spcPts val="400"/>
              </a:spcBef>
              <a:buNone/>
            </a:pPr>
            <a:r>
              <a:rPr lang="en-US" sz="1750" dirty="0">
                <a:solidFill>
                  <a:srgbClr val="000000"/>
                </a:solidFill>
                <a:latin typeface="Arial"/>
                <a:cs typeface="Arial"/>
              </a:rPr>
              <a:t>Academic rivalry</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Funding statement</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Who paid, grant number</a:t>
            </a:r>
          </a:p>
          <a:p>
            <a:pPr marL="0" indent="0" algn="ctr">
              <a:lnSpc>
                <a:spcPct val="104000"/>
              </a:lnSpc>
              <a:spcBef>
                <a:spcPts val="400"/>
              </a:spcBef>
              <a:buNone/>
            </a:pPr>
            <a:r>
              <a:rPr lang="en-US" sz="1750" dirty="0">
                <a:solidFill>
                  <a:srgbClr val="000000"/>
                </a:solidFill>
                <a:latin typeface="Arial"/>
                <a:cs typeface="Arial"/>
              </a:rPr>
              <a:t>Role of the funder in design, analysis, writing and the decision to publish</a:t>
            </a:r>
          </a:p>
          <a:p>
            <a:pPr marL="0" indent="0" algn="ctr">
              <a:lnSpc>
                <a:spcPct val="104000"/>
              </a:lnSpc>
              <a:spcBef>
                <a:spcPts val="400"/>
              </a:spcBef>
              <a:buNone/>
            </a:pPr>
            <a:r>
              <a:rPr lang="en-US" sz="1750" dirty="0">
                <a:solidFill>
                  <a:srgbClr val="000000"/>
                </a:solidFill>
                <a:latin typeface="Arial"/>
                <a:cs typeface="Arial"/>
              </a:rPr>
              <a:t>Paper 2: the funder had no role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declared interest is information. A hidden one is a scandal.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sharing: from 'on request' to open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From closed to open</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Not available</a:t>
            </a:r>
          </a:p>
          <a:p>
            <a:pPr marL="274320" indent="-274320" algn="l">
              <a:lnSpc>
                <a:spcPct val="104000"/>
              </a:lnSpc>
              <a:spcBef>
                <a:spcPts val="400"/>
              </a:spcBef>
              <a:buFont typeface="Arial"/>
              <a:buChar char="•"/>
            </a:pPr>
            <a:r>
              <a:rPr lang="en-US" sz="1750" dirty="0">
                <a:solidFill>
                  <a:srgbClr val="000000"/>
                </a:solidFill>
                <a:latin typeface="Arial"/>
                <a:cs typeface="Arial"/>
              </a:rPr>
              <a:t>'Available on reasonable request' (Papers 1 and 2)</a:t>
            </a:r>
          </a:p>
          <a:p>
            <a:pPr marL="274320" indent="-274320" algn="l">
              <a:lnSpc>
                <a:spcPct val="104000"/>
              </a:lnSpc>
              <a:spcBef>
                <a:spcPts val="400"/>
              </a:spcBef>
              <a:buFont typeface="Arial"/>
              <a:buChar char="•"/>
            </a:pPr>
            <a:r>
              <a:rPr lang="en-US" sz="1750" dirty="0">
                <a:solidFill>
                  <a:srgbClr val="000000"/>
                </a:solidFill>
                <a:latin typeface="Arial"/>
                <a:cs typeface="Arial"/>
              </a:rPr>
              <a:t>Controlled-access repository</a:t>
            </a:r>
          </a:p>
          <a:p>
            <a:pPr marL="274320" indent="-274320" algn="l">
              <a:lnSpc>
                <a:spcPct val="104000"/>
              </a:lnSpc>
              <a:spcBef>
                <a:spcPts val="400"/>
              </a:spcBef>
              <a:buFont typeface="Arial"/>
              <a:buChar char="•"/>
            </a:pPr>
            <a:r>
              <a:rPr lang="en-US" sz="1750" dirty="0">
                <a:solidFill>
                  <a:srgbClr val="000000"/>
                </a:solidFill>
                <a:latin typeface="Arial"/>
                <a:cs typeface="Arial"/>
              </a:rPr>
              <a:t>Open repository with a DOI (permanent web identifier)</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Before you share</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Consent form and ethics approval allow it</a:t>
            </a:r>
          </a:p>
          <a:p>
            <a:pPr marL="274320" indent="-274320" algn="l">
              <a:lnSpc>
                <a:spcPct val="104000"/>
              </a:lnSpc>
              <a:spcBef>
                <a:spcPts val="400"/>
              </a:spcBef>
              <a:buFont typeface="Arial"/>
              <a:buChar char="•"/>
            </a:pPr>
            <a:r>
              <a:rPr lang="en-US" sz="1750" dirty="0">
                <a:solidFill>
                  <a:srgbClr val="000000"/>
                </a:solidFill>
                <a:latin typeface="Arial"/>
                <a:cs typeface="Arial"/>
              </a:rPr>
              <a:t>Data de-identified</a:t>
            </a:r>
          </a:p>
          <a:p>
            <a:pPr marL="274320" indent="-274320" algn="l">
              <a:lnSpc>
                <a:spcPct val="104000"/>
              </a:lnSpc>
              <a:spcBef>
                <a:spcPts val="400"/>
              </a:spcBef>
              <a:buFont typeface="Arial"/>
              <a:buChar char="•"/>
            </a:pPr>
            <a:r>
              <a:rPr lang="en-US" sz="1750" dirty="0">
                <a:solidFill>
                  <a:srgbClr val="000000"/>
                </a:solidFill>
                <a:latin typeface="Arial"/>
                <a:cs typeface="Arial"/>
              </a:rPr>
              <a:t>Data dictionary and analysis code included</a:t>
            </a:r>
          </a:p>
          <a:p>
            <a:pPr marL="274320" indent="-274320" algn="l">
              <a:lnSpc>
                <a:spcPct val="104000"/>
              </a:lnSpc>
              <a:spcBef>
                <a:spcPts val="400"/>
              </a:spcBef>
              <a:buFont typeface="Arial"/>
              <a:buChar char="•"/>
            </a:pPr>
            <a:r>
              <a:rPr lang="en-US" sz="1750" dirty="0">
                <a:solidFill>
                  <a:srgbClr val="000000"/>
                </a:solidFill>
                <a:latin typeface="Arial"/>
                <a:cs typeface="Arial"/>
              </a:rPr>
              <a:t>Data-sharing statement in the paper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data sharing at the protocol stage: consent must allow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in research and writing: what is allowed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Allowed, with care</a:t>
            </a:r>
          </a:p>
        </p:txBody>
      </p:sp>
      <p:sp>
        <p:nvSpPr>
          <p:cNvPr id="71" name="CardBody"/>
          <p:cNvSpPr/>
          <p:nvPr/>
        </p:nvSpPr>
        <p:spPr>
          <a:xfrm>
            <a:off x="457200" y="2457823"/>
            <a:ext cx="5538800" cy="1596529"/>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Polish the language of your own text</a:t>
            </a:r>
          </a:p>
          <a:p>
            <a:pPr marL="274320" indent="-274320" algn="l">
              <a:lnSpc>
                <a:spcPct val="104000"/>
              </a:lnSpc>
              <a:spcBef>
                <a:spcPts val="400"/>
              </a:spcBef>
              <a:buFont typeface="Arial"/>
              <a:buChar char="•"/>
            </a:pPr>
            <a:r>
              <a:rPr lang="en-US" sz="1750" dirty="0">
                <a:solidFill>
                  <a:srgbClr val="000000"/>
                </a:solidFill>
                <a:latin typeface="Arial"/>
                <a:cs typeface="Arial"/>
              </a:rPr>
              <a:t>Brainstorm or summarise, then check every claim</a:t>
            </a:r>
          </a:p>
          <a:p>
            <a:pPr marL="274320" indent="-274320" algn="l">
              <a:lnSpc>
                <a:spcPct val="104000"/>
              </a:lnSpc>
              <a:spcBef>
                <a:spcPts val="400"/>
              </a:spcBef>
              <a:buFont typeface="Arial"/>
              <a:buChar char="•"/>
            </a:pPr>
            <a:r>
              <a:rPr lang="en-US" sz="1750" dirty="0">
                <a:solidFill>
                  <a:srgbClr val="000000"/>
                </a:solidFill>
                <a:latin typeface="Arial"/>
                <a:cs typeface="Arial"/>
              </a:rPr>
              <a:t>Disclose the tool, version and purpose</a:t>
            </a:r>
          </a:p>
        </p:txBody>
      </p:sp>
      <p:sp>
        <p:nvSpPr>
          <p:cNvPr id="72" name="CardHead"/>
          <p:cNvSpPr/>
          <p:nvPr/>
        </p:nvSpPr>
        <p:spPr>
          <a:xfrm>
            <a:off x="6196000" y="1817823"/>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Never</a:t>
            </a:r>
          </a:p>
        </p:txBody>
      </p:sp>
      <p:sp>
        <p:nvSpPr>
          <p:cNvPr id="73" name="CardBody"/>
          <p:cNvSpPr/>
          <p:nvPr/>
        </p:nvSpPr>
        <p:spPr>
          <a:xfrm>
            <a:off x="6196000" y="2457823"/>
            <a:ext cx="5538800" cy="1596529"/>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List AI as an author</a:t>
            </a:r>
          </a:p>
          <a:p>
            <a:pPr marL="274320" indent="-274320" algn="l">
              <a:lnSpc>
                <a:spcPct val="104000"/>
              </a:lnSpc>
              <a:spcBef>
                <a:spcPts val="400"/>
              </a:spcBef>
              <a:buFont typeface="Arial"/>
              <a:buChar char="•"/>
            </a:pPr>
            <a:r>
              <a:rPr lang="en-US" sz="1750" dirty="0">
                <a:solidFill>
                  <a:srgbClr val="000000"/>
                </a:solidFill>
                <a:latin typeface="Arial"/>
                <a:cs typeface="Arial"/>
              </a:rPr>
              <a:t>Paste patient data or a confidential manuscript into a public AI tool</a:t>
            </a:r>
          </a:p>
          <a:p>
            <a:pPr marL="274320" indent="-274320" algn="l">
              <a:lnSpc>
                <a:spcPct val="104000"/>
              </a:lnSpc>
              <a:spcBef>
                <a:spcPts val="400"/>
              </a:spcBef>
              <a:buFont typeface="Arial"/>
              <a:buChar char="•"/>
            </a:pPr>
            <a:r>
              <a:rPr lang="en-US" sz="1750" dirty="0">
                <a:solidFill>
                  <a:srgbClr val="000000"/>
                </a:solidFill>
                <a:latin typeface="Arial"/>
                <a:cs typeface="Arial"/>
              </a:rPr>
              <a:t>Let AI invent references, data or images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AI like a junior assistant: check everything, disclose it, keep patient data out.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Integrity scenarios: green, amber or 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Scenarios: Session 7 exercise sheet, Part A (PDF sent before the session), also on the shared screen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Vote in the poll: green (fine), amber (fine only if fixed or disclosed) or red (misconduct)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One or two volunteers explain their vote with the microphone 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do 3 scenarios together now. The other 3 are homework</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Scenario 1</a:t>
            </a:r>
          </a:p>
          <a:p>
            <a:pPr marL="0" indent="0" algn="ctr">
              <a:lnSpc>
                <a:spcPct val="104000"/>
              </a:lnSpc>
              <a:spcBef>
                <a:spcPts val="300"/>
              </a:spcBef>
              <a:buNone/>
            </a:pPr>
            <a:r>
              <a:rPr lang="en-US" sz="1500" dirty="0">
                <a:solidFill>
                  <a:srgbClr val="000000"/>
                </a:solidFill>
                <a:latin typeface="Arial"/>
                <a:cs typeface="Arial"/>
              </a:rPr>
              <a:t>Three day-3 fluid charts are lost. A resident enters the balances 'from memory'.</a:t>
            </a:r>
          </a:p>
          <a:p>
            <a:pPr marL="0" indent="0" algn="ctr">
              <a:lnSpc>
                <a:spcPct val="104000"/>
              </a:lnSpc>
              <a:spcBef>
                <a:spcPts val="300"/>
              </a:spcBef>
              <a:buNone/>
            </a:pPr>
            <a:r>
              <a:rPr lang="en-US" sz="1500" dirty="0">
                <a:solidFill>
                  <a:srgbClr val="000000"/>
                </a:solidFill>
                <a:latin typeface="Arial"/>
                <a:cs typeface="Arial"/>
              </a:rPr>
              <a:t>Your colour?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name FFP, gift and ghost authorship, and the AI rules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Proposal builder 7: ethics, registration, feasibility, publication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drafts Part 4 for the running example on the shared screen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Consent: who consents, who asks, when? Two or three people answer with the microphone on (4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Registration and the key file: where?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Feasibility: the biggest risk and one fix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Publication plan: journal, reporting guideline, authors and roles (5 min)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Then, at home</a:t>
            </a:r>
          </a:p>
          <a:p>
            <a:pPr marL="0" indent="0" algn="ctr">
              <a:lnSpc>
                <a:spcPct val="104000"/>
              </a:lnSpc>
              <a:spcBef>
                <a:spcPts val="300"/>
              </a:spcBef>
              <a:buNone/>
            </a:pPr>
            <a:r>
              <a:rPr lang="en-US" sz="1500" dirty="0">
                <a:solidFill>
                  <a:srgbClr val="000000"/>
                </a:solidFill>
                <a:latin typeface="Arial"/>
                <a:cs typeface="Arial"/>
              </a:rPr>
              <a:t>Write Part 4 for your own proposal</a:t>
            </a:r>
          </a:p>
          <a:p>
            <a:pPr marL="0" indent="0" algn="ctr">
              <a:lnSpc>
                <a:spcPct val="104000"/>
              </a:lnSpc>
              <a:spcBef>
                <a:spcPts val="300"/>
              </a:spcBef>
              <a:buNone/>
            </a:pPr>
            <a:r>
              <a:rPr lang="en-US" sz="1500" dirty="0">
                <a:solidFill>
                  <a:srgbClr val="000000"/>
                </a:solidFill>
                <a:latin typeface="Arial"/>
                <a:cs typeface="Arial"/>
              </a:rPr>
              <a:t>Worksheet: Session 7 exercise sheet, Part B (PDF)</a:t>
            </a:r>
          </a:p>
          <a:p>
            <a:pPr marL="0" indent="0" algn="ctr">
              <a:lnSpc>
                <a:spcPct val="104000"/>
              </a:lnSpc>
              <a:spcBef>
                <a:spcPts val="300"/>
              </a:spcBef>
              <a:buNone/>
            </a:pPr>
            <a:r>
              <a:rPr lang="en-US" sz="1500" dirty="0">
                <a:solidFill>
                  <a:srgbClr val="000000"/>
                </a:solidFill>
                <a:latin typeface="Arial"/>
                <a:cs typeface="Arial"/>
              </a:rPr>
              <a:t>Use the class example as a model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Part 4 modelled together. Your own Part 4 drafted at home this week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 IMRaD, Methods and Results</a:t>
            </a:r>
          </a:p>
          <a:p>
            <a:pPr marL="0" indent="0" algn="ctr">
              <a:spcBef>
                <a:spcPts val="1200"/>
              </a:spcBef>
              <a:buNone/>
            </a:pPr>
            <a:r>
              <a:rPr lang="en-US" sz="1900" i="1" dirty="0">
                <a:solidFill>
                  <a:srgbClr val="595959"/>
                </a:solidFill>
                <a:latin typeface="Arial"/>
                <a:cs typeface="Arial"/>
              </a:rPr>
              <a:t>Say what you did, then report what you found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the hourglass shape of every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Introduction narrows to your question. Discussion widens back to practice.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in a different order from the one readers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Readers read: Title, Abstract, Introduction, Methods, Results, Discussion. Writers start from the data.</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Tables</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Tables and figures: the story is in your data</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Methods</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 know what you did</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Results</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Describe your tables</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Introduction</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Set up the question you answered</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Discussion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Answer, compare, explain</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Abstract, title</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Summarise the paper, name it last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Start with your tables. Write the title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Methods: enough detail for someone to repeat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Methods say what you did. If a colleague could not redo the study from it, add detail.</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where</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Design, setting, dates</a:t>
            </a:r>
          </a:p>
          <a:p>
            <a:pPr marL="0" indent="0" algn="ctr">
              <a:lnSpc>
                <a:spcPct val="104000"/>
              </a:lnSpc>
              <a:spcBef>
                <a:spcPts val="400"/>
              </a:spcBef>
              <a:buNone/>
            </a:pPr>
            <a:r>
              <a:rPr lang="en-US" sz="1600" dirty="0">
                <a:solidFill>
                  <a:srgbClr val="000000"/>
                </a:solidFill>
                <a:latin typeface="Arial"/>
                <a:cs typeface="Arial"/>
              </a:rPr>
              <a:t>Eligibility criteria</a:t>
            </a:r>
          </a:p>
          <a:p>
            <a:pPr marL="0" indent="0" algn="ctr">
              <a:lnSpc>
                <a:spcPct val="104000"/>
              </a:lnSpc>
              <a:spcBef>
                <a:spcPts val="400"/>
              </a:spcBef>
              <a:buNone/>
            </a:pPr>
            <a:r>
              <a:rPr lang="en-US" sz="1600" dirty="0">
                <a:solidFill>
                  <a:srgbClr val="000000"/>
                </a:solidFill>
                <a:latin typeface="Arial"/>
                <a:cs typeface="Arial"/>
              </a:rPr>
              <a:t>Ethics approval and consent</a:t>
            </a:r>
          </a:p>
          <a:p>
            <a:pPr marL="0" indent="0" algn="ctr">
              <a:lnSpc>
                <a:spcPct val="104000"/>
              </a:lnSpc>
              <a:spcBef>
                <a:spcPts val="400"/>
              </a:spcBef>
              <a:buNone/>
            </a:pPr>
            <a:r>
              <a:rPr lang="en-US" sz="1600" dirty="0">
                <a:solidFill>
                  <a:srgbClr val="000000"/>
                </a:solidFill>
                <a:latin typeface="Arial"/>
                <a:cs typeface="Arial"/>
              </a:rPr>
              <a:t>Registration number</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was done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Intervention or exposure in full</a:t>
            </a:r>
          </a:p>
          <a:p>
            <a:pPr marL="0" indent="0" algn="ctr">
              <a:lnSpc>
                <a:spcPct val="104000"/>
              </a:lnSpc>
              <a:spcBef>
                <a:spcPts val="400"/>
              </a:spcBef>
              <a:buNone/>
            </a:pPr>
            <a:r>
              <a:rPr lang="en-US" sz="1600" dirty="0">
                <a:solidFill>
                  <a:srgbClr val="000000"/>
                </a:solidFill>
                <a:latin typeface="Arial"/>
                <a:cs typeface="Arial"/>
              </a:rPr>
              <a:t>Variables defined</a:t>
            </a:r>
          </a:p>
          <a:p>
            <a:pPr marL="0" indent="0" algn="ctr">
              <a:lnSpc>
                <a:spcPct val="104000"/>
              </a:lnSpc>
              <a:spcBef>
                <a:spcPts val="400"/>
              </a:spcBef>
              <a:buNone/>
            </a:pPr>
            <a:r>
              <a:rPr lang="en-US" sz="1600" dirty="0">
                <a:solidFill>
                  <a:srgbClr val="000000"/>
                </a:solidFill>
                <a:latin typeface="Arial"/>
                <a:cs typeface="Arial"/>
              </a:rPr>
              <a:t>Paper 1: staff training, daily pharmacist check</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Outcomes and size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One primary outcome: how and when</a:t>
            </a:r>
          </a:p>
          <a:p>
            <a:pPr marL="0" indent="0" algn="ctr">
              <a:lnSpc>
                <a:spcPct val="104000"/>
              </a:lnSpc>
              <a:spcBef>
                <a:spcPts val="400"/>
              </a:spcBef>
              <a:buNone/>
            </a:pPr>
            <a:r>
              <a:rPr lang="en-US" sz="1600" dirty="0">
                <a:solidFill>
                  <a:srgbClr val="000000"/>
                </a:solidFill>
                <a:latin typeface="Arial"/>
                <a:cs typeface="Arial"/>
              </a:rPr>
              <a:t>Sample size: assumptions and source</a:t>
            </a:r>
          </a:p>
          <a:p>
            <a:pPr marL="0" indent="0" algn="ctr">
              <a:lnSpc>
                <a:spcPct val="104000"/>
              </a:lnSpc>
              <a:spcBef>
                <a:spcPts val="400"/>
              </a:spcBef>
              <a:buNone/>
            </a:pPr>
            <a:r>
              <a:rPr lang="en-US" sz="1600" dirty="0">
                <a:solidFill>
                  <a:srgbClr val="000000"/>
                </a:solidFill>
                <a:latin typeface="Arial"/>
                <a:cs typeface="Arial"/>
              </a:rPr>
              <a:t>Paper 2: no sample-size statement</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Statistical analysis</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method for each comparison</a:t>
            </a:r>
          </a:p>
          <a:p>
            <a:pPr marL="0" indent="0" algn="ctr">
              <a:lnSpc>
                <a:spcPct val="104000"/>
              </a:lnSpc>
              <a:spcBef>
                <a:spcPts val="400"/>
              </a:spcBef>
              <a:buNone/>
            </a:pPr>
            <a:r>
              <a:rPr lang="en-US" sz="1600" dirty="0">
                <a:solidFill>
                  <a:srgbClr val="000000"/>
                </a:solidFill>
                <a:latin typeface="Arial"/>
                <a:cs typeface="Arial"/>
              </a:rPr>
              <a:t>Estimate matches the test</a:t>
            </a:r>
          </a:p>
          <a:p>
            <a:pPr marL="0" indent="0" algn="ctr">
              <a:lnSpc>
                <a:spcPct val="104000"/>
              </a:lnSpc>
              <a:spcBef>
                <a:spcPts val="400"/>
              </a:spcBef>
              <a:buNone/>
            </a:pPr>
            <a:r>
              <a:rPr lang="en-US" sz="1600" dirty="0">
                <a:solidFill>
                  <a:srgbClr val="000000"/>
                </a:solidFill>
                <a:latin typeface="Arial"/>
                <a:cs typeface="Arial"/>
              </a:rPr>
              <a:t>Missing data, multiple comparisons</a:t>
            </a:r>
          </a:p>
          <a:p>
            <a:pPr marL="0" indent="0" algn="ctr">
              <a:lnSpc>
                <a:spcPct val="104000"/>
              </a:lnSpc>
              <a:spcBef>
                <a:spcPts val="400"/>
              </a:spcBef>
              <a:buNone/>
            </a:pPr>
            <a:r>
              <a:rPr lang="en-US" sz="1600" dirty="0">
                <a:solidFill>
                  <a:srgbClr val="000000"/>
                </a:solidFill>
                <a:latin typeface="Arial"/>
                <a:cs typeface="Arial"/>
              </a:rPr>
              <a:t>Software and version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statistical paragraph names a method for every comparison you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Methods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One sentence per STROBE item (simulated data). STROBE = the reporting checklist for observational studies.</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Items 4-6: We analysed FLUID-ICU, a prospective cohort of consecutive adults with sepsis admitted to four ICUs between January 2023 and December 2024.</a:t>
            </a:r>
          </a:p>
          <a:p>
            <a:pPr marL="274320" indent="-274320" algn="l">
              <a:lnSpc>
                <a:spcPct val="106000"/>
              </a:lnSpc>
              <a:spcBef>
                <a:spcPts val="560"/>
              </a:spcBef>
              <a:buFont typeface="Arial"/>
              <a:buChar char="•"/>
            </a:pPr>
            <a:r>
              <a:rPr lang="en-US" sz="1700" dirty="0">
                <a:solidFill>
                  <a:srgbClr val="000000"/>
                </a:solidFill>
                <a:latin typeface="Arial"/>
                <a:cs typeface="Arial"/>
              </a:rPr>
              <a:t>Item 7: The exposure was a positive cumulative fluid balance by ICU day 3 (fluid in minus fluid out over days 1-3, &gt; 0 ml/kg). The outcome was death from any cause within 28 days of ICU admission.</a:t>
            </a:r>
          </a:p>
          <a:p>
            <a:pPr marL="274320" indent="-274320" algn="l">
              <a:lnSpc>
                <a:spcPct val="106000"/>
              </a:lnSpc>
              <a:spcBef>
                <a:spcPts val="560"/>
              </a:spcBef>
              <a:buFont typeface="Arial"/>
              <a:buChar char="•"/>
            </a:pPr>
            <a:r>
              <a:rPr lang="en-US" sz="1700" dirty="0">
                <a:solidFill>
                  <a:srgbClr val="000000"/>
                </a:solidFill>
                <a:latin typeface="Arial"/>
                <a:cs typeface="Arial"/>
              </a:rPr>
              <a:t>Item 8: Data came from ICU charts on a standard case report form.</a:t>
            </a:r>
          </a:p>
          <a:p>
            <a:pPr marL="274320" indent="-274320" algn="l">
              <a:lnSpc>
                <a:spcPct val="106000"/>
              </a:lnSpc>
              <a:spcBef>
                <a:spcPts val="560"/>
              </a:spcBef>
              <a:buFont typeface="Arial"/>
              <a:buChar char="•"/>
            </a:pPr>
            <a:r>
              <a:rPr lang="en-US" sz="1700" dirty="0">
                <a:solidFill>
                  <a:srgbClr val="000000"/>
                </a:solidFill>
                <a:latin typeface="Arial"/>
                <a:cs typeface="Arial"/>
              </a:rPr>
              <a:t>Item 9: To address confounding by indication, we adjusted for severity and comorbidity pre-specified in the analysis plan.</a:t>
            </a:r>
          </a:p>
          <a:p>
            <a:pPr marL="274320" indent="-274320" algn="l">
              <a:lnSpc>
                <a:spcPct val="106000"/>
              </a:lnSpc>
              <a:spcBef>
                <a:spcPts val="560"/>
              </a:spcBef>
              <a:buFont typeface="Arial"/>
              <a:buChar char="•"/>
            </a:pPr>
            <a:r>
              <a:rPr lang="en-US" sz="1700" dirty="0">
                <a:solidFill>
                  <a:srgbClr val="000000"/>
                </a:solidFill>
                <a:latin typeface="Arial"/>
                <a:cs typeface="Arial"/>
              </a:rPr>
              <a:t>Item 10: All eligible patients in the cohort were included (no separate sample size).</a:t>
            </a:r>
          </a:p>
          <a:p>
            <a:pPr marL="274320" indent="-274320" algn="l">
              <a:lnSpc>
                <a:spcPct val="106000"/>
              </a:lnSpc>
              <a:spcBef>
                <a:spcPts val="560"/>
              </a:spcBef>
              <a:buFont typeface="Arial"/>
              <a:buChar char="•"/>
            </a:pPr>
            <a:r>
              <a:rPr lang="en-US" sz="1700" dirty="0">
                <a:solidFill>
                  <a:srgbClr val="0B376C"/>
                </a:solidFill>
                <a:latin typeface="Arial"/>
                <a:cs typeface="Arial"/>
              </a:rPr>
              <a:t>Ethics (course version): This analysis used a simulated teaching dataset. No ethics approval or consent was required.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statistical-analysis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STROBE item 12 for Q1: one sentence per decision, all chosen before seeing the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Baseline characteristics: mean (SD), median (IQR) or n (%), by balance group.</a:t>
            </a:r>
          </a:p>
          <a:p>
            <a:pPr marL="274320" indent="-274320" algn="l">
              <a:lnSpc>
                <a:spcPct val="106000"/>
              </a:lnSpc>
              <a:spcBef>
                <a:spcPts val="560"/>
              </a:spcBef>
              <a:buFont typeface="Arial"/>
              <a:buChar char="•"/>
            </a:pPr>
            <a:r>
              <a:rPr lang="en-US" sz="1700" dirty="0">
                <a:solidFill>
                  <a:srgbClr val="000000"/>
                </a:solidFill>
                <a:latin typeface="Arial"/>
                <a:cs typeface="Arial"/>
              </a:rPr>
              <a:t>28-day mortality: chi-square test. Crude and adjusted odds ratios from logistic regression (age, SOFA score, lactate, vasopressor, mechanical ventilation, chronic kidney disease).</a:t>
            </a:r>
          </a:p>
          <a:p>
            <a:pPr marL="274320" indent="-274320" algn="l">
              <a:lnSpc>
                <a:spcPct val="106000"/>
              </a:lnSpc>
              <a:spcBef>
                <a:spcPts val="560"/>
              </a:spcBef>
              <a:buFont typeface="Arial"/>
              <a:buChar char="•"/>
            </a:pPr>
            <a:r>
              <a:rPr lang="en-US" sz="1700" dirty="0">
                <a:solidFill>
                  <a:srgbClr val="000000"/>
                </a:solidFill>
                <a:latin typeface="Arial"/>
                <a:cs typeface="Arial"/>
              </a:rPr>
              <a:t>Time to death: Kaplan-Meier curves (log-rank test) and Cox regression with the same covariates. Proportional hazards checked.</a:t>
            </a:r>
          </a:p>
          <a:p>
            <a:pPr marL="274320" indent="-274320" algn="l">
              <a:lnSpc>
                <a:spcPct val="106000"/>
              </a:lnSpc>
              <a:spcBef>
                <a:spcPts val="560"/>
              </a:spcBef>
              <a:buFont typeface="Arial"/>
              <a:buChar char="•"/>
            </a:pPr>
            <a:r>
              <a:rPr lang="en-US" sz="1700" dirty="0">
                <a:solidFill>
                  <a:srgbClr val="000000"/>
                </a:solidFill>
                <a:latin typeface="Arial"/>
                <a:cs typeface="Arial"/>
              </a:rPr>
              <a:t>Effect modification by heart failure: an interaction term (pre-specified).</a:t>
            </a:r>
          </a:p>
          <a:p>
            <a:pPr marL="274320" indent="-274320" algn="l">
              <a:lnSpc>
                <a:spcPct val="106000"/>
              </a:lnSpc>
              <a:spcBef>
                <a:spcPts val="560"/>
              </a:spcBef>
              <a:buFont typeface="Arial"/>
              <a:buChar char="•"/>
            </a:pPr>
            <a:r>
              <a:rPr lang="en-US" sz="1700" dirty="0">
                <a:solidFill>
                  <a:srgbClr val="000000"/>
                </a:solidFill>
                <a:latin typeface="Arial"/>
                <a:cs typeface="Arial"/>
              </a:rPr>
              <a:t>Main analysis on complete cases. Missing lactate (15%) handled by multiple imputation (20 data sets) as a sensitivity analysis.</a:t>
            </a:r>
          </a:p>
          <a:p>
            <a:pPr marL="274320" indent="-274320" algn="l">
              <a:lnSpc>
                <a:spcPct val="106000"/>
              </a:lnSpc>
              <a:spcBef>
                <a:spcPts val="560"/>
              </a:spcBef>
              <a:buFont typeface="Arial"/>
              <a:buChar char="•"/>
            </a:pPr>
            <a:r>
              <a:rPr lang="en-US" sz="1700" dirty="0">
                <a:solidFill>
                  <a:srgbClr val="000000"/>
                </a:solidFill>
                <a:latin typeface="Arial"/>
                <a:cs typeface="Arial"/>
              </a:rPr>
              <a:t>Estimates with 95% confidence intervals. Analyses in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Results: report, do not interpret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Participants first</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Screened, included, analysed, and why some were lost</a:t>
            </a:r>
          </a:p>
          <a:p>
            <a:pPr marL="0" indent="0" algn="ctr">
              <a:lnSpc>
                <a:spcPct val="104000"/>
              </a:lnSpc>
              <a:spcBef>
                <a:spcPts val="400"/>
              </a:spcBef>
              <a:buNone/>
            </a:pPr>
            <a:r>
              <a:rPr lang="en-US" sz="1600" dirty="0">
                <a:solidFill>
                  <a:srgbClr val="000000"/>
                </a:solidFill>
                <a:latin typeface="Arial"/>
                <a:cs typeface="Arial"/>
              </a:rPr>
              <a:t>Paper 1: 1201 screened, 50 randomised, 48 analysed</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Numbers with CIs</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Effect size with its 95% confidence interval (CI)</a:t>
            </a:r>
          </a:p>
          <a:p>
            <a:pPr marL="0" indent="0" algn="ctr">
              <a:lnSpc>
                <a:spcPct val="104000"/>
              </a:lnSpc>
              <a:spcBef>
                <a:spcPts val="400"/>
              </a:spcBef>
              <a:buNone/>
            </a:pPr>
            <a:r>
              <a:rPr lang="en-US" sz="1600" dirty="0">
                <a:solidFill>
                  <a:srgbClr val="000000"/>
                </a:solidFill>
                <a:latin typeface="Arial"/>
                <a:cs typeface="Arial"/>
              </a:rPr>
              <a:t>Not 'p = 0.42, not significant'</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No interpretation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Results report, the Discussion interprets</a:t>
            </a:r>
          </a:p>
          <a:p>
            <a:pPr marL="0" indent="0" algn="ctr">
              <a:lnSpc>
                <a:spcPct val="104000"/>
              </a:lnSpc>
              <a:spcBef>
                <a:spcPts val="400"/>
              </a:spcBef>
              <a:buNone/>
            </a:pPr>
            <a:r>
              <a:rPr lang="en-US" sz="1600" dirty="0">
                <a:solidFill>
                  <a:srgbClr val="000000"/>
                </a:solidFill>
                <a:latin typeface="Arial"/>
                <a:cs typeface="Arial"/>
              </a:rPr>
              <a:t>Paper 2: results in the order of the aims</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One home per number</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Key numbers in the text, details in the tables</a:t>
            </a:r>
          </a:p>
          <a:p>
            <a:pPr marL="0" indent="0" algn="ctr">
              <a:lnSpc>
                <a:spcPct val="104000"/>
              </a:lnSpc>
              <a:spcBef>
                <a:spcPts val="400"/>
              </a:spcBef>
              <a:buNone/>
            </a:pPr>
            <a:r>
              <a:rPr lang="en-US" sz="1600" dirty="0">
                <a:solidFill>
                  <a:srgbClr val="000000"/>
                </a:solidFill>
                <a:latin typeface="Arial"/>
                <a:cs typeface="Arial"/>
              </a:rPr>
              <a:t>Paper 1: text and Table 1 disagree on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Participants first, then each outcome as an effect size with its 95%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Results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Participants, Table 1, outcome numbers, crude and adjusted estimates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 13: Of 620 patients enrolled, 618 had a day-3 fluid balance and were analysed, 527 had complete data for the adjusted model.</a:t>
            </a:r>
          </a:p>
          <a:p>
            <a:pPr marL="274320" indent="-274320" algn="l">
              <a:lnSpc>
                <a:spcPct val="106000"/>
              </a:lnSpc>
              <a:spcBef>
                <a:spcPts val="560"/>
              </a:spcBef>
              <a:buFont typeface="Arial"/>
              <a:buChar char="•"/>
            </a:pPr>
            <a:r>
              <a:rPr lang="en-US" sz="1700" dirty="0">
                <a:solidFill>
                  <a:srgbClr val="000000"/>
                </a:solidFill>
                <a:latin typeface="Arial"/>
                <a:cs typeface="Arial"/>
              </a:rPr>
              <a:t>Item 14: 373 (60.4%) had a positive balance. They were sicker: median SOFA 8 vs 6. Vasopressors 55.0% vs 24.9% (Table 1).</a:t>
            </a:r>
          </a:p>
          <a:p>
            <a:pPr marL="274320" indent="-274320" algn="l">
              <a:lnSpc>
                <a:spcPct val="106000"/>
              </a:lnSpc>
              <a:spcBef>
                <a:spcPts val="560"/>
              </a:spcBef>
              <a:buFont typeface="Arial"/>
              <a:buChar char="•"/>
            </a:pPr>
            <a:r>
              <a:rPr lang="en-US" sz="1700" dirty="0">
                <a:solidFill>
                  <a:srgbClr val="000000"/>
                </a:solidFill>
                <a:latin typeface="Arial"/>
                <a:cs typeface="Arial"/>
              </a:rPr>
              <a:t>Item 15: By day 28, 134 of 373 (35.9%) patients with a positive balance and 45 of 245 (18.4%) with a negative balance had died.</a:t>
            </a:r>
          </a:p>
          <a:p>
            <a:pPr marL="274320" indent="-274320" algn="l">
              <a:lnSpc>
                <a:spcPct val="106000"/>
              </a:lnSpc>
              <a:spcBef>
                <a:spcPts val="560"/>
              </a:spcBef>
              <a:buFont typeface="Arial"/>
              <a:buChar char="•"/>
            </a:pPr>
            <a:r>
              <a:rPr lang="en-US" sz="1700" dirty="0">
                <a:solidFill>
                  <a:srgbClr val="000000"/>
                </a:solidFill>
                <a:latin typeface="Arial"/>
                <a:cs typeface="Arial"/>
              </a:rPr>
              <a:t>Item 16: Crude OR 2.49 (95% CI 1.70 to 3.70),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Item 17: Multiple imputation: adjusted OR 1.70 (1.09 to 2.64). Adjusted Cox HR 1.46 (1.00 to 2.13).</a:t>
            </a:r>
          </a:p>
          <a:p>
            <a:pPr marL="274320" indent="-274320" algn="l">
              <a:lnSpc>
                <a:spcPct val="106000"/>
              </a:lnSpc>
              <a:spcBef>
                <a:spcPts val="560"/>
              </a:spcBef>
              <a:buFont typeface="Arial"/>
              <a:buChar char="•"/>
            </a:pPr>
            <a:r>
              <a:rPr lang="en-US" sz="1700" dirty="0">
                <a:solidFill>
                  <a:srgbClr val="0B376C"/>
                </a:solidFill>
                <a:latin typeface="Arial"/>
                <a:cs typeface="Arial"/>
              </a:rPr>
              <a:t>No 'because', no 'significant', no 'suggests': numbers with 95% CIs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Tables and figures that stand alone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reader should understand each table without reading the text.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FLUID-ICU Table 1 in one sentence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Positive balance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Age, years, mean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SOFA score, median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to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to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Vasopressor,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Mechanical ventilation,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Lactate, mmol/L, median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to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to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Heart failure,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Simulated data (results pack Q1, Table 1). SOFA = organ failure score. IQR = interquartile range. Sentence: 'Patients with a positive balance were sicker at baseline.'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for the FLUID-ICU paper: which item goes where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a cohort, so the paper follows STROBE. Numbers are STROBE item numbers.</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Methods (items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4  Design</a:t>
            </a:r>
          </a:p>
          <a:p>
            <a:pPr marL="0" indent="0" algn="ctr">
              <a:lnSpc>
                <a:spcPct val="104000"/>
              </a:lnSpc>
              <a:spcBef>
                <a:spcPts val="400"/>
              </a:spcBef>
              <a:buNone/>
            </a:pPr>
            <a:r>
              <a:rPr lang="en-US" sz="1500" dirty="0">
                <a:solidFill>
                  <a:srgbClr val="000000"/>
                </a:solidFill>
                <a:latin typeface="Arial"/>
                <a:cs typeface="Arial"/>
              </a:rPr>
              <a:t>5  Setting, dates</a:t>
            </a:r>
          </a:p>
          <a:p>
            <a:pPr marL="0" indent="0" algn="ctr">
              <a:lnSpc>
                <a:spcPct val="104000"/>
              </a:lnSpc>
              <a:spcBef>
                <a:spcPts val="400"/>
              </a:spcBef>
              <a:buNone/>
            </a:pPr>
            <a:r>
              <a:rPr lang="en-US" sz="1500" dirty="0">
                <a:solidFill>
                  <a:srgbClr val="000000"/>
                </a:solidFill>
                <a:latin typeface="Arial"/>
                <a:cs typeface="Arial"/>
              </a:rPr>
              <a:t>6  Participants</a:t>
            </a:r>
          </a:p>
          <a:p>
            <a:pPr marL="0" indent="0" algn="ctr">
              <a:lnSpc>
                <a:spcPct val="104000"/>
              </a:lnSpc>
              <a:spcBef>
                <a:spcPts val="400"/>
              </a:spcBef>
              <a:buNone/>
            </a:pPr>
            <a:r>
              <a:rPr lang="en-US" sz="1500" dirty="0">
                <a:solidFill>
                  <a:srgbClr val="000000"/>
                </a:solidFill>
                <a:latin typeface="Arial"/>
                <a:cs typeface="Arial"/>
              </a:rPr>
              <a:t>7  Variables</a:t>
            </a:r>
          </a:p>
          <a:p>
            <a:pPr marL="0" indent="0" algn="ctr">
              <a:lnSpc>
                <a:spcPct val="104000"/>
              </a:lnSpc>
              <a:spcBef>
                <a:spcPts val="400"/>
              </a:spcBef>
              <a:buNone/>
            </a:pPr>
            <a:r>
              <a:rPr lang="en-US" sz="1500" dirty="0">
                <a:solidFill>
                  <a:srgbClr val="000000"/>
                </a:solidFill>
                <a:latin typeface="Arial"/>
                <a:cs typeface="Arial"/>
              </a:rPr>
              <a:t>8  Data sources</a:t>
            </a:r>
          </a:p>
          <a:p>
            <a:pPr marL="0" indent="0" algn="ctr">
              <a:lnSpc>
                <a:spcPct val="104000"/>
              </a:lnSpc>
              <a:spcBef>
                <a:spcPts val="400"/>
              </a:spcBef>
              <a:buNone/>
            </a:pPr>
            <a:r>
              <a:rPr lang="en-US" sz="1500" dirty="0">
                <a:solidFill>
                  <a:srgbClr val="000000"/>
                </a:solidFill>
                <a:latin typeface="Arial"/>
                <a:cs typeface="Arial"/>
              </a:rPr>
              <a:t>9  Bias</a:t>
            </a:r>
          </a:p>
          <a:p>
            <a:pPr marL="0" indent="0" algn="ctr">
              <a:lnSpc>
                <a:spcPct val="104000"/>
              </a:lnSpc>
              <a:spcBef>
                <a:spcPts val="400"/>
              </a:spcBef>
              <a:buNone/>
            </a:pPr>
            <a:r>
              <a:rPr lang="en-US" sz="1500" dirty="0">
                <a:solidFill>
                  <a:srgbClr val="000000"/>
                </a:solidFill>
                <a:latin typeface="Arial"/>
                <a:cs typeface="Arial"/>
              </a:rPr>
              <a:t>10  Study size</a:t>
            </a:r>
          </a:p>
          <a:p>
            <a:pPr marL="0" indent="0" algn="ctr">
              <a:lnSpc>
                <a:spcPct val="104000"/>
              </a:lnSpc>
              <a:spcBef>
                <a:spcPts val="400"/>
              </a:spcBef>
              <a:buNone/>
            </a:pPr>
            <a:r>
              <a:rPr lang="en-US" sz="1500" dirty="0">
                <a:solidFill>
                  <a:srgbClr val="000000"/>
                </a:solidFill>
                <a:latin typeface="Arial"/>
                <a:cs typeface="Arial"/>
              </a:rPr>
              <a:t>12  Statistics, missing data</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Results (items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13  Participants and flow</a:t>
            </a:r>
          </a:p>
          <a:p>
            <a:pPr marL="0" indent="0" algn="ctr">
              <a:lnSpc>
                <a:spcPct val="104000"/>
              </a:lnSpc>
              <a:spcBef>
                <a:spcPts val="400"/>
              </a:spcBef>
              <a:buNone/>
            </a:pPr>
            <a:r>
              <a:rPr lang="en-US" sz="1500" dirty="0">
                <a:solidFill>
                  <a:srgbClr val="000000"/>
                </a:solidFill>
                <a:latin typeface="Arial"/>
                <a:cs typeface="Arial"/>
              </a:rPr>
              <a:t>14  Descriptive data (Table 1)</a:t>
            </a:r>
          </a:p>
          <a:p>
            <a:pPr marL="0" indent="0" algn="ctr">
              <a:lnSpc>
                <a:spcPct val="104000"/>
              </a:lnSpc>
              <a:spcBef>
                <a:spcPts val="400"/>
              </a:spcBef>
              <a:buNone/>
            </a:pPr>
            <a:r>
              <a:rPr lang="en-US" sz="1500" dirty="0">
                <a:solidFill>
                  <a:srgbClr val="000000"/>
                </a:solidFill>
                <a:latin typeface="Arial"/>
                <a:cs typeface="Arial"/>
              </a:rPr>
              <a:t>15  Outcome data</a:t>
            </a:r>
          </a:p>
          <a:p>
            <a:pPr marL="0" indent="0" algn="ctr">
              <a:lnSpc>
                <a:spcPct val="104000"/>
              </a:lnSpc>
              <a:spcBef>
                <a:spcPts val="400"/>
              </a:spcBef>
              <a:buNone/>
            </a:pPr>
            <a:r>
              <a:rPr lang="en-US" sz="1500" dirty="0">
                <a:solidFill>
                  <a:srgbClr val="000000"/>
                </a:solidFill>
                <a:latin typeface="Arial"/>
                <a:cs typeface="Arial"/>
              </a:rPr>
              <a:t>16  Main results: crude and adjusted, 95% CI</a:t>
            </a:r>
          </a:p>
          <a:p>
            <a:pPr marL="0" indent="0" algn="ctr">
              <a:lnSpc>
                <a:spcPct val="104000"/>
              </a:lnSpc>
              <a:spcBef>
                <a:spcPts val="400"/>
              </a:spcBef>
              <a:buNone/>
            </a:pPr>
            <a:r>
              <a:rPr lang="en-US" sz="1500" dirty="0">
                <a:solidFill>
                  <a:srgbClr val="000000"/>
                </a:solidFill>
                <a:latin typeface="Arial"/>
                <a:cs typeface="Arial"/>
              </a:rPr>
              <a:t>17  Other analyses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Methods: items 4 to 12. Results: items 13 to 17.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Methods, Results or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used logistic regression adjusted for SOFA score and age.'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'Of 620 patients enrolled, 618 had a day-3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'This may be because sicker patients received more fluid.'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was missing in 15.0% of patients and was imputed.'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mortality was higher with a positive balance (adjusted OR 1.62, 95% CI 1.02 to 2.59).'</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Methods</a:t>
            </a:r>
          </a:p>
          <a:p>
            <a:pPr marL="0" indent="0" algn="ctr">
              <a:lnSpc>
                <a:spcPct val="104000"/>
              </a:lnSpc>
              <a:spcBef>
                <a:spcPts val="300"/>
              </a:spcBef>
              <a:buNone/>
            </a:pPr>
            <a:r>
              <a:rPr lang="en-US" sz="1500" dirty="0">
                <a:solidFill>
                  <a:srgbClr val="000000"/>
                </a:solidFill>
                <a:latin typeface="Arial"/>
                <a:cs typeface="Arial"/>
              </a:rPr>
              <a:t>Results (participants)</a:t>
            </a:r>
          </a:p>
          <a:p>
            <a:pPr marL="0" indent="0" algn="ctr">
              <a:lnSpc>
                <a:spcPct val="104000"/>
              </a:lnSpc>
              <a:spcBef>
                <a:spcPts val="300"/>
              </a:spcBef>
              <a:buNone/>
            </a:pPr>
            <a:r>
              <a:rPr lang="en-US" sz="1500" dirty="0">
                <a:solidFill>
                  <a:srgbClr val="000000"/>
                </a:solidFill>
                <a:latin typeface="Arial"/>
                <a:cs typeface="Arial"/>
              </a:rPr>
              <a:t>Discussion (explains)</a:t>
            </a:r>
          </a:p>
          <a:p>
            <a:pPr marL="0" indent="0" algn="ctr">
              <a:lnSpc>
                <a:spcPct val="104000"/>
              </a:lnSpc>
              <a:spcBef>
                <a:spcPts val="300"/>
              </a:spcBef>
              <a:buNone/>
            </a:pPr>
            <a:r>
              <a:rPr lang="en-US" sz="1500" dirty="0">
                <a:solidFill>
                  <a:srgbClr val="000000"/>
                </a:solidFill>
                <a:latin typeface="Arial"/>
                <a:cs typeface="Arial"/>
              </a:rPr>
              <a:t>Methods (how) and Results (how many)</a:t>
            </a:r>
          </a:p>
          <a:p>
            <a:pPr marL="0" indent="0" algn="ctr">
              <a:lnSpc>
                <a:spcPct val="104000"/>
              </a:lnSpc>
              <a:spcBef>
                <a:spcPts val="300"/>
              </a:spcBef>
              <a:buNone/>
            </a:pPr>
            <a:r>
              <a:rPr lang="en-US" sz="1500" dirty="0">
                <a:solidFill>
                  <a:srgbClr val="000000"/>
                </a:solidFill>
                <a:latin typeface="Arial"/>
                <a:cs typeface="Arial"/>
              </a:rPr>
              <a:t>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Write the Results section: together, then on your own</a:t>
            </a:r>
          </a:p>
          <a:p>
            <a:pPr marL="0" indent="0" algn="ctr">
              <a:spcBef>
                <a:spcPts val="1200"/>
              </a:spcBef>
              <a:buNone/>
            </a:pPr>
            <a:r>
              <a:rPr lang="en-US" sz="1900" i="1" dirty="0">
                <a:solidFill>
                  <a:srgbClr val="595959"/>
                </a:solidFill>
                <a:latin typeface="Arial"/>
                <a:cs typeface="Arial"/>
              </a:rPr>
              <a:t>30 minutes on Q1 with the whole class, then 15 minutes on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1: we draft Q1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shares the manuscript template and results pack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Participants and Table 1 (10 min): you suggest each sentence when called 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Main results (12 min): deaths per group, crude and adjusted OR with 95% CI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Other analyses (5 min): Cox model and multiple imputation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Number check (3 min): a volunteer reads each number against the pack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a:t>
            </a:r>
          </a:p>
          <a:p>
            <a:pPr marL="0" indent="0" algn="ctr">
              <a:lnSpc>
                <a:spcPct val="104000"/>
              </a:lnSpc>
              <a:spcBef>
                <a:spcPts val="300"/>
              </a:spcBef>
              <a:buNone/>
            </a:pPr>
            <a:r>
              <a:rPr lang="en-US" sz="1500" dirty="0">
                <a:solidFill>
                  <a:srgbClr val="000000"/>
                </a:solidFill>
                <a:latin typeface="Arial"/>
                <a:cs typeface="Arial"/>
              </a:rPr>
              <a:t>Results pack Q1</a:t>
            </a:r>
          </a:p>
          <a:p>
            <a:pPr marL="0" indent="0" algn="ctr">
              <a:lnSpc>
                <a:spcPct val="104000"/>
              </a:lnSpc>
              <a:spcBef>
                <a:spcPts val="300"/>
              </a:spcBef>
              <a:buNone/>
            </a:pPr>
            <a:r>
              <a:rPr lang="en-US" sz="1500" dirty="0">
                <a:solidFill>
                  <a:srgbClr val="000000"/>
                </a:solidFill>
                <a:latin typeface="Arial"/>
                <a:cs typeface="Arial"/>
              </a:rPr>
              <a:t>Manuscript template</a:t>
            </a:r>
          </a:p>
          <a:p>
            <a:pPr marL="0" indent="0" algn="ctr">
              <a:lnSpc>
                <a:spcPct val="104000"/>
              </a:lnSpc>
              <a:spcBef>
                <a:spcPts val="300"/>
              </a:spcBef>
              <a:buNone/>
            </a:pPr>
            <a:r>
              <a:rPr lang="en-US" sz="1500" dirty="0">
                <a:solidFill>
                  <a:srgbClr val="000000"/>
                </a:solidFill>
                <a:latin typeface="Arial"/>
                <a:cs typeface="Arial"/>
              </a:rPr>
              <a:t>STROBE items 13-17</a:t>
            </a:r>
          </a:p>
          <a:p>
            <a:pPr marL="0" indent="0" algn="ctr">
              <a:lnSpc>
                <a:spcPct val="104000"/>
              </a:lnSpc>
              <a:spcBef>
                <a:spcPts val="300"/>
              </a:spcBef>
              <a:buNone/>
            </a:pPr>
            <a:r>
              <a:rPr lang="en-US" sz="1500" dirty="0">
                <a:solidFill>
                  <a:srgbClr val="000000"/>
                </a:solidFill>
                <a:latin typeface="Arial"/>
                <a:cs typeface="Arial"/>
              </a:rPr>
              <a:t>The worked examples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Results section for Q1, sent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2: start your own draft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Open the results pack for your question (Q1 to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Follow the structure of the class draft. Take every number from your pack</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Start with participants and the Table 1 sentence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Questions: raise your hand or use the chat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At home: finish the Results, Table 1 and one main table or figure</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The five questions</a:t>
            </a:r>
          </a:p>
          <a:p>
            <a:pPr marL="0" indent="0" algn="ctr">
              <a:lnSpc>
                <a:spcPct val="104000"/>
              </a:lnSpc>
              <a:spcBef>
                <a:spcPts val="300"/>
              </a:spcBef>
              <a:buNone/>
            </a:pPr>
            <a:r>
              <a:rPr lang="en-US" sz="1500" dirty="0">
                <a:solidFill>
                  <a:srgbClr val="000000"/>
                </a:solidFill>
                <a:latin typeface="Arial"/>
                <a:cs typeface="Arial"/>
              </a:rPr>
              <a:t>Q1 Fluid balance and 28-day death</a:t>
            </a:r>
          </a:p>
          <a:p>
            <a:pPr marL="0" indent="0" algn="ctr">
              <a:lnSpc>
                <a:spcPct val="104000"/>
              </a:lnSpc>
              <a:spcBef>
                <a:spcPts val="300"/>
              </a:spcBef>
              <a:buNone/>
            </a:pPr>
            <a:r>
              <a:rPr lang="en-US" sz="1500" dirty="0">
                <a:solidFill>
                  <a:srgbClr val="000000"/>
                </a:solidFill>
                <a:latin typeface="Arial"/>
                <a:cs typeface="Arial"/>
              </a:rPr>
              <a:t>Q2 Fluid balance and AKI (acute kidney injury)</a:t>
            </a:r>
          </a:p>
          <a:p>
            <a:pPr marL="0" indent="0" algn="ctr">
              <a:lnSpc>
                <a:spcPct val="104000"/>
              </a:lnSpc>
              <a:spcBef>
                <a:spcPts val="300"/>
              </a:spcBef>
              <a:buNone/>
            </a:pPr>
            <a:r>
              <a:rPr lang="en-US" sz="1500" dirty="0">
                <a:solidFill>
                  <a:srgbClr val="000000"/>
                </a:solidFill>
                <a:latin typeface="Arial"/>
                <a:cs typeface="Arial"/>
              </a:rPr>
              <a:t>Q3 Fluid balance and ventilator-free days</a:t>
            </a:r>
          </a:p>
          <a:p>
            <a:pPr marL="0" indent="0" algn="ctr">
              <a:lnSpc>
                <a:spcPct val="104000"/>
              </a:lnSpc>
              <a:spcBef>
                <a:spcPts val="300"/>
              </a:spcBef>
              <a:buNone/>
            </a:pPr>
            <a:r>
              <a:rPr lang="en-US" sz="1500" dirty="0">
                <a:solidFill>
                  <a:srgbClr val="000000"/>
                </a:solidFill>
                <a:latin typeface="Arial"/>
                <a:cs typeface="Arial"/>
              </a:rPr>
              <a:t>Q4 Lactate, death and missing data</a:t>
            </a:r>
          </a:p>
          <a:p>
            <a:pPr marL="0" indent="0" algn="ctr">
              <a:lnSpc>
                <a:spcPct val="104000"/>
              </a:lnSpc>
              <a:spcBef>
                <a:spcPts val="300"/>
              </a:spcBef>
              <a:buNone/>
            </a:pPr>
            <a:r>
              <a:rPr lang="en-US" sz="1500" dirty="0">
                <a:solidFill>
                  <a:srgbClr val="000000"/>
                </a:solidFill>
                <a:latin typeface="Arial"/>
                <a:cs typeface="Arial"/>
              </a:rPr>
              <a:t>Q5 Fluid balance and ICU stay (survivors)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Results section, due 23:59 on Sunday 20 December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Deferred consent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Enrol first in an emergency, ask consent as soon as possible (committee-approved)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Registration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record of a study before patient 1 (mandatory for trials)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Research misconduct: fabrication, falsification, plagiarism</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ICMJE criteria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The four conditions every author must meet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Conflict of interest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Anything that could be seen to influence your judgement. Declare it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Reporting checklist for observational studies: Methods items 4-12, Results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the PDF sent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Peer review: your reviewer and your deadlines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When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What you do</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23:59, Sunday 20 December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Email your Results section to your reviewer and the course lead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Wednesday 30 December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Reviewers email their review to the author and the course lead</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Saturday 9 January 2027</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Email your revised Results section and response letter to the course lead</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Reviewers were assigned at random: see the list on screen and in your email. Course lead: myluong1710@gmail.com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exit question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Three take-home messages (right)</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'Who consents for a sedated patient in septic shock, and when?'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1: write Part 4 of your own proposal</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2: write your Results section (due 23:59, Sunday 20 December)</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3: prepare your 6 presentation slides (everyone submits them)</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Take home</a:t>
            </a:r>
          </a:p>
          <a:p>
            <a:pPr marL="0" indent="0" algn="ctr">
              <a:lnSpc>
                <a:spcPct val="104000"/>
              </a:lnSpc>
              <a:spcBef>
                <a:spcPts val="300"/>
              </a:spcBef>
              <a:buNone/>
            </a:pPr>
            <a:r>
              <a:rPr lang="en-US" sz="1500" dirty="0">
                <a:solidFill>
                  <a:srgbClr val="000000"/>
                </a:solidFill>
                <a:latin typeface="Arial"/>
                <a:cs typeface="Arial"/>
              </a:rPr>
              <a:t>No approval, no data: not even 'a few patients'</a:t>
            </a:r>
          </a:p>
          <a:p>
            <a:pPr marL="0" indent="0" algn="ctr">
              <a:lnSpc>
                <a:spcPct val="104000"/>
              </a:lnSpc>
              <a:spcBef>
                <a:spcPts val="300"/>
              </a:spcBef>
              <a:buNone/>
            </a:pPr>
            <a:r>
              <a:rPr lang="en-US" sz="1500" dirty="0">
                <a:solidFill>
                  <a:srgbClr val="000000"/>
                </a:solidFill>
                <a:latin typeface="Arial"/>
                <a:cs typeface="Arial"/>
              </a:rPr>
              <a:t>Every author meets all four criteria. Declare every interest</a:t>
            </a:r>
          </a:p>
          <a:p>
            <a:pPr marL="0" indent="0" algn="ctr">
              <a:lnSpc>
                <a:spcPct val="104000"/>
              </a:lnSpc>
              <a:spcBef>
                <a:spcPts val="300"/>
              </a:spcBef>
              <a:buNone/>
            </a:pPr>
            <a:r>
              <a:rPr lang="en-US" sz="1500" dirty="0">
                <a:solidFill>
                  <a:srgbClr val="000000"/>
                </a:solidFill>
                <a:latin typeface="Arial"/>
                <a:cs typeface="Arial"/>
              </a:rPr>
              <a:t>Results = numbers with CIs, no opinions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answers read before Session 8. Part 4 and the Results drafted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7</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register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randomised trial of restrictive vs usual fluids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systematic review of fluid strategies in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retrospective cohort from ICU charts (like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clinical audit of fluid-balance charting against the unit standard</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Must: a trial registry, before patient 1</a:t>
            </a:r>
          </a:p>
          <a:p>
            <a:pPr marL="0" indent="0" algn="ctr">
              <a:lnSpc>
                <a:spcPct val="104000"/>
              </a:lnSpc>
              <a:spcBef>
                <a:spcPts val="300"/>
              </a:spcBef>
              <a:buNone/>
            </a:pPr>
            <a:r>
              <a:rPr lang="en-US" sz="1500" dirty="0">
                <a:solidFill>
                  <a:srgbClr val="000000"/>
                </a:solidFill>
                <a:latin typeface="Arial"/>
                <a:cs typeface="Arial"/>
              </a:rPr>
              <a:t>Should: PROSPERO</a:t>
            </a:r>
          </a:p>
          <a:p>
            <a:pPr marL="0" indent="0" algn="ctr">
              <a:lnSpc>
                <a:spcPct val="104000"/>
              </a:lnSpc>
              <a:spcBef>
                <a:spcPts val="300"/>
              </a:spcBef>
              <a:buNone/>
            </a:pPr>
            <a:r>
              <a:rPr lang="en-US" sz="1500" dirty="0">
                <a:solidFill>
                  <a:srgbClr val="000000"/>
                </a:solidFill>
                <a:latin typeface="Arial"/>
                <a:cs typeface="Arial"/>
              </a:rPr>
              <a:t>Recommended, not required</a:t>
            </a:r>
          </a:p>
          <a:p>
            <a:pPr marL="0" indent="0" algn="ctr">
              <a:lnSpc>
                <a:spcPct val="104000"/>
              </a:lnSpc>
              <a:spcBef>
                <a:spcPts val="300"/>
              </a:spcBef>
              <a:buNone/>
            </a:pPr>
            <a:r>
              <a:rPr lang="en-US" sz="1500" dirty="0">
                <a:solidFill>
                  <a:srgbClr val="000000"/>
                </a:solidFill>
                <a:latin typeface="Arial"/>
                <a:cs typeface="Arial"/>
              </a:rPr>
              <a:t>Audit: no research registration, local approval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say who did what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(Contributor Roles Taxonomy): 14 standard roles that journals now ask for.</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Some of the 14 roles</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Conceptualization</a:t>
            </a:r>
          </a:p>
          <a:p>
            <a:pPr marL="0" indent="0" algn="ctr">
              <a:lnSpc>
                <a:spcPct val="104000"/>
              </a:lnSpc>
              <a:spcBef>
                <a:spcPts val="400"/>
              </a:spcBef>
              <a:buNone/>
            </a:pPr>
            <a:r>
              <a:rPr lang="en-US" sz="1750" dirty="0">
                <a:solidFill>
                  <a:srgbClr val="000000"/>
                </a:solidFill>
                <a:latin typeface="Arial"/>
                <a:cs typeface="Arial"/>
              </a:rPr>
              <a:t>Methodology</a:t>
            </a:r>
          </a:p>
          <a:p>
            <a:pPr marL="0" indent="0" algn="ctr">
              <a:lnSpc>
                <a:spcPct val="104000"/>
              </a:lnSpc>
              <a:spcBef>
                <a:spcPts val="400"/>
              </a:spcBef>
              <a:buNone/>
            </a:pPr>
            <a:r>
              <a:rPr lang="en-US" sz="1750" dirty="0">
                <a:solidFill>
                  <a:srgbClr val="000000"/>
                </a:solidFill>
                <a:latin typeface="Arial"/>
                <a:cs typeface="Arial"/>
              </a:rPr>
              <a:t>Investigation</a:t>
            </a:r>
          </a:p>
          <a:p>
            <a:pPr marL="0" indent="0" algn="ctr">
              <a:lnSpc>
                <a:spcPct val="104000"/>
              </a:lnSpc>
              <a:spcBef>
                <a:spcPts val="400"/>
              </a:spcBef>
              <a:buNone/>
            </a:pPr>
            <a:r>
              <a:rPr lang="en-US" sz="1750" dirty="0">
                <a:solidFill>
                  <a:srgbClr val="000000"/>
                </a:solidFill>
                <a:latin typeface="Arial"/>
                <a:cs typeface="Arial"/>
              </a:rPr>
              <a:t>Formal analysis</a:t>
            </a:r>
          </a:p>
          <a:p>
            <a:pPr marL="0" indent="0" algn="ctr">
              <a:lnSpc>
                <a:spcPct val="104000"/>
              </a:lnSpc>
              <a:spcBef>
                <a:spcPts val="400"/>
              </a:spcBef>
              <a:buNone/>
            </a:pPr>
            <a:r>
              <a:rPr lang="en-US" sz="1750" dirty="0">
                <a:solidFill>
                  <a:srgbClr val="000000"/>
                </a:solidFill>
                <a:latin typeface="Arial"/>
                <a:cs typeface="Arial"/>
              </a:rPr>
              <a:t>Writing (original draft)</a:t>
            </a:r>
          </a:p>
          <a:p>
            <a:pPr marL="0" indent="0" algn="ctr">
              <a:lnSpc>
                <a:spcPct val="104000"/>
              </a:lnSpc>
              <a:spcBef>
                <a:spcPts val="400"/>
              </a:spcBef>
              <a:buNone/>
            </a:pPr>
            <a:r>
              <a:rPr lang="en-US" sz="1750" dirty="0">
                <a:solidFill>
                  <a:srgbClr val="000000"/>
                </a:solidFill>
                <a:latin typeface="Arial"/>
                <a:cs typeface="Arial"/>
              </a:rPr>
              <a:t>Writing (review and editing)</a:t>
            </a:r>
          </a:p>
          <a:p>
            <a:pPr marL="0" indent="0" algn="ctr">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did it</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NB: Writing (original draft)</a:t>
            </a:r>
          </a:p>
          <a:p>
            <a:pPr marL="0" indent="0" algn="ctr">
              <a:lnSpc>
                <a:spcPct val="104000"/>
              </a:lnSpc>
              <a:spcBef>
                <a:spcPts val="400"/>
              </a:spcBef>
              <a:buNone/>
            </a:pPr>
            <a:r>
              <a:rPr lang="en-US" sz="1750" dirty="0">
                <a:solidFill>
                  <a:srgbClr val="000000"/>
                </a:solidFill>
                <a:latin typeface="Arial"/>
                <a:cs typeface="Arial"/>
              </a:rPr>
              <a:t>CS: Methodology, Formal analysis</a:t>
            </a:r>
          </a:p>
          <a:p>
            <a:pPr marL="0" indent="0" algn="ctr">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Agree the author list now</a:t>
            </a:r>
          </a:p>
          <a:p>
            <a:pPr marL="0" indent="0" algn="ctr">
              <a:lnSpc>
                <a:spcPct val="104000"/>
              </a:lnSpc>
              <a:spcBef>
                <a:spcPts val="400"/>
              </a:spcBef>
              <a:buNone/>
            </a:pPr>
            <a:r>
              <a:rPr lang="en-US" sz="1750" dirty="0">
                <a:solidFill>
                  <a:srgbClr val="000000"/>
                </a:solidFill>
                <a:latin typeface="Arial"/>
                <a:cs typeface="Arial"/>
              </a:rPr>
              <a:t>Write each person's roles</a:t>
            </a:r>
          </a:p>
          <a:p>
            <a:pPr marL="0" indent="0" algn="ctr">
              <a:lnSpc>
                <a:spcPct val="104000"/>
              </a:lnSpc>
              <a:spcBef>
                <a:spcPts val="400"/>
              </a:spcBef>
              <a:buNone/>
            </a:pPr>
            <a:r>
              <a:rPr lang="en-US" sz="1750" dirty="0">
                <a:solidFill>
                  <a:srgbClr val="000000"/>
                </a:solidFill>
                <a:latin typeface="Arial"/>
                <a:cs typeface="Arial"/>
              </a:rPr>
              <a:t>Revisit before submission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Transparent roles prevent gift and ghost authorship.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