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7.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(19:30-22:30, break 20:45-21:00). Before the break: ethics, integrity and Proposal Part 4. After the break: IMRaD, Methods and Results.</a:t>
            </a:r>
          </a:p>
          <a:p>
            <a:r>
              <a:rPr lang="en-US" sz="1400" b="0" dirty="0"/>
              <a:t>Before the session, email the exercise sheet, the five results packs, the manuscript template and the list of reviewer pairs.</a:t>
            </a:r>
          </a:p>
          <a:p>
            <a:r>
              <a:rPr lang="en-US" sz="1400" b="0" dirty="0"/>
              <a:t>If time is short, drop extra slides,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Start with two or three Session 6 exit answers.</a:t>
            </a:r>
          </a:p>
          <a:p>
            <a:r>
              <a:rPr lang="en-US" sz="1400" b="0" dirty="0"/>
              <a:t>Questions 1-4: 30 seconds each, call on two or three people, then reveal. Question 1 leads to today: the Results report both crude and adjusted estimates.</a:t>
            </a:r>
          </a:p>
          <a:p>
            <a:r>
              <a:rPr lang="en-US" sz="1400" b="0" dirty="0"/>
              <a:t>Question 5 in the chat: the main result of the question each person chose. Anyone without a question chooses one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individual products. Proposal: Part 4 today, submitted next Saturday.</a:t>
            </a:r>
          </a:p>
          <a:p>
            <a:r>
              <a:rPr lang="en-US" sz="1400" b="0" dirty="0"/>
              <a:t>Results section: we give the results for each person's question, they write a submission-ready Results section.</a:t>
            </a:r>
          </a:p>
          <a:p>
            <a:r>
              <a:rPr lang="en-US" sz="1400" b="0" dirty="0"/>
              <a:t>Every section is taught: Methods and Results today, Introduction, Discussion, abstract and title next week. Only the Results must be submitted.</a:t>
            </a:r>
          </a:p>
          <a:p>
            <a:r>
              <a:rPr lang="en-US" sz="1400" b="0" dirty="0"/>
              <a:t>Ask: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a:t>
            </a:r>
          </a:p>
          <a:p>
            <a:r>
              <a:rPr lang="en-US" sz="1400" b="0" dirty="0"/>
              <a:t>Spend the most time on ICU consent: it is the real problem in our units.</a:t>
            </a:r>
          </a:p>
          <a:p>
            <a:r>
              <a:rPr lang="en-US" sz="1400" b="0" dirty="0"/>
              <a:t>Everything here becomes a paragraph of Proposal Part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protocol is the full plan, approved before the first patient. SPIRIT 2025 is the checklist for trial protocols.</a:t>
            </a:r>
          </a:p>
          <a:p>
            <a:r>
              <a:rPr lang="en-US" sz="1400" b="0" dirty="0"/>
              <a:t>Walk the four cards: they are the four proposal parts.</a:t>
            </a:r>
          </a:p>
          <a:p>
            <a:r>
              <a:rPr lang="en-US" sz="1400" b="0" dirty="0"/>
              <a:t>Paper 1 registered its protocol and SAP before the first patient (NCT04947904).</a:t>
            </a:r>
          </a:p>
          <a:p>
            <a:r>
              <a:rPr lang="en-US" sz="1400" b="0" dirty="0"/>
              <a:t>Poll: which part of your proposal is weakest? Expected: sample size or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the participant comes before new knowledge. Ethics approval, free consent, privacy, registration, publish all results.</a:t>
            </a:r>
          </a:p>
          <a:p>
            <a:r>
              <a:rPr lang="en-US" sz="1400" b="0" dirty="0"/>
              <a:t>GCP (ICH E6(R3), 2025): the quality standard for trials. Paper 1, an academic trial, followed it.</a:t>
            </a:r>
          </a:p>
          <a:p>
            <a:r>
              <a:rPr lang="en-US" sz="1400" b="0" dirty="0"/>
              <a:t>Poll: which of the 12 points would be hardest in our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Most institutions want a scientific review first.</a:t>
            </a:r>
          </a:p>
          <a:p>
            <a:r>
              <a:rPr lang="en-US" sz="1400" b="0" dirty="0"/>
              <a:t>The committee decides the review type, not you. Plan 1 to 3 months.</a:t>
            </a:r>
          </a:p>
          <a:p>
            <a:r>
              <a:rPr lang="en-US" sz="1400" b="0" dirty="0"/>
              <a:t>Misconception: 'collect now, ask later'. Committees cannot approve retrospectively.</a:t>
            </a:r>
          </a:p>
          <a:p>
            <a:r>
              <a:rPr lang="en-US" sz="1400" b="0" dirty="0"/>
              <a:t>Paper 1 gives its approval number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Registration puts the study and its primary outcome on public record before anyone is enrolled.</a:t>
            </a:r>
          </a:p>
          <a:p>
            <a:r>
              <a:rPr lang="en-US" sz="1400" b="0" dirty="0"/>
              <a:t>Trials: mandatory. Reviews: PROSPERO. Observational: recommended.</a:t>
            </a:r>
          </a:p>
          <a:p>
            <a:r>
              <a:rPr lang="en-US" sz="1400" b="0" dirty="0"/>
              <a:t>Paper 1: registered 1 July 2021, first patient September 2021.</a:t>
            </a:r>
          </a:p>
          <a:p>
            <a:r>
              <a:rPr lang="en-US" sz="1400" b="0" dirty="0"/>
              <a:t>Ask: does your study need registration?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Valid consent needs all four: information, understanding, voluntariness, a record.</a:t>
            </a:r>
          </a:p>
          <a:p>
            <a:r>
              <a:rPr lang="en-US" sz="1400" b="0" dirty="0"/>
              <a:t>In Paper 1, two control patients withdrew and were not analysed: the right respected.</a:t>
            </a:r>
          </a:p>
          <a:p>
            <a:r>
              <a:rPr lang="en-US" sz="1400" b="0" dirty="0"/>
              <a:t>Ask: who takes consent in your study, and when? Expected: a trained team member, not the treating doctor under time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ICU patients cannot decide when they become eligible.</a:t>
            </a:r>
          </a:p>
          <a:p>
            <a:r>
              <a:rPr lang="en-US" sz="1400" b="0" dirty="0"/>
              <a:t>Patient, then legal representative, then deferred consent only if the committee approved it in advance. Paper 1 used this route. Paper 2 had a waiver for registry data.</a:t>
            </a:r>
          </a:p>
          <a:p>
            <a:r>
              <a:rPr lang="en-US" sz="1400" b="0" dirty="0"/>
              <a:t>Local law decides who may be the representative.</a:t>
            </a:r>
          </a:p>
          <a:p>
            <a:r>
              <a:rPr lang="en-US" sz="1400" b="0" dirty="0"/>
              <a:t>Ask: the family refuses after enrolment. What happens? Expected: the patient leaves the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someone for each patient before revealing.</a:t>
            </a:r>
          </a:p>
          <a:p>
            <a:r>
              <a:rPr lang="en-US" sz="1400" b="0" dirty="0"/>
              <a:t>Mr A: consents himself. Mrs B: the representative consents, ask her when she can decide. Mr C: deferred consent, only if approved.</a:t>
            </a:r>
          </a:p>
          <a:p>
            <a:r>
              <a:rPr lang="en-US" sz="1400" b="0" dirty="0"/>
              <a:t>Misconception: the treating doctor can consent for the patient. No.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Confidentiality by design: study codes, age instead of birth date, month instead of exact date.</a:t>
            </a:r>
          </a:p>
          <a:p>
            <a:r>
              <a:rPr lang="en-US" sz="1400" b="0" dirty="0"/>
              <a:t>The key file is kept separately, locked, with one or two named people.</a:t>
            </a:r>
          </a:p>
          <a:p>
            <a:r>
              <a:rPr lang="en-US" sz="1400" b="0" dirty="0"/>
              <a:t>No patient data on personal phones, messaging apps or public AI tools.</a:t>
            </a:r>
          </a:p>
          <a:p>
            <a:r>
              <a:rPr lang="en-US" sz="1400" b="0" dirty="0"/>
              <a:t>Ask: where would your key file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FLUID-ICU were real, the ethics paragraph would answer these four questions in four sentences.</a:t>
            </a:r>
          </a:p>
          <a:p>
            <a:r>
              <a:rPr lang="en-US" sz="1400" b="0" dirty="0"/>
              <a:t>Ask: where does this paragraph go in a real paper? Expected: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Ethics takes 1-3 months. Recruitment always takes longer: Paper 1 screened 1,201 patients to randomise 50.</a:t>
            </a:r>
          </a:p>
          <a:p>
            <a:r>
              <a:rPr lang="en-US" sz="1400" b="0" dirty="0"/>
              <a:t>Rule of thumb: count last year's eligible patients and expect to enrol a fraction.</a:t>
            </a:r>
          </a:p>
          <a:p>
            <a:r>
              <a:rPr lang="en-US" sz="1400" b="0" dirty="0"/>
              <a:t>Poll: which card is the biggest risk for your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then a 5-minute scenario poll.</a:t>
            </a:r>
          </a:p>
          <a:p>
            <a:r>
              <a:rPr lang="en-US" sz="1400" b="0" dirty="0"/>
              <a:t>Tone: most integrity problems start as small shortcuts under pressure.</a:t>
            </a:r>
          </a:p>
          <a:p>
            <a:r>
              <a:rPr lang="en-US" sz="1400" b="0" dirty="0"/>
              <a:t>Every Results draft needs the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Fabrication, falsification, plagiarism. An honest error is not misconduct: correct it openly.</a:t>
            </a:r>
          </a:p>
          <a:p>
            <a:r>
              <a:rPr lang="en-US" sz="1400" b="0" dirty="0"/>
              <a:t>The data-quality plan from Session 5 protects against accidental falsification.</a:t>
            </a:r>
          </a:p>
          <a:p>
            <a:r>
              <a:rPr lang="en-US" sz="1400" b="0" dirty="0"/>
              <a:t>Poll: which is most common in student theses? Expected: plagiarism.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Duplicate publication counts the same patients twice. Salami slicing hides the whole study. Selective reporting is why trials register one primary outcome.</a:t>
            </a:r>
          </a:p>
          <a:p>
            <a:r>
              <a:rPr lang="en-US" sz="1400" b="0" dirty="0"/>
              <a:t>Paper 1 reported its negative primary outcome plainly.</a:t>
            </a:r>
          </a:p>
          <a:p>
            <a:r>
              <a:rPr lang="en-US" sz="1400" b="0" dirty="0"/>
              <a:t>Ask: why does it matter that a negative trial is published? Expected: publication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author meets all four ICMJE criteria. Others go in the Acknowledgements.</a:t>
            </a:r>
          </a:p>
          <a:p>
            <a:r>
              <a:rPr lang="en-US" sz="1400" b="0" dirty="0"/>
              <a:t>Gift author: named without the work. Ghost author: did the work, not named.</a:t>
            </a:r>
          </a:p>
          <a:p>
            <a:r>
              <a:rPr lang="en-US" sz="1400" b="0" dirty="0"/>
              <a:t>Poll: is data collection alone enough for authorship? Expected: no.</a:t>
            </a:r>
          </a:p>
          <a:p>
            <a:r>
              <a:rPr lang="en-US" sz="1400" b="0" dirty="0"/>
              <a:t>Agree the author list at the protocol stage.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Having an interest is common. Hiding it is the problem. Most journals use the ICMJE form.</a:t>
            </a:r>
          </a:p>
          <a:p>
            <a:r>
              <a:rPr lang="en-US" sz="1400" b="0" dirty="0"/>
              <a:t>Paper 2 states its funder had no role. Paper 1 states an internal grant.</a:t>
            </a:r>
          </a:p>
          <a:p>
            <a:r>
              <a:rPr lang="en-US" sz="1400" b="0" dirty="0"/>
              <a:t>Ask: a company paid your travel last year. Declare it? Expected: if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'available on request' (both papers) to an open repository with a DOI.</a:t>
            </a:r>
          </a:p>
          <a:p>
            <a:r>
              <a:rPr lang="en-US" sz="1400" b="0" dirty="0"/>
              <a:t>Before sharing: consent and ethics must allow it, data de-identified, dictionary and code included.</a:t>
            </a:r>
          </a:p>
          <a:p>
            <a:r>
              <a:rPr lang="en-US" sz="1400" b="0" dirty="0"/>
              <a:t>Ask: what must your consent form say today so you can share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cannot be an author. Disclose its use and check every claim and reference.</a:t>
            </a:r>
          </a:p>
          <a:p>
            <a:r>
              <a:rPr lang="en-US" sz="1400" b="0" dirty="0"/>
              <a:t>Never paste patient data or a manuscript you review into a public AI tool.</a:t>
            </a:r>
          </a:p>
          <a:p>
            <a:r>
              <a:rPr lang="en-US" sz="1400" b="0" dirty="0"/>
              <a:t>Ask: a colleague has a chatbot write the Discussion and submits it unread. Which rules does this break?</a:t>
            </a:r>
          </a:p>
          <a:p>
            <a:r>
              <a:rPr lang="en-US" sz="1400" b="0" dirty="0"/>
              <a:t>Participants' guide with the journal rules and links: AI_Use_Guidance.pdf (sent by email).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(20:25-20:30). Scenarios and answers: s7_exercises Part A and s7_solutions.</a:t>
            </a:r>
          </a:p>
          <a:p>
            <a:r>
              <a:rPr lang="en-US" sz="1400" b="0" dirty="0"/>
              <a:t>Use scenarios 1 (red, fabrication), 3 (red, gift authorship) and 4 (green for checked and disclosed polishing, red for the patient spreadsheet).</a:t>
            </a:r>
          </a:p>
          <a:p>
            <a:r>
              <a:rPr lang="en-US" sz="1400" b="0" dirty="0"/>
              <a:t>Ask one person from the largest and one from the smallest colour for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Fill in Part B live for the running example. Answers: s7_solutions Part B.</a:t>
            </a:r>
          </a:p>
          <a:p>
            <a:r>
              <a:rPr lang="en-US" sz="1400" b="0" dirty="0"/>
              <a:t>Watch for: 'consent will be obtained' with no who or when, chart reviews assumed exempt, recruitment from the sample size, CONSORT for a cohort.</a:t>
            </a:r>
          </a:p>
          <a:p>
            <a:r>
              <a:rPr lang="en-US" sz="1400" b="0" dirty="0"/>
              <a:t>Homework: Part 4 of their own proposal. Volunteers who want to present email the instructor by Wednesday 16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Say: we restart at 21:00 with the Results section. Open your results pack and the manuscript template.</a:t>
            </a:r>
          </a:p>
          <a:p>
            <a:r>
              <a:rPr lang="en-US" sz="1400" b="0" dirty="0"/>
              <a:t>Prepare your screen: the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Ten slides and a 3-minute check.</a:t>
            </a:r>
          </a:p>
          <a:p>
            <a:r>
              <a:rPr lang="en-US" sz="1400" b="0" dirty="0"/>
              <a:t>IMRaD first, then Methods and Results, each with a worked example on Q1. The check practises both.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Introduction (why), Methods (what we did), Results (what we found), Discussion (what it means). The abstract and title summarise it.</a:t>
            </a:r>
          </a:p>
          <a:p>
            <a:r>
              <a:rPr lang="en-US" sz="1400" b="0" dirty="0"/>
              <a:t>The Introduction narrows to the question, the Discussion widens back to practice. Paper 1's Introduction is a three-paragraph funnel, and its Discussion opens by answering the question.</a:t>
            </a:r>
          </a:p>
          <a:p>
            <a:r>
              <a:rPr lang="en-US" sz="1400" b="0" dirty="0"/>
              <a:t>Today: Methods and Results. Next Saturday: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Writers start from the evidence: tables first, the title last.</a:t>
            </a:r>
          </a:p>
          <a:p>
            <a:r>
              <a:rPr lang="en-US" sz="1400" b="0" dirty="0"/>
              <a:t>For FLUID-ICU the tables already exist in your results pack, so your Results section starts from them.</a:t>
            </a:r>
          </a:p>
          <a:p>
            <a:r>
              <a:rPr lang="en-US" sz="1400" b="0" dirty="0"/>
              <a:t>Misconception: 'I must finish the Introduction before I can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Methods: enough detail to repeat the study, in STROBE order.</a:t>
            </a:r>
          </a:p>
          <a:p>
            <a:r>
              <a:rPr lang="en-US" sz="1400" b="0" dirty="0"/>
              <a:t>Good: Paper 1 describes its intervention well enough to replicate. To fix: Paper 2 never says how missing covariates were handled.</a:t>
            </a:r>
          </a:p>
          <a:p>
            <a:r>
              <a:rPr lang="en-US" sz="1400" b="0" dirty="0"/>
              <a:t>For FLUID-ICU, all the facts are in the results pack, the SAP and the data dictionary.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STROBE item, all from results pack Q1, section 2.</a:t>
            </a:r>
          </a:p>
          <a:p>
            <a:r>
              <a:rPr lang="en-US" sz="1400" b="0" dirty="0"/>
              <a:t>Item 10: for a fixed cohort, say all eligible patients were included.</a:t>
            </a:r>
          </a:p>
          <a:p>
            <a:r>
              <a:rPr lang="en-US" sz="1400" b="0" dirty="0"/>
              <a:t>Ask: which sentence would a reader need to repeat the study? Expected: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STROBE item 12 for Q1. Covariates were chosen in the SAP before the data were seen.</a:t>
            </a:r>
          </a:p>
          <a:p>
            <a:r>
              <a:rPr lang="en-US" sz="1400" b="0" dirty="0"/>
              <a:t>Every number in the Results must trace back to one sentence here. Reviewers read this paragraph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Participants first, with a flow. Effects with 95% CIs, not 'p = 0.42, NS'. No interpretation. One home per number, and text and tables must agree: Paper 1's text and Table 1 disagree on creatinine.</a:t>
            </a:r>
          </a:p>
          <a:p>
            <a:r>
              <a:rPr lang="en-US" sz="1400" b="0" dirty="0"/>
              <a:t>Before submitting, check every number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 numbers from results pack Q1 (simulated). One sentence per STROBE item, 13 to 17.</a:t>
            </a:r>
          </a:p>
          <a:p>
            <a:r>
              <a:rPr lang="en-US" sz="1400" b="0" dirty="0"/>
              <a:t>Point out what is missing: no 'because', no 'significant', no reason why the OR shrank. That belongs in a Discussion.</a:t>
            </a:r>
          </a:p>
          <a:p>
            <a:r>
              <a:rPr lang="en-US" sz="1400" b="0" dirty="0"/>
              <a:t>Poll: which item asks for crude and adjusted estimates?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a title that says what, who and when, n per column, units and summary per row, footnotes for abbreviations and missing data.</a:t>
            </a:r>
          </a:p>
          <a:p>
            <a:r>
              <a:rPr lang="en-US" sz="1400" b="0" dirty="0"/>
              <a:t>Errors in the papers: wrong units (Paper 1), no numbers at risk under a Kaplan-Meier curve (Paper 2).</a:t>
            </a:r>
          </a:p>
          <a:p>
            <a:r>
              <a:rPr lang="en-US" sz="1400" b="0" dirty="0"/>
              <a:t>Ask: what is wrong with a table titled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Table 1 to one Results sentence (STROBE 14): 'Patients with a positive balance were sicker at baseline (median SOFA 8 vs 6, vasopressors 55.0% vs 24.9%) and less often had heart failure (11.5% vs 22.0%).'</a:t>
            </a:r>
          </a:p>
          <a:p>
            <a:r>
              <a:rPr lang="en-US" sz="1400" b="0" dirty="0"/>
              <a:t>The sentence describes, it does not test: no p-values.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is a cohort, so STROBE. The Results section covers items 13 to 17.</a:t>
            </a:r>
          </a:p>
          <a:p>
            <a:r>
              <a:rPr lang="en-US" sz="1400" b="0" dirty="0"/>
              <a:t>Most often forgotten: 16 (crude and adjusted, with the variables adjusted for) and missing data.</a:t>
            </a:r>
          </a:p>
          <a:p>
            <a:r>
              <a:rPr lang="en-US" sz="1400" b="0" dirty="0"/>
              <a:t>Poll: which item covers Table 1? Expected: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a:t>
            </a:r>
          </a:p>
          <a:p>
            <a:r>
              <a:rPr lang="en-US" sz="1400" b="0" dirty="0"/>
              <a:t>Sentence 4 is the trick: how missing data were handled is Methods, how many were missing is Results.</a:t>
            </a:r>
          </a:p>
          <a:p>
            <a:r>
              <a:rPr lang="en-US" sz="1400" b="0" dirty="0"/>
              <a:t>Sentence 3 is the classic error: interpretation in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a:t>
            </a:r>
          </a:p>
          <a:p>
            <a:r>
              <a:rPr lang="en-US" sz="1400" b="0" dirty="0"/>
              <a:t>Part 1: you write the Q1 Results live, calling on people for sentences. Part 2: each participant starts the Results for their own question.</a:t>
            </a:r>
          </a:p>
          <a:p>
            <a:r>
              <a:rPr lang="en-US" sz="1400" b="0" dirty="0"/>
              <a:t>Instructions: s7_exercises Part C. Model text: s7_solutions Part C (steer with it, do not paste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Keep a visible timer.</a:t>
            </a:r>
          </a:p>
          <a:p>
            <a:r>
              <a:rPr lang="en-US" sz="1400" b="0" dirty="0"/>
              <a:t>Order: flow, Table 1 sentence, deaths per group, crude and adjusted OR, Cox HR and imputation.</a:t>
            </a:r>
          </a:p>
          <a:p>
            <a:r>
              <a:rPr lang="en-US" sz="1400" b="0" dirty="0"/>
              <a:t>Prompts: 'Is there a number without its CI?' 'Is there an adjective that should be a number?' 'Any interpretation?'</a:t>
            </a:r>
          </a:p>
          <a:p>
            <a:r>
              <a:rPr lang="en-US" sz="1400" b="0" dirty="0"/>
              <a:t>Aim for about 300 words. Send the class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Quiet individual writing. Answer questions in the chat.</a:t>
            </a:r>
          </a:p>
          <a:p>
            <a:r>
              <a:rPr lang="en-US" sz="1400" b="0" dirty="0"/>
              <a:t>Q1: rewrite in your own words, do not copy the class draft. Q3: ventilator-free days count death as zero. Q4: report both complete-case and imputed estimates. Q5: survivors only, medians and IQR.</a:t>
            </a:r>
          </a:p>
          <a:p>
            <a:r>
              <a:rPr lang="en-US" sz="1400" b="0" dirty="0"/>
              <a:t>Other sections may be added, but only the Results must be submitted.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(22:20-22:22). Show the term, call on someone to explain it, then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(22:22-22:24). Show the list of reviewer pairs on screen and say it was drawn at random. Everyone reviews one draft and receives one review.</a:t>
            </a:r>
          </a:p>
          <a:p>
            <a:r>
              <a:rPr lang="en-US" sz="1400" b="0" dirty="0"/>
              <a:t>Sending the draft straight to the reviewer saves time: the review is due ten days later, the revision ten days after that.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(22:24-22:30). Read the three messages and call on one person to add a fourth.</a:t>
            </a:r>
          </a:p>
          <a:p>
            <a:r>
              <a:rPr lang="en-US" sz="1400" b="0" dirty="0"/>
              <a:t>Read the exit answers before Session 8 and open with them.</a:t>
            </a:r>
          </a:p>
          <a:p>
            <a:r>
              <a:rPr lang="en-US" sz="1400" b="0" dirty="0"/>
              <a:t>Homework: Part 4 of the proposal, the Results draft, the 6 slides (Presentation_Guide).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One poll per scenario: must, should or not needed.</a:t>
            </a:r>
          </a:p>
          <a:p>
            <a:r>
              <a:rPr lang="en-US" sz="1400" b="0" dirty="0"/>
              <a:t>Scenario 4: an audit goes through the quality office, not a registry. To publish it as research, ask the ethics committee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names who did what (14 roles). It does not replace the ICMJE criteria.</a:t>
            </a:r>
          </a:p>
          <a:p>
            <a:r>
              <a:rPr lang="en-US" sz="1400" b="0" dirty="0"/>
              <a:t>Paper 1 gives a CRediT statement.</a:t>
            </a:r>
          </a:p>
          <a:p>
            <a:r>
              <a:rPr lang="en-US" sz="1400" b="0" dirty="0"/>
              <a:t>Ask each participant to write who would do what in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2.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4.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12/12/2026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IMRaD, Methods and Results</a:t>
            </a:r>
          </a:p>
          <a:p>
            <a:pPr marL="274320" indent="-274320" algn="l">
              <a:spcBef>
                <a:spcPts val="440"/>
              </a:spcBef>
              <a:buFont typeface="Arial"/>
              <a:buChar char="•"/>
            </a:pPr>
            <a:r>
              <a:rPr lang="en-US" sz="1900" dirty="0">
                <a:solidFill>
                  <a:srgbClr val="000000"/>
                </a:solidFill>
                <a:latin typeface="Arial"/>
                <a:cs typeface="Arial"/>
              </a:rPr>
              <a:t>21:35  Manuscript workshop 1: the Results section,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Results section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Methods, Results (live on Q1)</a:t>
            </a:r>
          </a:p>
          <a:p>
            <a:pPr marL="0" indent="0" algn="ctr">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sent by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IMRaD, Methods and Results</a:t>
            </a:r>
          </a:p>
          <a:p>
            <a:pPr marL="0" indent="0" algn="ctr">
              <a:spcBef>
                <a:spcPts val="1200"/>
              </a:spcBef>
              <a:buNone/>
            </a:pPr>
            <a:r>
              <a:rPr lang="en-US" sz="1900" i="1" dirty="0">
                <a:solidFill>
                  <a:srgbClr val="595959"/>
                </a:solidFill>
                <a:latin typeface="Arial"/>
                <a:cs typeface="Arial"/>
              </a:rPr>
              <a:t>Say what you did, then report what you found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Methods say what you did. If a colleague could not redo the study from it,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Methods: items 4 to 12. Results: items 13 to 17.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Results section: together, then on your own</a:t>
            </a:r>
          </a:p>
          <a:p>
            <a:pPr marL="0" indent="0" algn="ctr">
              <a:spcBef>
                <a:spcPts val="1200"/>
              </a:spcBef>
              <a:buNone/>
            </a:pPr>
            <a:r>
              <a:rPr lang="en-US" sz="1900" i="1" dirty="0">
                <a:solidFill>
                  <a:srgbClr val="595959"/>
                </a:solidFill>
                <a:latin typeface="Arial"/>
                <a:cs typeface="Arial"/>
              </a:rPr>
              <a:t>30 minutes on Q1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Participants and Table 1 (10 min): you suggest each sentence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Main results (12 min): deaths per group, crude and adjusted OR with 95% CI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Other analyses (5 min): Cox model and multiple imputation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Manuscript template</a:t>
            </a:r>
          </a:p>
          <a:p>
            <a:pPr marL="0" indent="0" algn="ctr">
              <a:lnSpc>
                <a:spcPct val="104000"/>
              </a:lnSpc>
              <a:spcBef>
                <a:spcPts val="300"/>
              </a:spcBef>
              <a:buNone/>
            </a:pPr>
            <a:r>
              <a:rPr lang="en-US" sz="1500" dirty="0">
                <a:solidFill>
                  <a:srgbClr val="000000"/>
                </a:solidFill>
                <a:latin typeface="Arial"/>
                <a:cs typeface="Arial"/>
              </a:rPr>
              <a:t>STROBE items 13-17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Results section for Q1,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participants and the Table 1 sentence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Results, Table 1 and one main table or figure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Results section, due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Peer review: your reviewer and your deadlines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When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you do</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Sunday 20 December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Results section to your reviewer and the instructor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Wednesday 30 December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Reviewers email their review to the author and the instructor</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Saturday 9 January 2027</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revised Results section and response letter to the instructor</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Reviewers were assigned at random: see the list on screen and in your email. Instructor: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write your Results section (due 23:59, Sunday 20 December)</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the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