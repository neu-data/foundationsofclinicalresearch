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SESSION 2 OPENING (0:00).</a:t>
            </a:r>
          </a:p>
          <a:p>
            <a:r>
              <a:rPr lang="en-US" sz="1400" b="0" dirty="0"/>
              <a:t>Teaching point: last Saturday each group wrote a question; today we find out what is already known about it, keep the references safely, and read papers efficiently.</a:t>
            </a:r>
          </a:p>
          <a:p>
            <a:r>
              <a:rPr lang="en-US" sz="1400" b="0" dirty="0"/>
              <a:t>Pace: slower than it looks. Every block has a demo or a task. Use the 'Check your understanding' slides: they show you who is lost.</a:t>
            </a:r>
          </a:p>
          <a:p>
            <a:r>
              <a:rPr lang="en-US" sz="1400" b="0" dirty="0"/>
              <a:t>Practical check before starting: each group has its PICO question, its synonym list (homework), and at least one laptop or phone.</a:t>
            </a:r>
          </a:p>
          <a:p>
            <a:r>
              <a:rPr lang="en-US" sz="1400" b="0" dirty="0"/>
              <a:t>Timing: 1 minute, then the recap quiz.</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QUIZ (0:00-0:10). Individual, on paper, 6 minutes; then 2 minutes comparing with a neighbour. Answers on the next slide.</a:t>
            </a:r>
          </a:p>
          <a:p>
            <a:r>
              <a:rPr lang="en-US" sz="1400" b="0" dirty="0"/>
              <a:t>This also re-activates last Saturday's vocabulary for today's search.</a:t>
            </a:r>
          </a:p>
          <a:p>
            <a:r>
              <a:rPr lang="en-US" sz="1400" b="0" dirty="0"/>
              <a:t>Latecomers: let them join at question 2.</a:t>
            </a:r>
          </a:p>
          <a:p>
            <a:r>
              <a:rPr lang="en-US" sz="1400" b="0" dirty="0"/>
              <a:t>Timing: 8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through the five answers in 2 minutes. Ask for a show of hands: who got 4 or 5?</a:t>
            </a:r>
          </a:p>
          <a:p>
            <a:r>
              <a:rPr lang="en-US" sz="1400" b="0" dirty="0"/>
              <a:t>If many missed question 4 or 5, spend one extra minute: objectives use measurable verbs; H0 always says 'no difference'.</a:t>
            </a:r>
          </a:p>
          <a:p>
            <a:r>
              <a:rPr lang="en-US" sz="1400" b="0" dirty="0"/>
              <a:t>Timing: 2 minutes. Segment 2.1 starts at 0:10.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2.1 (0:10-0:50).</a:t>
            </a:r>
          </a:p>
          <a:p>
            <a:r>
              <a:rPr lang="en-US" sz="1400" b="0" dirty="0"/>
              <a:t>Teaching point: the literature search decides whether the question is novel, gives the background for the problem statement, and shows how others measured the outcome.</a:t>
            </a:r>
          </a:p>
          <a:p>
            <a:r>
              <a:rPr lang="en-US" sz="1400" b="0" dirty="0"/>
              <a:t>Ask the room: 'What do you usually do when you need evidence quickly?' Honest answers: Google, a colleague, UpToDate, a guideline. All fine for care, but a proposal needs a documented search.</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down the funnel: all of PubMed, one keyword, structured PICO blocks, filters, human screening, a handful of key papers.</a:t>
            </a:r>
          </a:p>
          <a:p>
            <a:r>
              <a:rPr lang="en-US" sz="1400" b="0" dirty="0"/>
              <a:t>The numbers are orders of magnitude only. They change every day.</a:t>
            </a:r>
          </a:p>
          <a:p>
            <a:r>
              <a:rPr lang="en-US" sz="1400" b="0" dirty="0"/>
              <a:t>Teaching point: the last two steps are done by reading, not by the computer.</a:t>
            </a:r>
          </a:p>
          <a:p>
            <a:r>
              <a:rPr lang="en-US" sz="1400" b="0" dirty="0"/>
              <a:t>Ask the room: 'Why write down the date and the search string?' Expected: so it can be repeated. Journals and reviewers ask for it.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Turn each PICO element into a concept block: the MeSH term plus free-text words.</a:t>
            </a:r>
          </a:p>
          <a:p>
            <a:r>
              <a:rPr lang="en-US" sz="1400" b="0" dirty="0"/>
              <a:t>[tiab] = title and abstract. The asterisk (*) is truncation: restrictive fluid* also finds 'restrictive fluids'.</a:t>
            </a:r>
          </a:p>
          <a:p>
            <a:r>
              <a:rPr lang="en-US" sz="1400" b="0" dirty="0"/>
              <a:t>The comparison (usual care) is normally left out because the words vary too much.</a:t>
            </a:r>
          </a:p>
          <a:p>
            <a:r>
              <a:rPr lang="en-US" sz="1400" b="0" dirty="0"/>
              <a:t>Misconception: 'just type the whole question into PubMed'. You lose control of synonyms and logic.</a:t>
            </a:r>
          </a:p>
          <a:p>
            <a:r>
              <a:rPr lang="en-US" sz="1400" b="0" dirty="0"/>
              <a:t>Ask the room: 'Which other words would authors use for restrictive?' Expected: conservative, limited, de-resuscitation, fluid removal, negative fluid balance.</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second worked example, from the ward, so nurses and pharmacists see the method works beyond the ICU.</a:t>
            </a:r>
          </a:p>
          <a:p>
            <a:r>
              <a:rPr lang="en-US" sz="1400" b="0" dirty="0"/>
              <a:t>Question: in adults at risk on the ward, does 2-hourly repositioning reduce new pressure injuries?</a:t>
            </a:r>
          </a:p>
          <a:p>
            <a:r>
              <a:rPr lang="en-US" sz="1400" b="0" dirty="0"/>
              <a:t>Here P and O share the same idea (pressure injury), so one block carries both. The second block is the intervention.</a:t>
            </a:r>
          </a:p>
          <a:p>
            <a:r>
              <a:rPr lang="en-US" sz="1400" b="0" dirty="0"/>
              <a:t>MeSH: authors write pressure ulcer, pressure injury, bedsore, decubitus. The MeSH heading 'Pressure Ulcer' collects them.</a:t>
            </a:r>
          </a:p>
          <a:p>
            <a:r>
              <a:rPr lang="en-US" sz="1400" b="0" dirty="0"/>
              <a:t>Ask the room: 'Which other words would authors use for repositioning?' Expected: turning, position change, mobilisation, offloading.</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AND: only papers with both concepts, so fewer hits. OR: either word, so more hits. Use OR for synonyms.</a:t>
            </a:r>
          </a:p>
          <a:p>
            <a:r>
              <a:rPr lang="en-US" sz="1400" b="0" dirty="0"/>
              <a:t>NOT removes every paper that mentions the second term, even good papers that mention neonates once. That is why NOT is risky.</a:t>
            </a:r>
          </a:p>
          <a:p>
            <a:r>
              <a:rPr lang="en-US" sz="1400" b="0" dirty="0"/>
              <a:t>Tip: operators in CAPITALS; brackets control the order.</a:t>
            </a:r>
          </a:p>
          <a:p>
            <a:r>
              <a:rPr lang="en-US" sz="1400" b="0" dirty="0"/>
              <a:t>Ask the room: 'septic shock AND fluids vs septic shock OR fluids: which gives more hits?' Expected: OR.</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AND. 2 OR. 3 Fewer (AND narrows). 4 It removes every paper that mentions children anywhere, including good adult studies that mention children once.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MeSH (Medical Subject Headings) is the controlled vocabulary of the US National Library of Medicine. Each MEDLINE record is tagged with MeSH terms, whatever words the authors used.</a:t>
            </a:r>
          </a:p>
          <a:p>
            <a:r>
              <a:rPr lang="en-US" sz="1400" b="0" dirty="0"/>
              <a:t>Searching a MeSH term includes the narrower terms below it ('explode'). For example, Sepsis[MeSH] includes Shock, Septic.</a:t>
            </a:r>
          </a:p>
          <a:p>
            <a:r>
              <a:rPr lang="en-US" sz="1400" b="0" dirty="0"/>
              <a:t>The newest records may not be indexed yet, so always add free-text [tiab] words.</a:t>
            </a:r>
          </a:p>
          <a:p>
            <a:r>
              <a:rPr lang="en-US" sz="1400" b="0" dirty="0"/>
              <a:t>Ask the room: 'Why does MeSH help a nurse searching for pressure injury?' Expected: authors write pressure ulcer, bedsore, decubitus ulcer, and MeSH collects them under one heading.</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Quotes keep a phrase together. Truncation finds all endings, but too short a stem (flu*) finds influenza and fluoride too.</a:t>
            </a:r>
          </a:p>
          <a:p>
            <a:r>
              <a:rPr lang="en-US" sz="1400" b="0" dirty="0"/>
              <a:t>Field tags restrict where PubMed looks; filters (left of the results) narrow by article type, date, age. Each filter needs a reason you can write down.</a:t>
            </a:r>
          </a:p>
          <a:p>
            <a:r>
              <a:rPr lang="en-US" sz="1400" b="0" dirty="0"/>
              <a:t>Misconception: 'filter to free full text'. That throws away key papers.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PubMed: free, run by the US National Library of Medicine, biomedical journals, MeSH, many filters, a transparent search you can repeat.</a:t>
            </a:r>
          </a:p>
          <a:p>
            <a:r>
              <a:rPr lang="en-US" sz="1400" b="0" dirty="0"/>
              <a:t>Google Scholar: very broad (theses, books, preprints), good for grey literature and 'Cited by'; but hidden ranking, few filters, hard to repeat.</a:t>
            </a:r>
          </a:p>
          <a:p>
            <a:r>
              <a:rPr lang="en-US" sz="1400" b="0" dirty="0"/>
              <a:t>Other databases exist (Embase, CINAHL for nursing, Cochrane Library), but they are not needed for Level 1.</a:t>
            </a:r>
          </a:p>
          <a:p>
            <a:r>
              <a:rPr lang="en-US" sz="1400" b="0" dirty="0"/>
              <a:t>Ask the room: 'A colleague found a perfect paper in Google Scholar. What should you check?' Expected: peer-reviewed or preprint? Legitimate journal? (Predatory journals: Session 8.)</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Follow Course/Demos/s2_demo.md, Part A (PubMed): exact strings, where to click, and the offline fallback.</a:t>
            </a:r>
          </a:p>
          <a:p>
            <a:r>
              <a:rPr lang="en-US" sz="1400" b="0" dirty="0"/>
              <a:t>Do not promise hit counts. Expect tens of thousands for 'septic shock' and a few thousand for the full PICO string; numbers change every day.</a:t>
            </a:r>
          </a:p>
          <a:p>
            <a:r>
              <a:rPr lang="en-US" sz="1400" b="0" dirty="0"/>
              <a:t>Narrate slowly and pause after each step so participants can write the number of hits on their sheet.</a:t>
            </a:r>
          </a:p>
          <a:p>
            <a:r>
              <a:rPr lang="en-US" sz="1400" b="0" dirty="0"/>
              <a:t>If the internet fails, switch to the screenshots. Do not troubleshoot in front of the room.</a:t>
            </a:r>
          </a:p>
          <a:p>
            <a:r>
              <a:rPr lang="en-US" sz="1400" b="0" dirty="0"/>
              <a:t>Timing: 10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No computers needed: it is a paper exercise with the Boolean search builder.</a:t>
            </a:r>
          </a:p>
          <a:p>
            <a:r>
              <a:rPr lang="en-US" sz="1400" b="0" dirty="0"/>
              <a:t>Circulate and look for: missing brackets, AND and OR mixed inside one block, the comparison included as a block, NOT used without a reason.</a:t>
            </a:r>
          </a:p>
          <a:p>
            <a:r>
              <a:rPr lang="en-US" sz="1400" b="0" dirty="0"/>
              <a:t>Fast finishers: add one filter and write why.</a:t>
            </a:r>
          </a:p>
          <a:p>
            <a:r>
              <a:rPr lang="en-US" sz="1400" b="0" dirty="0"/>
              <a:t>Timing: 5 minutes. Segment 2.1 ends at 0:50.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2.2 (0:50-1:10).</a:t>
            </a:r>
          </a:p>
          <a:p>
            <a:r>
              <a:rPr lang="en-US" sz="1400" b="0" dirty="0"/>
              <a:t>Teaching point: two habits protect every proposal and paper: save references in a reference manager from day one, and never copy wording from a source.</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never type references by hand. A reference manager stores each paper once and formats it in any journal style.</a:t>
            </a:r>
          </a:p>
          <a:p>
            <a:r>
              <a:rPr lang="en-US" sz="1400" b="0" dirty="0"/>
              <a:t>Zotero (free, open source) and Mendeley (free) work with Word; EndNote is common in universities but paid. The best one is the one the whole group uses.</a:t>
            </a:r>
          </a:p>
          <a:p>
            <a:r>
              <a:rPr lang="en-US" sz="1400" b="0" dirty="0"/>
              <a:t>Browser connectors (e.g. Zotero Connector) save a paper from the journal page in one click, often with the PDF.</a:t>
            </a:r>
          </a:p>
          <a:p>
            <a:r>
              <a:rPr lang="en-US" sz="1400" b="0" dirty="0"/>
              <a:t>Misconception: 'I will sort the references at the end'. Saving as you go takes seconds; rebuilding a list takes hours and causes errors.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Follow Course/Demos/s2_demo.md, Part B (Zotero).</a:t>
            </a:r>
          </a:p>
          <a:p>
            <a:r>
              <a:rPr lang="en-US" sz="1400" b="0" dirty="0"/>
              <a:t>Preparation: Zotero desktop and its Word plug-in installed, an empty test library, a blank Word document.</a:t>
            </a:r>
          </a:p>
          <a:p>
            <a:r>
              <a:rPr lang="en-US" sz="1400" b="0" dirty="0"/>
              <a:t>Participants do not install anything during the session; those who installed Zotero at home can follow along.</a:t>
            </a:r>
          </a:p>
          <a:p>
            <a:r>
              <a:rPr lang="en-US" sz="1400" b="0" dirty="0"/>
              <a:t>If Zotero fails, show the screenshots and say 'the same file works in Mendeley and EndNote'.</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Vancouver (numbered, in the order cited) is used by most medical journals and follows the ICMJE recommendations. APA (author and year) is common in nursing, psychology and social science.</a:t>
            </a:r>
          </a:p>
          <a:p>
            <a:r>
              <a:rPr lang="en-US" sz="1400" b="0" dirty="0"/>
              <a:t>Every journal states its style in the 'Guide for authors'. A reference manager switches between thousands of styles in one click.</a:t>
            </a:r>
          </a:p>
          <a:p>
            <a:r>
              <a:rPr lang="en-US" sz="1400" b="0" dirty="0"/>
              <a:t>Teaching point: a citation lets the reader check your claim. Cite the original study for facts and numbers, not a review that quotes it, wherever you can.</a:t>
            </a:r>
          </a:p>
          <a:p>
            <a:r>
              <a:rPr lang="en-US" sz="1400" b="0" dirty="0"/>
              <a:t>Ask the room: 'Which style uses [1]?' Expected: Vancouver.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Top: one sentence from the conclusion of Paper 1's abstract (quoted with attribution).</a:t>
            </a:r>
          </a:p>
          <a:p>
            <a:r>
              <a:rPr lang="en-US" sz="1400" b="0" dirty="0"/>
              <a:t>Left: 'patchwriting', the same sentence with a few words swapped. Even with a reference this is plagiarism, because the structure and most of the wording are copied. Similarity checkers used by journals detect it easily.</a:t>
            </a:r>
          </a:p>
          <a:p>
            <a:r>
              <a:rPr lang="en-US" sz="1400" b="0" dirty="0"/>
              <a:t>Right: a real paraphrase, with a new structure, extra context from the paper (pilot, 48 patients, which fluids), and a citation.</a:t>
            </a:r>
          </a:p>
          <a:p>
            <a:r>
              <a:rPr lang="en-US" sz="1400" b="0" dirty="0"/>
              <a:t>Method: read, close the paper, write from memory, check the facts, cite. If you need the exact words, use quotation marks and a citation. Quotes are rare in medical writing.</a:t>
            </a:r>
          </a:p>
          <a:p>
            <a:r>
              <a:rPr lang="en-US" sz="1400" b="0" dirty="0"/>
              <a:t>Misconception: 'if I cite it, I can copy it'. Citation credits the idea; it does not license copying the wording. AI rewording tools do not solve this either. You remain responsible (Session 7).</a:t>
            </a:r>
          </a:p>
          <a:p>
            <a:r>
              <a:rPr lang="en-US" sz="1400" b="0" dirty="0"/>
              <a:t>Ask the room: 'Is copying the Methods wording from your own earlier paper allowed?' Expected: it is text recycling. Check the journal policy, and usually rewrite or cite.</a:t>
            </a:r>
          </a:p>
          <a:p>
            <a:r>
              <a:rPr lang="en-US" sz="1400" b="0" dirty="0"/>
              <a:t>Timing: 3 minutes. Exercise 2 on the sheet practises this at home.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Common knowledge ('sepsis is an infection-related emergency') does not need a citation; specific facts and numbers do.</a:t>
            </a:r>
          </a:p>
          <a:p>
            <a:r>
              <a:rPr lang="en-US" sz="1400" b="0" dirty="0"/>
              <a:t>Citing a paper you have only seen quoted elsewhere spreads errors. Check the original.</a:t>
            </a:r>
          </a:p>
          <a:p>
            <a:r>
              <a:rPr lang="en-US" sz="1400" b="0" dirty="0"/>
              <a:t>AI chat tools may invent references that look real. Every reference must be found in PubMed or on the journal site.</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Not OK: patchwriting is plagiarism even with a citation. 2 OK (but rare in medical writing). 3 Not OK: someone else's finding needs a citation. 4 Not OK: you may repeat an error, so read and cite the original.</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Journal articles in PubMed are only the tip of the iceberg. Below the waterline: registered trials whose results were never published, conference abstracts, theses, reports, guidelines and preprints.</a:t>
            </a:r>
          </a:p>
          <a:p>
            <a:r>
              <a:rPr lang="en-US" sz="1400" b="0" dirty="0"/>
              <a:t>Why it matters: studies with negative or disappointing results are less likely to be published (publication bias), so the published literature can look more positive than the truth.</a:t>
            </a:r>
          </a:p>
          <a:p>
            <a:r>
              <a:rPr lang="en-US" sz="1400" b="0" dirty="0"/>
              <a:t>Trial registries (ClinicalTrials.gov and the WHO International Clinical Trials Registry Platform, ICTRP) list ongoing and completed trials with their PLANNED primary outcome. Compare it with the published paper: a switched outcome is a warning sign.</a:t>
            </a:r>
          </a:p>
          <a:p>
            <a:r>
              <a:rPr lang="en-US" sz="1400" b="0" dirty="0"/>
              <a:t>Paper 1 is registered as NCT04947904, registered before the first patient was enrolled. A good homework habit: open the registry record and compare its planned primary outcome with the paper.</a:t>
            </a:r>
          </a:p>
          <a:p>
            <a:r>
              <a:rPr lang="en-US" sz="1400" b="0" dirty="0"/>
              <a:t>Preprints (e.g. medRxiv) are not peer reviewed. Read them with extra care.</a:t>
            </a:r>
          </a:p>
          <a:p>
            <a:r>
              <a:rPr lang="en-US" sz="1400" b="0" dirty="0"/>
              <a:t>Ask the room: 'Why check a registry before starting your own trial?' Expected: someone may already be running the same study.</a:t>
            </a:r>
          </a:p>
          <a:p>
            <a:r>
              <a:rPr lang="en-US" sz="1400" b="0" dirty="0"/>
              <a:t>Timing: 3 minutes. Segment 2.2 ends at 1:10, then the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BREAK (1:10-1:25).</a:t>
            </a:r>
          </a:p>
          <a:p>
            <a:r>
              <a:rPr lang="en-US" sz="1400" b="0" dirty="0"/>
              <a:t>During the break: put a printed copy of Paper 1's abstract (clean, un-annotated) on every seat for the reading task.</a:t>
            </a:r>
          </a:p>
          <a:p>
            <a:r>
              <a:rPr lang="en-US" sz="1400" b="0" dirty="0"/>
              <a:t>Restart on time. Say clearly what time you will begin again.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2.3 (1:25-2:05).</a:t>
            </a:r>
          </a:p>
          <a:p>
            <a:r>
              <a:rPr lang="en-US" sz="1400" b="0" dirty="0"/>
              <a:t>Teaching point: busy clinicians need a reading routine. In 15 minutes you can decide whether a paper is relevant, what it found and whether to trust it.</a:t>
            </a:r>
          </a:p>
          <a:p>
            <a:r>
              <a:rPr lang="en-US" sz="1400" b="0" dirty="0"/>
              <a:t>Check that every participant has the printed abstract of Paper 1 before the task.</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IMRaD = Introduction, Methods, Results and Discussion: the standard structure of an original research paper, with a title and an abstract on top.</a:t>
            </a:r>
          </a:p>
          <a:p>
            <a:r>
              <a:rPr lang="en-US" sz="1400" b="0" dirty="0"/>
              <a:t>The hourglass: the Introduction narrows from the broad problem to the specific question; Methods and Results are narrow and factual; the Discussion widens again to what it means for practice.</a:t>
            </a:r>
          </a:p>
          <a:p>
            <a:r>
              <a:rPr lang="en-US" sz="1400" b="0" dirty="0"/>
              <a:t>Teaching point: knowing the shape tells you where to look. The question is at the END of the Introduction; the primary outcome is in the Methods; the main number is in the Results (and the abstract).</a:t>
            </a:r>
          </a:p>
          <a:p>
            <a:r>
              <a:rPr lang="en-US" sz="1400" b="0" dirty="0"/>
              <a:t>Misconception: 'the Discussion tells me what was found'. The Discussion is the authors' interpretation; the Results are the evidence.</a:t>
            </a:r>
          </a:p>
          <a:p>
            <a:r>
              <a:rPr lang="en-US" sz="1400" b="0" dirty="0"/>
              <a:t>Ask the room: 'Where do you find who was included?' Expected: Methods (eligibility) and Results (flow chart, Table 1).</a:t>
            </a:r>
          </a:p>
          <a:p>
            <a:r>
              <a:rPr lang="en-US" sz="1400" b="0" dirty="0"/>
              <a:t>Timing: 4 minutes. Sessions 7 and 8 teach how to WRITE each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Do not read front to back. Step 1, title (30 seconds): is it about my question? Step 2, abstract (3 minutes): PICO, design, main result. Most papers are rejected here.</a:t>
            </a:r>
          </a:p>
          <a:p>
            <a:r>
              <a:rPr lang="en-US" sz="1400" b="0" dirty="0"/>
              <a:t>Step 3, figures and tables (4 minutes): the flow chart (who was lost), Table 1 (were groups similar), the main results table.</a:t>
            </a:r>
          </a:p>
          <a:p>
            <a:r>
              <a:rPr lang="en-US" sz="1400" b="0" dirty="0"/>
              <a:t>Step 4, methods (5 minutes): who, how chosen, the primary outcome, how bias was reduced. Step 5, discussion (2-3 minutes): limitations, and do the conclusions match the data?</a:t>
            </a:r>
          </a:p>
          <a:p>
            <a:r>
              <a:rPr lang="en-US" sz="1400" b="0" dirty="0"/>
              <a:t>Teaching point: you read the Introduction and full Discussion only for papers you will cite or appraise in depth.</a:t>
            </a:r>
          </a:p>
          <a:p>
            <a:r>
              <a:rPr lang="en-US" sz="1400" b="0" dirty="0"/>
              <a:t>Misconception: 'reading only the abstract is enough'. Abstracts omit limitations and can contain spin (next slides).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clinical journals require a structured abstract: Background, Methods, Results, Conclusions (plus the trial registration number for trials).</a:t>
            </a:r>
          </a:p>
          <a:p>
            <a:r>
              <a:rPr lang="en-US" sz="1400" b="0" dirty="0"/>
              <a:t>Methods must name the design, setting, participants, intervention or exposure, comparison and the PRIMARY outcome.</a:t>
            </a:r>
          </a:p>
          <a:p>
            <a:r>
              <a:rPr lang="en-US" sz="1400" b="0" dirty="0"/>
              <a:t>Results must give the numbers screened and analysed and the primary result as an effect size with its 95% confidence interval, not only a p-value or 'significant'.</a:t>
            </a:r>
          </a:p>
          <a:p>
            <a:r>
              <a:rPr lang="en-US" sz="1400" b="0" dirty="0"/>
              <a:t>Conclusions answer the primary question, no more and no less. Reporting guidelines have abstract checklists (CONSORT for Abstracts, STROBE), covered in Session 8.</a:t>
            </a:r>
          </a:p>
          <a:p>
            <a:r>
              <a:rPr lang="en-US" sz="1400" b="0" dirty="0"/>
              <a:t>Ask the room: 'An abstract says only: mortality was significantly lower (p &lt; 0.05). What is missing?' Expected: the actual rates, the effect size and the confidence interval.</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(illustrative numbers, not from a real trial).</a:t>
            </a:r>
          </a:p>
          <a:p>
            <a:r>
              <a:rPr lang="en-US" sz="1400" b="0" dirty="0"/>
              <a:t>Left: 'significantly lower (p &lt; 0.05)' tells us nothing about how big the difference is, how sure we are, or when it was measured.</a:t>
            </a:r>
          </a:p>
          <a:p>
            <a:r>
              <a:rPr lang="en-US" sz="1400" b="0" dirty="0"/>
              <a:t>Right: rates in each group, the size of the difference (8 percentage points), the 95% confidence interval and the time point (28 days). A reader can judge whether the difference matters clinically.</a:t>
            </a:r>
          </a:p>
          <a:p>
            <a:r>
              <a:rPr lang="en-US" sz="1400" b="0" dirty="0"/>
              <a:t>Teaching point: ask 'how big, how sure, by when?' of every result you read. Confidence intervals are explained properly in Session 6.</a:t>
            </a:r>
          </a:p>
          <a:p>
            <a:r>
              <a:rPr lang="en-US" sz="1400" b="0" dirty="0"/>
              <a:t>Ask the room: 'Which sentence would you trust to change practice?' Expected: the right one, because you can see the size and the uncertainty.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Spin = reporting that makes results look more favourable than the data justify. It is common in abstracts of trials with non-significant primary outcomes.</a:t>
            </a:r>
          </a:p>
          <a:p>
            <a:r>
              <a:rPr lang="en-US" sz="1400" b="0" dirty="0"/>
              <a:t>Row 1: Paper 1's Discussion calls p = 0.42 for the primary outcome a 'non-significant trend'. A p of 0.42 is no evidence of a difference; the correct phrase is 'no significant difference; the confidence interval was wide'. To its credit, Paper 1's ABSTRACT conclusion has no spin.</a:t>
            </a:r>
          </a:p>
          <a:p>
            <a:r>
              <a:rPr lang="en-US" sz="1400" b="0" dirty="0"/>
              <a:t>Row 2: highlighting a positive secondary outcome when the primary outcome showed nothing.</a:t>
            </a:r>
          </a:p>
          <a:p>
            <a:r>
              <a:rPr lang="en-US" sz="1400" b="0" dirty="0"/>
              <a:t>Row 3: causal words for observational data. Paper 2's title says 'Impact of...' although a cohort can only show association (its abstract conclusion correctly says 'associated').</a:t>
            </a:r>
          </a:p>
          <a:p>
            <a:r>
              <a:rPr lang="en-US" sz="1400" b="0" dirty="0"/>
              <a:t>Row 4: claiming improvement from before-after change within one group, with no comparison between groups.</a:t>
            </a:r>
          </a:p>
          <a:p>
            <a:r>
              <a:rPr lang="en-US" sz="1400" b="0" dirty="0"/>
              <a:t>Misconception: 'peer review removes spin'. It reduces it, but spin is frequent in published papers.</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Causal word for an observational design: write 'was associated with lower pneumonia'. 2 p = 0.31 is no evidence of a difference: write 'no significant difference; the CI was wide'. 3 The headline is a secondary outcome: lead with the primary result. 4 Before-after change without a comparison, and other things may have changed: write 'mortality was lower after implementation; without a control group we cannot attribute this to the protocol'.</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Individual work, silently for 8 minutes, then 4 minutes comparing with a neighbour. Beginners need the extra time. Do not rush it.</a:t>
            </a:r>
          </a:p>
          <a:p>
            <a:r>
              <a:rPr lang="en-US" sz="1400" b="0" dirty="0"/>
              <a:t>Participants read the real abstract from the handout (Course/Papers has annotated versions in English and Vietnamese, but use the clean abstract for this task).</a:t>
            </a:r>
          </a:p>
          <a:p>
            <a:r>
              <a:rPr lang="en-US" sz="1400" b="0" dirty="0"/>
              <a:t>Circulate. The hardest cells: the primary outcome (many write 'mortality', but it is cumulative fluid balance at day 5) and the main result (they should copy the difference with its 95% CI, -15.2 to 41.6, which crosses zero).</a:t>
            </a:r>
          </a:p>
          <a:p>
            <a:r>
              <a:rPr lang="en-US" sz="1400" b="0" dirty="0"/>
              <a:t>Fast finishers: read Paper 2's abstract and spot the word in its title that overstates the design ('Impact').</a:t>
            </a:r>
          </a:p>
          <a:p>
            <a:r>
              <a:rPr lang="en-US" sz="1400" b="0" dirty="0"/>
              <a:t>Timing: 12 minutes. The answers are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through the grid quickly; ask a different table for each row.</a:t>
            </a:r>
          </a:p>
          <a:p>
            <a:r>
              <a:rPr lang="en-US" sz="1400" b="0" dirty="0"/>
              <a:t>Key points: (1) a PILOT trial with 48 analysed patients; (2) the primary outcome is cumulative fluid balance at day 5, not mortality; (3) the confidence interval for the difference (-15.2 to 41.6 ml/kg) includes zero, so no evidence of a difference; (4) the abstract conclusion matches the result (good practice); (5) the trial was registered.</a:t>
            </a:r>
          </a:p>
          <a:p>
            <a:r>
              <a:rPr lang="en-US" sz="1400" b="0" dirty="0"/>
              <a:t>If a sharp participant asks: the medians (6.9 vs 35.0 ml/kg) differ by more than the reported difference of 13.2 because the 13.2 is a difference in means (the Methods report the mean difference with its 95% CI), not a difference in medians. The course annotations flag this mismatch. Park it for Sessions 6-8.</a:t>
            </a:r>
          </a:p>
          <a:p>
            <a:r>
              <a:rPr lang="en-US" sz="1400" b="0" dirty="0"/>
              <a:t>Link to our question: this trial does NOT answer the 28-day mortality question. It answers a feasibility-type question about fluid balance. That is exactly the 'feasible rewrite' from the FINER slide.</a:t>
            </a:r>
          </a:p>
          <a:p>
            <a:r>
              <a:rPr lang="en-US" sz="1400" b="0" dirty="0"/>
              <a:t>Timing: 5 minutes, row by row. Segment 2.3 ends at 2:05.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2.4 (2:05-2:20).</a:t>
            </a:r>
          </a:p>
          <a:p>
            <a:r>
              <a:rPr lang="en-US" sz="1400" b="0" dirty="0"/>
              <a:t>Teaching point: reading is not the end. A literature matrix turns papers into a gap, the gap into a problem statement, and the PICO into a working title.</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worksheet is in Course/Templates (literature review worksheet). One row per paper, the same columns each time.</a:t>
            </a:r>
          </a:p>
          <a:p>
            <a:r>
              <a:rPr lang="en-US" sz="1400" b="0" dirty="0"/>
              <a:t>Rows 1-3 show the course papers: Paper 1 (Boulet 2024, pilot RCT: fluid balance, no significant difference), Paper 2 (Hyun 2023, matched cohort: positive balance on days 2-3 associated with higher 28-day mortality), and CLASSIC (Meyhoff 2022: no difference in 90-day mortality).</a:t>
            </a:r>
          </a:p>
          <a:p>
            <a:r>
              <a:rPr lang="en-US" sz="1400" b="0" dirty="0"/>
              <a:t>Notice: the three papers measure different outcomes at different times. A matrix makes that visible at once.</a:t>
            </a:r>
          </a:p>
          <a:p>
            <a:r>
              <a:rPr lang="en-US" sz="1400" b="0" dirty="0"/>
              <a:t>Teaching point: the 'key limitation' column is where the gap, and your study's justification, comes from.</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papers you read become the Introduction of your proposal. It is the same funnel as the top of the IMRaD hourglass.</a:t>
            </a:r>
          </a:p>
          <a:p>
            <a:r>
              <a:rPr lang="en-US" sz="1400" b="0" dirty="0"/>
              <a:t>Paragraph 1, what is known: the size of the problem and current practice, with references.</a:t>
            </a:r>
          </a:p>
          <a:p>
            <a:r>
              <a:rPr lang="en-US" sz="1400" b="0" dirty="0"/>
              <a:t>Paragraph 2, what is not known: the gap (conflicting studies, no studies in patients like ours, outcomes not measured). Your literature matrix's 'limitation' column feeds this paragraph.</a:t>
            </a:r>
          </a:p>
          <a:p>
            <a:r>
              <a:rPr lang="en-US" sz="1400" b="0" dirty="0"/>
              <a:t>Paragraph 3, why it matters here: local data (an audit, an incident review, a number from your unit). Then state the question and aim.</a:t>
            </a:r>
          </a:p>
          <a:p>
            <a:r>
              <a:rPr lang="en-US" sz="1400" b="0" dirty="0"/>
              <a:t>Misconception: 'the background must review everything ever written'. Paper 1's introduction does the whole funnel in under 500 words.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what the funnel looks like as real text, for the feasible rewrite of the running example.</a:t>
            </a:r>
          </a:p>
          <a:p>
            <a:r>
              <a:rPr lang="en-US" sz="1400" b="0" dirty="0"/>
              <a:t>Paragraph 1 (known) cites Paper 2. Paragraph 2 (not known) cites CLASSIC, CLOVERS and Paper 1 and ends with the gap. Paragraph 3 (why here) uses LOCAL data (replace the audit statement with your own numbers) and ends with the question.</a:t>
            </a:r>
          </a:p>
          <a:p>
            <a:r>
              <a:rPr lang="en-US" sz="1400" b="0" dirty="0"/>
              <a:t>Teaching point: every factual sentence carries a citation number; the last sentence leads straight into the PICO question.</a:t>
            </a:r>
          </a:p>
          <a:p>
            <a:r>
              <a:rPr lang="en-US" sz="1400" b="0" dirty="0"/>
              <a:t>Misconception: 'the problem statement should be long and impressive'. About 300 words is enough for a proposal.</a:t>
            </a:r>
          </a:p>
          <a:p>
            <a:r>
              <a:rPr lang="en-US" sz="1400" b="0" dirty="0"/>
              <a:t>Model text in English; groups may write in Vietnamese for their proposal, but search and cite in English.</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good title names the population, the intervention and comparison (or exposure), and the design, in about 10 to 16 words.</a:t>
            </a:r>
          </a:p>
          <a:p>
            <a:r>
              <a:rPr lang="en-US" sz="1400" b="0" dirty="0"/>
              <a:t>Example from the feasible rewrite: 'Restrictive versus usual fluids in adults with septic shock: a pilot randomised trial' (13 words).</a:t>
            </a:r>
          </a:p>
          <a:p>
            <a:r>
              <a:rPr lang="en-US" sz="1400" b="0" dirty="0"/>
              <a:t>Avoid abbreviations and promotional or causal words ('impact', 'novel', 'effect of'), especially for observational designs (compare Paper 2's title).</a:t>
            </a:r>
          </a:p>
          <a:p>
            <a:r>
              <a:rPr lang="en-US" sz="1400" b="0" dirty="0"/>
              <a:t>Keywords: 3 to 6, ideally MeSH terms NOT already in the title, so the paper is found by more searches (the Paper 1 annotations make the same point).</a:t>
            </a:r>
          </a:p>
          <a:p>
            <a:r>
              <a:rPr lang="en-US" sz="1400" b="0" dirty="0"/>
              <a:t>Ask the room: 'Is Fluids in the ICU a good title?' Expected: no. It has no population, no comparison and no design.</a:t>
            </a:r>
          </a:p>
          <a:p>
            <a:r>
              <a:rPr lang="en-US" sz="1400" b="0" dirty="0"/>
              <a:t>Timing: 4 minutes. Segment 2.4 ends at 2:20.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PROPOSAL BUILDER 2 (2:20-2:55).</a:t>
            </a:r>
          </a:p>
          <a:p>
            <a:r>
              <a:rPr lang="en-US" sz="1400" b="0" dirty="0"/>
              <a:t>Teaching point: everything taught today is applied to the group's own question from last Saturday. By 2:55 each group has a documented search, at least 3-5 references in the matrix, a draft problem statement and a working title.</a:t>
            </a:r>
          </a:p>
          <a:p>
            <a:r>
              <a:rPr lang="en-US" sz="1400" b="0" dirty="0"/>
              <a:t>Make sure each group has a laptop or phone for the searcher.</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Roles: the searcher runs PubMed and exports; the scribe fills the matrix and template; the others read abstracts in parallel (split the 5 papers).</a:t>
            </a:r>
          </a:p>
          <a:p>
            <a:r>
              <a:rPr lang="en-US" sz="1400" b="0" dirty="0"/>
              <a:t>Trainers circulate. First visit: is the string sensible (brackets, OR inside, AND between, no comparison block)? Too many hits: add a block or a filter. Too few: add synonyms.</a:t>
            </a:r>
          </a:p>
          <a:p>
            <a:r>
              <a:rPr lang="en-US" sz="1400" b="0" dirty="0"/>
              <a:t>Second visit: does the problem statement end with the group's question, and does paragraph 2 actually state a gap?</a:t>
            </a:r>
          </a:p>
          <a:p>
            <a:r>
              <a:rPr lang="en-US" sz="1400" b="0" dirty="0"/>
              <a:t>If a group cannot finish the 5 references, they record the string, database and date; the remaining references become homework.</a:t>
            </a:r>
          </a:p>
          <a:p>
            <a:r>
              <a:rPr lang="en-US" sz="1400" b="0" dirty="0"/>
              <a:t>At 2:51 (minute 31), stop; one group reads its title and its gap sentence aloud; invite one improvement.</a:t>
            </a:r>
          </a:p>
          <a:p>
            <a:r>
              <a:rPr lang="en-US" sz="1400" b="0" dirty="0"/>
              <a:t>What good looks like: Course/Solutions/s2_solutions.md (Exercise 4).</a:t>
            </a:r>
          </a:p>
          <a:p>
            <a:r>
              <a:rPr lang="en-US" sz="1400" b="0" dirty="0"/>
              <a:t>Timing: 33 minutes. Wrap-up starts at 2:55.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WRAP-UP (2:55-3:00).</a:t>
            </a:r>
          </a:p>
          <a:p>
            <a:r>
              <a:rPr lang="en-US" sz="1400" b="0" dirty="0"/>
              <a:t>Read the six key words quickly; they are also in the course glossary (EN-VN).</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three messages, then ask one participant: 'What is the first thing you look for in an abstract?' Expected: the primary outcome and its result with a CI.</a:t>
            </a:r>
          </a:p>
          <a:p>
            <a:r>
              <a:rPr lang="en-US" sz="1400" b="0" dirty="0"/>
              <a:t>Link forward: over the next two Saturdays (Sessions 3 and 4) we choose the right DESIGN to answer each group's question, and meet bias, confounding and measures of effect using the two fluid papers.</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OR (either term). (2) Cumulative fluid balance at day 5 (ml/kg), not mortality.</a:t>
            </a:r>
          </a:p>
          <a:p>
            <a:r>
              <a:rPr lang="en-US" sz="1400" b="0" dirty="0"/>
              <a:t>Read the notes after the session. If more than a quarter get either wrong, revisit it in the Session 3 recap quiz.</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Be specific: about 60-90 minutes per person over the week, shared within the group.</a:t>
            </a:r>
          </a:p>
          <a:p>
            <a:r>
              <a:rPr lang="en-US" sz="1400" b="0" dirty="0"/>
              <a:t>The two papers are in Course/Papers (annotated versions in English and Vietnamese). Session 3 uses both abstracts to compare an RCT with a cohort.</a:t>
            </a:r>
          </a:p>
          <a:p>
            <a:r>
              <a:rPr lang="en-US" sz="1400" b="0" dirty="0"/>
              <a:t>Remind groups to send their Part 1 to the trainers if you offer written feedback between sessions.</a:t>
            </a:r>
          </a:p>
          <a:p>
            <a:r>
              <a:rPr lang="en-US" sz="1400" b="0" dirty="0"/>
              <a:t>Close on time. Thank the room.</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(Session 2).</a:t>
            </a:r>
          </a:p>
          <a:p>
            <a:r>
              <a:rPr lang="en-US" sz="1400" b="0" dirty="0"/>
              <a:t>Everything after this slide is optional. Use it if the room is fast, if a group asks, or point participants to it for self-study.</a:t>
            </a:r>
          </a:p>
          <a:p>
            <a:r>
              <a:rPr lang="en-US" sz="1400" b="0" dirty="0"/>
              <a:t>The core session is complete without these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other databases.</a:t>
            </a:r>
          </a:p>
          <a:p>
            <a:r>
              <a:rPr lang="en-US" sz="1400" b="0" dirty="0"/>
              <a:t>Cochrane Library: start here for treatment questions. A good systematic review may already answer yours.</a:t>
            </a:r>
          </a:p>
          <a:p>
            <a:r>
              <a:rPr lang="en-US" sz="1400" b="0" dirty="0"/>
              <a:t>Embase and CINAHL usually need an institutional subscription; ask your library.</a:t>
            </a:r>
          </a:p>
          <a:p>
            <a:r>
              <a:rPr lang="en-US" sz="1400" b="0" dirty="0"/>
              <a:t>National and regional databases can matter for local-language journals.</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PubMed Clinical Queries.</a:t>
            </a:r>
          </a:p>
          <a:p>
            <a:r>
              <a:rPr lang="en-US" sz="1400" b="0" dirty="0"/>
              <a:t>Clinical Queries applies validated search filters for study types that answer clinical questions.</a:t>
            </a:r>
          </a:p>
          <a:p>
            <a:r>
              <a:rPr lang="en-US" sz="1400" b="0" dirty="0"/>
              <a:t>Good for a quick look before a ward round or to check your own search did not miss an obvious trial.</a:t>
            </a:r>
          </a:p>
          <a:p>
            <a:r>
              <a:rPr lang="en-US" sz="1400" b="0" dirty="0"/>
              <a:t>The interface changes from time to time. Check it before showing it live.</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Google Scholar demo.</a:t>
            </a:r>
          </a:p>
          <a:p>
            <a:r>
              <a:rPr lang="en-US" sz="1400" b="0" dirty="0"/>
              <a:t>Course/Demos/s2_demo.md, Part C.</a:t>
            </a:r>
          </a:p>
          <a:p>
            <a:r>
              <a:rPr lang="en-US" sz="1400" b="0" dirty="0"/>
              <a:t>Say: 'Scholar is excellent for following citations forward and for grey literature, but there is no MeSH, few filters, and the same search may give different results next month.'</a:t>
            </a:r>
          </a:p>
          <a:p>
            <a:r>
              <a:rPr lang="en-US" sz="1400" b="0" dirty="0"/>
              <a:t>If Scholar shows a CAPTCHA, do not try to solve it on a shared machine; skip to the screenshots.</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text recycling, AI and similarity checks.</a:t>
            </a:r>
          </a:p>
          <a:p>
            <a:r>
              <a:rPr lang="en-US" sz="1400" b="0" dirty="0"/>
              <a:t>Text recycling ('self-plagiarism'): some reuse of standard Methods wording may be accepted if cited and allowed by the journal; never reuse Results or Discussion text.</a:t>
            </a:r>
          </a:p>
          <a:p>
            <a:r>
              <a:rPr lang="en-US" sz="1400" b="0" dirty="0"/>
              <a:t>AI tools: journals require disclosure of AI use (Session 7 covers integrity and AI in detail).</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8.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9.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0.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1.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2.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3.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6.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7.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8.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9.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0.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Session 2 · Find &amp; read: the evidence</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2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1</a:t>
            </a:r>
          </a:p>
          <a:p>
            <a:pPr marL="274320" indent="-274320" algn="l">
              <a:spcBef>
                <a:spcPts val="440"/>
              </a:spcBef>
              <a:buFont typeface="Arial"/>
              <a:buChar char="•"/>
            </a:pPr>
            <a:r>
              <a:rPr lang="en-US" sz="1900" dirty="0">
                <a:solidFill>
                  <a:srgbClr val="000000"/>
                </a:solidFill>
                <a:latin typeface="Arial"/>
                <a:cs typeface="Arial"/>
              </a:rPr>
              <a:t>2.1  Finding the evidence: PICO to search, Boolean, MeSH, live PubMed demo</a:t>
            </a:r>
          </a:p>
          <a:p>
            <a:pPr marL="274320" indent="-274320" algn="l">
              <a:spcBef>
                <a:spcPts val="440"/>
              </a:spcBef>
              <a:buFont typeface="Arial"/>
              <a:buChar char="•"/>
            </a:pPr>
            <a:r>
              <a:rPr lang="en-US" sz="1900" dirty="0">
                <a:solidFill>
                  <a:srgbClr val="000000"/>
                </a:solidFill>
                <a:latin typeface="Arial"/>
                <a:cs typeface="Arial"/>
              </a:rPr>
              <a:t>2.2  Managing and citing: Zotero demo, citation styles, paraphrasing, grey literature</a:t>
            </a:r>
          </a:p>
          <a:p>
            <a:pPr marL="274320" indent="-274320" algn="l">
              <a:spcBef>
                <a:spcPts val="440"/>
              </a:spcBef>
              <a:buFont typeface="Arial"/>
              <a:buChar char="•"/>
            </a:pPr>
            <a:r>
              <a:rPr lang="en-US" sz="1900" dirty="0">
                <a:solidFill>
                  <a:srgbClr val="000000"/>
                </a:solidFill>
                <a:latin typeface="Arial"/>
                <a:cs typeface="Arial"/>
              </a:rPr>
              <a:t>Break</a:t>
            </a:r>
          </a:p>
          <a:p>
            <a:pPr marL="274320" indent="-274320" algn="l">
              <a:spcBef>
                <a:spcPts val="440"/>
              </a:spcBef>
              <a:buFont typeface="Arial"/>
              <a:buChar char="•"/>
            </a:pPr>
            <a:r>
              <a:rPr lang="en-US" sz="1900" dirty="0">
                <a:solidFill>
                  <a:srgbClr val="000000"/>
                </a:solidFill>
                <a:latin typeface="Arial"/>
                <a:cs typeface="Arial"/>
              </a:rPr>
              <a:t>2.3  Reading a paper in 15 minutes and 2.4 from literature to introduction</a:t>
            </a:r>
          </a:p>
          <a:p>
            <a:pPr marL="274320" indent="-274320" algn="l">
              <a:spcBef>
                <a:spcPts val="440"/>
              </a:spcBef>
              <a:buFont typeface="Arial"/>
              <a:buChar char="•"/>
            </a:pPr>
            <a:r>
              <a:rPr lang="en-US" sz="1900" dirty="0">
                <a:solidFill>
                  <a:srgbClr val="000000"/>
                </a:solidFill>
                <a:latin typeface="Arial"/>
                <a:cs typeface="Arial"/>
              </a:rPr>
              <a:t>Proposal builder 2: search string, 5 references, problem statement, working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8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Checking whether fluid balance is charted daily as the protocol says: research, audit or QI?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'In ICU staff, does hand-hygiene feedback vs none increase compliance at 3 months?' Name P, I, C, O, 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FINER letter did our running example fail?</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is an objective: 'to understand delirium' or 'to estimate the proportion with delirium'?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Write H0 for: does early mobilisation shorten ICU stay?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Answers on paper, checked against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answers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43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Audit</a:t>
            </a:r>
          </a:p>
        </p:txBody>
      </p:sp>
      <p:sp>
        <p:nvSpPr>
          <p:cNvPr id="71" name="CardBody"/>
          <p:cNvSpPr/>
          <p:nvPr/>
        </p:nvSpPr>
        <p:spPr>
          <a:xfrm>
            <a:off x="45720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Checking practice</a:t>
            </a:r>
          </a:p>
          <a:p>
            <a:pPr marL="0" indent="0" algn="l">
              <a:lnSpc>
                <a:spcPct val="104000"/>
              </a:lnSpc>
              <a:spcBef>
                <a:spcPts val="400"/>
              </a:spcBef>
              <a:buNone/>
            </a:pPr>
            <a:r>
              <a:rPr lang="en-US" sz="1450" dirty="0">
                <a:solidFill>
                  <a:srgbClr val="000000"/>
                </a:solidFill>
                <a:latin typeface="Arial"/>
                <a:cs typeface="Arial"/>
              </a:rPr>
              <a:t>against a standard</a:t>
            </a:r>
          </a:p>
        </p:txBody>
      </p:sp>
      <p:sp>
        <p:nvSpPr>
          <p:cNvPr id="72" name="CardHead"/>
          <p:cNvSpPr/>
          <p:nvPr/>
        </p:nvSpPr>
        <p:spPr>
          <a:xfrm>
            <a:off x="2752720" y="18643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PICO(T)</a:t>
            </a:r>
          </a:p>
        </p:txBody>
      </p:sp>
      <p:sp>
        <p:nvSpPr>
          <p:cNvPr id="73" name="CardBody"/>
          <p:cNvSpPr/>
          <p:nvPr/>
        </p:nvSpPr>
        <p:spPr>
          <a:xfrm>
            <a:off x="275272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P ICU staff</a:t>
            </a:r>
          </a:p>
          <a:p>
            <a:pPr marL="0" indent="0" algn="l">
              <a:lnSpc>
                <a:spcPct val="104000"/>
              </a:lnSpc>
              <a:spcBef>
                <a:spcPts val="400"/>
              </a:spcBef>
              <a:buNone/>
            </a:pPr>
            <a:r>
              <a:rPr lang="en-US" sz="1450" dirty="0">
                <a:solidFill>
                  <a:srgbClr val="000000"/>
                </a:solidFill>
                <a:latin typeface="Arial"/>
                <a:cs typeface="Arial"/>
              </a:rPr>
              <a:t>I feedback  C none</a:t>
            </a:r>
          </a:p>
          <a:p>
            <a:pPr marL="0" indent="0" algn="l">
              <a:lnSpc>
                <a:spcPct val="104000"/>
              </a:lnSpc>
              <a:spcBef>
                <a:spcPts val="400"/>
              </a:spcBef>
              <a:buNone/>
            </a:pPr>
            <a:r>
              <a:rPr lang="en-US" sz="1450" dirty="0">
                <a:solidFill>
                  <a:srgbClr val="000000"/>
                </a:solidFill>
                <a:latin typeface="Arial"/>
                <a:cs typeface="Arial"/>
              </a:rPr>
              <a:t>O compliance</a:t>
            </a:r>
          </a:p>
          <a:p>
            <a:pPr marL="0" indent="0" algn="l">
              <a:lnSpc>
                <a:spcPct val="104000"/>
              </a:lnSpc>
              <a:spcBef>
                <a:spcPts val="400"/>
              </a:spcBef>
              <a:buNone/>
            </a:pPr>
            <a:r>
              <a:rPr lang="en-US" sz="1450" dirty="0">
                <a:solidFill>
                  <a:srgbClr val="000000"/>
                </a:solidFill>
                <a:latin typeface="Arial"/>
                <a:cs typeface="Arial"/>
              </a:rPr>
              <a:t>T 3 months</a:t>
            </a:r>
          </a:p>
        </p:txBody>
      </p:sp>
      <p:sp>
        <p:nvSpPr>
          <p:cNvPr id="74" name="CardHead"/>
          <p:cNvSpPr/>
          <p:nvPr/>
        </p:nvSpPr>
        <p:spPr>
          <a:xfrm>
            <a:off x="5048240" y="18643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Feasible</a:t>
            </a:r>
          </a:p>
        </p:txBody>
      </p:sp>
      <p:sp>
        <p:nvSpPr>
          <p:cNvPr id="75" name="CardBody"/>
          <p:cNvSpPr/>
          <p:nvPr/>
        </p:nvSpPr>
        <p:spPr>
          <a:xfrm>
            <a:off x="504824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Mortality needs</a:t>
            </a:r>
          </a:p>
          <a:p>
            <a:pPr marL="0" indent="0" algn="l">
              <a:lnSpc>
                <a:spcPct val="104000"/>
              </a:lnSpc>
              <a:spcBef>
                <a:spcPts val="400"/>
              </a:spcBef>
              <a:buNone/>
            </a:pPr>
            <a:r>
              <a:rPr lang="en-US" sz="1450" dirty="0">
                <a:solidFill>
                  <a:srgbClr val="000000"/>
                </a:solidFill>
                <a:latin typeface="Arial"/>
                <a:cs typeface="Arial"/>
              </a:rPr>
              <a:t>1,000+ patients</a:t>
            </a:r>
          </a:p>
        </p:txBody>
      </p:sp>
      <p:sp>
        <p:nvSpPr>
          <p:cNvPr id="76" name="CardHead"/>
          <p:cNvSpPr/>
          <p:nvPr/>
        </p:nvSpPr>
        <p:spPr>
          <a:xfrm>
            <a:off x="7343760" y="18643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Estimate</a:t>
            </a:r>
          </a:p>
        </p:txBody>
      </p:sp>
      <p:sp>
        <p:nvSpPr>
          <p:cNvPr id="77" name="CardBody"/>
          <p:cNvSpPr/>
          <p:nvPr/>
        </p:nvSpPr>
        <p:spPr>
          <a:xfrm>
            <a:off x="734376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A measurable verb;</a:t>
            </a:r>
          </a:p>
          <a:p>
            <a:pPr marL="0" indent="0" algn="l">
              <a:lnSpc>
                <a:spcPct val="104000"/>
              </a:lnSpc>
              <a:spcBef>
                <a:spcPts val="400"/>
              </a:spcBef>
              <a:buNone/>
            </a:pPr>
            <a:r>
              <a:rPr lang="en-US" sz="1450" dirty="0">
                <a:solidFill>
                  <a:srgbClr val="000000"/>
                </a:solidFill>
                <a:latin typeface="Arial"/>
                <a:cs typeface="Arial"/>
              </a:rPr>
              <a:t>'understand' is not</a:t>
            </a:r>
          </a:p>
        </p:txBody>
      </p:sp>
      <p:sp>
        <p:nvSpPr>
          <p:cNvPr id="78" name="CardHead"/>
          <p:cNvSpPr/>
          <p:nvPr/>
        </p:nvSpPr>
        <p:spPr>
          <a:xfrm>
            <a:off x="9639280" y="18643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H0</a:t>
            </a:r>
          </a:p>
        </p:txBody>
      </p:sp>
      <p:sp>
        <p:nvSpPr>
          <p:cNvPr id="79" name="CardBody"/>
          <p:cNvSpPr/>
          <p:nvPr/>
        </p:nvSpPr>
        <p:spPr>
          <a:xfrm>
            <a:off x="963928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ICU stay is the</a:t>
            </a:r>
          </a:p>
          <a:p>
            <a:pPr marL="0" indent="0" algn="l">
              <a:lnSpc>
                <a:spcPct val="104000"/>
              </a:lnSpc>
              <a:spcBef>
                <a:spcPts val="400"/>
              </a:spcBef>
              <a:buNone/>
            </a:pPr>
            <a:r>
              <a:rPr lang="en-US" sz="1450" dirty="0">
                <a:solidFill>
                  <a:srgbClr val="000000"/>
                </a:solidFill>
                <a:latin typeface="Arial"/>
                <a:cs typeface="Arial"/>
              </a:rPr>
              <a:t>same with early</a:t>
            </a:r>
          </a:p>
          <a:p>
            <a:pPr marL="0" indent="0" algn="l">
              <a:lnSpc>
                <a:spcPct val="104000"/>
              </a:lnSpc>
              <a:spcBef>
                <a:spcPts val="400"/>
              </a:spcBef>
              <a:buNone/>
            </a:pPr>
            <a:r>
              <a:rPr lang="en-US" sz="1450" dirty="0">
                <a:solidFill>
                  <a:srgbClr val="000000"/>
                </a:solidFill>
                <a:latin typeface="Arial"/>
                <a:cs typeface="Arial"/>
              </a:rPr>
              <a:t>mobilisation and</a:t>
            </a:r>
          </a:p>
          <a:p>
            <a:pPr marL="0" indent="0" algn="l">
              <a:lnSpc>
                <a:spcPct val="104000"/>
              </a:lnSpc>
              <a:spcBef>
                <a:spcPts val="400"/>
              </a:spcBef>
              <a:buNone/>
            </a:pPr>
            <a:r>
              <a:rPr lang="en-US" sz="1450" dirty="0">
                <a:solidFill>
                  <a:srgbClr val="000000"/>
                </a:solidFill>
                <a:latin typeface="Arial"/>
                <a:cs typeface="Arial"/>
              </a:rPr>
              <a:t>usual care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If you got 4 or 5 right, you are ready for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2.1  Finding the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Before you study it, find out what is already known.</a:t>
            </a:r>
          </a:p>
          <a:p>
            <a:pPr marL="0" indent="0" algn="ctr">
              <a:spcBef>
                <a:spcPts val="1200"/>
              </a:spcBef>
              <a:buNone/>
            </a:pPr>
            <a:r>
              <a:rPr lang="en-US" sz="1900" i="1" dirty="0">
                <a:solidFill>
                  <a:srgbClr val="595959"/>
                </a:solidFill>
                <a:latin typeface="Arial"/>
                <a:cs typeface="Arial"/>
              </a:rPr>
              <a:t>40 minutes: the search funnel, PICO to search blocks, Boolean, MeSH, search tools and a live PubMed demo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search funnel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good search starts wide, narrows step by step, and is written down.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PICO to search blocks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One block per PICO concept: OR inside a block, AND between blocks.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2: a ward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Same method for any topic: concepts in blocks, synonyms with OR, blocks with AND.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Boolean logic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AND narrows, OR widens, NOT removes. Use NOT sparingly.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AND, OR or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want papers that mention BOTH delirium AND hip fracture: which operator?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want papers using EITHER 'pressure ulcer' OR 'bedsore': which operator?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Your search found 40,000 hits. Will adding a third AND block give more or fewer?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Why is 'sepsis NOT children' risky?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Answers out loud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MeSH: the shared label behind many words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Search the MeSH term AND the free-text words, joined with 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Four tools that sharpen a 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"Quotes"</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"septic shock"</a:t>
            </a:r>
          </a:p>
          <a:p>
            <a:pPr marL="0" indent="0" algn="l">
              <a:lnSpc>
                <a:spcPct val="104000"/>
              </a:lnSpc>
              <a:spcBef>
                <a:spcPts val="400"/>
              </a:spcBef>
              <a:buNone/>
            </a:pPr>
            <a:r>
              <a:rPr lang="en-US" sz="1600" dirty="0">
                <a:solidFill>
                  <a:srgbClr val="000000"/>
                </a:solidFill>
                <a:latin typeface="Arial"/>
                <a:cs typeface="Arial"/>
              </a:rPr>
              <a:t>= exact phrase</a:t>
            </a:r>
          </a:p>
          <a:p>
            <a:pPr marL="0" indent="0" algn="l">
              <a:lnSpc>
                <a:spcPct val="104000"/>
              </a:lnSpc>
              <a:spcBef>
                <a:spcPts val="400"/>
              </a:spcBef>
              <a:buNone/>
            </a:pPr>
            <a:r>
              <a:rPr lang="en-US" sz="1600" dirty="0">
                <a:solidFill>
                  <a:srgbClr val="000000"/>
                </a:solidFill>
                <a:latin typeface="Arial"/>
                <a:cs typeface="Arial"/>
              </a:rPr>
              <a:t>not two loose words</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Truncation *</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restrict*</a:t>
            </a:r>
          </a:p>
          <a:p>
            <a:pPr marL="0" indent="0" algn="l">
              <a:lnSpc>
                <a:spcPct val="104000"/>
              </a:lnSpc>
              <a:spcBef>
                <a:spcPts val="400"/>
              </a:spcBef>
              <a:buNone/>
            </a:pPr>
            <a:r>
              <a:rPr lang="en-US" sz="1600" dirty="0">
                <a:solidFill>
                  <a:srgbClr val="000000"/>
                </a:solidFill>
                <a:latin typeface="Arial"/>
                <a:cs typeface="Arial"/>
              </a:rPr>
              <a:t>= restrict, restricted,</a:t>
            </a:r>
          </a:p>
          <a:p>
            <a:pPr marL="0" indent="0" algn="l">
              <a:lnSpc>
                <a:spcPct val="104000"/>
              </a:lnSpc>
              <a:spcBef>
                <a:spcPts val="400"/>
              </a:spcBef>
              <a:buNone/>
            </a:pPr>
            <a:r>
              <a:rPr lang="en-US" sz="1600" dirty="0">
                <a:solidFill>
                  <a:srgbClr val="000000"/>
                </a:solidFill>
                <a:latin typeface="Arial"/>
                <a:cs typeface="Arial"/>
              </a:rPr>
              <a:t>restriction, restrictive</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Field tags</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[tiab] title/abstract</a:t>
            </a:r>
          </a:p>
          <a:p>
            <a:pPr marL="0" indent="0" algn="l">
              <a:lnSpc>
                <a:spcPct val="104000"/>
              </a:lnSpc>
              <a:spcBef>
                <a:spcPts val="400"/>
              </a:spcBef>
              <a:buNone/>
            </a:pPr>
            <a:r>
              <a:rPr lang="en-US" sz="1600" dirty="0">
                <a:solidFill>
                  <a:srgbClr val="000000"/>
                </a:solidFill>
                <a:latin typeface="Arial"/>
                <a:cs typeface="Arial"/>
              </a:rPr>
              <a:t>[mh] MeSH term</a:t>
            </a:r>
          </a:p>
          <a:p>
            <a:pPr marL="0" indent="0" algn="l">
              <a:lnSpc>
                <a:spcPct val="104000"/>
              </a:lnSpc>
              <a:spcBef>
                <a:spcPts val="400"/>
              </a:spcBef>
              <a:buNone/>
            </a:pPr>
            <a:r>
              <a:rPr lang="en-US" sz="1600" dirty="0">
                <a:solidFill>
                  <a:srgbClr val="000000"/>
                </a:solidFill>
                <a:latin typeface="Arial"/>
                <a:cs typeface="Arial"/>
              </a:rPr>
              <a:t>[pt] article type</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Filters</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Article type (RCT,</a:t>
            </a:r>
          </a:p>
          <a:p>
            <a:pPr marL="0" indent="0" algn="l">
              <a:lnSpc>
                <a:spcPct val="104000"/>
              </a:lnSpc>
              <a:spcBef>
                <a:spcPts val="400"/>
              </a:spcBef>
              <a:buNone/>
            </a:pPr>
            <a:r>
              <a:rPr lang="en-US" sz="1600" dirty="0">
                <a:solidFill>
                  <a:srgbClr val="000000"/>
                </a:solidFill>
                <a:latin typeface="Arial"/>
                <a:cs typeface="Arial"/>
              </a:rPr>
              <a:t>systematic review)</a:t>
            </a:r>
          </a:p>
          <a:p>
            <a:pPr marL="0" indent="0" algn="l">
              <a:lnSpc>
                <a:spcPct val="104000"/>
              </a:lnSpc>
              <a:spcBef>
                <a:spcPts val="400"/>
              </a:spcBef>
              <a:buNone/>
            </a:pPr>
            <a:r>
              <a:rPr lang="en-US" sz="1600" dirty="0">
                <a:solidFill>
                  <a:srgbClr val="000000"/>
                </a:solidFill>
                <a:latin typeface="Arial"/>
                <a:cs typeface="Arial"/>
              </a:rPr>
              <a:t>Date, age, humans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Check 'Search details' to see exactly what PubMed searched.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PubMed vs Google Scholar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PubMed for the main search; Google Scholar to check and to follow citations.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searching PubMed for our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Search one keyword, septic shock, and note the number of hits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Paste the full PICO string: P, I and O blocks joined with AND</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Look at 'Search details': what did PubMed really search?</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Add filters: RCT and systematic review, adults, last 10 years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one result: abstract, MeSH terms, 'Similar articles', 'Cited by'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Send to: Citation manager (we import it in 2.2)</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Watch for</a:t>
            </a:r>
          </a:p>
          <a:p>
            <a:pPr marL="274320" indent="-274320" algn="l">
              <a:lnSpc>
                <a:spcPct val="104000"/>
              </a:lnSpc>
              <a:spcBef>
                <a:spcPts val="300"/>
              </a:spcBef>
              <a:buFont typeface="Arial"/>
              <a:buChar char="•"/>
            </a:pPr>
            <a:r>
              <a:rPr lang="en-US" sz="1500" dirty="0">
                <a:solidFill>
                  <a:srgbClr val="000000"/>
                </a:solidFill>
                <a:latin typeface="Arial"/>
                <a:cs typeface="Arial"/>
              </a:rPr>
              <a:t>How the hits fall at each step</a:t>
            </a:r>
          </a:p>
          <a:p>
            <a:pPr marL="274320" indent="-274320" algn="l">
              <a:lnSpc>
                <a:spcPct val="104000"/>
              </a:lnSpc>
              <a:spcBef>
                <a:spcPts val="300"/>
              </a:spcBef>
              <a:buFont typeface="Arial"/>
              <a:buChar char="•"/>
            </a:pPr>
            <a:r>
              <a:rPr lang="en-US" sz="1500" dirty="0">
                <a:solidFill>
                  <a:srgbClr val="000000"/>
                </a:solidFill>
                <a:latin typeface="Arial"/>
                <a:cs typeface="Arial"/>
              </a:rPr>
              <a:t>Which papers keep appearing</a:t>
            </a:r>
          </a:p>
          <a:p>
            <a:pPr marL="274320" indent="-274320" algn="l">
              <a:lnSpc>
                <a:spcPct val="104000"/>
              </a:lnSpc>
              <a:spcBef>
                <a:spcPts val="300"/>
              </a:spcBef>
              <a:buFont typeface="Arial"/>
              <a:buChar char="•"/>
            </a:pPr>
            <a:r>
              <a:rPr lang="en-US" sz="1500" dirty="0">
                <a:solidFill>
                  <a:srgbClr val="000000"/>
                </a:solidFill>
                <a:latin typeface="Arial"/>
                <a:cs typeface="Arial"/>
              </a:rPr>
              <a:t>Can you find Paper 1 and CLASSIC?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Arial"/>
                <a:cs typeface="Arial"/>
              </a:rPr>
              <a:t>OUTPUT   </a:t>
            </a:r>
            <a:r>
              <a:rPr lang="en-US" sz="1500" dirty="0">
                <a:solidFill>
                  <a:srgbClr val="000000"/>
                </a:solidFill>
                <a:latin typeface="Arial"/>
                <a:cs typeface="Arial"/>
              </a:rPr>
              <a:t>A search string we can all copy (Exercise 1 on the sheet)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Your turn: build a Boolean 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Take your group's PICO question and your synonym list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Exercise 1: write 2-4 synonyms for P, for I (or E) and for O</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Join synonyms with OR in brackets, and the blocks with AND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Mark which words could be MeSH terms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Swap with your neighbour: spot one missing synonym</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Arial"/>
                <a:cs typeface="Arial"/>
              </a:rPr>
              <a:t>OUTPUT   </a:t>
            </a:r>
            <a:r>
              <a:rPr lang="en-US" sz="1500" dirty="0">
                <a:solidFill>
                  <a:srgbClr val="000000"/>
                </a:solidFill>
                <a:latin typeface="Arial"/>
                <a:cs typeface="Arial"/>
              </a:rPr>
              <a:t>One search string on paper, for your group to run in Proposal builder 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2.2  Managing and citing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Keep every reference you find, and use other people's work honestly.</a:t>
            </a:r>
          </a:p>
          <a:p>
            <a:pPr marL="0" indent="0" algn="ctr">
              <a:spcBef>
                <a:spcPts val="1200"/>
              </a:spcBef>
              <a:buNone/>
            </a:pPr>
            <a:r>
              <a:rPr lang="en-US" sz="1900" i="1" dirty="0">
                <a:solidFill>
                  <a:srgbClr val="595959"/>
                </a:solidFill>
                <a:latin typeface="Arial"/>
                <a:cs typeface="Arial"/>
              </a:rPr>
              <a:t>20 minutes: reference managers (Zotero demo), citation styles, paraphrasing safely, grey literature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Reference managers: save as you go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Collect</a:t>
            </a:r>
          </a:p>
        </p:txBody>
      </p:sp>
      <p:sp>
        <p:nvSpPr>
          <p:cNvPr id="81" name="StepText"/>
          <p:cNvSpPr/>
          <p:nvPr/>
        </p:nvSpPr>
        <p:spPr>
          <a:xfrm>
            <a:off x="497200" y="214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Tick papers in PubMed</a:t>
            </a:r>
          </a:p>
          <a:p>
            <a:pPr marL="0" indent="0" algn="l">
              <a:lnSpc>
                <a:spcPct val="104000"/>
              </a:lnSpc>
              <a:spcBef>
                <a:spcPts val="200"/>
              </a:spcBef>
              <a:buNone/>
            </a:pPr>
            <a:r>
              <a:rPr lang="en-US" sz="1500" dirty="0">
                <a:solidFill>
                  <a:srgbClr val="000000"/>
                </a:solidFill>
                <a:latin typeface="Arial"/>
                <a:cs typeface="Arial"/>
              </a:rPr>
              <a:t>Clipboard or</a:t>
            </a:r>
          </a:p>
          <a:p>
            <a:pPr marL="0" indent="0" algn="l">
              <a:lnSpc>
                <a:spcPct val="104000"/>
              </a:lnSpc>
              <a:spcBef>
                <a:spcPts val="200"/>
              </a:spcBef>
              <a:buNone/>
            </a:pPr>
            <a:r>
              <a:rPr lang="en-US" sz="1500" dirty="0">
                <a:solidFill>
                  <a:srgbClr val="000000"/>
                </a:solidFill>
                <a:latin typeface="Arial"/>
                <a:cs typeface="Arial"/>
              </a:rPr>
              <a:t>Collections (My NCBI)</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Export</a:t>
            </a:r>
          </a:p>
        </p:txBody>
      </p:sp>
      <p:sp>
        <p:nvSpPr>
          <p:cNvPr id="83" name="StepText"/>
          <p:cNvSpPr/>
          <p:nvPr/>
        </p:nvSpPr>
        <p:spPr>
          <a:xfrm>
            <a:off x="2740720" y="214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Send to:</a:t>
            </a:r>
          </a:p>
          <a:p>
            <a:pPr marL="0" indent="0" algn="l">
              <a:lnSpc>
                <a:spcPct val="104000"/>
              </a:lnSpc>
              <a:spcBef>
                <a:spcPts val="200"/>
              </a:spcBef>
              <a:buNone/>
            </a:pPr>
            <a:r>
              <a:rPr lang="en-US" sz="1500" dirty="0">
                <a:solidFill>
                  <a:srgbClr val="000000"/>
                </a:solidFill>
                <a:latin typeface="Arial"/>
                <a:cs typeface="Arial"/>
              </a:rPr>
              <a:t>Citation manager</a:t>
            </a:r>
          </a:p>
          <a:p>
            <a:pPr marL="0" indent="0" algn="l">
              <a:lnSpc>
                <a:spcPct val="104000"/>
              </a:lnSpc>
              <a:spcBef>
                <a:spcPts val="200"/>
              </a:spcBef>
              <a:buNone/>
            </a:pPr>
            <a:r>
              <a:rPr lang="en-US" sz="1500" dirty="0">
                <a:solidFill>
                  <a:srgbClr val="000000"/>
                </a:solidFill>
                <a:latin typeface="Arial"/>
                <a:cs typeface="Arial"/>
              </a:rPr>
              <a:t>(.nbib file)</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Import</a:t>
            </a:r>
          </a:p>
        </p:txBody>
      </p:sp>
      <p:sp>
        <p:nvSpPr>
          <p:cNvPr id="85" name="StepText"/>
          <p:cNvSpPr/>
          <p:nvPr/>
        </p:nvSpPr>
        <p:spPr>
          <a:xfrm>
            <a:off x="4984240" y="214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Zotero or Mendeley</a:t>
            </a:r>
          </a:p>
          <a:p>
            <a:pPr marL="0" indent="0" algn="l">
              <a:lnSpc>
                <a:spcPct val="104000"/>
              </a:lnSpc>
              <a:spcBef>
                <a:spcPts val="200"/>
              </a:spcBef>
              <a:buNone/>
            </a:pPr>
            <a:r>
              <a:rPr lang="en-US" sz="1500" dirty="0">
                <a:solidFill>
                  <a:srgbClr val="000000"/>
                </a:solidFill>
                <a:latin typeface="Arial"/>
                <a:cs typeface="Arial"/>
              </a:rPr>
              <a:t>(free), EndNote</a:t>
            </a:r>
          </a:p>
          <a:p>
            <a:pPr marL="0" indent="0" algn="l">
              <a:lnSpc>
                <a:spcPct val="104000"/>
              </a:lnSpc>
              <a:spcBef>
                <a:spcPts val="200"/>
              </a:spcBef>
              <a:buNone/>
            </a:pPr>
            <a:r>
              <a:rPr lang="en-US" sz="1500" dirty="0">
                <a:solidFill>
                  <a:srgbClr val="000000"/>
                </a:solidFill>
                <a:latin typeface="Arial"/>
                <a:cs typeface="Arial"/>
              </a:rPr>
              <a:t>(paid)</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Cite</a:t>
            </a:r>
          </a:p>
        </p:txBody>
      </p:sp>
      <p:sp>
        <p:nvSpPr>
          <p:cNvPr id="87" name="StepText"/>
          <p:cNvSpPr/>
          <p:nvPr/>
        </p:nvSpPr>
        <p:spPr>
          <a:xfrm>
            <a:off x="7227760" y="214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Insert citations</a:t>
            </a:r>
          </a:p>
          <a:p>
            <a:pPr marL="0" indent="0" algn="l">
              <a:lnSpc>
                <a:spcPct val="104000"/>
              </a:lnSpc>
              <a:spcBef>
                <a:spcPts val="200"/>
              </a:spcBef>
              <a:buNone/>
            </a:pPr>
            <a:r>
              <a:rPr lang="en-US" sz="1500" dirty="0">
                <a:solidFill>
                  <a:srgbClr val="000000"/>
                </a:solidFill>
                <a:latin typeface="Arial"/>
                <a:cs typeface="Arial"/>
              </a:rPr>
              <a:t>in Word with</a:t>
            </a:r>
          </a:p>
          <a:p>
            <a:pPr marL="0" indent="0" algn="l">
              <a:lnSpc>
                <a:spcPct val="104000"/>
              </a:lnSpc>
              <a:spcBef>
                <a:spcPts val="200"/>
              </a:spcBef>
              <a:buNone/>
            </a:pPr>
            <a:r>
              <a:rPr lang="en-US" sz="1500" dirty="0">
                <a:solidFill>
                  <a:srgbClr val="000000"/>
                </a:solidFill>
                <a:latin typeface="Arial"/>
                <a:cs typeface="Arial"/>
              </a:rPr>
              <a:t>the plug-in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List</a:t>
            </a:r>
          </a:p>
        </p:txBody>
      </p:sp>
      <p:sp>
        <p:nvSpPr>
          <p:cNvPr id="89" name="StepText"/>
          <p:cNvSpPr/>
          <p:nvPr/>
        </p:nvSpPr>
        <p:spPr>
          <a:xfrm>
            <a:off x="9471280" y="214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Reference list</a:t>
            </a:r>
          </a:p>
          <a:p>
            <a:pPr marL="0" indent="0" algn="l">
              <a:lnSpc>
                <a:spcPct val="104000"/>
              </a:lnSpc>
              <a:spcBef>
                <a:spcPts val="200"/>
              </a:spcBef>
              <a:buNone/>
            </a:pPr>
            <a:r>
              <a:rPr lang="en-US" sz="1500" dirty="0">
                <a:solidFill>
                  <a:srgbClr val="000000"/>
                </a:solidFill>
                <a:latin typeface="Arial"/>
                <a:cs typeface="Arial"/>
              </a:rPr>
              <a:t>built for you</a:t>
            </a:r>
          </a:p>
          <a:p>
            <a:pPr marL="0" indent="0" algn="l">
              <a:lnSpc>
                <a:spcPct val="104000"/>
              </a:lnSpc>
              <a:spcBef>
                <a:spcPts val="200"/>
              </a:spcBef>
              <a:buNone/>
            </a:pPr>
            <a:r>
              <a:rPr lang="en-US" sz="1500" dirty="0">
                <a:solidFill>
                  <a:srgbClr val="000000"/>
                </a:solidFill>
                <a:latin typeface="Arial"/>
                <a:cs typeface="Arial"/>
              </a:rPr>
              <a:t>in any style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reference manager prevents the commonest error in proposals: wrong 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from PubMed to Zotero to Word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Import the .nbib file from the PubMed demo into Zotero</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Look: authors, title, journal, year, DOI, with nothing typed by hand</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In Word: Zotero tab, Add/Edit Citation, type 'Meyhoff'</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Add/Edit Bibliography: the reference list appears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Document Preferences: switch Vancouver to APA and back</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Watch for</a:t>
            </a:r>
          </a:p>
          <a:p>
            <a:pPr marL="274320" indent="-274320" algn="l">
              <a:lnSpc>
                <a:spcPct val="104000"/>
              </a:lnSpc>
              <a:spcBef>
                <a:spcPts val="300"/>
              </a:spcBef>
              <a:buFont typeface="Arial"/>
              <a:buChar char="•"/>
            </a:pPr>
            <a:r>
              <a:rPr lang="en-US" sz="1500" dirty="0">
                <a:solidFill>
                  <a:srgbClr val="000000"/>
                </a:solidFill>
                <a:latin typeface="Arial"/>
                <a:cs typeface="Arial"/>
              </a:rPr>
              <a:t>[1] becomes (Meyhoff et al., 2022)</a:t>
            </a:r>
          </a:p>
          <a:p>
            <a:pPr marL="274320" indent="-274320" algn="l">
              <a:lnSpc>
                <a:spcPct val="104000"/>
              </a:lnSpc>
              <a:spcBef>
                <a:spcPts val="300"/>
              </a:spcBef>
              <a:buFont typeface="Arial"/>
              <a:buChar char="•"/>
            </a:pPr>
            <a:r>
              <a:rPr lang="en-US" sz="1500" dirty="0">
                <a:solidFill>
                  <a:srgbClr val="000000"/>
                </a:solidFill>
                <a:latin typeface="Arial"/>
                <a:cs typeface="Arial"/>
              </a:rPr>
              <a:t>The list reformats itself</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the full collect → cite → list cycle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Citation styles: same paper, two looks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Pick the style your target journal uses; let the software do the formatting.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Citing vs copying: paraphrase safely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Change the structure as well as the words, and always cite the source.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Four rules for citing safely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Cite facts</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Numbers, findings</a:t>
            </a:r>
          </a:p>
          <a:p>
            <a:pPr marL="0" indent="0" algn="l">
              <a:lnSpc>
                <a:spcPct val="104000"/>
              </a:lnSpc>
              <a:spcBef>
                <a:spcPts val="400"/>
              </a:spcBef>
              <a:buNone/>
            </a:pPr>
            <a:r>
              <a:rPr lang="en-US" sz="1600" dirty="0">
                <a:solidFill>
                  <a:srgbClr val="000000"/>
                </a:solidFill>
                <a:latin typeface="Arial"/>
                <a:cs typeface="Arial"/>
              </a:rPr>
              <a:t>and others' ideas</a:t>
            </a:r>
          </a:p>
          <a:p>
            <a:pPr marL="0" indent="0" algn="l">
              <a:lnSpc>
                <a:spcPct val="104000"/>
              </a:lnSpc>
              <a:spcBef>
                <a:spcPts val="400"/>
              </a:spcBef>
              <a:buNone/>
            </a:pPr>
            <a:r>
              <a:rPr lang="en-US" sz="1600" dirty="0">
                <a:solidFill>
                  <a:srgbClr val="000000"/>
                </a:solidFill>
                <a:latin typeface="Arial"/>
                <a:cs typeface="Arial"/>
              </a:rPr>
              <a:t>need a citation</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Cite sources</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Read and cite the</a:t>
            </a:r>
          </a:p>
          <a:p>
            <a:pPr marL="0" indent="0" algn="l">
              <a:lnSpc>
                <a:spcPct val="104000"/>
              </a:lnSpc>
              <a:spcBef>
                <a:spcPts val="400"/>
              </a:spcBef>
              <a:buNone/>
            </a:pPr>
            <a:r>
              <a:rPr lang="en-US" sz="1600" dirty="0">
                <a:solidFill>
                  <a:srgbClr val="000000"/>
                </a:solidFill>
                <a:latin typeface="Arial"/>
                <a:cs typeface="Arial"/>
              </a:rPr>
              <a:t>original paper,</a:t>
            </a:r>
          </a:p>
          <a:p>
            <a:pPr marL="0" indent="0" algn="l">
              <a:lnSpc>
                <a:spcPct val="104000"/>
              </a:lnSpc>
              <a:spcBef>
                <a:spcPts val="400"/>
              </a:spcBef>
              <a:buNone/>
            </a:pPr>
            <a:r>
              <a:rPr lang="en-US" sz="1600" dirty="0">
                <a:solidFill>
                  <a:srgbClr val="000000"/>
                </a:solidFill>
                <a:latin typeface="Arial"/>
                <a:cs typeface="Arial"/>
              </a:rPr>
              <a:t>not a summary</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Own words</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New structure;</a:t>
            </a:r>
          </a:p>
          <a:p>
            <a:pPr marL="0" indent="0" algn="l">
              <a:lnSpc>
                <a:spcPct val="104000"/>
              </a:lnSpc>
              <a:spcBef>
                <a:spcPts val="400"/>
              </a:spcBef>
              <a:buNone/>
            </a:pPr>
            <a:r>
              <a:rPr lang="en-US" sz="1600" dirty="0">
                <a:solidFill>
                  <a:srgbClr val="000000"/>
                </a:solidFill>
                <a:latin typeface="Arial"/>
                <a:cs typeface="Arial"/>
              </a:rPr>
              <a:t>quotes only with</a:t>
            </a:r>
          </a:p>
          <a:p>
            <a:pPr marL="0" indent="0" algn="l">
              <a:lnSpc>
                <a:spcPct val="104000"/>
              </a:lnSpc>
              <a:spcBef>
                <a:spcPts val="400"/>
              </a:spcBef>
              <a:buNone/>
            </a:pPr>
            <a:r>
              <a:rPr lang="en-US" sz="1600" dirty="0">
                <a:solidFill>
                  <a:srgbClr val="000000"/>
                </a:solidFill>
                <a:latin typeface="Arial"/>
                <a:cs typeface="Arial"/>
              </a:rPr>
              <a:t>quotation marks</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Check</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Every reference</a:t>
            </a:r>
          </a:p>
          <a:p>
            <a:pPr marL="0" indent="0" algn="l">
              <a:lnSpc>
                <a:spcPct val="104000"/>
              </a:lnSpc>
              <a:spcBef>
                <a:spcPts val="400"/>
              </a:spcBef>
              <a:buNone/>
            </a:pPr>
            <a:r>
              <a:rPr lang="en-US" sz="1600" dirty="0">
                <a:solidFill>
                  <a:srgbClr val="000000"/>
                </a:solidFill>
                <a:latin typeface="Arial"/>
                <a:cs typeface="Arial"/>
              </a:rPr>
              <a:t>says what you</a:t>
            </a:r>
          </a:p>
          <a:p>
            <a:pPr marL="0" indent="0" algn="l">
              <a:lnSpc>
                <a:spcPct val="104000"/>
              </a:lnSpc>
              <a:spcBef>
                <a:spcPts val="400"/>
              </a:spcBef>
              <a:buNone/>
            </a:pPr>
            <a:r>
              <a:rPr lang="en-US" sz="1600" dirty="0">
                <a:solidFill>
                  <a:srgbClr val="000000"/>
                </a:solidFill>
                <a:latin typeface="Arial"/>
                <a:cs typeface="Arial"/>
              </a:rPr>
              <a:t>claim it says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Never cite a paper you have not 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OK or not OK?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copy a sentence from an abstract, change two words and add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quote one sentence word for word, in quotation marks, with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write a finding in your own words but forget the citation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 cite a paper you found quoted in a review, without reading it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Thumbs up (OK) or down (not OK) for each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Grey literature and trial registries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Look below the waterline: registries and grey literature reduce publication bias.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BREAK   |   15 min</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Stretch, coffee, talk to someone from another profession</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Think: which problem from your ward could your group work on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2.3  Reading a paper in 15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You do not have to read every word. Read the right words in the right order.</a:t>
            </a:r>
          </a:p>
          <a:p>
            <a:pPr marL="0" indent="0" algn="ctr">
              <a:spcBef>
                <a:spcPts val="1200"/>
              </a:spcBef>
              <a:buNone/>
            </a:pPr>
            <a:r>
              <a:rPr lang="en-US" sz="1900" i="1" dirty="0">
                <a:solidFill>
                  <a:srgbClr val="595959"/>
                </a:solidFill>
                <a:latin typeface="Arial"/>
                <a:cs typeface="Arial"/>
              </a:rPr>
              <a:t>40 minutes: anatomy of a paper, reading order, the abstract, spin, and a reading task on Paper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Anatomy of a paper: IMRaD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Every original paper has the same shape: why, how, what, so what.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15-minute reading order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Title, abstract, figures and tables, methods. Stop early if it is not relevant.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an abstract must contain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good abstract lets you write the PICO and the main result without opening the paper.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 results sentence: poor vs good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Every main result needs: numbers per group, an effect size, a 95% CI and a time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Spin: when words go beyond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numbers first, then check whether the words match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spot the spin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cohort study: 'Early feeding REDUCES pneumonia in stroke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Primary outcome p = 0.31: 'a promising trend towards benefit'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Primary outcome no difference; abstract headline: 'improved patient satisfaction'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'Mortality fell from 30% to 22% after the new protocol' (no control group)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For each: what is the spin, and how would you rewrite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Your turn: read Paper 1's abstract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12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Take the abstract of Paper 1 (Boulet 2024, Crit Care)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Fill the reading grid (Exercise 3): design, P, I vs C</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Primary outcome, numbers screened and analysed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Main result with its 95% CI and p-value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Does the conclusion match the result? Any spin?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Compare your grid with your neighbour</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Clock</a:t>
            </a:r>
          </a:p>
          <a:p>
            <a:pPr marL="0" indent="0" algn="l">
              <a:lnSpc>
                <a:spcPct val="104000"/>
              </a:lnSpc>
              <a:spcBef>
                <a:spcPts val="300"/>
              </a:spcBef>
              <a:buNone/>
            </a:pPr>
            <a:r>
              <a:rPr lang="en-US" sz="1500" dirty="0">
                <a:solidFill>
                  <a:srgbClr val="000000"/>
                </a:solidFill>
                <a:latin typeface="Arial"/>
                <a:cs typeface="Arial"/>
              </a:rPr>
              <a:t>8 minutes reading</a:t>
            </a:r>
          </a:p>
          <a:p>
            <a:pPr marL="0" indent="0" algn="l">
              <a:lnSpc>
                <a:spcPct val="104000"/>
              </a:lnSpc>
              <a:spcBef>
                <a:spcPts val="300"/>
              </a:spcBef>
              <a:buNone/>
            </a:pPr>
            <a:r>
              <a:rPr lang="en-US" sz="1500" dirty="0">
                <a:solidFill>
                  <a:srgbClr val="000000"/>
                </a:solidFill>
                <a:latin typeface="Arial"/>
                <a:cs typeface="Arial"/>
              </a:rPr>
              <a:t>4 minutes comparing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Arial"/>
                <a:cs typeface="Arial"/>
              </a:rPr>
              <a:t>OUTPUT   </a:t>
            </a:r>
            <a:r>
              <a:rPr lang="en-US" sz="1500" dirty="0">
                <a:solidFill>
                  <a:srgbClr val="000000"/>
                </a:solidFill>
                <a:latin typeface="Arial"/>
                <a:cs typeface="Arial"/>
              </a:rPr>
              <a:t>A completed abstract reading grid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Paper 1's abstract: the answers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Primary outcome: fluid balance, not mortality. Read what the study actually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2.4  From literature to introduction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The papers you read become the first page of your proposal.</a:t>
            </a:r>
          </a:p>
          <a:p>
            <a:pPr marL="0" indent="0" algn="ctr">
              <a:spcBef>
                <a:spcPts val="1200"/>
              </a:spcBef>
              <a:buNone/>
            </a:pPr>
            <a:r>
              <a:rPr lang="en-US" sz="1900" i="1" dirty="0">
                <a:solidFill>
                  <a:srgbClr val="595959"/>
                </a:solidFill>
                <a:latin typeface="Arial"/>
                <a:cs typeface="Arial"/>
              </a:rPr>
              <a:t>15 minutes: the literature matrix, the problem-statement funnel, a model problem statement, working title and keywords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literature review worksheet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One row per paper: 5 rows today, the same columns for every paper.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literature to your Introduction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Known, not known, why here: the question then follows naturally.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 model problem statement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Three short paragraphs, each with its own job, and references in brackets.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Working title and keywords from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Your PICO already contains your title: add the design and keep it short.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Now find your group's evidence: one search, five papers, one problem statement, one title.</a:t>
            </a:r>
          </a:p>
          <a:p>
            <a:pPr marL="0" indent="0" algn="ctr">
              <a:spcBef>
                <a:spcPts val="1200"/>
              </a:spcBef>
              <a:buNone/>
            </a:pPr>
            <a:r>
              <a:rPr lang="en-US" sz="1900" i="1" dirty="0">
                <a:solidFill>
                  <a:srgbClr val="595959"/>
                </a:solidFill>
                <a:latin typeface="Arial"/>
                <a:cs typeface="Arial"/>
              </a:rPr>
              <a:t>35 minutes of group work to complete Part 1 of your research proposal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2: your group's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Run your search string in PubMed; write the date and number of hits</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Screen titles and abstracts; pick 5 key papers; export them to Zotero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Fill one row per paper in the literature matrix</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Draft the problem statement: known, not known, why here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Working title (10-16 words) + 3-6 keywords</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One group reads its title and gap aloud</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Timing</a:t>
            </a:r>
          </a:p>
          <a:p>
            <a:pPr marL="0" indent="0" algn="l">
              <a:lnSpc>
                <a:spcPct val="104000"/>
              </a:lnSpc>
              <a:spcBef>
                <a:spcPts val="300"/>
              </a:spcBef>
              <a:buNone/>
            </a:pPr>
            <a:r>
              <a:rPr lang="en-US" sz="1500" dirty="0">
                <a:solidFill>
                  <a:srgbClr val="000000"/>
                </a:solidFill>
                <a:latin typeface="Arial"/>
                <a:cs typeface="Arial"/>
              </a:rPr>
              <a:t>0-8 min: run the search</a:t>
            </a:r>
          </a:p>
          <a:p>
            <a:pPr marL="0" indent="0" algn="l">
              <a:lnSpc>
                <a:spcPct val="104000"/>
              </a:lnSpc>
              <a:spcBef>
                <a:spcPts val="300"/>
              </a:spcBef>
              <a:buNone/>
            </a:pPr>
            <a:r>
              <a:rPr lang="en-US" sz="1500" dirty="0">
                <a:solidFill>
                  <a:srgbClr val="000000"/>
                </a:solidFill>
                <a:latin typeface="Arial"/>
                <a:cs typeface="Arial"/>
              </a:rPr>
              <a:t>8-16: screen + pick 5 papers</a:t>
            </a:r>
          </a:p>
          <a:p>
            <a:pPr marL="0" indent="0" algn="l">
              <a:lnSpc>
                <a:spcPct val="104000"/>
              </a:lnSpc>
              <a:spcBef>
                <a:spcPts val="300"/>
              </a:spcBef>
              <a:buNone/>
            </a:pPr>
            <a:r>
              <a:rPr lang="en-US" sz="1500" dirty="0">
                <a:solidFill>
                  <a:srgbClr val="000000"/>
                </a:solidFill>
                <a:latin typeface="Arial"/>
                <a:cs typeface="Arial"/>
              </a:rPr>
              <a:t>16-22: matrix rows</a:t>
            </a:r>
          </a:p>
          <a:p>
            <a:pPr marL="0" indent="0" algn="l">
              <a:lnSpc>
                <a:spcPct val="104000"/>
              </a:lnSpc>
              <a:spcBef>
                <a:spcPts val="300"/>
              </a:spcBef>
              <a:buNone/>
            </a:pPr>
            <a:r>
              <a:rPr lang="en-US" sz="1500" dirty="0">
                <a:solidFill>
                  <a:srgbClr val="000000"/>
                </a:solidFill>
                <a:latin typeface="Arial"/>
                <a:cs typeface="Arial"/>
              </a:rPr>
              <a:t>22-28: problem statement</a:t>
            </a:r>
          </a:p>
          <a:p>
            <a:pPr marL="0" indent="0" algn="l">
              <a:lnSpc>
                <a:spcPct val="104000"/>
              </a:lnSpc>
              <a:spcBef>
                <a:spcPts val="300"/>
              </a:spcBef>
              <a:buNone/>
            </a:pPr>
            <a:r>
              <a:rPr lang="en-US" sz="1500" dirty="0">
                <a:solidFill>
                  <a:srgbClr val="000000"/>
                </a:solidFill>
                <a:latin typeface="Arial"/>
                <a:cs typeface="Arial"/>
              </a:rPr>
              <a:t>28-31: title + keywords</a:t>
            </a:r>
          </a:p>
          <a:p>
            <a:pPr marL="0" indent="0" algn="l">
              <a:lnSpc>
                <a:spcPct val="104000"/>
              </a:lnSpc>
              <a:spcBef>
                <a:spcPts val="300"/>
              </a:spcBef>
              <a:buNone/>
            </a:pPr>
            <a:r>
              <a:rPr lang="en-US" sz="1500" dirty="0">
                <a:solidFill>
                  <a:srgbClr val="000000"/>
                </a:solidFill>
                <a:latin typeface="Arial"/>
                <a:cs typeface="Arial"/>
              </a:rPr>
              <a:t>31-33: 1 group reads aloud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Arial"/>
                <a:cs typeface="Arial"/>
              </a:rPr>
              <a:t>OUTPUT   </a:t>
            </a:r>
            <a:r>
              <a:rPr lang="en-US" sz="1500" dirty="0">
                <a:solidFill>
                  <a:srgbClr val="000000"/>
                </a:solidFill>
                <a:latin typeface="Arial"/>
                <a:cs typeface="Arial"/>
              </a:rPr>
              <a:t>Proposal Part 1 complete: search, 5 references, problem statement,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rPr>
                        <a:t>Key word</a:t>
                      </a:r>
                    </a:p>
                  </a:txBody>
                  <a:tcPr marL="73152" marR="73152" marT="36576" marB="36576" anchor="ctr">
                    <a:solidFill>
                      <a:srgbClr val="0D7377"/>
                    </a:solidFill>
                  </a:tcPr>
                </a:tc>
                <a:tc>
                  <a:txBody>
                    <a:bodyPr/>
                    <a:lstStyle/>
                    <a:p>
                      <a:pPr algn="l"/>
                      <a:r>
                        <a:rPr lang="en-US" sz="1500" b="1" dirty="0">
                          <a:solidFill>
                            <a:srgbClr val="FFFFFF"/>
                          </a:solidFill>
                          <a:latin typeface="Arial"/>
                        </a:rPr>
                        <a:t>In one line</a:t>
                      </a:r>
                    </a:p>
                  </a:txBody>
                  <a:tcPr marL="73152" marR="73152" marT="36576" marB="36576" anchor="ctr">
                    <a:solidFill>
                      <a:srgbClr val="0D7377"/>
                    </a:solidFill>
                  </a:tcPr>
                </a:tc>
              </a:tr>
              <a:tr h="380000">
                <a:tc>
                  <a:txBody>
                    <a:bodyPr/>
                    <a:lstStyle/>
                    <a:p>
                      <a:pPr algn="l"/>
                      <a:r>
                        <a:rPr lang="en-US" sz="1500" b="0" dirty="0">
                          <a:solidFill>
                            <a:srgbClr val="000000"/>
                          </a:solidFill>
                          <a:latin typeface="Arial"/>
                        </a:rPr>
                        <a:t>MeSH</a:t>
                      </a:r>
                    </a:p>
                  </a:txBody>
                  <a:tcPr marL="73152" marR="73152" marT="36576" marB="36576" anchor="ctr">
                    <a:solidFill>
                      <a:srgbClr val="FFFFFF"/>
                    </a:solidFill>
                  </a:tcPr>
                </a:tc>
                <a:tc>
                  <a:txBody>
                    <a:bodyPr/>
                    <a:lstStyle/>
                    <a:p>
                      <a:pPr algn="l"/>
                      <a:r>
                        <a:rPr lang="en-US" sz="1500" b="0" dirty="0">
                          <a:solidFill>
                            <a:srgbClr val="000000"/>
                          </a:solidFill>
                          <a:latin typeface="Arial"/>
                        </a:rPr>
                        <a:t>The shared label PubMed gives to many ways of writing one idea</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AND / OR / NOT</a:t>
                      </a:r>
                    </a:p>
                  </a:txBody>
                  <a:tcPr marL="73152" marR="73152" marT="36576" marB="36576" anchor="ctr">
                    <a:solidFill>
                      <a:srgbClr val="FFFFFF"/>
                    </a:solidFill>
                  </a:tcPr>
                </a:tc>
                <a:tc>
                  <a:txBody>
                    <a:bodyPr/>
                    <a:lstStyle/>
                    <a:p>
                      <a:pPr algn="l"/>
                      <a:r>
                        <a:rPr lang="en-US" sz="1500" b="0" dirty="0">
                          <a:solidFill>
                            <a:srgbClr val="000000"/>
                          </a:solidFill>
                          <a:latin typeface="Arial"/>
                        </a:rPr>
                        <a:t>Narrows / widens / removes. OR inside a block, AND between blocks</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Reference manager</a:t>
                      </a:r>
                    </a:p>
                  </a:txBody>
                  <a:tcPr marL="73152" marR="73152" marT="36576" marB="36576" anchor="ctr">
                    <a:solidFill>
                      <a:srgbClr val="FFFFFF"/>
                    </a:solidFill>
                  </a:tcPr>
                </a:tc>
                <a:tc>
                  <a:txBody>
                    <a:bodyPr/>
                    <a:lstStyle/>
                    <a:p>
                      <a:pPr algn="l"/>
                      <a:r>
                        <a:rPr lang="en-US" sz="1500" b="0" dirty="0">
                          <a:solidFill>
                            <a:srgbClr val="000000"/>
                          </a:solidFill>
                          <a:latin typeface="Arial"/>
                        </a:rPr>
                        <a:t>Stores each paper once and formats citations in any style</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Patchwriting</a:t>
                      </a:r>
                    </a:p>
                  </a:txBody>
                  <a:tcPr marL="73152" marR="73152" marT="36576" marB="36576" anchor="ctr">
                    <a:solidFill>
                      <a:srgbClr val="FFFFFF"/>
                    </a:solidFill>
                  </a:tcPr>
                </a:tc>
                <a:tc>
                  <a:txBody>
                    <a:bodyPr/>
                    <a:lstStyle/>
                    <a:p>
                      <a:pPr algn="l"/>
                      <a:r>
                        <a:rPr lang="en-US" sz="1500" b="0" dirty="0">
                          <a:solidFill>
                            <a:srgbClr val="000000"/>
                          </a:solidFill>
                          <a:latin typeface="Arial"/>
                        </a:rPr>
                        <a:t>Copying with a few words swapped: plagiarism even if cited</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IMRaD</a:t>
                      </a:r>
                    </a:p>
                  </a:txBody>
                  <a:tcPr marL="73152" marR="73152" marT="36576" marB="36576" anchor="ctr">
                    <a:solidFill>
                      <a:srgbClr val="FFFFFF"/>
                    </a:solidFill>
                  </a:tcPr>
                </a:tc>
                <a:tc>
                  <a:txBody>
                    <a:bodyPr/>
                    <a:lstStyle/>
                    <a:p>
                      <a:pPr algn="l"/>
                      <a:r>
                        <a:rPr lang="en-US" sz="1500" b="0" dirty="0">
                          <a:solidFill>
                            <a:srgbClr val="000000"/>
                          </a:solidFill>
                          <a:latin typeface="Arial"/>
                        </a:rPr>
                        <a:t>Introduction, Methods, Results and Discussion</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Spin</a:t>
                      </a:r>
                    </a:p>
                  </a:txBody>
                  <a:tcPr marL="73152" marR="73152" marT="36576" marB="36576" anchor="ctr">
                    <a:solidFill>
                      <a:srgbClr val="FFFFFF"/>
                    </a:solidFill>
                  </a:tcPr>
                </a:tc>
                <a:tc>
                  <a:txBody>
                    <a:bodyPr/>
                    <a:lstStyle/>
                    <a:p>
                      <a:pPr algn="l"/>
                      <a:r>
                        <a:rPr lang="en-US" sz="1500" b="0" dirty="0">
                          <a:solidFill>
                            <a:srgbClr val="000000"/>
                          </a:solidFill>
                          <a:latin typeface="Arial"/>
                        </a:rPr>
                        <a:t>Words that claim more than the numbers show</a:t>
                      </a:r>
                    </a:p>
                  </a:txBody>
                  <a:tcPr marL="73152" marR="73152" marT="36576" marB="36576"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2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Search</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PICO blocks, MeSH +</a:t>
            </a:r>
          </a:p>
          <a:p>
            <a:pPr marL="0" indent="0" algn="l">
              <a:lnSpc>
                <a:spcPct val="104000"/>
              </a:lnSpc>
              <a:spcBef>
                <a:spcPts val="400"/>
              </a:spcBef>
              <a:buNone/>
            </a:pPr>
            <a:r>
              <a:rPr lang="en-US" sz="1750" dirty="0">
                <a:solidFill>
                  <a:srgbClr val="000000"/>
                </a:solidFill>
                <a:latin typeface="Arial"/>
                <a:cs typeface="Arial"/>
              </a:rPr>
              <a:t>free text; OR inside,</a:t>
            </a:r>
          </a:p>
          <a:p>
            <a:pPr marL="0" indent="0" algn="l">
              <a:lnSpc>
                <a:spcPct val="104000"/>
              </a:lnSpc>
              <a:spcBef>
                <a:spcPts val="400"/>
              </a:spcBef>
              <a:buNone/>
            </a:pPr>
            <a:r>
              <a:rPr lang="en-US" sz="1750" dirty="0">
                <a:solidFill>
                  <a:srgbClr val="000000"/>
                </a:solidFill>
                <a:latin typeface="Arial"/>
                <a:cs typeface="Arial"/>
              </a:rPr>
              <a:t>AND between; write it down</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Cite honestly</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Reference manager</a:t>
            </a:r>
          </a:p>
          <a:p>
            <a:pPr marL="0" indent="0" algn="l">
              <a:lnSpc>
                <a:spcPct val="104000"/>
              </a:lnSpc>
              <a:spcBef>
                <a:spcPts val="400"/>
              </a:spcBef>
              <a:buNone/>
            </a:pPr>
            <a:r>
              <a:rPr lang="en-US" sz="1750" dirty="0">
                <a:solidFill>
                  <a:srgbClr val="000000"/>
                </a:solidFill>
                <a:latin typeface="Arial"/>
                <a:cs typeface="Arial"/>
              </a:rPr>
              <a:t>from day one; own</a:t>
            </a:r>
          </a:p>
          <a:p>
            <a:pPr marL="0" indent="0" algn="l">
              <a:lnSpc>
                <a:spcPct val="104000"/>
              </a:lnSpc>
              <a:spcBef>
                <a:spcPts val="400"/>
              </a:spcBef>
              <a:buNone/>
            </a:pPr>
            <a:r>
              <a:rPr lang="en-US" sz="1750" dirty="0">
                <a:solidFill>
                  <a:srgbClr val="000000"/>
                </a:solidFill>
                <a:latin typeface="Arial"/>
                <a:cs typeface="Arial"/>
              </a:rPr>
              <a:t>words; read what you cite</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Read smart</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Title, abstract,</a:t>
            </a:r>
          </a:p>
          <a:p>
            <a:pPr marL="0" indent="0" algn="l">
              <a:lnSpc>
                <a:spcPct val="104000"/>
              </a:lnSpc>
              <a:spcBef>
                <a:spcPts val="400"/>
              </a:spcBef>
              <a:buNone/>
            </a:pPr>
            <a:r>
              <a:rPr lang="en-US" sz="1750" dirty="0">
                <a:solidFill>
                  <a:srgbClr val="000000"/>
                </a:solidFill>
                <a:latin typeface="Arial"/>
                <a:cs typeface="Arial"/>
              </a:rPr>
              <a:t>figures, methods;</a:t>
            </a:r>
          </a:p>
          <a:p>
            <a:pPr marL="0" indent="0" algn="l">
              <a:lnSpc>
                <a:spcPct val="104000"/>
              </a:lnSpc>
              <a:spcBef>
                <a:spcPts val="400"/>
              </a:spcBef>
              <a:buNone/>
            </a:pPr>
            <a:r>
              <a:rPr lang="en-US" sz="1750" dirty="0">
                <a:solidFill>
                  <a:srgbClr val="000000"/>
                </a:solidFill>
                <a:latin typeface="Arial"/>
                <a:cs typeface="Arial"/>
              </a:rPr>
              <a:t>numbers before words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Weeks 1-2 are done: your group has a question, five papers and a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Exit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gives MORE hits: septic shock AND fluids, or septic shock OR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What was the primary outcome of Paper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Write both answers on a sticky note (no names) and stick it on the door as you leave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One sticky note per person (we read them before Session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Homework before Session 3 (next Saturday)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Group: finish the 5 key references and the problem statement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Each member: read one paper with the 15-minute routine and fill its row</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Everyone: read the abstract of Paper 2 (Hyun) with the reading grid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Exercise 2 (paraphrasing) if not done in class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Optional: look up Paper 1 (NCT04947904) on ClinicalTrials.gov</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Bring next Saturday</a:t>
            </a:r>
          </a:p>
          <a:p>
            <a:pPr marL="274320" indent="-274320" algn="l">
              <a:lnSpc>
                <a:spcPct val="104000"/>
              </a:lnSpc>
              <a:spcBef>
                <a:spcPts val="300"/>
              </a:spcBef>
              <a:buFont typeface="Arial"/>
              <a:buChar char="•"/>
            </a:pPr>
            <a:r>
              <a:rPr lang="en-US" sz="1500" dirty="0">
                <a:solidFill>
                  <a:srgbClr val="000000"/>
                </a:solidFill>
                <a:latin typeface="Arial"/>
                <a:cs typeface="Arial"/>
              </a:rPr>
              <a:t>Proposal Part 1 (printed or on a laptop)</a:t>
            </a:r>
          </a:p>
          <a:p>
            <a:pPr marL="274320" indent="-274320" algn="l">
              <a:lnSpc>
                <a:spcPct val="104000"/>
              </a:lnSpc>
              <a:spcBef>
                <a:spcPts val="300"/>
              </a:spcBef>
              <a:buFont typeface="Arial"/>
              <a:buChar char="•"/>
            </a:pPr>
            <a:r>
              <a:rPr lang="en-US" sz="1500" dirty="0">
                <a:solidFill>
                  <a:srgbClr val="000000"/>
                </a:solidFill>
                <a:latin typeface="Arial"/>
                <a:cs typeface="Arial"/>
              </a:rPr>
              <a:t>Your completed literature matrix</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Arial"/>
                <a:cs typeface="Arial"/>
              </a:rPr>
              <a:t>OUTPUT   </a:t>
            </a:r>
            <a:r>
              <a:rPr lang="en-US" sz="1500" dirty="0">
                <a:solidFill>
                  <a:srgbClr val="000000"/>
                </a:solidFill>
                <a:latin typeface="Arial"/>
                <a:cs typeface="Arial"/>
              </a:rPr>
              <a:t>Proposal Part 1 complete before Session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2</a:t>
            </a:r>
          </a:p>
          <a:p>
            <a:pPr marL="0" indent="0" algn="ctr">
              <a:spcBef>
                <a:spcPts val="1200"/>
              </a:spcBef>
              <a:buNone/>
            </a:pPr>
            <a:r>
              <a:rPr lang="en-US" sz="1900" i="1" dirty="0">
                <a:solidFill>
                  <a:srgbClr val="595959"/>
                </a:solidFill>
                <a:latin typeface="Arial"/>
                <a:cs typeface="Arial"/>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Beyond PubMed: other places to 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Cochrane Library</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Systematic reviews</a:t>
            </a:r>
          </a:p>
          <a:p>
            <a:pPr marL="0" indent="0" algn="l">
              <a:lnSpc>
                <a:spcPct val="104000"/>
              </a:lnSpc>
              <a:spcBef>
                <a:spcPts val="400"/>
              </a:spcBef>
              <a:buNone/>
            </a:pPr>
            <a:r>
              <a:rPr lang="en-US" sz="1600" dirty="0">
                <a:solidFill>
                  <a:srgbClr val="000000"/>
                </a:solidFill>
                <a:latin typeface="Arial"/>
                <a:cs typeface="Arial"/>
              </a:rPr>
              <a:t>and a register</a:t>
            </a:r>
          </a:p>
          <a:p>
            <a:pPr marL="0" indent="0" algn="l">
              <a:lnSpc>
                <a:spcPct val="104000"/>
              </a:lnSpc>
              <a:spcBef>
                <a:spcPts val="400"/>
              </a:spcBef>
              <a:buNone/>
            </a:pPr>
            <a:r>
              <a:rPr lang="en-US" sz="1600" dirty="0">
                <a:solidFill>
                  <a:srgbClr val="000000"/>
                </a:solidFill>
                <a:latin typeface="Arial"/>
                <a:cs typeface="Arial"/>
              </a:rPr>
              <a:t>of trials</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Embase</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Large biomedical</a:t>
            </a:r>
          </a:p>
          <a:p>
            <a:pPr marL="0" indent="0" algn="l">
              <a:lnSpc>
                <a:spcPct val="104000"/>
              </a:lnSpc>
              <a:spcBef>
                <a:spcPts val="400"/>
              </a:spcBef>
              <a:buNone/>
            </a:pPr>
            <a:r>
              <a:rPr lang="en-US" sz="1600" dirty="0">
                <a:solidFill>
                  <a:srgbClr val="000000"/>
                </a:solidFill>
                <a:latin typeface="Arial"/>
                <a:cs typeface="Arial"/>
              </a:rPr>
              <a:t>database; strong on</a:t>
            </a:r>
          </a:p>
          <a:p>
            <a:pPr marL="0" indent="0" algn="l">
              <a:lnSpc>
                <a:spcPct val="104000"/>
              </a:lnSpc>
              <a:spcBef>
                <a:spcPts val="400"/>
              </a:spcBef>
              <a:buNone/>
            </a:pPr>
            <a:r>
              <a:rPr lang="en-US" sz="1600" dirty="0">
                <a:solidFill>
                  <a:srgbClr val="000000"/>
                </a:solidFill>
                <a:latin typeface="Arial"/>
                <a:cs typeface="Arial"/>
              </a:rPr>
              <a:t>drugs (subscription)</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CINAHL</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Nursing and allied</a:t>
            </a:r>
          </a:p>
          <a:p>
            <a:pPr marL="0" indent="0" algn="l">
              <a:lnSpc>
                <a:spcPct val="104000"/>
              </a:lnSpc>
              <a:spcBef>
                <a:spcPts val="400"/>
              </a:spcBef>
              <a:buNone/>
            </a:pPr>
            <a:r>
              <a:rPr lang="en-US" sz="1600" dirty="0">
                <a:solidFill>
                  <a:srgbClr val="000000"/>
                </a:solidFill>
                <a:latin typeface="Arial"/>
                <a:cs typeface="Arial"/>
              </a:rPr>
              <a:t>health literature</a:t>
            </a:r>
          </a:p>
          <a:p>
            <a:pPr marL="0" indent="0" algn="l">
              <a:lnSpc>
                <a:spcPct val="104000"/>
              </a:lnSpc>
              <a:spcBef>
                <a:spcPts val="400"/>
              </a:spcBef>
              <a:buNone/>
            </a:pPr>
            <a:r>
              <a:rPr lang="en-US" sz="1600" dirty="0">
                <a:solidFill>
                  <a:srgbClr val="000000"/>
                </a:solidFill>
                <a:latin typeface="Arial"/>
                <a:cs typeface="Arial"/>
              </a:rPr>
              <a:t>(subscription)</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Trial registries</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ClinicalTrials.gov,</a:t>
            </a:r>
          </a:p>
          <a:p>
            <a:pPr marL="0" indent="0" algn="l">
              <a:lnSpc>
                <a:spcPct val="104000"/>
              </a:lnSpc>
              <a:spcBef>
                <a:spcPts val="400"/>
              </a:spcBef>
              <a:buNone/>
            </a:pPr>
            <a:r>
              <a:rPr lang="en-US" sz="1600" dirty="0">
                <a:solidFill>
                  <a:srgbClr val="000000"/>
                </a:solidFill>
                <a:latin typeface="Arial"/>
                <a:cs typeface="Arial"/>
              </a:rPr>
              <a:t>WHO ICTRP: ongoing</a:t>
            </a:r>
          </a:p>
          <a:p>
            <a:pPr marL="0" indent="0" algn="l">
              <a:lnSpc>
                <a:spcPct val="104000"/>
              </a:lnSpc>
              <a:spcBef>
                <a:spcPts val="400"/>
              </a:spcBef>
              <a:buNone/>
            </a:pPr>
            <a:r>
              <a:rPr lang="en-US" sz="1600" dirty="0">
                <a:solidFill>
                  <a:srgbClr val="000000"/>
                </a:solidFill>
                <a:latin typeface="Arial"/>
                <a:cs typeface="Arial"/>
              </a:rPr>
              <a:t>and unpublished trials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For a proposal, PubMed + a registry is enough; systematic reviews search several databases.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PubMed Clinical Queries: a ready-made filter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Open</a:t>
            </a:r>
          </a:p>
        </p:txBody>
      </p:sp>
      <p:sp>
        <p:nvSpPr>
          <p:cNvPr id="81" name="StepText"/>
          <p:cNvSpPr/>
          <p:nvPr/>
        </p:nvSpPr>
        <p:spPr>
          <a:xfrm>
            <a:off x="4972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PubMed home page:</a:t>
            </a:r>
          </a:p>
          <a:p>
            <a:pPr marL="0" indent="0" algn="l">
              <a:lnSpc>
                <a:spcPct val="104000"/>
              </a:lnSpc>
              <a:spcBef>
                <a:spcPts val="200"/>
              </a:spcBef>
              <a:buNone/>
            </a:pPr>
            <a:r>
              <a:rPr lang="en-US" sz="1500" dirty="0">
                <a:solidFill>
                  <a:srgbClr val="000000"/>
                </a:solidFill>
                <a:latin typeface="Arial"/>
                <a:cs typeface="Arial"/>
              </a:rPr>
              <a:t>Clinical Queries</a:t>
            </a:r>
          </a:p>
          <a:p>
            <a:pPr marL="0" indent="0" algn="l">
              <a:lnSpc>
                <a:spcPct val="104000"/>
              </a:lnSpc>
              <a:spcBef>
                <a:spcPts val="200"/>
              </a:spcBef>
              <a:buNone/>
            </a:pPr>
            <a:r>
              <a:rPr lang="en-US" sz="1500" dirty="0">
                <a:solidFill>
                  <a:srgbClr val="000000"/>
                </a:solidFill>
                <a:latin typeface="Arial"/>
                <a:cs typeface="Arial"/>
              </a:rPr>
              <a:t>(under Find)</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Type</a:t>
            </a:r>
          </a:p>
        </p:txBody>
      </p:sp>
      <p:sp>
        <p:nvSpPr>
          <p:cNvPr id="83" name="StepText"/>
          <p:cNvSpPr/>
          <p:nvPr/>
        </p:nvSpPr>
        <p:spPr>
          <a:xfrm>
            <a:off x="33016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Your topic words,</a:t>
            </a:r>
          </a:p>
          <a:p>
            <a:pPr marL="0" indent="0" algn="l">
              <a:lnSpc>
                <a:spcPct val="104000"/>
              </a:lnSpc>
              <a:spcBef>
                <a:spcPts val="200"/>
              </a:spcBef>
              <a:buNone/>
            </a:pPr>
            <a:r>
              <a:rPr lang="en-US" sz="1500" dirty="0">
                <a:solidFill>
                  <a:srgbClr val="000000"/>
                </a:solidFill>
                <a:latin typeface="Arial"/>
                <a:cs typeface="Arial"/>
              </a:rPr>
              <a:t>e.g. septic shock</a:t>
            </a:r>
          </a:p>
          <a:p>
            <a:pPr marL="0" indent="0" algn="l">
              <a:lnSpc>
                <a:spcPct val="104000"/>
              </a:lnSpc>
              <a:spcBef>
                <a:spcPts val="200"/>
              </a:spcBef>
              <a:buNone/>
            </a:pPr>
            <a:r>
              <a:rPr lang="en-US" sz="1500" dirty="0">
                <a:solidFill>
                  <a:srgbClr val="000000"/>
                </a:solidFill>
                <a:latin typeface="Arial"/>
                <a:cs typeface="Arial"/>
              </a:rPr>
              <a:t>fluid restriction</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Choose</a:t>
            </a:r>
          </a:p>
        </p:txBody>
      </p:sp>
      <p:sp>
        <p:nvSpPr>
          <p:cNvPr id="85" name="StepText"/>
          <p:cNvSpPr/>
          <p:nvPr/>
        </p:nvSpPr>
        <p:spPr>
          <a:xfrm>
            <a:off x="61060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Category: therapy,</a:t>
            </a:r>
          </a:p>
          <a:p>
            <a:pPr marL="0" indent="0" algn="l">
              <a:lnSpc>
                <a:spcPct val="104000"/>
              </a:lnSpc>
              <a:spcBef>
                <a:spcPts val="200"/>
              </a:spcBef>
              <a:buNone/>
            </a:pPr>
            <a:r>
              <a:rPr lang="en-US" sz="1500" dirty="0">
                <a:solidFill>
                  <a:srgbClr val="000000"/>
                </a:solidFill>
                <a:latin typeface="Arial"/>
                <a:cs typeface="Arial"/>
              </a:rPr>
              <a:t>diagnosis, etiology,</a:t>
            </a:r>
          </a:p>
          <a:p>
            <a:pPr marL="0" indent="0" algn="l">
              <a:lnSpc>
                <a:spcPct val="104000"/>
              </a:lnSpc>
              <a:spcBef>
                <a:spcPts val="200"/>
              </a:spcBef>
              <a:buNone/>
            </a:pPr>
            <a:r>
              <a:rPr lang="en-US" sz="1500" dirty="0">
                <a:solidFill>
                  <a:srgbClr val="000000"/>
                </a:solidFill>
                <a:latin typeface="Arial"/>
                <a:cs typeface="Arial"/>
              </a:rPr>
              <a:t>prognosis...</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Scope</a:t>
            </a:r>
          </a:p>
        </p:txBody>
      </p:sp>
      <p:sp>
        <p:nvSpPr>
          <p:cNvPr id="87" name="StepText"/>
          <p:cNvSpPr/>
          <p:nvPr/>
        </p:nvSpPr>
        <p:spPr>
          <a:xfrm>
            <a:off x="89104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Broad (finds more)</a:t>
            </a:r>
          </a:p>
          <a:p>
            <a:pPr marL="0" indent="0" algn="l">
              <a:lnSpc>
                <a:spcPct val="104000"/>
              </a:lnSpc>
              <a:spcBef>
                <a:spcPts val="200"/>
              </a:spcBef>
              <a:buNone/>
            </a:pPr>
            <a:r>
              <a:rPr lang="en-US" sz="1500" dirty="0">
                <a:solidFill>
                  <a:srgbClr val="000000"/>
                </a:solidFill>
                <a:latin typeface="Arial"/>
                <a:cs typeface="Arial"/>
              </a:rPr>
              <a:t>or narrow (more</a:t>
            </a:r>
          </a:p>
          <a:p>
            <a:pPr marL="0" indent="0" algn="l">
              <a:lnSpc>
                <a:spcPct val="104000"/>
              </a:lnSpc>
              <a:spcBef>
                <a:spcPts val="200"/>
              </a:spcBef>
              <a:buNone/>
            </a:pPr>
            <a:r>
              <a:rPr lang="en-US" sz="1500" dirty="0">
                <a:solidFill>
                  <a:srgbClr val="000000"/>
                </a:solidFill>
                <a:latin typeface="Arial"/>
                <a:cs typeface="Arial"/>
              </a:rPr>
              <a:t>precise)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quick shortcut for 'is there good evidence?', not a replacement for your own search.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Optional demo: Google Scholar and 'Cited by'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Search: restrictive fluid septic shock mortality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Look: journals, theses, preprints, ranked by a hidden algorithm</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Under a key trial, click 'Cited by', then search within citing articles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Click the quote icon to see export formats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Arial"/>
                <a:cs typeface="Arial"/>
              </a:rPr>
              <a:t>OUTPUT   </a:t>
            </a:r>
            <a:r>
              <a:rPr lang="en-US" sz="1500" dirty="0">
                <a:solidFill>
                  <a:srgbClr val="000000"/>
                </a:solidFill>
                <a:latin typeface="Arial"/>
                <a:cs typeface="Arial"/>
              </a:rPr>
              <a:t>Participants see what Scholar adds and what it lacks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Text recycling, AI tools and similarity checks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Text recycling</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Reusing your own</a:t>
            </a:r>
          </a:p>
          <a:p>
            <a:pPr marL="0" indent="0" algn="l">
              <a:lnSpc>
                <a:spcPct val="104000"/>
              </a:lnSpc>
              <a:spcBef>
                <a:spcPts val="400"/>
              </a:spcBef>
              <a:buNone/>
            </a:pPr>
            <a:r>
              <a:rPr lang="en-US" sz="1600" dirty="0">
                <a:solidFill>
                  <a:srgbClr val="000000"/>
                </a:solidFill>
                <a:latin typeface="Arial"/>
                <a:cs typeface="Arial"/>
              </a:rPr>
              <a:t>published wording:</a:t>
            </a:r>
          </a:p>
          <a:p>
            <a:pPr marL="0" indent="0" algn="l">
              <a:lnSpc>
                <a:spcPct val="104000"/>
              </a:lnSpc>
              <a:spcBef>
                <a:spcPts val="400"/>
              </a:spcBef>
              <a:buNone/>
            </a:pPr>
            <a:r>
              <a:rPr lang="en-US" sz="1600" dirty="0">
                <a:solidFill>
                  <a:srgbClr val="000000"/>
                </a:solidFill>
                <a:latin typeface="Arial"/>
                <a:cs typeface="Arial"/>
              </a:rPr>
              <a:t>check journal policy</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rewording</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Does not remove</a:t>
            </a:r>
          </a:p>
          <a:p>
            <a:pPr marL="0" indent="0" algn="l">
              <a:lnSpc>
                <a:spcPct val="104000"/>
              </a:lnSpc>
              <a:spcBef>
                <a:spcPts val="400"/>
              </a:spcBef>
              <a:buNone/>
            </a:pPr>
            <a:r>
              <a:rPr lang="en-US" sz="1600" dirty="0">
                <a:solidFill>
                  <a:srgbClr val="000000"/>
                </a:solidFill>
                <a:latin typeface="Arial"/>
                <a:cs typeface="Arial"/>
              </a:rPr>
              <a:t>plagiarism; you stay</a:t>
            </a:r>
          </a:p>
          <a:p>
            <a:pPr marL="0" indent="0" algn="l">
              <a:lnSpc>
                <a:spcPct val="104000"/>
              </a:lnSpc>
              <a:spcBef>
                <a:spcPts val="400"/>
              </a:spcBef>
              <a:buNone/>
            </a:pPr>
            <a:r>
              <a:rPr lang="en-US" sz="1600" dirty="0">
                <a:solidFill>
                  <a:srgbClr val="000000"/>
                </a:solidFill>
                <a:latin typeface="Arial"/>
                <a:cs typeface="Arial"/>
              </a:rPr>
              <a:t>responsible</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references</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May be invented;</a:t>
            </a:r>
          </a:p>
          <a:p>
            <a:pPr marL="0" indent="0" algn="l">
              <a:lnSpc>
                <a:spcPct val="104000"/>
              </a:lnSpc>
              <a:spcBef>
                <a:spcPts val="400"/>
              </a:spcBef>
              <a:buNone/>
            </a:pPr>
            <a:r>
              <a:rPr lang="en-US" sz="1600" dirty="0">
                <a:solidFill>
                  <a:srgbClr val="000000"/>
                </a:solidFill>
                <a:latin typeface="Arial"/>
                <a:cs typeface="Arial"/>
              </a:rPr>
              <a:t>find every one</a:t>
            </a:r>
          </a:p>
          <a:p>
            <a:pPr marL="0" indent="0" algn="l">
              <a:lnSpc>
                <a:spcPct val="104000"/>
              </a:lnSpc>
              <a:spcBef>
                <a:spcPts val="400"/>
              </a:spcBef>
              <a:buNone/>
            </a:pPr>
            <a:r>
              <a:rPr lang="en-US" sz="1600" dirty="0">
                <a:solidFill>
                  <a:srgbClr val="000000"/>
                </a:solidFill>
                <a:latin typeface="Arial"/>
                <a:cs typeface="Arial"/>
              </a:rPr>
              <a:t>in PubMed</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Similarity checks</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Journals screen</a:t>
            </a:r>
          </a:p>
          <a:p>
            <a:pPr marL="0" indent="0" algn="l">
              <a:lnSpc>
                <a:spcPct val="104000"/>
              </a:lnSpc>
              <a:spcBef>
                <a:spcPts val="400"/>
              </a:spcBef>
              <a:buNone/>
            </a:pPr>
            <a:r>
              <a:rPr lang="en-US" sz="1600" dirty="0">
                <a:solidFill>
                  <a:srgbClr val="000000"/>
                </a:solidFill>
                <a:latin typeface="Arial"/>
                <a:cs typeface="Arial"/>
              </a:rPr>
              <a:t>submissions for</a:t>
            </a:r>
          </a:p>
          <a:p>
            <a:pPr marL="0" indent="0" algn="l">
              <a:lnSpc>
                <a:spcPct val="104000"/>
              </a:lnSpc>
              <a:spcBef>
                <a:spcPts val="400"/>
              </a:spcBef>
              <a:buNone/>
            </a:pPr>
            <a:r>
              <a:rPr lang="en-US" sz="1600" dirty="0">
                <a:solidFill>
                  <a:srgbClr val="000000"/>
                </a:solidFill>
                <a:latin typeface="Arial"/>
                <a:cs typeface="Arial"/>
              </a:rPr>
              <a:t>copied text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Write from understanding, cite what you use, and check every reference yourself.</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