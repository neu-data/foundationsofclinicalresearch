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 id="305" r:id="rId149"/>
    <p:sldId id="306" r:id="rId1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 Id="rId145" Type="http://schemas.openxmlformats.org/officeDocument/2006/relationships/slide" Target="slides/slide46.xml"/><Relationship Id="rId146" Type="http://schemas.openxmlformats.org/officeDocument/2006/relationships/slide" Target="slides/slide47.xml"/><Relationship Id="rId147" Type="http://schemas.openxmlformats.org/officeDocument/2006/relationships/slide" Target="slides/slide48.xml"/><Relationship Id="rId148" Type="http://schemas.openxmlformats.org/officeDocument/2006/relationships/slide" Target="slides/slide49.xml"/><Relationship Id="rId149" Type="http://schemas.openxmlformats.org/officeDocument/2006/relationships/slide" Target="slides/slide50.xml"/><Relationship Id="rId150" Type="http://schemas.openxmlformats.org/officeDocument/2006/relationships/slide" Target="slides/slide51.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Start 19:30. If the Session 1 exit question showed vague verbs, spend one minute on objectives.</a:t>
            </a:r>
          </a:p>
          <a:p>
            <a:r>
              <a:rPr lang="en-US" sz="1400" b="0" dirty="0"/>
              <a:t>Check in the chat: PICO question, synonym list and Zotero ready. Paste the links to the Session 2 exercise sheet and the clean Paper 1 PDF.</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Answers typed in the chat: 6 minutes, then call on 2 or 3 people. Answers on the next slide.</a:t>
            </a:r>
          </a:p>
          <a:p>
            <a:r>
              <a:rPr lang="en-US" sz="1400" b="0" dirty="0"/>
              <a:t>Timing: 8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Poll: how many right (0-3, 4 or 5)? If many missed 4 or 5, spend one minute on measurable verbs and H0.</a:t>
            </a:r>
          </a:p>
          <a:p>
            <a:r>
              <a:rPr lang="en-US" sz="1400" b="0" dirty="0"/>
              <a:t>Timing: 2 minutes. 2.1 starts at 19:40.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2.1 runs 19:40-20:20.</a:t>
            </a:r>
          </a:p>
          <a:p>
            <a:r>
              <a:rPr lang="en-US" sz="1400" b="0" dirty="0"/>
              <a:t>Ask: 'What do you do when you need evidence quickly?' Google, a colleague, a guideline: fine for care, but a proposal needs a documented search.</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last two steps are done by reading, not by the computer.</a:t>
            </a:r>
          </a:p>
          <a:p>
            <a:r>
              <a:rPr lang="en-US" sz="1400" b="0" dirty="0"/>
              <a:t>Ask: 'Why write down the date and the search string?' Expected: so it can be repeated.</a:t>
            </a:r>
          </a:p>
          <a:p>
            <a:r>
              <a:rPr lang="en-US" sz="1400" b="0" dirty="0"/>
              <a:t>PubMed size: 'more than 40 million citations' (PubMed About page, checked 19 October 2026). Recheck before teaching.</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NOT removes good papers that mention the term once, so use it rarely. Type operators in capitals and use brackets.</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Answers: 1 AND. 2 OR. 3 Fewer. 4 It removes every paper that mentions children, including good adult studies.</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Searching a MeSH term includes the narrower terms below it. New records may not be indexed yet, so add [tiab] words.</a:t>
            </a:r>
          </a:p>
          <a:p>
            <a:r>
              <a:rPr lang="en-US" sz="1400" b="0" dirty="0"/>
              <a:t>Ask: 'Why does MeSH help a nurse searching for pressure injury?' Expected: one heading collects pressure ulcer, bedsore, decubitus ulcer.</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Show the three routes briefly. The demo uses route 2. Check the heading's definition before using it.</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Example: child* finds child, children, childhood. Cautions: it also finds childbirth, and truncated words are not mapped to MeSH.</a:t>
            </a:r>
          </a:p>
          <a:p>
            <a:r>
              <a:rPr lang="en-US" sz="1400" b="0" dirty="0"/>
              <a:t>Do not filter to free full text: it loses key papers.</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Leave out the comparison block: the words vary too much.</a:t>
            </a:r>
          </a:p>
          <a:p>
            <a:r>
              <a:rPr lang="en-US" sz="1400" b="0" dirty="0"/>
              <a:t>Ask: 'Which other words would authors use for restrictive?' Expected: conservative, limited, de-resuscitation, negative fluid balance.</a:t>
            </a:r>
          </a:p>
          <a:p>
            <a:r>
              <a:rPr lang="en-US" sz="1400" b="0" dirty="0"/>
              <a:t>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 and O share one idea here, so one block carries both.</a:t>
            </a:r>
          </a:p>
          <a:p>
            <a:r>
              <a:rPr lang="en-US" sz="1400" b="0" dirty="0"/>
              <a:t>Ask: 'Other words for repositioning?' Expected: turning, position change, offloading.</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Run and report the search in PubMed. Use Scholar's 'Cited by' to find newer papers and check nothing is missing.</a:t>
            </a:r>
          </a:p>
          <a:p>
            <a:r>
              <a:rPr lang="en-US" sz="1400" b="0" dirty="0"/>
              <a:t>Ask: 'A colleague found a perfect paper in Google Scholar. What should you check?' Expected: peer reviewed or preprint, legitimate journal.</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If a recent, good review answers your question, build on it. If none exists or it is out of date, that gap is part of your justification.</a:t>
            </a:r>
          </a:p>
          <a:p>
            <a:r>
              <a:rPr lang="en-US" sz="1400" b="0" dirty="0"/>
              <a:t>Ask: 'Has anyone started a project and then found it had already been done?'</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Script: s2_demo.md, Part A. Narrate slowly so people can note the hits.</a:t>
            </a:r>
          </a:p>
          <a:p>
            <a:r>
              <a:rPr lang="en-US" sz="1400" b="0" dirty="0"/>
              <a:t>CLASSIC (first mention): Meyhoff, NEJM 2022, 1,554 adults, no change in 90-day mortality. Say this when it appears in the results.</a:t>
            </a:r>
          </a:p>
          <a:p>
            <a:r>
              <a:rPr lang="en-US" sz="1400" b="0" dirty="0"/>
              <a:t>Do not promise hit counts. If the internet fails, switch to the screenshots.</a:t>
            </a:r>
          </a:p>
          <a:p>
            <a:r>
              <a:rPr lang="en-US" sz="1400" b="0" dirty="0"/>
              <a:t>Timing: 10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People write their string alone. After 4 minutes call on 2 or 3 to read it. Type it on screen and ask for one missing synonym.</a:t>
            </a:r>
          </a:p>
          <a:p>
            <a:r>
              <a:rPr lang="en-US" sz="1400" b="0" dirty="0"/>
              <a:t>Watch for: missing brackets, AND and OR mixed in one block, a comparison block, NOT without a reason.</a:t>
            </a:r>
          </a:p>
          <a:p>
            <a:r>
              <a:rPr lang="en-US" sz="1400" b="0" dirty="0"/>
              <a:t>Timing: 5 minutes. 2.1 ends at 20:20.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2.2 runs 20:20-20:40. Timing: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Everyone uses Zotero. Saving as you go takes seconds, rebuilding a list takes hours.</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Every journal states its style in the guide for authors. Cite the original study for facts, not a review that quotes it.</a:t>
            </a:r>
          </a:p>
          <a:p>
            <a:r>
              <a:rPr lang="en-US" sz="1400" b="0" dirty="0"/>
              <a:t>Ask: 'Which style uses [1]?' Expected: Vancouver.</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Script: s2_demo.md, Part B. People repeat each step on their own computer. If Zotero fails for someone, they watch and fix it later with the second trainer.</a:t>
            </a:r>
          </a:p>
          <a:p>
            <a:r>
              <a:rPr lang="en-US" sz="1400" b="0" dirty="0"/>
              <a:t>If Zotero fails for you, show the screenshots.</a:t>
            </a:r>
          </a:p>
          <a:p>
            <a:r>
              <a:rPr lang="en-US" sz="1400" b="0" dirty="0"/>
              <a:t>Timing: 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Patchwriting is plagiarism even with a reference. Method: read, close the paper, write from memory, check, cite.</a:t>
            </a:r>
          </a:p>
          <a:p>
            <a:r>
              <a:rPr lang="en-US" sz="1400" b="0" dirty="0"/>
              <a:t>Ask: 'Is copying the Methods wording from your own earlier paper allowed?' Expected: it is text recycling, check the journal policy.</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Common knowledge needs no citation. Specific facts and numbers do. Check every AI-suggested reference in PubMed.</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Answers: 1 Not OK (patchwriting). 2 OK, but rare. 3 Not OK, needs a citation. 4 Not OK, read and cite the original.</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Negative results are published less often (publication bias), so search below the waterline.</a:t>
            </a:r>
          </a:p>
          <a:p>
            <a:r>
              <a:rPr lang="en-US" sz="1400" b="0" dirty="0"/>
              <a:t>Compare the registered primary outcome with the paper. Paper 1 is NCT04947904, registered before the first patient.</a:t>
            </a:r>
          </a:p>
          <a:p>
            <a:r>
              <a:rPr lang="en-US" sz="1400" b="0" dirty="0"/>
              <a:t>Ask: 'Why check a registry before starting your own trial?' Expected: someone may already be running the same study.</a:t>
            </a:r>
          </a:p>
          <a:p>
            <a:r>
              <a:rPr lang="en-US" sz="1400" b="0" dirty="0"/>
              <a:t>Timing: 3 minutes. 2.2 ends at 20:40.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Break 20:40-20:55. Post the restart time and the link to the clean Paper 1 PDF in the chat.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2.3 runs 20:55-21:35. Check that everyone has Paper 1 open.</a:t>
            </a:r>
          </a:p>
          <a:p>
            <a:r>
              <a:rPr lang="en-US" sz="1400" b="0" dirty="0"/>
              <a:t>Timing: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question is at the end of the Introduction, the primary outcome in the Methods, the main number in the Results.</a:t>
            </a:r>
          </a:p>
          <a:p>
            <a:r>
              <a:rPr lang="en-US" sz="1400" b="0" dirty="0"/>
              <a:t>The Discussion is interpretation. The Results are the evidence.</a:t>
            </a:r>
          </a:p>
          <a:p>
            <a:r>
              <a:rPr lang="en-US" sz="1400" b="0" dirty="0"/>
              <a:t>Ask: 'Where do you find who was included?' Expected: Methods and Results (flow chart, Table 1).</a:t>
            </a:r>
          </a:p>
          <a:p>
            <a:r>
              <a:rPr lang="en-US" sz="1400" b="0" dirty="0"/>
              <a:t>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Most papers are rejected at the abstract. Abstracts omit limitations and can contain spin.</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Ask: 'An abstract says only: mortality was significantly lower (p &lt; 0.05). What is missing?' Expected: the rates, the effect size and the 95% CI.</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Illustrative numbers. Ask of every result: how big, how sure, by when?</a:t>
            </a:r>
          </a:p>
          <a:p>
            <a:r>
              <a:rPr lang="en-US" sz="1400" b="0" dirty="0"/>
              <a:t>Poll: 'Which sentence would you trust?' Expected: the right one.</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Row 1: p = 0.42 is no evidence of a difference. Row 3: Paper 2's title says 'Impact', but its abstract conclusion correctly says 'associated'.</a:t>
            </a:r>
          </a:p>
          <a:p>
            <a:r>
              <a:rPr lang="en-US" sz="1400" b="0" dirty="0"/>
              <a:t>Peer review reduces spin but does not remove it.</a:t>
            </a:r>
          </a:p>
          <a:p>
            <a:r>
              <a:rPr lang="en-US" sz="1400" b="0" dirty="0"/>
              <a:t>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One item at a time. 30 seconds, then call on one or two people.</a:t>
            </a:r>
          </a:p>
          <a:p>
            <a:r>
              <a:rPr lang="en-US" sz="1400" b="0" dirty="0"/>
              <a:t>Answers: 1 Write 'was associated with'. 2 p = 0.31: no significant difference, wide CI. 3 Lead with the primary outcome. 4 No control group, so the change cannot be attributed to the protocol.</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8 minutes alone, then 4 minutes: everyone types the primary outcome and main result in the chat.</a:t>
            </a:r>
          </a:p>
          <a:p>
            <a:r>
              <a:rPr lang="en-US" sz="1400" b="0" dirty="0"/>
              <a:t>Hardest cells: the primary outcome is fluid balance at day 5, not mortality. The 95% CI (-15.2 to 41.6) crosses zero.</a:t>
            </a:r>
          </a:p>
          <a:p>
            <a:r>
              <a:rPr lang="en-US" sz="1400" b="0" dirty="0"/>
              <a:t>Fast finishers: find the overstating word in Paper 2's title ('Impact').</a:t>
            </a:r>
          </a:p>
          <a:p>
            <a:r>
              <a:rPr lang="en-US" sz="1400" b="0" dirty="0"/>
              <a:t>Timing: 12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Ask for each row in the chat before revealing it.</a:t>
            </a:r>
          </a:p>
          <a:p>
            <a:r>
              <a:rPr lang="en-US" sz="1400" b="0" dirty="0"/>
              <a:t>Key points: pilot, 48 patients. Outcome fluid balance, not mortality. CI includes zero. Conclusion matches the result. Registered.</a:t>
            </a:r>
          </a:p>
          <a:p>
            <a:r>
              <a:rPr lang="en-US" sz="1400" b="0" dirty="0"/>
              <a:t>If asked: the 13.2 is a difference in means, not medians. Park it.</a:t>
            </a:r>
          </a:p>
          <a:p>
            <a:r>
              <a:rPr lang="en-US" sz="1400" b="0" dirty="0"/>
              <a:t>Timing: 5 minutes. 2.3 ends at 21:35.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2.4 runs 21:35-21:50. Timing: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three papers measure different outcomes at different times. The 'key limitation' column gives the gap.</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Paragraph 2 (the gap) comes from the 'key limitation' column.</a:t>
            </a:r>
          </a:p>
          <a:p>
            <a:r>
              <a:rPr lang="en-US" sz="1400" b="0" dirty="0"/>
              <a:t>Never put your own data or 'our audit' in the Introduction. A local figure only if it is published and cited.</a:t>
            </a:r>
          </a:p>
          <a:p>
            <a:r>
              <a:rPr lang="en-US" sz="1400" b="0" dirty="0"/>
              <a:t>Timing: 3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Every factual sentence carries a reference. About 300 words is enough. Written in English, as the proposal is.</a:t>
            </a:r>
          </a:p>
          <a:p>
            <a:r>
              <a:rPr lang="en-US" sz="1400" b="0" dirty="0"/>
              <a:t>Timing: 4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Avoid abbreviations and causal words ('impact', 'effect of'). Keywords: 3 to 6 MeSH terms not in the title.</a:t>
            </a:r>
          </a:p>
          <a:p>
            <a:r>
              <a:rPr lang="en-US" sz="1400" b="0" dirty="0"/>
              <a:t>Ask: 'Is Fluids in the ICU a good title?' Expected: no population, comparison or design.</a:t>
            </a:r>
          </a:p>
          <a:p>
            <a:r>
              <a:rPr lang="en-US" sz="1400" b="0" dirty="0"/>
              <a:t>Timing: 4 minutes. 2.4 ends at 21:50.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Proposal builder 2 runs 21:50-22:25. Move straight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Minutes 0-10: re-run the demo string, screen titles together in the chat, save two papers to Zotero, fill one worksheet row.</a:t>
            </a:r>
          </a:p>
          <a:p>
            <a:r>
              <a:rPr lang="en-US" sz="1400" b="0" dirty="0"/>
              <a:t>Minutes 10-30: everyone works alone. Common problems: too many hits (add a block), too few (add synonyms), a comparison block.</a:t>
            </a:r>
          </a:p>
          <a:p>
            <a:r>
              <a:rPr lang="en-US" sz="1400" b="0" dirty="0"/>
              <a:t>Minutes 30-35: two volunteers read their title and gap sentence.</a:t>
            </a:r>
          </a:p>
          <a:p>
            <a:r>
              <a:rPr lang="en-US" sz="1400" b="0" dirty="0"/>
              <a:t>Key: s2_solutions, Exercise 4.</a:t>
            </a:r>
          </a:p>
          <a:p>
            <a:r>
              <a:rPr lang="en-US" sz="1400" b="0" dirty="0"/>
              <a:t>Timing: 35 minutes. Wrap-up at 22:25.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Read the key words quickly. 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Ask one person: 'What do you look for first in an abstract?' Expected: the primary outcome and its result with a CI.</a:t>
            </a:r>
          </a:p>
          <a:p>
            <a:r>
              <a:rPr lang="en-US" sz="1400" b="0" dirty="0"/>
              <a:t>Timing: 1.5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Answers: Q1 OR. Q2 Cumulative fluid balance at day 5, not mortality.</a:t>
            </a:r>
          </a:p>
          <a:p>
            <a:r>
              <a:rPr lang="en-US" sz="1400" b="0" dirty="0"/>
              <a:t>If more than a quarter get either wrong, start Session 3 with it.</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About 60-90 minutes over the week. Session 3 uses both abstracts.</a:t>
            </a:r>
          </a:p>
          <a:p>
            <a:r>
              <a:rPr lang="en-US" sz="1400" b="0" dirty="0"/>
              <a:t>Timing: 1 minute. Close on time.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Optional. Use if time allows, or for self-study.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For a Level 1 proposal, PubMed and a registry are enough. Start with the Cochrane Library for treatment questions. Most other databases need an institutional subscription.</a:t>
            </a:r>
          </a:p>
          <a:p>
            <a:r>
              <a:rPr lang="en-US" sz="1400" b="0" dirty="0"/>
              <a:t>Timing: 2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Useful to check a search did not miss an obvious trial. The interface changes, so check it before showing it.</a:t>
            </a:r>
          </a:p>
          <a:p>
            <a:r>
              <a:rPr lang="en-US" sz="1400" b="0" dirty="0"/>
              <a:t>Timing: 2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Script: s2_demo.md, Part C. If Scholar shows a CAPTCHA, skip to the screenshots.</a:t>
            </a:r>
          </a:p>
          <a:p>
            <a:r>
              <a:rPr lang="en-US" sz="1400" b="0" dirty="0"/>
              <a:t>Timing: 3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Never reuse Results or Discussion text. AI use must be disclosed (Session 7).</a:t>
            </a:r>
          </a:p>
          <a:p>
            <a:r>
              <a:rPr lang="en-US" sz="1400" b="0" dirty="0"/>
              <a:t>Timing: 2 minutes if used.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Leave on screen while people leave the meeting.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 Id="rId3" Type="http://schemas.openxmlformats.org/officeDocument/2006/relationships/image" Target="../media/image1.jp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 Id="rId3" Type="http://schemas.openxmlformats.org/officeDocument/2006/relationships/image" Target="../media/image1.jpg"/>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 Id="rId3" Type="http://schemas.openxmlformats.org/officeDocument/2006/relationships/image" Target="../media/image1.jpg"/>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1.jpg"/>
</Relationships>
</file>

<file path=ppt/slides/_rels/slide5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 Id="rId3" Type="http://schemas.openxmlformats.org/officeDocument/2006/relationships/image" Target="../media/image1.jpg"/>
</Relationships>
</file>

<file path=ppt/slides/_rels/slide5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Session 2 · Find &amp; read the evidence</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Week 2 · Saturday</a:t>
            </a:r>
          </a:p>
          <a:p>
            <a:pPr>
              <a:buNone/>
            </a:pPr>
            <a:endParaRPr sz="800"/>
          </a:p>
          <a:p>
            <a:pPr marL="274320" indent="-274320" algn="l">
              <a:spcBef>
                <a:spcPts val="440"/>
              </a:spcBef>
              <a:buFont typeface="Arial"/>
              <a:buChar char="•"/>
            </a:pPr>
            <a:r>
              <a:rPr lang="en-US" sz="1900" dirty="0">
                <a:solidFill>
                  <a:srgbClr val="000000"/>
                </a:solidFill>
                <a:latin typeface="Arial"/>
                <a:cs typeface="Arial"/>
              </a:rPr>
              <a:t>Recap quiz on Session 1</a:t>
            </a:r>
          </a:p>
          <a:p>
            <a:pPr marL="274320" indent="-274320" algn="l">
              <a:spcBef>
                <a:spcPts val="440"/>
              </a:spcBef>
              <a:buFont typeface="Arial"/>
              <a:buChar char="•"/>
            </a:pPr>
            <a:r>
              <a:rPr lang="en-US" sz="1900" dirty="0">
                <a:solidFill>
                  <a:srgbClr val="000000"/>
                </a:solidFill>
                <a:latin typeface="Arial"/>
                <a:cs typeface="Arial"/>
              </a:rPr>
              <a:t>2.1  Finding the evidence: Boolean logic, MeSH, search blocks, live PubMed demo</a:t>
            </a:r>
          </a:p>
          <a:p>
            <a:pPr marL="274320" indent="-274320" algn="l">
              <a:spcBef>
                <a:spcPts val="440"/>
              </a:spcBef>
              <a:buFont typeface="Arial"/>
              <a:buChar char="•"/>
            </a:pPr>
            <a:r>
              <a:rPr lang="en-US" sz="1900" dirty="0">
                <a:solidFill>
                  <a:srgbClr val="000000"/>
                </a:solidFill>
                <a:latin typeface="Arial"/>
                <a:cs typeface="Arial"/>
              </a:rPr>
              <a:t>2.2  Managing and citing: Zotero demo, citation styles, paraphrasing, grey literature</a:t>
            </a:r>
          </a:p>
          <a:p>
            <a:pPr marL="274320" indent="-274320" algn="l">
              <a:spcBef>
                <a:spcPts val="440"/>
              </a:spcBef>
              <a:buFont typeface="Arial"/>
              <a:buChar char="•"/>
            </a:pPr>
            <a:r>
              <a:rPr lang="en-US" sz="1900" dirty="0">
                <a:solidFill>
                  <a:srgbClr val="000000"/>
                </a:solidFill>
                <a:latin typeface="Arial"/>
                <a:cs typeface="Arial"/>
              </a:rPr>
              <a:t>Break</a:t>
            </a:r>
          </a:p>
          <a:p>
            <a:pPr marL="274320" indent="-274320" algn="l">
              <a:spcBef>
                <a:spcPts val="440"/>
              </a:spcBef>
              <a:buFont typeface="Arial"/>
              <a:buChar char="•"/>
            </a:pPr>
            <a:r>
              <a:rPr lang="en-US" sz="1900" dirty="0">
                <a:solidFill>
                  <a:srgbClr val="000000"/>
                </a:solidFill>
                <a:latin typeface="Arial"/>
                <a:cs typeface="Arial"/>
              </a:rPr>
              <a:t>2.3  Reading a paper in 15 minutes and 2.4 from literature to introduction</a:t>
            </a:r>
          </a:p>
          <a:p>
            <a:pPr marL="274320" indent="-274320" algn="l">
              <a:spcBef>
                <a:spcPts val="440"/>
              </a:spcBef>
              <a:buFont typeface="Arial"/>
              <a:buChar char="•"/>
            </a:pPr>
            <a:r>
              <a:rPr lang="en-US" sz="1900" dirty="0">
                <a:solidFill>
                  <a:srgbClr val="000000"/>
                </a:solidFill>
                <a:latin typeface="Arial"/>
                <a:cs typeface="Arial"/>
              </a:rPr>
              <a:t>Proposal builder 2: your own search, 5 references, problem statement, working title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Recap quiz: Session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8 min</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Which course paper is a trial and which is a cohort: Paper 1 (Boulet) or Paper 2 (Hyun)?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'In adults with sepsis, is a positive fluid balance by day 3, vs not, linked to death by day 28?' Name P, E, C, O, 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Which FINER letter did our running example fail?</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Which is an objective: 'to understand fluid balance' or 'to estimate the proportion fluid-positive on day 3'?</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Write H0 for: does a restrictive protocol reduce fluid balance at day 5?</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Answers in the online quiz form (link in the chat), checked against the next slide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Recap quiz: answers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57473"/>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Designs</a:t>
            </a:r>
          </a:p>
        </p:txBody>
      </p:sp>
      <p:sp>
        <p:nvSpPr>
          <p:cNvPr id="71" name="CardBody"/>
          <p:cNvSpPr/>
          <p:nvPr/>
        </p:nvSpPr>
        <p:spPr>
          <a:xfrm>
            <a:off x="457200" y="2197473"/>
            <a:ext cx="2095520" cy="2377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Paper 1 is a trial (RCT)</a:t>
            </a:r>
          </a:p>
          <a:p>
            <a:pPr marL="0" indent="0" algn="ctr">
              <a:lnSpc>
                <a:spcPct val="104000"/>
              </a:lnSpc>
              <a:spcBef>
                <a:spcPts val="400"/>
              </a:spcBef>
              <a:buNone/>
            </a:pPr>
            <a:r>
              <a:rPr lang="en-US" sz="1450" dirty="0">
                <a:solidFill>
                  <a:srgbClr val="000000"/>
                </a:solidFill>
                <a:latin typeface="Arial"/>
                <a:cs typeface="Arial"/>
              </a:rPr>
              <a:t>Paper 2 is a cohort</a:t>
            </a:r>
          </a:p>
        </p:txBody>
      </p:sp>
      <p:sp>
        <p:nvSpPr>
          <p:cNvPr id="72" name="CardHead"/>
          <p:cNvSpPr/>
          <p:nvPr/>
        </p:nvSpPr>
        <p:spPr>
          <a:xfrm>
            <a:off x="2752720" y="1557473"/>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PECO(T)</a:t>
            </a:r>
          </a:p>
        </p:txBody>
      </p:sp>
      <p:sp>
        <p:nvSpPr>
          <p:cNvPr id="73" name="CardBody"/>
          <p:cNvSpPr/>
          <p:nvPr/>
        </p:nvSpPr>
        <p:spPr>
          <a:xfrm>
            <a:off x="2752720" y="2197473"/>
            <a:ext cx="2095520" cy="2377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P: adults with sepsis</a:t>
            </a:r>
          </a:p>
          <a:p>
            <a:pPr marL="0" indent="0" algn="ctr">
              <a:lnSpc>
                <a:spcPct val="104000"/>
              </a:lnSpc>
              <a:spcBef>
                <a:spcPts val="400"/>
              </a:spcBef>
              <a:buNone/>
            </a:pPr>
            <a:r>
              <a:rPr lang="en-US" sz="1450" dirty="0">
                <a:solidFill>
                  <a:srgbClr val="000000"/>
                </a:solidFill>
                <a:latin typeface="Arial"/>
                <a:cs typeface="Arial"/>
              </a:rPr>
              <a:t>E: positive balance by day 3</a:t>
            </a:r>
          </a:p>
          <a:p>
            <a:pPr marL="0" indent="0" algn="ctr">
              <a:lnSpc>
                <a:spcPct val="104000"/>
              </a:lnSpc>
              <a:spcBef>
                <a:spcPts val="400"/>
              </a:spcBef>
              <a:buNone/>
            </a:pPr>
            <a:r>
              <a:rPr lang="en-US" sz="1450" dirty="0">
                <a:solidFill>
                  <a:srgbClr val="000000"/>
                </a:solidFill>
                <a:latin typeface="Arial"/>
                <a:cs typeface="Arial"/>
              </a:rPr>
              <a:t>C: neutral or negative balance</a:t>
            </a:r>
          </a:p>
          <a:p>
            <a:pPr marL="0" indent="0" algn="ctr">
              <a:lnSpc>
                <a:spcPct val="104000"/>
              </a:lnSpc>
              <a:spcBef>
                <a:spcPts val="400"/>
              </a:spcBef>
              <a:buNone/>
            </a:pPr>
            <a:r>
              <a:rPr lang="en-US" sz="1450" dirty="0">
                <a:solidFill>
                  <a:srgbClr val="000000"/>
                </a:solidFill>
                <a:latin typeface="Arial"/>
                <a:cs typeface="Arial"/>
              </a:rPr>
              <a:t>O and T: death by day 28</a:t>
            </a:r>
          </a:p>
        </p:txBody>
      </p:sp>
      <p:sp>
        <p:nvSpPr>
          <p:cNvPr id="74" name="CardHead"/>
          <p:cNvSpPr/>
          <p:nvPr/>
        </p:nvSpPr>
        <p:spPr>
          <a:xfrm>
            <a:off x="5048240" y="1557473"/>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Feasible</a:t>
            </a:r>
          </a:p>
        </p:txBody>
      </p:sp>
      <p:sp>
        <p:nvSpPr>
          <p:cNvPr id="75" name="CardBody"/>
          <p:cNvSpPr/>
          <p:nvPr/>
        </p:nvSpPr>
        <p:spPr>
          <a:xfrm>
            <a:off x="5048240" y="2197473"/>
            <a:ext cx="2095520" cy="2377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Mortality needs more than 1,000 patients</a:t>
            </a:r>
          </a:p>
        </p:txBody>
      </p:sp>
      <p:sp>
        <p:nvSpPr>
          <p:cNvPr id="76" name="CardHead"/>
          <p:cNvSpPr/>
          <p:nvPr/>
        </p:nvSpPr>
        <p:spPr>
          <a:xfrm>
            <a:off x="7343760" y="1557473"/>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Estimate</a:t>
            </a:r>
          </a:p>
        </p:txBody>
      </p:sp>
      <p:sp>
        <p:nvSpPr>
          <p:cNvPr id="77" name="CardBody"/>
          <p:cNvSpPr/>
          <p:nvPr/>
        </p:nvSpPr>
        <p:spPr>
          <a:xfrm>
            <a:off x="7343760" y="2197473"/>
            <a:ext cx="2095520" cy="2377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'Estimate' is measurable</a:t>
            </a:r>
          </a:p>
          <a:p>
            <a:pPr marL="0" indent="0" algn="ctr">
              <a:lnSpc>
                <a:spcPct val="104000"/>
              </a:lnSpc>
              <a:spcBef>
                <a:spcPts val="400"/>
              </a:spcBef>
              <a:buNone/>
            </a:pPr>
            <a:r>
              <a:rPr lang="en-US" sz="1450" dirty="0">
                <a:solidFill>
                  <a:srgbClr val="000000"/>
                </a:solidFill>
                <a:latin typeface="Arial"/>
                <a:cs typeface="Arial"/>
              </a:rPr>
              <a:t>'Understand' is not</a:t>
            </a:r>
          </a:p>
        </p:txBody>
      </p:sp>
      <p:sp>
        <p:nvSpPr>
          <p:cNvPr id="78" name="CardHead"/>
          <p:cNvSpPr/>
          <p:nvPr/>
        </p:nvSpPr>
        <p:spPr>
          <a:xfrm>
            <a:off x="9639280" y="1557473"/>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H0</a:t>
            </a:r>
          </a:p>
        </p:txBody>
      </p:sp>
      <p:sp>
        <p:nvSpPr>
          <p:cNvPr id="79" name="CardBody"/>
          <p:cNvSpPr/>
          <p:nvPr/>
        </p:nvSpPr>
        <p:spPr>
          <a:xfrm>
            <a:off x="9639280" y="2197473"/>
            <a:ext cx="2095520" cy="23775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Fluid balance at day 5 is the same in both groups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If you got 4 or 5 right, you are ready for today.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2.1  Finding the evidence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Before you study it, find out what is already known.</a:t>
            </a:r>
          </a:p>
          <a:p>
            <a:pPr marL="0" indent="0" algn="ctr">
              <a:spcBef>
                <a:spcPts val="1200"/>
              </a:spcBef>
              <a:buNone/>
            </a:pPr>
            <a:r>
              <a:rPr lang="en-US" sz="1900" i="1" dirty="0">
                <a:solidFill>
                  <a:srgbClr val="595959"/>
                </a:solidFill>
                <a:latin typeface="Arial"/>
                <a:cs typeface="Arial"/>
              </a:rPr>
              <a:t>40 minutes: the search funnel, Boolean logic, MeSH, search tools, PICO search blocks, systematic reviews and a live PubMed demo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search funnel</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Write down each step: the date, the search string, the filters and the number of hits.</a:t>
            </a:r>
          </a:p>
        </p:txBody>
      </p:sp>
      <p:sp>
        <p:nvSpPr>
          <p:cNvPr id="80" name="Step"/>
          <p:cNvSpPr/>
          <p:nvPr/>
        </p:nvSpPr>
        <p:spPr>
          <a:xfrm>
            <a:off x="457200" y="1660000"/>
            <a:ext cx="19296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All of PubMed</a:t>
            </a:r>
          </a:p>
        </p:txBody>
      </p:sp>
      <p:sp>
        <p:nvSpPr>
          <p:cNvPr id="81" name="StepText"/>
          <p:cNvSpPr/>
          <p:nvPr/>
        </p:nvSpPr>
        <p:spPr>
          <a:xfrm>
            <a:off x="4972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b="1" dirty="0">
                <a:solidFill>
                  <a:srgbClr val="000000"/>
                </a:solidFill>
                <a:latin typeface="Arial"/>
                <a:cs typeface="Arial"/>
              </a:rPr>
              <a:t>More than 40 million records</a:t>
            </a:r>
          </a:p>
          <a:p>
            <a:pPr marL="0" indent="0" algn="ctr">
              <a:lnSpc>
                <a:spcPct val="104000"/>
              </a:lnSpc>
              <a:spcBef>
                <a:spcPts val="200"/>
              </a:spcBef>
              <a:buNone/>
            </a:pPr>
            <a:r>
              <a:rPr lang="en-US" sz="1500" dirty="0">
                <a:solidFill>
                  <a:srgbClr val="000000"/>
                </a:solidFill>
                <a:latin typeface="Arial"/>
                <a:cs typeface="Arial"/>
              </a:rPr>
              <a:t>As of October 2026</a:t>
            </a:r>
          </a:p>
        </p:txBody>
      </p:sp>
      <p:sp>
        <p:nvSpPr>
          <p:cNvPr id="82" name="Step"/>
          <p:cNvSpPr/>
          <p:nvPr/>
        </p:nvSpPr>
        <p:spPr>
          <a:xfrm>
            <a:off x="2326800" y="1660000"/>
            <a:ext cx="19296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One keyword</a:t>
            </a:r>
          </a:p>
        </p:txBody>
      </p:sp>
      <p:sp>
        <p:nvSpPr>
          <p:cNvPr id="83" name="StepText"/>
          <p:cNvSpPr/>
          <p:nvPr/>
        </p:nvSpPr>
        <p:spPr>
          <a:xfrm>
            <a:off x="23668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septic shock</a:t>
            </a:r>
          </a:p>
          <a:p>
            <a:pPr marL="0" indent="0" algn="ctr">
              <a:lnSpc>
                <a:spcPct val="104000"/>
              </a:lnSpc>
              <a:spcBef>
                <a:spcPts val="200"/>
              </a:spcBef>
              <a:buNone/>
            </a:pPr>
            <a:r>
              <a:rPr lang="en-US" sz="1500" b="1" dirty="0">
                <a:solidFill>
                  <a:srgbClr val="000000"/>
                </a:solidFill>
                <a:latin typeface="Arial"/>
                <a:cs typeface="Arial"/>
              </a:rPr>
              <a:t>Tens of thousands</a:t>
            </a:r>
          </a:p>
        </p:txBody>
      </p:sp>
      <p:sp>
        <p:nvSpPr>
          <p:cNvPr id="84" name="Step"/>
          <p:cNvSpPr/>
          <p:nvPr/>
        </p:nvSpPr>
        <p:spPr>
          <a:xfrm>
            <a:off x="4196400" y="1660000"/>
            <a:ext cx="19296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PICO blocks</a:t>
            </a:r>
          </a:p>
        </p:txBody>
      </p:sp>
      <p:sp>
        <p:nvSpPr>
          <p:cNvPr id="85" name="StepText"/>
          <p:cNvSpPr/>
          <p:nvPr/>
        </p:nvSpPr>
        <p:spPr>
          <a:xfrm>
            <a:off x="42364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All the words for P, I and O</a:t>
            </a:r>
          </a:p>
          <a:p>
            <a:pPr marL="0" indent="0" algn="ctr">
              <a:lnSpc>
                <a:spcPct val="104000"/>
              </a:lnSpc>
              <a:spcBef>
                <a:spcPts val="200"/>
              </a:spcBef>
              <a:buNone/>
            </a:pPr>
            <a:r>
              <a:rPr lang="en-US" sz="1500" b="1" dirty="0">
                <a:solidFill>
                  <a:srgbClr val="000000"/>
                </a:solidFill>
                <a:latin typeface="Arial"/>
                <a:cs typeface="Arial"/>
              </a:rPr>
              <a:t>A few thousand</a:t>
            </a:r>
          </a:p>
        </p:txBody>
      </p:sp>
      <p:sp>
        <p:nvSpPr>
          <p:cNvPr id="86" name="Step"/>
          <p:cNvSpPr/>
          <p:nvPr/>
        </p:nvSpPr>
        <p:spPr>
          <a:xfrm>
            <a:off x="6066000" y="1660000"/>
            <a:ext cx="19296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Filters</a:t>
            </a:r>
          </a:p>
        </p:txBody>
      </p:sp>
      <p:sp>
        <p:nvSpPr>
          <p:cNvPr id="87" name="StepText"/>
          <p:cNvSpPr/>
          <p:nvPr/>
        </p:nvSpPr>
        <p:spPr>
          <a:xfrm>
            <a:off x="61060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RCT, review, adults, years</a:t>
            </a:r>
          </a:p>
          <a:p>
            <a:pPr marL="0" indent="0" algn="ctr">
              <a:lnSpc>
                <a:spcPct val="104000"/>
              </a:lnSpc>
              <a:spcBef>
                <a:spcPts val="200"/>
              </a:spcBef>
              <a:buNone/>
            </a:pPr>
            <a:r>
              <a:rPr lang="en-US" sz="1500" b="1" dirty="0">
                <a:solidFill>
                  <a:srgbClr val="000000"/>
                </a:solidFill>
                <a:latin typeface="Arial"/>
                <a:cs typeface="Arial"/>
              </a:rPr>
              <a:t>Hundreds</a:t>
            </a:r>
          </a:p>
        </p:txBody>
      </p:sp>
      <p:sp>
        <p:nvSpPr>
          <p:cNvPr id="88" name="Step"/>
          <p:cNvSpPr/>
          <p:nvPr/>
        </p:nvSpPr>
        <p:spPr>
          <a:xfrm>
            <a:off x="7935600" y="1660000"/>
            <a:ext cx="192960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Screen</a:t>
            </a:r>
          </a:p>
        </p:txBody>
      </p:sp>
      <p:sp>
        <p:nvSpPr>
          <p:cNvPr id="89" name="StepText"/>
          <p:cNvSpPr/>
          <p:nvPr/>
        </p:nvSpPr>
        <p:spPr>
          <a:xfrm>
            <a:off x="79756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Read titles and abstracts</a:t>
            </a:r>
          </a:p>
          <a:p>
            <a:pPr marL="0" indent="0" algn="ctr">
              <a:lnSpc>
                <a:spcPct val="104000"/>
              </a:lnSpc>
              <a:spcBef>
                <a:spcPts val="200"/>
              </a:spcBef>
              <a:buNone/>
            </a:pPr>
            <a:r>
              <a:rPr lang="en-US" sz="1500" b="1" dirty="0">
                <a:solidFill>
                  <a:srgbClr val="000000"/>
                </a:solidFill>
                <a:latin typeface="Arial"/>
                <a:cs typeface="Arial"/>
              </a:rPr>
              <a:t>Dozens</a:t>
            </a:r>
          </a:p>
        </p:txBody>
      </p:sp>
      <p:sp>
        <p:nvSpPr>
          <p:cNvPr id="90" name="Step"/>
          <p:cNvSpPr/>
          <p:nvPr/>
        </p:nvSpPr>
        <p:spPr>
          <a:xfrm>
            <a:off x="9805200" y="1660000"/>
            <a:ext cx="1929600" cy="760000"/>
          </a:xfrm>
          <a:prstGeom prst="chevron">
            <a:avLst>
              <a:gd name="adj" fmla="val 28000"/>
            </a:avLst>
          </a:prstGeom>
          <a:solidFill>
            <a:srgbClr val="8A99A3"/>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Keep</a:t>
            </a:r>
          </a:p>
        </p:txBody>
      </p:sp>
      <p:sp>
        <p:nvSpPr>
          <p:cNvPr id="91" name="StepText"/>
          <p:cNvSpPr/>
          <p:nvPr/>
        </p:nvSpPr>
        <p:spPr>
          <a:xfrm>
            <a:off x="98452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b="1" dirty="0">
                <a:solidFill>
                  <a:srgbClr val="000000"/>
                </a:solidFill>
                <a:latin typeface="Arial"/>
                <a:cs typeface="Arial"/>
              </a:rPr>
              <a:t>5-10 key papers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good search starts wide, narrows step by step, and is written down.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Boolean logic in pictures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Text"/>
          <p:cNvSpPr/>
          <p:nvPr/>
        </p:nvSpPr>
        <p:spPr>
          <a:xfrm>
            <a:off x="472440" y="1376200"/>
            <a:ext cx="374904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400" b="1" dirty="0">
                <a:solidFill>
                  <a:srgbClr val="055F56"/>
                </a:solidFill>
                <a:latin typeface="Arial"/>
                <a:cs typeface="Arial"/>
              </a:rPr>
              <a:t>AND</a:t>
            </a:r>
          </a:p>
        </p:txBody>
      </p:sp>
      <p:sp>
        <p:nvSpPr>
          <p:cNvPr id="101" name="Overlap"/>
          <p:cNvSpPr/>
          <p:nvPr/>
        </p:nvSpPr>
        <p:spPr>
          <a:xfrm>
            <a:off x="1981200" y="2153440"/>
            <a:ext cx="731520" cy="1463040"/>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02" name="Outline"/>
          <p:cNvSpPr/>
          <p:nvPr/>
        </p:nvSpPr>
        <p:spPr>
          <a:xfrm>
            <a:off x="929640" y="1970560"/>
            <a:ext cx="1828800" cy="1828800"/>
          </a:xfrm>
          <a:prstGeom prst="ellipse">
            <a:avLst/>
          </a:prstGeom>
          <a:noFill/>
          <a:ln w="28575">
            <a:solidFill>
              <a:srgbClr val="0B376C"/>
            </a:solidFill>
          </a:ln>
        </p:spPr>
        <p:txBody>
          <a:bodyPr wrap="square" lIns="54864" tIns="54864" rIns="54864" bIns="54864" rtlCol="0" anchor="ctr">
            <a:noAutofit/>
          </a:bodyPr>
          <a:lstStyle/>
          <a:p>
            <a:endParaRPr lang="en-US"/>
          </a:p>
        </p:txBody>
      </p:sp>
      <p:sp>
        <p:nvSpPr>
          <p:cNvPr id="103" name="Outline"/>
          <p:cNvSpPr/>
          <p:nvPr/>
        </p:nvSpPr>
        <p:spPr>
          <a:xfrm>
            <a:off x="1935480" y="1970560"/>
            <a:ext cx="1828800" cy="1828800"/>
          </a:xfrm>
          <a:prstGeom prst="ellipse">
            <a:avLst/>
          </a:prstGeom>
          <a:noFill/>
          <a:ln w="28575">
            <a:solidFill>
              <a:srgbClr val="0B376C"/>
            </a:solidFill>
          </a:ln>
        </p:spPr>
        <p:txBody>
          <a:bodyPr wrap="square" lIns="54864" tIns="54864" rIns="54864" bIns="54864" rtlCol="0" anchor="ctr">
            <a:noAutofit/>
          </a:bodyPr>
          <a:lstStyle/>
          <a:p>
            <a:endParaRPr lang="en-US"/>
          </a:p>
        </p:txBody>
      </p:sp>
      <p:sp>
        <p:nvSpPr>
          <p:cNvPr id="104" name="Text"/>
          <p:cNvSpPr/>
          <p:nvPr/>
        </p:nvSpPr>
        <p:spPr>
          <a:xfrm>
            <a:off x="883920" y="2519200"/>
            <a:ext cx="10058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1A1A1A"/>
                </a:solidFill>
                <a:latin typeface="Arial"/>
                <a:cs typeface="Arial"/>
              </a:rPr>
              <a:t>septic</a:t>
            </a:r>
          </a:p>
          <a:p>
            <a:pPr marL="0" indent="0" algn="ctr">
              <a:lnSpc>
                <a:spcPct val="100000"/>
              </a:lnSpc>
              <a:buNone/>
            </a:pPr>
            <a:r>
              <a:rPr lang="en-US" sz="1500" b="1" dirty="0">
                <a:solidFill>
                  <a:srgbClr val="1A1A1A"/>
                </a:solidFill>
                <a:latin typeface="Arial"/>
                <a:cs typeface="Arial"/>
              </a:rPr>
              <a:t>shock</a:t>
            </a:r>
          </a:p>
        </p:txBody>
      </p:sp>
      <p:sp>
        <p:nvSpPr>
          <p:cNvPr id="105" name="Text"/>
          <p:cNvSpPr/>
          <p:nvPr/>
        </p:nvSpPr>
        <p:spPr>
          <a:xfrm>
            <a:off x="2804160" y="2519200"/>
            <a:ext cx="10058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1A1A1A"/>
                </a:solidFill>
                <a:latin typeface="Arial"/>
                <a:cs typeface="Arial"/>
              </a:rPr>
              <a:t>fluids</a:t>
            </a:r>
          </a:p>
        </p:txBody>
      </p:sp>
      <p:sp>
        <p:nvSpPr>
          <p:cNvPr id="106" name="Text"/>
          <p:cNvSpPr/>
          <p:nvPr/>
        </p:nvSpPr>
        <p:spPr>
          <a:xfrm>
            <a:off x="472440" y="3982240"/>
            <a:ext cx="3749040" cy="41148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i="1" dirty="0">
                <a:solidFill>
                  <a:srgbClr val="1A1A1A"/>
                </a:solidFill>
                <a:latin typeface="Arial"/>
                <a:cs typeface="Arial"/>
              </a:rPr>
              <a:t>septic shock AND fluids</a:t>
            </a:r>
          </a:p>
        </p:txBody>
      </p:sp>
      <p:sp>
        <p:nvSpPr>
          <p:cNvPr id="107" name="Text"/>
          <p:cNvSpPr/>
          <p:nvPr/>
        </p:nvSpPr>
        <p:spPr>
          <a:xfrm>
            <a:off x="472440" y="4393720"/>
            <a:ext cx="374904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0D7377"/>
                </a:solidFill>
                <a:latin typeface="Arial"/>
                <a:cs typeface="Arial"/>
              </a:rPr>
              <a:t>both terms: fewer hits</a:t>
            </a:r>
          </a:p>
        </p:txBody>
      </p:sp>
      <p:sp>
        <p:nvSpPr>
          <p:cNvPr id="108" name="Text"/>
          <p:cNvSpPr/>
          <p:nvPr/>
        </p:nvSpPr>
        <p:spPr>
          <a:xfrm>
            <a:off x="4221480" y="1376200"/>
            <a:ext cx="374904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400" b="1" dirty="0">
                <a:solidFill>
                  <a:srgbClr val="055F56"/>
                </a:solidFill>
                <a:latin typeface="Arial"/>
                <a:cs typeface="Arial"/>
              </a:rPr>
              <a:t>OR</a:t>
            </a:r>
          </a:p>
        </p:txBody>
      </p:sp>
      <p:sp>
        <p:nvSpPr>
          <p:cNvPr id="109" name="Ellipse"/>
          <p:cNvSpPr/>
          <p:nvPr/>
        </p:nvSpPr>
        <p:spPr>
          <a:xfrm>
            <a:off x="4678680" y="1970560"/>
            <a:ext cx="1828800" cy="1828800"/>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10" name="Ellipse"/>
          <p:cNvSpPr/>
          <p:nvPr/>
        </p:nvSpPr>
        <p:spPr>
          <a:xfrm>
            <a:off x="5684520" y="1970560"/>
            <a:ext cx="1828800" cy="1828800"/>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11" name="Outline"/>
          <p:cNvSpPr/>
          <p:nvPr/>
        </p:nvSpPr>
        <p:spPr>
          <a:xfrm>
            <a:off x="4678680" y="1970560"/>
            <a:ext cx="1828800" cy="1828800"/>
          </a:xfrm>
          <a:prstGeom prst="ellipse">
            <a:avLst/>
          </a:prstGeom>
          <a:noFill/>
          <a:ln w="28575">
            <a:solidFill>
              <a:srgbClr val="0B376C"/>
            </a:solidFill>
          </a:ln>
        </p:spPr>
        <p:txBody>
          <a:bodyPr wrap="square" lIns="54864" tIns="54864" rIns="54864" bIns="54864" rtlCol="0" anchor="ctr">
            <a:noAutofit/>
          </a:bodyPr>
          <a:lstStyle/>
          <a:p>
            <a:endParaRPr lang="en-US"/>
          </a:p>
        </p:txBody>
      </p:sp>
      <p:sp>
        <p:nvSpPr>
          <p:cNvPr id="112" name="Outline"/>
          <p:cNvSpPr/>
          <p:nvPr/>
        </p:nvSpPr>
        <p:spPr>
          <a:xfrm>
            <a:off x="5684520" y="1970560"/>
            <a:ext cx="1828800" cy="1828800"/>
          </a:xfrm>
          <a:prstGeom prst="ellipse">
            <a:avLst/>
          </a:prstGeom>
          <a:noFill/>
          <a:ln w="28575">
            <a:solidFill>
              <a:srgbClr val="0B376C"/>
            </a:solidFill>
          </a:ln>
        </p:spPr>
        <p:txBody>
          <a:bodyPr wrap="square" lIns="54864" tIns="54864" rIns="54864" bIns="54864" rtlCol="0" anchor="ctr">
            <a:noAutofit/>
          </a:bodyPr>
          <a:lstStyle/>
          <a:p>
            <a:endParaRPr lang="en-US"/>
          </a:p>
        </p:txBody>
      </p:sp>
      <p:sp>
        <p:nvSpPr>
          <p:cNvPr id="113" name="Text"/>
          <p:cNvSpPr/>
          <p:nvPr/>
        </p:nvSpPr>
        <p:spPr>
          <a:xfrm>
            <a:off x="4632960" y="2519200"/>
            <a:ext cx="10058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FFFFFF"/>
                </a:solidFill>
                <a:latin typeface="Arial"/>
                <a:cs typeface="Arial"/>
              </a:rPr>
              <a:t>septic</a:t>
            </a:r>
          </a:p>
          <a:p>
            <a:pPr marL="0" indent="0" algn="ctr">
              <a:lnSpc>
                <a:spcPct val="100000"/>
              </a:lnSpc>
              <a:buNone/>
            </a:pPr>
            <a:r>
              <a:rPr lang="en-US" sz="1500" b="1" dirty="0">
                <a:solidFill>
                  <a:srgbClr val="FFFFFF"/>
                </a:solidFill>
                <a:latin typeface="Arial"/>
                <a:cs typeface="Arial"/>
              </a:rPr>
              <a:t>shock</a:t>
            </a:r>
          </a:p>
        </p:txBody>
      </p:sp>
      <p:sp>
        <p:nvSpPr>
          <p:cNvPr id="114" name="Text"/>
          <p:cNvSpPr/>
          <p:nvPr/>
        </p:nvSpPr>
        <p:spPr>
          <a:xfrm>
            <a:off x="6553200" y="2519200"/>
            <a:ext cx="10058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FFFFFF"/>
                </a:solidFill>
                <a:latin typeface="Arial"/>
                <a:cs typeface="Arial"/>
              </a:rPr>
              <a:t>sepsis</a:t>
            </a:r>
          </a:p>
        </p:txBody>
      </p:sp>
      <p:sp>
        <p:nvSpPr>
          <p:cNvPr id="115" name="Text"/>
          <p:cNvSpPr/>
          <p:nvPr/>
        </p:nvSpPr>
        <p:spPr>
          <a:xfrm>
            <a:off x="4221480" y="3982240"/>
            <a:ext cx="3749040" cy="41148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i="1" dirty="0">
                <a:solidFill>
                  <a:srgbClr val="1A1A1A"/>
                </a:solidFill>
                <a:latin typeface="Arial"/>
                <a:cs typeface="Arial"/>
              </a:rPr>
              <a:t>septic shock OR sepsis</a:t>
            </a:r>
          </a:p>
        </p:txBody>
      </p:sp>
      <p:sp>
        <p:nvSpPr>
          <p:cNvPr id="116" name="Text"/>
          <p:cNvSpPr/>
          <p:nvPr/>
        </p:nvSpPr>
        <p:spPr>
          <a:xfrm>
            <a:off x="4221480" y="4393720"/>
            <a:ext cx="374904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0D7377"/>
                </a:solidFill>
                <a:latin typeface="Arial"/>
                <a:cs typeface="Arial"/>
              </a:rPr>
              <a:t>either term: more hits</a:t>
            </a:r>
          </a:p>
        </p:txBody>
      </p:sp>
      <p:sp>
        <p:nvSpPr>
          <p:cNvPr id="117" name="Text"/>
          <p:cNvSpPr/>
          <p:nvPr/>
        </p:nvSpPr>
        <p:spPr>
          <a:xfrm>
            <a:off x="7970520" y="1376200"/>
            <a:ext cx="374904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2400" b="1" dirty="0">
                <a:solidFill>
                  <a:srgbClr val="055F56"/>
                </a:solidFill>
                <a:latin typeface="Arial"/>
                <a:cs typeface="Arial"/>
              </a:rPr>
              <a:t>NOT</a:t>
            </a:r>
          </a:p>
        </p:txBody>
      </p:sp>
      <p:sp>
        <p:nvSpPr>
          <p:cNvPr id="118" name="Ellipse"/>
          <p:cNvSpPr/>
          <p:nvPr/>
        </p:nvSpPr>
        <p:spPr>
          <a:xfrm>
            <a:off x="8427720" y="1970560"/>
            <a:ext cx="1828800" cy="1828800"/>
          </a:xfrm>
          <a:prstGeom prst="ellipse">
            <a:avLst/>
          </a:prstGeom>
          <a:solidFill>
            <a:srgbClr val="0D7377"/>
          </a:solidFill>
          <a:ln>
            <a:noFill/>
          </a:ln>
        </p:spPr>
        <p:txBody>
          <a:bodyPr wrap="square" lIns="54864" tIns="54864" rIns="54864" bIns="54864" rtlCol="0" anchor="ctr">
            <a:noAutofit/>
          </a:bodyPr>
          <a:lstStyle/>
          <a:p>
            <a:endParaRPr lang="en-US"/>
          </a:p>
        </p:txBody>
      </p:sp>
      <p:sp>
        <p:nvSpPr>
          <p:cNvPr id="119" name="Ellipse"/>
          <p:cNvSpPr/>
          <p:nvPr/>
        </p:nvSpPr>
        <p:spPr>
          <a:xfrm>
            <a:off x="9433560" y="1970560"/>
            <a:ext cx="1828800" cy="1828800"/>
          </a:xfrm>
          <a:prstGeom prst="ellipse">
            <a:avLst/>
          </a:prstGeom>
          <a:solidFill>
            <a:srgbClr val="FFFFFF"/>
          </a:solidFill>
          <a:ln>
            <a:noFill/>
          </a:ln>
        </p:spPr>
        <p:txBody>
          <a:bodyPr wrap="square" lIns="54864" tIns="54864" rIns="54864" bIns="54864" rtlCol="0" anchor="ctr">
            <a:noAutofit/>
          </a:bodyPr>
          <a:lstStyle/>
          <a:p>
            <a:endParaRPr lang="en-US"/>
          </a:p>
        </p:txBody>
      </p:sp>
      <p:sp>
        <p:nvSpPr>
          <p:cNvPr id="120" name="Outline"/>
          <p:cNvSpPr/>
          <p:nvPr/>
        </p:nvSpPr>
        <p:spPr>
          <a:xfrm>
            <a:off x="8427720" y="1970560"/>
            <a:ext cx="1828800" cy="1828800"/>
          </a:xfrm>
          <a:prstGeom prst="ellipse">
            <a:avLst/>
          </a:prstGeom>
          <a:noFill/>
          <a:ln w="28575">
            <a:solidFill>
              <a:srgbClr val="0B376C"/>
            </a:solidFill>
          </a:ln>
        </p:spPr>
        <p:txBody>
          <a:bodyPr wrap="square" lIns="54864" tIns="54864" rIns="54864" bIns="54864" rtlCol="0" anchor="ctr">
            <a:noAutofit/>
          </a:bodyPr>
          <a:lstStyle/>
          <a:p>
            <a:endParaRPr lang="en-US"/>
          </a:p>
        </p:txBody>
      </p:sp>
      <p:sp>
        <p:nvSpPr>
          <p:cNvPr id="121" name="Outline"/>
          <p:cNvSpPr/>
          <p:nvPr/>
        </p:nvSpPr>
        <p:spPr>
          <a:xfrm>
            <a:off x="9433560" y="1970560"/>
            <a:ext cx="1828800" cy="1828800"/>
          </a:xfrm>
          <a:prstGeom prst="ellipse">
            <a:avLst/>
          </a:prstGeom>
          <a:noFill/>
          <a:ln w="28575">
            <a:solidFill>
              <a:srgbClr val="0B376C"/>
            </a:solidFill>
          </a:ln>
        </p:spPr>
        <p:txBody>
          <a:bodyPr wrap="square" lIns="54864" tIns="54864" rIns="54864" bIns="54864" rtlCol="0" anchor="ctr">
            <a:noAutofit/>
          </a:bodyPr>
          <a:lstStyle/>
          <a:p>
            <a:endParaRPr lang="en-US"/>
          </a:p>
        </p:txBody>
      </p:sp>
      <p:sp>
        <p:nvSpPr>
          <p:cNvPr id="122" name="Text"/>
          <p:cNvSpPr/>
          <p:nvPr/>
        </p:nvSpPr>
        <p:spPr>
          <a:xfrm>
            <a:off x="8382000" y="2519200"/>
            <a:ext cx="10058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FFFFFF"/>
                </a:solidFill>
                <a:latin typeface="Arial"/>
                <a:cs typeface="Arial"/>
              </a:rPr>
              <a:t>sepsis</a:t>
            </a:r>
          </a:p>
        </p:txBody>
      </p:sp>
      <p:sp>
        <p:nvSpPr>
          <p:cNvPr id="123" name="Text"/>
          <p:cNvSpPr/>
          <p:nvPr/>
        </p:nvSpPr>
        <p:spPr>
          <a:xfrm>
            <a:off x="10302240" y="2519200"/>
            <a:ext cx="1005840" cy="73152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1A1A1A"/>
                </a:solidFill>
                <a:latin typeface="Arial"/>
                <a:cs typeface="Arial"/>
              </a:rPr>
              <a:t>neonatal</a:t>
            </a:r>
          </a:p>
        </p:txBody>
      </p:sp>
      <p:sp>
        <p:nvSpPr>
          <p:cNvPr id="124" name="Text"/>
          <p:cNvSpPr/>
          <p:nvPr/>
        </p:nvSpPr>
        <p:spPr>
          <a:xfrm>
            <a:off x="7970520" y="3982240"/>
            <a:ext cx="3749040" cy="41148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i="1" dirty="0">
                <a:solidFill>
                  <a:srgbClr val="1A1A1A"/>
                </a:solidFill>
                <a:latin typeface="Arial"/>
                <a:cs typeface="Arial"/>
              </a:rPr>
              <a:t>sepsis NOT neonatal</a:t>
            </a:r>
          </a:p>
        </p:txBody>
      </p:sp>
      <p:sp>
        <p:nvSpPr>
          <p:cNvPr id="125" name="Text"/>
          <p:cNvSpPr/>
          <p:nvPr/>
        </p:nvSpPr>
        <p:spPr>
          <a:xfrm>
            <a:off x="7970520" y="4393720"/>
            <a:ext cx="374904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0D7377"/>
                </a:solidFill>
                <a:latin typeface="Arial"/>
                <a:cs typeface="Arial"/>
              </a:rPr>
              <a:t>removes papers: use with care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AND narrows, OR widens, NOT removes. Use NOT sparingly.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your understanding: AND, OR or NOT?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2 min</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You want papers that mention both septic shock and fluid restriction: which operator?</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You want papers using either 'restrictive' or 'conservative' fluids: which operator?</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Your search found 40,000 hits. Will adding a third AND block give more or fewer?</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Why is 'sepsis NOT children' risky?</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Answers in the chat (or the poll)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MeSH: one label for many words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MeSH (Medical Subject Headings): the fixed list of subject labels that PubMed gives every paper.</a:t>
            </a:r>
          </a:p>
        </p:txBody>
      </p:sp>
      <p:sp>
        <p:nvSpPr>
          <p:cNvPr id="100" name="Text"/>
          <p:cNvSpPr/>
          <p:nvPr/>
        </p:nvSpPr>
        <p:spPr>
          <a:xfrm>
            <a:off x="472440" y="1779080"/>
            <a:ext cx="274320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8A99A3"/>
                </a:solidFill>
                <a:latin typeface="Arial"/>
                <a:cs typeface="Arial"/>
              </a:rPr>
              <a:t>How authors write it</a:t>
            </a:r>
          </a:p>
        </p:txBody>
      </p:sp>
      <p:sp>
        <p:nvSpPr>
          <p:cNvPr id="101" name="Box"/>
          <p:cNvSpPr/>
          <p:nvPr/>
        </p:nvSpPr>
        <p:spPr>
          <a:xfrm>
            <a:off x="472440" y="2236280"/>
            <a:ext cx="2743200" cy="457200"/>
          </a:xfrm>
          <a:prstGeom prst="roundRect">
            <a:avLst>
              <a:gd name="adj" fmla="val 12000"/>
            </a:avLst>
          </a:prstGeom>
          <a:solidFill>
            <a:srgbClr val="FFF4D6"/>
          </a:solidFill>
          <a:ln w="19050">
            <a:solidFill>
              <a:srgbClr val="E3B23C"/>
            </a:solidFill>
          </a:ln>
        </p:spPr>
        <p:txBody>
          <a:bodyPr wrap="square" lIns="54864" tIns="54864" rIns="54864" bIns="54864" rtlCol="0" anchor="ctr">
            <a:noAutofit/>
          </a:bodyPr>
          <a:lstStyle/>
          <a:p>
            <a:pPr marL="0" indent="0" algn="ctr">
              <a:lnSpc>
                <a:spcPct val="100000"/>
              </a:lnSpc>
              <a:buNone/>
            </a:pPr>
            <a:r>
              <a:rPr lang="en-US" sz="1500" dirty="0">
                <a:solidFill>
                  <a:srgbClr val="1A1A1A"/>
                </a:solidFill>
                <a:latin typeface="Arial"/>
                <a:cs typeface="Arial"/>
              </a:rPr>
              <a:t>septic shock</a:t>
            </a:r>
          </a:p>
        </p:txBody>
      </p:sp>
      <p:sp>
        <p:nvSpPr>
          <p:cNvPr id="102" name="Box"/>
          <p:cNvSpPr/>
          <p:nvPr/>
        </p:nvSpPr>
        <p:spPr>
          <a:xfrm>
            <a:off x="472440" y="2803208"/>
            <a:ext cx="2743200" cy="457200"/>
          </a:xfrm>
          <a:prstGeom prst="roundRect">
            <a:avLst>
              <a:gd name="adj" fmla="val 12000"/>
            </a:avLst>
          </a:prstGeom>
          <a:solidFill>
            <a:srgbClr val="FFF4D6"/>
          </a:solidFill>
          <a:ln w="19050">
            <a:solidFill>
              <a:srgbClr val="E3B23C"/>
            </a:solidFill>
          </a:ln>
        </p:spPr>
        <p:txBody>
          <a:bodyPr wrap="square" lIns="54864" tIns="54864" rIns="54864" bIns="54864" rtlCol="0" anchor="ctr">
            <a:noAutofit/>
          </a:bodyPr>
          <a:lstStyle/>
          <a:p>
            <a:pPr marL="0" indent="0" algn="ctr">
              <a:lnSpc>
                <a:spcPct val="100000"/>
              </a:lnSpc>
              <a:buNone/>
            </a:pPr>
            <a:r>
              <a:rPr lang="en-US" sz="1500" dirty="0">
                <a:solidFill>
                  <a:srgbClr val="1A1A1A"/>
                </a:solidFill>
                <a:latin typeface="Arial"/>
                <a:cs typeface="Arial"/>
              </a:rPr>
              <a:t>sepsis with shock</a:t>
            </a:r>
          </a:p>
        </p:txBody>
      </p:sp>
      <p:sp>
        <p:nvSpPr>
          <p:cNvPr id="103" name="Box"/>
          <p:cNvSpPr/>
          <p:nvPr/>
        </p:nvSpPr>
        <p:spPr>
          <a:xfrm>
            <a:off x="472440" y="3370136"/>
            <a:ext cx="2743200" cy="457200"/>
          </a:xfrm>
          <a:prstGeom prst="roundRect">
            <a:avLst>
              <a:gd name="adj" fmla="val 12000"/>
            </a:avLst>
          </a:prstGeom>
          <a:solidFill>
            <a:srgbClr val="FFF4D6"/>
          </a:solidFill>
          <a:ln w="19050">
            <a:solidFill>
              <a:srgbClr val="E3B23C"/>
            </a:solidFill>
          </a:ln>
        </p:spPr>
        <p:txBody>
          <a:bodyPr wrap="square" lIns="54864" tIns="54864" rIns="54864" bIns="54864" rtlCol="0" anchor="ctr">
            <a:noAutofit/>
          </a:bodyPr>
          <a:lstStyle/>
          <a:p>
            <a:pPr marL="0" indent="0" algn="ctr">
              <a:lnSpc>
                <a:spcPct val="100000"/>
              </a:lnSpc>
              <a:buNone/>
            </a:pPr>
            <a:r>
              <a:rPr lang="en-US" sz="1500" dirty="0">
                <a:solidFill>
                  <a:srgbClr val="1A1A1A"/>
                </a:solidFill>
                <a:latin typeface="Arial"/>
                <a:cs typeface="Arial"/>
              </a:rPr>
              <a:t>vasopressor-dependent sepsis</a:t>
            </a:r>
          </a:p>
        </p:txBody>
      </p:sp>
      <p:sp>
        <p:nvSpPr>
          <p:cNvPr id="104" name="Box"/>
          <p:cNvSpPr/>
          <p:nvPr/>
        </p:nvSpPr>
        <p:spPr>
          <a:xfrm>
            <a:off x="472440" y="3937064"/>
            <a:ext cx="2743200" cy="457200"/>
          </a:xfrm>
          <a:prstGeom prst="roundRect">
            <a:avLst>
              <a:gd name="adj" fmla="val 12000"/>
            </a:avLst>
          </a:prstGeom>
          <a:solidFill>
            <a:srgbClr val="FFF4D6"/>
          </a:solidFill>
          <a:ln w="19050">
            <a:solidFill>
              <a:srgbClr val="E3B23C"/>
            </a:solidFill>
          </a:ln>
        </p:spPr>
        <p:txBody>
          <a:bodyPr wrap="square" lIns="54864" tIns="54864" rIns="54864" bIns="54864" rtlCol="0" anchor="ctr">
            <a:noAutofit/>
          </a:bodyPr>
          <a:lstStyle/>
          <a:p>
            <a:pPr marL="0" indent="0" algn="ctr">
              <a:lnSpc>
                <a:spcPct val="100000"/>
              </a:lnSpc>
              <a:buNone/>
            </a:pPr>
            <a:r>
              <a:rPr lang="en-US" sz="1500" dirty="0">
                <a:solidFill>
                  <a:srgbClr val="1A1A1A"/>
                </a:solidFill>
                <a:latin typeface="Arial"/>
                <a:cs typeface="Arial"/>
              </a:rPr>
              <a:t>refractory septic shock</a:t>
            </a:r>
          </a:p>
        </p:txBody>
      </p:sp>
      <p:sp>
        <p:nvSpPr>
          <p:cNvPr id="105" name="Box"/>
          <p:cNvSpPr/>
          <p:nvPr/>
        </p:nvSpPr>
        <p:spPr>
          <a:xfrm>
            <a:off x="4130040" y="2739200"/>
            <a:ext cx="2377440" cy="868680"/>
          </a:xfrm>
          <a:prstGeom prst="roundRect">
            <a:avLst>
              <a:gd name="adj" fmla="val 12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MeSH heading</a:t>
            </a:r>
          </a:p>
          <a:p>
            <a:pPr marL="0" indent="0" algn="ctr">
              <a:lnSpc>
                <a:spcPct val="100000"/>
              </a:lnSpc>
              <a:spcBef>
                <a:spcPts val="100"/>
              </a:spcBef>
              <a:buNone/>
            </a:pPr>
            <a:r>
              <a:rPr lang="en-US" sz="1600" b="1" dirty="0">
                <a:solidFill>
                  <a:srgbClr val="FFFFFF"/>
                </a:solidFill>
                <a:latin typeface="Arial"/>
                <a:cs typeface="Arial"/>
              </a:rPr>
              <a:t>"Shock, Septic"</a:t>
            </a:r>
          </a:p>
        </p:txBody>
      </p:sp>
      <p:cxnSp>
        <p:nvCxnSpPr>
          <p:cNvPr id="106" name="Arrow"/>
          <p:cNvCxnSpPr/>
          <p:nvPr/>
        </p:nvCxnSpPr>
        <p:spPr>
          <a:xfrm>
            <a:off x="3000756" y="2700789"/>
            <a:ext cx="1093446" cy="223005"/>
          </a:xfrm>
          <a:prstGeom prst="straightConnector1">
            <a:avLst/>
          </a:prstGeom>
          <a:ln w="25400" cap="rnd">
            <a:solidFill>
              <a:srgbClr val="E3B23C"/>
            </a:solidFill>
            <a:round/>
            <a:tailEnd type="triangle" w="med" len="med"/>
          </a:ln>
        </p:spPr>
      </p:cxnSp>
      <p:cxnSp>
        <p:nvCxnSpPr>
          <p:cNvPr id="107" name="Arrow"/>
          <p:cNvCxnSpPr/>
          <p:nvPr/>
        </p:nvCxnSpPr>
        <p:spPr>
          <a:xfrm>
            <a:off x="3252186" y="3089246"/>
            <a:ext cx="841309" cy="34317"/>
          </a:xfrm>
          <a:prstGeom prst="straightConnector1">
            <a:avLst/>
          </a:prstGeom>
          <a:ln w="25400" cap="rnd">
            <a:solidFill>
              <a:srgbClr val="E3B23C"/>
            </a:solidFill>
            <a:round/>
            <a:tailEnd type="triangle" w="med" len="med"/>
          </a:ln>
        </p:spPr>
      </p:cxnSp>
      <p:cxnSp>
        <p:nvCxnSpPr>
          <p:cNvPr id="108" name="Arrow"/>
          <p:cNvCxnSpPr/>
          <p:nvPr/>
        </p:nvCxnSpPr>
        <p:spPr>
          <a:xfrm flipV="1">
            <a:off x="3251945" y="3323444"/>
            <a:ext cx="841790" cy="103008"/>
          </a:xfrm>
          <a:prstGeom prst="straightConnector1">
            <a:avLst/>
          </a:prstGeom>
          <a:ln w="25400" cap="rnd">
            <a:solidFill>
              <a:srgbClr val="E3B23C"/>
            </a:solidFill>
            <a:round/>
            <a:tailEnd type="triangle" w="med" len="med"/>
          </a:ln>
        </p:spPr>
      </p:cxnSp>
      <p:cxnSp>
        <p:nvCxnSpPr>
          <p:cNvPr id="109" name="Arrow"/>
          <p:cNvCxnSpPr/>
          <p:nvPr/>
        </p:nvCxnSpPr>
        <p:spPr>
          <a:xfrm flipV="1">
            <a:off x="2679837" y="3522993"/>
            <a:ext cx="1415032" cy="404029"/>
          </a:xfrm>
          <a:prstGeom prst="straightConnector1">
            <a:avLst/>
          </a:prstGeom>
          <a:ln w="25400" cap="rnd">
            <a:solidFill>
              <a:srgbClr val="E3B23C"/>
            </a:solidFill>
            <a:round/>
            <a:tailEnd type="triangle" w="med" len="med"/>
          </a:ln>
        </p:spPr>
      </p:cxnSp>
      <p:sp>
        <p:nvSpPr>
          <p:cNvPr id="110" name="Text"/>
          <p:cNvSpPr/>
          <p:nvPr/>
        </p:nvSpPr>
        <p:spPr>
          <a:xfrm>
            <a:off x="3947160" y="3653600"/>
            <a:ext cx="2743200" cy="64008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i="1" dirty="0">
                <a:solidFill>
                  <a:srgbClr val="8A99A3"/>
                </a:solidFill>
                <a:latin typeface="Arial"/>
                <a:cs typeface="Arial"/>
              </a:rPr>
              <a:t>one label for all these words</a:t>
            </a:r>
          </a:p>
        </p:txBody>
      </p:sp>
      <p:sp>
        <p:nvSpPr>
          <p:cNvPr id="111" name="Text"/>
          <p:cNvSpPr/>
          <p:nvPr/>
        </p:nvSpPr>
        <p:spPr>
          <a:xfrm>
            <a:off x="472440" y="4568000"/>
            <a:ext cx="621792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500" b="1" dirty="0">
                <a:solidFill>
                  <a:srgbClr val="D9822B"/>
                </a:solidFill>
                <a:latin typeface="Arial"/>
                <a:cs typeface="Arial"/>
              </a:rPr>
              <a:t>New papers may not have MeSH yet: add free-text words [tiab]</a:t>
            </a:r>
          </a:p>
        </p:txBody>
      </p:sp>
      <p:sp>
        <p:nvSpPr>
          <p:cNvPr id="112" name="Text"/>
          <p:cNvSpPr/>
          <p:nvPr/>
        </p:nvSpPr>
        <p:spPr>
          <a:xfrm>
            <a:off x="7421880" y="1779080"/>
            <a:ext cx="4297680" cy="36576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b="1" dirty="0">
                <a:solidFill>
                  <a:srgbClr val="8A99A3"/>
                </a:solidFill>
                <a:latin typeface="Arial"/>
                <a:cs typeface="Arial"/>
              </a:rPr>
              <a:t>The MeSH tree (broad to narrow)</a:t>
            </a:r>
          </a:p>
        </p:txBody>
      </p:sp>
      <p:sp>
        <p:nvSpPr>
          <p:cNvPr id="113" name="Box"/>
          <p:cNvSpPr/>
          <p:nvPr/>
        </p:nvSpPr>
        <p:spPr>
          <a:xfrm>
            <a:off x="7421880" y="2236280"/>
            <a:ext cx="2377440" cy="457200"/>
          </a:xfrm>
          <a:prstGeom prst="roundRect">
            <a:avLst>
              <a:gd name="adj" fmla="val 12000"/>
            </a:avLst>
          </a:prstGeom>
          <a:solidFill>
            <a:srgbClr val="5FA39B"/>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Infections</a:t>
            </a:r>
          </a:p>
        </p:txBody>
      </p:sp>
      <p:sp>
        <p:nvSpPr>
          <p:cNvPr id="114" name="Box"/>
          <p:cNvSpPr/>
          <p:nvPr/>
        </p:nvSpPr>
        <p:spPr>
          <a:xfrm>
            <a:off x="7879080" y="2830640"/>
            <a:ext cx="2377440" cy="457200"/>
          </a:xfrm>
          <a:prstGeom prst="roundRect">
            <a:avLst>
              <a:gd name="adj" fmla="val 12000"/>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Sepsis</a:t>
            </a:r>
          </a:p>
        </p:txBody>
      </p:sp>
      <p:sp>
        <p:nvSpPr>
          <p:cNvPr id="115" name="Box"/>
          <p:cNvSpPr/>
          <p:nvPr/>
        </p:nvSpPr>
        <p:spPr>
          <a:xfrm>
            <a:off x="8336280" y="3425000"/>
            <a:ext cx="2377440" cy="457200"/>
          </a:xfrm>
          <a:prstGeom prst="roundRect">
            <a:avLst>
              <a:gd name="adj" fmla="val 12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600" b="1" dirty="0">
                <a:solidFill>
                  <a:srgbClr val="FFFFFF"/>
                </a:solidFill>
                <a:latin typeface="Arial"/>
                <a:cs typeface="Arial"/>
              </a:rPr>
              <a:t>Shock, Septic</a:t>
            </a:r>
          </a:p>
        </p:txBody>
      </p:sp>
      <p:cxnSp>
        <p:nvCxnSpPr>
          <p:cNvPr id="116" name="Line"/>
          <p:cNvCxnSpPr/>
          <p:nvPr/>
        </p:nvCxnSpPr>
        <p:spPr>
          <a:xfrm>
            <a:off x="7650480" y="2693480"/>
            <a:ext cx="0" cy="365760"/>
          </a:xfrm>
          <a:prstGeom prst="straightConnector1">
            <a:avLst/>
          </a:prstGeom>
          <a:ln w="25400" cap="rnd">
            <a:solidFill>
              <a:srgbClr val="8A99A3"/>
            </a:solidFill>
            <a:round/>
          </a:ln>
        </p:spPr>
      </p:cxnSp>
      <p:cxnSp>
        <p:nvCxnSpPr>
          <p:cNvPr id="117" name="Line"/>
          <p:cNvCxnSpPr/>
          <p:nvPr/>
        </p:nvCxnSpPr>
        <p:spPr>
          <a:xfrm>
            <a:off x="7650480" y="3059240"/>
            <a:ext cx="228600" cy="0"/>
          </a:xfrm>
          <a:prstGeom prst="straightConnector1">
            <a:avLst/>
          </a:prstGeom>
          <a:ln w="25400" cap="rnd">
            <a:solidFill>
              <a:srgbClr val="8A99A3"/>
            </a:solidFill>
            <a:round/>
          </a:ln>
        </p:spPr>
      </p:cxnSp>
      <p:cxnSp>
        <p:nvCxnSpPr>
          <p:cNvPr id="118" name="Line"/>
          <p:cNvCxnSpPr/>
          <p:nvPr/>
        </p:nvCxnSpPr>
        <p:spPr>
          <a:xfrm>
            <a:off x="8107680" y="3287840"/>
            <a:ext cx="0" cy="365760"/>
          </a:xfrm>
          <a:prstGeom prst="straightConnector1">
            <a:avLst/>
          </a:prstGeom>
          <a:ln w="25400" cap="rnd">
            <a:solidFill>
              <a:srgbClr val="8A99A3"/>
            </a:solidFill>
            <a:round/>
          </a:ln>
        </p:spPr>
      </p:cxnSp>
      <p:cxnSp>
        <p:nvCxnSpPr>
          <p:cNvPr id="119" name="Line"/>
          <p:cNvCxnSpPr/>
          <p:nvPr/>
        </p:nvCxnSpPr>
        <p:spPr>
          <a:xfrm>
            <a:off x="8107680" y="3653600"/>
            <a:ext cx="228600" cy="0"/>
          </a:xfrm>
          <a:prstGeom prst="straightConnector1">
            <a:avLst/>
          </a:prstGeom>
          <a:ln w="25400" cap="rnd">
            <a:solidFill>
              <a:srgbClr val="8A99A3"/>
            </a:solidFill>
            <a:round/>
          </a:ln>
        </p:spPr>
      </p:cxnSp>
      <p:cxnSp>
        <p:nvCxnSpPr>
          <p:cNvPr id="120" name="Arrow"/>
          <p:cNvCxnSpPr/>
          <p:nvPr/>
        </p:nvCxnSpPr>
        <p:spPr>
          <a:xfrm>
            <a:off x="6553200" y="3379280"/>
            <a:ext cx="1737360" cy="274320"/>
          </a:xfrm>
          <a:prstGeom prst="straightConnector1">
            <a:avLst/>
          </a:prstGeom>
          <a:ln w="31750" cap="rnd">
            <a:solidFill>
              <a:srgbClr val="0D7377"/>
            </a:solidFill>
            <a:round/>
            <a:tailEnd type="triangle" w="med" len="med"/>
          </a:ln>
        </p:spPr>
      </p:cxnSp>
      <p:sp>
        <p:nvSpPr>
          <p:cNvPr id="121" name="Box"/>
          <p:cNvSpPr/>
          <p:nvPr/>
        </p:nvSpPr>
        <p:spPr>
          <a:xfrm>
            <a:off x="7421880" y="4156520"/>
            <a:ext cx="4297680" cy="868680"/>
          </a:xfrm>
          <a:prstGeom prst="roundRect">
            <a:avLst>
              <a:gd name="adj" fmla="val 8000"/>
            </a:avLst>
          </a:prstGeom>
          <a:solidFill>
            <a:srgbClr val="EAF2F5"/>
          </a:solidFill>
          <a:ln>
            <a:noFill/>
          </a:ln>
        </p:spPr>
        <p:txBody>
          <a:bodyPr wrap="square" lIns="91440" tIns="91440" rIns="91440" bIns="91440" rtlCol="0" anchor="ctr">
            <a:noAutofit/>
          </a:bodyPr>
          <a:lstStyle/>
          <a:p>
            <a:pPr marL="0" indent="0" algn="ctr">
              <a:lnSpc>
                <a:spcPct val="100000"/>
              </a:lnSpc>
              <a:buNone/>
            </a:pPr>
            <a:r>
              <a:rPr lang="en-US" sz="1500" dirty="0">
                <a:solidFill>
                  <a:srgbClr val="1A1A1A"/>
                </a:solidFill>
                <a:latin typeface="Arial"/>
                <a:cs typeface="Arial"/>
              </a:rPr>
              <a:t>Searching Sepsis[MeSH] also finds the papers filed under Shock, Septic</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Search the MeSH term AND the free-text words, joined with OR.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How to find the right MeSH term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25219"/>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MeSH Database</a:t>
            </a:r>
          </a:p>
        </p:txBody>
      </p:sp>
      <p:sp>
        <p:nvSpPr>
          <p:cNvPr id="71" name="CardBody"/>
          <p:cNvSpPr/>
          <p:nvPr/>
        </p:nvSpPr>
        <p:spPr>
          <a:xfrm>
            <a:off x="457200" y="2365219"/>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PubMed home page, under Explore</a:t>
            </a:r>
          </a:p>
          <a:p>
            <a:pPr marL="0" indent="0" algn="ctr">
              <a:lnSpc>
                <a:spcPct val="104000"/>
              </a:lnSpc>
              <a:spcBef>
                <a:spcPts val="400"/>
              </a:spcBef>
              <a:buNone/>
            </a:pPr>
            <a:r>
              <a:rPr lang="en-US" sz="1750" dirty="0">
                <a:solidFill>
                  <a:srgbClr val="000000"/>
                </a:solidFill>
                <a:latin typeface="Arial"/>
                <a:cs typeface="Arial"/>
              </a:rPr>
              <a:t>Type a word, e.g. bedsore</a:t>
            </a:r>
          </a:p>
          <a:p>
            <a:pPr marL="0" indent="0" algn="ctr">
              <a:lnSpc>
                <a:spcPct val="104000"/>
              </a:lnSpc>
              <a:spcBef>
                <a:spcPts val="400"/>
              </a:spcBef>
              <a:buNone/>
            </a:pPr>
            <a:r>
              <a:rPr lang="en-US" sz="1750" dirty="0">
                <a:solidFill>
                  <a:srgbClr val="000000"/>
                </a:solidFill>
                <a:latin typeface="Arial"/>
                <a:cs typeface="Arial"/>
              </a:rPr>
              <a:t>It shows the heading: Pressure Ulcer</a:t>
            </a:r>
          </a:p>
        </p:txBody>
      </p:sp>
      <p:sp>
        <p:nvSpPr>
          <p:cNvPr id="72" name="CardHead"/>
          <p:cNvSpPr/>
          <p:nvPr/>
        </p:nvSpPr>
        <p:spPr>
          <a:xfrm>
            <a:off x="4283066" y="1725219"/>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 paper you trust</a:t>
            </a:r>
          </a:p>
        </p:txBody>
      </p:sp>
      <p:sp>
        <p:nvSpPr>
          <p:cNvPr id="73" name="CardBody"/>
          <p:cNvSpPr/>
          <p:nvPr/>
        </p:nvSpPr>
        <p:spPr>
          <a:xfrm>
            <a:off x="4283066" y="2365219"/>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Open a relevant paper in PubMed</a:t>
            </a:r>
          </a:p>
          <a:p>
            <a:pPr marL="0" indent="0" algn="ctr">
              <a:lnSpc>
                <a:spcPct val="104000"/>
              </a:lnSpc>
              <a:spcBef>
                <a:spcPts val="400"/>
              </a:spcBef>
              <a:buNone/>
            </a:pPr>
            <a:r>
              <a:rPr lang="en-US" sz="1750" dirty="0">
                <a:solidFill>
                  <a:srgbClr val="000000"/>
                </a:solidFill>
                <a:latin typeface="Arial"/>
                <a:cs typeface="Arial"/>
              </a:rPr>
              <a:t>Scroll down to 'MeSH terms'</a:t>
            </a:r>
          </a:p>
          <a:p>
            <a:pPr marL="0" indent="0" algn="ctr">
              <a:lnSpc>
                <a:spcPct val="104000"/>
              </a:lnSpc>
              <a:spcBef>
                <a:spcPts val="400"/>
              </a:spcBef>
              <a:buNone/>
            </a:pPr>
            <a:r>
              <a:rPr lang="en-US" sz="1750" dirty="0">
                <a:solidFill>
                  <a:srgbClr val="000000"/>
                </a:solidFill>
                <a:latin typeface="Arial"/>
                <a:cs typeface="Arial"/>
              </a:rPr>
              <a:t>Reuse the ones that fit</a:t>
            </a:r>
          </a:p>
        </p:txBody>
      </p:sp>
      <p:sp>
        <p:nvSpPr>
          <p:cNvPr id="74" name="CardHead"/>
          <p:cNvSpPr/>
          <p:nvPr/>
        </p:nvSpPr>
        <p:spPr>
          <a:xfrm>
            <a:off x="8108932" y="1725219"/>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Search details</a:t>
            </a:r>
          </a:p>
        </p:txBody>
      </p:sp>
      <p:sp>
        <p:nvSpPr>
          <p:cNvPr id="75" name="CardBody"/>
          <p:cNvSpPr/>
          <p:nvPr/>
        </p:nvSpPr>
        <p:spPr>
          <a:xfrm>
            <a:off x="8108932" y="2365219"/>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PubMed maps your words to MeSH</a:t>
            </a:r>
          </a:p>
          <a:p>
            <a:pPr marL="0" indent="0" algn="ctr">
              <a:lnSpc>
                <a:spcPct val="104000"/>
              </a:lnSpc>
              <a:spcBef>
                <a:spcPts val="400"/>
              </a:spcBef>
              <a:buNone/>
            </a:pPr>
            <a:r>
              <a:rPr lang="en-US" sz="1750" dirty="0">
                <a:solidFill>
                  <a:srgbClr val="000000"/>
                </a:solidFill>
                <a:latin typeface="Arial"/>
                <a:cs typeface="Arial"/>
              </a:rPr>
              <a:t>Check which heading it used</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Look up MeSH terms, do not guess them.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Four tools that sharpen a search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6490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"Quotes"</a:t>
            </a:r>
          </a:p>
        </p:txBody>
      </p:sp>
      <p:sp>
        <p:nvSpPr>
          <p:cNvPr id="71" name="CardBody"/>
          <p:cNvSpPr/>
          <p:nvPr/>
        </p:nvSpPr>
        <p:spPr>
          <a:xfrm>
            <a:off x="4572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"septic shock" = the exact phrase</a:t>
            </a:r>
          </a:p>
          <a:p>
            <a:pPr marL="0" indent="0" algn="ctr">
              <a:lnSpc>
                <a:spcPct val="104000"/>
              </a:lnSpc>
              <a:spcBef>
                <a:spcPts val="400"/>
              </a:spcBef>
              <a:buNone/>
            </a:pPr>
            <a:r>
              <a:rPr lang="en-US" sz="1600" dirty="0">
                <a:solidFill>
                  <a:srgbClr val="000000"/>
                </a:solidFill>
                <a:latin typeface="Arial"/>
                <a:cs typeface="Arial"/>
              </a:rPr>
              <a:t>Not two loose words</a:t>
            </a:r>
          </a:p>
        </p:txBody>
      </p:sp>
      <p:sp>
        <p:nvSpPr>
          <p:cNvPr id="72" name="CardHead"/>
          <p:cNvSpPr/>
          <p:nvPr/>
        </p:nvSpPr>
        <p:spPr>
          <a:xfrm>
            <a:off x="3326600" y="176490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Truncation *</a:t>
            </a:r>
          </a:p>
        </p:txBody>
      </p:sp>
      <p:sp>
        <p:nvSpPr>
          <p:cNvPr id="73" name="CardBody"/>
          <p:cNvSpPr/>
          <p:nvPr/>
        </p:nvSpPr>
        <p:spPr>
          <a:xfrm>
            <a:off x="33266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child* finds child, children, childhood</a:t>
            </a:r>
          </a:p>
          <a:p>
            <a:pPr marL="0" indent="0" algn="ctr">
              <a:lnSpc>
                <a:spcPct val="104000"/>
              </a:lnSpc>
              <a:spcBef>
                <a:spcPts val="400"/>
              </a:spcBef>
              <a:buNone/>
            </a:pPr>
            <a:r>
              <a:rPr lang="en-US" sz="1600" dirty="0">
                <a:solidFill>
                  <a:srgbClr val="000000"/>
                </a:solidFill>
                <a:latin typeface="Arial"/>
                <a:cs typeface="Arial"/>
              </a:rPr>
              <a:t>Use it when one idea has many word endings</a:t>
            </a:r>
          </a:p>
        </p:txBody>
      </p:sp>
      <p:sp>
        <p:nvSpPr>
          <p:cNvPr id="74" name="CardHead"/>
          <p:cNvSpPr/>
          <p:nvPr/>
        </p:nvSpPr>
        <p:spPr>
          <a:xfrm>
            <a:off x="6196000" y="176490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Field tags</a:t>
            </a:r>
          </a:p>
        </p:txBody>
      </p:sp>
      <p:sp>
        <p:nvSpPr>
          <p:cNvPr id="75" name="CardBody"/>
          <p:cNvSpPr/>
          <p:nvPr/>
        </p:nvSpPr>
        <p:spPr>
          <a:xfrm>
            <a:off x="61960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[tiab] title or abstract</a:t>
            </a:r>
          </a:p>
          <a:p>
            <a:pPr marL="0" indent="0" algn="ctr">
              <a:lnSpc>
                <a:spcPct val="104000"/>
              </a:lnSpc>
              <a:spcBef>
                <a:spcPts val="400"/>
              </a:spcBef>
              <a:buNone/>
            </a:pPr>
            <a:r>
              <a:rPr lang="en-US" sz="1600" dirty="0">
                <a:solidFill>
                  <a:srgbClr val="000000"/>
                </a:solidFill>
                <a:latin typeface="Arial"/>
                <a:cs typeface="Arial"/>
              </a:rPr>
              <a:t>[mh] or [MeSH] MeSH term</a:t>
            </a:r>
          </a:p>
          <a:p>
            <a:pPr marL="0" indent="0" algn="ctr">
              <a:lnSpc>
                <a:spcPct val="104000"/>
              </a:lnSpc>
              <a:spcBef>
                <a:spcPts val="400"/>
              </a:spcBef>
              <a:buNone/>
            </a:pPr>
            <a:r>
              <a:rPr lang="en-US" sz="1600" dirty="0">
                <a:solidFill>
                  <a:srgbClr val="000000"/>
                </a:solidFill>
                <a:latin typeface="Arial"/>
                <a:cs typeface="Arial"/>
              </a:rPr>
              <a:t>[pt] article type</a:t>
            </a:r>
          </a:p>
        </p:txBody>
      </p:sp>
      <p:sp>
        <p:nvSpPr>
          <p:cNvPr id="76" name="CardHead"/>
          <p:cNvSpPr/>
          <p:nvPr/>
        </p:nvSpPr>
        <p:spPr>
          <a:xfrm>
            <a:off x="9065400" y="176490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Filters</a:t>
            </a:r>
          </a:p>
        </p:txBody>
      </p:sp>
      <p:sp>
        <p:nvSpPr>
          <p:cNvPr id="77" name="CardBody"/>
          <p:cNvSpPr/>
          <p:nvPr/>
        </p:nvSpPr>
        <p:spPr>
          <a:xfrm>
            <a:off x="90654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Article type (RCT, systematic review)</a:t>
            </a:r>
          </a:p>
          <a:p>
            <a:pPr marL="0" indent="0" algn="ctr">
              <a:lnSpc>
                <a:spcPct val="104000"/>
              </a:lnSpc>
              <a:spcBef>
                <a:spcPts val="400"/>
              </a:spcBef>
              <a:buNone/>
            </a:pPr>
            <a:r>
              <a:rPr lang="en-US" sz="1600" dirty="0">
                <a:solidFill>
                  <a:srgbClr val="000000"/>
                </a:solidFill>
                <a:latin typeface="Arial"/>
                <a:cs typeface="Arial"/>
              </a:rPr>
              <a:t>Date, age, humans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Check 'Search details' to see exactly what PubMed searched.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From PICO to search blocks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Question: in adults with septic shock, does a restrictive fluid strategy, vs usual care, reduce 28-day mortality?</a:t>
            </a:r>
          </a:p>
        </p:txBody>
      </p:sp>
      <p:sp>
        <p:nvSpPr>
          <p:cNvPr id="100" name="Box"/>
          <p:cNvSpPr/>
          <p:nvPr/>
        </p:nvSpPr>
        <p:spPr>
          <a:xfrm>
            <a:off x="449580" y="2081078"/>
            <a:ext cx="3246120" cy="502920"/>
          </a:xfrm>
          <a:prstGeom prst="roundRect">
            <a:avLst>
              <a:gd name="adj" fmla="val 8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P:  septic shock</a:t>
            </a:r>
          </a:p>
        </p:txBody>
      </p:sp>
      <p:sp>
        <p:nvSpPr>
          <p:cNvPr id="101" name="Box"/>
          <p:cNvSpPr/>
          <p:nvPr/>
        </p:nvSpPr>
        <p:spPr>
          <a:xfrm>
            <a:off x="449580" y="2583998"/>
            <a:ext cx="3246120" cy="1600200"/>
          </a:xfrm>
          <a:prstGeom prst="roundRect">
            <a:avLst>
              <a:gd name="adj" fmla="val 4000"/>
            </a:avLst>
          </a:prstGeom>
          <a:solidFill>
            <a:srgbClr val="EAF2F5"/>
          </a:solidFill>
          <a:ln>
            <a:noFill/>
          </a:ln>
        </p:spPr>
        <p:txBody>
          <a:bodyPr wrap="square" lIns="73152" tIns="73152" rIns="73152" bIns="73152" rtlCol="0" anchor="ctr">
            <a:noAutofit/>
          </a:bodyPr>
          <a:lstStyle/>
          <a:p>
            <a:pPr marL="0" indent="0" algn="ctr">
              <a:lnSpc>
                <a:spcPct val="100000"/>
              </a:lnSpc>
              <a:buNone/>
            </a:pPr>
            <a:r>
              <a:rPr lang="en-US" sz="1500" dirty="0">
                <a:solidFill>
                  <a:srgbClr val="1A1A1A"/>
                </a:solidFill>
                <a:latin typeface="Arial"/>
                <a:cs typeface="Arial"/>
              </a:rPr>
              <a:t>"Shock, Septic"[MeSH]</a:t>
            </a:r>
          </a:p>
          <a:p>
            <a:pPr marL="0" indent="0" algn="ctr">
              <a:lnSpc>
                <a:spcPct val="100000"/>
              </a:lnSpc>
              <a:spcBef>
                <a:spcPts val="200"/>
              </a:spcBef>
              <a:buNone/>
            </a:pPr>
            <a:r>
              <a:rPr lang="en-US" sz="1500" dirty="0">
                <a:solidFill>
                  <a:srgbClr val="1A1A1A"/>
                </a:solidFill>
                <a:latin typeface="Arial"/>
                <a:cs typeface="Arial"/>
              </a:rPr>
              <a:t>OR "septic shock"[tiab]</a:t>
            </a:r>
          </a:p>
          <a:p>
            <a:pPr marL="0" indent="0" algn="ctr">
              <a:lnSpc>
                <a:spcPct val="100000"/>
              </a:lnSpc>
              <a:spcBef>
                <a:spcPts val="200"/>
              </a:spcBef>
              <a:buNone/>
            </a:pPr>
            <a:r>
              <a:rPr lang="en-US" sz="1500" dirty="0">
                <a:solidFill>
                  <a:srgbClr val="1A1A1A"/>
                </a:solidFill>
                <a:latin typeface="Arial"/>
                <a:cs typeface="Arial"/>
              </a:rPr>
              <a:t>OR sepsis[tiab]</a:t>
            </a:r>
          </a:p>
        </p:txBody>
      </p:sp>
      <p:sp>
        <p:nvSpPr>
          <p:cNvPr id="102" name="Ellipse"/>
          <p:cNvSpPr/>
          <p:nvPr/>
        </p:nvSpPr>
        <p:spPr>
          <a:xfrm>
            <a:off x="3755136" y="3054914"/>
            <a:ext cx="658368" cy="658368"/>
          </a:xfrm>
          <a:prstGeom prst="ellipse">
            <a:avLst/>
          </a:prstGeom>
          <a:solidFill>
            <a:srgbClr val="055F56"/>
          </a:solidFill>
          <a:ln>
            <a:noFill/>
          </a:ln>
        </p:spPr>
        <p:txBody>
          <a:bodyPr wrap="square" lIns="0" tIns="0" rIns="0" bIns="0" rtlCol="0" anchor="ctr">
            <a:noAutofit/>
          </a:bodyPr>
          <a:lstStyle/>
          <a:p>
            <a:pPr marL="0" indent="0" algn="ctr">
              <a:lnSpc>
                <a:spcPct val="100000"/>
              </a:lnSpc>
              <a:buNone/>
            </a:pPr>
            <a:r>
              <a:rPr lang="en-US" sz="1500" b="1" dirty="0">
                <a:solidFill>
                  <a:srgbClr val="FFFFFF"/>
                </a:solidFill>
                <a:latin typeface="Arial"/>
                <a:cs typeface="Arial"/>
              </a:rPr>
              <a:t>AND</a:t>
            </a:r>
          </a:p>
        </p:txBody>
      </p:sp>
      <p:sp>
        <p:nvSpPr>
          <p:cNvPr id="103" name="Box"/>
          <p:cNvSpPr/>
          <p:nvPr/>
        </p:nvSpPr>
        <p:spPr>
          <a:xfrm>
            <a:off x="4472940" y="2081078"/>
            <a:ext cx="3246120" cy="502920"/>
          </a:xfrm>
          <a:prstGeom prst="roundRect">
            <a:avLst>
              <a:gd name="adj" fmla="val 8000"/>
            </a:avLst>
          </a:prstGeom>
          <a:solidFill>
            <a:srgbClr val="0B376C"/>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I:  restrictive fluids</a:t>
            </a:r>
          </a:p>
        </p:txBody>
      </p:sp>
      <p:sp>
        <p:nvSpPr>
          <p:cNvPr id="104" name="Box"/>
          <p:cNvSpPr/>
          <p:nvPr/>
        </p:nvSpPr>
        <p:spPr>
          <a:xfrm>
            <a:off x="4472940" y="2583998"/>
            <a:ext cx="3246120" cy="1600200"/>
          </a:xfrm>
          <a:prstGeom prst="roundRect">
            <a:avLst>
              <a:gd name="adj" fmla="val 4000"/>
            </a:avLst>
          </a:prstGeom>
          <a:solidFill>
            <a:srgbClr val="EAF2F5"/>
          </a:solidFill>
          <a:ln>
            <a:noFill/>
          </a:ln>
        </p:spPr>
        <p:txBody>
          <a:bodyPr wrap="square" lIns="73152" tIns="73152" rIns="73152" bIns="73152" rtlCol="0" anchor="ctr">
            <a:noAutofit/>
          </a:bodyPr>
          <a:lstStyle/>
          <a:p>
            <a:pPr marL="0" indent="0" algn="ctr">
              <a:lnSpc>
                <a:spcPct val="100000"/>
              </a:lnSpc>
              <a:buNone/>
            </a:pPr>
            <a:r>
              <a:rPr lang="en-US" sz="1500" dirty="0">
                <a:solidFill>
                  <a:srgbClr val="1A1A1A"/>
                </a:solidFill>
                <a:latin typeface="Arial"/>
                <a:cs typeface="Arial"/>
              </a:rPr>
              <a:t>"Fluid Therapy"[MeSH]</a:t>
            </a:r>
          </a:p>
          <a:p>
            <a:pPr marL="0" indent="0" algn="ctr">
              <a:lnSpc>
                <a:spcPct val="100000"/>
              </a:lnSpc>
              <a:spcBef>
                <a:spcPts val="200"/>
              </a:spcBef>
              <a:buNone/>
            </a:pPr>
            <a:r>
              <a:rPr lang="en-US" sz="1500" dirty="0">
                <a:solidFill>
                  <a:srgbClr val="1A1A1A"/>
                </a:solidFill>
                <a:latin typeface="Arial"/>
                <a:cs typeface="Arial"/>
              </a:rPr>
              <a:t>OR "fluid restrict*"[tiab]</a:t>
            </a:r>
          </a:p>
          <a:p>
            <a:pPr marL="0" indent="0" algn="ctr">
              <a:lnSpc>
                <a:spcPct val="100000"/>
              </a:lnSpc>
              <a:spcBef>
                <a:spcPts val="200"/>
              </a:spcBef>
              <a:buNone/>
            </a:pPr>
            <a:r>
              <a:rPr lang="en-US" sz="1500" dirty="0">
                <a:solidFill>
                  <a:srgbClr val="1A1A1A"/>
                </a:solidFill>
                <a:latin typeface="Arial"/>
                <a:cs typeface="Arial"/>
              </a:rPr>
              <a:t>OR "restrictive fluid*"[tiab]</a:t>
            </a:r>
          </a:p>
          <a:p>
            <a:pPr marL="0" indent="0" algn="ctr">
              <a:lnSpc>
                <a:spcPct val="100000"/>
              </a:lnSpc>
              <a:spcBef>
                <a:spcPts val="200"/>
              </a:spcBef>
              <a:buNone/>
            </a:pPr>
            <a:r>
              <a:rPr lang="en-US" sz="1500" dirty="0">
                <a:solidFill>
                  <a:srgbClr val="1A1A1A"/>
                </a:solidFill>
                <a:latin typeface="Arial"/>
                <a:cs typeface="Arial"/>
              </a:rPr>
              <a:t>OR "conservative fluid*"[tiab]</a:t>
            </a:r>
          </a:p>
        </p:txBody>
      </p:sp>
      <p:sp>
        <p:nvSpPr>
          <p:cNvPr id="105" name="Ellipse"/>
          <p:cNvSpPr/>
          <p:nvPr/>
        </p:nvSpPr>
        <p:spPr>
          <a:xfrm>
            <a:off x="7778496" y="3054914"/>
            <a:ext cx="658368" cy="658368"/>
          </a:xfrm>
          <a:prstGeom prst="ellipse">
            <a:avLst/>
          </a:prstGeom>
          <a:solidFill>
            <a:srgbClr val="055F56"/>
          </a:solidFill>
          <a:ln>
            <a:noFill/>
          </a:ln>
        </p:spPr>
        <p:txBody>
          <a:bodyPr wrap="square" lIns="0" tIns="0" rIns="0" bIns="0" rtlCol="0" anchor="ctr">
            <a:noAutofit/>
          </a:bodyPr>
          <a:lstStyle/>
          <a:p>
            <a:pPr marL="0" indent="0" algn="ctr">
              <a:lnSpc>
                <a:spcPct val="100000"/>
              </a:lnSpc>
              <a:buNone/>
            </a:pPr>
            <a:r>
              <a:rPr lang="en-US" sz="1500" b="1" dirty="0">
                <a:solidFill>
                  <a:srgbClr val="FFFFFF"/>
                </a:solidFill>
                <a:latin typeface="Arial"/>
                <a:cs typeface="Arial"/>
              </a:rPr>
              <a:t>AND</a:t>
            </a:r>
          </a:p>
        </p:txBody>
      </p:sp>
      <p:sp>
        <p:nvSpPr>
          <p:cNvPr id="106" name="Box"/>
          <p:cNvSpPr/>
          <p:nvPr/>
        </p:nvSpPr>
        <p:spPr>
          <a:xfrm>
            <a:off x="8496300" y="2081078"/>
            <a:ext cx="3246120" cy="502920"/>
          </a:xfrm>
          <a:prstGeom prst="roundRect">
            <a:avLst>
              <a:gd name="adj" fmla="val 8000"/>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O:  mortality</a:t>
            </a:r>
          </a:p>
        </p:txBody>
      </p:sp>
      <p:sp>
        <p:nvSpPr>
          <p:cNvPr id="107" name="Box"/>
          <p:cNvSpPr/>
          <p:nvPr/>
        </p:nvSpPr>
        <p:spPr>
          <a:xfrm>
            <a:off x="8496300" y="2583998"/>
            <a:ext cx="3246120" cy="1600200"/>
          </a:xfrm>
          <a:prstGeom prst="roundRect">
            <a:avLst>
              <a:gd name="adj" fmla="val 4000"/>
            </a:avLst>
          </a:prstGeom>
          <a:solidFill>
            <a:srgbClr val="EAF2F5"/>
          </a:solidFill>
          <a:ln>
            <a:noFill/>
          </a:ln>
        </p:spPr>
        <p:txBody>
          <a:bodyPr wrap="square" lIns="73152" tIns="73152" rIns="73152" bIns="73152" rtlCol="0" anchor="ctr">
            <a:noAutofit/>
          </a:bodyPr>
          <a:lstStyle/>
          <a:p>
            <a:pPr marL="0" indent="0" algn="ctr">
              <a:lnSpc>
                <a:spcPct val="100000"/>
              </a:lnSpc>
              <a:buNone/>
            </a:pPr>
            <a:r>
              <a:rPr lang="en-US" sz="1500" dirty="0">
                <a:solidFill>
                  <a:srgbClr val="1A1A1A"/>
                </a:solidFill>
                <a:latin typeface="Arial"/>
                <a:cs typeface="Arial"/>
              </a:rPr>
              <a:t>Mortality[MeSH]</a:t>
            </a:r>
          </a:p>
          <a:p>
            <a:pPr marL="0" indent="0" algn="ctr">
              <a:lnSpc>
                <a:spcPct val="100000"/>
              </a:lnSpc>
              <a:spcBef>
                <a:spcPts val="200"/>
              </a:spcBef>
              <a:buNone/>
            </a:pPr>
            <a:r>
              <a:rPr lang="en-US" sz="1500" dirty="0">
                <a:solidFill>
                  <a:srgbClr val="1A1A1A"/>
                </a:solidFill>
                <a:latin typeface="Arial"/>
                <a:cs typeface="Arial"/>
              </a:rPr>
              <a:t>OR mortality[tiab]</a:t>
            </a:r>
          </a:p>
          <a:p>
            <a:pPr marL="0" indent="0" algn="ctr">
              <a:lnSpc>
                <a:spcPct val="100000"/>
              </a:lnSpc>
              <a:spcBef>
                <a:spcPts val="200"/>
              </a:spcBef>
              <a:buNone/>
            </a:pPr>
            <a:r>
              <a:rPr lang="en-US" sz="1500" dirty="0">
                <a:solidFill>
                  <a:srgbClr val="1A1A1A"/>
                </a:solidFill>
                <a:latin typeface="Arial"/>
                <a:cs typeface="Arial"/>
              </a:rPr>
              <a:t>OR death[tiab]</a:t>
            </a:r>
          </a:p>
        </p:txBody>
      </p:sp>
      <p:sp>
        <p:nvSpPr>
          <p:cNvPr id="108" name="Text"/>
          <p:cNvSpPr/>
          <p:nvPr/>
        </p:nvSpPr>
        <p:spPr>
          <a:xfrm>
            <a:off x="746760" y="4412798"/>
            <a:ext cx="1069848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i="1" dirty="0">
                <a:solidFill>
                  <a:srgbClr val="595959"/>
                </a:solidFill>
                <a:latin typeface="Arial"/>
                <a:cs typeface="Arial"/>
              </a:rPr>
              <a:t>C (usual care) is usually not searched: the words for it vary too much.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One block per PICO element: OR inside a block, AND between blocks.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Another example: a ward question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Question: in adults at risk on the ward, does 2-hourly repositioning reduce new pressure injuries?</a:t>
            </a:r>
          </a:p>
        </p:txBody>
      </p:sp>
      <p:sp>
        <p:nvSpPr>
          <p:cNvPr id="100" name="Box"/>
          <p:cNvSpPr/>
          <p:nvPr/>
        </p:nvSpPr>
        <p:spPr>
          <a:xfrm>
            <a:off x="2461260" y="2007680"/>
            <a:ext cx="3246120" cy="502920"/>
          </a:xfrm>
          <a:prstGeom prst="roundRect">
            <a:avLst>
              <a:gd name="adj" fmla="val 8000"/>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P + O:  pressure injury</a:t>
            </a:r>
          </a:p>
        </p:txBody>
      </p:sp>
      <p:sp>
        <p:nvSpPr>
          <p:cNvPr id="101" name="Box"/>
          <p:cNvSpPr/>
          <p:nvPr/>
        </p:nvSpPr>
        <p:spPr>
          <a:xfrm>
            <a:off x="2461260" y="2510600"/>
            <a:ext cx="3246120" cy="1600200"/>
          </a:xfrm>
          <a:prstGeom prst="roundRect">
            <a:avLst>
              <a:gd name="adj" fmla="val 4000"/>
            </a:avLst>
          </a:prstGeom>
          <a:solidFill>
            <a:srgbClr val="EAF2F5"/>
          </a:solidFill>
          <a:ln>
            <a:noFill/>
          </a:ln>
        </p:spPr>
        <p:txBody>
          <a:bodyPr wrap="square" lIns="73152" tIns="73152" rIns="73152" bIns="73152" rtlCol="0" anchor="ctr">
            <a:noAutofit/>
          </a:bodyPr>
          <a:lstStyle/>
          <a:p>
            <a:pPr marL="0" indent="0" algn="ctr">
              <a:lnSpc>
                <a:spcPct val="100000"/>
              </a:lnSpc>
              <a:buNone/>
            </a:pPr>
            <a:r>
              <a:rPr lang="en-US" sz="1500" dirty="0">
                <a:solidFill>
                  <a:srgbClr val="1A1A1A"/>
                </a:solidFill>
                <a:latin typeface="Arial"/>
                <a:cs typeface="Arial"/>
              </a:rPr>
              <a:t>"Pressure Ulcer"[MeSH]</a:t>
            </a:r>
          </a:p>
          <a:p>
            <a:pPr marL="0" indent="0" algn="ctr">
              <a:lnSpc>
                <a:spcPct val="100000"/>
              </a:lnSpc>
              <a:spcBef>
                <a:spcPts val="200"/>
              </a:spcBef>
              <a:buNone/>
            </a:pPr>
            <a:r>
              <a:rPr lang="en-US" sz="1500" dirty="0">
                <a:solidFill>
                  <a:srgbClr val="1A1A1A"/>
                </a:solidFill>
                <a:latin typeface="Arial"/>
                <a:cs typeface="Arial"/>
              </a:rPr>
              <a:t>OR "pressure injur*"[tiab]</a:t>
            </a:r>
          </a:p>
          <a:p>
            <a:pPr marL="0" indent="0" algn="ctr">
              <a:lnSpc>
                <a:spcPct val="100000"/>
              </a:lnSpc>
              <a:spcBef>
                <a:spcPts val="200"/>
              </a:spcBef>
              <a:buNone/>
            </a:pPr>
            <a:r>
              <a:rPr lang="en-US" sz="1500" dirty="0">
                <a:solidFill>
                  <a:srgbClr val="1A1A1A"/>
                </a:solidFill>
                <a:latin typeface="Arial"/>
                <a:cs typeface="Arial"/>
              </a:rPr>
              <a:t>OR "pressure ulcer*"[tiab]</a:t>
            </a:r>
          </a:p>
          <a:p>
            <a:pPr marL="0" indent="0" algn="ctr">
              <a:lnSpc>
                <a:spcPct val="100000"/>
              </a:lnSpc>
              <a:spcBef>
                <a:spcPts val="200"/>
              </a:spcBef>
              <a:buNone/>
            </a:pPr>
            <a:r>
              <a:rPr lang="en-US" sz="1500" dirty="0">
                <a:solidFill>
                  <a:srgbClr val="1A1A1A"/>
                </a:solidFill>
                <a:latin typeface="Arial"/>
                <a:cs typeface="Arial"/>
              </a:rPr>
              <a:t>OR bedsore*[tiab]</a:t>
            </a:r>
          </a:p>
        </p:txBody>
      </p:sp>
      <p:sp>
        <p:nvSpPr>
          <p:cNvPr id="102" name="Ellipse"/>
          <p:cNvSpPr/>
          <p:nvPr/>
        </p:nvSpPr>
        <p:spPr>
          <a:xfrm>
            <a:off x="5766816" y="2981516"/>
            <a:ext cx="658368" cy="658368"/>
          </a:xfrm>
          <a:prstGeom prst="ellipse">
            <a:avLst/>
          </a:prstGeom>
          <a:solidFill>
            <a:srgbClr val="055F56"/>
          </a:solidFill>
          <a:ln>
            <a:noFill/>
          </a:ln>
        </p:spPr>
        <p:txBody>
          <a:bodyPr wrap="square" lIns="0" tIns="0" rIns="0" bIns="0" rtlCol="0" anchor="ctr">
            <a:noAutofit/>
          </a:bodyPr>
          <a:lstStyle/>
          <a:p>
            <a:pPr marL="0" indent="0" algn="ctr">
              <a:lnSpc>
                <a:spcPct val="100000"/>
              </a:lnSpc>
              <a:buNone/>
            </a:pPr>
            <a:r>
              <a:rPr lang="en-US" sz="1500" b="1" dirty="0">
                <a:solidFill>
                  <a:srgbClr val="FFFFFF"/>
                </a:solidFill>
                <a:latin typeface="Arial"/>
                <a:cs typeface="Arial"/>
              </a:rPr>
              <a:t>AND</a:t>
            </a:r>
          </a:p>
        </p:txBody>
      </p:sp>
      <p:sp>
        <p:nvSpPr>
          <p:cNvPr id="103" name="Box"/>
          <p:cNvSpPr/>
          <p:nvPr/>
        </p:nvSpPr>
        <p:spPr>
          <a:xfrm>
            <a:off x="6484620" y="2007680"/>
            <a:ext cx="3246120" cy="502920"/>
          </a:xfrm>
          <a:prstGeom prst="roundRect">
            <a:avLst>
              <a:gd name="adj" fmla="val 8000"/>
            </a:avLst>
          </a:prstGeom>
          <a:solidFill>
            <a:srgbClr val="0B376C"/>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I:  repositioning</a:t>
            </a:r>
          </a:p>
        </p:txBody>
      </p:sp>
      <p:sp>
        <p:nvSpPr>
          <p:cNvPr id="104" name="Box"/>
          <p:cNvSpPr/>
          <p:nvPr/>
        </p:nvSpPr>
        <p:spPr>
          <a:xfrm>
            <a:off x="6484620" y="2510600"/>
            <a:ext cx="3246120" cy="1600200"/>
          </a:xfrm>
          <a:prstGeom prst="roundRect">
            <a:avLst>
              <a:gd name="adj" fmla="val 4000"/>
            </a:avLst>
          </a:prstGeom>
          <a:solidFill>
            <a:srgbClr val="EAF2F5"/>
          </a:solidFill>
          <a:ln>
            <a:noFill/>
          </a:ln>
        </p:spPr>
        <p:txBody>
          <a:bodyPr wrap="square" lIns="73152" tIns="73152" rIns="73152" bIns="73152" rtlCol="0" anchor="ctr">
            <a:noAutofit/>
          </a:bodyPr>
          <a:lstStyle/>
          <a:p>
            <a:pPr marL="0" indent="0" algn="ctr">
              <a:lnSpc>
                <a:spcPct val="100000"/>
              </a:lnSpc>
              <a:buNone/>
            </a:pPr>
            <a:r>
              <a:rPr lang="en-US" sz="1500" dirty="0">
                <a:solidFill>
                  <a:srgbClr val="1A1A1A"/>
                </a:solidFill>
                <a:latin typeface="Arial"/>
                <a:cs typeface="Arial"/>
              </a:rPr>
              <a:t>"Patient Positioning"[MeSH]</a:t>
            </a:r>
          </a:p>
          <a:p>
            <a:pPr marL="0" indent="0" algn="ctr">
              <a:lnSpc>
                <a:spcPct val="100000"/>
              </a:lnSpc>
              <a:spcBef>
                <a:spcPts val="200"/>
              </a:spcBef>
              <a:buNone/>
            </a:pPr>
            <a:r>
              <a:rPr lang="en-US" sz="1500" dirty="0">
                <a:solidFill>
                  <a:srgbClr val="1A1A1A"/>
                </a:solidFill>
                <a:latin typeface="Arial"/>
                <a:cs typeface="Arial"/>
              </a:rPr>
              <a:t>OR reposition*[tiab]</a:t>
            </a:r>
          </a:p>
          <a:p>
            <a:pPr marL="0" indent="0" algn="ctr">
              <a:lnSpc>
                <a:spcPct val="100000"/>
              </a:lnSpc>
              <a:spcBef>
                <a:spcPts val="200"/>
              </a:spcBef>
              <a:buNone/>
            </a:pPr>
            <a:r>
              <a:rPr lang="en-US" sz="1500" dirty="0">
                <a:solidFill>
                  <a:srgbClr val="1A1A1A"/>
                </a:solidFill>
                <a:latin typeface="Arial"/>
                <a:cs typeface="Arial"/>
              </a:rPr>
              <a:t>OR turning[tiab]</a:t>
            </a:r>
          </a:p>
        </p:txBody>
      </p:sp>
      <p:sp>
        <p:nvSpPr>
          <p:cNvPr id="105" name="Text"/>
          <p:cNvSpPr/>
          <p:nvPr/>
        </p:nvSpPr>
        <p:spPr>
          <a:xfrm>
            <a:off x="746760" y="4339400"/>
            <a:ext cx="10698480" cy="45720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600" i="1" dirty="0">
                <a:solidFill>
                  <a:srgbClr val="595959"/>
                </a:solidFill>
                <a:latin typeface="Arial"/>
                <a:cs typeface="Arial"/>
              </a:rPr>
              <a:t>P and O are one idea here (pressure injury), so one block carries both.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Same method for any topic: OR inside a block, AND between blocks.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PubMed vs Google Scholar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76242"/>
          <a:ext cx="11277600" cy="3121272"/>
        </p:xfrm>
        <a:graphic>
          <a:graphicData uri="http://schemas.openxmlformats.org/drawingml/2006/table">
            <a:tbl>
              <a:tblPr firstRow="1" bandRow="1">
                <a:tableStyleId>{5C22544A-7EE6-4342-B048-85BDC9FD1C3A}</a:tableStyleId>
              </a:tblPr>
              <a:tblGrid>
                <a:gridCol w="3814482"/>
                <a:gridCol w="3648635"/>
                <a:gridCol w="3814483"/>
              </a:tblGrid>
              <a:tr h="380000">
                <a:tc>
                  <a:txBody>
                    <a:bodyPr/>
                    <a:lstStyle/>
                    <a:p>
                      <a:pPr algn="l"/>
                      <a:r>
                        <a:rPr lang="en-US" sz="1700" b="1" dirty="0">
                          <a:solidFill>
                            <a:srgbClr val="FFFFFF"/>
                          </a:solidFill>
                          <a:latin typeface="Arial"/>
                          <a:cs typeface="Arial"/>
                        </a:rPr>
                        <a:t> </a:t>
                      </a:r>
                    </a:p>
                  </a:txBody>
                  <a:tcPr marL="73152" marR="73152" marT="45720" marB="45720" anchor="ctr">
                    <a:solidFill>
                      <a:srgbClr val="FFFFFF"/>
                    </a:solidFill>
                  </a:tcPr>
                </a:tc>
                <a:tc>
                  <a:txBody>
                    <a:bodyPr/>
                    <a:lstStyle/>
                    <a:p>
                      <a:pPr algn="l"/>
                      <a:r>
                        <a:rPr lang="en-US" sz="1700" b="1" dirty="0">
                          <a:solidFill>
                            <a:srgbClr val="FFFFFF"/>
                          </a:solidFill>
                          <a:latin typeface="Arial"/>
                          <a:cs typeface="Arial"/>
                        </a:rPr>
                        <a:t>PubMed</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Google Scholar</a:t>
                      </a:r>
                    </a:p>
                  </a:txBody>
                  <a:tcPr marL="73152" marR="73152" marT="45720" marB="45720" anchor="ctr">
                    <a:solidFill>
                      <a:srgbClr val="0B376C"/>
                    </a:solidFill>
                  </a:tcPr>
                </a:tc>
              </a:tr>
              <a:tr h="629598">
                <a:tc>
                  <a:txBody>
                    <a:bodyPr/>
                    <a:lstStyle/>
                    <a:p>
                      <a:pPr algn="l"/>
                      <a:r>
                        <a:rPr lang="en-US" sz="1700" b="1" dirty="0">
                          <a:solidFill>
                            <a:srgbClr val="000000"/>
                          </a:solidFill>
                          <a:latin typeface="Arial"/>
                          <a:cs typeface="Arial"/>
                        </a:rPr>
                        <a:t>What it searches</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Biomedical journals</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Almost everything: journals, theses, books, preprints</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MeSH labels</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Yes</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No</a:t>
                      </a:r>
                    </a:p>
                  </a:txBody>
                  <a:tcPr marL="73152" marR="73152" marT="45720" marB="45720" anchor="ctr">
                    <a:solidFill>
                      <a:srgbClr val="F5F9FA"/>
                    </a:solidFill>
                  </a:tcPr>
                </a:tc>
              </a:tr>
              <a:tr h="370519">
                <a:tc>
                  <a:txBody>
                    <a:bodyPr/>
                    <a:lstStyle/>
                    <a:p>
                      <a:pPr algn="l"/>
                      <a:r>
                        <a:rPr lang="en-US" sz="1700" b="1" dirty="0">
                          <a:solidFill>
                            <a:srgbClr val="000000"/>
                          </a:solidFill>
                          <a:latin typeface="Arial"/>
                          <a:cs typeface="Arial"/>
                        </a:rPr>
                        <a:t>Filters (design, age, date)</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Many</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Few (date, reviews)</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Same search, same results later</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Yes</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No: the ranking is hidden</a:t>
                      </a:r>
                    </a:p>
                  </a:txBody>
                  <a:tcPr marL="73152" marR="73152" marT="45720" marB="45720" anchor="ctr">
                    <a:solidFill>
                      <a:srgbClr val="F5F9FA"/>
                    </a:solidFill>
                  </a:tcPr>
                </a:tc>
              </a:tr>
              <a:tr h="629598">
                <a:tc>
                  <a:txBody>
                    <a:bodyPr/>
                    <a:lstStyle/>
                    <a:p>
                      <a:pPr algn="l"/>
                      <a:r>
                        <a:rPr lang="en-US" sz="1700" b="1" dirty="0">
                          <a:solidFill>
                            <a:srgbClr val="000000"/>
                          </a:solidFill>
                          <a:latin typeface="Arial"/>
                          <a:cs typeface="Arial"/>
                        </a:rPr>
                        <a:t>Finds newer papers that cite a paper</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Partly</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Yes ('Cited by')</a:t>
                      </a:r>
                    </a:p>
                  </a:txBody>
                  <a:tcPr marL="73152" marR="73152" marT="45720" marB="45720" anchor="ctr">
                    <a:solidFill>
                      <a:srgbClr val="FFFFFF"/>
                    </a:solidFill>
                  </a:tcPr>
                </a:tc>
              </a:tr>
              <a:tr h="370519">
                <a:tc>
                  <a:txBody>
                    <a:bodyPr/>
                    <a:lstStyle/>
                    <a:p>
                      <a:pPr algn="l"/>
                      <a:r>
                        <a:rPr lang="en-US" sz="1700" b="1" dirty="0">
                          <a:solidFill>
                            <a:srgbClr val="000000"/>
                          </a:solidFill>
                          <a:latin typeface="Arial"/>
                          <a:cs typeface="Arial"/>
                        </a:rPr>
                        <a:t>Use it for</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Your main search, written down</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Checking for papers you missed</a:t>
                      </a:r>
                    </a:p>
                  </a:txBody>
                  <a:tcPr marL="73152" marR="73152" marT="45720" marB="45720" anchor="ctr">
                    <a:solidFill>
                      <a:srgbClr val="F5F9FA"/>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PubMed for your main search. Google Scholar to check for papers you missed.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First check: is there already a systematic review?</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6650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Search for reviews</a:t>
            </a:r>
          </a:p>
        </p:txBody>
      </p:sp>
      <p:sp>
        <p:nvSpPr>
          <p:cNvPr id="71" name="CardBody"/>
          <p:cNvSpPr/>
          <p:nvPr/>
        </p:nvSpPr>
        <p:spPr>
          <a:xfrm>
            <a:off x="4572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Cochrane Library</a:t>
            </a:r>
          </a:p>
          <a:p>
            <a:pPr marL="0" indent="0" algn="ctr">
              <a:lnSpc>
                <a:spcPct val="104000"/>
              </a:lnSpc>
              <a:spcBef>
                <a:spcPts val="400"/>
              </a:spcBef>
              <a:buNone/>
            </a:pPr>
            <a:r>
              <a:rPr lang="en-US" sz="1600" dirty="0">
                <a:solidFill>
                  <a:srgbClr val="000000"/>
                </a:solidFill>
                <a:latin typeface="Arial"/>
                <a:cs typeface="Arial"/>
              </a:rPr>
              <a:t>PubMed filter: Systematic Review</a:t>
            </a:r>
          </a:p>
        </p:txBody>
      </p:sp>
      <p:sp>
        <p:nvSpPr>
          <p:cNvPr id="72" name="CardHead"/>
          <p:cNvSpPr/>
          <p:nvPr/>
        </p:nvSpPr>
        <p:spPr>
          <a:xfrm>
            <a:off x="3326600" y="186650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Reviews in progress</a:t>
            </a:r>
          </a:p>
        </p:txBody>
      </p:sp>
      <p:sp>
        <p:nvSpPr>
          <p:cNvPr id="73" name="CardBody"/>
          <p:cNvSpPr/>
          <p:nvPr/>
        </p:nvSpPr>
        <p:spPr>
          <a:xfrm>
            <a:off x="33266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PROSPERO lists registered systematic reviews</a:t>
            </a:r>
          </a:p>
        </p:txBody>
      </p:sp>
      <p:sp>
        <p:nvSpPr>
          <p:cNvPr id="74" name="CardHead"/>
          <p:cNvSpPr/>
          <p:nvPr/>
        </p:nvSpPr>
        <p:spPr>
          <a:xfrm>
            <a:off x="6196000" y="186650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Then decide</a:t>
            </a:r>
          </a:p>
        </p:txBody>
      </p:sp>
      <p:sp>
        <p:nvSpPr>
          <p:cNvPr id="75" name="CardBody"/>
          <p:cNvSpPr/>
          <p:nvPr/>
        </p:nvSpPr>
        <p:spPr>
          <a:xfrm>
            <a:off x="61960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A recent, good review: build on it</a:t>
            </a:r>
          </a:p>
          <a:p>
            <a:pPr marL="0" indent="0" algn="ctr">
              <a:lnSpc>
                <a:spcPct val="104000"/>
              </a:lnSpc>
              <a:spcBef>
                <a:spcPts val="400"/>
              </a:spcBef>
              <a:buNone/>
            </a:pPr>
            <a:r>
              <a:rPr lang="en-US" sz="1600" dirty="0">
                <a:solidFill>
                  <a:srgbClr val="000000"/>
                </a:solidFill>
                <a:latin typeface="Arial"/>
                <a:cs typeface="Arial"/>
              </a:rPr>
              <a:t>None, or out of date: that is a gap</a:t>
            </a:r>
          </a:p>
        </p:txBody>
      </p:sp>
      <p:sp>
        <p:nvSpPr>
          <p:cNvPr id="76" name="CardHead"/>
          <p:cNvSpPr/>
          <p:nvPr/>
        </p:nvSpPr>
        <p:spPr>
          <a:xfrm>
            <a:off x="9065400" y="186650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Learn to do one</a:t>
            </a:r>
          </a:p>
        </p:txBody>
      </p:sp>
      <p:sp>
        <p:nvSpPr>
          <p:cNvPr id="77" name="CardBody"/>
          <p:cNvSpPr/>
          <p:nvPr/>
        </p:nvSpPr>
        <p:spPr>
          <a:xfrm>
            <a:off x="90654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Level 3, Module A: systematic review and meta-analysis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Before you plan a study, find out what has been done, starting with systematic reviews.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Live demo: searching PubMed for the running example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LIVE DEMO   |   10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Search one keyword, septic shock, and note the number of hits</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Paste the full PICO string: P, I and O blocks joined with AND</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Look at 'Search details': what did PubMed really search?</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Add filters: RCT and systematic review, adults, last 10 years</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Open one result: abstract, MeSH terms, 'Similar articles', 'Cited by'</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Click 'Send to', then 'Citation manager' (we import it in 2.2)</a:t>
            </a:r>
          </a:p>
        </p:txBody>
      </p:sp>
      <p:sp>
        <p:nvSpPr>
          <p:cNvPr id="52" name="Side"/>
          <p:cNvSpPr/>
          <p:nvPr/>
        </p:nvSpPr>
        <p:spPr>
          <a:xfrm>
            <a:off x="7423760" y="1720000"/>
            <a:ext cx="4311040" cy="16917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Watch for</a:t>
            </a:r>
          </a:p>
          <a:p>
            <a:pPr marL="0" indent="0" algn="ctr">
              <a:lnSpc>
                <a:spcPct val="104000"/>
              </a:lnSpc>
              <a:spcBef>
                <a:spcPts val="300"/>
              </a:spcBef>
              <a:buNone/>
            </a:pPr>
            <a:r>
              <a:rPr lang="en-US" sz="1500" dirty="0">
                <a:solidFill>
                  <a:srgbClr val="000000"/>
                </a:solidFill>
                <a:latin typeface="Arial"/>
                <a:cs typeface="Arial"/>
              </a:rPr>
              <a:t>How the hits fall at each step</a:t>
            </a:r>
          </a:p>
          <a:p>
            <a:pPr marL="0" indent="0" algn="ctr">
              <a:lnSpc>
                <a:spcPct val="104000"/>
              </a:lnSpc>
              <a:spcBef>
                <a:spcPts val="300"/>
              </a:spcBef>
              <a:buNone/>
            </a:pPr>
            <a:r>
              <a:rPr lang="en-US" sz="1500" dirty="0">
                <a:solidFill>
                  <a:srgbClr val="000000"/>
                </a:solidFill>
                <a:latin typeface="Arial"/>
                <a:cs typeface="Arial"/>
              </a:rPr>
              <a:t>Which papers keep appearing</a:t>
            </a:r>
          </a:p>
          <a:p>
            <a:pPr marL="0" indent="0" algn="ctr">
              <a:lnSpc>
                <a:spcPct val="104000"/>
              </a:lnSpc>
              <a:spcBef>
                <a:spcPts val="300"/>
              </a:spcBef>
              <a:buNone/>
            </a:pPr>
            <a:r>
              <a:rPr lang="en-US" sz="1500" dirty="0">
                <a:solidFill>
                  <a:srgbClr val="000000"/>
                </a:solidFill>
                <a:latin typeface="Arial"/>
                <a:cs typeface="Arial"/>
              </a:rPr>
              <a:t>Can you find Paper 1 and the CLASSIC trial (Meyhoff 2022)?</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OUTPUT   </a:t>
            </a:r>
            <a:r>
              <a:rPr lang="en-US" sz="1500" dirty="0">
                <a:solidFill>
                  <a:srgbClr val="000000"/>
                </a:solidFill>
                <a:latin typeface="Arial"/>
                <a:cs typeface="Arial"/>
              </a:rPr>
              <a:t>A search string we can all copy (Exercise 1 on the sheet)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Your turn: build a Boolean search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INDIVIDUAL TASK   |   5 min</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Take your own PICO question and your synonym list (Session 1 homework)</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Exercise 1: write 2-4 synonyms for P, for I (or E) and for O</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Join synonyms with OR in brackets, and the blocks with AND</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Check which words are MeSH terms: MeSH Database or a known paper</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We call on 2-3 people to read their string aloud, microphone on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OUTPUT   </a:t>
            </a:r>
            <a:r>
              <a:rPr lang="en-US" sz="1500" dirty="0">
                <a:solidFill>
                  <a:srgbClr val="000000"/>
                </a:solidFill>
                <a:latin typeface="Arial"/>
                <a:cs typeface="Arial"/>
              </a:rPr>
              <a:t>One search string for your own question, ready to run in PubMed later today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2.2  Managing and citing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Keep every reference you find, and use other people's work honestly.</a:t>
            </a:r>
          </a:p>
          <a:p>
            <a:pPr marL="0" indent="0" algn="ctr">
              <a:spcBef>
                <a:spcPts val="1200"/>
              </a:spcBef>
              <a:buNone/>
            </a:pPr>
            <a:r>
              <a:rPr lang="en-US" sz="1900" i="1" dirty="0">
                <a:solidFill>
                  <a:srgbClr val="595959"/>
                </a:solidFill>
                <a:latin typeface="Arial"/>
                <a:cs typeface="Arial"/>
              </a:rPr>
              <a:t>20 minutes: reference managers, citation styles, a Zotero demo, paraphrasing safely, grey literature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Reference managers: save as you go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Collect</a:t>
            </a:r>
          </a:p>
        </p:txBody>
      </p:sp>
      <p:sp>
        <p:nvSpPr>
          <p:cNvPr id="81" name="StepText"/>
          <p:cNvSpPr/>
          <p:nvPr/>
        </p:nvSpPr>
        <p:spPr>
          <a:xfrm>
            <a:off x="497200" y="214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Tick papers in PubMed</a:t>
            </a:r>
          </a:p>
          <a:p>
            <a:pPr marL="0" indent="0" algn="ctr">
              <a:lnSpc>
                <a:spcPct val="104000"/>
              </a:lnSpc>
              <a:spcBef>
                <a:spcPts val="200"/>
              </a:spcBef>
              <a:buNone/>
            </a:pPr>
            <a:r>
              <a:rPr lang="en-US" sz="1500" dirty="0">
                <a:solidFill>
                  <a:srgbClr val="000000"/>
                </a:solidFill>
                <a:latin typeface="Arial"/>
                <a:cs typeface="Arial"/>
              </a:rPr>
              <a:t>Clipboard or My NCBI Collections</a:t>
            </a:r>
          </a:p>
        </p:txBody>
      </p:sp>
      <p:sp>
        <p:nvSpPr>
          <p:cNvPr id="82" name="Step"/>
          <p:cNvSpPr/>
          <p:nvPr/>
        </p:nvSpPr>
        <p:spPr>
          <a:xfrm>
            <a:off x="2700720" y="122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Export</a:t>
            </a:r>
          </a:p>
        </p:txBody>
      </p:sp>
      <p:sp>
        <p:nvSpPr>
          <p:cNvPr id="83" name="StepText"/>
          <p:cNvSpPr/>
          <p:nvPr/>
        </p:nvSpPr>
        <p:spPr>
          <a:xfrm>
            <a:off x="2740720" y="214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'Send to', then 'Citation manager'</a:t>
            </a:r>
          </a:p>
          <a:p>
            <a:pPr marL="0" indent="0" algn="ctr">
              <a:lnSpc>
                <a:spcPct val="104000"/>
              </a:lnSpc>
              <a:spcBef>
                <a:spcPts val="200"/>
              </a:spcBef>
              <a:buNone/>
            </a:pPr>
            <a:r>
              <a:rPr lang="en-US" sz="1500" dirty="0">
                <a:solidFill>
                  <a:srgbClr val="000000"/>
                </a:solidFill>
                <a:latin typeface="Arial"/>
                <a:cs typeface="Arial"/>
              </a:rPr>
              <a:t>Gives an .nbib file</a:t>
            </a:r>
          </a:p>
        </p:txBody>
      </p:sp>
      <p:sp>
        <p:nvSpPr>
          <p:cNvPr id="84" name="Step"/>
          <p:cNvSpPr/>
          <p:nvPr/>
        </p:nvSpPr>
        <p:spPr>
          <a:xfrm>
            <a:off x="4944240" y="122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Import</a:t>
            </a:r>
          </a:p>
        </p:txBody>
      </p:sp>
      <p:sp>
        <p:nvSpPr>
          <p:cNvPr id="85" name="StepText"/>
          <p:cNvSpPr/>
          <p:nvPr/>
        </p:nvSpPr>
        <p:spPr>
          <a:xfrm>
            <a:off x="4984240" y="214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Zotero or Mendeley (free)</a:t>
            </a:r>
          </a:p>
          <a:p>
            <a:pPr marL="0" indent="0" algn="ctr">
              <a:lnSpc>
                <a:spcPct val="104000"/>
              </a:lnSpc>
              <a:spcBef>
                <a:spcPts val="200"/>
              </a:spcBef>
              <a:buNone/>
            </a:pPr>
            <a:r>
              <a:rPr lang="en-US" sz="1500" dirty="0">
                <a:solidFill>
                  <a:srgbClr val="000000"/>
                </a:solidFill>
                <a:latin typeface="Arial"/>
                <a:cs typeface="Arial"/>
              </a:rPr>
              <a:t>EndNote (paid)</a:t>
            </a:r>
          </a:p>
        </p:txBody>
      </p:sp>
      <p:sp>
        <p:nvSpPr>
          <p:cNvPr id="86" name="Step"/>
          <p:cNvSpPr/>
          <p:nvPr/>
        </p:nvSpPr>
        <p:spPr>
          <a:xfrm>
            <a:off x="7187760" y="122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Cite</a:t>
            </a:r>
          </a:p>
        </p:txBody>
      </p:sp>
      <p:sp>
        <p:nvSpPr>
          <p:cNvPr id="87" name="StepText"/>
          <p:cNvSpPr/>
          <p:nvPr/>
        </p:nvSpPr>
        <p:spPr>
          <a:xfrm>
            <a:off x="7227760" y="214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Insert citations in Word with the plug-in</a:t>
            </a:r>
          </a:p>
        </p:txBody>
      </p:sp>
      <p:sp>
        <p:nvSpPr>
          <p:cNvPr id="88" name="Step"/>
          <p:cNvSpPr/>
          <p:nvPr/>
        </p:nvSpPr>
        <p:spPr>
          <a:xfrm>
            <a:off x="9431280" y="122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List</a:t>
            </a:r>
          </a:p>
        </p:txBody>
      </p:sp>
      <p:sp>
        <p:nvSpPr>
          <p:cNvPr id="89" name="StepText"/>
          <p:cNvSpPr/>
          <p:nvPr/>
        </p:nvSpPr>
        <p:spPr>
          <a:xfrm>
            <a:off x="9471280" y="2140000"/>
            <a:ext cx="216352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Reference list built for you</a:t>
            </a:r>
          </a:p>
          <a:p>
            <a:pPr marL="0" indent="0" algn="ctr">
              <a:lnSpc>
                <a:spcPct val="104000"/>
              </a:lnSpc>
              <a:spcBef>
                <a:spcPts val="200"/>
              </a:spcBef>
              <a:buNone/>
            </a:pPr>
            <a:r>
              <a:rPr lang="en-US" sz="1500" dirty="0">
                <a:solidFill>
                  <a:srgbClr val="000000"/>
                </a:solidFill>
                <a:latin typeface="Arial"/>
                <a:cs typeface="Arial"/>
              </a:rPr>
              <a:t>Any style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reference manager prevents the commonest error in proposals: wrong references.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Citation styles: same paper, two looks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Use the style your target journal asks for. The reference manager switches in one click.</a:t>
            </a:r>
          </a:p>
        </p:txBody>
      </p:sp>
      <p:sp>
        <p:nvSpPr>
          <p:cNvPr id="70" name="CardHead"/>
          <p:cNvSpPr/>
          <p:nvPr/>
        </p:nvSpPr>
        <p:spPr>
          <a:xfrm>
            <a:off x="457200" y="1834931"/>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Vancouver</a:t>
            </a:r>
          </a:p>
        </p:txBody>
      </p:sp>
      <p:sp>
        <p:nvSpPr>
          <p:cNvPr id="71" name="CardBody"/>
          <p:cNvSpPr/>
          <p:nvPr/>
        </p:nvSpPr>
        <p:spPr>
          <a:xfrm>
            <a:off x="457200" y="2474931"/>
            <a:ext cx="5538800" cy="24252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00" i="1" dirty="0">
                <a:solidFill>
                  <a:srgbClr val="000000"/>
                </a:solidFill>
                <a:latin typeface="Arial"/>
                <a:cs typeface="Arial"/>
              </a:rPr>
              <a:t>Restricting IV fluid did not change 90-day mortality [1].</a:t>
            </a:r>
          </a:p>
          <a:p>
            <a:pPr marL="0" indent="0" algn="ctr">
              <a:lnSpc>
                <a:spcPct val="104000"/>
              </a:lnSpc>
              <a:spcBef>
                <a:spcPts val="400"/>
              </a:spcBef>
              <a:buNone/>
            </a:pPr>
            <a:r>
              <a:rPr lang="en-US" sz="1700" b="1" dirty="0">
                <a:solidFill>
                  <a:srgbClr val="000000"/>
                </a:solidFill>
                <a:latin typeface="Arial"/>
                <a:cs typeface="Arial"/>
              </a:rPr>
              <a:t>Reference list:</a:t>
            </a:r>
          </a:p>
          <a:p>
            <a:pPr marL="0" indent="0" algn="ctr">
              <a:lnSpc>
                <a:spcPct val="104000"/>
              </a:lnSpc>
              <a:spcBef>
                <a:spcPts val="400"/>
              </a:spcBef>
              <a:buNone/>
            </a:pPr>
            <a:r>
              <a:rPr lang="en-US" sz="1700" dirty="0">
                <a:solidFill>
                  <a:srgbClr val="000000"/>
                </a:solidFill>
                <a:latin typeface="Arial"/>
                <a:cs typeface="Arial"/>
              </a:rPr>
              <a:t>1. Author AA, Author BB, et al. Title. J Abbrev. Year;Vol(Issue):pages.</a:t>
            </a:r>
          </a:p>
          <a:p>
            <a:pPr marL="0" indent="0" algn="ctr">
              <a:lnSpc>
                <a:spcPct val="104000"/>
              </a:lnSpc>
              <a:spcBef>
                <a:spcPts val="400"/>
              </a:spcBef>
              <a:buNone/>
            </a:pPr>
            <a:r>
              <a:rPr lang="en-US" sz="1700" i="1" dirty="0">
                <a:solidFill>
                  <a:srgbClr val="595959"/>
                </a:solidFill>
                <a:latin typeface="Arial"/>
                <a:cs typeface="Arial"/>
              </a:rPr>
              <a:t>Numbered in the order cited. Used by most medical journals.</a:t>
            </a:r>
          </a:p>
        </p:txBody>
      </p:sp>
      <p:sp>
        <p:nvSpPr>
          <p:cNvPr id="72" name="CardHead"/>
          <p:cNvSpPr/>
          <p:nvPr/>
        </p:nvSpPr>
        <p:spPr>
          <a:xfrm>
            <a:off x="6196000" y="1834931"/>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APA</a:t>
            </a:r>
          </a:p>
        </p:txBody>
      </p:sp>
      <p:sp>
        <p:nvSpPr>
          <p:cNvPr id="73" name="CardBody"/>
          <p:cNvSpPr/>
          <p:nvPr/>
        </p:nvSpPr>
        <p:spPr>
          <a:xfrm>
            <a:off x="6196000" y="2474931"/>
            <a:ext cx="5538800" cy="24252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00" i="1" dirty="0">
                <a:solidFill>
                  <a:srgbClr val="000000"/>
                </a:solidFill>
                <a:latin typeface="Arial"/>
                <a:cs typeface="Arial"/>
              </a:rPr>
              <a:t>Restricting IV fluid did not change 90-day mortality (Meyhoff et al., 2022).</a:t>
            </a:r>
          </a:p>
          <a:p>
            <a:pPr marL="0" indent="0" algn="ctr">
              <a:lnSpc>
                <a:spcPct val="104000"/>
              </a:lnSpc>
              <a:spcBef>
                <a:spcPts val="400"/>
              </a:spcBef>
              <a:buNone/>
            </a:pPr>
            <a:r>
              <a:rPr lang="en-US" sz="1700" b="1" dirty="0">
                <a:solidFill>
                  <a:srgbClr val="000000"/>
                </a:solidFill>
                <a:latin typeface="Arial"/>
                <a:cs typeface="Arial"/>
              </a:rPr>
              <a:t>Reference list:</a:t>
            </a:r>
          </a:p>
          <a:p>
            <a:pPr marL="0" indent="0" algn="ctr">
              <a:lnSpc>
                <a:spcPct val="104000"/>
              </a:lnSpc>
              <a:spcBef>
                <a:spcPts val="400"/>
              </a:spcBef>
              <a:buNone/>
            </a:pPr>
            <a:r>
              <a:rPr lang="en-US" sz="1700" dirty="0">
                <a:solidFill>
                  <a:srgbClr val="000000"/>
                </a:solidFill>
                <a:latin typeface="Arial"/>
                <a:cs typeface="Arial"/>
              </a:rPr>
              <a:t>Author, A. A., &amp; Author, B. B. (Year). Title. Journal, Vol(Issue), pages.</a:t>
            </a:r>
          </a:p>
          <a:p>
            <a:pPr marL="0" indent="0" algn="ctr">
              <a:lnSpc>
                <a:spcPct val="104000"/>
              </a:lnSpc>
              <a:spcBef>
                <a:spcPts val="400"/>
              </a:spcBef>
              <a:buNone/>
            </a:pPr>
            <a:r>
              <a:rPr lang="en-US" sz="1700" i="1" dirty="0">
                <a:solidFill>
                  <a:srgbClr val="595959"/>
                </a:solidFill>
                <a:latin typeface="Arial"/>
                <a:cs typeface="Arial"/>
              </a:rPr>
              <a:t>Author and year in the text. Common in nursing and social science.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Pick the style your target journal uses, and let the software do the formatting.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Live demo: from PubMed to Zotero to Word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LIVE DEMO   |   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In Zotero: File, Import, then choose the .nbib file saved in the PubMed demo</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Check the entry: authors, title, journal, year, DOI, nothing typed by hand</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In Word, Zotero tab: 'Add/Edit Citation', then type Meyhoff (first author of CLASSIC)</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Click 'Add/Edit Bibliography': the reference list appears</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Click 'Document Preferences': switch Vancouver to APA and back</a:t>
            </a:r>
          </a:p>
        </p:txBody>
      </p:sp>
      <p:sp>
        <p:nvSpPr>
          <p:cNvPr id="52" name="Side"/>
          <p:cNvSpPr/>
          <p:nvPr/>
        </p:nvSpPr>
        <p:spPr>
          <a:xfrm>
            <a:off x="7423760" y="1720000"/>
            <a:ext cx="4311040" cy="120000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Watch for</a:t>
            </a:r>
          </a:p>
          <a:p>
            <a:pPr marL="0" indent="0" algn="ctr">
              <a:lnSpc>
                <a:spcPct val="104000"/>
              </a:lnSpc>
              <a:spcBef>
                <a:spcPts val="300"/>
              </a:spcBef>
              <a:buNone/>
            </a:pPr>
            <a:r>
              <a:rPr lang="en-US" sz="1500" dirty="0">
                <a:solidFill>
                  <a:srgbClr val="000000"/>
                </a:solidFill>
                <a:latin typeface="Arial"/>
                <a:cs typeface="Arial"/>
              </a:rPr>
              <a:t>[1] becomes (Meyhoff et al., 2022)</a:t>
            </a:r>
          </a:p>
          <a:p>
            <a:pPr marL="0" indent="0" algn="ctr">
              <a:lnSpc>
                <a:spcPct val="104000"/>
              </a:lnSpc>
              <a:spcBef>
                <a:spcPts val="300"/>
              </a:spcBef>
              <a:buNone/>
            </a:pPr>
            <a:r>
              <a:rPr lang="en-US" sz="1500" dirty="0">
                <a:solidFill>
                  <a:srgbClr val="000000"/>
                </a:solidFill>
                <a:latin typeface="Arial"/>
                <a:cs typeface="Arial"/>
              </a:rPr>
              <a:t>The list reformats itself</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OUTPUT   </a:t>
            </a:r>
            <a:r>
              <a:rPr lang="en-US" sz="1500" dirty="0">
                <a:solidFill>
                  <a:srgbClr val="000000"/>
                </a:solidFill>
                <a:latin typeface="Arial"/>
                <a:cs typeface="Arial"/>
              </a:rPr>
              <a:t>Everyone has seen the full cycle: collect, export, import, cite, list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Citing vs copying: paraphrase safely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Method: read, close the paper, write from memory, check facts, cite.</a:t>
            </a:r>
          </a:p>
        </p:txBody>
      </p:sp>
      <p:sp>
        <p:nvSpPr>
          <p:cNvPr id="70" name="CardHead"/>
          <p:cNvSpPr/>
          <p:nvPr/>
        </p:nvSpPr>
        <p:spPr>
          <a:xfrm>
            <a:off x="457200" y="1800006"/>
            <a:ext cx="3625866" cy="640000"/>
          </a:xfrm>
          <a:prstGeom prst="rect">
            <a:avLst/>
          </a:prstGeom>
          <a:solidFill>
            <a:srgbClr val="8A99A3"/>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Source (Boulet et al. 2024, abstract)</a:t>
            </a:r>
          </a:p>
        </p:txBody>
      </p:sp>
      <p:sp>
        <p:nvSpPr>
          <p:cNvPr id="71" name="CardBody"/>
          <p:cNvSpPr/>
          <p:nvPr/>
        </p:nvSpPr>
        <p:spPr>
          <a:xfrm>
            <a:off x="457200" y="2440006"/>
            <a:ext cx="3625866" cy="25299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50" i="1" dirty="0">
                <a:solidFill>
                  <a:srgbClr val="000000"/>
                </a:solidFill>
                <a:latin typeface="Arial"/>
                <a:cs typeface="Arial"/>
              </a:rPr>
              <a:t>"In ICU patients with septic shock, an optimized restrictive fluid strategy targeting hidden fluid intakes did not reduce the overall fluid balance at day 5."</a:t>
            </a:r>
          </a:p>
        </p:txBody>
      </p:sp>
      <p:sp>
        <p:nvSpPr>
          <p:cNvPr id="72" name="CardHead"/>
          <p:cNvSpPr/>
          <p:nvPr/>
        </p:nvSpPr>
        <p:spPr>
          <a:xfrm>
            <a:off x="4283066" y="1800006"/>
            <a:ext cx="3625866"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Word swaps ("patchwriting")</a:t>
            </a:r>
          </a:p>
        </p:txBody>
      </p:sp>
      <p:sp>
        <p:nvSpPr>
          <p:cNvPr id="73" name="CardBody"/>
          <p:cNvSpPr/>
          <p:nvPr/>
        </p:nvSpPr>
        <p:spPr>
          <a:xfrm>
            <a:off x="4283066" y="2440006"/>
            <a:ext cx="3625866" cy="25299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50" i="1" dirty="0">
                <a:solidFill>
                  <a:srgbClr val="000000"/>
                </a:solidFill>
                <a:latin typeface="Arial"/>
                <a:cs typeface="Arial"/>
              </a:rPr>
              <a:t>"In septic shock ICU patients, an optimised restrictive approach targeting hidden fluid intakes did not lower the total fluid balance at day 5."</a:t>
            </a:r>
          </a:p>
          <a:p>
            <a:pPr marL="0" indent="0" algn="ctr">
              <a:lnSpc>
                <a:spcPct val="104000"/>
              </a:lnSpc>
              <a:spcBef>
                <a:spcPts val="400"/>
              </a:spcBef>
              <a:buNone/>
            </a:pPr>
            <a:r>
              <a:rPr lang="en-US" sz="1650" b="1" dirty="0">
                <a:solidFill>
                  <a:srgbClr val="B23B2E"/>
                </a:solidFill>
                <a:latin typeface="Arial"/>
                <a:cs typeface="Arial"/>
              </a:rPr>
              <a:t>Same structure, same words = plagiarism, even with a reference</a:t>
            </a:r>
          </a:p>
        </p:txBody>
      </p:sp>
      <p:sp>
        <p:nvSpPr>
          <p:cNvPr id="74" name="CardHead"/>
          <p:cNvSpPr/>
          <p:nvPr/>
        </p:nvSpPr>
        <p:spPr>
          <a:xfrm>
            <a:off x="8108932" y="1800006"/>
            <a:ext cx="3625866"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Own words + citation</a:t>
            </a:r>
          </a:p>
        </p:txBody>
      </p:sp>
      <p:sp>
        <p:nvSpPr>
          <p:cNvPr id="75" name="CardBody"/>
          <p:cNvSpPr/>
          <p:nvPr/>
        </p:nvSpPr>
        <p:spPr>
          <a:xfrm>
            <a:off x="8108932" y="2440006"/>
            <a:ext cx="3625866" cy="25299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50" i="1" dirty="0">
                <a:solidFill>
                  <a:srgbClr val="000000"/>
                </a:solidFill>
                <a:latin typeface="Arial"/>
                <a:cs typeface="Arial"/>
              </a:rPr>
              <a:t>"A pilot trial in 48 patients found that limiting maintenance and drug-dilution fluids did not significantly change fluid balance after five days [1]."</a:t>
            </a:r>
          </a:p>
          <a:p>
            <a:pPr marL="0" indent="0" algn="ctr">
              <a:lnSpc>
                <a:spcPct val="104000"/>
              </a:lnSpc>
              <a:spcBef>
                <a:spcPts val="400"/>
              </a:spcBef>
              <a:buNone/>
            </a:pPr>
            <a:r>
              <a:rPr lang="en-US" sz="1650" b="1" dirty="0">
                <a:solidFill>
                  <a:srgbClr val="2E8B57"/>
                </a:solidFill>
                <a:latin typeface="Arial"/>
                <a:cs typeface="Arial"/>
              </a:rPr>
              <a:t>New structure, adds context, cited</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Change the structure as well as the words, and always cite the source.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Four rules for citing safely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91666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Cite facts</a:t>
            </a:r>
          </a:p>
        </p:txBody>
      </p:sp>
      <p:sp>
        <p:nvSpPr>
          <p:cNvPr id="71" name="CardBody"/>
          <p:cNvSpPr/>
          <p:nvPr/>
        </p:nvSpPr>
        <p:spPr>
          <a:xfrm>
            <a:off x="4572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Numbers, findings and others' ideas need a citation</a:t>
            </a:r>
          </a:p>
        </p:txBody>
      </p:sp>
      <p:sp>
        <p:nvSpPr>
          <p:cNvPr id="72" name="CardHead"/>
          <p:cNvSpPr/>
          <p:nvPr/>
        </p:nvSpPr>
        <p:spPr>
          <a:xfrm>
            <a:off x="3326600" y="191666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Cite sources</a:t>
            </a:r>
          </a:p>
        </p:txBody>
      </p:sp>
      <p:sp>
        <p:nvSpPr>
          <p:cNvPr id="73" name="CardBody"/>
          <p:cNvSpPr/>
          <p:nvPr/>
        </p:nvSpPr>
        <p:spPr>
          <a:xfrm>
            <a:off x="33266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Read and cite the original paper</a:t>
            </a:r>
          </a:p>
          <a:p>
            <a:pPr marL="0" indent="0" algn="ctr">
              <a:lnSpc>
                <a:spcPct val="104000"/>
              </a:lnSpc>
              <a:spcBef>
                <a:spcPts val="400"/>
              </a:spcBef>
              <a:buNone/>
            </a:pPr>
            <a:r>
              <a:rPr lang="en-US" sz="1600" dirty="0">
                <a:solidFill>
                  <a:srgbClr val="000000"/>
                </a:solidFill>
                <a:latin typeface="Arial"/>
                <a:cs typeface="Arial"/>
              </a:rPr>
              <a:t>Not a summary of it</a:t>
            </a:r>
          </a:p>
        </p:txBody>
      </p:sp>
      <p:sp>
        <p:nvSpPr>
          <p:cNvPr id="74" name="CardHead"/>
          <p:cNvSpPr/>
          <p:nvPr/>
        </p:nvSpPr>
        <p:spPr>
          <a:xfrm>
            <a:off x="6196000" y="191666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Own words</a:t>
            </a:r>
          </a:p>
        </p:txBody>
      </p:sp>
      <p:sp>
        <p:nvSpPr>
          <p:cNvPr id="75" name="CardBody"/>
          <p:cNvSpPr/>
          <p:nvPr/>
        </p:nvSpPr>
        <p:spPr>
          <a:xfrm>
            <a:off x="61960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Use a new structure</a:t>
            </a:r>
          </a:p>
          <a:p>
            <a:pPr marL="0" indent="0" algn="ctr">
              <a:lnSpc>
                <a:spcPct val="104000"/>
              </a:lnSpc>
              <a:spcBef>
                <a:spcPts val="400"/>
              </a:spcBef>
              <a:buNone/>
            </a:pPr>
            <a:r>
              <a:rPr lang="en-US" sz="1600" dirty="0">
                <a:solidFill>
                  <a:srgbClr val="000000"/>
                </a:solidFill>
                <a:latin typeface="Arial"/>
                <a:cs typeface="Arial"/>
              </a:rPr>
              <a:t>Exact words only in quotation marks</a:t>
            </a:r>
          </a:p>
        </p:txBody>
      </p:sp>
      <p:sp>
        <p:nvSpPr>
          <p:cNvPr id="76" name="CardHead"/>
          <p:cNvSpPr/>
          <p:nvPr/>
        </p:nvSpPr>
        <p:spPr>
          <a:xfrm>
            <a:off x="9065400" y="191666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Check</a:t>
            </a:r>
          </a:p>
        </p:txBody>
      </p:sp>
      <p:sp>
        <p:nvSpPr>
          <p:cNvPr id="77" name="CardBody"/>
          <p:cNvSpPr/>
          <p:nvPr/>
        </p:nvSpPr>
        <p:spPr>
          <a:xfrm>
            <a:off x="9065400" y="2556666"/>
            <a:ext cx="2669400" cy="130000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Every reference says what you claim it says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Never cite a paper you have not read.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your understanding: OK or not OK?</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2 min</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You copy a sentence from an abstract, change two words and add [3]</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You quote one sentence word for word, in quotation marks, with [3]</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You write a finding in your own words but forget the citation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You cite a paper you found quoted in a review, without reading it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For each: a thumbs-up (OK) or thumbs-down (not OK) reaction, or the poll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Grey literature, including trial registries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472440" y="2519200"/>
            <a:ext cx="6035040" cy="2606040"/>
          </a:xfrm>
          <a:prstGeom prst="rect">
            <a:avLst/>
          </a:prstGeom>
          <a:solidFill>
            <a:srgbClr val="DCEBF2"/>
          </a:solidFill>
          <a:ln>
            <a:noFill/>
          </a:ln>
        </p:spPr>
        <p:txBody>
          <a:bodyPr wrap="square" lIns="54864" tIns="54864" rIns="54864" bIns="54864" rtlCol="0" anchor="ctr">
            <a:noAutofit/>
          </a:bodyPr>
          <a:lstStyle/>
          <a:p>
            <a:endParaRPr lang="en-US"/>
          </a:p>
        </p:txBody>
      </p:sp>
      <p:cxnSp>
        <p:nvCxnSpPr>
          <p:cNvPr id="101" name="Line"/>
          <p:cNvCxnSpPr/>
          <p:nvPr/>
        </p:nvCxnSpPr>
        <p:spPr>
          <a:xfrm>
            <a:off x="472440" y="2519200"/>
            <a:ext cx="6035040" cy="0"/>
          </a:xfrm>
          <a:prstGeom prst="straightConnector1">
            <a:avLst/>
          </a:prstGeom>
          <a:ln w="31750" cap="rnd">
            <a:solidFill>
              <a:srgbClr val="0070C0"/>
            </a:solidFill>
            <a:round/>
          </a:ln>
        </p:spPr>
      </p:cxnSp>
      <p:sp>
        <p:nvSpPr>
          <p:cNvPr id="102" name="Box"/>
          <p:cNvSpPr/>
          <p:nvPr/>
        </p:nvSpPr>
        <p:spPr>
          <a:xfrm>
            <a:off x="1935480" y="1284760"/>
            <a:ext cx="3108960" cy="1234440"/>
          </a:xfrm>
          <a:prstGeom prst="trapezoid">
            <a:avLst>
              <a:gd name="adj" fmla="val 124000"/>
            </a:avLst>
          </a:prstGeom>
          <a:solidFill>
            <a:srgbClr val="FFFFFF"/>
          </a:solidFill>
          <a:ln w="25400">
            <a:solidFill>
              <a:srgbClr val="0070C0"/>
            </a:solidFill>
          </a:ln>
        </p:spPr>
        <p:txBody>
          <a:bodyPr wrap="square" lIns="54864" tIns="54864" rIns="54864" bIns="54864" rtlCol="0" anchor="ctr">
            <a:noAutofit/>
          </a:bodyPr>
          <a:lstStyle/>
          <a:p>
            <a:endParaRPr lang="en-US"/>
          </a:p>
        </p:txBody>
      </p:sp>
      <p:sp>
        <p:nvSpPr>
          <p:cNvPr id="103" name="Text"/>
          <p:cNvSpPr/>
          <p:nvPr/>
        </p:nvSpPr>
        <p:spPr>
          <a:xfrm>
            <a:off x="2301240" y="1943128"/>
            <a:ext cx="2377440" cy="54864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400" b="1" dirty="0">
                <a:solidFill>
                  <a:srgbClr val="0B376C"/>
                </a:solidFill>
                <a:latin typeface="Arial"/>
                <a:cs typeface="Arial"/>
              </a:rPr>
              <a:t>Journal articles</a:t>
            </a:r>
          </a:p>
          <a:p>
            <a:pPr marL="0" indent="0" algn="ctr">
              <a:lnSpc>
                <a:spcPct val="100000"/>
              </a:lnSpc>
              <a:buNone/>
            </a:pPr>
            <a:r>
              <a:rPr lang="en-US" sz="1400" b="1" dirty="0">
                <a:solidFill>
                  <a:srgbClr val="0B376C"/>
                </a:solidFill>
                <a:latin typeface="Arial"/>
                <a:cs typeface="Arial"/>
              </a:rPr>
              <a:t>(PubMed)</a:t>
            </a:r>
          </a:p>
        </p:txBody>
      </p:sp>
      <p:sp>
        <p:nvSpPr>
          <p:cNvPr id="104" name="Box"/>
          <p:cNvSpPr/>
          <p:nvPr/>
        </p:nvSpPr>
        <p:spPr>
          <a:xfrm>
            <a:off x="883920" y="2610640"/>
            <a:ext cx="5212080" cy="2423160"/>
          </a:xfrm>
          <a:prstGeom prst="roundRect">
            <a:avLst>
              <a:gd name="adj" fmla="val 30000"/>
            </a:avLst>
          </a:prstGeom>
          <a:solidFill>
            <a:srgbClr val="F4FAFC"/>
          </a:solidFill>
          <a:ln w="25400">
            <a:solidFill>
              <a:srgbClr val="0070C0"/>
            </a:solidFill>
          </a:ln>
        </p:spPr>
        <p:txBody>
          <a:bodyPr wrap="square" lIns="54864" tIns="54864" rIns="54864" bIns="54864" rtlCol="0" anchor="ctr">
            <a:noAutofit/>
          </a:bodyPr>
          <a:lstStyle/>
          <a:p>
            <a:endParaRPr lang="en-US"/>
          </a:p>
        </p:txBody>
      </p:sp>
      <p:sp>
        <p:nvSpPr>
          <p:cNvPr id="105" name="Text"/>
          <p:cNvSpPr/>
          <p:nvPr/>
        </p:nvSpPr>
        <p:spPr>
          <a:xfrm>
            <a:off x="883920" y="2702080"/>
            <a:ext cx="5212080" cy="411480"/>
          </a:xfrm>
          <a:prstGeom prst="rect">
            <a:avLst/>
          </a:prstGeom>
          <a:noFill/>
          <a:ln>
            <a:noFill/>
          </a:ln>
        </p:spPr>
        <p:txBody>
          <a:bodyPr wrap="square" lIns="54864" tIns="54864" rIns="54864" bIns="54864" rtlCol="0" anchor="ctr">
            <a:noAutofit/>
          </a:bodyPr>
          <a:lstStyle/>
          <a:p>
            <a:pPr marL="0" indent="0" algn="ctr">
              <a:lnSpc>
                <a:spcPct val="100000"/>
              </a:lnSpc>
              <a:buNone/>
            </a:pPr>
            <a:r>
              <a:rPr lang="en-US" sz="1700" b="1" dirty="0">
                <a:solidFill>
                  <a:srgbClr val="055F56"/>
                </a:solidFill>
                <a:latin typeface="Arial"/>
                <a:cs typeface="Arial"/>
              </a:rPr>
              <a:t>Grey literature</a:t>
            </a:r>
          </a:p>
        </p:txBody>
      </p:sp>
      <p:sp>
        <p:nvSpPr>
          <p:cNvPr id="106" name="Text"/>
          <p:cNvSpPr/>
          <p:nvPr/>
        </p:nvSpPr>
        <p:spPr>
          <a:xfrm>
            <a:off x="1112520" y="3159280"/>
            <a:ext cx="4754880" cy="1737360"/>
          </a:xfrm>
          <a:prstGeom prst="rect">
            <a:avLst/>
          </a:prstGeom>
          <a:noFill/>
          <a:ln>
            <a:noFill/>
          </a:ln>
        </p:spPr>
        <p:txBody>
          <a:bodyPr wrap="square" lIns="54864" tIns="54864" rIns="54864" bIns="54864" rtlCol="0" anchor="t">
            <a:noAutofit/>
          </a:bodyPr>
          <a:lstStyle/>
          <a:p>
            <a:pPr marL="0" indent="0" algn="ctr">
              <a:lnSpc>
                <a:spcPct val="100000"/>
              </a:lnSpc>
              <a:buNone/>
            </a:pPr>
            <a:r>
              <a:rPr lang="en-US" sz="1500" dirty="0">
                <a:solidFill>
                  <a:srgbClr val="1A1A1A"/>
                </a:solidFill>
                <a:latin typeface="Arial"/>
                <a:cs typeface="Arial"/>
              </a:rPr>
              <a:t>Trial registries (ClinicalTrials.gov, WHO ICTRP)</a:t>
            </a:r>
          </a:p>
          <a:p>
            <a:pPr marL="0" indent="0" algn="ctr">
              <a:lnSpc>
                <a:spcPct val="100000"/>
              </a:lnSpc>
              <a:spcBef>
                <a:spcPts val="500"/>
              </a:spcBef>
              <a:buNone/>
            </a:pPr>
            <a:r>
              <a:rPr lang="en-US" sz="1500" dirty="0">
                <a:solidFill>
                  <a:srgbClr val="1A1A1A"/>
                </a:solidFill>
                <a:latin typeface="Arial"/>
                <a:cs typeface="Arial"/>
              </a:rPr>
              <a:t>Conference abstracts</a:t>
            </a:r>
          </a:p>
          <a:p>
            <a:pPr marL="0" indent="0" algn="ctr">
              <a:lnSpc>
                <a:spcPct val="100000"/>
              </a:lnSpc>
              <a:spcBef>
                <a:spcPts val="500"/>
              </a:spcBef>
              <a:buNone/>
            </a:pPr>
            <a:r>
              <a:rPr lang="en-US" sz="1500" dirty="0">
                <a:solidFill>
                  <a:srgbClr val="1A1A1A"/>
                </a:solidFill>
                <a:latin typeface="Arial"/>
                <a:cs typeface="Arial"/>
              </a:rPr>
              <a:t>Theses and dissertations</a:t>
            </a:r>
          </a:p>
          <a:p>
            <a:pPr marL="0" indent="0" algn="ctr">
              <a:lnSpc>
                <a:spcPct val="100000"/>
              </a:lnSpc>
              <a:spcBef>
                <a:spcPts val="500"/>
              </a:spcBef>
              <a:buNone/>
            </a:pPr>
            <a:r>
              <a:rPr lang="en-US" sz="1500" dirty="0">
                <a:solidFill>
                  <a:srgbClr val="1A1A1A"/>
                </a:solidFill>
                <a:latin typeface="Arial"/>
                <a:cs typeface="Arial"/>
              </a:rPr>
              <a:t>Reports, guidelines, preprints</a:t>
            </a:r>
          </a:p>
        </p:txBody>
      </p:sp>
      <p:sp>
        <p:nvSpPr>
          <p:cNvPr id="107" name="Box"/>
          <p:cNvSpPr/>
          <p:nvPr/>
        </p:nvSpPr>
        <p:spPr>
          <a:xfrm>
            <a:off x="6964680" y="1330480"/>
            <a:ext cx="4754880" cy="1600200"/>
          </a:xfrm>
          <a:prstGeom prst="roundRect">
            <a:avLst>
              <a:gd name="adj" fmla="val 8000"/>
            </a:avLst>
          </a:prstGeom>
          <a:solidFill>
            <a:srgbClr val="FFFFFF"/>
          </a:solidFill>
          <a:ln w="25400">
            <a:solidFill>
              <a:srgbClr val="055F56"/>
            </a:solidFill>
          </a:ln>
        </p:spPr>
        <p:txBody>
          <a:bodyPr wrap="square" lIns="109728" tIns="109728" rIns="109728" bIns="109728" rtlCol="0" anchor="ctr">
            <a:noAutofit/>
          </a:bodyPr>
          <a:lstStyle/>
          <a:p>
            <a:pPr marL="0" indent="0" algn="ctr">
              <a:lnSpc>
                <a:spcPct val="100000"/>
              </a:lnSpc>
              <a:buNone/>
            </a:pPr>
            <a:r>
              <a:rPr lang="en-US" sz="1500" b="1" dirty="0">
                <a:solidFill>
                  <a:srgbClr val="055F56"/>
                </a:solidFill>
                <a:latin typeface="Arial"/>
                <a:cs typeface="Arial"/>
              </a:rPr>
              <a:t>Why look below the water?</a:t>
            </a:r>
          </a:p>
          <a:p>
            <a:pPr marL="0" indent="0" algn="ctr">
              <a:lnSpc>
                <a:spcPct val="100000"/>
              </a:lnSpc>
              <a:spcBef>
                <a:spcPts val="300"/>
              </a:spcBef>
              <a:buNone/>
            </a:pPr>
            <a:r>
              <a:rPr lang="en-US" sz="1500" dirty="0">
                <a:solidFill>
                  <a:srgbClr val="1A1A1A"/>
                </a:solidFill>
                <a:latin typeface="Arial"/>
                <a:cs typeface="Arial"/>
              </a:rPr>
              <a:t>Trials with negative results are published less often (publication bias).</a:t>
            </a:r>
          </a:p>
        </p:txBody>
      </p:sp>
      <p:sp>
        <p:nvSpPr>
          <p:cNvPr id="108" name="Box"/>
          <p:cNvSpPr/>
          <p:nvPr/>
        </p:nvSpPr>
        <p:spPr>
          <a:xfrm>
            <a:off x="6964680" y="3159280"/>
            <a:ext cx="4754880" cy="1920240"/>
          </a:xfrm>
          <a:prstGeom prst="roundRect">
            <a:avLst>
              <a:gd name="adj" fmla="val 8000"/>
            </a:avLst>
          </a:prstGeom>
          <a:solidFill>
            <a:srgbClr val="FFFFFF"/>
          </a:solidFill>
          <a:ln w="25400">
            <a:solidFill>
              <a:srgbClr val="055F56"/>
            </a:solidFill>
          </a:ln>
        </p:spPr>
        <p:txBody>
          <a:bodyPr wrap="square" lIns="109728" tIns="109728" rIns="109728" bIns="109728" rtlCol="0" anchor="ctr">
            <a:noAutofit/>
          </a:bodyPr>
          <a:lstStyle/>
          <a:p>
            <a:pPr marL="0" indent="0" algn="ctr">
              <a:lnSpc>
                <a:spcPct val="100000"/>
              </a:lnSpc>
              <a:buNone/>
            </a:pPr>
            <a:r>
              <a:rPr lang="en-US" sz="1500" b="1" dirty="0">
                <a:solidFill>
                  <a:srgbClr val="055F56"/>
                </a:solidFill>
                <a:latin typeface="Arial"/>
                <a:cs typeface="Arial"/>
              </a:rPr>
              <a:t>Trial registry</a:t>
            </a:r>
          </a:p>
          <a:p>
            <a:pPr marL="0" indent="0" algn="ctr">
              <a:lnSpc>
                <a:spcPct val="100000"/>
              </a:lnSpc>
              <a:spcBef>
                <a:spcPts val="300"/>
              </a:spcBef>
              <a:buNone/>
            </a:pPr>
            <a:r>
              <a:rPr lang="en-US" sz="1500" dirty="0">
                <a:solidFill>
                  <a:srgbClr val="1A1A1A"/>
                </a:solidFill>
                <a:latin typeface="Arial"/>
                <a:cs typeface="Arial"/>
              </a:rPr>
              <a:t>A public record of a trial, made before the first patient is enrolled.</a:t>
            </a:r>
          </a:p>
          <a:p>
            <a:pPr marL="0" indent="0" algn="ctr">
              <a:lnSpc>
                <a:spcPct val="100000"/>
              </a:lnSpc>
              <a:spcBef>
                <a:spcPts val="300"/>
              </a:spcBef>
              <a:buNone/>
            </a:pPr>
            <a:r>
              <a:rPr lang="en-US" sz="1500" dirty="0">
                <a:solidFill>
                  <a:srgbClr val="1A1A1A"/>
                </a:solidFill>
                <a:latin typeface="Arial"/>
                <a:cs typeface="Arial"/>
              </a:rPr>
              <a:t>Compare its planned primary outcome with the paper.</a:t>
            </a:r>
          </a:p>
          <a:p>
            <a:pPr marL="0" indent="0" algn="ctr">
              <a:lnSpc>
                <a:spcPct val="100000"/>
              </a:lnSpc>
              <a:spcBef>
                <a:spcPts val="300"/>
              </a:spcBef>
              <a:buNone/>
            </a:pPr>
            <a:r>
              <a:rPr lang="en-US" sz="1500" dirty="0">
                <a:solidFill>
                  <a:srgbClr val="1A1A1A"/>
                </a:solidFill>
                <a:latin typeface="Arial"/>
                <a:cs typeface="Arial"/>
              </a:rPr>
              <a:t>Paper 1: NCT04947904</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Search below the waterline too: grey literature and trial registries.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Break</a:t>
            </a:r>
          </a:p>
          <a:p>
            <a:pPr marL="0" indent="0" algn="ctr">
              <a:spcBef>
                <a:spcPts val="600"/>
              </a:spcBef>
              <a:buNone/>
            </a:pPr>
            <a:r>
              <a:rPr lang="en-US" sz="2400" dirty="0">
                <a:solidFill>
                  <a:srgbClr val="595959"/>
                </a:solidFill>
                <a:latin typeface="Arial"/>
                <a:cs typeface="Arial"/>
              </a:rPr>
              <a:t>15 min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2.3  Reading a paper in 15 minutes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You do not have to read every word. Read the right words in the right order.</a:t>
            </a:r>
          </a:p>
          <a:p>
            <a:pPr marL="0" indent="0" algn="ctr">
              <a:spcBef>
                <a:spcPts val="1200"/>
              </a:spcBef>
              <a:buNone/>
            </a:pPr>
            <a:r>
              <a:rPr lang="en-US" sz="1900" i="1" dirty="0">
                <a:solidFill>
                  <a:srgbClr val="595959"/>
                </a:solidFill>
                <a:latin typeface="Arial"/>
                <a:cs typeface="Arial"/>
              </a:rPr>
              <a:t>40 minutes: anatomy of a paper, reading order, the abstract, spin, and a reading task on Paper 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Anatomy of a paper: IMRaD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655320" y="1239040"/>
            <a:ext cx="3840480" cy="502920"/>
          </a:xfrm>
          <a:prstGeom prst="roundRect">
            <a:avLst>
              <a:gd name="adj" fmla="val 20000"/>
            </a:avLst>
          </a:prstGeom>
          <a:solidFill>
            <a:srgbClr val="055F56"/>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Title + abstract</a:t>
            </a:r>
          </a:p>
        </p:txBody>
      </p:sp>
      <p:cxnSp>
        <p:nvCxnSpPr>
          <p:cNvPr id="101" name="Line"/>
          <p:cNvCxnSpPr/>
          <p:nvPr/>
        </p:nvCxnSpPr>
        <p:spPr>
          <a:xfrm>
            <a:off x="4587240" y="1490500"/>
            <a:ext cx="1188720" cy="0"/>
          </a:xfrm>
          <a:prstGeom prst="straightConnector1">
            <a:avLst/>
          </a:prstGeom>
          <a:ln w="25400" cap="rnd">
            <a:solidFill>
              <a:srgbClr val="055F56"/>
            </a:solidFill>
            <a:prstDash val="sysDot"/>
            <a:round/>
          </a:ln>
        </p:spPr>
      </p:cxnSp>
      <p:sp>
        <p:nvSpPr>
          <p:cNvPr id="102" name="Text"/>
          <p:cNvSpPr/>
          <p:nvPr/>
        </p:nvSpPr>
        <p:spPr>
          <a:xfrm>
            <a:off x="5913120" y="1216180"/>
            <a:ext cx="5806440" cy="548640"/>
          </a:xfrm>
          <a:prstGeom prst="rect">
            <a:avLst/>
          </a:prstGeom>
          <a:noFill/>
          <a:ln>
            <a:noFill/>
          </a:ln>
        </p:spPr>
        <p:txBody>
          <a:bodyPr wrap="square" lIns="54864" tIns="54864" rIns="54864" bIns="54864" rtlCol="0" anchor="ctr">
            <a:noAutofit/>
          </a:bodyPr>
          <a:lstStyle/>
          <a:p>
            <a:pPr marL="0" indent="0" algn="l">
              <a:lnSpc>
                <a:spcPct val="100000"/>
              </a:lnSpc>
              <a:buNone/>
            </a:pPr>
            <a:r>
              <a:rPr lang="en-US" sz="1700" dirty="0">
                <a:solidFill>
                  <a:srgbClr val="1A1A1A"/>
                </a:solidFill>
                <a:latin typeface="Arial"/>
                <a:cs typeface="Arial"/>
              </a:rPr>
              <a:t>Read first: what is the paper about?</a:t>
            </a:r>
          </a:p>
        </p:txBody>
      </p:sp>
      <p:sp>
        <p:nvSpPr>
          <p:cNvPr id="103" name="Box"/>
          <p:cNvSpPr/>
          <p:nvPr/>
        </p:nvSpPr>
        <p:spPr>
          <a:xfrm>
            <a:off x="655320" y="1815112"/>
            <a:ext cx="3840480" cy="868680"/>
          </a:xfrm>
          <a:prstGeom prst="flowChartManualOperation">
            <a:avLst/>
          </a:prstGeom>
          <a:solidFill>
            <a:srgbClr val="0D7377"/>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Introduction</a:t>
            </a:r>
          </a:p>
        </p:txBody>
      </p:sp>
      <p:cxnSp>
        <p:nvCxnSpPr>
          <p:cNvPr id="104" name="Line"/>
          <p:cNvCxnSpPr/>
          <p:nvPr/>
        </p:nvCxnSpPr>
        <p:spPr>
          <a:xfrm>
            <a:off x="4139184" y="2249452"/>
            <a:ext cx="1042416" cy="0"/>
          </a:xfrm>
          <a:prstGeom prst="straightConnector1">
            <a:avLst/>
          </a:prstGeom>
          <a:ln w="25400" cap="rnd">
            <a:solidFill>
              <a:srgbClr val="0D7377"/>
            </a:solidFill>
            <a:prstDash val="sysDot"/>
            <a:round/>
          </a:ln>
        </p:spPr>
      </p:cxnSp>
      <p:sp>
        <p:nvSpPr>
          <p:cNvPr id="105" name="Ellipse"/>
          <p:cNvSpPr/>
          <p:nvPr/>
        </p:nvSpPr>
        <p:spPr>
          <a:xfrm>
            <a:off x="5227320" y="2002564"/>
            <a:ext cx="493776" cy="493776"/>
          </a:xfrm>
          <a:prstGeom prst="ellipse">
            <a:avLst/>
          </a:prstGeom>
          <a:solidFill>
            <a:srgbClr val="0D7377"/>
          </a:solidFill>
          <a:ln>
            <a:noFill/>
          </a:ln>
        </p:spPr>
        <p:txBody>
          <a:bodyPr wrap="square" lIns="0" tIns="0" rIns="0" bIns="0" rtlCol="0" anchor="ctr">
            <a:noAutofit/>
          </a:bodyPr>
          <a:lstStyle/>
          <a:p>
            <a:pPr marL="0" indent="0" algn="ctr">
              <a:lnSpc>
                <a:spcPct val="100000"/>
              </a:lnSpc>
              <a:buNone/>
            </a:pPr>
            <a:r>
              <a:rPr lang="en-US" sz="1800" b="1" dirty="0">
                <a:solidFill>
                  <a:srgbClr val="FFFFFF"/>
                </a:solidFill>
                <a:latin typeface="Arial"/>
                <a:cs typeface="Arial"/>
              </a:rPr>
              <a:t>I</a:t>
            </a:r>
          </a:p>
        </p:txBody>
      </p:sp>
      <p:sp>
        <p:nvSpPr>
          <p:cNvPr id="106" name="Text"/>
          <p:cNvSpPr/>
          <p:nvPr/>
        </p:nvSpPr>
        <p:spPr>
          <a:xfrm>
            <a:off x="5913120" y="1975132"/>
            <a:ext cx="5806440" cy="548640"/>
          </a:xfrm>
          <a:prstGeom prst="rect">
            <a:avLst/>
          </a:prstGeom>
          <a:noFill/>
          <a:ln>
            <a:noFill/>
          </a:ln>
        </p:spPr>
        <p:txBody>
          <a:bodyPr wrap="square" lIns="54864" tIns="54864" rIns="54864" bIns="54864" rtlCol="0" anchor="ctr">
            <a:noAutofit/>
          </a:bodyPr>
          <a:lstStyle/>
          <a:p>
            <a:pPr marL="0" indent="0" algn="l">
              <a:lnSpc>
                <a:spcPct val="100000"/>
              </a:lnSpc>
              <a:buNone/>
            </a:pPr>
            <a:r>
              <a:rPr lang="en-US" sz="1700" dirty="0">
                <a:solidFill>
                  <a:srgbClr val="1A1A1A"/>
                </a:solidFill>
                <a:latin typeface="Arial"/>
                <a:cs typeface="Arial"/>
              </a:rPr>
              <a:t>Why? Broad to narrow, ends with the question</a:t>
            </a:r>
          </a:p>
        </p:txBody>
      </p:sp>
      <p:sp>
        <p:nvSpPr>
          <p:cNvPr id="107" name="Box"/>
          <p:cNvSpPr/>
          <p:nvPr/>
        </p:nvSpPr>
        <p:spPr>
          <a:xfrm>
            <a:off x="1423416" y="2756944"/>
            <a:ext cx="2304288" cy="685800"/>
          </a:xfrm>
          <a:prstGeom prst="rect">
            <a:avLst/>
          </a:prstGeom>
          <a:solidFill>
            <a:srgbClr val="0B376C"/>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Methods</a:t>
            </a:r>
          </a:p>
        </p:txBody>
      </p:sp>
      <p:cxnSp>
        <p:nvCxnSpPr>
          <p:cNvPr id="108" name="Line"/>
          <p:cNvCxnSpPr/>
          <p:nvPr/>
        </p:nvCxnSpPr>
        <p:spPr>
          <a:xfrm>
            <a:off x="3819144" y="3099844"/>
            <a:ext cx="1362456" cy="0"/>
          </a:xfrm>
          <a:prstGeom prst="straightConnector1">
            <a:avLst/>
          </a:prstGeom>
          <a:ln w="25400" cap="rnd">
            <a:solidFill>
              <a:srgbClr val="0B376C"/>
            </a:solidFill>
            <a:prstDash val="sysDot"/>
            <a:round/>
          </a:ln>
        </p:spPr>
      </p:cxnSp>
      <p:sp>
        <p:nvSpPr>
          <p:cNvPr id="109" name="Ellipse"/>
          <p:cNvSpPr/>
          <p:nvPr/>
        </p:nvSpPr>
        <p:spPr>
          <a:xfrm>
            <a:off x="5227320" y="2852956"/>
            <a:ext cx="493776" cy="493776"/>
          </a:xfrm>
          <a:prstGeom prst="ellipse">
            <a:avLst/>
          </a:prstGeom>
          <a:solidFill>
            <a:srgbClr val="0B376C"/>
          </a:solidFill>
          <a:ln>
            <a:noFill/>
          </a:ln>
        </p:spPr>
        <p:txBody>
          <a:bodyPr wrap="square" lIns="0" tIns="0" rIns="0" bIns="0" rtlCol="0" anchor="ctr">
            <a:noAutofit/>
          </a:bodyPr>
          <a:lstStyle/>
          <a:p>
            <a:pPr marL="0" indent="0" algn="ctr">
              <a:lnSpc>
                <a:spcPct val="100000"/>
              </a:lnSpc>
              <a:buNone/>
            </a:pPr>
            <a:r>
              <a:rPr lang="en-US" sz="1800" b="1" dirty="0">
                <a:solidFill>
                  <a:srgbClr val="FFFFFF"/>
                </a:solidFill>
                <a:latin typeface="Arial"/>
                <a:cs typeface="Arial"/>
              </a:rPr>
              <a:t>M</a:t>
            </a:r>
          </a:p>
        </p:txBody>
      </p:sp>
      <p:sp>
        <p:nvSpPr>
          <p:cNvPr id="110" name="Text"/>
          <p:cNvSpPr/>
          <p:nvPr/>
        </p:nvSpPr>
        <p:spPr>
          <a:xfrm>
            <a:off x="5913120" y="2825524"/>
            <a:ext cx="5806440" cy="548640"/>
          </a:xfrm>
          <a:prstGeom prst="rect">
            <a:avLst/>
          </a:prstGeom>
          <a:noFill/>
          <a:ln>
            <a:noFill/>
          </a:ln>
        </p:spPr>
        <p:txBody>
          <a:bodyPr wrap="square" lIns="54864" tIns="54864" rIns="54864" bIns="54864" rtlCol="0" anchor="ctr">
            <a:noAutofit/>
          </a:bodyPr>
          <a:lstStyle/>
          <a:p>
            <a:pPr marL="0" indent="0" algn="l">
              <a:lnSpc>
                <a:spcPct val="100000"/>
              </a:lnSpc>
              <a:buNone/>
            </a:pPr>
            <a:r>
              <a:rPr lang="en-US" sz="1700" dirty="0">
                <a:solidFill>
                  <a:srgbClr val="1A1A1A"/>
                </a:solidFill>
                <a:latin typeface="Arial"/>
                <a:cs typeface="Arial"/>
              </a:rPr>
              <a:t>What was done? Enough detail to repeat it</a:t>
            </a:r>
          </a:p>
        </p:txBody>
      </p:sp>
      <p:sp>
        <p:nvSpPr>
          <p:cNvPr id="111" name="Box"/>
          <p:cNvSpPr/>
          <p:nvPr/>
        </p:nvSpPr>
        <p:spPr>
          <a:xfrm>
            <a:off x="1423416" y="3515896"/>
            <a:ext cx="2304288" cy="685800"/>
          </a:xfrm>
          <a:prstGeom prst="rect">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Results</a:t>
            </a:r>
          </a:p>
        </p:txBody>
      </p:sp>
      <p:cxnSp>
        <p:nvCxnSpPr>
          <p:cNvPr id="112" name="Line"/>
          <p:cNvCxnSpPr/>
          <p:nvPr/>
        </p:nvCxnSpPr>
        <p:spPr>
          <a:xfrm>
            <a:off x="3819144" y="3858796"/>
            <a:ext cx="1362456" cy="0"/>
          </a:xfrm>
          <a:prstGeom prst="straightConnector1">
            <a:avLst/>
          </a:prstGeom>
          <a:ln w="25400" cap="rnd">
            <a:solidFill>
              <a:srgbClr val="0070C0"/>
            </a:solidFill>
            <a:prstDash val="sysDot"/>
            <a:round/>
          </a:ln>
        </p:spPr>
      </p:cxnSp>
      <p:sp>
        <p:nvSpPr>
          <p:cNvPr id="113" name="Ellipse"/>
          <p:cNvSpPr/>
          <p:nvPr/>
        </p:nvSpPr>
        <p:spPr>
          <a:xfrm>
            <a:off x="5227320" y="3611908"/>
            <a:ext cx="493776" cy="493776"/>
          </a:xfrm>
          <a:prstGeom prst="ellipse">
            <a:avLst/>
          </a:prstGeom>
          <a:solidFill>
            <a:srgbClr val="0070C0"/>
          </a:solidFill>
          <a:ln>
            <a:noFill/>
          </a:ln>
        </p:spPr>
        <p:txBody>
          <a:bodyPr wrap="square" lIns="0" tIns="0" rIns="0" bIns="0" rtlCol="0" anchor="ctr">
            <a:noAutofit/>
          </a:bodyPr>
          <a:lstStyle/>
          <a:p>
            <a:pPr marL="0" indent="0" algn="ctr">
              <a:lnSpc>
                <a:spcPct val="100000"/>
              </a:lnSpc>
              <a:buNone/>
            </a:pPr>
            <a:r>
              <a:rPr lang="en-US" sz="1800" b="1" dirty="0">
                <a:solidFill>
                  <a:srgbClr val="FFFFFF"/>
                </a:solidFill>
                <a:latin typeface="Arial"/>
                <a:cs typeface="Arial"/>
              </a:rPr>
              <a:t>R</a:t>
            </a:r>
          </a:p>
        </p:txBody>
      </p:sp>
      <p:sp>
        <p:nvSpPr>
          <p:cNvPr id="114" name="Text"/>
          <p:cNvSpPr/>
          <p:nvPr/>
        </p:nvSpPr>
        <p:spPr>
          <a:xfrm>
            <a:off x="5913120" y="3584476"/>
            <a:ext cx="5806440" cy="548640"/>
          </a:xfrm>
          <a:prstGeom prst="rect">
            <a:avLst/>
          </a:prstGeom>
          <a:noFill/>
          <a:ln>
            <a:noFill/>
          </a:ln>
        </p:spPr>
        <p:txBody>
          <a:bodyPr wrap="square" lIns="54864" tIns="54864" rIns="54864" bIns="54864" rtlCol="0" anchor="ctr">
            <a:noAutofit/>
          </a:bodyPr>
          <a:lstStyle/>
          <a:p>
            <a:pPr marL="0" indent="0" algn="l">
              <a:lnSpc>
                <a:spcPct val="100000"/>
              </a:lnSpc>
              <a:buNone/>
            </a:pPr>
            <a:r>
              <a:rPr lang="en-US" sz="1700" dirty="0">
                <a:solidFill>
                  <a:srgbClr val="1A1A1A"/>
                </a:solidFill>
                <a:latin typeface="Arial"/>
                <a:cs typeface="Arial"/>
              </a:rPr>
              <a:t>What was found? Numbers, no opinions</a:t>
            </a:r>
          </a:p>
        </p:txBody>
      </p:sp>
      <p:sp>
        <p:nvSpPr>
          <p:cNvPr id="115" name="Box"/>
          <p:cNvSpPr/>
          <p:nvPr/>
        </p:nvSpPr>
        <p:spPr>
          <a:xfrm>
            <a:off x="655320" y="4274848"/>
            <a:ext cx="3840480" cy="868680"/>
          </a:xfrm>
          <a:prstGeom prst="trapezoid">
            <a:avLst>
              <a:gd name="adj" fmla="val 88421"/>
            </a:avLst>
          </a:prstGeom>
          <a:solidFill>
            <a:srgbClr val="5FA39B"/>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Discussion</a:t>
            </a:r>
          </a:p>
        </p:txBody>
      </p:sp>
      <p:cxnSp>
        <p:nvCxnSpPr>
          <p:cNvPr id="116" name="Line"/>
          <p:cNvCxnSpPr/>
          <p:nvPr/>
        </p:nvCxnSpPr>
        <p:spPr>
          <a:xfrm>
            <a:off x="4139184" y="4709188"/>
            <a:ext cx="1042416" cy="0"/>
          </a:xfrm>
          <a:prstGeom prst="straightConnector1">
            <a:avLst/>
          </a:prstGeom>
          <a:ln w="25400" cap="rnd">
            <a:solidFill>
              <a:srgbClr val="5FA39B"/>
            </a:solidFill>
            <a:prstDash val="sysDot"/>
            <a:round/>
          </a:ln>
        </p:spPr>
      </p:cxnSp>
      <p:sp>
        <p:nvSpPr>
          <p:cNvPr id="117" name="Ellipse"/>
          <p:cNvSpPr/>
          <p:nvPr/>
        </p:nvSpPr>
        <p:spPr>
          <a:xfrm>
            <a:off x="5227320" y="4462300"/>
            <a:ext cx="493776" cy="493776"/>
          </a:xfrm>
          <a:prstGeom prst="ellipse">
            <a:avLst/>
          </a:prstGeom>
          <a:solidFill>
            <a:srgbClr val="5FA39B"/>
          </a:solidFill>
          <a:ln>
            <a:noFill/>
          </a:ln>
        </p:spPr>
        <p:txBody>
          <a:bodyPr wrap="square" lIns="0" tIns="0" rIns="0" bIns="0" rtlCol="0" anchor="ctr">
            <a:noAutofit/>
          </a:bodyPr>
          <a:lstStyle/>
          <a:p>
            <a:pPr marL="0" indent="0" algn="ctr">
              <a:lnSpc>
                <a:spcPct val="100000"/>
              </a:lnSpc>
              <a:buNone/>
            </a:pPr>
            <a:r>
              <a:rPr lang="en-US" sz="1800" b="1" dirty="0">
                <a:solidFill>
                  <a:srgbClr val="FFFFFF"/>
                </a:solidFill>
                <a:latin typeface="Arial"/>
                <a:cs typeface="Arial"/>
              </a:rPr>
              <a:t>D</a:t>
            </a:r>
          </a:p>
        </p:txBody>
      </p:sp>
      <p:sp>
        <p:nvSpPr>
          <p:cNvPr id="118" name="Text"/>
          <p:cNvSpPr/>
          <p:nvPr/>
        </p:nvSpPr>
        <p:spPr>
          <a:xfrm>
            <a:off x="5913120" y="4434868"/>
            <a:ext cx="5806440" cy="548640"/>
          </a:xfrm>
          <a:prstGeom prst="rect">
            <a:avLst/>
          </a:prstGeom>
          <a:noFill/>
          <a:ln>
            <a:noFill/>
          </a:ln>
        </p:spPr>
        <p:txBody>
          <a:bodyPr wrap="square" lIns="54864" tIns="54864" rIns="54864" bIns="54864" rtlCol="0" anchor="ctr">
            <a:noAutofit/>
          </a:bodyPr>
          <a:lstStyle/>
          <a:p>
            <a:pPr marL="0" indent="0" algn="l">
              <a:lnSpc>
                <a:spcPct val="100000"/>
              </a:lnSpc>
              <a:buNone/>
            </a:pPr>
            <a:r>
              <a:rPr lang="en-US" sz="1700" dirty="0">
                <a:solidFill>
                  <a:srgbClr val="1A1A1A"/>
                </a:solidFill>
                <a:latin typeface="Arial"/>
                <a:cs typeface="Arial"/>
              </a:rPr>
              <a:t>What does it mean? Narrow to broad, limitations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Every original paper has the same shape: why, how, what, so what.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15-minute reading order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Stop after step 1 or 2 if it does not answer your question. Total: about 15 minutes.</a:t>
            </a:r>
          </a:p>
        </p:txBody>
      </p:sp>
      <p:sp>
        <p:nvSpPr>
          <p:cNvPr id="80" name="Step"/>
          <p:cNvSpPr/>
          <p:nvPr/>
        </p:nvSpPr>
        <p:spPr>
          <a:xfrm>
            <a:off x="457200" y="1660000"/>
            <a:ext cx="2303520" cy="760000"/>
          </a:xfrm>
          <a:prstGeom prst="homePlate">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1  Title</a:t>
            </a:r>
          </a:p>
        </p:txBody>
      </p:sp>
      <p:sp>
        <p:nvSpPr>
          <p:cNvPr id="81" name="StepText"/>
          <p:cNvSpPr/>
          <p:nvPr/>
        </p:nvSpPr>
        <p:spPr>
          <a:xfrm>
            <a:off x="497200" y="2580000"/>
            <a:ext cx="2163520" cy="1431429"/>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650" b="1" dirty="0">
                <a:solidFill>
                  <a:srgbClr val="000000"/>
                </a:solidFill>
                <a:latin typeface="Arial"/>
                <a:cs typeface="Arial"/>
              </a:rPr>
              <a:t>30 s</a:t>
            </a:r>
          </a:p>
          <a:p>
            <a:pPr marL="0" indent="0" algn="ctr">
              <a:lnSpc>
                <a:spcPct val="104000"/>
              </a:lnSpc>
              <a:spcBef>
                <a:spcPts val="200"/>
              </a:spcBef>
              <a:buNone/>
            </a:pPr>
            <a:r>
              <a:rPr lang="en-US" sz="1650" dirty="0">
                <a:solidFill>
                  <a:srgbClr val="000000"/>
                </a:solidFill>
                <a:latin typeface="Arial"/>
                <a:cs typeface="Arial"/>
              </a:rPr>
              <a:t>Relevant to my question?</a:t>
            </a:r>
          </a:p>
        </p:txBody>
      </p:sp>
      <p:sp>
        <p:nvSpPr>
          <p:cNvPr id="82" name="Step"/>
          <p:cNvSpPr/>
          <p:nvPr/>
        </p:nvSpPr>
        <p:spPr>
          <a:xfrm>
            <a:off x="2700720" y="1660000"/>
            <a:ext cx="2303520" cy="760000"/>
          </a:xfrm>
          <a:prstGeom prst="chevron">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2  Abstract</a:t>
            </a:r>
          </a:p>
        </p:txBody>
      </p:sp>
      <p:sp>
        <p:nvSpPr>
          <p:cNvPr id="83" name="StepText"/>
          <p:cNvSpPr/>
          <p:nvPr/>
        </p:nvSpPr>
        <p:spPr>
          <a:xfrm>
            <a:off x="2740720" y="2580000"/>
            <a:ext cx="2163520" cy="1431429"/>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650" b="1" dirty="0">
                <a:solidFill>
                  <a:srgbClr val="000000"/>
                </a:solidFill>
                <a:latin typeface="Arial"/>
                <a:cs typeface="Arial"/>
              </a:rPr>
              <a:t>3 min</a:t>
            </a:r>
          </a:p>
          <a:p>
            <a:pPr marL="0" indent="0" algn="ctr">
              <a:lnSpc>
                <a:spcPct val="104000"/>
              </a:lnSpc>
              <a:spcBef>
                <a:spcPts val="200"/>
              </a:spcBef>
              <a:buNone/>
            </a:pPr>
            <a:r>
              <a:rPr lang="en-US" sz="1650" dirty="0">
                <a:solidFill>
                  <a:srgbClr val="000000"/>
                </a:solidFill>
                <a:latin typeface="Arial"/>
                <a:cs typeface="Arial"/>
              </a:rPr>
              <a:t>PICO, design, main result</a:t>
            </a:r>
          </a:p>
        </p:txBody>
      </p:sp>
      <p:sp>
        <p:nvSpPr>
          <p:cNvPr id="84" name="Step"/>
          <p:cNvSpPr/>
          <p:nvPr/>
        </p:nvSpPr>
        <p:spPr>
          <a:xfrm>
            <a:off x="494424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3  Figures and tables</a:t>
            </a:r>
          </a:p>
        </p:txBody>
      </p:sp>
      <p:sp>
        <p:nvSpPr>
          <p:cNvPr id="85" name="StepText"/>
          <p:cNvSpPr/>
          <p:nvPr/>
        </p:nvSpPr>
        <p:spPr>
          <a:xfrm>
            <a:off x="4984240" y="2580000"/>
            <a:ext cx="2163520" cy="1431429"/>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650" b="1" dirty="0">
                <a:solidFill>
                  <a:srgbClr val="000000"/>
                </a:solidFill>
                <a:latin typeface="Arial"/>
                <a:cs typeface="Arial"/>
              </a:rPr>
              <a:t>4 min</a:t>
            </a:r>
          </a:p>
          <a:p>
            <a:pPr marL="0" indent="0" algn="ctr">
              <a:lnSpc>
                <a:spcPct val="104000"/>
              </a:lnSpc>
              <a:spcBef>
                <a:spcPts val="200"/>
              </a:spcBef>
              <a:buNone/>
            </a:pPr>
            <a:r>
              <a:rPr lang="en-US" sz="1650" dirty="0">
                <a:solidFill>
                  <a:srgbClr val="000000"/>
                </a:solidFill>
                <a:latin typeface="Arial"/>
                <a:cs typeface="Arial"/>
              </a:rPr>
              <a:t>Flow chart, Table 1, main result table</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4  Methods</a:t>
            </a:r>
          </a:p>
        </p:txBody>
      </p:sp>
      <p:sp>
        <p:nvSpPr>
          <p:cNvPr id="87" name="StepText"/>
          <p:cNvSpPr/>
          <p:nvPr/>
        </p:nvSpPr>
        <p:spPr>
          <a:xfrm>
            <a:off x="7227760" y="2580000"/>
            <a:ext cx="2163520" cy="1431429"/>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650" b="1" dirty="0">
                <a:solidFill>
                  <a:srgbClr val="000000"/>
                </a:solidFill>
                <a:latin typeface="Arial"/>
                <a:cs typeface="Arial"/>
              </a:rPr>
              <a:t>5 min</a:t>
            </a:r>
          </a:p>
          <a:p>
            <a:pPr marL="0" indent="0" algn="ctr">
              <a:lnSpc>
                <a:spcPct val="104000"/>
              </a:lnSpc>
              <a:spcBef>
                <a:spcPts val="200"/>
              </a:spcBef>
              <a:buNone/>
            </a:pPr>
            <a:r>
              <a:rPr lang="en-US" sz="1650" dirty="0">
                <a:solidFill>
                  <a:srgbClr val="000000"/>
                </a:solidFill>
                <a:latin typeface="Arial"/>
                <a:cs typeface="Arial"/>
              </a:rPr>
              <a:t>Who, how chosen, primary outcome, bias protection</a:t>
            </a:r>
          </a:p>
        </p:txBody>
      </p:sp>
      <p:sp>
        <p:nvSpPr>
          <p:cNvPr id="88" name="Step"/>
          <p:cNvSpPr/>
          <p:nvPr/>
        </p:nvSpPr>
        <p:spPr>
          <a:xfrm>
            <a:off x="943128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5  Discussion</a:t>
            </a:r>
          </a:p>
        </p:txBody>
      </p:sp>
      <p:sp>
        <p:nvSpPr>
          <p:cNvPr id="89" name="StepText"/>
          <p:cNvSpPr/>
          <p:nvPr/>
        </p:nvSpPr>
        <p:spPr>
          <a:xfrm>
            <a:off x="9471280" y="2580000"/>
            <a:ext cx="2163520" cy="1431429"/>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650" b="1" dirty="0">
                <a:solidFill>
                  <a:srgbClr val="000000"/>
                </a:solidFill>
                <a:latin typeface="Arial"/>
                <a:cs typeface="Arial"/>
              </a:rPr>
              <a:t>2-3 min</a:t>
            </a:r>
          </a:p>
          <a:p>
            <a:pPr marL="0" indent="0" algn="ctr">
              <a:lnSpc>
                <a:spcPct val="104000"/>
              </a:lnSpc>
              <a:spcBef>
                <a:spcPts val="200"/>
              </a:spcBef>
              <a:buNone/>
            </a:pPr>
            <a:r>
              <a:rPr lang="en-US" sz="1650" dirty="0">
                <a:solidFill>
                  <a:srgbClr val="000000"/>
                </a:solidFill>
                <a:latin typeface="Arial"/>
                <a:cs typeface="Arial"/>
              </a:rPr>
              <a:t>Limitations. Do conclusions match the data?</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Title, abstract, figures and tables, methods. Stop early if it is not relevant.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What an abstract must contain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02835"/>
          <a:ext cx="11277600" cy="2985120"/>
        </p:xfrm>
        <a:graphic>
          <a:graphicData uri="http://schemas.openxmlformats.org/drawingml/2006/table">
            <a:tbl>
              <a:tblPr firstRow="1" bandRow="1">
                <a:tableStyleId>{5C22544A-7EE6-4342-B048-85BDC9FD1C3A}</a:tableStyleId>
              </a:tblPr>
              <a:tblGrid>
                <a:gridCol w="2451652"/>
                <a:gridCol w="8825948"/>
              </a:tblGrid>
              <a:tr h="401000">
                <a:tc>
                  <a:txBody>
                    <a:bodyPr/>
                    <a:lstStyle/>
                    <a:p>
                      <a:pPr algn="l"/>
                      <a:r>
                        <a:rPr lang="en-US" sz="1900" b="1" dirty="0">
                          <a:solidFill>
                            <a:srgbClr val="FFFFFF"/>
                          </a:solidFill>
                          <a:latin typeface="Arial"/>
                          <a:cs typeface="Arial"/>
                        </a:rPr>
                        <a:t>Section</a:t>
                      </a:r>
                    </a:p>
                  </a:txBody>
                  <a:tcPr marL="73152" marR="73152" marT="45720" marB="45720" anchor="ctr">
                    <a:solidFill>
                      <a:srgbClr val="0D7377"/>
                    </a:solidFill>
                  </a:tcPr>
                </a:tc>
                <a:tc>
                  <a:txBody>
                    <a:bodyPr/>
                    <a:lstStyle/>
                    <a:p>
                      <a:pPr algn="l"/>
                      <a:r>
                        <a:rPr lang="en-US" sz="1900" b="1" dirty="0">
                          <a:solidFill>
                            <a:srgbClr val="FFFFFF"/>
                          </a:solidFill>
                          <a:latin typeface="Arial"/>
                          <a:cs typeface="Arial"/>
                        </a:rPr>
                        <a:t>What it must contain</a:t>
                      </a:r>
                    </a:p>
                  </a:txBody>
                  <a:tcPr marL="73152" marR="73152" marT="45720" marB="45720" anchor="ctr">
                    <a:solidFill>
                      <a:srgbClr val="0D7377"/>
                    </a:solidFill>
                  </a:tcPr>
                </a:tc>
              </a:tr>
              <a:tr h="401000">
                <a:tc>
                  <a:txBody>
                    <a:bodyPr/>
                    <a:lstStyle/>
                    <a:p>
                      <a:pPr algn="l"/>
                      <a:r>
                        <a:rPr lang="en-US" sz="1900" b="1" dirty="0">
                          <a:solidFill>
                            <a:srgbClr val="000000"/>
                          </a:solidFill>
                          <a:latin typeface="Arial"/>
                          <a:cs typeface="Arial"/>
                        </a:rPr>
                        <a:t>Background</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The problem and the aim (1-2 sentences)</a:t>
                      </a:r>
                    </a:p>
                  </a:txBody>
                  <a:tcPr marL="73152" marR="73152" marT="45720" marB="45720" anchor="ctr">
                    <a:solidFill>
                      <a:srgbClr val="FFFFFF"/>
                    </a:solidFill>
                  </a:tcPr>
                </a:tc>
              </a:tr>
              <a:tr h="690560">
                <a:tc>
                  <a:txBody>
                    <a:bodyPr/>
                    <a:lstStyle/>
                    <a:p>
                      <a:pPr algn="l"/>
                      <a:r>
                        <a:rPr lang="en-US" sz="1900" b="1" dirty="0">
                          <a:solidFill>
                            <a:srgbClr val="000000"/>
                          </a:solidFill>
                          <a:latin typeface="Arial"/>
                          <a:cs typeface="Arial"/>
                        </a:rPr>
                        <a:t>Methods</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Design, setting, participants, intervention/exposure, comparison, primary outcome</a:t>
                      </a:r>
                    </a:p>
                  </a:txBody>
                  <a:tcPr marL="73152" marR="73152" marT="45720" marB="45720" anchor="ctr">
                    <a:solidFill>
                      <a:srgbClr val="F5F9FA"/>
                    </a:solidFill>
                  </a:tcPr>
                </a:tc>
              </a:tr>
              <a:tr h="690560">
                <a:tc>
                  <a:txBody>
                    <a:bodyPr/>
                    <a:lstStyle/>
                    <a:p>
                      <a:pPr algn="l"/>
                      <a:r>
                        <a:rPr lang="en-US" sz="1900" b="1" dirty="0">
                          <a:solidFill>
                            <a:srgbClr val="000000"/>
                          </a:solidFill>
                          <a:latin typeface="Arial"/>
                          <a:cs typeface="Arial"/>
                        </a:rPr>
                        <a:t>Results</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Numbers screened and analysed, primary result as effect size + 95% CI (+ p), key harms</a:t>
                      </a:r>
                    </a:p>
                  </a:txBody>
                  <a:tcPr marL="73152" marR="73152" marT="45720" marB="45720" anchor="ctr">
                    <a:solidFill>
                      <a:srgbClr val="FFFFFF"/>
                    </a:solidFill>
                  </a:tcPr>
                </a:tc>
              </a:tr>
              <a:tr h="401000">
                <a:tc>
                  <a:txBody>
                    <a:bodyPr/>
                    <a:lstStyle/>
                    <a:p>
                      <a:pPr algn="l"/>
                      <a:r>
                        <a:rPr lang="en-US" sz="1900" b="1" dirty="0">
                          <a:solidFill>
                            <a:srgbClr val="000000"/>
                          </a:solidFill>
                          <a:latin typeface="Arial"/>
                          <a:cs typeface="Arial"/>
                        </a:rPr>
                        <a:t>Conclusions</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Answer to the primary question, no more</a:t>
                      </a:r>
                    </a:p>
                  </a:txBody>
                  <a:tcPr marL="73152" marR="73152" marT="45720" marB="45720" anchor="ctr">
                    <a:solidFill>
                      <a:srgbClr val="F5F9FA"/>
                    </a:solidFill>
                  </a:tcPr>
                </a:tc>
              </a:tr>
              <a:tr h="401000">
                <a:tc>
                  <a:txBody>
                    <a:bodyPr/>
                    <a:lstStyle/>
                    <a:p>
                      <a:pPr algn="l"/>
                      <a:r>
                        <a:rPr lang="en-US" sz="1900" b="1" dirty="0">
                          <a:solidFill>
                            <a:srgbClr val="000000"/>
                          </a:solidFill>
                          <a:latin typeface="Arial"/>
                          <a:cs typeface="Arial"/>
                        </a:rPr>
                        <a:t>Registration</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Trial registry number (for trials)</a:t>
                      </a:r>
                    </a:p>
                  </a:txBody>
                  <a:tcPr marL="73152" marR="73152" marT="45720" marB="45720" anchor="ctr">
                    <a:solidFill>
                      <a:srgbClr val="FFFFFF"/>
                    </a:solidFill>
                  </a:tcPr>
                </a:tc>
              </a:tr>
            </a:tbl>
          </a:graphicData>
        </a:graphic>
      </p:graphicFrame>
      <p:sp>
        <p:nvSpPr>
          <p:cNvPr id="31" name="Caption"/>
          <p:cNvSpPr txBox="1"/>
          <p:nvPr/>
        </p:nvSpPr>
        <p:spPr>
          <a:xfrm>
            <a:off x="457200" y="4477955"/>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Usually 250-300 words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good abstract lets you write the PICO and the main result without opening the paper.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 results sentence: poor vs good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Illustrative numbers. Ask of every abstract: how big, how sure, by when?</a:t>
            </a:r>
          </a:p>
        </p:txBody>
      </p:sp>
      <p:sp>
        <p:nvSpPr>
          <p:cNvPr id="70" name="CardHead"/>
          <p:cNvSpPr/>
          <p:nvPr/>
        </p:nvSpPr>
        <p:spPr>
          <a:xfrm>
            <a:off x="457200" y="1799478"/>
            <a:ext cx="5538800"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Poor results sentence</a:t>
            </a:r>
          </a:p>
        </p:txBody>
      </p:sp>
      <p:sp>
        <p:nvSpPr>
          <p:cNvPr id="71" name="CardBody"/>
          <p:cNvSpPr/>
          <p:nvPr/>
        </p:nvSpPr>
        <p:spPr>
          <a:xfrm>
            <a:off x="457200" y="2439478"/>
            <a:ext cx="5538800" cy="253156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i="1" dirty="0">
                <a:solidFill>
                  <a:srgbClr val="000000"/>
                </a:solidFill>
                <a:latin typeface="Arial"/>
                <a:cs typeface="Arial"/>
              </a:rPr>
              <a:t>"Mortality was significantly lower in the intervention group (p &lt; 0.05)."</a:t>
            </a:r>
          </a:p>
          <a:p>
            <a:pPr marL="0" indent="0" algn="ctr">
              <a:lnSpc>
                <a:spcPct val="104000"/>
              </a:lnSpc>
              <a:spcBef>
                <a:spcPts val="400"/>
              </a:spcBef>
              <a:buNone/>
            </a:pPr>
            <a:r>
              <a:rPr lang="en-US" sz="1750" dirty="0">
                <a:solidFill>
                  <a:srgbClr val="000000"/>
                </a:solidFill>
                <a:latin typeface="Arial"/>
                <a:cs typeface="Arial"/>
              </a:rPr>
              <a:t>No numbers per group</a:t>
            </a:r>
          </a:p>
          <a:p>
            <a:pPr marL="0" indent="0" algn="ctr">
              <a:lnSpc>
                <a:spcPct val="104000"/>
              </a:lnSpc>
              <a:spcBef>
                <a:spcPts val="400"/>
              </a:spcBef>
              <a:buNone/>
            </a:pPr>
            <a:r>
              <a:rPr lang="en-US" sz="1750" dirty="0">
                <a:solidFill>
                  <a:srgbClr val="000000"/>
                </a:solidFill>
                <a:latin typeface="Arial"/>
                <a:cs typeface="Arial"/>
              </a:rPr>
              <a:t>No effect size</a:t>
            </a:r>
          </a:p>
          <a:p>
            <a:pPr marL="0" indent="0" algn="ctr">
              <a:lnSpc>
                <a:spcPct val="104000"/>
              </a:lnSpc>
              <a:spcBef>
                <a:spcPts val="400"/>
              </a:spcBef>
              <a:buNone/>
            </a:pPr>
            <a:r>
              <a:rPr lang="en-US" sz="1750" dirty="0">
                <a:solidFill>
                  <a:srgbClr val="000000"/>
                </a:solidFill>
                <a:latin typeface="Arial"/>
                <a:cs typeface="Arial"/>
              </a:rPr>
              <a:t>No 95% CI</a:t>
            </a:r>
          </a:p>
          <a:p>
            <a:pPr marL="0" indent="0" algn="ctr">
              <a:lnSpc>
                <a:spcPct val="104000"/>
              </a:lnSpc>
              <a:spcBef>
                <a:spcPts val="400"/>
              </a:spcBef>
              <a:buNone/>
            </a:pPr>
            <a:r>
              <a:rPr lang="en-US" sz="1750" dirty="0">
                <a:solidFill>
                  <a:srgbClr val="000000"/>
                </a:solidFill>
                <a:latin typeface="Arial"/>
                <a:cs typeface="Arial"/>
              </a:rPr>
              <a:t>No time point</a:t>
            </a:r>
          </a:p>
        </p:txBody>
      </p:sp>
      <p:sp>
        <p:nvSpPr>
          <p:cNvPr id="72" name="CardHead"/>
          <p:cNvSpPr/>
          <p:nvPr/>
        </p:nvSpPr>
        <p:spPr>
          <a:xfrm>
            <a:off x="6196000" y="1799478"/>
            <a:ext cx="553880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Good results sentence</a:t>
            </a:r>
          </a:p>
        </p:txBody>
      </p:sp>
      <p:sp>
        <p:nvSpPr>
          <p:cNvPr id="73" name="CardBody"/>
          <p:cNvSpPr/>
          <p:nvPr/>
        </p:nvSpPr>
        <p:spPr>
          <a:xfrm>
            <a:off x="6196000" y="2439478"/>
            <a:ext cx="5538800" cy="253156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i="1" dirty="0">
                <a:solidFill>
                  <a:srgbClr val="000000"/>
                </a:solidFill>
                <a:latin typeface="Arial"/>
                <a:cs typeface="Arial"/>
              </a:rPr>
              <a:t>"28-day mortality was 30% with restriction vs 38% with usual care (risk difference -8 percentage points, 95% CI -15 to -1)."</a:t>
            </a:r>
          </a:p>
          <a:p>
            <a:pPr marL="0" indent="0" algn="ctr">
              <a:lnSpc>
                <a:spcPct val="104000"/>
              </a:lnSpc>
              <a:spcBef>
                <a:spcPts val="400"/>
              </a:spcBef>
              <a:buNone/>
            </a:pPr>
            <a:r>
              <a:rPr lang="en-US" sz="1750" dirty="0">
                <a:solidFill>
                  <a:srgbClr val="000000"/>
                </a:solidFill>
                <a:latin typeface="Arial"/>
                <a:cs typeface="Arial"/>
              </a:rPr>
              <a:t>Numbers per group</a:t>
            </a:r>
          </a:p>
          <a:p>
            <a:pPr marL="0" indent="0" algn="ctr">
              <a:lnSpc>
                <a:spcPct val="104000"/>
              </a:lnSpc>
              <a:spcBef>
                <a:spcPts val="400"/>
              </a:spcBef>
              <a:buNone/>
            </a:pPr>
            <a:r>
              <a:rPr lang="en-US" sz="1750" dirty="0">
                <a:solidFill>
                  <a:srgbClr val="000000"/>
                </a:solidFill>
                <a:latin typeface="Arial"/>
                <a:cs typeface="Arial"/>
              </a:rPr>
              <a:t>Effect size</a:t>
            </a:r>
          </a:p>
          <a:p>
            <a:pPr marL="0" indent="0" algn="ctr">
              <a:lnSpc>
                <a:spcPct val="104000"/>
              </a:lnSpc>
              <a:spcBef>
                <a:spcPts val="400"/>
              </a:spcBef>
              <a:buNone/>
            </a:pPr>
            <a:r>
              <a:rPr lang="en-US" sz="1750" dirty="0">
                <a:solidFill>
                  <a:srgbClr val="000000"/>
                </a:solidFill>
                <a:latin typeface="Arial"/>
                <a:cs typeface="Arial"/>
              </a:rPr>
              <a:t>95% CI</a:t>
            </a:r>
          </a:p>
          <a:p>
            <a:pPr marL="0" indent="0" algn="ctr">
              <a:lnSpc>
                <a:spcPct val="104000"/>
              </a:lnSpc>
              <a:spcBef>
                <a:spcPts val="400"/>
              </a:spcBef>
              <a:buNone/>
            </a:pPr>
            <a:r>
              <a:rPr lang="en-US" sz="1750" dirty="0">
                <a:solidFill>
                  <a:srgbClr val="000000"/>
                </a:solidFill>
                <a:latin typeface="Arial"/>
                <a:cs typeface="Arial"/>
              </a:rPr>
              <a:t>Time point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Every main result needs: numbers per group, an effect size, a 95% CI and a time point.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Spin: when words go beyond the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507973"/>
          <a:ext cx="11277600" cy="3026080"/>
        </p:xfrm>
        <a:graphic>
          <a:graphicData uri="http://schemas.openxmlformats.org/drawingml/2006/table">
            <a:tbl>
              <a:tblPr firstRow="1" bandRow="1">
                <a:tableStyleId>{5C22544A-7EE6-4342-B048-85BDC9FD1C3A}</a:tableStyleId>
              </a:tblPr>
              <a:tblGrid>
                <a:gridCol w="1922318"/>
                <a:gridCol w="3332018"/>
                <a:gridCol w="3844636"/>
                <a:gridCol w="2178628"/>
              </a:tblGrid>
              <a:tr h="385760">
                <a:tc>
                  <a:txBody>
                    <a:bodyPr/>
                    <a:lstStyle/>
                    <a:p>
                      <a:pPr algn="l"/>
                      <a:r>
                        <a:rPr lang="en-US" sz="1800" b="1" dirty="0">
                          <a:solidFill>
                            <a:srgbClr val="FFFFFF"/>
                          </a:solidFill>
                          <a:latin typeface="Arial"/>
                          <a:cs typeface="Arial"/>
                        </a:rPr>
                        <a:t> </a:t>
                      </a:r>
                    </a:p>
                  </a:txBody>
                  <a:tcPr marL="73152" marR="73152" marT="45720" marB="45720" anchor="ctr">
                    <a:solidFill>
                      <a:srgbClr val="FFFFFF"/>
                    </a:solidFill>
                  </a:tcPr>
                </a:tc>
                <a:tc>
                  <a:txBody>
                    <a:bodyPr/>
                    <a:lstStyle/>
                    <a:p>
                      <a:pPr algn="l"/>
                      <a:r>
                        <a:rPr lang="en-US" sz="1800" b="1" dirty="0">
                          <a:solidFill>
                            <a:srgbClr val="FFFFFF"/>
                          </a:solidFill>
                          <a:latin typeface="Arial"/>
                          <a:cs typeface="Arial"/>
                        </a:rPr>
                        <a:t>What the data say</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What the words say (spin)</a:t>
                      </a:r>
                    </a:p>
                  </a:txBody>
                  <a:tcPr marL="73152" marR="73152" marT="45720" marB="45720" anchor="ctr">
                    <a:solidFill>
                      <a:srgbClr val="B23B2E"/>
                    </a:solidFill>
                  </a:tcPr>
                </a:tc>
                <a:tc>
                  <a:txBody>
                    <a:bodyPr/>
                    <a:lstStyle/>
                    <a:p>
                      <a:pPr algn="l"/>
                      <a:r>
                        <a:rPr lang="en-US" sz="1800" b="1" dirty="0">
                          <a:solidFill>
                            <a:srgbClr val="FFFFFF"/>
                          </a:solidFill>
                          <a:latin typeface="Arial"/>
                          <a:cs typeface="Arial"/>
                        </a:rPr>
                        <a:t>Seen in</a:t>
                      </a:r>
                    </a:p>
                  </a:txBody>
                  <a:tcPr marL="73152" marR="73152" marT="45720" marB="45720" anchor="ctr">
                    <a:solidFill>
                      <a:srgbClr val="8A99A3"/>
                    </a:solidFill>
                  </a:tcPr>
                </a:tc>
              </a:tr>
              <a:tr h="660080">
                <a:tc>
                  <a:txBody>
                    <a:bodyPr/>
                    <a:lstStyle/>
                    <a:p>
                      <a:pPr algn="l"/>
                      <a:r>
                        <a:rPr lang="en-US" sz="1800" b="1" dirty="0">
                          <a:solidFill>
                            <a:srgbClr val="000000"/>
                          </a:solidFill>
                          <a:latin typeface="Arial"/>
                          <a:cs typeface="Arial"/>
                        </a:rPr>
                        <a:t>p-value</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p = 0.42</a:t>
                      </a:r>
                    </a:p>
                  </a:txBody>
                  <a:tcPr marL="73152" marR="73152" marT="45720" marB="45720" anchor="ctr">
                    <a:solidFill>
                      <a:srgbClr val="FFFFFF"/>
                    </a:solidFill>
                  </a:tcPr>
                </a:tc>
                <a:tc>
                  <a:txBody>
                    <a:bodyPr/>
                    <a:lstStyle/>
                    <a:p>
                      <a:pPr algn="l"/>
                      <a:r>
                        <a:rPr lang="en-US" sz="1800" i="1" dirty="0">
                          <a:solidFill>
                            <a:srgbClr val="B23B2E"/>
                          </a:solidFill>
                          <a:latin typeface="Arial"/>
                          <a:cs typeface="Arial"/>
                        </a:rPr>
                        <a:t>"a non-significant trend"</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Paper 1, Discussion</a:t>
                      </a:r>
                    </a:p>
                  </a:txBody>
                  <a:tcPr marL="73152" marR="73152" marT="45720" marB="45720" anchor="ctr">
                    <a:solidFill>
                      <a:srgbClr val="FFFFFF"/>
                    </a:solidFill>
                  </a:tcPr>
                </a:tc>
              </a:tr>
              <a:tr h="660080">
                <a:tc>
                  <a:txBody>
                    <a:bodyPr/>
                    <a:lstStyle/>
                    <a:p>
                      <a:pPr algn="l"/>
                      <a:r>
                        <a:rPr lang="en-US" sz="1800" b="1" dirty="0">
                          <a:solidFill>
                            <a:srgbClr val="000000"/>
                          </a:solidFill>
                          <a:latin typeface="Arial"/>
                          <a:cs typeface="Arial"/>
                        </a:rPr>
                        <a:t>Outcomes</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Primary outcome: no difference</a:t>
                      </a:r>
                    </a:p>
                  </a:txBody>
                  <a:tcPr marL="73152" marR="73152" marT="45720" marB="45720" anchor="ctr">
                    <a:solidFill>
                      <a:srgbClr val="F5F9FA"/>
                    </a:solidFill>
                  </a:tcPr>
                </a:tc>
                <a:tc>
                  <a:txBody>
                    <a:bodyPr/>
                    <a:lstStyle/>
                    <a:p>
                      <a:pPr algn="l"/>
                      <a:r>
                        <a:rPr lang="en-US" sz="1800" i="1" dirty="0">
                          <a:solidFill>
                            <a:srgbClr val="B23B2E"/>
                          </a:solidFill>
                          <a:latin typeface="Arial"/>
                          <a:cs typeface="Arial"/>
                        </a:rPr>
                        <a:t>Headline = a positive secondary outcome</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 </a:t>
                      </a:r>
                    </a:p>
                  </a:txBody>
                  <a:tcPr marL="73152" marR="73152" marT="45720" marB="45720" anchor="ctr">
                    <a:solidFill>
                      <a:srgbClr val="F5F9FA"/>
                    </a:solidFill>
                  </a:tcPr>
                </a:tc>
              </a:tr>
              <a:tr h="660080">
                <a:tc>
                  <a:txBody>
                    <a:bodyPr/>
                    <a:lstStyle/>
                    <a:p>
                      <a:pPr algn="l"/>
                      <a:r>
                        <a:rPr lang="en-US" sz="1800" b="1" dirty="0">
                          <a:solidFill>
                            <a:srgbClr val="000000"/>
                          </a:solidFill>
                          <a:latin typeface="Arial"/>
                          <a:cs typeface="Arial"/>
                        </a:rPr>
                        <a:t>Design</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Observational association</a:t>
                      </a:r>
                    </a:p>
                  </a:txBody>
                  <a:tcPr marL="73152" marR="73152" marT="45720" marB="45720" anchor="ctr">
                    <a:solidFill>
                      <a:srgbClr val="FFFFFF"/>
                    </a:solidFill>
                  </a:tcPr>
                </a:tc>
                <a:tc>
                  <a:txBody>
                    <a:bodyPr/>
                    <a:lstStyle/>
                    <a:p>
                      <a:pPr algn="l"/>
                      <a:r>
                        <a:rPr lang="en-US" sz="1800" i="1" dirty="0">
                          <a:solidFill>
                            <a:srgbClr val="B23B2E"/>
                          </a:solidFill>
                          <a:latin typeface="Arial"/>
                          <a:cs typeface="Arial"/>
                        </a:rPr>
                        <a:t>"Impact of...", "reduces"</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Paper 2, title</a:t>
                      </a:r>
                    </a:p>
                  </a:txBody>
                  <a:tcPr marL="73152" marR="73152" marT="45720" marB="45720" anchor="ctr">
                    <a:solidFill>
                      <a:srgbClr val="FFFFFF"/>
                    </a:solidFill>
                  </a:tcPr>
                </a:tc>
              </a:tr>
              <a:tr h="660080">
                <a:tc>
                  <a:txBody>
                    <a:bodyPr/>
                    <a:lstStyle/>
                    <a:p>
                      <a:pPr algn="l"/>
                      <a:r>
                        <a:rPr lang="en-US" sz="1800" b="1" dirty="0">
                          <a:solidFill>
                            <a:srgbClr val="000000"/>
                          </a:solidFill>
                          <a:latin typeface="Arial"/>
                          <a:cs typeface="Arial"/>
                        </a:rPr>
                        <a:t>Comparison</a:t>
                      </a:r>
                    </a:p>
                  </a:txBody>
                  <a:tcPr marL="73152" marR="73152" marT="45720" marB="45720" anchor="ctr">
                    <a:solidFill>
                      <a:srgbClr val="EAF2F5"/>
                    </a:solidFill>
                  </a:tcPr>
                </a:tc>
                <a:tc>
                  <a:txBody>
                    <a:bodyPr/>
                    <a:lstStyle/>
                    <a:p>
                      <a:pPr algn="l"/>
                      <a:r>
                        <a:rPr lang="en-US" sz="1800" dirty="0">
                          <a:solidFill>
                            <a:srgbClr val="000000"/>
                          </a:solidFill>
                          <a:latin typeface="Arial"/>
                          <a:cs typeface="Arial"/>
                        </a:rPr>
                        <a:t>No between-group test</a:t>
                      </a:r>
                    </a:p>
                  </a:txBody>
                  <a:tcPr marL="73152" marR="73152" marT="45720" marB="45720" anchor="ctr">
                    <a:solidFill>
                      <a:srgbClr val="F5F9FA"/>
                    </a:solidFill>
                  </a:tcPr>
                </a:tc>
                <a:tc>
                  <a:txBody>
                    <a:bodyPr/>
                    <a:lstStyle/>
                    <a:p>
                      <a:pPr algn="l"/>
                      <a:r>
                        <a:rPr lang="en-US" sz="1800" i="1" dirty="0">
                          <a:solidFill>
                            <a:srgbClr val="B23B2E"/>
                          </a:solidFill>
                          <a:latin typeface="Arial"/>
                          <a:cs typeface="Arial"/>
                        </a:rPr>
                        <a:t>"Patients improved" (before vs after only)</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 </a:t>
                      </a:r>
                    </a:p>
                  </a:txBody>
                  <a:tcPr marL="73152" marR="73152" marT="45720" marB="45720" anchor="ctr">
                    <a:solidFill>
                      <a:srgbClr val="F5F9FA"/>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Read the numbers first, then check whether the words match them.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your understanding: spot the spin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3 min</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cohort study: 'A positive fluid balance increases deaths in sepsis'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Primary outcome p = 0.31: 'a promising trend towards benefit'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The primary outcome shows no difference, but the abstract headline says 'improved patient satisfaction'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'Mortality fell from 30% to 22% after our new fluid protocol' (no control group)</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For each, we call on 2-3 people, microphone on: what is the spin, and how would you rewrite it?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Your turn: read Paper 1's abstract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INDIVIDUAL TASK   |   12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Open Paper 1 (Boulet 2024, Crit Care): the abstract is on page 1</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Fill the reading grid (Exercise 3): design, P, I vs C</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Primary outcome, numbers screened and analysed</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Main result with its 95% CI and p-value</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Does the conclusion match the result? Any spin?</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Type your primary outcome and main result in the chat</a:t>
            </a:r>
          </a:p>
        </p:txBody>
      </p:sp>
      <p:sp>
        <p:nvSpPr>
          <p:cNvPr id="52" name="Side"/>
          <p:cNvSpPr/>
          <p:nvPr/>
        </p:nvSpPr>
        <p:spPr>
          <a:xfrm>
            <a:off x="7423760" y="1720000"/>
            <a:ext cx="4311040" cy="120000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Clock</a:t>
            </a:r>
          </a:p>
          <a:p>
            <a:pPr marL="0" indent="0" algn="ctr">
              <a:lnSpc>
                <a:spcPct val="104000"/>
              </a:lnSpc>
              <a:spcBef>
                <a:spcPts val="300"/>
              </a:spcBef>
              <a:buNone/>
            </a:pPr>
            <a:r>
              <a:rPr lang="en-US" sz="1500" dirty="0">
                <a:solidFill>
                  <a:srgbClr val="000000"/>
                </a:solidFill>
                <a:latin typeface="Arial"/>
                <a:cs typeface="Arial"/>
              </a:rPr>
              <a:t>8 minutes reading alone</a:t>
            </a:r>
          </a:p>
          <a:p>
            <a:pPr marL="0" indent="0" algn="ctr">
              <a:lnSpc>
                <a:spcPct val="104000"/>
              </a:lnSpc>
              <a:spcBef>
                <a:spcPts val="300"/>
              </a:spcBef>
              <a:buNone/>
            </a:pPr>
            <a:r>
              <a:rPr lang="en-US" sz="1500" dirty="0">
                <a:solidFill>
                  <a:srgbClr val="000000"/>
                </a:solidFill>
                <a:latin typeface="Arial"/>
                <a:cs typeface="Arial"/>
              </a:rPr>
              <a:t>4 minutes checking in the chat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OUTPUT   </a:t>
            </a:r>
            <a:r>
              <a:rPr lang="en-US" sz="1500" dirty="0">
                <a:solidFill>
                  <a:srgbClr val="000000"/>
                </a:solidFill>
                <a:latin typeface="Arial"/>
                <a:cs typeface="Arial"/>
              </a:rPr>
              <a:t>A completed abstract reading grid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Paper 1's abstract: the answers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217146"/>
          <a:ext cx="11277600" cy="3898560"/>
        </p:xfrm>
        <a:graphic>
          <a:graphicData uri="http://schemas.openxmlformats.org/drawingml/2006/table">
            <a:tbl>
              <a:tblPr firstRow="1" bandRow="1">
                <a:tableStyleId>{5C22544A-7EE6-4342-B048-85BDC9FD1C3A}</a:tableStyleId>
              </a:tblPr>
              <a:tblGrid>
                <a:gridCol w="2301551"/>
                <a:gridCol w="8976049"/>
              </a:tblGrid>
              <a:tr h="401000">
                <a:tc>
                  <a:txBody>
                    <a:bodyPr/>
                    <a:lstStyle/>
                    <a:p>
                      <a:pPr algn="l"/>
                      <a:r>
                        <a:rPr lang="en-US" sz="1900" b="1" dirty="0">
                          <a:solidFill>
                            <a:srgbClr val="FFFFFF"/>
                          </a:solidFill>
                          <a:latin typeface="Arial"/>
                          <a:cs typeface="Arial"/>
                        </a:rPr>
                        <a:t>Abstract item</a:t>
                      </a:r>
                    </a:p>
                  </a:txBody>
                  <a:tcPr marL="73152" marR="73152" marT="45720" marB="45720" anchor="ctr">
                    <a:solidFill>
                      <a:srgbClr val="0D7377"/>
                    </a:solidFill>
                  </a:tcPr>
                </a:tc>
                <a:tc>
                  <a:txBody>
                    <a:bodyPr/>
                    <a:lstStyle/>
                    <a:p>
                      <a:pPr algn="l"/>
                      <a:r>
                        <a:rPr lang="en-US" sz="1900" b="1" dirty="0">
                          <a:solidFill>
                            <a:srgbClr val="FFFFFF"/>
                          </a:solidFill>
                          <a:latin typeface="Arial"/>
                          <a:cs typeface="Arial"/>
                        </a:rPr>
                        <a:t>What Paper 1 reports</a:t>
                      </a:r>
                    </a:p>
                  </a:txBody>
                  <a:tcPr marL="73152" marR="73152" marT="45720" marB="45720" anchor="ctr">
                    <a:solidFill>
                      <a:srgbClr val="0D7377"/>
                    </a:solidFill>
                  </a:tcPr>
                </a:tc>
              </a:tr>
              <a:tr h="401000">
                <a:tc>
                  <a:txBody>
                    <a:bodyPr/>
                    <a:lstStyle/>
                    <a:p>
                      <a:pPr algn="l"/>
                      <a:r>
                        <a:rPr lang="en-US" sz="1900" b="1" dirty="0">
                          <a:solidFill>
                            <a:srgbClr val="000000"/>
                          </a:solidFill>
                          <a:latin typeface="Arial"/>
                          <a:cs typeface="Arial"/>
                        </a:rPr>
                        <a:t>Design</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Pilot RCT, single-blind (patients and statisticians), 3 ICUs</a:t>
                      </a:r>
                    </a:p>
                  </a:txBody>
                  <a:tcPr marL="73152" marR="73152" marT="45720" marB="45720" anchor="ctr">
                    <a:solidFill>
                      <a:srgbClr val="FFFFFF"/>
                    </a:solidFill>
                  </a:tcPr>
                </a:tc>
              </a:tr>
              <a:tr h="401000">
                <a:tc>
                  <a:txBody>
                    <a:bodyPr/>
                    <a:lstStyle/>
                    <a:p>
                      <a:pPr algn="l"/>
                      <a:r>
                        <a:rPr lang="en-US" sz="1900" b="1" dirty="0">
                          <a:solidFill>
                            <a:srgbClr val="000000"/>
                          </a:solidFill>
                          <a:latin typeface="Arial"/>
                          <a:cs typeface="Arial"/>
                        </a:rPr>
                        <a:t>P</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Adults 18-85 y, septic shock, first 24 h of vasopressors</a:t>
                      </a:r>
                    </a:p>
                  </a:txBody>
                  <a:tcPr marL="73152" marR="73152" marT="45720" marB="45720" anchor="ctr">
                    <a:solidFill>
                      <a:srgbClr val="F5F9FA"/>
                    </a:solidFill>
                  </a:tcPr>
                </a:tc>
              </a:tr>
              <a:tr h="401000">
                <a:tc>
                  <a:txBody>
                    <a:bodyPr/>
                    <a:lstStyle/>
                    <a:p>
                      <a:pPr algn="l"/>
                      <a:r>
                        <a:rPr lang="en-US" sz="1900" b="1" dirty="0">
                          <a:solidFill>
                            <a:srgbClr val="000000"/>
                          </a:solidFill>
                          <a:latin typeface="Arial"/>
                          <a:cs typeface="Arial"/>
                        </a:rPr>
                        <a:t>I vs C</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Restrict maintenance and drug-dilution fluids (7 days) vs standard</a:t>
                      </a:r>
                    </a:p>
                  </a:txBody>
                  <a:tcPr marL="73152" marR="73152" marT="45720" marB="45720" anchor="ctr">
                    <a:solidFill>
                      <a:srgbClr val="FFFFFF"/>
                    </a:solidFill>
                  </a:tcPr>
                </a:tc>
              </a:tr>
              <a:tr h="401000">
                <a:tc>
                  <a:txBody>
                    <a:bodyPr/>
                    <a:lstStyle/>
                    <a:p>
                      <a:pPr algn="l"/>
                      <a:r>
                        <a:rPr lang="en-US" sz="1900" b="1" dirty="0">
                          <a:solidFill>
                            <a:srgbClr val="000000"/>
                          </a:solidFill>
                          <a:latin typeface="Arial"/>
                          <a:cs typeface="Arial"/>
                        </a:rPr>
                        <a:t>Primary outcome</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Cumulative fluid balance at day 5 (ml/kg)</a:t>
                      </a:r>
                    </a:p>
                  </a:txBody>
                  <a:tcPr marL="73152" marR="73152" marT="45720" marB="45720" anchor="ctr">
                    <a:solidFill>
                      <a:srgbClr val="F5F9FA"/>
                    </a:solidFill>
                  </a:tcPr>
                </a:tc>
              </a:tr>
              <a:tr h="401000">
                <a:tc>
                  <a:txBody>
                    <a:bodyPr/>
                    <a:lstStyle/>
                    <a:p>
                      <a:pPr algn="l"/>
                      <a:r>
                        <a:rPr lang="en-US" sz="1900" b="1" dirty="0">
                          <a:solidFill>
                            <a:srgbClr val="000000"/>
                          </a:solidFill>
                          <a:latin typeface="Arial"/>
                          <a:cs typeface="Arial"/>
                        </a:rPr>
                        <a:t>Numbers</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1,201 screened, 50 randomised, 48 analysed (24 per group)</a:t>
                      </a:r>
                    </a:p>
                  </a:txBody>
                  <a:tcPr marL="73152" marR="73152" marT="45720" marB="45720" anchor="ctr">
                    <a:solidFill>
                      <a:srgbClr val="FFFFFF"/>
                    </a:solidFill>
                  </a:tcPr>
                </a:tc>
              </a:tr>
              <a:tr h="690560">
                <a:tc>
                  <a:txBody>
                    <a:bodyPr/>
                    <a:lstStyle/>
                    <a:p>
                      <a:pPr algn="l"/>
                      <a:r>
                        <a:rPr lang="en-US" sz="1900" b="1" dirty="0">
                          <a:solidFill>
                            <a:srgbClr val="000000"/>
                          </a:solidFill>
                          <a:latin typeface="Arial"/>
                          <a:cs typeface="Arial"/>
                        </a:rPr>
                        <a:t>Main result</a:t>
                      </a:r>
                    </a:p>
                  </a:txBody>
                  <a:tcPr marL="73152" marR="73152" marT="45720" marB="45720" anchor="ctr">
                    <a:solidFill>
                      <a:srgbClr val="EAF2F5"/>
                    </a:solidFill>
                  </a:tcPr>
                </a:tc>
                <a:tc>
                  <a:txBody>
                    <a:bodyPr/>
                    <a:lstStyle/>
                    <a:p>
                      <a:pPr algn="l"/>
                      <a:r>
                        <a:rPr lang="en-US" sz="1900" b="1" dirty="0">
                          <a:solidFill>
                            <a:srgbClr val="000000"/>
                          </a:solidFill>
                          <a:latin typeface="Arial"/>
                          <a:cs typeface="Arial"/>
                        </a:rPr>
                        <a:t>Median 6.9 vs 35.0 ml/kg. Difference 13.2 (95% CI -15.2 to 41.6), p = 0.42</a:t>
                      </a:r>
                    </a:p>
                  </a:txBody>
                  <a:tcPr marL="73152" marR="73152" marT="45720" marB="45720" anchor="ctr">
                    <a:solidFill>
                      <a:srgbClr val="F5F9FA"/>
                    </a:solidFill>
                  </a:tcPr>
                </a:tc>
              </a:tr>
              <a:tr h="401000">
                <a:tc>
                  <a:txBody>
                    <a:bodyPr/>
                    <a:lstStyle/>
                    <a:p>
                      <a:pPr algn="l"/>
                      <a:r>
                        <a:rPr lang="en-US" sz="1900" b="1" dirty="0">
                          <a:solidFill>
                            <a:srgbClr val="000000"/>
                          </a:solidFill>
                          <a:latin typeface="Arial"/>
                          <a:cs typeface="Arial"/>
                        </a:rPr>
                        <a:t>Conclusion</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Did not reduce fluid balance at day 5 (matches the result)</a:t>
                      </a:r>
                    </a:p>
                  </a:txBody>
                  <a:tcPr marL="73152" marR="73152" marT="45720" marB="45720" anchor="ctr">
                    <a:solidFill>
                      <a:srgbClr val="FFFFFF"/>
                    </a:solidFill>
                  </a:tcPr>
                </a:tc>
              </a:tr>
              <a:tr h="401000">
                <a:tc>
                  <a:txBody>
                    <a:bodyPr/>
                    <a:lstStyle/>
                    <a:p>
                      <a:pPr algn="l"/>
                      <a:r>
                        <a:rPr lang="en-US" sz="1900" b="1" dirty="0">
                          <a:solidFill>
                            <a:srgbClr val="000000"/>
                          </a:solidFill>
                          <a:latin typeface="Arial"/>
                          <a:cs typeface="Arial"/>
                        </a:rPr>
                        <a:t>Registration</a:t>
                      </a:r>
                    </a:p>
                  </a:txBody>
                  <a:tcPr marL="73152" marR="73152" marT="45720" marB="45720" anchor="ctr">
                    <a:solidFill>
                      <a:srgbClr val="EAF2F5"/>
                    </a:solidFill>
                  </a:tcPr>
                </a:tc>
                <a:tc>
                  <a:txBody>
                    <a:bodyPr/>
                    <a:lstStyle/>
                    <a:p>
                      <a:pPr algn="l"/>
                      <a:r>
                        <a:rPr lang="en-US" sz="1900" dirty="0">
                          <a:solidFill>
                            <a:srgbClr val="000000"/>
                          </a:solidFill>
                          <a:latin typeface="Arial"/>
                          <a:cs typeface="Arial"/>
                        </a:rPr>
                        <a:t>ClinicalTrials.gov NCT04947904</a:t>
                      </a:r>
                    </a:p>
                  </a:txBody>
                  <a:tcPr marL="73152" marR="73152" marT="45720" marB="45720" anchor="ctr">
                    <a:solidFill>
                      <a:srgbClr val="F5F9FA"/>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Primary outcome: fluid balance, not mortality. Read what the study actually measured.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2.4  From literature to introduction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The papers you read become the first page of your proposal.</a:t>
            </a:r>
          </a:p>
          <a:p>
            <a:pPr marL="0" indent="0" algn="ctr">
              <a:spcBef>
                <a:spcPts val="1200"/>
              </a:spcBef>
              <a:buNone/>
            </a:pPr>
            <a:r>
              <a:rPr lang="en-US" sz="1900" i="1" dirty="0">
                <a:solidFill>
                  <a:srgbClr val="595959"/>
                </a:solidFill>
                <a:latin typeface="Arial"/>
                <a:cs typeface="Arial"/>
              </a:rPr>
              <a:t>15 minutes: the literature review worksheet, the problem-statement funnel, a model problem statement, working title and keywords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literature review worksheet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380977"/>
          <a:ext cx="11277600" cy="3407069"/>
        </p:xfrm>
        <a:graphic>
          <a:graphicData uri="http://schemas.openxmlformats.org/drawingml/2006/table">
            <a:tbl>
              <a:tblPr firstRow="1" bandRow="1">
                <a:tableStyleId>{5C22544A-7EE6-4342-B048-85BDC9FD1C3A}</a:tableStyleId>
              </a:tblPr>
              <a:tblGrid>
                <a:gridCol w="1863255"/>
                <a:gridCol w="2157453"/>
                <a:gridCol w="2255519"/>
                <a:gridCol w="2745850"/>
                <a:gridCol w="2255523"/>
              </a:tblGrid>
              <a:tr h="629598">
                <a:tc>
                  <a:txBody>
                    <a:bodyPr/>
                    <a:lstStyle/>
                    <a:p>
                      <a:pPr algn="l"/>
                      <a:r>
                        <a:rPr lang="en-US" sz="1700" b="1" dirty="0">
                          <a:solidFill>
                            <a:srgbClr val="FFFFFF"/>
                          </a:solidFill>
                          <a:latin typeface="Arial"/>
                          <a:cs typeface="Arial"/>
                        </a:rPr>
                        <a:t>Study</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Design, size</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Compared</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Primary outcome: result</a:t>
                      </a:r>
                    </a:p>
                  </a:txBody>
                  <a:tcPr marL="73152" marR="73152" marT="45720" marB="45720" anchor="ctr">
                    <a:solidFill>
                      <a:srgbClr val="0D7377"/>
                    </a:solidFill>
                  </a:tcPr>
                </a:tc>
                <a:tc>
                  <a:txBody>
                    <a:bodyPr/>
                    <a:lstStyle/>
                    <a:p>
                      <a:pPr algn="l"/>
                      <a:r>
                        <a:rPr lang="en-US" sz="1700" b="1" dirty="0">
                          <a:solidFill>
                            <a:srgbClr val="FFFFFF"/>
                          </a:solidFill>
                          <a:latin typeface="Arial"/>
                          <a:cs typeface="Arial"/>
                        </a:rPr>
                        <a:t>Key limitation</a:t>
                      </a:r>
                    </a:p>
                  </a:txBody>
                  <a:tcPr marL="73152" marR="73152" marT="45720" marB="45720" anchor="ctr">
                    <a:solidFill>
                      <a:srgbClr val="0D7377"/>
                    </a:solidFill>
                  </a:tcPr>
                </a:tc>
              </a:tr>
              <a:tr h="888677">
                <a:tc>
                  <a:txBody>
                    <a:bodyPr/>
                    <a:lstStyle/>
                    <a:p>
                      <a:pPr algn="l"/>
                      <a:r>
                        <a:rPr lang="en-US" sz="1700" b="1" dirty="0">
                          <a:solidFill>
                            <a:srgbClr val="000000"/>
                          </a:solidFill>
                          <a:latin typeface="Arial"/>
                          <a:cs typeface="Arial"/>
                        </a:rPr>
                        <a:t>Boulet 2024</a:t>
                      </a:r>
                    </a:p>
                    <a:p>
                      <a:pPr algn="l"/>
                      <a:r>
                        <a:rPr lang="en-US" sz="1700" b="1" dirty="0">
                          <a:solidFill>
                            <a:srgbClr val="000000"/>
                          </a:solidFill>
                          <a:latin typeface="Arial"/>
                          <a:cs typeface="Arial"/>
                        </a:rPr>
                        <a:t>Crit Care</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Pilot RCT, 3 ICUs, n = 48</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Restrict hidden fluids vs standard</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Fluid balance at day 5: no significant difference</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Small, not powered for mortality</a:t>
                      </a:r>
                    </a:p>
                  </a:txBody>
                  <a:tcPr marL="73152" marR="73152" marT="45720" marB="45720" anchor="ctr">
                    <a:solidFill>
                      <a:srgbClr val="FFFFFF"/>
                    </a:solidFill>
                  </a:tcPr>
                </a:tc>
              </a:tr>
              <a:tr h="888677">
                <a:tc>
                  <a:txBody>
                    <a:bodyPr/>
                    <a:lstStyle/>
                    <a:p>
                      <a:pPr algn="l"/>
                      <a:r>
                        <a:rPr lang="en-US" sz="1700" b="1" dirty="0">
                          <a:solidFill>
                            <a:srgbClr val="000000"/>
                          </a:solidFill>
                          <a:latin typeface="Arial"/>
                          <a:cs typeface="Arial"/>
                        </a:rPr>
                        <a:t>Hyun 2023</a:t>
                      </a:r>
                    </a:p>
                    <a:p>
                      <a:pPr algn="l"/>
                      <a:r>
                        <a:rPr lang="en-US" sz="1700" b="1" dirty="0">
                          <a:solidFill>
                            <a:srgbClr val="000000"/>
                          </a:solidFill>
                          <a:latin typeface="Arial"/>
                          <a:cs typeface="Arial"/>
                        </a:rPr>
                        <a:t>Ann Intensive Care</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Matched cohort, registry, 20 hospitals</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Positive vs negative fluid balance</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28-day death higher if positive by day 2-3</a:t>
                      </a:r>
                    </a:p>
                  </a:txBody>
                  <a:tcPr marL="73152" marR="73152" marT="45720" marB="45720" anchor="ctr">
                    <a:solidFill>
                      <a:srgbClr val="F5F9FA"/>
                    </a:solidFill>
                  </a:tcPr>
                </a:tc>
                <a:tc>
                  <a:txBody>
                    <a:bodyPr/>
                    <a:lstStyle/>
                    <a:p>
                      <a:pPr algn="l"/>
                      <a:r>
                        <a:rPr lang="en-US" sz="1700" dirty="0">
                          <a:solidFill>
                            <a:srgbClr val="000000"/>
                          </a:solidFill>
                          <a:latin typeface="Arial"/>
                          <a:cs typeface="Arial"/>
                        </a:rPr>
                        <a:t>Observational: confounding possible</a:t>
                      </a:r>
                    </a:p>
                  </a:txBody>
                  <a:tcPr marL="73152" marR="73152" marT="45720" marB="45720" anchor="ctr">
                    <a:solidFill>
                      <a:srgbClr val="F5F9FA"/>
                    </a:solidFill>
                  </a:tcPr>
                </a:tc>
              </a:tr>
              <a:tr h="629598">
                <a:tc>
                  <a:txBody>
                    <a:bodyPr/>
                    <a:lstStyle/>
                    <a:p>
                      <a:pPr algn="l"/>
                      <a:r>
                        <a:rPr lang="en-US" sz="1700" b="1" dirty="0">
                          <a:solidFill>
                            <a:srgbClr val="000000"/>
                          </a:solidFill>
                          <a:latin typeface="Arial"/>
                          <a:cs typeface="Arial"/>
                        </a:rPr>
                        <a:t>Meyhoff 2022</a:t>
                      </a:r>
                    </a:p>
                    <a:p>
                      <a:pPr algn="l"/>
                      <a:r>
                        <a:rPr lang="en-US" sz="1700" b="1" dirty="0">
                          <a:solidFill>
                            <a:srgbClr val="000000"/>
                          </a:solidFill>
                          <a:latin typeface="Arial"/>
                          <a:cs typeface="Arial"/>
                        </a:rPr>
                        <a:t>N Engl J Med</a:t>
                      </a:r>
                    </a:p>
                  </a:txBody>
                  <a:tcPr marL="73152" marR="73152" marT="45720" marB="45720" anchor="ctr">
                    <a:solidFill>
                      <a:srgbClr val="EAF2F5"/>
                    </a:solidFill>
                  </a:tcPr>
                </a:tc>
                <a:tc>
                  <a:txBody>
                    <a:bodyPr/>
                    <a:lstStyle/>
                    <a:p>
                      <a:pPr algn="l"/>
                      <a:r>
                        <a:rPr lang="en-US" sz="1700" dirty="0">
                          <a:solidFill>
                            <a:srgbClr val="000000"/>
                          </a:solidFill>
                          <a:latin typeface="Arial"/>
                          <a:cs typeface="Arial"/>
                        </a:rPr>
                        <a:t>Large RCT (CLASSIC), n = 1,554</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Restrictive vs standard IV fluid</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90-day death 42.3% vs 42.1%: no difference</a:t>
                      </a:r>
                    </a:p>
                  </a:txBody>
                  <a:tcPr marL="73152" marR="73152" marT="45720" marB="45720" anchor="ctr">
                    <a:solidFill>
                      <a:srgbClr val="FFFFFF"/>
                    </a:solidFill>
                  </a:tcPr>
                </a:tc>
                <a:tc>
                  <a:txBody>
                    <a:bodyPr/>
                    <a:lstStyle/>
                    <a:p>
                      <a:pPr algn="l"/>
                      <a:r>
                        <a:rPr lang="en-US" sz="1700" dirty="0">
                          <a:solidFill>
                            <a:srgbClr val="000000"/>
                          </a:solidFill>
                          <a:latin typeface="Arial"/>
                          <a:cs typeface="Arial"/>
                        </a:rPr>
                        <a:t>Clinicians not blinded</a:t>
                      </a:r>
                    </a:p>
                  </a:txBody>
                  <a:tcPr marL="73152" marR="73152" marT="45720" marB="45720" anchor="ctr">
                    <a:solidFill>
                      <a:srgbClr val="FFFFFF"/>
                    </a:solidFill>
                  </a:tcPr>
                </a:tc>
              </a:tr>
              <a:tr h="370519">
                <a:tc>
                  <a:txBody>
                    <a:bodyPr/>
                    <a:lstStyle/>
                    <a:p>
                      <a:pPr algn="l"/>
                      <a:r>
                        <a:rPr lang="en-US" sz="1700" b="1" dirty="0">
                          <a:solidFill>
                            <a:srgbClr val="595959"/>
                          </a:solidFill>
                          <a:latin typeface="Arial"/>
                          <a:cs typeface="Arial"/>
                        </a:rPr>
                        <a:t>Your paper 4</a:t>
                      </a:r>
                    </a:p>
                  </a:txBody>
                  <a:tcPr marL="73152" marR="73152" marT="45720" marB="45720" anchor="ctr">
                    <a:solidFill>
                      <a:srgbClr val="EAF2F5"/>
                    </a:solidFill>
                  </a:tcPr>
                </a:tc>
                <a:tc>
                  <a:txBody>
                    <a:bodyPr/>
                    <a:lstStyle/>
                    <a:p>
                      <a:pPr algn="l"/>
                      <a:r>
                        <a:rPr lang="en-US" sz="1700" dirty="0">
                          <a:solidFill>
                            <a:srgbClr val="595959"/>
                          </a:solidFill>
                          <a:latin typeface="Arial"/>
                          <a:cs typeface="Arial"/>
                        </a:rPr>
                        <a:t>...</a:t>
                      </a:r>
                    </a:p>
                  </a:txBody>
                  <a:tcPr marL="73152" marR="73152" marT="45720" marB="45720" anchor="ctr">
                    <a:solidFill>
                      <a:srgbClr val="F5F9FA"/>
                    </a:solidFill>
                  </a:tcPr>
                </a:tc>
                <a:tc>
                  <a:txBody>
                    <a:bodyPr/>
                    <a:lstStyle/>
                    <a:p>
                      <a:pPr algn="l"/>
                      <a:r>
                        <a:rPr lang="en-US" sz="1700" dirty="0">
                          <a:solidFill>
                            <a:srgbClr val="595959"/>
                          </a:solidFill>
                          <a:latin typeface="Arial"/>
                          <a:cs typeface="Arial"/>
                        </a:rPr>
                        <a:t>...</a:t>
                      </a:r>
                    </a:p>
                  </a:txBody>
                  <a:tcPr marL="73152" marR="73152" marT="45720" marB="45720" anchor="ctr">
                    <a:solidFill>
                      <a:srgbClr val="F5F9FA"/>
                    </a:solidFill>
                  </a:tcPr>
                </a:tc>
                <a:tc>
                  <a:txBody>
                    <a:bodyPr/>
                    <a:lstStyle/>
                    <a:p>
                      <a:pPr algn="l"/>
                      <a:r>
                        <a:rPr lang="en-US" sz="1700" dirty="0">
                          <a:solidFill>
                            <a:srgbClr val="595959"/>
                          </a:solidFill>
                          <a:latin typeface="Arial"/>
                          <a:cs typeface="Arial"/>
                        </a:rPr>
                        <a:t>...</a:t>
                      </a:r>
                    </a:p>
                  </a:txBody>
                  <a:tcPr marL="73152" marR="73152" marT="45720" marB="45720" anchor="ctr">
                    <a:solidFill>
                      <a:srgbClr val="F5F9FA"/>
                    </a:solidFill>
                  </a:tcPr>
                </a:tc>
                <a:tc>
                  <a:txBody>
                    <a:bodyPr/>
                    <a:lstStyle/>
                    <a:p>
                      <a:pPr algn="l"/>
                      <a:r>
                        <a:rPr lang="en-US" sz="1700" dirty="0">
                          <a:solidFill>
                            <a:srgbClr val="595959"/>
                          </a:solidFill>
                          <a:latin typeface="Arial"/>
                          <a:cs typeface="Arial"/>
                        </a:rPr>
                        <a:t>...</a:t>
                      </a:r>
                    </a:p>
                  </a:txBody>
                  <a:tcPr marL="73152" marR="73152" marT="45720" marB="45720" anchor="ctr">
                    <a:solidFill>
                      <a:srgbClr val="F5F9FA"/>
                    </a:solidFill>
                  </a:tcPr>
                </a:tc>
              </a:tr>
            </a:tbl>
          </a:graphicData>
        </a:graphic>
      </p:graphicFrame>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One row per paper: 5 rows today, the same columns for every paper.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From literature to your Introduction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472440" y="1284760"/>
            <a:ext cx="7315200" cy="1005840"/>
          </a:xfrm>
          <a:prstGeom prst="roundRect">
            <a:avLst>
              <a:gd name="adj" fmla="val 15000"/>
            </a:avLst>
          </a:prstGeom>
          <a:solidFill>
            <a:srgbClr val="5FA39B"/>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What is known</a:t>
            </a:r>
          </a:p>
          <a:p>
            <a:pPr marL="0" indent="0" algn="ctr">
              <a:lnSpc>
                <a:spcPct val="100000"/>
              </a:lnSpc>
              <a:spcBef>
                <a:spcPts val="300"/>
              </a:spcBef>
              <a:buNone/>
            </a:pPr>
            <a:r>
              <a:rPr lang="en-US" sz="1500" dirty="0">
                <a:solidFill>
                  <a:srgbClr val="FFFFFF"/>
                </a:solidFill>
                <a:latin typeface="Arial"/>
                <a:cs typeface="Arial"/>
              </a:rPr>
              <a:t>The problem and current practice, with references</a:t>
            </a:r>
          </a:p>
        </p:txBody>
      </p:sp>
      <p:cxnSp>
        <p:nvCxnSpPr>
          <p:cNvPr id="101" name="Arrow"/>
          <p:cNvCxnSpPr/>
          <p:nvPr/>
        </p:nvCxnSpPr>
        <p:spPr>
          <a:xfrm>
            <a:off x="4130040" y="2318032"/>
            <a:ext cx="0" cy="265176"/>
          </a:xfrm>
          <a:prstGeom prst="straightConnector1">
            <a:avLst/>
          </a:prstGeom>
          <a:ln w="38100" cap="rnd">
            <a:solidFill>
              <a:srgbClr val="8A99A3"/>
            </a:solidFill>
            <a:round/>
            <a:tailEnd type="triangle" w="med" len="med"/>
          </a:ln>
        </p:spPr>
      </p:cxnSp>
      <p:sp>
        <p:nvSpPr>
          <p:cNvPr id="102" name="Box"/>
          <p:cNvSpPr/>
          <p:nvPr/>
        </p:nvSpPr>
        <p:spPr>
          <a:xfrm>
            <a:off x="1066800" y="2610640"/>
            <a:ext cx="6126480" cy="1005840"/>
          </a:xfrm>
          <a:prstGeom prst="roundRect">
            <a:avLst>
              <a:gd name="adj" fmla="val 15000"/>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What is not known</a:t>
            </a:r>
          </a:p>
          <a:p>
            <a:pPr marL="0" indent="0" algn="ctr">
              <a:lnSpc>
                <a:spcPct val="100000"/>
              </a:lnSpc>
              <a:spcBef>
                <a:spcPts val="300"/>
              </a:spcBef>
              <a:buNone/>
            </a:pPr>
            <a:r>
              <a:rPr lang="en-US" sz="1500" dirty="0">
                <a:solidFill>
                  <a:srgbClr val="FFFFFF"/>
                </a:solidFill>
                <a:latin typeface="Arial"/>
                <a:cs typeface="Arial"/>
              </a:rPr>
              <a:t>The gap: studies disagree, are too small or did not measure it</a:t>
            </a:r>
          </a:p>
        </p:txBody>
      </p:sp>
      <p:cxnSp>
        <p:nvCxnSpPr>
          <p:cNvPr id="103" name="Arrow"/>
          <p:cNvCxnSpPr/>
          <p:nvPr/>
        </p:nvCxnSpPr>
        <p:spPr>
          <a:xfrm>
            <a:off x="4130040" y="3643912"/>
            <a:ext cx="0" cy="265176"/>
          </a:xfrm>
          <a:prstGeom prst="straightConnector1">
            <a:avLst/>
          </a:prstGeom>
          <a:ln w="38100" cap="rnd">
            <a:solidFill>
              <a:srgbClr val="8A99A3"/>
            </a:solidFill>
            <a:round/>
            <a:tailEnd type="triangle" w="med" len="med"/>
          </a:ln>
        </p:spPr>
      </p:cxnSp>
      <p:sp>
        <p:nvSpPr>
          <p:cNvPr id="104" name="Box"/>
          <p:cNvSpPr/>
          <p:nvPr/>
        </p:nvSpPr>
        <p:spPr>
          <a:xfrm>
            <a:off x="1661160" y="3936520"/>
            <a:ext cx="4937760" cy="1005840"/>
          </a:xfrm>
          <a:prstGeom prst="roundRect">
            <a:avLst>
              <a:gd name="adj" fmla="val 15000"/>
            </a:avLst>
          </a:prstGeom>
          <a:solidFill>
            <a:srgbClr val="055F56"/>
          </a:solidFill>
          <a:ln>
            <a:noFill/>
          </a:ln>
        </p:spPr>
        <p:txBody>
          <a:bodyPr wrap="square" lIns="54864" tIns="54864" rIns="54864" bIns="54864" rtlCol="0" anchor="ctr">
            <a:noAutofit/>
          </a:bodyPr>
          <a:lstStyle/>
          <a:p>
            <a:pPr marL="0" indent="0" algn="ctr">
              <a:lnSpc>
                <a:spcPct val="100000"/>
              </a:lnSpc>
              <a:buNone/>
            </a:pPr>
            <a:r>
              <a:rPr lang="en-US" sz="1800" b="1" dirty="0">
                <a:solidFill>
                  <a:srgbClr val="FFFFFF"/>
                </a:solidFill>
                <a:latin typeface="Arial"/>
                <a:cs typeface="Arial"/>
              </a:rPr>
              <a:t>Question and objectives</a:t>
            </a:r>
          </a:p>
          <a:p>
            <a:pPr marL="0" indent="0" algn="ctr">
              <a:lnSpc>
                <a:spcPct val="100000"/>
              </a:lnSpc>
              <a:spcBef>
                <a:spcPts val="300"/>
              </a:spcBef>
              <a:buNone/>
            </a:pPr>
            <a:r>
              <a:rPr lang="en-US" sz="1500" dirty="0">
                <a:solidFill>
                  <a:srgbClr val="FFFFFF"/>
                </a:solidFill>
                <a:latin typeface="Arial"/>
                <a:cs typeface="Arial"/>
              </a:rPr>
              <a:t>Your PICO question, aim and objectives</a:t>
            </a:r>
          </a:p>
        </p:txBody>
      </p:sp>
      <p:sp>
        <p:nvSpPr>
          <p:cNvPr id="105" name="Box"/>
          <p:cNvSpPr/>
          <p:nvPr/>
        </p:nvSpPr>
        <p:spPr>
          <a:xfrm>
            <a:off x="8427720" y="1284760"/>
            <a:ext cx="3291840" cy="1737360"/>
          </a:xfrm>
          <a:prstGeom prst="roundRect">
            <a:avLst>
              <a:gd name="adj" fmla="val 8000"/>
            </a:avLst>
          </a:prstGeom>
          <a:solidFill>
            <a:srgbClr val="EAF2F5"/>
          </a:solidFill>
          <a:ln>
            <a:noFill/>
          </a:ln>
        </p:spPr>
        <p:txBody>
          <a:bodyPr wrap="square" lIns="109728" tIns="109728" rIns="109728" bIns="109728" rtlCol="0" anchor="ctr">
            <a:noAutofit/>
          </a:bodyPr>
          <a:lstStyle/>
          <a:p>
            <a:pPr marL="0" indent="0" algn="ctr">
              <a:lnSpc>
                <a:spcPct val="100000"/>
              </a:lnSpc>
              <a:buNone/>
            </a:pPr>
            <a:r>
              <a:rPr lang="en-US" sz="1600" b="1" dirty="0">
                <a:solidFill>
                  <a:srgbClr val="055F56"/>
                </a:solidFill>
                <a:latin typeface="Arial"/>
                <a:cs typeface="Arial"/>
              </a:rPr>
              <a:t>Introduction</a:t>
            </a:r>
          </a:p>
          <a:p>
            <a:pPr marL="0" indent="0" algn="ctr">
              <a:lnSpc>
                <a:spcPct val="100000"/>
              </a:lnSpc>
              <a:spcBef>
                <a:spcPts val="300"/>
              </a:spcBef>
              <a:buNone/>
            </a:pPr>
            <a:r>
              <a:rPr lang="en-US" sz="1600" dirty="0">
                <a:solidFill>
                  <a:srgbClr val="1A1A1A"/>
                </a:solidFill>
                <a:latin typeface="Arial"/>
                <a:cs typeface="Arial"/>
              </a:rPr>
              <a:t>3 short paragraphs</a:t>
            </a:r>
          </a:p>
          <a:p>
            <a:pPr marL="0" indent="0" algn="ctr">
              <a:lnSpc>
                <a:spcPct val="100000"/>
              </a:lnSpc>
              <a:spcBef>
                <a:spcPts val="300"/>
              </a:spcBef>
              <a:buNone/>
            </a:pPr>
            <a:r>
              <a:rPr lang="en-US" sz="1600" dirty="0">
                <a:solidFill>
                  <a:srgbClr val="1A1A1A"/>
                </a:solidFill>
                <a:latin typeface="Arial"/>
                <a:cs typeface="Arial"/>
              </a:rPr>
              <a:t>About 300 words</a:t>
            </a:r>
          </a:p>
          <a:p>
            <a:pPr marL="0" indent="0" algn="ctr">
              <a:lnSpc>
                <a:spcPct val="100000"/>
              </a:lnSpc>
              <a:spcBef>
                <a:spcPts val="300"/>
              </a:spcBef>
              <a:buNone/>
            </a:pPr>
            <a:r>
              <a:rPr lang="en-US" sz="1600" dirty="0">
                <a:solidFill>
                  <a:srgbClr val="1A1A1A"/>
                </a:solidFill>
                <a:latin typeface="Arial"/>
                <a:cs typeface="Arial"/>
              </a:rPr>
              <a:t>A reference for every fact</a:t>
            </a:r>
          </a:p>
        </p:txBody>
      </p:sp>
      <p:sp>
        <p:nvSpPr>
          <p:cNvPr id="106" name="Box"/>
          <p:cNvSpPr/>
          <p:nvPr/>
        </p:nvSpPr>
        <p:spPr>
          <a:xfrm>
            <a:off x="8427720" y="3250720"/>
            <a:ext cx="3291840" cy="1874520"/>
          </a:xfrm>
          <a:prstGeom prst="roundRect">
            <a:avLst>
              <a:gd name="adj" fmla="val 8000"/>
            </a:avLst>
          </a:prstGeom>
          <a:solidFill>
            <a:srgbClr val="FFFFFF"/>
          </a:solidFill>
          <a:ln w="25400">
            <a:solidFill>
              <a:srgbClr val="D9822B"/>
            </a:solidFill>
          </a:ln>
        </p:spPr>
        <p:txBody>
          <a:bodyPr wrap="square" lIns="109728" tIns="109728" rIns="109728" bIns="109728" rtlCol="0" anchor="ctr">
            <a:noAutofit/>
          </a:bodyPr>
          <a:lstStyle/>
          <a:p>
            <a:pPr marL="0" indent="0" algn="ctr">
              <a:lnSpc>
                <a:spcPct val="100000"/>
              </a:lnSpc>
              <a:buNone/>
            </a:pPr>
            <a:r>
              <a:rPr lang="en-US" sz="1600" b="1" dirty="0">
                <a:solidFill>
                  <a:srgbClr val="D9822B"/>
                </a:solidFill>
                <a:latin typeface="Arial"/>
                <a:cs typeface="Arial"/>
              </a:rPr>
              <a:t>Not in the Introduction</a:t>
            </a:r>
          </a:p>
          <a:p>
            <a:pPr marL="0" indent="0" algn="ctr">
              <a:lnSpc>
                <a:spcPct val="100000"/>
              </a:lnSpc>
              <a:spcBef>
                <a:spcPts val="300"/>
              </a:spcBef>
              <a:buNone/>
            </a:pPr>
            <a:r>
              <a:rPr lang="en-US" sz="1600" dirty="0">
                <a:solidFill>
                  <a:srgbClr val="1A1A1A"/>
                </a:solidFill>
                <a:latin typeface="Arial"/>
                <a:cs typeface="Arial"/>
              </a:rPr>
              <a:t>Your own data or results</a:t>
            </a:r>
          </a:p>
          <a:p>
            <a:pPr marL="0" indent="0" algn="ctr">
              <a:lnSpc>
                <a:spcPct val="100000"/>
              </a:lnSpc>
              <a:spcBef>
                <a:spcPts val="300"/>
              </a:spcBef>
              <a:buNone/>
            </a:pPr>
            <a:r>
              <a:rPr lang="en-US" sz="1600" dirty="0">
                <a:solidFill>
                  <a:srgbClr val="1A1A1A"/>
                </a:solidFill>
                <a:latin typeface="Arial"/>
                <a:cs typeface="Arial"/>
              </a:rPr>
              <a:t>Local figures only if they are published, with a reference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Known, then not known, then the question and objectives.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 model problem statement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00" name="Box"/>
          <p:cNvSpPr/>
          <p:nvPr/>
        </p:nvSpPr>
        <p:spPr>
          <a:xfrm>
            <a:off x="472440" y="1284760"/>
            <a:ext cx="2468880" cy="1143000"/>
          </a:xfrm>
          <a:prstGeom prst="roundRect">
            <a:avLst>
              <a:gd name="adj" fmla="val 12000"/>
            </a:avLst>
          </a:prstGeom>
          <a:solidFill>
            <a:srgbClr val="5FA39B"/>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1</a:t>
            </a:r>
          </a:p>
          <a:p>
            <a:pPr marL="0" indent="0" algn="ctr">
              <a:lnSpc>
                <a:spcPct val="100000"/>
              </a:lnSpc>
              <a:spcBef>
                <a:spcPts val="100"/>
              </a:spcBef>
              <a:buNone/>
            </a:pPr>
            <a:r>
              <a:rPr lang="en-US" sz="1700" b="1" dirty="0">
                <a:solidFill>
                  <a:srgbClr val="FFFFFF"/>
                </a:solidFill>
                <a:latin typeface="Arial"/>
                <a:cs typeface="Arial"/>
              </a:rPr>
              <a:t>What is known</a:t>
            </a:r>
          </a:p>
        </p:txBody>
      </p:sp>
      <p:sp>
        <p:nvSpPr>
          <p:cNvPr id="101" name="Box"/>
          <p:cNvSpPr/>
          <p:nvPr/>
        </p:nvSpPr>
        <p:spPr>
          <a:xfrm>
            <a:off x="3078480" y="1284760"/>
            <a:ext cx="8641080" cy="1143000"/>
          </a:xfrm>
          <a:prstGeom prst="roundRect">
            <a:avLst>
              <a:gd name="adj" fmla="val 8000"/>
            </a:avLst>
          </a:prstGeom>
          <a:solidFill>
            <a:srgbClr val="EAF2F5"/>
          </a:solidFill>
          <a:ln>
            <a:noFill/>
          </a:ln>
        </p:spPr>
        <p:txBody>
          <a:bodyPr wrap="square" lIns="128016" tIns="128016" rIns="128016" bIns="128016" rtlCol="0" anchor="ctr">
            <a:noAutofit/>
          </a:bodyPr>
          <a:lstStyle/>
          <a:p>
            <a:pPr marL="0" indent="0" algn="ctr">
              <a:lnSpc>
                <a:spcPct val="100000"/>
              </a:lnSpc>
              <a:buNone/>
            </a:pPr>
            <a:r>
              <a:rPr lang="en-US" sz="1500" dirty="0">
                <a:solidFill>
                  <a:srgbClr val="1A1A1A"/>
                </a:solidFill>
                <a:latin typeface="Arial"/>
                <a:cs typeface="Arial"/>
              </a:rPr>
              <a:t>Septic shock is a leading cause of death in the ICU. Early fluids restore perfusion, but continued fluids often cause a positive fluid balance, which cohort studies link to higher mortality [2].</a:t>
            </a:r>
          </a:p>
        </p:txBody>
      </p:sp>
      <p:sp>
        <p:nvSpPr>
          <p:cNvPr id="102" name="Box"/>
          <p:cNvSpPr/>
          <p:nvPr/>
        </p:nvSpPr>
        <p:spPr>
          <a:xfrm>
            <a:off x="472440" y="2610640"/>
            <a:ext cx="2468880" cy="1143000"/>
          </a:xfrm>
          <a:prstGeom prst="roundRect">
            <a:avLst>
              <a:gd name="adj" fmla="val 12000"/>
            </a:avLst>
          </a:prstGeom>
          <a:solidFill>
            <a:srgbClr val="0070C0"/>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2</a:t>
            </a:r>
          </a:p>
          <a:p>
            <a:pPr marL="0" indent="0" algn="ctr">
              <a:lnSpc>
                <a:spcPct val="100000"/>
              </a:lnSpc>
              <a:spcBef>
                <a:spcPts val="100"/>
              </a:spcBef>
              <a:buNone/>
            </a:pPr>
            <a:r>
              <a:rPr lang="en-US" sz="1700" b="1" dirty="0">
                <a:solidFill>
                  <a:srgbClr val="FFFFFF"/>
                </a:solidFill>
                <a:latin typeface="Arial"/>
                <a:cs typeface="Arial"/>
              </a:rPr>
              <a:t>What is not known</a:t>
            </a:r>
          </a:p>
        </p:txBody>
      </p:sp>
      <p:sp>
        <p:nvSpPr>
          <p:cNvPr id="103" name="Box"/>
          <p:cNvSpPr/>
          <p:nvPr/>
        </p:nvSpPr>
        <p:spPr>
          <a:xfrm>
            <a:off x="3078480" y="2610640"/>
            <a:ext cx="8641080" cy="1143000"/>
          </a:xfrm>
          <a:prstGeom prst="roundRect">
            <a:avLst>
              <a:gd name="adj" fmla="val 8000"/>
            </a:avLst>
          </a:prstGeom>
          <a:solidFill>
            <a:srgbClr val="EAF2F5"/>
          </a:solidFill>
          <a:ln>
            <a:noFill/>
          </a:ln>
        </p:spPr>
        <p:txBody>
          <a:bodyPr wrap="square" lIns="128016" tIns="128016" rIns="128016" bIns="128016" rtlCol="0" anchor="ctr">
            <a:noAutofit/>
          </a:bodyPr>
          <a:lstStyle/>
          <a:p>
            <a:pPr marL="0" indent="0" algn="ctr">
              <a:lnSpc>
                <a:spcPct val="100000"/>
              </a:lnSpc>
              <a:buNone/>
            </a:pPr>
            <a:r>
              <a:rPr lang="en-US" sz="1500" dirty="0">
                <a:solidFill>
                  <a:srgbClr val="1A1A1A"/>
                </a:solidFill>
                <a:latin typeface="Arial"/>
                <a:cs typeface="Arial"/>
              </a:rPr>
              <a:t>Large trials of restrictive fluids found no difference in mortality [3, 4], and a pilot trial targeting hidden fluids did not significantly reduce fluid balance [1]. Whether restriction reliably reduces fluid balance is still unclear.</a:t>
            </a:r>
          </a:p>
        </p:txBody>
      </p:sp>
      <p:sp>
        <p:nvSpPr>
          <p:cNvPr id="104" name="Box"/>
          <p:cNvSpPr/>
          <p:nvPr/>
        </p:nvSpPr>
        <p:spPr>
          <a:xfrm>
            <a:off x="472440" y="3936520"/>
            <a:ext cx="2468880" cy="1143000"/>
          </a:xfrm>
          <a:prstGeom prst="roundRect">
            <a:avLst>
              <a:gd name="adj" fmla="val 12000"/>
            </a:avLst>
          </a:prstGeom>
          <a:solidFill>
            <a:srgbClr val="055F56"/>
          </a:solidFill>
          <a:ln>
            <a:noFill/>
          </a:ln>
        </p:spPr>
        <p:txBody>
          <a:bodyPr wrap="square" lIns="54864" tIns="54864" rIns="54864" bIns="54864" rtlCol="0" anchor="ctr">
            <a:noAutofit/>
          </a:bodyPr>
          <a:lstStyle/>
          <a:p>
            <a:pPr marL="0" indent="0" algn="ctr">
              <a:lnSpc>
                <a:spcPct val="100000"/>
              </a:lnSpc>
              <a:buNone/>
            </a:pPr>
            <a:r>
              <a:rPr lang="en-US" sz="1700" b="1" dirty="0">
                <a:solidFill>
                  <a:srgbClr val="FFFFFF"/>
                </a:solidFill>
                <a:latin typeface="Arial"/>
                <a:cs typeface="Arial"/>
              </a:rPr>
              <a:t>3</a:t>
            </a:r>
          </a:p>
          <a:p>
            <a:pPr marL="0" indent="0" algn="ctr">
              <a:lnSpc>
                <a:spcPct val="100000"/>
              </a:lnSpc>
              <a:spcBef>
                <a:spcPts val="100"/>
              </a:spcBef>
              <a:buNone/>
            </a:pPr>
            <a:r>
              <a:rPr lang="en-US" sz="1700" b="1" dirty="0">
                <a:solidFill>
                  <a:srgbClr val="FFFFFF"/>
                </a:solidFill>
                <a:latin typeface="Arial"/>
                <a:cs typeface="Arial"/>
              </a:rPr>
              <a:t>Question and objectives</a:t>
            </a:r>
          </a:p>
        </p:txBody>
      </p:sp>
      <p:sp>
        <p:nvSpPr>
          <p:cNvPr id="105" name="Box"/>
          <p:cNvSpPr/>
          <p:nvPr/>
        </p:nvSpPr>
        <p:spPr>
          <a:xfrm>
            <a:off x="3078480" y="3936520"/>
            <a:ext cx="8641080" cy="1143000"/>
          </a:xfrm>
          <a:prstGeom prst="roundRect">
            <a:avLst>
              <a:gd name="adj" fmla="val 8000"/>
            </a:avLst>
          </a:prstGeom>
          <a:solidFill>
            <a:srgbClr val="EAF2F5"/>
          </a:solidFill>
          <a:ln>
            <a:noFill/>
          </a:ln>
        </p:spPr>
        <p:txBody>
          <a:bodyPr wrap="square" lIns="128016" tIns="128016" rIns="128016" bIns="128016" rtlCol="0" anchor="ctr">
            <a:noAutofit/>
          </a:bodyPr>
          <a:lstStyle/>
          <a:p>
            <a:pPr marL="0" indent="0" algn="ctr">
              <a:lnSpc>
                <a:spcPct val="100000"/>
              </a:lnSpc>
              <a:buNone/>
            </a:pPr>
            <a:r>
              <a:rPr lang="en-US" sz="1500" dirty="0">
                <a:solidFill>
                  <a:srgbClr val="1A1A1A"/>
                </a:solidFill>
                <a:latin typeface="Arial"/>
                <a:cs typeface="Arial"/>
              </a:rPr>
              <a:t>We therefore ask whether, in adults with septic shock, a restrictive fluid protocol reduces fluid balance at day 5 compared with usual care. Primary objective: to compare day-5 fluid balance between the groups.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Three short paragraphs, one job each, and a reference for every fact.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Working title and keywords from PICO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426240"/>
            <a:ext cx="3346953"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From the PICO</a:t>
            </a:r>
          </a:p>
        </p:txBody>
      </p:sp>
      <p:sp>
        <p:nvSpPr>
          <p:cNvPr id="71" name="CardBody"/>
          <p:cNvSpPr/>
          <p:nvPr/>
        </p:nvSpPr>
        <p:spPr>
          <a:xfrm>
            <a:off x="457200" y="2066240"/>
            <a:ext cx="3346953" cy="277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800" dirty="0">
                <a:solidFill>
                  <a:srgbClr val="000000"/>
                </a:solidFill>
                <a:latin typeface="Arial"/>
                <a:cs typeface="Arial"/>
              </a:rPr>
              <a:t>P: adults with septic shock</a:t>
            </a:r>
          </a:p>
          <a:p>
            <a:pPr marL="0" indent="0" algn="ctr">
              <a:lnSpc>
                <a:spcPct val="104000"/>
              </a:lnSpc>
              <a:spcBef>
                <a:spcPts val="400"/>
              </a:spcBef>
              <a:buNone/>
            </a:pPr>
            <a:r>
              <a:rPr lang="en-US" sz="1800" dirty="0">
                <a:solidFill>
                  <a:srgbClr val="000000"/>
                </a:solidFill>
                <a:latin typeface="Arial"/>
                <a:cs typeface="Arial"/>
              </a:rPr>
              <a:t>I: restrictive fluids</a:t>
            </a:r>
          </a:p>
          <a:p>
            <a:pPr marL="0" indent="0" algn="ctr">
              <a:lnSpc>
                <a:spcPct val="104000"/>
              </a:lnSpc>
              <a:spcBef>
                <a:spcPts val="400"/>
              </a:spcBef>
              <a:buNone/>
            </a:pPr>
            <a:r>
              <a:rPr lang="en-US" sz="1800" dirty="0">
                <a:solidFill>
                  <a:srgbClr val="000000"/>
                </a:solidFill>
                <a:latin typeface="Arial"/>
                <a:cs typeface="Arial"/>
              </a:rPr>
              <a:t>C: usual fluids</a:t>
            </a:r>
          </a:p>
          <a:p>
            <a:pPr marL="0" indent="0" algn="ctr">
              <a:lnSpc>
                <a:spcPct val="104000"/>
              </a:lnSpc>
              <a:spcBef>
                <a:spcPts val="400"/>
              </a:spcBef>
              <a:buNone/>
            </a:pPr>
            <a:r>
              <a:rPr lang="en-US" sz="1800" dirty="0">
                <a:solidFill>
                  <a:srgbClr val="000000"/>
                </a:solidFill>
                <a:latin typeface="Arial"/>
                <a:cs typeface="Arial"/>
              </a:rPr>
              <a:t>O: fluid balance</a:t>
            </a:r>
          </a:p>
          <a:p>
            <a:pPr marL="0" indent="0" algn="ctr">
              <a:lnSpc>
                <a:spcPct val="104000"/>
              </a:lnSpc>
              <a:spcBef>
                <a:spcPts val="400"/>
              </a:spcBef>
              <a:buNone/>
            </a:pPr>
            <a:r>
              <a:rPr lang="en-US" sz="1800" dirty="0">
                <a:solidFill>
                  <a:srgbClr val="000000"/>
                </a:solidFill>
                <a:latin typeface="Arial"/>
                <a:cs typeface="Arial"/>
              </a:rPr>
              <a:t>D (design): pilot RCT</a:t>
            </a:r>
          </a:p>
        </p:txBody>
      </p:sp>
      <p:sp>
        <p:nvSpPr>
          <p:cNvPr id="72" name="CardHead"/>
          <p:cNvSpPr/>
          <p:nvPr/>
        </p:nvSpPr>
        <p:spPr>
          <a:xfrm>
            <a:off x="4004153" y="1426240"/>
            <a:ext cx="4183692"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Working title (13 words)</a:t>
            </a:r>
          </a:p>
        </p:txBody>
      </p:sp>
      <p:sp>
        <p:nvSpPr>
          <p:cNvPr id="73" name="CardBody"/>
          <p:cNvSpPr/>
          <p:nvPr/>
        </p:nvSpPr>
        <p:spPr>
          <a:xfrm>
            <a:off x="4004153" y="2066240"/>
            <a:ext cx="4183692" cy="277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800" i="1" dirty="0">
                <a:solidFill>
                  <a:srgbClr val="000000"/>
                </a:solidFill>
                <a:latin typeface="Arial"/>
                <a:cs typeface="Arial"/>
              </a:rPr>
              <a:t>"Restrictive versus usual fluids in adults with septic shock: a pilot randomised trial"</a:t>
            </a:r>
          </a:p>
          <a:p>
            <a:pPr marL="0" indent="0" algn="ctr">
              <a:lnSpc>
                <a:spcPct val="104000"/>
              </a:lnSpc>
              <a:spcBef>
                <a:spcPts val="400"/>
              </a:spcBef>
              <a:buNone/>
            </a:pPr>
            <a:r>
              <a:rPr lang="en-US" sz="1800" dirty="0">
                <a:solidFill>
                  <a:srgbClr val="000000"/>
                </a:solidFill>
                <a:latin typeface="Arial"/>
                <a:cs typeface="Arial"/>
              </a:rPr>
              <a:t>10-16 words, with population, comparison and design visible</a:t>
            </a:r>
          </a:p>
          <a:p>
            <a:pPr marL="0" indent="0" algn="ctr">
              <a:lnSpc>
                <a:spcPct val="104000"/>
              </a:lnSpc>
              <a:spcBef>
                <a:spcPts val="400"/>
              </a:spcBef>
              <a:buNone/>
            </a:pPr>
            <a:r>
              <a:rPr lang="en-US" sz="1800" dirty="0">
                <a:solidFill>
                  <a:srgbClr val="000000"/>
                </a:solidFill>
                <a:latin typeface="Arial"/>
                <a:cs typeface="Arial"/>
              </a:rPr>
              <a:t>No abbreviations, and no 'impact' or 'effect' for observational data</a:t>
            </a:r>
          </a:p>
        </p:txBody>
      </p:sp>
      <p:sp>
        <p:nvSpPr>
          <p:cNvPr id="74" name="CardHead"/>
          <p:cNvSpPr/>
          <p:nvPr/>
        </p:nvSpPr>
        <p:spPr>
          <a:xfrm>
            <a:off x="8387845" y="1426240"/>
            <a:ext cx="3346953"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Keywords (3-6)</a:t>
            </a:r>
          </a:p>
        </p:txBody>
      </p:sp>
      <p:sp>
        <p:nvSpPr>
          <p:cNvPr id="75" name="CardBody"/>
          <p:cNvSpPr/>
          <p:nvPr/>
        </p:nvSpPr>
        <p:spPr>
          <a:xfrm>
            <a:off x="8387845" y="2066240"/>
            <a:ext cx="3346953" cy="2771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800" b="1" dirty="0">
                <a:solidFill>
                  <a:srgbClr val="000000"/>
                </a:solidFill>
                <a:latin typeface="Arial"/>
                <a:cs typeface="Arial"/>
              </a:rPr>
              <a:t>MeSH terms that are not already in the title</a:t>
            </a:r>
          </a:p>
          <a:p>
            <a:pPr marL="0" indent="0" algn="ctr">
              <a:lnSpc>
                <a:spcPct val="104000"/>
              </a:lnSpc>
              <a:spcBef>
                <a:spcPts val="400"/>
              </a:spcBef>
              <a:buNone/>
            </a:pPr>
            <a:r>
              <a:rPr lang="en-US" sz="1800" dirty="0">
                <a:solidFill>
                  <a:srgbClr val="000000"/>
                </a:solidFill>
                <a:latin typeface="Arial"/>
                <a:cs typeface="Arial"/>
              </a:rPr>
              <a:t>Fluid Therapy</a:t>
            </a:r>
          </a:p>
          <a:p>
            <a:pPr marL="0" indent="0" algn="ctr">
              <a:lnSpc>
                <a:spcPct val="104000"/>
              </a:lnSpc>
              <a:spcBef>
                <a:spcPts val="400"/>
              </a:spcBef>
              <a:buNone/>
            </a:pPr>
            <a:r>
              <a:rPr lang="en-US" sz="1800" dirty="0">
                <a:solidFill>
                  <a:srgbClr val="000000"/>
                </a:solidFill>
                <a:latin typeface="Arial"/>
                <a:cs typeface="Arial"/>
              </a:rPr>
              <a:t>Water-Electrolyte Balance</a:t>
            </a:r>
          </a:p>
          <a:p>
            <a:pPr marL="0" indent="0" algn="ctr">
              <a:lnSpc>
                <a:spcPct val="104000"/>
              </a:lnSpc>
              <a:spcBef>
                <a:spcPts val="400"/>
              </a:spcBef>
              <a:buNone/>
            </a:pPr>
            <a:r>
              <a:rPr lang="en-US" sz="1800" dirty="0">
                <a:solidFill>
                  <a:srgbClr val="000000"/>
                </a:solidFill>
                <a:latin typeface="Arial"/>
                <a:cs typeface="Arial"/>
              </a:rPr>
              <a:t>Critical Care</a:t>
            </a:r>
          </a:p>
          <a:p>
            <a:pPr marL="0" indent="0" algn="ctr">
              <a:lnSpc>
                <a:spcPct val="104000"/>
              </a:lnSpc>
              <a:spcBef>
                <a:spcPts val="400"/>
              </a:spcBef>
              <a:buNone/>
            </a:pPr>
            <a:r>
              <a:rPr lang="en-US" sz="1800" dirty="0">
                <a:solidFill>
                  <a:srgbClr val="000000"/>
                </a:solidFill>
                <a:latin typeface="Arial"/>
                <a:cs typeface="Arial"/>
              </a:rPr>
              <a:t>Vasoconstrictor Agents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Your PICO already contains your title: add the design and keep it short.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Proposal builder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Now find the evidence for your own question: one search, five papers, one problem statement, one title.</a:t>
            </a:r>
          </a:p>
          <a:p>
            <a:pPr marL="0" indent="0" algn="ctr">
              <a:spcBef>
                <a:spcPts val="1200"/>
              </a:spcBef>
              <a:buNone/>
            </a:pPr>
            <a:r>
              <a:rPr lang="en-US" sz="1900" i="1" dirty="0">
                <a:solidFill>
                  <a:srgbClr val="595959"/>
                </a:solidFill>
                <a:latin typeface="Arial"/>
                <a:cs typeface="Arial"/>
              </a:rPr>
              <a:t>35 minutes: we search live for the running example, then you search for your own question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Proposal builder 2: the evidence for your own question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55F56"/>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PROPOSAL BUILDER   |   35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Watch us screen the running-example search live, and suggest papers and terms in the chat</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Run your own search string in PubMed. Note the date and the number of hits</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Screen titles and abstracts, pick 5 key papers and save them to Zotero</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Fill one row per paper in the literature review worksheet</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Draft your problem statement (known, not known, question) and a working title</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Two volunteers read their title and gap sentence aloud</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55F56"/>
                </a:solidFill>
                <a:latin typeface="Arial"/>
                <a:cs typeface="Arial"/>
              </a:rPr>
              <a:t>Timing</a:t>
            </a:r>
          </a:p>
          <a:p>
            <a:pPr marL="0" indent="0" algn="ctr">
              <a:lnSpc>
                <a:spcPct val="104000"/>
              </a:lnSpc>
              <a:spcBef>
                <a:spcPts val="300"/>
              </a:spcBef>
              <a:buNone/>
            </a:pPr>
            <a:r>
              <a:rPr lang="en-US" sz="1500" dirty="0">
                <a:solidFill>
                  <a:srgbClr val="000000"/>
                </a:solidFill>
                <a:latin typeface="Arial"/>
                <a:cs typeface="Arial"/>
              </a:rPr>
              <a:t>0-10 min: we model it live</a:t>
            </a:r>
          </a:p>
          <a:p>
            <a:pPr marL="0" indent="0" algn="ctr">
              <a:lnSpc>
                <a:spcPct val="104000"/>
              </a:lnSpc>
              <a:spcBef>
                <a:spcPts val="300"/>
              </a:spcBef>
              <a:buNone/>
            </a:pPr>
            <a:r>
              <a:rPr lang="en-US" sz="1500" dirty="0">
                <a:solidFill>
                  <a:srgbClr val="000000"/>
                </a:solidFill>
                <a:latin typeface="Arial"/>
                <a:cs typeface="Arial"/>
              </a:rPr>
              <a:t>10-30 min: you search and draft your own</a:t>
            </a:r>
          </a:p>
          <a:p>
            <a:pPr marL="0" indent="0" algn="ctr">
              <a:lnSpc>
                <a:spcPct val="104000"/>
              </a:lnSpc>
              <a:spcBef>
                <a:spcPts val="300"/>
              </a:spcBef>
              <a:buNone/>
            </a:pPr>
            <a:r>
              <a:rPr lang="en-US" sz="1500" dirty="0">
                <a:solidFill>
                  <a:srgbClr val="000000"/>
                </a:solidFill>
                <a:latin typeface="Arial"/>
                <a:cs typeface="Arial"/>
              </a:rPr>
              <a:t>30-35 min: two volunteers share</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55F56"/>
            </a:solidFill>
          </a:ln>
        </p:spPr>
        <p:txBody>
          <a:bodyPr wrap="square" lIns="182880" tIns="45720" rIns="182880" bIns="45720" rtlCol="0" anchor="ctr">
            <a:normAutofit/>
          </a:bodyPr>
          <a:lstStyle/>
          <a:p>
            <a:pPr marL="0" indent="0" algn="ctr">
              <a:buNone/>
            </a:pPr>
            <a:r>
              <a:rPr lang="en-US" sz="1300" b="1" dirty="0">
                <a:solidFill>
                  <a:srgbClr val="055F56"/>
                </a:solidFill>
                <a:latin typeface="Arial"/>
                <a:cs typeface="Arial"/>
              </a:rPr>
              <a:t>OUTPUT   </a:t>
            </a:r>
            <a:r>
              <a:rPr lang="en-US" sz="1500" dirty="0">
                <a:solidFill>
                  <a:srgbClr val="000000"/>
                </a:solidFill>
                <a:latin typeface="Arial"/>
                <a:cs typeface="Arial"/>
              </a:rPr>
              <a:t>Your Proposal Part 1 continued: search, 5 references, problem statement, title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Key words of the day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86053"/>
          <a:ext cx="11277600" cy="3791840"/>
        </p:xfrm>
        <a:graphic>
          <a:graphicData uri="http://schemas.openxmlformats.org/drawingml/2006/table">
            <a:tbl>
              <a:tblPr firstRow="1" bandRow="1">
                <a:tableStyleId>{5C22544A-7EE6-4342-B048-85BDC9FD1C3A}</a:tableStyleId>
              </a:tblPr>
              <a:tblGrid>
                <a:gridCol w="5638800"/>
                <a:gridCol w="5638800"/>
              </a:tblGrid>
              <a:tr h="380000">
                <a:tc>
                  <a:txBody>
                    <a:bodyPr/>
                    <a:lstStyle/>
                    <a:p>
                      <a:pPr algn="l"/>
                      <a:r>
                        <a:rPr lang="en-US" sz="1500" b="1" dirty="0">
                          <a:solidFill>
                            <a:srgbClr val="FFFFFF"/>
                          </a:solidFill>
                          <a:latin typeface="Arial"/>
                          <a:cs typeface="Arial"/>
                        </a:rPr>
                        <a:t>Key word</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In one line</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MeSH</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Medical Subject Headings: one label for many ways of writing an idea</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AND / OR / NOT</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Narrows / widens / removes. OR inside a block, AND between blocks</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Reference manager</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Stores each paper once and formats citations in any style</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Patchwriting</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Copying with a few words swapped: plagiarism even if cited</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IMRaD</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Introduction, Methods, Results and Discussion</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Spin</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Words that claim more than the numbers show</a:t>
                      </a:r>
                    </a:p>
                  </a:txBody>
                  <a:tcPr marL="73152" marR="73152" marT="45720" marB="45720" anchor="ctr">
                    <a:solidFill>
                      <a:srgbClr val="F5F9FA"/>
                    </a:solidFill>
                  </a:tcPr>
                </a:tc>
              </a:tr>
            </a:tbl>
          </a:graphicData>
        </a:graphic>
      </p:graphicFrame>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Session 2 recap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17823"/>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Search</a:t>
            </a:r>
          </a:p>
        </p:txBody>
      </p:sp>
      <p:sp>
        <p:nvSpPr>
          <p:cNvPr id="71" name="CardBody"/>
          <p:cNvSpPr/>
          <p:nvPr/>
        </p:nvSpPr>
        <p:spPr>
          <a:xfrm>
            <a:off x="457200"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PICO blocks, MeSH and free text</a:t>
            </a:r>
          </a:p>
          <a:p>
            <a:pPr marL="0" indent="0" algn="ctr">
              <a:lnSpc>
                <a:spcPct val="104000"/>
              </a:lnSpc>
              <a:spcBef>
                <a:spcPts val="400"/>
              </a:spcBef>
              <a:buNone/>
            </a:pPr>
            <a:r>
              <a:rPr lang="en-US" sz="1750" dirty="0">
                <a:solidFill>
                  <a:srgbClr val="000000"/>
                </a:solidFill>
                <a:latin typeface="Arial"/>
                <a:cs typeface="Arial"/>
              </a:rPr>
              <a:t>OR inside, AND between</a:t>
            </a:r>
          </a:p>
          <a:p>
            <a:pPr marL="0" indent="0" algn="ctr">
              <a:lnSpc>
                <a:spcPct val="104000"/>
              </a:lnSpc>
              <a:spcBef>
                <a:spcPts val="400"/>
              </a:spcBef>
              <a:buNone/>
            </a:pPr>
            <a:r>
              <a:rPr lang="en-US" sz="1750" dirty="0">
                <a:solidFill>
                  <a:srgbClr val="000000"/>
                </a:solidFill>
                <a:latin typeface="Arial"/>
                <a:cs typeface="Arial"/>
              </a:rPr>
              <a:t>Write the search down</a:t>
            </a:r>
          </a:p>
        </p:txBody>
      </p:sp>
      <p:sp>
        <p:nvSpPr>
          <p:cNvPr id="72" name="CardHead"/>
          <p:cNvSpPr/>
          <p:nvPr/>
        </p:nvSpPr>
        <p:spPr>
          <a:xfrm>
            <a:off x="4283066" y="1817823"/>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Cite honestly</a:t>
            </a:r>
          </a:p>
        </p:txBody>
      </p:sp>
      <p:sp>
        <p:nvSpPr>
          <p:cNvPr id="73" name="CardBody"/>
          <p:cNvSpPr/>
          <p:nvPr/>
        </p:nvSpPr>
        <p:spPr>
          <a:xfrm>
            <a:off x="4283066"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Zotero from day one</a:t>
            </a:r>
          </a:p>
          <a:p>
            <a:pPr marL="0" indent="0" algn="ctr">
              <a:lnSpc>
                <a:spcPct val="104000"/>
              </a:lnSpc>
              <a:spcBef>
                <a:spcPts val="400"/>
              </a:spcBef>
              <a:buNone/>
            </a:pPr>
            <a:r>
              <a:rPr lang="en-US" sz="1750" dirty="0">
                <a:solidFill>
                  <a:srgbClr val="000000"/>
                </a:solidFill>
                <a:latin typeface="Arial"/>
                <a:cs typeface="Arial"/>
              </a:rPr>
              <a:t>Your own words</a:t>
            </a:r>
          </a:p>
          <a:p>
            <a:pPr marL="0" indent="0" algn="ctr">
              <a:lnSpc>
                <a:spcPct val="104000"/>
              </a:lnSpc>
              <a:spcBef>
                <a:spcPts val="400"/>
              </a:spcBef>
              <a:buNone/>
            </a:pPr>
            <a:r>
              <a:rPr lang="en-US" sz="1750" dirty="0">
                <a:solidFill>
                  <a:srgbClr val="000000"/>
                </a:solidFill>
                <a:latin typeface="Arial"/>
                <a:cs typeface="Arial"/>
              </a:rPr>
              <a:t>Read what you cite</a:t>
            </a:r>
          </a:p>
        </p:txBody>
      </p:sp>
      <p:sp>
        <p:nvSpPr>
          <p:cNvPr id="74" name="CardHead"/>
          <p:cNvSpPr/>
          <p:nvPr/>
        </p:nvSpPr>
        <p:spPr>
          <a:xfrm>
            <a:off x="8108932" y="1817823"/>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Read smart</a:t>
            </a:r>
          </a:p>
        </p:txBody>
      </p:sp>
      <p:sp>
        <p:nvSpPr>
          <p:cNvPr id="75" name="CardBody"/>
          <p:cNvSpPr/>
          <p:nvPr/>
        </p:nvSpPr>
        <p:spPr>
          <a:xfrm>
            <a:off x="8108932" y="2457823"/>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Title, abstract, figures, methods</a:t>
            </a:r>
          </a:p>
          <a:p>
            <a:pPr marL="0" indent="0" algn="ctr">
              <a:lnSpc>
                <a:spcPct val="104000"/>
              </a:lnSpc>
              <a:spcBef>
                <a:spcPts val="400"/>
              </a:spcBef>
              <a:buNone/>
            </a:pPr>
            <a:r>
              <a:rPr lang="en-US" sz="1750" dirty="0">
                <a:solidFill>
                  <a:srgbClr val="000000"/>
                </a:solidFill>
                <a:latin typeface="Arial"/>
                <a:cs typeface="Arial"/>
              </a:rPr>
              <a:t>Numbers before words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Weeks 1-2 are done: you have a question, five papers and a title.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Exit question (in the chat)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2 min</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Answer in the chat before you leave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Q1: which gives more hits: septic shock AND fluids, or septic shock OR fluids?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Q2: what was the primary outcome of Paper 1?</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One short answer per person in the chat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Homework before Session 3 (next Saturday)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INDIVIDUAL TASK</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Finish your 5 key references, worksheet rows and problem statement</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Read one of your papers with the 15-minute routine</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Read the abstract of Paper 2 (Hyun 2023) with the reading grid (Exercise 3)</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Exercise 2 (paraphrasing), at home</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Optional: look up Paper 1 (NCT04947904) on ClinicalTrials.gov</a:t>
            </a:r>
          </a:p>
        </p:txBody>
      </p:sp>
      <p:sp>
        <p:nvSpPr>
          <p:cNvPr id="52" name="Side"/>
          <p:cNvSpPr/>
          <p:nvPr/>
        </p:nvSpPr>
        <p:spPr>
          <a:xfrm>
            <a:off x="7423760" y="1720000"/>
            <a:ext cx="4311040" cy="120000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Ready for next Saturday</a:t>
            </a:r>
          </a:p>
          <a:p>
            <a:pPr marL="0" indent="0" algn="ctr">
              <a:lnSpc>
                <a:spcPct val="104000"/>
              </a:lnSpc>
              <a:spcBef>
                <a:spcPts val="300"/>
              </a:spcBef>
              <a:buNone/>
            </a:pPr>
            <a:r>
              <a:rPr lang="en-US" sz="1500" dirty="0">
                <a:solidFill>
                  <a:srgbClr val="000000"/>
                </a:solidFill>
                <a:latin typeface="Arial"/>
                <a:cs typeface="Arial"/>
              </a:rPr>
              <a:t>Your Proposal Part 1</a:t>
            </a:r>
          </a:p>
          <a:p>
            <a:pPr marL="0" indent="0" algn="ctr">
              <a:lnSpc>
                <a:spcPct val="104000"/>
              </a:lnSpc>
              <a:spcBef>
                <a:spcPts val="300"/>
              </a:spcBef>
              <a:buNone/>
            </a:pPr>
            <a:r>
              <a:rPr lang="en-US" sz="1500" dirty="0">
                <a:solidFill>
                  <a:srgbClr val="000000"/>
                </a:solidFill>
                <a:latin typeface="Arial"/>
                <a:cs typeface="Arial"/>
              </a:rPr>
              <a:t>Your literature review worksheet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OUTPUT   </a:t>
            </a:r>
            <a:r>
              <a:rPr lang="en-US" sz="1500" dirty="0">
                <a:solidFill>
                  <a:srgbClr val="000000"/>
                </a:solidFill>
                <a:latin typeface="Arial"/>
                <a:cs typeface="Arial"/>
              </a:rPr>
              <a:t>Proposal Part 1 complete before Session 3</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Extra slides: Session 2</a:t>
            </a:r>
          </a:p>
          <a:p>
            <a:pPr marL="0" indent="0" algn="ctr">
              <a:spcBef>
                <a:spcPts val="1200"/>
              </a:spcBef>
              <a:buNone/>
            </a:pPr>
            <a:r>
              <a:rPr lang="en-US" sz="1900" i="1" dirty="0">
                <a:solidFill>
                  <a:srgbClr val="595959"/>
                </a:solidFill>
                <a:latin typeface="Arial"/>
                <a:cs typeface="Arial"/>
              </a:rPr>
              <a:t>Use if time allows, or for self-study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Beyond PubMed: other places to search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79400"/>
          <a:ext cx="11277600" cy="38118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Database</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What it covers</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Access</a:t>
                      </a:r>
                    </a:p>
                  </a:txBody>
                  <a:tcPr marL="73152" marR="73152" marT="45720" marB="45720" anchor="ctr">
                    <a:solidFill>
                      <a:srgbClr val="0D7377"/>
                    </a:solidFill>
                  </a:tcPr>
                </a:tc>
              </a:tr>
              <a:tr h="797240">
                <a:tc>
                  <a:txBody>
                    <a:bodyPr/>
                    <a:lstStyle/>
                    <a:p>
                      <a:pPr algn="l"/>
                      <a:r>
                        <a:rPr lang="en-US" sz="1500" dirty="0">
                          <a:solidFill>
                            <a:srgbClr val="000000"/>
                          </a:solidFill>
                          <a:latin typeface="Arial"/>
                          <a:cs typeface="Arial"/>
                        </a:rPr>
                        <a:t>Cochrane Library</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Cochrane systematic reviews (CDSR) and a register of controlled trials (CENTRAL)</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Search and abstracts free</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Embase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Large biomedical database, strong on drugs and conference abstracts</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Subscription</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Web of Science, Scopus</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Many disciplines, with links to the papers that cite each paper</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Subscription</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CINAHL</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Nursing and allied health</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Subscription</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Epistemonikos</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Systematic reviews in health, in many languages</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Free</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Registries</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Trials: ClinicalTrials.gov, WHO ICTRP. Reviews: PROSPERO</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Free</a:t>
                      </a:r>
                    </a:p>
                  </a:txBody>
                  <a:tcPr marL="73152" marR="73152" marT="45720" marB="45720" anchor="ctr">
                    <a:solidFill>
                      <a:srgbClr val="F5F9FA"/>
                    </a:solidFill>
                  </a:tcPr>
                </a:tc>
              </a:tr>
            </a:tbl>
          </a:graphicData>
        </a:graphic>
      </p:graphicFrame>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PubMed Clinical Queries: a ready-made filter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8644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Open</a:t>
            </a:r>
          </a:p>
        </p:txBody>
      </p:sp>
      <p:sp>
        <p:nvSpPr>
          <p:cNvPr id="81" name="StepText"/>
          <p:cNvSpPr/>
          <p:nvPr/>
        </p:nvSpPr>
        <p:spPr>
          <a:xfrm>
            <a:off x="497200" y="214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PubMed home page</a:t>
            </a:r>
          </a:p>
          <a:p>
            <a:pPr marL="0" indent="0" algn="ctr">
              <a:lnSpc>
                <a:spcPct val="104000"/>
              </a:lnSpc>
              <a:spcBef>
                <a:spcPts val="200"/>
              </a:spcBef>
              <a:buNone/>
            </a:pPr>
            <a:r>
              <a:rPr lang="en-US" sz="1500" dirty="0">
                <a:solidFill>
                  <a:srgbClr val="000000"/>
                </a:solidFill>
                <a:latin typeface="Arial"/>
                <a:cs typeface="Arial"/>
              </a:rPr>
              <a:t>Clinical Queries, under Find</a:t>
            </a:r>
          </a:p>
        </p:txBody>
      </p:sp>
      <p:sp>
        <p:nvSpPr>
          <p:cNvPr id="82" name="Step"/>
          <p:cNvSpPr/>
          <p:nvPr/>
        </p:nvSpPr>
        <p:spPr>
          <a:xfrm>
            <a:off x="3261600" y="1220000"/>
            <a:ext cx="28644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Type</a:t>
            </a:r>
          </a:p>
        </p:txBody>
      </p:sp>
      <p:sp>
        <p:nvSpPr>
          <p:cNvPr id="83" name="StepText"/>
          <p:cNvSpPr/>
          <p:nvPr/>
        </p:nvSpPr>
        <p:spPr>
          <a:xfrm>
            <a:off x="3301600" y="214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Your topic words</a:t>
            </a:r>
          </a:p>
          <a:p>
            <a:pPr marL="0" indent="0" algn="ctr">
              <a:lnSpc>
                <a:spcPct val="104000"/>
              </a:lnSpc>
              <a:spcBef>
                <a:spcPts val="200"/>
              </a:spcBef>
              <a:buNone/>
            </a:pPr>
            <a:r>
              <a:rPr lang="en-US" sz="1500" dirty="0">
                <a:solidFill>
                  <a:srgbClr val="000000"/>
                </a:solidFill>
                <a:latin typeface="Arial"/>
                <a:cs typeface="Arial"/>
              </a:rPr>
              <a:t>e.g. septic shock fluid restriction</a:t>
            </a:r>
          </a:p>
        </p:txBody>
      </p:sp>
      <p:sp>
        <p:nvSpPr>
          <p:cNvPr id="84" name="Step"/>
          <p:cNvSpPr/>
          <p:nvPr/>
        </p:nvSpPr>
        <p:spPr>
          <a:xfrm>
            <a:off x="6066000" y="1220000"/>
            <a:ext cx="28644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Choose</a:t>
            </a:r>
          </a:p>
        </p:txBody>
      </p:sp>
      <p:sp>
        <p:nvSpPr>
          <p:cNvPr id="85" name="StepText"/>
          <p:cNvSpPr/>
          <p:nvPr/>
        </p:nvSpPr>
        <p:spPr>
          <a:xfrm>
            <a:off x="6106000" y="214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Category: therapy, diagnosis, etiology or prognosis</a:t>
            </a:r>
          </a:p>
        </p:txBody>
      </p:sp>
      <p:sp>
        <p:nvSpPr>
          <p:cNvPr id="86" name="Step"/>
          <p:cNvSpPr/>
          <p:nvPr/>
        </p:nvSpPr>
        <p:spPr>
          <a:xfrm>
            <a:off x="8870400" y="1220000"/>
            <a:ext cx="28644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Scope</a:t>
            </a:r>
          </a:p>
        </p:txBody>
      </p:sp>
      <p:sp>
        <p:nvSpPr>
          <p:cNvPr id="87" name="StepText"/>
          <p:cNvSpPr/>
          <p:nvPr/>
        </p:nvSpPr>
        <p:spPr>
          <a:xfrm>
            <a:off x="8910400" y="214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Broad: finds more</a:t>
            </a:r>
          </a:p>
          <a:p>
            <a:pPr marL="0" indent="0" algn="ctr">
              <a:lnSpc>
                <a:spcPct val="104000"/>
              </a:lnSpc>
              <a:spcBef>
                <a:spcPts val="200"/>
              </a:spcBef>
              <a:buNone/>
            </a:pPr>
            <a:r>
              <a:rPr lang="en-US" sz="1500" dirty="0">
                <a:solidFill>
                  <a:srgbClr val="000000"/>
                </a:solidFill>
                <a:latin typeface="Arial"/>
                <a:cs typeface="Arial"/>
              </a:rPr>
              <a:t>Narrow: more precise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quick shortcut for 'is there good evidence?', not a replacement for your own search.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Optional demo: Google Scholar and 'Cited by'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LIVE DEMO   |   3 min</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Search: restrictive fluid septic shock mortality</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Look: journals, theses, preprints, ranked by a hidden algorithm</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Under a key trial, click 'Cited by', then search within citing articles</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Click the quote icon to see export formats</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OUTPUT   </a:t>
            </a:r>
            <a:r>
              <a:rPr lang="en-US" sz="1500" dirty="0">
                <a:solidFill>
                  <a:srgbClr val="000000"/>
                </a:solidFill>
                <a:latin typeface="Arial"/>
                <a:cs typeface="Arial"/>
              </a:rPr>
              <a:t>Participants see what Scholar adds and what it lacks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Text recycling, AI tools and similarity checks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6650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Text recycling</a:t>
            </a:r>
          </a:p>
        </p:txBody>
      </p:sp>
      <p:sp>
        <p:nvSpPr>
          <p:cNvPr id="71" name="CardBody"/>
          <p:cNvSpPr/>
          <p:nvPr/>
        </p:nvSpPr>
        <p:spPr>
          <a:xfrm>
            <a:off x="4572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Reusing your own published wording</a:t>
            </a:r>
          </a:p>
          <a:p>
            <a:pPr marL="0" indent="0" algn="ctr">
              <a:lnSpc>
                <a:spcPct val="104000"/>
              </a:lnSpc>
              <a:spcBef>
                <a:spcPts val="400"/>
              </a:spcBef>
              <a:buNone/>
            </a:pPr>
            <a:r>
              <a:rPr lang="en-US" sz="1600" dirty="0">
                <a:solidFill>
                  <a:srgbClr val="000000"/>
                </a:solidFill>
                <a:latin typeface="Arial"/>
                <a:cs typeface="Arial"/>
              </a:rPr>
              <a:t>Check the journal policy</a:t>
            </a:r>
          </a:p>
        </p:txBody>
      </p:sp>
      <p:sp>
        <p:nvSpPr>
          <p:cNvPr id="72" name="CardHead"/>
          <p:cNvSpPr/>
          <p:nvPr/>
        </p:nvSpPr>
        <p:spPr>
          <a:xfrm>
            <a:off x="3326600" y="186650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AI rewording</a:t>
            </a:r>
          </a:p>
        </p:txBody>
      </p:sp>
      <p:sp>
        <p:nvSpPr>
          <p:cNvPr id="73" name="CardBody"/>
          <p:cNvSpPr/>
          <p:nvPr/>
        </p:nvSpPr>
        <p:spPr>
          <a:xfrm>
            <a:off x="33266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Does not remove plagiarism</a:t>
            </a:r>
          </a:p>
          <a:p>
            <a:pPr marL="0" indent="0" algn="ctr">
              <a:lnSpc>
                <a:spcPct val="104000"/>
              </a:lnSpc>
              <a:spcBef>
                <a:spcPts val="400"/>
              </a:spcBef>
              <a:buNone/>
            </a:pPr>
            <a:r>
              <a:rPr lang="en-US" sz="1600" dirty="0">
                <a:solidFill>
                  <a:srgbClr val="000000"/>
                </a:solidFill>
                <a:latin typeface="Arial"/>
                <a:cs typeface="Arial"/>
              </a:rPr>
              <a:t>You stay responsible</a:t>
            </a:r>
          </a:p>
        </p:txBody>
      </p:sp>
      <p:sp>
        <p:nvSpPr>
          <p:cNvPr id="74" name="CardHead"/>
          <p:cNvSpPr/>
          <p:nvPr/>
        </p:nvSpPr>
        <p:spPr>
          <a:xfrm>
            <a:off x="6196000" y="186650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AI references</a:t>
            </a:r>
          </a:p>
        </p:txBody>
      </p:sp>
      <p:sp>
        <p:nvSpPr>
          <p:cNvPr id="75" name="CardBody"/>
          <p:cNvSpPr/>
          <p:nvPr/>
        </p:nvSpPr>
        <p:spPr>
          <a:xfrm>
            <a:off x="61960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May be invented</a:t>
            </a:r>
          </a:p>
          <a:p>
            <a:pPr marL="0" indent="0" algn="ctr">
              <a:lnSpc>
                <a:spcPct val="104000"/>
              </a:lnSpc>
              <a:spcBef>
                <a:spcPts val="400"/>
              </a:spcBef>
              <a:buNone/>
            </a:pPr>
            <a:r>
              <a:rPr lang="en-US" sz="1600" dirty="0">
                <a:solidFill>
                  <a:srgbClr val="000000"/>
                </a:solidFill>
                <a:latin typeface="Arial"/>
                <a:cs typeface="Arial"/>
              </a:rPr>
              <a:t>Find every one in PubMed</a:t>
            </a:r>
          </a:p>
        </p:txBody>
      </p:sp>
      <p:sp>
        <p:nvSpPr>
          <p:cNvPr id="76" name="CardHead"/>
          <p:cNvSpPr/>
          <p:nvPr/>
        </p:nvSpPr>
        <p:spPr>
          <a:xfrm>
            <a:off x="9065400" y="186650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Similarity checks</a:t>
            </a:r>
          </a:p>
        </p:txBody>
      </p:sp>
      <p:sp>
        <p:nvSpPr>
          <p:cNvPr id="77" name="CardBody"/>
          <p:cNvSpPr/>
          <p:nvPr/>
        </p:nvSpPr>
        <p:spPr>
          <a:xfrm>
            <a:off x="9065400" y="2506506"/>
            <a:ext cx="2669400" cy="1450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Journals screen submissions for copied text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Write from understanding, cite what you use, and check every reference yourself.</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