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19:30. If the Session 1 exit question showed vague verbs, spend one minute on objectives.</a:t>
            </a:r>
          </a:p>
          <a:p>
            <a:r>
              <a:rPr lang="en-US" sz="1400" b="0" dirty="0"/>
              <a:t>Check in the chat: PICO question, synonym list and Zotero ready. Paste the links to the Session 2 exercise sheet and the clean Paper 1 PDF.</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typed in the chat: 6 minutes, then call on 2 or 3 people. Answers on the next slide.</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Poll: how many right (0-3, 4 or 5)? If many missed 4 or 5, spend one minute on measurable verbs and H0.</a:t>
            </a:r>
          </a:p>
          <a:p>
            <a:r>
              <a:rPr lang="en-US" sz="1400" b="0" dirty="0"/>
              <a:t>Timing: 2 minutes. 2.1 starts at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2.1 runs 19:40-20:20.</a:t>
            </a:r>
          </a:p>
          <a:p>
            <a:r>
              <a:rPr lang="en-US" sz="1400" b="0" dirty="0"/>
              <a:t>Ask: 'What do you do when you need evidence quickly?' Google, a colleague, a guideline: fine for care, but a proposal needs a documented 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last two steps are done by reading, not by the computer.</a:t>
            </a:r>
          </a:p>
          <a:p>
            <a:r>
              <a:rPr lang="en-US" sz="1400" b="0" dirty="0"/>
              <a:t>Ask: 'Why write down the date and the search string?' Expected: so it can be repeated.</a:t>
            </a:r>
          </a:p>
          <a:p>
            <a:r>
              <a:rPr lang="en-US" sz="1400" b="0" dirty="0"/>
              <a:t>PubMed size: 'more than 40 million citations' (PubMed About page, checked 19 October 2026). Recheck before teaching.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NOT removes good papers that mention the term once, so use it rarely. Type operators in capitals and use brackets.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AND. 2 OR. 3 Fewer. 4 It removes every paper that mentions children, including good adult studies.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Searching a MeSH term includes the narrower terms below it. New records may not be indexed yet, so add [tiab] words.</a:t>
            </a:r>
          </a:p>
          <a:p>
            <a:r>
              <a:rPr lang="en-US" sz="1400" b="0" dirty="0"/>
              <a:t>Ask: 'Why does MeSH help a nurse searching for pressure injury?' Expected: one heading collects pressure ulcer, bedsore, decubitus ulcer.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three routes briefly. The demo uses route 2. Check the heading's definition before using 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Example: child* finds child, children, childhood. Cautions: it also finds childbirth, and truncated words are not mapped to MeSH.</a:t>
            </a:r>
          </a:p>
          <a:p>
            <a:r>
              <a:rPr lang="en-US" sz="1400" b="0" dirty="0"/>
              <a:t>Do not filter to free full text: it loses key papers.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out the comparison block: the words vary too much.</a:t>
            </a:r>
          </a:p>
          <a:p>
            <a:r>
              <a:rPr lang="en-US" sz="1400" b="0" dirty="0"/>
              <a:t>Ask: 'Which other words would authors use for restrictive?' Expected: conservative, limited, de-resuscitation, negative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 and O share one idea here, so one block carries both.</a:t>
            </a:r>
          </a:p>
          <a:p>
            <a:r>
              <a:rPr lang="en-US" sz="1400" b="0" dirty="0"/>
              <a:t>Ask: 'Other words for repositioning?' Expected: turning, position change, offloading.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and report the search in PubMed. Use Scholar's 'Cited by' to find newer papers and check nothing is missing.</a:t>
            </a:r>
          </a:p>
          <a:p>
            <a:r>
              <a:rPr lang="en-US" sz="1400" b="0" dirty="0"/>
              <a:t>Ask: 'A colleague found a perfect paper in Google Scholar. What should you check?' Expected: peer reviewed or preprint, legitimate journal.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If a recent, good review answers your question, build on it. If none exists or it is out of date, that gap is part of your justification.</a:t>
            </a:r>
          </a:p>
          <a:p>
            <a:r>
              <a:rPr lang="en-US" sz="1400" b="0" dirty="0"/>
              <a:t>Ask: 'Has anyone started a project and then found it had already been done?'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s2_demo.md, Part A. Narrate slowly so people can note the hits.</a:t>
            </a:r>
          </a:p>
          <a:p>
            <a:r>
              <a:rPr lang="en-US" sz="1400" b="0" dirty="0"/>
              <a:t>CLASSIC (first mention): Meyhoff, NEJM 2022, 1,554 adults, no change in 90-day mortality. Say this when it appears in the results.</a:t>
            </a:r>
          </a:p>
          <a:p>
            <a:r>
              <a:rPr lang="en-US" sz="1400" b="0" dirty="0"/>
              <a:t>Do not promise hit counts. If the internet fails, switch to the screenshots.</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People write their string alone. After 4 minutes call on 2 or 3 to read it. Type it on screen and ask for one missing synonym.</a:t>
            </a:r>
          </a:p>
          <a:p>
            <a:r>
              <a:rPr lang="en-US" sz="1400" b="0" dirty="0"/>
              <a:t>Watch for: missing brackets, AND and OR mixed in one block, a comparison block, NOT without a reason.</a:t>
            </a:r>
          </a:p>
          <a:p>
            <a:r>
              <a:rPr lang="en-US" sz="1400" b="0" dirty="0"/>
              <a:t>Timing: 5 minutes. 2.1 ends at 20:20.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2.2 runs 20:20-20:40.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Everyone uses Zotero. Saving as you go takes seconds, rebuilding a list takes hours.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Every journal states its style in the guide for authors. Cite the original study for facts, not a review that quotes it.</a:t>
            </a:r>
          </a:p>
          <a:p>
            <a:r>
              <a:rPr lang="en-US" sz="1400" b="0" dirty="0"/>
              <a:t>Ask: 'Which style uses [1]?' Expected: Vancouver.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s2_demo.md, Part B. People repeat each step on their own computer. If Zotero fails for someone, they watch and fix it later with the second trainer.</a:t>
            </a:r>
          </a:p>
          <a:p>
            <a:r>
              <a:rPr lang="en-US" sz="1400" b="0" dirty="0"/>
              <a:t>If Zotero fails for you, show the screenshots.</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Patchwriting is plagiarism even with a reference. Method: read, close the paper, write from memory, check, cite.</a:t>
            </a:r>
          </a:p>
          <a:p>
            <a:r>
              <a:rPr lang="en-US" sz="1400" b="0" dirty="0"/>
              <a:t>Ask: 'Is copying the Methods wording from your own earlier paper allowed?' Expected: it is text recycling, check the journal policy.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Common knowledge needs no citation. Specific facts and numbers do. Check every AI-suggested reference in PubMed.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Not OK (patchwriting). 2 OK, but rare. 3 Not OK, needs a citation. 4 Not OK, read and cite the original.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Negative results are published less often (publication bias), so search below the waterline.</a:t>
            </a:r>
          </a:p>
          <a:p>
            <a:r>
              <a:rPr lang="en-US" sz="1400" b="0" dirty="0"/>
              <a:t>Compare the registered primary outcome with the paper. Paper 1 is NCT04947904, registered before the first patient.</a:t>
            </a:r>
          </a:p>
          <a:p>
            <a:r>
              <a:rPr lang="en-US" sz="1400" b="0" dirty="0"/>
              <a:t>Ask: 'Why check a registry before starting your own trial?' Expected: someone may already be running the same study.</a:t>
            </a:r>
          </a:p>
          <a:p>
            <a:r>
              <a:rPr lang="en-US" sz="1400" b="0" dirty="0"/>
              <a:t>Timing: 3 minutes. 2.2 ends at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Post the restart time and the link to the clean Paper 1 PDF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2.3 runs 20:55-21:35. Check that everyone has Paper 1 open.</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question is at the end of the Introduction, the primary outcome in the Methods, the main number in the Results.</a:t>
            </a:r>
          </a:p>
          <a:p>
            <a:r>
              <a:rPr lang="en-US" sz="1400" b="0" dirty="0"/>
              <a:t>The Discussion is interpretation. The Results are the evidence.</a:t>
            </a:r>
          </a:p>
          <a:p>
            <a:r>
              <a:rPr lang="en-US" sz="1400" b="0" dirty="0"/>
              <a:t>Ask: 'Where do you find who was included?' Expected: Methods and Results (flow chart, Table 1).</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papers are rejected at the abstract. Abstracts omit limitations and can contain spin.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'An abstract says only: mortality was significantly lower (p &lt; 0.05). What is missing?' Expected: the rates, the effect size and the 95% CI.</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Ask of every result: how big, how sure, by when?</a:t>
            </a:r>
          </a:p>
          <a:p>
            <a:r>
              <a:rPr lang="en-US" sz="1400" b="0" dirty="0"/>
              <a:t>Poll: 'Which sentence would you trust?' Expected: the right one.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Row 1: p = 0.42 is no evidence of a difference. Row 3: Paper 2's title says 'Impact', but its abstract conclusion correctly says 'associated'.</a:t>
            </a:r>
          </a:p>
          <a:p>
            <a:r>
              <a:rPr lang="en-US" sz="1400" b="0" dirty="0"/>
              <a:t>Peer review reduces spin but does not remove it.</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item at a time. 30 seconds, then call on one or two people.</a:t>
            </a:r>
          </a:p>
          <a:p>
            <a:r>
              <a:rPr lang="en-US" sz="1400" b="0" dirty="0"/>
              <a:t>Answers: 1 Write 'was associated with'. 2 p = 0.31: no significant difference, wide CI. 3 Lead with the primary outcome. 4 No control group, so the change cannot be attributed to the protocol.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8 minutes alone, then 4 minutes: everyone types the primary outcome and main result in the chat.</a:t>
            </a:r>
          </a:p>
          <a:p>
            <a:r>
              <a:rPr lang="en-US" sz="1400" b="0" dirty="0"/>
              <a:t>Hardest cells: the primary outcome is fluid balance at day 5, not mortality. The 95% CI (-15.2 to 41.6) crosses zero.</a:t>
            </a:r>
          </a:p>
          <a:p>
            <a:r>
              <a:rPr lang="en-US" sz="1400" b="0" dirty="0"/>
              <a:t>Fast finishers: find the overstating word in Paper 2's title ('Impact').</a:t>
            </a:r>
          </a:p>
          <a:p>
            <a:r>
              <a:rPr lang="en-US" sz="1400" b="0" dirty="0"/>
              <a:t>Timing: 12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for each row in the chat before revealing it.</a:t>
            </a:r>
          </a:p>
          <a:p>
            <a:r>
              <a:rPr lang="en-US" sz="1400" b="0" dirty="0"/>
              <a:t>Key points: pilot, 48 patients. Outcome fluid balance, not mortality. CI includes zero. Conclusion matches the result. Registered.</a:t>
            </a:r>
          </a:p>
          <a:p>
            <a:r>
              <a:rPr lang="en-US" sz="1400" b="0" dirty="0"/>
              <a:t>If asked: the 13.2 is a difference in means, not medians. Park it.</a:t>
            </a:r>
          </a:p>
          <a:p>
            <a:r>
              <a:rPr lang="en-US" sz="1400" b="0" dirty="0"/>
              <a:t>Timing: 5 minutes. 2.3 ends at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2.4 runs 21:35-21:50.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three papers measure different outcomes at different times. The 'key limitation' column gives the gap.</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Paragraph 2 (the gap) comes from the 'key limitation' column.</a:t>
            </a:r>
          </a:p>
          <a:p>
            <a:r>
              <a:rPr lang="en-US" sz="1400" b="0" dirty="0"/>
              <a:t>Never put your own data or 'our audit' in the Introduction. A local figure only if it is published and cited.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Every factual sentence carries a reference. About 300 words is enough. Written in English, as the proposal is.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Avoid abbreviations and causal words ('impact', 'effect of'). Keywords: 3 to 6 MeSH terms not in the title.</a:t>
            </a:r>
          </a:p>
          <a:p>
            <a:r>
              <a:rPr lang="en-US" sz="1400" b="0" dirty="0"/>
              <a:t>Ask: 'Is Fluids in the ICU a good title?' Expected: no population, comparison or design.</a:t>
            </a:r>
          </a:p>
          <a:p>
            <a:r>
              <a:rPr lang="en-US" sz="1400" b="0" dirty="0"/>
              <a:t>Timing: 4 minutes. 2.4 ends at 21:50.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2 runs 21:50-22:25. 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0-10: re-run the demo string, screen titles together in the chat, save two papers to Zotero, fill one worksheet row.</a:t>
            </a:r>
          </a:p>
          <a:p>
            <a:r>
              <a:rPr lang="en-US" sz="1400" b="0" dirty="0"/>
              <a:t>Minutes 10-30: everyone works alone. Common problems: too many hits (add a block), too few (add synonyms), a comparison block.</a:t>
            </a:r>
          </a:p>
          <a:p>
            <a:r>
              <a:rPr lang="en-US" sz="1400" b="0" dirty="0"/>
              <a:t>Minutes 30-35: two volunteers read their title and gap sentence.</a:t>
            </a:r>
          </a:p>
          <a:p>
            <a:r>
              <a:rPr lang="en-US" sz="1400" b="0" dirty="0"/>
              <a:t>Key: s2_solutions, Exercise 4.</a:t>
            </a:r>
          </a:p>
          <a:p>
            <a:r>
              <a:rPr lang="en-US" sz="1400" b="0" dirty="0"/>
              <a:t>Timing: 35 minutes. Wrap-up at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key words quickly.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one person: 'What do you look for first in an abstract?' Expected: the primary outcome and its result with a CI.</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OR. Q2 Cumulative fluid balance at day 5, not mortality.</a:t>
            </a:r>
          </a:p>
          <a:p>
            <a:r>
              <a:rPr lang="en-US" sz="1400" b="0" dirty="0"/>
              <a:t>If more than a quarter get either wrong, start Session 3 with 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60-90 minutes over the week. Session 3 uses both abstracts.</a:t>
            </a:r>
          </a:p>
          <a:p>
            <a:r>
              <a:rPr lang="en-US" sz="1400" b="0" dirty="0"/>
              <a:t>Timing: 1 minute. Close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a Level 1 proposal, PubMed and a registry are enough. Start with the Cochrane Library for treatment questions. Most other databases need an institutional subscription.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Useful to check a search did not miss an obvious trial. The interface changes, so check it before showing it.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s2_demo.md, Part C. If Scholar shows a CAPTCHA, skip to the screenshots.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Never reuse Results or Discussion text. AI use must be disclosed (Session 7).</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2 · Find &amp; read the evidence</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2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1</a:t>
            </a:r>
          </a:p>
          <a:p>
            <a:pPr marL="274320" indent="-274320" algn="l">
              <a:spcBef>
                <a:spcPts val="440"/>
              </a:spcBef>
              <a:buFont typeface="Arial"/>
              <a:buChar char="•"/>
            </a:pPr>
            <a:r>
              <a:rPr lang="en-US" sz="1900" dirty="0">
                <a:solidFill>
                  <a:srgbClr val="000000"/>
                </a:solidFill>
                <a:latin typeface="Arial"/>
                <a:cs typeface="Arial"/>
              </a:rPr>
              <a:t>2.1  Finding the evidence: Boolean logic, MeSH, search blocks, live PubMed demo</a:t>
            </a:r>
          </a:p>
          <a:p>
            <a:pPr marL="274320" indent="-274320" algn="l">
              <a:spcBef>
                <a:spcPts val="440"/>
              </a:spcBef>
              <a:buFont typeface="Arial"/>
              <a:buChar char="•"/>
            </a:pPr>
            <a:r>
              <a:rPr lang="en-US" sz="1900" dirty="0">
                <a:solidFill>
                  <a:srgbClr val="000000"/>
                </a:solidFill>
                <a:latin typeface="Arial"/>
                <a:cs typeface="Arial"/>
              </a:rPr>
              <a:t>2.2  Managing and citing: Zotero demo, citation styles, paraphrasing, grey literature</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2.3  Reading a paper in 15 minutes and 2.4 from literature to introduction</a:t>
            </a:r>
          </a:p>
          <a:p>
            <a:pPr marL="274320" indent="-274320" algn="l">
              <a:spcBef>
                <a:spcPts val="440"/>
              </a:spcBef>
              <a:buFont typeface="Arial"/>
              <a:buChar char="•"/>
            </a:pPr>
            <a:r>
              <a:rPr lang="en-US" sz="1900" dirty="0">
                <a:solidFill>
                  <a:srgbClr val="000000"/>
                </a:solidFill>
                <a:latin typeface="Arial"/>
                <a:cs typeface="Arial"/>
              </a:rPr>
              <a:t>Proposal builder 2: your own search, 5 references, problem statement, working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course paper is a trial and which is a cohort: Paper 1 (Boulet) or Paper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adults with sepsis, is a positive fluid balance by day 3, vs not, linked to death by day 28?' Name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FINER letter did our running example fail?</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is an objective: 'to understand fluid balance' or 'to estimate the proportion fluid-positive on day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H0 for: does a restrictive protocol reduce fluid balance at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Answers in the online quiz form (link in the chat), checked against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Designs</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is a trial (RCT)</a:t>
            </a:r>
          </a:p>
          <a:p>
            <a:pPr marL="0" indent="0" algn="ctr">
              <a:lnSpc>
                <a:spcPct val="104000"/>
              </a:lnSpc>
              <a:spcBef>
                <a:spcPts val="400"/>
              </a:spcBef>
              <a:buNone/>
            </a:pPr>
            <a:r>
              <a:rPr lang="en-US" sz="1450" dirty="0">
                <a:solidFill>
                  <a:srgbClr val="000000"/>
                </a:solidFill>
                <a:latin typeface="Arial"/>
                <a:cs typeface="Arial"/>
              </a:rPr>
              <a:t>Paper 2 is a cohort</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adults with sepsis</a:t>
            </a:r>
          </a:p>
          <a:p>
            <a:pPr marL="0" indent="0" algn="ctr">
              <a:lnSpc>
                <a:spcPct val="104000"/>
              </a:lnSpc>
              <a:spcBef>
                <a:spcPts val="400"/>
              </a:spcBef>
              <a:buNone/>
            </a:pPr>
            <a:r>
              <a:rPr lang="en-US" sz="1450" dirty="0">
                <a:solidFill>
                  <a:srgbClr val="000000"/>
                </a:solidFill>
                <a:latin typeface="Arial"/>
                <a:cs typeface="Arial"/>
              </a:rPr>
              <a:t>E: positive balance by day 3</a:t>
            </a:r>
          </a:p>
          <a:p>
            <a:pPr marL="0" indent="0" algn="ctr">
              <a:lnSpc>
                <a:spcPct val="104000"/>
              </a:lnSpc>
              <a:spcBef>
                <a:spcPts val="400"/>
              </a:spcBef>
              <a:buNone/>
            </a:pPr>
            <a:r>
              <a:rPr lang="en-US" sz="1450" dirty="0">
                <a:solidFill>
                  <a:srgbClr val="000000"/>
                </a:solidFill>
                <a:latin typeface="Arial"/>
                <a:cs typeface="Arial"/>
              </a:rPr>
              <a:t>C: neutral or negative balance</a:t>
            </a:r>
          </a:p>
          <a:p>
            <a:pPr marL="0" indent="0" algn="ctr">
              <a:lnSpc>
                <a:spcPct val="104000"/>
              </a:lnSpc>
              <a:spcBef>
                <a:spcPts val="400"/>
              </a:spcBef>
              <a:buNone/>
            </a:pPr>
            <a:r>
              <a:rPr lang="en-US" sz="1450" dirty="0">
                <a:solidFill>
                  <a:srgbClr val="000000"/>
                </a:solidFill>
                <a:latin typeface="Arial"/>
                <a:cs typeface="Arial"/>
              </a:rPr>
              <a:t>O and T: death by day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Feasible</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Mortality needs more than 1,000 patients</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Estimate</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'Estimate' is measurable</a:t>
            </a:r>
          </a:p>
          <a:p>
            <a:pPr marL="0" indent="0" algn="ctr">
              <a:lnSpc>
                <a:spcPct val="104000"/>
              </a:lnSpc>
              <a:spcBef>
                <a:spcPts val="400"/>
              </a:spcBef>
              <a:buNone/>
            </a:pPr>
            <a:r>
              <a:rPr lang="en-US" sz="1450" dirty="0">
                <a:solidFill>
                  <a:srgbClr val="000000"/>
                </a:solidFill>
                <a:latin typeface="Arial"/>
                <a:cs typeface="Arial"/>
              </a:rPr>
              <a:t>'Understand' is not</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at day 5 is the same in both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got 4 or 5 right, you are ready for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Finding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you study it, find out what is already known.</a:t>
            </a:r>
          </a:p>
          <a:p>
            <a:pPr marL="0" indent="0" algn="ctr">
              <a:spcBef>
                <a:spcPts val="1200"/>
              </a:spcBef>
              <a:buNone/>
            </a:pPr>
            <a:r>
              <a:rPr lang="en-US" sz="1900" i="1" dirty="0">
                <a:solidFill>
                  <a:srgbClr val="595959"/>
                </a:solidFill>
                <a:latin typeface="Arial"/>
                <a:cs typeface="Arial"/>
              </a:rPr>
              <a:t>40 minutes: the search funnel, Boolean logic, MeSH, search tools, PICO search blocks, systematic reviews and a live PubMed demo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search funnel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down each step: the date, the search string, the filters and the number of hits.</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All of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More than 40 million records</a:t>
            </a:r>
          </a:p>
          <a:p>
            <a:pPr marL="0" indent="0" algn="ctr">
              <a:lnSpc>
                <a:spcPct val="104000"/>
              </a:lnSpc>
              <a:spcBef>
                <a:spcPts val="200"/>
              </a:spcBef>
              <a:buNone/>
            </a:pPr>
            <a:r>
              <a:rPr lang="en-US" sz="1500" dirty="0">
                <a:solidFill>
                  <a:srgbClr val="000000"/>
                </a:solidFill>
                <a:latin typeface="Arial"/>
                <a:cs typeface="Arial"/>
              </a:rPr>
              <a:t>As of October 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One keyword</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a:t>
            </a:r>
          </a:p>
          <a:p>
            <a:pPr marL="0" indent="0" algn="ctr">
              <a:lnSpc>
                <a:spcPct val="104000"/>
              </a:lnSpc>
              <a:spcBef>
                <a:spcPts val="200"/>
              </a:spcBef>
              <a:buNone/>
            </a:pPr>
            <a:r>
              <a:rPr lang="en-US" sz="1500" b="1" dirty="0">
                <a:solidFill>
                  <a:srgbClr val="000000"/>
                </a:solidFill>
                <a:latin typeface="Arial"/>
                <a:cs typeface="Arial"/>
              </a:rPr>
              <a:t>Tens of thousands</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PICO blocks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All the words for P, I and O</a:t>
            </a:r>
          </a:p>
          <a:p>
            <a:pPr marL="0" indent="0" algn="ctr">
              <a:lnSpc>
                <a:spcPct val="104000"/>
              </a:lnSpc>
              <a:spcBef>
                <a:spcPts val="200"/>
              </a:spcBef>
              <a:buNone/>
            </a:pPr>
            <a:r>
              <a:rPr lang="en-US" sz="1500" b="1" dirty="0">
                <a:solidFill>
                  <a:srgbClr val="000000"/>
                </a:solidFill>
                <a:latin typeface="Arial"/>
                <a:cs typeface="Arial"/>
              </a:rPr>
              <a:t>A few thousand</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Filters</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RCT, review, adults, years</a:t>
            </a:r>
          </a:p>
          <a:p>
            <a:pPr marL="0" indent="0" algn="ctr">
              <a:lnSpc>
                <a:spcPct val="104000"/>
              </a:lnSpc>
              <a:spcBef>
                <a:spcPts val="200"/>
              </a:spcBef>
              <a:buNone/>
            </a:pPr>
            <a:r>
              <a:rPr lang="en-US" sz="1500" b="1" dirty="0">
                <a:solidFill>
                  <a:srgbClr val="000000"/>
                </a:solidFill>
                <a:latin typeface="Arial"/>
                <a:cs typeface="Arial"/>
              </a:rPr>
              <a:t>Hundreds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Screen</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Read titles and abstracts</a:t>
            </a:r>
          </a:p>
          <a:p>
            <a:pPr marL="0" indent="0" algn="ctr">
              <a:lnSpc>
                <a:spcPct val="104000"/>
              </a:lnSpc>
              <a:spcBef>
                <a:spcPts val="200"/>
              </a:spcBef>
              <a:buNone/>
            </a:pPr>
            <a:r>
              <a:rPr lang="en-US" sz="1500" b="1" dirty="0">
                <a:solidFill>
                  <a:srgbClr val="000000"/>
                </a:solidFill>
                <a:latin typeface="Arial"/>
                <a:cs typeface="Arial"/>
              </a:rPr>
              <a:t>Dozens</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Keep</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5-10 key 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search starts wide, narrows step by step, and is written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Boolean logic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Text"/>
          <p:cNvSpPr/>
          <p:nvPr/>
        </p:nvSpPr>
        <p:spPr>
          <a:xfrm>
            <a:off x="47244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AND</a:t>
            </a:r>
          </a:p>
        </p:txBody>
      </p:sp>
      <p:sp>
        <p:nvSpPr>
          <p:cNvPr id="101" name="Overlap"/>
          <p:cNvSpPr/>
          <p:nvPr/>
        </p:nvSpPr>
        <p:spPr>
          <a:xfrm>
            <a:off x="1981200" y="2153440"/>
            <a:ext cx="731520" cy="146304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02" name="Outline"/>
          <p:cNvSpPr/>
          <p:nvPr/>
        </p:nvSpPr>
        <p:spPr>
          <a:xfrm>
            <a:off x="92964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3" name="Outline"/>
          <p:cNvSpPr/>
          <p:nvPr/>
        </p:nvSpPr>
        <p:spPr>
          <a:xfrm>
            <a:off x="19354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4" name="Text"/>
          <p:cNvSpPr/>
          <p:nvPr/>
        </p:nvSpPr>
        <p:spPr>
          <a:xfrm>
            <a:off x="88392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septic</a:t>
            </a:r>
          </a:p>
          <a:p>
            <a:pPr marL="0" indent="0" algn="ctr">
              <a:lnSpc>
                <a:spcPct val="100000"/>
              </a:lnSpc>
              <a:buNone/>
            </a:pPr>
            <a:r>
              <a:rPr lang="en-US" sz="1500" b="1" dirty="0">
                <a:solidFill>
                  <a:srgbClr val="1A1A1A"/>
                </a:solidFill>
                <a:latin typeface="Arial"/>
                <a:cs typeface="Arial"/>
              </a:rPr>
              <a:t>shock</a:t>
            </a:r>
          </a:p>
        </p:txBody>
      </p:sp>
      <p:sp>
        <p:nvSpPr>
          <p:cNvPr id="105" name="Text"/>
          <p:cNvSpPr/>
          <p:nvPr/>
        </p:nvSpPr>
        <p:spPr>
          <a:xfrm>
            <a:off x="28041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fluids</a:t>
            </a:r>
          </a:p>
        </p:txBody>
      </p:sp>
      <p:sp>
        <p:nvSpPr>
          <p:cNvPr id="106" name="Text"/>
          <p:cNvSpPr/>
          <p:nvPr/>
        </p:nvSpPr>
        <p:spPr>
          <a:xfrm>
            <a:off x="47244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AND fluids</a:t>
            </a:r>
          </a:p>
        </p:txBody>
      </p:sp>
      <p:sp>
        <p:nvSpPr>
          <p:cNvPr id="107" name="Text"/>
          <p:cNvSpPr/>
          <p:nvPr/>
        </p:nvSpPr>
        <p:spPr>
          <a:xfrm>
            <a:off x="47244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both terms: fewer hits</a:t>
            </a:r>
          </a:p>
        </p:txBody>
      </p:sp>
      <p:sp>
        <p:nvSpPr>
          <p:cNvPr id="108" name="Text"/>
          <p:cNvSpPr/>
          <p:nvPr/>
        </p:nvSpPr>
        <p:spPr>
          <a:xfrm>
            <a:off x="422148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OR</a:t>
            </a:r>
          </a:p>
        </p:txBody>
      </p:sp>
      <p:sp>
        <p:nvSpPr>
          <p:cNvPr id="109" name="Ellipse"/>
          <p:cNvSpPr/>
          <p:nvPr/>
        </p:nvSpPr>
        <p:spPr>
          <a:xfrm>
            <a:off x="467868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0" name="Ellipse"/>
          <p:cNvSpPr/>
          <p:nvPr/>
        </p:nvSpPr>
        <p:spPr>
          <a:xfrm>
            <a:off x="56845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1" name="Outline"/>
          <p:cNvSpPr/>
          <p:nvPr/>
        </p:nvSpPr>
        <p:spPr>
          <a:xfrm>
            <a:off x="46786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2" name="Outline"/>
          <p:cNvSpPr/>
          <p:nvPr/>
        </p:nvSpPr>
        <p:spPr>
          <a:xfrm>
            <a:off x="56845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3" name="Text"/>
          <p:cNvSpPr/>
          <p:nvPr/>
        </p:nvSpPr>
        <p:spPr>
          <a:xfrm>
            <a:off x="46329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septic</a:t>
            </a:r>
          </a:p>
          <a:p>
            <a:pPr marL="0" indent="0" algn="ctr">
              <a:lnSpc>
                <a:spcPct val="100000"/>
              </a:lnSpc>
              <a:buNone/>
            </a:pPr>
            <a:r>
              <a:rPr lang="en-US" sz="1500" b="1" dirty="0">
                <a:solidFill>
                  <a:srgbClr val="FFFFFF"/>
                </a:solidFill>
                <a:latin typeface="Arial"/>
                <a:cs typeface="Arial"/>
              </a:rPr>
              <a:t>shock</a:t>
            </a:r>
          </a:p>
        </p:txBody>
      </p:sp>
      <p:sp>
        <p:nvSpPr>
          <p:cNvPr id="114" name="Text"/>
          <p:cNvSpPr/>
          <p:nvPr/>
        </p:nvSpPr>
        <p:spPr>
          <a:xfrm>
            <a:off x="65532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15" name="Text"/>
          <p:cNvSpPr/>
          <p:nvPr/>
        </p:nvSpPr>
        <p:spPr>
          <a:xfrm>
            <a:off x="422148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OR sepsis</a:t>
            </a:r>
          </a:p>
        </p:txBody>
      </p:sp>
      <p:sp>
        <p:nvSpPr>
          <p:cNvPr id="116" name="Text"/>
          <p:cNvSpPr/>
          <p:nvPr/>
        </p:nvSpPr>
        <p:spPr>
          <a:xfrm>
            <a:off x="422148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either term: more hits</a:t>
            </a:r>
          </a:p>
        </p:txBody>
      </p:sp>
      <p:sp>
        <p:nvSpPr>
          <p:cNvPr id="117" name="Text"/>
          <p:cNvSpPr/>
          <p:nvPr/>
        </p:nvSpPr>
        <p:spPr>
          <a:xfrm>
            <a:off x="797052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NOT</a:t>
            </a:r>
          </a:p>
        </p:txBody>
      </p:sp>
      <p:sp>
        <p:nvSpPr>
          <p:cNvPr id="118" name="Ellipse"/>
          <p:cNvSpPr/>
          <p:nvPr/>
        </p:nvSpPr>
        <p:spPr>
          <a:xfrm>
            <a:off x="84277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9" name="Ellipse"/>
          <p:cNvSpPr/>
          <p:nvPr/>
        </p:nvSpPr>
        <p:spPr>
          <a:xfrm>
            <a:off x="9433560" y="1970560"/>
            <a:ext cx="1828800" cy="1828800"/>
          </a:xfrm>
          <a:prstGeom prst="ellipse">
            <a:avLst/>
          </a:prstGeom>
          <a:solidFill>
            <a:srgbClr val="FFFFFF"/>
          </a:solidFill>
          <a:ln>
            <a:noFill/>
          </a:ln>
        </p:spPr>
        <p:txBody>
          <a:bodyPr wrap="square" lIns="54864" tIns="54864" rIns="54864" bIns="54864" rtlCol="0" anchor="ctr">
            <a:noAutofit/>
          </a:bodyPr>
          <a:lstStyle/>
          <a:p>
            <a:endParaRPr lang="en-US"/>
          </a:p>
        </p:txBody>
      </p:sp>
      <p:sp>
        <p:nvSpPr>
          <p:cNvPr id="120" name="Outline"/>
          <p:cNvSpPr/>
          <p:nvPr/>
        </p:nvSpPr>
        <p:spPr>
          <a:xfrm>
            <a:off x="84277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1" name="Outline"/>
          <p:cNvSpPr/>
          <p:nvPr/>
        </p:nvSpPr>
        <p:spPr>
          <a:xfrm>
            <a:off x="943356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2" name="Text"/>
          <p:cNvSpPr/>
          <p:nvPr/>
        </p:nvSpPr>
        <p:spPr>
          <a:xfrm>
            <a:off x="83820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23" name="Text"/>
          <p:cNvSpPr/>
          <p:nvPr/>
        </p:nvSpPr>
        <p:spPr>
          <a:xfrm>
            <a:off x="1030224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neonatal</a:t>
            </a:r>
          </a:p>
        </p:txBody>
      </p:sp>
      <p:sp>
        <p:nvSpPr>
          <p:cNvPr id="124" name="Text"/>
          <p:cNvSpPr/>
          <p:nvPr/>
        </p:nvSpPr>
        <p:spPr>
          <a:xfrm>
            <a:off x="797052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sepsis NOT neonatal</a:t>
            </a:r>
          </a:p>
        </p:txBody>
      </p:sp>
      <p:sp>
        <p:nvSpPr>
          <p:cNvPr id="125" name="Text"/>
          <p:cNvSpPr/>
          <p:nvPr/>
        </p:nvSpPr>
        <p:spPr>
          <a:xfrm>
            <a:off x="797052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removes papers: use with care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AND narrows, OR widens, NOT removes. Use NOT sparingly.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that mention both septic shock and fluid restriction: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using either 'restrictive' or 'conservative' fluids: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Your search found 40,000 hits. Will adding a third AND block give more or fewer?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Why is 'sepsis NOT children' risky?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Answers in the chat (or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one label for many words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MeSH (Medical Subject Headings): the fixed list of subject labels that PubMed gives every paper.</a:t>
            </a:r>
          </a:p>
        </p:txBody>
      </p:sp>
      <p:sp>
        <p:nvSpPr>
          <p:cNvPr id="100" name="Text"/>
          <p:cNvSpPr/>
          <p:nvPr/>
        </p:nvSpPr>
        <p:spPr>
          <a:xfrm>
            <a:off x="472440" y="17790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How authors write it</a:t>
            </a:r>
          </a:p>
        </p:txBody>
      </p:sp>
      <p:sp>
        <p:nvSpPr>
          <p:cNvPr id="101" name="Box"/>
          <p:cNvSpPr/>
          <p:nvPr/>
        </p:nvSpPr>
        <p:spPr>
          <a:xfrm>
            <a:off x="472440" y="2236280"/>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septic shock</a:t>
            </a:r>
          </a:p>
        </p:txBody>
      </p:sp>
      <p:sp>
        <p:nvSpPr>
          <p:cNvPr id="102" name="Box"/>
          <p:cNvSpPr/>
          <p:nvPr/>
        </p:nvSpPr>
        <p:spPr>
          <a:xfrm>
            <a:off x="472440" y="2803208"/>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sepsis with shock</a:t>
            </a:r>
          </a:p>
        </p:txBody>
      </p:sp>
      <p:sp>
        <p:nvSpPr>
          <p:cNvPr id="103" name="Box"/>
          <p:cNvSpPr/>
          <p:nvPr/>
        </p:nvSpPr>
        <p:spPr>
          <a:xfrm>
            <a:off x="472440" y="3370136"/>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vasopressor-dependent sepsis</a:t>
            </a:r>
          </a:p>
        </p:txBody>
      </p:sp>
      <p:sp>
        <p:nvSpPr>
          <p:cNvPr id="104" name="Box"/>
          <p:cNvSpPr/>
          <p:nvPr/>
        </p:nvSpPr>
        <p:spPr>
          <a:xfrm>
            <a:off x="472440" y="3937064"/>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refractory septic shock</a:t>
            </a:r>
          </a:p>
        </p:txBody>
      </p:sp>
      <p:sp>
        <p:nvSpPr>
          <p:cNvPr id="105" name="Box"/>
          <p:cNvSpPr/>
          <p:nvPr/>
        </p:nvSpPr>
        <p:spPr>
          <a:xfrm>
            <a:off x="4130040" y="2739200"/>
            <a:ext cx="2377440" cy="86868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MeSH heading</a:t>
            </a:r>
          </a:p>
          <a:p>
            <a:pPr marL="0" indent="0" algn="ctr">
              <a:lnSpc>
                <a:spcPct val="100000"/>
              </a:lnSpc>
              <a:spcBef>
                <a:spcPts val="100"/>
              </a:spcBef>
              <a:buNone/>
            </a:pPr>
            <a:r>
              <a:rPr lang="en-US" sz="1600" b="1" dirty="0">
                <a:solidFill>
                  <a:srgbClr val="FFFFFF"/>
                </a:solidFill>
                <a:latin typeface="Arial"/>
                <a:cs typeface="Arial"/>
              </a:rPr>
              <a:t>"Shock, Septic"</a:t>
            </a:r>
          </a:p>
        </p:txBody>
      </p:sp>
      <p:cxnSp>
        <p:nvCxnSpPr>
          <p:cNvPr id="106" name="Arrow"/>
          <p:cNvCxnSpPr/>
          <p:nvPr/>
        </p:nvCxnSpPr>
        <p:spPr>
          <a:xfrm>
            <a:off x="3000756" y="2700789"/>
            <a:ext cx="1093446" cy="223005"/>
          </a:xfrm>
          <a:prstGeom prst="straightConnector1">
            <a:avLst/>
          </a:prstGeom>
          <a:ln w="25400" cap="rnd">
            <a:solidFill>
              <a:srgbClr val="E3B23C"/>
            </a:solidFill>
            <a:round/>
            <a:tailEnd type="triangle" w="med" len="med"/>
          </a:ln>
        </p:spPr>
      </p:cxnSp>
      <p:cxnSp>
        <p:nvCxnSpPr>
          <p:cNvPr id="107" name="Arrow"/>
          <p:cNvCxnSpPr/>
          <p:nvPr/>
        </p:nvCxnSpPr>
        <p:spPr>
          <a:xfrm>
            <a:off x="3252186" y="3089246"/>
            <a:ext cx="841309" cy="34317"/>
          </a:xfrm>
          <a:prstGeom prst="straightConnector1">
            <a:avLst/>
          </a:prstGeom>
          <a:ln w="25400" cap="rnd">
            <a:solidFill>
              <a:srgbClr val="E3B23C"/>
            </a:solidFill>
            <a:round/>
            <a:tailEnd type="triangle" w="med" len="med"/>
          </a:ln>
        </p:spPr>
      </p:cxnSp>
      <p:cxnSp>
        <p:nvCxnSpPr>
          <p:cNvPr id="108" name="Arrow"/>
          <p:cNvCxnSpPr/>
          <p:nvPr/>
        </p:nvCxnSpPr>
        <p:spPr>
          <a:xfrm flipV="1">
            <a:off x="3251945" y="3323444"/>
            <a:ext cx="841790" cy="103008"/>
          </a:xfrm>
          <a:prstGeom prst="straightConnector1">
            <a:avLst/>
          </a:prstGeom>
          <a:ln w="25400" cap="rnd">
            <a:solidFill>
              <a:srgbClr val="E3B23C"/>
            </a:solidFill>
            <a:round/>
            <a:tailEnd type="triangle" w="med" len="med"/>
          </a:ln>
        </p:spPr>
      </p:cxnSp>
      <p:cxnSp>
        <p:nvCxnSpPr>
          <p:cNvPr id="109" name="Arrow"/>
          <p:cNvCxnSpPr/>
          <p:nvPr/>
        </p:nvCxnSpPr>
        <p:spPr>
          <a:xfrm flipV="1">
            <a:off x="2679837" y="3522993"/>
            <a:ext cx="1415032" cy="404029"/>
          </a:xfrm>
          <a:prstGeom prst="straightConnector1">
            <a:avLst/>
          </a:prstGeom>
          <a:ln w="25400" cap="rnd">
            <a:solidFill>
              <a:srgbClr val="E3B23C"/>
            </a:solidFill>
            <a:round/>
            <a:tailEnd type="triangle" w="med" len="med"/>
          </a:ln>
        </p:spPr>
      </p:cxnSp>
      <p:sp>
        <p:nvSpPr>
          <p:cNvPr id="110" name="Text"/>
          <p:cNvSpPr/>
          <p:nvPr/>
        </p:nvSpPr>
        <p:spPr>
          <a:xfrm>
            <a:off x="3947160" y="3653600"/>
            <a:ext cx="2743200" cy="6400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i="1" dirty="0">
                <a:solidFill>
                  <a:srgbClr val="8A99A3"/>
                </a:solidFill>
                <a:latin typeface="Arial"/>
                <a:cs typeface="Arial"/>
              </a:rPr>
              <a:t>one label for all these words</a:t>
            </a:r>
          </a:p>
        </p:txBody>
      </p:sp>
      <p:sp>
        <p:nvSpPr>
          <p:cNvPr id="111" name="Text"/>
          <p:cNvSpPr/>
          <p:nvPr/>
        </p:nvSpPr>
        <p:spPr>
          <a:xfrm>
            <a:off x="472440" y="4568000"/>
            <a:ext cx="621792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D9822B"/>
                </a:solidFill>
                <a:latin typeface="Arial"/>
                <a:cs typeface="Arial"/>
              </a:rPr>
              <a:t>New papers may not have MeSH yet: add free-text words [tiab]</a:t>
            </a:r>
          </a:p>
        </p:txBody>
      </p:sp>
      <p:sp>
        <p:nvSpPr>
          <p:cNvPr id="112" name="Text"/>
          <p:cNvSpPr/>
          <p:nvPr/>
        </p:nvSpPr>
        <p:spPr>
          <a:xfrm>
            <a:off x="7421880" y="1779080"/>
            <a:ext cx="429768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The MeSH tree (broad to narrow)</a:t>
            </a:r>
          </a:p>
        </p:txBody>
      </p:sp>
      <p:sp>
        <p:nvSpPr>
          <p:cNvPr id="113" name="Box"/>
          <p:cNvSpPr/>
          <p:nvPr/>
        </p:nvSpPr>
        <p:spPr>
          <a:xfrm>
            <a:off x="7421880" y="2236280"/>
            <a:ext cx="2377440" cy="4572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Infections</a:t>
            </a:r>
          </a:p>
        </p:txBody>
      </p:sp>
      <p:sp>
        <p:nvSpPr>
          <p:cNvPr id="114" name="Box"/>
          <p:cNvSpPr/>
          <p:nvPr/>
        </p:nvSpPr>
        <p:spPr>
          <a:xfrm>
            <a:off x="7879080" y="2830640"/>
            <a:ext cx="2377440" cy="4572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Sepsis</a:t>
            </a:r>
          </a:p>
        </p:txBody>
      </p:sp>
      <p:sp>
        <p:nvSpPr>
          <p:cNvPr id="115" name="Box"/>
          <p:cNvSpPr/>
          <p:nvPr/>
        </p:nvSpPr>
        <p:spPr>
          <a:xfrm>
            <a:off x="8336280" y="3425000"/>
            <a:ext cx="2377440" cy="45720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Shock, Septic</a:t>
            </a:r>
          </a:p>
        </p:txBody>
      </p:sp>
      <p:cxnSp>
        <p:nvCxnSpPr>
          <p:cNvPr id="116" name="Line"/>
          <p:cNvCxnSpPr/>
          <p:nvPr/>
        </p:nvCxnSpPr>
        <p:spPr>
          <a:xfrm>
            <a:off x="7650480" y="2693480"/>
            <a:ext cx="0" cy="365760"/>
          </a:xfrm>
          <a:prstGeom prst="straightConnector1">
            <a:avLst/>
          </a:prstGeom>
          <a:ln w="25400" cap="rnd">
            <a:solidFill>
              <a:srgbClr val="8A99A3"/>
            </a:solidFill>
            <a:round/>
          </a:ln>
        </p:spPr>
      </p:cxnSp>
      <p:cxnSp>
        <p:nvCxnSpPr>
          <p:cNvPr id="117" name="Line"/>
          <p:cNvCxnSpPr/>
          <p:nvPr/>
        </p:nvCxnSpPr>
        <p:spPr>
          <a:xfrm>
            <a:off x="7650480" y="3059240"/>
            <a:ext cx="228600" cy="0"/>
          </a:xfrm>
          <a:prstGeom prst="straightConnector1">
            <a:avLst/>
          </a:prstGeom>
          <a:ln w="25400" cap="rnd">
            <a:solidFill>
              <a:srgbClr val="8A99A3"/>
            </a:solidFill>
            <a:round/>
          </a:ln>
        </p:spPr>
      </p:cxnSp>
      <p:cxnSp>
        <p:nvCxnSpPr>
          <p:cNvPr id="118" name="Line"/>
          <p:cNvCxnSpPr/>
          <p:nvPr/>
        </p:nvCxnSpPr>
        <p:spPr>
          <a:xfrm>
            <a:off x="8107680" y="3287840"/>
            <a:ext cx="0" cy="365760"/>
          </a:xfrm>
          <a:prstGeom prst="straightConnector1">
            <a:avLst/>
          </a:prstGeom>
          <a:ln w="25400" cap="rnd">
            <a:solidFill>
              <a:srgbClr val="8A99A3"/>
            </a:solidFill>
            <a:round/>
          </a:ln>
        </p:spPr>
      </p:cxnSp>
      <p:cxnSp>
        <p:nvCxnSpPr>
          <p:cNvPr id="119" name="Line"/>
          <p:cNvCxnSpPr/>
          <p:nvPr/>
        </p:nvCxnSpPr>
        <p:spPr>
          <a:xfrm>
            <a:off x="8107680" y="3653600"/>
            <a:ext cx="228600" cy="0"/>
          </a:xfrm>
          <a:prstGeom prst="straightConnector1">
            <a:avLst/>
          </a:prstGeom>
          <a:ln w="25400" cap="rnd">
            <a:solidFill>
              <a:srgbClr val="8A99A3"/>
            </a:solidFill>
            <a:round/>
          </a:ln>
        </p:spPr>
      </p:cxnSp>
      <p:cxnSp>
        <p:nvCxnSpPr>
          <p:cNvPr id="120" name="Arrow"/>
          <p:cNvCxnSpPr/>
          <p:nvPr/>
        </p:nvCxnSpPr>
        <p:spPr>
          <a:xfrm>
            <a:off x="6553200" y="3379280"/>
            <a:ext cx="1737360" cy="274320"/>
          </a:xfrm>
          <a:prstGeom prst="straightConnector1">
            <a:avLst/>
          </a:prstGeom>
          <a:ln w="31750" cap="rnd">
            <a:solidFill>
              <a:srgbClr val="0D7377"/>
            </a:solidFill>
            <a:round/>
            <a:tailEnd type="triangle" w="med" len="med"/>
          </a:ln>
        </p:spPr>
      </p:cxnSp>
      <p:sp>
        <p:nvSpPr>
          <p:cNvPr id="121" name="Box"/>
          <p:cNvSpPr/>
          <p:nvPr/>
        </p:nvSpPr>
        <p:spPr>
          <a:xfrm>
            <a:off x="7421880" y="4156520"/>
            <a:ext cx="4297680" cy="868680"/>
          </a:xfrm>
          <a:prstGeom prst="roundRect">
            <a:avLst>
              <a:gd name="adj" fmla="val 8000"/>
            </a:avLst>
          </a:prstGeom>
          <a:solidFill>
            <a:srgbClr val="EAF2F5"/>
          </a:solidFill>
          <a:ln>
            <a:noFill/>
          </a:ln>
        </p:spPr>
        <p:txBody>
          <a:bodyPr wrap="square" lIns="91440" tIns="91440" rIns="91440" bIns="91440" rtlCol="0" anchor="ctr">
            <a:noAutofit/>
          </a:bodyPr>
          <a:lstStyle/>
          <a:p>
            <a:pPr marL="0" indent="0" algn="ctr">
              <a:lnSpc>
                <a:spcPct val="100000"/>
              </a:lnSpc>
              <a:buNone/>
            </a:pPr>
            <a:r>
              <a:rPr lang="en-US" sz="1500" dirty="0">
                <a:solidFill>
                  <a:srgbClr val="1A1A1A"/>
                </a:solidFill>
                <a:latin typeface="Arial"/>
                <a:cs typeface="Arial"/>
              </a:rPr>
              <a:t>Searching Sepsis[MeSH] also finds the papers filed under Shock, Septic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Search the MeSH term AND the free-text words, joined with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find the right MeSH term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home page, under Explore</a:t>
            </a:r>
          </a:p>
          <a:p>
            <a:pPr marL="0" indent="0" algn="ctr">
              <a:lnSpc>
                <a:spcPct val="104000"/>
              </a:lnSpc>
              <a:spcBef>
                <a:spcPts val="400"/>
              </a:spcBef>
              <a:buNone/>
            </a:pPr>
            <a:r>
              <a:rPr lang="en-US" sz="1750" dirty="0">
                <a:solidFill>
                  <a:srgbClr val="000000"/>
                </a:solidFill>
                <a:latin typeface="Arial"/>
                <a:cs typeface="Arial"/>
              </a:rPr>
              <a:t>Type a word, e.g. bedsore</a:t>
            </a:r>
          </a:p>
          <a:p>
            <a:pPr marL="0" indent="0" algn="ctr">
              <a:lnSpc>
                <a:spcPct val="104000"/>
              </a:lnSpc>
              <a:spcBef>
                <a:spcPts val="400"/>
              </a:spcBef>
              <a:buNone/>
            </a:pPr>
            <a:r>
              <a:rPr lang="en-US" sz="1750" dirty="0">
                <a:solidFill>
                  <a:srgbClr val="000000"/>
                </a:solidFill>
                <a:latin typeface="Arial"/>
                <a:cs typeface="Arial"/>
              </a:rPr>
              <a:t>It shows the heading: Pressure Ulcer</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paper you trust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Open a relevant paper in PubMed</a:t>
            </a:r>
          </a:p>
          <a:p>
            <a:pPr marL="0" indent="0" algn="ctr">
              <a:lnSpc>
                <a:spcPct val="104000"/>
              </a:lnSpc>
              <a:spcBef>
                <a:spcPts val="400"/>
              </a:spcBef>
              <a:buNone/>
            </a:pPr>
            <a:r>
              <a:rPr lang="en-US" sz="1750" dirty="0">
                <a:solidFill>
                  <a:srgbClr val="000000"/>
                </a:solidFill>
                <a:latin typeface="Arial"/>
                <a:cs typeface="Arial"/>
              </a:rPr>
              <a:t>Scroll down to 'MeSH terms'</a:t>
            </a:r>
          </a:p>
          <a:p>
            <a:pPr marL="0" indent="0" algn="ctr">
              <a:lnSpc>
                <a:spcPct val="104000"/>
              </a:lnSpc>
              <a:spcBef>
                <a:spcPts val="400"/>
              </a:spcBef>
              <a:buNone/>
            </a:pPr>
            <a:r>
              <a:rPr lang="en-US" sz="1750" dirty="0">
                <a:solidFill>
                  <a:srgbClr val="000000"/>
                </a:solidFill>
                <a:latin typeface="Arial"/>
                <a:cs typeface="Arial"/>
              </a:rPr>
              <a:t>Reuse the ones that fit</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maps your words to MeSH</a:t>
            </a:r>
          </a:p>
          <a:p>
            <a:pPr marL="0" indent="0" algn="ctr">
              <a:lnSpc>
                <a:spcPct val="104000"/>
              </a:lnSpc>
              <a:spcBef>
                <a:spcPts val="400"/>
              </a:spcBef>
              <a:buNone/>
            </a:pPr>
            <a:r>
              <a:rPr lang="en-US" sz="1750" dirty="0">
                <a:solidFill>
                  <a:srgbClr val="000000"/>
                </a:solidFill>
                <a:latin typeface="Arial"/>
                <a:cs typeface="Arial"/>
              </a:rPr>
              <a:t>Check which heading it used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Look up MeSH terms, do not guess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tools that sharpen a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"Quotes"</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"septic shock" = the exact phrase</a:t>
            </a:r>
          </a:p>
          <a:p>
            <a:pPr marL="0" indent="0" algn="ctr">
              <a:lnSpc>
                <a:spcPct val="104000"/>
              </a:lnSpc>
              <a:spcBef>
                <a:spcPts val="400"/>
              </a:spcBef>
              <a:buNone/>
            </a:pPr>
            <a:r>
              <a:rPr lang="en-US" sz="1600" dirty="0">
                <a:solidFill>
                  <a:srgbClr val="000000"/>
                </a:solidFill>
                <a:latin typeface="Arial"/>
                <a:cs typeface="Arial"/>
              </a:rPr>
              <a:t>Not two loose words</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Truncation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child* finds child, children, childhood</a:t>
            </a:r>
          </a:p>
          <a:p>
            <a:pPr marL="0" indent="0" algn="ctr">
              <a:lnSpc>
                <a:spcPct val="104000"/>
              </a:lnSpc>
              <a:spcBef>
                <a:spcPts val="400"/>
              </a:spcBef>
              <a:buNone/>
            </a:pPr>
            <a:r>
              <a:rPr lang="en-US" sz="1600" dirty="0">
                <a:solidFill>
                  <a:srgbClr val="000000"/>
                </a:solidFill>
                <a:latin typeface="Arial"/>
                <a:cs typeface="Arial"/>
              </a:rPr>
              <a:t>Use it when one idea has many word endings</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Field tags</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[tiab] title or abstract</a:t>
            </a:r>
          </a:p>
          <a:p>
            <a:pPr marL="0" indent="0" algn="ctr">
              <a:lnSpc>
                <a:spcPct val="104000"/>
              </a:lnSpc>
              <a:spcBef>
                <a:spcPts val="400"/>
              </a:spcBef>
              <a:buNone/>
            </a:pPr>
            <a:r>
              <a:rPr lang="en-US" sz="1600" dirty="0">
                <a:solidFill>
                  <a:srgbClr val="000000"/>
                </a:solidFill>
                <a:latin typeface="Arial"/>
                <a:cs typeface="Arial"/>
              </a:rPr>
              <a:t>[mh] or [MeSH] MeSH term</a:t>
            </a:r>
          </a:p>
          <a:p>
            <a:pPr marL="0" indent="0" algn="ctr">
              <a:lnSpc>
                <a:spcPct val="104000"/>
              </a:lnSpc>
              <a:spcBef>
                <a:spcPts val="400"/>
              </a:spcBef>
              <a:buNone/>
            </a:pPr>
            <a:r>
              <a:rPr lang="en-US" sz="1600" dirty="0">
                <a:solidFill>
                  <a:srgbClr val="000000"/>
                </a:solidFill>
                <a:latin typeface="Arial"/>
                <a:cs typeface="Arial"/>
              </a:rPr>
              <a:t>[pt] article type</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Filters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type (RCT, systematic review)</a:t>
            </a:r>
          </a:p>
          <a:p>
            <a:pPr marL="0" indent="0" algn="ctr">
              <a:lnSpc>
                <a:spcPct val="104000"/>
              </a:lnSpc>
              <a:spcBef>
                <a:spcPts val="400"/>
              </a:spcBef>
              <a:buNone/>
            </a:pPr>
            <a:r>
              <a:rPr lang="en-US" sz="1600" dirty="0">
                <a:solidFill>
                  <a:srgbClr val="000000"/>
                </a:solidFill>
                <a:latin typeface="Arial"/>
                <a:cs typeface="Arial"/>
              </a:rPr>
              <a:t>Date, age, humans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'Search details' to see exactly what PubMed searched.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PICO to search blocks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in adults with septic shock, does a restrictive fluid strategy, vs usual care, reduce 28-day mortality?</a:t>
            </a:r>
          </a:p>
        </p:txBody>
      </p:sp>
      <p:sp>
        <p:nvSpPr>
          <p:cNvPr id="100" name="Box"/>
          <p:cNvSpPr/>
          <p:nvPr/>
        </p:nvSpPr>
        <p:spPr>
          <a:xfrm>
            <a:off x="44958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septic shock</a:t>
            </a:r>
          </a:p>
        </p:txBody>
      </p:sp>
      <p:sp>
        <p:nvSpPr>
          <p:cNvPr id="101" name="Box"/>
          <p:cNvSpPr/>
          <p:nvPr/>
        </p:nvSpPr>
        <p:spPr>
          <a:xfrm>
            <a:off x="44958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"Shock, Septic"[MeSH]</a:t>
            </a:r>
          </a:p>
          <a:p>
            <a:pPr marL="0" indent="0" algn="ctr">
              <a:lnSpc>
                <a:spcPct val="100000"/>
              </a:lnSpc>
              <a:spcBef>
                <a:spcPts val="200"/>
              </a:spcBef>
              <a:buNone/>
            </a:pPr>
            <a:r>
              <a:rPr lang="en-US" sz="1500" dirty="0">
                <a:solidFill>
                  <a:srgbClr val="1A1A1A"/>
                </a:solidFill>
                <a:latin typeface="Arial"/>
                <a:cs typeface="Arial"/>
              </a:rPr>
              <a:t>OR "septic shock"[tiab]</a:t>
            </a:r>
          </a:p>
          <a:p>
            <a:pPr marL="0" indent="0" algn="ctr">
              <a:lnSpc>
                <a:spcPct val="100000"/>
              </a:lnSpc>
              <a:spcBef>
                <a:spcPts val="200"/>
              </a:spcBef>
              <a:buNone/>
            </a:pPr>
            <a:r>
              <a:rPr lang="en-US" sz="1500" dirty="0">
                <a:solidFill>
                  <a:srgbClr val="1A1A1A"/>
                </a:solidFill>
                <a:latin typeface="Arial"/>
                <a:cs typeface="Arial"/>
              </a:rPr>
              <a:t>OR sepsis[tiab]</a:t>
            </a:r>
          </a:p>
        </p:txBody>
      </p:sp>
      <p:sp>
        <p:nvSpPr>
          <p:cNvPr id="102" name="Ellipse"/>
          <p:cNvSpPr/>
          <p:nvPr/>
        </p:nvSpPr>
        <p:spPr>
          <a:xfrm>
            <a:off x="375513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447294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restrictive fluids</a:t>
            </a:r>
          </a:p>
        </p:txBody>
      </p:sp>
      <p:sp>
        <p:nvSpPr>
          <p:cNvPr id="104" name="Box"/>
          <p:cNvSpPr/>
          <p:nvPr/>
        </p:nvSpPr>
        <p:spPr>
          <a:xfrm>
            <a:off x="447294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"Fluid Therapy"[MeSH]</a:t>
            </a:r>
          </a:p>
          <a:p>
            <a:pPr marL="0" indent="0" algn="ctr">
              <a:lnSpc>
                <a:spcPct val="100000"/>
              </a:lnSpc>
              <a:spcBef>
                <a:spcPts val="200"/>
              </a:spcBef>
              <a:buNone/>
            </a:pPr>
            <a:r>
              <a:rPr lang="en-US" sz="1500" dirty="0">
                <a:solidFill>
                  <a:srgbClr val="1A1A1A"/>
                </a:solidFill>
                <a:latin typeface="Arial"/>
                <a:cs typeface="Arial"/>
              </a:rPr>
              <a:t>OR "fluid restrict*"[tiab]</a:t>
            </a:r>
          </a:p>
          <a:p>
            <a:pPr marL="0" indent="0" algn="ctr">
              <a:lnSpc>
                <a:spcPct val="100000"/>
              </a:lnSpc>
              <a:spcBef>
                <a:spcPts val="200"/>
              </a:spcBef>
              <a:buNone/>
            </a:pPr>
            <a:r>
              <a:rPr lang="en-US" sz="1500" dirty="0">
                <a:solidFill>
                  <a:srgbClr val="1A1A1A"/>
                </a:solidFill>
                <a:latin typeface="Arial"/>
                <a:cs typeface="Arial"/>
              </a:rPr>
              <a:t>OR "restrictive fluid*"[tiab]</a:t>
            </a:r>
          </a:p>
          <a:p>
            <a:pPr marL="0" indent="0" algn="ctr">
              <a:lnSpc>
                <a:spcPct val="100000"/>
              </a:lnSpc>
              <a:spcBef>
                <a:spcPts val="200"/>
              </a:spcBef>
              <a:buNone/>
            </a:pPr>
            <a:r>
              <a:rPr lang="en-US" sz="1500" dirty="0">
                <a:solidFill>
                  <a:srgbClr val="1A1A1A"/>
                </a:solidFill>
                <a:latin typeface="Arial"/>
                <a:cs typeface="Arial"/>
              </a:rPr>
              <a:t>OR "conservative fluid*"[tiab]</a:t>
            </a:r>
          </a:p>
        </p:txBody>
      </p:sp>
      <p:sp>
        <p:nvSpPr>
          <p:cNvPr id="105" name="Ellipse"/>
          <p:cNvSpPr/>
          <p:nvPr/>
        </p:nvSpPr>
        <p:spPr>
          <a:xfrm>
            <a:off x="777849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6" name="Box"/>
          <p:cNvSpPr/>
          <p:nvPr/>
        </p:nvSpPr>
        <p:spPr>
          <a:xfrm>
            <a:off x="8496300" y="2081078"/>
            <a:ext cx="3246120" cy="502920"/>
          </a:xfrm>
          <a:prstGeom prst="roundRect">
            <a:avLst>
              <a:gd name="adj" fmla="val 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O:  mortality</a:t>
            </a:r>
          </a:p>
        </p:txBody>
      </p:sp>
      <p:sp>
        <p:nvSpPr>
          <p:cNvPr id="107" name="Box"/>
          <p:cNvSpPr/>
          <p:nvPr/>
        </p:nvSpPr>
        <p:spPr>
          <a:xfrm>
            <a:off x="849630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Mortality[MeSH]</a:t>
            </a:r>
          </a:p>
          <a:p>
            <a:pPr marL="0" indent="0" algn="ctr">
              <a:lnSpc>
                <a:spcPct val="100000"/>
              </a:lnSpc>
              <a:spcBef>
                <a:spcPts val="200"/>
              </a:spcBef>
              <a:buNone/>
            </a:pPr>
            <a:r>
              <a:rPr lang="en-US" sz="1500" dirty="0">
                <a:solidFill>
                  <a:srgbClr val="1A1A1A"/>
                </a:solidFill>
                <a:latin typeface="Arial"/>
                <a:cs typeface="Arial"/>
              </a:rPr>
              <a:t>OR mortality[tiab]</a:t>
            </a:r>
          </a:p>
          <a:p>
            <a:pPr marL="0" indent="0" algn="ctr">
              <a:lnSpc>
                <a:spcPct val="100000"/>
              </a:lnSpc>
              <a:spcBef>
                <a:spcPts val="200"/>
              </a:spcBef>
              <a:buNone/>
            </a:pPr>
            <a:r>
              <a:rPr lang="en-US" sz="1500" dirty="0">
                <a:solidFill>
                  <a:srgbClr val="1A1A1A"/>
                </a:solidFill>
                <a:latin typeface="Arial"/>
                <a:cs typeface="Arial"/>
              </a:rPr>
              <a:t>OR death[tiab]</a:t>
            </a:r>
          </a:p>
        </p:txBody>
      </p:sp>
      <p:sp>
        <p:nvSpPr>
          <p:cNvPr id="108"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C (usual care) is usually not searched: the words for it vary too much.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block per PICO element: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ward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in adults at risk on the ward, does 2-hourly repositioning reduce new pressure injuries?</a:t>
            </a:r>
          </a:p>
        </p:txBody>
      </p:sp>
      <p:sp>
        <p:nvSpPr>
          <p:cNvPr id="100" name="Box"/>
          <p:cNvSpPr/>
          <p:nvPr/>
        </p:nvSpPr>
        <p:spPr>
          <a:xfrm>
            <a:off x="2461260" y="2007680"/>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 O:  pressure injury</a:t>
            </a:r>
          </a:p>
        </p:txBody>
      </p:sp>
      <p:sp>
        <p:nvSpPr>
          <p:cNvPr id="101" name="Box"/>
          <p:cNvSpPr/>
          <p:nvPr/>
        </p:nvSpPr>
        <p:spPr>
          <a:xfrm>
            <a:off x="2461260" y="2510600"/>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"Pressure Ulcer"[MeSH]</a:t>
            </a:r>
          </a:p>
          <a:p>
            <a:pPr marL="0" indent="0" algn="ctr">
              <a:lnSpc>
                <a:spcPct val="100000"/>
              </a:lnSpc>
              <a:spcBef>
                <a:spcPts val="200"/>
              </a:spcBef>
              <a:buNone/>
            </a:pPr>
            <a:r>
              <a:rPr lang="en-US" sz="1500" dirty="0">
                <a:solidFill>
                  <a:srgbClr val="1A1A1A"/>
                </a:solidFill>
                <a:latin typeface="Arial"/>
                <a:cs typeface="Arial"/>
              </a:rPr>
              <a:t>OR "pressure injur*"[tiab]</a:t>
            </a:r>
          </a:p>
          <a:p>
            <a:pPr marL="0" indent="0" algn="ctr">
              <a:lnSpc>
                <a:spcPct val="100000"/>
              </a:lnSpc>
              <a:spcBef>
                <a:spcPts val="200"/>
              </a:spcBef>
              <a:buNone/>
            </a:pPr>
            <a:r>
              <a:rPr lang="en-US" sz="1500" dirty="0">
                <a:solidFill>
                  <a:srgbClr val="1A1A1A"/>
                </a:solidFill>
                <a:latin typeface="Arial"/>
                <a:cs typeface="Arial"/>
              </a:rPr>
              <a:t>OR "pressure ulcer*"[tiab]</a:t>
            </a:r>
          </a:p>
          <a:p>
            <a:pPr marL="0" indent="0" algn="ctr">
              <a:lnSpc>
                <a:spcPct val="100000"/>
              </a:lnSpc>
              <a:spcBef>
                <a:spcPts val="200"/>
              </a:spcBef>
              <a:buNone/>
            </a:pPr>
            <a:r>
              <a:rPr lang="en-US" sz="1500" dirty="0">
                <a:solidFill>
                  <a:srgbClr val="1A1A1A"/>
                </a:solidFill>
                <a:latin typeface="Arial"/>
                <a:cs typeface="Arial"/>
              </a:rPr>
              <a:t>OR bedsore*[tiab]</a:t>
            </a:r>
          </a:p>
        </p:txBody>
      </p:sp>
      <p:sp>
        <p:nvSpPr>
          <p:cNvPr id="102" name="Ellipse"/>
          <p:cNvSpPr/>
          <p:nvPr/>
        </p:nvSpPr>
        <p:spPr>
          <a:xfrm>
            <a:off x="5766816" y="2981516"/>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6484620" y="2007680"/>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repositioning</a:t>
            </a:r>
          </a:p>
        </p:txBody>
      </p:sp>
      <p:sp>
        <p:nvSpPr>
          <p:cNvPr id="104" name="Box"/>
          <p:cNvSpPr/>
          <p:nvPr/>
        </p:nvSpPr>
        <p:spPr>
          <a:xfrm>
            <a:off x="6484620" y="2510600"/>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"Patient Positioning"[MeSH]</a:t>
            </a:r>
          </a:p>
          <a:p>
            <a:pPr marL="0" indent="0" algn="ctr">
              <a:lnSpc>
                <a:spcPct val="100000"/>
              </a:lnSpc>
              <a:spcBef>
                <a:spcPts val="200"/>
              </a:spcBef>
              <a:buNone/>
            </a:pPr>
            <a:r>
              <a:rPr lang="en-US" sz="1500" dirty="0">
                <a:solidFill>
                  <a:srgbClr val="1A1A1A"/>
                </a:solidFill>
                <a:latin typeface="Arial"/>
                <a:cs typeface="Arial"/>
              </a:rPr>
              <a:t>OR reposition*[tiab]</a:t>
            </a:r>
          </a:p>
          <a:p>
            <a:pPr marL="0" indent="0" algn="ctr">
              <a:lnSpc>
                <a:spcPct val="100000"/>
              </a:lnSpc>
              <a:spcBef>
                <a:spcPts val="200"/>
              </a:spcBef>
              <a:buNone/>
            </a:pPr>
            <a:r>
              <a:rPr lang="en-US" sz="1500" dirty="0">
                <a:solidFill>
                  <a:srgbClr val="1A1A1A"/>
                </a:solidFill>
                <a:latin typeface="Arial"/>
                <a:cs typeface="Arial"/>
              </a:rPr>
              <a:t>OR turning[tiab]</a:t>
            </a:r>
          </a:p>
        </p:txBody>
      </p:sp>
      <p:sp>
        <p:nvSpPr>
          <p:cNvPr id="105" name="Text"/>
          <p:cNvSpPr/>
          <p:nvPr/>
        </p:nvSpPr>
        <p:spPr>
          <a:xfrm>
            <a:off x="746760" y="4339400"/>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P and O are one idea here (pressure injury), so one block carries both.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method for any topic: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vs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6242"/>
          <a:ext cx="11277600" cy="3121272"/>
        </p:xfrm>
        <a:graphic>
          <a:graphicData uri="http://schemas.openxmlformats.org/drawingml/2006/table">
            <a:tbl>
              <a:tblPr firstRow="1" bandRow="1">
                <a:tableStyleId>{5C22544A-7EE6-4342-B048-85BDC9FD1C3A}</a:tableStyleId>
              </a:tblPr>
              <a:tblGrid>
                <a:gridCol w="3814482"/>
                <a:gridCol w="3648635"/>
                <a:gridCol w="3814483"/>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What it searches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Biomedical journals</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Almost everything: journals, theses, books, preprints</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MeSH labels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No</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Filters (design, age, date)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Many</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Few (date, reviews)</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Same search, same results later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No: the ranking is hidden</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Finds newer papers that cite a paper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Partly</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Yes ('Cited by')</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Use it for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Your main search, written down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Checking for papers you missed</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PubMed for your main search. Google Scholar to check for papers you missed.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First check: is there already a systematic review?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Search for reviews</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Cochrane Library</a:t>
            </a:r>
          </a:p>
          <a:p>
            <a:pPr marL="0" indent="0" algn="ctr">
              <a:lnSpc>
                <a:spcPct val="104000"/>
              </a:lnSpc>
              <a:spcBef>
                <a:spcPts val="400"/>
              </a:spcBef>
              <a:buNone/>
            </a:pPr>
            <a:r>
              <a:rPr lang="en-US" sz="1600" dirty="0">
                <a:solidFill>
                  <a:srgbClr val="000000"/>
                </a:solidFill>
                <a:latin typeface="Arial"/>
                <a:cs typeface="Arial"/>
              </a:rPr>
              <a:t>PubMed filter: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Reviews in progress</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PROSPERO lists registered systematic reviews</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Then decide</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recent, good review: build on it</a:t>
            </a:r>
          </a:p>
          <a:p>
            <a:pPr marL="0" indent="0" algn="ctr">
              <a:lnSpc>
                <a:spcPct val="104000"/>
              </a:lnSpc>
              <a:spcBef>
                <a:spcPts val="400"/>
              </a:spcBef>
              <a:buNone/>
            </a:pPr>
            <a:r>
              <a:rPr lang="en-US" sz="1600" dirty="0">
                <a:solidFill>
                  <a:srgbClr val="000000"/>
                </a:solidFill>
                <a:latin typeface="Arial"/>
                <a:cs typeface="Arial"/>
              </a:rPr>
              <a:t>None, or out of date: that is a gap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Learn to do one</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Level 3, Module A: systematic review and 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you plan a study, find out what has been done, starting with systematic reviews.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searching PubMed for the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one keyword, septic shock, and note the number of hits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Paste the full PICO string: P, I and O blocks joined with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'Search details': what did PubMed really search?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Add filters: RCT and systematic review, adults, last 10 years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one result: abstract, MeSH terms,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'Send to', then 'Citation manager' (we import it in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How the hits fall at each step</a:t>
            </a:r>
          </a:p>
          <a:p>
            <a:pPr marL="0" indent="0" algn="ctr">
              <a:lnSpc>
                <a:spcPct val="104000"/>
              </a:lnSpc>
              <a:spcBef>
                <a:spcPts val="300"/>
              </a:spcBef>
              <a:buNone/>
            </a:pPr>
            <a:r>
              <a:rPr lang="en-US" sz="1500" dirty="0">
                <a:solidFill>
                  <a:srgbClr val="000000"/>
                </a:solidFill>
                <a:latin typeface="Arial"/>
                <a:cs typeface="Arial"/>
              </a:rPr>
              <a:t>Which papers keep appearing</a:t>
            </a:r>
          </a:p>
          <a:p>
            <a:pPr marL="0" indent="0" algn="ctr">
              <a:lnSpc>
                <a:spcPct val="104000"/>
              </a:lnSpc>
              <a:spcBef>
                <a:spcPts val="300"/>
              </a:spcBef>
              <a:buNone/>
            </a:pPr>
            <a:r>
              <a:rPr lang="en-US" sz="1500" dirty="0">
                <a:solidFill>
                  <a:srgbClr val="000000"/>
                </a:solidFill>
                <a:latin typeface="Arial"/>
                <a:cs typeface="Arial"/>
              </a:rPr>
              <a:t>Can you find Paper 1 and the CLASSIC trial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A search string we can all copy (Exercise 1 on the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build a Boolean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Take your own PICO question and your synonym list (Session 1 homework)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1: write 2-4 synonyms for P, for I (or E) and for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Join synonyms with OR in brackets, and the blocks with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Check which words are MeSH terms: MeSH Database or a known paper</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We call on 2-3 people to read their string aloud, microphone 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One search string for your own question, ready to run in PubMed later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Managing and citing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Keep every reference you find, and use other people's work honestly.</a:t>
            </a:r>
          </a:p>
          <a:p>
            <a:pPr marL="0" indent="0" algn="ctr">
              <a:spcBef>
                <a:spcPts val="1200"/>
              </a:spcBef>
              <a:buNone/>
            </a:pPr>
            <a:r>
              <a:rPr lang="en-US" sz="1900" i="1" dirty="0">
                <a:solidFill>
                  <a:srgbClr val="595959"/>
                </a:solidFill>
                <a:latin typeface="Arial"/>
                <a:cs typeface="Arial"/>
              </a:rPr>
              <a:t>20 minutes: reference managers, citation styles, a Zotero demo, paraphrasing safely, grey literature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Reference managers: save as you go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Collect</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Tick papers in PubMed</a:t>
            </a:r>
          </a:p>
          <a:p>
            <a:pPr marL="0" indent="0" algn="ctr">
              <a:lnSpc>
                <a:spcPct val="104000"/>
              </a:lnSpc>
              <a:spcBef>
                <a:spcPts val="200"/>
              </a:spcBef>
              <a:buNone/>
            </a:pPr>
            <a:r>
              <a:rPr lang="en-US" sz="1500" dirty="0">
                <a:solidFill>
                  <a:srgbClr val="000000"/>
                </a:solidFill>
                <a:latin typeface="Arial"/>
                <a:cs typeface="Arial"/>
              </a:rPr>
              <a:t>Clipboard or My NCBI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Export</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to', then 'Citation manager'</a:t>
            </a:r>
          </a:p>
          <a:p>
            <a:pPr marL="0" indent="0" algn="ctr">
              <a:lnSpc>
                <a:spcPct val="104000"/>
              </a:lnSpc>
              <a:spcBef>
                <a:spcPts val="200"/>
              </a:spcBef>
              <a:buNone/>
            </a:pPr>
            <a:r>
              <a:rPr lang="en-US" sz="1500" dirty="0">
                <a:solidFill>
                  <a:srgbClr val="000000"/>
                </a:solidFill>
                <a:latin typeface="Arial"/>
                <a:cs typeface="Arial"/>
              </a:rPr>
              <a:t>Gives an .nbib file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Import</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Zotero or Mendeley (free)</a:t>
            </a:r>
          </a:p>
          <a:p>
            <a:pPr marL="0" indent="0" algn="ctr">
              <a:lnSpc>
                <a:spcPct val="104000"/>
              </a:lnSpc>
              <a:spcBef>
                <a:spcPts val="200"/>
              </a:spcBef>
              <a:buNone/>
            </a:pPr>
            <a:r>
              <a:rPr lang="en-US" sz="1500" dirty="0">
                <a:solidFill>
                  <a:srgbClr val="000000"/>
                </a:solidFill>
                <a:latin typeface="Arial"/>
                <a:cs typeface="Arial"/>
              </a:rPr>
              <a:t>EndNote (paid)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Cite</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Insert citations in Word with the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List</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Reference list built for you</a:t>
            </a:r>
          </a:p>
          <a:p>
            <a:pPr marL="0" indent="0" algn="ctr">
              <a:lnSpc>
                <a:spcPct val="104000"/>
              </a:lnSpc>
              <a:spcBef>
                <a:spcPts val="200"/>
              </a:spcBef>
              <a:buNone/>
            </a:pPr>
            <a:r>
              <a:rPr lang="en-US" sz="1500" dirty="0">
                <a:solidFill>
                  <a:srgbClr val="000000"/>
                </a:solidFill>
                <a:latin typeface="Arial"/>
                <a:cs typeface="Arial"/>
              </a:rPr>
              <a:t>Any style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reference manager prevents the commonest error in proposals: wrong 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Citation styles: same paper, two looks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Use the style your target journal asks for. The reference manager switches in one click.</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Restricting IV fluid did not change 90-day mortality [1].</a:t>
            </a:r>
          </a:p>
          <a:p>
            <a:pPr marL="0" indent="0" algn="ctr">
              <a:lnSpc>
                <a:spcPct val="104000"/>
              </a:lnSpc>
              <a:spcBef>
                <a:spcPts val="400"/>
              </a:spcBef>
              <a:buNone/>
            </a:pPr>
            <a:r>
              <a:rPr lang="en-US" sz="1700" b="1" dirty="0">
                <a:solidFill>
                  <a:srgbClr val="000000"/>
                </a:solidFill>
                <a:latin typeface="Arial"/>
                <a:cs typeface="Arial"/>
              </a:rPr>
              <a:t>Reference list:</a:t>
            </a:r>
          </a:p>
          <a:p>
            <a:pPr marL="0" indent="0" algn="ctr">
              <a:lnSpc>
                <a:spcPct val="104000"/>
              </a:lnSpc>
              <a:spcBef>
                <a:spcPts val="400"/>
              </a:spcBef>
              <a:buNone/>
            </a:pPr>
            <a:r>
              <a:rPr lang="en-US" sz="1700" dirty="0">
                <a:solidFill>
                  <a:srgbClr val="000000"/>
                </a:solidFill>
                <a:latin typeface="Arial"/>
                <a:cs typeface="Arial"/>
              </a:rPr>
              <a:t>1. Author AA, Author BB, et al. Title. J Abbrev. Year;Vol(Issue):pages.</a:t>
            </a:r>
          </a:p>
          <a:p>
            <a:pPr marL="0" indent="0" algn="ctr">
              <a:lnSpc>
                <a:spcPct val="104000"/>
              </a:lnSpc>
              <a:spcBef>
                <a:spcPts val="400"/>
              </a:spcBef>
              <a:buNone/>
            </a:pPr>
            <a:r>
              <a:rPr lang="en-US" sz="1700" i="1" dirty="0">
                <a:solidFill>
                  <a:srgbClr val="595959"/>
                </a:solidFill>
                <a:latin typeface="Arial"/>
                <a:cs typeface="Arial"/>
              </a:rPr>
              <a:t>Numbered in the order cited. Used by most medical journals.</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Restricting IV fluid did not change 90-day mortality (Meyhoff et al., 2022).</a:t>
            </a:r>
          </a:p>
          <a:p>
            <a:pPr marL="0" indent="0" algn="ctr">
              <a:lnSpc>
                <a:spcPct val="104000"/>
              </a:lnSpc>
              <a:spcBef>
                <a:spcPts val="400"/>
              </a:spcBef>
              <a:buNone/>
            </a:pPr>
            <a:r>
              <a:rPr lang="en-US" sz="1700" b="1" dirty="0">
                <a:solidFill>
                  <a:srgbClr val="000000"/>
                </a:solidFill>
                <a:latin typeface="Arial"/>
                <a:cs typeface="Arial"/>
              </a:rPr>
              <a:t>Reference list:</a:t>
            </a:r>
          </a:p>
          <a:p>
            <a:pPr marL="0" indent="0" algn="ctr">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ctr">
              <a:lnSpc>
                <a:spcPct val="104000"/>
              </a:lnSpc>
              <a:spcBef>
                <a:spcPts val="400"/>
              </a:spcBef>
              <a:buNone/>
            </a:pPr>
            <a:r>
              <a:rPr lang="en-US" sz="1700" i="1" dirty="0">
                <a:solidFill>
                  <a:srgbClr val="595959"/>
                </a:solidFill>
                <a:latin typeface="Arial"/>
                <a:cs typeface="Arial"/>
              </a:rPr>
              <a:t>Author and year in the text. Common in nursing and social science.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Pick the style your target journal uses, and let the software do the formatting.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from PubMed to Zotero to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In Zotero: File, Import, then choose the .nbib file saved in the PubMed demo</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the entry: authors, title, journal, year, DOI, nothing typed by hand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In Word, Zotero tab: 'Add/Edit Citation', then type Meyhoff (first author of CLASSIC)</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'Add/Edit Bibliography': the reference list appears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'Document Preferences': switch Vancouver to APA and back</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[1] becomes (Meyhoff et al., 2022)</a:t>
            </a:r>
          </a:p>
          <a:p>
            <a:pPr marL="0" indent="0" algn="ctr">
              <a:lnSpc>
                <a:spcPct val="104000"/>
              </a:lnSpc>
              <a:spcBef>
                <a:spcPts val="300"/>
              </a:spcBef>
              <a:buNone/>
            </a:pPr>
            <a:r>
              <a:rPr lang="en-US" sz="1500" dirty="0">
                <a:solidFill>
                  <a:srgbClr val="000000"/>
                </a:solidFill>
                <a:latin typeface="Arial"/>
                <a:cs typeface="Arial"/>
              </a:rPr>
              <a:t>The list reformats itself</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full cycle: collect, export, import, cite, 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Citing vs copying: paraphrase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Method: read, close the paper, write from memory, check facts, cite.</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Source (Boulet et al. 2024, abstract)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 swaps ("patchwriting")</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ctr">
              <a:lnSpc>
                <a:spcPct val="104000"/>
              </a:lnSpc>
              <a:spcBef>
                <a:spcPts val="400"/>
              </a:spcBef>
              <a:buNone/>
            </a:pPr>
            <a:r>
              <a:rPr lang="en-US" sz="1650" b="1" dirty="0">
                <a:solidFill>
                  <a:srgbClr val="B23B2E"/>
                </a:solidFill>
                <a:latin typeface="Arial"/>
                <a:cs typeface="Arial"/>
              </a:rPr>
              <a:t>Same structure, same words = plagiarism, even with a reference</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Own words + citation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ctr">
              <a:lnSpc>
                <a:spcPct val="104000"/>
              </a:lnSpc>
              <a:spcBef>
                <a:spcPts val="400"/>
              </a:spcBef>
              <a:buNone/>
            </a:pPr>
            <a:r>
              <a:rPr lang="en-US" sz="1650" b="1" dirty="0">
                <a:solidFill>
                  <a:srgbClr val="2E8B57"/>
                </a:solidFill>
                <a:latin typeface="Arial"/>
                <a:cs typeface="Arial"/>
              </a:rPr>
              <a:t>New structure, adds context, cited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Change the structure as well as the words, and always cite the source.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rules for citing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facts</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Numbers, findings and others' ideas need a citation</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sources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Read and cite the original paper</a:t>
            </a:r>
          </a:p>
          <a:p>
            <a:pPr marL="0" indent="0" algn="ctr">
              <a:lnSpc>
                <a:spcPct val="104000"/>
              </a:lnSpc>
              <a:spcBef>
                <a:spcPts val="400"/>
              </a:spcBef>
              <a:buNone/>
            </a:pPr>
            <a:r>
              <a:rPr lang="en-US" sz="1600" dirty="0">
                <a:solidFill>
                  <a:srgbClr val="000000"/>
                </a:solidFill>
                <a:latin typeface="Arial"/>
                <a:cs typeface="Arial"/>
              </a:rPr>
              <a:t>Not a summary of it</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Own words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Use a new structure</a:t>
            </a:r>
          </a:p>
          <a:p>
            <a:pPr marL="0" indent="0" algn="ctr">
              <a:lnSpc>
                <a:spcPct val="104000"/>
              </a:lnSpc>
              <a:spcBef>
                <a:spcPts val="400"/>
              </a:spcBef>
              <a:buNone/>
            </a:pPr>
            <a:r>
              <a:rPr lang="en-US" sz="1600" dirty="0">
                <a:solidFill>
                  <a:srgbClr val="000000"/>
                </a:solidFill>
                <a:latin typeface="Arial"/>
                <a:cs typeface="Arial"/>
              </a:rPr>
              <a:t>Exact words only in quotation marks</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Check</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Every reference says what you claim it says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Never cite a paper you have not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OK or not OK?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copy a sentence from an abstract, change two words and add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quote one sentence word for word, in quotation marks, with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write a finding in your own words but forget the citation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cite a paper you found quoted in a review, without reading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 each: a thumbs-up (OK) or thumbs-down (not OK) reaction, or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Grey literature, including trial registries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2519200"/>
            <a:ext cx="6035040" cy="2606040"/>
          </a:xfrm>
          <a:prstGeom prst="rect">
            <a:avLst/>
          </a:prstGeom>
          <a:solidFill>
            <a:srgbClr val="DCEBF2"/>
          </a:solidFill>
          <a:ln>
            <a:noFill/>
          </a:ln>
        </p:spPr>
        <p:txBody>
          <a:bodyPr wrap="square" lIns="54864" tIns="54864" rIns="54864" bIns="54864" rtlCol="0" anchor="ctr">
            <a:noAutofit/>
          </a:bodyPr>
          <a:lstStyle/>
          <a:p>
            <a:endParaRPr lang="en-US"/>
          </a:p>
        </p:txBody>
      </p:sp>
      <p:cxnSp>
        <p:nvCxnSpPr>
          <p:cNvPr id="101" name="Line"/>
          <p:cNvCxnSpPr/>
          <p:nvPr/>
        </p:nvCxnSpPr>
        <p:spPr>
          <a:xfrm>
            <a:off x="472440" y="2519200"/>
            <a:ext cx="6035040" cy="0"/>
          </a:xfrm>
          <a:prstGeom prst="straightConnector1">
            <a:avLst/>
          </a:prstGeom>
          <a:ln w="31750" cap="rnd">
            <a:solidFill>
              <a:srgbClr val="0070C0"/>
            </a:solidFill>
            <a:round/>
          </a:ln>
        </p:spPr>
      </p:cxnSp>
      <p:sp>
        <p:nvSpPr>
          <p:cNvPr id="102" name="Box"/>
          <p:cNvSpPr/>
          <p:nvPr/>
        </p:nvSpPr>
        <p:spPr>
          <a:xfrm>
            <a:off x="1935480" y="1284760"/>
            <a:ext cx="3108960" cy="1234440"/>
          </a:xfrm>
          <a:prstGeom prst="trapezoid">
            <a:avLst>
              <a:gd name="adj" fmla="val 124000"/>
            </a:avLst>
          </a:prstGeom>
          <a:solidFill>
            <a:srgbClr val="FFFFFF"/>
          </a:solidFill>
          <a:ln w="25400">
            <a:solidFill>
              <a:srgbClr val="0070C0"/>
            </a:solidFill>
          </a:ln>
        </p:spPr>
        <p:txBody>
          <a:bodyPr wrap="square" lIns="54864" tIns="54864" rIns="54864" bIns="54864" rtlCol="0" anchor="ctr">
            <a:noAutofit/>
          </a:bodyPr>
          <a:lstStyle/>
          <a:p>
            <a:endParaRPr lang="en-US"/>
          </a:p>
        </p:txBody>
      </p:sp>
      <p:sp>
        <p:nvSpPr>
          <p:cNvPr id="103" name="Text"/>
          <p:cNvSpPr/>
          <p:nvPr/>
        </p:nvSpPr>
        <p:spPr>
          <a:xfrm>
            <a:off x="2301240" y="1943128"/>
            <a:ext cx="237744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b="1" dirty="0">
                <a:solidFill>
                  <a:srgbClr val="0B376C"/>
                </a:solidFill>
                <a:latin typeface="Arial"/>
                <a:cs typeface="Arial"/>
              </a:rPr>
              <a:t>Journal articles</a:t>
            </a:r>
          </a:p>
          <a:p>
            <a:pPr marL="0" indent="0" algn="ctr">
              <a:lnSpc>
                <a:spcPct val="100000"/>
              </a:lnSpc>
              <a:buNone/>
            </a:pPr>
            <a:r>
              <a:rPr lang="en-US" sz="1400" b="1" dirty="0">
                <a:solidFill>
                  <a:srgbClr val="0B376C"/>
                </a:solidFill>
                <a:latin typeface="Arial"/>
                <a:cs typeface="Arial"/>
              </a:rPr>
              <a:t>(PubMed)</a:t>
            </a:r>
          </a:p>
        </p:txBody>
      </p:sp>
      <p:sp>
        <p:nvSpPr>
          <p:cNvPr id="104" name="Box"/>
          <p:cNvSpPr/>
          <p:nvPr/>
        </p:nvSpPr>
        <p:spPr>
          <a:xfrm>
            <a:off x="883920" y="2610640"/>
            <a:ext cx="5212080" cy="2423160"/>
          </a:xfrm>
          <a:prstGeom prst="roundRect">
            <a:avLst>
              <a:gd name="adj" fmla="val 30000"/>
            </a:avLst>
          </a:prstGeom>
          <a:solidFill>
            <a:srgbClr val="F4FAFC"/>
          </a:solidFill>
          <a:ln w="25400">
            <a:solidFill>
              <a:srgbClr val="0070C0"/>
            </a:solidFill>
          </a:ln>
        </p:spPr>
        <p:txBody>
          <a:bodyPr wrap="square" lIns="54864" tIns="54864" rIns="54864" bIns="54864" rtlCol="0" anchor="ctr">
            <a:noAutofit/>
          </a:bodyPr>
          <a:lstStyle/>
          <a:p>
            <a:endParaRPr lang="en-US"/>
          </a:p>
        </p:txBody>
      </p:sp>
      <p:sp>
        <p:nvSpPr>
          <p:cNvPr id="105" name="Text"/>
          <p:cNvSpPr/>
          <p:nvPr/>
        </p:nvSpPr>
        <p:spPr>
          <a:xfrm>
            <a:off x="883920" y="2702080"/>
            <a:ext cx="521208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55F56"/>
                </a:solidFill>
                <a:latin typeface="Arial"/>
                <a:cs typeface="Arial"/>
              </a:rPr>
              <a:t>Grey literature</a:t>
            </a:r>
          </a:p>
        </p:txBody>
      </p:sp>
      <p:sp>
        <p:nvSpPr>
          <p:cNvPr id="106" name="Text"/>
          <p:cNvSpPr/>
          <p:nvPr/>
        </p:nvSpPr>
        <p:spPr>
          <a:xfrm>
            <a:off x="1112520" y="3159280"/>
            <a:ext cx="4754880" cy="173736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dirty="0">
                <a:solidFill>
                  <a:srgbClr val="1A1A1A"/>
                </a:solidFill>
                <a:latin typeface="Arial"/>
                <a:cs typeface="Arial"/>
              </a:rPr>
              <a:t>Trial registries (ClinicalTrials.gov, WHO ICTRP)</a:t>
            </a:r>
          </a:p>
          <a:p>
            <a:pPr marL="0" indent="0" algn="ctr">
              <a:lnSpc>
                <a:spcPct val="100000"/>
              </a:lnSpc>
              <a:spcBef>
                <a:spcPts val="500"/>
              </a:spcBef>
              <a:buNone/>
            </a:pPr>
            <a:r>
              <a:rPr lang="en-US" sz="1500" dirty="0">
                <a:solidFill>
                  <a:srgbClr val="1A1A1A"/>
                </a:solidFill>
                <a:latin typeface="Arial"/>
                <a:cs typeface="Arial"/>
              </a:rPr>
              <a:t>Conference abstracts</a:t>
            </a:r>
          </a:p>
          <a:p>
            <a:pPr marL="0" indent="0" algn="ctr">
              <a:lnSpc>
                <a:spcPct val="100000"/>
              </a:lnSpc>
              <a:spcBef>
                <a:spcPts val="500"/>
              </a:spcBef>
              <a:buNone/>
            </a:pPr>
            <a:r>
              <a:rPr lang="en-US" sz="1500" dirty="0">
                <a:solidFill>
                  <a:srgbClr val="1A1A1A"/>
                </a:solidFill>
                <a:latin typeface="Arial"/>
                <a:cs typeface="Arial"/>
              </a:rPr>
              <a:t>Theses and dissertations</a:t>
            </a:r>
          </a:p>
          <a:p>
            <a:pPr marL="0" indent="0" algn="ctr">
              <a:lnSpc>
                <a:spcPct val="100000"/>
              </a:lnSpc>
              <a:spcBef>
                <a:spcPts val="500"/>
              </a:spcBef>
              <a:buNone/>
            </a:pPr>
            <a:r>
              <a:rPr lang="en-US" sz="1500" dirty="0">
                <a:solidFill>
                  <a:srgbClr val="1A1A1A"/>
                </a:solidFill>
                <a:latin typeface="Arial"/>
                <a:cs typeface="Arial"/>
              </a:rPr>
              <a:t>Reports, guidelines, preprints</a:t>
            </a:r>
          </a:p>
        </p:txBody>
      </p:sp>
      <p:sp>
        <p:nvSpPr>
          <p:cNvPr id="107" name="Box"/>
          <p:cNvSpPr/>
          <p:nvPr/>
        </p:nvSpPr>
        <p:spPr>
          <a:xfrm>
            <a:off x="6964680" y="1330480"/>
            <a:ext cx="4754880" cy="160020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Why look below the water?</a:t>
            </a:r>
          </a:p>
          <a:p>
            <a:pPr marL="0" indent="0" algn="ctr">
              <a:lnSpc>
                <a:spcPct val="100000"/>
              </a:lnSpc>
              <a:spcBef>
                <a:spcPts val="300"/>
              </a:spcBef>
              <a:buNone/>
            </a:pPr>
            <a:r>
              <a:rPr lang="en-US" sz="1500" dirty="0">
                <a:solidFill>
                  <a:srgbClr val="1A1A1A"/>
                </a:solidFill>
                <a:latin typeface="Arial"/>
                <a:cs typeface="Arial"/>
              </a:rPr>
              <a:t>Trials with negative results are published less often (publication bias).</a:t>
            </a:r>
          </a:p>
        </p:txBody>
      </p:sp>
      <p:sp>
        <p:nvSpPr>
          <p:cNvPr id="108" name="Box"/>
          <p:cNvSpPr/>
          <p:nvPr/>
        </p:nvSpPr>
        <p:spPr>
          <a:xfrm>
            <a:off x="6964680" y="3159280"/>
            <a:ext cx="4754880" cy="192024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Trial registry</a:t>
            </a:r>
          </a:p>
          <a:p>
            <a:pPr marL="0" indent="0" algn="ctr">
              <a:lnSpc>
                <a:spcPct val="100000"/>
              </a:lnSpc>
              <a:spcBef>
                <a:spcPts val="300"/>
              </a:spcBef>
              <a:buNone/>
            </a:pPr>
            <a:r>
              <a:rPr lang="en-US" sz="1500" dirty="0">
                <a:solidFill>
                  <a:srgbClr val="1A1A1A"/>
                </a:solidFill>
                <a:latin typeface="Arial"/>
                <a:cs typeface="Arial"/>
              </a:rPr>
              <a:t>A public record of a trial, made before the first patient is enrolled.</a:t>
            </a:r>
          </a:p>
          <a:p>
            <a:pPr marL="0" indent="0" algn="ctr">
              <a:lnSpc>
                <a:spcPct val="100000"/>
              </a:lnSpc>
              <a:spcBef>
                <a:spcPts val="300"/>
              </a:spcBef>
              <a:buNone/>
            </a:pPr>
            <a:r>
              <a:rPr lang="en-US" sz="1500" dirty="0">
                <a:solidFill>
                  <a:srgbClr val="1A1A1A"/>
                </a:solidFill>
                <a:latin typeface="Arial"/>
                <a:cs typeface="Arial"/>
              </a:rPr>
              <a:t>Compare its planned primary outcome with the paper.</a:t>
            </a:r>
          </a:p>
          <a:p>
            <a:pPr marL="0" indent="0" algn="ctr">
              <a:lnSpc>
                <a:spcPct val="100000"/>
              </a:lnSpc>
              <a:spcBef>
                <a:spcPts val="300"/>
              </a:spcBef>
              <a:buNone/>
            </a:pPr>
            <a:r>
              <a:rPr lang="en-US" sz="1500" dirty="0">
                <a:solidFill>
                  <a:srgbClr val="1A1A1A"/>
                </a:solidFill>
                <a:latin typeface="Arial"/>
                <a:cs typeface="Arial"/>
              </a:rPr>
              <a:t>Paper 1: NCT04947904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Search below the waterline too: grey literature and trial registries.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Reading a paper in 15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have to read every word. Read the right words in the right order.</a:t>
            </a:r>
          </a:p>
          <a:p>
            <a:pPr marL="0" indent="0" algn="ctr">
              <a:spcBef>
                <a:spcPts val="1200"/>
              </a:spcBef>
              <a:buNone/>
            </a:pPr>
            <a:r>
              <a:rPr lang="en-US" sz="1900" i="1" dirty="0">
                <a:solidFill>
                  <a:srgbClr val="595959"/>
                </a:solidFill>
                <a:latin typeface="Arial"/>
                <a:cs typeface="Arial"/>
              </a:rPr>
              <a:t>40 minutes: anatomy of a paper, reading order, the abstract, spin, and a reading task on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Anatomy of a paper: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655320" y="1239040"/>
            <a:ext cx="3840480" cy="502920"/>
          </a:xfrm>
          <a:prstGeom prst="roundRect">
            <a:avLst>
              <a:gd name="adj" fmla="val 20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Title + abstract</a:t>
            </a:r>
          </a:p>
        </p:txBody>
      </p:sp>
      <p:cxnSp>
        <p:nvCxnSpPr>
          <p:cNvPr id="101" name="Line"/>
          <p:cNvCxnSpPr/>
          <p:nvPr/>
        </p:nvCxnSpPr>
        <p:spPr>
          <a:xfrm>
            <a:off x="4587240" y="1490500"/>
            <a:ext cx="1188720" cy="0"/>
          </a:xfrm>
          <a:prstGeom prst="straightConnector1">
            <a:avLst/>
          </a:prstGeom>
          <a:ln w="25400" cap="rnd">
            <a:solidFill>
              <a:srgbClr val="055F56"/>
            </a:solidFill>
            <a:prstDash val="sysDot"/>
            <a:round/>
          </a:ln>
        </p:spPr>
      </p:cxnSp>
      <p:sp>
        <p:nvSpPr>
          <p:cNvPr id="102" name="Text"/>
          <p:cNvSpPr/>
          <p:nvPr/>
        </p:nvSpPr>
        <p:spPr>
          <a:xfrm>
            <a:off x="5913120" y="1216180"/>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Read first: what is the paper about?</a:t>
            </a:r>
          </a:p>
        </p:txBody>
      </p:sp>
      <p:sp>
        <p:nvSpPr>
          <p:cNvPr id="103" name="Box"/>
          <p:cNvSpPr/>
          <p:nvPr/>
        </p:nvSpPr>
        <p:spPr>
          <a:xfrm>
            <a:off x="655320" y="1815112"/>
            <a:ext cx="3840480" cy="868680"/>
          </a:xfrm>
          <a:prstGeom prst="flowChartManualOperation">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Introduction</a:t>
            </a:r>
          </a:p>
        </p:txBody>
      </p:sp>
      <p:cxnSp>
        <p:nvCxnSpPr>
          <p:cNvPr id="104" name="Line"/>
          <p:cNvCxnSpPr/>
          <p:nvPr/>
        </p:nvCxnSpPr>
        <p:spPr>
          <a:xfrm>
            <a:off x="4139184" y="2249452"/>
            <a:ext cx="1042416" cy="0"/>
          </a:xfrm>
          <a:prstGeom prst="straightConnector1">
            <a:avLst/>
          </a:prstGeom>
          <a:ln w="25400" cap="rnd">
            <a:solidFill>
              <a:srgbClr val="0D7377"/>
            </a:solidFill>
            <a:prstDash val="sysDot"/>
            <a:round/>
          </a:ln>
        </p:spPr>
      </p:cxnSp>
      <p:sp>
        <p:nvSpPr>
          <p:cNvPr id="105" name="Ellipse"/>
          <p:cNvSpPr/>
          <p:nvPr/>
        </p:nvSpPr>
        <p:spPr>
          <a:xfrm>
            <a:off x="5227320" y="2002564"/>
            <a:ext cx="493776" cy="493776"/>
          </a:xfrm>
          <a:prstGeom prst="ellipse">
            <a:avLst/>
          </a:prstGeom>
          <a:solidFill>
            <a:srgbClr val="0D7377"/>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I</a:t>
            </a:r>
          </a:p>
        </p:txBody>
      </p:sp>
      <p:sp>
        <p:nvSpPr>
          <p:cNvPr id="106" name="Text"/>
          <p:cNvSpPr/>
          <p:nvPr/>
        </p:nvSpPr>
        <p:spPr>
          <a:xfrm>
            <a:off x="5913120" y="1975132"/>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Why? Broad to narrow, ends with the question</a:t>
            </a:r>
          </a:p>
        </p:txBody>
      </p:sp>
      <p:sp>
        <p:nvSpPr>
          <p:cNvPr id="107" name="Box"/>
          <p:cNvSpPr/>
          <p:nvPr/>
        </p:nvSpPr>
        <p:spPr>
          <a:xfrm>
            <a:off x="1423416" y="2756944"/>
            <a:ext cx="2304288" cy="685800"/>
          </a:xfrm>
          <a:prstGeom prst="rect">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Methods</a:t>
            </a:r>
          </a:p>
        </p:txBody>
      </p:sp>
      <p:cxnSp>
        <p:nvCxnSpPr>
          <p:cNvPr id="108" name="Line"/>
          <p:cNvCxnSpPr/>
          <p:nvPr/>
        </p:nvCxnSpPr>
        <p:spPr>
          <a:xfrm>
            <a:off x="3819144" y="3099844"/>
            <a:ext cx="1362456" cy="0"/>
          </a:xfrm>
          <a:prstGeom prst="straightConnector1">
            <a:avLst/>
          </a:prstGeom>
          <a:ln w="25400" cap="rnd">
            <a:solidFill>
              <a:srgbClr val="0B376C"/>
            </a:solidFill>
            <a:prstDash val="sysDot"/>
            <a:round/>
          </a:ln>
        </p:spPr>
      </p:cxnSp>
      <p:sp>
        <p:nvSpPr>
          <p:cNvPr id="109" name="Ellipse"/>
          <p:cNvSpPr/>
          <p:nvPr/>
        </p:nvSpPr>
        <p:spPr>
          <a:xfrm>
            <a:off x="5227320" y="2852956"/>
            <a:ext cx="493776" cy="493776"/>
          </a:xfrm>
          <a:prstGeom prst="ellipse">
            <a:avLst/>
          </a:prstGeom>
          <a:solidFill>
            <a:srgbClr val="0B376C"/>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M</a:t>
            </a:r>
          </a:p>
        </p:txBody>
      </p:sp>
      <p:sp>
        <p:nvSpPr>
          <p:cNvPr id="110" name="Text"/>
          <p:cNvSpPr/>
          <p:nvPr/>
        </p:nvSpPr>
        <p:spPr>
          <a:xfrm>
            <a:off x="5913120" y="2825524"/>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was done? Enough detail to repeat it</a:t>
            </a:r>
          </a:p>
        </p:txBody>
      </p:sp>
      <p:sp>
        <p:nvSpPr>
          <p:cNvPr id="111" name="Box"/>
          <p:cNvSpPr/>
          <p:nvPr/>
        </p:nvSpPr>
        <p:spPr>
          <a:xfrm>
            <a:off x="1423416" y="3515896"/>
            <a:ext cx="2304288" cy="685800"/>
          </a:xfrm>
          <a:prstGeom prst="rect">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Results</a:t>
            </a:r>
          </a:p>
        </p:txBody>
      </p:sp>
      <p:cxnSp>
        <p:nvCxnSpPr>
          <p:cNvPr id="112" name="Line"/>
          <p:cNvCxnSpPr/>
          <p:nvPr/>
        </p:nvCxnSpPr>
        <p:spPr>
          <a:xfrm>
            <a:off x="3819144" y="3858796"/>
            <a:ext cx="1362456" cy="0"/>
          </a:xfrm>
          <a:prstGeom prst="straightConnector1">
            <a:avLst/>
          </a:prstGeom>
          <a:ln w="25400" cap="rnd">
            <a:solidFill>
              <a:srgbClr val="0070C0"/>
            </a:solidFill>
            <a:prstDash val="sysDot"/>
            <a:round/>
          </a:ln>
        </p:spPr>
      </p:cxnSp>
      <p:sp>
        <p:nvSpPr>
          <p:cNvPr id="113" name="Ellipse"/>
          <p:cNvSpPr/>
          <p:nvPr/>
        </p:nvSpPr>
        <p:spPr>
          <a:xfrm>
            <a:off x="5227320" y="3611908"/>
            <a:ext cx="493776" cy="493776"/>
          </a:xfrm>
          <a:prstGeom prst="ellipse">
            <a:avLst/>
          </a:prstGeom>
          <a:solidFill>
            <a:srgbClr val="0070C0"/>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R</a:t>
            </a:r>
          </a:p>
        </p:txBody>
      </p:sp>
      <p:sp>
        <p:nvSpPr>
          <p:cNvPr id="114" name="Text"/>
          <p:cNvSpPr/>
          <p:nvPr/>
        </p:nvSpPr>
        <p:spPr>
          <a:xfrm>
            <a:off x="5913120" y="3584476"/>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was found? Numbers, no opinions</a:t>
            </a:r>
          </a:p>
        </p:txBody>
      </p:sp>
      <p:sp>
        <p:nvSpPr>
          <p:cNvPr id="115" name="Box"/>
          <p:cNvSpPr/>
          <p:nvPr/>
        </p:nvSpPr>
        <p:spPr>
          <a:xfrm>
            <a:off x="655320" y="4274848"/>
            <a:ext cx="3840480" cy="868680"/>
          </a:xfrm>
          <a:prstGeom prst="trapezoid">
            <a:avLst>
              <a:gd name="adj" fmla="val 88421"/>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Discussion</a:t>
            </a:r>
          </a:p>
        </p:txBody>
      </p:sp>
      <p:cxnSp>
        <p:nvCxnSpPr>
          <p:cNvPr id="116" name="Line"/>
          <p:cNvCxnSpPr/>
          <p:nvPr/>
        </p:nvCxnSpPr>
        <p:spPr>
          <a:xfrm>
            <a:off x="4139184" y="4709188"/>
            <a:ext cx="1042416" cy="0"/>
          </a:xfrm>
          <a:prstGeom prst="straightConnector1">
            <a:avLst/>
          </a:prstGeom>
          <a:ln w="25400" cap="rnd">
            <a:solidFill>
              <a:srgbClr val="5FA39B"/>
            </a:solidFill>
            <a:prstDash val="sysDot"/>
            <a:round/>
          </a:ln>
        </p:spPr>
      </p:cxnSp>
      <p:sp>
        <p:nvSpPr>
          <p:cNvPr id="117" name="Ellipse"/>
          <p:cNvSpPr/>
          <p:nvPr/>
        </p:nvSpPr>
        <p:spPr>
          <a:xfrm>
            <a:off x="5227320" y="4462300"/>
            <a:ext cx="493776" cy="493776"/>
          </a:xfrm>
          <a:prstGeom prst="ellipse">
            <a:avLst/>
          </a:prstGeom>
          <a:solidFill>
            <a:srgbClr val="5FA39B"/>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D</a:t>
            </a:r>
          </a:p>
        </p:txBody>
      </p:sp>
      <p:sp>
        <p:nvSpPr>
          <p:cNvPr id="118" name="Text"/>
          <p:cNvSpPr/>
          <p:nvPr/>
        </p:nvSpPr>
        <p:spPr>
          <a:xfrm>
            <a:off x="5913120" y="4434868"/>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does it mean? Narrow to broad, limitations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original paper has the same shape: why, how, what, so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15-minute reading order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Stop after step 1 or 2 if it does not answer your question. Total: about 15 minutes.</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Title</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30 s</a:t>
            </a:r>
          </a:p>
          <a:p>
            <a:pPr marL="0" indent="0" algn="ctr">
              <a:lnSpc>
                <a:spcPct val="104000"/>
              </a:lnSpc>
              <a:spcBef>
                <a:spcPts val="200"/>
              </a:spcBef>
              <a:buNone/>
            </a:pPr>
            <a:r>
              <a:rPr lang="en-US" sz="1650" dirty="0">
                <a:solidFill>
                  <a:srgbClr val="000000"/>
                </a:solidFill>
                <a:latin typeface="Arial"/>
                <a:cs typeface="Arial"/>
              </a:rPr>
              <a:t>Relevant to my question?</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Abstract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 min</a:t>
            </a:r>
          </a:p>
          <a:p>
            <a:pPr marL="0" indent="0" algn="ctr">
              <a:lnSpc>
                <a:spcPct val="104000"/>
              </a:lnSpc>
              <a:spcBef>
                <a:spcPts val="200"/>
              </a:spcBef>
              <a:buNone/>
            </a:pPr>
            <a:r>
              <a:rPr lang="en-US" sz="1650" dirty="0">
                <a:solidFill>
                  <a:srgbClr val="000000"/>
                </a:solidFill>
                <a:latin typeface="Arial"/>
                <a:cs typeface="Arial"/>
              </a:rPr>
              <a:t>PICO, design, main result</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Figures and tables</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4 min</a:t>
            </a:r>
          </a:p>
          <a:p>
            <a:pPr marL="0" indent="0" algn="ctr">
              <a:lnSpc>
                <a:spcPct val="104000"/>
              </a:lnSpc>
              <a:spcBef>
                <a:spcPts val="200"/>
              </a:spcBef>
              <a:buNone/>
            </a:pPr>
            <a:r>
              <a:rPr lang="en-US" sz="1650" dirty="0">
                <a:solidFill>
                  <a:srgbClr val="000000"/>
                </a:solidFill>
                <a:latin typeface="Arial"/>
                <a:cs typeface="Arial"/>
              </a:rPr>
              <a:t>Flow chart, Table 1, main result table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Methods</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5 min</a:t>
            </a:r>
          </a:p>
          <a:p>
            <a:pPr marL="0" indent="0" algn="ctr">
              <a:lnSpc>
                <a:spcPct val="104000"/>
              </a:lnSpc>
              <a:spcBef>
                <a:spcPts val="200"/>
              </a:spcBef>
              <a:buNone/>
            </a:pPr>
            <a:r>
              <a:rPr lang="en-US" sz="1650" dirty="0">
                <a:solidFill>
                  <a:srgbClr val="000000"/>
                </a:solidFill>
                <a:latin typeface="Arial"/>
                <a:cs typeface="Arial"/>
              </a:rPr>
              <a:t>Who, how chosen, primary outcome, bias protection</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2-3 min</a:t>
            </a:r>
          </a:p>
          <a:p>
            <a:pPr marL="0" indent="0" algn="ctr">
              <a:lnSpc>
                <a:spcPct val="104000"/>
              </a:lnSpc>
              <a:spcBef>
                <a:spcPts val="200"/>
              </a:spcBef>
              <a:buNone/>
            </a:pPr>
            <a:r>
              <a:rPr lang="en-US" sz="1650" dirty="0">
                <a:solidFill>
                  <a:srgbClr val="000000"/>
                </a:solidFill>
                <a:latin typeface="Arial"/>
                <a:cs typeface="Arial"/>
              </a:rPr>
              <a:t>Limitations. Do conclusions match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Title, abstract, figures and tables, methods. Stop early if it is not relevant.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an abstract must contain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What it must contain</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Background</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The problem and the aim (1-2 sentences)</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Methods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Design, setting, participants, intervention/exposure, comparison, primary outcome</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Results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Numbers screened and analysed, primary result as effect size + 95% CI (+ p), key harms</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Conclusions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Answer to the primary question, no more</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Registration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Trial registry number (for trials)</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Usually 250-300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abstract lets you write the PICO and the main result without opening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results sentence: poor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Illustrative numbers. Ask of every abstract: how big, how sure, by when?</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Poor results sentence</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"Mortality was significantly lower in the intervention group (p &lt; 0.05)."</a:t>
            </a:r>
          </a:p>
          <a:p>
            <a:pPr marL="0" indent="0" algn="ctr">
              <a:lnSpc>
                <a:spcPct val="104000"/>
              </a:lnSpc>
              <a:spcBef>
                <a:spcPts val="400"/>
              </a:spcBef>
              <a:buNone/>
            </a:pPr>
            <a:r>
              <a:rPr lang="en-US" sz="1750" dirty="0">
                <a:solidFill>
                  <a:srgbClr val="000000"/>
                </a:solidFill>
                <a:latin typeface="Arial"/>
                <a:cs typeface="Arial"/>
              </a:rPr>
              <a:t>No numbers per group</a:t>
            </a:r>
          </a:p>
          <a:p>
            <a:pPr marL="0" indent="0" algn="ctr">
              <a:lnSpc>
                <a:spcPct val="104000"/>
              </a:lnSpc>
              <a:spcBef>
                <a:spcPts val="400"/>
              </a:spcBef>
              <a:buNone/>
            </a:pPr>
            <a:r>
              <a:rPr lang="en-US" sz="1750" dirty="0">
                <a:solidFill>
                  <a:srgbClr val="000000"/>
                </a:solidFill>
                <a:latin typeface="Arial"/>
                <a:cs typeface="Arial"/>
              </a:rPr>
              <a:t>No effect size</a:t>
            </a:r>
          </a:p>
          <a:p>
            <a:pPr marL="0" indent="0" algn="ctr">
              <a:lnSpc>
                <a:spcPct val="104000"/>
              </a:lnSpc>
              <a:spcBef>
                <a:spcPts val="400"/>
              </a:spcBef>
              <a:buNone/>
            </a:pPr>
            <a:r>
              <a:rPr lang="en-US" sz="1750" dirty="0">
                <a:solidFill>
                  <a:srgbClr val="000000"/>
                </a:solidFill>
                <a:latin typeface="Arial"/>
                <a:cs typeface="Arial"/>
              </a:rPr>
              <a:t>No 95% CI</a:t>
            </a:r>
          </a:p>
          <a:p>
            <a:pPr marL="0" indent="0" algn="ctr">
              <a:lnSpc>
                <a:spcPct val="104000"/>
              </a:lnSpc>
              <a:spcBef>
                <a:spcPts val="400"/>
              </a:spcBef>
              <a:buNone/>
            </a:pPr>
            <a:r>
              <a:rPr lang="en-US" sz="1750" dirty="0">
                <a:solidFill>
                  <a:srgbClr val="000000"/>
                </a:solidFill>
                <a:latin typeface="Arial"/>
                <a:cs typeface="Arial"/>
              </a:rPr>
              <a:t>No time point</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results sentence</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"28-day mortality was 30% with restriction vs 38% with usual care (risk difference -8 percentage points, 95% CI -15 to -1)."</a:t>
            </a:r>
          </a:p>
          <a:p>
            <a:pPr marL="0" indent="0" algn="ctr">
              <a:lnSpc>
                <a:spcPct val="104000"/>
              </a:lnSpc>
              <a:spcBef>
                <a:spcPts val="400"/>
              </a:spcBef>
              <a:buNone/>
            </a:pPr>
            <a:r>
              <a:rPr lang="en-US" sz="1750" dirty="0">
                <a:solidFill>
                  <a:srgbClr val="000000"/>
                </a:solidFill>
                <a:latin typeface="Arial"/>
                <a:cs typeface="Arial"/>
              </a:rPr>
              <a:t>Numbers per group</a:t>
            </a:r>
          </a:p>
          <a:p>
            <a:pPr marL="0" indent="0" algn="ctr">
              <a:lnSpc>
                <a:spcPct val="104000"/>
              </a:lnSpc>
              <a:spcBef>
                <a:spcPts val="400"/>
              </a:spcBef>
              <a:buNone/>
            </a:pPr>
            <a:r>
              <a:rPr lang="en-US" sz="1750" dirty="0">
                <a:solidFill>
                  <a:srgbClr val="000000"/>
                </a:solidFill>
                <a:latin typeface="Arial"/>
                <a:cs typeface="Arial"/>
              </a:rPr>
              <a:t>Effect size</a:t>
            </a:r>
          </a:p>
          <a:p>
            <a:pPr marL="0" indent="0" algn="ctr">
              <a:lnSpc>
                <a:spcPct val="104000"/>
              </a:lnSpc>
              <a:spcBef>
                <a:spcPts val="400"/>
              </a:spcBef>
              <a:buNone/>
            </a:pPr>
            <a:r>
              <a:rPr lang="en-US" sz="1750" dirty="0">
                <a:solidFill>
                  <a:srgbClr val="000000"/>
                </a:solidFill>
                <a:latin typeface="Arial"/>
                <a:cs typeface="Arial"/>
              </a:rPr>
              <a:t>95% CI</a:t>
            </a:r>
          </a:p>
          <a:p>
            <a:pPr marL="0" indent="0" algn="ctr">
              <a:lnSpc>
                <a:spcPct val="104000"/>
              </a:lnSpc>
              <a:spcBef>
                <a:spcPts val="400"/>
              </a:spcBef>
              <a:buNone/>
            </a:pPr>
            <a:r>
              <a:rPr lang="en-US" sz="1750" dirty="0">
                <a:solidFill>
                  <a:srgbClr val="000000"/>
                </a:solidFill>
                <a:latin typeface="Arial"/>
                <a:cs typeface="Arial"/>
              </a:rPr>
              <a:t>Time point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main result needs: numbers per group, an effect size, a 95% CI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Spin: when words go beyond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What the data say</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What the words say (spin)</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Seen in</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p-value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"a non-significant trend"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Paper 1, Discussion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Outcomes</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Primary outcome: no difference</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Headline = a positive secondary outcome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Design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Observational association</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"Impact of...", "reduces"</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Paper 2, title</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Comparison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No between-group test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"Patients improved" (before vs after only)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numbers first, then check whether the words match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spin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cohort study: 'A positive fluid balance increases deaths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Primary outcome p = 0.31: 'a promising trend towards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primary outcome shows no difference, but the abstract headline says 'improved patient satisfaction'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'Mortality fell from 30% to 22% after our new fluid protocol' (no control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 each, we call on 2-3 people, microphone on: what is the spin, and how would you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read Paper 1's abstract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Paper 1 (Boulet 2024, Crit Care): the abstract is on page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Fill the reading grid (Exercise 3): design,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Primary outcome, numbers screened and analysed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Main result with its 95% CI and p-value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Does the conclusion match the result? Any spin?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Type your primary outcome and main result in the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Clock</a:t>
            </a:r>
          </a:p>
          <a:p>
            <a:pPr marL="0" indent="0" algn="ctr">
              <a:lnSpc>
                <a:spcPct val="104000"/>
              </a:lnSpc>
              <a:spcBef>
                <a:spcPts val="300"/>
              </a:spcBef>
              <a:buNone/>
            </a:pPr>
            <a:r>
              <a:rPr lang="en-US" sz="1500" dirty="0">
                <a:solidFill>
                  <a:srgbClr val="000000"/>
                </a:solidFill>
                <a:latin typeface="Arial"/>
                <a:cs typeface="Arial"/>
              </a:rPr>
              <a:t>8 minutes reading alone</a:t>
            </a:r>
          </a:p>
          <a:p>
            <a:pPr marL="0" indent="0" algn="ctr">
              <a:lnSpc>
                <a:spcPct val="104000"/>
              </a:lnSpc>
              <a:spcBef>
                <a:spcPts val="300"/>
              </a:spcBef>
              <a:buNone/>
            </a:pPr>
            <a:r>
              <a:rPr lang="en-US" sz="1500" dirty="0">
                <a:solidFill>
                  <a:srgbClr val="000000"/>
                </a:solidFill>
                <a:latin typeface="Arial"/>
                <a:cs typeface="Arial"/>
              </a:rPr>
              <a:t>4 minutes checking in the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A completed abstract reading grid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Paper 1's abstract: the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Abstract item</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What Paper 1 reports</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Design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Pilot RCT, single-blind (patients and statisticians), 3 ICUs</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Adults 18-85 y, septic shock, first 24 h of vasopressors</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Restrict maintenance and drug-dilution fluids (7 days) vs standard</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Primary outcome</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Cumulative fluid balance at day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Numbers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1,201 screened, 50 randomised, 48 analysed (24 per group)</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Main result</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Median 6.9 vs 35.0 ml/kg. Difference 13.2 (95% CI -15.2 to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Conclusion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Did not reduce fluid balance at day 5 (matches the result)</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Registration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Primary outcome: fluid balance, not mortality. Read what the study actually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From literature to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The papers you read become the first page of your proposal.</a:t>
            </a:r>
          </a:p>
          <a:p>
            <a:pPr marL="0" indent="0" algn="ctr">
              <a:spcBef>
                <a:spcPts val="1200"/>
              </a:spcBef>
              <a:buNone/>
            </a:pPr>
            <a:r>
              <a:rPr lang="en-US" sz="1900" i="1" dirty="0">
                <a:solidFill>
                  <a:srgbClr val="595959"/>
                </a:solidFill>
                <a:latin typeface="Arial"/>
                <a:cs typeface="Arial"/>
              </a:rPr>
              <a:t>15 minutes: the literature review worksheet, the problem-statement funnel, a model problem statement, working title and keywords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literature review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0977"/>
          <a:ext cx="11277600" cy="3407069"/>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629598">
                <a:tc>
                  <a:txBody>
                    <a:bodyPr/>
                    <a:lstStyle/>
                    <a:p>
                      <a:pPr algn="l"/>
                      <a:r>
                        <a:rPr lang="en-US" sz="1700" b="1" dirty="0">
                          <a:solidFill>
                            <a:srgbClr val="FFFFFF"/>
                          </a:solidFill>
                          <a:latin typeface="Arial"/>
                          <a:cs typeface="Arial"/>
                        </a:rPr>
                        <a:t>Study</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Design, size</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Compared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Primary outcome: result</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Key limitation</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Pilot RCT, 3 ICUs,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Restrict hidden fluids vs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Fluid balance at day 5: no significant difference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Small, not powered for mortality</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Matched cohort, registry, 20 hospitals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Positive vs negative fluid balance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28-day death higher if positive by day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Observational: confounding possible</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Large RCT (CLASSIC), n = 1,554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Restrictive vs standard IV fluid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90-day death 42.3% vs 42.1%: no difference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Clinicians not blinded</a:t>
                      </a:r>
                    </a:p>
                  </a:txBody>
                  <a:tcPr marL="73152" marR="73152" marT="45720" marB="45720" anchor="ctr">
                    <a:solidFill>
                      <a:srgbClr val="FFFFFF"/>
                    </a:solidFill>
                  </a:tcPr>
                </a:tc>
              </a:tr>
              <a:tr h="370519">
                <a:tc>
                  <a:txBody>
                    <a:bodyPr/>
                    <a:lstStyle/>
                    <a:p>
                      <a:pPr algn="l"/>
                      <a:r>
                        <a:rPr lang="en-US" sz="1700" b="1" dirty="0">
                          <a:solidFill>
                            <a:srgbClr val="595959"/>
                          </a:solidFill>
                          <a:latin typeface="Arial"/>
                          <a:cs typeface="Arial"/>
                        </a:rPr>
                        <a:t>Your paper 4</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row per paper: 5 rows today, the same columns for every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literature to your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7315200" cy="1005840"/>
          </a:xfrm>
          <a:prstGeom prst="roundRect">
            <a:avLst>
              <a:gd name="adj" fmla="val 15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What is known</a:t>
            </a:r>
          </a:p>
          <a:p>
            <a:pPr marL="0" indent="0" algn="ctr">
              <a:lnSpc>
                <a:spcPct val="100000"/>
              </a:lnSpc>
              <a:spcBef>
                <a:spcPts val="300"/>
              </a:spcBef>
              <a:buNone/>
            </a:pPr>
            <a:r>
              <a:rPr lang="en-US" sz="1500" dirty="0">
                <a:solidFill>
                  <a:srgbClr val="FFFFFF"/>
                </a:solidFill>
                <a:latin typeface="Arial"/>
                <a:cs typeface="Arial"/>
              </a:rPr>
              <a:t>The problem and current practice, with references</a:t>
            </a:r>
          </a:p>
        </p:txBody>
      </p:sp>
      <p:cxnSp>
        <p:nvCxnSpPr>
          <p:cNvPr id="101" name="Arrow"/>
          <p:cNvCxnSpPr/>
          <p:nvPr/>
        </p:nvCxnSpPr>
        <p:spPr>
          <a:xfrm>
            <a:off x="4130040" y="2318032"/>
            <a:ext cx="0" cy="265176"/>
          </a:xfrm>
          <a:prstGeom prst="straightConnector1">
            <a:avLst/>
          </a:prstGeom>
          <a:ln w="38100" cap="rnd">
            <a:solidFill>
              <a:srgbClr val="8A99A3"/>
            </a:solidFill>
            <a:round/>
            <a:tailEnd type="triangle" w="med" len="med"/>
          </a:ln>
        </p:spPr>
      </p:cxnSp>
      <p:sp>
        <p:nvSpPr>
          <p:cNvPr id="102" name="Box"/>
          <p:cNvSpPr/>
          <p:nvPr/>
        </p:nvSpPr>
        <p:spPr>
          <a:xfrm>
            <a:off x="1066800" y="2610640"/>
            <a:ext cx="6126480" cy="1005840"/>
          </a:xfrm>
          <a:prstGeom prst="roundRect">
            <a:avLst>
              <a:gd name="adj" fmla="val 15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What is not known</a:t>
            </a:r>
          </a:p>
          <a:p>
            <a:pPr marL="0" indent="0" algn="ctr">
              <a:lnSpc>
                <a:spcPct val="100000"/>
              </a:lnSpc>
              <a:spcBef>
                <a:spcPts val="300"/>
              </a:spcBef>
              <a:buNone/>
            </a:pPr>
            <a:r>
              <a:rPr lang="en-US" sz="1500" dirty="0">
                <a:solidFill>
                  <a:srgbClr val="FFFFFF"/>
                </a:solidFill>
                <a:latin typeface="Arial"/>
                <a:cs typeface="Arial"/>
              </a:rPr>
              <a:t>The gap: studies disagree, are too small or did not measure it</a:t>
            </a:r>
          </a:p>
        </p:txBody>
      </p:sp>
      <p:cxnSp>
        <p:nvCxnSpPr>
          <p:cNvPr id="103" name="Arrow"/>
          <p:cNvCxnSpPr/>
          <p:nvPr/>
        </p:nvCxnSpPr>
        <p:spPr>
          <a:xfrm>
            <a:off x="4130040" y="3643912"/>
            <a:ext cx="0" cy="265176"/>
          </a:xfrm>
          <a:prstGeom prst="straightConnector1">
            <a:avLst/>
          </a:prstGeom>
          <a:ln w="38100" cap="rnd">
            <a:solidFill>
              <a:srgbClr val="8A99A3"/>
            </a:solidFill>
            <a:round/>
            <a:tailEnd type="triangle" w="med" len="med"/>
          </a:ln>
        </p:spPr>
      </p:cxnSp>
      <p:sp>
        <p:nvSpPr>
          <p:cNvPr id="104" name="Box"/>
          <p:cNvSpPr/>
          <p:nvPr/>
        </p:nvSpPr>
        <p:spPr>
          <a:xfrm>
            <a:off x="1661160" y="3936520"/>
            <a:ext cx="4937760" cy="1005840"/>
          </a:xfrm>
          <a:prstGeom prst="roundRect">
            <a:avLst>
              <a:gd name="adj" fmla="val 15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Question and objectives</a:t>
            </a:r>
          </a:p>
          <a:p>
            <a:pPr marL="0" indent="0" algn="ctr">
              <a:lnSpc>
                <a:spcPct val="100000"/>
              </a:lnSpc>
              <a:spcBef>
                <a:spcPts val="300"/>
              </a:spcBef>
              <a:buNone/>
            </a:pPr>
            <a:r>
              <a:rPr lang="en-US" sz="1500" dirty="0">
                <a:solidFill>
                  <a:srgbClr val="FFFFFF"/>
                </a:solidFill>
                <a:latin typeface="Arial"/>
                <a:cs typeface="Arial"/>
              </a:rPr>
              <a:t>Your PICO question, aim and objectives</a:t>
            </a:r>
          </a:p>
        </p:txBody>
      </p:sp>
      <p:sp>
        <p:nvSpPr>
          <p:cNvPr id="105" name="Box"/>
          <p:cNvSpPr/>
          <p:nvPr/>
        </p:nvSpPr>
        <p:spPr>
          <a:xfrm>
            <a:off x="8427720" y="1284760"/>
            <a:ext cx="3291840" cy="1737360"/>
          </a:xfrm>
          <a:prstGeom prst="roundRect">
            <a:avLst>
              <a:gd name="adj" fmla="val 8000"/>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b="1" dirty="0">
                <a:solidFill>
                  <a:srgbClr val="055F56"/>
                </a:solidFill>
                <a:latin typeface="Arial"/>
                <a:cs typeface="Arial"/>
              </a:rPr>
              <a:t>Introduction</a:t>
            </a:r>
          </a:p>
          <a:p>
            <a:pPr marL="0" indent="0" algn="ctr">
              <a:lnSpc>
                <a:spcPct val="100000"/>
              </a:lnSpc>
              <a:spcBef>
                <a:spcPts val="300"/>
              </a:spcBef>
              <a:buNone/>
            </a:pPr>
            <a:r>
              <a:rPr lang="en-US" sz="1600" dirty="0">
                <a:solidFill>
                  <a:srgbClr val="1A1A1A"/>
                </a:solidFill>
                <a:latin typeface="Arial"/>
                <a:cs typeface="Arial"/>
              </a:rPr>
              <a:t>3 short paragraphs</a:t>
            </a:r>
          </a:p>
          <a:p>
            <a:pPr marL="0" indent="0" algn="ctr">
              <a:lnSpc>
                <a:spcPct val="100000"/>
              </a:lnSpc>
              <a:spcBef>
                <a:spcPts val="300"/>
              </a:spcBef>
              <a:buNone/>
            </a:pPr>
            <a:r>
              <a:rPr lang="en-US" sz="1600" dirty="0">
                <a:solidFill>
                  <a:srgbClr val="1A1A1A"/>
                </a:solidFill>
                <a:latin typeface="Arial"/>
                <a:cs typeface="Arial"/>
              </a:rPr>
              <a:t>About 300 words</a:t>
            </a:r>
          </a:p>
          <a:p>
            <a:pPr marL="0" indent="0" algn="ctr">
              <a:lnSpc>
                <a:spcPct val="100000"/>
              </a:lnSpc>
              <a:spcBef>
                <a:spcPts val="300"/>
              </a:spcBef>
              <a:buNone/>
            </a:pPr>
            <a:r>
              <a:rPr lang="en-US" sz="1600" dirty="0">
                <a:solidFill>
                  <a:srgbClr val="1A1A1A"/>
                </a:solidFill>
                <a:latin typeface="Arial"/>
                <a:cs typeface="Arial"/>
              </a:rPr>
              <a:t>A reference for every fact</a:t>
            </a:r>
          </a:p>
        </p:txBody>
      </p:sp>
      <p:sp>
        <p:nvSpPr>
          <p:cNvPr id="106" name="Box"/>
          <p:cNvSpPr/>
          <p:nvPr/>
        </p:nvSpPr>
        <p:spPr>
          <a:xfrm>
            <a:off x="8427720" y="3250720"/>
            <a:ext cx="3291840" cy="1874520"/>
          </a:xfrm>
          <a:prstGeom prst="roundRect">
            <a:avLst>
              <a:gd name="adj" fmla="val 8000"/>
            </a:avLst>
          </a:prstGeom>
          <a:solidFill>
            <a:srgbClr val="FFFFFF"/>
          </a:solidFill>
          <a:ln w="25400">
            <a:solidFill>
              <a:srgbClr val="D9822B"/>
            </a:solidFill>
          </a:ln>
        </p:spPr>
        <p:txBody>
          <a:bodyPr wrap="square" lIns="109728" tIns="109728" rIns="109728" bIns="109728" rtlCol="0" anchor="ctr">
            <a:noAutofit/>
          </a:bodyPr>
          <a:lstStyle/>
          <a:p>
            <a:pPr marL="0" indent="0" algn="ctr">
              <a:lnSpc>
                <a:spcPct val="100000"/>
              </a:lnSpc>
              <a:buNone/>
            </a:pPr>
            <a:r>
              <a:rPr lang="en-US" sz="1600" b="1" dirty="0">
                <a:solidFill>
                  <a:srgbClr val="D9822B"/>
                </a:solidFill>
                <a:latin typeface="Arial"/>
                <a:cs typeface="Arial"/>
              </a:rPr>
              <a:t>Not in the Introduction</a:t>
            </a:r>
          </a:p>
          <a:p>
            <a:pPr marL="0" indent="0" algn="ctr">
              <a:lnSpc>
                <a:spcPct val="100000"/>
              </a:lnSpc>
              <a:spcBef>
                <a:spcPts val="300"/>
              </a:spcBef>
              <a:buNone/>
            </a:pPr>
            <a:r>
              <a:rPr lang="en-US" sz="1600" dirty="0">
                <a:solidFill>
                  <a:srgbClr val="1A1A1A"/>
                </a:solidFill>
                <a:latin typeface="Arial"/>
                <a:cs typeface="Arial"/>
              </a:rPr>
              <a:t>Your own data or results</a:t>
            </a:r>
          </a:p>
          <a:p>
            <a:pPr marL="0" indent="0" algn="ctr">
              <a:lnSpc>
                <a:spcPct val="100000"/>
              </a:lnSpc>
              <a:spcBef>
                <a:spcPts val="300"/>
              </a:spcBef>
              <a:buNone/>
            </a:pPr>
            <a:r>
              <a:rPr lang="en-US" sz="1600" dirty="0">
                <a:solidFill>
                  <a:srgbClr val="1A1A1A"/>
                </a:solidFill>
                <a:latin typeface="Arial"/>
                <a:cs typeface="Arial"/>
              </a:rPr>
              <a:t>Local figures only if they are published, with a reference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then not known, then the question and objectives.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model problem statement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2468880" cy="11430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1</a:t>
            </a:r>
          </a:p>
          <a:p>
            <a:pPr marL="0" indent="0" algn="ctr">
              <a:lnSpc>
                <a:spcPct val="100000"/>
              </a:lnSpc>
              <a:spcBef>
                <a:spcPts val="100"/>
              </a:spcBef>
              <a:buNone/>
            </a:pPr>
            <a:r>
              <a:rPr lang="en-US" sz="1700" b="1" dirty="0">
                <a:solidFill>
                  <a:srgbClr val="FFFFFF"/>
                </a:solidFill>
                <a:latin typeface="Arial"/>
                <a:cs typeface="Arial"/>
              </a:rPr>
              <a:t>What is known</a:t>
            </a:r>
          </a:p>
        </p:txBody>
      </p:sp>
      <p:sp>
        <p:nvSpPr>
          <p:cNvPr id="101" name="Box"/>
          <p:cNvSpPr/>
          <p:nvPr/>
        </p:nvSpPr>
        <p:spPr>
          <a:xfrm>
            <a:off x="3078480" y="128476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Septic shock is a leading cause of death in the ICU. Early fluids restore perfusion, but continued fluids often cause a positive fluid balance, which cohort studies link to higher mortality [2].</a:t>
            </a:r>
          </a:p>
        </p:txBody>
      </p:sp>
      <p:sp>
        <p:nvSpPr>
          <p:cNvPr id="102" name="Box"/>
          <p:cNvSpPr/>
          <p:nvPr/>
        </p:nvSpPr>
        <p:spPr>
          <a:xfrm>
            <a:off x="472440" y="2610640"/>
            <a:ext cx="2468880" cy="11430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2</a:t>
            </a:r>
          </a:p>
          <a:p>
            <a:pPr marL="0" indent="0" algn="ctr">
              <a:lnSpc>
                <a:spcPct val="100000"/>
              </a:lnSpc>
              <a:spcBef>
                <a:spcPts val="100"/>
              </a:spcBef>
              <a:buNone/>
            </a:pPr>
            <a:r>
              <a:rPr lang="en-US" sz="1700" b="1" dirty="0">
                <a:solidFill>
                  <a:srgbClr val="FFFFFF"/>
                </a:solidFill>
                <a:latin typeface="Arial"/>
                <a:cs typeface="Arial"/>
              </a:rPr>
              <a:t>What is not known</a:t>
            </a:r>
          </a:p>
        </p:txBody>
      </p:sp>
      <p:sp>
        <p:nvSpPr>
          <p:cNvPr id="103" name="Box"/>
          <p:cNvSpPr/>
          <p:nvPr/>
        </p:nvSpPr>
        <p:spPr>
          <a:xfrm>
            <a:off x="3078480" y="261064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Large trials of restrictive fluids found no difference in mortality [3, 4], and a pilot trial targeting hidden fluids did not significantly reduce fluid balance [1]. Whether restriction reliably reduces fluid balance is still unclear.</a:t>
            </a:r>
          </a:p>
        </p:txBody>
      </p:sp>
      <p:sp>
        <p:nvSpPr>
          <p:cNvPr id="104" name="Box"/>
          <p:cNvSpPr/>
          <p:nvPr/>
        </p:nvSpPr>
        <p:spPr>
          <a:xfrm>
            <a:off x="472440" y="3936520"/>
            <a:ext cx="2468880" cy="114300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3</a:t>
            </a:r>
          </a:p>
          <a:p>
            <a:pPr marL="0" indent="0" algn="ctr">
              <a:lnSpc>
                <a:spcPct val="100000"/>
              </a:lnSpc>
              <a:spcBef>
                <a:spcPts val="100"/>
              </a:spcBef>
              <a:buNone/>
            </a:pPr>
            <a:r>
              <a:rPr lang="en-US" sz="1700" b="1" dirty="0">
                <a:solidFill>
                  <a:srgbClr val="FFFFFF"/>
                </a:solidFill>
                <a:latin typeface="Arial"/>
                <a:cs typeface="Arial"/>
              </a:rPr>
              <a:t>Question and objectives</a:t>
            </a:r>
          </a:p>
        </p:txBody>
      </p:sp>
      <p:sp>
        <p:nvSpPr>
          <p:cNvPr id="105" name="Box"/>
          <p:cNvSpPr/>
          <p:nvPr/>
        </p:nvSpPr>
        <p:spPr>
          <a:xfrm>
            <a:off x="3078480" y="393652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We therefore ask whether, in adults with septic shock, a restrictive fluid protocol reduces fluid balance at day 5 compared with usual care. Primary objective: to compare day-5 fluid balance between the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short paragraphs, one job each, and a reference for every fact.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Working title and keywords from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26240"/>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the PICO</a:t>
            </a:r>
          </a:p>
        </p:txBody>
      </p:sp>
      <p:sp>
        <p:nvSpPr>
          <p:cNvPr id="71" name="CardBody"/>
          <p:cNvSpPr/>
          <p:nvPr/>
        </p:nvSpPr>
        <p:spPr>
          <a:xfrm>
            <a:off x="457200" y="2066240"/>
            <a:ext cx="3346953"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dirty="0">
                <a:solidFill>
                  <a:srgbClr val="000000"/>
                </a:solidFill>
                <a:latin typeface="Arial"/>
                <a:cs typeface="Arial"/>
              </a:rPr>
              <a:t>P: adults with septic shock</a:t>
            </a:r>
          </a:p>
          <a:p>
            <a:pPr marL="0" indent="0" algn="ctr">
              <a:lnSpc>
                <a:spcPct val="104000"/>
              </a:lnSpc>
              <a:spcBef>
                <a:spcPts val="400"/>
              </a:spcBef>
              <a:buNone/>
            </a:pPr>
            <a:r>
              <a:rPr lang="en-US" sz="1800" dirty="0">
                <a:solidFill>
                  <a:srgbClr val="000000"/>
                </a:solidFill>
                <a:latin typeface="Arial"/>
                <a:cs typeface="Arial"/>
              </a:rPr>
              <a:t>I: restrictive fluids</a:t>
            </a:r>
          </a:p>
          <a:p>
            <a:pPr marL="0" indent="0" algn="ctr">
              <a:lnSpc>
                <a:spcPct val="104000"/>
              </a:lnSpc>
              <a:spcBef>
                <a:spcPts val="400"/>
              </a:spcBef>
              <a:buNone/>
            </a:pPr>
            <a:r>
              <a:rPr lang="en-US" sz="1800" dirty="0">
                <a:solidFill>
                  <a:srgbClr val="000000"/>
                </a:solidFill>
                <a:latin typeface="Arial"/>
                <a:cs typeface="Arial"/>
              </a:rPr>
              <a:t>C: usual fluids</a:t>
            </a:r>
          </a:p>
          <a:p>
            <a:pPr marL="0" indent="0" algn="ctr">
              <a:lnSpc>
                <a:spcPct val="104000"/>
              </a:lnSpc>
              <a:spcBef>
                <a:spcPts val="400"/>
              </a:spcBef>
              <a:buNone/>
            </a:pPr>
            <a:r>
              <a:rPr lang="en-US" sz="1800" dirty="0">
                <a:solidFill>
                  <a:srgbClr val="000000"/>
                </a:solidFill>
                <a:latin typeface="Arial"/>
                <a:cs typeface="Arial"/>
              </a:rPr>
              <a:t>O: fluid balance</a:t>
            </a:r>
          </a:p>
          <a:p>
            <a:pPr marL="0" indent="0" algn="ctr">
              <a:lnSpc>
                <a:spcPct val="104000"/>
              </a:lnSpc>
              <a:spcBef>
                <a:spcPts val="400"/>
              </a:spcBef>
              <a:buNone/>
            </a:pPr>
            <a:r>
              <a:rPr lang="en-US" sz="1800" dirty="0">
                <a:solidFill>
                  <a:srgbClr val="000000"/>
                </a:solidFill>
                <a:latin typeface="Arial"/>
                <a:cs typeface="Arial"/>
              </a:rPr>
              <a:t>D (design): pilot RCT</a:t>
            </a:r>
          </a:p>
        </p:txBody>
      </p:sp>
      <p:sp>
        <p:nvSpPr>
          <p:cNvPr id="72" name="CardHead"/>
          <p:cNvSpPr/>
          <p:nvPr/>
        </p:nvSpPr>
        <p:spPr>
          <a:xfrm>
            <a:off x="4004153" y="1426240"/>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Working title (13 words)</a:t>
            </a:r>
          </a:p>
        </p:txBody>
      </p:sp>
      <p:sp>
        <p:nvSpPr>
          <p:cNvPr id="73" name="CardBody"/>
          <p:cNvSpPr/>
          <p:nvPr/>
        </p:nvSpPr>
        <p:spPr>
          <a:xfrm>
            <a:off x="4004153" y="2066240"/>
            <a:ext cx="4183692"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ctr">
              <a:lnSpc>
                <a:spcPct val="104000"/>
              </a:lnSpc>
              <a:spcBef>
                <a:spcPts val="400"/>
              </a:spcBef>
              <a:buNone/>
            </a:pPr>
            <a:r>
              <a:rPr lang="en-US" sz="1800" dirty="0">
                <a:solidFill>
                  <a:srgbClr val="000000"/>
                </a:solidFill>
                <a:latin typeface="Arial"/>
                <a:cs typeface="Arial"/>
              </a:rPr>
              <a:t>10-16 words, with population, comparison and design visible</a:t>
            </a:r>
          </a:p>
          <a:p>
            <a:pPr marL="0" indent="0" algn="ctr">
              <a:lnSpc>
                <a:spcPct val="104000"/>
              </a:lnSpc>
              <a:spcBef>
                <a:spcPts val="400"/>
              </a:spcBef>
              <a:buNone/>
            </a:pPr>
            <a:r>
              <a:rPr lang="en-US" sz="1800" dirty="0">
                <a:solidFill>
                  <a:srgbClr val="000000"/>
                </a:solidFill>
                <a:latin typeface="Arial"/>
                <a:cs typeface="Arial"/>
              </a:rPr>
              <a:t>No abbreviations, and no 'impact' or 'effect' for observational data</a:t>
            </a:r>
          </a:p>
        </p:txBody>
      </p:sp>
      <p:sp>
        <p:nvSpPr>
          <p:cNvPr id="74" name="CardHead"/>
          <p:cNvSpPr/>
          <p:nvPr/>
        </p:nvSpPr>
        <p:spPr>
          <a:xfrm>
            <a:off x="8387845" y="1426240"/>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Keywords (3-6)</a:t>
            </a:r>
          </a:p>
        </p:txBody>
      </p:sp>
      <p:sp>
        <p:nvSpPr>
          <p:cNvPr id="75" name="CardBody"/>
          <p:cNvSpPr/>
          <p:nvPr/>
        </p:nvSpPr>
        <p:spPr>
          <a:xfrm>
            <a:off x="8387845" y="2066240"/>
            <a:ext cx="3346953"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MeSH terms that are not already in the title</a:t>
            </a:r>
          </a:p>
          <a:p>
            <a:pPr marL="0" indent="0" algn="ctr">
              <a:lnSpc>
                <a:spcPct val="104000"/>
              </a:lnSpc>
              <a:spcBef>
                <a:spcPts val="400"/>
              </a:spcBef>
              <a:buNone/>
            </a:pPr>
            <a:r>
              <a:rPr lang="en-US" sz="1800" dirty="0">
                <a:solidFill>
                  <a:srgbClr val="000000"/>
                </a:solidFill>
                <a:latin typeface="Arial"/>
                <a:cs typeface="Arial"/>
              </a:rPr>
              <a:t>Fluid Therapy</a:t>
            </a:r>
          </a:p>
          <a:p>
            <a:pPr marL="0" indent="0" algn="ctr">
              <a:lnSpc>
                <a:spcPct val="104000"/>
              </a:lnSpc>
              <a:spcBef>
                <a:spcPts val="400"/>
              </a:spcBef>
              <a:buNone/>
            </a:pPr>
            <a:r>
              <a:rPr lang="en-US" sz="1800" dirty="0">
                <a:solidFill>
                  <a:srgbClr val="000000"/>
                </a:solidFill>
                <a:latin typeface="Arial"/>
                <a:cs typeface="Arial"/>
              </a:rPr>
              <a:t>Water-Electrolyte Balance</a:t>
            </a:r>
          </a:p>
          <a:p>
            <a:pPr marL="0" indent="0" algn="ctr">
              <a:lnSpc>
                <a:spcPct val="104000"/>
              </a:lnSpc>
              <a:spcBef>
                <a:spcPts val="400"/>
              </a:spcBef>
              <a:buNone/>
            </a:pPr>
            <a:r>
              <a:rPr lang="en-US" sz="1800" dirty="0">
                <a:solidFill>
                  <a:srgbClr val="000000"/>
                </a:solidFill>
                <a:latin typeface="Arial"/>
                <a:cs typeface="Arial"/>
              </a:rPr>
              <a:t>Critical Care</a:t>
            </a:r>
          </a:p>
          <a:p>
            <a:pPr marL="0" indent="0" algn="ctr">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PICO already contains your title: add the design and keep it short.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find the evidence for your own question: one search, five papers, one problem statement, one title.</a:t>
            </a:r>
          </a:p>
          <a:p>
            <a:pPr marL="0" indent="0" algn="ctr">
              <a:spcBef>
                <a:spcPts val="1200"/>
              </a:spcBef>
              <a:buNone/>
            </a:pPr>
            <a:r>
              <a:rPr lang="en-US" sz="1900" i="1" dirty="0">
                <a:solidFill>
                  <a:srgbClr val="595959"/>
                </a:solidFill>
                <a:latin typeface="Arial"/>
                <a:cs typeface="Arial"/>
              </a:rPr>
              <a:t>35 minutes: we search live for the running example, then you search for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 the evidence for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us screen the running-example search live, and suggest papers and terms in the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Run your own search string in PubMed. Note the date and the number of hits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Screen titles and abstracts, pick 5 key papers and save them to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Fill one row per paper in the literature review worksheet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Draft your problem statement (known, not known, question) and a working title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title and gap sentence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Timing</a:t>
            </a:r>
          </a:p>
          <a:p>
            <a:pPr marL="0" indent="0" algn="ctr">
              <a:lnSpc>
                <a:spcPct val="104000"/>
              </a:lnSpc>
              <a:spcBef>
                <a:spcPts val="300"/>
              </a:spcBef>
              <a:buNone/>
            </a:pPr>
            <a:r>
              <a:rPr lang="en-US" sz="1500" dirty="0">
                <a:solidFill>
                  <a:srgbClr val="000000"/>
                </a:solidFill>
                <a:latin typeface="Arial"/>
                <a:cs typeface="Arial"/>
              </a:rPr>
              <a:t>0-10 min: we model it live</a:t>
            </a:r>
          </a:p>
          <a:p>
            <a:pPr marL="0" indent="0" algn="ctr">
              <a:lnSpc>
                <a:spcPct val="104000"/>
              </a:lnSpc>
              <a:spcBef>
                <a:spcPts val="300"/>
              </a:spcBef>
              <a:buNone/>
            </a:pPr>
            <a:r>
              <a:rPr lang="en-US" sz="1500" dirty="0">
                <a:solidFill>
                  <a:srgbClr val="000000"/>
                </a:solidFill>
                <a:latin typeface="Arial"/>
                <a:cs typeface="Arial"/>
              </a:rPr>
              <a:t>10-30 min: you search and draft your own</a:t>
            </a:r>
          </a:p>
          <a:p>
            <a:pPr marL="0" indent="0" algn="ctr">
              <a:lnSpc>
                <a:spcPct val="104000"/>
              </a:lnSpc>
              <a:spcBef>
                <a:spcPts val="300"/>
              </a:spcBef>
              <a:buNone/>
            </a:pPr>
            <a:r>
              <a:rPr lang="en-US" sz="1500" dirty="0">
                <a:solidFill>
                  <a:srgbClr val="000000"/>
                </a:solidFill>
                <a:latin typeface="Arial"/>
                <a:cs typeface="Arial"/>
              </a:rPr>
              <a:t>30-35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Proposal Part 1 continued: search, 5 references, problem statement,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Medical Subject Headings: one label for many ways of writing an idea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Narrows / widens / removes. OR inside a block, AND between blocks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Reference manager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Stores each paper once and formats citations in any style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Patchwriting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Copying with a few words swapped: plagiarism even if cited</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Introduction, Methods, Results and Discussion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Words that claim more than the numbers show</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2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PICO blocks, MeSH and free text</a:t>
            </a:r>
          </a:p>
          <a:p>
            <a:pPr marL="0" indent="0" algn="ctr">
              <a:lnSpc>
                <a:spcPct val="104000"/>
              </a:lnSpc>
              <a:spcBef>
                <a:spcPts val="400"/>
              </a:spcBef>
              <a:buNone/>
            </a:pPr>
            <a:r>
              <a:rPr lang="en-US" sz="1750" dirty="0">
                <a:solidFill>
                  <a:srgbClr val="000000"/>
                </a:solidFill>
                <a:latin typeface="Arial"/>
                <a:cs typeface="Arial"/>
              </a:rPr>
              <a:t>OR inside, AND between</a:t>
            </a:r>
          </a:p>
          <a:p>
            <a:pPr marL="0" indent="0" algn="ctr">
              <a:lnSpc>
                <a:spcPct val="104000"/>
              </a:lnSpc>
              <a:spcBef>
                <a:spcPts val="400"/>
              </a:spcBef>
              <a:buNone/>
            </a:pPr>
            <a:r>
              <a:rPr lang="en-US" sz="1750" dirty="0">
                <a:solidFill>
                  <a:srgbClr val="000000"/>
                </a:solidFill>
                <a:latin typeface="Arial"/>
                <a:cs typeface="Arial"/>
              </a:rPr>
              <a:t>Write the search down</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Cite honestly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Zotero from day one</a:t>
            </a:r>
          </a:p>
          <a:p>
            <a:pPr marL="0" indent="0" algn="ctr">
              <a:lnSpc>
                <a:spcPct val="104000"/>
              </a:lnSpc>
              <a:spcBef>
                <a:spcPts val="400"/>
              </a:spcBef>
              <a:buNone/>
            </a:pPr>
            <a:r>
              <a:rPr lang="en-US" sz="1750" dirty="0">
                <a:solidFill>
                  <a:srgbClr val="000000"/>
                </a:solidFill>
                <a:latin typeface="Arial"/>
                <a:cs typeface="Arial"/>
              </a:rPr>
              <a:t>Your own words</a:t>
            </a:r>
          </a:p>
          <a:p>
            <a:pPr marL="0" indent="0" algn="ctr">
              <a:lnSpc>
                <a:spcPct val="104000"/>
              </a:lnSpc>
              <a:spcBef>
                <a:spcPts val="400"/>
              </a:spcBef>
              <a:buNone/>
            </a:pPr>
            <a:r>
              <a:rPr lang="en-US" sz="1750" dirty="0">
                <a:solidFill>
                  <a:srgbClr val="000000"/>
                </a:solidFill>
                <a:latin typeface="Arial"/>
                <a:cs typeface="Arial"/>
              </a:rPr>
              <a:t>Read what you cite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smart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Title, abstract, figures, methods</a:t>
            </a:r>
          </a:p>
          <a:p>
            <a:pPr marL="0" indent="0" algn="ctr">
              <a:lnSpc>
                <a:spcPct val="104000"/>
              </a:lnSpc>
              <a:spcBef>
                <a:spcPts val="400"/>
              </a:spcBef>
              <a:buNone/>
            </a:pPr>
            <a:r>
              <a:rPr lang="en-US" sz="1750" dirty="0">
                <a:solidFill>
                  <a:srgbClr val="000000"/>
                </a:solidFill>
                <a:latin typeface="Arial"/>
                <a:cs typeface="Arial"/>
              </a:rPr>
              <a:t>Numbers before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Weeks 1-2 are done: you have a question, five papers and a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in the chat before you leave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gives more hits: septic shock AND fluids, or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what was the primary outcome of Paper 1?</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before Session 3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5 key references, worksheet rows and problem statement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Read one of your papers with the 15-minute routine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Read the abstract of Paper 2 (Hyun 2023) with the reading grid (Exercise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2 (paraphrasing), at home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Optional: look up Paper 1 (NCT04947904) on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Ready for next Saturday</a:t>
            </a:r>
          </a:p>
          <a:p>
            <a:pPr marL="0" indent="0" algn="ctr">
              <a:lnSpc>
                <a:spcPct val="104000"/>
              </a:lnSpc>
              <a:spcBef>
                <a:spcPts val="300"/>
              </a:spcBef>
              <a:buNone/>
            </a:pPr>
            <a:r>
              <a:rPr lang="en-US" sz="1500" dirty="0">
                <a:solidFill>
                  <a:srgbClr val="000000"/>
                </a:solidFill>
                <a:latin typeface="Arial"/>
                <a:cs typeface="Arial"/>
              </a:rPr>
              <a:t>Your Proposal Part 1</a:t>
            </a:r>
          </a:p>
          <a:p>
            <a:pPr marL="0" indent="0" algn="ctr">
              <a:lnSpc>
                <a:spcPct val="104000"/>
              </a:lnSpc>
              <a:spcBef>
                <a:spcPts val="300"/>
              </a:spcBef>
              <a:buNone/>
            </a:pPr>
            <a:r>
              <a:rPr lang="en-US" sz="1500" dirty="0">
                <a:solidFill>
                  <a:srgbClr val="000000"/>
                </a:solidFill>
                <a:latin typeface="Arial"/>
                <a:cs typeface="Arial"/>
              </a:rPr>
              <a:t>Your literature review worksheet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Proposal Part 1 complete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2</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Beyond PubMed: other places to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9400"/>
          <a:ext cx="11277600" cy="38118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Database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What it covers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Access</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Cochrane Library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Cochrane systematic reviews (CDSR) and a register of controlled trials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Search and abstracts free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Large biomedical database, strong on drugs and conference abstracts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Many disciplines, with links to the papers that cite each paper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Nursing and allied health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reviews in health, in many languages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Free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Registries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Trials: ClinicalTrials.gov, WHO ICTRP. Reviews: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Free</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a ready-made filter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Open</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PubMed home page</a:t>
            </a:r>
          </a:p>
          <a:p>
            <a:pPr marL="0" indent="0" algn="ctr">
              <a:lnSpc>
                <a:spcPct val="104000"/>
              </a:lnSpc>
              <a:spcBef>
                <a:spcPts val="200"/>
              </a:spcBef>
              <a:buNone/>
            </a:pPr>
            <a:r>
              <a:rPr lang="en-US" sz="1500" dirty="0">
                <a:solidFill>
                  <a:srgbClr val="000000"/>
                </a:solidFill>
                <a:latin typeface="Arial"/>
                <a:cs typeface="Arial"/>
              </a:rPr>
              <a:t>Clinical Queries, under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Type</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topic words</a:t>
            </a:r>
          </a:p>
          <a:p>
            <a:pPr marL="0" indent="0" algn="ctr">
              <a:lnSpc>
                <a:spcPct val="104000"/>
              </a:lnSpc>
              <a:spcBef>
                <a:spcPts val="200"/>
              </a:spcBef>
              <a:buNone/>
            </a:pPr>
            <a:r>
              <a:rPr lang="en-US" sz="1500" dirty="0">
                <a:solidFill>
                  <a:srgbClr val="000000"/>
                </a:solidFill>
                <a:latin typeface="Arial"/>
                <a:cs typeface="Arial"/>
              </a:rPr>
              <a:t>e.g.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Category: therapy, diagnosis, etiology or prognosis</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Scope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Broad: finds more</a:t>
            </a:r>
          </a:p>
          <a:p>
            <a:pPr marL="0" indent="0" algn="ctr">
              <a:lnSpc>
                <a:spcPct val="104000"/>
              </a:lnSpc>
              <a:spcBef>
                <a:spcPts val="200"/>
              </a:spcBef>
              <a:buNone/>
            </a:pPr>
            <a:r>
              <a:rPr lang="en-US" sz="1500" dirty="0">
                <a:solidFill>
                  <a:srgbClr val="000000"/>
                </a:solidFill>
                <a:latin typeface="Arial"/>
                <a:cs typeface="Arial"/>
              </a:rPr>
              <a:t>Narrow: more precise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quick shortcut for 'is there good evidence?', not a replacement for your own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Optional demo: Google Scholar and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journals, theses, preprints, ranked by a hidden algorithm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Under a key trial, click 'Cited by', then search within citing articles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the quote icon to see export formats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Participants see what Scholar adds and what it lacks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Text recycling, AI tools and similarity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Text recycling</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Reusing your own published wording</a:t>
            </a:r>
          </a:p>
          <a:p>
            <a:pPr marL="0" indent="0" algn="ctr">
              <a:lnSpc>
                <a:spcPct val="104000"/>
              </a:lnSpc>
              <a:spcBef>
                <a:spcPts val="400"/>
              </a:spcBef>
              <a:buNone/>
            </a:pPr>
            <a:r>
              <a:rPr lang="en-US" sz="1600" dirty="0">
                <a:solidFill>
                  <a:srgbClr val="000000"/>
                </a:solidFill>
                <a:latin typeface="Arial"/>
                <a:cs typeface="Arial"/>
              </a:rPr>
              <a:t>Check the journal policy</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rewording</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Does not remove plagiarism</a:t>
            </a:r>
          </a:p>
          <a:p>
            <a:pPr marL="0" indent="0" algn="ctr">
              <a:lnSpc>
                <a:spcPct val="104000"/>
              </a:lnSpc>
              <a:spcBef>
                <a:spcPts val="400"/>
              </a:spcBef>
              <a:buNone/>
            </a:pPr>
            <a:r>
              <a:rPr lang="en-US" sz="1600" dirty="0">
                <a:solidFill>
                  <a:srgbClr val="000000"/>
                </a:solidFill>
                <a:latin typeface="Arial"/>
                <a:cs typeface="Arial"/>
              </a:rPr>
              <a:t>You stay responsible</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references</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May be invented</a:t>
            </a:r>
          </a:p>
          <a:p>
            <a:pPr marL="0" indent="0" algn="ctr">
              <a:lnSpc>
                <a:spcPct val="104000"/>
              </a:lnSpc>
              <a:spcBef>
                <a:spcPts val="400"/>
              </a:spcBef>
              <a:buNone/>
            </a:pPr>
            <a:r>
              <a:rPr lang="en-US" sz="1600" dirty="0">
                <a:solidFill>
                  <a:srgbClr val="000000"/>
                </a:solidFill>
                <a:latin typeface="Arial"/>
                <a:cs typeface="Arial"/>
              </a:rPr>
              <a:t>Find every one in PubMed</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Similarity checks</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Journals screen submissions for copied text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Write from understanding, cite what you use, and check every reference yourself.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