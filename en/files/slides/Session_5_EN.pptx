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5 (19:30-22:30, break 20:40-20:55). Today the data, next Saturday the analysis.</a:t>
            </a:r>
          </a:p>
          <a:p>
            <a:r>
              <a:rPr lang="en-US" sz="1400" b="0" dirty="0"/>
              <a:t>New: the simulated course dataset FLUID-ICU (620 adults with sepsis) and five questions, Q1 to Q5. At the end of Session 6 each participant chooses one and writes its Results section.</a:t>
            </a:r>
          </a:p>
          <a:p>
            <a:r>
              <a:rPr lang="en-US" sz="1400" b="0" dirty="0"/>
              <a:t>No formulas: picture, worked example, check. Never skip the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(19:30-19:40). One poll per question, 1 minute each, then reveal.</a:t>
            </a:r>
          </a:p>
          <a:p>
            <a:r>
              <a:rPr lang="en-US" sz="1400" b="0" dirty="0"/>
              <a:t>Q1: prospective cohort (case-control starts from the outcome). Q2: confounding by indication, the reason Paper 2 used propensity matching. Q3: RR 0.67, RD 10%, NNT 10.</a:t>
            </a:r>
          </a:p>
          <a:p>
            <a:r>
              <a:rPr lang="en-US" sz="1400" b="0" dirty="0"/>
              <a:t>If a third get Q3 wrong, draw the 2x2 table on screen.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5.1 (19:40-20:15).</a:t>
            </a:r>
          </a:p>
          <a:p>
            <a:r>
              <a:rPr lang="en-US" sz="1400" b="0" dirty="0"/>
              <a:t>Message: most problems lie in the data, not the analysis. A statistician cannot fix a blank box later.</a:t>
            </a:r>
          </a:p>
          <a:p>
            <a:r>
              <a:rPr lang="en-US" sz="1400" b="0" dirty="0"/>
              <a:t>Ask: who has been asked to 'help with the data' and found half the forms incomplete?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Every variable is a number (continuous, count) or a category (binary, nominal, ordinal). Time-to-event: just mention it, it returns in Session 6.</a:t>
            </a:r>
          </a:p>
          <a:p>
            <a:r>
              <a:rPr lang="en-US" sz="1400" b="0" dirty="0"/>
              <a:t>Misconception: sex coded 1/2 is still a category.</a:t>
            </a:r>
          </a:p>
          <a:p>
            <a:r>
              <a:rPr lang="en-US" sz="1400" b="0" dirty="0"/>
              <a:t>Tip: collect numbers as numbers. You can group age later, never ungroup it.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poll per variable, six options. Reveal after each vote.</a:t>
            </a:r>
          </a:p>
          <a:p>
            <a:r>
              <a:rPr lang="en-US" sz="1400" b="0" dirty="0"/>
              <a:t>GCS: ordinal, often analysed as a number. Time to extubation: time-to-event, because some patients are never extubated.</a:t>
            </a:r>
          </a:p>
          <a:p>
            <a:r>
              <a:rPr lang="en-US" sz="1400" b="0" dirty="0"/>
              <a:t>If a third get it wrong, go back one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good CRF item: two people filling it for the same patient write the same answer.</a:t>
            </a:r>
          </a:p>
          <a:p>
            <a:r>
              <a:rPr lang="en-US" sz="1400" b="0" dirty="0"/>
              <a:t>Ask the class to diagnose each left-hand item before you reveal it: no unit or time window, age without a date, incomplete options, two opinions in one question.</a:t>
            </a:r>
          </a:p>
          <a:p>
            <a:r>
              <a:rPr lang="en-US" sz="1400" b="0" dirty="0"/>
              <a:t>Ask: what is wrong with a blank box? Expected: 'not done', 'forgot' and 'zero' look the same.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FLUID-ICU exposure in five decisions.</a:t>
            </a:r>
          </a:p>
          <a:p>
            <a:r>
              <a:rPr lang="en-US" sz="1400" b="0" dirty="0"/>
              <a:t>What: all fluid in minus all fluid out. When: ICU admission to end of day 3. Unit: ml/kg of admission weight. Format: a signed number. Missing: a 'not recorded' box.</a:t>
            </a:r>
          </a:p>
          <a:p>
            <a:r>
              <a:rPr lang="en-US" sz="1400" b="0" dirty="0"/>
              <a:t>Ask: which item must the CRF now also contain? Expected: weight at admission.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five card titles with one example each.</a:t>
            </a:r>
          </a:p>
          <a:p>
            <a:r>
              <a:rPr lang="en-US" sz="1400" b="0" dirty="0"/>
              <a:t>Common mistake: changing the form after data collection has started gives two different datasets.</a:t>
            </a:r>
          </a:p>
          <a:p>
            <a:r>
              <a:rPr lang="en-US" sz="1400" b="0" dirty="0"/>
              <a:t>Ask: which rule is most often broken in your unit? Expected: too long, no units, free text.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data dictionary: one row per variable, so anyone can understand the data without phoning you.</a:t>
            </a:r>
          </a:p>
          <a:p>
            <a:r>
              <a:rPr lang="en-US" sz="1400" b="0" dirty="0"/>
              <a:t>Read the fb_d5 row aloud. Its allowed range becomes the range check on the next slide. Note the 'unknown' code 9.</a:t>
            </a:r>
          </a:p>
          <a:p>
            <a:r>
              <a:rPr lang="en-US" sz="1400" b="0" dirty="0"/>
              <a:t>Participants write 3 to 5 rows like these in Proposal builder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checks catch most entry errors: range, consistency, logic, completeness. The range comes from the data dictionary.</a:t>
            </a:r>
          </a:p>
          <a:p>
            <a:r>
              <a:rPr lang="en-US" sz="1400" b="0" dirty="0"/>
              <a:t>Find errors while the chart is still on the ward.</a:t>
            </a:r>
          </a:p>
          <a:p>
            <a:r>
              <a:rPr lang="en-US" sz="1400" b="0" dirty="0"/>
              <a:t>Ask: what impossible values have you seen? Expected: 700 kg, future dates.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safe routes: paper with double data entry, or electronic data capture (REDCap, KoBoToolbox) with checks at entry.</a:t>
            </a:r>
          </a:p>
          <a:p>
            <a:r>
              <a:rPr lang="en-US" sz="1400" b="0" dirty="0"/>
              <a:t>The database holds study codes, never names, and keeps an audit trail.</a:t>
            </a:r>
          </a:p>
          <a:p>
            <a:r>
              <a:rPr lang="en-US" sz="1400" b="0" dirty="0"/>
              <a:t>Ask: who has seen an Excel file with names and results emailed around?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1. Walk the picture: 30% truly died, but 15 deaths have an empty box, so we see 18%.</a:t>
            </a:r>
          </a:p>
          <a:p>
            <a:r>
              <a:rPr lang="en-US" sz="1400" b="0" dirty="0"/>
              <a:t>Missing is linked to the outcome: the sickest go missing first. Who is missing matters more than how many.</a:t>
            </a:r>
          </a:p>
          <a:p>
            <a:r>
              <a:rPr lang="en-US" sz="1400" b="0" dirty="0"/>
              <a:t>Mechanisms and imputation come in 6.4.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2: five habits prevent most of it.</a:t>
            </a:r>
          </a:p>
          <a:p>
            <a:r>
              <a:rPr lang="en-US" sz="1400" b="0" dirty="0"/>
              <a:t>The day-28 outcome is the most often missing variable in ICU studies: plan who checks it for transfers.</a:t>
            </a:r>
          </a:p>
          <a:p>
            <a:r>
              <a:rPr lang="en-US" sz="1400" b="0" dirty="0"/>
              <a:t>These steps go into the data-quality plan of Proposal Part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7 minutes (20:08-20:15). Exercise 2 of the Session 5 sheet. Answers: s5_solutions.md.</a:t>
            </a:r>
          </a:p>
          <a:p>
            <a:r>
              <a:rPr lang="en-US" sz="1400" b="0" dirty="0"/>
              <a:t>One item at a time, 1 minute each. Call on two or three people and type the class version. Two items done well beat four in a hurry.</a:t>
            </a:r>
          </a:p>
          <a:p>
            <a:r>
              <a:rPr lang="en-US" sz="1400" b="0" dirty="0"/>
              <a:t>Exercise 1 is homework.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5.2 (20:15-20:40).</a:t>
            </a:r>
          </a:p>
          <a:p>
            <a:r>
              <a:rPr lang="en-US" sz="1400" b="0" dirty="0"/>
              <a:t>FLUID-ICU is simulated: no real patient, hospital or country, but it behaves like real ICU data.</a:t>
            </a:r>
          </a:p>
          <a:p>
            <a:r>
              <a:rPr lang="en-US" sz="1400" b="0" dirty="0"/>
              <a:t>Nobody runs R. The instructor does it on screen.</a:t>
            </a:r>
          </a:p>
          <a:p>
            <a:r>
              <a:rPr lang="en-US" sz="1400" b="0" dirty="0"/>
              <a:t>Ask: what can a cohort claim that a trial cannot? Expected: association, not causation.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Know the study before any analysis.</a:t>
            </a:r>
          </a:p>
          <a:p>
            <a:r>
              <a:rPr lang="en-US" sz="1400" b="0" dirty="0"/>
              <a:t>620 adults with sepsis, 4 ICUs, 2023-2024. Exposure: cumulative fluid balance by day 3, positive in 373 of 618 (60.4%). Primary outcome: death by day 28, 179 of 620 (28.9%).</a:t>
            </a:r>
          </a:p>
          <a:p>
            <a:r>
              <a:rPr lang="en-US" sz="1400" b="0" dirty="0"/>
              <a:t>Ask: who do you expect to have a positive balance? Expected: the sickest. Keep it for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flow of patients: 623 rows, 3 duplicates removed, 620 enrolled. 2 without a day-3 balance: 618 analysed. 91 without lactate or age: 527 in the adjusted model.</a:t>
            </a:r>
          </a:p>
          <a:p>
            <a:r>
              <a:rPr lang="en-US" sz="1400" b="0" dirty="0"/>
              <a:t>Ask: where does this flow go in a paper? Expected: the first paragraph of the Results. Every Results section starts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people to guess each problem before revealing the clean column.</a:t>
            </a:r>
          </a:p>
          <a:p>
            <a:r>
              <a:rPr lang="en-US" sz="1400" b="0" dirty="0"/>
              <a:t>Each problem breaks the analysis silently: 999 inflates a mean, 'Y' and 'Yes' become two groups, mg/dL makes ICU C look like a disaster.</a:t>
            </a:r>
          </a:p>
          <a:p>
            <a:r>
              <a:rPr lang="en-US" sz="1400" b="0" dirty="0"/>
              <a:t>Impossible values are set to missing with a query to the site. We never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Script and fallback screenshots: s5_demo.md, Part A.</a:t>
            </a:r>
          </a:p>
          <a:p>
            <a:r>
              <a:rPr lang="en-US" sz="1400" b="0" dirty="0"/>
              <a:t>Run one block at a time and say what it fixes. Ask the class to predict first.</a:t>
            </a:r>
          </a:p>
          <a:p>
            <a:r>
              <a:rPr lang="en-US" sz="1400" b="0" dirty="0"/>
              <a:t>Three points: the raw file is never edited, one problem one block, a script gives the same result every time.</a:t>
            </a:r>
          </a:p>
          <a:p>
            <a:r>
              <a:rPr lang="en-US" sz="1400" b="0" dirty="0"/>
              <a:t>Stop at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cleaning log (cleaning_log.md): one row per change, with the reason.</a:t>
            </a:r>
          </a:p>
          <a:p>
            <a:r>
              <a:rPr lang="en-US" sz="1400" b="0" dirty="0"/>
              <a:t>Impossible values are set to missing and queried. The patient stays in.</a:t>
            </a:r>
          </a:p>
          <a:p>
            <a:r>
              <a:rPr lang="en-US" sz="1400" b="0" dirty="0"/>
              <a:t>What is left is real missing data: lactate 93 of 620 (15.0%).</a:t>
            </a:r>
          </a:p>
          <a:p>
            <a:r>
              <a:rPr lang="en-US" sz="1400" b="0" dirty="0"/>
              <a:t>Ask: why not delete the patient aged 210? Expected: the rest of the record is valid.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dataset, five questions, all from the FLUID-ICU SAP.</a:t>
            </a:r>
          </a:p>
          <a:p>
            <a:r>
              <a:rPr lang="en-US" sz="1400" b="0" dirty="0"/>
              <a:t>Q1 (the primary question) is done in full in Sessions 5 and 6. Q2 to Q5 more briefly.</a:t>
            </a:r>
          </a:p>
          <a:p>
            <a:r>
              <a:rPr lang="en-US" sz="1400" b="0" dirty="0"/>
              <a:t>Each question has a results pack (Results_Pack_Q1 to Q5, PDF, sent by email).</a:t>
            </a:r>
          </a:p>
          <a:p>
            <a:r>
              <a:rPr lang="en-US" sz="1400" b="0" dirty="0"/>
              <a:t>At the end of Session 6 each participant chooses one question and writes its Results section from the pack.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4 minutes (20:36-20:40). Exercise 7 of the sheet.</a:t>
            </a:r>
          </a:p>
          <a:p>
            <a:r>
              <a:rPr lang="en-US" sz="1400" b="0" dirty="0"/>
              <a:t>Q1: call on people for the outcome type (binary, also time-to-event) and the exposure type (binary). Type: 'In adults with sepsis in the ICU, is a positive fluid balance by day 3, compared with a negative balance, associated with higher 28-day mortality?'</a:t>
            </a:r>
          </a:p>
          <a:p>
            <a:r>
              <a:rPr lang="en-US" sz="1400" b="0" dirty="0"/>
              <a:t>Q2 to Q5: one line each.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Say: we restart at 20:55 with 5.3.</a:t>
            </a:r>
          </a:p>
          <a:p>
            <a:r>
              <a:rPr lang="en-US" sz="1400" b="0" dirty="0"/>
              <a:t>Check that 02_describe.R runs and the fallback figures for 5.4 are ready.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5.3 (20:55-21:30).</a:t>
            </a:r>
          </a:p>
          <a:p>
            <a:r>
              <a:rPr lang="en-US" sz="1400" b="0" dirty="0"/>
              <a:t>Message: every numerical variable needs a centre and a spread. The shape of the data decides which pair: mean (SD) or median (IQR).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Type the seven stays on screen.</a:t>
            </a:r>
          </a:p>
          <a:p>
            <a:r>
              <a:rPr lang="en-US" sz="1400" b="0" dirty="0"/>
              <a:t>Median: the 4th patient, 3 days. Mean: 42 / 7 = 6 days. One long stay doubles the mean.</a:t>
            </a:r>
          </a:p>
          <a:p>
            <a:r>
              <a:rPr lang="en-US" sz="1400" b="0" dirty="0"/>
              <a:t>Ask: if that patient stayed 60 days? Expected: median still 3, mean about 11.</a:t>
            </a:r>
          </a:p>
          <a:p>
            <a:r>
              <a:rPr lang="en-US" sz="1400" b="0" dirty="0"/>
              <a:t>The only hand calculation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patients stay 1 to 5 days, a few for weeks: the mean (3.9) is pulled right of the median (2.8).</a:t>
            </a:r>
          </a:p>
          <a:p>
            <a:r>
              <a:rPr lang="en-US" sz="1400" b="0" dirty="0"/>
              <a:t>Rule of thumb: mean and median far apart means skewed: report the median.</a:t>
            </a:r>
          </a:p>
          <a:p>
            <a:r>
              <a:rPr lang="en-US" sz="1400" b="0" dirty="0"/>
              <a:t>Ask: other skewed variables in your work? Expected: costs, CRP, days on ventilator.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Symmetric data: mean (SD). Skewed data: median (IQR), the middle half of patients.</a:t>
            </a:r>
          </a:p>
          <a:p>
            <a:r>
              <a:rPr lang="en-US" sz="1400" b="0" dirty="0"/>
              <a:t>Read 'median 2.8 (IQR 1.5-4.7)' aloud in plain words.</a:t>
            </a:r>
          </a:p>
          <a:p>
            <a:r>
              <a:rPr lang="en-US" sz="1400" b="0" dirty="0"/>
              <a:t>Common mistakes: mean with IQR, median with SD, and confusing SD (spread of patients) with a CI (precision, 6.1).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shapes cover most clinical data: symmetric (physiology, body size) and right-skewed (times, counts, costs, lab values that cannot go below zero).</a:t>
            </a:r>
          </a:p>
          <a:p>
            <a:r>
              <a:rPr lang="en-US" sz="1400" b="0" dirty="0"/>
              <a:t>The shape also decides the test in 6.1.</a:t>
            </a:r>
          </a:p>
          <a:p>
            <a:r>
              <a:rPr lang="en-US" sz="1400" b="0" dirty="0"/>
              <a:t>Ask: days on vasopressors, symmetric or skewed? Expected: skewed.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(3 minutes), one poll per item.</a:t>
            </a:r>
          </a:p>
          <a:p>
            <a:r>
              <a:rPr lang="en-US" sz="1400" b="0" dirty="0"/>
              <a:t>Length of stay: median (IQR). Age: mean (SD). Ventilated: n (%). AKI stage: n (%) per stage with a bar chart, never a 'mean stage'.</a:t>
            </a:r>
          </a:p>
          <a:p>
            <a:r>
              <a:rPr lang="en-US" sz="1400" b="0" dirty="0"/>
              <a:t>If many miss item 1, return to the histogram.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Four graphs cover most needs: bar chart (one category), histogram (one number), boxplots (a number by group), scatter plot (two numbers).</a:t>
            </a:r>
          </a:p>
          <a:p>
            <a:r>
              <a:rPr lang="en-US" sz="1400" b="0" dirty="0"/>
              <a:t>Ask: which graph compares ICU stay between two fluid groups? Expected: side-by-side boxplots.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dynamite plot hides the shape and the outlier. The dots show one patient at 160 ml/kg dragging the mean and a large overlap.</a:t>
            </a:r>
          </a:p>
          <a:p>
            <a:r>
              <a:rPr lang="en-US" sz="1400" b="0" dirty="0"/>
              <a:t>Always say whether error bars are SD, SE or 95% CI.</a:t>
            </a:r>
          </a:p>
          <a:p>
            <a:r>
              <a:rPr lang="en-US" sz="1400" b="0" dirty="0"/>
              <a:t>Ask: what would you conclude from the left picture alone?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Table 1 describes the patients at baseline, by group. The summary is in the row label.</a:t>
            </a:r>
          </a:p>
          <a:p>
            <a:r>
              <a:rPr lang="en-US" sz="1400" b="0" dirty="0"/>
              <a:t>Two questions: do these patients look like mine, and were the groups alike at the start?</a:t>
            </a:r>
          </a:p>
          <a:p>
            <a:r>
              <a:rPr lang="en-US" sz="1400" b="0" dirty="0"/>
              <a:t>In a trial, differences are chance (no p-values). In a cohort, large differences warn of confounding.</a:t>
            </a:r>
          </a:p>
          <a:p>
            <a:r>
              <a:rPr lang="en-US" sz="1400" b="0" dirty="0"/>
              <a:t>Numbers are illustrative.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table must stand alone. Compare row by row: group names and n in the header, unit and summary in each row label, sensible decimals, footnotes for abbreviations.</a:t>
            </a:r>
          </a:p>
          <a:p>
            <a:r>
              <a:rPr lang="en-US" sz="1400" b="0" dirty="0"/>
              <a:t>Ask: find four problems in the left table in 30 seconds.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5.4 (21:30-21:55): the 5.3 rules applied to FLUID-ICU. Demo, four slides of results, then 10 minutes reading Table 1 together.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Script: s5_demo.md, Part B (02_describe.R).</a:t>
            </a:r>
          </a:p>
          <a:p>
            <a:r>
              <a:rPr lang="en-US" sz="1400" b="0" dirty="0"/>
              <a:t>Show the shapes first, then Table 1 by fluid-balance group with missing values, then the figures.</a:t>
            </a:r>
          </a:p>
          <a:p>
            <a:r>
              <a:rPr lang="en-US" sz="1400" b="0" dirty="0"/>
              <a:t>No p-values in Table 1, as the SAP says.</a:t>
            </a:r>
          </a:p>
          <a:p>
            <a:r>
              <a:rPr lang="en-US" sz="1400" b="0" dirty="0"/>
              <a:t>If R fails, the next slides show the same outputs.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with the two questions from 5.3.</a:t>
            </a:r>
          </a:p>
          <a:p>
            <a:r>
              <a:rPr lang="en-US" sz="1400" b="0" dirty="0"/>
              <a:t>Age similar. Severity not: SOFA 6 vs 8, vasopressor 24.9% vs 55.0%, ventilation 39.6% vs 57.9%. Heart failure goes the other way (22.0% vs 11.5%).</a:t>
            </a:r>
          </a:p>
          <a:p>
            <a:r>
              <a:rPr lang="en-US" sz="1400" b="0" dirty="0"/>
              <a:t>Sicker patients got more fluid: confounding by indication.</a:t>
            </a:r>
          </a:p>
          <a:p>
            <a:r>
              <a:rPr lang="en-US" sz="1400" b="0" dirty="0"/>
              <a:t>Ask: crude OR larger or smaller than adjusted? Expected: larger.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Look at the exposure before using it: median 8.8 ml/kg (IQR -10.3 to 26.2), positive in 373 of 618.</a:t>
            </a:r>
          </a:p>
          <a:p>
            <a:r>
              <a:rPr lang="en-US" sz="1400" b="0" dirty="0"/>
              <a:t>Q1 cuts it at 0 ml/kg. Q2 and Q3 keep it continuous (per 10 ml/kg). The SAP fixed this in advance.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Dots plus box for FLUID-ICU: median SOFA 6 vs 8, every patient visible.</a:t>
            </a:r>
          </a:p>
          <a:p>
            <a:r>
              <a:rPr lang="en-US" sz="1400" b="0" dirty="0"/>
              <a:t>This picture is the visual proof of confounding by indication.</a:t>
            </a:r>
          </a:p>
          <a:p>
            <a:r>
              <a:rPr lang="en-US" sz="1400" b="0" dirty="0"/>
              <a:t>Ask: why not a bar of the mean SOFA? Expected: it would hide the spread and the overlap.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ICU stay in the 439 survivors is right-skewed: mean 7.5, median 6.2 days.</a:t>
            </a:r>
          </a:p>
          <a:p>
            <a:r>
              <a:rPr lang="en-US" sz="1400" b="0" dirty="0"/>
              <a:t>Q5 reports medians (IQR), uses Mann-Whitney and a log scale in the model.</a:t>
            </a:r>
          </a:p>
          <a:p>
            <a:r>
              <a:rPr lang="en-US" sz="1400" b="0" dirty="0"/>
              <a:t>Every Table 1 has at least one skewed variable.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 class, 10 minutes (21:45-21:55). Exercise 6. Answers: s5_solutions.md.</a:t>
            </a:r>
          </a:p>
          <a:p>
            <a:r>
              <a:rPr lang="en-US" sz="1400" b="0" dirty="0"/>
              <a:t>Poll the summaries (age mean, SOFA median, vasopressor n %). Ask for the biggest difference: severity.</a:t>
            </a:r>
          </a:p>
          <a:p>
            <a:r>
              <a:rPr lang="en-US" sz="1400" b="0" dirty="0"/>
              <a:t>Write two sentences together, e.g. 'Of 620 patients, 618 had a day-3 balance and 373 (60.4%) were positive. They were sicker (median SOFA 8 vs 6, vasopressor 55.0% vs 24.9%).'</a:t>
            </a:r>
          </a:p>
          <a:p>
            <a:r>
              <a:rPr lang="en-US" sz="1400" b="0" dirty="0"/>
              <a:t>These sentences are the start of a Results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modelling, so participants see the expected level.</a:t>
            </a:r>
          </a:p>
          <a:p>
            <a:r>
              <a:rPr lang="en-US" sz="1400" b="0" dirty="0"/>
              <a:t>Variables table first: it drives the CRF, the dictionary and the analysis.</a:t>
            </a:r>
          </a:p>
          <a:p>
            <a:r>
              <a:rPr lang="en-US" sz="1400" b="0" dirty="0"/>
              <a:t>Each participant writes this for their own proposal, not for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5, 30 minutes (21:55-22:25). Template: Research_Proposal_Template.docx. Worksheet: Exercise 8.</a:t>
            </a:r>
          </a:p>
          <a:p>
            <a:r>
              <a:rPr lang="en-US" sz="1400" b="0" dirty="0"/>
              <a:t>Model live (18 min): variables table, mini-CRF, dictionary rows, data-management plan. Then 10 minutes on their own variables table, 2 minutes for questions.</a:t>
            </a:r>
          </a:p>
          <a:p>
            <a:r>
              <a:rPr lang="en-US" sz="1400" b="0" dirty="0"/>
              <a:t>Watch for: too many CRF items, outcomes listed as confounders, names in the data file.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(2 minutes). Point to a word, call on someone for a one-line definition, correct gently.</a:t>
            </a:r>
          </a:p>
          <a:p>
            <a:r>
              <a:rPr lang="en-US" sz="1400" b="0" dirty="0"/>
              <a:t>All terms are in the English-Vietnamese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(2 minutes). Ask three volunteers for one example per card.</a:t>
            </a:r>
          </a:p>
          <a:p>
            <a:r>
              <a:rPr lang="en-US" sz="1400" b="0" dirty="0"/>
              <a:t>Next Saturday: confidence intervals, p-values, tests, regression, survival and missing data, run live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(22:25-22:30).</a:t>
            </a:r>
          </a:p>
          <a:p>
            <a:r>
              <a:rPr lang="en-US" sz="1400" b="0" dirty="0"/>
              <a:t>Exit question: one data-quality problem in FLUID-ICU and how it was fixed. Read the answers and open Session 6 with two or three.</a:t>
            </a:r>
          </a:p>
          <a:p>
            <a:r>
              <a:rPr lang="en-US" sz="1400" b="0" dirty="0"/>
              <a:t>Homework: mini-CRF, dictionary rows and data-management plan for their own proposal. Optional: Exercises 1, 3, 4 and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optional, for a fast class 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Four cheap habits: codes not free text, a read-only raw file with dated copies, 3-2-1 backups, a data-sharing statement planned in the consent form.</a:t>
            </a:r>
          </a:p>
          <a:p>
            <a:r>
              <a:rPr lang="en-US" sz="1400" b="0" dirty="0"/>
              <a:t>Ask: if your laptop were stolen tonight, would your study survive?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Top row misleading, bottom row fixed: a 3-D pie, a truncated axis (2 points looks like a tripling), dual axes. Bars start at zero.</a:t>
            </a:r>
          </a:p>
          <a:p>
            <a:r>
              <a:rPr lang="en-US" sz="1400" b="0" dirty="0"/>
              <a:t>Ask: where have you seen a truncated axis recently?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2.png"/>
<Relationship Id="rId5"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4.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5.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6.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7.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8.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9.png"/>
<Relationship Id="rId5" Type="http://schemas.openxmlformats.org/officeDocument/2006/relationships/image" Target="../media/image10.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1.png"/>
<Relationship Id="rId5" Type="http://schemas.openxmlformats.org/officeDocument/2006/relationships/image" Target="../media/image12.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1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1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1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16.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5 · Data: collect it well, describe it honestly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5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Sessions 3-4 (10 min)</a:t>
            </a:r>
          </a:p>
          <a:p>
            <a:pPr marL="274320" indent="-274320" algn="l">
              <a:spcBef>
                <a:spcPts val="440"/>
              </a:spcBef>
              <a:buFont typeface="Arial"/>
              <a:buChar char="•"/>
            </a:pPr>
            <a:r>
              <a:rPr lang="en-US" sz="1900" dirty="0">
                <a:solidFill>
                  <a:srgbClr val="000000"/>
                </a:solidFill>
                <a:latin typeface="Arial"/>
                <a:cs typeface="Arial"/>
              </a:rPr>
              <a:t>5.1 Good data by design: variables, CRF, data dictionary, checks, data management</a:t>
            </a:r>
          </a:p>
          <a:p>
            <a:pPr marL="274320" indent="-274320" algn="l">
              <a:spcBef>
                <a:spcPts val="440"/>
              </a:spcBef>
              <a:buFont typeface="Arial"/>
              <a:buChar char="•"/>
            </a:pPr>
            <a:r>
              <a:rPr lang="en-US" sz="1900" dirty="0">
                <a:solidFill>
                  <a:srgbClr val="000000"/>
                </a:solidFill>
                <a:latin typeface="Arial"/>
                <a:cs typeface="Arial"/>
              </a:rPr>
              <a:t>5.2 Meet the course dataset FLUID-ICU (live R cleaning demo)</a:t>
            </a:r>
          </a:p>
          <a:p>
            <a:pPr marL="274320" indent="-274320" algn="l">
              <a:spcBef>
                <a:spcPts val="440"/>
              </a:spcBef>
              <a:buFont typeface="Arial"/>
              <a:buChar char="•"/>
            </a:pPr>
            <a:r>
              <a:rPr lang="en-US" sz="1900" dirty="0">
                <a:solidFill>
                  <a:srgbClr val="000000"/>
                </a:solidFill>
                <a:latin typeface="Arial"/>
                <a:cs typeface="Arial"/>
              </a:rPr>
              <a:t>5.3 Describing and showing data: summaries, figures, tables</a:t>
            </a:r>
          </a:p>
          <a:p>
            <a:pPr marL="274320" indent="-274320" algn="l">
              <a:spcBef>
                <a:spcPts val="440"/>
              </a:spcBef>
              <a:buFont typeface="Arial"/>
              <a:buChar char="•"/>
            </a:pPr>
            <a:r>
              <a:rPr lang="en-US" sz="1900" dirty="0">
                <a:solidFill>
                  <a:srgbClr val="000000"/>
                </a:solidFill>
                <a:latin typeface="Arial"/>
                <a:cs typeface="Arial"/>
              </a:rPr>
              <a:t>5.4 Describe the course dataset: Table 1 and figures</a:t>
            </a:r>
          </a:p>
          <a:p>
            <a:pPr marL="274320" indent="-274320" algn="l">
              <a:spcBef>
                <a:spcPts val="440"/>
              </a:spcBef>
              <a:buFont typeface="Arial"/>
              <a:buChar char="•"/>
            </a:pPr>
            <a:r>
              <a:rPr lang="en-US" sz="1900" dirty="0">
                <a:solidFill>
                  <a:srgbClr val="000000"/>
                </a:solidFill>
                <a:latin typeface="Arial"/>
                <a:cs typeface="Arial"/>
              </a:rPr>
              <a:t>Proposal builder 5: variables, mini-CRF, data dictionary, data management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Sessions 3-4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Patients who smoke are followed for 10 years to see who develops a stroke. Which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In a cohort, sicker septic patients receive more fluid and die more often.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Mortality is 30% with usual care and 20% with a new strategy. What are the risk ratio (RR) and the number needed to treat (NNT)?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each question in the poll (1 minute each), then we discuss</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 (reveal after)</a:t>
            </a:r>
          </a:p>
          <a:p>
            <a:pPr marL="0" indent="0" algn="ctr">
              <a:lnSpc>
                <a:spcPct val="104000"/>
              </a:lnSpc>
              <a:spcBef>
                <a:spcPts val="300"/>
              </a:spcBef>
              <a:buNone/>
            </a:pPr>
            <a:r>
              <a:rPr lang="en-US" sz="1500" dirty="0">
                <a:solidFill>
                  <a:srgbClr val="000000"/>
                </a:solidFill>
                <a:latin typeface="Arial"/>
                <a:cs typeface="Arial"/>
              </a:rPr>
              <a:t>Q1: prospective cohort</a:t>
            </a:r>
          </a:p>
          <a:p>
            <a:pPr marL="0" indent="0" algn="ctr">
              <a:lnSpc>
                <a:spcPct val="104000"/>
              </a:lnSpc>
              <a:spcBef>
                <a:spcPts val="300"/>
              </a:spcBef>
              <a:buNone/>
            </a:pPr>
            <a:r>
              <a:rPr lang="en-US" sz="1500" dirty="0">
                <a:solidFill>
                  <a:srgbClr val="000000"/>
                </a:solidFill>
                <a:latin typeface="Arial"/>
                <a:cs typeface="Arial"/>
              </a:rPr>
              <a:t>Q2: confounding by indication</a:t>
            </a:r>
          </a:p>
          <a:p>
            <a:pPr marL="0" indent="0" algn="ctr">
              <a:lnSpc>
                <a:spcPct val="104000"/>
              </a:lnSpc>
              <a:spcBef>
                <a:spcPts val="300"/>
              </a:spcBef>
              <a:buNone/>
            </a:pPr>
            <a:r>
              <a:rPr lang="en-US" sz="1500" dirty="0">
                <a:solidFill>
                  <a:srgbClr val="000000"/>
                </a:solidFill>
                <a:latin typeface="Arial"/>
                <a:cs typeface="Arial"/>
              </a:rPr>
              <a:t>Q3: RR = 20/30 = 0.67. Risk difference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designs, confounding and the 2x2 measures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5.1 Good data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Bad data cannot be rescued by good statistics.</a:t>
            </a:r>
          </a:p>
          <a:p>
            <a:pPr marL="0" indent="0" algn="ctr">
              <a:spcBef>
                <a:spcPts val="1200"/>
              </a:spcBef>
              <a:buNone/>
            </a:pPr>
            <a:r>
              <a:rPr lang="en-US" sz="1900" i="1" dirty="0">
                <a:solidFill>
                  <a:srgbClr val="595959"/>
                </a:solidFill>
                <a:latin typeface="Arial"/>
                <a:cs typeface="Arial"/>
              </a:rPr>
              <a:t>5.1 Good data by design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type of variable is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Numbers are measured (first two cards). Categories are groups (last three). Time-to-event combines how long and whether it happened.</a:t>
            </a:r>
          </a:p>
        </p:txBody>
      </p:sp>
      <p:sp>
        <p:nvSpPr>
          <p:cNvPr id="70" name="CardHead"/>
          <p:cNvSpPr/>
          <p:nvPr/>
        </p:nvSpPr>
        <p:spPr>
          <a:xfrm>
            <a:off x="457200" y="228945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Continuous</a:t>
            </a:r>
          </a:p>
        </p:txBody>
      </p:sp>
      <p:sp>
        <p:nvSpPr>
          <p:cNvPr id="71" name="CardBody"/>
          <p:cNvSpPr/>
          <p:nvPr/>
        </p:nvSpPr>
        <p:spPr>
          <a:xfrm>
            <a:off x="45720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Any value on a scale</a:t>
            </a:r>
          </a:p>
          <a:p>
            <a:pPr marL="0" indent="0" algn="ctr">
              <a:lnSpc>
                <a:spcPct val="104000"/>
              </a:lnSpc>
              <a:spcBef>
                <a:spcPts val="400"/>
              </a:spcBef>
              <a:buNone/>
            </a:pPr>
            <a:r>
              <a:rPr lang="en-US" sz="1450" dirty="0">
                <a:solidFill>
                  <a:srgbClr val="000000"/>
                </a:solidFill>
                <a:latin typeface="Arial"/>
                <a:cs typeface="Arial"/>
              </a:rPr>
              <a:t>Fluid balance (ml/kg), lactate, age</a:t>
            </a:r>
          </a:p>
        </p:txBody>
      </p:sp>
      <p:sp>
        <p:nvSpPr>
          <p:cNvPr id="72" name="CardHead"/>
          <p:cNvSpPr/>
          <p:nvPr/>
        </p:nvSpPr>
        <p:spPr>
          <a:xfrm>
            <a:off x="2752720" y="228945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Count</a:t>
            </a:r>
          </a:p>
        </p:txBody>
      </p:sp>
      <p:sp>
        <p:nvSpPr>
          <p:cNvPr id="73" name="CardBody"/>
          <p:cNvSpPr/>
          <p:nvPr/>
        </p:nvSpPr>
        <p:spPr>
          <a:xfrm>
            <a:off x="275272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 whole number</a:t>
            </a:r>
          </a:p>
          <a:p>
            <a:pPr marL="0" indent="0" algn="ctr">
              <a:lnSpc>
                <a:spcPct val="104000"/>
              </a:lnSpc>
              <a:spcBef>
                <a:spcPts val="400"/>
              </a:spcBef>
              <a:buNone/>
            </a:pPr>
            <a:r>
              <a:rPr lang="en-US" sz="1450" dirty="0">
                <a:solidFill>
                  <a:srgbClr val="000000"/>
                </a:solidFill>
                <a:latin typeface="Arial"/>
                <a:cs typeface="Arial"/>
              </a:rPr>
              <a:t>Number of organ failures</a:t>
            </a:r>
          </a:p>
        </p:txBody>
      </p:sp>
      <p:sp>
        <p:nvSpPr>
          <p:cNvPr id="74" name="CardHead"/>
          <p:cNvSpPr/>
          <p:nvPr/>
        </p:nvSpPr>
        <p:spPr>
          <a:xfrm>
            <a:off x="5048240" y="228945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Binary</a:t>
            </a:r>
          </a:p>
        </p:txBody>
      </p:sp>
      <p:sp>
        <p:nvSpPr>
          <p:cNvPr id="75" name="CardBody"/>
          <p:cNvSpPr/>
          <p:nvPr/>
        </p:nvSpPr>
        <p:spPr>
          <a:xfrm>
            <a:off x="504824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Two options</a:t>
            </a:r>
          </a:p>
          <a:p>
            <a:pPr marL="0" indent="0" algn="ctr">
              <a:lnSpc>
                <a:spcPct val="104000"/>
              </a:lnSpc>
              <a:spcBef>
                <a:spcPts val="400"/>
              </a:spcBef>
              <a:buNone/>
            </a:pPr>
            <a:r>
              <a:rPr lang="en-US" sz="1450" dirty="0">
                <a:solidFill>
                  <a:srgbClr val="000000"/>
                </a:solidFill>
                <a:latin typeface="Arial"/>
                <a:cs typeface="Arial"/>
              </a:rPr>
              <a:t>Died by day 28: yes or no</a:t>
            </a:r>
          </a:p>
        </p:txBody>
      </p:sp>
      <p:sp>
        <p:nvSpPr>
          <p:cNvPr id="76" name="CardHead"/>
          <p:cNvSpPr/>
          <p:nvPr/>
        </p:nvSpPr>
        <p:spPr>
          <a:xfrm>
            <a:off x="7343760" y="228945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Nominal</a:t>
            </a:r>
          </a:p>
        </p:txBody>
      </p:sp>
      <p:sp>
        <p:nvSpPr>
          <p:cNvPr id="77" name="CardBody"/>
          <p:cNvSpPr/>
          <p:nvPr/>
        </p:nvSpPr>
        <p:spPr>
          <a:xfrm>
            <a:off x="734376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Groups with no order</a:t>
            </a:r>
          </a:p>
          <a:p>
            <a:pPr marL="0" indent="0" algn="ctr">
              <a:lnSpc>
                <a:spcPct val="104000"/>
              </a:lnSpc>
              <a:spcBef>
                <a:spcPts val="400"/>
              </a:spcBef>
              <a:buNone/>
            </a:pPr>
            <a:r>
              <a:rPr lang="en-US" sz="1450" dirty="0">
                <a:solidFill>
                  <a:srgbClr val="000000"/>
                </a:solidFill>
                <a:latin typeface="Arial"/>
                <a:cs typeface="Arial"/>
              </a:rPr>
              <a:t>Source of sepsis: lung, urine, abdomen</a:t>
            </a:r>
          </a:p>
        </p:txBody>
      </p:sp>
      <p:sp>
        <p:nvSpPr>
          <p:cNvPr id="78" name="CardHead"/>
          <p:cNvSpPr/>
          <p:nvPr/>
        </p:nvSpPr>
        <p:spPr>
          <a:xfrm>
            <a:off x="9639280" y="2289454"/>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Ordinal</a:t>
            </a:r>
          </a:p>
        </p:txBody>
      </p:sp>
      <p:sp>
        <p:nvSpPr>
          <p:cNvPr id="79" name="CardBody"/>
          <p:cNvSpPr/>
          <p:nvPr/>
        </p:nvSpPr>
        <p:spPr>
          <a:xfrm>
            <a:off x="9639280" y="2929454"/>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Groups in an order</a:t>
            </a:r>
          </a:p>
          <a:p>
            <a:pPr marL="0" indent="0" algn="ctr">
              <a:lnSpc>
                <a:spcPct val="104000"/>
              </a:lnSpc>
              <a:spcBef>
                <a:spcPts val="400"/>
              </a:spcBef>
              <a:buNone/>
            </a:pPr>
            <a:r>
              <a:rPr lang="en-US" sz="1450" dirty="0">
                <a:solidFill>
                  <a:srgbClr val="000000"/>
                </a:solidFill>
                <a:latin typeface="Arial"/>
                <a:cs typeface="Arial"/>
              </a:rPr>
              <a:t>Acute kidney injury (AKI) stage 1, 2 or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variable type decides the CRF box, the summary and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what type of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Heart rate (beats per minute)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Glasgow Coma Scale (GCS, 3-15)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Blood group (A, B, AB,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Ventilated on day 1 (yes / no)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Time from ICU admission to extubation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Continuous</a:t>
            </a:r>
          </a:p>
          <a:p>
            <a:pPr marL="0" indent="0" algn="ctr">
              <a:lnSpc>
                <a:spcPct val="104000"/>
              </a:lnSpc>
              <a:spcBef>
                <a:spcPts val="300"/>
              </a:spcBef>
              <a:buNone/>
            </a:pPr>
            <a:r>
              <a:rPr lang="en-US" sz="1500" dirty="0">
                <a:solidFill>
                  <a:srgbClr val="000000"/>
                </a:solidFill>
                <a:latin typeface="Arial"/>
                <a:cs typeface="Arial"/>
              </a:rPr>
              <a:t>Ordinal (often analysed as a number)</a:t>
            </a:r>
          </a:p>
          <a:p>
            <a:pPr marL="0" indent="0" algn="ctr">
              <a:lnSpc>
                <a:spcPct val="104000"/>
              </a:lnSpc>
              <a:spcBef>
                <a:spcPts val="300"/>
              </a:spcBef>
              <a:buNone/>
            </a:pPr>
            <a:r>
              <a:rPr lang="en-US" sz="1500" dirty="0">
                <a:solidFill>
                  <a:srgbClr val="000000"/>
                </a:solidFill>
                <a:latin typeface="Arial"/>
                <a:cs typeface="Arial"/>
              </a:rPr>
              <a:t>Nominal</a:t>
            </a:r>
          </a:p>
          <a:p>
            <a:pPr marL="0" indent="0" algn="ctr">
              <a:lnSpc>
                <a:spcPct val="104000"/>
              </a:lnSpc>
              <a:spcBef>
                <a:spcPts val="300"/>
              </a:spcBef>
              <a:buNone/>
            </a:pPr>
            <a:r>
              <a:rPr lang="en-US" sz="1500" dirty="0">
                <a:solidFill>
                  <a:srgbClr val="000000"/>
                </a:solidFill>
                <a:latin typeface="Arial"/>
                <a:cs typeface="Arial"/>
              </a:rPr>
              <a:t>Binary</a:t>
            </a:r>
          </a:p>
          <a:p>
            <a:pPr marL="0" indent="0" algn="ctr">
              <a:lnSpc>
                <a:spcPct val="104000"/>
              </a:lnSpc>
              <a:spcBef>
                <a:spcPts val="300"/>
              </a:spcBef>
              <a:buNone/>
            </a:pPr>
            <a:r>
              <a:rPr lang="en-US" sz="1500" dirty="0">
                <a:solidFill>
                  <a:srgbClr val="000000"/>
                </a:solidFill>
                <a:latin typeface="Arial"/>
                <a:cs typeface="Arial"/>
              </a:rPr>
              <a:t>Time-to-event (some never extubated)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the variable types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Good vs bad CRF items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case report form (CRF) question must have only one possible reading.</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Ambiguous: two nurses will write two different things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Clear: unit, time window, one answer, 'unknown'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from a question to one CRF item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variable 'cumulative fluid balance' in five decisions.</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What?</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Fluid in minus fluid out</a:t>
            </a:r>
          </a:p>
          <a:p>
            <a:pPr marL="0" indent="0" algn="ctr">
              <a:lnSpc>
                <a:spcPct val="104000"/>
              </a:lnSpc>
              <a:spcBef>
                <a:spcPts val="200"/>
              </a:spcBef>
              <a:buNone/>
            </a:pPr>
            <a:r>
              <a:rPr lang="en-US" sz="1500" dirty="0">
                <a:solidFill>
                  <a:srgbClr val="000000"/>
                </a:solidFill>
                <a:latin typeface="Arial"/>
                <a:cs typeface="Arial"/>
              </a:rPr>
              <a:t>All routes, including drug diluents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When?</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From ICU admission to the end of day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Unit?</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ml per kg of admission weight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Format?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number with a +/- sign</a:t>
            </a:r>
          </a:p>
          <a:p>
            <a:pPr marL="0" indent="0" algn="ctr">
              <a:lnSpc>
                <a:spcPct val="104000"/>
              </a:lnSpc>
              <a:spcBef>
                <a:spcPts val="200"/>
              </a:spcBef>
              <a:buNone/>
            </a:pPr>
            <a:r>
              <a:rPr lang="en-US" sz="1500" dirty="0">
                <a:solidFill>
                  <a:srgbClr val="000000"/>
                </a:solidFill>
                <a:latin typeface="Arial"/>
                <a:cs typeface="Arial"/>
              </a:rPr>
              <a:t>One box per digit</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'not recorded' box</a:t>
            </a:r>
          </a:p>
          <a:p>
            <a:pPr marL="0" indent="0" algn="ctr">
              <a:lnSpc>
                <a:spcPct val="104000"/>
              </a:lnSpc>
              <a:spcBef>
                <a:spcPts val="200"/>
              </a:spcBef>
              <a:buNone/>
            </a:pPr>
            <a:r>
              <a:rPr lang="en-US" sz="1500" dirty="0">
                <a:solidFill>
                  <a:srgbClr val="000000"/>
                </a:solidFill>
                <a:latin typeface="Arial"/>
                <a:cs typeface="Arial"/>
              </a:rPr>
              <a:t>A reason for the gap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Answer what, when, unit, format and missing before the first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rules for a good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Write the form before the first patient, then test it on five patients.</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what you need</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Every item links to an objective</a:t>
            </a:r>
          </a:p>
          <a:p>
            <a:pPr marL="0" indent="0" algn="ctr">
              <a:lnSpc>
                <a:spcPct val="104000"/>
              </a:lnSpc>
              <a:spcBef>
                <a:spcPts val="400"/>
              </a:spcBef>
              <a:buNone/>
            </a:pPr>
            <a:r>
              <a:rPr lang="en-US" sz="1450" dirty="0">
                <a:solidFill>
                  <a:srgbClr val="000000"/>
                </a:solidFill>
                <a:latin typeface="Arial"/>
                <a:cs typeface="Arial"/>
              </a:rPr>
              <a:t>Short forms get completed</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One question, one answer</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No double questions</a:t>
            </a:r>
          </a:p>
          <a:p>
            <a:pPr marL="0" indent="0" algn="ctr">
              <a:lnSpc>
                <a:spcPct val="104000"/>
              </a:lnSpc>
              <a:spcBef>
                <a:spcPts val="400"/>
              </a:spcBef>
              <a:buNone/>
            </a:pPr>
            <a:r>
              <a:rPr lang="en-US" sz="1450" dirty="0">
                <a:solidFill>
                  <a:srgbClr val="000000"/>
                </a:solidFill>
                <a:latin typeface="Arial"/>
                <a:cs typeface="Arial"/>
              </a:rPr>
              <a:t>Objective, not opinion</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Units and timing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ml/kg, mmol/L</a:t>
            </a:r>
          </a:p>
          <a:p>
            <a:pPr marL="0" indent="0" algn="ctr">
              <a:lnSpc>
                <a:spcPct val="104000"/>
              </a:lnSpc>
              <a:spcBef>
                <a:spcPts val="400"/>
              </a:spcBef>
              <a:buNone/>
            </a:pPr>
            <a:r>
              <a:rPr lang="en-US" sz="1450" dirty="0">
                <a:solidFill>
                  <a:srgbClr val="000000"/>
                </a:solidFill>
                <a:latin typeface="Arial"/>
                <a:cs typeface="Arial"/>
              </a:rPr>
              <a:t>'at ICU admission', 'day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Closed answers</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Tick boxes</a:t>
            </a:r>
          </a:p>
          <a:p>
            <a:pPr marL="0" indent="0" algn="ctr">
              <a:lnSpc>
                <a:spcPct val="104000"/>
              </a:lnSpc>
              <a:spcBef>
                <a:spcPts val="400"/>
              </a:spcBef>
              <a:buNone/>
            </a:pPr>
            <a:r>
              <a:rPr lang="en-US" sz="1450" dirty="0">
                <a:solidFill>
                  <a:srgbClr val="000000"/>
                </a:solidFill>
                <a:latin typeface="Arial"/>
                <a:cs typeface="Arial"/>
              </a:rPr>
              <a:t>Include 'other' and 'unknown'</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Pilot it</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Two people, same patient</a:t>
            </a:r>
          </a:p>
          <a:p>
            <a:pPr marL="0" indent="0" algn="ctr">
              <a:lnSpc>
                <a:spcPct val="104000"/>
              </a:lnSpc>
              <a:spcBef>
                <a:spcPts val="400"/>
              </a:spcBef>
              <a:buNone/>
            </a:pPr>
            <a:r>
              <a:rPr lang="en-US" sz="1450" dirty="0">
                <a:solidFill>
                  <a:srgbClr val="000000"/>
                </a:solidFill>
                <a:latin typeface="Arial"/>
                <a:cs typeface="Arial"/>
              </a:rPr>
              <a:t>Do they agree?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two colleagues can fill an item differently,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data dictionary: one row per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380000">
                <a:tc>
                  <a:txBody>
                    <a:bodyPr/>
                    <a:lstStyle/>
                    <a:p>
                      <a:pPr algn="l"/>
                      <a:r>
                        <a:rPr lang="en-US" sz="1500" b="1" dirty="0">
                          <a:solidFill>
                            <a:srgbClr val="FFFFFF"/>
                          </a:solidFill>
                          <a:latin typeface="Arial"/>
                          <a:cs typeface="Arial"/>
                        </a:rPr>
                        <a:t>Variable name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Label (meaning)</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Type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Unit / codes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Allowed values</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fb_d5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Cumulative fluid balance, day 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Continuous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-100 to 300</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age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Age at ICU admission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Continuous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years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18 to 110</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Sex</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Binary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 male, 2 = female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src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Main source of infection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Nominal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lung, 2 urine, 3 abdomen, 4 other, 9 unknown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 to 4, 9</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died28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Died by day 28</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Binary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 alive, 1 = died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0, 1</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Example rows for the fluids-in-septic-shock study. The data dictionary is the instruction manual for your dataset.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validation: let the rules catch the errors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simple checks catch most data-entry errors.</a:t>
            </a:r>
          </a:p>
        </p:txBody>
      </p:sp>
      <p:sp>
        <p:nvSpPr>
          <p:cNvPr id="70" name="CardHead"/>
          <p:cNvSpPr/>
          <p:nvPr/>
        </p:nvSpPr>
        <p:spPr>
          <a:xfrm>
            <a:off x="457200" y="215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Range check</a:t>
            </a:r>
          </a:p>
        </p:txBody>
      </p:sp>
      <p:sp>
        <p:nvSpPr>
          <p:cNvPr id="71" name="CardBody"/>
          <p:cNvSpPr/>
          <p:nvPr/>
        </p:nvSpPr>
        <p:spPr>
          <a:xfrm>
            <a:off x="4572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Age = 230</a:t>
            </a:r>
          </a:p>
          <a:p>
            <a:pPr marL="0" indent="0" algn="ctr">
              <a:lnSpc>
                <a:spcPct val="104000"/>
              </a:lnSpc>
              <a:spcBef>
                <a:spcPts val="400"/>
              </a:spcBef>
              <a:buNone/>
            </a:pPr>
            <a:r>
              <a:rPr lang="en-US" sz="1600" dirty="0">
                <a:solidFill>
                  <a:srgbClr val="000000"/>
                </a:solidFill>
                <a:latin typeface="Arial"/>
                <a:cs typeface="Arial"/>
              </a:rPr>
              <a:t>Allowed: 18 to 110</a:t>
            </a:r>
          </a:p>
        </p:txBody>
      </p:sp>
      <p:sp>
        <p:nvSpPr>
          <p:cNvPr id="72" name="CardHead"/>
          <p:cNvSpPr/>
          <p:nvPr/>
        </p:nvSpPr>
        <p:spPr>
          <a:xfrm>
            <a:off x="3326600" y="215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Consistency check</a:t>
            </a:r>
          </a:p>
        </p:txBody>
      </p:sp>
      <p:sp>
        <p:nvSpPr>
          <p:cNvPr id="73" name="CardBody"/>
          <p:cNvSpPr/>
          <p:nvPr/>
        </p:nvSpPr>
        <p:spPr>
          <a:xfrm>
            <a:off x="33266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Discharge 02/03, admission 05/03</a:t>
            </a:r>
          </a:p>
          <a:p>
            <a:pPr marL="0" indent="0" algn="ctr">
              <a:lnSpc>
                <a:spcPct val="104000"/>
              </a:lnSpc>
              <a:spcBef>
                <a:spcPts val="400"/>
              </a:spcBef>
              <a:buNone/>
            </a:pPr>
            <a:r>
              <a:rPr lang="en-US" sz="1600" dirty="0">
                <a:solidFill>
                  <a:srgbClr val="000000"/>
                </a:solidFill>
                <a:latin typeface="Arial"/>
                <a:cs typeface="Arial"/>
              </a:rPr>
              <a:t>Discharge must come after admission</a:t>
            </a:r>
          </a:p>
        </p:txBody>
      </p:sp>
      <p:sp>
        <p:nvSpPr>
          <p:cNvPr id="74" name="CardHead"/>
          <p:cNvSpPr/>
          <p:nvPr/>
        </p:nvSpPr>
        <p:spPr>
          <a:xfrm>
            <a:off x="6196000" y="215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Logic check</a:t>
            </a:r>
          </a:p>
        </p:txBody>
      </p:sp>
      <p:sp>
        <p:nvSpPr>
          <p:cNvPr id="75" name="CardBody"/>
          <p:cNvSpPr/>
          <p:nvPr/>
        </p:nvSpPr>
        <p:spPr>
          <a:xfrm>
            <a:off x="61960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Sex = male, pregnant = yes</a:t>
            </a:r>
          </a:p>
          <a:p>
            <a:pPr marL="0" indent="0" algn="ctr">
              <a:lnSpc>
                <a:spcPct val="104000"/>
              </a:lnSpc>
              <a:spcBef>
                <a:spcPts val="400"/>
              </a:spcBef>
              <a:buNone/>
            </a:pPr>
            <a:r>
              <a:rPr lang="en-US" sz="1600" dirty="0">
                <a:solidFill>
                  <a:srgbClr val="000000"/>
                </a:solidFill>
                <a:latin typeface="Arial"/>
                <a:cs typeface="Arial"/>
              </a:rPr>
              <a:t>An impossible combination</a:t>
            </a:r>
          </a:p>
        </p:txBody>
      </p:sp>
      <p:sp>
        <p:nvSpPr>
          <p:cNvPr id="76" name="CardHead"/>
          <p:cNvSpPr/>
          <p:nvPr/>
        </p:nvSpPr>
        <p:spPr>
          <a:xfrm>
            <a:off x="9065400" y="215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Completeness check</a:t>
            </a:r>
          </a:p>
        </p:txBody>
      </p:sp>
      <p:sp>
        <p:nvSpPr>
          <p:cNvPr id="77" name="CardBody"/>
          <p:cNvSpPr/>
          <p:nvPr/>
        </p:nvSpPr>
        <p:spPr>
          <a:xfrm>
            <a:off x="9065400" y="2799840"/>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Day-28 status left blank</a:t>
            </a:r>
          </a:p>
          <a:p>
            <a:pPr marL="0" indent="0" algn="ctr">
              <a:lnSpc>
                <a:spcPct val="104000"/>
              </a:lnSpc>
              <a:spcBef>
                <a:spcPts val="400"/>
              </a:spcBef>
              <a:buNone/>
            </a:pPr>
            <a:r>
              <a:rPr lang="en-US" sz="1600" dirty="0">
                <a:solidFill>
                  <a:srgbClr val="000000"/>
                </a:solidFill>
                <a:latin typeface="Arial"/>
                <a:cs typeface="Arial"/>
              </a:rPr>
              <a:t>A required field: chase it now</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data while the patient is still in the unit, not a year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management in practice: from bedside to database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Two safe routes from the patient to one secure database.</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CRF</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Double data entry: two people type each form</a:t>
            </a:r>
          </a:p>
          <a:p>
            <a:pPr marL="0" indent="0" algn="ctr">
              <a:lnSpc>
                <a:spcPct val="104000"/>
              </a:lnSpc>
              <a:spcBef>
                <a:spcPts val="400"/>
              </a:spcBef>
              <a:buNone/>
            </a:pPr>
            <a:r>
              <a:rPr lang="en-US" sz="1750" dirty="0">
                <a:solidFill>
                  <a:srgbClr val="000000"/>
                </a:solidFill>
                <a:latin typeface="Arial"/>
                <a:cs typeface="Arial"/>
              </a:rPr>
              <a:t>A computer compares the two copies</a:t>
            </a:r>
          </a:p>
          <a:p>
            <a:pPr marL="0" indent="0" algn="ctr">
              <a:lnSpc>
                <a:spcPct val="104000"/>
              </a:lnSpc>
              <a:spcBef>
                <a:spcPts val="400"/>
              </a:spcBef>
              <a:buNone/>
            </a:pPr>
            <a:r>
              <a:rPr lang="en-US" sz="1750" dirty="0">
                <a:solidFill>
                  <a:srgbClr val="000000"/>
                </a:solidFill>
                <a:latin typeface="Arial"/>
                <a:cs typeface="Arial"/>
              </a:rPr>
              <a:t>Mismatches are fixed from the paper form</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Electronic data capture (EDC)</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Form on a tablet or computer</a:t>
            </a:r>
          </a:p>
          <a:p>
            <a:pPr marL="0" indent="0" algn="ctr">
              <a:lnSpc>
                <a:spcPct val="104000"/>
              </a:lnSpc>
              <a:spcBef>
                <a:spcPts val="400"/>
              </a:spcBef>
              <a:buNone/>
            </a:pPr>
            <a:r>
              <a:rPr lang="en-US" sz="1750" dirty="0">
                <a:solidFill>
                  <a:srgbClr val="000000"/>
                </a:solidFill>
                <a:latin typeface="Arial"/>
                <a:cs typeface="Arial"/>
              </a:rPr>
              <a:t>For example REDCap or KoBoToolbox</a:t>
            </a:r>
          </a:p>
          <a:p>
            <a:pPr marL="0" indent="0" algn="ctr">
              <a:lnSpc>
                <a:spcPct val="104000"/>
              </a:lnSpc>
              <a:spcBef>
                <a:spcPts val="400"/>
              </a:spcBef>
              <a:buNone/>
            </a:pPr>
            <a:r>
              <a:rPr lang="en-US" sz="1750" dirty="0">
                <a:solidFill>
                  <a:srgbClr val="000000"/>
                </a:solidFill>
                <a:latin typeface="Arial"/>
                <a:cs typeface="Arial"/>
              </a:rPr>
              <a:t>Range, logic and required-field checks at entry</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Secure database</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Coded study IDs, no names</a:t>
            </a:r>
          </a:p>
          <a:p>
            <a:pPr marL="0" indent="0" algn="ctr">
              <a:lnSpc>
                <a:spcPct val="104000"/>
              </a:lnSpc>
              <a:spcBef>
                <a:spcPts val="400"/>
              </a:spcBef>
              <a:buNone/>
            </a:pPr>
            <a:r>
              <a:rPr lang="en-US" sz="1750" dirty="0">
                <a:solidFill>
                  <a:srgbClr val="000000"/>
                </a:solidFill>
                <a:latin typeface="Arial"/>
                <a:cs typeface="Arial"/>
              </a:rPr>
              <a:t>Audit trail: who changed what, when and why</a:t>
            </a:r>
          </a:p>
          <a:p>
            <a:pPr marL="0" indent="0" algn="ctr">
              <a:lnSpc>
                <a:spcPct val="104000"/>
              </a:lnSpc>
              <a:spcBef>
                <a:spcPts val="400"/>
              </a:spcBef>
              <a:buNone/>
            </a:pPr>
            <a:r>
              <a:rPr lang="en-US" sz="1750" dirty="0">
                <a:solidFill>
                  <a:srgbClr val="000000"/>
                </a:solidFill>
                <a:latin typeface="Arial"/>
                <a:cs typeface="Arial"/>
              </a:rPr>
              <a:t>Example: lactate 21 corrected to 2.1, 'typo'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Check at entry, enter twice if on paper, and log every change.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why it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rarely random: the sickest patients go missing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how to prevent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Prevention is the only reliable cure.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Fewer items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Collect only what you need</a:t>
            </a:r>
          </a:p>
          <a:p>
            <a:pPr marL="0" indent="0" algn="ctr">
              <a:lnSpc>
                <a:spcPct val="104000"/>
              </a:lnSpc>
              <a:spcBef>
                <a:spcPts val="200"/>
              </a:spcBef>
              <a:buNone/>
            </a:pPr>
            <a:r>
              <a:rPr lang="en-US" sz="1500" dirty="0">
                <a:solidFill>
                  <a:srgbClr val="000000"/>
                </a:solidFill>
                <a:latin typeface="Arial"/>
                <a:cs typeface="Arial"/>
              </a:rPr>
              <a:t>Short forms get finished</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Clear form</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Required fields marked</a:t>
            </a:r>
          </a:p>
          <a:p>
            <a:pPr marL="0" indent="0" algn="ctr">
              <a:lnSpc>
                <a:spcPct val="104000"/>
              </a:lnSpc>
              <a:spcBef>
                <a:spcPts val="200"/>
              </a:spcBef>
              <a:buNone/>
            </a:pPr>
            <a:r>
              <a:rPr lang="en-US" sz="1500" dirty="0">
                <a:solidFill>
                  <a:srgbClr val="000000"/>
                </a:solidFill>
                <a:latin typeface="Arial"/>
                <a:cs typeface="Arial"/>
              </a:rPr>
              <a:t>'Not done' and 'unknown' options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Train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Train every data collector</a:t>
            </a:r>
          </a:p>
          <a:p>
            <a:pPr marL="0" indent="0" algn="ctr">
              <a:lnSpc>
                <a:spcPct val="104000"/>
              </a:lnSpc>
              <a:spcBef>
                <a:spcPts val="200"/>
              </a:spcBef>
              <a:buNone/>
            </a:pPr>
            <a:r>
              <a:rPr lang="en-US" sz="1500" dirty="0">
                <a:solidFill>
                  <a:srgbClr val="000000"/>
                </a:solidFill>
                <a:latin typeface="Arial"/>
                <a:cs typeface="Arial"/>
              </a:rPr>
              <a:t>Same rules, same definitions</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Check weekly</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 completeness report</a:t>
            </a:r>
          </a:p>
          <a:p>
            <a:pPr marL="0" indent="0" algn="ctr">
              <a:lnSpc>
                <a:spcPct val="104000"/>
              </a:lnSpc>
              <a:spcBef>
                <a:spcPts val="200"/>
              </a:spcBef>
              <a:buNone/>
            </a:pPr>
            <a:r>
              <a:rPr lang="en-US" sz="1500" dirty="0">
                <a:solidFill>
                  <a:srgbClr val="000000"/>
                </a:solidFill>
                <a:latin typeface="Arial"/>
                <a:cs typeface="Arial"/>
              </a:rPr>
              <a:t>Who and what is missing?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Chase early</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Fix while the chart is on the ward</a:t>
            </a:r>
          </a:p>
          <a:p>
            <a:pPr marL="0" indent="0" algn="ctr">
              <a:lnSpc>
                <a:spcPct val="104000"/>
              </a:lnSpc>
              <a:spcBef>
                <a:spcPts val="200"/>
              </a:spcBef>
              <a:buNone/>
            </a:pPr>
            <a:r>
              <a:rPr lang="en-US" sz="1500" dirty="0">
                <a:solidFill>
                  <a:srgbClr val="000000"/>
                </a:solidFill>
                <a:latin typeface="Arial"/>
                <a:cs typeface="Arial"/>
              </a:rPr>
              <a:t>Plan follow-up for transfers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Plan who completes, checks and chases each form before you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Fix the CRF items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the Session 5 exercise sheet (PDF sent before the session), Exercise 2: four unclear CRF items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one item at a time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Rewrite each item, then two or three people read theirs aloud (1 minute per item)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builds the class version live, using the four checks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Items we do not reach, and Exercise 1 (classify 10 variables),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The four checks</a:t>
            </a:r>
          </a:p>
          <a:p>
            <a:pPr marL="0" indent="0" algn="ctr">
              <a:lnSpc>
                <a:spcPct val="104000"/>
              </a:lnSpc>
              <a:spcBef>
                <a:spcPts val="300"/>
              </a:spcBef>
              <a:buNone/>
            </a:pPr>
            <a:r>
              <a:rPr lang="en-US" sz="1500" dirty="0">
                <a:solidFill>
                  <a:srgbClr val="000000"/>
                </a:solidFill>
                <a:latin typeface="Arial"/>
                <a:cs typeface="Arial"/>
              </a:rPr>
              <a:t>Unit in the question?</a:t>
            </a:r>
          </a:p>
          <a:p>
            <a:pPr marL="0" indent="0" algn="ctr">
              <a:lnSpc>
                <a:spcPct val="104000"/>
              </a:lnSpc>
              <a:spcBef>
                <a:spcPts val="300"/>
              </a:spcBef>
              <a:buNone/>
            </a:pPr>
            <a:r>
              <a:rPr lang="en-US" sz="1500" dirty="0">
                <a:solidFill>
                  <a:srgbClr val="000000"/>
                </a:solidFill>
                <a:latin typeface="Arial"/>
                <a:cs typeface="Arial"/>
              </a:rPr>
              <a:t>Time point in the question?</a:t>
            </a:r>
          </a:p>
          <a:p>
            <a:pPr marL="0" indent="0" algn="ctr">
              <a:lnSpc>
                <a:spcPct val="104000"/>
              </a:lnSpc>
              <a:spcBef>
                <a:spcPts val="300"/>
              </a:spcBef>
              <a:buNone/>
            </a:pPr>
            <a:r>
              <a:rPr lang="en-US" sz="1500" dirty="0">
                <a:solidFill>
                  <a:srgbClr val="000000"/>
                </a:solidFill>
                <a:latin typeface="Arial"/>
                <a:cs typeface="Arial"/>
              </a:rPr>
              <a:t>One answer only?</a:t>
            </a:r>
          </a:p>
          <a:p>
            <a:pPr marL="0" indent="0" algn="ctr">
              <a:lnSpc>
                <a:spcPct val="104000"/>
              </a:lnSpc>
              <a:spcBef>
                <a:spcPts val="300"/>
              </a:spcBef>
              <a:buNone/>
            </a:pPr>
            <a:r>
              <a:rPr lang="en-US" sz="1500" dirty="0">
                <a:solidFill>
                  <a:srgbClr val="000000"/>
                </a:solidFill>
                <a:latin typeface="Arial"/>
                <a:cs typeface="Arial"/>
              </a:rPr>
              <a:t>'Unknown' option?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Rewritten CRF items agreed by the whole class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5.2 Meet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realistic dataset, five research questions.</a:t>
            </a:r>
          </a:p>
          <a:p>
            <a:pPr marL="0" indent="0" algn="ctr">
              <a:spcBef>
                <a:spcPts val="1200"/>
              </a:spcBef>
              <a:buNone/>
            </a:pPr>
            <a:r>
              <a:rPr lang="en-US" sz="1900" i="1" dirty="0">
                <a:solidFill>
                  <a:srgbClr val="595959"/>
                </a:solidFill>
                <a:latin typeface="Arial"/>
                <a:cs typeface="Arial"/>
              </a:rPr>
              <a:t>5.2 Meet the course dataset FLUID-ICU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at a glance (simulated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multicentre prospective cohort in 4 intensive care units (ICUs), January 2023 to December 2024.</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620 adults with sepsis</a:t>
            </a:r>
          </a:p>
          <a:p>
            <a:pPr marL="0" indent="0" algn="ctr">
              <a:lnSpc>
                <a:spcPct val="104000"/>
              </a:lnSpc>
              <a:spcBef>
                <a:spcPts val="400"/>
              </a:spcBef>
              <a:buNone/>
            </a:pPr>
            <a:r>
              <a:rPr lang="en-US" sz="1600" dirty="0">
                <a:solidFill>
                  <a:srgbClr val="000000"/>
                </a:solidFill>
                <a:latin typeface="Arial"/>
                <a:cs typeface="Arial"/>
              </a:rPr>
              <a:t>ICU A 191, ICU B 164, ICU C 147, ICU D 118</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Exposure</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Cumulative fluid balance by day 3 (ml/kg)</a:t>
            </a:r>
          </a:p>
          <a:p>
            <a:pPr marL="0" indent="0" algn="ctr">
              <a:lnSpc>
                <a:spcPct val="104000"/>
              </a:lnSpc>
              <a:spcBef>
                <a:spcPts val="400"/>
              </a:spcBef>
              <a:buNone/>
            </a:pPr>
            <a:r>
              <a:rPr lang="en-US" sz="1600" dirty="0">
                <a:solidFill>
                  <a:srgbClr val="000000"/>
                </a:solidFill>
                <a:latin typeface="Arial"/>
                <a:cs typeface="Arial"/>
              </a:rPr>
              <a:t>Positive in 373/618 (60.4%)</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Primary outcome</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Death by day 28: 179/620 (28.9%)</a:t>
            </a:r>
          </a:p>
          <a:p>
            <a:pPr marL="0" indent="0" algn="ctr">
              <a:lnSpc>
                <a:spcPct val="104000"/>
              </a:lnSpc>
              <a:spcBef>
                <a:spcPts val="400"/>
              </a:spcBef>
              <a:buNone/>
            </a:pPr>
            <a:r>
              <a:rPr lang="en-US" sz="1600" dirty="0">
                <a:solidFill>
                  <a:srgbClr val="000000"/>
                </a:solidFill>
                <a:latin typeface="Arial"/>
                <a:cs typeface="Arial"/>
              </a:rPr>
              <a:t>Time to death also recorded</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Also recorded</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Severity scores (SOFA, APACHE II)</a:t>
            </a:r>
          </a:p>
          <a:p>
            <a:pPr marL="0" indent="0" algn="ctr">
              <a:lnSpc>
                <a:spcPct val="104000"/>
              </a:lnSpc>
              <a:spcBef>
                <a:spcPts val="400"/>
              </a:spcBef>
              <a:buNone/>
            </a:pPr>
            <a:r>
              <a:rPr lang="en-US" sz="1600" dirty="0">
                <a:solidFill>
                  <a:srgbClr val="000000"/>
                </a:solidFill>
                <a:latin typeface="Arial"/>
                <a:cs typeface="Arial"/>
              </a:rPr>
              <a:t>Lactate</a:t>
            </a:r>
          </a:p>
          <a:p>
            <a:pPr marL="0" indent="0" algn="ctr">
              <a:lnSpc>
                <a:spcPct val="104000"/>
              </a:lnSpc>
              <a:spcBef>
                <a:spcPts val="400"/>
              </a:spcBef>
              <a:buNone/>
            </a:pPr>
            <a:r>
              <a:rPr lang="en-US" sz="1600" dirty="0">
                <a:solidFill>
                  <a:srgbClr val="000000"/>
                </a:solidFill>
                <a:latin typeface="Arial"/>
                <a:cs typeface="Arial"/>
              </a:rPr>
              <a:t>Acute kidney injury (AKI)</a:t>
            </a:r>
          </a:p>
          <a:p>
            <a:pPr marL="0" indent="0" algn="ctr">
              <a:lnSpc>
                <a:spcPct val="104000"/>
              </a:lnSpc>
              <a:spcBef>
                <a:spcPts val="400"/>
              </a:spcBef>
              <a:buNone/>
            </a:pPr>
            <a:r>
              <a:rPr lang="en-US" sz="1600" dirty="0">
                <a:solidFill>
                  <a:srgbClr val="000000"/>
                </a:solidFill>
                <a:latin typeface="Arial"/>
                <a:cs typeface="Arial"/>
              </a:rPr>
              <a:t>Ventilator-free days, ICU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Question: is a positive fluid balance by day 3 associated with 28-day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623 rows to 527 complete cases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(simulated): who is included at each step, and why not.</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Raw file</a:t>
            </a:r>
          </a:p>
        </p:txBody>
      </p:sp>
      <p:sp>
        <p:nvSpPr>
          <p:cNvPr id="81" name="StepText"/>
          <p:cNvSpPr/>
          <p:nvPr/>
        </p:nvSpPr>
        <p:spPr>
          <a:xfrm>
            <a:off x="4972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623 rows</a:t>
            </a:r>
          </a:p>
          <a:p>
            <a:pPr marL="0" indent="0" algn="ctr">
              <a:lnSpc>
                <a:spcPct val="104000"/>
              </a:lnSpc>
              <a:spcBef>
                <a:spcPts val="200"/>
              </a:spcBef>
              <a:buNone/>
            </a:pPr>
            <a:r>
              <a:rPr lang="en-US" sz="1500" dirty="0">
                <a:solidFill>
                  <a:srgbClr val="000000"/>
                </a:solidFill>
                <a:latin typeface="Arial"/>
                <a:cs typeface="Arial"/>
              </a:rPr>
              <a:t>Minus 3 duplicate records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Enrolled</a:t>
            </a:r>
          </a:p>
        </p:txBody>
      </p:sp>
      <p:sp>
        <p:nvSpPr>
          <p:cNvPr id="83" name="StepText"/>
          <p:cNvSpPr/>
          <p:nvPr/>
        </p:nvSpPr>
        <p:spPr>
          <a:xfrm>
            <a:off x="33016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620 patients</a:t>
            </a:r>
          </a:p>
          <a:p>
            <a:pPr marL="0" indent="0" algn="ctr">
              <a:lnSpc>
                <a:spcPct val="104000"/>
              </a:lnSpc>
              <a:spcBef>
                <a:spcPts val="200"/>
              </a:spcBef>
              <a:buNone/>
            </a:pPr>
            <a:r>
              <a:rPr lang="en-US" sz="1500" dirty="0">
                <a:solidFill>
                  <a:srgbClr val="000000"/>
                </a:solidFill>
                <a:latin typeface="Arial"/>
                <a:cs typeface="Arial"/>
              </a:rPr>
              <a:t>Minus 2 without a day-3 fluid balance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Exposure analysis</a:t>
            </a:r>
          </a:p>
        </p:txBody>
      </p:sp>
      <p:sp>
        <p:nvSpPr>
          <p:cNvPr id="85" name="StepText"/>
          <p:cNvSpPr/>
          <p:nvPr/>
        </p:nvSpPr>
        <p:spPr>
          <a:xfrm>
            <a:off x="61060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618 patients (Table 1, comparisons)</a:t>
            </a:r>
          </a:p>
          <a:p>
            <a:pPr marL="0" indent="0" algn="ctr">
              <a:lnSpc>
                <a:spcPct val="104000"/>
              </a:lnSpc>
              <a:spcBef>
                <a:spcPts val="200"/>
              </a:spcBef>
              <a:buNone/>
            </a:pPr>
            <a:r>
              <a:rPr lang="en-US" sz="1500" dirty="0">
                <a:solidFill>
                  <a:srgbClr val="000000"/>
                </a:solidFill>
                <a:latin typeface="Arial"/>
                <a:cs typeface="Arial"/>
              </a:rPr>
              <a:t>Minus 91 without lactate (or age)</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Complete cases</a:t>
            </a:r>
          </a:p>
        </p:txBody>
      </p:sp>
      <p:sp>
        <p:nvSpPr>
          <p:cNvPr id="87" name="StepText"/>
          <p:cNvSpPr/>
          <p:nvPr/>
        </p:nvSpPr>
        <p:spPr>
          <a:xfrm>
            <a:off x="8910400" y="258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527 patients</a:t>
            </a:r>
          </a:p>
          <a:p>
            <a:pPr marL="0" indent="0" algn="ctr">
              <a:lnSpc>
                <a:spcPct val="104000"/>
              </a:lnSpc>
              <a:spcBef>
                <a:spcPts val="200"/>
              </a:spcBef>
              <a:buNone/>
            </a:pPr>
            <a:r>
              <a:rPr lang="en-US" sz="1500" dirty="0">
                <a:solidFill>
                  <a:srgbClr val="000000"/>
                </a:solidFill>
                <a:latin typeface="Arial"/>
                <a:cs typeface="Arial"/>
              </a:rPr>
              <a:t>Used for the adjusted model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paper reports this flow: who was included at each step, and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Raw vs clean: what the four ICUs actually sent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25455"/>
          <a:ext cx="11277600" cy="2973633"/>
        </p:xfrm>
        <a:graphic>
          <a:graphicData uri="http://schemas.openxmlformats.org/drawingml/2006/table">
            <a:tbl>
              <a:tblPr firstRow="1" bandRow="1">
                <a:tableStyleId>{5C22544A-7EE6-4342-B048-85BDC9FD1C3A}</a:tableStyleId>
              </a:tblPr>
              <a:tblGrid>
                <a:gridCol w="2563090"/>
                <a:gridCol w="5382490"/>
                <a:gridCol w="3332020"/>
              </a:tblGrid>
              <a:tr h="380000">
                <a:tc>
                  <a:txBody>
                    <a:bodyPr/>
                    <a:lstStyle/>
                    <a:p>
                      <a:pPr algn="l"/>
                      <a:r>
                        <a:rPr lang="en-US" sz="1700" b="1" dirty="0">
                          <a:solidFill>
                            <a:srgbClr val="FFFFFF"/>
                          </a:solidFill>
                          <a:latin typeface="Arial"/>
                          <a:cs typeface="Arial"/>
                        </a:rPr>
                        <a:t>Problem</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Raw file (as sent)</a:t>
                      </a:r>
                    </a:p>
                  </a:txBody>
                  <a:tcPr marL="73152" marR="73152" marT="45720" marB="45720" anchor="ctr">
                    <a:solidFill>
                      <a:srgbClr val="B23B2E"/>
                    </a:solidFill>
                  </a:tcPr>
                </a:tc>
                <a:tc>
                  <a:txBody>
                    <a:bodyPr/>
                    <a:lstStyle/>
                    <a:p>
                      <a:pPr algn="l"/>
                      <a:r>
                        <a:rPr lang="en-US" sz="1700" b="1" dirty="0">
                          <a:solidFill>
                            <a:srgbClr val="FFFFFF"/>
                          </a:solidFill>
                          <a:latin typeface="Arial"/>
                          <a:cs typeface="Arial"/>
                        </a:rPr>
                        <a:t>Clean file (01_clean.R)</a:t>
                      </a:r>
                    </a:p>
                  </a:txBody>
                  <a:tcPr marL="73152" marR="73152" marT="45720" marB="45720" anchor="ctr">
                    <a:solidFill>
                      <a:srgbClr val="0D7377"/>
                    </a:solidFill>
                  </a:tcPr>
                </a:tc>
              </a:tr>
              <a:tr h="370519">
                <a:tc>
                  <a:txBody>
                    <a:bodyPr/>
                    <a:lstStyle/>
                    <a:p>
                      <a:pPr algn="l"/>
                      <a:r>
                        <a:rPr lang="en-US" sz="1700" b="1" dirty="0">
                          <a:solidFill>
                            <a:srgbClr val="000000"/>
                          </a:solidFill>
                          <a:latin typeface="Arial"/>
                          <a:cs typeface="Arial"/>
                        </a:rPr>
                        <a:t>Sex</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8 spellings: M, m, male, F, f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Male / Female</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Yes / No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Yes, Y, yes, 1  |  No, N, no, 0</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Yes / No</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Admission date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2023-03-14 | 14/03/2023 | 14-Mar-2023</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2023-03-14</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Lactate, ICU C</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23.4  (mg/dL)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2.6  (mmol/L)</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Missing codes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999  |  -99</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missing (NA)</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Impossible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age 210 | weight 7 kg | output -2990 ml</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missing + query to site</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Duplicates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623 rows (3 IDs twice)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620 patients</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Real data arrive messy: clean them with a script, never by hand.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cleaning FLUID-ICU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FLUID-ICU.Rproj and the script 01_clean.R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the raw file as text and look at it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Run one block per problem: names, duplicates, sites, dates, codes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the lactate unit problem with a summary by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Last block: the cleaned file is identical to the reference file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Watch for</a:t>
            </a:r>
          </a:p>
          <a:p>
            <a:pPr marL="0" indent="0" algn="ctr">
              <a:lnSpc>
                <a:spcPct val="104000"/>
              </a:lnSpc>
              <a:spcBef>
                <a:spcPts val="300"/>
              </a:spcBef>
              <a:buNone/>
            </a:pPr>
            <a:r>
              <a:rPr lang="en-US" sz="1500" dirty="0">
                <a:solidFill>
                  <a:srgbClr val="000000"/>
                </a:solidFill>
                <a:latin typeface="Arial"/>
                <a:cs typeface="Arial"/>
              </a:rPr>
              <a:t>One problem, one block</a:t>
            </a:r>
          </a:p>
          <a:p>
            <a:pPr marL="0" indent="0" algn="ctr">
              <a:lnSpc>
                <a:spcPct val="104000"/>
              </a:lnSpc>
              <a:spcBef>
                <a:spcPts val="300"/>
              </a:spcBef>
              <a:buNone/>
            </a:pPr>
            <a:r>
              <a:rPr lang="en-US" sz="1500" dirty="0">
                <a:solidFill>
                  <a:srgbClr val="000000"/>
                </a:solidFill>
                <a:latin typeface="Arial"/>
                <a:cs typeface="Arial"/>
              </a:rPr>
              <a:t>The raw file is never changed</a:t>
            </a:r>
          </a:p>
          <a:p>
            <a:pPr marL="0" indent="0" algn="ctr">
              <a:lnSpc>
                <a:spcPct val="104000"/>
              </a:lnSpc>
              <a:spcBef>
                <a:spcPts val="300"/>
              </a:spcBef>
              <a:buNone/>
            </a:pPr>
            <a:r>
              <a:rPr lang="en-US" sz="1500" dirty="0">
                <a:solidFill>
                  <a:srgbClr val="000000"/>
                </a:solidFill>
                <a:latin typeface="Arial"/>
                <a:cs typeface="Arial"/>
              </a:rPr>
              <a:t>Every step goes in the log</a:t>
            </a:r>
          </a:p>
          <a:p>
            <a:pPr marL="0" indent="0" algn="ctr">
              <a:lnSpc>
                <a:spcPct val="104000"/>
              </a:lnSpc>
              <a:spcBef>
                <a:spcPts val="300"/>
              </a:spcBef>
              <a:buNone/>
            </a:pPr>
            <a:r>
              <a:rPr lang="en-US" sz="1500" dirty="0">
                <a:solidFill>
                  <a:srgbClr val="000000"/>
                </a:solidFill>
                <a:latin typeface="Arial"/>
                <a:cs typeface="Arial"/>
              </a:rPr>
              <a:t>Re-run = same result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raw data become clean,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cleaning log: the audit trail of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cleaning_log.md: one row for every change made to the raw data.</a:t>
            </a:r>
          </a:p>
        </p:txBody>
      </p:sp>
      <p:sp>
        <p:nvSpPr>
          <p:cNvPr id="70" name="CardHead"/>
          <p:cNvSpPr/>
          <p:nvPr/>
        </p:nvSpPr>
        <p:spPr>
          <a:xfrm>
            <a:off x="457200" y="2075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rule</a:t>
            </a:r>
          </a:p>
        </p:txBody>
      </p:sp>
      <p:sp>
        <p:nvSpPr>
          <p:cNvPr id="71" name="CardBody"/>
          <p:cNvSpPr/>
          <p:nvPr/>
        </p:nvSpPr>
        <p:spPr>
          <a:xfrm>
            <a:off x="4572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Never edit the raw file</a:t>
            </a:r>
          </a:p>
          <a:p>
            <a:pPr marL="0" indent="0" algn="ctr">
              <a:lnSpc>
                <a:spcPct val="104000"/>
              </a:lnSpc>
              <a:spcBef>
                <a:spcPts val="400"/>
              </a:spcBef>
              <a:buNone/>
            </a:pPr>
            <a:r>
              <a:rPr lang="en-US" sz="1600" dirty="0">
                <a:solidFill>
                  <a:srgbClr val="000000"/>
                </a:solidFill>
                <a:latin typeface="Arial"/>
                <a:cs typeface="Arial"/>
              </a:rPr>
              <a:t>Every change is made by the script and logged</a:t>
            </a:r>
          </a:p>
        </p:txBody>
      </p:sp>
      <p:sp>
        <p:nvSpPr>
          <p:cNvPr id="72" name="CardHead"/>
          <p:cNvSpPr/>
          <p:nvPr/>
        </p:nvSpPr>
        <p:spPr>
          <a:xfrm>
            <a:off x="3326600" y="2075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Each row says</a:t>
            </a:r>
          </a:p>
        </p:txBody>
      </p:sp>
      <p:sp>
        <p:nvSpPr>
          <p:cNvPr id="73" name="CardBody"/>
          <p:cNvSpPr/>
          <p:nvPr/>
        </p:nvSpPr>
        <p:spPr>
          <a:xfrm>
            <a:off x="33266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The problem found</a:t>
            </a:r>
          </a:p>
          <a:p>
            <a:pPr marL="0" indent="0" algn="ctr">
              <a:lnSpc>
                <a:spcPct val="104000"/>
              </a:lnSpc>
              <a:spcBef>
                <a:spcPts val="400"/>
              </a:spcBef>
              <a:buNone/>
            </a:pPr>
            <a:r>
              <a:rPr lang="en-US" sz="1600" dirty="0">
                <a:solidFill>
                  <a:srgbClr val="000000"/>
                </a:solidFill>
                <a:latin typeface="Arial"/>
                <a:cs typeface="Arial"/>
              </a:rPr>
              <a:t>How many records</a:t>
            </a:r>
          </a:p>
          <a:p>
            <a:pPr marL="0" indent="0" algn="ctr">
              <a:lnSpc>
                <a:spcPct val="104000"/>
              </a:lnSpc>
              <a:spcBef>
                <a:spcPts val="400"/>
              </a:spcBef>
              <a:buNone/>
            </a:pPr>
            <a:r>
              <a:rPr lang="en-US" sz="1600" dirty="0">
                <a:solidFill>
                  <a:srgbClr val="000000"/>
                </a:solidFill>
                <a:latin typeface="Arial"/>
                <a:cs typeface="Arial"/>
              </a:rPr>
              <a:t>What we did and why</a:t>
            </a:r>
          </a:p>
        </p:txBody>
      </p:sp>
      <p:sp>
        <p:nvSpPr>
          <p:cNvPr id="74" name="CardHead"/>
          <p:cNvSpPr/>
          <p:nvPr/>
        </p:nvSpPr>
        <p:spPr>
          <a:xfrm>
            <a:off x="6196000" y="2075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Queries</a:t>
            </a:r>
          </a:p>
        </p:txBody>
      </p:sp>
      <p:sp>
        <p:nvSpPr>
          <p:cNvPr id="75" name="CardBody"/>
          <p:cNvSpPr/>
          <p:nvPr/>
        </p:nvSpPr>
        <p:spPr>
          <a:xfrm>
            <a:off x="61960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Impossible value set to missing</a:t>
            </a:r>
          </a:p>
          <a:p>
            <a:pPr marL="0" indent="0" algn="ctr">
              <a:lnSpc>
                <a:spcPct val="104000"/>
              </a:lnSpc>
              <a:spcBef>
                <a:spcPts val="400"/>
              </a:spcBef>
              <a:buNone/>
            </a:pPr>
            <a:r>
              <a:rPr lang="en-US" sz="1600" dirty="0">
                <a:solidFill>
                  <a:srgbClr val="000000"/>
                </a:solidFill>
                <a:latin typeface="Arial"/>
                <a:cs typeface="Arial"/>
              </a:rPr>
              <a:t>Query sent to the site</a:t>
            </a:r>
          </a:p>
          <a:p>
            <a:pPr marL="0" indent="0" algn="ctr">
              <a:lnSpc>
                <a:spcPct val="104000"/>
              </a:lnSpc>
              <a:spcBef>
                <a:spcPts val="400"/>
              </a:spcBef>
              <a:buNone/>
            </a:pPr>
            <a:r>
              <a:rPr lang="en-US" sz="1600" dirty="0">
                <a:solidFill>
                  <a:srgbClr val="000000"/>
                </a:solidFill>
                <a:latin typeface="Arial"/>
                <a:cs typeface="Arial"/>
              </a:rPr>
              <a:t>The patient stays in</a:t>
            </a:r>
          </a:p>
        </p:txBody>
      </p:sp>
      <p:sp>
        <p:nvSpPr>
          <p:cNvPr id="76" name="CardHead"/>
          <p:cNvSpPr/>
          <p:nvPr/>
        </p:nvSpPr>
        <p:spPr>
          <a:xfrm>
            <a:off x="9065400" y="2075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left</a:t>
            </a:r>
          </a:p>
        </p:txBody>
      </p:sp>
      <p:sp>
        <p:nvSpPr>
          <p:cNvPr id="77" name="CardBody"/>
          <p:cNvSpPr/>
          <p:nvPr/>
        </p:nvSpPr>
        <p:spPr>
          <a:xfrm>
            <a:off x="9065400" y="2715173"/>
            <a:ext cx="26694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Real missing values</a:t>
            </a:r>
          </a:p>
          <a:p>
            <a:pPr marL="0" indent="0" algn="ctr">
              <a:lnSpc>
                <a:spcPct val="104000"/>
              </a:lnSpc>
              <a:spcBef>
                <a:spcPts val="400"/>
              </a:spcBef>
              <a:buNone/>
            </a:pPr>
            <a:r>
              <a:rPr lang="en-US" sz="1600" dirty="0">
                <a:solidFill>
                  <a:srgbClr val="000000"/>
                </a:solidFill>
                <a:latin typeface="Arial"/>
                <a:cs typeface="Arial"/>
              </a:rPr>
              <a:t>Lactate: 93/620 (15.0%)</a:t>
            </a:r>
          </a:p>
          <a:p>
            <a:pPr marL="0" indent="0" algn="ctr">
              <a:lnSpc>
                <a:spcPct val="104000"/>
              </a:lnSpc>
              <a:spcBef>
                <a:spcPts val="400"/>
              </a:spcBef>
              <a:buNone/>
            </a:pPr>
            <a:r>
              <a:rPr lang="en-US" sz="1600" dirty="0">
                <a:solidFill>
                  <a:srgbClr val="000000"/>
                </a:solidFill>
                <a:latin typeface="Arial"/>
                <a:cs typeface="Arial"/>
              </a:rPr>
              <a:t>Others: 1% or less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reviewer must be able to trace every number back to the raw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questions, one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class we work through all five together. At the end of Session 6 you choose one.</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Q1 Mortality</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Positive balance and 28-day death</a:t>
            </a:r>
          </a:p>
          <a:p>
            <a:pPr marL="0" indent="0" algn="ctr">
              <a:lnSpc>
                <a:spcPct val="104000"/>
              </a:lnSpc>
              <a:spcBef>
                <a:spcPts val="400"/>
              </a:spcBef>
              <a:buNone/>
            </a:pPr>
            <a:r>
              <a:rPr lang="en-US" sz="1450" dirty="0">
                <a:solidFill>
                  <a:srgbClr val="000000"/>
                </a:solidFill>
                <a:latin typeface="Arial"/>
                <a:cs typeface="Arial"/>
              </a:rPr>
              <a:t>Logistic regression</a:t>
            </a:r>
          </a:p>
          <a:p>
            <a:pPr marL="0" indent="0" algn="ctr">
              <a:lnSpc>
                <a:spcPct val="104000"/>
              </a:lnSpc>
              <a:spcBef>
                <a:spcPts val="400"/>
              </a:spcBef>
              <a:buNone/>
            </a:pPr>
            <a:r>
              <a:rPr lang="en-US" sz="1450" dirty="0">
                <a:solidFill>
                  <a:srgbClr val="000000"/>
                </a:solidFill>
                <a:latin typeface="Arial"/>
                <a:cs typeface="Arial"/>
              </a:rPr>
              <a:t>Kaplan-Meier and 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Q2 Kidneys</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and acute kidney injury (AKI)</a:t>
            </a:r>
          </a:p>
          <a:p>
            <a:pPr marL="0" indent="0" algn="ctr">
              <a:lnSpc>
                <a:spcPct val="104000"/>
              </a:lnSpc>
              <a:spcBef>
                <a:spcPts val="400"/>
              </a:spcBef>
              <a:buNone/>
            </a:pPr>
            <a:r>
              <a:rPr lang="en-US" sz="1450" dirty="0">
                <a:solidFill>
                  <a:srgbClr val="000000"/>
                </a:solidFill>
                <a:latin typeface="Arial"/>
                <a:cs typeface="Arial"/>
              </a:rPr>
              <a:t>Logistic regression</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Q3 Ventilation</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and ventilator-free days</a:t>
            </a:r>
          </a:p>
          <a:p>
            <a:pPr marL="0" indent="0" algn="ctr">
              <a:lnSpc>
                <a:spcPct val="104000"/>
              </a:lnSpc>
              <a:spcBef>
                <a:spcPts val="400"/>
              </a:spcBef>
              <a:buNone/>
            </a:pPr>
            <a:r>
              <a:rPr lang="en-US" sz="1450" dirty="0">
                <a:solidFill>
                  <a:srgbClr val="000000"/>
                </a:solidFill>
                <a:latin typeface="Arial"/>
                <a:cs typeface="Arial"/>
              </a:rPr>
              <a:t>Mann-Whitney and linear regression</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Q4 Lactate</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Lactate and 28-day death</a:t>
            </a:r>
          </a:p>
          <a:p>
            <a:pPr marL="0" indent="0" algn="ctr">
              <a:lnSpc>
                <a:spcPct val="104000"/>
              </a:lnSpc>
              <a:spcBef>
                <a:spcPts val="400"/>
              </a:spcBef>
              <a:buNone/>
            </a:pPr>
            <a:r>
              <a:rPr lang="en-US" sz="1450" dirty="0">
                <a:solidFill>
                  <a:srgbClr val="000000"/>
                </a:solidFill>
                <a:latin typeface="Arial"/>
                <a:cs typeface="Arial"/>
              </a:rPr>
              <a:t>Missing lactate: complete case vs multiple imputation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Q5 ICU stay</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Fluid balance and ICU stay in survivors</a:t>
            </a:r>
          </a:p>
          <a:p>
            <a:pPr marL="0" indent="0" algn="ctr">
              <a:lnSpc>
                <a:spcPct val="104000"/>
              </a:lnSpc>
              <a:spcBef>
                <a:spcPts val="400"/>
              </a:spcBef>
              <a:buNone/>
            </a:pPr>
            <a:r>
              <a:rPr lang="en-US" sz="1450" dirty="0">
                <a:solidFill>
                  <a:srgbClr val="000000"/>
                </a:solidFill>
                <a:latin typeface="Arial"/>
                <a:cs typeface="Arial"/>
              </a:rPr>
              <a:t>A skewed outcome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 give you the results. You write the Results section for the question you choose.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Question 1 as a PECO sentence,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the Q1 results pack (Results_Pack_Q1.pdf, sent by email), page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what is the outcome, and what type is it?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what is the exposure, and what type is it?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writes Q1 as one PECO sentence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outcome and exposure types, one line each</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PECO for Q1</a:t>
            </a:r>
          </a:p>
          <a:p>
            <a:pPr marL="0" indent="0" algn="ctr">
              <a:lnSpc>
                <a:spcPct val="104000"/>
              </a:lnSpc>
              <a:spcBef>
                <a:spcPts val="300"/>
              </a:spcBef>
              <a:buNone/>
            </a:pPr>
            <a:r>
              <a:rPr lang="en-US" sz="1500" dirty="0">
                <a:solidFill>
                  <a:srgbClr val="000000"/>
                </a:solidFill>
                <a:latin typeface="Arial"/>
                <a:cs typeface="Arial"/>
              </a:rPr>
              <a:t>P (population): adults with sepsis in ICU</a:t>
            </a:r>
          </a:p>
          <a:p>
            <a:pPr marL="0" indent="0" algn="ctr">
              <a:lnSpc>
                <a:spcPct val="104000"/>
              </a:lnSpc>
              <a:spcBef>
                <a:spcPts val="300"/>
              </a:spcBef>
              <a:buNone/>
            </a:pPr>
            <a:r>
              <a:rPr lang="en-US" sz="1500" dirty="0">
                <a:solidFill>
                  <a:srgbClr val="000000"/>
                </a:solidFill>
                <a:latin typeface="Arial"/>
                <a:cs typeface="Arial"/>
              </a:rPr>
              <a:t>E (exposure): positive balance by day 3</a:t>
            </a:r>
          </a:p>
          <a:p>
            <a:pPr marL="0" indent="0" algn="ctr">
              <a:lnSpc>
                <a:spcPct val="104000"/>
              </a:lnSpc>
              <a:spcBef>
                <a:spcPts val="300"/>
              </a:spcBef>
              <a:buNone/>
            </a:pPr>
            <a:r>
              <a:rPr lang="en-US" sz="1500" dirty="0">
                <a:solidFill>
                  <a:srgbClr val="000000"/>
                </a:solidFill>
                <a:latin typeface="Arial"/>
                <a:cs typeface="Arial"/>
              </a:rPr>
              <a:t>C (comparison): negative balance</a:t>
            </a:r>
          </a:p>
          <a:p>
            <a:pPr marL="0" indent="0" algn="ctr">
              <a:lnSpc>
                <a:spcPct val="104000"/>
              </a:lnSpc>
              <a:spcBef>
                <a:spcPts val="300"/>
              </a:spcBef>
              <a:buNone/>
            </a:pPr>
            <a:r>
              <a:rPr lang="en-US" sz="1500" dirty="0">
                <a:solidFill>
                  <a:srgbClr val="000000"/>
                </a:solidFill>
                <a:latin typeface="Arial"/>
                <a:cs typeface="Arial"/>
              </a:rPr>
              <a:t>O (outcome): death by day 28 (binary)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Q1 as one PECO sentence, with outcome and exposure types (Exercise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5.3 Describing and showing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comparing groups, describe them.</a:t>
            </a:r>
          </a:p>
          <a:p>
            <a:pPr marL="0" indent="0" algn="ctr">
              <a:spcBef>
                <a:spcPts val="1200"/>
              </a:spcBef>
              <a:buNone/>
            </a:pPr>
            <a:r>
              <a:rPr lang="en-US" sz="1900" i="1" dirty="0">
                <a:solidFill>
                  <a:srgbClr val="595959"/>
                </a:solidFill>
                <a:latin typeface="Arial"/>
                <a:cs typeface="Arial"/>
              </a:rPr>
              <a:t>5.3 Describing and showing data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mean and median by hand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ICU stay of 7 patients (days):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Line up</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Sort from the shortest to the longest stay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Median</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The 4th of 7 patients: 3 days</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Mean</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42 days / 7 patients = 6 days</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One 24-day stay doubles the mean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very long stay moves the mean a lot and the median not at all.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Mean or median? Look at the shape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For skewed data like length of stay, the median describes the typical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Spread: SD for symmetric, IQR for skewed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Report mean (SD) or median (IQR): never mix the pairs.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these two shapes? They cover most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Most clinical data cluster around a typical value or have a long tail. Check which.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length of stay in 200 patients: mean (SD) or median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Age of 200 adult ICU patients, bell-shaped: mean (SD) or median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Ventilated on admission (yes/no): which summary?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Acute kidney injury (AKI) stage 1 to 3: which summary and which graph?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Answers</a:t>
            </a:r>
          </a:p>
          <a:p>
            <a:pPr marL="0" indent="0" algn="ctr">
              <a:lnSpc>
                <a:spcPct val="104000"/>
              </a:lnSpc>
              <a:spcBef>
                <a:spcPts val="300"/>
              </a:spcBef>
              <a:buNone/>
            </a:pPr>
            <a:r>
              <a:rPr lang="en-US" sz="1500" dirty="0">
                <a:solidFill>
                  <a:srgbClr val="000000"/>
                </a:solidFill>
                <a:latin typeface="Arial"/>
                <a:cs typeface="Arial"/>
              </a:rPr>
              <a:t>Length of stay: median (IQR)</a:t>
            </a:r>
          </a:p>
          <a:p>
            <a:pPr marL="0" indent="0" algn="ctr">
              <a:lnSpc>
                <a:spcPct val="104000"/>
              </a:lnSpc>
              <a:spcBef>
                <a:spcPts val="300"/>
              </a:spcBef>
              <a:buNone/>
            </a:pPr>
            <a:r>
              <a:rPr lang="en-US" sz="1500" dirty="0">
                <a:solidFill>
                  <a:srgbClr val="000000"/>
                </a:solidFill>
                <a:latin typeface="Arial"/>
                <a:cs typeface="Arial"/>
              </a:rPr>
              <a:t>Age: mean (SD)</a:t>
            </a:r>
          </a:p>
          <a:p>
            <a:pPr marL="0" indent="0" algn="ctr">
              <a:lnSpc>
                <a:spcPct val="104000"/>
              </a:lnSpc>
              <a:spcBef>
                <a:spcPts val="300"/>
              </a:spcBef>
              <a:buNone/>
            </a:pPr>
            <a:r>
              <a:rPr lang="en-US" sz="1500" dirty="0">
                <a:solidFill>
                  <a:srgbClr val="000000"/>
                </a:solidFill>
                <a:latin typeface="Arial"/>
                <a:cs typeface="Arial"/>
              </a:rPr>
              <a:t>Ventilated: n (%)</a:t>
            </a:r>
          </a:p>
          <a:p>
            <a:pPr marL="0" indent="0" algn="ctr">
              <a:lnSpc>
                <a:spcPct val="104000"/>
              </a:lnSpc>
              <a:spcBef>
                <a:spcPts val="300"/>
              </a:spcBef>
              <a:buNone/>
            </a:pPr>
            <a:r>
              <a:rPr lang="en-US" sz="1500" dirty="0">
                <a:solidFill>
                  <a:srgbClr val="000000"/>
                </a:solidFill>
                <a:latin typeface="Arial"/>
                <a:cs typeface="Arial"/>
              </a:rPr>
              <a:t>AKI stage: n (%) per stage, bar chart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Every participant can pick the right summary for a variable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graph for which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graph from the variable type, not from the software menu.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Show the data: dynamite plot vs dots + box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48 patients, two pictures.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Dynamite plot: a mean and an error bar hide everything</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Every patient visible: shape, spread and the outlier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 'Table 1' shows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90896"/>
          <a:ext cx="11277600" cy="2314560"/>
        </p:xfrm>
        <a:graphic>
          <a:graphicData uri="http://schemas.openxmlformats.org/drawingml/2006/table">
            <a:tbl>
              <a:tblPr firstRow="1" bandRow="1">
                <a:tableStyleId>{5C22544A-7EE6-4342-B048-85BDC9FD1C3A}</a:tableStyleId>
              </a:tblPr>
              <a:tblGrid>
                <a:gridCol w="3759200"/>
                <a:gridCol w="3759200"/>
                <a:gridCol w="3759200"/>
              </a:tblGrid>
              <a:tr h="385760">
                <a:tc>
                  <a:txBody>
                    <a:bodyPr/>
                    <a:lstStyle/>
                    <a:p>
                      <a:pPr algn="l"/>
                      <a:r>
                        <a:rPr lang="en-US" sz="18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Restrictive (n = 24)</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Usual care (n = 24)</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Age, years, mean (SD)</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64 (11)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66 (12)</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Male, n (%)</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15 (63)</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16 (67)</a:t>
                      </a:r>
                    </a:p>
                  </a:txBody>
                  <a:tcPr marL="73152" marR="73152" marT="45720" marB="45720" anchor="ctr">
                    <a:solidFill>
                      <a:srgbClr val="F5F9FA"/>
                    </a:solidFill>
                  </a:tcPr>
                </a:tc>
              </a:tr>
              <a:tr h="385760">
                <a:tc>
                  <a:txBody>
                    <a:bodyPr/>
                    <a:lstStyle/>
                    <a:p>
                      <a:pPr algn="l"/>
                      <a:r>
                        <a:rPr lang="en-US" sz="1800" dirty="0">
                          <a:solidFill>
                            <a:srgbClr val="000000"/>
                          </a:solidFill>
                          <a:latin typeface="Arial"/>
                          <a:cs typeface="Arial"/>
                        </a:rPr>
                        <a:t>SOFA score, median (IQR)</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(7-11)</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9 (6-12)</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Lactate, mmol/L, median (IQR)</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3.1 (2.2-4.8)</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2.9 (2.0-5.1)</a:t>
                      </a:r>
                    </a:p>
                  </a:txBody>
                  <a:tcPr marL="73152" marR="73152" marT="45720" marB="45720" anchor="ctr">
                    <a:solidFill>
                      <a:srgbClr val="F5F9FA"/>
                    </a:solidFill>
                  </a:tcPr>
                </a:tc>
              </a:tr>
              <a:tr h="385760">
                <a:tc>
                  <a:txBody>
                    <a:bodyPr/>
                    <a:lstStyle/>
                    <a:p>
                      <a:pPr algn="l"/>
                      <a:r>
                        <a:rPr lang="en-US" sz="1800" dirty="0">
                          <a:solidFill>
                            <a:srgbClr val="000000"/>
                          </a:solidFill>
                          <a:latin typeface="Arial"/>
                          <a:cs typeface="Arial"/>
                        </a:rPr>
                        <a:t>Source: lung, n (%)</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11 (46)</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10 (42)</a:t>
                      </a:r>
                    </a:p>
                  </a:txBody>
                  <a:tcPr marL="73152" marR="73152" marT="45720" marB="45720" anchor="ctr">
                    <a:solidFill>
                      <a:srgbClr val="FFFFFF"/>
                    </a:solidFill>
                  </a:tcPr>
                </a:tc>
              </a:tr>
            </a:tbl>
          </a:graphicData>
        </a:graphic>
      </p:graphicFrame>
      <p:sp>
        <p:nvSpPr>
          <p:cNvPr id="31" name="Caption"/>
          <p:cNvSpPr txBox="1"/>
          <p:nvPr/>
        </p:nvSpPr>
        <p:spPr>
          <a:xfrm>
            <a:off x="457200" y="419545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Illustrative numbers. Symmetric: mean (SD). Skewed: median (IQR). Categories: n (%). SD = standard deviation. IQR = interquartile range. SOFA = Sequential Organ Failure Assessment. Ask: who were the patients, and were the groups alike at the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Publication-quality tables: bad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Rules: units and summary in the row label, n per column, consistent decimals, footnotes.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Grid lines, no n, no units, 4 decimals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Clean, self-explanatory, ready for a journal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5.4 Describe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comparing groups, describe them: now with real numbers.</a:t>
            </a:r>
          </a:p>
          <a:p>
            <a:pPr marL="0" indent="0" algn="ctr">
              <a:spcBef>
                <a:spcPts val="1200"/>
              </a:spcBef>
              <a:buNone/>
            </a:pPr>
            <a:r>
              <a:rPr lang="en-US" sz="1900" i="1" dirty="0">
                <a:solidFill>
                  <a:srgbClr val="595959"/>
                </a:solidFill>
                <a:latin typeface="Arial"/>
                <a:cs typeface="Arial"/>
              </a:rPr>
              <a:t>5.4 Describe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Table 1 and figures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02_describe.R and load the clean data</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at the shape first: histograms of age, lactate, ICU stay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Build Table 1 by fluid-balance group (no p-values)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Draw the figures: histogram, boxplot, bar chart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Save tables and figures for the results packs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Same rules as 5.3</a:t>
            </a:r>
          </a:p>
          <a:p>
            <a:pPr marL="0" indent="0" algn="ctr">
              <a:lnSpc>
                <a:spcPct val="104000"/>
              </a:lnSpc>
              <a:spcBef>
                <a:spcPts val="300"/>
              </a:spcBef>
              <a:buNone/>
            </a:pPr>
            <a:r>
              <a:rPr lang="en-US" sz="1500" dirty="0">
                <a:solidFill>
                  <a:srgbClr val="000000"/>
                </a:solidFill>
                <a:latin typeface="Arial"/>
                <a:cs typeface="Arial"/>
              </a:rPr>
              <a:t>Shape decides the summary</a:t>
            </a:r>
          </a:p>
          <a:p>
            <a:pPr marL="0" indent="0" algn="ctr">
              <a:lnSpc>
                <a:spcPct val="104000"/>
              </a:lnSpc>
              <a:spcBef>
                <a:spcPts val="300"/>
              </a:spcBef>
              <a:buNone/>
            </a:pPr>
            <a:r>
              <a:rPr lang="en-US" sz="1500" dirty="0">
                <a:solidFill>
                  <a:srgbClr val="000000"/>
                </a:solidFill>
                <a:latin typeface="Arial"/>
                <a:cs typeface="Arial"/>
              </a:rPr>
              <a:t>n per column</a:t>
            </a:r>
          </a:p>
          <a:p>
            <a:pPr marL="0" indent="0" algn="ctr">
              <a:lnSpc>
                <a:spcPct val="104000"/>
              </a:lnSpc>
              <a:spcBef>
                <a:spcPts val="300"/>
              </a:spcBef>
              <a:buNone/>
            </a:pPr>
            <a:r>
              <a:rPr lang="en-US" sz="1500" dirty="0">
                <a:solidFill>
                  <a:srgbClr val="000000"/>
                </a:solidFill>
                <a:latin typeface="Arial"/>
                <a:cs typeface="Arial"/>
              </a:rPr>
              <a:t>Units in the row label</a:t>
            </a:r>
          </a:p>
          <a:p>
            <a:pPr marL="0" indent="0" algn="ctr">
              <a:lnSpc>
                <a:spcPct val="104000"/>
              </a:lnSpc>
              <a:spcBef>
                <a:spcPts val="300"/>
              </a:spcBef>
              <a:buNone/>
            </a:pPr>
            <a:r>
              <a:rPr lang="en-US" sz="1500" dirty="0">
                <a:solidFill>
                  <a:srgbClr val="000000"/>
                </a:solidFill>
                <a:latin typeface="Arial"/>
                <a:cs typeface="Arial"/>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a Table 1 built from data,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Table 1: were the groups alike at the start?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42256"/>
          <a:ext cx="11277600" cy="3223231"/>
        </p:xfrm>
        <a:graphic>
          <a:graphicData uri="http://schemas.openxmlformats.org/drawingml/2006/table">
            <a:tbl>
              <a:tblPr firstRow="1" bandRow="1">
                <a:tableStyleId>{5C22544A-7EE6-4342-B048-85BDC9FD1C3A}</a:tableStyleId>
              </a:tblPr>
              <a:tblGrid>
                <a:gridCol w="3759199"/>
                <a:gridCol w="2349499"/>
                <a:gridCol w="2584450"/>
                <a:gridCol w="2584452"/>
              </a:tblGrid>
              <a:tr h="629598">
                <a:tc>
                  <a:txBody>
                    <a:bodyPr/>
                    <a:lstStyle/>
                    <a:p>
                      <a:pPr algn="l"/>
                      <a:r>
                        <a:rPr lang="en-US" sz="1700" b="1" dirty="0">
                          <a:solidFill>
                            <a:srgbClr val="FFFFFF"/>
                          </a:solidFill>
                          <a:latin typeface="Arial"/>
                          <a:cs typeface="Arial"/>
                        </a:rPr>
                        <a:t>Characteristic</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Overall</a:t>
                      </a:r>
                    </a:p>
                    <a:p>
                      <a:pPr algn="l"/>
                      <a:r>
                        <a:rPr lang="en-US" sz="1700" b="1" dirty="0">
                          <a:solidFill>
                            <a:srgbClr val="FFFFFF"/>
                          </a:solidFill>
                          <a:latin typeface="Arial"/>
                          <a:cs typeface="Arial"/>
                        </a:rPr>
                        <a:t>n = 618</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Negative balance</a:t>
                      </a:r>
                    </a:p>
                    <a:p>
                      <a:pPr algn="l"/>
                      <a:r>
                        <a:rPr lang="en-US" sz="1700" b="1" dirty="0">
                          <a:solidFill>
                            <a:srgbClr val="FFFFFF"/>
                          </a:solidFill>
                          <a:latin typeface="Arial"/>
                          <a:cs typeface="Arial"/>
                        </a:rPr>
                        <a:t>n = 245</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Positive balance</a:t>
                      </a:r>
                    </a:p>
                    <a:p>
                      <a:pPr algn="l"/>
                      <a:r>
                        <a:rPr lang="en-US" sz="1700" b="1" dirty="0">
                          <a:solidFill>
                            <a:srgbClr val="FFFFFF"/>
                          </a:solidFill>
                          <a:latin typeface="Arial"/>
                          <a:cs typeface="Arial"/>
                        </a:rPr>
                        <a:t>n = 373</a:t>
                      </a:r>
                    </a:p>
                  </a:txBody>
                  <a:tcPr marL="73152" marR="73152" marT="45720" marB="45720" anchor="ctr">
                    <a:solidFill>
                      <a:srgbClr val="0D7377"/>
                    </a:solidFill>
                  </a:tcPr>
                </a:tc>
              </a:tr>
              <a:tr h="370519">
                <a:tc>
                  <a:txBody>
                    <a:bodyPr/>
                    <a:lstStyle/>
                    <a:p>
                      <a:pPr algn="l"/>
                      <a:r>
                        <a:rPr lang="en-US" sz="1700" dirty="0">
                          <a:solidFill>
                            <a:srgbClr val="000000"/>
                          </a:solidFill>
                          <a:latin typeface="Arial"/>
                          <a:cs typeface="Arial"/>
                        </a:rPr>
                        <a:t>Age, years, mean (SD)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62.6 (15.2)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64.6 (15.0)</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61.4 (15.2)</a:t>
                      </a:r>
                    </a:p>
                  </a:txBody>
                  <a:tcPr marL="73152" marR="73152" marT="45720" marB="45720" anchor="ctr">
                    <a:solidFill>
                      <a:srgbClr val="FFFFFF"/>
                    </a:solidFill>
                  </a:tcPr>
                </a:tc>
              </a:tr>
              <a:tr h="370519">
                <a:tc>
                  <a:txBody>
                    <a:bodyPr/>
                    <a:lstStyle/>
                    <a:p>
                      <a:pPr algn="l"/>
                      <a:r>
                        <a:rPr lang="en-US" sz="1700" dirty="0">
                          <a:solidFill>
                            <a:srgbClr val="000000"/>
                          </a:solidFill>
                          <a:latin typeface="Arial"/>
                          <a:cs typeface="Arial"/>
                        </a:rPr>
                        <a:t>Male sex, n (%)</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375 (61%)</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143 (58%)</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232 (62%)</a:t>
                      </a:r>
                    </a:p>
                  </a:txBody>
                  <a:tcPr marL="73152" marR="73152" marT="45720" marB="45720" anchor="ctr">
                    <a:solidFill>
                      <a:srgbClr val="F5F9FA"/>
                    </a:solidFill>
                  </a:tcPr>
                </a:tc>
              </a:tr>
              <a:tr h="370519">
                <a:tc>
                  <a:txBody>
                    <a:bodyPr/>
                    <a:lstStyle/>
                    <a:p>
                      <a:pPr algn="l"/>
                      <a:r>
                        <a:rPr lang="en-US" sz="1700" dirty="0">
                          <a:solidFill>
                            <a:srgbClr val="000000"/>
                          </a:solidFill>
                          <a:latin typeface="Arial"/>
                          <a:cs typeface="Arial"/>
                        </a:rPr>
                        <a:t>Heart failure, n (%)</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97 (16%)</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54 (22%)</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43 (12%)</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SOFA score, median (IQR)</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7 (5, 9)</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 (4, 8)</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8 (6, 10)</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Lactate, mmol/L, median (IQR)</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2.6 (1.7, 3.7)</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2.2 (1.4, 3.0)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2.9 (1.9, 4.0)</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Vasopressor, n (%)</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266 (43%)</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61 (25%)</a:t>
                      </a:r>
                    </a:p>
                  </a:txBody>
                  <a:tcPr marL="73152" marR="73152" marT="45720" marB="45720" anchor="ctr">
                    <a:solidFill>
                      <a:srgbClr val="F5F9FA"/>
                    </a:solidFill>
                  </a:tcPr>
                </a:tc>
                <a:tc>
                  <a:txBody>
                    <a:bodyPr/>
                    <a:lstStyle/>
                    <a:p>
                      <a:pPr algn="l"/>
                      <a:r>
                        <a:rPr lang="en-US" sz="1700" b="1" dirty="0">
                          <a:solidFill>
                            <a:srgbClr val="0B376C"/>
                          </a:solidFill>
                          <a:latin typeface="Arial"/>
                          <a:cs typeface="Arial"/>
                        </a:rPr>
                        <a:t>205 (55%)</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Mechanical ventilation, n (%)</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313 (51%)</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97 (40%)</a:t>
                      </a:r>
                    </a:p>
                  </a:txBody>
                  <a:tcPr marL="73152" marR="73152" marT="45720" marB="45720" anchor="ctr">
                    <a:solidFill>
                      <a:srgbClr val="FFFFFF"/>
                    </a:solidFill>
                  </a:tcPr>
                </a:tc>
                <a:tc>
                  <a:txBody>
                    <a:bodyPr/>
                    <a:lstStyle/>
                    <a:p>
                      <a:pPr algn="l"/>
                      <a:r>
                        <a:rPr lang="en-US" sz="1700" b="1" dirty="0">
                          <a:solidFill>
                            <a:srgbClr val="0B376C"/>
                          </a:solidFill>
                          <a:latin typeface="Arial"/>
                          <a:cs typeface="Arial"/>
                        </a:rPr>
                        <a:t>216 (58%)</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positive-balance group was sicker at baseline: a warning for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exposure: cumulative fluid balance at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continuous exposure, cut at 0 ml/kg into negative and positive balance.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Severity by group: show every patient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Each dot is one patient</a:t>
            </a:r>
          </a:p>
          <a:p>
            <a:pPr marL="274320" indent="-274320" algn="l">
              <a:spcBef>
                <a:spcPts val="440"/>
              </a:spcBef>
              <a:buFont typeface="Arial"/>
              <a:buChar char="•"/>
            </a:pPr>
            <a:r>
              <a:rPr lang="en-US" sz="1450" dirty="0">
                <a:solidFill>
                  <a:srgbClr val="000000"/>
                </a:solidFill>
                <a:latin typeface="Arial"/>
                <a:cs typeface="Arial"/>
              </a:rPr>
              <a:t>Box = middle 50%</a:t>
            </a:r>
          </a:p>
          <a:p>
            <a:pPr marL="274320" indent="-274320" algn="l">
              <a:spcBef>
                <a:spcPts val="440"/>
              </a:spcBef>
              <a:buFont typeface="Arial"/>
              <a:buChar char="•"/>
            </a:pPr>
            <a:r>
              <a:rPr lang="en-US" sz="1450" dirty="0">
                <a:solidFill>
                  <a:srgbClr val="000000"/>
                </a:solidFill>
                <a:latin typeface="Arial"/>
                <a:cs typeface="Arial"/>
              </a:rPr>
              <a:t>Median SOFA 6 vs 8</a:t>
            </a:r>
          </a:p>
          <a:p>
            <a:pPr marL="274320" indent="-274320" algn="l">
              <a:spcBef>
                <a:spcPts val="440"/>
              </a:spcBef>
              <a:buFont typeface="Arial"/>
              <a:buChar char="•"/>
            </a:pPr>
            <a:r>
              <a:rPr lang="en-US" sz="1450" dirty="0">
                <a:solidFill>
                  <a:srgbClr val="000000"/>
                </a:solidFill>
                <a:latin typeface="Arial"/>
                <a:cs typeface="Arial"/>
              </a:rPr>
              <a:t>Sicker patients got more fluid</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Dots plus box show the overlap and the shift: confounding you can see.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skewed outcome: ICU stay in survivors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Mean 7.5 vs median 6.2 days: report the median and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 the FLUID-ICU Table 1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Table 1 in the Q1 results pack (PDF): the same table is in every pack</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summary is used for age, SOFA and vasopressor,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Question for the class: were the groups alike at the start? Name the biggest difference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we write two Results sentences describing the patients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Q2 to Q5: what each pack adds (for example, Q5 has a survivors-only table)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Check</a:t>
            </a:r>
          </a:p>
          <a:p>
            <a:pPr marL="0" indent="0" algn="ctr">
              <a:lnSpc>
                <a:spcPct val="104000"/>
              </a:lnSpc>
              <a:spcBef>
                <a:spcPts val="300"/>
              </a:spcBef>
              <a:buNone/>
            </a:pPr>
            <a:r>
              <a:rPr lang="en-US" sz="1500" dirty="0">
                <a:solidFill>
                  <a:srgbClr val="000000"/>
                </a:solidFill>
                <a:latin typeface="Arial"/>
                <a:cs typeface="Arial"/>
              </a:rPr>
              <a:t>n per column?</a:t>
            </a:r>
          </a:p>
          <a:p>
            <a:pPr marL="0" indent="0" algn="ctr">
              <a:lnSpc>
                <a:spcPct val="104000"/>
              </a:lnSpc>
              <a:spcBef>
                <a:spcPts val="300"/>
              </a:spcBef>
              <a:buNone/>
            </a:pPr>
            <a:r>
              <a:rPr lang="en-US" sz="1500" dirty="0">
                <a:solidFill>
                  <a:srgbClr val="000000"/>
                </a:solidFill>
                <a:latin typeface="Arial"/>
                <a:cs typeface="Arial"/>
              </a:rPr>
              <a:t>Units in labels?</a:t>
            </a:r>
          </a:p>
          <a:p>
            <a:pPr marL="0" indent="0" algn="ctr">
              <a:lnSpc>
                <a:spcPct val="104000"/>
              </a:lnSpc>
              <a:spcBef>
                <a:spcPts val="300"/>
              </a:spcBef>
              <a:buNone/>
            </a:pPr>
            <a:r>
              <a:rPr lang="en-US" sz="1500" dirty="0">
                <a:solidFill>
                  <a:srgbClr val="000000"/>
                </a:solidFill>
                <a:latin typeface="Arial"/>
                <a:cs typeface="Arial"/>
              </a:rPr>
              <a:t>Median for skewed?</a:t>
            </a:r>
          </a:p>
          <a:p>
            <a:pPr marL="0" indent="0" algn="ctr">
              <a:lnSpc>
                <a:spcPct val="104000"/>
              </a:lnSpc>
              <a:spcBef>
                <a:spcPts val="300"/>
              </a:spcBef>
              <a:buNone/>
            </a:pPr>
            <a:r>
              <a:rPr lang="en-US" sz="1500" dirty="0">
                <a:solidFill>
                  <a:srgbClr val="000000"/>
                </a:solidFill>
                <a:latin typeface="Arial"/>
                <a:cs typeface="Arial"/>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describing the FLUID-ICU patients (Exercise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5: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Modelled on the running example (a restrictive fluids trial).</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Variables table</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Outcome: 28-day death (binary)</a:t>
            </a:r>
          </a:p>
          <a:p>
            <a:pPr marL="0" indent="0" algn="ctr">
              <a:lnSpc>
                <a:spcPct val="104000"/>
              </a:lnSpc>
              <a:spcBef>
                <a:spcPts val="400"/>
              </a:spcBef>
              <a:buNone/>
            </a:pPr>
            <a:r>
              <a:rPr lang="en-US" sz="1600" dirty="0">
                <a:solidFill>
                  <a:srgbClr val="000000"/>
                </a:solidFill>
                <a:latin typeface="Arial"/>
                <a:cs typeface="Arial"/>
              </a:rPr>
              <a:t>Exposure: restrictive vs usual</a:t>
            </a:r>
          </a:p>
          <a:p>
            <a:pPr marL="0" indent="0" algn="ctr">
              <a:lnSpc>
                <a:spcPct val="104000"/>
              </a:lnSpc>
              <a:spcBef>
                <a:spcPts val="400"/>
              </a:spcBef>
              <a:buNone/>
            </a:pPr>
            <a:r>
              <a:rPr lang="en-US" sz="1600" dirty="0">
                <a:solidFill>
                  <a:srgbClr val="000000"/>
                </a:solidFill>
                <a:latin typeface="Arial"/>
                <a:cs typeface="Arial"/>
              </a:rPr>
              <a:t>Confounders: age, SOFA, lactate</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Mini-CRF</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6 to 10 items</a:t>
            </a:r>
          </a:p>
          <a:p>
            <a:pPr marL="0" indent="0" algn="ctr">
              <a:lnSpc>
                <a:spcPct val="104000"/>
              </a:lnSpc>
              <a:spcBef>
                <a:spcPts val="400"/>
              </a:spcBef>
              <a:buNone/>
            </a:pPr>
            <a:r>
              <a:rPr lang="en-US" sz="1600" dirty="0">
                <a:solidFill>
                  <a:srgbClr val="000000"/>
                </a:solidFill>
                <a:latin typeface="Arial"/>
                <a:cs typeface="Arial"/>
              </a:rPr>
              <a:t>Units and time points</a:t>
            </a:r>
          </a:p>
          <a:p>
            <a:pPr marL="0" indent="0" algn="ctr">
              <a:lnSpc>
                <a:spcPct val="104000"/>
              </a:lnSpc>
              <a:spcBef>
                <a:spcPts val="400"/>
              </a:spcBef>
              <a:buNone/>
            </a:pPr>
            <a:r>
              <a:rPr lang="en-US" sz="1600" dirty="0">
                <a:solidFill>
                  <a:srgbClr val="000000"/>
                </a:solidFill>
                <a:latin typeface="Arial"/>
                <a:cs typeface="Arial"/>
              </a:rPr>
              <a:t>'Unknown' options</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dictionary</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to 5 rows</a:t>
            </a:r>
          </a:p>
          <a:p>
            <a:pPr marL="0" indent="0" algn="ctr">
              <a:lnSpc>
                <a:spcPct val="104000"/>
              </a:lnSpc>
              <a:spcBef>
                <a:spcPts val="400"/>
              </a:spcBef>
              <a:buNone/>
            </a:pPr>
            <a:r>
              <a:rPr lang="en-US" sz="1600" dirty="0">
                <a:solidFill>
                  <a:srgbClr val="000000"/>
                </a:solidFill>
                <a:latin typeface="Arial"/>
                <a:cs typeface="Arial"/>
              </a:rPr>
              <a:t>Name, label, type, unit or codes</a:t>
            </a:r>
          </a:p>
          <a:p>
            <a:pPr marL="0" indent="0" algn="ctr">
              <a:lnSpc>
                <a:spcPct val="104000"/>
              </a:lnSpc>
              <a:spcBef>
                <a:spcPts val="400"/>
              </a:spcBef>
              <a:buNone/>
            </a:pPr>
            <a:r>
              <a:rPr lang="en-US" sz="1600" dirty="0">
                <a:solidFill>
                  <a:srgbClr val="000000"/>
                </a:solidFill>
                <a:latin typeface="Arial"/>
                <a:cs typeface="Arial"/>
              </a:rPr>
              <a:t>Allowed values</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management</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Electronic capture (EDC) or double entry</a:t>
            </a:r>
          </a:p>
          <a:p>
            <a:pPr marL="0" indent="0" algn="ctr">
              <a:lnSpc>
                <a:spcPct val="104000"/>
              </a:lnSpc>
              <a:spcBef>
                <a:spcPts val="400"/>
              </a:spcBef>
              <a:buNone/>
            </a:pPr>
            <a:r>
              <a:rPr lang="en-US" sz="1600" dirty="0">
                <a:solidFill>
                  <a:srgbClr val="000000"/>
                </a:solidFill>
                <a:latin typeface="Arial"/>
                <a:cs typeface="Arial"/>
              </a:rPr>
              <a:t>Coded IDs and an audit trail</a:t>
            </a:r>
          </a:p>
          <a:p>
            <a:pPr marL="0" indent="0" algn="ctr">
              <a:lnSpc>
                <a:spcPct val="104000"/>
              </a:lnSpc>
              <a:spcBef>
                <a:spcPts val="400"/>
              </a:spcBef>
              <a:buNone/>
            </a:pPr>
            <a:r>
              <a:rPr lang="en-US" sz="1600" dirty="0">
                <a:solidFill>
                  <a:srgbClr val="000000"/>
                </a:solidFill>
                <a:latin typeface="Arial"/>
                <a:cs typeface="Arial"/>
              </a:rPr>
              <a:t>Backups and a data-sharing statement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Today: what you will collect and how you will keep it safe.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5: variables, CRF and data management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 instructor models each part live on the running example (18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Variables table, mini-CRF, data dictionary rows, data-management plan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Then draft your own variables table in your proposal template (10 min, on your own)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Questions (2 min): raise your hand or use the chat. The other parts are homework</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Use these tools</a:t>
            </a:r>
          </a:p>
          <a:p>
            <a:pPr marL="0" indent="0" algn="ctr">
              <a:lnSpc>
                <a:spcPct val="104000"/>
              </a:lnSpc>
              <a:spcBef>
                <a:spcPts val="300"/>
              </a:spcBef>
              <a:buNone/>
            </a:pPr>
            <a:r>
              <a:rPr lang="en-US" sz="1500" dirty="0">
                <a:solidFill>
                  <a:srgbClr val="000000"/>
                </a:solidFill>
                <a:latin typeface="Arial"/>
                <a:cs typeface="Arial"/>
              </a:rPr>
              <a:t>Variable-type cards (5.1)</a:t>
            </a:r>
          </a:p>
          <a:p>
            <a:pPr marL="0" indent="0" algn="ctr">
              <a:lnSpc>
                <a:spcPct val="104000"/>
              </a:lnSpc>
              <a:spcBef>
                <a:spcPts val="300"/>
              </a:spcBef>
              <a:buNone/>
            </a:pPr>
            <a:r>
              <a:rPr lang="en-US" sz="1500" dirty="0">
                <a:solidFill>
                  <a:srgbClr val="000000"/>
                </a:solidFill>
                <a:latin typeface="Arial"/>
                <a:cs typeface="Arial"/>
              </a:rPr>
              <a:t>Good vs bad CRF items</a:t>
            </a:r>
          </a:p>
          <a:p>
            <a:pPr marL="0" indent="0" algn="ctr">
              <a:lnSpc>
                <a:spcPct val="104000"/>
              </a:lnSpc>
              <a:spcBef>
                <a:spcPts val="300"/>
              </a:spcBef>
              <a:buNone/>
            </a:pPr>
            <a:r>
              <a:rPr lang="en-US" sz="1500" dirty="0">
                <a:solidFill>
                  <a:srgbClr val="000000"/>
                </a:solidFill>
                <a:latin typeface="Arial"/>
                <a:cs typeface="Arial"/>
              </a:rPr>
              <a:t>FLUID-ICU data dictionary</a:t>
            </a:r>
          </a:p>
          <a:p>
            <a:pPr marL="0" indent="0" algn="ctr">
              <a:lnSpc>
                <a:spcPct val="104000"/>
              </a:lnSpc>
              <a:spcBef>
                <a:spcPts val="300"/>
              </a:spcBef>
              <a:buNone/>
            </a:pPr>
            <a:r>
              <a:rPr lang="en-US" sz="1500" dirty="0">
                <a:solidFill>
                  <a:srgbClr val="000000"/>
                </a:solidFill>
                <a:latin typeface="Arial"/>
                <a:cs typeface="Arial"/>
              </a:rPr>
              <a:t>Exercise sheet: Exercise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3 (first half): variables table started now, the rest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Collect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Variable type</a:t>
            </a:r>
          </a:p>
          <a:p>
            <a:pPr marL="0" indent="0" algn="ctr">
              <a:lnSpc>
                <a:spcPct val="104000"/>
              </a:lnSpc>
              <a:spcBef>
                <a:spcPts val="400"/>
              </a:spcBef>
              <a:buNone/>
            </a:pPr>
            <a:r>
              <a:rPr lang="en-US" sz="1600" dirty="0">
                <a:solidFill>
                  <a:srgbClr val="000000"/>
                </a:solidFill>
                <a:latin typeface="Arial"/>
                <a:cs typeface="Arial"/>
              </a:rPr>
              <a:t>CRF</a:t>
            </a:r>
          </a:p>
          <a:p>
            <a:pPr marL="0" indent="0" algn="ctr">
              <a:lnSpc>
                <a:spcPct val="104000"/>
              </a:lnSpc>
              <a:spcBef>
                <a:spcPts val="400"/>
              </a:spcBef>
              <a:buNone/>
            </a:pPr>
            <a:r>
              <a:rPr lang="en-US" sz="1600" dirty="0">
                <a:solidFill>
                  <a:srgbClr val="000000"/>
                </a:solidFill>
                <a:latin typeface="Arial"/>
                <a:cs typeface="Arial"/>
              </a:rPr>
              <a:t>Data dictionary</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Validation check</a:t>
            </a:r>
          </a:p>
          <a:p>
            <a:pPr marL="0" indent="0" algn="ctr">
              <a:lnSpc>
                <a:spcPct val="104000"/>
              </a:lnSpc>
              <a:spcBef>
                <a:spcPts val="400"/>
              </a:spcBef>
              <a:buNone/>
            </a:pPr>
            <a:r>
              <a:rPr lang="en-US" sz="1600" dirty="0">
                <a:solidFill>
                  <a:srgbClr val="000000"/>
                </a:solidFill>
                <a:latin typeface="Arial"/>
                <a:cs typeface="Arial"/>
              </a:rPr>
              <a:t>Audit trail</a:t>
            </a:r>
          </a:p>
          <a:p>
            <a:pPr marL="0" indent="0" algn="ctr">
              <a:lnSpc>
                <a:spcPct val="104000"/>
              </a:lnSpc>
              <a:spcBef>
                <a:spcPts val="400"/>
              </a:spcBef>
              <a:buNone/>
            </a:pPr>
            <a:r>
              <a:rPr lang="en-US" sz="1600" dirty="0">
                <a:solidFill>
                  <a:srgbClr val="000000"/>
                </a:solidFill>
                <a:latin typeface="Arial"/>
                <a:cs typeface="Arial"/>
              </a:rPr>
              <a:t>Cleaning log</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Describe</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Median (IQR)</a:t>
            </a:r>
          </a:p>
          <a:p>
            <a:pPr marL="0" indent="0" algn="ctr">
              <a:lnSpc>
                <a:spcPct val="104000"/>
              </a:lnSpc>
              <a:spcBef>
                <a:spcPts val="400"/>
              </a:spcBef>
              <a:buNone/>
            </a:pPr>
            <a:r>
              <a:rPr lang="en-US" sz="1600" dirty="0">
                <a:solidFill>
                  <a:srgbClr val="000000"/>
                </a:solidFill>
                <a:latin typeface="Arial"/>
                <a:cs typeface="Arial"/>
              </a:rPr>
              <a:t>Mean (SD)</a:t>
            </a:r>
          </a:p>
          <a:p>
            <a:pPr marL="0" indent="0" algn="ctr">
              <a:lnSpc>
                <a:spcPct val="104000"/>
              </a:lnSpc>
              <a:spcBef>
                <a:spcPts val="400"/>
              </a:spcBef>
              <a:buNone/>
            </a:pPr>
            <a:r>
              <a:rPr lang="en-US" sz="1600" dirty="0">
                <a:solidFill>
                  <a:srgbClr val="000000"/>
                </a:solidFill>
                <a:latin typeface="Arial"/>
                <a:cs typeface="Arial"/>
              </a:rPr>
              <a:t>Skewed</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Show</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Table 1</a:t>
            </a:r>
          </a:p>
          <a:p>
            <a:pPr marL="0" indent="0" algn="ctr">
              <a:lnSpc>
                <a:spcPct val="104000"/>
              </a:lnSpc>
              <a:spcBef>
                <a:spcPts val="400"/>
              </a:spcBef>
              <a:buNone/>
            </a:pPr>
            <a:r>
              <a:rPr lang="en-US" sz="1600" dirty="0">
                <a:solidFill>
                  <a:srgbClr val="000000"/>
                </a:solidFill>
                <a:latin typeface="Arial"/>
                <a:cs typeface="Arial"/>
              </a:rPr>
              <a:t>Dots + box</a:t>
            </a:r>
          </a:p>
          <a:p>
            <a:pPr marL="0" indent="0" algn="ctr">
              <a:lnSpc>
                <a:spcPct val="104000"/>
              </a:lnSpc>
              <a:spcBef>
                <a:spcPts val="400"/>
              </a:spcBef>
              <a:buNone/>
            </a:pPr>
            <a:r>
              <a:rPr lang="en-US" sz="1600" dirty="0">
                <a:solidFill>
                  <a:srgbClr val="000000"/>
                </a:solidFill>
                <a:latin typeface="Arial"/>
                <a:cs typeface="Arial"/>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5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Design the data</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Clear CRF items</a:t>
            </a:r>
          </a:p>
          <a:p>
            <a:pPr marL="0" indent="0" algn="ctr">
              <a:lnSpc>
                <a:spcPct val="104000"/>
              </a:lnSpc>
              <a:spcBef>
                <a:spcPts val="400"/>
              </a:spcBef>
              <a:buNone/>
            </a:pPr>
            <a:r>
              <a:rPr lang="en-US" sz="1750" dirty="0">
                <a:solidFill>
                  <a:srgbClr val="000000"/>
                </a:solidFill>
                <a:latin typeface="Arial"/>
                <a:cs typeface="Arial"/>
              </a:rPr>
              <a:t>Data dictionary first</a:t>
            </a:r>
          </a:p>
          <a:p>
            <a:pPr marL="0" indent="0" algn="ctr">
              <a:lnSpc>
                <a:spcPct val="104000"/>
              </a:lnSpc>
              <a:spcBef>
                <a:spcPts val="400"/>
              </a:spcBef>
              <a:buNone/>
            </a:pPr>
            <a:r>
              <a:rPr lang="en-US" sz="1750" dirty="0">
                <a:solidFill>
                  <a:srgbClr val="000000"/>
                </a:solidFill>
                <a:latin typeface="Arial"/>
                <a:cs typeface="Arial"/>
              </a:rPr>
              <a:t>Checks at entry</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it clean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Never edit raw data</a:t>
            </a:r>
          </a:p>
          <a:p>
            <a:pPr marL="0" indent="0" algn="ctr">
              <a:lnSpc>
                <a:spcPct val="104000"/>
              </a:lnSpc>
              <a:spcBef>
                <a:spcPts val="400"/>
              </a:spcBef>
              <a:buNone/>
            </a:pPr>
            <a:r>
              <a:rPr lang="en-US" sz="1750" dirty="0">
                <a:solidFill>
                  <a:srgbClr val="000000"/>
                </a:solidFill>
                <a:latin typeface="Arial"/>
                <a:cs typeface="Arial"/>
              </a:rPr>
              <a:t>Log every correction</a:t>
            </a:r>
          </a:p>
          <a:p>
            <a:pPr marL="0" indent="0" algn="ctr">
              <a:lnSpc>
                <a:spcPct val="104000"/>
              </a:lnSpc>
              <a:spcBef>
                <a:spcPts val="400"/>
              </a:spcBef>
              <a:buNone/>
            </a:pPr>
            <a:r>
              <a:rPr lang="en-US" sz="1750" dirty="0">
                <a:solidFill>
                  <a:srgbClr val="000000"/>
                </a:solidFill>
                <a:latin typeface="Arial"/>
                <a:cs typeface="Arial"/>
              </a:rPr>
              <a:t>Backups, coded IDs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Describe honestly</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Shape decides the summary</a:t>
            </a:r>
          </a:p>
          <a:p>
            <a:pPr marL="0" indent="0" algn="ctr">
              <a:lnSpc>
                <a:spcPct val="104000"/>
              </a:lnSpc>
              <a:spcBef>
                <a:spcPts val="400"/>
              </a:spcBef>
              <a:buNone/>
            </a:pPr>
            <a:r>
              <a:rPr lang="en-US" sz="1750" dirty="0">
                <a:solidFill>
                  <a:srgbClr val="000000"/>
                </a:solidFill>
                <a:latin typeface="Arial"/>
                <a:cs typeface="Arial"/>
              </a:rPr>
              <a:t>Show every patient</a:t>
            </a:r>
          </a:p>
          <a:p>
            <a:pPr marL="0" indent="0" algn="ctr">
              <a:lnSpc>
                <a:spcPct val="104000"/>
              </a:lnSpc>
              <a:spcBef>
                <a:spcPts val="400"/>
              </a:spcBef>
              <a:buNone/>
            </a:pPr>
            <a:r>
              <a:rPr lang="en-US" sz="1750" dirty="0">
                <a:solidFill>
                  <a:srgbClr val="000000"/>
                </a:solidFill>
                <a:latin typeface="Arial"/>
                <a:cs typeface="Arial"/>
              </a:rPr>
              <a:t>Table 1 that stands alone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Good analysis starts with good data, described honestly.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and recap (previous two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one data-quality problem found in FLUID-ICU, and how it was fixed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Part 3 (first half) of your own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Look through the five results packs. You choose your question at the end of Session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Next Saturday: Session 6</a:t>
            </a:r>
          </a:p>
          <a:p>
            <a:pPr marL="0" indent="0" algn="ctr">
              <a:lnSpc>
                <a:spcPct val="104000"/>
              </a:lnSpc>
              <a:spcBef>
                <a:spcPts val="300"/>
              </a:spcBef>
              <a:buNone/>
            </a:pPr>
            <a:r>
              <a:rPr lang="en-US" sz="1500" dirty="0">
                <a:solidFill>
                  <a:srgbClr val="000000"/>
                </a:solidFill>
                <a:latin typeface="Arial"/>
                <a:cs typeface="Arial"/>
              </a:rPr>
              <a:t>Confidence intervals, p-values</a:t>
            </a:r>
          </a:p>
          <a:p>
            <a:pPr marL="0" indent="0" algn="ctr">
              <a:lnSpc>
                <a:spcPct val="104000"/>
              </a:lnSpc>
              <a:spcBef>
                <a:spcPts val="300"/>
              </a:spcBef>
              <a:buNone/>
            </a:pPr>
            <a:r>
              <a:rPr lang="en-US" sz="1500" dirty="0">
                <a:solidFill>
                  <a:srgbClr val="000000"/>
                </a:solidFill>
                <a:latin typeface="Arial"/>
                <a:cs typeface="Arial"/>
              </a:rPr>
              <a:t>Choosing a test</a:t>
            </a:r>
          </a:p>
          <a:p>
            <a:pPr marL="0" indent="0" algn="ctr">
              <a:lnSpc>
                <a:spcPct val="104000"/>
              </a:lnSpc>
              <a:spcBef>
                <a:spcPts val="300"/>
              </a:spcBef>
              <a:buNone/>
            </a:pPr>
            <a:r>
              <a:rPr lang="en-US" sz="1500" dirty="0">
                <a:solidFill>
                  <a:srgbClr val="000000"/>
                </a:solidFill>
                <a:latin typeface="Arial"/>
                <a:cs typeface="Arial"/>
              </a:rPr>
              <a:t>Regression and survival</a:t>
            </a:r>
          </a:p>
          <a:p>
            <a:pPr marL="0" indent="0" algn="ctr">
              <a:lnSpc>
                <a:spcPct val="104000"/>
              </a:lnSpc>
              <a:spcBef>
                <a:spcPts val="300"/>
              </a:spcBef>
              <a:buNone/>
            </a:pPr>
            <a:r>
              <a:rPr lang="en-US" sz="1500" dirty="0">
                <a:solidFill>
                  <a:srgbClr val="000000"/>
                </a:solidFill>
                <a:latin typeface="Arial"/>
                <a:cs typeface="Arial"/>
              </a:rPr>
              <a:t>Missing data</a:t>
            </a:r>
          </a:p>
          <a:p>
            <a:pPr marL="0" indent="0" algn="ctr">
              <a:lnSpc>
                <a:spcPct val="104000"/>
              </a:lnSpc>
              <a:spcBef>
                <a:spcPts val="300"/>
              </a:spcBef>
              <a:buNone/>
            </a:pPr>
            <a:r>
              <a:rPr lang="en-US" sz="1500" dirty="0">
                <a:solidFill>
                  <a:srgbClr val="000000"/>
                </a:solidFill>
                <a:latin typeface="Arial"/>
                <a:cs typeface="Arial"/>
              </a:rPr>
              <a:t>The five FLUID-ICU questions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Exit answer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Not needed to follow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Coding, versions, backups and data sharing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habits that protect your data and your future paper.</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Coding</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Codes, not free text</a:t>
            </a:r>
          </a:p>
          <a:p>
            <a:pPr marL="0" indent="0" algn="ctr">
              <a:lnSpc>
                <a:spcPct val="104000"/>
              </a:lnSpc>
              <a:spcBef>
                <a:spcPts val="400"/>
              </a:spcBef>
              <a:buNone/>
            </a:pPr>
            <a:r>
              <a:rPr lang="en-US" sz="1600" dirty="0">
                <a:solidFill>
                  <a:srgbClr val="000000"/>
                </a:solidFill>
                <a:latin typeface="Arial"/>
                <a:cs typeface="Arial"/>
              </a:rPr>
              <a:t>Study ID, not names</a:t>
            </a:r>
          </a:p>
          <a:p>
            <a:pPr marL="0" indent="0" algn="ctr">
              <a:lnSpc>
                <a:spcPct val="104000"/>
              </a:lnSpc>
              <a:spcBef>
                <a:spcPts val="400"/>
              </a:spcBef>
              <a:buNone/>
            </a:pPr>
            <a:r>
              <a:rPr lang="en-US" sz="1600" dirty="0">
                <a:solidFill>
                  <a:srgbClr val="000000"/>
                </a:solidFill>
                <a:latin typeface="Arial"/>
                <a:cs typeface="Arial"/>
              </a:rPr>
              <a:t>Codes in the dictionary</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Versions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Raw file: read-only</a:t>
            </a:r>
          </a:p>
          <a:p>
            <a:pPr marL="0" indent="0" algn="ctr">
              <a:lnSpc>
                <a:spcPct val="104000"/>
              </a:lnSpc>
              <a:spcBef>
                <a:spcPts val="400"/>
              </a:spcBef>
              <a:buNone/>
            </a:pPr>
            <a:r>
              <a:rPr lang="en-US" sz="1600" dirty="0">
                <a:solidFill>
                  <a:srgbClr val="000000"/>
                </a:solidFill>
                <a:latin typeface="Arial"/>
                <a:cs typeface="Arial"/>
              </a:rPr>
              <a:t>Dated copies, e.g. data_2026-03-12_v2</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Backups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3 copies on 2 media</a:t>
            </a:r>
          </a:p>
          <a:p>
            <a:pPr marL="0" indent="0" algn="ctr">
              <a:lnSpc>
                <a:spcPct val="104000"/>
              </a:lnSpc>
              <a:spcBef>
                <a:spcPts val="400"/>
              </a:spcBef>
              <a:buNone/>
            </a:pPr>
            <a:r>
              <a:rPr lang="en-US" sz="1600" dirty="0">
                <a:solidFill>
                  <a:srgbClr val="000000"/>
                </a:solidFill>
                <a:latin typeface="Arial"/>
                <a:cs typeface="Arial"/>
              </a:rPr>
              <a:t>1 copy off-site, encrypted</a:t>
            </a:r>
          </a:p>
          <a:p>
            <a:pPr marL="0" indent="0" algn="ctr">
              <a:lnSpc>
                <a:spcPct val="104000"/>
              </a:lnSpc>
              <a:spcBef>
                <a:spcPts val="400"/>
              </a:spcBef>
              <a:buNone/>
            </a:pPr>
            <a:r>
              <a:rPr lang="en-US" sz="1600" dirty="0">
                <a:solidFill>
                  <a:srgbClr val="000000"/>
                </a:solidFill>
                <a:latin typeface="Arial"/>
                <a:cs typeface="Arial"/>
              </a:rPr>
              <a:t>Test a restore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sharing</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Journals ask for a data-sharing statement</a:t>
            </a:r>
          </a:p>
          <a:p>
            <a:pPr marL="0" indent="0" algn="ctr">
              <a:lnSpc>
                <a:spcPct val="104000"/>
              </a:lnSpc>
              <a:spcBef>
                <a:spcPts val="400"/>
              </a:spcBef>
              <a:buNone/>
            </a:pPr>
            <a:r>
              <a:rPr lang="en-US" sz="1600" dirty="0">
                <a:solidFill>
                  <a:srgbClr val="000000"/>
                </a:solidFill>
                <a:latin typeface="Arial"/>
                <a:cs typeface="Arial"/>
              </a:rPr>
              <a:t>Plan it at the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Never edit the raw file: keep it, copy it, date it, back it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Three more chart crimes, and how to fix them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Bars start at zero, one axis per graph, and no 3-D effects.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