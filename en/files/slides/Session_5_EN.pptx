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Week 5. Sessions 1-4 asked a question, found the evidence and chose a design. Over these two Saturdays we MEASURE and ANALYSE: today (Session 5) the data, next Saturday (Session 6) the analysis.</a:t>
            </a:r>
          </a:p>
          <a:p>
            <a:r>
              <a:rPr lang="en-US" sz="1400" b="0" dirty="0"/>
              <a:t>Key promise: no formulas. Every idea comes as a picture, then a worked example, then a one-minute check. Your job is to interpret, not to calculate.</a:t>
            </a:r>
          </a:p>
          <a:p>
            <a:r>
              <a:rPr lang="en-US" sz="1400" b="0" dirty="0"/>
              <a:t>New in Weeks 5-6: the course dataset FLUID-ICU, a realistic (simulated) cohort of about 600 adults with sepsis. You will see it cleaned and described live in R, and each group gets one research question and a results pack that becomes its manuscript in Weeks 7-8.</a:t>
            </a:r>
          </a:p>
          <a:p>
            <a:r>
              <a:rPr lang="en-US" sz="1400" b="0" dirty="0"/>
              <a:t>Running example: fluids in septic shock. The variable 'cumulative fluid balance (ml/kg)' follows us all day: on the form, in the data dictionary, in the cleaned dataset, in Table 1.</a:t>
            </a:r>
          </a:p>
          <a:p>
            <a:r>
              <a:rPr lang="en-US" sz="1400" b="0" dirty="0"/>
              <a:t>Ask the room: who has ever filled in a data collection form and thought 'what does this box actually want?' Expected: many hands. That is section 5.1.</a:t>
            </a:r>
          </a:p>
          <a:p>
            <a:r>
              <a:rPr lang="en-US" sz="1400" b="0" dirty="0"/>
              <a:t>Timing: recap 0:00, 5.1 at 0:10, 5.2 at 0:45, break at 1:10, 5.3 at 1:25, 5.4 at 2:00, proposal builder at 2:25, wrap-up at 2:55.</a:t>
            </a:r>
          </a:p>
          <a:p>
            <a:r>
              <a:rPr lang="en-US" sz="1400" b="0" dirty="0"/>
              <a:t>Pace: slow. If the room needs time, skip the extra slides at the end; never skip the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4 memory and catch anyone who missed it. Keep it light: no marks.</a:t>
            </a:r>
          </a:p>
          <a:p>
            <a:r>
              <a:rPr lang="en-US" sz="1400" b="0" dirty="0"/>
              <a:t>Run it: read each question aloud, 2 minutes alone, 2 minutes with a neighbour, then reveal. Hide the side panel until the reveal if you can (or cover it and read answers from these notes).</a:t>
            </a:r>
          </a:p>
          <a:p>
            <a:r>
              <a:rPr lang="en-US" sz="1400" b="0" dirty="0"/>
              <a:t>Q1 answer: prospective cohort. Exposure (smoking) is measured first, then we wait for the outcome. Common wrong answer: case-control. Point out that case-control starts from the outcome and looks back.</a:t>
            </a:r>
          </a:p>
          <a:p>
            <a:r>
              <a:rPr lang="en-US" sz="1400" b="0" dirty="0"/>
              <a:t>Q2 answer: confounding by indication. Severity causes both more fluid and more death. This is exactly why Paper 2 used propensity-score matching, and why Session 6 (6.3 and 6.4) is about 'adjusted' results.</a:t>
            </a:r>
          </a:p>
          <a:p>
            <a:r>
              <a:rPr lang="en-US" sz="1400" b="0" dirty="0"/>
              <a:t>Q3 answer: RR = 0.20 / 0.30 = 0.67 (a one-third relative reduction); risk difference = 10 percentage points; NNT = 1 / 0.10 = 10 patients treated to prevent one death.</a:t>
            </a:r>
          </a:p>
          <a:p>
            <a:r>
              <a:rPr lang="en-US" sz="1400" b="0" dirty="0"/>
              <a:t>If more than a third of the room gets Q3 wrong, spend 2 extra minutes on the 2x2 table on the flip chart before moving on.</a:t>
            </a:r>
          </a:p>
          <a:p>
            <a:r>
              <a:rPr lang="en-US" sz="1400" b="0" dirty="0"/>
              <a:t>Timing: 10 minutes including the reveal.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5.1 opener (35 minutes: variable types with a check, CRF design with a worked example, data dictionary, validation, data management, missing data, then a 7-minute pair task).</a:t>
            </a:r>
          </a:p>
          <a:p>
            <a:r>
              <a:rPr lang="en-US" sz="1400" b="0" dirty="0"/>
              <a:t>Key message: most problems in clinical research lie in the data rather than in the analysis. A statistician cannot fix a blank box, a missing unit or an impossible value six months later.</a:t>
            </a:r>
          </a:p>
          <a:p>
            <a:r>
              <a:rPr lang="en-US" sz="1400" b="0" dirty="0"/>
              <a:t>Garbage in, garbage out: the quality of your answer is capped by the quality of your form.</a:t>
            </a:r>
          </a:p>
          <a:p>
            <a:r>
              <a:rPr lang="en-US" sz="1400" b="0" dirty="0"/>
              <a:t>Ask the room: has anyone been asked to 'help with the data' after a study finished, and found half the forms incomplete? Let one or two people tell their story in one sentence.</a:t>
            </a:r>
          </a:p>
          <a:p>
            <a:r>
              <a:rPr lang="en-US" sz="1400" b="0" dirty="0"/>
              <a:t>Transition: we start with the most basic decision of all: what TYPE of variable are you collecting? It decides how you write the CRF item, how you summarise it and which test you use.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variable is either a NUMBER you measure or a CATEGORY you assign. Then split once more.</a:t>
            </a:r>
          </a:p>
          <a:p>
            <a:r>
              <a:rPr lang="en-US" sz="1400" b="0" dirty="0"/>
              <a:t>Numbers: continuous (any value on a scale: fluid balance in ml/kg, lactate, age) or counts (whole numbers: number of organ failures).</a:t>
            </a:r>
          </a:p>
          <a:p>
            <a:r>
              <a:rPr lang="en-US" sz="1400" b="0" dirty="0"/>
              <a:t>Categories: binary (two options: died yes/no), nominal (several groups with no order: source of sepsis) and ordinal (ordered groups: pressure-injury stage 1 to 4, pain mild/moderate/severe).</a:t>
            </a:r>
          </a:p>
          <a:p>
            <a:r>
              <a:rPr lang="en-US" sz="1400" b="0" dirty="0"/>
              <a:t>Time-to-event (top left) is special: it combines HOW LONG (time to death) and WHETHER it happened (died or censored at day 28). Just mention it; we meet it again with Cox models in 6.3.</a:t>
            </a:r>
          </a:p>
          <a:p>
            <a:r>
              <a:rPr lang="en-US" sz="1400" b="0" dirty="0"/>
              <a:t>Common misconception: 'coded as numbers means numerical'. Sex coded 1/2 is still a category; the average of 1.4 means nothing.</a:t>
            </a:r>
          </a:p>
          <a:p>
            <a:r>
              <a:rPr lang="en-US" sz="1400" b="0" dirty="0"/>
              <a:t>Quick sorting game: call out variables and let the room shout the type: Glasgow Coma Scale (ordinal, though often treated as a number), heart rate (continuous), ventilated yes/no (binary), blood group (nominal), days on ventilator (count), time to extubation (time-to-event).</a:t>
            </a:r>
          </a:p>
          <a:p>
            <a:r>
              <a:rPr lang="en-US" sz="1400" b="0" dirty="0"/>
              <a:t>Tip: collect continuous variables as numbers whenever possible. You can always group age into bands later, but you can never get the exact age back from '60-69'.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Read each variable; the room shows fingers: 1 continuous, 2 count, 3 binary, 4 nominal, 5 ordinal, or says 'time-to-event'. Reveal the side panel only after each vote.</a:t>
            </a:r>
          </a:p>
          <a:p>
            <a:r>
              <a:rPr lang="en-US" sz="1400" b="0" dirty="0"/>
              <a:t>Heart rate: continuous.</a:t>
            </a:r>
          </a:p>
          <a:p>
            <a:r>
              <a:rPr lang="en-US" sz="1400" b="0" dirty="0"/>
              <a:t>GCS: ordinal; ordered scores with unequal steps, often analysed like a number, which is acceptable if stated.</a:t>
            </a:r>
          </a:p>
          <a:p>
            <a:r>
              <a:rPr lang="en-US" sz="1400" b="0" dirty="0"/>
              <a:t>Blood group: nominal; no order.</a:t>
            </a:r>
          </a:p>
          <a:p>
            <a:r>
              <a:rPr lang="en-US" sz="1400" b="0" dirty="0"/>
              <a:t>Ventilated yes/no: binary.</a:t>
            </a:r>
          </a:p>
          <a:p>
            <a:r>
              <a:rPr lang="en-US" sz="1400" b="0" dirty="0"/>
              <a:t>Time to extubation: time-to-event, because some patients are never extubated (they die or are transferred) and must be censored.</a:t>
            </a:r>
          </a:p>
          <a:p>
            <a:r>
              <a:rPr lang="en-US" sz="1400" b="0" dirty="0"/>
              <a:t>If more than a third get GCS or time-to-extubation wrong, go back to the tree for one minute.</a:t>
            </a:r>
          </a:p>
          <a:p>
            <a:r>
              <a:rPr lang="en-US" sz="1400" b="0" dirty="0"/>
              <a:t>Why this matters: the type decides the CRF box, the summary (5.3) and the test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CRF item is good when two different people, filling it for the same patient, would write the same answer.</a:t>
            </a:r>
          </a:p>
          <a:p>
            <a:r>
              <a:rPr lang="en-US" sz="1400" b="1" dirty="0"/>
              <a:t>Go through the left side and ask the room to diagnose each problem before you reveal the red text:</a:t>
            </a:r>
          </a:p>
          <a:p>
            <a:r>
              <a:rPr lang="en-US" sz="1400" b="0" dirty="0"/>
              <a:t>Fluid balance: no unit (ml? litres? ml/kg?), no time window (today? cumulative?). For our running example this single box decides the primary outcome of the whole study.</a:t>
            </a:r>
          </a:p>
          <a:p>
            <a:r>
              <a:rPr lang="en-US" sz="1400" b="0" dirty="0"/>
              <a:t>Age: years or months, on which date? Better: collect date of birth and date of admission and let the computer calculate age.</a:t>
            </a:r>
          </a:p>
          <a:p>
            <a:r>
              <a:rPr lang="en-US" sz="1400" b="0" dirty="0"/>
              <a:t>Infection source: options are incomplete (no 'other', no 'unknown') and it is unclear whether you can tick more than one.</a:t>
            </a:r>
          </a:p>
          <a:p>
            <a:r>
              <a:rPr lang="en-US" sz="1400" b="0" dirty="0"/>
              <a:t>Did fluids work AND did the patient improve: two questions in one (double-barrelled), and both are opinions. Replace with objective measures (lactate, MAP, vasopressor dose).</a:t>
            </a:r>
          </a:p>
          <a:p>
            <a:r>
              <a:rPr lang="en-US" sz="1400" b="0" dirty="0"/>
              <a:t>Right side: unit and time window inside the question, boxes for digits including a +/- sign (fluid balance can be negative), fixed date format, tick ONE, 'other' and 'unknown' options, decimal place shown for lactate.</a:t>
            </a:r>
          </a:p>
          <a:p>
            <a:r>
              <a:rPr lang="en-US" sz="1400" b="0" dirty="0"/>
              <a:t>Ask: what is wrong with leaving a box blank? Expected: we cannot tell 'not done' from 'forgot' from 'zero'. That is why we add 'unknown / not done'.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build one CRF item together, the primary exposure of the course dataset.</a:t>
            </a:r>
          </a:p>
          <a:p>
            <a:r>
              <a:rPr lang="en-US" sz="1400" b="0" dirty="0"/>
              <a:t>What: cumulative fluid balance = total fluid in (crystalloids, colloids, blood, drug diluents, enteral) minus total fluid out (urine, drains, losses). Decide whether insensible losses count; write it in the data dictionary.</a:t>
            </a:r>
          </a:p>
          <a:p>
            <a:r>
              <a:rPr lang="en-US" sz="1400" b="0" dirty="0"/>
              <a:t>When: from ICU admission to the end of day 3 (the FLUID-ICU definition). A different window gives a different variable.</a:t>
            </a:r>
          </a:p>
          <a:p>
            <a:r>
              <a:rPr lang="en-US" sz="1400" b="0" dirty="0"/>
              <a:t>Unit: ml/kg of admission weight, so patients of different sizes can be compared. That means weight must also be on the CRF.</a:t>
            </a:r>
          </a:p>
          <a:p>
            <a:r>
              <a:rPr lang="en-US" sz="1400" b="0" dirty="0"/>
              <a:t>Format: a signed number with digit boxes; fluid balance can be negative.</a:t>
            </a:r>
          </a:p>
          <a:p>
            <a:r>
              <a:rPr lang="en-US" sz="1400" b="0" dirty="0"/>
              <a:t>Missing: a 'not recorded' box and a reason, so a blank always means 'forgotten'.</a:t>
            </a:r>
          </a:p>
          <a:p>
            <a:r>
              <a:rPr lang="en-US" sz="1400" b="0" dirty="0"/>
              <a:t>Ask: what other item must the CRF now contain because of the unit? Expected: body weight at admission (and how it was obtained).</a:t>
            </a:r>
          </a:p>
          <a:p>
            <a:r>
              <a:rPr lang="en-US" sz="1400" b="0" dirty="0"/>
              <a:t>This is exactly what groups do for their own variables in the proposal builder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rules cover most CRF problems. Read the card titles, give one example each.</a:t>
            </a:r>
          </a:p>
          <a:p>
            <a:r>
              <a:rPr lang="en-US" sz="1400" b="0" dirty="0"/>
              <a:t>Only what you need: every item must answer an objective, describe the population, or adjust for a confounder. 'Nice to know' items make forms long and incomplete.</a:t>
            </a:r>
          </a:p>
          <a:p>
            <a:r>
              <a:rPr lang="en-US" sz="1400" b="0" dirty="0"/>
              <a:t>One question, one answer: avoid double-barrelled questions; prefer measured values over opinions.</a:t>
            </a:r>
          </a:p>
          <a:p>
            <a:r>
              <a:rPr lang="en-US" sz="1400" b="0" dirty="0"/>
              <a:t>Units and timing: write the unit and the time point INTO the question.</a:t>
            </a:r>
          </a:p>
          <a:p>
            <a:r>
              <a:rPr lang="en-US" sz="1400" b="0" dirty="0"/>
              <a:t>Closed answers: tick boxes with codes are faster to fill and to analyse than free text. Always include 'other (specify)' and 'unknown / not done'.</a:t>
            </a:r>
          </a:p>
          <a:p>
            <a:r>
              <a:rPr lang="en-US" sz="1400" b="0" dirty="0"/>
              <a:t>Pilot it: give the form to two colleagues for the same five patients and compare. Disagreement shows you which item to rewrite.</a:t>
            </a:r>
          </a:p>
          <a:p>
            <a:r>
              <a:rPr lang="en-US" sz="1400" b="0" dirty="0"/>
              <a:t>Common mistake: designing the form after data collection has started. Changing a form mid-study creates two different datasets.</a:t>
            </a:r>
          </a:p>
          <a:p>
            <a:r>
              <a:rPr lang="en-US" sz="1400" b="0" dirty="0"/>
              <a:t>Ask: which rule is most often broken on forms in your unit? Expected answers: too long, no units, free text everywhere.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data dictionary (also called a codebook) explains every column of your dataset: short name, meaning, type, unit or codes, and allowed values.</a:t>
            </a:r>
          </a:p>
          <a:p>
            <a:r>
              <a:rPr lang="en-US" sz="1400" b="0" dirty="0"/>
              <a:t>Why it matters: in six months nobody will remember whether sex 1 meant male or female, or whether fb_d5 was ml or ml/kg. A statistician, a co-author or a reviewer must be able to understand your data without phoning you.</a:t>
            </a:r>
          </a:p>
          <a:p>
            <a:r>
              <a:rPr lang="en-US" sz="1400" b="0" dirty="0"/>
              <a:t>Read one row aloud: fb_d5 is cumulative fluid balance at day 5, continuous, in ml/kg, allowed from -100 to 300. That allowed range becomes an automatic check on the next slide.</a:t>
            </a:r>
          </a:p>
          <a:p>
            <a:r>
              <a:rPr lang="en-US" sz="1400" b="0" dirty="0"/>
              <a:t>Note the 'unknown' code (9) for source of infection. Missing and unknown are written down, not left blank.</a:t>
            </a:r>
          </a:p>
          <a:p>
            <a:r>
              <a:rPr lang="en-US" sz="1400" b="0" dirty="0"/>
              <a:t>Tip: short variable names with no spaces (fb_d5, not 'Fluid balance day 5') work in every software.</a:t>
            </a:r>
          </a:p>
          <a:p>
            <a:r>
              <a:rPr lang="en-US" sz="1400" b="0" dirty="0"/>
              <a:t>The proposal builder today asks you to write 3 to 5 rows like these for your own study.</a:t>
            </a:r>
          </a:p>
          <a:p>
            <a:r>
              <a:rPr lang="en-US" sz="1400" b="0" dirty="0"/>
              <a:t>Ask: who here has a data dictionary for an audit they ran? Usually very few. That is normal and easy to fix.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simple types of check catch most data-entry errors.</a:t>
            </a:r>
          </a:p>
          <a:p>
            <a:r>
              <a:rPr lang="en-US" sz="1400" b="0" dirty="0"/>
              <a:t>Range check: a value outside the allowed range (age 230 was probably 23 or 30). The range comes straight from the data dictionary.</a:t>
            </a:r>
          </a:p>
          <a:p>
            <a:r>
              <a:rPr lang="en-US" sz="1400" b="0" dirty="0"/>
              <a:t>Consistency check: two values that cannot both be true (discharge before admission).</a:t>
            </a:r>
          </a:p>
          <a:p>
            <a:r>
              <a:rPr lang="en-US" sz="1400" b="0" dirty="0"/>
              <a:t>Logic check: an impossible combination of answers (male and pregnant).</a:t>
            </a:r>
          </a:p>
          <a:p>
            <a:r>
              <a:rPr lang="en-US" sz="1400" b="0" dirty="0"/>
              <a:t>Completeness check: a required field is empty; chase it now while the chart is still available.</a:t>
            </a:r>
          </a:p>
          <a:p>
            <a:r>
              <a:rPr lang="en-US" sz="1400" b="0" dirty="0"/>
              <a:t>How to do it in practice: electronic forms can block impossible values at entry (next slides); on paper, a weekly check by the study coordinator does the same job.</a:t>
            </a:r>
          </a:p>
          <a:p>
            <a:r>
              <a:rPr lang="en-US" sz="1400" b="0" dirty="0"/>
              <a:t>Clinical point: the earlier you find the error, the easier it is to fix. Next week the patient's chart is still on the ward; next year it is archived.</a:t>
            </a:r>
          </a:p>
          <a:p>
            <a:r>
              <a:rPr lang="en-US" sz="1400" b="0" dirty="0"/>
              <a:t>Ask: what impossible values have you seen in hospital data? Expected: weights of 700 kg, dates in the future, a heart rate of 0 in a living patient.</a:t>
            </a:r>
          </a:p>
          <a:p>
            <a:r>
              <a:rPr lang="en-US" sz="1400" b="0" dirty="0"/>
              <a:t>Timing: 2 minutes. Then data management in practice, then the two missing-data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good data need a safe route from the patient to the analysis file. Two routes are shown.</a:t>
            </a:r>
          </a:p>
          <a:p>
            <a:r>
              <a:rPr lang="en-US" sz="1400" b="0" dirty="0"/>
              <a:t>Paper route: the CRF is typed into the computer TWICE by two different people (double data entry). A simple comparison shows every mismatch, and each one is corrected by looking at the paper form. This catches most typing errors (lactate 21 instead of 2.1).</a:t>
            </a:r>
          </a:p>
          <a:p>
            <a:r>
              <a:rPr lang="en-US" sz="1400" b="0" dirty="0"/>
              <a:t>Electronic data capture (EDC): the form is filled directly on a tablet or computer. Free, widely used examples are REDCap and KoBoToolbox. The range, logic and required-field checks from the data dictionary run AT ENTRY, so impossible values are blocked before they are saved.</a:t>
            </a:r>
          </a:p>
          <a:p>
            <a:r>
              <a:rPr lang="en-US" sz="1400" b="0" dirty="0"/>
              <a:t>Audit trail (right): a good system records who changed what, when and why. Never overwrite silently; ethics committees, monitors and journals may ask for this.</a:t>
            </a:r>
          </a:p>
          <a:p>
            <a:r>
              <a:rPr lang="en-US" sz="1400" b="0" dirty="0"/>
              <a:t>The database holds coded study IDs, not names. The key linking IDs to names is kept separately and locked.</a:t>
            </a:r>
          </a:p>
          <a:p>
            <a:r>
              <a:rPr lang="en-US" sz="1400" b="0" dirty="0"/>
              <a:t>Ask: who here has seen an Excel sheet with names, phone numbers and results in the same file, emailed around? Expected: many. That is exactly what we want to avoid.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1: why it matters (prevention is next; the mechanisms and statistical handling come in 6.4).</a:t>
            </a:r>
          </a:p>
          <a:p>
            <a:r>
              <a:rPr lang="en-US" sz="1400" b="0" dirty="0"/>
              <a:t>Teaching point: missing data reduce the number of patients, and they can also give the WRONG answer.</a:t>
            </a:r>
          </a:p>
          <a:p>
            <a:r>
              <a:rPr lang="en-US" sz="1400" b="0" dirty="0"/>
              <a:t>Walk through the picture: 100 patients, 30 truly died. But 15 of the deaths have an empty outcome box (transferred out, died at night, form never completed). Among the 85 recorded patients we see 15 deaths: 18%. The truth was 30%.</a:t>
            </a:r>
          </a:p>
          <a:p>
            <a:r>
              <a:rPr lang="en-US" sz="1400" b="0" dirty="0"/>
              <a:t>Why? Because missing is linked to the outcome itself. The sickest, most chaotic patients are the ones whose forms stay empty.</a:t>
            </a:r>
          </a:p>
          <a:p>
            <a:r>
              <a:rPr lang="en-US" sz="1400" b="0" dirty="0"/>
              <a:t>Common misconception: 'we lost only 15%, that is fine'. The amount matters less than WHO is missing.</a:t>
            </a:r>
          </a:p>
          <a:p>
            <a:r>
              <a:rPr lang="en-US" sz="1400" b="0" dirty="0"/>
              <a:t>Next Saturday (Session 6, 6.4) we name the mechanisms (MCAR, MAR, MNAR) and see the idea of multiple imputation. But statistical fixes are always second best to prevention.</a:t>
            </a:r>
          </a:p>
          <a:p>
            <a:r>
              <a:rPr lang="en-US" sz="1400" b="0" dirty="0"/>
              <a:t>Ask: in your unit, which patients are most likely to have incomplete records? Expected: transfers, deaths, night admissions, very short stays.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2: prevention.</a:t>
            </a:r>
          </a:p>
          <a:p>
            <a:r>
              <a:rPr lang="en-US" sz="1400" b="0" dirty="0"/>
              <a:t>Teaching point: five habits prevent most missing data.</a:t>
            </a:r>
          </a:p>
          <a:p>
            <a:r>
              <a:rPr lang="en-US" sz="1400" b="0" dirty="0"/>
              <a:t>Fewer items: every extra item increases the chance that something is left blank.</a:t>
            </a:r>
          </a:p>
          <a:p>
            <a:r>
              <a:rPr lang="en-US" sz="1400" b="0" dirty="0"/>
              <a:t>Clear form: mark required fields; give 'not done' and 'unknown' options so a blank always means 'forgotten'.</a:t>
            </a:r>
          </a:p>
          <a:p>
            <a:r>
              <a:rPr lang="en-US" sz="1400" b="0" dirty="0"/>
              <a:t>Train: a 30-minute session for every nurse or resident who will collect data, with the data dictionary in hand.</a:t>
            </a:r>
          </a:p>
          <a:p>
            <a:r>
              <a:rPr lang="en-US" sz="1400" b="0" dirty="0"/>
              <a:t>Check weekly: a simple count of empty boxes per variable and per patient. If one item is always empty, the item is the problem.</a:t>
            </a:r>
          </a:p>
          <a:p>
            <a:r>
              <a:rPr lang="en-US" sz="1400" b="0" dirty="0"/>
              <a:t>Chase early: the day-28 outcome is the most often missing variable in ICU studies; plan who will check it (phone call, records) for patients transferred out.</a:t>
            </a:r>
          </a:p>
          <a:p>
            <a:r>
              <a:rPr lang="en-US" sz="1400" b="0" dirty="0"/>
              <a:t>Mention: write these steps into your proposal as the 'data quality plan' (Part 3).</a:t>
            </a:r>
          </a:p>
          <a:p>
            <a:r>
              <a:rPr lang="en-US" sz="1400" b="0" dirty="0"/>
              <a:t>Transition: now practise with a partner.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Pair task closing 5.1. Exercises 1 and 2 are in Course/Practicals/s5_exercises.md; answers in Course/Solutions/s5_solutions.md.</a:t>
            </a:r>
          </a:p>
          <a:p>
            <a:r>
              <a:rPr lang="en-US" sz="1400" b="0" dirty="0"/>
              <a:t>Run it: 5 minutes in pairs, 2 minutes feedback; it closes 5.1 at 0:45. Walk around and listen for the classic errors.</a:t>
            </a:r>
          </a:p>
          <a:p>
            <a:r>
              <a:rPr lang="en-US" sz="1400" b="0" dirty="0"/>
              <a:t>Common errors to watch: GCS called continuous (it is ordinal, although often analysed as a number); 'number of days on ventilator' called continuous (it is a count; fine either way, but the distinction matters for how you summarise); 'time to extubation' called continuous (it is time-to-event because some patients are never extubated).</a:t>
            </a:r>
          </a:p>
          <a:p>
            <a:r>
              <a:rPr lang="en-US" sz="1400" b="0" dirty="0"/>
              <a:t>For the CRF rewrites, ask one pair to read their version of 'Fluid given: ____' and let the room apply the four checks on the side panel.</a:t>
            </a:r>
          </a:p>
          <a:p>
            <a:r>
              <a:rPr lang="en-US" sz="1400" b="0" dirty="0"/>
              <a:t>Timing: if the room is fast, ask them to add one row to a data dictionary for their rewritten item.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5.2 opener (25 minutes: the study, the flow of patients, raw vs clean data, an 8-minute live R cleaning demo, the cleaning log, then each group receives its question).</a:t>
            </a:r>
          </a:p>
          <a:p>
            <a:r>
              <a:rPr lang="en-US" sz="1400" b="0" dirty="0"/>
              <a:t>Key message: from now on your group will analyse and write up a realistic study, as well as reading other people's. FLUID-ICU is SIMULATED: invented by computer, no real patient, hospital or country. But it behaves like real ICU data, including its problems.</a:t>
            </a:r>
          </a:p>
          <a:p>
            <a:r>
              <a:rPr lang="en-US" sz="1400" b="0" dirty="0"/>
              <a:t>Nobody needs to run R. The instructor runs it live; you read and interpret. Participants who took the Neudata course 'Clinical Data Analysis in R' can reproduce everything with the scripts in Course/Data/R.</a:t>
            </a:r>
          </a:p>
          <a:p>
            <a:r>
              <a:rPr lang="en-US" sz="1400" b="0" dirty="0"/>
              <a:t>Link to the running example: Sessions 1-4 asked an interventional question (restrictive fluids: an RCT, Paper 1). FLUID-ICU asks the observational form: is a positive fluid balance associated with death? That is a cohort question (Paper 2). Ask: what can a cohort claim that an RCT cannot, and vice versa? Expected: association, not causation; but real-world patients and more of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any analysis, know the study: who, exposure, outcome, what else was measured.</a:t>
            </a:r>
          </a:p>
          <a:p>
            <a:r>
              <a:rPr lang="en-US" sz="1400" b="0" dirty="0"/>
              <a:t>Who: 620 adults with sepsis in 4 ICUs (ICU A 191, ICU B 164, ICU C 147, ICU D 118), enrolled January 2023 to December 2024. Simulated data.</a:t>
            </a:r>
          </a:p>
          <a:p>
            <a:r>
              <a:rPr lang="en-US" sz="1400" b="0" dirty="0"/>
              <a:t>Exposure: cumulative fluid balance by day 3, (all fluid in minus all fluid out over days 1-3) divided by admission weight, in ml/kg. Positive balance in 373 of 618 patients with a computable balance (60.4%); median 8.8 ml/kg (IQR -10.3 to 26.2).</a:t>
            </a:r>
          </a:p>
          <a:p>
            <a:r>
              <a:rPr lang="en-US" sz="1400" b="0" dirty="0"/>
              <a:t>Primary outcome: death by day 28: 179 of 620 (28.9%); time to death is also recorded (survivors censored at day 28).</a:t>
            </a:r>
          </a:p>
          <a:p>
            <a:r>
              <a:rPr lang="en-US" sz="1400" b="0" dirty="0"/>
              <a:t>Other variables: demographics, comorbidities, infection source, severity scores, lactate, vasopressors, ventilation, AKI, renal replacement, ventilator-free days, ICU stay.</a:t>
            </a:r>
          </a:p>
          <a:p>
            <a:r>
              <a:rPr lang="en-US" sz="1400" b="0" dirty="0"/>
              <a:t>The full data dictionary is Course/Data/data_dictionary.md: the same structure as the one you saw in 5.1.</a:t>
            </a:r>
          </a:p>
          <a:p>
            <a:r>
              <a:rPr lang="en-US" sz="1400" b="0" dirty="0"/>
              <a:t>Ask: from what you know of Sessions 3-4 and Paper 2, which patients do you expect to have a positive balance? Expected: the sickest ones. Keep that in mind for Table 1 and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flow of patients (the STROBE flow diagram in the manuscript).</a:t>
            </a:r>
          </a:p>
          <a:p>
            <a:r>
              <a:rPr lang="en-US" sz="1400" b="0" dirty="0"/>
              <a:t>Raw file: 623 rows. Three patients were entered twice: after removing duplicates, 620 enrolled patients.</a:t>
            </a:r>
          </a:p>
          <a:p>
            <a:r>
              <a:rPr lang="en-US" sz="1400" b="0" dirty="0"/>
              <a:t>Two patients have no day-3 fluid balance (their weight or one fluid output was impossible and set to missing during cleaning): 618 in the exposure population, used for Table 1 and the comparisons.</a:t>
            </a:r>
          </a:p>
          <a:p>
            <a:r>
              <a:rPr lang="en-US" sz="1400" b="0" dirty="0"/>
              <a:t>91 more have no lactate (or age): 527 complete cases for the adjusted model in Session 6.</a:t>
            </a:r>
          </a:p>
          <a:p>
            <a:r>
              <a:rPr lang="en-US" sz="1400" b="0" dirty="0"/>
              <a:t>Why it matters: 527 of 620 is 85%. Are the 91 patients without lactate different? Session 6 (6.4) answers this: they were less sick.</a:t>
            </a:r>
          </a:p>
          <a:p>
            <a:r>
              <a:rPr lang="en-US" sz="1400" b="0" dirty="0"/>
              <a:t>Ask: in which section of your manuscript will this picture go? Expected: the first paragraph of the Results (participants), as Figure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are the data-quality problems found in the raw file, and how each was fixed. Ask the room to guess the problem for each row before revealing the clean column.</a:t>
            </a:r>
          </a:p>
          <a:p>
            <a:r>
              <a:rPr lang="en-US" sz="1400" b="0" dirty="0"/>
              <a:t>Sex and yes/no variables spelled in many ways; three date formats (is 03/04 March or April?); ICU C sent lactate in mg/dL instead of mmol/L (found by comparing medians by ICU); 999 and -99 used as missing codes; impossible values (an age of 210, a weight of 7 kg, a negative fluid output); duplicate records (623 rows for 620 patients).</a:t>
            </a:r>
          </a:p>
          <a:p>
            <a:r>
              <a:rPr lang="en-US" sz="1400" b="0" dirty="0"/>
              <a:t>Each problem breaks the analysis silently: a lactate of 999 inflates the mean; 'Y' and 'Yes' become two categories; mg/dL values make ICU C look like a lactate catastrophe.</a:t>
            </a:r>
          </a:p>
          <a:p>
            <a:r>
              <a:rPr lang="en-US" sz="1400" b="0" dirty="0"/>
              <a:t>Impossible values are set to missing and a query is sent to the site; the patient stays in the study. We never guess.</a:t>
            </a:r>
          </a:p>
          <a:p>
            <a:r>
              <a:rPr lang="en-US" sz="1400" b="0" dirty="0"/>
              <a:t>Link to 5.1: every one of these would have been prevented by an electronic CRF with validation rules and a data dictionary.</a:t>
            </a:r>
          </a:p>
          <a:p>
            <a:r>
              <a:rPr lang="en-US" sz="1400" b="0" dirty="0"/>
              <a:t>Ask: which problem would you never have spotted without a graph or a summary by ICU? Expected: the lactate unit.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Full script with expected outputs and fallback screenshots: Course/Demos/s5_demo.md (Part A).</a:t>
            </a:r>
          </a:p>
          <a:p>
            <a:r>
              <a:rPr lang="en-US" sz="1400" b="0" dirty="0"/>
              <a:t>You run R; participants watch. Run blocks one at a time with Ctrl+Enter and say aloud what each block fixes.</a:t>
            </a:r>
          </a:p>
          <a:p>
            <a:r>
              <a:rPr lang="en-US" sz="1400" b="0" dirty="0"/>
              <a:t>Show: the raw data read as text; 623 rows reduced to 620 by removing the 3 duplicates; the table of sex spellings before and after; the three date formats; the lactate medians by ICU (ICU C about 9 times higher) and the conversion; impossible values set to missing; the final check that the cleaned file is identical to the reference clean file.</a:t>
            </a:r>
          </a:p>
          <a:p>
            <a:r>
              <a:rPr lang="en-US" sz="1400" b="0" dirty="0"/>
              <a:t>Teaching points: (1) the raw file is never edited; (2) one problem, one block, one log entry; (3) because it is a script, anyone can re-run it and get exactly the same clean data: reproducibility.</a:t>
            </a:r>
          </a:p>
          <a:p>
            <a:r>
              <a:rPr lang="en-US" sz="1400" b="0" dirty="0"/>
              <a:t>If R fails: show the raw-vs-clean slide again and the screenshots in the demo script; the teaching points are the same.</a:t>
            </a:r>
          </a:p>
          <a:p>
            <a:r>
              <a:rPr lang="en-US" sz="1400" b="0" dirty="0"/>
              <a:t>Do not let the demo run over: stop after 8 minutes, even if you skip a block.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cleaning log is the audit trail of the dataset. Show the real file on screen if you can (Course/Data/cleaning_log.md).</a:t>
            </a:r>
          </a:p>
          <a:p>
            <a:r>
              <a:rPr lang="en-US" sz="1400" b="0" dirty="0"/>
              <a:t>The rule: the raw file is never edited; every change is made by the script and written down.</a:t>
            </a:r>
          </a:p>
          <a:p>
            <a:r>
              <a:rPr lang="en-US" sz="1400" b="0" dirty="0"/>
              <a:t>Each row: the problem found, how many records, what was done and why (for example: lactate at ICU C in mg/dL, divided by 9.01 to obtain mmol/L, confirmed with the site laboratory).</a:t>
            </a:r>
          </a:p>
          <a:p>
            <a:r>
              <a:rPr lang="en-US" sz="1400" b="0" dirty="0"/>
              <a:t>Queries: impossible values are set to missing and a query is sent to the site; the patient is not deleted (deleting would bias the sample).</a:t>
            </a:r>
          </a:p>
          <a:p>
            <a:r>
              <a:rPr lang="en-US" sz="1400" b="0" dirty="0"/>
              <a:t>What is left after cleaning is REAL missing data: lactate 93 of 620 (15.0%), every other variable 1% or less. These gaps are the subject of 6.4 next Saturday.</a:t>
            </a:r>
          </a:p>
          <a:p>
            <a:r>
              <a:rPr lang="en-US" sz="1400" b="0" dirty="0"/>
              <a:t>Ask: why not just delete the patient with an age of 210? Expected: the rest of the record is valid; deleting patients for typing errors can bias the sample.</a:t>
            </a:r>
          </a:p>
          <a:p>
            <a:r>
              <a:rPr lang="en-US" sz="1400" b="0" dirty="0"/>
              <a:t>Your manuscript's Methods will say: 'Data were cleaned with a script; all changes are documented in a cleaning log.'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one dataset, five different research questions, matching the secondary objectives of the FLUID-ICU SAP.</a:t>
            </a:r>
          </a:p>
          <a:p>
            <a:r>
              <a:rPr lang="en-US" sz="1400" b="0" dirty="0"/>
              <a:t>Q1 (group 1): positive fluid balance by day 3 and 28-day mortality: logistic regression plus Kaplan-Meier and Cox. The primary question.</a:t>
            </a:r>
          </a:p>
          <a:p>
            <a:r>
              <a:rPr lang="en-US" sz="1400" b="0" dirty="0"/>
              <a:t>Q2 (group 2): cumulative fluid balance and acute kidney injury: logistic regression.</a:t>
            </a:r>
          </a:p>
          <a:p>
            <a:r>
              <a:rPr lang="en-US" sz="1400" b="0" dirty="0"/>
              <a:t>Q3 (group 3): cumulative fluid balance and ventilator-free days: a count from 0 to 28, piled up at both ends: Mann-Whitney and linear regression.</a:t>
            </a:r>
          </a:p>
          <a:p>
            <a:r>
              <a:rPr lang="en-US" sz="1400" b="0" dirty="0"/>
              <a:t>Q4 (group 4): initial lactate and 28-day mortality, and what missing lactate does: complete-case vs multiple imputation.</a:t>
            </a:r>
          </a:p>
          <a:p>
            <a:r>
              <a:rPr lang="en-US" sz="1400" b="0" dirty="0"/>
              <a:t>Q5 (group 5): fluid balance and ICU length of stay among survivors: a skewed outcome (median, IQR; log scale).</a:t>
            </a:r>
          </a:p>
          <a:p>
            <a:r>
              <a:rPr lang="en-US" sz="1400" b="0" dirty="0"/>
              <a:t>Each group has a results pack in Course/Data/results_packs (Table 1, figures, regression tables, plain-language notes). It is the raw material of the manuscript drafted in Sessions 7-8.</a:t>
            </a:r>
          </a:p>
          <a:p>
            <a:r>
              <a:rPr lang="en-US" sz="1400" b="0" dirty="0"/>
              <a:t>Assign the questions now (or confirm the assignment made before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task, 4 minutes. Worksheet: Session 5 exercises, exercise 7.</a:t>
            </a:r>
          </a:p>
          <a:p>
            <a:r>
              <a:rPr lang="en-US" sz="1400" b="0" dirty="0"/>
              <a:t>Each group writes its question as a PECO sentence (P population, E exposure, C comparator, O outcome) and labels the type of the outcome and exposure, using the variable-type tree from 5.1.</a:t>
            </a:r>
          </a:p>
          <a:p>
            <a:r>
              <a:rPr lang="en-US" sz="1400" b="0" dirty="0"/>
              <a:t>Expected types: Q1 outcome binary (plus time-to-event), exposure binary; Q2 binary outcome, continuous exposure; Q3 count outcome (0-28, skewed), continuous exposure; Q4 binary outcome, continuous exposure (lactate) with missing values; Q5 continuous skewed outcome (survivors only), binary exposure.</a:t>
            </a:r>
          </a:p>
          <a:p>
            <a:r>
              <a:rPr lang="en-US" sz="1400" b="0" dirty="0"/>
              <a:t>Check one or two groups aloud. 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15 minutes. Start again on time (1:25).</a:t>
            </a:r>
          </a:p>
          <a:p>
            <a:r>
              <a:rPr lang="en-US" sz="1400" b="0" dirty="0"/>
              <a:t>During the break: check that the R project for 02_describe.R opens and runs on the projector laptop, and that the fallback figures for 5.4 are ready.</a:t>
            </a:r>
          </a:p>
          <a:p>
            <a:r>
              <a:rPr lang="en-US" sz="1400" b="0" dirty="0"/>
              <a:t>Walk around and ask two or three people what was hardest so far (often the course-dataset cleaning); adjust the pace of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5.3 opener (35 minutes: a worked example by hand, mean vs median, spread, shapes, a check, which graph, honest figures, Table 1 and publication-quality tables).</a:t>
            </a:r>
          </a:p>
          <a:p>
            <a:r>
              <a:rPr lang="en-US" sz="1400" b="0" dirty="0"/>
              <a:t>Key message: every paper begins its results by describing the patients: who they were, how sick, how old. You need two numbers for any numerical variable: a CENTRE (where is the typical patient?) and a SPREAD (how different are patients from each other?).</a:t>
            </a:r>
          </a:p>
          <a:p>
            <a:r>
              <a:rPr lang="en-US" sz="1400" b="0" dirty="0"/>
              <a:t>The choice between the two families (mean and SD, or median and IQR) depends on one thing: the SHAPE of the data.</a:t>
            </a:r>
          </a:p>
          <a:p>
            <a:r>
              <a:rPr lang="en-US" sz="1400" b="0" dirty="0"/>
              <a:t>Transition: let us look at the most famous skewed variable in hospital medicine: length of stay.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Write the seven numbers on the flip chart.</a:t>
            </a:r>
          </a:p>
          <a:p>
            <a:r>
              <a:rPr lang="en-US" sz="1400" b="0" dirty="0"/>
              <a:t>Line up: they are already sorted: 1, 2, 2, 3, 4, 6, 24.</a:t>
            </a:r>
          </a:p>
          <a:p>
            <a:r>
              <a:rPr lang="en-US" sz="1400" b="0" dirty="0"/>
              <a:t>Median: the middle patient of seven is the 4th: 3 days. Half stayed less, half more.</a:t>
            </a:r>
          </a:p>
          <a:p>
            <a:r>
              <a:rPr lang="en-US" sz="1400" b="0" dirty="0"/>
              <a:t>Mean: add them up: 1 + 2 + 2 + 3 + 4 + 6 + 24 = 42; divide by 7 = 6 days.</a:t>
            </a:r>
          </a:p>
          <a:p>
            <a:r>
              <a:rPr lang="en-US" sz="1400" b="0" dirty="0"/>
              <a:t>Compare: six of the seven patients stayed 6 days or less; the mean of 6 is pulled up by the single 24-day stay. The median describes the typical patient.</a:t>
            </a:r>
          </a:p>
          <a:p>
            <a:r>
              <a:rPr lang="en-US" sz="1400" b="0" dirty="0"/>
              <a:t>Now ask: if the long-stay patient had stayed 60 days instead of 24, what happens? Expected: the median stays 3, the mean jumps to about 11 (78 / 7 = 11.1).</a:t>
            </a:r>
          </a:p>
          <a:p>
            <a:r>
              <a:rPr lang="en-US" sz="1400" b="0" dirty="0"/>
              <a:t>This is the only hand calculation today; afterwards the computer does it and you interpret.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MEDIAN is the middle patient when you line everyone up; the MEAN is the arithmetic average.</a:t>
            </a:r>
          </a:p>
          <a:p>
            <a:r>
              <a:rPr lang="en-US" sz="1400" b="0" dirty="0"/>
              <a:t>In this simulated ICU, most patients stay 1 to 5 days, but a few stay 3 to 6 weeks. Those few long stays pull the mean to the right (3.9 days) while the median stays with the typical patient (2.8 days).</a:t>
            </a:r>
          </a:p>
          <a:p>
            <a:r>
              <a:rPr lang="en-US" sz="1400" b="0" dirty="0"/>
              <a:t>Clinical translation: if a manager says 'the average ICU stay is 3.9 days', most of your patients actually leave earlier than that.</a:t>
            </a:r>
          </a:p>
          <a:p>
            <a:r>
              <a:rPr lang="en-US" sz="1400" b="0" dirty="0"/>
              <a:t>Common misconception: 'the mean is always the correct average'. For skewed data it describes no real patient.</a:t>
            </a:r>
          </a:p>
          <a:p>
            <a:r>
              <a:rPr lang="en-US" sz="1400" b="0" dirty="0"/>
              <a:t>Rule of thumb: if the mean and median are far apart, the data are skewed: report the median.</a:t>
            </a:r>
          </a:p>
          <a:p>
            <a:r>
              <a:rPr lang="en-US" sz="1400" b="0" dirty="0"/>
              <a:t>Ask: name other skewed variables in your work. Expected: hospital costs, CRP, troponin, time to antibiotics, days on ventilator.</a:t>
            </a:r>
          </a:p>
          <a:p>
            <a:r>
              <a:rPr lang="en-US" sz="1400" b="0" dirty="0"/>
              <a:t>Running example: Paper 1 reported cumulative fluid balance as MEDIANS (6.9 vs 35.0 ml/kg) for exactly this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spread tells you how different patients are from each other.</a:t>
            </a:r>
          </a:p>
          <a:p>
            <a:r>
              <a:rPr lang="en-US" sz="1400" b="0" dirty="0"/>
              <a:t>Left: age is roughly symmetric. The standard deviation (SD) is the typical distance of a patient from the mean. In bell-shaped data, about two thirds of patients lie within one SD of the mean.</a:t>
            </a:r>
          </a:p>
          <a:p>
            <a:r>
              <a:rPr lang="en-US" sz="1400" b="0" dirty="0"/>
              <a:t>Right: length of stay is skewed. The boxplot shows the median (thick line), the box from the 25th to the 75th percentile (the interquartile range, IQR: the middle 50% of patients), whiskers, and outliers as dots.</a:t>
            </a:r>
          </a:p>
          <a:p>
            <a:r>
              <a:rPr lang="en-US" sz="1400" b="0" dirty="0"/>
              <a:t>How to read 'median 2.8 (IQR 1.5-4.7)': half the patients stayed less than 2.8 days; the middle half stayed between 1.5 and 4.7 days.</a:t>
            </a:r>
          </a:p>
          <a:p>
            <a:r>
              <a:rPr lang="en-US" sz="1400" b="0" dirty="0"/>
              <a:t>Common mistakes: reporting mean with IQR, or median with SD. And confusing SD (spread of patients) with the standard error or CI (precision of the estimate), which comes in 6.1.</a:t>
            </a:r>
          </a:p>
          <a:p>
            <a:r>
              <a:rPr lang="en-US" sz="1400" b="0" dirty="0"/>
              <a:t>Paper 1 example: control-group fluid balance 'median 35.0 (IQR -7.9; 40.2)'. Point out the negative lower quartile: a quarter of patients had a negative balance.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two shapes cover most clinical data.</a:t>
            </a:r>
          </a:p>
          <a:p>
            <a:r>
              <a:rPr lang="en-US" sz="1400" b="0" dirty="0"/>
              <a:t>WHY THESE TWO (reviewer question): most clinical measurements either cluster around a typical value (body size, physiology tightly regulated by the body: symmetric) or cannot go below zero but can go very high (times, counts, costs, inflammatory markers: right-skewed). Together they cover the large majority of variables in a clinical dataset, and they lead to the two ways of summarising data.</a:t>
            </a:r>
          </a:p>
          <a:p>
            <a:r>
              <a:rPr lang="en-US" sz="1400" b="0" dirty="0"/>
              <a:t>Other shapes exist but are rarer: left-skewed (a ceiling, e.g. gestational age at birth, oxygen saturation), bimodal (two groups mixed, e.g. age on a ward that admits both children and adults). For any shape that is not clearly symmetric, show the histogram and report median (IQR).</a:t>
            </a:r>
          </a:p>
          <a:p>
            <a:r>
              <a:rPr lang="en-US" sz="1400" b="0" dirty="0"/>
              <a:t>Symmetric, bell-shaped (often called 'normal'): mean and median are in the same place. Examples: age in adults, height, haemoglobin, systolic blood pressure. Report mean (SD).</a:t>
            </a:r>
          </a:p>
          <a:p>
            <a:r>
              <a:rPr lang="en-US" sz="1400" b="0" dirty="0"/>
              <a:t>Right-skewed: a long tail of high values pulls the mean to the right of the median. Examples: length of stay, cost, CRP, many lab values that cannot go below zero. Report median (IQR).</a:t>
            </a:r>
          </a:p>
          <a:p>
            <a:r>
              <a:rPr lang="en-US" sz="1400" b="0" dirty="0"/>
              <a:t>Quick check without software: if the SD is larger than half the mean for a variable that cannot be negative, it is probably skewed.</a:t>
            </a:r>
          </a:p>
          <a:p>
            <a:r>
              <a:rPr lang="en-US" sz="1400" b="0" dirty="0"/>
              <a:t>Why this matters later: the shape also decides the test (t-test for symmetric, Mann-Whitney for skewed). That is the decision chart in 6.1.</a:t>
            </a:r>
          </a:p>
          <a:p>
            <a:r>
              <a:rPr lang="en-US" sz="1400" b="0" dirty="0"/>
              <a:t>Ask: is 'number of days on vasopressors' symmetric or skewed? Expected: skewed (most patients 1-3 days, a few for weeks).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half-way through 5.3. Hands up or coloured cards.</a:t>
            </a:r>
          </a:p>
          <a:p>
            <a:r>
              <a:rPr lang="en-US" sz="1400" b="0" dirty="0"/>
              <a:t>Q1: median (IQR): length of stay is right-skewed.</a:t>
            </a:r>
          </a:p>
          <a:p>
            <a:r>
              <a:rPr lang="en-US" sz="1400" b="0" dirty="0"/>
              <a:t>Q2: mean (SD): bell-shaped data.</a:t>
            </a:r>
          </a:p>
          <a:p>
            <a:r>
              <a:rPr lang="en-US" sz="1400" b="0" dirty="0"/>
              <a:t>Q3: n (%): a binary variable has no mean or SD; report the number and percentage.</a:t>
            </a:r>
          </a:p>
          <a:p>
            <a:r>
              <a:rPr lang="en-US" sz="1400" b="0" dirty="0"/>
              <a:t>Q4: n (%) for each stage, shown with a bar chart; the median stage is also acceptable for an ordinal variable. Do not report a 'mean stage of 2.3'.</a:t>
            </a:r>
          </a:p>
          <a:p>
            <a:r>
              <a:rPr lang="en-US" sz="1400" b="0" dirty="0"/>
              <a:t>If many get Q1 wrong, return to the histogram slide for one minute.</a:t>
            </a:r>
          </a:p>
          <a:p>
            <a:r>
              <a:rPr lang="en-US" sz="1400" b="0" dirty="0"/>
              <a:t>Transition: now, how to SHOW these summaries: graphs, figures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graphs cover most of what you need to describe data. Survival curves (Kaplan-Meier) come in Session 6, when we analyse time-to-event outcomes.</a:t>
            </a:r>
          </a:p>
          <a:p>
            <a:r>
              <a:rPr lang="en-US" sz="1400" b="0" dirty="0"/>
              <a:t>One categorical variable: bar chart with counts or percentages (source of sepsis). Avoid 3-D pie charts.</a:t>
            </a:r>
          </a:p>
          <a:p>
            <a:r>
              <a:rPr lang="en-US" sz="1400" b="0" dirty="0"/>
              <a:t>One numerical variable: histogram to see the shape (length of stay).</a:t>
            </a:r>
          </a:p>
          <a:p>
            <a:r>
              <a:rPr lang="en-US" sz="1400" b="0" dirty="0"/>
              <a:t>A number compared between groups: side-by-side boxplots (fluid balance in restrictive vs usual care).</a:t>
            </a:r>
          </a:p>
          <a:p>
            <a:r>
              <a:rPr lang="en-US" sz="1400" b="0" dirty="0"/>
              <a:t>Two numerical variables: scatter plot (fluid balance against lactate).</a:t>
            </a:r>
          </a:p>
          <a:p>
            <a:r>
              <a:rPr lang="en-US" sz="1400" b="0" dirty="0"/>
              <a:t>Common mistake: a bar chart of means with a small error bar for skewed data; it hides the shape and the outliers. A boxplot shows much more.</a:t>
            </a:r>
          </a:p>
          <a:p>
            <a:r>
              <a:rPr lang="en-US" sz="1400" b="0" dirty="0"/>
              <a:t>Ask: which graph would you use to compare ICU length of stay between the two fluid groups? Expected: side-by-side boxplots (skewed numbers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'dynamite plot' (bar of the mean plus an error bar) is the most common bad figure in clinical journals. It shows two numbers per group and hides the rest.</a:t>
            </a:r>
          </a:p>
          <a:p>
            <a:r>
              <a:rPr lang="en-US" sz="1400" b="0" dirty="0"/>
              <a:t>Left: the bars suggest the usual-care group has much higher fluid balance. Right: the same simulated data as dots plus a boxplot. Now you see that one extreme patient (160 ml/kg) drags the usual-care mean up, that the data are skewed, and that the groups overlap a lot.</a:t>
            </a:r>
          </a:p>
          <a:p>
            <a:r>
              <a:rPr lang="en-US" sz="1400" b="0" dirty="0"/>
              <a:t>Also note: the left plot shows the standard error (SE), not the SD, which makes the spread look small. Always say whether bars are SD, SE or 95% CI.</a:t>
            </a:r>
          </a:p>
          <a:p>
            <a:r>
              <a:rPr lang="en-US" sz="1400" b="0" dirty="0"/>
              <a:t>Rule: with fewer than about 100 patients per group, show the individual points.</a:t>
            </a:r>
          </a:p>
          <a:p>
            <a:r>
              <a:rPr lang="en-US" sz="1400" b="0" dirty="0"/>
              <a:t>Many journals now explicitly discourage bar charts for continuous data.</a:t>
            </a:r>
          </a:p>
          <a:p>
            <a:r>
              <a:rPr lang="en-US" sz="1400" b="0" dirty="0"/>
              <a:t>Ask: what would you have concluded from the left picture alone? Expected: 'the usual-care group is clearly higher'. That is the danger.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Table 1 in almost every clinical paper describes the patients at baseline, by group.</a:t>
            </a:r>
          </a:p>
          <a:p>
            <a:r>
              <a:rPr lang="en-US" sz="1400" b="0" dirty="0"/>
              <a:t>Read it row by row using the colour key: symmetric variables as mean (SD), skewed ones as median (IQR), categories as n (%).</a:t>
            </a:r>
          </a:p>
          <a:p>
            <a:r>
              <a:rPr lang="en-US" sz="1400" b="0" dirty="0"/>
              <a:t>Two questions to ask of every Table 1: (1) Do these patients look like mine? (generalisability) (2) Are the groups similar at the start? (fair comparison).</a:t>
            </a:r>
          </a:p>
          <a:p>
            <a:r>
              <a:rPr lang="en-US" sz="1400" b="0" dirty="0"/>
              <a:t>In an RCT, groups should be similar by chance thanks to randomisation; small differences are expected. Many guidelines (CONSORT) advise against p-values in an RCT's Table 1, because any difference is due to chance by definition.</a:t>
            </a:r>
          </a:p>
          <a:p>
            <a:r>
              <a:rPr lang="en-US" sz="1400" b="0" dirty="0"/>
              <a:t>In a cohort (Paper 2), large baseline differences are a warning sign of confounding; that is why Paper 2 matched patients on a propensity score before comparing them.</a:t>
            </a:r>
          </a:p>
          <a:p>
            <a:r>
              <a:rPr lang="en-US" sz="1400" b="0" dirty="0"/>
              <a:t>Numbers on the slide are illustrative, not from Paper 1. Paper 1's real Table 1 has 24 patients per group; ask participants to open it on Sessions 7-8.</a:t>
            </a:r>
          </a:p>
          <a:p>
            <a:r>
              <a:rPr lang="en-US" sz="1400" b="0" dirty="0"/>
              <a:t>Ask: what would worry you if the restrictive group had a median SOFA of 6 and usual care 11? Expected: the groups are not comparable; sicker patients in one arm.</a:t>
            </a:r>
          </a:p>
          <a:p>
            <a:r>
              <a:rPr lang="en-US" sz="1400" b="0" dirty="0"/>
              <a:t>Timing: 2 minutes. Next: the same Table 1 written badly and well, after two slides on figures.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table in a paper must stand alone. Compare the two versions row by row.</a:t>
            </a:r>
          </a:p>
          <a:p>
            <a:r>
              <a:rPr lang="en-US" sz="1400" b="0" dirty="0"/>
              <a:t>Column headers: 'Group A / Group B' tells the reader nothing; write the group names and the number of patients in each column (n = 24).</a:t>
            </a:r>
          </a:p>
          <a:p>
            <a:r>
              <a:rPr lang="en-US" sz="1400" b="0" dirty="0"/>
              <a:t>Row labels: say the unit and the summary used: 'Age, years, mean (SD)', 'Lactate, mmol/L, median (IQR)'.</a:t>
            </a:r>
          </a:p>
          <a:p>
            <a:r>
              <a:rPr lang="en-US" sz="1400" b="0" dirty="0"/>
              <a:t>Numbers: sensible, consistent decimals: age as whole years, percentages without decimals for small samples, lactate with one decimal. 63.4567 suggests a precision that does not exist.</a:t>
            </a:r>
          </a:p>
          <a:p>
            <a:r>
              <a:rPr lang="en-US" sz="1400" b="0" dirty="0"/>
              <a:t>Categories as n (%), never as a proportion like 0.375.</a:t>
            </a:r>
          </a:p>
          <a:p>
            <a:r>
              <a:rPr lang="en-US" sz="1400" b="0" dirty="0"/>
              <a:t>Footnotes explain every abbreviation (SOFA, IQR) and, if p-values are shown, which test was used. In an RCT Table 1, leave p-values out (CONSORT).</a:t>
            </a:r>
          </a:p>
          <a:p>
            <a:r>
              <a:rPr lang="en-US" sz="1400" b="0" dirty="0"/>
              <a:t>No vertical lines, few horizontal ones; journals will re-typeset anyway, but reviewers notice messy tables.</a:t>
            </a:r>
          </a:p>
          <a:p>
            <a:r>
              <a:rPr lang="en-US" sz="1400" b="0" dirty="0"/>
              <a:t>The proposal template and Sessions 7-8 (writing the paper) use these same rules.</a:t>
            </a:r>
          </a:p>
          <a:p>
            <a:r>
              <a:rPr lang="en-US" sz="1400" b="0" dirty="0"/>
              <a:t>Ask: find four problems in the left table in 30 seconds. Expected: no n, no units, no %, too many decimals, unexplained SOFA, p-values in an RCT.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5.4 opener (25 minutes: a 6-minute live demo of Table 1 and figures, four slides of FLUID-ICU results, then a 10-minute group worksheet on your own results pack).</a:t>
            </a:r>
          </a:p>
          <a:p>
            <a:r>
              <a:rPr lang="en-US" sz="1400" b="0" dirty="0"/>
              <a:t>Key message: everything from 5.3 (shape, mean or median, which graph, Table 1) now applied to FLUID-ICU. Same rules, real (simulated) numbers.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Full script: Course/Demos/s5_demo.md (Part B), using Course/Data/R/02_describe.R.</a:t>
            </a:r>
          </a:p>
          <a:p>
            <a:r>
              <a:rPr lang="en-US" sz="1400" b="0" dirty="0"/>
              <a:t>Show: the shape of age (roughly symmetric, so mean and SD) vs lactate and ICU stay (right-skewed, so median and IQR); the Table 1 by fluid-balance group with overall, negative (n = 245) and positive (n = 373) columns and the number missing per variable; the histogram of fluid balance, the SOFA boxplot by group, the sorted bar chart of infection source.</a:t>
            </a:r>
          </a:p>
          <a:p>
            <a:r>
              <a:rPr lang="en-US" sz="1400" b="0" dirty="0"/>
              <a:t>Point out: no p-values in Table 1 (it describes, it does not test), as written in the FLUID-ICU SAP.</a:t>
            </a:r>
          </a:p>
          <a:p>
            <a:r>
              <a:rPr lang="en-US" sz="1400" b="0" dirty="0"/>
              <a:t>If R fails: go straight to the next slides; they show the same outputs.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Table 1 with the two questions from 5.3: do these patients look like mine, and were the groups alike at the start?</a:t>
            </a:r>
          </a:p>
          <a:p>
            <a:r>
              <a:rPr lang="en-US" sz="1400" b="0" dirty="0"/>
              <a:t>Age: mean 64.6 vs 61.4 years (negative vs positive): similar.</a:t>
            </a:r>
          </a:p>
          <a:p>
            <a:r>
              <a:rPr lang="en-US" sz="1400" b="0" dirty="0"/>
              <a:t>Severity is NOT similar: SOFA median 6 (4 to 8) vs 8 (6 to 10); vasopressor 61/245 (24.9%) vs 205/373 (55.0%); mechanical ventilation 97/245 (39.6%) vs 216/373 (57.9%); lactate median 2.2 vs 2.9 mmol/L.</a:t>
            </a:r>
          </a:p>
          <a:p>
            <a:r>
              <a:rPr lang="en-US" sz="1400" b="0" dirty="0"/>
              <a:t>Heart failure: 54/245 (22.0%) vs 43/373 (11.5%): clinicians give less fluid to patients with heart failure.</a:t>
            </a:r>
          </a:p>
          <a:p>
            <a:r>
              <a:rPr lang="en-US" sz="1400" b="0" dirty="0"/>
              <a:t>Interpretation: patients with a positive balance were sicker before the fluid was given. Sicker patients receive more fluid AND die more often: confounding by indication (Session 4). Any crude comparison of mortality will be biased; Session 6 adjusts for it.</a:t>
            </a:r>
          </a:p>
          <a:p>
            <a:r>
              <a:rPr lang="en-US" sz="1400" b="0" dirty="0"/>
              <a:t>Ask: from this table alone, would you expect the crude odds ratio for death to be larger or smaller than the adjusted one? Expected: larger (the sickness inflates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always look at the exposure before using it.</a:t>
            </a:r>
          </a:p>
          <a:p>
            <a:r>
              <a:rPr lang="en-US" sz="1400" b="0" dirty="0"/>
              <a:t>The cumulative fluid balance at day 3 ranges widely; median 8.8 ml/kg (IQR -10.3 to 26.2). 373 of 618 patients (60.4%) had a positive balance.</a:t>
            </a:r>
          </a:p>
          <a:p>
            <a:r>
              <a:rPr lang="en-US" sz="1400" b="0" dirty="0"/>
              <a:t>The primary analysis (Q1) cuts the continuous variable at 0 ml/kg into two groups; Q2 and Q3 keep it continuous (per 10 ml/kg). Cutting loses information but is easier to explain; the SAP fixed this choice in advance.</a:t>
            </a:r>
          </a:p>
          <a:p>
            <a:r>
              <a:rPr lang="en-US" sz="1400" b="0" dirty="0"/>
              <a:t>Ask: which summary would you report for this variable in Table 1? Expected: median (IQR), as here, because of the tails; roughly symmetric in the middle, so mean (SD) would also be acceptable if stated.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'dots plus box' figure from 5.3, applied to FLUID-ICU.</a:t>
            </a:r>
          </a:p>
          <a:p>
            <a:r>
              <a:rPr lang="en-US" sz="1400" b="0" dirty="0"/>
              <a:t>SOFA score on admission: median 6 (IQR 4 to 8) in the negative-balance group vs 8 (6 to 10) in the positive-balance group. Every dot is a patient, so the reader sees the overlap AND the shift.</a:t>
            </a:r>
          </a:p>
          <a:p>
            <a:r>
              <a:rPr lang="en-US" sz="1400" b="0" dirty="0"/>
              <a:t>This single picture is the visual proof of confounding by indication in this dataset.</a:t>
            </a:r>
          </a:p>
          <a:p>
            <a:r>
              <a:rPr lang="en-US" sz="1400" b="0" dirty="0"/>
              <a:t>Ask: why a boxplot and not a bar of the mean SOFA? Expected: SOFA is a score with a skewed distribution; the bar would hide the spread and the overlap.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length-of-stay picture from 5.3 is true in FLUID-ICU too.</a:t>
            </a:r>
          </a:p>
          <a:p>
            <a:r>
              <a:rPr lang="en-US" sz="1400" b="0" dirty="0"/>
              <a:t>ICU stay among the 439 survivors is right-skewed: a few very long stays pull the mean (7.5 days) above the median (6.2 days). Across all patients: mean 7.3, median 6.0.</a:t>
            </a:r>
          </a:p>
          <a:p>
            <a:r>
              <a:rPr lang="en-US" sz="1400" b="0" dirty="0"/>
              <a:t>Group 5's question (Q5) is about this outcome; they will report medians (IQR), compare groups with the Mann-Whitney test, and use a log scale in the model (Session 6).</a:t>
            </a:r>
          </a:p>
          <a:p>
            <a:r>
              <a:rPr lang="en-US" sz="1400" b="0" dirty="0"/>
              <a:t>Ask: which group most needs this slide? Expected: group 5, but every group reports at least one skewed variable in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10 minutes (7 work, 3 feedback). Session 5 exercises, exercise 6; model answers in s5_solutions.md.</a:t>
            </a:r>
          </a:p>
          <a:p>
            <a:r>
              <a:rPr lang="en-US" sz="1400" b="0" dirty="0"/>
              <a:t>All five results packs contain the same Table 1 by fluid-balance group (Q5's also has the survivors). Groups practise reading it.</a:t>
            </a:r>
          </a:p>
          <a:p>
            <a:r>
              <a:rPr lang="en-US" sz="1400" b="0" dirty="0"/>
              <a:t>Model description sentences: 'Of 620 enrolled patients, 618 had a computable day-3 fluid balance; 373 (60.4%) had a positive balance. Patients with a positive balance were more severely ill at admission (median SOFA 8 vs 6; vasopressor 55.0% vs 24.9%; mechanical ventilation 57.9% vs 39.6%).'</a:t>
            </a:r>
          </a:p>
          <a:p>
            <a:r>
              <a:rPr lang="en-US" sz="1400" b="0" dirty="0"/>
              <a:t>Listen for: correct summaries (mean vs median), no interpretation of 'significance' in Table 1, and the realisation that severity differs between groups.</a:t>
            </a:r>
          </a:p>
          <a:p>
            <a:r>
              <a:rPr lang="en-US" sz="1400" b="0" dirty="0"/>
              <a:t>These sentences go straight into the manuscript's Results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groups start, so they see the expected level.</a:t>
            </a:r>
          </a:p>
          <a:p>
            <a:r>
              <a:rPr lang="en-US" sz="1400" b="0" dirty="0"/>
              <a:t>Variables table: primary outcome, exposure (or intervention), 3-5 confounders, each with its type. This table drives everything else.</a:t>
            </a:r>
          </a:p>
          <a:p>
            <a:r>
              <a:rPr lang="en-US" sz="1400" b="0" dirty="0"/>
              <a:t>Mini-CRF: 6 to 10 items that collect exactly those variables, with units, time points and 'unknown' options (the worked example).</a:t>
            </a:r>
          </a:p>
          <a:p>
            <a:r>
              <a:rPr lang="en-US" sz="1400" b="0" dirty="0"/>
              <a:t>Data dictionary: 3 to 5 rows with short variable names, labels, types, units or codes, and allowed values.</a:t>
            </a:r>
          </a:p>
          <a:p>
            <a:r>
              <a:rPr lang="en-US" sz="1400" b="0" dirty="0"/>
              <a:t>Data-management plan: one or two sentences: EDC or paper with double entry, coded IDs with a separately locked linking log, audit trail, backups, and a data-sharing statement in the consent form.</a:t>
            </a:r>
          </a:p>
          <a:p>
            <a:r>
              <a:rPr lang="en-US" sz="1400" b="0" dirty="0"/>
              <a:t>Next Saturday (Session 6) the groups add the sample size, the analysis plan and the missing-data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5: 30 minutes. Groups write into Part 3 of the proposal template; the worksheet (Session 5 exercises, exercise 8) has the same headings.</a:t>
            </a:r>
          </a:p>
          <a:p>
            <a:r>
              <a:rPr lang="en-US" sz="1400" b="0" dirty="0"/>
              <a:t>Call the time at 8, 18, 24 and 30 minutes.</a:t>
            </a:r>
          </a:p>
          <a:p>
            <a:r>
              <a:rPr lang="en-US" sz="1400" b="0" dirty="0"/>
              <a:t>Facilitators circulate (one per two or three groups) and ask: Is your primary outcome a number, a category or time-to-event? Does each CRF item have a unit and a time point? Who will enter the data and where will it be stored?</a:t>
            </a:r>
          </a:p>
          <a:p>
            <a:r>
              <a:rPr lang="en-US" sz="1400" b="0" dirty="0"/>
              <a:t>Use the FLUID-ICU data dictionary as a model: groups have just seen what a real one looks like.</a:t>
            </a:r>
          </a:p>
          <a:p>
            <a:r>
              <a:rPr lang="en-US" sz="1400" b="0" dirty="0"/>
              <a:t>Common problems: too many CRF items (keep to 10); confounders that are actually outcomes; names and IDs in the same file; no plan for backups.</a:t>
            </a:r>
          </a:p>
          <a:p>
            <a:r>
              <a:rPr lang="en-US" sz="1400" b="0" dirty="0"/>
              <a:t>At 2:55,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ask the room for a one-line definition; correct gently.</a:t>
            </a:r>
          </a:p>
          <a:p>
            <a:r>
              <a:rPr lang="en-US" sz="1400" b="0" dirty="0"/>
              <a:t>Variable type: number vs category, and the five subtypes. CRF: the form that collects the data. Data dictionary: one row per variable, with type, unit/codes and allowed values.</a:t>
            </a:r>
          </a:p>
          <a:p>
            <a:r>
              <a:rPr lang="en-US" sz="1400" b="0" dirty="0"/>
              <a:t>Validation check: a rule that flags impossible values (range, consistency, logic, completeness). Audit trail: the record of who changed what, when and why. Cleaning log: the list of every correction made to the raw data (FLUID-ICU).</a:t>
            </a:r>
          </a:p>
          <a:p>
            <a:r>
              <a:rPr lang="en-US" sz="1400" b="0" dirty="0"/>
              <a:t>Median (IQR) for skewed data, mean (SD) for symmetric data; skewed = long tail.</a:t>
            </a:r>
          </a:p>
          <a:p>
            <a:r>
              <a:rPr lang="en-US" sz="1400" b="0" dirty="0"/>
              <a:t>Table 1: baseline characteristics by group; dots + box: show every patient; n (%): how categories are reported.</a:t>
            </a:r>
          </a:p>
          <a:p>
            <a:r>
              <a:rPr lang="en-US" sz="1400" b="0" dirty="0"/>
              <a:t>All terms are in the EN-VN glossary in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to give one example for each card from today.</a:t>
            </a:r>
          </a:p>
          <a:p>
            <a:r>
              <a:rPr lang="en-US" sz="1400" b="0" dirty="0"/>
              <a:t>Design the data: the worked CRF item, the data dictionary, validation rules.</a:t>
            </a:r>
          </a:p>
          <a:p>
            <a:r>
              <a:rPr lang="en-US" sz="1400" b="0" dirty="0"/>
              <a:t>Keep it clean: FLUID-ICU showed what real data look like before cleaning and why the cleaning log matters.</a:t>
            </a:r>
          </a:p>
          <a:p>
            <a:r>
              <a:rPr lang="en-US" sz="1400" b="0" dirty="0"/>
              <a:t>Describe honestly: median vs mean, dots instead of dynamite plots, a Table 1 a reader understands without the text.</a:t>
            </a:r>
          </a:p>
          <a:p>
            <a:r>
              <a:rPr lang="en-US" sz="1400" b="0" dirty="0"/>
              <a:t>Next Saturday (Session 6): from the sample to an answer: confidence intervals, p-values, tests, regression, survival and missing data, all run live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including the key-words and recap slides.</a:t>
            </a:r>
          </a:p>
          <a:p>
            <a:r>
              <a:rPr lang="en-US" sz="1400" b="0" dirty="0"/>
              <a:t>Exit question on a sticky note: name one data-quality problem found in the raw FLUID-ICU data and how the cleaning fixed it. Read a few at the start of Session 6.</a:t>
            </a:r>
          </a:p>
          <a:p>
            <a:r>
              <a:rPr lang="en-US" sz="1400" b="0" dirty="0"/>
              <a:t>Homework: finish the CRF and data-dictionary rows of the proposal; read the group's results pack (Table 1, figures); optional exercises from the Session 5 worksheet.</a:t>
            </a:r>
          </a:p>
          <a:p>
            <a:r>
              <a:rPr lang="en-US" sz="1400" b="0" dirty="0"/>
              <a:t>Thank the room: today was a lot of new vocabulary; next Saturday builds directly on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four habits that cost little and save studies.</a:t>
            </a:r>
          </a:p>
          <a:p>
            <a:r>
              <a:rPr lang="en-US" sz="1400" b="0" dirty="0"/>
              <a:t>Coding: store categories as numeric codes defined in the data dictionary (1 = lung, 2 = urine...). Use a study ID for each patient; names and hospital numbers stay in a separate, locked linking log.</a:t>
            </a:r>
          </a:p>
          <a:p>
            <a:r>
              <a:rPr lang="en-US" sz="1400" b="0" dirty="0"/>
              <a:t>Versions: the raw data file is never edited; it is set to read-only. Every cleaning step creates a new, dated copy (data_2026-03-12_v2) and a short log of what changed. Then any result can be traced back.</a:t>
            </a:r>
          </a:p>
          <a:p>
            <a:r>
              <a:rPr lang="en-US" sz="1400" b="0" dirty="0"/>
              <a:t>Backups: the 3-2-1 rule: three copies, on two different media, one off-site, encrypted. A backup you have never restored is only a hope.</a:t>
            </a:r>
          </a:p>
          <a:p>
            <a:r>
              <a:rPr lang="en-US" sz="1400" b="0" dirty="0"/>
              <a:t>Data-sharing statement: most journals now require one (Sessions 7-8). Example wording: 'De-identified participant data and the data dictionary will be available from the corresponding author on reasonable request after publication, subject to ethics approval.' Write it into the consent form and protocol NOW, or you may not be allowed to share later.</a:t>
            </a:r>
          </a:p>
          <a:p>
            <a:r>
              <a:rPr lang="en-US" sz="1400" b="0" dirty="0"/>
              <a:t>Ask: if your laptop were stolen tonight, would your study survive? Expected: an uncomfortable silence. Good.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three distortions you will see in posters, reports and papers. Top row misleading, bottom row fixed.</a:t>
            </a:r>
          </a:p>
          <a:p>
            <a:r>
              <a:rPr lang="en-US" sz="1400" b="0" dirty="0"/>
              <a:t>3-D pie: the tilt makes slices at the front look bigger; the eye cannot compare angles well. Ask: which slice is bigger, urine or abdomen? Then show the sorted bar chart: 25% vs 20%, instantly clear.</a:t>
            </a:r>
          </a:p>
          <a:p>
            <a:r>
              <a:rPr lang="en-US" sz="1400" b="0" dirty="0"/>
              <a:t>Truncated axis: the y-axis starts at 28.5%, so a 2-point difference in mortality (31% vs 29%) looks like a tripling. Bars must start at zero. (Line charts may zoom in, but say so.)</a:t>
            </a:r>
          </a:p>
          <a:p>
            <a:r>
              <a:rPr lang="en-US" sz="1400" b="0" dirty="0"/>
              <a:t>Dual axes: two different y-axes scaled by the author make any two lines cross wherever the author wants, suggesting 'hand hygiene went up, so infections went down'. Better: two panels sharing the time axis, and remember correlation is not causation (6.3).</a:t>
            </a:r>
          </a:p>
          <a:p>
            <a:r>
              <a:rPr lang="en-US" sz="1400" b="0" dirty="0"/>
              <a:t>All data here are simulated.</a:t>
            </a:r>
          </a:p>
          <a:p>
            <a:r>
              <a:rPr lang="en-US" sz="1400" b="0" dirty="0"/>
              <a:t>Ask: where have you seen a truncated axis recently? Expected: hospital dashboards, pharmaceutical advertisements, news.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 Id="rId5"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2.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3.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4.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5.png"/>
<Relationship Id="rId5" Type="http://schemas.openxmlformats.org/officeDocument/2006/relationships/image" Target="../media/image16.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7.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8.png"/>
<Relationship Id="rId5"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0.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1.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4.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5 · Data: collect it well, describe it honestly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5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Sessions 3-4 (10 min)</a:t>
            </a:r>
          </a:p>
          <a:p>
            <a:pPr marL="274320" indent="-274320" algn="l">
              <a:spcBef>
                <a:spcPts val="440"/>
              </a:spcBef>
              <a:buFont typeface="Arial"/>
              <a:buChar char="•"/>
            </a:pPr>
            <a:r>
              <a:rPr lang="en-US" sz="1900" dirty="0">
                <a:solidFill>
                  <a:srgbClr val="000000"/>
                </a:solidFill>
                <a:latin typeface="Century Gothic"/>
                <a:cs typeface="Century Gothic"/>
              </a:rPr>
              <a:t>5.1 Good data by design: variables, CRF, data dictionary, checks, data management</a:t>
            </a:r>
          </a:p>
          <a:p>
            <a:pPr marL="274320" indent="-274320" algn="l">
              <a:spcBef>
                <a:spcPts val="440"/>
              </a:spcBef>
              <a:buFont typeface="Arial"/>
              <a:buChar char="•"/>
            </a:pPr>
            <a:r>
              <a:rPr lang="en-US" sz="1900" dirty="0">
                <a:solidFill>
                  <a:srgbClr val="000000"/>
                </a:solidFill>
                <a:latin typeface="Century Gothic"/>
                <a:cs typeface="Century Gothic"/>
              </a:rPr>
              <a:t>5.2 Meet the course dataset FLUID-ICU (live R cleaning demo)</a:t>
            </a:r>
          </a:p>
          <a:p>
            <a:pPr marL="274320" indent="-274320" algn="l">
              <a:spcBef>
                <a:spcPts val="440"/>
              </a:spcBef>
              <a:buFont typeface="Arial"/>
              <a:buChar char="•"/>
            </a:pPr>
            <a:r>
              <a:rPr lang="en-US" sz="1900" dirty="0">
                <a:solidFill>
                  <a:srgbClr val="000000"/>
                </a:solidFill>
                <a:latin typeface="Century Gothic"/>
                <a:cs typeface="Century Gothic"/>
              </a:rPr>
              <a:t>5.3 Describing and showing data: summaries, figures, tables</a:t>
            </a:r>
          </a:p>
          <a:p>
            <a:pPr marL="274320" indent="-274320" algn="l">
              <a:spcBef>
                <a:spcPts val="440"/>
              </a:spcBef>
              <a:buFont typeface="Arial"/>
              <a:buChar char="•"/>
            </a:pPr>
            <a:r>
              <a:rPr lang="en-US" sz="1900" dirty="0">
                <a:solidFill>
                  <a:srgbClr val="000000"/>
                </a:solidFill>
                <a:latin typeface="Century Gothic"/>
                <a:cs typeface="Century Gothic"/>
              </a:rPr>
              <a:t>5.4 Describe the course dataset: Table 1 and figures</a:t>
            </a:r>
          </a:p>
          <a:p>
            <a:pPr marL="274320" indent="-274320" algn="l">
              <a:spcBef>
                <a:spcPts val="440"/>
              </a:spcBef>
              <a:buFont typeface="Arial"/>
              <a:buChar char="•"/>
            </a:pPr>
            <a:r>
              <a:rPr lang="en-US" sz="1900" dirty="0">
                <a:solidFill>
                  <a:srgbClr val="000000"/>
                </a:solidFill>
                <a:latin typeface="Century Gothic"/>
                <a:cs typeface="Century Gothic"/>
              </a:rPr>
              <a:t>Proposal builder 5: variables, mini-CRF, data dictionary, data management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Sessions 3-4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Patients who smoke are followed for 10 years to see who develops a stroke. Which design?</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In a cohort, sicker septic patients receive more fluid AND die more often. What is this called?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Mortality is 30% with usual care and 20% with a new strategy. What are the RR and the NNT?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Answer alone (2 min), then compare with your neighbour (2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 (reveal after)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Q1: prospective 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Q2: confounding by indication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Q3: RR = 20/30 = 0.67;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on track with designs, confounding and the 2x2 measures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5.1 Good data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Bad data cannot be rescued by good statistics.</a:t>
            </a:r>
          </a:p>
          <a:p>
            <a:pPr marL="0" indent="0" algn="ctr">
              <a:spcBef>
                <a:spcPts val="1200"/>
              </a:spcBef>
              <a:buNone/>
            </a:pPr>
            <a:r>
              <a:rPr lang="en-US" sz="1900" i="1" dirty="0">
                <a:solidFill>
                  <a:srgbClr val="595959"/>
                </a:solidFill>
                <a:latin typeface="Century Gothic"/>
                <a:cs typeface="Century Gothic"/>
              </a:rPr>
              <a:t>5.1 Good data by design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type of variable is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variable type decides the CRF box, the summary and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what type of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Heart rate (beats per minute)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Glasgow Coma Scale (3-15)</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Blood group (A, B, AB, O)</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Ventilated on day 1 (yes / no)</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Time from ICU admission to extubation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Continuous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Ordinal (often analysed as a number)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Nominal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Binary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Time-to-event (some never extubated)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name the five variable types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Good vs bad CRF items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A case report form (CRF) question must have only one possible reading.</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Ambiguous: two nurses will write two different things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Clear: unit, time window, one answer, 'unknown'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from a question to one CRF item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The outcome 'cumulative fluid balance' in five decisions.</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What?</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Fluid IN minus fluid OUT</a:t>
            </a:r>
          </a:p>
          <a:p>
            <a:pPr marL="0" indent="0" algn="l">
              <a:lnSpc>
                <a:spcPct val="104000"/>
              </a:lnSpc>
              <a:spcBef>
                <a:spcPts val="200"/>
              </a:spcBef>
              <a:buNone/>
            </a:pPr>
            <a:r>
              <a:rPr lang="en-US" sz="1500" dirty="0">
                <a:solidFill>
                  <a:srgbClr val="000000"/>
                </a:solidFill>
                <a:latin typeface="Century Gothic"/>
                <a:cs typeface="Century Gothic"/>
              </a:rPr>
              <a:t>all routes, incl. drugs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When?</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From ICU admission</a:t>
            </a:r>
          </a:p>
          <a:p>
            <a:pPr marL="0" indent="0" algn="l">
              <a:lnSpc>
                <a:spcPct val="104000"/>
              </a:lnSpc>
              <a:spcBef>
                <a:spcPts val="200"/>
              </a:spcBef>
              <a:buNone/>
            </a:pPr>
            <a:r>
              <a:rPr lang="en-US" sz="1500" dirty="0">
                <a:solidFill>
                  <a:srgbClr val="000000"/>
                </a:solidFill>
                <a:latin typeface="Century Gothic"/>
                <a:cs typeface="Century Gothic"/>
              </a:rPr>
              <a:t>to the end of day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Unit?</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ml per kg of</a:t>
            </a:r>
          </a:p>
          <a:p>
            <a:pPr marL="0" indent="0" algn="l">
              <a:lnSpc>
                <a:spcPct val="104000"/>
              </a:lnSpc>
              <a:spcBef>
                <a:spcPts val="200"/>
              </a:spcBef>
              <a:buNone/>
            </a:pPr>
            <a:r>
              <a:rPr lang="en-US" sz="1500" dirty="0">
                <a:solidFill>
                  <a:srgbClr val="000000"/>
                </a:solidFill>
                <a:latin typeface="Century Gothic"/>
                <a:cs typeface="Century Gothic"/>
              </a:rPr>
              <a:t>admission weight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Format?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Number with +/- sign</a:t>
            </a:r>
          </a:p>
          <a:p>
            <a:pPr marL="0" indent="0" algn="l">
              <a:lnSpc>
                <a:spcPct val="104000"/>
              </a:lnSpc>
              <a:spcBef>
                <a:spcPts val="200"/>
              </a:spcBef>
              <a:buNone/>
            </a:pPr>
            <a:r>
              <a:rPr lang="en-US" sz="1500" dirty="0">
                <a:solidFill>
                  <a:srgbClr val="000000"/>
                </a:solidFill>
                <a:latin typeface="Century Gothic"/>
                <a:cs typeface="Century Gothic"/>
              </a:rPr>
              <a:t>boxes for digits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Missing?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'Not recorded' box</a:t>
            </a:r>
          </a:p>
          <a:p>
            <a:pPr marL="0" indent="0" algn="l">
              <a:lnSpc>
                <a:spcPct val="104000"/>
              </a:lnSpc>
              <a:spcBef>
                <a:spcPts val="200"/>
              </a:spcBef>
              <a:buNone/>
            </a:pPr>
            <a:r>
              <a:rPr lang="en-US" sz="1500" dirty="0">
                <a:solidFill>
                  <a:srgbClr val="000000"/>
                </a:solidFill>
                <a:latin typeface="Century Gothic"/>
                <a:cs typeface="Century Gothic"/>
              </a:rPr>
              <a:t>+ reason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what, when, unit, format and missing before the first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rules for a good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Write the form before the first patient, then test it on five patients.</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Only what you need</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Every item links to an objective</a:t>
            </a:r>
          </a:p>
          <a:p>
            <a:pPr marL="0" indent="0" algn="l">
              <a:lnSpc>
                <a:spcPct val="104000"/>
              </a:lnSpc>
              <a:spcBef>
                <a:spcPts val="400"/>
              </a:spcBef>
              <a:buNone/>
            </a:pPr>
            <a:r>
              <a:rPr lang="en-US" sz="1450" dirty="0">
                <a:solidFill>
                  <a:srgbClr val="000000"/>
                </a:solidFill>
                <a:latin typeface="Century Gothic"/>
                <a:cs typeface="Century Gothic"/>
              </a:rPr>
              <a:t>Short forms get completed</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One question, one answer</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No double questions</a:t>
            </a:r>
          </a:p>
          <a:p>
            <a:pPr marL="0" indent="0" algn="l">
              <a:lnSpc>
                <a:spcPct val="104000"/>
              </a:lnSpc>
              <a:spcBef>
                <a:spcPts val="400"/>
              </a:spcBef>
              <a:buNone/>
            </a:pPr>
            <a:r>
              <a:rPr lang="en-US" sz="1450" dirty="0">
                <a:solidFill>
                  <a:srgbClr val="000000"/>
                </a:solidFill>
                <a:latin typeface="Century Gothic"/>
                <a:cs typeface="Century Gothic"/>
              </a:rPr>
              <a:t>Objective, not opinion</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Units and timing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ml/kg, mmol/L</a:t>
            </a:r>
          </a:p>
          <a:p>
            <a:pPr marL="0" indent="0" algn="l">
              <a:lnSpc>
                <a:spcPct val="104000"/>
              </a:lnSpc>
              <a:spcBef>
                <a:spcPts val="400"/>
              </a:spcBef>
              <a:buNone/>
            </a:pPr>
            <a:r>
              <a:rPr lang="en-US" sz="1450" dirty="0">
                <a:solidFill>
                  <a:srgbClr val="000000"/>
                </a:solidFill>
                <a:latin typeface="Century Gothic"/>
                <a:cs typeface="Century Gothic"/>
              </a:rPr>
              <a:t>'at ICU admission', 'day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Closed answers</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Tick boxes</a:t>
            </a:r>
          </a:p>
          <a:p>
            <a:pPr marL="0" indent="0" algn="l">
              <a:lnSpc>
                <a:spcPct val="104000"/>
              </a:lnSpc>
              <a:spcBef>
                <a:spcPts val="400"/>
              </a:spcBef>
              <a:buNone/>
            </a:pPr>
            <a:r>
              <a:rPr lang="en-US" sz="1450" dirty="0">
                <a:solidFill>
                  <a:srgbClr val="000000"/>
                </a:solidFill>
                <a:latin typeface="Century Gothic"/>
                <a:cs typeface="Century Gothic"/>
              </a:rPr>
              <a:t>Include 'other' and 'unknown'</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Pilot it</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Two people, same patient</a:t>
            </a:r>
          </a:p>
          <a:p>
            <a:pPr marL="0" indent="0" algn="l">
              <a:lnSpc>
                <a:spcPct val="104000"/>
              </a:lnSpc>
              <a:spcBef>
                <a:spcPts val="400"/>
              </a:spcBef>
              <a:buNone/>
            </a:pPr>
            <a:r>
              <a:rPr lang="en-US" sz="1450" dirty="0">
                <a:solidFill>
                  <a:srgbClr val="000000"/>
                </a:solidFill>
                <a:latin typeface="Century Gothic"/>
                <a:cs typeface="Century Gothic"/>
              </a:rPr>
              <a:t>Do they agree?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two colleagues can fill an item differently,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data dictionary: one row per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Example rows for the fluids-in-septic-shock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data dictionary is the instruction manual for your dataset.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validation: let the rules catch the errors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Check data while the patient is still in the unit, not a year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management in practice: from bedside to database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Check at entry, enter twice if on paper, and log every change.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Missing data: why it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rarely random: the sickest patients go missing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Missing data: how to prevent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Prevention is the only reliable cure.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Fewer items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Collect only what you need</a:t>
            </a:r>
          </a:p>
          <a:p>
            <a:pPr marL="0" indent="0" algn="l">
              <a:lnSpc>
                <a:spcPct val="104000"/>
              </a:lnSpc>
              <a:spcBef>
                <a:spcPts val="200"/>
              </a:spcBef>
              <a:buNone/>
            </a:pPr>
            <a:r>
              <a:rPr lang="en-US" sz="1500" dirty="0">
                <a:solidFill>
                  <a:srgbClr val="000000"/>
                </a:solidFill>
                <a:latin typeface="Century Gothic"/>
                <a:cs typeface="Century Gothic"/>
              </a:rPr>
              <a:t>Short forms get finished</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Clear form</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Required fields marked</a:t>
            </a:r>
          </a:p>
          <a:p>
            <a:pPr marL="0" indent="0" algn="l">
              <a:lnSpc>
                <a:spcPct val="104000"/>
              </a:lnSpc>
              <a:spcBef>
                <a:spcPts val="200"/>
              </a:spcBef>
              <a:buNone/>
            </a:pPr>
            <a:r>
              <a:rPr lang="en-US" sz="1500" dirty="0">
                <a:solidFill>
                  <a:srgbClr val="000000"/>
                </a:solidFill>
                <a:latin typeface="Century Gothic"/>
                <a:cs typeface="Century Gothic"/>
              </a:rPr>
              <a:t>'Not done' and 'unknown' options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Train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Train every data collector</a:t>
            </a:r>
          </a:p>
          <a:p>
            <a:pPr marL="0" indent="0" algn="l">
              <a:lnSpc>
                <a:spcPct val="104000"/>
              </a:lnSpc>
              <a:spcBef>
                <a:spcPts val="200"/>
              </a:spcBef>
              <a:buNone/>
            </a:pPr>
            <a:r>
              <a:rPr lang="en-US" sz="1500" dirty="0">
                <a:solidFill>
                  <a:srgbClr val="000000"/>
                </a:solidFill>
                <a:latin typeface="Century Gothic"/>
                <a:cs typeface="Century Gothic"/>
              </a:rPr>
              <a:t>Same rules, same definitions</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Check weekly</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Completeness report</a:t>
            </a:r>
          </a:p>
          <a:p>
            <a:pPr marL="0" indent="0" algn="l">
              <a:lnSpc>
                <a:spcPct val="104000"/>
              </a:lnSpc>
              <a:spcBef>
                <a:spcPts val="200"/>
              </a:spcBef>
              <a:buNone/>
            </a:pPr>
            <a:r>
              <a:rPr lang="en-US" sz="1500" dirty="0">
                <a:solidFill>
                  <a:srgbClr val="000000"/>
                </a:solidFill>
                <a:latin typeface="Century Gothic"/>
                <a:cs typeface="Century Gothic"/>
              </a:rPr>
              <a:t>Who and what is missing?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Chase early</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Fix while the chart is on the ward</a:t>
            </a:r>
          </a:p>
          <a:p>
            <a:pPr marL="0" indent="0" algn="l">
              <a:lnSpc>
                <a:spcPct val="104000"/>
              </a:lnSpc>
              <a:spcBef>
                <a:spcPts val="200"/>
              </a:spcBef>
              <a:buNone/>
            </a:pPr>
            <a:r>
              <a:rPr lang="en-US" sz="1500" dirty="0">
                <a:solidFill>
                  <a:srgbClr val="000000"/>
                </a:solidFill>
                <a:latin typeface="Century Gothic"/>
                <a:cs typeface="Century Gothic"/>
              </a:rPr>
              <a:t>Plan follow-up for transfers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who completes, checks and chases each form before you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 task: sort the variables, fix the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 with your neighbour, worksheet 'Session 5, exercises 1 and 2'</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Exercise 1: classify 10 ICU variables (continuous, count, binary, nominal, ordinal, time-to-event)</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Exercise 2: rewrite 4 bad CRF items so they have only one reading</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Be ready to read out one rewritten item</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Check yourself</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 in the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 point in the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One answer only?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'Unknown' option?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10 classified variables and 4 rewritten CRF items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5.2 Meet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One realistic dataset, five research questions, five manuscripts.</a:t>
            </a:r>
          </a:p>
          <a:p>
            <a:pPr marL="0" indent="0" algn="ctr">
              <a:spcBef>
                <a:spcPts val="1200"/>
              </a:spcBef>
              <a:buNone/>
            </a:pPr>
            <a:r>
              <a:rPr lang="en-US" sz="1900" i="1" dirty="0">
                <a:solidFill>
                  <a:srgbClr val="595959"/>
                </a:solidFill>
                <a:latin typeface="Century Gothic"/>
                <a:cs typeface="Century Gothic"/>
              </a:rPr>
              <a:t>5.2 Meet the course dataset FLUID-ICU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at a glance (simulated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A multicentre prospective cohort: 4 ICUs, January 2023 to December 2024.</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Who</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620 adults with sepsis</a:t>
            </a:r>
          </a:p>
          <a:p>
            <a:pPr marL="0" indent="0" algn="l">
              <a:lnSpc>
                <a:spcPct val="104000"/>
              </a:lnSpc>
              <a:spcBef>
                <a:spcPts val="400"/>
              </a:spcBef>
              <a:buNone/>
            </a:pPr>
            <a:r>
              <a:rPr lang="en-US" sz="1600" dirty="0">
                <a:solidFill>
                  <a:srgbClr val="000000"/>
                </a:solidFill>
                <a:latin typeface="Century Gothic"/>
                <a:cs typeface="Century Gothic"/>
              </a:rPr>
              <a:t>ICU A 191, B 164,</a:t>
            </a:r>
          </a:p>
          <a:p>
            <a:pPr marL="0" indent="0" algn="l">
              <a:lnSpc>
                <a:spcPct val="104000"/>
              </a:lnSpc>
              <a:spcBef>
                <a:spcPts val="400"/>
              </a:spcBef>
              <a:buNone/>
            </a:pPr>
            <a:r>
              <a:rPr lang="en-US" sz="1600" dirty="0">
                <a:solidFill>
                  <a:srgbClr val="000000"/>
                </a:solidFill>
                <a:latin typeface="Century Gothic"/>
                <a:cs typeface="Century Gothic"/>
              </a:rPr>
              <a:t>C 147, D 118</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Exposure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Cumulative fluid balance</a:t>
            </a:r>
          </a:p>
          <a:p>
            <a:pPr marL="0" indent="0" algn="l">
              <a:lnSpc>
                <a:spcPct val="104000"/>
              </a:lnSpc>
              <a:spcBef>
                <a:spcPts val="400"/>
              </a:spcBef>
              <a:buNone/>
            </a:pPr>
            <a:r>
              <a:rPr lang="en-US" sz="1600" dirty="0">
                <a:solidFill>
                  <a:srgbClr val="000000"/>
                </a:solidFill>
                <a:latin typeface="Century Gothic"/>
                <a:cs typeface="Century Gothic"/>
              </a:rPr>
              <a:t>by day 3 (ml/kg)</a:t>
            </a:r>
          </a:p>
          <a:p>
            <a:pPr marL="0" indent="0" algn="l">
              <a:lnSpc>
                <a:spcPct val="104000"/>
              </a:lnSpc>
              <a:spcBef>
                <a:spcPts val="400"/>
              </a:spcBef>
              <a:buNone/>
            </a:pPr>
            <a:r>
              <a:rPr lang="en-US" sz="1600" dirty="0">
                <a:solidFill>
                  <a:srgbClr val="000000"/>
                </a:solidFill>
                <a:latin typeface="Century Gothic"/>
                <a:cs typeface="Century Gothic"/>
              </a:rPr>
              <a:t>Positive: 373/618 (60.4%)</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Primary outcome</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Death by day 28</a:t>
            </a:r>
          </a:p>
          <a:p>
            <a:pPr marL="0" indent="0" algn="l">
              <a:lnSpc>
                <a:spcPct val="104000"/>
              </a:lnSpc>
              <a:spcBef>
                <a:spcPts val="400"/>
              </a:spcBef>
              <a:buNone/>
            </a:pPr>
            <a:r>
              <a:rPr lang="en-US" sz="1600" dirty="0">
                <a:solidFill>
                  <a:srgbClr val="000000"/>
                </a:solidFill>
                <a:latin typeface="Century Gothic"/>
                <a:cs typeface="Century Gothic"/>
              </a:rPr>
              <a:t>179/620 (28.9%)</a:t>
            </a:r>
          </a:p>
          <a:p>
            <a:pPr marL="0" indent="0" algn="l">
              <a:lnSpc>
                <a:spcPct val="104000"/>
              </a:lnSpc>
              <a:spcBef>
                <a:spcPts val="400"/>
              </a:spcBef>
              <a:buNone/>
            </a:pPr>
            <a:r>
              <a:rPr lang="en-US" sz="1600" dirty="0">
                <a:solidFill>
                  <a:srgbClr val="000000"/>
                </a:solidFill>
                <a:latin typeface="Century Gothic"/>
                <a:cs typeface="Century Gothic"/>
              </a:rPr>
              <a:t>+ time to death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Also recorded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SOFA, APACHE II, lactate</a:t>
            </a:r>
          </a:p>
          <a:p>
            <a:pPr marL="0" indent="0" algn="l">
              <a:lnSpc>
                <a:spcPct val="104000"/>
              </a:lnSpc>
              <a:spcBef>
                <a:spcPts val="400"/>
              </a:spcBef>
              <a:buNone/>
            </a:pPr>
            <a:r>
              <a:rPr lang="en-US" sz="1600" dirty="0">
                <a:solidFill>
                  <a:srgbClr val="000000"/>
                </a:solidFill>
                <a:latin typeface="Century Gothic"/>
                <a:cs typeface="Century Gothic"/>
              </a:rPr>
              <a:t>AKI, ventilator-free days</a:t>
            </a:r>
          </a:p>
          <a:p>
            <a:pPr marL="0" indent="0" algn="l">
              <a:lnSpc>
                <a:spcPct val="104000"/>
              </a:lnSpc>
              <a:spcBef>
                <a:spcPts val="400"/>
              </a:spcBef>
              <a:buNone/>
            </a:pPr>
            <a:r>
              <a:rPr lang="en-US" sz="1600" dirty="0">
                <a:solidFill>
                  <a:srgbClr val="000000"/>
                </a:solidFill>
                <a:latin typeface="Century Gothic"/>
                <a:cs typeface="Century Gothic"/>
              </a:rPr>
              <a:t>ICU length of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Question: is a positive fluid balance by day 3 associated with 28-day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623 rows to 527 complete cases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paper reports this flow: who was included at each step, and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Raw vs clean: what the four ICUs actually sent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23500" y="1150000"/>
            <a:ext cx="954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Real data arrive messy: clean them with a script, never by hand.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cleaning FLUID-ICU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FLUID-ICU.Rproj and the script 01_clean.R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Read the raw file as text and look at it</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Run one block per problem: names, duplicates, sites, dates, codes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Find the lactate unit problem with a summary by ICU</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Last block: the cleaned file is identical to the reference file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One problem, one block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The raw file is never changed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Every step goes in the log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Re-run = same result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raw data become clean,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cleaning log: the audit trail of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Course/Data/cleaning_log.md: one row for every change made to the raw data.</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The rule</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Raw file never edited</a:t>
            </a:r>
          </a:p>
          <a:p>
            <a:pPr marL="0" indent="0" algn="l">
              <a:lnSpc>
                <a:spcPct val="104000"/>
              </a:lnSpc>
              <a:spcBef>
                <a:spcPts val="400"/>
              </a:spcBef>
              <a:buNone/>
            </a:pPr>
            <a:r>
              <a:rPr lang="en-US" sz="1600" dirty="0">
                <a:solidFill>
                  <a:srgbClr val="000000"/>
                </a:solidFill>
                <a:latin typeface="Century Gothic"/>
                <a:cs typeface="Century Gothic"/>
              </a:rPr>
              <a:t>Changes made by script</a:t>
            </a:r>
          </a:p>
          <a:p>
            <a:pPr marL="0" indent="0" algn="l">
              <a:lnSpc>
                <a:spcPct val="104000"/>
              </a:lnSpc>
              <a:spcBef>
                <a:spcPts val="400"/>
              </a:spcBef>
              <a:buNone/>
            </a:pPr>
            <a:r>
              <a:rPr lang="en-US" sz="1600" dirty="0">
                <a:solidFill>
                  <a:srgbClr val="000000"/>
                </a:solidFill>
                <a:latin typeface="Century Gothic"/>
                <a:cs typeface="Century Gothic"/>
              </a:rPr>
              <a:t>and written down</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Each row says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Problem found</a:t>
            </a:r>
          </a:p>
          <a:p>
            <a:pPr marL="0" indent="0" algn="l">
              <a:lnSpc>
                <a:spcPct val="104000"/>
              </a:lnSpc>
              <a:spcBef>
                <a:spcPts val="400"/>
              </a:spcBef>
              <a:buNone/>
            </a:pPr>
            <a:r>
              <a:rPr lang="en-US" sz="1600" dirty="0">
                <a:solidFill>
                  <a:srgbClr val="000000"/>
                </a:solidFill>
                <a:latin typeface="Century Gothic"/>
                <a:cs typeface="Century Gothic"/>
              </a:rPr>
              <a:t>How many</a:t>
            </a:r>
          </a:p>
          <a:p>
            <a:pPr marL="0" indent="0" algn="l">
              <a:lnSpc>
                <a:spcPct val="104000"/>
              </a:lnSpc>
              <a:spcBef>
                <a:spcPts val="400"/>
              </a:spcBef>
              <a:buNone/>
            </a:pPr>
            <a:r>
              <a:rPr lang="en-US" sz="1600" dirty="0">
                <a:solidFill>
                  <a:srgbClr val="000000"/>
                </a:solidFill>
                <a:latin typeface="Century Gothic"/>
                <a:cs typeface="Century Gothic"/>
              </a:rPr>
              <a:t>What we did and why</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Queries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Impossible values →</a:t>
            </a:r>
          </a:p>
          <a:p>
            <a:pPr marL="0" indent="0" algn="l">
              <a:lnSpc>
                <a:spcPct val="104000"/>
              </a:lnSpc>
              <a:spcBef>
                <a:spcPts val="400"/>
              </a:spcBef>
              <a:buNone/>
            </a:pPr>
            <a:r>
              <a:rPr lang="en-US" sz="1600" dirty="0">
                <a:solidFill>
                  <a:srgbClr val="000000"/>
                </a:solidFill>
                <a:latin typeface="Century Gothic"/>
                <a:cs typeface="Century Gothic"/>
              </a:rPr>
              <a:t>missing + query to site</a:t>
            </a:r>
          </a:p>
          <a:p>
            <a:pPr marL="0" indent="0" algn="l">
              <a:lnSpc>
                <a:spcPct val="104000"/>
              </a:lnSpc>
              <a:spcBef>
                <a:spcPts val="400"/>
              </a:spcBef>
              <a:buNone/>
            </a:pPr>
            <a:r>
              <a:rPr lang="en-US" sz="1600" dirty="0">
                <a:solidFill>
                  <a:srgbClr val="000000"/>
                </a:solidFill>
                <a:latin typeface="Century Gothic"/>
                <a:cs typeface="Century Gothic"/>
              </a:rPr>
              <a:t>Patient stays in</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is left</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Real missing values</a:t>
            </a:r>
          </a:p>
          <a:p>
            <a:pPr marL="0" indent="0" algn="l">
              <a:lnSpc>
                <a:spcPct val="104000"/>
              </a:lnSpc>
              <a:spcBef>
                <a:spcPts val="400"/>
              </a:spcBef>
              <a:buNone/>
            </a:pPr>
            <a:r>
              <a:rPr lang="en-US" sz="1600" dirty="0">
                <a:solidFill>
                  <a:srgbClr val="000000"/>
                </a:solidFill>
                <a:latin typeface="Century Gothic"/>
                <a:cs typeface="Century Gothic"/>
              </a:rPr>
              <a:t>Lactate: 93/620 (15.0%)</a:t>
            </a:r>
          </a:p>
          <a:p>
            <a:pPr marL="0" indent="0" algn="l">
              <a:lnSpc>
                <a:spcPct val="104000"/>
              </a:lnSpc>
              <a:spcBef>
                <a:spcPts val="400"/>
              </a:spcBef>
              <a:buNone/>
            </a:pPr>
            <a:r>
              <a:rPr lang="en-US" sz="1600" dirty="0">
                <a:solidFill>
                  <a:srgbClr val="000000"/>
                </a:solidFill>
                <a:latin typeface="Century Gothic"/>
                <a:cs typeface="Century Gothic"/>
              </a:rPr>
              <a:t>Others 1% or less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reviewer must be able to trace every number back to the raw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groups, five questions, one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Each group answers one question and writes it up as a manuscript in Weeks 7-8.</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Q1 Mortality</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Positive balance and</a:t>
            </a:r>
          </a:p>
          <a:p>
            <a:pPr marL="0" indent="0" algn="l">
              <a:lnSpc>
                <a:spcPct val="104000"/>
              </a:lnSpc>
              <a:spcBef>
                <a:spcPts val="400"/>
              </a:spcBef>
              <a:buNone/>
            </a:pPr>
            <a:r>
              <a:rPr lang="en-US" sz="1450" dirty="0">
                <a:solidFill>
                  <a:srgbClr val="000000"/>
                </a:solidFill>
                <a:latin typeface="Century Gothic"/>
                <a:cs typeface="Century Gothic"/>
              </a:rPr>
              <a:t>28-day death</a:t>
            </a:r>
          </a:p>
          <a:p>
            <a:pPr marL="0" indent="0" algn="l">
              <a:lnSpc>
                <a:spcPct val="104000"/>
              </a:lnSpc>
              <a:spcBef>
                <a:spcPts val="400"/>
              </a:spcBef>
              <a:buNone/>
            </a:pPr>
            <a:r>
              <a:rPr lang="en-US" sz="1450" dirty="0">
                <a:solidFill>
                  <a:srgbClr val="000000"/>
                </a:solidFill>
                <a:latin typeface="Century Gothic"/>
                <a:cs typeface="Century Gothic"/>
              </a:rPr>
              <a:t>Logistic + KM/Cox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Q2 AKI</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Fluid balance and</a:t>
            </a:r>
          </a:p>
          <a:p>
            <a:pPr marL="0" indent="0" algn="l">
              <a:lnSpc>
                <a:spcPct val="104000"/>
              </a:lnSpc>
              <a:spcBef>
                <a:spcPts val="400"/>
              </a:spcBef>
              <a:buNone/>
            </a:pPr>
            <a:r>
              <a:rPr lang="en-US" sz="1450" dirty="0">
                <a:solidFill>
                  <a:srgbClr val="000000"/>
                </a:solidFill>
                <a:latin typeface="Century Gothic"/>
                <a:cs typeface="Century Gothic"/>
              </a:rPr>
              <a:t>acute kidney injury</a:t>
            </a:r>
          </a:p>
          <a:p>
            <a:pPr marL="0" indent="0" algn="l">
              <a:lnSpc>
                <a:spcPct val="104000"/>
              </a:lnSpc>
              <a:spcBef>
                <a:spcPts val="400"/>
              </a:spcBef>
              <a:buNone/>
            </a:pPr>
            <a:r>
              <a:rPr lang="en-US" sz="1450" dirty="0">
                <a:solidFill>
                  <a:srgbClr val="000000"/>
                </a:solidFill>
                <a:latin typeface="Century Gothic"/>
                <a:cs typeface="Century Gothic"/>
              </a:rPr>
              <a:t>Logistic</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Q3 Ventilation</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Fluid balance and</a:t>
            </a:r>
          </a:p>
          <a:p>
            <a:pPr marL="0" indent="0" algn="l">
              <a:lnSpc>
                <a:spcPct val="104000"/>
              </a:lnSpc>
              <a:spcBef>
                <a:spcPts val="400"/>
              </a:spcBef>
              <a:buNone/>
            </a:pPr>
            <a:r>
              <a:rPr lang="en-US" sz="1450" dirty="0">
                <a:solidFill>
                  <a:srgbClr val="000000"/>
                </a:solidFill>
                <a:latin typeface="Century Gothic"/>
                <a:cs typeface="Century Gothic"/>
              </a:rPr>
              <a:t>ventilator-free days</a:t>
            </a:r>
          </a:p>
          <a:p>
            <a:pPr marL="0" indent="0" algn="l">
              <a:lnSpc>
                <a:spcPct val="104000"/>
              </a:lnSpc>
              <a:spcBef>
                <a:spcPts val="400"/>
              </a:spcBef>
              <a:buNone/>
            </a:pPr>
            <a:r>
              <a:rPr lang="en-US" sz="1450" dirty="0">
                <a:solidFill>
                  <a:srgbClr val="000000"/>
                </a:solidFill>
                <a:latin typeface="Century Gothic"/>
                <a:cs typeface="Century Gothic"/>
              </a:rPr>
              <a:t>Non-parametric / linear</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Q4 Lactate</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Lactate and death;</a:t>
            </a:r>
          </a:p>
          <a:p>
            <a:pPr marL="0" indent="0" algn="l">
              <a:lnSpc>
                <a:spcPct val="104000"/>
              </a:lnSpc>
              <a:spcBef>
                <a:spcPts val="400"/>
              </a:spcBef>
              <a:buNone/>
            </a:pPr>
            <a:r>
              <a:rPr lang="en-US" sz="1450" dirty="0">
                <a:solidFill>
                  <a:srgbClr val="000000"/>
                </a:solidFill>
                <a:latin typeface="Century Gothic"/>
                <a:cs typeface="Century Gothic"/>
              </a:rPr>
              <a:t>missing lactate</a:t>
            </a:r>
          </a:p>
          <a:p>
            <a:pPr marL="0" indent="0" algn="l">
              <a:lnSpc>
                <a:spcPct val="104000"/>
              </a:lnSpc>
              <a:spcBef>
                <a:spcPts val="400"/>
              </a:spcBef>
              <a:buNone/>
            </a:pPr>
            <a:r>
              <a:rPr lang="en-US" sz="1450" dirty="0">
                <a:solidFill>
                  <a:srgbClr val="000000"/>
                </a:solidFill>
                <a:latin typeface="Century Gothic"/>
                <a:cs typeface="Century Gothic"/>
              </a:rPr>
              <a:t>CC vs imputation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Q5 ICU stay</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Balance and ICU stay</a:t>
            </a:r>
          </a:p>
          <a:p>
            <a:pPr marL="0" indent="0" algn="l">
              <a:lnSpc>
                <a:spcPct val="104000"/>
              </a:lnSpc>
              <a:spcBef>
                <a:spcPts val="400"/>
              </a:spcBef>
              <a:buNone/>
            </a:pPr>
            <a:r>
              <a:rPr lang="en-US" sz="1450" dirty="0">
                <a:solidFill>
                  <a:srgbClr val="000000"/>
                </a:solidFill>
                <a:latin typeface="Century Gothic"/>
                <a:cs typeface="Century Gothic"/>
              </a:rPr>
              <a:t>in survivors</a:t>
            </a:r>
          </a:p>
          <a:p>
            <a:pPr marL="0" indent="0" algn="l">
              <a:lnSpc>
                <a:spcPct val="104000"/>
              </a:lnSpc>
              <a:spcBef>
                <a:spcPts val="400"/>
              </a:spcBef>
              <a:buNone/>
            </a:pPr>
            <a:r>
              <a:rPr lang="en-US" sz="1450" dirty="0">
                <a:solidFill>
                  <a:srgbClr val="000000"/>
                </a:solidFill>
                <a:latin typeface="Century Gothic"/>
                <a:cs typeface="Century Gothic"/>
              </a:rPr>
              <a:t>Skewed outcome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group question is your manuscript: own it from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group's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Read your question in your results pack (page 1)</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Name the outcome and its type; the exposure and its type</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Find both in the FLUID-ICU data dictionary</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the question as one sentence (PECO)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Example (Q1)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 adults with sepsis in ICU</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 positive balance by day 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 negative balance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 death by day 28 (binary)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One-sentence question with outcome and exposure types (exercise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glance at your group question and results pack</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5.3: describing and showing data</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Mean or median?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SD or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Which graph?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Good and bad figures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Table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5.3 Describing and showing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Before comparing groups, describe them.</a:t>
            </a:r>
          </a:p>
          <a:p>
            <a:pPr marL="0" indent="0" algn="ctr">
              <a:spcBef>
                <a:spcPts val="1200"/>
              </a:spcBef>
              <a:buNone/>
            </a:pPr>
            <a:r>
              <a:rPr lang="en-US" sz="1900" i="1" dirty="0">
                <a:solidFill>
                  <a:srgbClr val="595959"/>
                </a:solidFill>
                <a:latin typeface="Century Gothic"/>
                <a:cs typeface="Century Gothic"/>
              </a:rPr>
              <a:t>5.3 Describing and showing data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mean and median by hand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ICU stay of 7 patients (days):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Line up</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Sort from short</a:t>
            </a:r>
          </a:p>
          <a:p>
            <a:pPr marL="0" indent="0" algn="l">
              <a:lnSpc>
                <a:spcPct val="104000"/>
              </a:lnSpc>
              <a:spcBef>
                <a:spcPts val="200"/>
              </a:spcBef>
              <a:buNone/>
            </a:pPr>
            <a:r>
              <a:rPr lang="en-US" sz="1500" dirty="0">
                <a:solidFill>
                  <a:srgbClr val="000000"/>
                </a:solidFill>
                <a:latin typeface="Century Gothic"/>
                <a:cs typeface="Century Gothic"/>
              </a:rPr>
              <a:t>to long stays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Median</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The 4th of 7 patients:</a:t>
            </a:r>
          </a:p>
          <a:p>
            <a:pPr marL="0" indent="0" algn="l">
              <a:lnSpc>
                <a:spcPct val="104000"/>
              </a:lnSpc>
              <a:spcBef>
                <a:spcPts val="200"/>
              </a:spcBef>
              <a:buNone/>
            </a:pPr>
            <a:r>
              <a:rPr lang="en-US" sz="1500" dirty="0">
                <a:solidFill>
                  <a:srgbClr val="000000"/>
                </a:solidFill>
                <a:latin typeface="Century Gothic"/>
                <a:cs typeface="Century Gothic"/>
              </a:rPr>
              <a:t>3 days</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Mean</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42 days / 7 patients</a:t>
            </a:r>
          </a:p>
          <a:p>
            <a:pPr marL="0" indent="0" algn="l">
              <a:lnSpc>
                <a:spcPct val="104000"/>
              </a:lnSpc>
              <a:spcBef>
                <a:spcPts val="200"/>
              </a:spcBef>
              <a:buNone/>
            </a:pPr>
            <a:r>
              <a:rPr lang="en-US" sz="1500" dirty="0">
                <a:solidFill>
                  <a:srgbClr val="000000"/>
                </a:solidFill>
                <a:latin typeface="Century Gothic"/>
                <a:cs typeface="Century Gothic"/>
              </a:rPr>
              <a:t>= 6 days</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One 24-day stay</a:t>
            </a:r>
          </a:p>
          <a:p>
            <a:pPr marL="0" indent="0" algn="l">
              <a:lnSpc>
                <a:spcPct val="104000"/>
              </a:lnSpc>
              <a:spcBef>
                <a:spcPts val="200"/>
              </a:spcBef>
              <a:buNone/>
            </a:pPr>
            <a:r>
              <a:rPr lang="en-US" sz="1500" dirty="0">
                <a:solidFill>
                  <a:srgbClr val="000000"/>
                </a:solidFill>
                <a:latin typeface="Century Gothic"/>
                <a:cs typeface="Century Gothic"/>
              </a:rPr>
              <a:t>doubles the mean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very long stay moves the mean a lot and the median not at all.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Mean or median? Look at the shape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For skewed data like length of stay, the median describes the typical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Spread: SD for symmetric, IQR for skewed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mean (SD) or median (IQR): never mix the pairs.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these two shapes? They cover most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clinical data cluster around a typical value or have a long tail. Check which.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ICU length of stay in 200 patients: mean (SD) or median (IQR)?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Age of 200 adult ICU patients, bell-shaped: mean (SD) or median (IQR)?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Ventilated on admission (yes/no): which summary?</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Pressure-injury stage 1 to 4: which summary and which graph?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LOS: median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Age: mean (SD)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Ventilated: n (%)</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Stage: n (%) per stage, bar chart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 participant can pick the right summary for a variable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graph for which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Choose the graph from the variable type, not from the software menu.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Show the data: dynamite plot vs dots + box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Same 48 patients, two pictures.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Dynamite plot: a mean and an error bar hide everything</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Every patient visible: shape, spread and the outlier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 'Table 1' shows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Table 1 answers: who were the patients, and were the groups alike?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Publication-quality tables: bad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Rules: units and summary in the row label, n per column, consistent decimals, footnotes.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Grid lines, no n, no units, 4 decimals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Clean, self-explanatory, ready for a journal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5.4 Describe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Before comparing groups, describe them: now with real numbers.</a:t>
            </a:r>
          </a:p>
          <a:p>
            <a:pPr marL="0" indent="0" algn="ctr">
              <a:spcBef>
                <a:spcPts val="1200"/>
              </a:spcBef>
              <a:buNone/>
            </a:pPr>
            <a:r>
              <a:rPr lang="en-US" sz="1900" i="1" dirty="0">
                <a:solidFill>
                  <a:srgbClr val="595959"/>
                </a:solidFill>
                <a:latin typeface="Century Gothic"/>
                <a:cs typeface="Century Gothic"/>
              </a:rPr>
              <a:t>5.4 Describe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Table 1 and figures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02_describe.R and load the clean data</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Look at the shape first: histograms of age, lactate, ICU stay</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Build Table 1 by fluid-balance group (no p-values)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Draw the figures: histogram, boxplot, bar chart</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Save tables and figures for the results packs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Same rules as 5.3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Shape decides the summary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 per column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Units in the row label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a Table 1 built from data,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Table 1: were the groups alike at the start?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positive-balance group was sicker at baseline: a warning for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exposure: cumulative fluid balance at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continuous exposure, cut at 0 ml/kg into negative and positive balance.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Severity by group: show every patient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Each dot is one patient</a:t>
            </a:r>
          </a:p>
          <a:p>
            <a:pPr marL="274320" indent="-274320" algn="l">
              <a:spcBef>
                <a:spcPts val="440"/>
              </a:spcBef>
              <a:buFont typeface="Arial"/>
              <a:buChar char="•"/>
            </a:pPr>
            <a:r>
              <a:rPr lang="en-US" sz="1450" dirty="0">
                <a:solidFill>
                  <a:srgbClr val="000000"/>
                </a:solidFill>
                <a:latin typeface="Century Gothic"/>
                <a:cs typeface="Century Gothic"/>
              </a:rPr>
              <a:t>Box = middle 50%</a:t>
            </a:r>
          </a:p>
          <a:p>
            <a:pPr marL="274320" indent="-274320" algn="l">
              <a:spcBef>
                <a:spcPts val="440"/>
              </a:spcBef>
              <a:buFont typeface="Arial"/>
              <a:buChar char="•"/>
            </a:pPr>
            <a:r>
              <a:rPr lang="en-US" sz="1450" dirty="0">
                <a:solidFill>
                  <a:srgbClr val="000000"/>
                </a:solidFill>
                <a:latin typeface="Century Gothic"/>
                <a:cs typeface="Century Gothic"/>
              </a:rPr>
              <a:t>Median 6 vs 8</a:t>
            </a:r>
          </a:p>
          <a:p>
            <a:pPr marL="274320" indent="-274320" algn="l">
              <a:spcBef>
                <a:spcPts val="440"/>
              </a:spcBef>
              <a:buFont typeface="Arial"/>
              <a:buChar char="•"/>
            </a:pPr>
            <a:r>
              <a:rPr lang="en-US" sz="1450" dirty="0">
                <a:solidFill>
                  <a:srgbClr val="000000"/>
                </a:solidFill>
                <a:latin typeface="Century Gothic"/>
                <a:cs typeface="Century Gothic"/>
              </a:rPr>
              <a:t>Sicker patients got more fluid</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Dots plus box show the overlap and the shift: confounding you can see.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skewed outcome: ICU stay in survivors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Mean 7.5 vs median 6.2 days: report the median and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 your group's Table 1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Open your results pack: Table 1 and the figures</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three variables: which summary is used, and why?</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Were the groups alike at the start? Name the biggest difference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two sentences describing the patients, as in a Results section</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One group reads its sentences aloud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Check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 per column?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Units in labels?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Median for skewed?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Two Results sentences describing your group's patients (exercise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5: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Example from the running example (restrictive fluids trial).</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Variables table</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Outcome: 28-day death (binary)</a:t>
            </a:r>
          </a:p>
          <a:p>
            <a:pPr marL="0" indent="0" algn="l">
              <a:lnSpc>
                <a:spcPct val="104000"/>
              </a:lnSpc>
              <a:spcBef>
                <a:spcPts val="400"/>
              </a:spcBef>
              <a:buNone/>
            </a:pPr>
            <a:r>
              <a:rPr lang="en-US" sz="1600" dirty="0">
                <a:solidFill>
                  <a:srgbClr val="000000"/>
                </a:solidFill>
                <a:latin typeface="Century Gothic"/>
                <a:cs typeface="Century Gothic"/>
              </a:rPr>
              <a:t>Exposure: restrictive vs usual</a:t>
            </a:r>
          </a:p>
          <a:p>
            <a:pPr marL="0" indent="0" algn="l">
              <a:lnSpc>
                <a:spcPct val="104000"/>
              </a:lnSpc>
              <a:spcBef>
                <a:spcPts val="400"/>
              </a:spcBef>
              <a:buNone/>
            </a:pPr>
            <a:r>
              <a:rPr lang="en-US" sz="1600" dirty="0">
                <a:solidFill>
                  <a:srgbClr val="000000"/>
                </a:solidFill>
                <a:latin typeface="Century Gothic"/>
                <a:cs typeface="Century Gothic"/>
              </a:rPr>
              <a:t>Confounders: age, SOFA, lactate</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Mini-CRF</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6-10 items</a:t>
            </a:r>
          </a:p>
          <a:p>
            <a:pPr marL="0" indent="0" algn="l">
              <a:lnSpc>
                <a:spcPct val="104000"/>
              </a:lnSpc>
              <a:spcBef>
                <a:spcPts val="400"/>
              </a:spcBef>
              <a:buNone/>
            </a:pPr>
            <a:r>
              <a:rPr lang="en-US" sz="1600" dirty="0">
                <a:solidFill>
                  <a:srgbClr val="000000"/>
                </a:solidFill>
                <a:latin typeface="Century Gothic"/>
                <a:cs typeface="Century Gothic"/>
              </a:rPr>
              <a:t>units and time points</a:t>
            </a:r>
          </a:p>
          <a:p>
            <a:pPr marL="0" indent="0" algn="l">
              <a:lnSpc>
                <a:spcPct val="104000"/>
              </a:lnSpc>
              <a:spcBef>
                <a:spcPts val="400"/>
              </a:spcBef>
              <a:buNone/>
            </a:pPr>
            <a:r>
              <a:rPr lang="en-US" sz="1600" dirty="0">
                <a:solidFill>
                  <a:srgbClr val="000000"/>
                </a:solidFill>
                <a:latin typeface="Century Gothic"/>
                <a:cs typeface="Century Gothic"/>
              </a:rPr>
              <a:t>'unknown' options</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dictionary</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3-5 rows: name, label,</a:t>
            </a:r>
          </a:p>
          <a:p>
            <a:pPr marL="0" indent="0" algn="l">
              <a:lnSpc>
                <a:spcPct val="104000"/>
              </a:lnSpc>
              <a:spcBef>
                <a:spcPts val="400"/>
              </a:spcBef>
              <a:buNone/>
            </a:pPr>
            <a:r>
              <a:rPr lang="en-US" sz="1600" dirty="0">
                <a:solidFill>
                  <a:srgbClr val="000000"/>
                </a:solidFill>
                <a:latin typeface="Century Gothic"/>
                <a:cs typeface="Century Gothic"/>
              </a:rPr>
              <a:t>type, unit/codes,</a:t>
            </a:r>
          </a:p>
          <a:p>
            <a:pPr marL="0" indent="0" algn="l">
              <a:lnSpc>
                <a:spcPct val="104000"/>
              </a:lnSpc>
              <a:spcBef>
                <a:spcPts val="400"/>
              </a:spcBef>
              <a:buNone/>
            </a:pPr>
            <a:r>
              <a:rPr lang="en-US" sz="1600" dirty="0">
                <a:solidFill>
                  <a:srgbClr val="000000"/>
                </a:solidFill>
                <a:latin typeface="Century Gothic"/>
                <a:cs typeface="Century Gothic"/>
              </a:rPr>
              <a:t>allowed values</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management</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EDC or double entry</a:t>
            </a:r>
          </a:p>
          <a:p>
            <a:pPr marL="0" indent="0" algn="l">
              <a:lnSpc>
                <a:spcPct val="104000"/>
              </a:lnSpc>
              <a:spcBef>
                <a:spcPts val="400"/>
              </a:spcBef>
              <a:buNone/>
            </a:pPr>
            <a:r>
              <a:rPr lang="en-US" sz="1600" dirty="0">
                <a:solidFill>
                  <a:srgbClr val="000000"/>
                </a:solidFill>
                <a:latin typeface="Century Gothic"/>
                <a:cs typeface="Century Gothic"/>
              </a:rPr>
              <a:t>coded IDs, audit trail</a:t>
            </a:r>
          </a:p>
          <a:p>
            <a:pPr marL="0" indent="0" algn="l">
              <a:lnSpc>
                <a:spcPct val="104000"/>
              </a:lnSpc>
              <a:spcBef>
                <a:spcPts val="400"/>
              </a:spcBef>
              <a:buNone/>
            </a:pPr>
            <a:r>
              <a:rPr lang="en-US" sz="1600" dirty="0">
                <a:solidFill>
                  <a:srgbClr val="000000"/>
                </a:solidFill>
                <a:latin typeface="Century Gothic"/>
                <a:cs typeface="Century Gothic"/>
              </a:rPr>
              <a:t>backups, sharing statement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Today: what you will collect and how you will keep it safe.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5: variables, CRF and data management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Variables table: outcome, exposure, 3-5 confounders, each with its type (8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Mini-CRF: 6-10 items with units, time points and 'unknown' options (10 min)</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Data dictionary: 3-5 rows + one validation rule (6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Data-management plan: EDC or double entry, IDs, backups, sharing (6 min)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Use these tools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Variable-type tree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Good vs bad CRF items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FLUID-ICU data dictionary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Worksheet: exercise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3 (first half) written into the group template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Collect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Variable type</a:t>
            </a:r>
          </a:p>
          <a:p>
            <a:pPr marL="0" indent="0" algn="l">
              <a:lnSpc>
                <a:spcPct val="104000"/>
              </a:lnSpc>
              <a:spcBef>
                <a:spcPts val="400"/>
              </a:spcBef>
              <a:buNone/>
            </a:pPr>
            <a:r>
              <a:rPr lang="en-US" sz="1600" dirty="0">
                <a:solidFill>
                  <a:srgbClr val="000000"/>
                </a:solidFill>
                <a:latin typeface="Century Gothic"/>
                <a:cs typeface="Century Gothic"/>
              </a:rPr>
              <a:t>CRF</a:t>
            </a:r>
          </a:p>
          <a:p>
            <a:pPr marL="0" indent="0" algn="l">
              <a:lnSpc>
                <a:spcPct val="104000"/>
              </a:lnSpc>
              <a:spcBef>
                <a:spcPts val="400"/>
              </a:spcBef>
              <a:buNone/>
            </a:pPr>
            <a:r>
              <a:rPr lang="en-US" sz="1600" dirty="0">
                <a:solidFill>
                  <a:srgbClr val="000000"/>
                </a:solidFill>
                <a:latin typeface="Century Gothic"/>
                <a:cs typeface="Century Gothic"/>
              </a:rPr>
              <a:t>Data dictionary</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Protect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Validation check</a:t>
            </a:r>
          </a:p>
          <a:p>
            <a:pPr marL="0" indent="0" algn="l">
              <a:lnSpc>
                <a:spcPct val="104000"/>
              </a:lnSpc>
              <a:spcBef>
                <a:spcPts val="400"/>
              </a:spcBef>
              <a:buNone/>
            </a:pPr>
            <a:r>
              <a:rPr lang="en-US" sz="1600" dirty="0">
                <a:solidFill>
                  <a:srgbClr val="000000"/>
                </a:solidFill>
                <a:latin typeface="Century Gothic"/>
                <a:cs typeface="Century Gothic"/>
              </a:rPr>
              <a:t>Audit trail</a:t>
            </a:r>
          </a:p>
          <a:p>
            <a:pPr marL="0" indent="0" algn="l">
              <a:lnSpc>
                <a:spcPct val="104000"/>
              </a:lnSpc>
              <a:spcBef>
                <a:spcPts val="400"/>
              </a:spcBef>
              <a:buNone/>
            </a:pPr>
            <a:r>
              <a:rPr lang="en-US" sz="1600" dirty="0">
                <a:solidFill>
                  <a:srgbClr val="000000"/>
                </a:solidFill>
                <a:latin typeface="Century Gothic"/>
                <a:cs typeface="Century Gothic"/>
              </a:rPr>
              <a:t>Cleaning log</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Describe</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Median (IQR)</a:t>
            </a:r>
          </a:p>
          <a:p>
            <a:pPr marL="0" indent="0" algn="l">
              <a:lnSpc>
                <a:spcPct val="104000"/>
              </a:lnSpc>
              <a:spcBef>
                <a:spcPts val="400"/>
              </a:spcBef>
              <a:buNone/>
            </a:pPr>
            <a:r>
              <a:rPr lang="en-US" sz="1600" dirty="0">
                <a:solidFill>
                  <a:srgbClr val="000000"/>
                </a:solidFill>
                <a:latin typeface="Century Gothic"/>
                <a:cs typeface="Century Gothic"/>
              </a:rPr>
              <a:t>Mean (SD)</a:t>
            </a:r>
          </a:p>
          <a:p>
            <a:pPr marL="0" indent="0" algn="l">
              <a:lnSpc>
                <a:spcPct val="104000"/>
              </a:lnSpc>
              <a:spcBef>
                <a:spcPts val="400"/>
              </a:spcBef>
              <a:buNone/>
            </a:pPr>
            <a:r>
              <a:rPr lang="en-US" sz="1600" dirty="0">
                <a:solidFill>
                  <a:srgbClr val="000000"/>
                </a:solidFill>
                <a:latin typeface="Century Gothic"/>
                <a:cs typeface="Century Gothic"/>
              </a:rPr>
              <a:t>Skewed</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Show</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Table 1</a:t>
            </a:r>
          </a:p>
          <a:p>
            <a:pPr marL="0" indent="0" algn="l">
              <a:lnSpc>
                <a:spcPct val="104000"/>
              </a:lnSpc>
              <a:spcBef>
                <a:spcPts val="400"/>
              </a:spcBef>
              <a:buNone/>
            </a:pPr>
            <a:r>
              <a:rPr lang="en-US" sz="1600" dirty="0">
                <a:solidFill>
                  <a:srgbClr val="000000"/>
                </a:solidFill>
                <a:latin typeface="Century Gothic"/>
                <a:cs typeface="Century Gothic"/>
              </a:rPr>
              <a:t>Dots + box</a:t>
            </a:r>
          </a:p>
          <a:p>
            <a:pPr marL="0" indent="0" algn="l">
              <a:lnSpc>
                <a:spcPct val="104000"/>
              </a:lnSpc>
              <a:spcBef>
                <a:spcPts val="400"/>
              </a:spcBef>
              <a:buNone/>
            </a:pPr>
            <a:r>
              <a:rPr lang="en-US" sz="1600" dirty="0">
                <a:solidFill>
                  <a:srgbClr val="000000"/>
                </a:solidFill>
                <a:latin typeface="Century Gothic"/>
                <a:cs typeface="Century Gothic"/>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5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Design the data</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Clear CRF items</a:t>
            </a:r>
          </a:p>
          <a:p>
            <a:pPr marL="0" indent="0" algn="l">
              <a:lnSpc>
                <a:spcPct val="104000"/>
              </a:lnSpc>
              <a:spcBef>
                <a:spcPts val="400"/>
              </a:spcBef>
              <a:buNone/>
            </a:pPr>
            <a:r>
              <a:rPr lang="en-US" sz="1750" dirty="0">
                <a:solidFill>
                  <a:srgbClr val="000000"/>
                </a:solidFill>
                <a:latin typeface="Century Gothic"/>
                <a:cs typeface="Century Gothic"/>
              </a:rPr>
              <a:t>Data dictionary first</a:t>
            </a:r>
          </a:p>
          <a:p>
            <a:pPr marL="0" indent="0" algn="l">
              <a:lnSpc>
                <a:spcPct val="104000"/>
              </a:lnSpc>
              <a:spcBef>
                <a:spcPts val="400"/>
              </a:spcBef>
              <a:buNone/>
            </a:pPr>
            <a:r>
              <a:rPr lang="en-US" sz="1750" dirty="0">
                <a:solidFill>
                  <a:srgbClr val="000000"/>
                </a:solidFill>
                <a:latin typeface="Century Gothic"/>
                <a:cs typeface="Century Gothic"/>
              </a:rPr>
              <a:t>Checks at entry</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Keep it clean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Never edit raw data</a:t>
            </a:r>
          </a:p>
          <a:p>
            <a:pPr marL="0" indent="0" algn="l">
              <a:lnSpc>
                <a:spcPct val="104000"/>
              </a:lnSpc>
              <a:spcBef>
                <a:spcPts val="400"/>
              </a:spcBef>
              <a:buNone/>
            </a:pPr>
            <a:r>
              <a:rPr lang="en-US" sz="1750" dirty="0">
                <a:solidFill>
                  <a:srgbClr val="000000"/>
                </a:solidFill>
                <a:latin typeface="Century Gothic"/>
                <a:cs typeface="Century Gothic"/>
              </a:rPr>
              <a:t>Log every correction</a:t>
            </a:r>
          </a:p>
          <a:p>
            <a:pPr marL="0" indent="0" algn="l">
              <a:lnSpc>
                <a:spcPct val="104000"/>
              </a:lnSpc>
              <a:spcBef>
                <a:spcPts val="400"/>
              </a:spcBef>
              <a:buNone/>
            </a:pPr>
            <a:r>
              <a:rPr lang="en-US" sz="1750" dirty="0">
                <a:solidFill>
                  <a:srgbClr val="000000"/>
                </a:solidFill>
                <a:latin typeface="Century Gothic"/>
                <a:cs typeface="Century Gothic"/>
              </a:rPr>
              <a:t>Backups, coded IDs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Describe honestly</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Shape decides the summary</a:t>
            </a:r>
          </a:p>
          <a:p>
            <a:pPr marL="0" indent="0" algn="l">
              <a:lnSpc>
                <a:spcPct val="104000"/>
              </a:lnSpc>
              <a:spcBef>
                <a:spcPts val="400"/>
              </a:spcBef>
              <a:buNone/>
            </a:pPr>
            <a:r>
              <a:rPr lang="en-US" sz="1750" dirty="0">
                <a:solidFill>
                  <a:srgbClr val="000000"/>
                </a:solidFill>
                <a:latin typeface="Century Gothic"/>
                <a:cs typeface="Century Gothic"/>
              </a:rPr>
              <a:t>Show every patient</a:t>
            </a:r>
          </a:p>
          <a:p>
            <a:pPr marL="0" indent="0" algn="l">
              <a:lnSpc>
                <a:spcPct val="104000"/>
              </a:lnSpc>
              <a:spcBef>
                <a:spcPts val="400"/>
              </a:spcBef>
              <a:buNone/>
            </a:pPr>
            <a:r>
              <a:rPr lang="en-US" sz="1750" dirty="0">
                <a:solidFill>
                  <a:srgbClr val="000000"/>
                </a:solidFill>
                <a:latin typeface="Century Gothic"/>
                <a:cs typeface="Century Gothic"/>
              </a:rPr>
              <a:t>Table 1 that stands alone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Good analysis starts with good data, described honestly.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Key words and recap (previous two slides)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Exit question: one data-quality problem found in FLUID-ICU, and how it was fixed</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finish the CRF and data dictionary rows of your proposal</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Read your group's results pack (Table 1 and figures) before Session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Next Saturday: Session 6</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Confidence intervals, p-values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Choosing a test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Regression and survival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data</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dataset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sentence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Session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use if time allows, or for self-study.</a:t>
            </a:r>
          </a:p>
          <a:p>
            <a:pPr marL="0" indent="0" algn="ctr">
              <a:spcBef>
                <a:spcPts val="1200"/>
              </a:spcBef>
              <a:buNone/>
            </a:pPr>
            <a:r>
              <a:rPr lang="en-US" sz="1900" i="1" dirty="0">
                <a:solidFill>
                  <a:srgbClr val="595959"/>
                </a:solidFill>
                <a:latin typeface="Century Gothic"/>
                <a:cs typeface="Century Gothic"/>
              </a:rPr>
              <a:t>Not needed to follow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Coding, versions, backups and data sharing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Four habits that protect your data and your future paper.</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Coding</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Codes, not free text</a:t>
            </a:r>
          </a:p>
          <a:p>
            <a:pPr marL="0" indent="0" algn="l">
              <a:lnSpc>
                <a:spcPct val="104000"/>
              </a:lnSpc>
              <a:spcBef>
                <a:spcPts val="400"/>
              </a:spcBef>
              <a:buNone/>
            </a:pPr>
            <a:r>
              <a:rPr lang="en-US" sz="1600" dirty="0">
                <a:solidFill>
                  <a:srgbClr val="000000"/>
                </a:solidFill>
                <a:latin typeface="Century Gothic"/>
                <a:cs typeface="Century Gothic"/>
              </a:rPr>
              <a:t>Study ID, not names</a:t>
            </a:r>
          </a:p>
          <a:p>
            <a:pPr marL="0" indent="0" algn="l">
              <a:lnSpc>
                <a:spcPct val="104000"/>
              </a:lnSpc>
              <a:spcBef>
                <a:spcPts val="400"/>
              </a:spcBef>
              <a:buNone/>
            </a:pPr>
            <a:r>
              <a:rPr lang="en-US" sz="1600" dirty="0">
                <a:solidFill>
                  <a:srgbClr val="000000"/>
                </a:solidFill>
                <a:latin typeface="Century Gothic"/>
                <a:cs typeface="Century Gothic"/>
              </a:rPr>
              <a:t>Codes in the dictionary</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Versions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Raw file: read-only</a:t>
            </a:r>
          </a:p>
          <a:p>
            <a:pPr marL="0" indent="0" algn="l">
              <a:lnSpc>
                <a:spcPct val="104000"/>
              </a:lnSpc>
              <a:spcBef>
                <a:spcPts val="400"/>
              </a:spcBef>
              <a:buNone/>
            </a:pPr>
            <a:r>
              <a:rPr lang="en-US" sz="1600" dirty="0">
                <a:solidFill>
                  <a:srgbClr val="000000"/>
                </a:solidFill>
                <a:latin typeface="Century Gothic"/>
                <a:cs typeface="Century Gothic"/>
              </a:rPr>
              <a:t>Dated copies:</a:t>
            </a:r>
          </a:p>
          <a:p>
            <a:pPr marL="0" indent="0" algn="l">
              <a:lnSpc>
                <a:spcPct val="104000"/>
              </a:lnSpc>
              <a:spcBef>
                <a:spcPts val="400"/>
              </a:spcBef>
              <a:buNone/>
            </a:pPr>
            <a:r>
              <a:rPr lang="en-US" sz="1600" dirty="0">
                <a:solidFill>
                  <a:srgbClr val="000000"/>
                </a:solidFill>
                <a:latin typeface="Century Gothic"/>
                <a:cs typeface="Century Gothic"/>
              </a:rPr>
              <a:t>data_2026-03-12_v2</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Backups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3 copies, 2 media,</a:t>
            </a:r>
          </a:p>
          <a:p>
            <a:pPr marL="0" indent="0" algn="l">
              <a:lnSpc>
                <a:spcPct val="104000"/>
              </a:lnSpc>
              <a:spcBef>
                <a:spcPts val="400"/>
              </a:spcBef>
              <a:buNone/>
            </a:pPr>
            <a:r>
              <a:rPr lang="en-US" sz="1600" dirty="0">
                <a:solidFill>
                  <a:srgbClr val="000000"/>
                </a:solidFill>
                <a:latin typeface="Century Gothic"/>
                <a:cs typeface="Century Gothic"/>
              </a:rPr>
              <a:t>1 off-site (encrypted)</a:t>
            </a:r>
          </a:p>
          <a:p>
            <a:pPr marL="0" indent="0" algn="l">
              <a:lnSpc>
                <a:spcPct val="104000"/>
              </a:lnSpc>
              <a:spcBef>
                <a:spcPts val="400"/>
              </a:spcBef>
              <a:buNone/>
            </a:pPr>
            <a:r>
              <a:rPr lang="en-US" sz="1600" dirty="0">
                <a:solidFill>
                  <a:srgbClr val="000000"/>
                </a:solidFill>
                <a:latin typeface="Century Gothic"/>
                <a:cs typeface="Century Gothic"/>
              </a:rPr>
              <a:t>Test a restore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sharing</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Journals ask for a</a:t>
            </a:r>
          </a:p>
          <a:p>
            <a:pPr marL="0" indent="0" algn="l">
              <a:lnSpc>
                <a:spcPct val="104000"/>
              </a:lnSpc>
              <a:spcBef>
                <a:spcPts val="400"/>
              </a:spcBef>
              <a:buNone/>
            </a:pPr>
            <a:r>
              <a:rPr lang="en-US" sz="1600" dirty="0">
                <a:solidFill>
                  <a:srgbClr val="000000"/>
                </a:solidFill>
                <a:latin typeface="Century Gothic"/>
                <a:cs typeface="Century Gothic"/>
              </a:rPr>
              <a:t>data-sharing statement</a:t>
            </a:r>
          </a:p>
          <a:p>
            <a:pPr marL="0" indent="0" algn="l">
              <a:lnSpc>
                <a:spcPct val="104000"/>
              </a:lnSpc>
              <a:spcBef>
                <a:spcPts val="400"/>
              </a:spcBef>
              <a:buNone/>
            </a:pPr>
            <a:r>
              <a:rPr lang="en-US" sz="1600" dirty="0">
                <a:solidFill>
                  <a:srgbClr val="000000"/>
                </a:solidFill>
                <a:latin typeface="Century Gothic"/>
                <a:cs typeface="Century Gothic"/>
              </a:rPr>
              <a:t>Plan it at the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Never edit the raw file: keep it, copy it, date it, back it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Three more chart crimes, and how to fix them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Bars start at zero, one axis per graph, and no 3-D effects.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