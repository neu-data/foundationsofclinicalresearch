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(0:00). Welcome to Week 3. In Sessions 1 and 2 we asked a question and found the evidence. Today we choose HOW a study answers a question; next Saturday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Pace: this is a slow session on purpose. Every design is shown as a picture on a timeline, then as a worked example, then checked with a quick quiz.</a:t>
            </a:r>
          </a:p>
          <a:p>
            <a:r>
              <a:rPr lang="en-US" sz="1400" b="0" dirty="0"/>
              <a:t>Running example: the fluid question answered twice: by a small randomised trial (Boulet 2024) and by a large cohort (Hyun 2023).</a:t>
            </a:r>
          </a:p>
          <a:p>
            <a:r>
              <a:rPr lang="en-US" sz="1400" b="0" dirty="0"/>
              <a:t>Ask the room: who has ever taken part in a study as a data collector? Expected: a few hands. Use them as examples later.</a:t>
            </a:r>
          </a:p>
          <a:p>
            <a:r>
              <a:rPr lang="en-US" sz="1400" b="0" dirty="0"/>
              <a:t>Timing: 1 minute. The day: recap 10, 3.1 45, exercise 15, break 15, 3.2 35, exercise 20, proposal builder 35,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group's own question back on the table. Today's proposal builder chooses a design for it.</a:t>
            </a:r>
          </a:p>
          <a:p>
            <a:r>
              <a:rPr lang="en-US" sz="1400" b="0" dirty="0"/>
              <a:t>Answers. Q1: AND with another concept narrows the search; OR widens it. Q2: the figures and tables (reading order: title, abstract, figures and tables, then methods). Q3: spin (describing a non-significant result as if it were a benefit).</a:t>
            </a:r>
          </a:p>
          <a:p>
            <a:r>
              <a:rPr lang="en-US" sz="1400" b="0" dirty="0"/>
              <a:t>Misconception to catch: 'p = 0.42 is nearly significant'. It is not; the honest phrase is 'no clear difference'.</a:t>
            </a:r>
          </a:p>
          <a:p>
            <a:r>
              <a:rPr lang="en-US" sz="1400" b="0" dirty="0"/>
              <a:t>Ask the room after Q3: how should the sentence be rewritten? Expected answer: 'mortality did not differ clearly between groups (p = 0.42)'.</a:t>
            </a:r>
          </a:p>
          <a:p>
            <a:r>
              <a:rPr lang="en-US" sz="1400" b="0" dirty="0"/>
              <a:t>Timing: about 6 minutes for the questions, 3 minutes for groups to re-read their question. Note any group that changed its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only; the details come slide by slide. Tell the room this slide is printed in the handout as a glossary.</a:t>
            </a:r>
          </a:p>
          <a:p>
            <a:r>
              <a:rPr lang="en-US" sz="1400" b="0" dirty="0"/>
              <a:t>Teaching point: almost every design question becomes easy once people can name the EXPOSURE and the OUTCOME. We practise that first.</a:t>
            </a:r>
          </a:p>
          <a:p>
            <a:r>
              <a:rPr lang="en-US" sz="1400" b="0" dirty="0"/>
              <a:t>Misconception: 'design names must be memorised'. No. They can be worked out from the two questions on the takeaway.</a:t>
            </a:r>
          </a:p>
          <a:p>
            <a:r>
              <a:rPr lang="en-US" sz="1400" b="0" dirty="0"/>
              <a:t>Ask the room: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day. Read the question aloud: it is the PICO the room built in Session 1.</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room: which study would you trust more to tell you whether restriction SAVES lives? Expected answer: mixed, and that is the point. Neither answers it fully. Keep the tension; we resolve it by the end of 3.1.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(45 minutes, including two short checks).</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room they do not need to memorise names. By the end they will draw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tree from the top. Descriptive studies describe what is there, with no comparison. Analytical studies compare groups to test an association.</a:t>
            </a:r>
          </a:p>
          <a:p>
            <a:r>
              <a:rPr lang="en-US" sz="1400" b="0" dirty="0"/>
              <a:t>Analytical splits again: observational (the investigator watches what happens in normal care) versus experimental (the investigator decides who gets what).</a:t>
            </a:r>
          </a:p>
          <a:p>
            <a:r>
              <a:rPr lang="en-US" sz="1400" b="0" dirty="0"/>
              <a:t>Systematic reviews sit outside the tree: they are studies of studies, combining many of the designs below.</a:t>
            </a:r>
          </a:p>
          <a:p>
            <a:r>
              <a:rPr lang="en-US" sz="1400" b="0" dirty="0"/>
              <a:t>Misconception: 'observational means bad'. No. Many key questions (harm, prognosis, rare diseases) can only be answered observationally. It is about fit, not rank.</a:t>
            </a:r>
          </a:p>
          <a:p>
            <a:r>
              <a:rPr lang="en-US" sz="1400" b="0" dirty="0"/>
              <a:t>Ask the room: where does Boulet sit?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(a treatment, a strategy, a risk factor, a behaviour). Outcome: what we count later (death, infection, injury, a lab value). The comparison group is people without the exposure, or with usual care.</a:t>
            </a:r>
          </a:p>
          <a:p>
            <a:r>
              <a:rPr lang="en-US" sz="1400" b="0" dirty="0"/>
              <a:t>Walk down the four examples. The same variable can play different roles: fluid balance is the OUTCOME in Boulet (day-5 balance) but the EXPOSURE in Hyun (balance by day 3, outcome death).</a:t>
            </a:r>
          </a:p>
          <a:p>
            <a:r>
              <a:rPr lang="en-US" sz="1400" b="0" dirty="0"/>
              <a:t>Misconception: 'the exposure must be harmful'. No. A treatment is an exposure too.</a:t>
            </a:r>
          </a:p>
          <a:p>
            <a:r>
              <a:rPr lang="en-US" sz="1400" b="0" dirty="0"/>
              <a:t>Ask the room: in 'Does early mobilisation reduce ICU delirium?', name the exposure, outcome and comparison. Expected: early mobilisation; delirium; usual (later) mobilisation.</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for example a one-day survey of pressure injuries on every ward.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room: give an example of a cross-sectional study you could run in your unit next week. Expected answer: a point-prevalence audit (catheter use, delirium screening,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worked example to make 'cross-sectional' concrete. Hypothetical numbers.</a:t>
            </a:r>
          </a:p>
          <a:p>
            <a:r>
              <a:rPr lang="en-US" sz="1400" b="0" dirty="0"/>
              <a:t>Step 1-2: everyone present on one day, examined the same way (this protects against information bias, which we meet in Session 4). Step 3: exposure (mattress) and outcome (pressure injury) are recorded at the same moment. Step 4: the result is a prevalence: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room: which other ward problem could you measure in one day? Expected: urinary catheters in place, delirium screening done,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Draw the arrow with your hand from right to left. We start TODAY with people who already have the outcome (cases) and similar people who do not (controls). Then we look back for the exposure.</a:t>
            </a:r>
          </a:p>
          <a:p>
            <a:r>
              <a:rPr lang="en-US" sz="1400" b="0" dirty="0"/>
              <a:t>Example: ICU patients who developed candidaemia (cases) versus ICU patients who did not (controls); look back in the records for parenteral nutrition.</a:t>
            </a:r>
          </a:p>
          <a:p>
            <a:r>
              <a:rPr lang="en-US" sz="1400" b="0" dirty="0"/>
              <a:t>Strengths: efficient for RARE outcomes or long latency, because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room: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example appears in the Session 4 calculation exercise, so take your time.</a:t>
            </a:r>
          </a:p>
          <a:p>
            <a:r>
              <a:rPr lang="en-US" sz="1400" b="0" dirty="0"/>
              <a:t>Step 1: cases are people WITH the outcome. Step 2: controls are similar people WITHOUT it, from the same source (same ICUs, same period). Choosing controls well is the hardest part. Step 3: look back for the exposure, the same way for both groups. Step 4: 60% of cases vs 20% of controls were exposed. Step 5: the result is an odds ratio (OR = 6.0, which we calculate next Saturday).</a:t>
            </a:r>
          </a:p>
          <a:p>
            <a:r>
              <a:rPr lang="en-US" sz="1400" b="0" dirty="0"/>
              <a:t>Misconception: 'controls should be healthy volunteers'. No. Controls must come from the population that produced the cases, otherwise the comparison is unfair.</a:t>
            </a:r>
          </a:p>
          <a:p>
            <a:r>
              <a:rPr lang="en-US" sz="1400" b="0" dirty="0"/>
              <a:t>Ask the room: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because the investigator did not choose who got more fluid.</a:t>
            </a:r>
          </a:p>
          <a:p>
            <a:r>
              <a:rPr lang="en-US" sz="1400" b="0" dirty="0"/>
              <a:t>Misconception: 'retrospective means poor quality'. Not necessarily. The quality depends on how well the data were recorded.</a:t>
            </a:r>
          </a:p>
          <a:p>
            <a:r>
              <a:rPr lang="en-US" sz="1400" b="0" dirty="0"/>
              <a:t>Ask the room: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works. It is a good example of a cohort built from a registry whose data were collected prospectively.</a:t>
            </a:r>
          </a:p>
          <a:p>
            <a:r>
              <a:rPr lang="en-US" sz="1400" b="0" dirty="0"/>
              <a:t>Step 1: the cohort: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HR 2.13 (95% CI 1.48-3.06); day 1 showed no clear difference.</a:t>
            </a:r>
          </a:p>
          <a:p>
            <a:r>
              <a:rPr lang="en-US" sz="1400" b="0" dirty="0"/>
              <a:t>Misconception: 'a cohort needs to start today'. A retrospective cohort uses old records but still goes exposure then outcome.</a:t>
            </a:r>
          </a:p>
          <a:p>
            <a:r>
              <a:rPr lang="en-US" sz="1400" b="0" dirty="0"/>
              <a:t>Ask the room: who decided which patients received more fluid? Expected: the treating clinicians, often because the patient was sicker. We come back to this in Session 4 (confounding).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The trial was a pilot powered for fluid balance.</a:t>
            </a:r>
          </a:p>
          <a:p>
            <a:r>
              <a:rPr lang="en-US" sz="1400" b="0" dirty="0"/>
              <a:t>Misconception: 'RCT = truth'. A small, unblinded or badly run RCT can still mislead. Design is necessary, not sufficient.</a:t>
            </a:r>
          </a:p>
          <a:p>
            <a:r>
              <a:rPr lang="en-US" sz="1400" b="0" dirty="0"/>
              <a:t>Ask the room: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a pilot randomised trial in 3 ICUs.</a:t>
            </a:r>
          </a:p>
          <a:p>
            <a:r>
              <a:rPr lang="en-US" sz="1400" b="0" dirty="0"/>
              <a:t>Step 1: strict eligibility criteria (we return to these in the proposal builder). Step 2: consent (in the ICU often from a surrogate), before or soon after randomisation. Step 3: randomisation by a central computer keeps the next allocation hidden (allocation concealment, Session 4). Step 4: the two strategies are delivered. Step 5: the primary outcome is the day-5 fluid balance; death by day 28 was 6 of 24 in each group.</a:t>
            </a:r>
          </a:p>
          <a:p>
            <a:r>
              <a:rPr lang="en-US" sz="1400" b="0" dirty="0"/>
              <a:t>Misconception: 'randomised = blinded'. Not here. Clinicians knew the group; only patients and statisticians were blinded.</a:t>
            </a:r>
          </a:p>
          <a:p>
            <a:r>
              <a:rPr lang="en-US" sz="1400" b="0" dirty="0"/>
              <a:t>Ask the room: which step makes this an EXPERIMENT rather than a cohort? Expected: step 3, where the investigator assigns the exposure.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1 minute alone, then show of hands for each scenario. Do not explain yet; the next slide shows the answers.</a:t>
            </a:r>
          </a:p>
          <a:p>
            <a:r>
              <a:rPr lang="en-US" sz="1400" b="0" dirty="0"/>
              <a:t>Watch for scenario C: some will say RCT because there are two groups. Ask: who decided who got mobilised? (The physiotherapist, not chance.)</a:t>
            </a:r>
          </a:p>
          <a:p>
            <a:r>
              <a:rPr lang="en-US" sz="1400" b="0" dirty="0"/>
              <a:t>Timing: 3 minutes including the answer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and ask one person to explain each answer in their own words.</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If most people got all three, move faster through the next slides; if not, redraw the three timelines on the whiteboard.</a:t>
            </a:r>
          </a:p>
          <a:p>
            <a:r>
              <a:rPr lang="en-US" sz="1400" b="0" dirty="0"/>
              <a:t>Timing: included in the 3-minute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from Session 2) and appraises every study found. A meta-analysis then pools the results into one estimate: the diamond at the bottom of a forest plot.</a:t>
            </a:r>
          </a:p>
          <a:p>
            <a:r>
              <a:rPr lang="en-US" sz="1400" b="0" dirty="0"/>
              <a:t>The forest plot here is illustrative: each square is one trial, the line its 95% confidence interval, the vertical line 'no difference'. Session 4 reads a PRISMA flow and a forest plot step by step.</a:t>
            </a:r>
          </a:p>
          <a:p>
            <a:r>
              <a:rPr lang="en-US" sz="1400" b="0" dirty="0"/>
              <a:t>Misconception: 'a meta-analysis is always the best evidence'. It is only as good as the studies it pools: garbage in, garbage out. A review of small biased trials gives a precise wrong answer.</a:t>
            </a:r>
          </a:p>
          <a:p>
            <a:r>
              <a:rPr lang="en-US" sz="1400" b="0" dirty="0"/>
              <a:t>Ask the room: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Boulet is an RCT,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They answer different parts of the question.</a:t>
            </a:r>
          </a:p>
          <a:p>
            <a:r>
              <a:rPr lang="en-US" sz="1400" b="0" dirty="0"/>
              <a:t>Ask the room: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they will use in the exercise at the end of 3.1. Walk it once slowly with Boulet, then with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so use the three questions instead.</a:t>
            </a:r>
          </a:p>
          <a:p>
            <a:r>
              <a:rPr lang="en-US" sz="1400" b="0" dirty="0"/>
              <a:t>Ask the room: a study compares nurses' hand-hygiene scores and infection rates on all wards on one day. What design? Expected answer: no assignment, comparison yes, same moment = cross-sectional. And a bundle introduced on one date, compared before and after? Assigned but not random: a non-randomised (quasi-experimental) study.</a:t>
            </a:r>
          </a:p>
          <a:p>
            <a:r>
              <a:rPr lang="en-US" sz="1400" b="0" dirty="0"/>
              <a:t>Timing: 3 minutes. Leave this slide up during the exercise if you can (or print it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room: which design would you choose to find risk factors for a rare drug reaction? Expected answer: case-control.</a:t>
            </a:r>
          </a:p>
          <a:p>
            <a:r>
              <a:rPr lang="en-US" sz="1400" b="0" dirty="0"/>
              <a:t>Timing: 2 minutes. The handout repeats this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(HR 2.13 for day 2, 1.56 for day 3; no clear difference on day 1). But it cannot prove that the fluid caused the deaths, because sicker patients receive more fluid.</a:t>
            </a:r>
          </a:p>
          <a:p>
            <a:r>
              <a:rPr lang="en-US" sz="1400" b="0" dirty="0"/>
              <a:t>Misconception: 'adjusted' or 'propensity-matched' turns an association into a cause. It reduces measured confounding only.</a:t>
            </a:r>
          </a:p>
          <a:p>
            <a:r>
              <a:rPr lang="en-US" sz="1400" b="0" dirty="0"/>
              <a:t>Ask the room: write one honest sentence for each paper's conclusion. Expected answer: for Boulet, 'the strategy did not clearly reduce day-5 fluid balance'; for Hyun, 'a positive balance on days 2-3 was associated with higher mortality'.</a:t>
            </a:r>
          </a:p>
          <a:p>
            <a:r>
              <a:rPr lang="en-US" sz="1400" b="0" dirty="0"/>
              <a:t>Timing: 3 minutes. Then a 2-minute check,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sentence; the room shows thumbs up (wording fits the design) or down.</a:t>
            </a:r>
          </a:p>
          <a:p>
            <a:r>
              <a:rPr lang="en-US" sz="1400" b="0" dirty="0"/>
              <a:t>Answers. A: up. A randomised trial may make causal statements, and this one honestly reports a null result. B: DOWN. A cohort can say 'associated with', not 'causes' (Hyun's own abstract correctly says 'associated'). C: up. 'Associated' is the right word for a cross-sectional survey; it cannot show which came first.</a:t>
            </a:r>
          </a:p>
          <a:p>
            <a:r>
              <a:rPr lang="en-US" sz="1400" b="0" dirty="0"/>
              <a:t>Teaching point: this is question 8 of the appraisal checklist used in Session 8: do the words match the design?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Handout: Practicals/s3_exercises.md, Part A. Answer key: Solutions/s3_solutions.md.</a:t>
            </a:r>
          </a:p>
          <a:p>
            <a:r>
              <a:rPr lang="en-US" sz="1400" b="0" dirty="0"/>
              <a:t>Run it: 9 minutes in pairs, 6 minutes plenary. In plenary, do not go through all eight. Ask which one pairs starred and discuss those. Abstracts 5 (retrospective cohort that sounds like a case-control), 7 (non-randomised before-after study) and 9 (cluster trial, optional; we meet cluster trials after the break) are usually the hardest.</a:t>
            </a:r>
          </a:p>
          <a:p>
            <a:r>
              <a:rPr lang="en-US" sz="1400" b="0" dirty="0"/>
              <a:t>Teaching point: the evidence word matters more than the label: 'randomly allocated', 'selected patients who developed', 'followed for 12 months', 'on a single day'.</a:t>
            </a:r>
          </a:p>
          <a:p>
            <a:r>
              <a:rPr lang="en-US" sz="1400" b="0" dirty="0"/>
              <a:t>Misconception to listen for: 'it used old records so it is case-control'. Ask: were people selected by outcome or by exposure?</a:t>
            </a:r>
          </a:p>
          <a:p>
            <a:r>
              <a:rPr lang="en-US" sz="1400" b="0" dirty="0"/>
              <a:t>Timing: if pairs finish early, ask them to name one strength and one weakness for each design.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ask informally which design they are thinking of for their own question. It gives you a feel for who will need help in the proposal builder.</a:t>
            </a:r>
          </a:p>
          <a:p>
            <a:r>
              <a:rPr lang="en-US" sz="1400" b="0" dirty="0"/>
              <a:t>Restart on time: start the next slide even if a few people are still coming back.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(35 minutes, including a 3-minute check).</a:t>
            </a:r>
          </a:p>
          <a:p>
            <a:r>
              <a:rPr lang="en-US" sz="1400" b="0" dirty="0"/>
              <a:t>Why this matters: most projects in a hospital department are not classic two-arm trials. They are ward-level changes, quality-improvement projects, pilots or interviews. Knowing these designs lets groups choose something feasible.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so fewer patients are needed. Only for stable, chronic conditions where the effect wears off (e.g. inhalers in COPD). Useless in septic shock: the patient is not the same on day 7.</a:t>
            </a:r>
          </a:p>
          <a:p>
            <a:r>
              <a:rPr lang="en-US" sz="1400" b="0" dirty="0"/>
              <a:t>Cluster: whole wards, ICUs or hospitals are randomised, not individual patients. Use it when the intervention works at unit level (a hand-hygiene programme, a sepsis bundle) or when patients in the same ward would 'contaminate' each other. Needs more patients, because patients in one cluster resemble each other.</a:t>
            </a:r>
          </a:p>
          <a:p>
            <a:r>
              <a:rPr lang="en-US" sz="1400" b="0" dirty="0"/>
              <a:t>Factorial: two questions in one trial.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room: you want to test a new handover checklist for nurses. Which layout? Expected answer: cluster. Randomise wards or shifts, not patients.</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CI). A: the whole CI is below 0, so superior. B: the CI crosses 0 but stays below the margin, so non-inferior. C: the CI crosses the margin, so inconclusive. D: the whole CI is above the margin, so inferior.</a:t>
            </a:r>
          </a:p>
          <a:p>
            <a:r>
              <a:rPr lang="en-US" sz="1400" b="0" dirty="0"/>
              <a:t>Misconception: 'p &gt; 0.05 in a superiority trial shows the treatments are equivalent'. No. Absence of evidence is not evidence of absence. Boulet's p = 0.42 does not show that restriction is as good as usual care.</a:t>
            </a:r>
          </a:p>
          <a:p>
            <a:r>
              <a:rPr lang="en-US" sz="1400" b="0" dirty="0"/>
              <a:t>Ask the room: who should decide the margin: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room: from these numbers, would you launch a 1,000-patient trial in the same 3 ICUs? Expected answer: not as designed. At 3 patients per month it would take decades; you need many more sites or broader eligibility.</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projects introduce a change for everyone at once, with no randomisation and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ward that did not change) to make it stronger.</a:t>
            </a:r>
          </a:p>
          <a:p>
            <a:r>
              <a:rPr lang="en-US" sz="1400" b="0" dirty="0"/>
              <a:t>Misconception: 'the infection rate fell after our bundle, so the bundle worked'. Only if the fall is bigger than the existing trend.</a:t>
            </a:r>
          </a:p>
          <a:p>
            <a:r>
              <a:rPr lang="en-US" sz="1400" b="0" dirty="0"/>
              <a:t>Ask the room: what else changed in your hospital in the same month as your last QI project? Expected answer: usually something (staff rotation, a new policy, an audit),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 COREQ or SRQR.</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room: one question from your ward that only interviews could answer. Expected answer: barriers to early mobilisation, why handovers fail, patients' experience of delirium.</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groups will justify their own design later today in the proposal builder with exactly this logic: 'our question is about X, so the best feasible design is Y'.</a:t>
            </a:r>
          </a:p>
          <a:p>
            <a:r>
              <a:rPr lang="en-US" sz="1400" b="0" dirty="0"/>
              <a:t>Note the word FEASIBLE: the ideal design for 'does restriction save lives?' is a large RCT, but a group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room: a group wants to know how many ICU patients have delirium today. Which design? Expected answer: cross-sectional (point prevalence).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minute alone, then hands up.</a:t>
            </a:r>
          </a:p>
          <a:p>
            <a:r>
              <a:rPr lang="en-US" sz="1400" b="0" dirty="0"/>
              <a:t>Answers. A: non-inferiority trial. Define the margin in advance. B: cluster randomised trial. Randomise wards, not patients. C: interrupted time series. Compare the post-bundle months with the trend before the bundle. D: qualitative design using in-depth interviews (or focus groups) with families.</a:t>
            </a:r>
          </a:p>
          <a:p>
            <a:r>
              <a:rPr lang="en-US" sz="1400" b="0" dirty="0"/>
              <a:t>If the room struggles with C, go back to the ITS picture for 30 seconds.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6 (the proposal groups). 12 minutes working, 8 minutes sharing.</a:t>
            </a:r>
          </a:p>
          <a:p>
            <a:r>
              <a:rPr lang="en-US" sz="1400" b="0" dirty="0"/>
              <a:t>Answers for the four given questions (handout Part B; key in Solutions/s3_solutions.md): 1 point-prevalence of pressure injuries (cross-sectional); 2 chlorhexidine bathing introduced unit by unit (cluster randomised trial); 3 sepsis bundle already in place, monthly data (interrupted time series); 4 why nurses do not report near misses (qualitative interviews or focus groups). Two optional bonus questions: case-control and non-inferiority.</a:t>
            </a:r>
          </a:p>
          <a:p>
            <a:r>
              <a:rPr lang="en-US" sz="1400" b="0" dirty="0"/>
              <a:t>The own-question item is the bridge to the proposal builder: the design they choose here is the one they justify after this exercise.</a:t>
            </a:r>
          </a:p>
          <a:p>
            <a:r>
              <a:rPr lang="en-US" sz="1400" b="0" dirty="0"/>
              <a:t>Common problem: groups choose an RCT for a harm or prognosis question. Ask: could you ethically assign this exposure?</a:t>
            </a:r>
          </a:p>
          <a:p>
            <a:r>
              <a:rPr lang="en-US" sz="1400" b="0" dirty="0"/>
              <a:t>Timing: give a 5-minute warning before sharing.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proposal builder: groups must write their study population today.</a:t>
            </a:r>
          </a:p>
          <a:p>
            <a:r>
              <a:rPr lang="en-US" sz="1400" b="0" dirty="0"/>
              <a:t>Walk down the funnel with the ICU example (an observational version of our fluid question). Source population: everyone who could be studied. Inclusion criteria: the P of the PICO, made measurable (age 18+, septic shock, vasopressor started within 24 h). Exclusion criteria: people who meet the inclusion criteria but must be removed for a reason, such as safety or an outcome that cannot be measured (chronic dialysis, comfort care only).</a:t>
            </a:r>
          </a:p>
          <a:p>
            <a:r>
              <a:rPr lang="en-US" sz="1400" b="0" dirty="0"/>
              <a:t>Compare with Boulet: included septic shock, age 18-85, within 24 h of vasopressor start; excluded acute kidney injury needing RRT within 24 h, end-stage kidney disease, severe malnutrition (BMI &lt;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Session 4).</a:t>
            </a:r>
          </a:p>
          <a:p>
            <a:r>
              <a:rPr lang="en-US" sz="1400" b="0" dirty="0"/>
              <a:t>Ask the room: give one good exclusion criterion for a study of early mobilisation. Expected: unstable spine fracture, or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Practicals/s3_exercises.md, Part C, and the proposal template (Part 2). 35 minutes.</a:t>
            </a:r>
          </a:p>
          <a:p>
            <a:r>
              <a:rPr lang="en-US" sz="1400" b="0" dirty="0"/>
              <a:t>Suggested rhythm (the criteria slide before this takes 3 minutes): 4 minutes to agree the design (most groups already chose it in the last exercise); 19 minutes writing, split between members (one writes the justification, one the setting, two the criteria, one draws the timeline); 9 minutes for the facilitator check and one group reading its justification aloud.</a:t>
            </a:r>
          </a:p>
          <a:p>
            <a:r>
              <a:rPr lang="en-US" sz="1400" b="0" dirty="0"/>
              <a:t>Model answer for the running example (observational version): retrospective cohort of adults with septic shock in our ICU over 3 years; justification: an RCT is ideal but not feasible for one ICU without funding; existing charts record fluid in/out and outcomes; we will say 'associated with'. Inclusion and exclusion as on the funnel slide.</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three different people to explain one card each in their own words.</a:t>
            </a:r>
          </a:p>
          <a:p>
            <a:r>
              <a:rPr lang="en-US" sz="1400" b="0" dirty="0"/>
              <a:t>If time is short, read the takeaway only.</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they chose, followed forward); it may only say 'associated', because people who choose vaccination differ in many ways (healthy-user effect). This previews confounding next Saturday.</a:t>
            </a:r>
          </a:p>
          <a:p>
            <a:r>
              <a:rPr lang="en-US" sz="1400" b="0" dirty="0"/>
              <a:t>Collect the sticky notes; read three aloud at the start of Session 4.</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point participants to them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Useful if the 'Name that design' exercise showed confusion.</a:t>
            </a:r>
          </a:p>
          <a:p>
            <a:r>
              <a:rPr lang="en-US" sz="1400" b="0" dirty="0"/>
              <a:t>Boulet: assigned? Yes. Random? Yes. So RCT. Hyun: assigned? No. Comparison group? Yes. Exposure measured before outcome? Yes. So cohort.</a:t>
            </a:r>
          </a:p>
          <a:p>
            <a:r>
              <a:rPr lang="en-US" sz="1400" b="0" dirty="0"/>
              <a:t>Ask the room to do the same for any paper they brought.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planning a case-control study.</a:t>
            </a:r>
          </a:p>
          <a:p>
            <a:r>
              <a:rPr lang="en-US" sz="1400" b="0" dirty="0"/>
              <a:t>Controls must come from the population that produced the cases: in our candidaemia example, other ICU patients in the same units and months,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whose project evaluates a change already made on their ward.</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QI projects: SQUIRE 2.0.</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3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2 (10 min)</a:t>
            </a:r>
          </a:p>
          <a:p>
            <a:pPr marL="274320" indent="-274320" algn="l">
              <a:spcBef>
                <a:spcPts val="440"/>
              </a:spcBef>
              <a:buFont typeface="Arial"/>
              <a:buChar char="•"/>
            </a:pPr>
            <a:r>
              <a:rPr lang="en-US" sz="1900" dirty="0">
                <a:solidFill>
                  <a:srgbClr val="000000"/>
                </a:solidFill>
                <a:latin typeface="Century Gothic"/>
                <a:cs typeface="Century Gothic"/>
              </a:rPr>
              <a:t>3.1  Study designs in pictures (45 min) + exercise "Name that design" (15 min)</a:t>
            </a:r>
          </a:p>
          <a:p>
            <a:pPr marL="274320" indent="-274320" algn="l">
              <a:spcBef>
                <a:spcPts val="440"/>
              </a:spcBef>
              <a:buFont typeface="Arial"/>
              <a:buChar char="•"/>
            </a:pPr>
            <a:r>
              <a:rPr lang="en-US" sz="1900" dirty="0">
                <a:solidFill>
                  <a:srgbClr val="000000"/>
                </a:solidFill>
                <a:latin typeface="Century Gothic"/>
                <a:cs typeface="Century Gothic"/>
              </a:rPr>
              <a:t>Break (15 min)</a:t>
            </a:r>
          </a:p>
          <a:p>
            <a:pPr marL="274320" indent="-274320" algn="l">
              <a:spcBef>
                <a:spcPts val="440"/>
              </a:spcBef>
              <a:buFont typeface="Arial"/>
              <a:buChar char="•"/>
            </a:pPr>
            <a:r>
              <a:rPr lang="en-US" sz="1900" dirty="0">
                <a:solidFill>
                  <a:srgbClr val="000000"/>
                </a:solidFill>
                <a:latin typeface="Century Gothic"/>
                <a:cs typeface="Century Gothic"/>
              </a:rPr>
              <a:t>3.2  More designs: trial variants, pilots, quality improvement, qualitative (35 min)</a:t>
            </a:r>
          </a:p>
          <a:p>
            <a:pPr marL="274320" indent="-274320" algn="l">
              <a:spcBef>
                <a:spcPts val="440"/>
              </a:spcBef>
              <a:buFont typeface="Arial"/>
              <a:buChar char="•"/>
            </a:pPr>
            <a:r>
              <a:rPr lang="en-US" sz="1900" dirty="0">
                <a:solidFill>
                  <a:srgbClr val="000000"/>
                </a:solidFill>
                <a:latin typeface="Century Gothic"/>
                <a:cs typeface="Century Gothic"/>
              </a:rPr>
              <a:t>Exercise: choose the design for 5 questions (20 min)</a:t>
            </a:r>
          </a:p>
          <a:p>
            <a:pPr marL="274320" indent="-274320" algn="l">
              <a:spcBef>
                <a:spcPts val="440"/>
              </a:spcBef>
              <a:buFont typeface="Arial"/>
              <a:buChar char="•"/>
            </a:pPr>
            <a:r>
              <a:rPr lang="en-US" sz="1900" dirty="0">
                <a:solidFill>
                  <a:srgbClr val="000000"/>
                </a:solidFill>
                <a:latin typeface="Century Gothic"/>
                <a:cs typeface="Century Gothic"/>
              </a:rPr>
              <a:t>Proposal builder 3: design, setting and population (35 min), then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Your PubMed search finds 3,000 papers. Add a concept with AND, or a synonym with OR?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After the title and abstract, what do you read next in a paper?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An abstract says 'a trend towards lower mortality (p = 0.42)'.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Groups: re-read your research question and problem statement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How we run 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Answer alone first (30 s each)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 of hands, then reveal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group's question, re-read and confirmed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Ten words you will use all 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Exposure: what comes first</a:t>
            </a:r>
          </a:p>
          <a:p>
            <a:pPr marL="0" indent="0" algn="l">
              <a:lnSpc>
                <a:spcPct val="104000"/>
              </a:lnSpc>
              <a:spcBef>
                <a:spcPts val="400"/>
              </a:spcBef>
              <a:buNone/>
            </a:pPr>
            <a:r>
              <a:rPr lang="en-US" sz="1600" dirty="0">
                <a:solidFill>
                  <a:srgbClr val="000000"/>
                </a:solidFill>
                <a:latin typeface="Century Gothic"/>
                <a:cs typeface="Century Gothic"/>
              </a:rPr>
              <a:t>Outcome: what we count later</a:t>
            </a:r>
          </a:p>
          <a:p>
            <a:pPr marL="0" indent="0" algn="l">
              <a:lnSpc>
                <a:spcPct val="104000"/>
              </a:lnSpc>
              <a:spcBef>
                <a:spcPts val="400"/>
              </a:spcBef>
              <a:buNone/>
            </a:pPr>
            <a:r>
              <a:rPr lang="en-US" sz="1600" dirty="0">
                <a:solidFill>
                  <a:srgbClr val="000000"/>
                </a:solidFill>
                <a:latin typeface="Century Gothic"/>
                <a:cs typeface="Century Gothic"/>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Observational: we watch</a:t>
            </a:r>
          </a:p>
          <a:p>
            <a:pPr marL="0" indent="0" algn="l">
              <a:lnSpc>
                <a:spcPct val="104000"/>
              </a:lnSpc>
              <a:spcBef>
                <a:spcPts val="400"/>
              </a:spcBef>
              <a:buNone/>
            </a:pPr>
            <a:r>
              <a:rPr lang="en-US" sz="1600" dirty="0">
                <a:solidFill>
                  <a:srgbClr val="000000"/>
                </a:solidFill>
                <a:latin typeface="Century Gothic"/>
                <a:cs typeface="Century Gothic"/>
              </a:rPr>
              <a:t>Experimental: we assign</a:t>
            </a:r>
          </a:p>
          <a:p>
            <a:pPr marL="0" indent="0" algn="l">
              <a:lnSpc>
                <a:spcPct val="104000"/>
              </a:lnSpc>
              <a:spcBef>
                <a:spcPts val="400"/>
              </a:spcBef>
              <a:buNone/>
            </a:pPr>
            <a:r>
              <a:rPr lang="en-US" sz="1600" dirty="0">
                <a:solidFill>
                  <a:srgbClr val="000000"/>
                </a:solidFill>
                <a:latin typeface="Century Gothic"/>
                <a:cs typeface="Century Gothic"/>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Cross-sectional: snapshot</a:t>
            </a:r>
          </a:p>
          <a:p>
            <a:pPr marL="0" indent="0" algn="l">
              <a:lnSpc>
                <a:spcPct val="104000"/>
              </a:lnSpc>
              <a:spcBef>
                <a:spcPts val="400"/>
              </a:spcBef>
              <a:buNone/>
            </a:pPr>
            <a:r>
              <a:rPr lang="en-US" sz="1600" dirty="0">
                <a:solidFill>
                  <a:srgbClr val="000000"/>
                </a:solidFill>
                <a:latin typeface="Century Gothic"/>
                <a:cs typeface="Century Gothic"/>
              </a:rPr>
              <a:t>Case-control: look back</a:t>
            </a:r>
          </a:p>
          <a:p>
            <a:pPr marL="0" indent="0" algn="l">
              <a:lnSpc>
                <a:spcPct val="104000"/>
              </a:lnSpc>
              <a:spcBef>
                <a:spcPts val="400"/>
              </a:spcBef>
              <a:buNone/>
            </a:pPr>
            <a:r>
              <a:rPr lang="en-US" sz="1600" dirty="0">
                <a:solidFill>
                  <a:srgbClr val="000000"/>
                </a:solidFill>
                <a:latin typeface="Century Gothic"/>
                <a:cs typeface="Century Gothic"/>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Cluster, crossover trials</a:t>
            </a:r>
          </a:p>
          <a:p>
            <a:pPr marL="0" indent="0" algn="l">
              <a:lnSpc>
                <a:spcPct val="104000"/>
              </a:lnSpc>
              <a:spcBef>
                <a:spcPts val="400"/>
              </a:spcBef>
              <a:buNone/>
            </a:pPr>
            <a:r>
              <a:rPr lang="en-US" sz="1600" dirty="0">
                <a:solidFill>
                  <a:srgbClr val="000000"/>
                </a:solidFill>
                <a:latin typeface="Century Gothic"/>
                <a:cs typeface="Century Gothic"/>
              </a:rPr>
              <a:t>Non-inferiority, pilot</a:t>
            </a:r>
          </a:p>
          <a:p>
            <a:pPr marL="0" indent="0" algn="l">
              <a:lnSpc>
                <a:spcPct val="104000"/>
              </a:lnSpc>
              <a:spcBef>
                <a:spcPts val="400"/>
              </a:spcBef>
              <a:buNone/>
            </a:pPr>
            <a:r>
              <a:rPr lang="en-US" sz="1600" dirty="0">
                <a:solidFill>
                  <a:srgbClr val="000000"/>
                </a:solidFill>
                <a:latin typeface="Century Gothic"/>
                <a:cs typeface="Century Gothic"/>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Did the investigator assign the exposure, or just watch?</a:t>
            </a:r>
          </a:p>
          <a:p>
            <a:pPr marL="0" indent="0" algn="ctr">
              <a:spcBef>
                <a:spcPts val="1200"/>
              </a:spcBef>
              <a:buNone/>
            </a:pPr>
            <a:r>
              <a:rPr lang="en-US" sz="1900" i="1" dirty="0">
                <a:solidFill>
                  <a:srgbClr val="595959"/>
                </a:solidFill>
                <a:latin typeface="Century Gothic"/>
                <a:cs typeface="Century Gothic"/>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family tree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designs describe; analytical designs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the exposure and the outcome first, and the design follows.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Pressure injury (yes/no)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e.g. 37 of 412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is parenteral nutrition a risk factor for ICU candidaemia?</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1. 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40 ICU patients with candidaemia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2. 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3. 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4. 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5. 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Odds ratio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Hyun cohort,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Adults with sepsis in 20 hospitals, ICU stay of 3+ days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Matched pairs; HR 2.13 for day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RCT: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Boulet trial,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1. Eligibility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Septic shock, age 18-85, vasopressor &lt; 24 h</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2. Consent</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3. Randomise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4. Treat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5. Measure</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All 300 inpatients are checked today for a urinary catheter and for urinary infection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Patients with ventilator pneumonia are compared with patients without it for earlier sedation use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Patients who received early mobilisation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Cross-sectional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day, everyone</a:t>
            </a:r>
          </a:p>
          <a:p>
            <a:pPr marL="0" indent="0" algn="l">
              <a:lnSpc>
                <a:spcPct val="104000"/>
              </a:lnSpc>
              <a:spcBef>
                <a:spcPts val="400"/>
              </a:spcBef>
              <a:buNone/>
            </a:pPr>
            <a:r>
              <a:rPr lang="en-US" sz="1750" dirty="0">
                <a:solidFill>
                  <a:srgbClr val="000000"/>
                </a:solidFill>
                <a:latin typeface="Century Gothic"/>
                <a:cs typeface="Century Gothic"/>
              </a:rPr>
              <a:t>Exposure and outcome measured together</a:t>
            </a:r>
          </a:p>
          <a:p>
            <a:pPr marL="0" indent="0" algn="l">
              <a:lnSpc>
                <a:spcPct val="104000"/>
              </a:lnSpc>
              <a:spcBef>
                <a:spcPts val="400"/>
              </a:spcBef>
              <a:buNone/>
            </a:pPr>
            <a:r>
              <a:rPr lang="en-US" sz="1750" dirty="0">
                <a:solidFill>
                  <a:srgbClr val="000000"/>
                </a:solidFill>
                <a:latin typeface="Century Gothic"/>
                <a:cs typeface="Century Gothic"/>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Chosen by OUTCOME (pneumonia)</a:t>
            </a:r>
          </a:p>
          <a:p>
            <a:pPr marL="0" indent="0" algn="l">
              <a:lnSpc>
                <a:spcPct val="104000"/>
              </a:lnSpc>
              <a:spcBef>
                <a:spcPts val="400"/>
              </a:spcBef>
              <a:buNone/>
            </a:pPr>
            <a:r>
              <a:rPr lang="en-US" sz="1750" dirty="0">
                <a:solidFill>
                  <a:srgbClr val="000000"/>
                </a:solidFill>
                <a:latin typeface="Century Gothic"/>
                <a:cs typeface="Century Gothic"/>
              </a:rPr>
              <a:t>Look back for exposure (sedation)</a:t>
            </a:r>
          </a:p>
          <a:p>
            <a:pPr marL="0" indent="0" algn="l">
              <a:lnSpc>
                <a:spcPct val="104000"/>
              </a:lnSpc>
              <a:spcBef>
                <a:spcPts val="400"/>
              </a:spcBef>
              <a:buNone/>
            </a:pPr>
            <a:r>
              <a:rPr lang="en-US" sz="1750" dirty="0">
                <a:solidFill>
                  <a:srgbClr val="000000"/>
                </a:solidFill>
                <a:latin typeface="Century Gothic"/>
                <a:cs typeface="Century Gothic"/>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Grouped by EXPOSURE (mobilisation)</a:t>
            </a:r>
          </a:p>
          <a:p>
            <a:pPr marL="0" indent="0" algn="l">
              <a:lnSpc>
                <a:spcPct val="104000"/>
              </a:lnSpc>
              <a:spcBef>
                <a:spcPts val="400"/>
              </a:spcBef>
              <a:buNone/>
            </a:pPr>
            <a:r>
              <a:rPr lang="en-US" sz="1750" dirty="0">
                <a:solidFill>
                  <a:srgbClr val="000000"/>
                </a:solidFill>
                <a:latin typeface="Century Gothic"/>
                <a:cs typeface="Century Gothic"/>
              </a:rPr>
              <a:t>Followed forward to discharge</a:t>
            </a:r>
          </a:p>
          <a:p>
            <a:pPr marL="0" indent="0" algn="l">
              <a:lnSpc>
                <a:spcPct val="104000"/>
              </a:lnSpc>
              <a:spcBef>
                <a:spcPts val="400"/>
              </a:spcBef>
              <a:buNone/>
            </a:pPr>
            <a:r>
              <a:rPr lang="en-US" sz="1750" dirty="0">
                <a:solidFill>
                  <a:srgbClr val="000000"/>
                </a:solidFill>
                <a:latin typeface="Century Gothic"/>
                <a:cs typeface="Century Gothic"/>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Read it with care</a:t>
            </a:r>
          </a:p>
          <a:p>
            <a:pPr marL="274320" indent="-274320" algn="l">
              <a:spcBef>
                <a:spcPts val="440"/>
              </a:spcBef>
              <a:buFont typeface="Arial"/>
              <a:buChar char="•"/>
            </a:pPr>
            <a:r>
              <a:rPr lang="en-US" sz="1450" dirty="0">
                <a:solidFill>
                  <a:srgbClr val="000000"/>
                </a:solidFill>
                <a:latin typeface="Century Gothic"/>
                <a:cs typeface="Century Gothic"/>
              </a:rPr>
              <a:t>Higher = less prone to bias, on average</a:t>
            </a:r>
          </a:p>
          <a:p>
            <a:pPr marL="274320" indent="-274320" algn="l">
              <a:spcBef>
                <a:spcPts val="440"/>
              </a:spcBef>
              <a:buFont typeface="Arial"/>
              <a:buChar char="•"/>
            </a:pPr>
            <a:r>
              <a:rPr lang="en-US" sz="1450" dirty="0">
                <a:solidFill>
                  <a:srgbClr val="000000"/>
                </a:solidFill>
                <a:latin typeface="Century Gothic"/>
                <a:cs typeface="Century Gothic"/>
              </a:rPr>
              <a:t>A rule of thumb, not a law</a:t>
            </a:r>
          </a:p>
          <a:p>
            <a:pPr marL="274320" indent="-274320" algn="l">
              <a:spcBef>
                <a:spcPts val="440"/>
              </a:spcBef>
              <a:buFont typeface="Arial"/>
              <a:buChar char="•"/>
            </a:pPr>
            <a:r>
              <a:rPr lang="en-US" sz="1450" dirty="0">
                <a:solidFill>
                  <a:srgbClr val="000000"/>
                </a:solidFill>
                <a:latin typeface="Century Gothic"/>
                <a:cs typeface="Century Gothic"/>
              </a:rPr>
              <a:t>A good cohort can beat a poor RCT</a:t>
            </a:r>
          </a:p>
          <a:p>
            <a:pPr marL="274320" indent="-274320" algn="l">
              <a:spcBef>
                <a:spcPts val="440"/>
              </a:spcBef>
              <a:buFont typeface="Arial"/>
              <a:buChar char="•"/>
            </a:pPr>
            <a:r>
              <a:rPr lang="en-US" sz="1450" dirty="0">
                <a:solidFill>
                  <a:srgbClr val="000000"/>
                </a:solidFill>
                <a:latin typeface="Century Gothic"/>
                <a:cs typeface="Century Gothic"/>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quick and cheap</a:t>
            </a:r>
          </a:p>
          <a:p>
            <a:pPr marL="0" indent="0" algn="l">
              <a:lnSpc>
                <a:spcPct val="104000"/>
              </a:lnSpc>
              <a:spcBef>
                <a:spcPts val="400"/>
              </a:spcBef>
              <a:buNone/>
            </a:pPr>
            <a:r>
              <a:rPr lang="en-US" sz="1600" dirty="0">
                <a:solidFill>
                  <a:srgbClr val="2E8B57"/>
                </a:solidFill>
                <a:latin typeface="Century Gothic"/>
                <a:cs typeface="Century Gothic"/>
              </a:rPr>
              <a:t>+ gives prevalence</a:t>
            </a:r>
          </a:p>
          <a:p>
            <a:pPr marL="0" indent="0" algn="l">
              <a:lnSpc>
                <a:spcPct val="104000"/>
              </a:lnSpc>
              <a:spcBef>
                <a:spcPts val="400"/>
              </a:spcBef>
              <a:buNone/>
            </a:pPr>
            <a:r>
              <a:rPr lang="en-US" sz="1600" dirty="0">
                <a:solidFill>
                  <a:srgbClr val="B23B2E"/>
                </a:solidFill>
                <a:latin typeface="Century Gothic"/>
                <a:cs typeface="Century Gothic"/>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rare outcomes</a:t>
            </a:r>
          </a:p>
          <a:p>
            <a:pPr marL="0" indent="0" algn="l">
              <a:lnSpc>
                <a:spcPct val="104000"/>
              </a:lnSpc>
              <a:spcBef>
                <a:spcPts val="400"/>
              </a:spcBef>
              <a:buNone/>
            </a:pPr>
            <a:r>
              <a:rPr lang="en-US" sz="1600" dirty="0">
                <a:solidFill>
                  <a:srgbClr val="2E8B57"/>
                </a:solidFill>
                <a:latin typeface="Century Gothic"/>
                <a:cs typeface="Century Gothic"/>
              </a:rPr>
              <a:t>+ few patients, fast</a:t>
            </a:r>
          </a:p>
          <a:p>
            <a:pPr marL="0" indent="0" algn="l">
              <a:lnSpc>
                <a:spcPct val="104000"/>
              </a:lnSpc>
              <a:spcBef>
                <a:spcPts val="400"/>
              </a:spcBef>
              <a:buNone/>
            </a:pPr>
            <a:r>
              <a:rPr lang="en-US" sz="1600" dirty="0">
                <a:solidFill>
                  <a:srgbClr val="B23B2E"/>
                </a:solidFill>
                <a:latin typeface="Century Gothic"/>
                <a:cs typeface="Century Gothic"/>
              </a:rPr>
              <a:t>- recall bias</a:t>
            </a:r>
          </a:p>
          <a:p>
            <a:pPr marL="0" indent="0" algn="l">
              <a:lnSpc>
                <a:spcPct val="104000"/>
              </a:lnSpc>
              <a:spcBef>
                <a:spcPts val="400"/>
              </a:spcBef>
              <a:buNone/>
            </a:pPr>
            <a:r>
              <a:rPr lang="en-US" sz="1600" dirty="0">
                <a:solidFill>
                  <a:srgbClr val="B23B2E"/>
                </a:solidFill>
                <a:latin typeface="Century Gothic"/>
                <a:cs typeface="Century Gothic"/>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clear time order</a:t>
            </a:r>
          </a:p>
          <a:p>
            <a:pPr marL="0" indent="0" algn="l">
              <a:lnSpc>
                <a:spcPct val="104000"/>
              </a:lnSpc>
              <a:spcBef>
                <a:spcPts val="400"/>
              </a:spcBef>
              <a:buNone/>
            </a:pPr>
            <a:r>
              <a:rPr lang="en-US" sz="1600" dirty="0">
                <a:solidFill>
                  <a:srgbClr val="2E8B57"/>
                </a:solidFill>
                <a:latin typeface="Century Gothic"/>
                <a:cs typeface="Century Gothic"/>
              </a:rPr>
              <a:t>+ risks, many outcomes</a:t>
            </a:r>
          </a:p>
          <a:p>
            <a:pPr marL="0" indent="0" algn="l">
              <a:lnSpc>
                <a:spcPct val="104000"/>
              </a:lnSpc>
              <a:spcBef>
                <a:spcPts val="400"/>
              </a:spcBef>
              <a:buNone/>
            </a:pPr>
            <a:r>
              <a:rPr lang="en-US" sz="1600" dirty="0">
                <a:solidFill>
                  <a:srgbClr val="B23B2E"/>
                </a:solidFill>
                <a:latin typeface="Century Gothic"/>
                <a:cs typeface="Century Gothic"/>
              </a:rPr>
              <a:t>- slow if prospective</a:t>
            </a:r>
          </a:p>
          <a:p>
            <a:pPr marL="0" indent="0" algn="l">
              <a:lnSpc>
                <a:spcPct val="104000"/>
              </a:lnSpc>
              <a:spcBef>
                <a:spcPts val="400"/>
              </a:spcBef>
              <a:buNone/>
            </a:pPr>
            <a:r>
              <a:rPr lang="en-US" sz="1600" dirty="0">
                <a:solidFill>
                  <a:srgbClr val="B23B2E"/>
                </a:solidFill>
                <a:latin typeface="Century Gothic"/>
                <a:cs typeface="Century Gothic"/>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balances the unknown</a:t>
            </a:r>
          </a:p>
          <a:p>
            <a:pPr marL="0" indent="0" algn="l">
              <a:lnSpc>
                <a:spcPct val="104000"/>
              </a:lnSpc>
              <a:spcBef>
                <a:spcPts val="400"/>
              </a:spcBef>
              <a:buNone/>
            </a:pPr>
            <a:r>
              <a:rPr lang="en-US" sz="1600" dirty="0">
                <a:solidFill>
                  <a:srgbClr val="2E8B57"/>
                </a:solidFill>
                <a:latin typeface="Century Gothic"/>
                <a:cs typeface="Century Gothic"/>
              </a:rPr>
              <a:t>+ strongest for cause</a:t>
            </a:r>
          </a:p>
          <a:p>
            <a:pPr marL="0" indent="0" algn="l">
              <a:lnSpc>
                <a:spcPct val="104000"/>
              </a:lnSpc>
              <a:spcBef>
                <a:spcPts val="400"/>
              </a:spcBef>
              <a:buNone/>
            </a:pPr>
            <a:r>
              <a:rPr lang="en-US" sz="1600" dirty="0">
                <a:solidFill>
                  <a:srgbClr val="B23B2E"/>
                </a:solidFill>
                <a:latin typeface="Century Gothic"/>
                <a:cs typeface="Century Gothic"/>
              </a:rPr>
              <a:t>- costly, ethical limits</a:t>
            </a:r>
          </a:p>
          <a:p>
            <a:pPr marL="0" indent="0" algn="l">
              <a:lnSpc>
                <a:spcPct val="104000"/>
              </a:lnSpc>
              <a:spcBef>
                <a:spcPts val="400"/>
              </a:spcBef>
              <a:buNone/>
            </a:pPr>
            <a:r>
              <a:rPr lang="en-US" sz="1600" dirty="0">
                <a:solidFill>
                  <a:srgbClr val="B23B2E"/>
                </a:solidFill>
                <a:latin typeface="Century Gothic"/>
                <a:cs typeface="Century Gothic"/>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Boulet (RCT): 'The restrictive strategy did not reduce the day-5 fluid balance'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Hyun (cohort): 'A positive fluid balance CAUSES higher 28-day mortality'</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one-day survey: 'Urinary catheters are associated with urinary infection'</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For each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Is the wording right for the design?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Thumbs up or thumbs down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Thumbs up / down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in pairs with the handout: 8 short clinical abstracts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ask the three questions: assigned? random? which way does time run?</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design and one word of evidence from the abstract</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Star the one you found hardest: we discuss it together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 the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Assigned + random = RCT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Outcome first, look back = 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Exposure first, follow =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moment =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8 designs named, each with one piece of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Optional: which design best fits your group's question?</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more study designs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Real projects bend the basic designs.</a:t>
            </a:r>
          </a:p>
          <a:p>
            <a:pPr marL="0" indent="0" algn="ctr">
              <a:spcBef>
                <a:spcPts val="1200"/>
              </a:spcBef>
              <a:buNone/>
            </a:pPr>
            <a:r>
              <a:rPr lang="en-US" sz="1900" i="1" dirty="0">
                <a:solidFill>
                  <a:srgbClr val="595959"/>
                </a:solidFill>
                <a:latin typeface="Century Gothic"/>
                <a:cs typeface="Century Gothic"/>
              </a:rPr>
              <a:t>Trial variants, non-inferiority, pilots, quality-improvement designs and qualitative research.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from the question, and the design follows from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A cheaper antibiotic schedule; we only need to show it is not worse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A hand-hygiene programme delivered to whole wards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sepsis bundle started in 2023; we have 3 years of monthly mortality data</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Why do families refuse research consent in the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Cluster trial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Non-inferiority trial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Interrupted time series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Exercise: choose the design for 5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Handout Part B: four clinical questions + your group's own question</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name the best FEASIBLE design (use the decision tree)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reason and the design's main weakness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Your own question: may you say 'caused' or only 'associated'?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Two groups share their own question and design (1 minute each)</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Remember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common now? Cross-sectional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Rare outcome? 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happens after?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work? RCT / cluster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Already changed? Time series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Why / how? Qualitative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5 designs with a reason and a weakness, including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Inclusion describes your P;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Re-read your research question from Part 1</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Choose the design with the decision tree; justify it in 3-5 sentences</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Setting: where, when, which units, which data source</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Population: 3-5 inclusion and 3-5 exclusion criteria (with reasons)</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Draw your study on a timeline: exposure, then outcome</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Ask the facilitator to check before you finish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Facilitator 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matches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Feasible in your unit?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Inclusion = your 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Each exclusion has a reason?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2a written: design + justification, setting, population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Snapshot, look back, follow forward</a:t>
            </a:r>
          </a:p>
          <a:p>
            <a:pPr marL="0" indent="0" algn="l">
              <a:lnSpc>
                <a:spcPct val="104000"/>
              </a:lnSpc>
              <a:spcBef>
                <a:spcPts val="400"/>
              </a:spcBef>
              <a:buNone/>
            </a:pPr>
            <a:r>
              <a:rPr lang="en-US" sz="1750" dirty="0">
                <a:solidFill>
                  <a:srgbClr val="000000"/>
                </a:solidFill>
                <a:latin typeface="Century Gothic"/>
                <a:cs typeface="Century Gothic"/>
              </a:rPr>
              <a:t>RCT = chance assigns the exposure</a:t>
            </a:r>
          </a:p>
          <a:p>
            <a:pPr marL="0" indent="0" algn="l">
              <a:lnSpc>
                <a:spcPct val="104000"/>
              </a:lnSpc>
              <a:spcBef>
                <a:spcPts val="400"/>
              </a:spcBef>
              <a:buNone/>
            </a:pPr>
            <a:r>
              <a:rPr lang="en-US" sz="1750" dirty="0">
                <a:solidFill>
                  <a:srgbClr val="000000"/>
                </a:solidFill>
                <a:latin typeface="Century Gothic"/>
                <a:cs typeface="Century Gothic"/>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Cluster, crossover, factorial</a:t>
            </a:r>
          </a:p>
          <a:p>
            <a:pPr marL="0" indent="0" algn="l">
              <a:lnSpc>
                <a:spcPct val="104000"/>
              </a:lnSpc>
              <a:spcBef>
                <a:spcPts val="400"/>
              </a:spcBef>
              <a:buNone/>
            </a:pPr>
            <a:r>
              <a:rPr lang="en-US" sz="1750" dirty="0">
                <a:solidFill>
                  <a:srgbClr val="000000"/>
                </a:solidFill>
                <a:latin typeface="Century Gothic"/>
                <a:cs typeface="Century Gothic"/>
              </a:rPr>
              <a:t>Non-inferiority needs a margin</a:t>
            </a:r>
          </a:p>
          <a:p>
            <a:pPr marL="0" indent="0" algn="l">
              <a:lnSpc>
                <a:spcPct val="104000"/>
              </a:lnSpc>
              <a:spcBef>
                <a:spcPts val="400"/>
              </a:spcBef>
              <a:buNone/>
            </a:pPr>
            <a:r>
              <a:rPr lang="en-US" sz="1750" dirty="0">
                <a:solidFill>
                  <a:srgbClr val="000000"/>
                </a:solidFill>
                <a:latin typeface="Century Gothic"/>
                <a:cs typeface="Century Gothic"/>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Design + justification</a:t>
            </a:r>
          </a:p>
          <a:p>
            <a:pPr marL="0" indent="0" algn="l">
              <a:lnSpc>
                <a:spcPct val="104000"/>
              </a:lnSpc>
              <a:spcBef>
                <a:spcPts val="400"/>
              </a:spcBef>
              <a:buNone/>
            </a:pPr>
            <a:r>
              <a:rPr lang="en-US" sz="1750" dirty="0">
                <a:solidFill>
                  <a:srgbClr val="000000"/>
                </a:solidFill>
                <a:latin typeface="Century Gothic"/>
                <a:cs typeface="Century Gothic"/>
              </a:rPr>
              <a:t>Setting</a:t>
            </a:r>
          </a:p>
          <a:p>
            <a:pPr marL="0" indent="0" algn="l">
              <a:lnSpc>
                <a:spcPct val="104000"/>
              </a:lnSpc>
              <a:spcBef>
                <a:spcPts val="400"/>
              </a:spcBef>
              <a:buNone/>
            </a:pPr>
            <a:r>
              <a:rPr lang="en-US" sz="1750" dirty="0">
                <a:solidFill>
                  <a:srgbClr val="000000"/>
                </a:solidFill>
                <a:latin typeface="Century Gothic"/>
                <a:cs typeface="Century Gothic"/>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Exit question: a study compares patients who chose to get a flu vaccine with those who did not. Design? Caused or associated?</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Homework: finish Proposal Part 2a (design, setting, population)</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read the 'Patients' paragraph of Boulet and the 'Data source' paragraph of Hyun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Session 3</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decision tree in action: Boulet and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yes, the trial assigned the strategy</a:t>
            </a:r>
          </a:p>
          <a:p>
            <a:pPr marL="0" indent="0" algn="l">
              <a:lnSpc>
                <a:spcPct val="104000"/>
              </a:lnSpc>
              <a:spcBef>
                <a:spcPts val="200"/>
              </a:spcBef>
              <a:buNone/>
            </a:pPr>
            <a:r>
              <a:rPr lang="en-US" sz="1500" dirty="0">
                <a:solidFill>
                  <a:srgbClr val="000000"/>
                </a:solidFill>
                <a:latin typeface="Century Gothic"/>
                <a:cs typeface="Century Gothic"/>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yes,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Hyun: exposure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RCT</a:t>
            </a:r>
          </a:p>
          <a:p>
            <a:pPr marL="0" indent="0" algn="l">
              <a:lnSpc>
                <a:spcPct val="104000"/>
              </a:lnSpc>
              <a:spcBef>
                <a:spcPts val="200"/>
              </a:spcBef>
              <a:buNone/>
            </a:pPr>
            <a:r>
              <a:rPr lang="en-US" sz="1500" dirty="0">
                <a:solidFill>
                  <a:srgbClr val="000000"/>
                </a:solidFill>
                <a:latin typeface="Century Gothic"/>
                <a:cs typeface="Century Gothic"/>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hospital, units and period as the cases</a:t>
            </a:r>
          </a:p>
          <a:p>
            <a:pPr marL="0" indent="0" algn="l">
              <a:lnSpc>
                <a:spcPct val="104000"/>
              </a:lnSpc>
              <a:spcBef>
                <a:spcPts val="400"/>
              </a:spcBef>
              <a:buNone/>
            </a:pPr>
            <a:r>
              <a:rPr lang="en-US" sz="1750" dirty="0">
                <a:solidFill>
                  <a:srgbClr val="000000"/>
                </a:solidFill>
                <a:latin typeface="Century Gothic"/>
                <a:cs typeface="Century Gothic"/>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records, same questions</a:t>
            </a:r>
          </a:p>
          <a:p>
            <a:pPr marL="0" indent="0" algn="l">
              <a:lnSpc>
                <a:spcPct val="104000"/>
              </a:lnSpc>
              <a:spcBef>
                <a:spcPts val="400"/>
              </a:spcBef>
              <a:buNone/>
            </a:pPr>
            <a:r>
              <a:rPr lang="en-US" sz="1750" dirty="0">
                <a:solidFill>
                  <a:srgbClr val="000000"/>
                </a:solidFill>
                <a:latin typeface="Century Gothic"/>
                <a:cs typeface="Century Gothic"/>
              </a:rPr>
              <a:t>Ideally assessor blind to case status</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e.g. age, month of admission</a:t>
            </a:r>
          </a:p>
          <a:p>
            <a:pPr marL="0" indent="0" algn="l">
              <a:lnSpc>
                <a:spcPct val="104000"/>
              </a:lnSpc>
              <a:spcBef>
                <a:spcPts val="400"/>
              </a:spcBef>
              <a:buNone/>
            </a:pPr>
            <a:r>
              <a:rPr lang="en-US" sz="1750" dirty="0">
                <a:solidFill>
                  <a:srgbClr val="000000"/>
                </a:solidFill>
                <a:latin typeface="Century Gothic"/>
                <a:cs typeface="Century Gothic"/>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Superiority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the new treatment BETTER?</a:t>
            </a:r>
          </a:p>
          <a:p>
            <a:pPr marL="0" indent="0" algn="l">
              <a:lnSpc>
                <a:spcPct val="104000"/>
              </a:lnSpc>
              <a:spcBef>
                <a:spcPts val="400"/>
              </a:spcBef>
              <a:buNone/>
            </a:pPr>
            <a:r>
              <a:rPr lang="en-US" sz="1750" dirty="0">
                <a:solidFill>
                  <a:srgbClr val="000000"/>
                </a:solidFill>
                <a:latin typeface="Century Gothic"/>
                <a:cs typeface="Century Gothic"/>
              </a:rPr>
              <a:t>Whole CI on the 'better' side of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Equivalence</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it about the SAME?</a:t>
            </a:r>
          </a:p>
          <a:p>
            <a:pPr marL="0" indent="0" algn="l">
              <a:lnSpc>
                <a:spcPct val="104000"/>
              </a:lnSpc>
              <a:spcBef>
                <a:spcPts val="400"/>
              </a:spcBef>
              <a:buNone/>
            </a:pPr>
            <a:r>
              <a:rPr lang="en-US" sz="1750" dirty="0">
                <a:solidFill>
                  <a:srgbClr val="000000"/>
                </a:solidFill>
                <a:latin typeface="Century Gothic"/>
                <a:cs typeface="Century Gothic"/>
              </a:rPr>
              <a:t>Whole CI inside -margin to +margin</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it NOT unacceptably worse?</a:t>
            </a:r>
          </a:p>
          <a:p>
            <a:pPr marL="0" indent="0" algn="l">
              <a:lnSpc>
                <a:spcPct val="104000"/>
              </a:lnSpc>
              <a:spcBef>
                <a:spcPts val="400"/>
              </a:spcBef>
              <a:buNone/>
            </a:pPr>
            <a:r>
              <a:rPr lang="en-US" sz="1750" dirty="0">
                <a:solidFill>
                  <a:srgbClr val="000000"/>
                </a:solidFill>
                <a:latin typeface="Century Gothic"/>
                <a:cs typeface="Century Gothic"/>
              </a:rPr>
              <a:t>Whole CI below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8-12 points before and after</a:t>
            </a:r>
          </a:p>
          <a:p>
            <a:pPr marL="0" indent="0" algn="l">
              <a:lnSpc>
                <a:spcPct val="104000"/>
              </a:lnSpc>
              <a:spcBef>
                <a:spcPts val="400"/>
              </a:spcBef>
              <a:buNone/>
            </a:pPr>
            <a:r>
              <a:rPr lang="en-US" sz="1750" dirty="0">
                <a:solidFill>
                  <a:srgbClr val="000000"/>
                </a:solidFill>
                <a:latin typeface="Century Gothic"/>
                <a:cs typeface="Century Gothic"/>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 ward or hospital without the change</a:t>
            </a:r>
          </a:p>
          <a:p>
            <a:pPr marL="0" indent="0" algn="l">
              <a:lnSpc>
                <a:spcPct val="104000"/>
              </a:lnSpc>
              <a:spcBef>
                <a:spcPts val="400"/>
              </a:spcBef>
              <a:buNone/>
            </a:pPr>
            <a:r>
              <a:rPr lang="en-US" sz="1750" dirty="0">
                <a:solidFill>
                  <a:srgbClr val="000000"/>
                </a:solidFill>
                <a:latin typeface="Century Gothic"/>
                <a:cs typeface="Century Gothic"/>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Staff changes, new policies, audits</a:t>
            </a:r>
          </a:p>
          <a:p>
            <a:pPr marL="0" indent="0" algn="l">
              <a:lnSpc>
                <a:spcPct val="104000"/>
              </a:lnSpc>
              <a:spcBef>
                <a:spcPts val="400"/>
              </a:spcBef>
              <a:buNone/>
            </a:pPr>
            <a:r>
              <a:rPr lang="en-US" sz="1750" dirty="0">
                <a:solidFill>
                  <a:srgbClr val="000000"/>
                </a:solidFill>
                <a:latin typeface="Century Gothic"/>
                <a:cs typeface="Century Gothic"/>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