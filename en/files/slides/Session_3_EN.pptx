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3 OPENING (0:00). Welcome to Week 3. In Sessions 1 and 2 we asked a question and found the evidence. Today we choose HOW a study answers a question; next Saturday (Session 4) we judge whether we can trust the answer and how big the effect is.</a:t>
            </a:r>
          </a:p>
          <a:p>
            <a:r>
              <a:rPr lang="en-US" sz="1400" b="0" dirty="0"/>
              <a:t>Teaching point: the design decides what you are allowed to claim at the end. A good question with the wrong design produces a weak study.</a:t>
            </a:r>
          </a:p>
          <a:p>
            <a:r>
              <a:rPr lang="en-US" sz="1400" b="0" dirty="0"/>
              <a:t>Pace: this is a slow session on purpose. Every design is shown as a picture on a timeline, then as a worked example, then checked with a quick quiz.</a:t>
            </a:r>
          </a:p>
          <a:p>
            <a:r>
              <a:rPr lang="en-US" sz="1400" b="0" dirty="0"/>
              <a:t>Running example: the fluid question answered twice - by a small randomised trial (Boulet 2024) and by a large cohort (Hyun 2023).</a:t>
            </a:r>
          </a:p>
          <a:p>
            <a:r>
              <a:rPr lang="en-US" sz="1400" b="0" dirty="0"/>
              <a:t>Ask the room: who has ever taken part in a study as a data collector? Expected: a few hands - use them as examples later.</a:t>
            </a:r>
          </a:p>
          <a:p>
            <a:r>
              <a:rPr lang="en-US" sz="1400" b="0" dirty="0"/>
              <a:t>Timing: 1 minute. The day: recap 10, 3.1 45, exercise 15, break 15, 3.2 35, exercise 20, proposal builder 35, wrap-up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2 and put each group's own question back on the table - today's proposal builder chooses a design for it.</a:t>
            </a:r>
          </a:p>
          <a:p>
            <a:r>
              <a:rPr lang="en-US" sz="1400" b="0" dirty="0"/>
              <a:t>Answers. Q1: AND with another concept narrows the search; OR widens it. Q2: the figures and tables (reading order: title, abstract, figures and tables, then methods). Q3: spin - describing a non-significant result as if it were a benefit.</a:t>
            </a:r>
          </a:p>
          <a:p>
            <a:r>
              <a:rPr lang="en-US" sz="1400" b="0" dirty="0"/>
              <a:t>Misconception to catch: 'p = 0.42 is nearly significant'. It is not; the honest phrase is 'no clear difference'.</a:t>
            </a:r>
          </a:p>
          <a:p>
            <a:r>
              <a:rPr lang="en-US" sz="1400" b="0" dirty="0"/>
              <a:t>Ask the room after Q3: how should the sentence be rewritten? Expected answer: 'mortality did not differ clearly between groups (p = 0.42)'.</a:t>
            </a:r>
          </a:p>
          <a:p>
            <a:r>
              <a:rPr lang="en-US" sz="1400" b="0" dirty="0"/>
              <a:t>Timing: about 6 minutes for the questions, 3 minutes for groups to re-read their question. Note any group that changed its question.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four headings only; the details come slide by slide. Tell the room this slide is printed in the handout as a glossary.</a:t>
            </a:r>
          </a:p>
          <a:p>
            <a:r>
              <a:rPr lang="en-US" sz="1400" b="0" dirty="0"/>
              <a:t>Teaching point: almost every design question becomes easy once people can name the EXPOSURE and the OUTCOME. We practise that first.</a:t>
            </a:r>
          </a:p>
          <a:p>
            <a:r>
              <a:rPr lang="en-US" sz="1400" b="0" dirty="0"/>
              <a:t>Misconception: 'design names must be memorised'. No - they can be worked out from the two questions on the takeaway.</a:t>
            </a:r>
          </a:p>
          <a:p>
            <a:r>
              <a:rPr lang="en-US" sz="1400" b="0" dirty="0"/>
              <a:t>Ask the room: in our fluid question, what is the exposure and what is the outcome? Expected answer: exposure = restrictive fluid strategy (vs usual care); outcome = death by day 28.</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thread for the whole day. Read the question aloud - it is the PICO the room built in Session 1.</a:t>
            </a:r>
          </a:p>
          <a:p>
            <a:r>
              <a:rPr lang="en-US" sz="1400" b="0" dirty="0"/>
              <a:t>Teaching point: Boulet ASSIGNED the fluid strategy by chance (an experiment). Hyun only OBSERVED what clinicians did and what happened afterwards (an observational cohort).</a:t>
            </a:r>
          </a:p>
          <a:p>
            <a:r>
              <a:rPr lang="en-US" sz="1400" b="0" dirty="0"/>
              <a:t>Point out a detail people miss: Boulet's primary outcome was fluid balance at day 5, not mortality. It was a pilot trial. Hyun looked at 28-day mortality, which is our question, but could not assign anything.</a:t>
            </a:r>
          </a:p>
          <a:p>
            <a:r>
              <a:rPr lang="en-US" sz="1400" b="0" dirty="0"/>
              <a:t>Misconception: 'the bigger study is always the better study'. Size reduces random error; it does not remove bias. We come back to this in Session 4.</a:t>
            </a:r>
          </a:p>
          <a:p>
            <a:r>
              <a:rPr lang="en-US" sz="1400" b="0" dirty="0"/>
              <a:t>Ask the room: which study would you trust more to tell you whether restriction SAVES lives? Expected answer: mixed - that is the point; neither answers it fully. Keep the tension; we resolve it by the end of 3.1.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3.1 (45 minutes, including two short checks).</a:t>
            </a:r>
          </a:p>
          <a:p>
            <a:r>
              <a:rPr lang="en-US" sz="1400" b="0" dirty="0"/>
              <a:t>Teaching point: we learn designs as pictures on a timeline, not as definitions. For each design we ask: who decided the exposure, and in which direction does time run? Each picture is followed by a worked example in steps.</a:t>
            </a:r>
          </a:p>
          <a:p>
            <a:r>
              <a:rPr lang="en-US" sz="1400" b="0" dirty="0"/>
              <a:t>Tell the room they do not need to memorise names - by the end they will draw them.</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tree from the top. Descriptive studies describe what is there - no comparison. Analytical studies compare groups to test an association.</a:t>
            </a:r>
          </a:p>
          <a:p>
            <a:r>
              <a:rPr lang="en-US" sz="1400" b="0" dirty="0"/>
              <a:t>Analytical splits again: observational (the investigator watches what happens in normal care) versus experimental (the investigator decides who gets what).</a:t>
            </a:r>
          </a:p>
          <a:p>
            <a:r>
              <a:rPr lang="en-US" sz="1400" b="0" dirty="0"/>
              <a:t>Systematic reviews sit outside the tree: they are studies of studies, combining many of the designs below.</a:t>
            </a:r>
          </a:p>
          <a:p>
            <a:r>
              <a:rPr lang="en-US" sz="1400" b="0" dirty="0"/>
              <a:t>Misconception: 'observational means bad'. No - many key questions (harm, prognosis, rare diseases) can only be answered observationally. It is about fit, not rank.</a:t>
            </a:r>
          </a:p>
          <a:p>
            <a:r>
              <a:rPr lang="en-US" sz="1400" b="0" dirty="0"/>
              <a:t>Ask the room: where does Boulet sit? Hyun? Expected answer: Boulet = experimental, RCT; Hyun = observational, cohort.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Before any design, everyone must be able to name the two pieces of a question.</a:t>
            </a:r>
          </a:p>
          <a:p>
            <a:r>
              <a:rPr lang="en-US" sz="1400" b="0" dirty="0"/>
              <a:t>Exposure: what comes first - a treatment, a strategy, a risk factor, a behaviour. Outcome: what we count later - death, infection, injury, a lab value. The comparison group is people without the exposure, or with usual care.</a:t>
            </a:r>
          </a:p>
          <a:p>
            <a:r>
              <a:rPr lang="en-US" sz="1400" b="0" dirty="0"/>
              <a:t>Walk down the four examples. The same variable can play different roles: fluid balance is the OUTCOME in Boulet (day-5 balance) but the EXPOSURE in Hyun (balance by day 3, outcome death).</a:t>
            </a:r>
          </a:p>
          <a:p>
            <a:r>
              <a:rPr lang="en-US" sz="1400" b="0" dirty="0"/>
              <a:t>Misconception: 'the exposure must be harmful'. No - a treatment is an exposure too.</a:t>
            </a:r>
          </a:p>
          <a:p>
            <a:r>
              <a:rPr lang="en-US" sz="1400" b="0" dirty="0"/>
              <a:t>Ask the room: in 'Does early mobilisation reduce ICU delirium?', name the exposure, outcome and comparison. Expected: early mobilisation; delirium; usual (later) mobilisation.</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Case report or series: a few unusual patients written up in detail. Historically important (first reports of AIDS, thalidomide harms) because they raise alarms and hypotheses.</a:t>
            </a:r>
          </a:p>
          <a:p>
            <a:r>
              <a:rPr lang="en-US" sz="1400" b="0" dirty="0"/>
              <a:t>Cross-sectional study: one snapshot of a population at one moment - for example, a one-day survey of pressure injuries on every ward. It measures prevalence (how many have it NOW).</a:t>
            </a:r>
          </a:p>
          <a:p>
            <a:r>
              <a:rPr lang="en-US" sz="1400" b="0" dirty="0"/>
              <a:t>Teaching point: in a cross-sectional study exposure and outcome are measured at the same moment, so you usually cannot tell which came first.</a:t>
            </a:r>
          </a:p>
          <a:p>
            <a:r>
              <a:rPr lang="en-US" sz="1400" b="0" dirty="0"/>
              <a:t>Misconception: 'a cross-sectional study can show cause because it has two groups'. It can compare groups (analytical cross-sectional), but time order is missing.</a:t>
            </a:r>
          </a:p>
          <a:p>
            <a:r>
              <a:rPr lang="en-US" sz="1400" b="0" dirty="0"/>
              <a:t>Ask the room: give an example of a cross-sectional study you could run in your unit next week. Expected answer: a point-prevalence audit - catheter use, delirium screening, hand-hygiene compliance.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worked example to make 'cross-sectional' concrete. Hypothetical numbers.</a:t>
            </a:r>
          </a:p>
          <a:p>
            <a:r>
              <a:rPr lang="en-US" sz="1400" b="0" dirty="0"/>
              <a:t>Step 1-2: everyone present on one day, examined the same way (this protects against information bias - Session 4). Step 3: exposure (mattress) and outcome (pressure injury) are recorded at the same moment. Step 4: the result is a prevalence - 37 of 412 patients, 9%.</a:t>
            </a:r>
          </a:p>
          <a:p>
            <a:r>
              <a:rPr lang="en-US" sz="1400" b="0" dirty="0"/>
              <a:t>Teaching point: you can compare groups (injury on standard vs air mattress), but you cannot tell whether the mattress came first or whether patients with injuries were moved onto air mattresses.</a:t>
            </a:r>
          </a:p>
          <a:p>
            <a:r>
              <a:rPr lang="en-US" sz="1400" b="0" dirty="0"/>
              <a:t>Misconception: 'cross-sectional = low quality'. For 'how common is it now?' it is exactly the right design, and it is cheap and fast.</a:t>
            </a:r>
          </a:p>
          <a:p>
            <a:r>
              <a:rPr lang="en-US" sz="1400" b="0" dirty="0"/>
              <a:t>Ask the room: which other ward problem could you measure in one day? Expected: urinary catheters in place, delirium screening done, hand-hygiene compliance.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Draw the arrow with your hand from right to left. We start TODAY with people who already have the outcome (cases) and similar people who do not (controls). Then we look back for the exposure.</a:t>
            </a:r>
          </a:p>
          <a:p>
            <a:r>
              <a:rPr lang="en-US" sz="1400" b="0" dirty="0"/>
              <a:t>Example: ICU patients who developed candidaemia (cases) versus ICU patients who did not (controls); look back in the records for parenteral nutrition.</a:t>
            </a:r>
          </a:p>
          <a:p>
            <a:r>
              <a:rPr lang="en-US" sz="1400" b="0" dirty="0"/>
              <a:t>Strengths: efficient for RARE outcomes or long latency - you do not need to follow thousands of people. Weaknesses: recall bias, choosing good controls is hard, and you can only calculate an odds ratio, not risks.</a:t>
            </a:r>
          </a:p>
          <a:p>
            <a:r>
              <a:rPr lang="en-US" sz="1400" b="0" dirty="0"/>
              <a:t>Misconception: 'case-control is the same as a retrospective cohort because both use old records'. The difference is how people are selected: by OUTCOME in case-control, by EXPOSURE in a cohort.</a:t>
            </a:r>
          </a:p>
          <a:p>
            <a:r>
              <a:rPr lang="en-US" sz="1400" b="0" dirty="0"/>
              <a:t>Ask the room: why can you not calculate the risk of candidaemia from a case-control study? Expected answer: the investigator chose how many cases and controls to include, so the proportion with the outcome is set by design, not by nature.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example appears in the Session 4 calculation exercise, so take your time.</a:t>
            </a:r>
          </a:p>
          <a:p>
            <a:r>
              <a:rPr lang="en-US" sz="1400" b="0" dirty="0"/>
              <a:t>Step 1: cases are people WITH the outcome. Step 2: controls are similar people WITHOUT it, from the same source (same ICUs, same period) - choosing controls well is the hardest part. Step 3: look back for the exposure, the same way for both groups. Step 4: 60% of cases vs 20% of controls were exposed. Step 5: the result is an odds ratio (OR = 6.0, which we calculate next Saturday).</a:t>
            </a:r>
          </a:p>
          <a:p>
            <a:r>
              <a:rPr lang="en-US" sz="1400" b="0" dirty="0"/>
              <a:t>Misconception: 'controls should be healthy volunteers'. No - controls must come from the population that produced the cases, otherwise the comparison is unfair.</a:t>
            </a:r>
          </a:p>
          <a:p>
            <a:r>
              <a:rPr lang="en-US" sz="1400" b="0" dirty="0"/>
              <a:t>Ask the room: why can we not report the risk of candidaemia from this study? Expected answer: we chose how many cases and controls to include (1:2), so the proportion with candidaemia is set by us.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Arrow left to right. Group people by EXPOSURE (here: positive versus negative fluid balance in the first ICU days) and count who develops the outcome (death by day 28). This is Hyun 2023.</a:t>
            </a:r>
          </a:p>
          <a:p>
            <a:r>
              <a:rPr lang="en-US" sz="1400" b="0" dirty="0"/>
              <a:t>Prospective cohort: you start now and follow into the future. Retrospective cohort: you start in old records, but the logic is still exposure then outcome. Hyun analysed a registry whose data were collected prospectively.</a:t>
            </a:r>
          </a:p>
          <a:p>
            <a:r>
              <a:rPr lang="en-US" sz="1400" b="0" dirty="0"/>
              <a:t>Strengths: clear time order, can study several outcomes, gives risks and incidence. Weaknesses: slow and costly if prospective, poor for rare outcomes, and confounding - the investigator did not choose who got more fluid.</a:t>
            </a:r>
          </a:p>
          <a:p>
            <a:r>
              <a:rPr lang="en-US" sz="1400" b="0" dirty="0"/>
              <a:t>Misconception: 'retrospective means poor quality'. Not necessarily - the quality depends on how well the data were recorded.</a:t>
            </a:r>
          </a:p>
          <a:p>
            <a:r>
              <a:rPr lang="en-US" sz="1400" b="0" dirty="0"/>
              <a:t>Ask the room: in Hyun, who decided which patients received more fluid? Expected answer: the treating clinicians, according to how sick the patient looked. Hold that thought for confounding in Session 4.</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how Paper 2 (Hyun 2023) works - a good example of a cohort built from a registry whose data were collected prospectively.</a:t>
            </a:r>
          </a:p>
          <a:p>
            <a:r>
              <a:rPr lang="en-US" sz="1400" b="0" dirty="0"/>
              <a:t>Step 1: the cohort - who is followed (and who is left out: patients who left the ICU before day 3). Step 2: exposure measured BEFORE the outcome. Step 3: outcome counted later. Step 4: compare the groups; Hyun used propensity-score matching to make them similar (483, 373 and 392 matched pairs for days 1, 2 and 3). Day 2 result: HR 2.13 (95% CI 1.48-3.06); day 1 showed no clear difference.</a:t>
            </a:r>
          </a:p>
          <a:p>
            <a:r>
              <a:rPr lang="en-US" sz="1400" b="0" dirty="0"/>
              <a:t>Misconception: 'a cohort needs to start today'. A retrospective cohort uses old records but still goes exposure then outcome.</a:t>
            </a:r>
          </a:p>
          <a:p>
            <a:r>
              <a:rPr lang="en-US" sz="1400" b="0" dirty="0"/>
              <a:t>Ask the room: who decided which patients received more fluid? Expected: the treating clinicians, often because the patient was sicker - we come back to this in Session 4 (confounding).</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50 adults with septic shock randomised by a central computer, 1:1, to a restrictive strategy for non-resuscitation fluids or usual care. Two patients in the usual-care group withdrew consent, so 24 + 24 were analysed.</a:t>
            </a:r>
          </a:p>
          <a:p>
            <a:r>
              <a:rPr lang="en-US" sz="1400" b="0" dirty="0"/>
              <a:t>Teaching point: an RCT is a cohort in which the investigator assigns the exposure by chance. That is why groups are alike at the start, for factors we measured AND factors we did not.</a:t>
            </a:r>
          </a:p>
          <a:p>
            <a:r>
              <a:rPr lang="en-US" sz="1400" b="0" dirty="0"/>
              <a:t>Note the honest result: 6 deaths in each group by day 28. With 24 patients per arm this tells us almost nothing about mortality - the trial was a pilot powered for fluid balance.</a:t>
            </a:r>
          </a:p>
          <a:p>
            <a:r>
              <a:rPr lang="en-US" sz="1400" b="0" dirty="0"/>
              <a:t>Misconception: 'RCT = truth'. A small, unblinded or badly run RCT can still mislead. Design is necessary, not sufficient.</a:t>
            </a:r>
          </a:p>
          <a:p>
            <a:r>
              <a:rPr lang="en-US" sz="1400" b="0" dirty="0"/>
              <a:t>Ask the room: why not randomise everything? Expected answer: some exposures cannot ethically be assigned (smoking, harm), some outcomes are rare or take years, and trials are expensive.</a:t>
            </a:r>
          </a:p>
          <a:p>
            <a:r>
              <a:rPr lang="en-US" sz="1400" b="0" dirty="0"/>
              <a:t>Timing: 2 minutes. After the break, 3.2 shows the other ways a trial can be laid 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Paper 1 (Boulet 2024), a pilot randomised trial in 3 ICUs.</a:t>
            </a:r>
          </a:p>
          <a:p>
            <a:r>
              <a:rPr lang="en-US" sz="1400" b="0" dirty="0"/>
              <a:t>Step 1: strict eligibility criteria (we return to these in the proposal builder). Step 2: consent - in the ICU often from a surrogate, before or soon after randomisation. Step 3: randomisation by a central computer keeps the next allocation hidden (allocation concealment - Session 4). Step 4: the two strategies are delivered. Step 5: the primary outcome is the day-5 fluid balance; death by day 28 was 6 of 24 in each group.</a:t>
            </a:r>
          </a:p>
          <a:p>
            <a:r>
              <a:rPr lang="en-US" sz="1400" b="0" dirty="0"/>
              <a:t>Misconception: 'randomised = blinded'. Not here - clinicians knew the group; only patients and statisticians were blinded.</a:t>
            </a:r>
          </a:p>
          <a:p>
            <a:r>
              <a:rPr lang="en-US" sz="1400" b="0" dirty="0"/>
              <a:t>Ask the room: which step makes this an EXPERIMENT rather than a cohort? Expected: step 3 - the investigator assigns the exposure.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1 minute alone, then show of hands for each scenario. Do not explain yet; the next slide shows the answers.</a:t>
            </a:r>
          </a:p>
          <a:p>
            <a:r>
              <a:rPr lang="en-US" sz="1400" b="0" dirty="0"/>
              <a:t>Watch for scenario C: some will say RCT because there are two groups. Ask: who decided who got mobilised? (The physiotherapist, not chance.)</a:t>
            </a:r>
          </a:p>
          <a:p>
            <a:r>
              <a:rPr lang="en-US" sz="1400" b="0" dirty="0"/>
              <a:t>Timing: 3 minutes including the answer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and ask one person to explain each answer in their own words.</a:t>
            </a:r>
          </a:p>
          <a:p>
            <a:r>
              <a:rPr lang="en-US" sz="1400" b="0" dirty="0"/>
              <a:t>Teaching point for C: two groups do not make a trial. If chance did not decide, it is observational.</a:t>
            </a:r>
          </a:p>
          <a:p>
            <a:r>
              <a:rPr lang="en-US" sz="1400" b="0" dirty="0"/>
              <a:t>Misconception: 'looking at old records makes it case-control'. Selection decides: by outcome = case-control; by exposure = cohort.</a:t>
            </a:r>
          </a:p>
          <a:p>
            <a:r>
              <a:rPr lang="en-US" sz="1400" b="0" dirty="0"/>
              <a:t>If most people got all three, move faster through the next slides; if not, redraw the three timelines on the whiteboard.</a:t>
            </a:r>
          </a:p>
          <a:p>
            <a:r>
              <a:rPr lang="en-US" sz="1400" b="0" dirty="0"/>
              <a:t>Timing: included in the 3-minute check.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systematic review uses a pre-specified, reproducible search (remember PubMed and Boolean from Session 2) and appraises every study found. A meta-analysis then pools the results into one estimate - the diamond at the bottom of a forest plot.</a:t>
            </a:r>
          </a:p>
          <a:p>
            <a:r>
              <a:rPr lang="en-US" sz="1400" b="0" dirty="0"/>
              <a:t>The forest plot here is illustrative: each square is one trial, the line its 95% confidence interval, the vertical line 'no difference'. Session 4 reads a PRISMA flow and a forest plot step by step.</a:t>
            </a:r>
          </a:p>
          <a:p>
            <a:r>
              <a:rPr lang="en-US" sz="1400" b="0" dirty="0"/>
              <a:t>Misconception: 'a meta-analysis is always the best evidence'. It is only as good as the studies it pools - garbage in, garbage out. A review of small biased trials gives a precise wrong answer.</a:t>
            </a:r>
          </a:p>
          <a:p>
            <a:r>
              <a:rPr lang="en-US" sz="1400" b="0" dirty="0"/>
              <a:t>Ask the room: what is the difference between a narrative review and a systematic review? Expected answer: the systematic review has a stated, reproducible method for search and selection; a narrative review is the author's choice.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from Session 1, now with the two papers placed on it. Boulet is an RCT, Hyun a cohort.</a:t>
            </a:r>
          </a:p>
          <a:p>
            <a:r>
              <a:rPr lang="en-US" sz="1400" b="0" dirty="0"/>
              <a:t>Teaching point: the pyramid ranks designs by their typical protection against bias for questions about treatment effects. It does not rank questions about prevalence, prognosis or rare harms, where other designs are the right tool.</a:t>
            </a:r>
          </a:p>
          <a:p>
            <a:r>
              <a:rPr lang="en-US" sz="1400" b="0" dirty="0"/>
              <a:t>Misconception: 'anything on a higher level beats anything lower down'. A 48-patient pilot RCT does not overrule a careful multicentre cohort on mortality - they answer different parts of the question.</a:t>
            </a:r>
          </a:p>
          <a:p>
            <a:r>
              <a:rPr lang="en-US" sz="1400" b="0" dirty="0"/>
              <a:t>Ask the room: which paper is higher, and does that make it more useful for our mortality question? Expected answer: Boulet is higher, but it was not designed or powered for mortality, so for mortality it adds little.</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tool they will use in the exercise at the end of 3.1. Walk it once slowly with Boulet, then with Hyun.</a:t>
            </a:r>
          </a:p>
          <a:p>
            <a:r>
              <a:rPr lang="en-US" sz="1400" b="0" dirty="0"/>
              <a:t>Boulet: did the investigator assign the strategy? Yes. At random? Yes. RCT.</a:t>
            </a:r>
          </a:p>
          <a:p>
            <a:r>
              <a:rPr lang="en-US" sz="1400" b="0" dirty="0"/>
              <a:t>Hyun: assigned? No. Comparison group? Yes (positive vs negative balance). Exposure measured first and outcome followed afterwards? Yes. Cohort.</a:t>
            </a:r>
          </a:p>
          <a:p>
            <a:r>
              <a:rPr lang="en-US" sz="1400" b="0" dirty="0"/>
              <a:t>Misconception: people name the design from words in the title ('prospective', 'registry', 'retrospective'). Titles can mislead - use the three questions instead.</a:t>
            </a:r>
          </a:p>
          <a:p>
            <a:r>
              <a:rPr lang="en-US" sz="1400" b="0" dirty="0"/>
              <a:t>Ask the room: a study compares nurses' hand-hygiene scores and infection rates on all wards on one day. What design? Expected answer: no assignment, comparison yes, same moment = cross-sectional. And a bundle introduced on one date, compared before and after? Assigned but not random: a non-randomised (quasi-experimental) study.</a:t>
            </a:r>
          </a:p>
          <a:p>
            <a:r>
              <a:rPr lang="en-US" sz="1400" b="0" dirty="0"/>
              <a:t>Timing: 3 minutes. Leave this slide up during the exercise if you can (or print it on the handout).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every line. Pick one strength and one weakness per card and link it to a picture they have just seen.</a:t>
            </a:r>
          </a:p>
          <a:p>
            <a:r>
              <a:rPr lang="en-US" sz="1400" b="0" dirty="0"/>
              <a:t>Teaching point: the RCT's unique strength is balancing UNKNOWN confounders. Its weakness is often generalisability - trial patients are selected (Boulet excluded patients over 85, those needing dialysis and the severely malnourished).</a:t>
            </a:r>
          </a:p>
          <a:p>
            <a:r>
              <a:rPr lang="en-US" sz="1400" b="0" dirty="0"/>
              <a:t>Misconception: 'case-control studies are weak'. For a rare outcome they are often the only feasible design, and they first linked smoking with lung cancer.</a:t>
            </a:r>
          </a:p>
          <a:p>
            <a:r>
              <a:rPr lang="en-US" sz="1400" b="0" dirty="0"/>
              <a:t>Ask the room: which design would you choose to find risk factors for a rare drug reaction? Expected answer: case-control.</a:t>
            </a:r>
          </a:p>
          <a:p>
            <a:r>
              <a:rPr lang="en-US" sz="1400" b="0" dirty="0"/>
              <a:t>Timing: 2 minutes. The handout repeats this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running example to close 3.1.</a:t>
            </a:r>
          </a:p>
          <a:p>
            <a:r>
              <a:rPr lang="en-US" sz="1400" b="0" dirty="0"/>
              <a:t>Boulet (RCT): because chance made the groups comparable, any difference in fluid balance can be attributed to the strategy. But with 48 patients and 6 deaths in each arm, it cannot tell us anything firm about mortality. Clinicians knew the allocation, which could influence how much fluid they gave.</a:t>
            </a:r>
          </a:p>
          <a:p>
            <a:r>
              <a:rPr lang="en-US" sz="1400" b="0" dirty="0"/>
              <a:t>Hyun (cohort): thousands of patients and the outcome we care about. A positive balance on days 2-3 was associated with higher 28-day mortality (HR 2.13 for day 2, 1.56 for day 3; no clear difference on day 1). But it cannot prove that the fluid caused the deaths - sicker patients receive more fluid.</a:t>
            </a:r>
          </a:p>
          <a:p>
            <a:r>
              <a:rPr lang="en-US" sz="1400" b="0" dirty="0"/>
              <a:t>Misconception: 'adjusted' or 'propensity-matched' turns an association into a cause. It reduces measured confounding only.</a:t>
            </a:r>
          </a:p>
          <a:p>
            <a:r>
              <a:rPr lang="en-US" sz="1400" b="0" dirty="0"/>
              <a:t>Ask the room: write one honest sentence for each paper's conclusion. Expected answer: Boulet - 'the strategy did not clearly reduce day-5 fluid balance'; Hyun - 'a positive balance on days 2-3 was associated with higher mortality'.</a:t>
            </a:r>
          </a:p>
          <a:p>
            <a:r>
              <a:rPr lang="en-US" sz="1400" b="0" dirty="0"/>
              <a:t>Timing: 3 minutes. Then a 2-minute check, then the exercise.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sentence; the room shows thumbs up (wording fits the design) or down.</a:t>
            </a:r>
          </a:p>
          <a:p>
            <a:r>
              <a:rPr lang="en-US" sz="1400" b="0" dirty="0"/>
              <a:t>Answers. A: up - a randomised trial may make causal statements, and this one honestly reports a null result. B: DOWN - a cohort can say 'associated with', not 'causes' (Hyun's own abstract correctly says 'associated'). C: up - 'associated' is the right word for a cross-sectional survey; it cannot show which came first.</a:t>
            </a:r>
          </a:p>
          <a:p>
            <a:r>
              <a:rPr lang="en-US" sz="1400" b="0" dirty="0"/>
              <a:t>Teaching point: this is question 8 of the appraisal checklist used in Session 8: do the words match the design?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Handout: Practicals/s3_exercises.md, Part A. Answer key: Solutions/s3_solutions.md.</a:t>
            </a:r>
          </a:p>
          <a:p>
            <a:r>
              <a:rPr lang="en-US" sz="1400" b="0" dirty="0"/>
              <a:t>Run it: 9 minutes in pairs, 6 minutes plenary. In plenary, do not go through all eight - ask which one pairs starred and discuss those. Abstracts 5 (retrospective cohort that sounds like a case-control), 7 (non-randomised before-after study) and 9 (cluster trial, optional - we meet cluster trials after the break) are usually the hardest.</a:t>
            </a:r>
          </a:p>
          <a:p>
            <a:r>
              <a:rPr lang="en-US" sz="1400" b="0" dirty="0"/>
              <a:t>Teaching point: the evidence word matters more than the label - 'randomly allocated', 'selected patients who developed', 'followed for 12 months', 'on a single day'.</a:t>
            </a:r>
          </a:p>
          <a:p>
            <a:r>
              <a:rPr lang="en-US" sz="1400" b="0" dirty="0"/>
              <a:t>Misconception to listen for: 'it used old records so it is case-control'. Ask: were people selected by outcome or by exposure?</a:t>
            </a:r>
          </a:p>
          <a:p>
            <a:r>
              <a:rPr lang="en-US" sz="1400" b="0" dirty="0"/>
              <a:t>Timing: if pairs finish early, ask them to name one strength and one weakness for each design. Announce the break at the end of this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15-minute break. Put a visible countdown on the screen.</a:t>
            </a:r>
          </a:p>
          <a:p>
            <a:r>
              <a:rPr lang="en-US" sz="1400" b="0" dirty="0"/>
              <a:t>During the break, walk past the groups and ask informally which design they are thinking of for their own question - it gives you a feel for who will need help in the proposal builder.</a:t>
            </a:r>
          </a:p>
          <a:p>
            <a:r>
              <a:rPr lang="en-US" sz="1400" b="0" dirty="0"/>
              <a:t>Restart on time: start the next slide even if a few people are still coming back.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3.2 (35 minutes, including a 3-minute check).</a:t>
            </a:r>
          </a:p>
          <a:p>
            <a:r>
              <a:rPr lang="en-US" sz="1400" b="0" dirty="0"/>
              <a:t>Why this matters: most projects in a hospital department are not classic two-arm trials. They are ward-level changes, quality-improvement projects, pilots or interviews. Knowing these designs lets groups choose something feasible.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trials are parallel: each patient gets one treatment (Boulet). Three variants solve particular problems.</a:t>
            </a:r>
          </a:p>
          <a:p>
            <a:r>
              <a:rPr lang="en-US" sz="1400" b="0" dirty="0"/>
              <a:t>Crossover: each patient receives both treatments in random order, with a washout in between, and acts as their own control - so fewer patients are needed. Only for stable, chronic conditions where the effect wears off (e.g. inhalers in COPD). Useless in septic shock: the patient is not the same on day 7.</a:t>
            </a:r>
          </a:p>
          <a:p>
            <a:r>
              <a:rPr lang="en-US" sz="1400" b="0" dirty="0"/>
              <a:t>Cluster: whole wards, ICUs or hospitals are randomised, not individual patients. Use it when the intervention works at unit level (a hand-hygiene programme, a sepsis bundle) or when patients in the same ward would 'contaminate' each other. Needs more patients, because patients in one cluster resemble each other.</a:t>
            </a:r>
          </a:p>
          <a:p>
            <a:r>
              <a:rPr lang="en-US" sz="1400" b="0" dirty="0"/>
              <a:t>Factorial: two questions in one trial - patients are randomised twice (e.g. fluid strategy AND vitamin C), giving four groups. Efficient if the two treatments do not interact.</a:t>
            </a:r>
          </a:p>
          <a:p>
            <a:r>
              <a:rPr lang="en-US" sz="1400" b="0" dirty="0"/>
              <a:t>Misconception: 'a cluster trial is a weaker trial'. It is a proper RCT; the analysis must account for clustering.</a:t>
            </a:r>
          </a:p>
          <a:p>
            <a:r>
              <a:rPr lang="en-US" sz="1400" b="0" dirty="0"/>
              <a:t>Ask the room: you want to test a new handover checklist for nurses. Which layout? Expected answer: cluster - randomise wards or shifts, not patients.</a:t>
            </a:r>
          </a:p>
          <a:p>
            <a:r>
              <a:rPr lang="en-US" sz="1400" b="0" dirty="0"/>
              <a:t>Timing: 6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superiority trial asks: is the new treatment BETTER? A non-inferiority trial asks: is it NOT UNACCEPTABLY WORSE - usually because it is cheaper, safer, simpler or uses less fluid.</a:t>
            </a:r>
          </a:p>
          <a:p>
            <a:r>
              <a:rPr lang="en-US" sz="1400" b="0" dirty="0"/>
              <a:t>The margin (here +5 percentage points of mortality, hypothetical) is the largest loss we would accept. It is fixed in the protocol, before the data, with clinical reasoning.</a:t>
            </a:r>
          </a:p>
          <a:p>
            <a:r>
              <a:rPr lang="en-US" sz="1400" b="0" dirty="0"/>
              <a:t>Read the bars (difference and 95% CI). A: the whole CI is below 0 - superior. B: the CI crosses 0 but stays below the margin - non-inferior. C: the CI crosses the margin - inconclusive. D: the whole CI is above the margin - inferior.</a:t>
            </a:r>
          </a:p>
          <a:p>
            <a:r>
              <a:rPr lang="en-US" sz="1400" b="0" dirty="0"/>
              <a:t>Misconception: 'p &gt; 0.05 in a superiority trial shows the treatments are equivalent'. No - absence of evidence is not evidence of absence. Boulet's p = 0.42 does not show that restriction is as good as usual care.</a:t>
            </a:r>
          </a:p>
          <a:p>
            <a:r>
              <a:rPr lang="en-US" sz="1400" b="0" dirty="0"/>
              <a:t>Ask the room: who should decide the margin - the statistician or the clinicians? Expected answer: clinicians (and patients), with the statistician; it is a clinical judgement.</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calls itself a pilot. Its real value is in the numbers on the left: 1,201 patients screened for 50 randomised (about 4%), roughly 3 patients per month across 3 ICUs, 48 of 50 analysed.</a:t>
            </a:r>
          </a:p>
          <a:p>
            <a:r>
              <a:rPr lang="en-US" sz="1400" b="0" dirty="0"/>
              <a:t>A pilot or feasibility study tests the machinery of the big trial: recruitment, consent, whether staff can deliver the intervention, whether outcomes can be measured completely, and the numbers needed to calculate the sample size.</a:t>
            </a:r>
          </a:p>
          <a:p>
            <a:r>
              <a:rPr lang="en-US" sz="1400" b="0" dirty="0"/>
              <a:t>Teaching point: a pilot should not be used to claim effectiveness. Its success criteria are about feasibility (e.g. 'recruit 2 patients per site per month', 'over 90% data completeness').</a:t>
            </a:r>
          </a:p>
          <a:p>
            <a:r>
              <a:rPr lang="en-US" sz="1400" b="0" dirty="0"/>
              <a:t>Misconception: 'our small study did not find an effect, so we call it a pilot'. A pilot is planned as a pilot from the start, with feasibility objectives.</a:t>
            </a:r>
          </a:p>
          <a:p>
            <a:r>
              <a:rPr lang="en-US" sz="1400" b="0" dirty="0"/>
              <a:t>Ask the room: from these numbers, would you launch a 1,000-patient trial in the same 3 ICUs? Expected answer: not as designed - at 3 patients per month it would take decades; you need many more sites or broader eligibility.</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quality-improvement projects introduce a change for everyone at once - no randomisation, no parallel control. These are quasi-experimental designs.</a:t>
            </a:r>
          </a:p>
          <a:p>
            <a:r>
              <a:rPr lang="en-US" sz="1400" b="0" dirty="0"/>
              <a:t>The simple before-after study compares the average before with the average after. Weak: rates often fall anyway (seasons, new staff, other projects, regression to the mean after a bad month).</a:t>
            </a:r>
          </a:p>
          <a:p>
            <a:r>
              <a:rPr lang="en-US" sz="1400" b="0" dirty="0"/>
              <a:t>The interrupted time series (ITS) is much stronger: many measurements before and after (here 24 monthly points each). We compare what happened with what the pre-change trend predicted (dashed line). We look for a change in LEVEL (the drop) and in SLOPE (steeper fall).</a:t>
            </a:r>
          </a:p>
          <a:p>
            <a:r>
              <a:rPr lang="en-US" sz="1400" b="0" dirty="0"/>
              <a:t>Teaching point: ITS is the standard design for evaluating a bundle, a protocol or a policy in one hospital. Add a control series (a ward that did not change) to make it stronger.</a:t>
            </a:r>
          </a:p>
          <a:p>
            <a:r>
              <a:rPr lang="en-US" sz="1400" b="0" dirty="0"/>
              <a:t>Misconception: 'the infection rate fell after our bundle, so the bundle worked'. Only if the fall is bigger than the existing trend.</a:t>
            </a:r>
          </a:p>
          <a:p>
            <a:r>
              <a:rPr lang="en-US" sz="1400" b="0" dirty="0"/>
              <a:t>Ask the room: what else changed in your hospital in the same month as your last QI project? Expected answer: usually something - staff rotation, a new policy, an audit - which is exactly why a trend matters.</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Some questions are not about how many or how much but about why, how and what it is like. Why do nurses not chart urine output at night? How do families experience surrogate consent in the ICU? Numbers cannot answer these.</a:t>
            </a:r>
          </a:p>
          <a:p>
            <a:r>
              <a:rPr lang="en-US" sz="1400" b="0" dirty="0"/>
              <a:t>Three main methods: in-depth interviews (one person, open questions), focus groups (6-8 people; discussion reveals shared views and disagreements), and observation (what people actually do, which may differ from what they say).</a:t>
            </a:r>
          </a:p>
          <a:p>
            <a:r>
              <a:rPr lang="en-US" sz="1400" b="0" dirty="0"/>
              <a:t>Sampling is purposive (choose people who know the topic) and continues until no new themes emerge (saturation). Analysis looks for themes in transcripts. Reporting guideline: COREQ or SRQR.</a:t>
            </a:r>
          </a:p>
          <a:p>
            <a:r>
              <a:rPr lang="en-US" sz="1400" b="0" dirty="0"/>
              <a:t>Mixed methods combine both: a trial plus interviews to understand why an intervention was or was not delivered.</a:t>
            </a:r>
          </a:p>
          <a:p>
            <a:r>
              <a:rPr lang="en-US" sz="1400" b="0" dirty="0"/>
              <a:t>Misconception: 'qualitative means anecdotal'. Done properly it is systematic, transparent and peer-reviewed.</a:t>
            </a:r>
          </a:p>
          <a:p>
            <a:r>
              <a:rPr lang="en-US" sz="1400" b="0" dirty="0"/>
              <a:t>Ask the room: one question from your ward that only interviews could answer. Expected answer: barriers to early mobilisation, why handovers fail, patients' experience of delirium.</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practical summary of both sections of today. Read each row as: if your question sounds like this, start with this design.</a:t>
            </a:r>
          </a:p>
          <a:p>
            <a:r>
              <a:rPr lang="en-US" sz="1400" b="0" dirty="0"/>
              <a:t>Teaching point: groups will justify their own design later today in the proposal builder with exactly this logic - 'our question is about X, so the best feasible design is Y'.</a:t>
            </a:r>
          </a:p>
          <a:p>
            <a:r>
              <a:rPr lang="en-US" sz="1400" b="0" dirty="0"/>
              <a:t>Note the word FEASIBLE: the ideal design for 'does restriction save lives?' is a large RCT, but a group with one ICU and no funding may honestly choose a retrospective cohort and state its limits.</a:t>
            </a:r>
          </a:p>
          <a:p>
            <a:r>
              <a:rPr lang="en-US" sz="1400" b="0" dirty="0"/>
              <a:t>Misconception: 'we must do an RCT to be taken seriously'. A well-done, honestly reported cohort is publishable and useful.</a:t>
            </a:r>
          </a:p>
          <a:p>
            <a:r>
              <a:rPr lang="en-US" sz="1400" b="0" dirty="0"/>
              <a:t>Ask the room: a group wants to know how many ICU patients have delirium today. Which design? Expected answer: cross-sectional (point prevalence).</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 minute alone, then hands up.</a:t>
            </a:r>
          </a:p>
          <a:p>
            <a:r>
              <a:rPr lang="en-US" sz="1400" b="0" dirty="0"/>
              <a:t>Answers. A: non-inferiority trial - define the margin in advance. B: cluster randomised trial - randomise wards, not patients. C: interrupted time series - compare the post-bundle months with the trend before the bundle. D: qualitative design - in-depth interviews (or focus groups) with families.</a:t>
            </a:r>
          </a:p>
          <a:p>
            <a:r>
              <a:rPr lang="en-US" sz="1400" b="0" dirty="0"/>
              <a:t>If the room struggles with C, go back to the ITS picture for 30 seconds.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of 6 (the proposal groups). 12 minutes working, 8 minutes sharing.</a:t>
            </a:r>
          </a:p>
          <a:p>
            <a:r>
              <a:rPr lang="en-US" sz="1400" b="0" dirty="0"/>
              <a:t>Answers for the four given questions (handout Part B; key in Solutions/s3_solutions.md): 1 point-prevalence of pressure injuries - cross-sectional; 2 chlorhexidine bathing introduced unit by unit - cluster randomised trial; 3 sepsis bundle already in place, monthly data - interrupted time series; 4 why nurses do not report near misses - qualitative interviews or focus groups. Two optional bonus questions: case-control and non-inferiority.</a:t>
            </a:r>
          </a:p>
          <a:p>
            <a:r>
              <a:rPr lang="en-US" sz="1400" b="0" dirty="0"/>
              <a:t>The own-question item is the bridge to the proposal builder: the design they choose here is the one they justify after this exercise.</a:t>
            </a:r>
          </a:p>
          <a:p>
            <a:r>
              <a:rPr lang="en-US" sz="1400" b="0" dirty="0"/>
              <a:t>Common problem: groups choose an RCT for a harm or prognosis question. Ask: could you ethically assign this exposure?</a:t>
            </a:r>
          </a:p>
          <a:p>
            <a:r>
              <a:rPr lang="en-US" sz="1400" b="0" dirty="0"/>
              <a:t>Timing: give a 5-minute warning before sharing.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prepares the proposal builder: groups must write their study population today.</a:t>
            </a:r>
          </a:p>
          <a:p>
            <a:r>
              <a:rPr lang="en-US" sz="1400" b="0" dirty="0"/>
              <a:t>Walk down the funnel with the ICU example (an observational version of our fluid question). Source population: everyone who could be studied. Inclusion criteria: the P of the PICO, made measurable (age 18+, septic shock, vasopressor started within 24 h). Exclusion criteria: people who meet the inclusion criteria but must be removed for a reason - safety, or the outcome cannot be measured (chronic dialysis, comfort care only).</a:t>
            </a:r>
          </a:p>
          <a:p>
            <a:r>
              <a:rPr lang="en-US" sz="1400" b="0" dirty="0"/>
              <a:t>Compare with Boulet: included septic shock, age 18-85, within 24 h of vasopressor start; excluded acute kidney injury needing RRT within 24 h, end-stage kidney disease, severe malnutrition (BMI &lt; 18).</a:t>
            </a:r>
          </a:p>
          <a:p>
            <a:r>
              <a:rPr lang="en-US" sz="1400" b="0" dirty="0"/>
              <a:t>Misconception: writing exclusions as the opposite of inclusions ('age under 18' is not an exclusion; it is simply not included).</a:t>
            </a:r>
          </a:p>
          <a:p>
            <a:r>
              <a:rPr lang="en-US" sz="1400" b="0" dirty="0"/>
              <a:t>Teaching point: every extra exclusion makes the study cleaner but the result applies to fewer patients (external validity - Session 4).</a:t>
            </a:r>
          </a:p>
          <a:p>
            <a:r>
              <a:rPr lang="en-US" sz="1400" b="0" dirty="0"/>
              <a:t>Ask the room: give one good exclusion criterion for a study of early mobilisation. Expected: unstable spine fracture, or comfort care only.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Practicals/s3_exercises.md, Part C, and the proposal template (Part 2). 35 minutes.</a:t>
            </a:r>
          </a:p>
          <a:p>
            <a:r>
              <a:rPr lang="en-US" sz="1400" b="0" dirty="0"/>
              <a:t>Suggested rhythm (the criteria slide before this takes 3 minutes): 4 minutes to agree the design (most groups already chose it in the last exercise); 19 minutes writing, split between members (one writes the justification, one the setting, two the criteria, one draws the timeline); 9 minutes for the facilitator check and one group reading its justification aloud.</a:t>
            </a:r>
          </a:p>
          <a:p>
            <a:r>
              <a:rPr lang="en-US" sz="1400" b="0" dirty="0"/>
              <a:t>Model answer for the running example (observational version): retrospective cohort of adults with septic shock in our ICU over 3 years; justification - an RCT is ideal but not feasible for one ICU without funding; existing charts record fluid in/out and outcomes; we will say 'associated with'. Inclusion and exclusion as on the funnel slide.</a:t>
            </a:r>
          </a:p>
          <a:p>
            <a:r>
              <a:rPr lang="en-US" sz="1400" b="0" dirty="0"/>
              <a:t>Common problems: an RCT chosen for an exposure that cannot be assigned; a setting that is far too large; exclusions that repeat the inclusions in the negative.</a:t>
            </a:r>
          </a:p>
          <a:p>
            <a:r>
              <a:rPr lang="en-US" sz="1400" b="0" dirty="0"/>
              <a:t>The rest of Part 2 (exposure, comparator, outcomes, biases) is built in Session 4.</a:t>
            </a:r>
          </a:p>
          <a:p>
            <a:r>
              <a:rPr lang="en-US" sz="1400" b="0" dirty="0"/>
              <a:t>Timing: give a 10-minute and a 2-minute warning.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Ask three different people to explain one card each in their own words.</a:t>
            </a:r>
          </a:p>
          <a:p>
            <a:r>
              <a:rPr lang="en-US" sz="1400" b="0" dirty="0"/>
              <a:t>If time is short, read the takeaway only.</a:t>
            </a:r>
          </a:p>
          <a:p>
            <a:r>
              <a:rPr lang="en-US" sz="1400" b="0" dirty="0"/>
              <a:t>Timing: 2 minutes (part of the 5-minute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 a cohort (grouped by the exposure they chose, followed forward); it may only say 'associated' - people who choose vaccination differ in many ways (healthy-user effect), a preview of confounding next Saturday.</a:t>
            </a:r>
          </a:p>
          <a:p>
            <a:r>
              <a:rPr lang="en-US" sz="1400" b="0" dirty="0"/>
              <a:t>Collect the sticky notes; read three aloud at the start of Session 4.</a:t>
            </a:r>
          </a:p>
          <a:p>
            <a:r>
              <a:rPr lang="en-US" sz="1400" b="0" dirty="0"/>
              <a:t>Timing: 3 minutes after the recap slide. Finish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quick, for questions, or point participants to them for self-study.</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slow walk-through of the decision tree with the two running-example papers. Useful if the 'Name that design' exercise showed confusion.</a:t>
            </a:r>
          </a:p>
          <a:p>
            <a:r>
              <a:rPr lang="en-US" sz="1400" b="0" dirty="0"/>
              <a:t>Boulet: assigned - yes; random - yes; so RCT. Hyun: assigned - no; comparison group - yes; exposure measured before outcome - yes; so cohort.</a:t>
            </a:r>
          </a:p>
          <a:p>
            <a:r>
              <a:rPr lang="en-US" sz="1400" b="0" dirty="0"/>
              <a:t>Ask the room to do the same for any paper they brought.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groups planning a case-control study.</a:t>
            </a:r>
          </a:p>
          <a:p>
            <a:r>
              <a:rPr lang="en-US" sz="1400" b="0" dirty="0"/>
              <a:t>Controls must come from the population that produced the cases: in our candidaemia example, other ICU patients in the same units and months - not healthy volunteers.</a:t>
            </a:r>
          </a:p>
          <a:p>
            <a:r>
              <a:rPr lang="en-US" sz="1400" b="0" dirty="0"/>
              <a:t>Exposure must be measured the same way in cases and controls, ideally by someone who does not know which is which.</a:t>
            </a:r>
          </a:p>
          <a:p>
            <a:r>
              <a:rPr lang="en-US" sz="1400" b="0" dirty="0"/>
              <a:t>Matching on a few factors can improve efficiency, but over-matching (on things linked to the exposure) hides the effect.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completes the margin picture from 3.2.</a:t>
            </a:r>
          </a:p>
          <a:p>
            <a:r>
              <a:rPr lang="en-US" sz="1400" b="0" dirty="0"/>
              <a:t>Superiority trials are the usual type. Equivalence trials (common for generic drugs) need the CI inside a margin on both sides. Non-inferiority trials need only the upper side.</a:t>
            </a:r>
          </a:p>
          <a:p>
            <a:r>
              <a:rPr lang="en-US" sz="1400" b="0" dirty="0"/>
              <a:t>Misconception: 'a failed superiority trial shows equivalence'. No - it was not designed with a margin.</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groups whose project evaluates a change already made on their ward.</a:t>
            </a:r>
          </a:p>
          <a:p>
            <a:r>
              <a:rPr lang="en-US" sz="1400" b="0" dirty="0"/>
              <a:t>The interrupted time series compares the post-change data with the trend before the change. More data points, a control series and a diary of other changes make it much more convincing.</a:t>
            </a:r>
          </a:p>
          <a:p>
            <a:r>
              <a:rPr lang="en-US" sz="1400" b="0" dirty="0"/>
              <a:t>Reporting guideline for QI projects: SQUIRE 2.0.</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9.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1.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7.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8.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9.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Session 3 · Design: choosing the right study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3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2 (10 min)</a:t>
            </a:r>
          </a:p>
          <a:p>
            <a:pPr marL="274320" indent="-274320" algn="l">
              <a:spcBef>
                <a:spcPts val="440"/>
              </a:spcBef>
              <a:buFont typeface="Arial"/>
              <a:buChar char="•"/>
            </a:pPr>
            <a:r>
              <a:rPr lang="en-US" sz="1900" dirty="0">
                <a:solidFill>
                  <a:srgbClr val="000000"/>
                </a:solidFill>
                <a:latin typeface="Century Gothic"/>
                <a:cs typeface="Century Gothic"/>
              </a:rPr>
              <a:t>3.1  Study designs in pictures (45 min) + exercise "Name that design" (15 min)</a:t>
            </a:r>
          </a:p>
          <a:p>
            <a:pPr marL="274320" indent="-274320" algn="l">
              <a:spcBef>
                <a:spcPts val="440"/>
              </a:spcBef>
              <a:buFont typeface="Arial"/>
              <a:buChar char="•"/>
            </a:pPr>
            <a:r>
              <a:rPr lang="en-US" sz="1900" dirty="0">
                <a:solidFill>
                  <a:srgbClr val="000000"/>
                </a:solidFill>
                <a:latin typeface="Century Gothic"/>
                <a:cs typeface="Century Gothic"/>
              </a:rPr>
              <a:t>Break (15 min)</a:t>
            </a:r>
          </a:p>
          <a:p>
            <a:pPr marL="274320" indent="-274320" algn="l">
              <a:spcBef>
                <a:spcPts val="440"/>
              </a:spcBef>
              <a:buFont typeface="Arial"/>
              <a:buChar char="•"/>
            </a:pPr>
            <a:r>
              <a:rPr lang="en-US" sz="1900" dirty="0">
                <a:solidFill>
                  <a:srgbClr val="000000"/>
                </a:solidFill>
                <a:latin typeface="Century Gothic"/>
                <a:cs typeface="Century Gothic"/>
              </a:rPr>
              <a:t>3.2  More designs: trial variants, pilots, quality improvement, qualitative (35 min)</a:t>
            </a:r>
          </a:p>
          <a:p>
            <a:pPr marL="274320" indent="-274320" algn="l">
              <a:spcBef>
                <a:spcPts val="440"/>
              </a:spcBef>
              <a:buFont typeface="Arial"/>
              <a:buChar char="•"/>
            </a:pPr>
            <a:r>
              <a:rPr lang="en-US" sz="1900" dirty="0">
                <a:solidFill>
                  <a:srgbClr val="000000"/>
                </a:solidFill>
                <a:latin typeface="Century Gothic"/>
                <a:cs typeface="Century Gothic"/>
              </a:rPr>
              <a:t>Exercise: choose the design for 5 questions (20 min)</a:t>
            </a:r>
          </a:p>
          <a:p>
            <a:pPr marL="274320" indent="-274320" algn="l">
              <a:spcBef>
                <a:spcPts val="440"/>
              </a:spcBef>
              <a:buFont typeface="Arial"/>
              <a:buChar char="•"/>
            </a:pPr>
            <a:r>
              <a:rPr lang="en-US" sz="1900" dirty="0">
                <a:solidFill>
                  <a:srgbClr val="000000"/>
                </a:solidFill>
                <a:latin typeface="Century Gothic"/>
                <a:cs typeface="Century Gothic"/>
              </a:rPr>
              <a:t>Proposal builder 3: design, setting and population (35 min) - wrap-up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three questions on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Your PubMed search finds 3,000 papers. Add a concept with AND, or a synonym with OR?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After the title and abstract, what do you read next in a paper?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An abstract says 'a trend towards lower mortality (p = 0.42)'. What is this called?</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Groups: re-read your research question and problem statement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How we run it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Answer alone first (30 s each)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Show of hands, then reveal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 marks - just a warm-up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Each group's question, re-read and confirmed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Ten words you will use all day - you do not need to memorise definitions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The pieces</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Exposure: what comes first</a:t>
            </a:r>
          </a:p>
          <a:p>
            <a:pPr marL="0" indent="0" algn="l">
              <a:lnSpc>
                <a:spcPct val="104000"/>
              </a:lnSpc>
              <a:spcBef>
                <a:spcPts val="400"/>
              </a:spcBef>
              <a:buNone/>
            </a:pPr>
            <a:r>
              <a:rPr lang="en-US" sz="1600" dirty="0">
                <a:solidFill>
                  <a:srgbClr val="000000"/>
                </a:solidFill>
                <a:latin typeface="Century Gothic"/>
                <a:cs typeface="Century Gothic"/>
              </a:rPr>
              <a:t>Outcome: what we count later</a:t>
            </a:r>
          </a:p>
          <a:p>
            <a:pPr marL="0" indent="0" algn="l">
              <a:lnSpc>
                <a:spcPct val="104000"/>
              </a:lnSpc>
              <a:spcBef>
                <a:spcPts val="400"/>
              </a:spcBef>
              <a:buNone/>
            </a:pPr>
            <a:r>
              <a:rPr lang="en-US" sz="1600" dirty="0">
                <a:solidFill>
                  <a:srgbClr val="000000"/>
                </a:solidFill>
                <a:latin typeface="Century Gothic"/>
                <a:cs typeface="Century Gothic"/>
              </a:rPr>
              <a:t>Comparison group</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Who decides?</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Observational: we watch</a:t>
            </a:r>
          </a:p>
          <a:p>
            <a:pPr marL="0" indent="0" algn="l">
              <a:lnSpc>
                <a:spcPct val="104000"/>
              </a:lnSpc>
              <a:spcBef>
                <a:spcPts val="400"/>
              </a:spcBef>
              <a:buNone/>
            </a:pPr>
            <a:r>
              <a:rPr lang="en-US" sz="1600" dirty="0">
                <a:solidFill>
                  <a:srgbClr val="000000"/>
                </a:solidFill>
                <a:latin typeface="Century Gothic"/>
                <a:cs typeface="Century Gothic"/>
              </a:rPr>
              <a:t>Experimental: we assign</a:t>
            </a:r>
          </a:p>
          <a:p>
            <a:pPr marL="0" indent="0" algn="l">
              <a:lnSpc>
                <a:spcPct val="104000"/>
              </a:lnSpc>
              <a:spcBef>
                <a:spcPts val="400"/>
              </a:spcBef>
              <a:buNone/>
            </a:pPr>
            <a:r>
              <a:rPr lang="en-US" sz="1600" dirty="0">
                <a:solidFill>
                  <a:srgbClr val="000000"/>
                </a:solidFill>
                <a:latin typeface="Century Gothic"/>
                <a:cs typeface="Century Gothic"/>
              </a:rPr>
              <a:t>Randomised: chance assigns</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Which way in time?</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Cross-sectional: snapshot</a:t>
            </a:r>
          </a:p>
          <a:p>
            <a:pPr marL="0" indent="0" algn="l">
              <a:lnSpc>
                <a:spcPct val="104000"/>
              </a:lnSpc>
              <a:spcBef>
                <a:spcPts val="400"/>
              </a:spcBef>
              <a:buNone/>
            </a:pPr>
            <a:r>
              <a:rPr lang="en-US" sz="1600" dirty="0">
                <a:solidFill>
                  <a:srgbClr val="000000"/>
                </a:solidFill>
                <a:latin typeface="Century Gothic"/>
                <a:cs typeface="Century Gothic"/>
              </a:rPr>
              <a:t>Case-control: look back</a:t>
            </a:r>
          </a:p>
          <a:p>
            <a:pPr marL="0" indent="0" algn="l">
              <a:lnSpc>
                <a:spcPct val="104000"/>
              </a:lnSpc>
              <a:spcBef>
                <a:spcPts val="400"/>
              </a:spcBef>
              <a:buNone/>
            </a:pPr>
            <a:r>
              <a:rPr lang="en-US" sz="1600" dirty="0">
                <a:solidFill>
                  <a:srgbClr val="000000"/>
                </a:solidFill>
                <a:latin typeface="Century Gothic"/>
                <a:cs typeface="Century Gothic"/>
              </a:rPr>
              <a:t>Cohort: follow forward</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After the break</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Cluster, crossover trials</a:t>
            </a:r>
          </a:p>
          <a:p>
            <a:pPr marL="0" indent="0" algn="l">
              <a:lnSpc>
                <a:spcPct val="104000"/>
              </a:lnSpc>
              <a:spcBef>
                <a:spcPts val="400"/>
              </a:spcBef>
              <a:buNone/>
            </a:pPr>
            <a:r>
              <a:rPr lang="en-US" sz="1600" dirty="0">
                <a:solidFill>
                  <a:srgbClr val="000000"/>
                </a:solidFill>
                <a:latin typeface="Century Gothic"/>
                <a:cs typeface="Century Gothic"/>
              </a:rPr>
              <a:t>Non-inferiority, pilot</a:t>
            </a:r>
          </a:p>
          <a:p>
            <a:pPr marL="0" indent="0" algn="l">
              <a:lnSpc>
                <a:spcPct val="104000"/>
              </a:lnSpc>
              <a:spcBef>
                <a:spcPts val="400"/>
              </a:spcBef>
              <a:buNone/>
            </a:pPr>
            <a:r>
              <a:rPr lang="en-US" sz="1600" dirty="0">
                <a:solidFill>
                  <a:srgbClr val="000000"/>
                </a:solidFill>
                <a:latin typeface="Century Gothic"/>
                <a:cs typeface="Century Gothic"/>
              </a:rPr>
              <a:t>Time series, qualitative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Two questions name most designs: who decided the exposure, and which way does time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One question, two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question, two designs: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3.1  Study designs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Did the investigator assign the exposure, or just watch?</a:t>
            </a:r>
          </a:p>
          <a:p>
            <a:pPr marL="0" indent="0" algn="ctr">
              <a:spcBef>
                <a:spcPts val="1200"/>
              </a:spcBef>
              <a:buNone/>
            </a:pPr>
            <a:r>
              <a:rPr lang="en-US" sz="1900" i="1" dirty="0">
                <a:solidFill>
                  <a:srgbClr val="595959"/>
                </a:solidFill>
                <a:latin typeface="Century Gothic"/>
                <a:cs typeface="Century Gothic"/>
              </a:rPr>
              <a:t>That one question sorts almost every study design. (45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family tree of study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Descriptive designs describe; analytical designs compare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Exposure and outcome: the two words you need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 the exposure and the outcome first - the design follows.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Descriptive designs: describe, do not compare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Descriptive studies raise questions; they cannot answer 'does X cause 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a one-day point-prevalence survey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A cross-sectional study you could run next week</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1. Choose a day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All inpatients on all wards, one weekday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2. Examine everyone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Two trained nurses, one standard form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3. Record both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Pressure injury (yes/no) AND mattress type, at the same visit</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4. Count</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e.g. 37 of 412 = 9% prevalence today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snapshot gives prevalence; it cannot show which came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Case-control: start from the outcome, look back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Case-control: pick people BY outcome, then compare their past exposures.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a case-control study in the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Question: is parenteral nutrition a risk factor for ICU candidaemia?</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1. Find cases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40 ICU patients with candidaemia (lab records)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2. Find controls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80 ICU patients without it, same units and months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3. Look back</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Parenteral nutrition in the 14 days before?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4. Compare</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Exposed: 24 of 40 cases vs 16 of 80 controls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5. Report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Odds ratio (calculated in Session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Cases and controls are chosen by OUTCOME; exposure is measured looking back.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Cohort: start from the exposure,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Cohort: exposure first, outcome later - time runs the right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Hyun cohort,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Question: is a positive fluid balance associated with death by day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1. Define the cohort</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Adults with sepsis in 20 hospitals, ICU stay of 3+ days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2. Measure exposure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Cumulative fluid balance, ICU days 1-3: positive or negative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3. Follow forward</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Record who dies by day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4. 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Matched pairs; HR 2.13 for day 2</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cohort groups people by EXPOSURE and follows them to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RCT: randomise, then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 an RCT chance - not the clinician - decides who gets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Boulet trial,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Question: does restricting non-resuscitation fluids reduce the day-5 fluid balance?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1. Eligibility</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Septic shock, age 18-85, vasopressor &lt; 24 h</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2. Consent</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Patient or legal surrogate</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3. Randomise</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Central computer, 1:1 - nobody can predict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4. Treat</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Restrictive vs usual care for 7 days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5. Measure</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Fluid balance at day 5;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 a trial the investigator assigns the exposure - by chance.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All 300 inpatients are checked today for a urinary catheter and for urinary infection</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Patients with ventilator pneumonia are compared with patients without it for earlier sedation use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Patients who received early mobilisation (physiotherapist's decision) and those who did not are followed to discharge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Choose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Cross-sectional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Case-control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design named for each scenario -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Answers: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 Cross-sectional</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One day, everyone</a:t>
            </a:r>
          </a:p>
          <a:p>
            <a:pPr marL="0" indent="0" algn="l">
              <a:lnSpc>
                <a:spcPct val="104000"/>
              </a:lnSpc>
              <a:spcBef>
                <a:spcPts val="400"/>
              </a:spcBef>
              <a:buNone/>
            </a:pPr>
            <a:r>
              <a:rPr lang="en-US" sz="1750" dirty="0">
                <a:solidFill>
                  <a:srgbClr val="000000"/>
                </a:solidFill>
                <a:latin typeface="Century Gothic"/>
                <a:cs typeface="Century Gothic"/>
              </a:rPr>
              <a:t>Exposure and outcome measured together</a:t>
            </a:r>
          </a:p>
          <a:p>
            <a:pPr marL="0" indent="0" algn="l">
              <a:lnSpc>
                <a:spcPct val="104000"/>
              </a:lnSpc>
              <a:spcBef>
                <a:spcPts val="400"/>
              </a:spcBef>
              <a:buNone/>
            </a:pPr>
            <a:r>
              <a:rPr lang="en-US" sz="1750" dirty="0">
                <a:solidFill>
                  <a:srgbClr val="000000"/>
                </a:solidFill>
                <a:latin typeface="Century Gothic"/>
                <a:cs typeface="Century Gothic"/>
              </a:rPr>
              <a:t>Gives prevalence</a:t>
            </a:r>
          </a:p>
        </p:txBody>
      </p:sp>
      <p:sp>
        <p:nvSpPr>
          <p:cNvPr id="72" name="CardHead"/>
          <p:cNvSpPr/>
          <p:nvPr/>
        </p:nvSpPr>
        <p:spPr>
          <a:xfrm>
            <a:off x="4283066" y="1817823"/>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B. Case-control</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Chosen by OUTCOME (pneumonia)</a:t>
            </a:r>
          </a:p>
          <a:p>
            <a:pPr marL="0" indent="0" algn="l">
              <a:lnSpc>
                <a:spcPct val="104000"/>
              </a:lnSpc>
              <a:spcBef>
                <a:spcPts val="400"/>
              </a:spcBef>
              <a:buNone/>
            </a:pPr>
            <a:r>
              <a:rPr lang="en-US" sz="1750" dirty="0">
                <a:solidFill>
                  <a:srgbClr val="000000"/>
                </a:solidFill>
                <a:latin typeface="Century Gothic"/>
                <a:cs typeface="Century Gothic"/>
              </a:rPr>
              <a:t>Look back for exposure (sedation)</a:t>
            </a:r>
          </a:p>
          <a:p>
            <a:pPr marL="0" indent="0" algn="l">
              <a:lnSpc>
                <a:spcPct val="104000"/>
              </a:lnSpc>
              <a:spcBef>
                <a:spcPts val="400"/>
              </a:spcBef>
              <a:buNone/>
            </a:pPr>
            <a:r>
              <a:rPr lang="en-US" sz="1750" dirty="0">
                <a:solidFill>
                  <a:srgbClr val="000000"/>
                </a:solidFill>
                <a:latin typeface="Century Gothic"/>
                <a:cs typeface="Century Gothic"/>
              </a:rPr>
              <a:t>Gives an odds ratio</a:t>
            </a:r>
          </a:p>
        </p:txBody>
      </p:sp>
      <p:sp>
        <p:nvSpPr>
          <p:cNvPr id="74" name="CardHead"/>
          <p:cNvSpPr/>
          <p:nvPr/>
        </p:nvSpPr>
        <p:spPr>
          <a:xfrm>
            <a:off x="8108932"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C. Cohort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Grouped by EXPOSURE (mobilisation)</a:t>
            </a:r>
          </a:p>
          <a:p>
            <a:pPr marL="0" indent="0" algn="l">
              <a:lnSpc>
                <a:spcPct val="104000"/>
              </a:lnSpc>
              <a:spcBef>
                <a:spcPts val="400"/>
              </a:spcBef>
              <a:buNone/>
            </a:pPr>
            <a:r>
              <a:rPr lang="en-US" sz="1750" dirty="0">
                <a:solidFill>
                  <a:srgbClr val="000000"/>
                </a:solidFill>
                <a:latin typeface="Century Gothic"/>
                <a:cs typeface="Century Gothic"/>
              </a:rPr>
              <a:t>Followed forward to discharge</a:t>
            </a:r>
          </a:p>
          <a:p>
            <a:pPr marL="0" indent="0" algn="l">
              <a:lnSpc>
                <a:spcPct val="104000"/>
              </a:lnSpc>
              <a:spcBef>
                <a:spcPts val="400"/>
              </a:spcBef>
              <a:buNone/>
            </a:pPr>
            <a:r>
              <a:rPr lang="en-US" sz="1750" dirty="0">
                <a:solidFill>
                  <a:srgbClr val="000000"/>
                </a:solidFill>
                <a:latin typeface="Century Gothic"/>
                <a:cs typeface="Century Gothic"/>
              </a:rPr>
              <a:t>Not an RCT: nobody randomised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Ask: chosen by exposure or by outcome? Assigned by chance or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Systematic reviews and meta-analysis: studies of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systematic review searches and appraises; a meta-analysis pools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Where the two papers sit on 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Read it with care</a:t>
            </a:r>
          </a:p>
          <a:p>
            <a:pPr marL="274320" indent="-274320" algn="l">
              <a:spcBef>
                <a:spcPts val="440"/>
              </a:spcBef>
              <a:buFont typeface="Arial"/>
              <a:buChar char="•"/>
            </a:pPr>
            <a:r>
              <a:rPr lang="en-US" sz="1450" dirty="0">
                <a:solidFill>
                  <a:srgbClr val="000000"/>
                </a:solidFill>
                <a:latin typeface="Century Gothic"/>
                <a:cs typeface="Century Gothic"/>
              </a:rPr>
              <a:t>Higher = less prone to bias, on average</a:t>
            </a:r>
          </a:p>
          <a:p>
            <a:pPr marL="274320" indent="-274320" algn="l">
              <a:spcBef>
                <a:spcPts val="440"/>
              </a:spcBef>
              <a:buFont typeface="Arial"/>
              <a:buChar char="•"/>
            </a:pPr>
            <a:r>
              <a:rPr lang="en-US" sz="1450" dirty="0">
                <a:solidFill>
                  <a:srgbClr val="000000"/>
                </a:solidFill>
                <a:latin typeface="Century Gothic"/>
                <a:cs typeface="Century Gothic"/>
              </a:rPr>
              <a:t>A rule of thumb, not a law</a:t>
            </a:r>
          </a:p>
          <a:p>
            <a:pPr marL="274320" indent="-274320" algn="l">
              <a:spcBef>
                <a:spcPts val="440"/>
              </a:spcBef>
              <a:buFont typeface="Arial"/>
              <a:buChar char="•"/>
            </a:pPr>
            <a:r>
              <a:rPr lang="en-US" sz="1450" dirty="0">
                <a:solidFill>
                  <a:srgbClr val="000000"/>
                </a:solidFill>
                <a:latin typeface="Century Gothic"/>
                <a:cs typeface="Century Gothic"/>
              </a:rPr>
              <a:t>A good cohort can beat a poor RCT</a:t>
            </a:r>
          </a:p>
          <a:p>
            <a:pPr marL="274320" indent="-274320" algn="l">
              <a:spcBef>
                <a:spcPts val="440"/>
              </a:spcBef>
              <a:buFont typeface="Arial"/>
              <a:buChar char="•"/>
            </a:pPr>
            <a:r>
              <a:rPr lang="en-US" sz="1450" dirty="0">
                <a:solidFill>
                  <a:srgbClr val="000000"/>
                </a:solidFill>
                <a:latin typeface="Century Gothic"/>
                <a:cs typeface="Century Gothic"/>
              </a:rPr>
              <a:t>The best design is the one that fits the question</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Name the design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Assigned? Random? Which way does time run? Three questions name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Strengths and weaknesses at a glance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Every design trades something away.</a:t>
            </a:r>
          </a:p>
        </p:txBody>
      </p:sp>
      <p:sp>
        <p:nvSpPr>
          <p:cNvPr id="70" name="CardHead"/>
          <p:cNvSpPr/>
          <p:nvPr/>
        </p:nvSpPr>
        <p:spPr>
          <a:xfrm>
            <a:off x="457200" y="2041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Cross-sectional</a:t>
            </a:r>
          </a:p>
        </p:txBody>
      </p:sp>
      <p:sp>
        <p:nvSpPr>
          <p:cNvPr id="71" name="CardBody"/>
          <p:cNvSpPr/>
          <p:nvPr/>
        </p:nvSpPr>
        <p:spPr>
          <a:xfrm>
            <a:off x="4572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Century Gothic"/>
                <a:cs typeface="Century Gothic"/>
              </a:rPr>
              <a:t>+ quick and cheap</a:t>
            </a:r>
          </a:p>
          <a:p>
            <a:pPr marL="0" indent="0" algn="l">
              <a:lnSpc>
                <a:spcPct val="104000"/>
              </a:lnSpc>
              <a:spcBef>
                <a:spcPts val="400"/>
              </a:spcBef>
              <a:buNone/>
            </a:pPr>
            <a:r>
              <a:rPr lang="en-US" sz="1600" dirty="0">
                <a:solidFill>
                  <a:srgbClr val="2E8B57"/>
                </a:solidFill>
                <a:latin typeface="Century Gothic"/>
                <a:cs typeface="Century Gothic"/>
              </a:rPr>
              <a:t>+ gives prevalence</a:t>
            </a:r>
          </a:p>
          <a:p>
            <a:pPr marL="0" indent="0" algn="l">
              <a:lnSpc>
                <a:spcPct val="104000"/>
              </a:lnSpc>
              <a:spcBef>
                <a:spcPts val="400"/>
              </a:spcBef>
              <a:buNone/>
            </a:pPr>
            <a:r>
              <a:rPr lang="en-US" sz="1600" dirty="0">
                <a:solidFill>
                  <a:srgbClr val="B23B2E"/>
                </a:solidFill>
                <a:latin typeface="Century Gothic"/>
                <a:cs typeface="Century Gothic"/>
              </a:rPr>
              <a:t>- which came first?</a:t>
            </a:r>
          </a:p>
        </p:txBody>
      </p:sp>
      <p:sp>
        <p:nvSpPr>
          <p:cNvPr id="72" name="CardHead"/>
          <p:cNvSpPr/>
          <p:nvPr/>
        </p:nvSpPr>
        <p:spPr>
          <a:xfrm>
            <a:off x="3326600" y="2041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Case-control</a:t>
            </a:r>
          </a:p>
        </p:txBody>
      </p:sp>
      <p:sp>
        <p:nvSpPr>
          <p:cNvPr id="73" name="CardBody"/>
          <p:cNvSpPr/>
          <p:nvPr/>
        </p:nvSpPr>
        <p:spPr>
          <a:xfrm>
            <a:off x="33266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Century Gothic"/>
                <a:cs typeface="Century Gothic"/>
              </a:rPr>
              <a:t>+ rare outcomes</a:t>
            </a:r>
          </a:p>
          <a:p>
            <a:pPr marL="0" indent="0" algn="l">
              <a:lnSpc>
                <a:spcPct val="104000"/>
              </a:lnSpc>
              <a:spcBef>
                <a:spcPts val="400"/>
              </a:spcBef>
              <a:buNone/>
            </a:pPr>
            <a:r>
              <a:rPr lang="en-US" sz="1600" dirty="0">
                <a:solidFill>
                  <a:srgbClr val="2E8B57"/>
                </a:solidFill>
                <a:latin typeface="Century Gothic"/>
                <a:cs typeface="Century Gothic"/>
              </a:rPr>
              <a:t>+ few patients, fast</a:t>
            </a:r>
          </a:p>
          <a:p>
            <a:pPr marL="0" indent="0" algn="l">
              <a:lnSpc>
                <a:spcPct val="104000"/>
              </a:lnSpc>
              <a:spcBef>
                <a:spcPts val="400"/>
              </a:spcBef>
              <a:buNone/>
            </a:pPr>
            <a:r>
              <a:rPr lang="en-US" sz="1600" dirty="0">
                <a:solidFill>
                  <a:srgbClr val="B23B2E"/>
                </a:solidFill>
                <a:latin typeface="Century Gothic"/>
                <a:cs typeface="Century Gothic"/>
              </a:rPr>
              <a:t>- recall bias</a:t>
            </a:r>
          </a:p>
          <a:p>
            <a:pPr marL="0" indent="0" algn="l">
              <a:lnSpc>
                <a:spcPct val="104000"/>
              </a:lnSpc>
              <a:spcBef>
                <a:spcPts val="400"/>
              </a:spcBef>
              <a:buNone/>
            </a:pPr>
            <a:r>
              <a:rPr lang="en-US" sz="1600" dirty="0">
                <a:solidFill>
                  <a:srgbClr val="B23B2E"/>
                </a:solidFill>
                <a:latin typeface="Century Gothic"/>
                <a:cs typeface="Century Gothic"/>
              </a:rPr>
              <a:t>- odds ratio only</a:t>
            </a:r>
          </a:p>
        </p:txBody>
      </p:sp>
      <p:sp>
        <p:nvSpPr>
          <p:cNvPr id="74" name="CardHead"/>
          <p:cNvSpPr/>
          <p:nvPr/>
        </p:nvSpPr>
        <p:spPr>
          <a:xfrm>
            <a:off x="6196000" y="2041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Cohort</a:t>
            </a:r>
          </a:p>
        </p:txBody>
      </p:sp>
      <p:sp>
        <p:nvSpPr>
          <p:cNvPr id="75" name="CardBody"/>
          <p:cNvSpPr/>
          <p:nvPr/>
        </p:nvSpPr>
        <p:spPr>
          <a:xfrm>
            <a:off x="61960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Century Gothic"/>
                <a:cs typeface="Century Gothic"/>
              </a:rPr>
              <a:t>+ clear time order</a:t>
            </a:r>
          </a:p>
          <a:p>
            <a:pPr marL="0" indent="0" algn="l">
              <a:lnSpc>
                <a:spcPct val="104000"/>
              </a:lnSpc>
              <a:spcBef>
                <a:spcPts val="400"/>
              </a:spcBef>
              <a:buNone/>
            </a:pPr>
            <a:r>
              <a:rPr lang="en-US" sz="1600" dirty="0">
                <a:solidFill>
                  <a:srgbClr val="2E8B57"/>
                </a:solidFill>
                <a:latin typeface="Century Gothic"/>
                <a:cs typeface="Century Gothic"/>
              </a:rPr>
              <a:t>+ risks, many outcomes</a:t>
            </a:r>
          </a:p>
          <a:p>
            <a:pPr marL="0" indent="0" algn="l">
              <a:lnSpc>
                <a:spcPct val="104000"/>
              </a:lnSpc>
              <a:spcBef>
                <a:spcPts val="400"/>
              </a:spcBef>
              <a:buNone/>
            </a:pPr>
            <a:r>
              <a:rPr lang="en-US" sz="1600" dirty="0">
                <a:solidFill>
                  <a:srgbClr val="B23B2E"/>
                </a:solidFill>
                <a:latin typeface="Century Gothic"/>
                <a:cs typeface="Century Gothic"/>
              </a:rPr>
              <a:t>- slow if prospective</a:t>
            </a:r>
          </a:p>
          <a:p>
            <a:pPr marL="0" indent="0" algn="l">
              <a:lnSpc>
                <a:spcPct val="104000"/>
              </a:lnSpc>
              <a:spcBef>
                <a:spcPts val="400"/>
              </a:spcBef>
              <a:buNone/>
            </a:pPr>
            <a:r>
              <a:rPr lang="en-US" sz="1600" dirty="0">
                <a:solidFill>
                  <a:srgbClr val="B23B2E"/>
                </a:solidFill>
                <a:latin typeface="Century Gothic"/>
                <a:cs typeface="Century Gothic"/>
              </a:rPr>
              <a:t>- confounding</a:t>
            </a:r>
          </a:p>
        </p:txBody>
      </p:sp>
      <p:sp>
        <p:nvSpPr>
          <p:cNvPr id="76" name="CardHead"/>
          <p:cNvSpPr/>
          <p:nvPr/>
        </p:nvSpPr>
        <p:spPr>
          <a:xfrm>
            <a:off x="9065400" y="2041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RCT</a:t>
            </a:r>
          </a:p>
        </p:txBody>
      </p:sp>
      <p:sp>
        <p:nvSpPr>
          <p:cNvPr id="77" name="CardBody"/>
          <p:cNvSpPr/>
          <p:nvPr/>
        </p:nvSpPr>
        <p:spPr>
          <a:xfrm>
            <a:off x="90654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Century Gothic"/>
                <a:cs typeface="Century Gothic"/>
              </a:rPr>
              <a:t>+ balances the unknown</a:t>
            </a:r>
          </a:p>
          <a:p>
            <a:pPr marL="0" indent="0" algn="l">
              <a:lnSpc>
                <a:spcPct val="104000"/>
              </a:lnSpc>
              <a:spcBef>
                <a:spcPts val="400"/>
              </a:spcBef>
              <a:buNone/>
            </a:pPr>
            <a:r>
              <a:rPr lang="en-US" sz="1600" dirty="0">
                <a:solidFill>
                  <a:srgbClr val="2E8B57"/>
                </a:solidFill>
                <a:latin typeface="Century Gothic"/>
                <a:cs typeface="Century Gothic"/>
              </a:rPr>
              <a:t>+ strongest for cause</a:t>
            </a:r>
          </a:p>
          <a:p>
            <a:pPr marL="0" indent="0" algn="l">
              <a:lnSpc>
                <a:spcPct val="104000"/>
              </a:lnSpc>
              <a:spcBef>
                <a:spcPts val="400"/>
              </a:spcBef>
              <a:buNone/>
            </a:pPr>
            <a:r>
              <a:rPr lang="en-US" sz="1600" dirty="0">
                <a:solidFill>
                  <a:srgbClr val="B23B2E"/>
                </a:solidFill>
                <a:latin typeface="Century Gothic"/>
                <a:cs typeface="Century Gothic"/>
              </a:rPr>
              <a:t>- costly, ethical limits</a:t>
            </a:r>
          </a:p>
          <a:p>
            <a:pPr marL="0" indent="0" algn="l">
              <a:lnSpc>
                <a:spcPct val="104000"/>
              </a:lnSpc>
              <a:spcBef>
                <a:spcPts val="400"/>
              </a:spcBef>
              <a:buNone/>
            </a:pPr>
            <a:r>
              <a:rPr lang="en-US" sz="1600" dirty="0">
                <a:solidFill>
                  <a:srgbClr val="B23B2E"/>
                </a:solidFill>
                <a:latin typeface="Century Gothic"/>
                <a:cs typeface="Century Gothic"/>
              </a:rPr>
              <a:t>- selected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 design is perfect: choose the one whose weakness hurts your question least.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RCTs can say 'caused'; cohorts should say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caused or associated?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Boulet (RCT): 'The restrictive strategy did not reduce the day-5 fluid balance'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Hyun (cohort): 'A positive fluid balance CAUSES higher 28-day mortality'</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A one-day survey: 'Urinary catheters are associated with urinary infection'</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For each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Is the wording right for the design?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Thumbs up or thumbs down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Thumbs up / down for each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Exercise: Name that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Work in pairs with the handout: 8 short clinical abstracts</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each, ask the three questions: assigned? random? which way does time run?</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the design and one word of evidence from the abstract</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Star the one you found hardest - we discuss it together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Use the tree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Assigned + random = RCT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Outcome first, look back = case-control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Exposure first, follow = 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Same moment = cross-sectional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8 designs named, each with one piece of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Optional: look at your group's question - which design fits it best?</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We restart with more study designs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3.2  More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Real projects bend the basic designs.</a:t>
            </a:r>
          </a:p>
          <a:p>
            <a:pPr marL="0" indent="0" algn="ctr">
              <a:spcBef>
                <a:spcPts val="1200"/>
              </a:spcBef>
              <a:buNone/>
            </a:pPr>
            <a:r>
              <a:rPr lang="en-US" sz="1900" i="1" dirty="0">
                <a:solidFill>
                  <a:srgbClr val="595959"/>
                </a:solidFill>
                <a:latin typeface="Century Gothic"/>
                <a:cs typeface="Century Gothic"/>
              </a:rPr>
              <a:t>Trial variants, non-inferiority, pilots, quality-improvement designs and qualitative research.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Not every trial is parallel: four layouts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Choose the trial layout that fits the treatment and the unit of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Superiority or non-inferiority? The margin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Non-inferiority: the whole CI must stay below a margin fixed in advance.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Pilot and feasibility studies: the rehearsal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pilot asks 'can we do it?', not 'does it 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Century Gothic"/>
                <a:cs typeface="Century Gothic"/>
              </a:rPr>
              <a:t>Quasi-experimental designs: before-after and interrupted time series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Simulated data for teaching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Compare against the trend you expected, not against one 'before' average.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Qualitative designs: when numbers cannot answer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Qualitative research explains WHY and HOW; it complements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Match the design to the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Start from the question - the design follows from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A cheaper antibiotic schedule; we only need to show it is not worse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A hand-hygiene programme delivered to whole wards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A sepsis bundle started in 2023; we have 3 years of monthly mortality data</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 Why do families refuse research consent in the ICU?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Choose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Cluster trial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Non-inferiority trial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Interrupted time series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Qualitative interviews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design for each -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Exercise: choose the design for 5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20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Handout Part B: four clinical questions + your group's own question</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each: name the best FEASIBLE design (use the decision tree)</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one reason and the design's main weakness</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Your own question: what will you be allowed to claim - caused or associated?</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Two groups share their own question and design (1 minute each)</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Remember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common now? Cross-sectional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Rare outcome? Case-control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What happens after? 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Does it work? RCT / cluster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Already changed? Time series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Why / how? Qualitative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5 designs with a reason and a weakness - including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is in your study? Inclusion and exclusion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Inclusion describes your P; exclusion removes eligible people for a stated reason.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3: design, setting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Re-read your research question from Part 1</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Choose the design with the decision tree; justify it in 3-5 sentences</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Setting: where, when, which units, which data source</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Population: 3-5 inclusion and 3-5 exclusion criteria (with reasons)</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Draw your study on a timeline: exposure, then outcome</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Ask the facilitator to check before you finish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Facilitator check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Design matches the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Feasible in your unit?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Inclusion = your 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Each exclusion has a reason?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Caused or associated?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2a written: design + justification, setting, population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3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3.1 Basic designs</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Snapshot, look back, follow forward</a:t>
            </a:r>
          </a:p>
          <a:p>
            <a:pPr marL="0" indent="0" algn="l">
              <a:lnSpc>
                <a:spcPct val="104000"/>
              </a:lnSpc>
              <a:spcBef>
                <a:spcPts val="400"/>
              </a:spcBef>
              <a:buNone/>
            </a:pPr>
            <a:r>
              <a:rPr lang="en-US" sz="1750" dirty="0">
                <a:solidFill>
                  <a:srgbClr val="000000"/>
                </a:solidFill>
                <a:latin typeface="Century Gothic"/>
                <a:cs typeface="Century Gothic"/>
              </a:rPr>
              <a:t>RCT = chance assigns the exposure</a:t>
            </a:r>
          </a:p>
          <a:p>
            <a:pPr marL="0" indent="0" algn="l">
              <a:lnSpc>
                <a:spcPct val="104000"/>
              </a:lnSpc>
              <a:spcBef>
                <a:spcPts val="400"/>
              </a:spcBef>
              <a:buNone/>
            </a:pPr>
            <a:r>
              <a:rPr lang="en-US" sz="1750" dirty="0">
                <a:solidFill>
                  <a:srgbClr val="000000"/>
                </a:solidFill>
                <a:latin typeface="Century Gothic"/>
                <a:cs typeface="Century Gothic"/>
              </a:rPr>
              <a:t>RCT may say 'caused'; cohort says 'associated'</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3.2 More designs</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Cluster, crossover, factorial</a:t>
            </a:r>
          </a:p>
          <a:p>
            <a:pPr marL="0" indent="0" algn="l">
              <a:lnSpc>
                <a:spcPct val="104000"/>
              </a:lnSpc>
              <a:spcBef>
                <a:spcPts val="400"/>
              </a:spcBef>
              <a:buNone/>
            </a:pPr>
            <a:r>
              <a:rPr lang="en-US" sz="1750" dirty="0">
                <a:solidFill>
                  <a:srgbClr val="000000"/>
                </a:solidFill>
                <a:latin typeface="Century Gothic"/>
                <a:cs typeface="Century Gothic"/>
              </a:rPr>
              <a:t>Non-inferiority needs a margin</a:t>
            </a:r>
          </a:p>
          <a:p>
            <a:pPr marL="0" indent="0" algn="l">
              <a:lnSpc>
                <a:spcPct val="104000"/>
              </a:lnSpc>
              <a:spcBef>
                <a:spcPts val="400"/>
              </a:spcBef>
              <a:buNone/>
            </a:pPr>
            <a:r>
              <a:rPr lang="en-US" sz="1750" dirty="0">
                <a:solidFill>
                  <a:srgbClr val="000000"/>
                </a:solidFill>
                <a:latin typeface="Century Gothic"/>
                <a:cs typeface="Century Gothic"/>
              </a:rPr>
              <a:t>Pilot, time series, qualitative</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Your proposal</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Design + justification</a:t>
            </a:r>
          </a:p>
          <a:p>
            <a:pPr marL="0" indent="0" algn="l">
              <a:lnSpc>
                <a:spcPct val="104000"/>
              </a:lnSpc>
              <a:spcBef>
                <a:spcPts val="400"/>
              </a:spcBef>
              <a:buNone/>
            </a:pPr>
            <a:r>
              <a:rPr lang="en-US" sz="1750" dirty="0">
                <a:solidFill>
                  <a:srgbClr val="000000"/>
                </a:solidFill>
                <a:latin typeface="Century Gothic"/>
                <a:cs typeface="Century Gothic"/>
              </a:rPr>
              <a:t>Setting</a:t>
            </a:r>
          </a:p>
          <a:p>
            <a:pPr marL="0" indent="0" algn="l">
              <a:lnSpc>
                <a:spcPct val="104000"/>
              </a:lnSpc>
              <a:spcBef>
                <a:spcPts val="400"/>
              </a:spcBef>
              <a:buNone/>
            </a:pPr>
            <a:r>
              <a:rPr lang="en-US" sz="1750" dirty="0">
                <a:solidFill>
                  <a:srgbClr val="000000"/>
                </a:solidFill>
                <a:latin typeface="Century Gothic"/>
                <a:cs typeface="Century Gothic"/>
              </a:rPr>
              <a:t>Inclusion and exclusion criteria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question picks the design;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Exit question: a study compares patients who chose to get a flu vaccine with those who did not. Design? Caused or associated?</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Homework: finish Proposal Part 2a (design, setting, population)</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Homework: read the 'Patients' paragraph of Boulet and the 'Data source' paragraph of Hyun</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Next Saturday (Session 4): can we trust the result, and how big is the effect?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answer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3</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decision tree in action: Boulet and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Assigned?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Boulet: yes, the trial assigned the strategy</a:t>
            </a:r>
          </a:p>
          <a:p>
            <a:pPr marL="0" indent="0" algn="l">
              <a:lnSpc>
                <a:spcPct val="104000"/>
              </a:lnSpc>
              <a:spcBef>
                <a:spcPts val="200"/>
              </a:spcBef>
              <a:buNone/>
            </a:pPr>
            <a:r>
              <a:rPr lang="en-US" sz="1500" dirty="0">
                <a:solidFill>
                  <a:srgbClr val="000000"/>
                </a:solidFill>
                <a:latin typeface="Century Gothic"/>
                <a:cs typeface="Century Gothic"/>
              </a:rPr>
              <a:t>Hyun: no, clinicians decided</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Random?</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Boulet: yes, central computer</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Comparison?</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Hyun: yes, positive vs negative balance</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Time order?</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Hyun: exposure days 1-3, then death by day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Design</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Boulet: RCT</a:t>
            </a:r>
          </a:p>
          <a:p>
            <a:pPr marL="0" indent="0" algn="l">
              <a:lnSpc>
                <a:spcPct val="104000"/>
              </a:lnSpc>
              <a:spcBef>
                <a:spcPts val="200"/>
              </a:spcBef>
              <a:buNone/>
            </a:pPr>
            <a:r>
              <a:rPr lang="en-US" sz="1500" dirty="0">
                <a:solidFill>
                  <a:srgbClr val="000000"/>
                </a:solidFill>
                <a:latin typeface="Century Gothic"/>
                <a:cs typeface="Century Gothic"/>
              </a:rPr>
              <a:t>Hyun: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Walk every paper through the same questions before reading its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good controls in a case-control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Same source</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Same hospital, units and period as the cases</a:t>
            </a:r>
          </a:p>
          <a:p>
            <a:pPr marL="0" indent="0" algn="l">
              <a:lnSpc>
                <a:spcPct val="104000"/>
              </a:lnSpc>
              <a:spcBef>
                <a:spcPts val="400"/>
              </a:spcBef>
              <a:buNone/>
            </a:pPr>
            <a:r>
              <a:rPr lang="en-US" sz="1750" dirty="0">
                <a:solidFill>
                  <a:srgbClr val="000000"/>
                </a:solidFill>
                <a:latin typeface="Century Gothic"/>
                <a:cs typeface="Century Gothic"/>
              </a:rPr>
              <a:t>Would have become a case if they had the outcome</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Same measurement</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Same records, same questions</a:t>
            </a:r>
          </a:p>
          <a:p>
            <a:pPr marL="0" indent="0" algn="l">
              <a:lnSpc>
                <a:spcPct val="104000"/>
              </a:lnSpc>
              <a:spcBef>
                <a:spcPts val="400"/>
              </a:spcBef>
              <a:buNone/>
            </a:pPr>
            <a:r>
              <a:rPr lang="en-US" sz="1750" dirty="0">
                <a:solidFill>
                  <a:srgbClr val="000000"/>
                </a:solidFill>
                <a:latin typeface="Century Gothic"/>
                <a:cs typeface="Century Gothic"/>
              </a:rPr>
              <a:t>Ideally assessor blind to case status</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Matching (optional)</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e.g. age, month of admission</a:t>
            </a:r>
          </a:p>
          <a:p>
            <a:pPr marL="0" indent="0" algn="l">
              <a:lnSpc>
                <a:spcPct val="104000"/>
              </a:lnSpc>
              <a:spcBef>
                <a:spcPts val="400"/>
              </a:spcBef>
              <a:buNone/>
            </a:pPr>
            <a:r>
              <a:rPr lang="en-US" sz="1750" dirty="0">
                <a:solidFill>
                  <a:srgbClr val="000000"/>
                </a:solidFill>
                <a:latin typeface="Century Gothic"/>
                <a:cs typeface="Century Gothic"/>
              </a:rPr>
              <a:t>Do not match on the exposure itself</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Bad controls make any case-control study meaningless.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Superiority, equivalence and non-inferiority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Superiority</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Is the new treatment BETTER?</a:t>
            </a:r>
          </a:p>
          <a:p>
            <a:pPr marL="0" indent="0" algn="l">
              <a:lnSpc>
                <a:spcPct val="104000"/>
              </a:lnSpc>
              <a:spcBef>
                <a:spcPts val="400"/>
              </a:spcBef>
              <a:buNone/>
            </a:pPr>
            <a:r>
              <a:rPr lang="en-US" sz="1750" dirty="0">
                <a:solidFill>
                  <a:srgbClr val="000000"/>
                </a:solidFill>
                <a:latin typeface="Century Gothic"/>
                <a:cs typeface="Century Gothic"/>
              </a:rPr>
              <a:t>Whole CI on the 'better' side of 0</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Equivalence</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Is it about the SAME?</a:t>
            </a:r>
          </a:p>
          <a:p>
            <a:pPr marL="0" indent="0" algn="l">
              <a:lnSpc>
                <a:spcPct val="104000"/>
              </a:lnSpc>
              <a:spcBef>
                <a:spcPts val="400"/>
              </a:spcBef>
              <a:buNone/>
            </a:pPr>
            <a:r>
              <a:rPr lang="en-US" sz="1750" dirty="0">
                <a:solidFill>
                  <a:srgbClr val="000000"/>
                </a:solidFill>
                <a:latin typeface="Century Gothic"/>
                <a:cs typeface="Century Gothic"/>
              </a:rPr>
              <a:t>Whole CI inside -margin to +margin</a:t>
            </a:r>
          </a:p>
        </p:txBody>
      </p:sp>
      <p:sp>
        <p:nvSpPr>
          <p:cNvPr id="74" name="CardHead"/>
          <p:cNvSpPr/>
          <p:nvPr/>
        </p:nvSpPr>
        <p:spPr>
          <a:xfrm>
            <a:off x="8108932"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Non-inferiority</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Is it NOT unacceptably worse?</a:t>
            </a:r>
          </a:p>
          <a:p>
            <a:pPr marL="0" indent="0" algn="l">
              <a:lnSpc>
                <a:spcPct val="104000"/>
              </a:lnSpc>
              <a:spcBef>
                <a:spcPts val="400"/>
              </a:spcBef>
              <a:buNone/>
            </a:pPr>
            <a:r>
              <a:rPr lang="en-US" sz="1750" dirty="0">
                <a:solidFill>
                  <a:srgbClr val="000000"/>
                </a:solidFill>
                <a:latin typeface="Century Gothic"/>
                <a:cs typeface="Century Gothic"/>
              </a:rPr>
              <a:t>Whole CI below +margin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question (better, same, not worse) is fixed in the protocol, before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Making a quality-improvement evaluation stronger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More time points</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At least 8-12 points before and after</a:t>
            </a:r>
          </a:p>
          <a:p>
            <a:pPr marL="0" indent="0" algn="l">
              <a:lnSpc>
                <a:spcPct val="104000"/>
              </a:lnSpc>
              <a:spcBef>
                <a:spcPts val="400"/>
              </a:spcBef>
              <a:buNone/>
            </a:pPr>
            <a:r>
              <a:rPr lang="en-US" sz="1750" dirty="0">
                <a:solidFill>
                  <a:srgbClr val="000000"/>
                </a:solidFill>
                <a:latin typeface="Century Gothic"/>
                <a:cs typeface="Century Gothic"/>
              </a:rPr>
              <a:t>Same definition every month</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 control series</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 ward or hospital without the change</a:t>
            </a:r>
          </a:p>
          <a:p>
            <a:pPr marL="0" indent="0" algn="l">
              <a:lnSpc>
                <a:spcPct val="104000"/>
              </a:lnSpc>
              <a:spcBef>
                <a:spcPts val="400"/>
              </a:spcBef>
              <a:buNone/>
            </a:pPr>
            <a:r>
              <a:rPr lang="en-US" sz="1750" dirty="0">
                <a:solidFill>
                  <a:srgbClr val="000000"/>
                </a:solidFill>
                <a:latin typeface="Century Gothic"/>
                <a:cs typeface="Century Gothic"/>
              </a:rPr>
              <a:t>Same months, same measure</a:t>
            </a:r>
          </a:p>
        </p:txBody>
      </p:sp>
      <p:sp>
        <p:nvSpPr>
          <p:cNvPr id="74" name="CardHead"/>
          <p:cNvSpPr/>
          <p:nvPr/>
        </p:nvSpPr>
        <p:spPr>
          <a:xfrm>
            <a:off x="8108932" y="183475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Record co-interventions</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Staff changes, new policies, audits</a:t>
            </a:r>
          </a:p>
          <a:p>
            <a:pPr marL="0" indent="0" algn="l">
              <a:lnSpc>
                <a:spcPct val="104000"/>
              </a:lnSpc>
              <a:spcBef>
                <a:spcPts val="400"/>
              </a:spcBef>
              <a:buNone/>
            </a:pPr>
            <a:r>
              <a:rPr lang="en-US" sz="1750" dirty="0">
                <a:solidFill>
                  <a:srgbClr val="000000"/>
                </a:solidFill>
                <a:latin typeface="Century Gothic"/>
                <a:cs typeface="Century Gothic"/>
              </a:rPr>
              <a:t>Write them down as they happen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before-after average is weak; a long, controlled time series is much stronger.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