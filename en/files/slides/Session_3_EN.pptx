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19:30. Point: the design decides what you may claim at the end.</a:t>
            </a:r>
          </a:p>
          <a:p>
            <a:r>
              <a:rPr lang="en-US" sz="1400" b="0" dirty="0"/>
              <a:t>Ask: 'Who has ever collected data for a study?' Use them as examples later.</a:t>
            </a:r>
          </a:p>
          <a:p>
            <a:r>
              <a:rPr lang="en-US" sz="1400" b="0" dirty="0"/>
              <a:t>Clock: 19:30 recap, 19:40 3.1, 20:25 Name that design, 20:40 break, 20:55 3.2, 21:25 choose the design, 21:40 proposal builder 3, 22:25 wrap-up.</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poll questions. Show results, then the answer.</a:t>
            </a:r>
          </a:p>
          <a:p>
            <a:r>
              <a:rPr lang="en-US" sz="1400" b="0" dirty="0"/>
              <a:t>Answers: Q1 AND narrows, OR widens. Q2 the figures and tables. Q3 spin.</a:t>
            </a:r>
          </a:p>
          <a:p>
            <a:r>
              <a:rPr lang="en-US" sz="1400" b="0" dirty="0"/>
              <a:t>After Q3 ask for a rewrite. Expected: 'mortality did not differ clearly between groups (p = 0.42)'.</a:t>
            </a:r>
          </a:p>
          <a:p>
            <a:r>
              <a:rPr lang="en-US" sz="1400" b="0" dirty="0"/>
              <a:t>Timing: 9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3.1 starts here (45 minutes). Read the four headings only.</a:t>
            </a:r>
          </a:p>
          <a:p>
            <a:r>
              <a:rPr lang="en-US" sz="1400" b="0" dirty="0"/>
              <a:t>Ask: 'In our fluid question, what is the exposure and what is the outcome?' Expected: restrictive fluids (vs usual care),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assigned the strategy by chance. Hyun only observed. Boulet's primary outcome was fluid balance, not mortality.</a:t>
            </a:r>
          </a:p>
          <a:p>
            <a:r>
              <a:rPr lang="en-US" sz="1400" b="0" dirty="0"/>
              <a:t>Ask (poll): 'Which study would you trust more on whether restriction saves lives?' Expected: mixed. Neither answers it fully. Resolve it by the end of 3.1.</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each design ask: who decided the exposure, and which way does time run? No need to memorise names.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Observational does not mean bad: harm, prognosis and rare diseases often need it.</a:t>
            </a:r>
          </a:p>
          <a:p>
            <a:r>
              <a:rPr lang="en-US" sz="1400" b="0" dirty="0"/>
              <a:t>Poll: 'Which card for Paper 1? Paper 2?' Expected: Boulet experimental (RCT), Hyun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 balance is the outcome in Boulet but the exposure in Hyun. A treatment is an exposure too.</a:t>
            </a:r>
          </a:p>
          <a:p>
            <a:r>
              <a:rPr lang="en-US" sz="1400" b="0" dirty="0"/>
              <a:t>Ask: 'Name the exposure, outcome and comparison in our question.' Expected: restrictive fluids, death by day 28, usual care.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Cross-sectional: exposure and outcome measured at the same moment, so time order is unknown.</a:t>
            </a:r>
          </a:p>
          <a:p>
            <a:r>
              <a:rPr lang="en-US" sz="1400" b="0" dirty="0"/>
              <a:t>Ask: 'How could you measure, on one day, how common a positive fluid balance is in your ICU?' Expected: a point-prevalence survey.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You cannot tell whether the mattress or the injury came first. For 'how common is it now?' this is the right design.</a:t>
            </a:r>
          </a:p>
          <a:p>
            <a:r>
              <a:rPr lang="en-US" sz="1400" b="0" dirty="0"/>
              <a:t>Ask: 'What could you measure in one day for the fluid question?' Expected: today's fluid balance and kidney function for every patient.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Trace the arrow right to left. Good for rare outcomes. Weaknesses: recall bias, choosing controls, odds ratio only.</a:t>
            </a:r>
          </a:p>
          <a:p>
            <a:r>
              <a:rPr lang="en-US" sz="1400" b="0" dirty="0"/>
              <a:t>Case-control selects by outcome, a cohort by exposure.</a:t>
            </a:r>
          </a:p>
          <a:p>
            <a:r>
              <a:rPr lang="en-US" sz="1400" b="0" dirty="0"/>
              <a:t>Ask: 'Why can you not calculate the risk of candidaemia here?' Expected: we chose how many cases and controls.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 your time: Session 4 uses the same numbers to calculate the OR.</a:t>
            </a:r>
          </a:p>
          <a:p>
            <a:r>
              <a:rPr lang="en-US" sz="1400" b="0" dirty="0"/>
              <a:t>Controls must come from the population that produced the cases, not healthy volunteers.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This is Paper 2. A retrospective cohort still goes from exposure to outcome.</a:t>
            </a:r>
          </a:p>
          <a:p>
            <a:r>
              <a:rPr lang="en-US" sz="1400" b="0" dirty="0"/>
              <a:t>Ask: 'In Hyun, who decided which patients got more fluid?' Expected: the clinicians, by how sick the patient looked. Hold this for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Day 2 result: HR 2.13 (95% CI 1.48-3.06). Day 1: no clear difference. Say the HR in plain words. HR is taught in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 RCT is a cohort in which chance assigns the exposure, so groups are alike for measured and unmeasured factors.</a:t>
            </a:r>
          </a:p>
          <a:p>
            <a:r>
              <a:rPr lang="en-US" sz="1400" b="0" dirty="0"/>
              <a:t>6 deaths in each group: almost nothing about mortality. The pilot was powered for fluid balance.</a:t>
            </a:r>
          </a:p>
          <a:p>
            <a:r>
              <a:rPr lang="en-US" sz="1400" b="0" dirty="0"/>
              <a:t>Ask: 'Why not randomise everything?' Expected: ethics, rare or slow outcomes, cost.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Clinicians knew the group. Only patients and statisticians were blinded.</a:t>
            </a:r>
          </a:p>
          <a:p>
            <a:r>
              <a:rPr lang="en-US" sz="1400" b="0" dirty="0"/>
              <a:t>Poll: 'Which step makes this an experiment?' Expected: step 3, randomisation.</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forest plot. A meta-analysis is only as good as the studies it pools.</a:t>
            </a:r>
          </a:p>
          <a:p>
            <a:r>
              <a:rPr lang="en-US" sz="1400" b="0" dirty="0"/>
              <a:t>Ask: 'Narrative vs systematic review?' Expected: a systematic review has a stated, reproducible search and selection.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48-patient pilot does not overrule a careful cohort on mortality.</a:t>
            </a:r>
          </a:p>
          <a:p>
            <a:r>
              <a:rPr lang="en-US" sz="1400" b="0" dirty="0"/>
              <a:t>Poll: 'Which paper is higher, and is it more useful for our mortality question?' Expected: Boulet is higher, but it was not powered for mortality.</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tree once with Boulet (assigned, random: RCT) and once with Hyun (not assigned, comparison, exposure first: cohort). Do not name designs from title words.</a:t>
            </a:r>
          </a:p>
          <a:p>
            <a:r>
              <a:rPr lang="en-US" sz="1400" b="0" dirty="0"/>
              <a:t>Poll: 'Fluid balance and kidney function of every patient on one day?' Expected: cross-sectional. 'Protocol from one date, before vs after?' Expected: non-randomised (quasi-experimental).</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Pick one strength and one weakness per card. The RCT balances unknown confounders but trial patients are selected (Boulet excluded patients over 85).</a:t>
            </a:r>
          </a:p>
          <a:p>
            <a:r>
              <a:rPr lang="en-US" sz="1400" b="0" dirty="0"/>
              <a:t>Ask: 'Which design for risk factors of a rare drug reaction?' Expected: case-control.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Adjusting or matching reduces measured confounding only.</a:t>
            </a:r>
          </a:p>
          <a:p>
            <a:r>
              <a:rPr lang="en-US" sz="1400" b="0" dirty="0"/>
              <a:t>Ask for one honest conclusion per paper. Expected: Boulet 'did not clearly reduce day-5 fluid balance'. Hyun 'a positive balance on days 2-3 was associated with higher mortality'.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Three-question poll. Answers: A right. B wrong, a cohort says 'associated with'. C right.</a:t>
            </a:r>
          </a:p>
          <a:p>
            <a:r>
              <a:rPr lang="en-US" sz="1400" b="0" dirty="0"/>
              <a:t>Timing: 3 minutes. 3.1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2.5 minutes per abstract: read it, poll, ask one person for the phrase that proves it, type it on screen.</a:t>
            </a:r>
          </a:p>
          <a:p>
            <a:r>
              <a:rPr lang="en-US" sz="1400" b="0" dirty="0"/>
              <a:t>Abstracts 3 and 4 are the hardest. If someone says 'old records, so case-control', ask: selected by outcome or by exposure?</a:t>
            </a:r>
          </a:p>
          <a:p>
            <a:r>
              <a:rPr lang="en-US" sz="1400" b="0" dirty="0"/>
              <a:t>Key: s3_solutions, Part A. Announce the break at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Put a countdown timer on screen. 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3.2 runs 30 minutes. Most hospital projects are unit-level changes, QI, pilots or interviews.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Crossover only for stable chronic conditions, never septic shock. A cluster trial is a proper RCT, analysed for clustering.</a:t>
            </a:r>
          </a:p>
          <a:p>
            <a:r>
              <a:rPr lang="en-US" sz="1400" b="0" dirty="0"/>
              <a:t>Poll: 'A nurse-led fluid-charting protocol: which layout?' Expected: cluster, randomise ICUs.</a:t>
            </a:r>
          </a:p>
          <a:p>
            <a:r>
              <a:rPr lang="en-US" sz="1400" b="0" dirty="0"/>
              <a:t>Timing: 5.5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margin is fixed in the protocol before the data. A superior, B non-inferior, C inconclusive, D inferior.</a:t>
            </a:r>
          </a:p>
          <a:p>
            <a:r>
              <a:rPr lang="en-US" sz="1400" b="0" dirty="0"/>
              <a:t>Boulet's p = 0.42 does not show restriction is as good as usual care.</a:t>
            </a:r>
          </a:p>
          <a:p>
            <a:r>
              <a:rPr lang="en-US" sz="1400" b="0" dirty="0"/>
              <a:t>Poll: 'Who decides the margin?' Expected: clinicians and patients, with the statistician.</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1,201 screened, 50 randomised, about 3 patients per month. A pilot tests feasibility, not effectiveness, and is planned as a pilot from the start.</a:t>
            </a:r>
          </a:p>
          <a:p>
            <a:r>
              <a:rPr lang="en-US" sz="1400" b="0" dirty="0"/>
              <a:t>Poll: 'Would you launch a 1,000-patient trial in the same 3 ICUs?' Expected: not as designed. It would take decades.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Before-after is weak: rates often fall anyway. ITS compares the post-change data with the earlier trend (level and slope).</a:t>
            </a:r>
          </a:p>
          <a:p>
            <a:r>
              <a:rPr lang="en-US" sz="1400" b="0" dirty="0"/>
              <a:t>Ask: 'What else changed in your hospital in the month of your last QI project?' Expected: usually something.</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Sampling is purposive, until no new themes appear. Reporting: COREQ or SRQR.</a:t>
            </a:r>
          </a:p>
          <a:p>
            <a:r>
              <a:rPr lang="en-US" sz="1400" b="0" dirty="0"/>
              <a:t>Ask: 'One fluid question only interviews could answer?' Expected: why fluid charts are incomplete, why doctors hesitate to stop maintenance fluids.</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the proposal builder everyone justifies their design this way: 'my question is about X, so the best feasible design is Y'. A retrospective cohort with honest limits is acceptable.</a:t>
            </a:r>
          </a:p>
          <a:p>
            <a:r>
              <a:rPr lang="en-US" sz="1400" b="0" dirty="0"/>
              <a:t>Poll: 'How many ICU patients have a positive fluid balance today?' Expected: cross-sectional.</a:t>
            </a:r>
          </a:p>
          <a:p>
            <a:r>
              <a:rPr lang="en-US" sz="1400" b="0" dirty="0"/>
              <a:t>Timing: 5.5 minutes. 3.2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2 minutes per question, then 5 minutes on people's own questions.</a:t>
            </a:r>
          </a:p>
          <a:p>
            <a:r>
              <a:rPr lang="en-US" sz="1400" b="0" dirty="0"/>
              <a:t>Answers: 1 non-inferiority RCT. 2 cluster RCT. 3 interrupted time series. 4 qualitative interviews or focus groups. 5 pilot or feasibility study.</a:t>
            </a:r>
          </a:p>
          <a:p>
            <a:r>
              <a:rPr lang="en-US" sz="1400" b="0" dirty="0"/>
              <a:t>Then call on 4 or 5 people: 'my design is ..., so I may say caused / associated'.</a:t>
            </a:r>
          </a:p>
          <a:p>
            <a:r>
              <a:rPr lang="en-US" sz="1400" b="0" dirty="0"/>
              <a:t>Watch for: an RCT for a harm or prognosis question. Ask: could you ethically assign this?</a:t>
            </a:r>
          </a:p>
          <a:p>
            <a:r>
              <a:rPr lang="en-US" sz="1400" b="0" dirty="0"/>
              <a:t>Key: s3_solutions, Part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3 starts here (3 minutes on this slide, then 42 minutes).</a:t>
            </a:r>
          </a:p>
          <a:p>
            <a:r>
              <a:rPr lang="en-US" sz="1400" b="0" dirty="0"/>
              <a:t>Boulet included ages 18-85 within 24 h of vasopressors, and excluded dialysis within 24 h, end-stage kidney disease and BMI below 18.</a:t>
            </a:r>
          </a:p>
          <a:p>
            <a:r>
              <a:rPr lang="en-US" sz="1400" b="0" dirty="0"/>
              <a:t>'Age under 18' is not an exclusion, it is simply not included.</a:t>
            </a:r>
          </a:p>
          <a:p>
            <a:r>
              <a:rPr lang="en-US" sz="1400" b="0" dirty="0"/>
              <a:t>Ask: 'One good exclusion for our fluid study?' Expected: chronic dialysis,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fill in Part 2a for the running example on screen, thinking aloud. 20 minutes: everyone drafts alone. 7 minutes: three volunteers read their design and justification.</a:t>
            </a:r>
          </a:p>
          <a:p>
            <a:r>
              <a:rPr lang="en-US" sz="1400" b="0" dirty="0"/>
              <a:t>Model: retrospective cohort, one adult ICU, 3 years. An RCT is not feasible without funding, so we say 'associated with'. Full model in s3_solutions, Part C.</a:t>
            </a:r>
          </a:p>
          <a:p>
            <a:r>
              <a:rPr lang="en-US" sz="1400" b="0" dirty="0"/>
              <a:t>Watch for: an RCT for an exposure that cannot be assigned, a setting far too large, exclusions that repeat the inclusions.</a:t>
            </a:r>
          </a:p>
          <a:p>
            <a:r>
              <a:rPr lang="en-US" sz="1400" b="0" dirty="0"/>
              <a:t>Warn at 10 and 2 minutes before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three volunteers to explain one card each. If time is short, read the key message only.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answer: a cohort. It may only say 'associated' (confounding by indication, next Saturday).</a:t>
            </a:r>
          </a:p>
          <a:p>
            <a:r>
              <a:rPr lang="en-US" sz="1400" b="0" dirty="0"/>
              <a:t>Open Session 4 with three anonymous answers.</a:t>
            </a:r>
          </a:p>
          <a:p>
            <a:r>
              <a:rPr lang="en-US" sz="1400" b="0" dirty="0"/>
              <a:t>Timing: 3 minutes.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if 'Name that design' showed confusion. Then ask people to try a paper from their own reference list.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Watch for scenario C: two groups, but the physiotherapist decided, not chance.</a:t>
            </a:r>
          </a:p>
          <a:p>
            <a:r>
              <a:rPr lang="en-US" sz="1400" b="0" dirty="0"/>
              <a:t>Timing: 3 minutes with the answers,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groups do not make a trial. Selected by outcome = case-control, by exposure = cohort.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A non-inferiority trial with a margin set in advance. B cluster RCT. C qualitative interviews or focus groups.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Controls from the same units and months. Measure exposure the same way in both groups. Do not over-match.</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failed superiority trial does not show equivalence: it had no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More data points, a control series and a diary of other changes. Reporting: SQUIRE 2.0.</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3.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5.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7.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1.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3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2 (10 min)</a:t>
            </a:r>
          </a:p>
          <a:p>
            <a:pPr marL="274320" indent="-274320" algn="l">
              <a:spcBef>
                <a:spcPts val="440"/>
              </a:spcBef>
              <a:buFont typeface="Arial"/>
              <a:buChar char="•"/>
            </a:pPr>
            <a:r>
              <a:rPr lang="en-US" sz="1900" dirty="0">
                <a:solidFill>
                  <a:srgbClr val="000000"/>
                </a:solidFill>
                <a:latin typeface="Arial"/>
                <a:cs typeface="Arial"/>
              </a:rPr>
              <a:t>3.1  Study designs in pictures (45 min)</a:t>
            </a:r>
          </a:p>
          <a:p>
            <a:pPr marL="274320" indent="-274320" algn="l">
              <a:spcBef>
                <a:spcPts val="440"/>
              </a:spcBef>
              <a:buFont typeface="Arial"/>
              <a:buChar char="•"/>
            </a:pPr>
            <a:r>
              <a:rPr lang="en-US" sz="1900" dirty="0">
                <a:solidFill>
                  <a:srgbClr val="000000"/>
                </a:solidFill>
                <a:latin typeface="Arial"/>
                <a:cs typeface="Arial"/>
              </a:rPr>
              <a:t>Whole-class exercise: Name that design (15 min)</a:t>
            </a:r>
          </a:p>
          <a:p>
            <a:pPr marL="274320" indent="-274320" algn="l">
              <a:spcBef>
                <a:spcPts val="440"/>
              </a:spcBef>
              <a:buFont typeface="Arial"/>
              <a:buChar char="•"/>
            </a:pPr>
            <a:r>
              <a:rPr lang="en-US" sz="1900" dirty="0">
                <a:solidFill>
                  <a:srgbClr val="000000"/>
                </a:solidFill>
                <a:latin typeface="Arial"/>
                <a:cs typeface="Arial"/>
              </a:rPr>
              <a:t>Break (15 min)</a:t>
            </a:r>
          </a:p>
          <a:p>
            <a:pPr marL="274320" indent="-274320" algn="l">
              <a:spcBef>
                <a:spcPts val="440"/>
              </a:spcBef>
              <a:buFont typeface="Arial"/>
              <a:buChar char="•"/>
            </a:pPr>
            <a:r>
              <a:rPr lang="en-US" sz="1900" dirty="0">
                <a:solidFill>
                  <a:srgbClr val="000000"/>
                </a:solidFill>
                <a:latin typeface="Arial"/>
                <a:cs typeface="Arial"/>
              </a:rPr>
              <a:t>3.2  More designs: trial variants, pilots, quality improvement, qualitative (30 min)</a:t>
            </a:r>
          </a:p>
          <a:p>
            <a:pPr marL="274320" indent="-274320" algn="l">
              <a:spcBef>
                <a:spcPts val="440"/>
              </a:spcBef>
              <a:buFont typeface="Arial"/>
              <a:buChar char="•"/>
            </a:pPr>
            <a:r>
              <a:rPr lang="en-US" sz="1900" dirty="0">
                <a:solidFill>
                  <a:srgbClr val="000000"/>
                </a:solidFill>
                <a:latin typeface="Arial"/>
                <a:cs typeface="Arial"/>
              </a:rPr>
              <a:t>Whole-class exercise: choose the design (15 min)</a:t>
            </a:r>
          </a:p>
          <a:p>
            <a:pPr marL="274320" indent="-274320" algn="l">
              <a:spcBef>
                <a:spcPts val="440"/>
              </a:spcBef>
              <a:buFont typeface="Arial"/>
              <a:buChar char="•"/>
            </a:pPr>
            <a:r>
              <a:rPr lang="en-US" sz="1900" dirty="0">
                <a:solidFill>
                  <a:srgbClr val="000000"/>
                </a:solidFill>
                <a:latin typeface="Arial"/>
                <a:cs typeface="Arial"/>
              </a:rPr>
              <a:t>Proposal builder 3: design, setting and population (45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Your PubMed search finds 3,000 papers. Add a concept with AND, or a synonym with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After the title and abstract, what do you read next in a paper?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An abstract says 'a trend towards lower mortality (p = 0.42)'.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research question (your Proposal Part 1 from Sessions 1 and 2):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 (30 s each)</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No marks,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own question re-read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words you will use today (no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Exposure: what comes first</a:t>
            </a:r>
          </a:p>
          <a:p>
            <a:pPr marL="0" indent="0" algn="ctr">
              <a:lnSpc>
                <a:spcPct val="104000"/>
              </a:lnSpc>
              <a:spcBef>
                <a:spcPts val="400"/>
              </a:spcBef>
              <a:buNone/>
            </a:pPr>
            <a:r>
              <a:rPr lang="en-US" sz="1600" dirty="0">
                <a:solidFill>
                  <a:srgbClr val="000000"/>
                </a:solidFill>
                <a:latin typeface="Arial"/>
                <a:cs typeface="Arial"/>
              </a:rPr>
              <a:t>Outcome: what we count later</a:t>
            </a:r>
          </a:p>
          <a:p>
            <a:pPr marL="0" indent="0" algn="ctr">
              <a:lnSpc>
                <a:spcPct val="104000"/>
              </a:lnSpc>
              <a:spcBef>
                <a:spcPts val="400"/>
              </a:spcBef>
              <a:buNone/>
            </a:pPr>
            <a:r>
              <a:rPr lang="en-US" sz="1600" dirty="0">
                <a:solidFill>
                  <a:srgbClr val="000000"/>
                </a:solidFill>
                <a:latin typeface="Arial"/>
                <a:cs typeface="Arial"/>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Observational: we watch</a:t>
            </a:r>
          </a:p>
          <a:p>
            <a:pPr marL="0" indent="0" algn="ctr">
              <a:lnSpc>
                <a:spcPct val="104000"/>
              </a:lnSpc>
              <a:spcBef>
                <a:spcPts val="400"/>
              </a:spcBef>
              <a:buNone/>
            </a:pPr>
            <a:r>
              <a:rPr lang="en-US" sz="1600" dirty="0">
                <a:solidFill>
                  <a:srgbClr val="000000"/>
                </a:solidFill>
                <a:latin typeface="Arial"/>
                <a:cs typeface="Arial"/>
              </a:rPr>
              <a:t>Experimental: we assign</a:t>
            </a:r>
          </a:p>
          <a:p>
            <a:pPr marL="0" indent="0" algn="ctr">
              <a:lnSpc>
                <a:spcPct val="104000"/>
              </a:lnSpc>
              <a:spcBef>
                <a:spcPts val="400"/>
              </a:spcBef>
              <a:buNone/>
            </a:pPr>
            <a:r>
              <a:rPr lang="en-US" sz="1600" dirty="0">
                <a:solidFill>
                  <a:srgbClr val="000000"/>
                </a:solidFill>
                <a:latin typeface="Arial"/>
                <a:cs typeface="Arial"/>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Cross-sectional: snapshot</a:t>
            </a:r>
          </a:p>
          <a:p>
            <a:pPr marL="0" indent="0" algn="ctr">
              <a:lnSpc>
                <a:spcPct val="104000"/>
              </a:lnSpc>
              <a:spcBef>
                <a:spcPts val="400"/>
              </a:spcBef>
              <a:buNone/>
            </a:pPr>
            <a:r>
              <a:rPr lang="en-US" sz="1600" dirty="0">
                <a:solidFill>
                  <a:srgbClr val="000000"/>
                </a:solidFill>
                <a:latin typeface="Arial"/>
                <a:cs typeface="Arial"/>
              </a:rPr>
              <a:t>Case-control: look back</a:t>
            </a:r>
          </a:p>
          <a:p>
            <a:pPr marL="0" indent="0" algn="ctr">
              <a:lnSpc>
                <a:spcPct val="104000"/>
              </a:lnSpc>
              <a:spcBef>
                <a:spcPts val="400"/>
              </a:spcBef>
              <a:buNone/>
            </a:pPr>
            <a:r>
              <a:rPr lang="en-US" sz="1600" dirty="0">
                <a:solidFill>
                  <a:srgbClr val="000000"/>
                </a:solidFill>
                <a:latin typeface="Arial"/>
                <a:cs typeface="Arial"/>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Cluster and crossover trials</a:t>
            </a:r>
          </a:p>
          <a:p>
            <a:pPr marL="0" indent="0" algn="ctr">
              <a:lnSpc>
                <a:spcPct val="104000"/>
              </a:lnSpc>
              <a:spcBef>
                <a:spcPts val="400"/>
              </a:spcBef>
              <a:buNone/>
            </a:pPr>
            <a:r>
              <a:rPr lang="en-US" sz="1600" dirty="0">
                <a:solidFill>
                  <a:srgbClr val="000000"/>
                </a:solidFill>
                <a:latin typeface="Arial"/>
                <a:cs typeface="Arial"/>
              </a:rPr>
              <a:t>Non-inferiority and pilot trials</a:t>
            </a:r>
          </a:p>
          <a:p>
            <a:pPr marL="0" indent="0" algn="ctr">
              <a:lnSpc>
                <a:spcPct val="104000"/>
              </a:lnSpc>
              <a:spcBef>
                <a:spcPts val="400"/>
              </a:spcBef>
              <a:buNone/>
            </a:pPr>
            <a:r>
              <a:rPr lang="en-US" sz="1600" dirty="0">
                <a:solidFill>
                  <a:srgbClr val="000000"/>
                </a:solidFill>
                <a:latin typeface="Arial"/>
                <a:cs typeface="Arial"/>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does a restrictive fluid strategy reduce 28-day mortality? Both papers were emailed before Session 1</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randomised trial</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patients randomised, 48 analysed</a:t>
            </a:r>
          </a:p>
          <a:p>
            <a:pPr marL="0" indent="0" algn="ctr">
              <a:lnSpc>
                <a:spcPct val="104000"/>
              </a:lnSpc>
              <a:spcBef>
                <a:spcPts val="400"/>
              </a:spcBef>
              <a:buNone/>
            </a:pPr>
            <a:r>
              <a:rPr lang="en-US" sz="1750" dirty="0">
                <a:solidFill>
                  <a:srgbClr val="000000"/>
                </a:solidFill>
                <a:latin typeface="Arial"/>
                <a:cs typeface="Arial"/>
              </a:rPr>
              <a:t>Restrictive (non-resuscitation) fluids vs usual care</a:t>
            </a:r>
          </a:p>
          <a:p>
            <a:pPr marL="0" indent="0" algn="ctr">
              <a:lnSpc>
                <a:spcPct val="104000"/>
              </a:lnSpc>
              <a:spcBef>
                <a:spcPts val="400"/>
              </a:spcBef>
              <a:buNone/>
            </a:pPr>
            <a:r>
              <a:rPr lang="en-US" sz="1750" dirty="0">
                <a:solidFill>
                  <a:srgbClr val="000000"/>
                </a:solidFill>
                <a:latin typeface="Arial"/>
                <a:cs typeface="Arial"/>
              </a:rPr>
              <a:t>Primary outcome: fluid balance at day 5</a:t>
            </a:r>
          </a:p>
          <a:p>
            <a:pPr marL="0" indent="0" algn="ctr">
              <a:lnSpc>
                <a:spcPct val="104000"/>
              </a:lnSpc>
              <a:spcBef>
                <a:spcPts val="400"/>
              </a:spcBef>
              <a:buNone/>
            </a:pPr>
            <a:r>
              <a:rPr lang="en-US" sz="1750" b="1" dirty="0">
                <a:solidFill>
                  <a:srgbClr val="000000"/>
                </a:solidFill>
                <a:latin typeface="Arial"/>
                <a:cs typeface="Arial"/>
              </a:rPr>
              <a:t>The investigator assigns the strategy</a:t>
            </a:r>
          </a:p>
        </p:txBody>
      </p:sp>
      <p:sp>
        <p:nvSpPr>
          <p:cNvPr id="72" name="CardHead"/>
          <p:cNvSpPr/>
          <p:nvPr/>
        </p:nvSpPr>
        <p:spPr>
          <a:xfrm>
            <a:off x="6196000" y="209948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cohort study</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Sepsis registry: 11,981 patients, 20 hospitals</a:t>
            </a:r>
          </a:p>
          <a:p>
            <a:pPr marL="0" indent="0" algn="ctr">
              <a:lnSpc>
                <a:spcPct val="104000"/>
              </a:lnSpc>
              <a:spcBef>
                <a:spcPts val="400"/>
              </a:spcBef>
              <a:buNone/>
            </a:pPr>
            <a:r>
              <a:rPr lang="en-US" sz="1750" dirty="0">
                <a:solidFill>
                  <a:srgbClr val="000000"/>
                </a:solidFill>
                <a:latin typeface="Arial"/>
                <a:cs typeface="Arial"/>
              </a:rPr>
              <a:t>Positive vs negative fluid balance, days 1-3</a:t>
            </a:r>
          </a:p>
          <a:p>
            <a:pPr marL="0" indent="0" algn="ctr">
              <a:lnSpc>
                <a:spcPct val="104000"/>
              </a:lnSpc>
              <a:spcBef>
                <a:spcPts val="400"/>
              </a:spcBef>
              <a:buNone/>
            </a:pPr>
            <a:r>
              <a:rPr lang="en-US" sz="1750" dirty="0">
                <a:solidFill>
                  <a:srgbClr val="000000"/>
                </a:solidFill>
                <a:latin typeface="Arial"/>
                <a:cs typeface="Arial"/>
              </a:rPr>
              <a:t>Outcome: death by day 28 (matched pairs)</a:t>
            </a:r>
          </a:p>
          <a:p>
            <a:pPr marL="0" indent="0" algn="ctr">
              <a:lnSpc>
                <a:spcPct val="104000"/>
              </a:lnSpc>
              <a:spcBef>
                <a:spcPts val="400"/>
              </a:spcBef>
              <a:buNone/>
            </a:pPr>
            <a:r>
              <a:rPr lang="en-US" sz="1750" b="1" dirty="0">
                <a:solidFill>
                  <a:srgbClr val="000000"/>
                </a:solidFill>
                <a:latin typeface="Arial"/>
                <a:cs typeface="Arial"/>
              </a:rPr>
              <a:t>The investigator observes what happened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Did the investigator assign the exposure, or just watch?</a:t>
            </a:r>
          </a:p>
          <a:p>
            <a:pPr marL="0" indent="0" algn="ctr">
              <a:spcBef>
                <a:spcPts val="1200"/>
              </a:spcBef>
              <a:buNone/>
            </a:pPr>
            <a:r>
              <a:rPr lang="en-US" sz="1900" i="1" dirty="0">
                <a:solidFill>
                  <a:srgbClr val="595959"/>
                </a:solidFill>
                <a:latin typeface="Arial"/>
                <a:cs typeface="Arial"/>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families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Descriptive</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Describes, no comparison</a:t>
            </a:r>
          </a:p>
          <a:p>
            <a:pPr marL="0" indent="0" algn="ctr">
              <a:lnSpc>
                <a:spcPct val="104000"/>
              </a:lnSpc>
              <a:spcBef>
                <a:spcPts val="400"/>
              </a:spcBef>
              <a:buNone/>
            </a:pPr>
            <a:r>
              <a:rPr lang="en-US" sz="1600" dirty="0">
                <a:solidFill>
                  <a:srgbClr val="000000"/>
                </a:solidFill>
                <a:latin typeface="Arial"/>
                <a:cs typeface="Arial"/>
              </a:rPr>
              <a:t>Case report or case series</a:t>
            </a:r>
          </a:p>
          <a:p>
            <a:pPr marL="0" indent="0" algn="ctr">
              <a:lnSpc>
                <a:spcPct val="104000"/>
              </a:lnSpc>
              <a:spcBef>
                <a:spcPts val="400"/>
              </a:spcBef>
              <a:buNone/>
            </a:pPr>
            <a:r>
              <a:rPr lang="en-US" sz="1600" dirty="0">
                <a:solidFill>
                  <a:srgbClr val="000000"/>
                </a:solidFill>
                <a:latin typeface="Arial"/>
                <a:cs typeface="Arial"/>
              </a:rPr>
              <a:t>Cross-sectional survey</a:t>
            </a:r>
          </a:p>
        </p:txBody>
      </p:sp>
      <p:sp>
        <p:nvSpPr>
          <p:cNvPr id="72" name="CardHead"/>
          <p:cNvSpPr/>
          <p:nvPr/>
        </p:nvSpPr>
        <p:spPr>
          <a:xfrm>
            <a:off x="33266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Observational</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watch</a:t>
            </a:r>
          </a:p>
          <a:p>
            <a:pPr marL="0" indent="0" algn="ctr">
              <a:lnSpc>
                <a:spcPct val="104000"/>
              </a:lnSpc>
              <a:spcBef>
                <a:spcPts val="400"/>
              </a:spcBef>
              <a:buNone/>
            </a:pPr>
            <a:r>
              <a:rPr lang="en-US" sz="1600" dirty="0">
                <a:solidFill>
                  <a:srgbClr val="000000"/>
                </a:solidFill>
                <a:latin typeface="Arial"/>
                <a:cs typeface="Arial"/>
              </a:rPr>
              <a:t>Case-control</a:t>
            </a:r>
          </a:p>
          <a:p>
            <a:pPr marL="0" indent="0" algn="ctr">
              <a:lnSpc>
                <a:spcPct val="104000"/>
              </a:lnSpc>
              <a:spcBef>
                <a:spcPts val="400"/>
              </a:spcBef>
              <a:buNone/>
            </a:pPr>
            <a:r>
              <a:rPr lang="en-US" sz="1600" dirty="0">
                <a:solidFill>
                  <a:srgbClr val="000000"/>
                </a:solidFill>
                <a:latin typeface="Arial"/>
                <a:cs typeface="Arial"/>
              </a:rPr>
              <a:t>Cohort (prospective or retrospective)</a:t>
            </a:r>
          </a:p>
        </p:txBody>
      </p:sp>
      <p:sp>
        <p:nvSpPr>
          <p:cNvPr id="74" name="CardHead"/>
          <p:cNvSpPr/>
          <p:nvPr/>
        </p:nvSpPr>
        <p:spPr>
          <a:xfrm>
            <a:off x="61960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Experimental</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assign</a:t>
            </a:r>
          </a:p>
          <a:p>
            <a:pPr marL="0" indent="0" algn="ctr">
              <a:lnSpc>
                <a:spcPct val="104000"/>
              </a:lnSpc>
              <a:spcBef>
                <a:spcPts val="400"/>
              </a:spcBef>
              <a:buNone/>
            </a:pPr>
            <a:r>
              <a:rPr lang="en-US" sz="1600" dirty="0">
                <a:solidFill>
                  <a:srgbClr val="000000"/>
                </a:solidFill>
                <a:latin typeface="Arial"/>
                <a:cs typeface="Arial"/>
              </a:rPr>
              <a:t>Randomised controlled trial (RCT)</a:t>
            </a:r>
          </a:p>
          <a:p>
            <a:pPr marL="0" indent="0" algn="ctr">
              <a:lnSpc>
                <a:spcPct val="104000"/>
              </a:lnSpc>
              <a:spcBef>
                <a:spcPts val="400"/>
              </a:spcBef>
              <a:buNone/>
            </a:pPr>
            <a:r>
              <a:rPr lang="en-US" sz="1600" dirty="0">
                <a:solidFill>
                  <a:srgbClr val="000000"/>
                </a:solidFill>
                <a:latin typeface="Arial"/>
                <a:cs typeface="Arial"/>
              </a:rPr>
              <a:t>Non-randomised trial</a:t>
            </a:r>
          </a:p>
        </p:txBody>
      </p:sp>
      <p:sp>
        <p:nvSpPr>
          <p:cNvPr id="76" name="CardHead"/>
          <p:cNvSpPr/>
          <p:nvPr/>
        </p:nvSpPr>
        <p:spPr>
          <a:xfrm>
            <a:off x="90654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Studies of studies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Combine many studies</a:t>
            </a:r>
          </a:p>
          <a:p>
            <a:pPr marL="0" indent="0" algn="ctr">
              <a:lnSpc>
                <a:spcPct val="104000"/>
              </a:lnSpc>
              <a:spcBef>
                <a:spcPts val="400"/>
              </a:spcBef>
              <a:buNone/>
            </a:pPr>
            <a:r>
              <a:rPr lang="en-US" sz="1600" dirty="0">
                <a:solidFill>
                  <a:srgbClr val="000000"/>
                </a:solidFill>
                <a:latin typeface="Arial"/>
                <a:cs typeface="Arial"/>
              </a:rPr>
              <a:t>Systematic review</a:t>
            </a:r>
          </a:p>
          <a:p>
            <a:pPr marL="0" indent="0" algn="ctr">
              <a:lnSpc>
                <a:spcPct val="104000"/>
              </a:lnSpc>
              <a:spcBef>
                <a:spcPts val="400"/>
              </a:spcBef>
              <a:buNone/>
            </a:pPr>
            <a:r>
              <a:rPr lang="en-US" sz="1600" dirty="0">
                <a:solidFill>
                  <a:srgbClr val="000000"/>
                </a:solidFill>
                <a:latin typeface="Arial"/>
                <a:cs typeface="Arial"/>
              </a:rPr>
              <a:t>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designs describe. Analytical designs (observational and experimental)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Example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Exposure (comes first)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Outcome (counted later)</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Paper 2: Hyun 2023, 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by day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Death by day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Paper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fluid strategy</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Fluid balance at day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Another example: ICU infection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Parenteral (intravenous) nutrition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Candidaemia (Candida in the blood)</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Another example: the ward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Air mattress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Pressure injury</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Exposure: a treatment, strategy or risk factor. Outcome: death, infection, injury, a lab value. Comparison group: people without the exposure, or with usual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Case report or case series</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few unusual patients, described in detail</a:t>
            </a:r>
          </a:p>
          <a:p>
            <a:pPr marL="0" indent="0" algn="ctr">
              <a:lnSpc>
                <a:spcPct val="104000"/>
              </a:lnSpc>
              <a:spcBef>
                <a:spcPts val="400"/>
              </a:spcBef>
              <a:buNone/>
            </a:pPr>
            <a:r>
              <a:rPr lang="en-US" sz="1750" dirty="0">
                <a:solidFill>
                  <a:srgbClr val="000000"/>
                </a:solidFill>
                <a:latin typeface="Arial"/>
                <a:cs typeface="Arial"/>
              </a:rPr>
              <a:t>No comparison group</a:t>
            </a:r>
          </a:p>
          <a:p>
            <a:pPr marL="0" indent="0" algn="ctr">
              <a:lnSpc>
                <a:spcPct val="104000"/>
              </a:lnSpc>
              <a:spcBef>
                <a:spcPts val="400"/>
              </a:spcBef>
              <a:buNone/>
            </a:pPr>
            <a:r>
              <a:rPr lang="en-US" sz="1750" dirty="0">
                <a:solidFill>
                  <a:srgbClr val="000000"/>
                </a:solidFill>
                <a:latin typeface="Arial"/>
                <a:cs typeface="Arial"/>
              </a:rPr>
              <a:t>Raises ideas but cannot test them</a:t>
            </a:r>
          </a:p>
          <a:p>
            <a:pPr marL="0" indent="0" algn="ctr">
              <a:lnSpc>
                <a:spcPct val="104000"/>
              </a:lnSpc>
              <a:spcBef>
                <a:spcPts val="400"/>
              </a:spcBef>
              <a:buNone/>
            </a:pPr>
            <a:r>
              <a:rPr lang="en-US" sz="1750" dirty="0">
                <a:solidFill>
                  <a:srgbClr val="000000"/>
                </a:solidFill>
                <a:latin typeface="Arial"/>
                <a:cs typeface="Arial"/>
              </a:rPr>
              <a:t>e.g. the first reports of thalidomide harm</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Cross-sectional study</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snapshot of a whole unit, on one day</a:t>
            </a:r>
          </a:p>
          <a:p>
            <a:pPr marL="0" indent="0" algn="ctr">
              <a:lnSpc>
                <a:spcPct val="104000"/>
              </a:lnSpc>
              <a:spcBef>
                <a:spcPts val="400"/>
              </a:spcBef>
              <a:buNone/>
            </a:pPr>
            <a:r>
              <a:rPr lang="en-US" sz="1750" dirty="0">
                <a:solidFill>
                  <a:srgbClr val="000000"/>
                </a:solidFill>
                <a:latin typeface="Arial"/>
                <a:cs typeface="Arial"/>
              </a:rPr>
              <a:t>Gives prevalence: how many have it now</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Cannot show which came first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Pressure injury (yes or 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e.g. 37 of 412 patients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intensive care unit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parenteral nutrition a risk factor for candidaemia in the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ICU patients with candidaemia, from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 odds ratio (OR),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Cohort: exposure first, outcome later, so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2 (Hyun 2023),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 it as in Session 2. 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Adults with sepsis in 20 hospitals, ICU stay of 3 days or more</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Matched pairs. On day 2, deaths about twice as frequent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RCT (randomised controlled trial):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by a central computer,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an RCT chance, not the clinician,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1 (Boulet 2024),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Eligibility</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 age 18-85, vasopressor started less than 24 h ago</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Consent</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Randomise</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Central computer, 1:1, so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Treat</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Measure</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 trial the investigator assigns the exposure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Read it with care</a:t>
            </a:r>
          </a:p>
          <a:p>
            <a:pPr marL="274320" indent="-274320" algn="l">
              <a:spcBef>
                <a:spcPts val="440"/>
              </a:spcBef>
              <a:buFont typeface="Arial"/>
              <a:buChar char="•"/>
            </a:pPr>
            <a:r>
              <a:rPr lang="en-US" sz="1450" dirty="0">
                <a:solidFill>
                  <a:srgbClr val="000000"/>
                </a:solidFill>
                <a:latin typeface="Arial"/>
                <a:cs typeface="Arial"/>
              </a:rPr>
              <a:t>SR / MA: systematic review and meta-analysis</a:t>
            </a:r>
          </a:p>
          <a:p>
            <a:pPr marL="274320" indent="-274320" algn="l">
              <a:spcBef>
                <a:spcPts val="440"/>
              </a:spcBef>
              <a:buFont typeface="Arial"/>
              <a:buChar char="•"/>
            </a:pPr>
            <a:r>
              <a:rPr lang="en-US" sz="1450" dirty="0">
                <a:solidFill>
                  <a:srgbClr val="000000"/>
                </a:solidFill>
                <a:latin typeface="Arial"/>
                <a:cs typeface="Arial"/>
              </a:rPr>
              <a:t>Higher = less prone to bias, on average</a:t>
            </a:r>
          </a:p>
          <a:p>
            <a:pPr marL="274320" indent="-274320" algn="l">
              <a:spcBef>
                <a:spcPts val="440"/>
              </a:spcBef>
              <a:buFont typeface="Arial"/>
              <a:buChar char="•"/>
            </a:pPr>
            <a:r>
              <a:rPr lang="en-US" sz="1450" dirty="0">
                <a:solidFill>
                  <a:srgbClr val="000000"/>
                </a:solidFill>
                <a:latin typeface="Arial"/>
                <a:cs typeface="Arial"/>
              </a:rPr>
              <a:t>A rule of thumb, not a law</a:t>
            </a:r>
          </a:p>
          <a:p>
            <a:pPr marL="274320" indent="-274320" algn="l">
              <a:spcBef>
                <a:spcPts val="440"/>
              </a:spcBef>
              <a:buFont typeface="Arial"/>
              <a:buChar char="•"/>
            </a:pPr>
            <a:r>
              <a:rPr lang="en-US" sz="1450" dirty="0">
                <a:solidFill>
                  <a:srgbClr val="000000"/>
                </a:solidFill>
                <a:latin typeface="Arial"/>
                <a:cs typeface="Arial"/>
              </a:rPr>
              <a:t>A good cohort can beat a poor RCT</a:t>
            </a:r>
          </a:p>
          <a:p>
            <a:pPr marL="274320" indent="-274320" algn="l">
              <a:spcBef>
                <a:spcPts val="440"/>
              </a:spcBef>
              <a:buFont typeface="Arial"/>
              <a:buChar char="•"/>
            </a:pPr>
            <a:r>
              <a:rPr lang="en-US" sz="1450" dirty="0">
                <a:solidFill>
                  <a:srgbClr val="000000"/>
                </a:solidFill>
                <a:latin typeface="Arial"/>
                <a:cs typeface="Arial"/>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Every design trades something away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Strengths and weaknesses at a glance</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quick and cheap</a:t>
            </a:r>
          </a:p>
          <a:p>
            <a:pPr marL="0" indent="0" algn="ctr">
              <a:lnSpc>
                <a:spcPct val="104000"/>
              </a:lnSpc>
              <a:spcBef>
                <a:spcPts val="400"/>
              </a:spcBef>
              <a:buNone/>
            </a:pPr>
            <a:r>
              <a:rPr lang="en-US" sz="1600" dirty="0">
                <a:solidFill>
                  <a:srgbClr val="2E8B57"/>
                </a:solidFill>
                <a:latin typeface="Arial"/>
                <a:cs typeface="Arial"/>
              </a:rPr>
              <a:t>+ gives prevalence</a:t>
            </a:r>
          </a:p>
          <a:p>
            <a:pPr marL="0" indent="0" algn="ctr">
              <a:lnSpc>
                <a:spcPct val="104000"/>
              </a:lnSpc>
              <a:spcBef>
                <a:spcPts val="400"/>
              </a:spcBef>
              <a:buNone/>
            </a:pPr>
            <a:r>
              <a:rPr lang="en-US" sz="1600" dirty="0">
                <a:solidFill>
                  <a:srgbClr val="B23B2E"/>
                </a:solidFill>
                <a:latin typeface="Arial"/>
                <a:cs typeface="Arial"/>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rare outcomes</a:t>
            </a:r>
          </a:p>
          <a:p>
            <a:pPr marL="0" indent="0" algn="ctr">
              <a:lnSpc>
                <a:spcPct val="104000"/>
              </a:lnSpc>
              <a:spcBef>
                <a:spcPts val="400"/>
              </a:spcBef>
              <a:buNone/>
            </a:pPr>
            <a:r>
              <a:rPr lang="en-US" sz="1600" dirty="0">
                <a:solidFill>
                  <a:srgbClr val="2E8B57"/>
                </a:solidFill>
                <a:latin typeface="Arial"/>
                <a:cs typeface="Arial"/>
              </a:rPr>
              <a:t>+ few patients, fast</a:t>
            </a:r>
          </a:p>
          <a:p>
            <a:pPr marL="0" indent="0" algn="ctr">
              <a:lnSpc>
                <a:spcPct val="104000"/>
              </a:lnSpc>
              <a:spcBef>
                <a:spcPts val="400"/>
              </a:spcBef>
              <a:buNone/>
            </a:pPr>
            <a:r>
              <a:rPr lang="en-US" sz="1600" dirty="0">
                <a:solidFill>
                  <a:srgbClr val="B23B2E"/>
                </a:solidFill>
                <a:latin typeface="Arial"/>
                <a:cs typeface="Arial"/>
              </a:rPr>
              <a:t>- recall bias</a:t>
            </a:r>
          </a:p>
          <a:p>
            <a:pPr marL="0" indent="0" algn="ctr">
              <a:lnSpc>
                <a:spcPct val="104000"/>
              </a:lnSpc>
              <a:spcBef>
                <a:spcPts val="400"/>
              </a:spcBef>
              <a:buNone/>
            </a:pPr>
            <a:r>
              <a:rPr lang="en-US" sz="1600" dirty="0">
                <a:solidFill>
                  <a:srgbClr val="B23B2E"/>
                </a:solidFill>
                <a:latin typeface="Arial"/>
                <a:cs typeface="Arial"/>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clear time order</a:t>
            </a:r>
          </a:p>
          <a:p>
            <a:pPr marL="0" indent="0" algn="ctr">
              <a:lnSpc>
                <a:spcPct val="104000"/>
              </a:lnSpc>
              <a:spcBef>
                <a:spcPts val="400"/>
              </a:spcBef>
              <a:buNone/>
            </a:pPr>
            <a:r>
              <a:rPr lang="en-US" sz="1600" dirty="0">
                <a:solidFill>
                  <a:srgbClr val="2E8B57"/>
                </a:solidFill>
                <a:latin typeface="Arial"/>
                <a:cs typeface="Arial"/>
              </a:rPr>
              <a:t>+ risks, many outcomes</a:t>
            </a:r>
          </a:p>
          <a:p>
            <a:pPr marL="0" indent="0" algn="ctr">
              <a:lnSpc>
                <a:spcPct val="104000"/>
              </a:lnSpc>
              <a:spcBef>
                <a:spcPts val="400"/>
              </a:spcBef>
              <a:buNone/>
            </a:pPr>
            <a:r>
              <a:rPr lang="en-US" sz="1600" dirty="0">
                <a:solidFill>
                  <a:srgbClr val="B23B2E"/>
                </a:solidFill>
                <a:latin typeface="Arial"/>
                <a:cs typeface="Arial"/>
              </a:rPr>
              <a:t>- slow if prospective</a:t>
            </a:r>
          </a:p>
          <a:p>
            <a:pPr marL="0" indent="0" algn="ctr">
              <a:lnSpc>
                <a:spcPct val="104000"/>
              </a:lnSpc>
              <a:spcBef>
                <a:spcPts val="400"/>
              </a:spcBef>
              <a:buNone/>
            </a:pPr>
            <a:r>
              <a:rPr lang="en-US" sz="1600" dirty="0">
                <a:solidFill>
                  <a:srgbClr val="B23B2E"/>
                </a:solidFill>
                <a:latin typeface="Arial"/>
                <a:cs typeface="Arial"/>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balances the unknown</a:t>
            </a:r>
          </a:p>
          <a:p>
            <a:pPr marL="0" indent="0" algn="ctr">
              <a:lnSpc>
                <a:spcPct val="104000"/>
              </a:lnSpc>
              <a:spcBef>
                <a:spcPts val="400"/>
              </a:spcBef>
              <a:buNone/>
            </a:pPr>
            <a:r>
              <a:rPr lang="en-US" sz="1600" dirty="0">
                <a:solidFill>
                  <a:srgbClr val="2E8B57"/>
                </a:solidFill>
                <a:latin typeface="Arial"/>
                <a:cs typeface="Arial"/>
              </a:rPr>
              <a:t>+ strongest for cause</a:t>
            </a:r>
          </a:p>
          <a:p>
            <a:pPr marL="0" indent="0" algn="ctr">
              <a:lnSpc>
                <a:spcPct val="104000"/>
              </a:lnSpc>
              <a:spcBef>
                <a:spcPts val="400"/>
              </a:spcBef>
              <a:buNone/>
            </a:pPr>
            <a:r>
              <a:rPr lang="en-US" sz="1600" dirty="0">
                <a:solidFill>
                  <a:srgbClr val="B23B2E"/>
                </a:solidFill>
                <a:latin typeface="Arial"/>
                <a:cs typeface="Arial"/>
              </a:rPr>
              <a:t>- costly, ethical limits</a:t>
            </a:r>
          </a:p>
          <a:p>
            <a:pPr marL="0" indent="0" algn="ctr">
              <a:lnSpc>
                <a:spcPct val="104000"/>
              </a:lnSpc>
              <a:spcBef>
                <a:spcPts val="400"/>
              </a:spcBef>
              <a:buNone/>
            </a:pPr>
            <a:r>
              <a:rPr lang="en-US" sz="1600" dirty="0">
                <a:solidFill>
                  <a:srgbClr val="B23B2E"/>
                </a:solidFill>
                <a:latin typeface="Arial"/>
                <a:cs typeface="Arial"/>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921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Paper 1, Boulet 2024 (48 patients)</a:t>
            </a:r>
          </a:p>
        </p:txBody>
      </p:sp>
      <p:sp>
        <p:nvSpPr>
          <p:cNvPr id="71" name="CardBody"/>
          <p:cNvSpPr/>
          <p:nvPr/>
        </p:nvSpPr>
        <p:spPr>
          <a:xfrm>
            <a:off x="457200" y="2129211"/>
            <a:ext cx="5538800" cy="25823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Groups alike at the start (chance)</a:t>
            </a:r>
          </a:p>
          <a:p>
            <a:pPr marL="0" indent="0" algn="ctr">
              <a:lnSpc>
                <a:spcPct val="104000"/>
              </a:lnSpc>
              <a:spcBef>
                <a:spcPts val="400"/>
              </a:spcBef>
              <a:buNone/>
            </a:pPr>
            <a:r>
              <a:rPr lang="en-US" sz="1750" dirty="0">
                <a:solidFill>
                  <a:srgbClr val="000000"/>
                </a:solidFill>
                <a:latin typeface="Arial"/>
                <a:cs typeface="Arial"/>
              </a:rPr>
              <a:t>A difference can be blamed on the strategy</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Too small for mortality (6 vs 6 deaths)</a:t>
            </a:r>
          </a:p>
          <a:p>
            <a:pPr marL="0" indent="0" algn="ctr">
              <a:lnSpc>
                <a:spcPct val="104000"/>
              </a:lnSpc>
              <a:spcBef>
                <a:spcPts val="400"/>
              </a:spcBef>
              <a:buNone/>
            </a:pPr>
            <a:r>
              <a:rPr lang="en-US" sz="1750" dirty="0">
                <a:solidFill>
                  <a:srgbClr val="000000"/>
                </a:solidFill>
                <a:latin typeface="Arial"/>
                <a:cs typeface="Arial"/>
              </a:rPr>
              <a:t>Clinicians knew the group (single-blind)</a:t>
            </a:r>
          </a:p>
        </p:txBody>
      </p:sp>
      <p:sp>
        <p:nvSpPr>
          <p:cNvPr id="72" name="CardHead"/>
          <p:cNvSpPr/>
          <p:nvPr/>
        </p:nvSpPr>
        <p:spPr>
          <a:xfrm>
            <a:off x="6196000" y="1489211"/>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Cohort: Paper 2, Hyun 2023 (thousands)</a:t>
            </a:r>
          </a:p>
        </p:txBody>
      </p:sp>
      <p:sp>
        <p:nvSpPr>
          <p:cNvPr id="73" name="CardBody"/>
          <p:cNvSpPr/>
          <p:nvPr/>
        </p:nvSpPr>
        <p:spPr>
          <a:xfrm>
            <a:off x="6196000" y="2129211"/>
            <a:ext cx="5538800" cy="25823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Large, real patients, 28-day mortality</a:t>
            </a:r>
          </a:p>
          <a:p>
            <a:pPr marL="0" indent="0" algn="ctr">
              <a:lnSpc>
                <a:spcPct val="104000"/>
              </a:lnSpc>
              <a:spcBef>
                <a:spcPts val="400"/>
              </a:spcBef>
              <a:buNone/>
            </a:pPr>
            <a:r>
              <a:rPr lang="en-US" sz="1750" dirty="0">
                <a:solidFill>
                  <a:srgbClr val="000000"/>
                </a:solidFill>
                <a:latin typeface="Arial"/>
                <a:cs typeface="Arial"/>
              </a:rPr>
              <a:t>'Associated with' (day 2: deaths about twice as frequent)</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Cannot prove that fluid causes death</a:t>
            </a:r>
          </a:p>
          <a:p>
            <a:pPr marL="0" indent="0" algn="ctr">
              <a:lnSpc>
                <a:spcPct val="104000"/>
              </a:lnSpc>
              <a:spcBef>
                <a:spcPts val="400"/>
              </a:spcBef>
              <a:buNone/>
            </a:pPr>
            <a:r>
              <a:rPr lang="en-US" sz="1750" dirty="0">
                <a:solidFill>
                  <a:srgbClr val="000000"/>
                </a:solidFill>
                <a:latin typeface="Arial"/>
                <a:cs typeface="Arial"/>
              </a:rPr>
              <a:t>Sicker patients got more fluid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Paper 1, Boulet (RCT): 'The restrictive strategy did not reduce the day-5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Paper 2, Hyun (cohort): 'A positive fluid balance causes higher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one-day survey of ICU patients: 'A positive fluid balance today is associated with kidney injury today'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For each sentence</a:t>
            </a:r>
          </a:p>
          <a:p>
            <a:pPr marL="0" indent="0" algn="ctr">
              <a:lnSpc>
                <a:spcPct val="104000"/>
              </a:lnSpc>
              <a:spcBef>
                <a:spcPts val="300"/>
              </a:spcBef>
              <a:buNone/>
            </a:pPr>
            <a:r>
              <a:rPr lang="en-US" sz="1500" dirty="0">
                <a:solidFill>
                  <a:srgbClr val="000000"/>
                </a:solidFill>
                <a:latin typeface="Arial"/>
                <a:cs typeface="Arial"/>
              </a:rPr>
              <a:t>Is the wording right for the design?</a:t>
            </a:r>
          </a:p>
          <a:p>
            <a:pPr marL="0" indent="0" algn="ctr">
              <a:lnSpc>
                <a:spcPct val="104000"/>
              </a:lnSpc>
              <a:spcBef>
                <a:spcPts val="300"/>
              </a:spcBef>
              <a:buNone/>
            </a:pPr>
            <a:r>
              <a:rPr lang="en-US" sz="1500" dirty="0">
                <a:solidFill>
                  <a:srgbClr val="000000"/>
                </a:solidFill>
                <a:latin typeface="Arial"/>
                <a:cs typeface="Arial"/>
              </a:rPr>
              <a:t>Vote in the poll: right or wrong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poll vote (right or wrong)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Six short abstracts on our fluid question: Session 3 exercise sheet (PDF sent before the session), Part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abstract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Vote for the design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the phrase that proves it, microphone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Use the three questions: assigned? random? which way does time run?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 the tree</a:t>
            </a:r>
          </a:p>
          <a:p>
            <a:pPr marL="0" indent="0" algn="ctr">
              <a:lnSpc>
                <a:spcPct val="104000"/>
              </a:lnSpc>
              <a:spcBef>
                <a:spcPts val="300"/>
              </a:spcBef>
              <a:buNone/>
            </a:pPr>
            <a:r>
              <a:rPr lang="en-US" sz="1500" dirty="0">
                <a:solidFill>
                  <a:srgbClr val="000000"/>
                </a:solidFill>
                <a:latin typeface="Arial"/>
                <a:cs typeface="Arial"/>
              </a:rPr>
              <a:t>Assigned and random: RCT</a:t>
            </a:r>
          </a:p>
          <a:p>
            <a:pPr marL="0" indent="0" algn="ctr">
              <a:lnSpc>
                <a:spcPct val="104000"/>
              </a:lnSpc>
              <a:spcBef>
                <a:spcPts val="300"/>
              </a:spcBef>
              <a:buNone/>
            </a:pPr>
            <a:r>
              <a:rPr lang="en-US" sz="1500" dirty="0">
                <a:solidFill>
                  <a:srgbClr val="000000"/>
                </a:solidFill>
                <a:latin typeface="Arial"/>
                <a:cs typeface="Arial"/>
              </a:rPr>
              <a:t>Outcome first, look back: case-control</a:t>
            </a:r>
          </a:p>
          <a:p>
            <a:pPr marL="0" indent="0" algn="ctr">
              <a:lnSpc>
                <a:spcPct val="104000"/>
              </a:lnSpc>
              <a:spcBef>
                <a:spcPts val="300"/>
              </a:spcBef>
              <a:buNone/>
            </a:pPr>
            <a:r>
              <a:rPr lang="en-US" sz="1500" dirty="0">
                <a:solidFill>
                  <a:srgbClr val="000000"/>
                </a:solidFill>
                <a:latin typeface="Arial"/>
                <a:cs typeface="Arial"/>
              </a:rPr>
              <a:t>Exposure first, follow forward: cohort</a:t>
            </a:r>
          </a:p>
          <a:p>
            <a:pPr marL="0" indent="0" algn="ctr">
              <a:lnSpc>
                <a:spcPct val="104000"/>
              </a:lnSpc>
              <a:spcBef>
                <a:spcPts val="300"/>
              </a:spcBef>
              <a:buNone/>
            </a:pPr>
            <a:r>
              <a:rPr lang="en-US" sz="1500" dirty="0">
                <a:solidFill>
                  <a:srgbClr val="000000"/>
                </a:solidFill>
                <a:latin typeface="Arial"/>
                <a:cs typeface="Arial"/>
              </a:rPr>
              <a:t>Same moment: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Six designs named by the class, each with one evidence phrase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Real projects bend the basic designs.</a:t>
            </a:r>
          </a:p>
          <a:p>
            <a:pPr marL="0" indent="0" algn="ctr">
              <a:spcBef>
                <a:spcPts val="1200"/>
              </a:spcBef>
              <a:buNone/>
            </a:pPr>
            <a:r>
              <a:rPr lang="en-US" sz="1900" i="1" dirty="0">
                <a:solidFill>
                  <a:srgbClr val="595959"/>
                </a:solidFill>
                <a:latin typeface="Arial"/>
                <a:cs typeface="Arial"/>
              </a:rPr>
              <a:t>Trial variants, non-inferiority, pilots, quality-improvement designs and qualitative research.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A and B: the two treatments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CI: confidence interval. Hypothetical results.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pilot trial</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patients screened</a:t>
            </a:r>
          </a:p>
          <a:p>
            <a:pPr marL="0" indent="0" algn="ctr">
              <a:lnSpc>
                <a:spcPct val="104000"/>
              </a:lnSpc>
              <a:spcBef>
                <a:spcPts val="400"/>
              </a:spcBef>
              <a:buNone/>
            </a:pPr>
            <a:r>
              <a:rPr lang="en-US" sz="1750" dirty="0">
                <a:solidFill>
                  <a:srgbClr val="000000"/>
                </a:solidFill>
                <a:latin typeface="Arial"/>
                <a:cs typeface="Arial"/>
              </a:rPr>
              <a:t>50 randomised (4%)</a:t>
            </a:r>
          </a:p>
          <a:p>
            <a:pPr marL="0" indent="0" algn="ctr">
              <a:lnSpc>
                <a:spcPct val="104000"/>
              </a:lnSpc>
              <a:spcBef>
                <a:spcPts val="400"/>
              </a:spcBef>
              <a:buNone/>
            </a:pPr>
            <a:r>
              <a:rPr lang="en-US" sz="1750" dirty="0">
                <a:solidFill>
                  <a:srgbClr val="000000"/>
                </a:solidFill>
                <a:latin typeface="Arial"/>
                <a:cs typeface="Arial"/>
              </a:rPr>
              <a:t>48 analysed (96%)</a:t>
            </a:r>
          </a:p>
          <a:p>
            <a:pPr marL="0" indent="0" algn="ctr">
              <a:lnSpc>
                <a:spcPct val="104000"/>
              </a:lnSpc>
              <a:spcBef>
                <a:spcPts val="400"/>
              </a:spcBef>
              <a:buNone/>
            </a:pPr>
            <a:r>
              <a:rPr lang="en-US" sz="1750" dirty="0">
                <a:solidFill>
                  <a:srgbClr val="000000"/>
                </a:solidFill>
                <a:latin typeface="Arial"/>
                <a:cs typeface="Arial"/>
              </a:rPr>
              <a:t>About 3 patients per month across 3 ICUs</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pilot asks: can we do the big trial?</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Can we recruit enough patients?</a:t>
            </a:r>
          </a:p>
          <a:p>
            <a:pPr marL="0" indent="0" algn="ctr">
              <a:lnSpc>
                <a:spcPct val="104000"/>
              </a:lnSpc>
              <a:spcBef>
                <a:spcPts val="400"/>
              </a:spcBef>
              <a:buNone/>
            </a:pPr>
            <a:r>
              <a:rPr lang="en-US" sz="1750" dirty="0">
                <a:solidFill>
                  <a:srgbClr val="000000"/>
                </a:solidFill>
                <a:latin typeface="Arial"/>
                <a:cs typeface="Arial"/>
              </a:rPr>
              <a:t>Will patients or families consent?</a:t>
            </a:r>
          </a:p>
          <a:p>
            <a:pPr marL="0" indent="0" algn="ctr">
              <a:lnSpc>
                <a:spcPct val="104000"/>
              </a:lnSpc>
              <a:spcBef>
                <a:spcPts val="400"/>
              </a:spcBef>
              <a:buNone/>
            </a:pPr>
            <a:r>
              <a:rPr lang="en-US" sz="1750" dirty="0">
                <a:solidFill>
                  <a:srgbClr val="000000"/>
                </a:solidFill>
                <a:latin typeface="Arial"/>
                <a:cs typeface="Arial"/>
              </a:rPr>
              <a:t>Can staff deliver the intervention?</a:t>
            </a:r>
          </a:p>
          <a:p>
            <a:pPr marL="0" indent="0" algn="ctr">
              <a:lnSpc>
                <a:spcPct val="104000"/>
              </a:lnSpc>
              <a:spcBef>
                <a:spcPts val="400"/>
              </a:spcBef>
              <a:buNone/>
            </a:pPr>
            <a:r>
              <a:rPr lang="en-US" sz="1750" dirty="0">
                <a:solidFill>
                  <a:srgbClr val="000000"/>
                </a:solidFill>
                <a:latin typeface="Arial"/>
                <a:cs typeface="Arial"/>
              </a:rPr>
              <a:t>Are outcomes measurable and complete?</a:t>
            </a:r>
          </a:p>
          <a:p>
            <a:pPr marL="0" indent="0" algn="ctr">
              <a:lnSpc>
                <a:spcPct val="104000"/>
              </a:lnSpc>
              <a:spcBef>
                <a:spcPts val="400"/>
              </a:spcBef>
              <a:buNone/>
            </a:pPr>
            <a:r>
              <a:rPr lang="en-US" sz="1750" dirty="0">
                <a:solidFill>
                  <a:srgbClr val="000000"/>
                </a:solidFill>
                <a:latin typeface="Arial"/>
                <a:cs typeface="Arial"/>
              </a:rPr>
              <a:t>What numbers do we need for the big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data for teaching. ITS: interrupted time series, QI: quality improvement.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Why? How? What is it like? Words, not numbers, analysed as themes</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In-depth interviews</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person, open questions</a:t>
            </a:r>
          </a:p>
          <a:p>
            <a:pPr marL="0" indent="0" algn="ctr">
              <a:lnSpc>
                <a:spcPct val="104000"/>
              </a:lnSpc>
              <a:spcBef>
                <a:spcPts val="400"/>
              </a:spcBef>
              <a:buNone/>
            </a:pPr>
            <a:r>
              <a:rPr lang="en-US" sz="1750" dirty="0">
                <a:solidFill>
                  <a:srgbClr val="000000"/>
                </a:solidFill>
                <a:latin typeface="Arial"/>
                <a:cs typeface="Arial"/>
              </a:rPr>
              <a:t>Usually 30-60 minutes</a:t>
            </a:r>
          </a:p>
          <a:p>
            <a:pPr marL="0" indent="0" algn="ctr">
              <a:lnSpc>
                <a:spcPct val="104000"/>
              </a:lnSpc>
              <a:spcBef>
                <a:spcPts val="400"/>
              </a:spcBef>
              <a:buNone/>
            </a:pPr>
            <a:r>
              <a:rPr lang="en-US" sz="1750" dirty="0">
                <a:solidFill>
                  <a:srgbClr val="000000"/>
                </a:solidFill>
                <a:latin typeface="Arial"/>
                <a:cs typeface="Arial"/>
              </a:rPr>
              <a:t>e.g. why urine output goes unrecorded at night</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Focus groups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people discuss together</a:t>
            </a:r>
          </a:p>
          <a:p>
            <a:pPr marL="0" indent="0" algn="ctr">
              <a:lnSpc>
                <a:spcPct val="104000"/>
              </a:lnSpc>
              <a:spcBef>
                <a:spcPts val="400"/>
              </a:spcBef>
              <a:buNone/>
            </a:pPr>
            <a:r>
              <a:rPr lang="en-US" sz="1750" dirty="0">
                <a:solidFill>
                  <a:srgbClr val="000000"/>
                </a:solidFill>
                <a:latin typeface="Arial"/>
                <a:cs typeface="Arial"/>
              </a:rPr>
              <a:t>Views spark other views</a:t>
            </a:r>
          </a:p>
          <a:p>
            <a:pPr marL="0" indent="0" algn="ctr">
              <a:lnSpc>
                <a:spcPct val="104000"/>
              </a:lnSpc>
              <a:spcBef>
                <a:spcPts val="400"/>
              </a:spcBef>
              <a:buNone/>
            </a:pPr>
            <a:r>
              <a:rPr lang="en-US" sz="1750" dirty="0">
                <a:solidFill>
                  <a:srgbClr val="000000"/>
                </a:solidFill>
                <a:latin typeface="Arial"/>
                <a:cs typeface="Arial"/>
              </a:rPr>
              <a:t>e.g. how families experience consent in the ICU</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Watch what people actually do</a:t>
            </a:r>
          </a:p>
          <a:p>
            <a:pPr marL="0" indent="0" algn="ctr">
              <a:lnSpc>
                <a:spcPct val="104000"/>
              </a:lnSpc>
              <a:spcBef>
                <a:spcPts val="400"/>
              </a:spcBef>
              <a:buNone/>
            </a:pPr>
            <a:r>
              <a:rPr lang="en-US" sz="1750" dirty="0">
                <a:solidFill>
                  <a:srgbClr val="000000"/>
                </a:solidFill>
                <a:latin typeface="Arial"/>
                <a:cs typeface="Arial"/>
              </a:rPr>
              <a:t>It may differ from what they say</a:t>
            </a:r>
          </a:p>
          <a:p>
            <a:pPr marL="0" indent="0" algn="ctr">
              <a:lnSpc>
                <a:spcPct val="104000"/>
              </a:lnSpc>
              <a:spcBef>
                <a:spcPts val="400"/>
              </a:spcBef>
              <a:buNone/>
            </a:pPr>
            <a:r>
              <a:rPr lang="en-US" sz="1750" dirty="0">
                <a:solidFill>
                  <a:srgbClr val="000000"/>
                </a:solidFill>
                <a:latin typeface="Arial"/>
                <a:cs typeface="Arial"/>
              </a:rPr>
              <a:t>e.g. how fluid charts are filled 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If your question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Start with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Example on our fluid question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How common is it right now?</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Cross-sectional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Patients with a positive fluid balance in our ICU today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Rare outcome: what raised the risk?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Case-control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Patients with sepsis who needed new dialysis, looking back at their fluid</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happens after an exposure?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and death by day 28 (Paper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Does this treatment work?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vs usual fluids (Paper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do all the studies say?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 and meta-analysis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All fluid-restriction trials, pooled</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Start from the question, and the design follows from it. Then check that it is feasible in your setting.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choose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Five planning questions about our fluid question: exercise sheet, Part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vote in the poll for the best feasible design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one reason and the main weakness. The instructor types them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Then your own question: two or three people say their design, and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Does it work? RCT or cluster trial</a:t>
            </a:r>
          </a:p>
          <a:p>
            <a:pPr marL="0" indent="0" algn="ctr">
              <a:lnSpc>
                <a:spcPct val="104000"/>
              </a:lnSpc>
              <a:spcBef>
                <a:spcPts val="300"/>
              </a:spcBef>
              <a:buNone/>
            </a:pPr>
            <a:r>
              <a:rPr lang="en-US" sz="1500" dirty="0">
                <a:solidFill>
                  <a:srgbClr val="000000"/>
                </a:solidFill>
                <a:latin typeface="Arial"/>
                <a:cs typeface="Arial"/>
              </a:rPr>
              <a:t>Not worse? Non-inferiority trial</a:t>
            </a:r>
          </a:p>
          <a:p>
            <a:pPr marL="0" indent="0" algn="ctr">
              <a:lnSpc>
                <a:spcPct val="104000"/>
              </a:lnSpc>
              <a:spcBef>
                <a:spcPts val="300"/>
              </a:spcBef>
              <a:buNone/>
            </a:pPr>
            <a:r>
              <a:rPr lang="en-US" sz="1500" dirty="0">
                <a:solidFill>
                  <a:srgbClr val="000000"/>
                </a:solidFill>
                <a:latin typeface="Arial"/>
                <a:cs typeface="Arial"/>
              </a:rPr>
              <a:t>Already changed? Time series</a:t>
            </a:r>
          </a:p>
          <a:p>
            <a:pPr marL="0" indent="0" algn="ctr">
              <a:lnSpc>
                <a:spcPct val="104000"/>
              </a:lnSpc>
              <a:spcBef>
                <a:spcPts val="300"/>
              </a:spcBef>
              <a:buNone/>
            </a:pPr>
            <a:r>
              <a:rPr lang="en-US" sz="1500" dirty="0">
                <a:solidFill>
                  <a:srgbClr val="000000"/>
                </a:solidFill>
                <a:latin typeface="Arial"/>
                <a:cs typeface="Arial"/>
              </a:rPr>
              <a:t>Why or how? Qualitative</a:t>
            </a:r>
          </a:p>
          <a:p>
            <a:pPr marL="0" indent="0" algn="ctr">
              <a:lnSpc>
                <a:spcPct val="104000"/>
              </a:lnSpc>
              <a:spcBef>
                <a:spcPts val="300"/>
              </a:spcBef>
              <a:buNone/>
            </a:pPr>
            <a:r>
              <a:rPr lang="en-US" sz="1500" dirty="0">
                <a:solidFill>
                  <a:srgbClr val="000000"/>
                </a:solidFill>
                <a:latin typeface="Arial"/>
                <a:cs typeface="Arial"/>
              </a:rPr>
              <a:t>Can we do it? Pilot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Five designs chosen together, then a few people share their own design and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Inclusion describes your P (Population).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2a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Design and a 3-5 sentence justification, chosen with the decision tree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Setting: where, when, which units, which data source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Population: 3-5 inclusion and 3-5 exclusion criteria, each exclusion with a reason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(20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their design sentence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Design matches the question?</a:t>
            </a:r>
          </a:p>
          <a:p>
            <a:pPr marL="0" indent="0" algn="ctr">
              <a:lnSpc>
                <a:spcPct val="104000"/>
              </a:lnSpc>
              <a:spcBef>
                <a:spcPts val="300"/>
              </a:spcBef>
              <a:buNone/>
            </a:pPr>
            <a:r>
              <a:rPr lang="en-US" sz="1500" dirty="0">
                <a:solidFill>
                  <a:srgbClr val="000000"/>
                </a:solidFill>
                <a:latin typeface="Arial"/>
                <a:cs typeface="Arial"/>
              </a:rPr>
              <a:t>Feasible in your unit?</a:t>
            </a:r>
          </a:p>
          <a:p>
            <a:pPr marL="0" indent="0" algn="ctr">
              <a:lnSpc>
                <a:spcPct val="104000"/>
              </a:lnSpc>
              <a:spcBef>
                <a:spcPts val="300"/>
              </a:spcBef>
              <a:buNone/>
            </a:pPr>
            <a:r>
              <a:rPr lang="en-US" sz="1500" dirty="0">
                <a:solidFill>
                  <a:srgbClr val="000000"/>
                </a:solidFill>
                <a:latin typeface="Arial"/>
                <a:cs typeface="Arial"/>
              </a:rPr>
              <a:t>Inclusion = your P (Population)?</a:t>
            </a:r>
          </a:p>
          <a:p>
            <a:pPr marL="0" indent="0" algn="ctr">
              <a:lnSpc>
                <a:spcPct val="104000"/>
              </a:lnSpc>
              <a:spcBef>
                <a:spcPts val="300"/>
              </a:spcBef>
              <a:buNone/>
            </a:pPr>
            <a:r>
              <a:rPr lang="en-US" sz="1500" dirty="0">
                <a:solidFill>
                  <a:srgbClr val="000000"/>
                </a:solidFill>
                <a:latin typeface="Arial"/>
                <a:cs typeface="Arial"/>
              </a:rPr>
              <a:t>Each exclusion has a reason?</a:t>
            </a:r>
          </a:p>
          <a:p>
            <a:pPr marL="0" indent="0" algn="ctr">
              <a:lnSpc>
                <a:spcPct val="104000"/>
              </a:lnSpc>
              <a:spcBef>
                <a:spcPts val="300"/>
              </a:spcBef>
              <a:buNone/>
            </a:pPr>
            <a:r>
              <a:rPr lang="en-US" sz="1500" dirty="0">
                <a:solidFill>
                  <a:srgbClr val="000000"/>
                </a:solidFill>
                <a:latin typeface="Arial"/>
                <a:cs typeface="Arial"/>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2a drafted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Snapshot, look back, follow forward</a:t>
            </a:r>
          </a:p>
          <a:p>
            <a:pPr marL="0" indent="0" algn="ctr">
              <a:lnSpc>
                <a:spcPct val="104000"/>
              </a:lnSpc>
              <a:spcBef>
                <a:spcPts val="400"/>
              </a:spcBef>
              <a:buNone/>
            </a:pPr>
            <a:r>
              <a:rPr lang="en-US" sz="1750" dirty="0">
                <a:solidFill>
                  <a:srgbClr val="000000"/>
                </a:solidFill>
                <a:latin typeface="Arial"/>
                <a:cs typeface="Arial"/>
              </a:rPr>
              <a:t>RCT: chance assigns the exposure</a:t>
            </a:r>
          </a:p>
          <a:p>
            <a:pPr marL="0" indent="0" algn="ctr">
              <a:lnSpc>
                <a:spcPct val="104000"/>
              </a:lnSpc>
              <a:spcBef>
                <a:spcPts val="400"/>
              </a:spcBef>
              <a:buNone/>
            </a:pPr>
            <a:r>
              <a:rPr lang="en-US" sz="1750" dirty="0">
                <a:solidFill>
                  <a:srgbClr val="000000"/>
                </a:solidFill>
                <a:latin typeface="Arial"/>
                <a:cs typeface="Arial"/>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Cluster, crossover, factorial</a:t>
            </a:r>
          </a:p>
          <a:p>
            <a:pPr marL="0" indent="0" algn="ctr">
              <a:lnSpc>
                <a:spcPct val="104000"/>
              </a:lnSpc>
              <a:spcBef>
                <a:spcPts val="400"/>
              </a:spcBef>
              <a:buNone/>
            </a:pPr>
            <a:r>
              <a:rPr lang="en-US" sz="1750" dirty="0">
                <a:solidFill>
                  <a:srgbClr val="000000"/>
                </a:solidFill>
                <a:latin typeface="Arial"/>
                <a:cs typeface="Arial"/>
              </a:rPr>
              <a:t>Non-inferiority needs a margin</a:t>
            </a:r>
          </a:p>
          <a:p>
            <a:pPr marL="0" indent="0" algn="ctr">
              <a:lnSpc>
                <a:spcPct val="104000"/>
              </a:lnSpc>
              <a:spcBef>
                <a:spcPts val="400"/>
              </a:spcBef>
              <a:buNone/>
            </a:pPr>
            <a:r>
              <a:rPr lang="en-US" sz="1750" dirty="0">
                <a:solidFill>
                  <a:srgbClr val="000000"/>
                </a:solidFill>
                <a:latin typeface="Arial"/>
                <a:cs typeface="Arial"/>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Design and justification</a:t>
            </a:r>
          </a:p>
          <a:p>
            <a:pPr marL="0" indent="0" algn="ctr">
              <a:lnSpc>
                <a:spcPct val="104000"/>
              </a:lnSpc>
              <a:spcBef>
                <a:spcPts val="400"/>
              </a:spcBef>
              <a:buNone/>
            </a:pPr>
            <a:r>
              <a:rPr lang="en-US" sz="1750" dirty="0">
                <a:solidFill>
                  <a:srgbClr val="000000"/>
                </a:solidFill>
                <a:latin typeface="Arial"/>
                <a:cs typeface="Arial"/>
              </a:rPr>
              <a:t>Setting</a:t>
            </a:r>
          </a:p>
          <a:p>
            <a:pPr marL="0" indent="0" algn="ctr">
              <a:lnSpc>
                <a:spcPct val="104000"/>
              </a:lnSpc>
              <a:spcBef>
                <a:spcPts val="400"/>
              </a:spcBef>
              <a:buNone/>
            </a:pPr>
            <a:r>
              <a:rPr lang="en-US" sz="1750" dirty="0">
                <a:solidFill>
                  <a:srgbClr val="000000"/>
                </a:solidFill>
                <a:latin typeface="Arial"/>
                <a:cs typeface="Arial"/>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doctors chose restrictive fluids for some patients with septic shock and not for others. Both groups are followed to day 28. Which design? 'Caused' or 'associated'?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2a (design, setting, population)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Reading: 'Patients' in Paper 1 (Boulet) and 'Data source' in Paper 2 (Hyun)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3</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decision tree in action: Paper 1 (Boulet) and Paper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the trial assigned the strategy</a:t>
            </a:r>
          </a:p>
          <a:p>
            <a:pPr marL="0" indent="0" algn="ctr">
              <a:lnSpc>
                <a:spcPct val="104000"/>
              </a:lnSpc>
              <a:spcBef>
                <a:spcPts val="200"/>
              </a:spcBef>
              <a:buNone/>
            </a:pPr>
            <a:r>
              <a:rPr lang="en-US" sz="1500" dirty="0">
                <a:solidFill>
                  <a:srgbClr val="000000"/>
                </a:solidFill>
                <a:latin typeface="Arial"/>
                <a:cs typeface="Arial"/>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by a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exposure on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All 300 inpatients are checked today for a urinary catheter and for urinary infection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Patients with ventilator-associated pneumonia are compared with patients without it for earlier sedation use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Patients who received early mobilisation (the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Cross-sectional</a:t>
            </a:r>
          </a:p>
          <a:p>
            <a:pPr marL="0" indent="0" algn="ctr">
              <a:lnSpc>
                <a:spcPct val="104000"/>
              </a:lnSpc>
              <a:spcBef>
                <a:spcPts val="300"/>
              </a:spcBef>
              <a:buNone/>
            </a:pPr>
            <a:r>
              <a:rPr lang="en-US" sz="1500" dirty="0">
                <a:solidFill>
                  <a:srgbClr val="000000"/>
                </a:solidFill>
                <a:latin typeface="Arial"/>
                <a:cs typeface="Arial"/>
              </a:rPr>
              <a:t>Case-control</a:t>
            </a:r>
          </a:p>
          <a:p>
            <a:pPr marL="0" indent="0" algn="ctr">
              <a:lnSpc>
                <a:spcPct val="104000"/>
              </a:lnSpc>
              <a:spcBef>
                <a:spcPts val="300"/>
              </a:spcBef>
              <a:buNone/>
            </a:pPr>
            <a:r>
              <a:rPr lang="en-US" sz="1500" dirty="0">
                <a:solidFill>
                  <a:srgbClr val="000000"/>
                </a:solidFill>
                <a:latin typeface="Arial"/>
                <a:cs typeface="Arial"/>
              </a:rPr>
              <a:t>Cohort</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named for each scenario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name the design (other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day, everyone</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Chosen by outcome (pneumonia)</a:t>
            </a:r>
          </a:p>
          <a:p>
            <a:pPr marL="0" indent="0" algn="ctr">
              <a:lnSpc>
                <a:spcPct val="104000"/>
              </a:lnSpc>
              <a:spcBef>
                <a:spcPts val="400"/>
              </a:spcBef>
              <a:buNone/>
            </a:pPr>
            <a:r>
              <a:rPr lang="en-US" sz="1750" dirty="0">
                <a:solidFill>
                  <a:srgbClr val="000000"/>
                </a:solidFill>
                <a:latin typeface="Arial"/>
                <a:cs typeface="Arial"/>
              </a:rPr>
              <a:t>Look back for exposure (sedation)</a:t>
            </a:r>
          </a:p>
          <a:p>
            <a:pPr marL="0" indent="0" algn="ctr">
              <a:lnSpc>
                <a:spcPct val="104000"/>
              </a:lnSpc>
              <a:spcBef>
                <a:spcPts val="400"/>
              </a:spcBef>
              <a:buNone/>
            </a:pPr>
            <a:r>
              <a:rPr lang="en-US" sz="1750" dirty="0">
                <a:solidFill>
                  <a:srgbClr val="000000"/>
                </a:solidFill>
                <a:latin typeface="Arial"/>
                <a:cs typeface="Arial"/>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Grouped by exposure (mobilisation)</a:t>
            </a:r>
          </a:p>
          <a:p>
            <a:pPr marL="0" indent="0" algn="ctr">
              <a:lnSpc>
                <a:spcPct val="104000"/>
              </a:lnSpc>
              <a:spcBef>
                <a:spcPts val="400"/>
              </a:spcBef>
              <a:buNone/>
            </a:pPr>
            <a:r>
              <a:rPr lang="en-US" sz="1750" dirty="0">
                <a:solidFill>
                  <a:srgbClr val="000000"/>
                </a:solidFill>
                <a:latin typeface="Arial"/>
                <a:cs typeface="Arial"/>
              </a:rPr>
              <a:t>Followed forward to discharge</a:t>
            </a:r>
          </a:p>
          <a:p>
            <a:pPr marL="0" indent="0" algn="ctr">
              <a:lnSpc>
                <a:spcPct val="104000"/>
              </a:lnSpc>
              <a:spcBef>
                <a:spcPts val="400"/>
              </a:spcBef>
              <a:buNone/>
            </a:pPr>
            <a:r>
              <a:rPr lang="en-US" sz="1750" dirty="0">
                <a:solidFill>
                  <a:srgbClr val="000000"/>
                </a:solidFill>
                <a:latin typeface="Arial"/>
                <a:cs typeface="Arial"/>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cheaper antibiotic schedule. We only need to show it is not worse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hand-hygiene programme delivered to whole wards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Why do families refuse research consent in the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Cluster trial</a:t>
            </a:r>
          </a:p>
          <a:p>
            <a:pPr marL="0" indent="0" algn="ctr">
              <a:lnSpc>
                <a:spcPct val="104000"/>
              </a:lnSpc>
              <a:spcBef>
                <a:spcPts val="300"/>
              </a:spcBef>
              <a:buNone/>
            </a:pPr>
            <a:r>
              <a:rPr lang="en-US" sz="1500" dirty="0">
                <a:solidFill>
                  <a:srgbClr val="000000"/>
                </a:solidFill>
                <a:latin typeface="Arial"/>
                <a:cs typeface="Arial"/>
              </a:rPr>
              <a:t>Non-inferiority trial</a:t>
            </a:r>
          </a:p>
          <a:p>
            <a:pPr marL="0" indent="0" algn="ctr">
              <a:lnSpc>
                <a:spcPct val="104000"/>
              </a:lnSpc>
              <a:spcBef>
                <a:spcPts val="300"/>
              </a:spcBef>
              <a:buNone/>
            </a:pPr>
            <a:r>
              <a:rPr lang="en-US" sz="1500" dirty="0">
                <a:solidFill>
                  <a:srgbClr val="000000"/>
                </a:solidFill>
                <a:latin typeface="Arial"/>
                <a:cs typeface="Arial"/>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hospital, units and period as the cases</a:t>
            </a:r>
          </a:p>
          <a:p>
            <a:pPr marL="0" indent="0" algn="ctr">
              <a:lnSpc>
                <a:spcPct val="104000"/>
              </a:lnSpc>
              <a:spcBef>
                <a:spcPts val="400"/>
              </a:spcBef>
              <a:buNone/>
            </a:pPr>
            <a:r>
              <a:rPr lang="en-US" sz="1750" dirty="0">
                <a:solidFill>
                  <a:srgbClr val="000000"/>
                </a:solidFill>
                <a:latin typeface="Arial"/>
                <a:cs typeface="Arial"/>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records, same questions</a:t>
            </a:r>
          </a:p>
          <a:p>
            <a:pPr marL="0" indent="0" algn="ctr">
              <a:lnSpc>
                <a:spcPct val="104000"/>
              </a:lnSpc>
              <a:spcBef>
                <a:spcPts val="400"/>
              </a:spcBef>
              <a:buNone/>
            </a:pPr>
            <a:r>
              <a:rPr lang="en-US" sz="1750" dirty="0">
                <a:solidFill>
                  <a:srgbClr val="000000"/>
                </a:solidFill>
                <a:latin typeface="Arial"/>
                <a:cs typeface="Arial"/>
              </a:rPr>
              <a:t>Ideally an assessor who does not know who is a case</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e.g. age, month of admission</a:t>
            </a:r>
          </a:p>
          <a:p>
            <a:pPr marL="0" indent="0" algn="ctr">
              <a:lnSpc>
                <a:spcPct val="104000"/>
              </a:lnSpc>
              <a:spcBef>
                <a:spcPts val="400"/>
              </a:spcBef>
              <a:buNone/>
            </a:pPr>
            <a:r>
              <a:rPr lang="en-US" sz="1750" dirty="0">
                <a:solidFill>
                  <a:srgbClr val="000000"/>
                </a:solidFill>
                <a:latin typeface="Arial"/>
                <a:cs typeface="Arial"/>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CI: confidence interval. Margin: the largest difference we accept, fixed in advance</a:t>
            </a:r>
          </a:p>
        </p:txBody>
      </p:sp>
      <p:sp>
        <p:nvSpPr>
          <p:cNvPr id="70" name="CardHead"/>
          <p:cNvSpPr/>
          <p:nvPr/>
        </p:nvSpPr>
        <p:spPr>
          <a:xfrm>
            <a:off x="457200" y="221000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Superiority</a:t>
            </a:r>
          </a:p>
        </p:txBody>
      </p:sp>
      <p:sp>
        <p:nvSpPr>
          <p:cNvPr id="71" name="CardBody"/>
          <p:cNvSpPr/>
          <p:nvPr/>
        </p:nvSpPr>
        <p:spPr>
          <a:xfrm>
            <a:off x="457200"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the new treatment better?</a:t>
            </a:r>
          </a:p>
          <a:p>
            <a:pPr marL="0" indent="0" algn="ctr">
              <a:lnSpc>
                <a:spcPct val="104000"/>
              </a:lnSpc>
              <a:spcBef>
                <a:spcPts val="400"/>
              </a:spcBef>
              <a:buNone/>
            </a:pPr>
            <a:r>
              <a:rPr lang="en-US" sz="1750" dirty="0">
                <a:solidFill>
                  <a:srgbClr val="000000"/>
                </a:solidFill>
                <a:latin typeface="Arial"/>
                <a:cs typeface="Arial"/>
              </a:rPr>
              <a:t>Whole CI on the 'better' side of 0</a:t>
            </a:r>
          </a:p>
        </p:txBody>
      </p:sp>
      <p:sp>
        <p:nvSpPr>
          <p:cNvPr id="72" name="CardHead"/>
          <p:cNvSpPr/>
          <p:nvPr/>
        </p:nvSpPr>
        <p:spPr>
          <a:xfrm>
            <a:off x="4283066" y="221000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Equivalence</a:t>
            </a:r>
          </a:p>
        </p:txBody>
      </p:sp>
      <p:sp>
        <p:nvSpPr>
          <p:cNvPr id="73" name="CardBody"/>
          <p:cNvSpPr/>
          <p:nvPr/>
        </p:nvSpPr>
        <p:spPr>
          <a:xfrm>
            <a:off x="4283066"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about the same?</a:t>
            </a:r>
          </a:p>
          <a:p>
            <a:pPr marL="0" indent="0" algn="ctr">
              <a:lnSpc>
                <a:spcPct val="104000"/>
              </a:lnSpc>
              <a:spcBef>
                <a:spcPts val="400"/>
              </a:spcBef>
              <a:buNone/>
            </a:pPr>
            <a:r>
              <a:rPr lang="en-US" sz="1750" dirty="0">
                <a:solidFill>
                  <a:srgbClr val="000000"/>
                </a:solidFill>
                <a:latin typeface="Arial"/>
                <a:cs typeface="Arial"/>
              </a:rPr>
              <a:t>Whole CI between minus and plus the margin</a:t>
            </a:r>
          </a:p>
        </p:txBody>
      </p:sp>
      <p:sp>
        <p:nvSpPr>
          <p:cNvPr id="74" name="CardHead"/>
          <p:cNvSpPr/>
          <p:nvPr/>
        </p:nvSpPr>
        <p:spPr>
          <a:xfrm>
            <a:off x="8108932" y="221000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Non-inferiority</a:t>
            </a:r>
          </a:p>
        </p:txBody>
      </p:sp>
      <p:sp>
        <p:nvSpPr>
          <p:cNvPr id="75" name="CardBody"/>
          <p:cNvSpPr/>
          <p:nvPr/>
        </p:nvSpPr>
        <p:spPr>
          <a:xfrm>
            <a:off x="8108932"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not unacceptably worse?</a:t>
            </a:r>
          </a:p>
          <a:p>
            <a:pPr marL="0" indent="0" algn="ctr">
              <a:lnSpc>
                <a:spcPct val="104000"/>
              </a:lnSpc>
              <a:spcBef>
                <a:spcPts val="400"/>
              </a:spcBef>
              <a:buNone/>
            </a:pPr>
            <a:r>
              <a:rPr lang="en-US" sz="1750" dirty="0">
                <a:solidFill>
                  <a:srgbClr val="000000"/>
                </a:solidFill>
                <a:latin typeface="Arial"/>
                <a:cs typeface="Arial"/>
              </a:rPr>
              <a:t>Whole CI below plus the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 least 8-12 points before and after</a:t>
            </a:r>
          </a:p>
          <a:p>
            <a:pPr marL="0" indent="0" algn="ctr">
              <a:lnSpc>
                <a:spcPct val="104000"/>
              </a:lnSpc>
              <a:spcBef>
                <a:spcPts val="400"/>
              </a:spcBef>
              <a:buNone/>
            </a:pPr>
            <a:r>
              <a:rPr lang="en-US" sz="1750" dirty="0">
                <a:solidFill>
                  <a:srgbClr val="000000"/>
                </a:solidFill>
                <a:latin typeface="Arial"/>
                <a:cs typeface="Arial"/>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unit or hospital without the change</a:t>
            </a:r>
          </a:p>
          <a:p>
            <a:pPr marL="0" indent="0" algn="ctr">
              <a:lnSpc>
                <a:spcPct val="104000"/>
              </a:lnSpc>
              <a:spcBef>
                <a:spcPts val="400"/>
              </a:spcBef>
              <a:buNone/>
            </a:pPr>
            <a:r>
              <a:rPr lang="en-US" sz="1750" dirty="0">
                <a:solidFill>
                  <a:srgbClr val="000000"/>
                </a:solidFill>
                <a:latin typeface="Arial"/>
                <a:cs typeface="Arial"/>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Staff changes, new policies, audits</a:t>
            </a:r>
          </a:p>
          <a:p>
            <a:pPr marL="0" indent="0" algn="ctr">
              <a:lnSpc>
                <a:spcPct val="104000"/>
              </a:lnSpc>
              <a:spcBef>
                <a:spcPts val="400"/>
              </a:spcBef>
              <a:buNone/>
            </a:pPr>
            <a:r>
              <a:rPr lang="en-US" sz="1750" dirty="0">
                <a:solidFill>
                  <a:srgbClr val="000000"/>
                </a:solidFill>
                <a:latin typeface="Arial"/>
                <a:cs typeface="Arial"/>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