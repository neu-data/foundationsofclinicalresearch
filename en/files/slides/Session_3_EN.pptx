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back to Session 3. Show this while people join: check sound, the chat and the poll.</a:t>
            </a:r>
          </a:p>
          <a:p>
            <a:r>
              <a:rPr lang="en-US" sz="1400" b="0" dirty="0"/>
              <a:t>Timing: before 19:30, no teaching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Start 19:30. Point: the design decides what you may claim at the end.</a:t>
            </a:r>
          </a:p>
          <a:p>
            <a:r>
              <a:rPr lang="en-US" sz="1400" b="0" dirty="0"/>
              <a:t>Ask: 'Who has ever collected data for a study?' Use them as examples later.</a:t>
            </a:r>
          </a:p>
          <a:p>
            <a:r>
              <a:rPr lang="en-US" sz="1400" b="0" dirty="0"/>
              <a:t>Clock: 19:30 recap, 19:40 3.1, 20:25 Name that design, 20:40 break, 20:55 3.2, 21:25 choose the design, 21:40 proposal builder 3, 22:25 wrap-up.</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Three poll questions. Show results, then the answer.</a:t>
            </a:r>
          </a:p>
          <a:p>
            <a:r>
              <a:rPr lang="en-US" sz="1400" b="0" dirty="0"/>
              <a:t>Answers: Q1 AND narrows, OR widens. Q2 the figures and tables. Q3 spin.</a:t>
            </a:r>
          </a:p>
          <a:p>
            <a:r>
              <a:rPr lang="en-US" sz="1400" b="0" dirty="0"/>
              <a:t>After Q3 ask for a rewrite. Expected: 'mortality did not differ clearly between groups (p = 0.42)'.</a:t>
            </a:r>
          </a:p>
          <a:p>
            <a:r>
              <a:rPr lang="en-US" sz="1400" b="0" dirty="0"/>
              <a:t>Timing: 9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3.1 starts here (45 minutes). Read the four headings only.</a:t>
            </a:r>
          </a:p>
          <a:p>
            <a:r>
              <a:rPr lang="en-US" sz="1400" b="0" dirty="0"/>
              <a:t>Ask: 'In our fluid question, what is the exposure and what is the outcome?' Expected: restrictive fluids (vs usual care), death by day 28.</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assigned the strategy by chance. Hyun only observed. Boulet's primary outcome was fluid balance, not mortality.</a:t>
            </a:r>
          </a:p>
          <a:p>
            <a:r>
              <a:rPr lang="en-US" sz="1400" b="0" dirty="0"/>
              <a:t>Ask (poll): 'Which study would you trust more on whether restriction saves lives?' Expected: mixed. Neither answers it fully. Resolve it by the end of 3.1.</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For each design ask: who decided the exposure, and which way does time run? No need to memorise names.</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Observational does not mean bad: harm, prognosis and rare diseases often need it.</a:t>
            </a:r>
          </a:p>
          <a:p>
            <a:r>
              <a:rPr lang="en-US" sz="1400" b="0" dirty="0"/>
              <a:t>Poll: 'Which card for Paper 1? Paper 2?' Expected: Boulet experimental (RCT), Hyun observational (cohort).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Fluid balance is the outcome in Boulet but the exposure in Hyun. A treatment is an exposure too.</a:t>
            </a:r>
          </a:p>
          <a:p>
            <a:r>
              <a:rPr lang="en-US" sz="1400" b="0" dirty="0"/>
              <a:t>Ask: 'Name the exposure, outcome and comparison in our question.' Expected: restrictive fluids, death by day 28, usual care.</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Cross-sectional: exposure and outcome measured at the same moment, so time order is unknown.</a:t>
            </a:r>
          </a:p>
          <a:p>
            <a:r>
              <a:rPr lang="en-US" sz="1400" b="0" dirty="0"/>
              <a:t>Ask: 'How could you measure, on one day, how common a positive fluid balance is in your ICU?' Expected: a point-prevalence survey.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Hypothetical numbers. You cannot tell whether the mattress or the injury came first. For 'how common is it now?' this is the right design.</a:t>
            </a:r>
          </a:p>
          <a:p>
            <a:r>
              <a:rPr lang="en-US" sz="1400" b="0" dirty="0"/>
              <a:t>Ask: 'What could you measure in one day for the fluid question?' Expected: today's fluid balance and kidney function for every patient.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Trace the arrow right to left. Good for rare outcomes. Weaknesses: recall bias, choosing controls, odds ratio only.</a:t>
            </a:r>
          </a:p>
          <a:p>
            <a:r>
              <a:rPr lang="en-US" sz="1400" b="0" dirty="0"/>
              <a:t>Case-control selects by outcome, a cohort by exposure.</a:t>
            </a:r>
          </a:p>
          <a:p>
            <a:r>
              <a:rPr lang="en-US" sz="1400" b="0" dirty="0"/>
              <a:t>Ask: 'Why can you not calculate the risk of candidaemia here?' Expected: we chose how many cases and controls.</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Take your time: Session 4 uses the same numbers to calculate the OR.</a:t>
            </a:r>
          </a:p>
          <a:p>
            <a:r>
              <a:rPr lang="en-US" sz="1400" b="0" dirty="0"/>
              <a:t>Controls must come from the population that produced the cases, not healthy volunteers.</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Arrow left to right. This is Paper 2. A retrospective cohort still goes from exposure to outcome.</a:t>
            </a:r>
          </a:p>
          <a:p>
            <a:r>
              <a:rPr lang="en-US" sz="1400" b="0" dirty="0"/>
              <a:t>Ask: 'In Hyun, who decided which patients got more fluid?' Expected: the clinicians, by how sick the patient looked. Hold this for Session 4.</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Day 2 result: HR 2.13 (95% CI 1.48-3.06). Day 1: no clear difference. Say the HR in plain words. HR is taught in Session 6.</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 RCT is a cohort in which chance assigns the exposure, so groups are alike for measured and unmeasured factors.</a:t>
            </a:r>
          </a:p>
          <a:p>
            <a:r>
              <a:rPr lang="en-US" sz="1400" b="0" dirty="0"/>
              <a:t>6 deaths in each group: almost nothing about mortality. The pilot was powered for fluid balance.</a:t>
            </a:r>
          </a:p>
          <a:p>
            <a:r>
              <a:rPr lang="en-US" sz="1400" b="0" dirty="0"/>
              <a:t>Ask: 'Why not randomise everything?' Expected: ethics, rare or slow outcomes, cost.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Clinicians knew the group. Only patients and statisticians were blinded.</a:t>
            </a:r>
          </a:p>
          <a:p>
            <a:r>
              <a:rPr lang="en-US" sz="1400" b="0" dirty="0"/>
              <a:t>Poll: 'Which step makes this an experiment?' Expected: step 3, randomisation.</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Illustrative forest plot. A meta-analysis is only as good as the studies it pools.</a:t>
            </a:r>
          </a:p>
          <a:p>
            <a:r>
              <a:rPr lang="en-US" sz="1400" b="0" dirty="0"/>
              <a:t>Ask: 'Narrative vs systematic review?' Expected: a systematic review has a stated, reproducible search and selection.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48-patient pilot does not overrule a careful cohort on mortality.</a:t>
            </a:r>
          </a:p>
          <a:p>
            <a:r>
              <a:rPr lang="en-US" sz="1400" b="0" dirty="0"/>
              <a:t>Poll: 'Which paper is higher, and is it more useful for our mortality question?' Expected: Boulet is higher, but it was not powered for mortality.</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tree once with Boulet (assigned, random: RCT) and once with Hyun (not assigned, comparison, exposure first: cohort). Do not name designs from title words.</a:t>
            </a:r>
          </a:p>
          <a:p>
            <a:r>
              <a:rPr lang="en-US" sz="1400" b="0" dirty="0"/>
              <a:t>Poll: 'Fluid balance and kidney function of every patient on one day?' Expected: cross-sectional. 'Protocol from one date, before vs after?' Expected: non-randomised (quasi-experimental).</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Pick one strength and one weakness per card. The RCT balances unknown confounders but trial patients are selected (Boulet excluded patients over 85).</a:t>
            </a:r>
          </a:p>
          <a:p>
            <a:r>
              <a:rPr lang="en-US" sz="1400" b="0" dirty="0"/>
              <a:t>Ask: 'Which design for risk factors of a rare drug reaction?' Expected: case-control.</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Adjusting or matching reduces measured confounding only.</a:t>
            </a:r>
          </a:p>
          <a:p>
            <a:r>
              <a:rPr lang="en-US" sz="1400" b="0" dirty="0"/>
              <a:t>Ask for one honest conclusion per paper. Expected: Boulet 'did not clearly reduce day-5 fluid balance'. Hyun 'a positive balance on days 2-3 was associated with higher mortality'.</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Three-question poll. Answers: A right. B wrong, a cohort says 'associated with'. C right.</a:t>
            </a:r>
          </a:p>
          <a:p>
            <a:r>
              <a:rPr lang="en-US" sz="1400" b="0" dirty="0"/>
              <a:t>Timing: 3 minutes. 3.1 ends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About 2.5 minutes per abstract: read it, poll, ask one person for the phrase that proves it, type it on screen.</a:t>
            </a:r>
          </a:p>
          <a:p>
            <a:r>
              <a:rPr lang="en-US" sz="1400" b="0" dirty="0"/>
              <a:t>Abstracts 3 and 4 are the hardest. If someone says 'old records, so case-control', ask: selected by outcome or by exposure?</a:t>
            </a:r>
          </a:p>
          <a:p>
            <a:r>
              <a:rPr lang="en-US" sz="1400" b="0" dirty="0"/>
              <a:t>Key: s3_solutions, Part A. Announce the break at the end.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20:40-20:55. Put a countdown timer on screen. Restart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3.2 runs 30 minutes. Most hospital projects are unit-level changes, QI, pilots or interviews.</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Crossover only for stable chronic conditions, never septic shock. A cluster trial is a proper RCT, analysed for clustering.</a:t>
            </a:r>
          </a:p>
          <a:p>
            <a:r>
              <a:rPr lang="en-US" sz="1400" b="0" dirty="0"/>
              <a:t>Poll: 'A nurse-led fluid-charting protocol: which layout?' Expected: cluster, randomise ICUs.</a:t>
            </a:r>
          </a:p>
          <a:p>
            <a:r>
              <a:rPr lang="en-US" sz="1400" b="0" dirty="0"/>
              <a:t>Timing: 5.5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margin is fixed in the protocol before the data. A superior, B non-inferior, C inconclusive, D inferior.</a:t>
            </a:r>
          </a:p>
          <a:p>
            <a:r>
              <a:rPr lang="en-US" sz="1400" b="0" dirty="0"/>
              <a:t>Boulet's p = 0.42 does not show restriction is as good as usual care.</a:t>
            </a:r>
          </a:p>
          <a:p>
            <a:r>
              <a:rPr lang="en-US" sz="1400" b="0" dirty="0"/>
              <a:t>Poll: 'Who decides the margin?' Expected: clinicians and patients, with the statistician.</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1,201 screened, 50 randomised, about 3 patients per month. A pilot tests feasibility, not effectiveness, and is planned as a pilot from the start.</a:t>
            </a:r>
          </a:p>
          <a:p>
            <a:r>
              <a:rPr lang="en-US" sz="1400" b="0" dirty="0"/>
              <a:t>Poll: 'Would you launch a 1,000-patient trial in the same 3 ICUs?' Expected: not as designed. It would take decades.</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Before-after is weak: rates often fall anyway. ITS compares the post-change data with the earlier trend (level and slope).</a:t>
            </a:r>
          </a:p>
          <a:p>
            <a:r>
              <a:rPr lang="en-US" sz="1400" b="0" dirty="0"/>
              <a:t>Ask: 'What else changed in your hospital in the month of your last QI project?' Expected: usually something.</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Sampling is purposive, until no new themes appear. Reporting: COREQ or SRQR.</a:t>
            </a:r>
          </a:p>
          <a:p>
            <a:r>
              <a:rPr lang="en-US" sz="1400" b="0" dirty="0"/>
              <a:t>Ask: 'One fluid question only interviews could answer?' Expected: why fluid charts are incomplete, why doctors hesitate to stop maintenance fluids.</a:t>
            </a:r>
          </a:p>
          <a:p>
            <a:r>
              <a:rPr lang="en-US" sz="1400" b="0" dirty="0"/>
              <a:t>Timing: 4.5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 the proposal builder everyone justifies their design this way: 'my question is about X, so the best feasible design is Y'. A retrospective cohort with honest limits is acceptable.</a:t>
            </a:r>
          </a:p>
          <a:p>
            <a:r>
              <a:rPr lang="en-US" sz="1400" b="0" dirty="0"/>
              <a:t>Poll: 'How many ICU patients have a positive fluid balance today?' Expected: cross-sectional.</a:t>
            </a:r>
          </a:p>
          <a:p>
            <a:r>
              <a:rPr lang="en-US" sz="1400" b="0" dirty="0"/>
              <a:t>Timing: 5.5 minutes. 3.2 ends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About 2 minutes per question, then 5 minutes on people's own questions.</a:t>
            </a:r>
          </a:p>
          <a:p>
            <a:r>
              <a:rPr lang="en-US" sz="1400" b="0" dirty="0"/>
              <a:t>Answers: 1 non-inferiority RCT. 2 cluster RCT. 3 interrupted time series. 4 qualitative interviews or focus groups. 5 pilot or feasibility study.</a:t>
            </a:r>
          </a:p>
          <a:p>
            <a:r>
              <a:rPr lang="en-US" sz="1400" b="0" dirty="0"/>
              <a:t>Then call on 4 or 5 people: 'my design is ..., so I may say caused / associated'.</a:t>
            </a:r>
          </a:p>
          <a:p>
            <a:r>
              <a:rPr lang="en-US" sz="1400" b="0" dirty="0"/>
              <a:t>Watch for: an RCT for a harm or prognosis question. Ask: could you ethically assign this?</a:t>
            </a:r>
          </a:p>
          <a:p>
            <a:r>
              <a:rPr lang="en-US" sz="1400" b="0" dirty="0"/>
              <a:t>Key: s3_solutions, Part B.</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3 starts here (3 minutes on this slide, then 42 minutes).</a:t>
            </a:r>
          </a:p>
          <a:p>
            <a:r>
              <a:rPr lang="en-US" sz="1400" b="0" dirty="0"/>
              <a:t>Boulet included ages 18-85 within 24 h of vasopressors, and excluded dialysis within 24 h, end-stage kidney disease and BMI below 18.</a:t>
            </a:r>
          </a:p>
          <a:p>
            <a:r>
              <a:rPr lang="en-US" sz="1400" b="0" dirty="0"/>
              <a:t>'Age under 18' is not an exclusion, it is simply not included.</a:t>
            </a:r>
          </a:p>
          <a:p>
            <a:r>
              <a:rPr lang="en-US" sz="1400" b="0" dirty="0"/>
              <a:t>Ask: 'One good exclusion for our fluid study?' Expected: chronic dialysis, comfort care only.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 minutes: fill in Part 2a for the running example on screen, thinking aloud. 20 minutes: everyone drafts alone. 7 minutes: three volunteers read their design and justification.</a:t>
            </a:r>
          </a:p>
          <a:p>
            <a:r>
              <a:rPr lang="en-US" sz="1400" b="0" dirty="0"/>
              <a:t>Model: retrospective cohort, one adult ICU, 3 years. An RCT is not feasible without funding, so we say 'associated with'. Full model in s3_solutions, Part C.</a:t>
            </a:r>
          </a:p>
          <a:p>
            <a:r>
              <a:rPr lang="en-US" sz="1400" b="0" dirty="0"/>
              <a:t>Watch for: an RCT for an exposure that cannot be assigned, a setting far too large, exclusions that repeat the inclusions.</a:t>
            </a:r>
          </a:p>
          <a:p>
            <a:r>
              <a:rPr lang="en-US" sz="1400" b="0" dirty="0"/>
              <a:t>Warn at 10 and 2 minutes before the end.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three volunteers to explain one card each. If time is short, read the key message only.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Exit answer: a cohort. It may only say 'associated' (confounding by indication, next Saturday).</a:t>
            </a:r>
          </a:p>
          <a:p>
            <a:r>
              <a:rPr lang="en-US" sz="1400" b="0" dirty="0"/>
              <a:t>Open Session 4 with three anonymous answers.</a:t>
            </a:r>
          </a:p>
          <a:p>
            <a:r>
              <a:rPr lang="en-US" sz="1400" b="0" dirty="0"/>
              <a:t>Timing: 3 minutes. Finish at 22:30.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Optional. Use if time allows, or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 if 'Name that design' showed confusion. Then ask people to try a paper from their own reference list.</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Watch for scenario C: two groups, but the physiotherapist decided, not chance.</a:t>
            </a:r>
          </a:p>
          <a:p>
            <a:r>
              <a:rPr lang="en-US" sz="1400" b="0" dirty="0"/>
              <a:t>Timing: 3 minutes with the answers,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groups do not make a trial. Selected by outcome = case-control, by exposure = cohort.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A non-inferiority trial with a margin set in advance. B cluster RCT. C qualitative interviews or focus groups.</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Controls from the same units and months. Measure exposure the same way in both groups. Do not over-match.</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failed superiority trial does not show equivalence: it had no margin.</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More data points, a control series and a diary of other changes. Reporting: SQUIRE 2.0.</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on screen while people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2.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3.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4.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5.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6.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7.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8.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9.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0.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1.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Foundations of Clinical Research</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Level 1: From Clinical Question to Publication</a:t>
            </a:r>
          </a:p>
          <a:p>
            <a:pPr marL="0" indent="0" algn="ctr">
              <a:spcBef>
                <a:spcPts val="440"/>
              </a:spcBef>
              <a:buNone/>
            </a:pPr>
            <a:r>
              <a:rPr lang="en-US" sz="2000" dirty="0">
                <a:solidFill>
                  <a:srgbClr val="000000"/>
                </a:solidFill>
                <a:latin typeface="Arial"/>
                <a:cs typeface="Arial"/>
              </a:rPr>
              <a:t>8 evenings online, 19:30 to 22:30, 24 contact hours</a:t>
            </a:r>
          </a:p>
          <a:p>
            <a:pPr marL="0" indent="0" algn="ctr">
              <a:spcBef>
                <a:spcPts val="440"/>
              </a:spcBef>
              <a:buNone/>
            </a:pPr>
            <a:r>
              <a:rPr lang="en-US" sz="2000" dirty="0">
                <a:solidFill>
                  <a:srgbClr val="000000"/>
                </a:solidFill>
                <a:latin typeface="Arial"/>
                <a:cs typeface="Arial"/>
              </a:rPr>
              <a:t>Trainers: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Date: 14/11/2026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Session 3 · Design: choosing the right study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3 · Saturday · online, 19:30-22:30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 2 (10 min)</a:t>
            </a:r>
          </a:p>
          <a:p>
            <a:pPr marL="274320" indent="-274320" algn="l">
              <a:spcBef>
                <a:spcPts val="440"/>
              </a:spcBef>
              <a:buFont typeface="Arial"/>
              <a:buChar char="•"/>
            </a:pPr>
            <a:r>
              <a:rPr lang="en-US" sz="1900" dirty="0">
                <a:solidFill>
                  <a:srgbClr val="000000"/>
                </a:solidFill>
                <a:latin typeface="Arial"/>
                <a:cs typeface="Arial"/>
              </a:rPr>
              <a:t>3.1  Study designs in pictures (45 min)</a:t>
            </a:r>
          </a:p>
          <a:p>
            <a:pPr marL="274320" indent="-274320" algn="l">
              <a:spcBef>
                <a:spcPts val="440"/>
              </a:spcBef>
              <a:buFont typeface="Arial"/>
              <a:buChar char="•"/>
            </a:pPr>
            <a:r>
              <a:rPr lang="en-US" sz="1900" dirty="0">
                <a:solidFill>
                  <a:srgbClr val="000000"/>
                </a:solidFill>
                <a:latin typeface="Arial"/>
                <a:cs typeface="Arial"/>
              </a:rPr>
              <a:t>Whole-class exercise: Name that design (15 min)</a:t>
            </a:r>
          </a:p>
          <a:p>
            <a:pPr marL="274320" indent="-274320" algn="l">
              <a:spcBef>
                <a:spcPts val="440"/>
              </a:spcBef>
              <a:buFont typeface="Arial"/>
              <a:buChar char="•"/>
            </a:pPr>
            <a:r>
              <a:rPr lang="en-US" sz="1900" dirty="0">
                <a:solidFill>
                  <a:srgbClr val="000000"/>
                </a:solidFill>
                <a:latin typeface="Arial"/>
                <a:cs typeface="Arial"/>
              </a:rPr>
              <a:t>Break (15 min)</a:t>
            </a:r>
          </a:p>
          <a:p>
            <a:pPr marL="274320" indent="-274320" algn="l">
              <a:spcBef>
                <a:spcPts val="440"/>
              </a:spcBef>
              <a:buFont typeface="Arial"/>
              <a:buChar char="•"/>
            </a:pPr>
            <a:r>
              <a:rPr lang="en-US" sz="1900" dirty="0">
                <a:solidFill>
                  <a:srgbClr val="000000"/>
                </a:solidFill>
                <a:latin typeface="Arial"/>
                <a:cs typeface="Arial"/>
              </a:rPr>
              <a:t>3.2  More designs: trial variants, pilots, quality improvement, qualitative (30 min)</a:t>
            </a:r>
          </a:p>
          <a:p>
            <a:pPr marL="274320" indent="-274320" algn="l">
              <a:spcBef>
                <a:spcPts val="440"/>
              </a:spcBef>
              <a:buFont typeface="Arial"/>
              <a:buChar char="•"/>
            </a:pPr>
            <a:r>
              <a:rPr lang="en-US" sz="1900" dirty="0">
                <a:solidFill>
                  <a:srgbClr val="000000"/>
                </a:solidFill>
                <a:latin typeface="Arial"/>
                <a:cs typeface="Arial"/>
              </a:rPr>
              <a:t>Whole-class exercise: choose the design (15 min)</a:t>
            </a:r>
          </a:p>
          <a:p>
            <a:pPr marL="274320" indent="-274320" algn="l">
              <a:spcBef>
                <a:spcPts val="440"/>
              </a:spcBef>
              <a:buFont typeface="Arial"/>
              <a:buChar char="•"/>
            </a:pPr>
            <a:r>
              <a:rPr lang="en-US" sz="1900" dirty="0">
                <a:solidFill>
                  <a:srgbClr val="000000"/>
                </a:solidFill>
                <a:latin typeface="Arial"/>
                <a:cs typeface="Arial"/>
              </a:rPr>
              <a:t>Proposal builder 3: design, setting and population (45 min), then wrap-up (5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three questions on Session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9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Your PubMed search finds 3,000 papers. Add a concept with AND, or a synonym with OR?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After the title and abstract, what do you read next in a paper?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Q3. An abstract says 'a trend towards lower mortality (p = 0.42)'. What is this called?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Then re-read your own research question (your Proposal Part 1 from Sessions 1 and 2): 3 min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How we run it</a:t>
            </a:r>
          </a:p>
          <a:p>
            <a:pPr marL="0" indent="0" algn="ctr">
              <a:lnSpc>
                <a:spcPct val="104000"/>
              </a:lnSpc>
              <a:spcBef>
                <a:spcPts val="300"/>
              </a:spcBef>
              <a:buNone/>
            </a:pPr>
            <a:r>
              <a:rPr lang="en-US" sz="1500" dirty="0">
                <a:solidFill>
                  <a:srgbClr val="000000"/>
                </a:solidFill>
                <a:latin typeface="Arial"/>
                <a:cs typeface="Arial"/>
              </a:rPr>
              <a:t>Answer in the poll (30 s each)</a:t>
            </a:r>
          </a:p>
          <a:p>
            <a:pPr marL="0" indent="0" algn="ctr">
              <a:lnSpc>
                <a:spcPct val="104000"/>
              </a:lnSpc>
              <a:spcBef>
                <a:spcPts val="300"/>
              </a:spcBef>
              <a:buNone/>
            </a:pPr>
            <a:r>
              <a:rPr lang="en-US" sz="1500" dirty="0">
                <a:solidFill>
                  <a:srgbClr val="000000"/>
                </a:solidFill>
                <a:latin typeface="Arial"/>
                <a:cs typeface="Arial"/>
              </a:rPr>
              <a:t>Results on screen, then the answer</a:t>
            </a:r>
          </a:p>
          <a:p>
            <a:pPr marL="0" indent="0" algn="ctr">
              <a:lnSpc>
                <a:spcPct val="104000"/>
              </a:lnSpc>
              <a:spcBef>
                <a:spcPts val="300"/>
              </a:spcBef>
              <a:buNone/>
            </a:pPr>
            <a:r>
              <a:rPr lang="en-US" sz="1500" dirty="0">
                <a:solidFill>
                  <a:srgbClr val="000000"/>
                </a:solidFill>
                <a:latin typeface="Arial"/>
                <a:cs typeface="Arial"/>
              </a:rPr>
              <a:t>No marks, just a warm-up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Poll answers, and your own question re-read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words you will use today (no need to memorise definitions)</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The pieces</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Exposure: what comes first</a:t>
            </a:r>
          </a:p>
          <a:p>
            <a:pPr marL="0" indent="0" algn="ctr">
              <a:lnSpc>
                <a:spcPct val="104000"/>
              </a:lnSpc>
              <a:spcBef>
                <a:spcPts val="400"/>
              </a:spcBef>
              <a:buNone/>
            </a:pPr>
            <a:r>
              <a:rPr lang="en-US" sz="1600" dirty="0">
                <a:solidFill>
                  <a:srgbClr val="000000"/>
                </a:solidFill>
                <a:latin typeface="Arial"/>
                <a:cs typeface="Arial"/>
              </a:rPr>
              <a:t>Outcome: what we count later</a:t>
            </a:r>
          </a:p>
          <a:p>
            <a:pPr marL="0" indent="0" algn="ctr">
              <a:lnSpc>
                <a:spcPct val="104000"/>
              </a:lnSpc>
              <a:spcBef>
                <a:spcPts val="400"/>
              </a:spcBef>
              <a:buNone/>
            </a:pPr>
            <a:r>
              <a:rPr lang="en-US" sz="1600" dirty="0">
                <a:solidFill>
                  <a:srgbClr val="000000"/>
                </a:solidFill>
                <a:latin typeface="Arial"/>
                <a:cs typeface="Arial"/>
              </a:rPr>
              <a:t>Comparison group</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 decides?</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Observational: we watch</a:t>
            </a:r>
          </a:p>
          <a:p>
            <a:pPr marL="0" indent="0" algn="ctr">
              <a:lnSpc>
                <a:spcPct val="104000"/>
              </a:lnSpc>
              <a:spcBef>
                <a:spcPts val="400"/>
              </a:spcBef>
              <a:buNone/>
            </a:pPr>
            <a:r>
              <a:rPr lang="en-US" sz="1600" dirty="0">
                <a:solidFill>
                  <a:srgbClr val="000000"/>
                </a:solidFill>
                <a:latin typeface="Arial"/>
                <a:cs typeface="Arial"/>
              </a:rPr>
              <a:t>Experimental: we assign</a:t>
            </a:r>
          </a:p>
          <a:p>
            <a:pPr marL="0" indent="0" algn="ctr">
              <a:lnSpc>
                <a:spcPct val="104000"/>
              </a:lnSpc>
              <a:spcBef>
                <a:spcPts val="400"/>
              </a:spcBef>
              <a:buNone/>
            </a:pPr>
            <a:r>
              <a:rPr lang="en-US" sz="1600" dirty="0">
                <a:solidFill>
                  <a:srgbClr val="000000"/>
                </a:solidFill>
                <a:latin typeface="Arial"/>
                <a:cs typeface="Arial"/>
              </a:rPr>
              <a:t>Randomised: chance assigns</a:t>
            </a:r>
          </a:p>
        </p:txBody>
      </p:sp>
      <p:sp>
        <p:nvSpPr>
          <p:cNvPr id="74" name="CardHead"/>
          <p:cNvSpPr/>
          <p:nvPr/>
        </p:nvSpPr>
        <p:spPr>
          <a:xfrm>
            <a:off x="61960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Which way in time?</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Cross-sectional: snapshot</a:t>
            </a:r>
          </a:p>
          <a:p>
            <a:pPr marL="0" indent="0" algn="ctr">
              <a:lnSpc>
                <a:spcPct val="104000"/>
              </a:lnSpc>
              <a:spcBef>
                <a:spcPts val="400"/>
              </a:spcBef>
              <a:buNone/>
            </a:pPr>
            <a:r>
              <a:rPr lang="en-US" sz="1600" dirty="0">
                <a:solidFill>
                  <a:srgbClr val="000000"/>
                </a:solidFill>
                <a:latin typeface="Arial"/>
                <a:cs typeface="Arial"/>
              </a:rPr>
              <a:t>Case-control: look back</a:t>
            </a:r>
          </a:p>
          <a:p>
            <a:pPr marL="0" indent="0" algn="ctr">
              <a:lnSpc>
                <a:spcPct val="104000"/>
              </a:lnSpc>
              <a:spcBef>
                <a:spcPts val="400"/>
              </a:spcBef>
              <a:buNone/>
            </a:pPr>
            <a:r>
              <a:rPr lang="en-US" sz="1600" dirty="0">
                <a:solidFill>
                  <a:srgbClr val="000000"/>
                </a:solidFill>
                <a:latin typeface="Arial"/>
                <a:cs typeface="Arial"/>
              </a:rPr>
              <a:t>Cohort: follow forward</a:t>
            </a:r>
          </a:p>
        </p:txBody>
      </p:sp>
      <p:sp>
        <p:nvSpPr>
          <p:cNvPr id="76" name="CardHead"/>
          <p:cNvSpPr/>
          <p:nvPr/>
        </p:nvSpPr>
        <p:spPr>
          <a:xfrm>
            <a:off x="9065400" y="1973573"/>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After the break</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Cluster and crossover trials</a:t>
            </a:r>
          </a:p>
          <a:p>
            <a:pPr marL="0" indent="0" algn="ctr">
              <a:lnSpc>
                <a:spcPct val="104000"/>
              </a:lnSpc>
              <a:spcBef>
                <a:spcPts val="400"/>
              </a:spcBef>
              <a:buNone/>
            </a:pPr>
            <a:r>
              <a:rPr lang="en-US" sz="1600" dirty="0">
                <a:solidFill>
                  <a:srgbClr val="000000"/>
                </a:solidFill>
                <a:latin typeface="Arial"/>
                <a:cs typeface="Arial"/>
              </a:rPr>
              <a:t>Non-inferiority and pilot trials</a:t>
            </a:r>
          </a:p>
          <a:p>
            <a:pPr marL="0" indent="0" algn="ctr">
              <a:lnSpc>
                <a:spcPct val="104000"/>
              </a:lnSpc>
              <a:spcBef>
                <a:spcPts val="400"/>
              </a:spcBef>
              <a:buNone/>
            </a:pPr>
            <a:r>
              <a:rPr lang="en-US" sz="1600" dirty="0">
                <a:solidFill>
                  <a:srgbClr val="000000"/>
                </a:solidFill>
                <a:latin typeface="Arial"/>
                <a:cs typeface="Arial"/>
              </a:rPr>
              <a:t>Time series, qualitative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Two questions name most designs: who decided the exposure, and which way does time run?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One question, two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In adults with septic shock, does a restrictive fluid strategy reduce 28-day mortality? Both papers were emailed before Session 1</a:t>
            </a:r>
          </a:p>
        </p:txBody>
      </p:sp>
      <p:sp>
        <p:nvSpPr>
          <p:cNvPr id="70" name="CardHead"/>
          <p:cNvSpPr/>
          <p:nvPr/>
        </p:nvSpPr>
        <p:spPr>
          <a:xfrm>
            <a:off x="457200" y="2099483"/>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Boulet 2024, randomised trial</a:t>
            </a:r>
          </a:p>
        </p:txBody>
      </p:sp>
      <p:sp>
        <p:nvSpPr>
          <p:cNvPr id="71" name="CardBody"/>
          <p:cNvSpPr/>
          <p:nvPr/>
        </p:nvSpPr>
        <p:spPr>
          <a:xfrm>
            <a:off x="457200" y="2739483"/>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50 patients randomised, 48 analysed</a:t>
            </a:r>
          </a:p>
          <a:p>
            <a:pPr marL="0" indent="0" algn="ctr">
              <a:lnSpc>
                <a:spcPct val="104000"/>
              </a:lnSpc>
              <a:spcBef>
                <a:spcPts val="400"/>
              </a:spcBef>
              <a:buNone/>
            </a:pPr>
            <a:r>
              <a:rPr lang="en-US" sz="1750" dirty="0">
                <a:solidFill>
                  <a:srgbClr val="000000"/>
                </a:solidFill>
                <a:latin typeface="Arial"/>
                <a:cs typeface="Arial"/>
              </a:rPr>
              <a:t>Restrictive (non-resuscitation) fluids vs usual care</a:t>
            </a:r>
          </a:p>
          <a:p>
            <a:pPr marL="0" indent="0" algn="ctr">
              <a:lnSpc>
                <a:spcPct val="104000"/>
              </a:lnSpc>
              <a:spcBef>
                <a:spcPts val="400"/>
              </a:spcBef>
              <a:buNone/>
            </a:pPr>
            <a:r>
              <a:rPr lang="en-US" sz="1750" dirty="0">
                <a:solidFill>
                  <a:srgbClr val="000000"/>
                </a:solidFill>
                <a:latin typeface="Arial"/>
                <a:cs typeface="Arial"/>
              </a:rPr>
              <a:t>Primary outcome: fluid balance at day 5</a:t>
            </a:r>
          </a:p>
          <a:p>
            <a:pPr marL="0" indent="0" algn="ctr">
              <a:lnSpc>
                <a:spcPct val="104000"/>
              </a:lnSpc>
              <a:spcBef>
                <a:spcPts val="400"/>
              </a:spcBef>
              <a:buNone/>
            </a:pPr>
            <a:r>
              <a:rPr lang="en-US" sz="1750" b="1" dirty="0">
                <a:solidFill>
                  <a:srgbClr val="000000"/>
                </a:solidFill>
                <a:latin typeface="Arial"/>
                <a:cs typeface="Arial"/>
              </a:rPr>
              <a:t>The investigator assigns the strategy</a:t>
            </a:r>
          </a:p>
        </p:txBody>
      </p:sp>
      <p:sp>
        <p:nvSpPr>
          <p:cNvPr id="72" name="CardHead"/>
          <p:cNvSpPr/>
          <p:nvPr/>
        </p:nvSpPr>
        <p:spPr>
          <a:xfrm>
            <a:off x="6196000" y="2099483"/>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Hyun 2023, cohort study</a:t>
            </a:r>
          </a:p>
        </p:txBody>
      </p:sp>
      <p:sp>
        <p:nvSpPr>
          <p:cNvPr id="73" name="CardBody"/>
          <p:cNvSpPr/>
          <p:nvPr/>
        </p:nvSpPr>
        <p:spPr>
          <a:xfrm>
            <a:off x="6196000" y="2739483"/>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Sepsis registry: 11,981 patients, 20 hospitals</a:t>
            </a:r>
          </a:p>
          <a:p>
            <a:pPr marL="0" indent="0" algn="ctr">
              <a:lnSpc>
                <a:spcPct val="104000"/>
              </a:lnSpc>
              <a:spcBef>
                <a:spcPts val="400"/>
              </a:spcBef>
              <a:buNone/>
            </a:pPr>
            <a:r>
              <a:rPr lang="en-US" sz="1750" dirty="0">
                <a:solidFill>
                  <a:srgbClr val="000000"/>
                </a:solidFill>
                <a:latin typeface="Arial"/>
                <a:cs typeface="Arial"/>
              </a:rPr>
              <a:t>Positive vs negative fluid balance, days 1-3</a:t>
            </a:r>
          </a:p>
          <a:p>
            <a:pPr marL="0" indent="0" algn="ctr">
              <a:lnSpc>
                <a:spcPct val="104000"/>
              </a:lnSpc>
              <a:spcBef>
                <a:spcPts val="400"/>
              </a:spcBef>
              <a:buNone/>
            </a:pPr>
            <a:r>
              <a:rPr lang="en-US" sz="1750" dirty="0">
                <a:solidFill>
                  <a:srgbClr val="000000"/>
                </a:solidFill>
                <a:latin typeface="Arial"/>
                <a:cs typeface="Arial"/>
              </a:rPr>
              <a:t>Outcome: death by day 28 (matched pairs)</a:t>
            </a:r>
          </a:p>
          <a:p>
            <a:pPr marL="0" indent="0" algn="ctr">
              <a:lnSpc>
                <a:spcPct val="104000"/>
              </a:lnSpc>
              <a:spcBef>
                <a:spcPts val="400"/>
              </a:spcBef>
              <a:buNone/>
            </a:pPr>
            <a:r>
              <a:rPr lang="en-US" sz="1750" b="1" dirty="0">
                <a:solidFill>
                  <a:srgbClr val="000000"/>
                </a:solidFill>
                <a:latin typeface="Arial"/>
                <a:cs typeface="Arial"/>
              </a:rPr>
              <a:t>The investigator observes what happened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Same question, two designs: the design decides what you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3.1  Study designs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Did the investigator assign the exposure, or just watch?</a:t>
            </a:r>
          </a:p>
          <a:p>
            <a:pPr marL="0" indent="0" algn="ctr">
              <a:spcBef>
                <a:spcPts val="1200"/>
              </a:spcBef>
              <a:buNone/>
            </a:pPr>
            <a:r>
              <a:rPr lang="en-US" sz="1900" i="1" dirty="0">
                <a:solidFill>
                  <a:srgbClr val="595959"/>
                </a:solidFill>
                <a:latin typeface="Arial"/>
                <a:cs typeface="Arial"/>
              </a:rPr>
              <a:t>That one question sorts almost every study design. (45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Four families of study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Descriptive</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Describes, no comparison</a:t>
            </a:r>
          </a:p>
          <a:p>
            <a:pPr marL="0" indent="0" algn="ctr">
              <a:lnSpc>
                <a:spcPct val="104000"/>
              </a:lnSpc>
              <a:spcBef>
                <a:spcPts val="400"/>
              </a:spcBef>
              <a:buNone/>
            </a:pPr>
            <a:r>
              <a:rPr lang="en-US" sz="1600" dirty="0">
                <a:solidFill>
                  <a:srgbClr val="000000"/>
                </a:solidFill>
                <a:latin typeface="Arial"/>
                <a:cs typeface="Arial"/>
              </a:rPr>
              <a:t>Case report or case series</a:t>
            </a:r>
          </a:p>
          <a:p>
            <a:pPr marL="0" indent="0" algn="ctr">
              <a:lnSpc>
                <a:spcPct val="104000"/>
              </a:lnSpc>
              <a:spcBef>
                <a:spcPts val="400"/>
              </a:spcBef>
              <a:buNone/>
            </a:pPr>
            <a:r>
              <a:rPr lang="en-US" sz="1600" dirty="0">
                <a:solidFill>
                  <a:srgbClr val="000000"/>
                </a:solidFill>
                <a:latin typeface="Arial"/>
                <a:cs typeface="Arial"/>
              </a:rPr>
              <a:t>Cross-sectional survey</a:t>
            </a:r>
          </a:p>
        </p:txBody>
      </p:sp>
      <p:sp>
        <p:nvSpPr>
          <p:cNvPr id="72" name="CardHead"/>
          <p:cNvSpPr/>
          <p:nvPr/>
        </p:nvSpPr>
        <p:spPr>
          <a:xfrm>
            <a:off x="33266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Observational</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Compares groups, we watch</a:t>
            </a:r>
          </a:p>
          <a:p>
            <a:pPr marL="0" indent="0" algn="ctr">
              <a:lnSpc>
                <a:spcPct val="104000"/>
              </a:lnSpc>
              <a:spcBef>
                <a:spcPts val="400"/>
              </a:spcBef>
              <a:buNone/>
            </a:pPr>
            <a:r>
              <a:rPr lang="en-US" sz="1600" dirty="0">
                <a:solidFill>
                  <a:srgbClr val="000000"/>
                </a:solidFill>
                <a:latin typeface="Arial"/>
                <a:cs typeface="Arial"/>
              </a:rPr>
              <a:t>Case-control</a:t>
            </a:r>
          </a:p>
          <a:p>
            <a:pPr marL="0" indent="0" algn="ctr">
              <a:lnSpc>
                <a:spcPct val="104000"/>
              </a:lnSpc>
              <a:spcBef>
                <a:spcPts val="400"/>
              </a:spcBef>
              <a:buNone/>
            </a:pPr>
            <a:r>
              <a:rPr lang="en-US" sz="1600" dirty="0">
                <a:solidFill>
                  <a:srgbClr val="000000"/>
                </a:solidFill>
                <a:latin typeface="Arial"/>
                <a:cs typeface="Arial"/>
              </a:rPr>
              <a:t>Cohort (prospective or retrospective)</a:t>
            </a:r>
          </a:p>
        </p:txBody>
      </p:sp>
      <p:sp>
        <p:nvSpPr>
          <p:cNvPr id="74" name="CardHead"/>
          <p:cNvSpPr/>
          <p:nvPr/>
        </p:nvSpPr>
        <p:spPr>
          <a:xfrm>
            <a:off x="61960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Experimental</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Compares groups, we assign</a:t>
            </a:r>
          </a:p>
          <a:p>
            <a:pPr marL="0" indent="0" algn="ctr">
              <a:lnSpc>
                <a:spcPct val="104000"/>
              </a:lnSpc>
              <a:spcBef>
                <a:spcPts val="400"/>
              </a:spcBef>
              <a:buNone/>
            </a:pPr>
            <a:r>
              <a:rPr lang="en-US" sz="1600" dirty="0">
                <a:solidFill>
                  <a:srgbClr val="000000"/>
                </a:solidFill>
                <a:latin typeface="Arial"/>
                <a:cs typeface="Arial"/>
              </a:rPr>
              <a:t>Randomised controlled trial (RCT)</a:t>
            </a:r>
          </a:p>
          <a:p>
            <a:pPr marL="0" indent="0" algn="ctr">
              <a:lnSpc>
                <a:spcPct val="104000"/>
              </a:lnSpc>
              <a:spcBef>
                <a:spcPts val="400"/>
              </a:spcBef>
              <a:buNone/>
            </a:pPr>
            <a:r>
              <a:rPr lang="en-US" sz="1600" dirty="0">
                <a:solidFill>
                  <a:srgbClr val="000000"/>
                </a:solidFill>
                <a:latin typeface="Arial"/>
                <a:cs typeface="Arial"/>
              </a:rPr>
              <a:t>Non-randomised trial</a:t>
            </a:r>
          </a:p>
        </p:txBody>
      </p:sp>
      <p:sp>
        <p:nvSpPr>
          <p:cNvPr id="76" name="CardHead"/>
          <p:cNvSpPr/>
          <p:nvPr/>
        </p:nvSpPr>
        <p:spPr>
          <a:xfrm>
            <a:off x="90654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Studies of studies</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Combine many studies</a:t>
            </a:r>
          </a:p>
          <a:p>
            <a:pPr marL="0" indent="0" algn="ctr">
              <a:lnSpc>
                <a:spcPct val="104000"/>
              </a:lnSpc>
              <a:spcBef>
                <a:spcPts val="400"/>
              </a:spcBef>
              <a:buNone/>
            </a:pPr>
            <a:r>
              <a:rPr lang="en-US" sz="1600" dirty="0">
                <a:solidFill>
                  <a:srgbClr val="000000"/>
                </a:solidFill>
                <a:latin typeface="Arial"/>
                <a:cs typeface="Arial"/>
              </a:rPr>
              <a:t>Systematic review</a:t>
            </a:r>
          </a:p>
          <a:p>
            <a:pPr marL="0" indent="0" algn="ctr">
              <a:lnSpc>
                <a:spcPct val="104000"/>
              </a:lnSpc>
              <a:spcBef>
                <a:spcPts val="400"/>
              </a:spcBef>
              <a:buNone/>
            </a:pPr>
            <a:r>
              <a:rPr lang="en-US" sz="1600" dirty="0">
                <a:solidFill>
                  <a:srgbClr val="000000"/>
                </a:solidFill>
                <a:latin typeface="Arial"/>
                <a:cs typeface="Arial"/>
              </a:rPr>
              <a:t>Meta-analysis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Descriptive designs describe. Analytical designs (observational and experimental) compare groups.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Exposure and outcome: the two words you need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55750"/>
          <a:ext cx="11277600" cy="182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Example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Exposure (comes first)</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Outcome (counted later)</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Paper 2: Hyun 2023, cohort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Positive fluid balance by day 3</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Death by day 28</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Paper 1: Boulet 2024, RCT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Restrictive fluid strategy</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Fluid balance at day 5</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Another example: ICU infection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Parenteral (intravenous) nutrition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Candidaemia (Candida in the blood)</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Another example: the ward</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Air mattress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Pressure injury</a:t>
                      </a:r>
                    </a:p>
                  </a:txBody>
                  <a:tcPr marL="73152" marR="73152" marT="45720" marB="45720" anchor="ctr">
                    <a:solidFill>
                      <a:srgbClr val="F5F9FA"/>
                    </a:solidFill>
                  </a:tcPr>
                </a:tc>
              </a:tr>
            </a:tbl>
          </a:graphicData>
        </a:graphic>
      </p:graphicFrame>
      <p:sp>
        <p:nvSpPr>
          <p:cNvPr id="31" name="Caption"/>
          <p:cNvSpPr txBox="1"/>
          <p:nvPr/>
        </p:nvSpPr>
        <p:spPr>
          <a:xfrm>
            <a:off x="457200" y="386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Exposure: a treatment, strategy or risk factor. Outcome: death, infection, injury, a lab value. Comparison group: people without the exposure, or with usual care.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Descriptive designs: describe, do not compare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Case report or case series</a:t>
            </a:r>
          </a:p>
        </p:txBody>
      </p:sp>
      <p:sp>
        <p:nvSpPr>
          <p:cNvPr id="71" name="CardBody"/>
          <p:cNvSpPr/>
          <p:nvPr/>
        </p:nvSpPr>
        <p:spPr>
          <a:xfrm>
            <a:off x="457200" y="2440890"/>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 few unusual patients, described in detail</a:t>
            </a:r>
          </a:p>
          <a:p>
            <a:pPr marL="0" indent="0" algn="ctr">
              <a:lnSpc>
                <a:spcPct val="104000"/>
              </a:lnSpc>
              <a:spcBef>
                <a:spcPts val="400"/>
              </a:spcBef>
              <a:buNone/>
            </a:pPr>
            <a:r>
              <a:rPr lang="en-US" sz="1750" dirty="0">
                <a:solidFill>
                  <a:srgbClr val="000000"/>
                </a:solidFill>
                <a:latin typeface="Arial"/>
                <a:cs typeface="Arial"/>
              </a:rPr>
              <a:t>No comparison group</a:t>
            </a:r>
          </a:p>
          <a:p>
            <a:pPr marL="0" indent="0" algn="ctr">
              <a:lnSpc>
                <a:spcPct val="104000"/>
              </a:lnSpc>
              <a:spcBef>
                <a:spcPts val="400"/>
              </a:spcBef>
              <a:buNone/>
            </a:pPr>
            <a:r>
              <a:rPr lang="en-US" sz="1750" dirty="0">
                <a:solidFill>
                  <a:srgbClr val="000000"/>
                </a:solidFill>
                <a:latin typeface="Arial"/>
                <a:cs typeface="Arial"/>
              </a:rPr>
              <a:t>Raises ideas but cannot test them</a:t>
            </a:r>
          </a:p>
          <a:p>
            <a:pPr marL="0" indent="0" algn="ctr">
              <a:lnSpc>
                <a:spcPct val="104000"/>
              </a:lnSpc>
              <a:spcBef>
                <a:spcPts val="400"/>
              </a:spcBef>
              <a:buNone/>
            </a:pPr>
            <a:r>
              <a:rPr lang="en-US" sz="1750" dirty="0">
                <a:solidFill>
                  <a:srgbClr val="000000"/>
                </a:solidFill>
                <a:latin typeface="Arial"/>
                <a:cs typeface="Arial"/>
              </a:rPr>
              <a:t>e.g. the first reports of thalidomide harm</a:t>
            </a:r>
          </a:p>
        </p:txBody>
      </p:sp>
      <p:sp>
        <p:nvSpPr>
          <p:cNvPr id="72" name="CardHead"/>
          <p:cNvSpPr/>
          <p:nvPr/>
        </p:nvSpPr>
        <p:spPr>
          <a:xfrm>
            <a:off x="6196000" y="1800890"/>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Cross-sectional study</a:t>
            </a:r>
          </a:p>
        </p:txBody>
      </p:sp>
      <p:sp>
        <p:nvSpPr>
          <p:cNvPr id="73" name="CardBody"/>
          <p:cNvSpPr/>
          <p:nvPr/>
        </p:nvSpPr>
        <p:spPr>
          <a:xfrm>
            <a:off x="6196000" y="2440890"/>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One snapshot of a whole unit, on one day</a:t>
            </a:r>
          </a:p>
          <a:p>
            <a:pPr marL="0" indent="0" algn="ctr">
              <a:lnSpc>
                <a:spcPct val="104000"/>
              </a:lnSpc>
              <a:spcBef>
                <a:spcPts val="400"/>
              </a:spcBef>
              <a:buNone/>
            </a:pPr>
            <a:r>
              <a:rPr lang="en-US" sz="1750" dirty="0">
                <a:solidFill>
                  <a:srgbClr val="000000"/>
                </a:solidFill>
                <a:latin typeface="Arial"/>
                <a:cs typeface="Arial"/>
              </a:rPr>
              <a:t>Gives prevalence: how many have it now</a:t>
            </a:r>
          </a:p>
          <a:p>
            <a:pPr marL="0" indent="0" algn="ctr">
              <a:lnSpc>
                <a:spcPct val="104000"/>
              </a:lnSpc>
              <a:spcBef>
                <a:spcPts val="400"/>
              </a:spcBef>
              <a:buNone/>
            </a:pPr>
            <a:r>
              <a:rPr lang="en-US" sz="1750" dirty="0">
                <a:solidFill>
                  <a:srgbClr val="000000"/>
                </a:solidFill>
                <a:latin typeface="Arial"/>
                <a:cs typeface="Arial"/>
              </a:rPr>
              <a:t>Exposure and outcome measured together</a:t>
            </a:r>
          </a:p>
          <a:p>
            <a:pPr marL="0" indent="0" algn="ctr">
              <a:lnSpc>
                <a:spcPct val="104000"/>
              </a:lnSpc>
              <a:spcBef>
                <a:spcPts val="400"/>
              </a:spcBef>
              <a:buNone/>
            </a:pPr>
            <a:r>
              <a:rPr lang="en-US" sz="1750" dirty="0">
                <a:solidFill>
                  <a:srgbClr val="000000"/>
                </a:solidFill>
                <a:latin typeface="Arial"/>
                <a:cs typeface="Arial"/>
              </a:rPr>
              <a:t>Cannot show which came first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Descriptive studies raise questions. They cannot answer 'does X cause 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Another example: a one-day point-prevalence survey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 cross-sectional study you could run next week</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Choose a day</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All inpatients on all wards, one weekday</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Examine everyone</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Two trained nurses, one standard form</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Record both</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Pressure injury (yes or no) and mattress type, at the same visit</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Count</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e.g. 37 of 412 patients = 9% prevalence today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snapshot gives prevalence. It cannot show which came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Case-control: start from the outcome, look back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ICU: intensive care unit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Case-control: pick people by outcome, then compare their past exposures.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Another example: a case-control study in the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is parenteral nutrition a risk factor for candidaemia in the ICU?</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Find cases</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40 ICU patients with candidaemia, from lab records</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Find controls</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80 ICU patients without it, same units and months</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Look back</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Parenteral nutrition in the 14 days before?</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Compare</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Exposed: 24 of 40 cases vs 16 of 80 controls</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Report</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An odds ratio (OR), calculated in Session 4</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Cases and controls are chosen by outcome. Exposure is measured looking back.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Cohort: start from the exposure, follow forward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Cohort: exposure first, outcome later, so time runs the right way.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Paper 2 (Hyun 2023), step by step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Read it as in Session 2. Question: is a positive fluid balance associated with death by day 28?</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Define the cohort</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Adults with sepsis in 20 hospitals, ICU stay of 3 days or more</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Measure exposure</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Cumulative fluid balance, ICU days 1-3: positive or negative</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Follow forward</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Record who dies by day 28</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Compare</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Matched pairs. On day 2, deaths about twice as frequent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cohort groups people by exposure and follows them to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RCT (randomised controlled trial): randomise, then follow forward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randomisation by a central computer, 1:1</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 an RCT chance, not the clinician, decides who gets what.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Paper 1 (Boulet 2024), step by step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does restricting non-resuscitation fluids reduce the day-5 fluid balance?</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Eligibility</a:t>
            </a:r>
          </a:p>
        </p:txBody>
      </p:sp>
      <p:sp>
        <p:nvSpPr>
          <p:cNvPr id="81" name="StepText"/>
          <p:cNvSpPr/>
          <p:nvPr/>
        </p:nvSpPr>
        <p:spPr>
          <a:xfrm>
            <a:off x="49720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Septic shock, age 18-85, vasopressor started less than 24 h ago</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Consent</a:t>
            </a:r>
          </a:p>
        </p:txBody>
      </p:sp>
      <p:sp>
        <p:nvSpPr>
          <p:cNvPr id="83" name="StepText"/>
          <p:cNvSpPr/>
          <p:nvPr/>
        </p:nvSpPr>
        <p:spPr>
          <a:xfrm>
            <a:off x="274072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Patient or legal surrogate</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Randomise</a:t>
            </a:r>
          </a:p>
        </p:txBody>
      </p:sp>
      <p:sp>
        <p:nvSpPr>
          <p:cNvPr id="85" name="StepText"/>
          <p:cNvSpPr/>
          <p:nvPr/>
        </p:nvSpPr>
        <p:spPr>
          <a:xfrm>
            <a:off x="498424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Central computer, 1:1, so nobody can predict</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Treat</a:t>
            </a:r>
          </a:p>
        </p:txBody>
      </p:sp>
      <p:sp>
        <p:nvSpPr>
          <p:cNvPr id="87" name="StepText"/>
          <p:cNvSpPr/>
          <p:nvPr/>
        </p:nvSpPr>
        <p:spPr>
          <a:xfrm>
            <a:off x="722776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Restrictive vs usual care for 7 days</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Measure</a:t>
            </a:r>
          </a:p>
        </p:txBody>
      </p:sp>
      <p:sp>
        <p:nvSpPr>
          <p:cNvPr id="89" name="StepText"/>
          <p:cNvSpPr/>
          <p:nvPr/>
        </p:nvSpPr>
        <p:spPr>
          <a:xfrm>
            <a:off x="947128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Fluid balance at day 5. Death by day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 a trial the investigator assigns the exposure by chance.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Systematic reviews and meta-analysis: studies of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systematic review searches and appraises. A meta-analysis pools the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Where the two papers sit on the evidence pyramid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Read it with care</a:t>
            </a:r>
          </a:p>
          <a:p>
            <a:pPr marL="274320" indent="-274320" algn="l">
              <a:spcBef>
                <a:spcPts val="440"/>
              </a:spcBef>
              <a:buFont typeface="Arial"/>
              <a:buChar char="•"/>
            </a:pPr>
            <a:r>
              <a:rPr lang="en-US" sz="1450" dirty="0">
                <a:solidFill>
                  <a:srgbClr val="000000"/>
                </a:solidFill>
                <a:latin typeface="Arial"/>
                <a:cs typeface="Arial"/>
              </a:rPr>
              <a:t>SR / MA: systematic review and meta-analysis</a:t>
            </a:r>
          </a:p>
          <a:p>
            <a:pPr marL="274320" indent="-274320" algn="l">
              <a:spcBef>
                <a:spcPts val="440"/>
              </a:spcBef>
              <a:buFont typeface="Arial"/>
              <a:buChar char="•"/>
            </a:pPr>
            <a:r>
              <a:rPr lang="en-US" sz="1450" dirty="0">
                <a:solidFill>
                  <a:srgbClr val="000000"/>
                </a:solidFill>
                <a:latin typeface="Arial"/>
                <a:cs typeface="Arial"/>
              </a:rPr>
              <a:t>Higher = less prone to bias, on average</a:t>
            </a:r>
          </a:p>
          <a:p>
            <a:pPr marL="274320" indent="-274320" algn="l">
              <a:spcBef>
                <a:spcPts val="440"/>
              </a:spcBef>
              <a:buFont typeface="Arial"/>
              <a:buChar char="•"/>
            </a:pPr>
            <a:r>
              <a:rPr lang="en-US" sz="1450" dirty="0">
                <a:solidFill>
                  <a:srgbClr val="000000"/>
                </a:solidFill>
                <a:latin typeface="Arial"/>
                <a:cs typeface="Arial"/>
              </a:rPr>
              <a:t>A rule of thumb, not a law</a:t>
            </a:r>
          </a:p>
          <a:p>
            <a:pPr marL="274320" indent="-274320" algn="l">
              <a:spcBef>
                <a:spcPts val="440"/>
              </a:spcBef>
              <a:buFont typeface="Arial"/>
              <a:buChar char="•"/>
            </a:pPr>
            <a:r>
              <a:rPr lang="en-US" sz="1450" dirty="0">
                <a:solidFill>
                  <a:srgbClr val="000000"/>
                </a:solidFill>
                <a:latin typeface="Arial"/>
                <a:cs typeface="Arial"/>
              </a:rPr>
              <a:t>A good cohort can beat a poor RCT</a:t>
            </a:r>
          </a:p>
          <a:p>
            <a:pPr marL="274320" indent="-274320" algn="l">
              <a:spcBef>
                <a:spcPts val="440"/>
              </a:spcBef>
              <a:buFont typeface="Arial"/>
              <a:buChar char="•"/>
            </a:pPr>
            <a:r>
              <a:rPr lang="en-US" sz="1450" dirty="0">
                <a:solidFill>
                  <a:srgbClr val="000000"/>
                </a:solidFill>
                <a:latin typeface="Arial"/>
                <a:cs typeface="Arial"/>
              </a:rPr>
              <a:t>The best design is the one that fits the question</a:t>
            </a:r>
          </a:p>
        </p:txBody>
      </p:sp>
      <p:pic>
        <p:nvPicPr>
          <p:cNvPr id="25" name="Figure"/>
          <p:cNvPicPr>
            <a:picLocks noChangeAspect="1"/>
          </p:cNvPicPr>
          <p:nvPr/>
        </p:nvPicPr>
        <p:blipFill>
          <a:blip r:embed="rId4"/>
          <a:stretch>
            <a:fillRect/>
          </a:stretch>
        </p:blipFill>
        <p:spPr>
          <a:xfrm>
            <a:off x="4307200" y="1150000"/>
            <a:ext cx="7275000"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Name the design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Assigned? Random? Which way does time run? Three questions name the design.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Every design trades something away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Strengths and weaknesses at a glance</a:t>
            </a:r>
          </a:p>
        </p:txBody>
      </p:sp>
      <p:sp>
        <p:nvSpPr>
          <p:cNvPr id="70" name="CardHead"/>
          <p:cNvSpPr/>
          <p:nvPr/>
        </p:nvSpPr>
        <p:spPr>
          <a:xfrm>
            <a:off x="457200" y="20413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Cross-sectional</a:t>
            </a:r>
          </a:p>
        </p:txBody>
      </p:sp>
      <p:sp>
        <p:nvSpPr>
          <p:cNvPr id="71" name="CardBody"/>
          <p:cNvSpPr/>
          <p:nvPr/>
        </p:nvSpPr>
        <p:spPr>
          <a:xfrm>
            <a:off x="457200" y="2681306"/>
            <a:ext cx="2669400" cy="1806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quick and cheap</a:t>
            </a:r>
          </a:p>
          <a:p>
            <a:pPr marL="0" indent="0" algn="ctr">
              <a:lnSpc>
                <a:spcPct val="104000"/>
              </a:lnSpc>
              <a:spcBef>
                <a:spcPts val="400"/>
              </a:spcBef>
              <a:buNone/>
            </a:pPr>
            <a:r>
              <a:rPr lang="en-US" sz="1600" dirty="0">
                <a:solidFill>
                  <a:srgbClr val="2E8B57"/>
                </a:solidFill>
                <a:latin typeface="Arial"/>
                <a:cs typeface="Arial"/>
              </a:rPr>
              <a:t>+ gives prevalence</a:t>
            </a:r>
          </a:p>
          <a:p>
            <a:pPr marL="0" indent="0" algn="ctr">
              <a:lnSpc>
                <a:spcPct val="104000"/>
              </a:lnSpc>
              <a:spcBef>
                <a:spcPts val="400"/>
              </a:spcBef>
              <a:buNone/>
            </a:pPr>
            <a:r>
              <a:rPr lang="en-US" sz="1600" dirty="0">
                <a:solidFill>
                  <a:srgbClr val="B23B2E"/>
                </a:solidFill>
                <a:latin typeface="Arial"/>
                <a:cs typeface="Arial"/>
              </a:rPr>
              <a:t>- which came first?</a:t>
            </a:r>
          </a:p>
        </p:txBody>
      </p:sp>
      <p:sp>
        <p:nvSpPr>
          <p:cNvPr id="72" name="CardHead"/>
          <p:cNvSpPr/>
          <p:nvPr/>
        </p:nvSpPr>
        <p:spPr>
          <a:xfrm>
            <a:off x="3326600" y="20413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Case-control</a:t>
            </a:r>
          </a:p>
        </p:txBody>
      </p:sp>
      <p:sp>
        <p:nvSpPr>
          <p:cNvPr id="73" name="CardBody"/>
          <p:cNvSpPr/>
          <p:nvPr/>
        </p:nvSpPr>
        <p:spPr>
          <a:xfrm>
            <a:off x="3326600" y="2681306"/>
            <a:ext cx="2669400" cy="1806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rare outcomes</a:t>
            </a:r>
          </a:p>
          <a:p>
            <a:pPr marL="0" indent="0" algn="ctr">
              <a:lnSpc>
                <a:spcPct val="104000"/>
              </a:lnSpc>
              <a:spcBef>
                <a:spcPts val="400"/>
              </a:spcBef>
              <a:buNone/>
            </a:pPr>
            <a:r>
              <a:rPr lang="en-US" sz="1600" dirty="0">
                <a:solidFill>
                  <a:srgbClr val="2E8B57"/>
                </a:solidFill>
                <a:latin typeface="Arial"/>
                <a:cs typeface="Arial"/>
              </a:rPr>
              <a:t>+ few patients, fast</a:t>
            </a:r>
          </a:p>
          <a:p>
            <a:pPr marL="0" indent="0" algn="ctr">
              <a:lnSpc>
                <a:spcPct val="104000"/>
              </a:lnSpc>
              <a:spcBef>
                <a:spcPts val="400"/>
              </a:spcBef>
              <a:buNone/>
            </a:pPr>
            <a:r>
              <a:rPr lang="en-US" sz="1600" dirty="0">
                <a:solidFill>
                  <a:srgbClr val="B23B2E"/>
                </a:solidFill>
                <a:latin typeface="Arial"/>
                <a:cs typeface="Arial"/>
              </a:rPr>
              <a:t>- recall bias</a:t>
            </a:r>
          </a:p>
          <a:p>
            <a:pPr marL="0" indent="0" algn="ctr">
              <a:lnSpc>
                <a:spcPct val="104000"/>
              </a:lnSpc>
              <a:spcBef>
                <a:spcPts val="400"/>
              </a:spcBef>
              <a:buNone/>
            </a:pPr>
            <a:r>
              <a:rPr lang="en-US" sz="1600" dirty="0">
                <a:solidFill>
                  <a:srgbClr val="B23B2E"/>
                </a:solidFill>
                <a:latin typeface="Arial"/>
                <a:cs typeface="Arial"/>
              </a:rPr>
              <a:t>- odds ratio only</a:t>
            </a:r>
          </a:p>
        </p:txBody>
      </p:sp>
      <p:sp>
        <p:nvSpPr>
          <p:cNvPr id="74" name="CardHead"/>
          <p:cNvSpPr/>
          <p:nvPr/>
        </p:nvSpPr>
        <p:spPr>
          <a:xfrm>
            <a:off x="6196000" y="20413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Cohort</a:t>
            </a:r>
          </a:p>
        </p:txBody>
      </p:sp>
      <p:sp>
        <p:nvSpPr>
          <p:cNvPr id="75" name="CardBody"/>
          <p:cNvSpPr/>
          <p:nvPr/>
        </p:nvSpPr>
        <p:spPr>
          <a:xfrm>
            <a:off x="6196000" y="2681306"/>
            <a:ext cx="2669400" cy="1806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clear time order</a:t>
            </a:r>
          </a:p>
          <a:p>
            <a:pPr marL="0" indent="0" algn="ctr">
              <a:lnSpc>
                <a:spcPct val="104000"/>
              </a:lnSpc>
              <a:spcBef>
                <a:spcPts val="400"/>
              </a:spcBef>
              <a:buNone/>
            </a:pPr>
            <a:r>
              <a:rPr lang="en-US" sz="1600" dirty="0">
                <a:solidFill>
                  <a:srgbClr val="2E8B57"/>
                </a:solidFill>
                <a:latin typeface="Arial"/>
                <a:cs typeface="Arial"/>
              </a:rPr>
              <a:t>+ risks, many outcomes</a:t>
            </a:r>
          </a:p>
          <a:p>
            <a:pPr marL="0" indent="0" algn="ctr">
              <a:lnSpc>
                <a:spcPct val="104000"/>
              </a:lnSpc>
              <a:spcBef>
                <a:spcPts val="400"/>
              </a:spcBef>
              <a:buNone/>
            </a:pPr>
            <a:r>
              <a:rPr lang="en-US" sz="1600" dirty="0">
                <a:solidFill>
                  <a:srgbClr val="B23B2E"/>
                </a:solidFill>
                <a:latin typeface="Arial"/>
                <a:cs typeface="Arial"/>
              </a:rPr>
              <a:t>- slow if prospective</a:t>
            </a:r>
          </a:p>
          <a:p>
            <a:pPr marL="0" indent="0" algn="ctr">
              <a:lnSpc>
                <a:spcPct val="104000"/>
              </a:lnSpc>
              <a:spcBef>
                <a:spcPts val="400"/>
              </a:spcBef>
              <a:buNone/>
            </a:pPr>
            <a:r>
              <a:rPr lang="en-US" sz="1600" dirty="0">
                <a:solidFill>
                  <a:srgbClr val="B23B2E"/>
                </a:solidFill>
                <a:latin typeface="Arial"/>
                <a:cs typeface="Arial"/>
              </a:rPr>
              <a:t>- confounding</a:t>
            </a:r>
          </a:p>
        </p:txBody>
      </p:sp>
      <p:sp>
        <p:nvSpPr>
          <p:cNvPr id="76" name="CardHead"/>
          <p:cNvSpPr/>
          <p:nvPr/>
        </p:nvSpPr>
        <p:spPr>
          <a:xfrm>
            <a:off x="9065400" y="20413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RCT</a:t>
            </a:r>
          </a:p>
        </p:txBody>
      </p:sp>
      <p:sp>
        <p:nvSpPr>
          <p:cNvPr id="77" name="CardBody"/>
          <p:cNvSpPr/>
          <p:nvPr/>
        </p:nvSpPr>
        <p:spPr>
          <a:xfrm>
            <a:off x="9065400" y="2681306"/>
            <a:ext cx="2669400" cy="1806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balances the unknown</a:t>
            </a:r>
          </a:p>
          <a:p>
            <a:pPr marL="0" indent="0" algn="ctr">
              <a:lnSpc>
                <a:spcPct val="104000"/>
              </a:lnSpc>
              <a:spcBef>
                <a:spcPts val="400"/>
              </a:spcBef>
              <a:buNone/>
            </a:pPr>
            <a:r>
              <a:rPr lang="en-US" sz="1600" dirty="0">
                <a:solidFill>
                  <a:srgbClr val="2E8B57"/>
                </a:solidFill>
                <a:latin typeface="Arial"/>
                <a:cs typeface="Arial"/>
              </a:rPr>
              <a:t>+ strongest for cause</a:t>
            </a:r>
          </a:p>
          <a:p>
            <a:pPr marL="0" indent="0" algn="ctr">
              <a:lnSpc>
                <a:spcPct val="104000"/>
              </a:lnSpc>
              <a:spcBef>
                <a:spcPts val="400"/>
              </a:spcBef>
              <a:buNone/>
            </a:pPr>
            <a:r>
              <a:rPr lang="en-US" sz="1600" dirty="0">
                <a:solidFill>
                  <a:srgbClr val="B23B2E"/>
                </a:solidFill>
                <a:latin typeface="Arial"/>
                <a:cs typeface="Arial"/>
              </a:rPr>
              <a:t>- costly, ethical limits</a:t>
            </a:r>
          </a:p>
          <a:p>
            <a:pPr marL="0" indent="0" algn="ctr">
              <a:lnSpc>
                <a:spcPct val="104000"/>
              </a:lnSpc>
              <a:spcBef>
                <a:spcPts val="400"/>
              </a:spcBef>
              <a:buNone/>
            </a:pPr>
            <a:r>
              <a:rPr lang="en-US" sz="1600" dirty="0">
                <a:solidFill>
                  <a:srgbClr val="B23B2E"/>
                </a:solidFill>
                <a:latin typeface="Arial"/>
                <a:cs typeface="Arial"/>
              </a:rPr>
              <a:t>- selected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No design is perfect: choose the one whose weakness hurts your question least.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can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489211"/>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RCT: Paper 1, Boulet 2024 (48 patients)</a:t>
            </a:r>
          </a:p>
        </p:txBody>
      </p:sp>
      <p:sp>
        <p:nvSpPr>
          <p:cNvPr id="71" name="CardBody"/>
          <p:cNvSpPr/>
          <p:nvPr/>
        </p:nvSpPr>
        <p:spPr>
          <a:xfrm>
            <a:off x="457200" y="2129211"/>
            <a:ext cx="5538800" cy="258236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It can claim</a:t>
            </a:r>
          </a:p>
          <a:p>
            <a:pPr marL="0" indent="0" algn="ctr">
              <a:lnSpc>
                <a:spcPct val="104000"/>
              </a:lnSpc>
              <a:spcBef>
                <a:spcPts val="400"/>
              </a:spcBef>
              <a:buNone/>
            </a:pPr>
            <a:r>
              <a:rPr lang="en-US" sz="1750" dirty="0">
                <a:solidFill>
                  <a:srgbClr val="000000"/>
                </a:solidFill>
                <a:latin typeface="Arial"/>
                <a:cs typeface="Arial"/>
              </a:rPr>
              <a:t>Groups alike at the start (chance)</a:t>
            </a:r>
          </a:p>
          <a:p>
            <a:pPr marL="0" indent="0" algn="ctr">
              <a:lnSpc>
                <a:spcPct val="104000"/>
              </a:lnSpc>
              <a:spcBef>
                <a:spcPts val="400"/>
              </a:spcBef>
              <a:buNone/>
            </a:pPr>
            <a:r>
              <a:rPr lang="en-US" sz="1750" dirty="0">
                <a:solidFill>
                  <a:srgbClr val="000000"/>
                </a:solidFill>
                <a:latin typeface="Arial"/>
                <a:cs typeface="Arial"/>
              </a:rPr>
              <a:t>A difference can be blamed on the strategy</a:t>
            </a:r>
          </a:p>
          <a:p>
            <a:pPr marL="0" indent="0" algn="ctr">
              <a:lnSpc>
                <a:spcPct val="104000"/>
              </a:lnSpc>
              <a:spcBef>
                <a:spcPts val="400"/>
              </a:spcBef>
              <a:buNone/>
            </a:pPr>
            <a:r>
              <a:rPr lang="en-US" sz="1750" b="1" dirty="0">
                <a:solidFill>
                  <a:srgbClr val="B23B2E"/>
                </a:solidFill>
                <a:latin typeface="Arial"/>
                <a:cs typeface="Arial"/>
              </a:rPr>
              <a:t>Its limits</a:t>
            </a:r>
          </a:p>
          <a:p>
            <a:pPr marL="0" indent="0" algn="ctr">
              <a:lnSpc>
                <a:spcPct val="104000"/>
              </a:lnSpc>
              <a:spcBef>
                <a:spcPts val="400"/>
              </a:spcBef>
              <a:buNone/>
            </a:pPr>
            <a:r>
              <a:rPr lang="en-US" sz="1750" dirty="0">
                <a:solidFill>
                  <a:srgbClr val="000000"/>
                </a:solidFill>
                <a:latin typeface="Arial"/>
                <a:cs typeface="Arial"/>
              </a:rPr>
              <a:t>Too small for mortality (6 vs 6 deaths)</a:t>
            </a:r>
          </a:p>
          <a:p>
            <a:pPr marL="0" indent="0" algn="ctr">
              <a:lnSpc>
                <a:spcPct val="104000"/>
              </a:lnSpc>
              <a:spcBef>
                <a:spcPts val="400"/>
              </a:spcBef>
              <a:buNone/>
            </a:pPr>
            <a:r>
              <a:rPr lang="en-US" sz="1750" dirty="0">
                <a:solidFill>
                  <a:srgbClr val="000000"/>
                </a:solidFill>
                <a:latin typeface="Arial"/>
                <a:cs typeface="Arial"/>
              </a:rPr>
              <a:t>Clinicians knew the group (single-blind)</a:t>
            </a:r>
          </a:p>
        </p:txBody>
      </p:sp>
      <p:sp>
        <p:nvSpPr>
          <p:cNvPr id="72" name="CardHead"/>
          <p:cNvSpPr/>
          <p:nvPr/>
        </p:nvSpPr>
        <p:spPr>
          <a:xfrm>
            <a:off x="6196000" y="1489211"/>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Cohort: Paper 2, Hyun 2023 (thousands)</a:t>
            </a:r>
          </a:p>
        </p:txBody>
      </p:sp>
      <p:sp>
        <p:nvSpPr>
          <p:cNvPr id="73" name="CardBody"/>
          <p:cNvSpPr/>
          <p:nvPr/>
        </p:nvSpPr>
        <p:spPr>
          <a:xfrm>
            <a:off x="6196000" y="2129211"/>
            <a:ext cx="5538800" cy="258236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It can claim</a:t>
            </a:r>
          </a:p>
          <a:p>
            <a:pPr marL="0" indent="0" algn="ctr">
              <a:lnSpc>
                <a:spcPct val="104000"/>
              </a:lnSpc>
              <a:spcBef>
                <a:spcPts val="400"/>
              </a:spcBef>
              <a:buNone/>
            </a:pPr>
            <a:r>
              <a:rPr lang="en-US" sz="1750" dirty="0">
                <a:solidFill>
                  <a:srgbClr val="000000"/>
                </a:solidFill>
                <a:latin typeface="Arial"/>
                <a:cs typeface="Arial"/>
              </a:rPr>
              <a:t>Large, real patients, 28-day mortality</a:t>
            </a:r>
          </a:p>
          <a:p>
            <a:pPr marL="0" indent="0" algn="ctr">
              <a:lnSpc>
                <a:spcPct val="104000"/>
              </a:lnSpc>
              <a:spcBef>
                <a:spcPts val="400"/>
              </a:spcBef>
              <a:buNone/>
            </a:pPr>
            <a:r>
              <a:rPr lang="en-US" sz="1750" dirty="0">
                <a:solidFill>
                  <a:srgbClr val="000000"/>
                </a:solidFill>
                <a:latin typeface="Arial"/>
                <a:cs typeface="Arial"/>
              </a:rPr>
              <a:t>'Associated with' (day 2: deaths about twice as frequent)</a:t>
            </a:r>
          </a:p>
          <a:p>
            <a:pPr marL="0" indent="0" algn="ctr">
              <a:lnSpc>
                <a:spcPct val="104000"/>
              </a:lnSpc>
              <a:spcBef>
                <a:spcPts val="400"/>
              </a:spcBef>
              <a:buNone/>
            </a:pPr>
            <a:r>
              <a:rPr lang="en-US" sz="1750" b="1" dirty="0">
                <a:solidFill>
                  <a:srgbClr val="B23B2E"/>
                </a:solidFill>
                <a:latin typeface="Arial"/>
                <a:cs typeface="Arial"/>
              </a:rPr>
              <a:t>Its limits</a:t>
            </a:r>
          </a:p>
          <a:p>
            <a:pPr marL="0" indent="0" algn="ctr">
              <a:lnSpc>
                <a:spcPct val="104000"/>
              </a:lnSpc>
              <a:spcBef>
                <a:spcPts val="400"/>
              </a:spcBef>
              <a:buNone/>
            </a:pPr>
            <a:r>
              <a:rPr lang="en-US" sz="1750" dirty="0">
                <a:solidFill>
                  <a:srgbClr val="000000"/>
                </a:solidFill>
                <a:latin typeface="Arial"/>
                <a:cs typeface="Arial"/>
              </a:rPr>
              <a:t>Cannot prove that fluid causes death</a:t>
            </a:r>
          </a:p>
          <a:p>
            <a:pPr marL="0" indent="0" algn="ctr">
              <a:lnSpc>
                <a:spcPct val="104000"/>
              </a:lnSpc>
              <a:spcBef>
                <a:spcPts val="400"/>
              </a:spcBef>
              <a:buNone/>
            </a:pPr>
            <a:r>
              <a:rPr lang="en-US" sz="1750" dirty="0">
                <a:solidFill>
                  <a:srgbClr val="000000"/>
                </a:solidFill>
                <a:latin typeface="Arial"/>
                <a:cs typeface="Arial"/>
              </a:rPr>
              <a:t>Sicker patients got more fluid (confounding)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RCTs can say 'caused'. Cohorts should say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caused or associated?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Paper 1, Boulet (RCT): 'The restrictive strategy did not reduce the day-5 fluid balance'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Paper 2, Hyun (cohort): 'A positive fluid balance causes higher 28-day mortality'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A one-day survey of ICU patients: 'A positive fluid balance today is associated with kidney injury today'</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For each sentence</a:t>
            </a:r>
          </a:p>
          <a:p>
            <a:pPr marL="0" indent="0" algn="ctr">
              <a:lnSpc>
                <a:spcPct val="104000"/>
              </a:lnSpc>
              <a:spcBef>
                <a:spcPts val="300"/>
              </a:spcBef>
              <a:buNone/>
            </a:pPr>
            <a:r>
              <a:rPr lang="en-US" sz="1500" dirty="0">
                <a:solidFill>
                  <a:srgbClr val="000000"/>
                </a:solidFill>
                <a:latin typeface="Arial"/>
                <a:cs typeface="Arial"/>
              </a:rPr>
              <a:t>Is the wording right for the design?</a:t>
            </a:r>
          </a:p>
          <a:p>
            <a:pPr marL="0" indent="0" algn="ctr">
              <a:lnSpc>
                <a:spcPct val="104000"/>
              </a:lnSpc>
              <a:spcBef>
                <a:spcPts val="300"/>
              </a:spcBef>
              <a:buNone/>
            </a:pPr>
            <a:r>
              <a:rPr lang="en-US" sz="1500" dirty="0">
                <a:solidFill>
                  <a:srgbClr val="000000"/>
                </a:solidFill>
                <a:latin typeface="Arial"/>
                <a:cs typeface="Arial"/>
              </a:rPr>
              <a:t>Vote in the poll: right or wrong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poll vote (right or wrong) for each sentence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Exercise: Name that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Six short abstracts on our fluid question: Session 3 exercise sheet (PDF sent before the session), Part A</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shows one abstract at a time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Vote for the design in the poll</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volunteer says the phrase that proves it, microphone on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Use the three questions: assigned? random? which way does time run?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Use the tree</a:t>
            </a:r>
          </a:p>
          <a:p>
            <a:pPr marL="0" indent="0" algn="ctr">
              <a:lnSpc>
                <a:spcPct val="104000"/>
              </a:lnSpc>
              <a:spcBef>
                <a:spcPts val="300"/>
              </a:spcBef>
              <a:buNone/>
            </a:pPr>
            <a:r>
              <a:rPr lang="en-US" sz="1500" dirty="0">
                <a:solidFill>
                  <a:srgbClr val="000000"/>
                </a:solidFill>
                <a:latin typeface="Arial"/>
                <a:cs typeface="Arial"/>
              </a:rPr>
              <a:t>Assigned and random: RCT</a:t>
            </a:r>
          </a:p>
          <a:p>
            <a:pPr marL="0" indent="0" algn="ctr">
              <a:lnSpc>
                <a:spcPct val="104000"/>
              </a:lnSpc>
              <a:spcBef>
                <a:spcPts val="300"/>
              </a:spcBef>
              <a:buNone/>
            </a:pPr>
            <a:r>
              <a:rPr lang="en-US" sz="1500" dirty="0">
                <a:solidFill>
                  <a:srgbClr val="000000"/>
                </a:solidFill>
                <a:latin typeface="Arial"/>
                <a:cs typeface="Arial"/>
              </a:rPr>
              <a:t>Outcome first, look back: case-control</a:t>
            </a:r>
          </a:p>
          <a:p>
            <a:pPr marL="0" indent="0" algn="ctr">
              <a:lnSpc>
                <a:spcPct val="104000"/>
              </a:lnSpc>
              <a:spcBef>
                <a:spcPts val="300"/>
              </a:spcBef>
              <a:buNone/>
            </a:pPr>
            <a:r>
              <a:rPr lang="en-US" sz="1500" dirty="0">
                <a:solidFill>
                  <a:srgbClr val="000000"/>
                </a:solidFill>
                <a:latin typeface="Arial"/>
                <a:cs typeface="Arial"/>
              </a:rPr>
              <a:t>Exposure first, follow forward: cohort</a:t>
            </a:r>
          </a:p>
          <a:p>
            <a:pPr marL="0" indent="0" algn="ctr">
              <a:lnSpc>
                <a:spcPct val="104000"/>
              </a:lnSpc>
              <a:spcBef>
                <a:spcPts val="300"/>
              </a:spcBef>
              <a:buNone/>
            </a:pPr>
            <a:r>
              <a:rPr lang="en-US" sz="1500" dirty="0">
                <a:solidFill>
                  <a:srgbClr val="000000"/>
                </a:solidFill>
                <a:latin typeface="Arial"/>
                <a:cs typeface="Arial"/>
              </a:rPr>
              <a:t>Same moment: cross-sectional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Six designs named by the class, each with one evidence phrase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3.2  More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Real projects bend the basic designs.</a:t>
            </a:r>
          </a:p>
          <a:p>
            <a:pPr marL="0" indent="0" algn="ctr">
              <a:spcBef>
                <a:spcPts val="1200"/>
              </a:spcBef>
              <a:buNone/>
            </a:pPr>
            <a:r>
              <a:rPr lang="en-US" sz="1900" i="1" dirty="0">
                <a:solidFill>
                  <a:srgbClr val="595959"/>
                </a:solidFill>
                <a:latin typeface="Arial"/>
                <a:cs typeface="Arial"/>
              </a:rPr>
              <a:t>Trial variants, non-inferiority, pilots, quality-improvement designs and qualitative research. (30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Not every trial is parallel: four layouts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79673" y="1150000"/>
            <a:ext cx="9232653"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randomisation. A and B: the two treatments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Choose the trial layout that fits the treatment and the unit of care.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Superiority or non-inferiority? The margin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CI: confidence interval. Hypothetical results.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Non-inferiority: the whole CI must stay below a margin fixed in advance.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Pilot and feasibility studies: the rehearsal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91353"/>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Boulet 2024: a pilot trial</a:t>
            </a:r>
          </a:p>
        </p:txBody>
      </p:sp>
      <p:sp>
        <p:nvSpPr>
          <p:cNvPr id="71" name="CardBody"/>
          <p:cNvSpPr/>
          <p:nvPr/>
        </p:nvSpPr>
        <p:spPr>
          <a:xfrm>
            <a:off x="457200" y="2331353"/>
            <a:ext cx="5538800" cy="197594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1,201 patients screened</a:t>
            </a:r>
          </a:p>
          <a:p>
            <a:pPr marL="0" indent="0" algn="ctr">
              <a:lnSpc>
                <a:spcPct val="104000"/>
              </a:lnSpc>
              <a:spcBef>
                <a:spcPts val="400"/>
              </a:spcBef>
              <a:buNone/>
            </a:pPr>
            <a:r>
              <a:rPr lang="en-US" sz="1750" dirty="0">
                <a:solidFill>
                  <a:srgbClr val="000000"/>
                </a:solidFill>
                <a:latin typeface="Arial"/>
                <a:cs typeface="Arial"/>
              </a:rPr>
              <a:t>50 randomised (4%)</a:t>
            </a:r>
          </a:p>
          <a:p>
            <a:pPr marL="0" indent="0" algn="ctr">
              <a:lnSpc>
                <a:spcPct val="104000"/>
              </a:lnSpc>
              <a:spcBef>
                <a:spcPts val="400"/>
              </a:spcBef>
              <a:buNone/>
            </a:pPr>
            <a:r>
              <a:rPr lang="en-US" sz="1750" dirty="0">
                <a:solidFill>
                  <a:srgbClr val="000000"/>
                </a:solidFill>
                <a:latin typeface="Arial"/>
                <a:cs typeface="Arial"/>
              </a:rPr>
              <a:t>48 analysed (96%)</a:t>
            </a:r>
          </a:p>
          <a:p>
            <a:pPr marL="0" indent="0" algn="ctr">
              <a:lnSpc>
                <a:spcPct val="104000"/>
              </a:lnSpc>
              <a:spcBef>
                <a:spcPts val="400"/>
              </a:spcBef>
              <a:buNone/>
            </a:pPr>
            <a:r>
              <a:rPr lang="en-US" sz="1750" dirty="0">
                <a:solidFill>
                  <a:srgbClr val="000000"/>
                </a:solidFill>
                <a:latin typeface="Arial"/>
                <a:cs typeface="Arial"/>
              </a:rPr>
              <a:t>About 3 patients per month across 3 ICUs</a:t>
            </a:r>
          </a:p>
        </p:txBody>
      </p:sp>
      <p:sp>
        <p:nvSpPr>
          <p:cNvPr id="72" name="CardHead"/>
          <p:cNvSpPr/>
          <p:nvPr/>
        </p:nvSpPr>
        <p:spPr>
          <a:xfrm>
            <a:off x="6196000" y="1691353"/>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pilot asks: can we do the big trial?</a:t>
            </a:r>
          </a:p>
        </p:txBody>
      </p:sp>
      <p:sp>
        <p:nvSpPr>
          <p:cNvPr id="73" name="CardBody"/>
          <p:cNvSpPr/>
          <p:nvPr/>
        </p:nvSpPr>
        <p:spPr>
          <a:xfrm>
            <a:off x="6196000" y="2331353"/>
            <a:ext cx="5538800" cy="197594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Can we recruit enough patients?</a:t>
            </a:r>
          </a:p>
          <a:p>
            <a:pPr marL="0" indent="0" algn="ctr">
              <a:lnSpc>
                <a:spcPct val="104000"/>
              </a:lnSpc>
              <a:spcBef>
                <a:spcPts val="400"/>
              </a:spcBef>
              <a:buNone/>
            </a:pPr>
            <a:r>
              <a:rPr lang="en-US" sz="1750" dirty="0">
                <a:solidFill>
                  <a:srgbClr val="000000"/>
                </a:solidFill>
                <a:latin typeface="Arial"/>
                <a:cs typeface="Arial"/>
              </a:rPr>
              <a:t>Will patients or families consent?</a:t>
            </a:r>
          </a:p>
          <a:p>
            <a:pPr marL="0" indent="0" algn="ctr">
              <a:lnSpc>
                <a:spcPct val="104000"/>
              </a:lnSpc>
              <a:spcBef>
                <a:spcPts val="400"/>
              </a:spcBef>
              <a:buNone/>
            </a:pPr>
            <a:r>
              <a:rPr lang="en-US" sz="1750" dirty="0">
                <a:solidFill>
                  <a:srgbClr val="000000"/>
                </a:solidFill>
                <a:latin typeface="Arial"/>
                <a:cs typeface="Arial"/>
              </a:rPr>
              <a:t>Can staff deliver the intervention?</a:t>
            </a:r>
          </a:p>
          <a:p>
            <a:pPr marL="0" indent="0" algn="ctr">
              <a:lnSpc>
                <a:spcPct val="104000"/>
              </a:lnSpc>
              <a:spcBef>
                <a:spcPts val="400"/>
              </a:spcBef>
              <a:buNone/>
            </a:pPr>
            <a:r>
              <a:rPr lang="en-US" sz="1750" dirty="0">
                <a:solidFill>
                  <a:srgbClr val="000000"/>
                </a:solidFill>
                <a:latin typeface="Arial"/>
                <a:cs typeface="Arial"/>
              </a:rPr>
              <a:t>Are outcomes measurable and complete?</a:t>
            </a:r>
          </a:p>
          <a:p>
            <a:pPr marL="0" indent="0" algn="ctr">
              <a:lnSpc>
                <a:spcPct val="104000"/>
              </a:lnSpc>
              <a:spcBef>
                <a:spcPts val="400"/>
              </a:spcBef>
              <a:buNone/>
            </a:pPr>
            <a:r>
              <a:rPr lang="en-US" sz="1750" dirty="0">
                <a:solidFill>
                  <a:srgbClr val="000000"/>
                </a:solidFill>
                <a:latin typeface="Arial"/>
                <a:cs typeface="Arial"/>
              </a:rPr>
              <a:t>What numbers do we need for the big trial?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pilot asks 'can we do it?', not 'does it 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Quasi-experimental designs: before-after and interrupted time series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Simulated data for teaching. ITS: interrupted time series, QI: quality improvement.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Compare against the trend you expected, not against one 'before' average.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Qualitative designs: when numbers cannot answer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Why? How? What is it like? Words, not numbers, analysed as themes</a:t>
            </a:r>
          </a:p>
        </p:txBody>
      </p:sp>
      <p:sp>
        <p:nvSpPr>
          <p:cNvPr id="70" name="CardHead"/>
          <p:cNvSpPr/>
          <p:nvPr/>
        </p:nvSpPr>
        <p:spPr>
          <a:xfrm>
            <a:off x="457200"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In-depth interviews</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One person, open questions</a:t>
            </a:r>
          </a:p>
          <a:p>
            <a:pPr marL="0" indent="0" algn="ctr">
              <a:lnSpc>
                <a:spcPct val="104000"/>
              </a:lnSpc>
              <a:spcBef>
                <a:spcPts val="400"/>
              </a:spcBef>
              <a:buNone/>
            </a:pPr>
            <a:r>
              <a:rPr lang="en-US" sz="1750" dirty="0">
                <a:solidFill>
                  <a:srgbClr val="000000"/>
                </a:solidFill>
                <a:latin typeface="Arial"/>
                <a:cs typeface="Arial"/>
              </a:rPr>
              <a:t>Usually 30-60 minutes</a:t>
            </a:r>
          </a:p>
          <a:p>
            <a:pPr marL="0" indent="0" algn="ctr">
              <a:lnSpc>
                <a:spcPct val="104000"/>
              </a:lnSpc>
              <a:spcBef>
                <a:spcPts val="400"/>
              </a:spcBef>
              <a:buNone/>
            </a:pPr>
            <a:r>
              <a:rPr lang="en-US" sz="1750" dirty="0">
                <a:solidFill>
                  <a:srgbClr val="000000"/>
                </a:solidFill>
                <a:latin typeface="Arial"/>
                <a:cs typeface="Arial"/>
              </a:rPr>
              <a:t>e.g. why urine output goes unrecorded at night</a:t>
            </a:r>
          </a:p>
        </p:txBody>
      </p:sp>
      <p:sp>
        <p:nvSpPr>
          <p:cNvPr id="72" name="CardHead"/>
          <p:cNvSpPr/>
          <p:nvPr/>
        </p:nvSpPr>
        <p:spPr>
          <a:xfrm>
            <a:off x="4283066"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Focus groups</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6-8 people discuss together</a:t>
            </a:r>
          </a:p>
          <a:p>
            <a:pPr marL="0" indent="0" algn="ctr">
              <a:lnSpc>
                <a:spcPct val="104000"/>
              </a:lnSpc>
              <a:spcBef>
                <a:spcPts val="400"/>
              </a:spcBef>
              <a:buNone/>
            </a:pPr>
            <a:r>
              <a:rPr lang="en-US" sz="1750" dirty="0">
                <a:solidFill>
                  <a:srgbClr val="000000"/>
                </a:solidFill>
                <a:latin typeface="Arial"/>
                <a:cs typeface="Arial"/>
              </a:rPr>
              <a:t>Views spark other views</a:t>
            </a:r>
          </a:p>
          <a:p>
            <a:pPr marL="0" indent="0" algn="ctr">
              <a:lnSpc>
                <a:spcPct val="104000"/>
              </a:lnSpc>
              <a:spcBef>
                <a:spcPts val="400"/>
              </a:spcBef>
              <a:buNone/>
            </a:pPr>
            <a:r>
              <a:rPr lang="en-US" sz="1750" dirty="0">
                <a:solidFill>
                  <a:srgbClr val="000000"/>
                </a:solidFill>
                <a:latin typeface="Arial"/>
                <a:cs typeface="Arial"/>
              </a:rPr>
              <a:t>e.g. how families experience consent in the ICU</a:t>
            </a:r>
          </a:p>
        </p:txBody>
      </p:sp>
      <p:sp>
        <p:nvSpPr>
          <p:cNvPr id="74" name="CardHead"/>
          <p:cNvSpPr/>
          <p:nvPr/>
        </p:nvSpPr>
        <p:spPr>
          <a:xfrm>
            <a:off x="8108932"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Observation</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Watch what people actually do</a:t>
            </a:r>
          </a:p>
          <a:p>
            <a:pPr marL="0" indent="0" algn="ctr">
              <a:lnSpc>
                <a:spcPct val="104000"/>
              </a:lnSpc>
              <a:spcBef>
                <a:spcPts val="400"/>
              </a:spcBef>
              <a:buNone/>
            </a:pPr>
            <a:r>
              <a:rPr lang="en-US" sz="1750" dirty="0">
                <a:solidFill>
                  <a:srgbClr val="000000"/>
                </a:solidFill>
                <a:latin typeface="Arial"/>
                <a:cs typeface="Arial"/>
              </a:rPr>
              <a:t>It may differ from what they say</a:t>
            </a:r>
          </a:p>
          <a:p>
            <a:pPr marL="0" indent="0" algn="ctr">
              <a:lnSpc>
                <a:spcPct val="104000"/>
              </a:lnSpc>
              <a:spcBef>
                <a:spcPts val="400"/>
              </a:spcBef>
              <a:buNone/>
            </a:pPr>
            <a:r>
              <a:rPr lang="en-US" sz="1750" dirty="0">
                <a:solidFill>
                  <a:srgbClr val="000000"/>
                </a:solidFill>
                <a:latin typeface="Arial"/>
                <a:cs typeface="Arial"/>
              </a:rPr>
              <a:t>e.g. how fluid charts are filled in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Qualitative research explains why and how. It complements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Match the design to the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75808"/>
          <a:ext cx="11277600" cy="43662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If your question is...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Start with</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Example on our fluid question</a:t>
                      </a:r>
                    </a:p>
                  </a:txBody>
                  <a:tcPr marL="73152" marR="73152" marT="45720" marB="45720" anchor="ctr">
                    <a:solidFill>
                      <a:srgbClr val="0D7377"/>
                    </a:solidFill>
                  </a:tcPr>
                </a:tc>
              </a:tr>
              <a:tr h="797240">
                <a:tc>
                  <a:txBody>
                    <a:bodyPr/>
                    <a:lstStyle/>
                    <a:p>
                      <a:pPr algn="l"/>
                      <a:r>
                        <a:rPr lang="en-US" sz="1500" dirty="0">
                          <a:solidFill>
                            <a:srgbClr val="000000"/>
                          </a:solidFill>
                          <a:latin typeface="Arial"/>
                          <a:cs typeface="Arial"/>
                        </a:rPr>
                        <a:t>How common is it right now?</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Cross-sectional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Patients with a positive fluid balance in our ICU today</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Rare outcome: what raised the risk?</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Case-control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Patients with sepsis who needed new dialysis, looking back at their fluid</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What happens after an exposure?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Cohort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Positive fluid balance and death by day 28 (Paper 2)</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Does this treatment work?</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RCT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Restrictive vs usual fluids (Paper 1)</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What do all the studies say?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Systematic review and meta-analysis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All fluid-restriction trials, pooled</a:t>
                      </a:r>
                    </a:p>
                  </a:txBody>
                  <a:tcPr marL="73152" marR="73152" marT="45720" marB="45720" anchor="ctr">
                    <a:solidFill>
                      <a:srgbClr val="FFFFFF"/>
                    </a:solidFill>
                  </a:tcPr>
                </a:tc>
              </a:tr>
            </a:tbl>
          </a:graphicData>
        </a:graphic>
      </p:graphicFrame>
      <p:sp>
        <p:nvSpPr>
          <p:cNvPr id="31" name="Caption"/>
          <p:cNvSpPr txBox="1"/>
          <p:nvPr/>
        </p:nvSpPr>
        <p:spPr>
          <a:xfrm>
            <a:off x="457200" y="5632008"/>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Start from the question, and the design follows from it. Then check that it is feasible in your setting.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Exercise: choose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Five planning questions about our fluid question: exercise sheet, Part B</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For each: vote in the poll for the best feasible design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volunteer gives one reason and the main weakness. The instructor types them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Then your own question: two or three people say their design, and 'caused' or 'associated'</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Remember</a:t>
            </a:r>
          </a:p>
          <a:p>
            <a:pPr marL="0" indent="0" algn="ctr">
              <a:lnSpc>
                <a:spcPct val="104000"/>
              </a:lnSpc>
              <a:spcBef>
                <a:spcPts val="300"/>
              </a:spcBef>
              <a:buNone/>
            </a:pPr>
            <a:r>
              <a:rPr lang="en-US" sz="1500" dirty="0">
                <a:solidFill>
                  <a:srgbClr val="000000"/>
                </a:solidFill>
                <a:latin typeface="Arial"/>
                <a:cs typeface="Arial"/>
              </a:rPr>
              <a:t>Does it work? RCT or cluster trial</a:t>
            </a:r>
          </a:p>
          <a:p>
            <a:pPr marL="0" indent="0" algn="ctr">
              <a:lnSpc>
                <a:spcPct val="104000"/>
              </a:lnSpc>
              <a:spcBef>
                <a:spcPts val="300"/>
              </a:spcBef>
              <a:buNone/>
            </a:pPr>
            <a:r>
              <a:rPr lang="en-US" sz="1500" dirty="0">
                <a:solidFill>
                  <a:srgbClr val="000000"/>
                </a:solidFill>
                <a:latin typeface="Arial"/>
                <a:cs typeface="Arial"/>
              </a:rPr>
              <a:t>Not worse? Non-inferiority trial</a:t>
            </a:r>
          </a:p>
          <a:p>
            <a:pPr marL="0" indent="0" algn="ctr">
              <a:lnSpc>
                <a:spcPct val="104000"/>
              </a:lnSpc>
              <a:spcBef>
                <a:spcPts val="300"/>
              </a:spcBef>
              <a:buNone/>
            </a:pPr>
            <a:r>
              <a:rPr lang="en-US" sz="1500" dirty="0">
                <a:solidFill>
                  <a:srgbClr val="000000"/>
                </a:solidFill>
                <a:latin typeface="Arial"/>
                <a:cs typeface="Arial"/>
              </a:rPr>
              <a:t>Already changed? Time series</a:t>
            </a:r>
          </a:p>
          <a:p>
            <a:pPr marL="0" indent="0" algn="ctr">
              <a:lnSpc>
                <a:spcPct val="104000"/>
              </a:lnSpc>
              <a:spcBef>
                <a:spcPts val="300"/>
              </a:spcBef>
              <a:buNone/>
            </a:pPr>
            <a:r>
              <a:rPr lang="en-US" sz="1500" dirty="0">
                <a:solidFill>
                  <a:srgbClr val="000000"/>
                </a:solidFill>
                <a:latin typeface="Arial"/>
                <a:cs typeface="Arial"/>
              </a:rPr>
              <a:t>Why or how? Qualitative</a:t>
            </a:r>
          </a:p>
          <a:p>
            <a:pPr marL="0" indent="0" algn="ctr">
              <a:lnSpc>
                <a:spcPct val="104000"/>
              </a:lnSpc>
              <a:spcBef>
                <a:spcPts val="300"/>
              </a:spcBef>
              <a:buNone/>
            </a:pPr>
            <a:r>
              <a:rPr lang="en-US" sz="1500" dirty="0">
                <a:solidFill>
                  <a:srgbClr val="000000"/>
                </a:solidFill>
                <a:latin typeface="Arial"/>
                <a:cs typeface="Arial"/>
              </a:rPr>
              <a:t>Can we do it? Pilot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Five designs chosen together, then a few people share their own design and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 is in your study? Inclusion and exclusion criteria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Inclusion describes your P (Population). Exclusion removes eligible people for a stated reason.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3: design, setting and population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45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the instructor writes Part 2a live for the running example (15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Design and a 3-5 sentence justification, chosen with the decision tree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Setting: where, when, which units, which data source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Population: 3-5 inclusion and 3-5 exclusion criteria, each exclusion with a reason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Your turn: draft the same for your own question (20 min, quiet individual work)</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Three volunteers read their design sentence aloud for feedback (7 min)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Check your draft</a:t>
            </a:r>
          </a:p>
          <a:p>
            <a:pPr marL="0" indent="0" algn="ctr">
              <a:lnSpc>
                <a:spcPct val="104000"/>
              </a:lnSpc>
              <a:spcBef>
                <a:spcPts val="300"/>
              </a:spcBef>
              <a:buNone/>
            </a:pPr>
            <a:r>
              <a:rPr lang="en-US" sz="1500" dirty="0">
                <a:solidFill>
                  <a:srgbClr val="000000"/>
                </a:solidFill>
                <a:latin typeface="Arial"/>
                <a:cs typeface="Arial"/>
              </a:rPr>
              <a:t>Design matches the question?</a:t>
            </a:r>
          </a:p>
          <a:p>
            <a:pPr marL="0" indent="0" algn="ctr">
              <a:lnSpc>
                <a:spcPct val="104000"/>
              </a:lnSpc>
              <a:spcBef>
                <a:spcPts val="300"/>
              </a:spcBef>
              <a:buNone/>
            </a:pPr>
            <a:r>
              <a:rPr lang="en-US" sz="1500" dirty="0">
                <a:solidFill>
                  <a:srgbClr val="000000"/>
                </a:solidFill>
                <a:latin typeface="Arial"/>
                <a:cs typeface="Arial"/>
              </a:rPr>
              <a:t>Feasible in your unit?</a:t>
            </a:r>
          </a:p>
          <a:p>
            <a:pPr marL="0" indent="0" algn="ctr">
              <a:lnSpc>
                <a:spcPct val="104000"/>
              </a:lnSpc>
              <a:spcBef>
                <a:spcPts val="300"/>
              </a:spcBef>
              <a:buNone/>
            </a:pPr>
            <a:r>
              <a:rPr lang="en-US" sz="1500" dirty="0">
                <a:solidFill>
                  <a:srgbClr val="000000"/>
                </a:solidFill>
                <a:latin typeface="Arial"/>
                <a:cs typeface="Arial"/>
              </a:rPr>
              <a:t>Inclusion = your P (Population)?</a:t>
            </a:r>
          </a:p>
          <a:p>
            <a:pPr marL="0" indent="0" algn="ctr">
              <a:lnSpc>
                <a:spcPct val="104000"/>
              </a:lnSpc>
              <a:spcBef>
                <a:spcPts val="300"/>
              </a:spcBef>
              <a:buNone/>
            </a:pPr>
            <a:r>
              <a:rPr lang="en-US" sz="1500" dirty="0">
                <a:solidFill>
                  <a:srgbClr val="000000"/>
                </a:solidFill>
                <a:latin typeface="Arial"/>
                <a:cs typeface="Arial"/>
              </a:rPr>
              <a:t>Each exclusion has a reason?</a:t>
            </a:r>
          </a:p>
          <a:p>
            <a:pPr marL="0" indent="0" algn="ctr">
              <a:lnSpc>
                <a:spcPct val="104000"/>
              </a:lnSpc>
              <a:spcBef>
                <a:spcPts val="300"/>
              </a:spcBef>
              <a:buNone/>
            </a:pPr>
            <a:r>
              <a:rPr lang="en-US" sz="1500" dirty="0">
                <a:solidFill>
                  <a:srgbClr val="000000"/>
                </a:solidFill>
                <a:latin typeface="Arial"/>
                <a:cs typeface="Arial"/>
              </a:rPr>
              <a:t>'Caused' or 'associated'?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own Proposal Part 2a drafted (finish it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3 in one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3.1 Basic designs</a:t>
            </a:r>
          </a:p>
        </p:txBody>
      </p:sp>
      <p:sp>
        <p:nvSpPr>
          <p:cNvPr id="71" name="CardBody"/>
          <p:cNvSpPr/>
          <p:nvPr/>
        </p:nvSpPr>
        <p:spPr>
          <a:xfrm>
            <a:off x="457200"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Snapshot, look back, follow forward</a:t>
            </a:r>
          </a:p>
          <a:p>
            <a:pPr marL="0" indent="0" algn="ctr">
              <a:lnSpc>
                <a:spcPct val="104000"/>
              </a:lnSpc>
              <a:spcBef>
                <a:spcPts val="400"/>
              </a:spcBef>
              <a:buNone/>
            </a:pPr>
            <a:r>
              <a:rPr lang="en-US" sz="1750" dirty="0">
                <a:solidFill>
                  <a:srgbClr val="000000"/>
                </a:solidFill>
                <a:latin typeface="Arial"/>
                <a:cs typeface="Arial"/>
              </a:rPr>
              <a:t>RCT: chance assigns the exposure</a:t>
            </a:r>
          </a:p>
          <a:p>
            <a:pPr marL="0" indent="0" algn="ctr">
              <a:lnSpc>
                <a:spcPct val="104000"/>
              </a:lnSpc>
              <a:spcBef>
                <a:spcPts val="400"/>
              </a:spcBef>
              <a:buNone/>
            </a:pPr>
            <a:r>
              <a:rPr lang="en-US" sz="1750" dirty="0">
                <a:solidFill>
                  <a:srgbClr val="000000"/>
                </a:solidFill>
                <a:latin typeface="Arial"/>
                <a:cs typeface="Arial"/>
              </a:rPr>
              <a:t>RCT may say 'caused', cohort says 'associated'</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3.2 More designs</a:t>
            </a:r>
          </a:p>
        </p:txBody>
      </p:sp>
      <p:sp>
        <p:nvSpPr>
          <p:cNvPr id="73" name="CardBody"/>
          <p:cNvSpPr/>
          <p:nvPr/>
        </p:nvSpPr>
        <p:spPr>
          <a:xfrm>
            <a:off x="4283066"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Cluster, crossover, factorial</a:t>
            </a:r>
          </a:p>
          <a:p>
            <a:pPr marL="0" indent="0" algn="ctr">
              <a:lnSpc>
                <a:spcPct val="104000"/>
              </a:lnSpc>
              <a:spcBef>
                <a:spcPts val="400"/>
              </a:spcBef>
              <a:buNone/>
            </a:pPr>
            <a:r>
              <a:rPr lang="en-US" sz="1750" dirty="0">
                <a:solidFill>
                  <a:srgbClr val="000000"/>
                </a:solidFill>
                <a:latin typeface="Arial"/>
                <a:cs typeface="Arial"/>
              </a:rPr>
              <a:t>Non-inferiority needs a margin</a:t>
            </a:r>
          </a:p>
          <a:p>
            <a:pPr marL="0" indent="0" algn="ctr">
              <a:lnSpc>
                <a:spcPct val="104000"/>
              </a:lnSpc>
              <a:spcBef>
                <a:spcPts val="400"/>
              </a:spcBef>
              <a:buNone/>
            </a:pPr>
            <a:r>
              <a:rPr lang="en-US" sz="1750" dirty="0">
                <a:solidFill>
                  <a:srgbClr val="000000"/>
                </a:solidFill>
                <a:latin typeface="Arial"/>
                <a:cs typeface="Arial"/>
              </a:rPr>
              <a:t>Pilot, time series, qualitative</a:t>
            </a:r>
          </a:p>
        </p:txBody>
      </p:sp>
      <p:sp>
        <p:nvSpPr>
          <p:cNvPr id="74" name="CardHead"/>
          <p:cNvSpPr/>
          <p:nvPr/>
        </p:nvSpPr>
        <p:spPr>
          <a:xfrm>
            <a:off x="8108932" y="1632615"/>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proposal</a:t>
            </a:r>
          </a:p>
        </p:txBody>
      </p:sp>
      <p:sp>
        <p:nvSpPr>
          <p:cNvPr id="75" name="CardBody"/>
          <p:cNvSpPr/>
          <p:nvPr/>
        </p:nvSpPr>
        <p:spPr>
          <a:xfrm>
            <a:off x="8108932"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Design and justification</a:t>
            </a:r>
          </a:p>
          <a:p>
            <a:pPr marL="0" indent="0" algn="ctr">
              <a:lnSpc>
                <a:spcPct val="104000"/>
              </a:lnSpc>
              <a:spcBef>
                <a:spcPts val="400"/>
              </a:spcBef>
              <a:buNone/>
            </a:pPr>
            <a:r>
              <a:rPr lang="en-US" sz="1750" dirty="0">
                <a:solidFill>
                  <a:srgbClr val="000000"/>
                </a:solidFill>
                <a:latin typeface="Arial"/>
                <a:cs typeface="Arial"/>
              </a:rPr>
              <a:t>Setting</a:t>
            </a:r>
          </a:p>
          <a:p>
            <a:pPr marL="0" indent="0" algn="ctr">
              <a:lnSpc>
                <a:spcPct val="104000"/>
              </a:lnSpc>
              <a:spcBef>
                <a:spcPts val="400"/>
              </a:spcBef>
              <a:buNone/>
            </a:pPr>
            <a:r>
              <a:rPr lang="en-US" sz="1750" dirty="0">
                <a:solidFill>
                  <a:srgbClr val="000000"/>
                </a:solidFill>
                <a:latin typeface="Arial"/>
                <a:cs typeface="Arial"/>
              </a:rPr>
              <a:t>Inclusion and exclusion criteria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question picks the design. The design decides what you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doctors chose restrictive fluids for some patients with septic shock and not for others. Both groups are followed to day 28. Which design? 'Caused' or 'associated'?</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finish your own Proposal Part 2a (design, setting, population)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Reading: 'Patients' in Paper 1 (Boulet) and 'Data source' in Paper 2 (Hyun)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Next Saturday (Session 4): can we trust the result, and how big is the effect?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One exit answer per person, in the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Session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3</a:t>
            </a:r>
          </a:p>
          <a:p>
            <a:pPr marL="0" indent="0" algn="ctr">
              <a:spcBef>
                <a:spcPts val="1200"/>
              </a:spcBef>
              <a:buNone/>
            </a:pPr>
            <a:r>
              <a:rPr lang="en-US" sz="1900" i="1" dirty="0">
                <a:solidFill>
                  <a:srgbClr val="595959"/>
                </a:solidFill>
                <a:latin typeface="Arial"/>
                <a:cs typeface="Arial"/>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The decision tree in action: Paper 1 (Boulet) and Paper 2 (Hyun)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Assigned?</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Boulet: yes, the trial assigned the strategy</a:t>
            </a:r>
          </a:p>
          <a:p>
            <a:pPr marL="0" indent="0" algn="ctr">
              <a:lnSpc>
                <a:spcPct val="104000"/>
              </a:lnSpc>
              <a:spcBef>
                <a:spcPts val="200"/>
              </a:spcBef>
              <a:buNone/>
            </a:pPr>
            <a:r>
              <a:rPr lang="en-US" sz="1500" dirty="0">
                <a:solidFill>
                  <a:srgbClr val="000000"/>
                </a:solidFill>
                <a:latin typeface="Arial"/>
                <a:cs typeface="Arial"/>
              </a:rPr>
              <a:t>Hyun: no, clinicians decided</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Random?</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Boulet: yes, by a central computer</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Comparison?</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Hyun: yes, positive vs negative balance</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Time order?</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Hyun: exposure on days 1-3, then death by day 28</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Design</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Boulet: RCT</a:t>
            </a:r>
          </a:p>
          <a:p>
            <a:pPr marL="0" indent="0" algn="ctr">
              <a:lnSpc>
                <a:spcPct val="104000"/>
              </a:lnSpc>
              <a:spcBef>
                <a:spcPts val="200"/>
              </a:spcBef>
              <a:buNone/>
            </a:pPr>
            <a:r>
              <a:rPr lang="en-US" sz="1500" dirty="0">
                <a:solidFill>
                  <a:srgbClr val="000000"/>
                </a:solidFill>
                <a:latin typeface="Arial"/>
                <a:cs typeface="Arial"/>
              </a:rPr>
              <a:t>Hyun: cohort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Walk every paper through the same questions before reading its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More practice (other examples): name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All 300 inpatients are checked today for a urinary catheter and for urinary infection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Patients with ventilator-associated pneumonia are compared with patients without it for earlier sedation use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Patients who received early mobilisation (the physiotherapist's decision) and those who did not are followed to discharge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Choose</a:t>
            </a:r>
          </a:p>
          <a:p>
            <a:pPr marL="0" indent="0" algn="ctr">
              <a:lnSpc>
                <a:spcPct val="104000"/>
              </a:lnSpc>
              <a:spcBef>
                <a:spcPts val="300"/>
              </a:spcBef>
              <a:buNone/>
            </a:pPr>
            <a:r>
              <a:rPr lang="en-US" sz="1500" dirty="0">
                <a:solidFill>
                  <a:srgbClr val="000000"/>
                </a:solidFill>
                <a:latin typeface="Arial"/>
                <a:cs typeface="Arial"/>
              </a:rPr>
              <a:t>Cross-sectional</a:t>
            </a:r>
          </a:p>
          <a:p>
            <a:pPr marL="0" indent="0" algn="ctr">
              <a:lnSpc>
                <a:spcPct val="104000"/>
              </a:lnSpc>
              <a:spcBef>
                <a:spcPts val="300"/>
              </a:spcBef>
              <a:buNone/>
            </a:pPr>
            <a:r>
              <a:rPr lang="en-US" sz="1500" dirty="0">
                <a:solidFill>
                  <a:srgbClr val="000000"/>
                </a:solidFill>
                <a:latin typeface="Arial"/>
                <a:cs typeface="Arial"/>
              </a:rPr>
              <a:t>Case-control</a:t>
            </a:r>
          </a:p>
          <a:p>
            <a:pPr marL="0" indent="0" algn="ctr">
              <a:lnSpc>
                <a:spcPct val="104000"/>
              </a:lnSpc>
              <a:spcBef>
                <a:spcPts val="300"/>
              </a:spcBef>
              <a:buNone/>
            </a:pPr>
            <a:r>
              <a:rPr lang="en-US" sz="1500" dirty="0">
                <a:solidFill>
                  <a:srgbClr val="000000"/>
                </a:solidFill>
                <a:latin typeface="Arial"/>
                <a:cs typeface="Arial"/>
              </a:rPr>
              <a:t>Cohort</a:t>
            </a:r>
          </a:p>
          <a:p>
            <a:pPr marL="0" indent="0" algn="ctr">
              <a:lnSpc>
                <a:spcPct val="104000"/>
              </a:lnSpc>
              <a:spcBef>
                <a:spcPts val="300"/>
              </a:spcBef>
              <a:buNone/>
            </a:pPr>
            <a:r>
              <a:rPr lang="en-US" sz="1500" dirty="0">
                <a:solidFill>
                  <a:srgbClr val="000000"/>
                </a:solidFill>
                <a:latin typeface="Arial"/>
                <a:cs typeface="Arial"/>
              </a:rPr>
              <a:t>RCT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design named for each scenario (answers on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Answers: name the design (other examples)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Cross-sectional</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One day, everyone</a:t>
            </a:r>
          </a:p>
          <a:p>
            <a:pPr marL="0" indent="0" algn="ctr">
              <a:lnSpc>
                <a:spcPct val="104000"/>
              </a:lnSpc>
              <a:spcBef>
                <a:spcPts val="400"/>
              </a:spcBef>
              <a:buNone/>
            </a:pPr>
            <a:r>
              <a:rPr lang="en-US" sz="1750" dirty="0">
                <a:solidFill>
                  <a:srgbClr val="000000"/>
                </a:solidFill>
                <a:latin typeface="Arial"/>
                <a:cs typeface="Arial"/>
              </a:rPr>
              <a:t>Exposure and outcome measured together</a:t>
            </a:r>
          </a:p>
          <a:p>
            <a:pPr marL="0" indent="0" algn="ctr">
              <a:lnSpc>
                <a:spcPct val="104000"/>
              </a:lnSpc>
              <a:spcBef>
                <a:spcPts val="400"/>
              </a:spcBef>
              <a:buNone/>
            </a:pPr>
            <a:r>
              <a:rPr lang="en-US" sz="1750" dirty="0">
                <a:solidFill>
                  <a:srgbClr val="000000"/>
                </a:solidFill>
                <a:latin typeface="Arial"/>
                <a:cs typeface="Arial"/>
              </a:rPr>
              <a:t>Gives prevalence</a:t>
            </a:r>
          </a:p>
        </p:txBody>
      </p:sp>
      <p:sp>
        <p:nvSpPr>
          <p:cNvPr id="72" name="CardHead"/>
          <p:cNvSpPr/>
          <p:nvPr/>
        </p:nvSpPr>
        <p:spPr>
          <a:xfrm>
            <a:off x="4283066" y="1817823"/>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 Case-control</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Chosen by outcome (pneumonia)</a:t>
            </a:r>
          </a:p>
          <a:p>
            <a:pPr marL="0" indent="0" algn="ctr">
              <a:lnSpc>
                <a:spcPct val="104000"/>
              </a:lnSpc>
              <a:spcBef>
                <a:spcPts val="400"/>
              </a:spcBef>
              <a:buNone/>
            </a:pPr>
            <a:r>
              <a:rPr lang="en-US" sz="1750" dirty="0">
                <a:solidFill>
                  <a:srgbClr val="000000"/>
                </a:solidFill>
                <a:latin typeface="Arial"/>
                <a:cs typeface="Arial"/>
              </a:rPr>
              <a:t>Look back for exposure (sedation)</a:t>
            </a:r>
          </a:p>
          <a:p>
            <a:pPr marL="0" indent="0" algn="ctr">
              <a:lnSpc>
                <a:spcPct val="104000"/>
              </a:lnSpc>
              <a:spcBef>
                <a:spcPts val="400"/>
              </a:spcBef>
              <a:buNone/>
            </a:pPr>
            <a:r>
              <a:rPr lang="en-US" sz="1750" dirty="0">
                <a:solidFill>
                  <a:srgbClr val="000000"/>
                </a:solidFill>
                <a:latin typeface="Arial"/>
                <a:cs typeface="Arial"/>
              </a:rPr>
              <a:t>Gives an odds ratio</a:t>
            </a:r>
          </a:p>
        </p:txBody>
      </p:sp>
      <p:sp>
        <p:nvSpPr>
          <p:cNvPr id="74" name="CardHead"/>
          <p:cNvSpPr/>
          <p:nvPr/>
        </p:nvSpPr>
        <p:spPr>
          <a:xfrm>
            <a:off x="8108932"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 Cohort</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Grouped by exposure (mobilisation)</a:t>
            </a:r>
          </a:p>
          <a:p>
            <a:pPr marL="0" indent="0" algn="ctr">
              <a:lnSpc>
                <a:spcPct val="104000"/>
              </a:lnSpc>
              <a:spcBef>
                <a:spcPts val="400"/>
              </a:spcBef>
              <a:buNone/>
            </a:pPr>
            <a:r>
              <a:rPr lang="en-US" sz="1750" dirty="0">
                <a:solidFill>
                  <a:srgbClr val="000000"/>
                </a:solidFill>
                <a:latin typeface="Arial"/>
                <a:cs typeface="Arial"/>
              </a:rPr>
              <a:t>Followed forward to discharge</a:t>
            </a:r>
          </a:p>
          <a:p>
            <a:pPr marL="0" indent="0" algn="ctr">
              <a:lnSpc>
                <a:spcPct val="104000"/>
              </a:lnSpc>
              <a:spcBef>
                <a:spcPts val="400"/>
              </a:spcBef>
              <a:buNone/>
            </a:pPr>
            <a:r>
              <a:rPr lang="en-US" sz="1750" dirty="0">
                <a:solidFill>
                  <a:srgbClr val="000000"/>
                </a:solidFill>
                <a:latin typeface="Arial"/>
                <a:cs typeface="Arial"/>
              </a:rPr>
              <a:t>Not an RCT: nobody randomised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Ask: chosen by exposure or by outcome? Assigned by chance or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More practice (other examples): which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A cheaper antibiotic schedule. We only need to show it is not worse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A hand-hygiene programme delivered to whole wards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Why do families refuse research consent in the ICU?</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Choose</a:t>
            </a:r>
          </a:p>
          <a:p>
            <a:pPr marL="0" indent="0" algn="ctr">
              <a:lnSpc>
                <a:spcPct val="104000"/>
              </a:lnSpc>
              <a:spcBef>
                <a:spcPts val="300"/>
              </a:spcBef>
              <a:buNone/>
            </a:pPr>
            <a:r>
              <a:rPr lang="en-US" sz="1500" dirty="0">
                <a:solidFill>
                  <a:srgbClr val="000000"/>
                </a:solidFill>
                <a:latin typeface="Arial"/>
                <a:cs typeface="Arial"/>
              </a:rPr>
              <a:t>Cluster trial</a:t>
            </a:r>
          </a:p>
          <a:p>
            <a:pPr marL="0" indent="0" algn="ctr">
              <a:lnSpc>
                <a:spcPct val="104000"/>
              </a:lnSpc>
              <a:spcBef>
                <a:spcPts val="300"/>
              </a:spcBef>
              <a:buNone/>
            </a:pPr>
            <a:r>
              <a:rPr lang="en-US" sz="1500" dirty="0">
                <a:solidFill>
                  <a:srgbClr val="000000"/>
                </a:solidFill>
                <a:latin typeface="Arial"/>
                <a:cs typeface="Arial"/>
              </a:rPr>
              <a:t>Non-inferiority trial</a:t>
            </a:r>
          </a:p>
          <a:p>
            <a:pPr marL="0" indent="0" algn="ctr">
              <a:lnSpc>
                <a:spcPct val="104000"/>
              </a:lnSpc>
              <a:spcBef>
                <a:spcPts val="300"/>
              </a:spcBef>
              <a:buNone/>
            </a:pPr>
            <a:r>
              <a:rPr lang="en-US" sz="1500" dirty="0">
                <a:solidFill>
                  <a:srgbClr val="000000"/>
                </a:solidFill>
                <a:latin typeface="Arial"/>
                <a:cs typeface="Arial"/>
              </a:rPr>
              <a:t>Qualitative interviews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design for each (answers in the notes)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Choosing good controls in a case-control study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Same source</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Same hospital, units and period as the cases</a:t>
            </a:r>
          </a:p>
          <a:p>
            <a:pPr marL="0" indent="0" algn="ctr">
              <a:lnSpc>
                <a:spcPct val="104000"/>
              </a:lnSpc>
              <a:spcBef>
                <a:spcPts val="400"/>
              </a:spcBef>
              <a:buNone/>
            </a:pPr>
            <a:r>
              <a:rPr lang="en-US" sz="1750" dirty="0">
                <a:solidFill>
                  <a:srgbClr val="000000"/>
                </a:solidFill>
                <a:latin typeface="Arial"/>
                <a:cs typeface="Arial"/>
              </a:rPr>
              <a:t>Would have become a case if they had the outcome</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Same measurement</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Same records, same questions</a:t>
            </a:r>
          </a:p>
          <a:p>
            <a:pPr marL="0" indent="0" algn="ctr">
              <a:lnSpc>
                <a:spcPct val="104000"/>
              </a:lnSpc>
              <a:spcBef>
                <a:spcPts val="400"/>
              </a:spcBef>
              <a:buNone/>
            </a:pPr>
            <a:r>
              <a:rPr lang="en-US" sz="1750" dirty="0">
                <a:solidFill>
                  <a:srgbClr val="000000"/>
                </a:solidFill>
                <a:latin typeface="Arial"/>
                <a:cs typeface="Arial"/>
              </a:rPr>
              <a:t>Ideally an assessor who does not know who is a case</a:t>
            </a:r>
          </a:p>
        </p:txBody>
      </p:sp>
      <p:sp>
        <p:nvSpPr>
          <p:cNvPr id="74" name="CardHead"/>
          <p:cNvSpPr/>
          <p:nvPr/>
        </p:nvSpPr>
        <p:spPr>
          <a:xfrm>
            <a:off x="8108932" y="183475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Matching (optional)</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e.g. age, month of admission</a:t>
            </a:r>
          </a:p>
          <a:p>
            <a:pPr marL="0" indent="0" algn="ctr">
              <a:lnSpc>
                <a:spcPct val="104000"/>
              </a:lnSpc>
              <a:spcBef>
                <a:spcPts val="400"/>
              </a:spcBef>
              <a:buNone/>
            </a:pPr>
            <a:r>
              <a:rPr lang="en-US" sz="1750" dirty="0">
                <a:solidFill>
                  <a:srgbClr val="000000"/>
                </a:solidFill>
                <a:latin typeface="Arial"/>
                <a:cs typeface="Arial"/>
              </a:rPr>
              <a:t>Do not match on the exposure itself</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Bad controls make any case-control study meaningless.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Superiority, equivalence and non-inferiority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CI: confidence interval. Margin: the largest difference we accept, fixed in advance</a:t>
            </a:r>
          </a:p>
        </p:txBody>
      </p:sp>
      <p:sp>
        <p:nvSpPr>
          <p:cNvPr id="70" name="CardHead"/>
          <p:cNvSpPr/>
          <p:nvPr/>
        </p:nvSpPr>
        <p:spPr>
          <a:xfrm>
            <a:off x="457200" y="2210000"/>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Superiority</a:t>
            </a:r>
          </a:p>
        </p:txBody>
      </p:sp>
      <p:sp>
        <p:nvSpPr>
          <p:cNvPr id="71" name="CardBody"/>
          <p:cNvSpPr/>
          <p:nvPr/>
        </p:nvSpPr>
        <p:spPr>
          <a:xfrm>
            <a:off x="457200" y="2850000"/>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Is the new treatment better?</a:t>
            </a:r>
          </a:p>
          <a:p>
            <a:pPr marL="0" indent="0" algn="ctr">
              <a:lnSpc>
                <a:spcPct val="104000"/>
              </a:lnSpc>
              <a:spcBef>
                <a:spcPts val="400"/>
              </a:spcBef>
              <a:buNone/>
            </a:pPr>
            <a:r>
              <a:rPr lang="en-US" sz="1750" dirty="0">
                <a:solidFill>
                  <a:srgbClr val="000000"/>
                </a:solidFill>
                <a:latin typeface="Arial"/>
                <a:cs typeface="Arial"/>
              </a:rPr>
              <a:t>Whole CI on the 'better' side of 0</a:t>
            </a:r>
          </a:p>
        </p:txBody>
      </p:sp>
      <p:sp>
        <p:nvSpPr>
          <p:cNvPr id="72" name="CardHead"/>
          <p:cNvSpPr/>
          <p:nvPr/>
        </p:nvSpPr>
        <p:spPr>
          <a:xfrm>
            <a:off x="4283066" y="221000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Equivalence</a:t>
            </a:r>
          </a:p>
        </p:txBody>
      </p:sp>
      <p:sp>
        <p:nvSpPr>
          <p:cNvPr id="73" name="CardBody"/>
          <p:cNvSpPr/>
          <p:nvPr/>
        </p:nvSpPr>
        <p:spPr>
          <a:xfrm>
            <a:off x="4283066" y="2850000"/>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Is it about the same?</a:t>
            </a:r>
          </a:p>
          <a:p>
            <a:pPr marL="0" indent="0" algn="ctr">
              <a:lnSpc>
                <a:spcPct val="104000"/>
              </a:lnSpc>
              <a:spcBef>
                <a:spcPts val="400"/>
              </a:spcBef>
              <a:buNone/>
            </a:pPr>
            <a:r>
              <a:rPr lang="en-US" sz="1750" dirty="0">
                <a:solidFill>
                  <a:srgbClr val="000000"/>
                </a:solidFill>
                <a:latin typeface="Arial"/>
                <a:cs typeface="Arial"/>
              </a:rPr>
              <a:t>Whole CI between minus and plus the margin</a:t>
            </a:r>
          </a:p>
        </p:txBody>
      </p:sp>
      <p:sp>
        <p:nvSpPr>
          <p:cNvPr id="74" name="CardHead"/>
          <p:cNvSpPr/>
          <p:nvPr/>
        </p:nvSpPr>
        <p:spPr>
          <a:xfrm>
            <a:off x="8108932" y="221000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Non-inferiority</a:t>
            </a:r>
          </a:p>
        </p:txBody>
      </p:sp>
      <p:sp>
        <p:nvSpPr>
          <p:cNvPr id="75" name="CardBody"/>
          <p:cNvSpPr/>
          <p:nvPr/>
        </p:nvSpPr>
        <p:spPr>
          <a:xfrm>
            <a:off x="8108932" y="2850000"/>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Is it not unacceptably worse?</a:t>
            </a:r>
          </a:p>
          <a:p>
            <a:pPr marL="0" indent="0" algn="ctr">
              <a:lnSpc>
                <a:spcPct val="104000"/>
              </a:lnSpc>
              <a:spcBef>
                <a:spcPts val="400"/>
              </a:spcBef>
              <a:buNone/>
            </a:pPr>
            <a:r>
              <a:rPr lang="en-US" sz="1750" dirty="0">
                <a:solidFill>
                  <a:srgbClr val="000000"/>
                </a:solidFill>
                <a:latin typeface="Arial"/>
                <a:cs typeface="Arial"/>
              </a:rPr>
              <a:t>Whole CI below plus the margin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question (better, same, not worse) is fixed in the protocol, before the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Making a quality-improvement evaluation stronger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More time points</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At least 8-12 points before and after</a:t>
            </a:r>
          </a:p>
          <a:p>
            <a:pPr marL="0" indent="0" algn="ctr">
              <a:lnSpc>
                <a:spcPct val="104000"/>
              </a:lnSpc>
              <a:spcBef>
                <a:spcPts val="400"/>
              </a:spcBef>
              <a:buNone/>
            </a:pPr>
            <a:r>
              <a:rPr lang="en-US" sz="1750" dirty="0">
                <a:solidFill>
                  <a:srgbClr val="000000"/>
                </a:solidFill>
                <a:latin typeface="Arial"/>
                <a:cs typeface="Arial"/>
              </a:rPr>
              <a:t>Same definition every month</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control series</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 unit or hospital without the change</a:t>
            </a:r>
          </a:p>
          <a:p>
            <a:pPr marL="0" indent="0" algn="ctr">
              <a:lnSpc>
                <a:spcPct val="104000"/>
              </a:lnSpc>
              <a:spcBef>
                <a:spcPts val="400"/>
              </a:spcBef>
              <a:buNone/>
            </a:pPr>
            <a:r>
              <a:rPr lang="en-US" sz="1750" dirty="0">
                <a:solidFill>
                  <a:srgbClr val="000000"/>
                </a:solidFill>
                <a:latin typeface="Arial"/>
                <a:cs typeface="Arial"/>
              </a:rPr>
              <a:t>Same months, same measure</a:t>
            </a:r>
          </a:p>
        </p:txBody>
      </p:sp>
      <p:sp>
        <p:nvSpPr>
          <p:cNvPr id="74" name="CardHead"/>
          <p:cNvSpPr/>
          <p:nvPr/>
        </p:nvSpPr>
        <p:spPr>
          <a:xfrm>
            <a:off x="8108932" y="183475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Record co-interventions</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Staff changes, new policies, audits</a:t>
            </a:r>
          </a:p>
          <a:p>
            <a:pPr marL="0" indent="0" algn="ctr">
              <a:lnSpc>
                <a:spcPct val="104000"/>
              </a:lnSpc>
              <a:spcBef>
                <a:spcPts val="400"/>
              </a:spcBef>
              <a:buNone/>
            </a:pPr>
            <a:r>
              <a:rPr lang="en-US" sz="1750" dirty="0">
                <a:solidFill>
                  <a:srgbClr val="000000"/>
                </a:solidFill>
                <a:latin typeface="Arial"/>
                <a:cs typeface="Arial"/>
              </a:rPr>
              <a:t>Write them down as they happen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before-after average is weak. A long, controlled time series is much stronger.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