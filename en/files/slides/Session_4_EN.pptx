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19:30. Show three answers to the Session 3 exit question: a cohort, so 'associated'. It leads into confounding.</a:t>
            </a:r>
          </a:p>
          <a:p>
            <a:r>
              <a:rPr lang="en-US" sz="1400" b="0" dirty="0"/>
              <a:t>The only arithmetic today is division in a 2x2 table.</a:t>
            </a:r>
          </a:p>
          <a:p>
            <a:r>
              <a:rPr lang="en-US" sz="1400" b="0" dirty="0"/>
              <a:t>Clock: 19:30 recap, 19:40 4.1, 20:20 4.2 with demo, 20:45 break, 21:00 two calculations, 21:15 4.3, 21:45 proposal builder 4, 22:25 wrap-up.</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poll questions.</a:t>
            </a:r>
          </a:p>
          <a:p>
            <a:r>
              <a:rPr lang="en-US" sz="1400" b="0" dirty="0"/>
              <a:t>Answers: Q1 case-control (chosen by outcome). Q2 cluster randomised trial. Q3 non-inferior: the whole CI stays below the +4 margin.</a:t>
            </a:r>
          </a:p>
          <a:p>
            <a:r>
              <a:rPr lang="en-US" sz="1400" b="0" dirty="0"/>
              <a:t>If someone says 'records, so cohort', ask: chosen by what happened to them or by what they received?</a:t>
            </a:r>
          </a:p>
          <a:p>
            <a:r>
              <a:rPr lang="en-US" sz="1400" b="0" dirty="0"/>
              <a:t>Timing: 9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4.1 starts here (40 minutes). We judge whether a result can be trusted before we ask how big it is.</a:t>
            </a:r>
          </a:p>
          <a:p>
            <a:r>
              <a:rPr lang="en-US" sz="1400" b="0" dirty="0"/>
              <a:t>Ask: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larger sample reduces random error, not bias. A narrow CI says nothing about bias.</a:t>
            </a:r>
          </a:p>
          <a:p>
            <a:r>
              <a:rPr lang="en-US" sz="1400" b="0" dirty="0"/>
              <a:t>Poll: 'Which paper risks random error, which bias?' Expected: Boulet (48 patients) random error, Hyun (observational) bias.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included only patients still in the ICU on day 3 (2,516 of 11,981). The result applies to them, not to all sepsis patients.</a:t>
            </a:r>
          </a:p>
          <a:p>
            <a:r>
              <a:rPr lang="en-US" sz="1400" b="0" dirty="0"/>
              <a:t>Ask: 'Boulet screened 1,201 and included 50. What does that tell you?' Expected: highly selected patients. Check they look like yours.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our question: under-recorded urine output makes the balance look more positive. If it differs between groups, it distorts the comparison.</a:t>
            </a:r>
          </a:p>
          <a:p>
            <a:r>
              <a:rPr lang="en-US" sz="1400" b="0" dirty="0"/>
              <a:t>Ask: 'How would you reduce observer bias in an unblinded fluid trial?' Expected: objective outcome, blinded assessor, standard definitions.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key slide of 4.1. Point to each arrow. A confounder is linked to the exposure, causes the outcome and is not on the pathway.</a:t>
            </a:r>
          </a:p>
          <a:p>
            <a:r>
              <a:rPr lang="en-US" sz="1400" b="0" dirty="0"/>
              <a:t>Ask: 'Which bedside signs make you give more fluid and predict death?' Expected: low blood pressure, high lactate, high vasopressor dose, mottled skin.</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Crude RR 2.33. Within each severity level RR 1.0. 80 of 100 high-fluid patients were severe, but only 20 of 100 low-fluid.</a:t>
            </a:r>
          </a:p>
          <a:p>
            <a:r>
              <a:rPr lang="en-US" sz="1400" b="0" dirty="0"/>
              <a:t>Check aloud: 2 + 40 = 42 deaths, 8 + 10 = 18.</a:t>
            </a:r>
          </a:p>
          <a:p>
            <a:r>
              <a:rPr lang="en-US" sz="1400" b="0" dirty="0"/>
              <a:t>Ask: 'What would you measure at baseline to do this?' Expected: SOFA, lactate, vasopressor dose, age, comorbidity.</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Strata alike but different from the crude: confounding, adjust. Strata different from each other: effect modification, report each.</a:t>
            </a:r>
          </a:p>
          <a:p>
            <a:r>
              <a:rPr lang="en-US" sz="1400" b="0" dirty="0"/>
              <a:t>Poll: 'RR 0.95 with normal kidneys, 0.60 with kidney injury?' Expected: effect modification.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Only randomisation balances what was not measured.</a:t>
            </a:r>
          </a:p>
          <a:p>
            <a:r>
              <a:rPr lang="en-US" sz="1400" b="0" dirty="0"/>
              <a:t>Poll: 'Which tools did Hyun use?' Expected: restriction and propensity score matching.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Balance is on average. Boulet had higher baseline creatinine in one group: with 24 per arm, not surprising.</a:t>
            </a:r>
          </a:p>
          <a:p>
            <a:r>
              <a:rPr lang="en-US" sz="1400" b="0" dirty="0"/>
              <a:t>Ask: 'Why does this work better with 500 than 50?' Expected: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Boulet, patients and statisticians were blinded, clinicians were not. When clinicians cannot be blinded, blind the assessor and use an objective outcome.</a:t>
            </a:r>
          </a:p>
          <a:p>
            <a:r>
              <a:rPr lang="en-US" sz="1400" b="0" dirty="0"/>
              <a:t>Poll: 'Is concealment possible when blinding is not?' Expected: yes, always.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did not measure fluid type or nutrition. What is left is residual confounding, so a cohort still says 'associated with'.</a:t>
            </a:r>
          </a:p>
          <a:p>
            <a:r>
              <a:rPr lang="en-US" sz="1400" b="0" dirty="0"/>
              <a:t>Ask: 'One unmeasured factor that drives more fluid and predicts death?' Expected: clinical impression of shock, a failing heart, goals-of-care discussion.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biased result applies nowhere. A valid trial in selected patients may not apply to your unit.</a:t>
            </a:r>
          </a:p>
          <a:p>
            <a:r>
              <a:rPr lang="en-US" sz="1400" b="0" dirty="0"/>
              <a:t>Ask: 'One patient group in your ICU who would not have entered Boulet?' Expected: over 85, chronic dialysis, more than 24 h on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Failing kidneys make less urine, so the balance becomes positive. That is why Hyun matched on fluid output.</a:t>
            </a:r>
          </a:p>
          <a:p>
            <a:r>
              <a:rPr lang="en-US" sz="1400" b="0" dirty="0"/>
              <a:t>Ask: 'Shock patients get more vasopressors and die more. Which way could the arrow run?' Expected: both ways.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Viewpoints are clues, not a score. Stop at temporality (essential) and experiment (given by an RCT).</a:t>
            </a:r>
          </a:p>
          <a:p>
            <a:r>
              <a:rPr lang="en-US" sz="1400" b="0" dirty="0"/>
              <a:t>For Hyun: possible, not proven.</a:t>
            </a:r>
          </a:p>
          <a:p>
            <a:r>
              <a:rPr lang="en-US" sz="1400" b="0" dirty="0"/>
              <a:t>Poll: 'Which viewpoint does an RCT give that no cohort can?' Expected: experiment.</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Four-question poll. After each, ask one or two people for a fix.</a:t>
            </a:r>
          </a:p>
          <a:p>
            <a:r>
              <a:rPr lang="en-US" sz="1400" b="0" dirty="0"/>
              <a:t>Answers: 1 recall bias (use records made before the outcome). 2 observer bias (blinded assessor). 3 selection bias (include all from admission, report exclusions). 4 confounding by indication (randomise, or measure severity and adjust).</a:t>
            </a:r>
          </a:p>
          <a:p>
            <a:r>
              <a:rPr lang="en-US" sz="1400" b="0" dirty="0"/>
              <a:t>Timing: 5 minutes. 4.1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4.2: about 17 minutes of slides, then the 8-minute demo.</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Incidence needs a time period and only people at risk in the denominator.</a:t>
            </a:r>
          </a:p>
          <a:p>
            <a:r>
              <a:rPr lang="en-US" sz="1400" b="0" dirty="0"/>
              <a:t>Ask: 'Positive fluid balance today: prevalence or incidence? Kidney injury in the first week?' Expected: prevalence, incidence.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 not Boulet. Always ask 'out of how many?'.</a:t>
            </a:r>
          </a:p>
          <a:p>
            <a:r>
              <a:rPr lang="en-US" sz="1400" b="0" dirty="0"/>
              <a:t>Ask: 'Odds of dying with restriction?' Expected: 20 to 80,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one layout: exposure in rows (exposed on top), outcome yes on the left. Most errors come from a table drawn the other way.</a:t>
            </a:r>
          </a:p>
          <a:p>
            <a:r>
              <a:rPr lang="en-US" sz="1400" b="0" dirty="0"/>
              <a:t>Ask: 'Boulet, death by day 28: a, b, c, d?' Expected: 6, 18, 6, 18.</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back to the table each time. 'One third lower' and '10 fewer per 100' are the same result.</a:t>
            </a:r>
          </a:p>
          <a:p>
            <a:r>
              <a:rPr lang="en-US" sz="1400" b="0" dirty="0"/>
              <a:t>Ask: 'Baseline risk 3%, same RR 0.67: NNT?' Expected: 2% vs 3%,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other 9 survived or died anyway. NNT is an average, not a prediction for one patient.</a:t>
            </a:r>
          </a:p>
          <a:p>
            <a:r>
              <a:rPr lang="en-US" sz="1400" b="0" dirty="0"/>
              <a:t>Poll: 'NNT 5 or 50?' Expected: 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OR is close to the RR only for rare outcomes. ICU mortality is common.</a:t>
            </a:r>
          </a:p>
          <a:p>
            <a:r>
              <a:rPr lang="en-US" sz="1400" b="0" dirty="0"/>
              <a:t>Ask: 'Our OR was 0.58 and RR 0.67. Why?' Expected: death is common, so the OR exaggerates.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s4_demo.md. File: 2x2_calculator.xlsx, pre-filled. Participants watch. Email the file afterwards.</a:t>
            </a:r>
          </a:p>
          <a:p>
            <a:r>
              <a:rPr lang="en-US" sz="1400" b="0" dirty="0"/>
              <a:t>Key moment: a = 2, c = 3. RR stays 0.67, OR becomes 0.66, NNT jumps to 100.</a:t>
            </a:r>
          </a:p>
          <a:p>
            <a:r>
              <a:rPr lang="en-US" sz="1400" b="0" dirty="0"/>
              <a:t>The calculator gives a 'risk' for case-control data, but only the OR is valid.</a:t>
            </a:r>
          </a:p>
          <a:p>
            <a:r>
              <a:rPr lang="en-US" sz="1400" b="0" dirty="0"/>
              <a:t>If sharing fails, do RR and NNT by hand.</a:t>
            </a:r>
          </a:p>
          <a:p>
            <a:r>
              <a:rPr lang="en-US" sz="1400" b="0" dirty="0"/>
              <a:t>Timing: 8 minutes.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20:45-21:00. Ask people to have pen, paper and a calculator ready. Put a countdown timer on screen.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7 minutes per calculation. Poll each step and type the table into the calculator.</a:t>
            </a:r>
          </a:p>
          <a:p>
            <a:r>
              <a:rPr lang="en-US" sz="1400" b="0" dirty="0"/>
              <a:t>Calculation 1: risks 10% and 15%, RR 0.67, RD -5 points, NNT 20, OR 0.63. Same RR as before, lower baseline risk, so NNT doubles.</a:t>
            </a:r>
          </a:p>
          <a:p>
            <a:r>
              <a:rPr lang="en-US" sz="1400" b="0" dirty="0"/>
              <a:t>Calculation 2: OR = (24 x 64) / (16 x 16) = 6.0. No RR: the investigators chose the numbers of cases and controls. Ask about reverse causation (failing kidneys).</a:t>
            </a:r>
          </a:p>
          <a:p>
            <a:r>
              <a:rPr lang="en-US" sz="1400" b="0" dirty="0"/>
              <a:t>Most mistakes are layout. Key: s4_solutions, Part 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4.3: 30 minutes including the 8-minute forest-plot task. About 2.5 minutes per slide.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sensitive test rules out. A specific test rules in. PPV here is only 53%.</a:t>
            </a:r>
          </a:p>
          <a:p>
            <a:r>
              <a:rPr lang="en-US" sz="1400" b="0" dirty="0"/>
              <a:t>Poll: 'Screening must not miss sepsis: sensitivity or specificity first?' Expected: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PPV and NPV depend on prevalence. Never borrow a PPV from a different setting.</a:t>
            </a:r>
          </a:p>
          <a:p>
            <a:r>
              <a:rPr lang="en-US" sz="1400" b="0" dirty="0"/>
              <a:t>Ask: 'Why do screening programmes use a second, more specific test?' Expected: to remove false positives.</a:t>
            </a:r>
          </a:p>
          <a:p>
            <a:r>
              <a:rPr lang="en-US" sz="1400" b="0" dirty="0"/>
              <a:t>Optional: show the 'PPV at another prevalence' box (s4_demo.md, Part 2).</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best cut-off depends on the cost of a miss versus a false alarm. AUC does not choose the cut-off.</a:t>
            </a:r>
          </a:p>
          <a:p>
            <a:r>
              <a:rPr lang="en-US" sz="1400" b="0" dirty="0"/>
              <a:t>Poll: 'Ruling out sepsis at triage: low or high lactate cut-off?' Expected: low.</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Two reviewers screen independently. The protocol is registered in PROSPERO.</a:t>
            </a:r>
          </a:p>
          <a:p>
            <a:r>
              <a:rPr lang="en-US" sz="1400" b="0" dirty="0"/>
              <a:t>Ask: 'Why search trial registers too?' Expected: unpublished or negative trials (publication bias).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steps: line of no effect, squares (weight), lines (CI), diamond: RR 0.79 (0.64-0.98).</a:t>
            </a:r>
          </a:p>
          <a:p>
            <a:r>
              <a:rPr lang="en-US" sz="1400" b="0" dirty="0"/>
              <a:t>Every single trial crosses 1, but the pooled result does not. A CI crossing 1 shows uncertainty, not no effect.</a:t>
            </a:r>
          </a:p>
          <a:p>
            <a:r>
              <a:rPr lang="en-US" sz="1400" b="0" dirty="0"/>
              <a:t>No questions yet: the task at the end of 4.3 uses this plot.</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With high heterogeneity ask why: patients, doses, timing, definitions or risk of bias. Random effects only widen the CI.</a:t>
            </a:r>
          </a:p>
          <a:p>
            <a:r>
              <a:rPr lang="en-US" sz="1400" b="0" dirty="0"/>
              <a:t>Ask: 'One reason fluid trials might disagree?' Expected: different populations, protocols or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Reporting guidelines check what was reported. Risk-of-bias tools judge trust. Judge by domain, do not add up stars.</a:t>
            </a:r>
          </a:p>
          <a:p>
            <a:r>
              <a:rPr lang="en-US" sz="1400" b="0" dirty="0"/>
              <a:t>One-page version: Risk_of_Bias_Tool_Chooser.pdf.</a:t>
            </a:r>
          </a:p>
          <a:p>
            <a:r>
              <a:rPr lang="en-US" sz="1400" b="0" dirty="0"/>
              <a:t>Poll: 'Before-after QI study of a sepsis bundle: which tool?' Expected: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Links to the 10-question checklist in Session 8 (Critical_Appraisal_Checklist.pdf).</a:t>
            </a:r>
          </a:p>
          <a:p>
            <a:r>
              <a:rPr lang="en-US" sz="1400" b="0" dirty="0"/>
              <a:t>Ask: 'Find one word in a title or abstract that overclaims.' Expected: 'impact', 'effect', 'reduces' in an observational study.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forest-plot slide again while the class answers.</a:t>
            </a:r>
          </a:p>
          <a:p>
            <a:r>
              <a:rPr lang="en-US" sz="1400" b="0" dirty="0"/>
              <a:t>Answers: Trial 4 has most weight (38%). Every trial crosses 1. The diamond does not: about 21% lower relative risk, upper limit near no effect. Tools: RoB 2 for Boulet, Newcastle-Ottawa or ROBINS-E for Hyun, AMSTAR 2 for a review.</a:t>
            </a:r>
          </a:p>
          <a:p>
            <a:r>
              <a:rPr lang="en-US" sz="1400" b="0" dirty="0"/>
              <a:t>Always say the CI with the diamond. If short of time, do the diamond sentence and the tools only.</a:t>
            </a:r>
          </a:p>
          <a:p>
            <a:r>
              <a:rPr lang="en-US" sz="1400" b="0" dirty="0"/>
              <a:t>Key: s4_solutions, Part E.</a:t>
            </a:r>
          </a:p>
          <a:p>
            <a:r>
              <a:rPr lang="en-US" sz="1400" b="0" dirty="0"/>
              <a:t>Timing: 8 minutes. 4.3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4 starts here (2 minutes on this slide, then 38).</a:t>
            </a:r>
          </a:p>
          <a:p>
            <a:r>
              <a:rPr lang="en-US" sz="1400" b="0" dirty="0"/>
              <a:t>Several primary outcomes invite cherry-picking.</a:t>
            </a:r>
          </a:p>
          <a:p>
            <a:r>
              <a:rPr lang="en-US" sz="1400" b="0" dirty="0"/>
              <a:t>Ask: 'Rewrite improve patient outcomes as a primary outcome.' Expected: e.g. new dialysis by day 28 after ICU admission, from the ICU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fill in Part 2b for the running example on screen. 16 minutes: everyone drafts alone. 7 minutes: three volunteers read one bias and its fix.</a:t>
            </a:r>
          </a:p>
          <a:p>
            <a:r>
              <a:rPr lang="en-US" sz="1400" b="0" dirty="0"/>
              <a:t>Model: exposure positive balance at 72 h, comparator zero or negative, primary outcome death by day 28. Biases: severity (adjust or match), selection (consecutive patients), information (check 10% of charts). Full model in s4_solutions, Part F.</a:t>
            </a:r>
          </a:p>
          <a:p>
            <a:r>
              <a:rPr lang="en-US" sz="1400" b="0" dirty="0"/>
              <a:t>Watch for: no comparator, three primary outcomes, 'we will be careful' as a mitigation.</a:t>
            </a:r>
          </a:p>
          <a:p>
            <a:r>
              <a:rPr lang="en-US" sz="1400" b="0" dirty="0"/>
              <a:t>Warn at 10 and 2 minutes before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four volunteers to explain one card each. Each proposal now has Parts 1 and 2.</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answers: confounding by indication, or reverse causation (failing kidneys).</a:t>
            </a:r>
          </a:p>
          <a:p>
            <a:r>
              <a:rPr lang="en-US" sz="1400" b="0" dirty="0"/>
              <a:t>Open Session 5 with three anonymous answers.</a:t>
            </a:r>
          </a:p>
          <a:p>
            <a:r>
              <a:rPr lang="en-US" sz="1400" b="0" dirty="0"/>
              <a:t>Preview: Weeks 5-6 turn the design into data and introduce FLUID-ICU. In Session 6 each person chooses one of its questions (Q1-Q5) for their Results section.</a:t>
            </a:r>
          </a:p>
          <a:p>
            <a:r>
              <a:rPr lang="en-US" sz="1400" b="0" dirty="0"/>
              <a:t>Timing: 3 minutes.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A selection bias. B observer bias. C measurement bias, which distorts the comparison because it affects one ward only.</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for the third factor before revealing it. Card 3 mixes a true effect and confounding.</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Concept only. LR+ 4.5, LR- 0.13. LRs do not depend on prevalence. Reporting: STARD. Appraisal: QUADAS-2.</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The worst domain drives the overall judgement. Boulet: D1 likely low, D2 some concerns, D4 low for fluid balance.</a:t>
            </a:r>
          </a:p>
          <a:p>
            <a:r>
              <a:rPr lang="en-US" sz="1400" b="0" dirty="0"/>
              <a:t>Unblinded is not automatically high risk.</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difference is the denominator: everyone today (200) vs those at risk (180) over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4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3 (10 min)</a:t>
            </a:r>
          </a:p>
          <a:p>
            <a:pPr marL="274320" indent="-274320" algn="l">
              <a:spcBef>
                <a:spcPts val="440"/>
              </a:spcBef>
              <a:buFont typeface="Arial"/>
              <a:buChar char="•"/>
            </a:pPr>
            <a:r>
              <a:rPr lang="en-US" sz="1900" dirty="0">
                <a:solidFill>
                  <a:srgbClr val="000000"/>
                </a:solidFill>
                <a:latin typeface="Arial"/>
                <a:cs typeface="Arial"/>
              </a:rPr>
              <a:t>4.1  Bias, confounding and causation (40 min)</a:t>
            </a:r>
          </a:p>
          <a:p>
            <a:pPr marL="274320" indent="-274320" algn="l">
              <a:spcBef>
                <a:spcPts val="440"/>
              </a:spcBef>
              <a:buFont typeface="Arial"/>
              <a:buChar char="•"/>
            </a:pPr>
            <a:r>
              <a:rPr lang="en-US" sz="1900" dirty="0">
                <a:solidFill>
                  <a:srgbClr val="000000"/>
                </a:solidFill>
                <a:latin typeface="Arial"/>
                <a:cs typeface="Arial"/>
              </a:rPr>
              <a:t>4.2  Measuring disease and association, with a live 2x2 demo (25 min)</a:t>
            </a:r>
          </a:p>
          <a:p>
            <a:pPr marL="274320" indent="-274320" algn="l">
              <a:spcBef>
                <a:spcPts val="440"/>
              </a:spcBef>
              <a:buFont typeface="Arial"/>
              <a:buChar char="•"/>
            </a:pPr>
            <a:r>
              <a:rPr lang="en-US" sz="1900" dirty="0">
                <a:solidFill>
                  <a:srgbClr val="000000"/>
                </a:solidFill>
                <a:latin typeface="Arial"/>
                <a:cs typeface="Arial"/>
              </a:rPr>
              <a:t>Break (15 min), then two 2x2 calculations together (15 min)</a:t>
            </a:r>
          </a:p>
          <a:p>
            <a:pPr marL="274320" indent="-274320" algn="l">
              <a:spcBef>
                <a:spcPts val="440"/>
              </a:spcBef>
              <a:buFont typeface="Arial"/>
              <a:buChar char="•"/>
            </a:pPr>
            <a:r>
              <a:rPr lang="en-US" sz="1900" dirty="0">
                <a:solidFill>
                  <a:srgbClr val="000000"/>
                </a:solidFill>
                <a:latin typeface="Arial"/>
                <a:cs typeface="Arial"/>
              </a:rPr>
              <a:t>4.3  Beyond single studies: tests, meta-analysis, appraisal (30 min)</a:t>
            </a:r>
          </a:p>
          <a:p>
            <a:pPr marL="274320" indent="-274320" algn="l">
              <a:spcBef>
                <a:spcPts val="440"/>
              </a:spcBef>
              <a:buFont typeface="Arial"/>
              <a:buChar char="•"/>
            </a:pPr>
            <a:r>
              <a:rPr lang="en-US" sz="1900" dirty="0">
                <a:solidFill>
                  <a:srgbClr val="000000"/>
                </a:solidFill>
                <a:latin typeface="Arial"/>
                <a:cs typeface="Arial"/>
              </a:rPr>
              <a:t>Proposal builder 4: exposure, outcomes, biases (40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with sepsis who died are compared with survivors for the fluid they received on days 1-3.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Which design randomises whole intensive care units (ICUs) instead of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Restrictive vs usual fluids: mortality difference 95% CI -1 to +3 points. Margin +4 points. Result?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Proposal Part 2a (design, setting, population):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One volunteer explains why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Part 2a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Today's vocabulary. Each word comes with a picture or an example</a:t>
            </a:r>
          </a:p>
        </p:txBody>
      </p:sp>
      <p:sp>
        <p:nvSpPr>
          <p:cNvPr id="70" name="CardHead"/>
          <p:cNvSpPr/>
          <p:nvPr/>
        </p:nvSpPr>
        <p:spPr>
          <a:xfrm>
            <a:off x="457200" y="1973573"/>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Can we trust 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confounding</a:t>
            </a:r>
          </a:p>
          <a:p>
            <a:pPr marL="0" indent="0" algn="ctr">
              <a:lnSpc>
                <a:spcPct val="104000"/>
              </a:lnSpc>
              <a:spcBef>
                <a:spcPts val="400"/>
              </a:spcBef>
              <a:buNone/>
            </a:pPr>
            <a:r>
              <a:rPr lang="en-US" sz="1600" dirty="0">
                <a:solidFill>
                  <a:srgbClr val="000000"/>
                </a:solidFill>
                <a:latin typeface="Arial"/>
                <a:cs typeface="Arial"/>
              </a:rPr>
              <a:t>Effect modification</a:t>
            </a:r>
          </a:p>
          <a:p>
            <a:pPr marL="0" indent="0" algn="ctr">
              <a:lnSpc>
                <a:spcPct val="104000"/>
              </a:lnSpc>
              <a:spcBef>
                <a:spcPts val="400"/>
              </a:spcBef>
              <a:buNone/>
            </a:pPr>
            <a:r>
              <a:rPr lang="en-US" sz="1600" dirty="0">
                <a:solidFill>
                  <a:srgbClr val="000000"/>
                </a:solidFill>
                <a:latin typeface="Arial"/>
                <a:cs typeface="Arial"/>
              </a:rPr>
              <a:t>Reverse causation</a:t>
            </a:r>
          </a:p>
        </p:txBody>
      </p:sp>
      <p:sp>
        <p:nvSpPr>
          <p:cNvPr id="72" name="CardHead"/>
          <p:cNvSpPr/>
          <p:nvPr/>
        </p:nvSpPr>
        <p:spPr>
          <a:xfrm>
            <a:off x="33266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 big is it?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Risk ratio (RR), odds ratio (OR)</a:t>
            </a:r>
          </a:p>
          <a:p>
            <a:pPr marL="0" indent="0" algn="ctr">
              <a:lnSpc>
                <a:spcPct val="104000"/>
              </a:lnSpc>
              <a:spcBef>
                <a:spcPts val="400"/>
              </a:spcBef>
              <a:buNone/>
            </a:pPr>
            <a:r>
              <a:rPr lang="en-US" sz="1600" dirty="0">
                <a:solidFill>
                  <a:srgbClr val="000000"/>
                </a:solidFill>
                <a:latin typeface="Arial"/>
                <a:cs typeface="Arial"/>
              </a:rPr>
              <a:t>Risk difference (RD)</a:t>
            </a:r>
          </a:p>
          <a:p>
            <a:pPr marL="0" indent="0" algn="ctr">
              <a:lnSpc>
                <a:spcPct val="104000"/>
              </a:lnSpc>
              <a:spcBef>
                <a:spcPts val="400"/>
              </a:spcBef>
              <a:buNone/>
            </a:pPr>
            <a:r>
              <a:rPr lang="en-US" sz="1600" dirty="0">
                <a:solidFill>
                  <a:srgbClr val="000000"/>
                </a:solidFill>
                <a:latin typeface="Arial"/>
                <a:cs typeface="Arial"/>
              </a:rPr>
              <a:t>Number needed to treat (NNT)</a:t>
            </a:r>
          </a:p>
        </p:txBody>
      </p:sp>
      <p:sp>
        <p:nvSpPr>
          <p:cNvPr id="74" name="CardHead"/>
          <p:cNvSpPr/>
          <p:nvPr/>
        </p:nvSpPr>
        <p:spPr>
          <a:xfrm>
            <a:off x="61960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Tests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Sensitivity, specificity</a:t>
            </a:r>
          </a:p>
          <a:p>
            <a:pPr marL="0" indent="0" algn="ctr">
              <a:lnSpc>
                <a:spcPct val="104000"/>
              </a:lnSpc>
              <a:spcBef>
                <a:spcPts val="400"/>
              </a:spcBef>
              <a:buNone/>
            </a:pPr>
            <a:r>
              <a:rPr lang="en-US" sz="1600" dirty="0">
                <a:solidFill>
                  <a:srgbClr val="000000"/>
                </a:solidFill>
                <a:latin typeface="Arial"/>
                <a:cs typeface="Arial"/>
              </a:rPr>
              <a:t>Positive and negative predictive values</a:t>
            </a:r>
          </a:p>
          <a:p>
            <a:pPr marL="0" indent="0" algn="ctr">
              <a:lnSpc>
                <a:spcPct val="104000"/>
              </a:lnSpc>
              <a:spcBef>
                <a:spcPts val="400"/>
              </a:spcBef>
              <a:buNone/>
            </a:pPr>
            <a:r>
              <a:rPr lang="en-US" sz="1600" dirty="0">
                <a:solidFill>
                  <a:srgbClr val="000000"/>
                </a:solidFill>
                <a:latin typeface="Arial"/>
                <a:cs typeface="Arial"/>
              </a:rPr>
              <a:t>ROC curve and the area under it</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Many studies</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Forest plot, heterogeneity</a:t>
            </a:r>
          </a:p>
          <a:p>
            <a:pPr marL="0" indent="0" algn="ctr">
              <a:lnSpc>
                <a:spcPct val="104000"/>
              </a:lnSpc>
              <a:spcBef>
                <a:spcPts val="400"/>
              </a:spcBef>
              <a:buNone/>
            </a:pPr>
            <a:r>
              <a:rPr lang="en-US" sz="1600" dirty="0">
                <a:solidFill>
                  <a:srgbClr val="000000"/>
                </a:solidFill>
                <a:latin typeface="Arial"/>
                <a:cs typeface="Arial"/>
              </a:rPr>
              <a:t>Risk-of-bias tools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Bias is systematic error. Size does not fix it.</a:t>
            </a:r>
          </a:p>
          <a:p>
            <a:pPr marL="0" indent="0" algn="ctr">
              <a:spcBef>
                <a:spcPts val="1200"/>
              </a:spcBef>
              <a:buNone/>
            </a:pPr>
            <a:r>
              <a:rPr lang="en-US" sz="1900" i="1" dirty="0">
                <a:solidFill>
                  <a:srgbClr val="595959"/>
                </a:solidFill>
                <a:latin typeface="Arial"/>
                <a:cs typeface="Arial"/>
              </a:rPr>
              <a:t>Selection, information, confounding, effect modification,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Recall bias</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Cases search their memory harder than controls</a:t>
            </a:r>
          </a:p>
          <a:p>
            <a:pPr marL="0" indent="0" algn="ctr">
              <a:lnSpc>
                <a:spcPct val="104000"/>
              </a:lnSpc>
              <a:spcBef>
                <a:spcPts val="400"/>
              </a:spcBef>
              <a:buNone/>
            </a:pPr>
            <a:r>
              <a:rPr lang="en-US" sz="1750" dirty="0">
                <a:solidFill>
                  <a:srgbClr val="000000"/>
                </a:solidFill>
                <a:latin typeface="Arial"/>
                <a:cs typeface="Arial"/>
              </a:rPr>
              <a:t>e.g. families of patients who died recall the days before admission in more detail</a:t>
            </a:r>
          </a:p>
          <a:p>
            <a:pPr marL="0" indent="0" algn="ctr">
              <a:lnSpc>
                <a:spcPct val="104000"/>
              </a:lnSpc>
              <a:spcBef>
                <a:spcPts val="400"/>
              </a:spcBef>
              <a:buNone/>
            </a:pPr>
            <a:r>
              <a:rPr lang="en-US" sz="1750" b="1" dirty="0">
                <a:solidFill>
                  <a:srgbClr val="000000"/>
                </a:solidFill>
                <a:latin typeface="Arial"/>
                <a:cs typeface="Arial"/>
              </a:rPr>
              <a:t>Fix: use records made before the outcome</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Observer bias</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An assessor who knows the group judges differently</a:t>
            </a:r>
          </a:p>
          <a:p>
            <a:pPr marL="0" indent="0" algn="ctr">
              <a:lnSpc>
                <a:spcPct val="104000"/>
              </a:lnSpc>
              <a:spcBef>
                <a:spcPts val="400"/>
              </a:spcBef>
              <a:buNone/>
            </a:pPr>
            <a:r>
              <a:rPr lang="en-US" sz="1750" dirty="0">
                <a:solidFill>
                  <a:srgbClr val="000000"/>
                </a:solidFill>
                <a:latin typeface="Arial"/>
                <a:cs typeface="Arial"/>
              </a:rPr>
              <a:t>e.g. 'ready for ICU discharge' in an unblinded fluid trial</a:t>
            </a:r>
          </a:p>
          <a:p>
            <a:pPr marL="0" indent="0" algn="ctr">
              <a:lnSpc>
                <a:spcPct val="104000"/>
              </a:lnSpc>
              <a:spcBef>
                <a:spcPts val="400"/>
              </a:spcBef>
              <a:buNone/>
            </a:pPr>
            <a:r>
              <a:rPr lang="en-US" sz="1750" b="1" dirty="0">
                <a:solidFill>
                  <a:srgbClr val="000000"/>
                </a:solidFill>
                <a:latin typeface="Arial"/>
                <a:cs typeface="Arial"/>
              </a:rPr>
              <a:t>Fix: blinded assessor, objective outcome</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Measurement bias</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tool or the record is wrong in a systematic way</a:t>
            </a:r>
          </a:p>
          <a:p>
            <a:pPr marL="0" indent="0" algn="ctr">
              <a:lnSpc>
                <a:spcPct val="104000"/>
              </a:lnSpc>
              <a:spcBef>
                <a:spcPts val="400"/>
              </a:spcBef>
              <a:buNone/>
            </a:pPr>
            <a:r>
              <a:rPr lang="en-US" sz="1750" dirty="0">
                <a:solidFill>
                  <a:srgbClr val="000000"/>
                </a:solidFill>
                <a:latin typeface="Arial"/>
                <a:cs typeface="Arial"/>
              </a:rPr>
              <a:t>e.g. urine output under-recorded on night shifts</a:t>
            </a:r>
          </a:p>
          <a:p>
            <a:pPr marL="0" indent="0" algn="ctr">
              <a:lnSpc>
                <a:spcPct val="104000"/>
              </a:lnSpc>
              <a:spcBef>
                <a:spcPts val="400"/>
              </a:spcBef>
              <a:buNone/>
            </a:pPr>
            <a:r>
              <a:rPr lang="en-US" sz="1750" b="1" dirty="0">
                <a:solidFill>
                  <a:srgbClr val="000000"/>
                </a:solidFill>
                <a:latin typeface="Arial"/>
                <a:cs typeface="Arial"/>
              </a:rPr>
              <a:t>Fix: standard definitions, checked charts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Sequential Organ Failure Assessment score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 ARDS: acute respiratory distress syndrome.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Randomise and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decides the group</a:t>
            </a:r>
          </a:p>
          <a:p>
            <a:pPr marL="0" indent="0" algn="ctr">
              <a:lnSpc>
                <a:spcPct val="104000"/>
              </a:lnSpc>
              <a:spcBef>
                <a:spcPts val="400"/>
              </a:spcBef>
              <a:buNone/>
            </a:pPr>
            <a:r>
              <a:rPr lang="en-US" sz="1750" dirty="0">
                <a:solidFill>
                  <a:srgbClr val="000000"/>
                </a:solidFill>
                <a:latin typeface="Arial"/>
                <a:cs typeface="Arial"/>
              </a:rPr>
              <a:t>Balances known and unknown confounders</a:t>
            </a:r>
          </a:p>
          <a:p>
            <a:pPr marL="0" indent="0" algn="ctr">
              <a:lnSpc>
                <a:spcPct val="104000"/>
              </a:lnSpc>
              <a:spcBef>
                <a:spcPts val="400"/>
              </a:spcBef>
              <a:buNone/>
            </a:pPr>
            <a:r>
              <a:rPr lang="en-US" sz="1750" dirty="0">
                <a:solidFill>
                  <a:srgbClr val="000000"/>
                </a:solidFill>
                <a:latin typeface="Arial"/>
                <a:cs typeface="Arial"/>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Patients, clinicians, assessors, analysts</a:t>
            </a:r>
          </a:p>
          <a:p>
            <a:pPr marL="0" indent="0" algn="ctr">
              <a:lnSpc>
                <a:spcPct val="104000"/>
              </a:lnSpc>
              <a:spcBef>
                <a:spcPts val="400"/>
              </a:spcBef>
              <a:buNone/>
            </a:pPr>
            <a:r>
              <a:rPr lang="en-US" sz="1750" dirty="0">
                <a:solidFill>
                  <a:srgbClr val="000000"/>
                </a:solidFill>
                <a:latin typeface="Arial"/>
                <a:cs typeface="Arial"/>
              </a:rPr>
              <a:t>Protects how outcomes are measured</a:t>
            </a:r>
          </a:p>
          <a:p>
            <a:pPr marL="0" indent="0" algn="ctr">
              <a:lnSpc>
                <a:spcPct val="104000"/>
              </a:lnSpc>
              <a:spcBef>
                <a:spcPts val="400"/>
              </a:spcBef>
              <a:buNone/>
            </a:pPr>
            <a:r>
              <a:rPr lang="en-US" sz="1750" dirty="0">
                <a:solidFill>
                  <a:srgbClr val="000000"/>
                </a:solidFill>
                <a:latin typeface="Arial"/>
                <a:cs typeface="Arial"/>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 narrow eligibility</a:t>
            </a:r>
          </a:p>
          <a:p>
            <a:pPr marL="0" indent="0" algn="ctr">
              <a:lnSpc>
                <a:spcPct val="104000"/>
              </a:lnSpc>
              <a:spcBef>
                <a:spcPts val="400"/>
              </a:spcBef>
              <a:buNone/>
            </a:pPr>
            <a:r>
              <a:rPr lang="en-US" sz="1750" dirty="0">
                <a:solidFill>
                  <a:srgbClr val="000000"/>
                </a:solidFill>
                <a:latin typeface="Arial"/>
                <a:cs typeface="Arial"/>
              </a:rPr>
              <a:t>Match: pair similar patients</a:t>
            </a:r>
          </a:p>
          <a:p>
            <a:pPr marL="0" indent="0" algn="ctr">
              <a:lnSpc>
                <a:spcPct val="104000"/>
              </a:lnSpc>
              <a:spcBef>
                <a:spcPts val="400"/>
              </a:spcBef>
              <a:buNone/>
            </a:pPr>
            <a:r>
              <a:rPr lang="en-US" sz="1750" dirty="0">
                <a:solidFill>
                  <a:srgbClr val="000000"/>
                </a:solidFill>
                <a:latin typeface="Arial"/>
                <a:cs typeface="Arial"/>
              </a:rPr>
              <a:t>Adjust: statistics in the analysis</a:t>
            </a:r>
          </a:p>
          <a:p>
            <a:pPr marL="0" indent="0" algn="ctr">
              <a:lnSpc>
                <a:spcPct val="104000"/>
              </a:lnSpc>
              <a:spcBef>
                <a:spcPts val="400"/>
              </a:spcBef>
              <a:buNone/>
            </a:pPr>
            <a:r>
              <a:rPr lang="en-US" sz="1750" b="1" dirty="0">
                <a:solidFill>
                  <a:srgbClr val="B23B2E"/>
                </a:solidFill>
                <a:latin typeface="Arial"/>
                <a:cs typeface="Arial"/>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By chance, both groups get a similar mix,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allocation concealment</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Nobody can predict the next allocation</a:t>
            </a:r>
          </a:p>
          <a:p>
            <a:pPr marL="0" indent="0" algn="ctr">
              <a:lnSpc>
                <a:spcPct val="104000"/>
              </a:lnSpc>
              <a:spcBef>
                <a:spcPts val="400"/>
              </a:spcBef>
              <a:buNone/>
            </a:pPr>
            <a:r>
              <a:rPr lang="en-US" sz="1750" dirty="0">
                <a:solidFill>
                  <a:srgbClr val="000000"/>
                </a:solidFill>
                <a:latin typeface="Arial"/>
                <a:cs typeface="Arial"/>
              </a:rPr>
              <a:t>Paper 1 (Boulet): a central computer</a:t>
            </a:r>
          </a:p>
          <a:p>
            <a:pPr marL="0" indent="0" algn="ctr">
              <a:lnSpc>
                <a:spcPct val="104000"/>
              </a:lnSpc>
              <a:spcBef>
                <a:spcPts val="400"/>
              </a:spcBef>
              <a:buNone/>
            </a:pPr>
            <a:r>
              <a:rPr lang="en-US" sz="1750" dirty="0">
                <a:solidFill>
                  <a:srgbClr val="000000"/>
                </a:solidFill>
                <a:latin typeface="Arial"/>
                <a:cs typeface="Arial"/>
              </a:rPr>
              <a:t>Protects who gets into each group</a:t>
            </a:r>
          </a:p>
          <a:p>
            <a:pPr marL="0" indent="0" algn="ctr">
              <a:lnSpc>
                <a:spcPct val="104000"/>
              </a:lnSpc>
              <a:spcBef>
                <a:spcPts val="400"/>
              </a:spcBef>
              <a:buNone/>
            </a:pPr>
            <a:r>
              <a:rPr lang="en-US" sz="1750" dirty="0">
                <a:solidFill>
                  <a:srgbClr val="000000"/>
                </a:solidFill>
                <a:latin typeface="Arial"/>
                <a:cs typeface="Arial"/>
              </a:rPr>
              <a:t>Always possible, always required</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blinding in Paper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Patients: blinded</a:t>
            </a:r>
          </a:p>
          <a:p>
            <a:pPr marL="0" indent="0" algn="ctr">
              <a:lnSpc>
                <a:spcPct val="104000"/>
              </a:lnSpc>
              <a:spcBef>
                <a:spcPts val="400"/>
              </a:spcBef>
              <a:buNone/>
            </a:pPr>
            <a:r>
              <a:rPr lang="en-US" sz="1750" dirty="0">
                <a:solidFill>
                  <a:srgbClr val="B23B2E"/>
                </a:solidFill>
                <a:latin typeface="Arial"/>
                <a:cs typeface="Arial"/>
              </a:rPr>
              <a:t>Clinicians: knew the group</a:t>
            </a:r>
          </a:p>
          <a:p>
            <a:pPr marL="0" indent="0" algn="ctr">
              <a:lnSpc>
                <a:spcPct val="104000"/>
              </a:lnSpc>
              <a:spcBef>
                <a:spcPts val="400"/>
              </a:spcBef>
              <a:buNone/>
            </a:pPr>
            <a:r>
              <a:rPr lang="en-US" sz="1750" dirty="0">
                <a:solidFill>
                  <a:srgbClr val="B23B2E"/>
                </a:solidFill>
                <a:latin typeface="Arial"/>
                <a:cs typeface="Arial"/>
              </a:rPr>
              <a:t>Outcome assessors: knew the group</a:t>
            </a:r>
          </a:p>
          <a:p>
            <a:pPr marL="0" indent="0" algn="ctr">
              <a:lnSpc>
                <a:spcPct val="104000"/>
              </a:lnSpc>
              <a:spcBef>
                <a:spcPts val="400"/>
              </a:spcBef>
              <a:buNone/>
            </a:pPr>
            <a:r>
              <a:rPr lang="en-US" sz="1750" dirty="0">
                <a:solidFill>
                  <a:srgbClr val="2E8B57"/>
                </a:solidFill>
                <a:latin typeface="Arial"/>
                <a:cs typeface="Arial"/>
              </a:rPr>
              <a:t>Statisticians: blinded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Matching helps,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2 (Hyun 2023). SOFA: Sequential Organ Failure Assessment score</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1:1 matching</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Each positive-balance patient paired with a similar negative-balance patient</a:t>
            </a:r>
          </a:p>
          <a:p>
            <a:pPr marL="0" indent="0" algn="ctr">
              <a:lnSpc>
                <a:spcPct val="104000"/>
              </a:lnSpc>
              <a:spcBef>
                <a:spcPts val="400"/>
              </a:spcBef>
              <a:buNone/>
            </a:pPr>
            <a:r>
              <a:rPr lang="en-US" sz="1750" dirty="0">
                <a:solidFill>
                  <a:srgbClr val="000000"/>
                </a:solidFill>
                <a:latin typeface="Arial"/>
                <a:cs typeface="Arial"/>
              </a:rPr>
              <a:t>483, 373 and 392 pairs for days 1, 2 and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Measured: balanced</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Age, sex, SOFA score, septic shock</a:t>
            </a:r>
          </a:p>
          <a:p>
            <a:pPr marL="0" indent="0" algn="ctr">
              <a:lnSpc>
                <a:spcPct val="104000"/>
              </a:lnSpc>
              <a:spcBef>
                <a:spcPts val="400"/>
              </a:spcBef>
              <a:buNone/>
            </a:pPr>
            <a:r>
              <a:rPr lang="en-US" sz="1750" dirty="0">
                <a:solidFill>
                  <a:srgbClr val="000000"/>
                </a:solidFill>
                <a:latin typeface="Arial"/>
                <a:cs typeface="Arial"/>
              </a:rPr>
              <a:t>Comorbidities, infection site</a:t>
            </a:r>
          </a:p>
          <a:p>
            <a:pPr marL="0" indent="0" algn="ctr">
              <a:lnSpc>
                <a:spcPct val="104000"/>
              </a:lnSpc>
              <a:spcBef>
                <a:spcPts val="400"/>
              </a:spcBef>
              <a:buNone/>
            </a:pPr>
            <a:r>
              <a:rPr lang="en-US" sz="1750" dirty="0">
                <a:solidFill>
                  <a:srgbClr val="000000"/>
                </a:solidFill>
                <a:latin typeface="Arial"/>
                <a:cs typeface="Arial"/>
              </a:rPr>
              <a:t>Fluid output</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measured: may still differ</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Type of fluid, nutrition</a:t>
            </a:r>
          </a:p>
          <a:p>
            <a:pPr marL="0" indent="0" algn="ctr">
              <a:lnSpc>
                <a:spcPct val="104000"/>
              </a:lnSpc>
              <a:spcBef>
                <a:spcPts val="400"/>
              </a:spcBef>
              <a:buNone/>
            </a:pPr>
            <a:r>
              <a:rPr lang="en-US" sz="1750" dirty="0">
                <a:solidFill>
                  <a:srgbClr val="000000"/>
                </a:solidFill>
                <a:latin typeface="Arial"/>
                <a:cs typeface="Arial"/>
              </a:rPr>
              <a:t>The clinician's bedside judgement</a:t>
            </a:r>
          </a:p>
          <a:p>
            <a:pPr marL="0" indent="0" algn="ctr">
              <a:lnSpc>
                <a:spcPct val="104000"/>
              </a:lnSpc>
              <a:spcBef>
                <a:spcPts val="400"/>
              </a:spcBef>
              <a:buNone/>
            </a:pPr>
            <a:r>
              <a:rPr lang="en-US" sz="1750" b="1" dirty="0">
                <a:solidFill>
                  <a:srgbClr val="000000"/>
                </a:solidFill>
                <a:latin typeface="Arial"/>
                <a:cs typeface="Arial"/>
              </a:rPr>
              <a:t>This is residual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Internal validity first, then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9874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Internal validity</a:t>
            </a:r>
          </a:p>
        </p:txBody>
      </p:sp>
      <p:sp>
        <p:nvSpPr>
          <p:cNvPr id="71" name="CardBody"/>
          <p:cNvSpPr/>
          <p:nvPr/>
        </p:nvSpPr>
        <p:spPr>
          <a:xfrm>
            <a:off x="4572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Is the answer right for the people studied?</a:t>
            </a:r>
          </a:p>
          <a:p>
            <a:pPr marL="0" indent="0" algn="ctr">
              <a:lnSpc>
                <a:spcPct val="104000"/>
              </a:lnSpc>
              <a:spcBef>
                <a:spcPts val="400"/>
              </a:spcBef>
              <a:buNone/>
            </a:pPr>
            <a:r>
              <a:rPr lang="en-US" sz="1750" dirty="0">
                <a:solidFill>
                  <a:srgbClr val="000000"/>
                </a:solidFill>
                <a:latin typeface="Arial"/>
                <a:cs typeface="Arial"/>
              </a:rPr>
              <a:t>Randomisation</a:t>
            </a:r>
          </a:p>
          <a:p>
            <a:pPr marL="0" indent="0" algn="ctr">
              <a:lnSpc>
                <a:spcPct val="104000"/>
              </a:lnSpc>
              <a:spcBef>
                <a:spcPts val="400"/>
              </a:spcBef>
              <a:buNone/>
            </a:pPr>
            <a:r>
              <a:rPr lang="en-US" sz="1750" dirty="0">
                <a:solidFill>
                  <a:srgbClr val="000000"/>
                </a:solidFill>
                <a:latin typeface="Arial"/>
                <a:cs typeface="Arial"/>
              </a:rPr>
              <a:t>Concealment and blinding</a:t>
            </a:r>
          </a:p>
          <a:p>
            <a:pPr marL="0" indent="0" algn="ctr">
              <a:lnSpc>
                <a:spcPct val="104000"/>
              </a:lnSpc>
              <a:spcBef>
                <a:spcPts val="400"/>
              </a:spcBef>
              <a:buNone/>
            </a:pPr>
            <a:r>
              <a:rPr lang="en-US" sz="1750" dirty="0">
                <a:solidFill>
                  <a:srgbClr val="000000"/>
                </a:solidFill>
                <a:latin typeface="Arial"/>
                <a:cs typeface="Arial"/>
              </a:rPr>
              <a:t>Complete follow-up</a:t>
            </a:r>
          </a:p>
          <a:p>
            <a:pPr marL="0" indent="0" algn="ctr">
              <a:lnSpc>
                <a:spcPct val="104000"/>
              </a:lnSpc>
              <a:spcBef>
                <a:spcPts val="400"/>
              </a:spcBef>
              <a:buNone/>
            </a:pPr>
            <a:r>
              <a:rPr lang="en-US" sz="1750" dirty="0">
                <a:solidFill>
                  <a:srgbClr val="000000"/>
                </a:solidFill>
                <a:latin typeface="Arial"/>
                <a:cs typeface="Arial"/>
              </a:rPr>
              <a:t>Good measurement</a:t>
            </a:r>
          </a:p>
        </p:txBody>
      </p:sp>
      <p:sp>
        <p:nvSpPr>
          <p:cNvPr id="72" name="CardHead"/>
          <p:cNvSpPr/>
          <p:nvPr/>
        </p:nvSpPr>
        <p:spPr>
          <a:xfrm>
            <a:off x="6196000" y="159874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External validity</a:t>
            </a:r>
          </a:p>
        </p:txBody>
      </p:sp>
      <p:sp>
        <p:nvSpPr>
          <p:cNvPr id="73" name="CardBody"/>
          <p:cNvSpPr/>
          <p:nvPr/>
        </p:nvSpPr>
        <p:spPr>
          <a:xfrm>
            <a:off x="61960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Does it apply to my patients?</a:t>
            </a:r>
          </a:p>
          <a:p>
            <a:pPr marL="0" indent="0" algn="ctr">
              <a:lnSpc>
                <a:spcPct val="104000"/>
              </a:lnSpc>
              <a:spcBef>
                <a:spcPts val="400"/>
              </a:spcBef>
              <a:buNone/>
            </a:pPr>
            <a:r>
              <a:rPr lang="en-US" sz="1750" dirty="0">
                <a:solidFill>
                  <a:srgbClr val="000000"/>
                </a:solidFill>
                <a:latin typeface="Arial"/>
                <a:cs typeface="Arial"/>
              </a:rPr>
              <a:t>Boulet: age 18-85. My ICU: many over 85?</a:t>
            </a:r>
          </a:p>
          <a:p>
            <a:pPr marL="0" indent="0" algn="ctr">
              <a:lnSpc>
                <a:spcPct val="104000"/>
              </a:lnSpc>
              <a:spcBef>
                <a:spcPts val="400"/>
              </a:spcBef>
              <a:buNone/>
            </a:pPr>
            <a:r>
              <a:rPr lang="en-US" sz="1750" dirty="0">
                <a:solidFill>
                  <a:srgbClr val="000000"/>
                </a:solidFill>
                <a:latin typeface="Arial"/>
                <a:cs typeface="Arial"/>
              </a:rPr>
              <a:t>Boulet: no dialysis. My ICU: patients on dialysis?</a:t>
            </a:r>
          </a:p>
          <a:p>
            <a:pPr marL="0" indent="0" algn="ctr">
              <a:lnSpc>
                <a:spcPct val="104000"/>
              </a:lnSpc>
              <a:spcBef>
                <a:spcPts val="400"/>
              </a:spcBef>
              <a:buNone/>
            </a:pPr>
            <a:r>
              <a:rPr lang="en-US" sz="1750" dirty="0">
                <a:solidFill>
                  <a:srgbClr val="000000"/>
                </a:solidFill>
                <a:latin typeface="Arial"/>
                <a:cs typeface="Arial"/>
              </a:rPr>
              <a:t>Boulet: 3 ICUs in one country</a:t>
            </a:r>
          </a:p>
          <a:p>
            <a:pPr marL="0" indent="0" algn="ctr">
              <a:lnSpc>
                <a:spcPct val="104000"/>
              </a:lnSpc>
              <a:spcBef>
                <a:spcPts val="400"/>
              </a:spcBef>
              <a:buNone/>
            </a:pPr>
            <a:r>
              <a:rPr lang="en-US" sz="1750" dirty="0">
                <a:solidFill>
                  <a:srgbClr val="000000"/>
                </a:solidFill>
                <a:latin typeface="Arial"/>
                <a:cs typeface="Arial"/>
              </a:rPr>
              <a:t>Boulet: only 4% of screened patients enrolled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we assume</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positive fluid balance harms the kidneys</a:t>
            </a:r>
          </a:p>
          <a:p>
            <a:pPr marL="0" indent="0" algn="ctr">
              <a:lnSpc>
                <a:spcPct val="104000"/>
              </a:lnSpc>
              <a:spcBef>
                <a:spcPts val="400"/>
              </a:spcBef>
              <a:buNone/>
            </a:pPr>
            <a:r>
              <a:rPr lang="en-US" sz="1750" dirty="0">
                <a:solidFill>
                  <a:srgbClr val="000000"/>
                </a:solidFill>
                <a:latin typeface="Arial"/>
                <a:cs typeface="Arial"/>
              </a:rPr>
              <a:t>Kidney injury then leads to death</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may really happen</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Failing kidneys make less urine</a:t>
            </a:r>
          </a:p>
          <a:p>
            <a:pPr marL="0" indent="0" algn="ctr">
              <a:lnSpc>
                <a:spcPct val="104000"/>
              </a:lnSpc>
              <a:spcBef>
                <a:spcPts val="400"/>
              </a:spcBef>
              <a:buNone/>
            </a:pPr>
            <a:r>
              <a:rPr lang="en-US" sz="1750" dirty="0">
                <a:solidFill>
                  <a:srgbClr val="000000"/>
                </a:solidFill>
                <a:latin typeface="Arial"/>
                <a:cs typeface="Arial"/>
              </a:rPr>
              <a:t>Less urine out makes the balance positive</a:t>
            </a:r>
          </a:p>
          <a:p>
            <a:pPr marL="0" indent="0" algn="ctr">
              <a:lnSpc>
                <a:spcPct val="104000"/>
              </a:lnSpc>
              <a:spcBef>
                <a:spcPts val="400"/>
              </a:spcBef>
              <a:buNone/>
            </a:pPr>
            <a:r>
              <a:rPr lang="en-US" sz="1750" b="1" dirty="0">
                <a:solidFill>
                  <a:srgbClr val="000000"/>
                </a:solidFill>
                <a:latin typeface="Arial"/>
                <a:cs typeface="Arial"/>
              </a:rPr>
              <a:t>The arrow runs the other way</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to check</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Which came first?</a:t>
            </a:r>
          </a:p>
          <a:p>
            <a:pPr marL="0" indent="0" algn="ctr">
              <a:lnSpc>
                <a:spcPct val="104000"/>
              </a:lnSpc>
              <a:spcBef>
                <a:spcPts val="400"/>
              </a:spcBef>
              <a:buNone/>
            </a:pPr>
            <a:r>
              <a:rPr lang="en-US" sz="1750" dirty="0">
                <a:solidFill>
                  <a:srgbClr val="000000"/>
                </a:solidFill>
                <a:latin typeface="Arial"/>
                <a:cs typeface="Arial"/>
              </a:rPr>
              <a:t>Measure the exposure before the outcome starts</a:t>
            </a:r>
          </a:p>
          <a:p>
            <a:pPr marL="0" indent="0" algn="ctr">
              <a:lnSpc>
                <a:spcPct val="104000"/>
              </a:lnSpc>
              <a:spcBef>
                <a:spcPts val="400"/>
              </a:spcBef>
              <a:buNone/>
            </a:pPr>
            <a:r>
              <a:rPr lang="en-US" sz="1750" dirty="0">
                <a:solidFill>
                  <a:srgbClr val="000000"/>
                </a:solidFill>
                <a:latin typeface="Arial"/>
                <a:cs typeface="Arial"/>
              </a:rPr>
              <a:t>Use a time lag</a:t>
            </a:r>
          </a:p>
          <a:p>
            <a:pPr marL="0" indent="0" algn="ctr">
              <a:lnSpc>
                <a:spcPct val="104000"/>
              </a:lnSpc>
              <a:spcBef>
                <a:spcPts val="400"/>
              </a:spcBef>
              <a:buNone/>
            </a:pPr>
            <a:r>
              <a:rPr lang="en-US" sz="1750" dirty="0">
                <a:solidFill>
                  <a:srgbClr val="000000"/>
                </a:solidFill>
                <a:latin typeface="Arial"/>
                <a:cs typeface="Arial"/>
              </a:rPr>
              <a:t>Prefer a cohort or an RCT to a cross-sectional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From association to causation: the Bradford Hill viewpoints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76861"/>
          <a:ext cx="11277600" cy="40630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Viewpoint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asks</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Applied to Paper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Strength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Is the effect big?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Moderate (HR about 1.6 to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Consistency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Seen in other studies and places?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in other cohorts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Specificity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One cause, one effect? (the weakest)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useful 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Temporality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Did the cause come first? (the only must)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Balance before death, but reverse causation is possible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Dose-response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More exposure, more effect?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shown</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Plausibility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Is there a biological mechanism?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fluid overload, oedema, organ congestion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Coherence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Does it fit what we already know?</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Mostly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Experiment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Does removing the exposure reduce the outcome?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Trials such as Boulet: no effect on deaths shown yet</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Analogy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 similar causes have similar effects?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Fluid overload harms in other settings</a:t>
                      </a:r>
                    </a:p>
                  </a:txBody>
                  <a:tcPr marL="73152" marR="73152" marT="45720" marB="45720" anchor="ctr">
                    <a:solidFill>
                      <a:srgbClr val="FFFFFF"/>
                    </a:solidFill>
                  </a:tcPr>
                </a:tc>
              </a:tr>
            </a:tbl>
          </a:graphicData>
        </a:graphic>
      </p:graphicFrame>
      <p:sp>
        <p:nvSpPr>
          <p:cNvPr id="31" name="Caption"/>
          <p:cNvSpPr txBox="1"/>
          <p:nvPr/>
        </p:nvSpPr>
        <p:spPr>
          <a:xfrm>
            <a:off x="457200" y="54299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hazard ratio. 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Families of patients who died recall the days before ICU admission in more detail than families of survivors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an unblinded fluid trial, the doctor who knows the group decides when a patient is 'ready for ICU discharge'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fluid study includes only patients who stayed in the ICU for 3 days or more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Patients with a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Vote for one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Recall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named for each scenario, and one fix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How common? How much more likely?</a:t>
            </a:r>
          </a:p>
          <a:p>
            <a:pPr marL="0" indent="0" algn="ctr">
              <a:spcBef>
                <a:spcPts val="1200"/>
              </a:spcBef>
              <a:buNone/>
            </a:pPr>
            <a:r>
              <a:rPr lang="en-US" sz="1900" i="1" dirty="0">
                <a:solidFill>
                  <a:srgbClr val="595959"/>
                </a:solidFill>
                <a:latin typeface="Arial"/>
                <a:cs typeface="Arial"/>
              </a:rPr>
              <a:t>Prevalence, incidence, risk, and the 2x2 table behind RR, OR, RD and NNT.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Hypothetical trial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Died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Survived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Total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Risk</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Restrictive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Usual care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Always the same layout: exposure in rows, with the exposed (treated) group on top. Outcome in columns, with 'outcome yes' (died) on the left. Then a, b, c and d always mean the same 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difference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points</a:t>
            </a:r>
          </a:p>
          <a:p>
            <a:pPr marL="0" indent="0" algn="ctr">
              <a:lnSpc>
                <a:spcPct val="104000"/>
              </a:lnSpc>
              <a:spcBef>
                <a:spcPts val="400"/>
              </a:spcBef>
              <a:buNone/>
            </a:pPr>
            <a:r>
              <a:rPr lang="en-US" sz="1600" dirty="0">
                <a:solidFill>
                  <a:srgbClr val="000000"/>
                </a:solidFill>
                <a:latin typeface="Arial"/>
                <a:cs typeface="Arial"/>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Number needed to treat (NNT)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|risk difference|</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(number needed to treat)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instructor shares the screen: 2x2_calculator.xlsx, sheet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Enter a, b, c, d from the worked example: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risks, RR, RD, NNT and OR, and the plain-language lines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the deaths to 2 and 3 of 100: watch the OR approach the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Same layout as the slide</a:t>
            </a:r>
          </a:p>
          <a:p>
            <a:pPr marL="0" indent="0" algn="ctr">
              <a:lnSpc>
                <a:spcPct val="104000"/>
              </a:lnSpc>
              <a:spcBef>
                <a:spcPts val="300"/>
              </a:spcBef>
              <a:buNone/>
            </a:pPr>
            <a:r>
              <a:rPr lang="en-US" sz="1500" dirty="0">
                <a:solidFill>
                  <a:srgbClr val="000000"/>
                </a:solidFill>
                <a:latin typeface="Arial"/>
                <a:cs typeface="Arial"/>
              </a:rPr>
              <a:t>Relative vs absolute effect</a:t>
            </a:r>
          </a:p>
          <a:p>
            <a:pPr marL="0" indent="0" algn="ctr">
              <a:lnSpc>
                <a:spcPct val="104000"/>
              </a:lnSpc>
              <a:spcBef>
                <a:spcPts val="300"/>
              </a:spcBef>
              <a:buNone/>
            </a:pPr>
            <a:r>
              <a:rPr lang="en-US" sz="1500" dirty="0">
                <a:solidFill>
                  <a:srgbClr val="000000"/>
                </a:solidFill>
                <a:latin typeface="Arial"/>
                <a:cs typeface="Arial"/>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two 2x2 calculations,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sent before the session), Part C: draw each 2x2 table first, exposure in rows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1 (a fluid trial, 200 per group): risks, RR, RD, NNT, OR. Answer each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2 (a fluid case-control study): OR only. Poll: can we calculate an RR?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checks each answer live with the 2x2 calculator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each result in one plain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Risk = a / (a + b)</a:t>
            </a:r>
          </a:p>
          <a:p>
            <a:pPr marL="0" indent="0" algn="ctr">
              <a:lnSpc>
                <a:spcPct val="104000"/>
              </a:lnSpc>
              <a:spcBef>
                <a:spcPts val="300"/>
              </a:spcBef>
              <a:buNone/>
            </a:pPr>
            <a:r>
              <a:rPr lang="en-US" sz="1500" dirty="0">
                <a:solidFill>
                  <a:srgbClr val="000000"/>
                </a:solidFill>
                <a:latin typeface="Arial"/>
                <a:cs typeface="Arial"/>
              </a:rPr>
              <a:t>RR = risk / risk</a:t>
            </a:r>
          </a:p>
          <a:p>
            <a:pPr marL="0" indent="0" algn="ctr">
              <a:lnSpc>
                <a:spcPct val="104000"/>
              </a:lnSpc>
              <a:spcBef>
                <a:spcPts val="300"/>
              </a:spcBef>
              <a:buNone/>
            </a:pPr>
            <a:r>
              <a:rPr lang="en-US" sz="1500" dirty="0">
                <a:solidFill>
                  <a:srgbClr val="000000"/>
                </a:solidFill>
                <a:latin typeface="Arial"/>
                <a:cs typeface="Arial"/>
              </a:rPr>
              <a:t>NNT = 1 / risk difference</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Both calculations solved together, each with one plain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study is rarely the answer.</a:t>
            </a:r>
          </a:p>
          <a:p>
            <a:pPr marL="0" indent="0" algn="ctr">
              <a:spcBef>
                <a:spcPts val="1200"/>
              </a:spcBef>
              <a:buNone/>
            </a:pPr>
            <a:r>
              <a:rPr lang="en-US" sz="1900" i="1" dirty="0">
                <a:solidFill>
                  <a:srgbClr val="595959"/>
                </a:solidFill>
                <a:latin typeface="Arial"/>
                <a:cs typeface="Arial"/>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positive and negative predictive values, the chance that a positive or a negative result is right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receiver operating characteristic. AUC: area under the curve. Simulated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Preferred Reporting Items for Systematic reviews and Meta-Analyses. RCT: 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PRISMA flow shows how studies were found, screened and excluded,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risk ratio, CI: confidence interval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I-squared (i²): the share of the variation between studies that is beyond chance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If the study is a...</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Appraise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Report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Course example</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Non-randomised study of an intervention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or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Cohort or case-control study of an exposure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Newcastle-Ottawa Scale (or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Diagnostic accuracy study</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Systematic review</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Cochrane risk-of-bias tool for randomised trials. ROBINS-I / -E: risk of bias in non-randomised studies of interventions / exposures. QUADAS-2: for diagnostic accuracy studies. AMSTAR 2: for systematic reviews. The reporting guidelines are covered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Questions 7-9 of the 10-question appraisal checklist used in Session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'Caused' needs randomisation</a:t>
            </a:r>
          </a:p>
          <a:p>
            <a:pPr marL="0" indent="0" algn="ctr">
              <a:lnSpc>
                <a:spcPct val="104000"/>
              </a:lnSpc>
              <a:spcBef>
                <a:spcPts val="400"/>
              </a:spcBef>
              <a:buNone/>
            </a:pPr>
            <a:r>
              <a:rPr lang="en-US" sz="1750" dirty="0">
                <a:solidFill>
                  <a:srgbClr val="000000"/>
                </a:solidFill>
                <a:latin typeface="Arial"/>
                <a:cs typeface="Arial"/>
              </a:rPr>
              <a:t>Observational: 'associated with'</a:t>
            </a:r>
          </a:p>
          <a:p>
            <a:pPr marL="0" indent="0" algn="ctr">
              <a:lnSpc>
                <a:spcPct val="104000"/>
              </a:lnSpc>
              <a:spcBef>
                <a:spcPts val="400"/>
              </a:spcBef>
              <a:buNone/>
            </a:pPr>
            <a:r>
              <a:rPr lang="en-US" sz="1750" dirty="0">
                <a:solidFill>
                  <a:srgbClr val="000000"/>
                </a:solidFill>
                <a:latin typeface="Arial"/>
                <a:cs typeface="Arial"/>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size with its 95% CI</a:t>
            </a:r>
          </a:p>
          <a:p>
            <a:pPr marL="0" indent="0" algn="ctr">
              <a:lnSpc>
                <a:spcPct val="104000"/>
              </a:lnSpc>
              <a:spcBef>
                <a:spcPts val="400"/>
              </a:spcBef>
              <a:buNone/>
            </a:pPr>
            <a:r>
              <a:rPr lang="en-US" sz="1750" dirty="0">
                <a:solidFill>
                  <a:srgbClr val="000000"/>
                </a:solidFill>
                <a:latin typeface="Arial"/>
                <a:cs typeface="Arial"/>
              </a:rPr>
              <a:t>Relative and absolute effect</a:t>
            </a:r>
          </a:p>
          <a:p>
            <a:pPr marL="0" indent="0" algn="ctr">
              <a:lnSpc>
                <a:spcPct val="104000"/>
              </a:lnSpc>
              <a:spcBef>
                <a:spcPts val="400"/>
              </a:spcBef>
              <a:buNone/>
            </a:pPr>
            <a:r>
              <a:rPr lang="en-US" sz="1750" dirty="0">
                <a:solidFill>
                  <a:srgbClr val="000000"/>
                </a:solidFill>
                <a:latin typeface="Arial"/>
                <a:cs typeface="Arial"/>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outcome reported first</a:t>
            </a:r>
          </a:p>
          <a:p>
            <a:pPr marL="0" indent="0" algn="ctr">
              <a:lnSpc>
                <a:spcPct val="104000"/>
              </a:lnSpc>
              <a:spcBef>
                <a:spcPts val="400"/>
              </a:spcBef>
              <a:buNone/>
            </a:pPr>
            <a:r>
              <a:rPr lang="en-US" sz="1750" dirty="0">
                <a:solidFill>
                  <a:srgbClr val="000000"/>
                </a:solidFill>
                <a:latin typeface="Arial"/>
                <a:cs typeface="Arial"/>
              </a:rPr>
              <a:t>Main limitations stated</a:t>
            </a:r>
          </a:p>
          <a:p>
            <a:pPr marL="0" indent="0" algn="ctr">
              <a:lnSpc>
                <a:spcPct val="104000"/>
              </a:lnSpc>
              <a:spcBef>
                <a:spcPts val="400"/>
              </a:spcBef>
              <a:buNone/>
            </a:pPr>
            <a:r>
              <a:rPr lang="en-US" sz="1750" dirty="0">
                <a:solidFill>
                  <a:srgbClr val="000000"/>
                </a:solidFill>
                <a:latin typeface="Arial"/>
                <a:cs typeface="Arial"/>
              </a:rPr>
              <a:t>Conclusion based on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conclusion last,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Part E: the forest plot of six fluid trials, also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trial carries the most weight?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any single trial show a clear effect?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diamond cross RR = 1? Say the result in one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the risk-of-bias tool for Paper 1 (Boulet), Paper 2 (Hyun) and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Reminder</a:t>
            </a:r>
          </a:p>
          <a:p>
            <a:pPr marL="0" indent="0" algn="ctr">
              <a:lnSpc>
                <a:spcPct val="104000"/>
              </a:lnSpc>
              <a:spcBef>
                <a:spcPts val="300"/>
              </a:spcBef>
              <a:buNone/>
            </a:pPr>
            <a:r>
              <a:rPr lang="en-US" sz="1500" dirty="0">
                <a:solidFill>
                  <a:srgbClr val="000000"/>
                </a:solidFill>
                <a:latin typeface="Arial"/>
                <a:cs typeface="Arial"/>
              </a:rPr>
              <a:t>Square = one study</a:t>
            </a:r>
          </a:p>
          <a:p>
            <a:pPr marL="0" indent="0" algn="ctr">
              <a:lnSpc>
                <a:spcPct val="104000"/>
              </a:lnSpc>
              <a:spcBef>
                <a:spcPts val="300"/>
              </a:spcBef>
              <a:buNone/>
            </a:pPr>
            <a:r>
              <a:rPr lang="en-US" sz="1500" dirty="0">
                <a:solidFill>
                  <a:srgbClr val="000000"/>
                </a:solidFill>
                <a:latin typeface="Arial"/>
                <a:cs typeface="Arial"/>
              </a:rPr>
              <a:t>Line = 95% confidence interval</a:t>
            </a:r>
          </a:p>
          <a:p>
            <a:pPr marL="0" indent="0" algn="ctr">
              <a:lnSpc>
                <a:spcPct val="104000"/>
              </a:lnSpc>
              <a:spcBef>
                <a:spcPts val="300"/>
              </a:spcBef>
              <a:buNone/>
            </a:pPr>
            <a:r>
              <a:rPr lang="en-US" sz="1500" dirty="0">
                <a:solidFill>
                  <a:srgbClr val="000000"/>
                </a:solidFill>
                <a:latin typeface="Arial"/>
                <a:cs typeface="Arial"/>
              </a:rPr>
              <a:t>Diamond = pooled result</a:t>
            </a:r>
          </a:p>
          <a:p>
            <a:pPr marL="0" indent="0" algn="ctr">
              <a:lnSpc>
                <a:spcPct val="104000"/>
              </a:lnSpc>
              <a:spcBef>
                <a:spcPts val="300"/>
              </a:spcBef>
              <a:buNone/>
            </a:pPr>
            <a:r>
              <a:rPr lang="en-US" sz="1500" dirty="0">
                <a:solidFill>
                  <a:srgbClr val="000000"/>
                </a:solidFill>
                <a:latin typeface="Arial"/>
                <a:cs typeface="Arial"/>
              </a:rPr>
              <a:t>Tools: see the table two slides back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sentence on the pooled result, and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running example (observational version)</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Death from any cause</a:t>
            </a:r>
          </a:p>
          <a:p>
            <a:pPr marL="0" indent="0" algn="ctr">
              <a:lnSpc>
                <a:spcPct val="104000"/>
              </a:lnSpc>
              <a:spcBef>
                <a:spcPts val="400"/>
              </a:spcBef>
              <a:buNone/>
            </a:pPr>
            <a:r>
              <a:rPr lang="en-US" sz="1600" dirty="0">
                <a:solidFill>
                  <a:srgbClr val="000000"/>
                </a:solidFill>
                <a:latin typeface="Arial"/>
                <a:cs typeface="Arial"/>
              </a:rPr>
              <a:t>Not 'mortality improved'</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Hospital record</a:t>
            </a:r>
          </a:p>
          <a:p>
            <a:pPr marL="0" indent="0" algn="ctr">
              <a:lnSpc>
                <a:spcPct val="104000"/>
              </a:lnSpc>
              <a:spcBef>
                <a:spcPts val="400"/>
              </a:spcBef>
              <a:buNone/>
            </a:pPr>
            <a:r>
              <a:rPr lang="en-US" sz="1600" dirty="0">
                <a:solidFill>
                  <a:srgbClr val="000000"/>
                </a:solidFill>
                <a:latin typeface="Arial"/>
                <a:cs typeface="Arial"/>
              </a:rPr>
              <a:t>Phone call if discharged</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When</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Day 28 after ICU admission</a:t>
            </a:r>
          </a:p>
          <a:p>
            <a:pPr marL="0" indent="0" algn="ctr">
              <a:lnSpc>
                <a:spcPct val="104000"/>
              </a:lnSpc>
              <a:spcBef>
                <a:spcPts val="400"/>
              </a:spcBef>
              <a:buNone/>
            </a:pPr>
            <a:r>
              <a:rPr lang="en-US" sz="1600" dirty="0">
                <a:solidFill>
                  <a:srgbClr val="000000"/>
                </a:solidFill>
                <a:latin typeface="Arial"/>
                <a:cs typeface="Arial"/>
              </a:rPr>
              <a:t>The same day for every patient</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secondary outcomes</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Acute kidney injury by day 7</a:t>
            </a:r>
          </a:p>
          <a:p>
            <a:pPr marL="0" indent="0" algn="ctr">
              <a:lnSpc>
                <a:spcPct val="104000"/>
              </a:lnSpc>
              <a:spcBef>
                <a:spcPts val="400"/>
              </a:spcBef>
              <a:buNone/>
            </a:pPr>
            <a:r>
              <a:rPr lang="en-US" sz="1600" dirty="0">
                <a:solidFill>
                  <a:srgbClr val="000000"/>
                </a:solidFill>
                <a:latin typeface="Arial"/>
                <a:cs typeface="Arial"/>
              </a:rPr>
              <a:t>Ventilator-free days to day 28</a:t>
            </a:r>
          </a:p>
          <a:p>
            <a:pPr marL="0" indent="0" algn="ctr">
              <a:lnSpc>
                <a:spcPct val="104000"/>
              </a:lnSpc>
              <a:spcBef>
                <a:spcPts val="400"/>
              </a:spcBef>
              <a:buNone/>
            </a:pPr>
            <a:r>
              <a:rPr lang="en-US" sz="1600" dirty="0">
                <a:solidFill>
                  <a:srgbClr val="000000"/>
                </a:solidFill>
                <a:latin typeface="Arial"/>
                <a:cs typeface="Arial"/>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Decide the primary outcome before you see the data, and report it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2b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Exposure or intervention, and comparator: exactly what, how much,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primary outcome (what, how, when) and 2-3 secondary outcomes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main biases, a concrete fix for each, and 'caused' or 'associated'</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(16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one bias and its fix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Comparator stated?</a:t>
            </a:r>
          </a:p>
          <a:p>
            <a:pPr marL="0" indent="0" algn="ctr">
              <a:lnSpc>
                <a:spcPct val="104000"/>
              </a:lnSpc>
              <a:spcBef>
                <a:spcPts val="300"/>
              </a:spcBef>
              <a:buNone/>
            </a:pPr>
            <a:r>
              <a:rPr lang="en-US" sz="1500" dirty="0">
                <a:solidFill>
                  <a:srgbClr val="000000"/>
                </a:solidFill>
                <a:latin typeface="Arial"/>
                <a:cs typeface="Arial"/>
              </a:rPr>
              <a:t>Only one primary outcome?</a:t>
            </a:r>
          </a:p>
          <a:p>
            <a:pPr marL="0" indent="0" algn="ctr">
              <a:lnSpc>
                <a:spcPct val="104000"/>
              </a:lnSpc>
              <a:spcBef>
                <a:spcPts val="300"/>
              </a:spcBef>
              <a:buNone/>
            </a:pPr>
            <a:r>
              <a:rPr lang="en-US" sz="1500" dirty="0">
                <a:solidFill>
                  <a:srgbClr val="000000"/>
                </a:solidFill>
                <a:latin typeface="Arial"/>
                <a:cs typeface="Arial"/>
              </a:rPr>
              <a:t>Outcome has a time point?</a:t>
            </a:r>
          </a:p>
          <a:p>
            <a:pPr marL="0" indent="0" algn="ctr">
              <a:lnSpc>
                <a:spcPct val="104000"/>
              </a:lnSpc>
              <a:spcBef>
                <a:spcPts val="300"/>
              </a:spcBef>
              <a:buNone/>
            </a:pPr>
            <a:r>
              <a:rPr lang="en-US" sz="1500" dirty="0">
                <a:solidFill>
                  <a:srgbClr val="000000"/>
                </a:solidFill>
                <a:latin typeface="Arial"/>
                <a:cs typeface="Arial"/>
              </a:rPr>
              <a:t>Confounding by indication?</a:t>
            </a:r>
          </a:p>
          <a:p>
            <a:pPr marL="0" indent="0" algn="ctr">
              <a:lnSpc>
                <a:spcPct val="104000"/>
              </a:lnSpc>
              <a:spcBef>
                <a:spcPts val="300"/>
              </a:spcBef>
              <a:buNone/>
            </a:pPr>
            <a:r>
              <a:rPr lang="en-US" sz="1500" dirty="0">
                <a:solidFill>
                  <a:srgbClr val="000000"/>
                </a:solidFill>
                <a:latin typeface="Arial"/>
                <a:cs typeface="Arial"/>
              </a:rPr>
              <a:t>A concrete fix for each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 complete (2a from Session 3, 2b today).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size does not fix it</a:t>
            </a:r>
          </a:p>
          <a:p>
            <a:pPr marL="0" indent="0" algn="ctr">
              <a:lnSpc>
                <a:spcPct val="104000"/>
              </a:lnSpc>
              <a:spcBef>
                <a:spcPts val="400"/>
              </a:spcBef>
              <a:buNone/>
            </a:pPr>
            <a:r>
              <a:rPr lang="en-US" sz="1600" dirty="0">
                <a:solidFill>
                  <a:srgbClr val="000000"/>
                </a:solidFill>
                <a:latin typeface="Arial"/>
                <a:cs typeface="Arial"/>
              </a:rPr>
              <a:t>Confounding: remove it</a:t>
            </a:r>
          </a:p>
          <a:p>
            <a:pPr marL="0" indent="0" algn="ctr">
              <a:lnSpc>
                <a:spcPct val="104000"/>
              </a:lnSpc>
              <a:spcBef>
                <a:spcPts val="400"/>
              </a:spcBef>
              <a:buNone/>
            </a:pPr>
            <a:r>
              <a:rPr lang="en-US" sz="1600" dirty="0">
                <a:solidFill>
                  <a:srgbClr val="000000"/>
                </a:solidFill>
                <a:latin typeface="Arial"/>
                <a:cs typeface="Arial"/>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Relative: RR, OR</a:t>
            </a:r>
          </a:p>
          <a:p>
            <a:pPr marL="0" indent="0" algn="ctr">
              <a:lnSpc>
                <a:spcPct val="104000"/>
              </a:lnSpc>
              <a:spcBef>
                <a:spcPts val="400"/>
              </a:spcBef>
              <a:buNone/>
            </a:pPr>
            <a:r>
              <a:rPr lang="en-US" sz="1600" dirty="0">
                <a:solidFill>
                  <a:srgbClr val="000000"/>
                </a:solidFill>
                <a:latin typeface="Arial"/>
                <a:cs typeface="Arial"/>
              </a:rPr>
              <a:t>Absolute: RD, NNT</a:t>
            </a:r>
          </a:p>
          <a:p>
            <a:pPr marL="0" indent="0" algn="ctr">
              <a:lnSpc>
                <a:spcPct val="104000"/>
              </a:lnSpc>
              <a:spcBef>
                <a:spcPts val="400"/>
              </a:spcBef>
              <a:buNone/>
            </a:pPr>
            <a:r>
              <a:rPr lang="en-US" sz="1600" dirty="0">
                <a:solidFill>
                  <a:srgbClr val="000000"/>
                </a:solidFill>
                <a:latin typeface="Arial"/>
                <a:cs typeface="Arial"/>
              </a:rPr>
              <a:t>OR close to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depends on prevalence</a:t>
            </a:r>
          </a:p>
          <a:p>
            <a:pPr marL="0" indent="0" algn="ctr">
              <a:lnSpc>
                <a:spcPct val="104000"/>
              </a:lnSpc>
              <a:spcBef>
                <a:spcPts val="400"/>
              </a:spcBef>
              <a:buNone/>
            </a:pPr>
            <a:r>
              <a:rPr lang="en-US" sz="1600" dirty="0">
                <a:solidFill>
                  <a:srgbClr val="000000"/>
                </a:solidFill>
                <a:latin typeface="Arial"/>
                <a:cs typeface="Arial"/>
              </a:rPr>
              <a:t>Forest plot: read the diamond</a:t>
            </a:r>
          </a:p>
          <a:p>
            <a:pPr marL="0" indent="0" algn="ctr">
              <a:lnSpc>
                <a:spcPct val="104000"/>
              </a:lnSpc>
              <a:spcBef>
                <a:spcPts val="400"/>
              </a:spcBef>
              <a:buNone/>
            </a:pPr>
            <a:r>
              <a:rPr lang="en-US" sz="1600" dirty="0">
                <a:solidFill>
                  <a:srgbClr val="000000"/>
                </a:solidFill>
                <a:latin typeface="Arial"/>
                <a:cs typeface="Arial"/>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Part 2 complete</a:t>
            </a:r>
          </a:p>
          <a:p>
            <a:pPr marL="0" indent="0" algn="ctr">
              <a:lnSpc>
                <a:spcPct val="104000"/>
              </a:lnSpc>
              <a:spcBef>
                <a:spcPts val="400"/>
              </a:spcBef>
              <a:buNone/>
            </a:pPr>
            <a:r>
              <a:rPr lang="en-US" sz="1600" dirty="0">
                <a:solidFill>
                  <a:srgbClr val="000000"/>
                </a:solidFill>
                <a:latin typeface="Arial"/>
                <a:cs typeface="Arial"/>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ICU patients who received more fluid died more often. Give one reason other than the fluid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 (exposure, comparator, outcomes, biases)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Optional: exercise sheet Parts B and D (effect modification, PPV in two settings)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5): data, and the course dataset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4</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Only patients who survived to hospital discharge are interviewed about their ICU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The nurse who knows each patient's group scores their pain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Other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More antibiotics, more deaths?</a:t>
            </a:r>
          </a:p>
          <a:p>
            <a:pPr marL="0" indent="0" algn="ctr">
              <a:lnSpc>
                <a:spcPct val="104000"/>
              </a:lnSpc>
              <a:spcBef>
                <a:spcPts val="400"/>
              </a:spcBef>
              <a:buNone/>
            </a:pPr>
            <a:r>
              <a:rPr lang="en-US" sz="1750" b="1" dirty="0">
                <a:solidFill>
                  <a:srgbClr val="000000"/>
                </a:solidFill>
                <a:latin typeface="Arial"/>
                <a:cs typeface="Arial"/>
              </a:rPr>
              <a:t>Confounder: severity of infection</a:t>
            </a:r>
          </a:p>
          <a:p>
            <a:pPr marL="0" indent="0" algn="ctr">
              <a:lnSpc>
                <a:spcPct val="104000"/>
              </a:lnSpc>
              <a:spcBef>
                <a:spcPts val="400"/>
              </a:spcBef>
              <a:buNone/>
            </a:pPr>
            <a:r>
              <a:rPr lang="en-US" sz="1750" dirty="0">
                <a:solidFill>
                  <a:srgbClr val="000000"/>
                </a:solidFill>
                <a:latin typeface="Arial"/>
                <a:cs typeface="Arial"/>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Seen by a dietitian, more weight loss?</a:t>
            </a:r>
          </a:p>
          <a:p>
            <a:pPr marL="0" indent="0" algn="ctr">
              <a:lnSpc>
                <a:spcPct val="104000"/>
              </a:lnSpc>
              <a:spcBef>
                <a:spcPts val="400"/>
              </a:spcBef>
              <a:buNone/>
            </a:pPr>
            <a:r>
              <a:rPr lang="en-US" sz="1750" b="1" dirty="0">
                <a:solidFill>
                  <a:srgbClr val="000000"/>
                </a:solidFill>
                <a:latin typeface="Arial"/>
                <a:cs typeface="Arial"/>
              </a:rPr>
              <a:t>Confounder: malnutrition at admission</a:t>
            </a:r>
          </a:p>
          <a:p>
            <a:pPr marL="0" indent="0" algn="ctr">
              <a:lnSpc>
                <a:spcPct val="104000"/>
              </a:lnSpc>
              <a:spcBef>
                <a:spcPts val="400"/>
              </a:spcBef>
              <a:buNone/>
            </a:pPr>
            <a:r>
              <a:rPr lang="en-US" sz="1750" dirty="0">
                <a:solidFill>
                  <a:srgbClr val="000000"/>
                </a:solidFill>
                <a:latin typeface="Arial"/>
                <a:cs typeface="Arial"/>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Vasopressors, more arrhythmia?</a:t>
            </a:r>
          </a:p>
          <a:p>
            <a:pPr marL="0" indent="0" algn="ctr">
              <a:lnSpc>
                <a:spcPct val="104000"/>
              </a:lnSpc>
              <a:spcBef>
                <a:spcPts val="400"/>
              </a:spcBef>
              <a:buNone/>
            </a:pPr>
            <a:r>
              <a:rPr lang="en-US" sz="1750" b="1" dirty="0">
                <a:solidFill>
                  <a:srgbClr val="000000"/>
                </a:solidFill>
                <a:latin typeface="Arial"/>
                <a:cs typeface="Arial"/>
              </a:rPr>
              <a:t>Confounder: depth of shock</a:t>
            </a:r>
          </a:p>
          <a:p>
            <a:pPr marL="0" indent="0" algn="ctr">
              <a:lnSpc>
                <a:spcPct val="104000"/>
              </a:lnSpc>
              <a:spcBef>
                <a:spcPts val="400"/>
              </a:spcBef>
              <a:buNone/>
            </a:pPr>
            <a:r>
              <a:rPr lang="en-US" sz="1750" dirty="0">
                <a:solidFill>
                  <a:srgbClr val="000000"/>
                </a:solidFill>
                <a:latin typeface="Arial"/>
                <a:cs typeface="Arial"/>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Likelihood ratios (LR)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sensitivity / (1 - specificity)</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sensitivity) / specificity</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An 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reporting checklist and flow diagram</a:t>
            </a:r>
          </a:p>
          <a:p>
            <a:pPr marL="0" indent="0" algn="ctr">
              <a:lnSpc>
                <a:spcPct val="104000"/>
              </a:lnSpc>
              <a:spcBef>
                <a:spcPts val="400"/>
              </a:spcBef>
              <a:buNone/>
            </a:pPr>
            <a:r>
              <a:rPr lang="en-US" sz="1750" dirty="0">
                <a:solidFill>
                  <a:srgbClr val="000000"/>
                </a:solidFill>
                <a:latin typeface="Arial"/>
                <a:cs typeface="Arial"/>
              </a:rPr>
              <a:t>QUADAS-2: risk of bias</a:t>
            </a:r>
          </a:p>
          <a:p>
            <a:pPr marL="0" indent="0" algn="ctr">
              <a:lnSpc>
                <a:spcPct val="104000"/>
              </a:lnSpc>
              <a:spcBef>
                <a:spcPts val="400"/>
              </a:spcBef>
              <a:buNone/>
            </a:pPr>
            <a:r>
              <a:rPr lang="en-US" sz="1750" dirty="0">
                <a:solidFill>
                  <a:srgbClr val="000000"/>
                </a:solidFill>
                <a:latin typeface="Arial"/>
                <a:cs typeface="Arial"/>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Cochrane risk-of-bias tool for randomised trials. D1-D5: its five domains. Illustrative judgements.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ward patients, 20 have a pressure injury</a:t>
            </a:r>
          </a:p>
          <a:p>
            <a:pPr marL="0" indent="0" algn="ctr">
              <a:lnSpc>
                <a:spcPct val="104000"/>
              </a:lnSpc>
              <a:spcBef>
                <a:spcPts val="200"/>
              </a:spcBef>
              <a:buNone/>
            </a:pPr>
            <a:r>
              <a:rPr lang="en-US" sz="1500" dirty="0">
                <a:solidFill>
                  <a:srgbClr val="000000"/>
                </a:solidFill>
                <a:latin typeface="Arial"/>
                <a:cs typeface="Arial"/>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per week</a:t>
            </a:r>
          </a:p>
          <a:p>
            <a:pPr marL="0" indent="0" algn="ctr">
              <a:lnSpc>
                <a:spcPct val="104000"/>
              </a:lnSpc>
              <a:spcBef>
                <a:spcPts val="200"/>
              </a:spcBef>
              <a:buNone/>
            </a:pPr>
            <a:r>
              <a:rPr lang="en-US" sz="1500" dirty="0">
                <a:solidFill>
                  <a:srgbClr val="000000"/>
                </a:solidFill>
                <a:latin typeface="Arial"/>
                <a:cs typeface="Arial"/>
              </a:rPr>
              <a:t>Denominator: only those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