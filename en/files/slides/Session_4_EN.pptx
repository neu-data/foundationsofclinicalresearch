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(0:00). Last Saturday we chose HOW to answer a question. Today two questions about any result: can we TRUST it (bias, confounding, causation) and how BIG is it (risk, RR, OR, RD, NNT)? Then we look beyond single studies: diagnostic tests, meta-analysis and appraisal tools.</a:t>
            </a:r>
          </a:p>
          <a:p>
            <a:r>
              <a:rPr lang="en-US" sz="1400" b="0" dirty="0"/>
              <a:t>Read three exit-question sticky notes from Session 3 first (the flu-vaccine cohort). It leads straight into confounding.</a:t>
            </a:r>
          </a:p>
          <a:p>
            <a:r>
              <a:rPr lang="en-US" sz="1400" b="0" dirty="0"/>
              <a:t>Pace: the only arithmetic is division in a 2x2 table, and the spreadsheet checks every answer.</a:t>
            </a:r>
          </a:p>
          <a:p>
            <a:r>
              <a:rPr lang="en-US" sz="1400" b="0" dirty="0"/>
              <a:t>Timing: 1 minute. The day: recap 10, 4.1 40, 4.2 30, break 15, calculations 20, 4.3 30, proposal builder 30,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case-control (chosen by outcome, look back for exposure). Q2: a cluster randomised trial. Q3: non-inferior. The whole CI stays below the +4 margin (it crosses 0, so it is not superior).</a:t>
            </a:r>
          </a:p>
          <a:p>
            <a:r>
              <a:rPr lang="en-US" sz="1400" b="0" dirty="0"/>
              <a:t>Misconception to catch in Q1: 'it uses records, so it is a cohort'. Ask: were people chosen by what happened to them (delirium) or by what they received?</a:t>
            </a:r>
          </a:p>
          <a:p>
            <a:r>
              <a:rPr lang="en-US" sz="1400" b="0" dirty="0"/>
              <a:t>Timing: about 6 minutes for the questions, 3 minutes for groups to re-read Part 2a.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tell the room the glossary is in the handout.</a:t>
            </a:r>
          </a:p>
          <a:p>
            <a:r>
              <a:rPr lang="en-US" sz="1400" b="0" dirty="0"/>
              <a:t>Teaching point: the order matters. We judge whether a result can be trusted before we care how big it is.</a:t>
            </a:r>
          </a:p>
          <a:p>
            <a:r>
              <a:rPr lang="en-US" sz="1400" b="0" dirty="0"/>
              <a:t>Ask the room: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(40 minutes, including a 2-minute check and the 4-minute 'Spot the bias' quiz).</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close to the truth and tightly grouped. Middle: random error, centred on the truth but scattered. A larger sample pulls the darts together. Right: bias,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room: which of the two papers is more at risk of random error, and which of bias? Expected answer: Boulet (48 patients) for random error; Hyun (observational) for bias, especially confounding.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room: in Boulet, 1,201 patients were screened and 50 included. What does that tell you? Expected answer: trial patients were highly selected.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for example 'ready for discharge' or 'delirium present'. In Boulet clinicians knew the allocation.</a:t>
            </a:r>
          </a:p>
          <a:p>
            <a:r>
              <a:rPr lang="en-US" sz="1400" b="0" dirty="0"/>
              <a:t>Measurement bias: a scale that always reads 0.5 kg high, or urine output that is under-recorded on night shifts. If it differs between groups, it distorts the comparison.</a:t>
            </a:r>
          </a:p>
          <a:p>
            <a:r>
              <a:rPr lang="en-US" sz="1400" b="0" dirty="0"/>
              <a:t>Misconception: 'hard outcomes like death are immune'. Death is reliably recorded, but the timing and cause of death can still be misclassified.</a:t>
            </a:r>
          </a:p>
          <a:p>
            <a:r>
              <a:rPr lang="en-US" sz="1400" b="0" dirty="0"/>
              <a:t>Ask the room: how would you reduce observer bias in an unblinded ICU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Hands up for each option.</a:t>
            </a:r>
          </a:p>
          <a:p>
            <a:r>
              <a:rPr lang="en-US" sz="1400" b="0" dirty="0"/>
              <a:t>Answers. A: selection bias. The sickest patients (who died) are missing, so the sample is not the population. B: observer bias (information bias): a subjective score assessed by someone who knows the group. C: measurement bias (information bias). Because it affects one ward only, it distorts the comparison between wards.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a:t>
            </a:r>
          </a:p>
          <a:p>
            <a:r>
              <a:rPr lang="en-US" sz="1400" b="0" dirty="0"/>
              <a:t>Severity of illness pushes clinicians to give more fluid (left arrow). Severity also causes death (right arrow). So patients who got more fluid die more often,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room: name another example of confounding by indication on your ward. Expected answer: patients on more antibiotics die more; patients who see the dietitian lose more weight; patients on vasopressors have more arrhythmias.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a crude RR of 2.33. It looks as if fluid kills.</a:t>
            </a:r>
          </a:p>
          <a:p>
            <a:r>
              <a:rPr lang="en-US" sz="1400" b="0" dirty="0"/>
              <a:t>Now split by severity. Mild illness: 10% versus 10%. Severe illness: 50% versus 50%. Within each level the RR is 1.0.</a:t>
            </a:r>
          </a:p>
          <a:p>
            <a:r>
              <a:rPr lang="en-US" sz="1400" b="0" dirty="0"/>
              <a:t>The reason: 80 of the 100 high-fluid patients were severely ill, but only 20 of the 100 low-fluid patients. Severity, not fluid, explained the crude difference.</a:t>
            </a:r>
          </a:p>
          <a:p>
            <a:r>
              <a:rPr lang="en-US" sz="1400" b="0" dirty="0"/>
              <a:t>Teaching point: this is what 'adjusting for severity' does: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which is never guaranteed in observational data.</a:t>
            </a:r>
          </a:p>
          <a:p>
            <a:r>
              <a:rPr lang="en-US" sz="1400" b="0" dirty="0"/>
              <a:t>Ask the room: what would you need to measure at baseline in your own observational study to do this? Expected answer: the main severity markers. For sepsis: SOFA, lactate, vasopressor dose, age, comorbidity.</a:t>
            </a:r>
          </a:p>
          <a:p>
            <a:r>
              <a:rPr lang="en-US" sz="1400" b="0" dirty="0"/>
              <a:t>Timing: 2.5 minutes. Check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more examples of confounding by indication, to make the idea stick for beginners.</a:t>
            </a:r>
          </a:p>
          <a:p>
            <a:r>
              <a:rPr lang="en-US" sz="1400" b="0" dirty="0"/>
              <a:t>For each card, read the apparent association, then ask the room for the third factor before revealing it.</a:t>
            </a:r>
          </a:p>
          <a:p>
            <a:r>
              <a:rPr lang="en-US" sz="1400" b="0" dirty="0"/>
              <a:t>Card 3 is deliberately mixed: vasopressors can cause arrhythmia, AND shock severity drives both. Real associations are often a mixture of a true effect and confounding. That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On the left, confounding (our fluid example): the strata agree with EACH OTHER (RR 1.0 and 1.0) but differ from the crude result (2.33). The third factor (severity) created a false association. Fix: adjust, and report the adjusted estimate.</a:t>
            </a:r>
          </a:p>
          <a:p>
            <a:r>
              <a:rPr lang="en-US" sz="1400" b="0" dirty="0"/>
              <a:t>On the right,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room: give a clinical example where a treatment works differently in two groups. Expected answer: thrombolysis by time since stroke onset; drug effects by kidney function; steroids by severity of COVID-19.</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 in pictures.</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clever, but still limited to the measured ones.</a:t>
            </a:r>
          </a:p>
          <a:p>
            <a:r>
              <a:rPr lang="en-US" sz="1400" b="0" dirty="0"/>
              <a:t>Ask the room: which tools did Hyun use? Expected answer: restriction (adults with sepsis, ICU stay of 3 days or more) and 1:1 propensity score matching.</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With 24 per arm that is not surprising.</a:t>
            </a:r>
          </a:p>
          <a:p>
            <a:r>
              <a:rPr lang="en-US" sz="1400" b="0" dirty="0"/>
              <a:t>Misconception: 'randomised means the groups are identical'. They are similar on average; Table 1 lets you check.</a:t>
            </a:r>
          </a:p>
          <a:p>
            <a:r>
              <a:rPr lang="en-US" sz="1400" b="0" dirty="0"/>
              <a:t>Ask the room: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selection bias inside a trial.</a:t>
            </a:r>
          </a:p>
          <a:p>
            <a:r>
              <a:rPr lang="en-US" sz="1400" b="0" dirty="0"/>
              <a:t>Blinding happens AFTER: who knows the group? In Boulet the patients and the statisticians were blinded, the clinicians and investigators were not,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Papers should state exactly WHO was blinded.</a:t>
            </a:r>
          </a:p>
          <a:p>
            <a:r>
              <a:rPr lang="en-US" sz="1400" b="0" dirty="0"/>
              <a:t>Ask the room: is concealment possible when blinding is not? Expected answer: yes. Concealment is always possible and always required.</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then ask what is not in Table 1.</a:t>
            </a:r>
          </a:p>
          <a:p>
            <a:r>
              <a:rPr lang="en-US" sz="1400" b="0" dirty="0"/>
              <a:t>Ask the room: name one unmeasured factor that might push clinicians to give more fluid AND predict death. Expected answer: clinical impression of shock, mottled skin, a failing heart, a goals-of-care discussion.</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room: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room: delirious patients receive more antipsychotics. Which way could the arrow run? Expected answer: both ways. The drugs might cause harm, but delirium is the reason they are prescribed.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Strength (a big RR is harder to explain by confounding), consistency (seen in other studies and settings), specificity (the weakest), temporality (the cause must come first, and this is the only essential one), dose-response (more exposure, more effect), plausibility (a mechanism), coherence (fits with what is known), experiment (removing the exposure reduces the outcome, and an RCT is the strongest form), analogy.</a:t>
            </a:r>
          </a:p>
          <a:p>
            <a:r>
              <a:rPr lang="en-US" sz="1400" b="0" dirty="0"/>
              <a:t>Apply to Hyun: strength moderate (HR about 1.6-2.1); consistency with other cohorts yes; temporality: balance measured before death, but reverse causation is possible; dose-response not shown; experiment: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room: which criterion does the RCT provide that no cohort can? Expected answer: experiment.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scenario; the room answers by show of hands or calling out. Ask for one fix each time.</a:t>
            </a:r>
          </a:p>
          <a:p>
            <a:r>
              <a:rPr lang="en-US" sz="1400" b="0" dirty="0"/>
              <a:t>Answers. 1: recall bias. Fix: record exposure before the outcome is known (prescription records), ask cases and controls in the same structured way. 2: observer bias. Fix: blinded assessor, objective discharge criteria. 3: selection bias (and loss to follow-up). Fix: contact all survivors, report non-responders. 4: confounding by indication. Fix: randomise, or measure lactate and other severity markers and adjust/match.</a:t>
            </a:r>
          </a:p>
          <a:p>
            <a:r>
              <a:rPr lang="en-US" sz="1400" b="0" dirty="0"/>
              <a:t>The handout (Part A) has these four scenarios with space to write; use it if the room is quiet.</a:t>
            </a:r>
          </a:p>
          <a:p>
            <a:r>
              <a:rPr lang="en-US" sz="1400" b="0" dirty="0"/>
              <a:t>Timing: 4 minutes. Keep it fast: this is a check, not a lecture.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(30 minutes: about 20 minutes of pictures and a 3-minute check, then an 8-minute live demo; the calculations come after the break).</a:t>
            </a:r>
          </a:p>
          <a:p>
            <a:r>
              <a:rPr lang="en-US" sz="1400" b="0" dirty="0"/>
              <a:t>Reassure the room: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room: if we get better at keeping patients alive with a chronic disease but no better at preventing it, what happens to prevalence? Expected answer: it rises, because the drain slows down.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room: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Check the layout before calculating.</a:t>
            </a:r>
          </a:p>
          <a:p>
            <a:r>
              <a:rPr lang="en-US" sz="1400" b="0" dirty="0"/>
              <a:t>Ask the room: in the Boulet table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The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room: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They bore the burden of the treatment without benefit. That is why NNT is a useful conversation tool with patients, managers and pharmacy.</a:t>
            </a:r>
          </a:p>
          <a:p>
            <a:r>
              <a:rPr lang="en-US" sz="1400" b="0" dirty="0"/>
              <a:t>Misconception: 'NNT of 10 means 1 in 10 patients respond'. It is an average across the group, not a prediction for one patient.</a:t>
            </a:r>
          </a:p>
          <a:p>
            <a:r>
              <a:rPr lang="en-US" sz="1400" b="0" dirty="0"/>
              <a:t>Ask the room: which is better, an NNT of 5 or of 50? Expected answer: 5.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room: in our worked example (deaths of 20% and 30%), OR was 0.58 and RR 0.67. Why do they differ? Expected answer: death is common in this population, so the OR exaggerates the effect.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alone, then reveal. Draw the 2x2 table on the whiteboard as people work.</a:t>
            </a:r>
          </a:p>
          <a:p>
            <a:r>
              <a:rPr lang="en-US" sz="1400" b="0" dirty="0"/>
              <a:t>Answers. Risks: 20/200 = 10% and 30/200 = 15%. RR = 0.10 / 0.15 = 0.67. RD = 10% - 15% = -5 percentage points. NNT = 1 / 0.05 = 20. Bonus OR = (20 x 170) / (180 x 30) = 3400 / 5400 = 0.63.</a:t>
            </a:r>
          </a:p>
          <a:p>
            <a:r>
              <a:rPr lang="en-US" sz="1400" b="0" dirty="0"/>
              <a:t>Teaching point: the same RR (0.67) as the worked example, but the baseline risk is lower (15% instead of 30%), so the NNT doubles from 10 to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almost identical. The NNT jumps to 100. Same relative effect, very different absolute effect.</a:t>
            </a:r>
          </a:p>
          <a:p>
            <a:r>
              <a:rPr lang="en-US" sz="1400" b="0" dirty="0"/>
              <a:t>Fallback if the laptop fails: draw the 2x2 table on the whiteboard and calculate RR and NNT by hand with the room. The numbers are chosen to be easy.</a:t>
            </a:r>
          </a:p>
          <a:p>
            <a:r>
              <a:rPr lang="en-US" sz="1400" b="0" dirty="0"/>
              <a:t>Misconception to raise: the calculator will happily give a 'risk' for case-control data. It is meaningless there: only the OR is valid.</a:t>
            </a:r>
          </a:p>
          <a:p>
            <a:r>
              <a:rPr lang="en-US" sz="1400" b="0" dirty="0"/>
              <a:t>Timing: 8 minutes. The Diagnostic sheet is shown briefly in 4.3.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check that each has its Part 2a from last Saturday. They will need it in the proposal builder.</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Calculation 1 (new pressure-relieving mattress trial): 10/200 vs 20/200 pressure injuries. Risks 5% and 10%; RR = 0.50; RD = -5 percentage points; NNT = 20; OR = (10 x 180) / (190 x 20) = 0.47 (close to RR because the outcome is uncommon).</a:t>
            </a:r>
          </a:p>
          <a:p>
            <a:r>
              <a:rPr lang="en-US" sz="1400" b="0" dirty="0"/>
              <a:t>Calculation 2 (case-control, ICU candidaemia and parenteral nutrition): cases 24 exposed / 16 not; controls 16 exposed / 64 not. OR = (24 x 64) / (16 x 16) = 6.0. RR cannot be calculated because the investigators chose the number of cases and controls.</a:t>
            </a:r>
          </a:p>
          <a:p>
            <a:r>
              <a:rPr lang="en-US" sz="1400" b="0" dirty="0"/>
              <a:t>Circulate and check the tables are drawn the right way round. Most mistakes are layout, not arithmetic.</a:t>
            </a:r>
          </a:p>
          <a:p>
            <a:r>
              <a:rPr lang="en-US" sz="1400" b="0" dirty="0"/>
              <a:t>Timing: 12 minutes working (check with a neighbour after each calculation), 8 minutes to reveal and discuss the answers with the calculator. Full key in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a 6-minute pair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the skills participants will use in Session 8 in 'Be the reviewer'.</a:t>
            </a:r>
          </a:p>
          <a:p>
            <a:r>
              <a:rPr lang="en-US" sz="1400" b="0" dirty="0"/>
              <a:t>Timing: 30 seconds. Keep a brisk pace: about 1.5-2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a positive predictive value of 53%. PPV depends on how common the disease is.</a:t>
            </a:r>
          </a:p>
          <a:p>
            <a:r>
              <a:rPr lang="en-US" sz="1400" b="0" dirty="0"/>
              <a:t>Misconception: 'a 90% sensitive test means a positive patient has a 90% chance of disease'. No. That is PPV, which here is only 53%.</a:t>
            </a:r>
          </a:p>
          <a:p>
            <a:r>
              <a:rPr lang="en-US" sz="1400" b="0" dirty="0"/>
              <a:t>Ask the room: for a screening test that must not miss sepsis, which comes first: sensitivity or specificity?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so a positive result is right 90 / 170 = 53% of the time.</a:t>
            </a:r>
          </a:p>
          <a:p>
            <a:r>
              <a:rPr lang="en-US" sz="1400" b="0" dirty="0"/>
              <a:t>Screening, where 2% have it: 9 true positives but 98 false positives: PPV 9 / 107 = 8%. More than 9 in 10 positives are false alarms. Meanwhile the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and many unnecessary investigations.</a:t>
            </a:r>
          </a:p>
          <a:p>
            <a:r>
              <a:rPr lang="en-US" sz="1400" b="0" dirty="0"/>
              <a:t>Ask the room: why do screening programmes use a second, more specific test before acting? Expected answer: to remove the false positives created by low prevalence.</a:t>
            </a:r>
          </a:p>
          <a:p>
            <a:r>
              <a:rPr lang="en-US" sz="1400" b="0" dirty="0"/>
              <a:t>Optional (1 minute): show the 'PPV at another prevalence' box on the Diagnostic sheet of the 2x2 calculator, then type 2% and 20%.</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room: for ruling out sepsis at triage, would you choose a low or high cut-off? Expected answer: low, for high sensitivity, accepting more false alarms.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which add up to 71).</a:t>
            </a:r>
          </a:p>
          <a:p>
            <a:r>
              <a:rPr lang="en-US" sz="1400" b="0" dirty="0"/>
              <a:t>Included: 9 studies, all in the meta-analysis.</a:t>
            </a:r>
          </a:p>
          <a:p>
            <a:r>
              <a:rPr lang="en-US" sz="1400" b="0" dirty="0"/>
              <a:t>Teaching point: two reviewers screen independently, and the protocol is registered beforehand (PROSPERO).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room: why search trial registers and not only PubMed? Expected answer: to find unpublished or negative trials, because of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That is the strength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Ask the room: which trial contributes most, and why? Expected answer: Trial 4, the largest, with the most events, so the narrowest CI.</a:t>
            </a:r>
          </a:p>
          <a:p>
            <a:r>
              <a:rPr lang="en-US" sz="1400" b="0" dirty="0"/>
              <a:t>Timing: 3.5 minutes. The handout uses this plot for the pair task.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room: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a:t>
            </a:r>
          </a:p>
          <a:p>
            <a:r>
              <a:rPr lang="en-US" sz="1400" b="0" dirty="0"/>
              <a:t>Randomised trials: RoB 2 (Cochrane), used for Boulet. Non-randomised studies of interventions (before-after, cohorts comparing treatments): ROBINS-I. Cohort and case-control studies of exposures: the Newcastle-Ottawa Scale is still widely used; ROBINS-E is its newer, more rigorous alternative (used for Hyun). Diagnostic accuracy studies: QUADAS-2. Systematic reviews themselves: AMSTAR 2.</a:t>
            </a:r>
          </a:p>
          <a:p>
            <a:r>
              <a:rPr lang="en-US" sz="1400" b="0" dirty="0"/>
              <a:t>The right-hand column links back: each design also has a reporting guideline (CONSORT, TREND/STROBE, STROBE, STARD, PRISMA),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room: you are appraising a before-after QI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a:t>
            </a:r>
          </a:p>
          <a:p>
            <a:r>
              <a:rPr lang="en-US" sz="1400" b="0" dirty="0"/>
              <a:t>Words vs design: Boulet's conclusion ('did not reduce the overall fluid balance at day 5') matches its pilot RCT design. Hyun's abstract says 'associated', but its title says 'Impact',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room: find one word in a title or abstract that overclaims. Expected answer: 'impact', 'effect', 'reduces' or 'prevents' in an observational study.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minutes in pairs, 2 minutes to collect answers.</a:t>
            </a:r>
          </a:p>
          <a:p>
            <a:r>
              <a:rPr lang="en-US" sz="1400" b="0" dirty="0"/>
              <a:t>Answers: Trial 4 has the most weight (38%). No single trial excludes RR = 1: all CIs cross it. The diamond (RR 0.79, 95% CI 0.64-0.98) does not cross 1: pooled, restriction was associated with about 21% lower relative risk of death in these (hypothetical) trials, with the upper limit close to no effect. Tools: RoB 2 for Boulet; Newcastle-Ottawa (or ROBINS-E) for Hyun; AMSTAR 2 for a review.</a:t>
            </a:r>
          </a:p>
          <a:p>
            <a:r>
              <a:rPr lang="en-US" sz="1400" b="0" dirty="0"/>
              <a:t>If time is short, do questions 3 and 4 only.</a:t>
            </a:r>
          </a:p>
          <a:p>
            <a:r>
              <a:rPr lang="en-US" sz="1400" b="0" dirty="0"/>
              <a:t>Common error: reading the diamond's centre without its width. Always say the CI.</a:t>
            </a:r>
          </a:p>
          <a:p>
            <a:r>
              <a:rPr lang="en-US" sz="1400" b="0" dirty="0"/>
              <a:t>Timing: 6 minutes,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second half of Proposal Part 2.</a:t>
            </a:r>
          </a:p>
          <a:p>
            <a:r>
              <a:rPr lang="en-US" sz="1400" b="0" dirty="0"/>
              <a:t>The primary outcome is the ONE result the study is designed and sized for. Define it three ways: WHAT (death from any cause, not 'mortality improved'), HOW (hospital record; a phone call if discharged), WHEN (day 28 after ICU admission). Secondary outcomes get the same three parts.</a:t>
            </a:r>
          </a:p>
          <a:p>
            <a:r>
              <a:rPr lang="en-US" sz="1400" b="0" dirty="0"/>
              <a:t>Boulet's primary outcome: cumulative fluid balance (ml/kg) at day 5: clear what, how and when. Hyun's: mortality at day 28.</a:t>
            </a:r>
          </a:p>
          <a:p>
            <a:r>
              <a:rPr lang="en-US" sz="1400" b="0" dirty="0"/>
              <a:t>Misconception: 'more primary outcomes = more chances of a result'. That is exactly the problem: multiple primaries invite cherry-picking (spin, Session 2).</a:t>
            </a:r>
          </a:p>
          <a:p>
            <a:r>
              <a:rPr lang="en-US" sz="1400" b="0" dirty="0"/>
              <a:t>Ask the room: rewrite 'improve patient outcomes' as a primary outcome. Expected: e.g. 'new pressure injury (stage 2+) by day 14 of admission, from the skin-check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Practicals/s4_exercises.md, Part F, and the proposal template (Part 2). 30 minutes.</a:t>
            </a:r>
          </a:p>
          <a:p>
            <a:r>
              <a:rPr lang="en-US" sz="1400" b="0" dirty="0"/>
              <a:t>Suggested rhythm (the outcomes slide before this takes 2 minutes): 4 minutes to define exposure and comparator together; 14 minutes writing (split: outcomes, biases, the claim sentence); 10 minutes for the facilitator check and one group reading its biases and mitigations aloud.</a:t>
            </a:r>
          </a:p>
          <a:p>
            <a:r>
              <a:rPr lang="en-US" sz="1400" b="0" dirty="0"/>
              <a:t>Model answer for the running example (observational version): exposure: positive cumulative fluid balance (ml/kg) at 72 h after ICU admission; comparator: zero or negative balance; primary outcome: death from any cause by day 28 (hospital record); secondary: AKI (KDIGO) by day 7, ventilator-free days to day 28, ICU length of stay; biases: confounding by severity (record SOFA, lactate, vasopressor dose and adjust or match), selection (consecutive patients, report exclusions), information (pre-defined fluid definitions, double-check 10% of charts); claim: 'associated with'.</a:t>
            </a:r>
          </a:p>
          <a:p>
            <a:r>
              <a:rPr lang="en-US" sz="1400" b="0" dirty="0"/>
              <a:t>Common problems: no comparator; three primary outcomes; a bias named without a concrete mitigation ('we will be careful' is not a mitigation).</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four people to explain one card each.</a:t>
            </a:r>
          </a:p>
          <a:p>
            <a:r>
              <a:rPr lang="en-US" sz="1400" b="0" dirty="0"/>
              <a:t>This also closes Weeks 3-4: the proposal now has its question (Part 1) and its design (Part 2).</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Preview: in Weeks 5-6 we turn the design into data (variables, data collection forms) and meet the course dataset FLUID-ICU, a simulated cohort that answers the observational version of our fluid question.</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(30 items and a participant flow diagram). Appraisal: QUADAS-2. Watch for spectrum bias: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4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3 (10 min)</a:t>
            </a:r>
          </a:p>
          <a:p>
            <a:pPr marL="274320" indent="-274320" algn="l">
              <a:spcBef>
                <a:spcPts val="440"/>
              </a:spcBef>
              <a:buFont typeface="Arial"/>
              <a:buChar char="•"/>
            </a:pPr>
            <a:r>
              <a:rPr lang="en-US" sz="1900" dirty="0">
                <a:solidFill>
                  <a:srgbClr val="000000"/>
                </a:solidFill>
                <a:latin typeface="Century Gothic"/>
                <a:cs typeface="Century Gothic"/>
              </a:rPr>
              <a:t>4.1  Bias, confounding and causation (40 min)</a:t>
            </a:r>
          </a:p>
          <a:p>
            <a:pPr marL="274320" indent="-274320" algn="l">
              <a:spcBef>
                <a:spcPts val="440"/>
              </a:spcBef>
              <a:buFont typeface="Arial"/>
              <a:buChar char="•"/>
            </a:pPr>
            <a:r>
              <a:rPr lang="en-US" sz="1900" dirty="0">
                <a:solidFill>
                  <a:srgbClr val="000000"/>
                </a:solidFill>
                <a:latin typeface="Century Gothic"/>
                <a:cs typeface="Century Gothic"/>
              </a:rPr>
              <a:t>4.2  Measuring disease and association + live 2x2 demo (30 min)</a:t>
            </a:r>
          </a:p>
          <a:p>
            <a:pPr marL="274320" indent="-274320" algn="l">
              <a:spcBef>
                <a:spcPts val="440"/>
              </a:spcBef>
              <a:buFont typeface="Arial"/>
              <a:buChar char="•"/>
            </a:pPr>
            <a:r>
              <a:rPr lang="en-US" sz="1900" dirty="0">
                <a:solidFill>
                  <a:srgbClr val="000000"/>
                </a:solidFill>
                <a:latin typeface="Century Gothic"/>
                <a:cs typeface="Century Gothic"/>
              </a:rPr>
              <a:t>Break (15 min), then two 2x2 calculations (20 min)</a:t>
            </a:r>
          </a:p>
          <a:p>
            <a:pPr marL="274320" indent="-274320" algn="l">
              <a:spcBef>
                <a:spcPts val="440"/>
              </a:spcBef>
              <a:buFont typeface="Arial"/>
              <a:buChar char="•"/>
            </a:pPr>
            <a:r>
              <a:rPr lang="en-US" sz="1900" dirty="0">
                <a:solidFill>
                  <a:srgbClr val="000000"/>
                </a:solidFill>
                <a:latin typeface="Century Gothic"/>
                <a:cs typeface="Century Gothic"/>
              </a:rPr>
              <a:t>4.3  Beyond single studies: tests, meta-analysis, appraisal (30 min)</a:t>
            </a:r>
          </a:p>
          <a:p>
            <a:pPr marL="274320" indent="-274320" algn="l">
              <a:spcBef>
                <a:spcPts val="440"/>
              </a:spcBef>
              <a:buFont typeface="Arial"/>
              <a:buChar char="•"/>
            </a:pPr>
            <a:r>
              <a:rPr lang="en-US" sz="1900" dirty="0">
                <a:solidFill>
                  <a:srgbClr val="000000"/>
                </a:solidFill>
                <a:latin typeface="Century Gothic"/>
                <a:cs typeface="Century Gothic"/>
              </a:rPr>
              <a:t>Proposal builder 4: exposure, outcomes, biases (30 min), then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patients with delirium are compared with patients without delirium for earlier benzodiazepine use.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Which design randomises whole wards instead of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New vs old strategy, mortality difference 95% CI -1 to +3 points; margin +4 points. Result?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Groups: re-read your Proposal Part 2a (design, setting, population):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How we run 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Answer alone first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 of hands, then reveal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Ask one person to explain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group's Part 2a re-read and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Today's vocabulary. Each definition comes with a picture</a:t>
            </a:r>
          </a:p>
        </p:txBody>
      </p:sp>
      <p:sp>
        <p:nvSpPr>
          <p:cNvPr id="70" name="CardHead"/>
          <p:cNvSpPr/>
          <p:nvPr/>
        </p:nvSpPr>
        <p:spPr>
          <a:xfrm>
            <a:off x="457200" y="221000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Can we trust it?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Bias, confounding</a:t>
            </a:r>
          </a:p>
          <a:p>
            <a:pPr marL="0" indent="0" algn="l">
              <a:lnSpc>
                <a:spcPct val="104000"/>
              </a:lnSpc>
              <a:spcBef>
                <a:spcPts val="400"/>
              </a:spcBef>
              <a:buNone/>
            </a:pPr>
            <a:r>
              <a:rPr lang="en-US" sz="1600" dirty="0">
                <a:solidFill>
                  <a:srgbClr val="000000"/>
                </a:solidFill>
                <a:latin typeface="Century Gothic"/>
                <a:cs typeface="Century Gothic"/>
              </a:rPr>
              <a:t>Effect modification</a:t>
            </a:r>
          </a:p>
          <a:p>
            <a:pPr marL="0" indent="0" algn="l">
              <a:lnSpc>
                <a:spcPct val="104000"/>
              </a:lnSpc>
              <a:spcBef>
                <a:spcPts val="400"/>
              </a:spcBef>
              <a:buNone/>
            </a:pPr>
            <a:r>
              <a:rPr lang="en-US" sz="1600" dirty="0">
                <a:solidFill>
                  <a:srgbClr val="000000"/>
                </a:solidFill>
                <a:latin typeface="Century Gothic"/>
                <a:cs typeface="Century Gothic"/>
              </a:rPr>
              <a:t>Reverse causation</a:t>
            </a:r>
          </a:p>
        </p:txBody>
      </p:sp>
      <p:sp>
        <p:nvSpPr>
          <p:cNvPr id="72" name="CardHead"/>
          <p:cNvSpPr/>
          <p:nvPr/>
        </p:nvSpPr>
        <p:spPr>
          <a:xfrm>
            <a:off x="33266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How big is it?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Risk, risk ratio (RR)</a:t>
            </a:r>
          </a:p>
          <a:p>
            <a:pPr marL="0" indent="0" algn="l">
              <a:lnSpc>
                <a:spcPct val="104000"/>
              </a:lnSpc>
              <a:spcBef>
                <a:spcPts val="400"/>
              </a:spcBef>
              <a:buNone/>
            </a:pPr>
            <a:r>
              <a:rPr lang="en-US" sz="1600" dirty="0">
                <a:solidFill>
                  <a:srgbClr val="000000"/>
                </a:solidFill>
                <a:latin typeface="Century Gothic"/>
                <a:cs typeface="Century Gothic"/>
              </a:rPr>
              <a:t>Risk difference, NNT</a:t>
            </a:r>
          </a:p>
          <a:p>
            <a:pPr marL="0" indent="0" algn="l">
              <a:lnSpc>
                <a:spcPct val="104000"/>
              </a:lnSpc>
              <a:spcBef>
                <a:spcPts val="400"/>
              </a:spcBef>
              <a:buNone/>
            </a:pPr>
            <a:r>
              <a:rPr lang="en-US" sz="1600" dirty="0">
                <a:solidFill>
                  <a:srgbClr val="000000"/>
                </a:solidFill>
                <a:latin typeface="Century Gothic"/>
                <a:cs typeface="Century Gothic"/>
              </a:rPr>
              <a:t>Odds ratio (OR)</a:t>
            </a:r>
          </a:p>
        </p:txBody>
      </p:sp>
      <p:sp>
        <p:nvSpPr>
          <p:cNvPr id="74" name="CardHead"/>
          <p:cNvSpPr/>
          <p:nvPr/>
        </p:nvSpPr>
        <p:spPr>
          <a:xfrm>
            <a:off x="61960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Tests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Sensitivity, specificity</a:t>
            </a:r>
          </a:p>
          <a:p>
            <a:pPr marL="0" indent="0" algn="l">
              <a:lnSpc>
                <a:spcPct val="104000"/>
              </a:lnSpc>
              <a:spcBef>
                <a:spcPts val="400"/>
              </a:spcBef>
              <a:buNone/>
            </a:pPr>
            <a:r>
              <a:rPr lang="en-US" sz="1600" dirty="0">
                <a:solidFill>
                  <a:srgbClr val="000000"/>
                </a:solidFill>
                <a:latin typeface="Century Gothic"/>
                <a:cs typeface="Century Gothic"/>
              </a:rPr>
              <a:t>PPV, NPV, ROC curve</a:t>
            </a:r>
          </a:p>
        </p:txBody>
      </p:sp>
      <p:sp>
        <p:nvSpPr>
          <p:cNvPr id="76" name="CardHead"/>
          <p:cNvSpPr/>
          <p:nvPr/>
        </p:nvSpPr>
        <p:spPr>
          <a:xfrm>
            <a:off x="9065400" y="221000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Many studies</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Forest plot, I-squared</a:t>
            </a:r>
          </a:p>
          <a:p>
            <a:pPr marL="0" indent="0" algn="l">
              <a:lnSpc>
                <a:spcPct val="104000"/>
              </a:lnSpc>
              <a:spcBef>
                <a:spcPts val="400"/>
              </a:spcBef>
              <a:buNone/>
            </a:pPr>
            <a:r>
              <a:rPr lang="en-US" sz="1600" dirty="0">
                <a:solidFill>
                  <a:srgbClr val="000000"/>
                </a:solidFill>
                <a:latin typeface="Century Gothic"/>
                <a:cs typeface="Century Gothic"/>
              </a:rPr>
              <a:t>Risk-of-bias tool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Bias is systematic error. Size does not fix it.</a:t>
            </a:r>
          </a:p>
          <a:p>
            <a:pPr marL="0" indent="0" algn="ctr">
              <a:spcBef>
                <a:spcPts val="1200"/>
              </a:spcBef>
              <a:buNone/>
            </a:pPr>
            <a:r>
              <a:rPr lang="en-US" sz="1900" i="1" dirty="0">
                <a:solidFill>
                  <a:srgbClr val="595959"/>
                </a:solidFill>
                <a:latin typeface="Century Gothic"/>
                <a:cs typeface="Century Gothic"/>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Only patients who survived to hospital discharge are interviewed about their ICU care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The nurse who knows each patient's group scores their pain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Selection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Observer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More antibiotics → more deaths?</a:t>
            </a:r>
          </a:p>
          <a:p>
            <a:pPr marL="0" indent="0" algn="l">
              <a:lnSpc>
                <a:spcPct val="104000"/>
              </a:lnSpc>
              <a:spcBef>
                <a:spcPts val="400"/>
              </a:spcBef>
              <a:buNone/>
            </a:pPr>
            <a:r>
              <a:rPr lang="en-US" sz="1750" b="1" dirty="0">
                <a:solidFill>
                  <a:srgbClr val="000000"/>
                </a:solidFill>
                <a:latin typeface="Century Gothic"/>
                <a:cs typeface="Century Gothic"/>
              </a:rPr>
              <a:t>Confounder: severity of infection</a:t>
            </a:r>
          </a:p>
          <a:p>
            <a:pPr marL="0" indent="0" algn="l">
              <a:lnSpc>
                <a:spcPct val="104000"/>
              </a:lnSpc>
              <a:spcBef>
                <a:spcPts val="400"/>
              </a:spcBef>
              <a:buNone/>
            </a:pPr>
            <a:r>
              <a:rPr lang="en-US" sz="1750" dirty="0">
                <a:solidFill>
                  <a:srgbClr val="000000"/>
                </a:solidFill>
                <a:latin typeface="Century Gothic"/>
                <a:cs typeface="Century Gothic"/>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Seen by dietitian → more weight loss?</a:t>
            </a:r>
          </a:p>
          <a:p>
            <a:pPr marL="0" indent="0" algn="l">
              <a:lnSpc>
                <a:spcPct val="104000"/>
              </a:lnSpc>
              <a:spcBef>
                <a:spcPts val="400"/>
              </a:spcBef>
              <a:buNone/>
            </a:pPr>
            <a:r>
              <a:rPr lang="en-US" sz="1750" b="1" dirty="0">
                <a:solidFill>
                  <a:srgbClr val="000000"/>
                </a:solidFill>
                <a:latin typeface="Century Gothic"/>
                <a:cs typeface="Century Gothic"/>
              </a:rPr>
              <a:t>Confounder: malnutrition at admission</a:t>
            </a:r>
          </a:p>
          <a:p>
            <a:pPr marL="0" indent="0" algn="l">
              <a:lnSpc>
                <a:spcPct val="104000"/>
              </a:lnSpc>
              <a:spcBef>
                <a:spcPts val="400"/>
              </a:spcBef>
              <a:buNone/>
            </a:pPr>
            <a:r>
              <a:rPr lang="en-US" sz="1750" dirty="0">
                <a:solidFill>
                  <a:srgbClr val="000000"/>
                </a:solidFill>
                <a:latin typeface="Century Gothic"/>
                <a:cs typeface="Century Gothic"/>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Vasopressors → more arrhythmia?</a:t>
            </a:r>
          </a:p>
          <a:p>
            <a:pPr marL="0" indent="0" algn="l">
              <a:lnSpc>
                <a:spcPct val="104000"/>
              </a:lnSpc>
              <a:spcBef>
                <a:spcPts val="400"/>
              </a:spcBef>
              <a:buNone/>
            </a:pPr>
            <a:r>
              <a:rPr lang="en-US" sz="1750" b="1" dirty="0">
                <a:solidFill>
                  <a:srgbClr val="000000"/>
                </a:solidFill>
                <a:latin typeface="Century Gothic"/>
                <a:cs typeface="Century Gothic"/>
              </a:rPr>
              <a:t>Confounder: depth of shock</a:t>
            </a:r>
          </a:p>
          <a:p>
            <a:pPr marL="0" indent="0" algn="l">
              <a:lnSpc>
                <a:spcPct val="104000"/>
              </a:lnSpc>
              <a:spcBef>
                <a:spcPts val="400"/>
              </a:spcBef>
              <a:buNone/>
            </a:pPr>
            <a:r>
              <a:rPr lang="en-US" sz="1750" dirty="0">
                <a:solidFill>
                  <a:srgbClr val="000000"/>
                </a:solidFill>
                <a:latin typeface="Century Gothic"/>
                <a:cs typeface="Century Gothic"/>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Randomise +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Chance decides the group</a:t>
            </a:r>
          </a:p>
          <a:p>
            <a:pPr marL="0" indent="0" algn="l">
              <a:lnSpc>
                <a:spcPct val="104000"/>
              </a:lnSpc>
              <a:spcBef>
                <a:spcPts val="400"/>
              </a:spcBef>
              <a:buNone/>
            </a:pPr>
            <a:r>
              <a:rPr lang="en-US" sz="1750" dirty="0">
                <a:solidFill>
                  <a:srgbClr val="000000"/>
                </a:solidFill>
                <a:latin typeface="Century Gothic"/>
                <a:cs typeface="Century Gothic"/>
              </a:rPr>
              <a:t>Balances known AND unknown confounders</a:t>
            </a:r>
          </a:p>
          <a:p>
            <a:pPr marL="0" indent="0" algn="l">
              <a:lnSpc>
                <a:spcPct val="104000"/>
              </a:lnSpc>
              <a:spcBef>
                <a:spcPts val="400"/>
              </a:spcBef>
              <a:buNone/>
            </a:pPr>
            <a:r>
              <a:rPr lang="en-US" sz="1750" dirty="0">
                <a:solidFill>
                  <a:srgbClr val="000000"/>
                </a:solidFill>
                <a:latin typeface="Century Gothic"/>
                <a:cs typeface="Century Gothic"/>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Patients, clinicians, assessors, analysts</a:t>
            </a:r>
          </a:p>
          <a:p>
            <a:pPr marL="0" indent="0" algn="l">
              <a:lnSpc>
                <a:spcPct val="104000"/>
              </a:lnSpc>
              <a:spcBef>
                <a:spcPts val="400"/>
              </a:spcBef>
              <a:buNone/>
            </a:pPr>
            <a:r>
              <a:rPr lang="en-US" sz="1750" dirty="0">
                <a:solidFill>
                  <a:srgbClr val="000000"/>
                </a:solidFill>
                <a:latin typeface="Century Gothic"/>
                <a:cs typeface="Century Gothic"/>
              </a:rPr>
              <a:t>Protects how outcomes are measured</a:t>
            </a:r>
          </a:p>
          <a:p>
            <a:pPr marL="0" indent="0" algn="l">
              <a:lnSpc>
                <a:spcPct val="104000"/>
              </a:lnSpc>
              <a:spcBef>
                <a:spcPts val="400"/>
              </a:spcBef>
              <a:buNone/>
            </a:pPr>
            <a:r>
              <a:rPr lang="en-US" sz="1750" dirty="0">
                <a:solidFill>
                  <a:srgbClr val="000000"/>
                </a:solidFill>
                <a:latin typeface="Century Gothic"/>
                <a:cs typeface="Century Gothic"/>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Restrict: narrow eligibility</a:t>
            </a:r>
          </a:p>
          <a:p>
            <a:pPr marL="0" indent="0" algn="l">
              <a:lnSpc>
                <a:spcPct val="104000"/>
              </a:lnSpc>
              <a:spcBef>
                <a:spcPts val="400"/>
              </a:spcBef>
              <a:buNone/>
            </a:pPr>
            <a:r>
              <a:rPr lang="en-US" sz="1750" dirty="0">
                <a:solidFill>
                  <a:srgbClr val="000000"/>
                </a:solidFill>
                <a:latin typeface="Century Gothic"/>
                <a:cs typeface="Century Gothic"/>
              </a:rPr>
              <a:t>Match: pair similar patients</a:t>
            </a:r>
          </a:p>
          <a:p>
            <a:pPr marL="0" indent="0" algn="l">
              <a:lnSpc>
                <a:spcPct val="104000"/>
              </a:lnSpc>
              <a:spcBef>
                <a:spcPts val="400"/>
              </a:spcBef>
              <a:buNone/>
            </a:pPr>
            <a:r>
              <a:rPr lang="en-US" sz="1750" dirty="0">
                <a:solidFill>
                  <a:srgbClr val="000000"/>
                </a:solidFill>
                <a:latin typeface="Century Gothic"/>
                <a:cs typeface="Century Gothic"/>
              </a:rPr>
              <a:t>Adjust: statistics in the analysis</a:t>
            </a:r>
          </a:p>
          <a:p>
            <a:pPr marL="0" indent="0" algn="l">
              <a:lnSpc>
                <a:spcPct val="104000"/>
              </a:lnSpc>
              <a:spcBef>
                <a:spcPts val="400"/>
              </a:spcBef>
              <a:buNone/>
            </a:pPr>
            <a:r>
              <a:rPr lang="en-US" sz="1750" b="1" dirty="0">
                <a:solidFill>
                  <a:srgbClr val="B23B2E"/>
                </a:solidFill>
                <a:latin typeface="Century Gothic"/>
                <a:cs typeface="Century Gothic"/>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From association to causation: Bradford Hill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Mothers of babies with a birth defect recall medicines in pregnancy better than other mothers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trial nurse who knows the group scores 'ready for discharge'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survey of ICU survivors' quality of life recruits only those who attend clinic</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Patients with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 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Selection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Recall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Observer bias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bias named for each scenario, with one fix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How common? How much more likely?</a:t>
            </a:r>
          </a:p>
          <a:p>
            <a:pPr marL="0" indent="0" algn="ctr">
              <a:spcBef>
                <a:spcPts val="1200"/>
              </a:spcBef>
              <a:buNone/>
            </a:pPr>
            <a:r>
              <a:rPr lang="en-US" sz="1900" i="1" dirty="0">
                <a:solidFill>
                  <a:srgbClr val="595959"/>
                </a:solidFill>
                <a:latin typeface="Century Gothic"/>
                <a:cs typeface="Century Gothic"/>
              </a:rPr>
              <a:t>Prevalence, incidence, risk, and the 2x2 table behind RR, OR, RD and NNT.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Exposure in rows, outcome in columns: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[a/(a+b)] / [c/(c+d)]</a:t>
            </a:r>
          </a:p>
          <a:p>
            <a:pPr marL="0" indent="0" algn="l">
              <a:lnSpc>
                <a:spcPct val="104000"/>
              </a:lnSpc>
              <a:spcBef>
                <a:spcPts val="400"/>
              </a:spcBef>
              <a:buNone/>
            </a:pPr>
            <a:r>
              <a:rPr lang="en-US" sz="1600" b="1" dirty="0">
                <a:solidFill>
                  <a:srgbClr val="000000"/>
                </a:solidFill>
                <a:latin typeface="Century Gothic"/>
                <a:cs typeface="Century Gothic"/>
              </a:rPr>
              <a:t>20% / 30% = 0.67</a:t>
            </a:r>
          </a:p>
          <a:p>
            <a:pPr marL="0" indent="0" algn="l">
              <a:lnSpc>
                <a:spcPct val="104000"/>
              </a:lnSpc>
              <a:spcBef>
                <a:spcPts val="400"/>
              </a:spcBef>
              <a:buNone/>
            </a:pPr>
            <a:r>
              <a:rPr lang="en-US" sz="1600" dirty="0">
                <a:solidFill>
                  <a:srgbClr val="000000"/>
                </a:solidFill>
                <a:latin typeface="Century Gothic"/>
                <a:cs typeface="Century Gothic"/>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Risk difference</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a/(a+b) - c/(c+d)</a:t>
            </a:r>
          </a:p>
          <a:p>
            <a:pPr marL="0" indent="0" algn="l">
              <a:lnSpc>
                <a:spcPct val="104000"/>
              </a:lnSpc>
              <a:spcBef>
                <a:spcPts val="400"/>
              </a:spcBef>
              <a:buNone/>
            </a:pPr>
            <a:r>
              <a:rPr lang="en-US" sz="1600" b="1" dirty="0">
                <a:solidFill>
                  <a:srgbClr val="000000"/>
                </a:solidFill>
                <a:latin typeface="Century Gothic"/>
                <a:cs typeface="Century Gothic"/>
              </a:rPr>
              <a:t>20% - 30% = -10 points</a:t>
            </a:r>
          </a:p>
          <a:p>
            <a:pPr marL="0" indent="0" algn="l">
              <a:lnSpc>
                <a:spcPct val="104000"/>
              </a:lnSpc>
              <a:spcBef>
                <a:spcPts val="400"/>
              </a:spcBef>
              <a:buNone/>
            </a:pPr>
            <a:r>
              <a:rPr lang="en-US" sz="1600" dirty="0">
                <a:solidFill>
                  <a:srgbClr val="000000"/>
                </a:solidFill>
                <a:latin typeface="Century Gothic"/>
                <a:cs typeface="Century Gothic"/>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 / |risk difference|</a:t>
            </a:r>
          </a:p>
          <a:p>
            <a:pPr marL="0" indent="0" algn="l">
              <a:lnSpc>
                <a:spcPct val="104000"/>
              </a:lnSpc>
              <a:spcBef>
                <a:spcPts val="400"/>
              </a:spcBef>
              <a:buNone/>
            </a:pPr>
            <a:r>
              <a:rPr lang="en-US" sz="1600" b="1" dirty="0">
                <a:solidFill>
                  <a:srgbClr val="000000"/>
                </a:solidFill>
                <a:latin typeface="Century Gothic"/>
                <a:cs typeface="Century Gothic"/>
              </a:rPr>
              <a:t>1 / 0.10 = 10</a:t>
            </a:r>
          </a:p>
          <a:p>
            <a:pPr marL="0" indent="0" algn="l">
              <a:lnSpc>
                <a:spcPct val="104000"/>
              </a:lnSpc>
              <a:spcBef>
                <a:spcPts val="400"/>
              </a:spcBef>
              <a:buNone/>
            </a:pPr>
            <a:r>
              <a:rPr lang="en-US" sz="1600" dirty="0">
                <a:solidFill>
                  <a:srgbClr val="000000"/>
                </a:solidFill>
                <a:latin typeface="Century Gothic"/>
                <a:cs typeface="Century Gothic"/>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x d) / (b x c)</a:t>
            </a:r>
          </a:p>
          <a:p>
            <a:pPr marL="0" indent="0" algn="l">
              <a:lnSpc>
                <a:spcPct val="104000"/>
              </a:lnSpc>
              <a:spcBef>
                <a:spcPts val="400"/>
              </a:spcBef>
              <a:buNone/>
            </a:pPr>
            <a:r>
              <a:rPr lang="en-US" sz="1600" b="1" dirty="0">
                <a:solidFill>
                  <a:srgbClr val="000000"/>
                </a:solidFill>
                <a:latin typeface="Century Gothic"/>
                <a:cs typeface="Century Gothic"/>
              </a:rPr>
              <a:t>(20x70)/(80x30) = 0.58</a:t>
            </a:r>
          </a:p>
          <a:p>
            <a:pPr marL="0" indent="0" algn="l">
              <a:lnSpc>
                <a:spcPct val="104000"/>
              </a:lnSpc>
              <a:spcBef>
                <a:spcPts val="400"/>
              </a:spcBef>
              <a:buNone/>
            </a:pPr>
            <a:r>
              <a:rPr lang="en-US" sz="1600" dirty="0">
                <a:solidFill>
                  <a:srgbClr val="000000"/>
                </a:solidFill>
                <a:latin typeface="Century Gothic"/>
                <a:cs typeface="Century Gothic"/>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NNT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one more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200 patients per group: 20 die with the new treatment, 30 with usual care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Risk in each group?</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RR? Risk difference?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Bonus: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Table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 20, b = 180</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Risks, RR, RD and NNT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2x2_calculator.xlsx, sheet Association</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Enter a, b, c, d from the worked example: 20, 80, 30, 70</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Read risks, RR, RD, NNT and OR, and the plain-language lines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the deaths to 2 and 3 of 100: watch OR approach RR</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layout as the slide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Relative vs absolute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After the break: two 2x2 calculations, so have a pen ready</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Then 4.3: beyond single studies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two 2x2 calculations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Handout Part C: draw each 2x2 table first, exposure in rows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Calculation 1 (trial): risks, RR, RD, NNT, OR, and one sentence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Calculation 2 (case-control): OR only, and say why not RR</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Check with your neighbour, then with the calculator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Remember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Risk = a / (a +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RR = risk / risk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NNT = 1 / risk difference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Two completed 2x2 tables with interpreted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study is rarely the answer.</a:t>
            </a:r>
          </a:p>
          <a:p>
            <a:pPr marL="0" indent="0" algn="ctr">
              <a:spcBef>
                <a:spcPts val="1200"/>
              </a:spcBef>
              <a:buNone/>
            </a:pPr>
            <a:r>
              <a:rPr lang="en-US" sz="1900" i="1" dirty="0">
                <a:solidFill>
                  <a:srgbClr val="595959"/>
                </a:solidFill>
                <a:latin typeface="Century Gothic"/>
                <a:cs typeface="Century Gothic"/>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Match the appraisal tool to the design, and the reporting guideline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Questions 7-9 of our 10-question appraisal checklist (Session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'Caused' needs randomisation</a:t>
            </a:r>
          </a:p>
          <a:p>
            <a:pPr marL="0" indent="0" algn="l">
              <a:lnSpc>
                <a:spcPct val="104000"/>
              </a:lnSpc>
              <a:spcBef>
                <a:spcPts val="400"/>
              </a:spcBef>
              <a:buNone/>
            </a:pPr>
            <a:r>
              <a:rPr lang="en-US" sz="1750" dirty="0">
                <a:solidFill>
                  <a:srgbClr val="000000"/>
                </a:solidFill>
                <a:latin typeface="Century Gothic"/>
                <a:cs typeface="Century Gothic"/>
              </a:rPr>
              <a:t>Observational: 'associated with'</a:t>
            </a:r>
          </a:p>
          <a:p>
            <a:pPr marL="0" indent="0" algn="l">
              <a:lnSpc>
                <a:spcPct val="104000"/>
              </a:lnSpc>
              <a:spcBef>
                <a:spcPts val="400"/>
              </a:spcBef>
              <a:buNone/>
            </a:pPr>
            <a:r>
              <a:rPr lang="en-US" sz="1750" dirty="0">
                <a:solidFill>
                  <a:srgbClr val="000000"/>
                </a:solidFill>
                <a:latin typeface="Century Gothic"/>
                <a:cs typeface="Century Gothic"/>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size with 95% CI</a:t>
            </a:r>
          </a:p>
          <a:p>
            <a:pPr marL="0" indent="0" algn="l">
              <a:lnSpc>
                <a:spcPct val="104000"/>
              </a:lnSpc>
              <a:spcBef>
                <a:spcPts val="400"/>
              </a:spcBef>
              <a:buNone/>
            </a:pPr>
            <a:r>
              <a:rPr lang="en-US" sz="1750" dirty="0">
                <a:solidFill>
                  <a:srgbClr val="000000"/>
                </a:solidFill>
                <a:latin typeface="Century Gothic"/>
                <a:cs typeface="Century Gothic"/>
              </a:rPr>
              <a:t>Relative AND absolute</a:t>
            </a:r>
          </a:p>
          <a:p>
            <a:pPr marL="0" indent="0" algn="l">
              <a:lnSpc>
                <a:spcPct val="104000"/>
              </a:lnSpc>
              <a:spcBef>
                <a:spcPts val="400"/>
              </a:spcBef>
              <a:buNone/>
            </a:pPr>
            <a:r>
              <a:rPr lang="en-US" sz="1750" dirty="0">
                <a:solidFill>
                  <a:srgbClr val="000000"/>
                </a:solidFill>
                <a:latin typeface="Century Gothic"/>
                <a:cs typeface="Century Gothic"/>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Primary outcome reported first</a:t>
            </a:r>
          </a:p>
          <a:p>
            <a:pPr marL="0" indent="0" algn="l">
              <a:lnSpc>
                <a:spcPct val="104000"/>
              </a:lnSpc>
              <a:spcBef>
                <a:spcPts val="400"/>
              </a:spcBef>
              <a:buNone/>
            </a:pPr>
            <a:r>
              <a:rPr lang="en-US" sz="1750" dirty="0">
                <a:solidFill>
                  <a:srgbClr val="000000"/>
                </a:solidFill>
                <a:latin typeface="Century Gothic"/>
                <a:cs typeface="Century Gothic"/>
              </a:rPr>
              <a:t>Main limitations stated</a:t>
            </a:r>
          </a:p>
          <a:p>
            <a:pPr marL="0" indent="0" algn="l">
              <a:lnSpc>
                <a:spcPct val="104000"/>
              </a:lnSpc>
              <a:spcBef>
                <a:spcPts val="400"/>
              </a:spcBef>
              <a:buNone/>
            </a:pPr>
            <a:r>
              <a:rPr lang="en-US" sz="1750" dirty="0">
                <a:solidFill>
                  <a:srgbClr val="000000"/>
                </a:solidFill>
                <a:latin typeface="Century Gothic"/>
                <a:cs typeface="Century Gothic"/>
              </a:rPr>
              <a:t>Conclusion =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Handout Part E: the forest plot of six fluid trials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Which trial carries the most weight? Does any single trial show a clear effect?</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Does the diamond cross RR = 1? Say the result in one sentence</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Pick the risk-of-bias tool for Boulet, for Hyun and for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Reminder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Square = one study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 = 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Diamond = pooled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One sentence on the pooled result +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primary outcome is not a word; it is a measurement with a method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Exposure or intervention: exactly what, how much, when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Comparator: who or what you compare against</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ONE primary outcome: what, how, when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2-3 secondary outcomes, each with what, how, when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Two main biases and the design step that reduces each</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Write one sentence: will you claim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Facilitator 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Comparator stated?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Only ONE primary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Outcome has a time point?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2 complete (2a from Session 3 + 2b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Bias: size does not fix it</a:t>
            </a:r>
          </a:p>
          <a:p>
            <a:pPr marL="0" indent="0" algn="l">
              <a:lnSpc>
                <a:spcPct val="104000"/>
              </a:lnSpc>
              <a:spcBef>
                <a:spcPts val="400"/>
              </a:spcBef>
              <a:buNone/>
            </a:pPr>
            <a:r>
              <a:rPr lang="en-US" sz="1600" dirty="0">
                <a:solidFill>
                  <a:srgbClr val="000000"/>
                </a:solidFill>
                <a:latin typeface="Century Gothic"/>
                <a:cs typeface="Century Gothic"/>
              </a:rPr>
              <a:t>Confounding: remove it</a:t>
            </a:r>
          </a:p>
          <a:p>
            <a:pPr marL="0" indent="0" algn="l">
              <a:lnSpc>
                <a:spcPct val="104000"/>
              </a:lnSpc>
              <a:spcBef>
                <a:spcPts val="400"/>
              </a:spcBef>
              <a:buNone/>
            </a:pPr>
            <a:r>
              <a:rPr lang="en-US" sz="1600" dirty="0">
                <a:solidFill>
                  <a:srgbClr val="000000"/>
                </a:solidFill>
                <a:latin typeface="Century Gothic"/>
                <a:cs typeface="Century Gothic"/>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Relative: RR, OR</a:t>
            </a:r>
          </a:p>
          <a:p>
            <a:pPr marL="0" indent="0" algn="l">
              <a:lnSpc>
                <a:spcPct val="104000"/>
              </a:lnSpc>
              <a:spcBef>
                <a:spcPts val="400"/>
              </a:spcBef>
              <a:buNone/>
            </a:pPr>
            <a:r>
              <a:rPr lang="en-US" sz="1600" dirty="0">
                <a:solidFill>
                  <a:srgbClr val="000000"/>
                </a:solidFill>
                <a:latin typeface="Century Gothic"/>
                <a:cs typeface="Century Gothic"/>
              </a:rPr>
              <a:t>Absolute: RD, NNT</a:t>
            </a:r>
          </a:p>
          <a:p>
            <a:pPr marL="0" indent="0" algn="l">
              <a:lnSpc>
                <a:spcPct val="104000"/>
              </a:lnSpc>
              <a:spcBef>
                <a:spcPts val="400"/>
              </a:spcBef>
              <a:buNone/>
            </a:pPr>
            <a:r>
              <a:rPr lang="en-US" sz="1600" dirty="0">
                <a:solidFill>
                  <a:srgbClr val="000000"/>
                </a:solidFill>
                <a:latin typeface="Century Gothic"/>
                <a:cs typeface="Century Gothic"/>
              </a:rPr>
              <a:t>OR =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PPV depends on prevalence</a:t>
            </a:r>
          </a:p>
          <a:p>
            <a:pPr marL="0" indent="0" algn="l">
              <a:lnSpc>
                <a:spcPct val="104000"/>
              </a:lnSpc>
              <a:spcBef>
                <a:spcPts val="400"/>
              </a:spcBef>
              <a:buNone/>
            </a:pPr>
            <a:r>
              <a:rPr lang="en-US" sz="1600" dirty="0">
                <a:solidFill>
                  <a:srgbClr val="000000"/>
                </a:solidFill>
                <a:latin typeface="Century Gothic"/>
                <a:cs typeface="Century Gothic"/>
              </a:rPr>
              <a:t>Forest plot: read the diamond</a:t>
            </a:r>
          </a:p>
          <a:p>
            <a:pPr marL="0" indent="0" algn="l">
              <a:lnSpc>
                <a:spcPct val="104000"/>
              </a:lnSpc>
              <a:spcBef>
                <a:spcPts val="400"/>
              </a:spcBef>
              <a:buNone/>
            </a:pPr>
            <a:r>
              <a:rPr lang="en-US" sz="1600" dirty="0">
                <a:solidFill>
                  <a:srgbClr val="000000"/>
                </a:solidFill>
                <a:latin typeface="Century Gothic"/>
                <a:cs typeface="Century Gothic"/>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Part 2 complete</a:t>
            </a:r>
          </a:p>
          <a:p>
            <a:pPr marL="0" indent="0" algn="l">
              <a:lnSpc>
                <a:spcPct val="104000"/>
              </a:lnSpc>
              <a:spcBef>
                <a:spcPts val="400"/>
              </a:spcBef>
              <a:buNone/>
            </a:pPr>
            <a:r>
              <a:rPr lang="en-US" sz="1600" dirty="0">
                <a:solidFill>
                  <a:srgbClr val="000000"/>
                </a:solidFill>
                <a:latin typeface="Century Gothic"/>
                <a:cs typeface="Century Gothic"/>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Exit question: ICU patients who received more fluid died more often. Give one reason other than the fluid</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Homework: finish Proposal Part 2 (exposure, comparator, outcomes, biases)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Optional: handout Parts B and D (effect modification, PPV in two settings)</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two Saturdays (Sessions 5-6): data and the FLUID-ICU course dataset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Session 4</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Likelihood ratios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sensitivity / (1 - specificity)</a:t>
            </a:r>
          </a:p>
          <a:p>
            <a:pPr marL="0" indent="0" algn="l">
              <a:lnSpc>
                <a:spcPct val="104000"/>
              </a:lnSpc>
              <a:spcBef>
                <a:spcPts val="400"/>
              </a:spcBef>
              <a:buNone/>
            </a:pPr>
            <a:r>
              <a:rPr lang="en-US" sz="1750" b="1" dirty="0">
                <a:solidFill>
                  <a:srgbClr val="000000"/>
                </a:solidFill>
                <a:latin typeface="Century Gothic"/>
                <a:cs typeface="Century Gothic"/>
              </a:rPr>
              <a:t>0.90 / 0.20 = 4.5</a:t>
            </a:r>
          </a:p>
          <a:p>
            <a:pPr marL="0" indent="0" algn="l">
              <a:lnSpc>
                <a:spcPct val="104000"/>
              </a:lnSpc>
              <a:spcBef>
                <a:spcPts val="400"/>
              </a:spcBef>
              <a:buNone/>
            </a:pPr>
            <a:r>
              <a:rPr lang="en-US" sz="1750" dirty="0">
                <a:solidFill>
                  <a:srgbClr val="000000"/>
                </a:solidFill>
                <a:latin typeface="Century Gothic"/>
                <a:cs typeface="Century Gothic"/>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 sensitivity) / specificity</a:t>
            </a:r>
          </a:p>
          <a:p>
            <a:pPr marL="0" indent="0" algn="l">
              <a:lnSpc>
                <a:spcPct val="104000"/>
              </a:lnSpc>
              <a:spcBef>
                <a:spcPts val="400"/>
              </a:spcBef>
              <a:buNone/>
            </a:pPr>
            <a:r>
              <a:rPr lang="en-US" sz="1750" b="1" dirty="0">
                <a:solidFill>
                  <a:srgbClr val="000000"/>
                </a:solidFill>
                <a:latin typeface="Century Gothic"/>
                <a:cs typeface="Century Gothic"/>
              </a:rPr>
              <a:t>0.10 / 0.80 = 0.13</a:t>
            </a:r>
          </a:p>
          <a:p>
            <a:pPr marL="0" indent="0" algn="l">
              <a:lnSpc>
                <a:spcPct val="104000"/>
              </a:lnSpc>
              <a:spcBef>
                <a:spcPts val="400"/>
              </a:spcBef>
              <a:buNone/>
            </a:pPr>
            <a:r>
              <a:rPr lang="en-US" sz="1750" dirty="0">
                <a:solidFill>
                  <a:srgbClr val="000000"/>
                </a:solidFill>
                <a:latin typeface="Century Gothic"/>
                <a:cs typeface="Century Gothic"/>
              </a:rPr>
              <a:t>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STARD: 30-item checklist + flow diagram</a:t>
            </a:r>
          </a:p>
          <a:p>
            <a:pPr marL="0" indent="0" algn="l">
              <a:lnSpc>
                <a:spcPct val="104000"/>
              </a:lnSpc>
              <a:spcBef>
                <a:spcPts val="400"/>
              </a:spcBef>
              <a:buNone/>
            </a:pPr>
            <a:r>
              <a:rPr lang="en-US" sz="1750" dirty="0">
                <a:solidFill>
                  <a:srgbClr val="000000"/>
                </a:solidFill>
                <a:latin typeface="Century Gothic"/>
                <a:cs typeface="Century Gothic"/>
              </a:rPr>
              <a:t>QUADAS-2: risk of bias</a:t>
            </a:r>
          </a:p>
          <a:p>
            <a:pPr marL="0" indent="0" algn="l">
              <a:lnSpc>
                <a:spcPct val="104000"/>
              </a:lnSpc>
              <a:spcBef>
                <a:spcPts val="400"/>
              </a:spcBef>
              <a:buNone/>
            </a:pPr>
            <a:r>
              <a:rPr lang="en-US" sz="1750" dirty="0">
                <a:solidFill>
                  <a:srgbClr val="000000"/>
                </a:solidFill>
                <a:latin typeface="Century Gothic"/>
                <a:cs typeface="Century Gothic"/>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200 ward patients; 20 have a pressure injury</a:t>
            </a:r>
          </a:p>
          <a:p>
            <a:pPr marL="0" indent="0" algn="l">
              <a:lnSpc>
                <a:spcPct val="104000"/>
              </a:lnSpc>
              <a:spcBef>
                <a:spcPts val="200"/>
              </a:spcBef>
              <a:buNone/>
            </a:pPr>
            <a:r>
              <a:rPr lang="en-US" sz="1500" dirty="0">
                <a:solidFill>
                  <a:srgbClr val="000000"/>
                </a:solidFill>
                <a:latin typeface="Century Gothic"/>
                <a:cs typeface="Century Gothic"/>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9 / 180 = 5% per week</a:t>
            </a:r>
          </a:p>
          <a:p>
            <a:pPr marL="0" indent="0" algn="l">
              <a:lnSpc>
                <a:spcPct val="104000"/>
              </a:lnSpc>
              <a:spcBef>
                <a:spcPts val="200"/>
              </a:spcBef>
              <a:buNone/>
            </a:pPr>
            <a:r>
              <a:rPr lang="en-US" sz="1500" dirty="0">
                <a:solidFill>
                  <a:srgbClr val="000000"/>
                </a:solidFill>
                <a:latin typeface="Century Gothic"/>
                <a:cs typeface="Century Gothic"/>
              </a:rPr>
              <a:t>(denominator =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