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(0:00). Last Saturday we chose HOW to answer a question. Today two questions about any result: can we TRUST it (bias, confounding, causation) and how BIG is it (risk, RR, OR, RD, NNT)? Then we look beyond single studies: diagnostic tests, meta-analysis and appraisal tools.</a:t>
            </a:r>
          </a:p>
          <a:p>
            <a:r>
              <a:rPr lang="en-US" sz="1400" b="0" dirty="0"/>
              <a:t>Read three exit-question sticky notes from Session 3 first (the flu-vaccine cohort) - it leads straight into confounding.</a:t>
            </a:r>
          </a:p>
          <a:p>
            <a:r>
              <a:rPr lang="en-US" sz="1400" b="0" dirty="0"/>
              <a:t>Pace: the only arithmetic is division in a 2x2 table, and the spreadsheet checks every answer.</a:t>
            </a:r>
          </a:p>
          <a:p>
            <a:r>
              <a:rPr lang="en-US" sz="1400" b="0" dirty="0"/>
              <a:t>Timing: 1 minute. The day: recap 10, 4.1 40, 4.2 30, break 15, calculations 20, 4.3 30, proposal builder 30,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case-control (chosen by outcome, look back for exposure). Q2: a cluster randomised trial. Q3: non-inferior - the whole CI stays below the +4 margin (it crosses 0, so it is not superior).</a:t>
            </a:r>
          </a:p>
          <a:p>
            <a:r>
              <a:rPr lang="en-US" sz="1400" b="0" dirty="0"/>
              <a:t>Misconception to catch in Q1: 'it uses records, so it is a cohort'. Ask: were people chosen by what happened to them (delirium) or by what they received?</a:t>
            </a:r>
          </a:p>
          <a:p>
            <a:r>
              <a:rPr lang="en-US" sz="1400" b="0" dirty="0"/>
              <a:t>Timing: about 6 minutes for the questions, 3 minutes for groups to re-read Part 2a.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tell the room the glossary is in the handout.</a:t>
            </a:r>
          </a:p>
          <a:p>
            <a:r>
              <a:rPr lang="en-US" sz="1400" b="0" dirty="0"/>
              <a:t>Teaching point: the order matters. We judge whether a result can be trusted before we care how big it is.</a:t>
            </a:r>
          </a:p>
          <a:p>
            <a:r>
              <a:rPr lang="en-US" sz="1400" b="0" dirty="0"/>
              <a:t>Ask the room: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(40 minutes, including a 2-minute check and the 4-minute 'Spot the bias' quiz).</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 close to the truth and tightly grouped. Middle: random error - centred on the truth but scattered; a larger sample pulls the darts together. Right: bias -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room: which of the two papers is more at risk of random error, and which of bias? Expected answer: Boulet (48 patients) - random error; Hyun (observational) - bias, especially confounding.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room: in Boulet, 1,201 patients were screened and 50 included. What does that tell you? Expected answer: trial patients were highly selected -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 for example 'ready for discharge' or 'delirium present'. In Boulet clinicians knew the allocation.</a:t>
            </a:r>
          </a:p>
          <a:p>
            <a:r>
              <a:rPr lang="en-US" sz="1400" b="0" dirty="0"/>
              <a:t>Measurement bias: a scale that always reads 0.5 kg high, or urine output that is under-recorded on night shifts. If it differs between groups, it distorts the comparison.</a:t>
            </a:r>
          </a:p>
          <a:p>
            <a:r>
              <a:rPr lang="en-US" sz="1400" b="0" dirty="0"/>
              <a:t>Misconception: 'hard outcomes like death are immune'. Death is robust, but the timing and cause of death can still be misclassified.</a:t>
            </a:r>
          </a:p>
          <a:p>
            <a:r>
              <a:rPr lang="en-US" sz="1400" b="0" dirty="0"/>
              <a:t>Ask the room: how would you reduce observer bias in an unblinded ICU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Hands up for each option.</a:t>
            </a:r>
          </a:p>
          <a:p>
            <a:r>
              <a:rPr lang="en-US" sz="1400" b="0" dirty="0"/>
              <a:t>Answers. A: selection bias - the sickest patients (who died) are missing, so the sample is not the population. B: observer bias (information bias) - a subjective score assessed by someone who knows the group. C: measurement bias (information bias) - and because it affects one ward only, it distorts the comparison between wards.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a:t>
            </a:r>
          </a:p>
          <a:p>
            <a:r>
              <a:rPr lang="en-US" sz="1400" b="0" dirty="0"/>
              <a:t>Severity of illness pushes clinicians to give more fluid (left arrow). Severity also causes death (right arrow). So patients who got more fluid die more often -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room: name another example of confounding by indication on your ward. Expected answer: patients on more antibiotics die more; patients who see the dietitian lose more weight; patients on vasopressors have more arrhythmias.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 a crude RR of 2.33. It looks as if fluid kills.</a:t>
            </a:r>
          </a:p>
          <a:p>
            <a:r>
              <a:rPr lang="en-US" sz="1400" b="0" dirty="0"/>
              <a:t>Now split by severity. Mild illness: 10% versus 10%. Severe illness: 50% versus 50%. Within each level the RR is 1.0.</a:t>
            </a:r>
          </a:p>
          <a:p>
            <a:r>
              <a:rPr lang="en-US" sz="1400" b="0" dirty="0"/>
              <a:t>Why? 80 of the 100 high-fluid patients were severely ill, but only 20 of the 100 low-fluid patients. Severity, not fluid, explained the crude difference.</a:t>
            </a:r>
          </a:p>
          <a:p>
            <a:r>
              <a:rPr lang="en-US" sz="1400" b="0" dirty="0"/>
              <a:t>Teaching point: this is what 'adjusting for severity' does -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 which is never guaranteed in observational data.</a:t>
            </a:r>
          </a:p>
          <a:p>
            <a:r>
              <a:rPr lang="en-US" sz="1400" b="0" dirty="0"/>
              <a:t>Ask the room: what would you need to measure at baseline in your own observational study to do this? Expected answer: the main severity markers - for sepsis SOFA, lactate, vasopressor dose, age, comorbidity.</a:t>
            </a:r>
          </a:p>
          <a:p>
            <a:r>
              <a:rPr lang="en-US" sz="1400" b="0" dirty="0"/>
              <a:t>Timing: 2.5 minutes. Check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more examples of confounding by indication, to make the idea stick for beginners.</a:t>
            </a:r>
          </a:p>
          <a:p>
            <a:r>
              <a:rPr lang="en-US" sz="1400" b="0" dirty="0"/>
              <a:t>For each card, read the apparent association, then ask the room for the third factor before revealing it.</a:t>
            </a:r>
          </a:p>
          <a:p>
            <a:r>
              <a:rPr lang="en-US" sz="1400" b="0" dirty="0"/>
              <a:t>Card 3 is deliberately mixed: vasopressors can cause arrhythmia, AND shock severity drives both. Real associations are often a mixture of a true effect and confounding - which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Left - confounding (our fluid example): the strata agree with EACH OTHER (RR 1.0 and 1.0) but differ from the crude result (2.33). The third factor (severity) created a false association. Fix: adjust, and report the adjusted estimate.</a:t>
            </a:r>
          </a:p>
          <a:p>
            <a:r>
              <a:rPr lang="en-US" sz="1400" b="0" dirty="0"/>
              <a:t>Right -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room: give a clinical example where a treatment works differently in two groups. Expected answer: thrombolysis by time since stroke onset; drug effects by kidney function; steroids by severity of COVID-19.</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 in pictures.</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 clever, but still limited to the measured ones.</a:t>
            </a:r>
          </a:p>
          <a:p>
            <a:r>
              <a:rPr lang="en-US" sz="1400" b="0" dirty="0"/>
              <a:t>Ask the room: which tools did Hyun use? Expected answer: restriction (adults with sepsis, ICU stay of 3 days or more) and 1:1 propensity score matching.</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 with 24 per arm that is not surprising.</a:t>
            </a:r>
          </a:p>
          <a:p>
            <a:r>
              <a:rPr lang="en-US" sz="1400" b="0" dirty="0"/>
              <a:t>Misconception: 'randomised means the groups are identical'. They are similar on average; Table 1 lets you check.</a:t>
            </a:r>
          </a:p>
          <a:p>
            <a:r>
              <a:rPr lang="en-US" sz="1400" b="0" dirty="0"/>
              <a:t>Ask the room: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 selection bias inside a trial.</a:t>
            </a:r>
          </a:p>
          <a:p>
            <a:r>
              <a:rPr lang="en-US" sz="1400" b="0" dirty="0"/>
              <a:t>Blinding happens AFTER: who knows the group? In Boulet the patients and the statisticians were blinded, the clinicians and investigators were not -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 papers should state exactly WHO was blinded.</a:t>
            </a:r>
          </a:p>
          <a:p>
            <a:r>
              <a:rPr lang="en-US" sz="1400" b="0" dirty="0"/>
              <a:t>Ask the room: is concealment possible when blinding is not? Expected answer: yes - concealment is always possible and always required.</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 and then ask what is not in Table 1.</a:t>
            </a:r>
          </a:p>
          <a:p>
            <a:r>
              <a:rPr lang="en-US" sz="1400" b="0" dirty="0"/>
              <a:t>Ask the room: name one unmeasured factor that might push clinicians to give more fluid AND predict death. Expected answer: clinical impression of shock, mottled skin, a failing heart, a goals-of-care discussion.</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room: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room: delirious patients receive more antipsychotics. Which way could the arrow run? Expected answer: both ways - the drugs might cause harm, but delirium is the reason they are prescribed.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Strength (a big RR is harder to explain by confounding), consistency (seen in other studies and settings), specificity (the weakest), temporality (the cause must come first - the only essential one), dose-response (more exposure, more effect), plausibility (a mechanism), coherence (fits with what is known), experiment (removing the exposure reduces the outcome - an RCT is the strongest form), analogy.</a:t>
            </a:r>
          </a:p>
          <a:p>
            <a:r>
              <a:rPr lang="en-US" sz="1400" b="0" dirty="0"/>
              <a:t>Apply to Hyun: strength moderate (HR about 1.6-2.1); consistency with other cohorts yes; temporality - balance measured before death, but reverse causation is possible; dose-response not shown; experiment -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room: which criterion does the RCT provide that no cohort can? Expected answer: experiment.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scenario; the room answers by show of hands or calling out. Ask for one fix each time.</a:t>
            </a:r>
          </a:p>
          <a:p>
            <a:r>
              <a:rPr lang="en-US" sz="1400" b="0" dirty="0"/>
              <a:t>Answers. 1: recall bias - fix: record exposure before the outcome is known (prescription records), ask cases and controls in the same structured way. 2: observer bias - fix: blinded assessor, objective discharge criteria. 3: selection bias (and loss to follow-up) - fix: contact all survivors, report non-responders. 4: confounding by indication - fix: randomise, or measure lactate and other severity markers and adjust/match.</a:t>
            </a:r>
          </a:p>
          <a:p>
            <a:r>
              <a:rPr lang="en-US" sz="1400" b="0" dirty="0"/>
              <a:t>The handout (Part A) has these four scenarios with space to write; use it if the room is quiet.</a:t>
            </a:r>
          </a:p>
          <a:p>
            <a:r>
              <a:rPr lang="en-US" sz="1400" b="0" dirty="0"/>
              <a:t>Timing: 4 minutes. Keep it fast - this is a check, not a lecture.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(30 minutes: about 20 minutes of pictures and a 3-minute check, then an 8-minute live demo; the calculations come after the break).</a:t>
            </a:r>
          </a:p>
          <a:p>
            <a:r>
              <a:rPr lang="en-US" sz="1400" b="0" dirty="0"/>
              <a:t>Reassure the room: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room: if we get better at keeping patients alive with a chronic disease but no better at preventing it, what happens to prevalence? Expected answer: it rises - the drain slows down.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room: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 check the layout before calculating.</a:t>
            </a:r>
          </a:p>
          <a:p>
            <a:r>
              <a:rPr lang="en-US" sz="1400" b="0" dirty="0"/>
              <a:t>Ask the room: in the Boulet table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room: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 they bore the burden of the treatment without benefit. That is why NNT is a powerful conversation tool with patients, managers and pharmacy.</a:t>
            </a:r>
          </a:p>
          <a:p>
            <a:r>
              <a:rPr lang="en-US" sz="1400" b="0" dirty="0"/>
              <a:t>Misconception: 'NNT of 10 means 1 in 10 patients respond'. It is an average across the group, not a prediction for one patient.</a:t>
            </a:r>
          </a:p>
          <a:p>
            <a:r>
              <a:rPr lang="en-US" sz="1400" b="0" dirty="0"/>
              <a:t>Ask the room: which is better, an NNT of 5 or of 50? Expected answer: 5 -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room: in our worked example (deaths of 20% and 30%), OR was 0.58 and RR 0.67. Why do they differ? Expected answer: death is common in this population, so the OR exaggerates the effect.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alone, then reveal. Draw the 2x2 table on the whiteboard as people work.</a:t>
            </a:r>
          </a:p>
          <a:p>
            <a:r>
              <a:rPr lang="en-US" sz="1400" b="0" dirty="0"/>
              <a:t>Answers. Risks: 20/200 = 10% and 30/200 = 15%. RR = 0.10 / 0.15 = 0.67. RD = 10% - 15% = -5 percentage points. NNT = 1 / 0.05 = 20. Bonus OR = (20 x 170) / (180 x 30) = 3400 / 5400 = 0.63.</a:t>
            </a:r>
          </a:p>
          <a:p>
            <a:r>
              <a:rPr lang="en-US" sz="1400" b="0" dirty="0"/>
              <a:t>Teaching point: the same RR (0.67) as the worked example, but the baseline risk is lower (15% instead of 30%), so the NNT doubles from 10 to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 almost identical. The NNT jumps to 100. Same relative effect, very different absolute effect.</a:t>
            </a:r>
          </a:p>
          <a:p>
            <a:r>
              <a:rPr lang="en-US" sz="1400" b="0" dirty="0"/>
              <a:t>Fallback if the laptop fails: draw the 2x2 table on the whiteboard and calculate RR and NNT by hand with the room - the numbers are chosen to be easy.</a:t>
            </a:r>
          </a:p>
          <a:p>
            <a:r>
              <a:rPr lang="en-US" sz="1400" b="0" dirty="0"/>
              <a:t>Misconception to raise: the calculator will happily give a 'risk' for case-control data. It is meaningless there - only the OR is valid.</a:t>
            </a:r>
          </a:p>
          <a:p>
            <a:r>
              <a:rPr lang="en-US" sz="1400" b="0" dirty="0"/>
              <a:t>Timing: 8 minutes. The Diagnostic sheet is shown briefly in 4.3.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check that each has its Part 2a from last Saturday - they will need it in the proposal builder.</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Calculation 1 (new pressure-relieving mattress trial): 10/200 vs 20/200 pressure injuries. Risks 5% and 10%; RR = 0.50; RD = -5 percentage points; NNT = 20; OR = (10 x 180) / (190 x 20) = 0.47 (close to RR because the outcome is uncommon).</a:t>
            </a:r>
          </a:p>
          <a:p>
            <a:r>
              <a:rPr lang="en-US" sz="1400" b="0" dirty="0"/>
              <a:t>Calculation 2 (case-control, ICU candidaemia and parenteral nutrition): cases 24 exposed / 16 not; controls 16 exposed / 64 not. OR = (24 x 64) / (16 x 16) = 6.0. RR cannot be calculated because the investigators chose the number of cases and controls.</a:t>
            </a:r>
          </a:p>
          <a:p>
            <a:r>
              <a:rPr lang="en-US" sz="1400" b="0" dirty="0"/>
              <a:t>Circulate and check the tables are drawn the right way round - most mistakes are layout, not arithmetic.</a:t>
            </a:r>
          </a:p>
          <a:p>
            <a:r>
              <a:rPr lang="en-US" sz="1400" b="0" dirty="0"/>
              <a:t>Timing: 12 minutes working (check with a neighbour after each calculation), 8 minutes to reveal and discuss the answers with the calculator. Full key in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a 6-minute pair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 the skills participants will use in Session 8 in 'Be the reviewer'.</a:t>
            </a:r>
          </a:p>
          <a:p>
            <a:r>
              <a:rPr lang="en-US" sz="1400" b="0" dirty="0"/>
              <a:t>Timing: 30 seconds. Keep a brisk pace: about 1.5-2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 a positive predictive value of 53%. PPV depends on how common the disease is.</a:t>
            </a:r>
          </a:p>
          <a:p>
            <a:r>
              <a:rPr lang="en-US" sz="1400" b="0" dirty="0"/>
              <a:t>Misconception: 'a 90% sensitive test means a positive patient has a 90% chance of disease'. No - that is PPV, which here is only 53%.</a:t>
            </a:r>
          </a:p>
          <a:p>
            <a:r>
              <a:rPr lang="en-US" sz="1400" b="0" dirty="0"/>
              <a:t>Ask the room: for a screening test you do not want to miss sepsis - sensitivity or specificity first?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 a positive result is right 90 / 170 = 53% of the time.</a:t>
            </a:r>
          </a:p>
          <a:p>
            <a:r>
              <a:rPr lang="en-US" sz="1400" b="0" dirty="0"/>
              <a:t>Screening, where 2% have it: 9 true positives but 98 false positives - PPV 9 / 107 = 8%. More than 9 in 10 positives are false alarms. Meanwhile the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 and many unnecessary investigations.</a:t>
            </a:r>
          </a:p>
          <a:p>
            <a:r>
              <a:rPr lang="en-US" sz="1400" b="0" dirty="0"/>
              <a:t>Ask the room: why do screening programmes use a second, more specific test before acting? Expected answer: to remove the false positives created by low prevalence.</a:t>
            </a:r>
          </a:p>
          <a:p>
            <a:r>
              <a:rPr lang="en-US" sz="1400" b="0" dirty="0"/>
              <a:t>Optional (1 minute): show the 'PPV at another prevalence' box on the Diagnostic sheet of the 2x2 calculator - type 2% and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room: for ruling out sepsis at triage, would you choose a low or high cut-off? Expected answer: low - high sensitivity, accepting more false alarms.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 which add up to 71).</a:t>
            </a:r>
          </a:p>
          <a:p>
            <a:r>
              <a:rPr lang="en-US" sz="1400" b="0" dirty="0"/>
              <a:t>Included: 9 studies, all in the meta-analysis.</a:t>
            </a:r>
          </a:p>
          <a:p>
            <a:r>
              <a:rPr lang="en-US" sz="1400" b="0" dirty="0"/>
              <a:t>Teaching point: two reviewers screen independently, and the protocol is registered beforehand (PROSPERO).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room: why search trial registers and not only PubMed? Expected answer: to find unpublished or negative trials -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 that is the power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Ask the room: which trial contributes most, and why? Expected answer: Trial 4 - the largest, with the most events, so the narrowest CI.</a:t>
            </a:r>
          </a:p>
          <a:p>
            <a:r>
              <a:rPr lang="en-US" sz="1400" b="0" dirty="0"/>
              <a:t>Timing: 3.5 minutes. The handout uses this plot for the pair task.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room: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a:t>
            </a:r>
          </a:p>
          <a:p>
            <a:r>
              <a:rPr lang="en-US" sz="1400" b="0" dirty="0"/>
              <a:t>Randomised trials: RoB 2 (Cochrane) - Boulet. Non-randomised studies of interventions (before-after, cohorts comparing treatments): ROBINS-I. Cohort and case-control studies of exposures: the Newcastle-Ottawa Scale is still widely used; ROBINS-E is its newer, more rigorous alternative - Hyun. Diagnostic accuracy studies: QUADAS-2. Systematic reviews themselves: AMSTAR 2.</a:t>
            </a:r>
          </a:p>
          <a:p>
            <a:r>
              <a:rPr lang="en-US" sz="1400" b="0" dirty="0"/>
              <a:t>The right-hand column links back: each design also has a reporting guideline (CONSORT, TREND/STROBE, STROBE, STARD, PRISMA) -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room: you are appraising a before-after QI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a:t>
            </a:r>
          </a:p>
          <a:p>
            <a:r>
              <a:rPr lang="en-US" sz="1400" b="0" dirty="0"/>
              <a:t>Words vs design: Boulet's conclusion ('did not reduce the overall fluid balance at day 5') matches its pilot RCT design. Hyun's abstract says 'associated', but its title says 'Impact' -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room: find one word in a title or abstract that overclaims. Expected answer: 'impact', 'effect', 'reduces' or 'prevents' in an observational study.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minutes in pairs, 2 minutes to collect answers.</a:t>
            </a:r>
          </a:p>
          <a:p>
            <a:r>
              <a:rPr lang="en-US" sz="1400" b="0" dirty="0"/>
              <a:t>Answers: Trial 4 has the most weight (38%). No single trial excludes RR = 1 - all CIs cross it. The diamond (RR 0.79, 95% CI 0.64-0.98) does not cross 1: pooled, restriction was associated with about 21% lower relative risk of death in these (hypothetical) trials, with the upper limit close to no effect. Tools: Boulet - RoB 2; Hyun - Newcastle-Ottawa (or ROBINS-E); a review - AMSTAR 2.</a:t>
            </a:r>
          </a:p>
          <a:p>
            <a:r>
              <a:rPr lang="en-US" sz="1400" b="0" dirty="0"/>
              <a:t>If time is short, do questions 3 and 4 only.</a:t>
            </a:r>
          </a:p>
          <a:p>
            <a:r>
              <a:rPr lang="en-US" sz="1400" b="0" dirty="0"/>
              <a:t>Common error: reading the diamond's centre without its width - always say the CI.</a:t>
            </a:r>
          </a:p>
          <a:p>
            <a:r>
              <a:rPr lang="en-US" sz="1400" b="0" dirty="0"/>
              <a:t>Timing: 6 minutes,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second half of Proposal Part 2.</a:t>
            </a:r>
          </a:p>
          <a:p>
            <a:r>
              <a:rPr lang="en-US" sz="1400" b="0" dirty="0"/>
              <a:t>The primary outcome is the ONE result the study is designed and sized for. Define it three ways: WHAT (death from any cause - not 'mortality improved'), HOW (hospital record; a phone call if discharged), WHEN (day 28 after ICU admission). Secondary outcomes get the same three parts.</a:t>
            </a:r>
          </a:p>
          <a:p>
            <a:r>
              <a:rPr lang="en-US" sz="1400" b="0" dirty="0"/>
              <a:t>Boulet's primary outcome: cumulative fluid balance (ml/kg) at day 5 - clear what, how and when. Hyun's: mortality at day 28.</a:t>
            </a:r>
          </a:p>
          <a:p>
            <a:r>
              <a:rPr lang="en-US" sz="1400" b="0" dirty="0"/>
              <a:t>Misconception: 'more primary outcomes = more chances of a result'. That is exactly the problem - multiple primaries invite cherry-picking (spin, Session 2).</a:t>
            </a:r>
          </a:p>
          <a:p>
            <a:r>
              <a:rPr lang="en-US" sz="1400" b="0" dirty="0"/>
              <a:t>Ask the room: rewrite 'improve patient outcomes' as a primary outcome. Expected: e.g. 'new pressure injury (stage 2+) by day 14 of admission, from the skin-check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Practicals/s4_exercises.md, Part F, and the proposal template (Part 2). 30 minutes.</a:t>
            </a:r>
          </a:p>
          <a:p>
            <a:r>
              <a:rPr lang="en-US" sz="1400" b="0" dirty="0"/>
              <a:t>Suggested rhythm (the outcomes slide before this takes 2 minutes): 4 minutes to define exposure and comparator together; 14 minutes writing (split: outcomes, biases, the claim sentence); 10 minutes for the facilitator check and one group reading its biases and mitigations aloud.</a:t>
            </a:r>
          </a:p>
          <a:p>
            <a:r>
              <a:rPr lang="en-US" sz="1400" b="0" dirty="0"/>
              <a:t>Model answer for the running example (observational version): exposure - positive cumulative fluid balance (ml/kg) at 72 h after ICU admission; comparator - zero or negative balance; primary outcome - death from any cause by day 28 (hospital record); secondary - AKI (KDIGO) by day 7, ventilator-free days to day 28, ICU length of stay; biases - confounding by severity (record SOFA, lactate, vasopressor dose and adjust or match), selection (consecutive patients, report exclusions), information (pre-defined fluid definitions, double-check 10% of charts); claim - 'associated with'.</a:t>
            </a:r>
          </a:p>
          <a:p>
            <a:r>
              <a:rPr lang="en-US" sz="1400" b="0" dirty="0"/>
              <a:t>Common problems: no comparator; three primary outcomes; a bias named without a concrete mitigation ('we will be careful' is not a mitigation).</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four people to explain one card each.</a:t>
            </a:r>
          </a:p>
          <a:p>
            <a:r>
              <a:rPr lang="en-US" sz="1400" b="0" dirty="0"/>
              <a:t>This also closes Weeks 3-4: the proposal now has its question (Part 1) and its design (Part 2).</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Preview: in Weeks 5-6 we turn the design into data - variables, data collection forms - and the course dataset FLUID-ICU, a simulated cohort that answers the observational version of our fluid question.</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(30 items and a participant flow diagram). Appraisal: QUADAS-2. Watch for spectrum bias -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4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3 (10 min)</a:t>
            </a:r>
          </a:p>
          <a:p>
            <a:pPr marL="274320" indent="-274320" algn="l">
              <a:spcBef>
                <a:spcPts val="440"/>
              </a:spcBef>
              <a:buFont typeface="Arial"/>
              <a:buChar char="•"/>
            </a:pPr>
            <a:r>
              <a:rPr lang="en-US" sz="1900" dirty="0">
                <a:solidFill>
                  <a:srgbClr val="000000"/>
                </a:solidFill>
                <a:latin typeface="Century Gothic"/>
                <a:cs typeface="Century Gothic"/>
              </a:rPr>
              <a:t>4.1  Bias, confounding and causation (40 min)</a:t>
            </a:r>
          </a:p>
          <a:p>
            <a:pPr marL="274320" indent="-274320" algn="l">
              <a:spcBef>
                <a:spcPts val="440"/>
              </a:spcBef>
              <a:buFont typeface="Arial"/>
              <a:buChar char="•"/>
            </a:pPr>
            <a:r>
              <a:rPr lang="en-US" sz="1900" dirty="0">
                <a:solidFill>
                  <a:srgbClr val="000000"/>
                </a:solidFill>
                <a:latin typeface="Century Gothic"/>
                <a:cs typeface="Century Gothic"/>
              </a:rPr>
              <a:t>4.2  Measuring disease and association + live 2x2 demo (30 min)</a:t>
            </a:r>
          </a:p>
          <a:p>
            <a:pPr marL="274320" indent="-274320" algn="l">
              <a:spcBef>
                <a:spcPts val="440"/>
              </a:spcBef>
              <a:buFont typeface="Arial"/>
              <a:buChar char="•"/>
            </a:pPr>
            <a:r>
              <a:rPr lang="en-US" sz="1900" dirty="0">
                <a:solidFill>
                  <a:srgbClr val="000000"/>
                </a:solidFill>
                <a:latin typeface="Century Gothic"/>
                <a:cs typeface="Century Gothic"/>
              </a:rPr>
              <a:t>Break (15 min) - then two 2x2 calculations (20 min)</a:t>
            </a:r>
          </a:p>
          <a:p>
            <a:pPr marL="274320" indent="-274320" algn="l">
              <a:spcBef>
                <a:spcPts val="440"/>
              </a:spcBef>
              <a:buFont typeface="Arial"/>
              <a:buChar char="•"/>
            </a:pPr>
            <a:r>
              <a:rPr lang="en-US" sz="1900" dirty="0">
                <a:solidFill>
                  <a:srgbClr val="000000"/>
                </a:solidFill>
                <a:latin typeface="Century Gothic"/>
                <a:cs typeface="Century Gothic"/>
              </a:rPr>
              <a:t>4.3  Beyond single studies: tests, meta-analysis, appraisal (30 min)</a:t>
            </a:r>
          </a:p>
          <a:p>
            <a:pPr marL="274320" indent="-274320" algn="l">
              <a:spcBef>
                <a:spcPts val="440"/>
              </a:spcBef>
              <a:buFont typeface="Arial"/>
              <a:buChar char="•"/>
            </a:pPr>
            <a:r>
              <a:rPr lang="en-US" sz="1900" dirty="0">
                <a:solidFill>
                  <a:srgbClr val="000000"/>
                </a:solidFill>
                <a:latin typeface="Century Gothic"/>
                <a:cs typeface="Century Gothic"/>
              </a:rPr>
              <a:t>Proposal builder 4: exposure, outcomes, biases (30 min) -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patients with delirium are compared with patients without delirium for earlier benzodiazepine use.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Which design randomises whole wards instead of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New vs old strategy, mortality difference 95% CI -1 to +3 points; margin +4 points. Result?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Groups: re-read your Proposal Part 2a (design, setting, population) - 2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How we run 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Answer alone first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 of hands, then reveal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Ask one person to explain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group's Part 2a re-read and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Today's vocabulary - definitions come with a picture</a:t>
            </a:r>
          </a:p>
        </p:txBody>
      </p:sp>
      <p:sp>
        <p:nvSpPr>
          <p:cNvPr id="70" name="CardHead"/>
          <p:cNvSpPr/>
          <p:nvPr/>
        </p:nvSpPr>
        <p:spPr>
          <a:xfrm>
            <a:off x="457200" y="221000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Can we trust it?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Bias, confounding</a:t>
            </a:r>
          </a:p>
          <a:p>
            <a:pPr marL="0" indent="0" algn="l">
              <a:lnSpc>
                <a:spcPct val="104000"/>
              </a:lnSpc>
              <a:spcBef>
                <a:spcPts val="400"/>
              </a:spcBef>
              <a:buNone/>
            </a:pPr>
            <a:r>
              <a:rPr lang="en-US" sz="1600" dirty="0">
                <a:solidFill>
                  <a:srgbClr val="000000"/>
                </a:solidFill>
                <a:latin typeface="Century Gothic"/>
                <a:cs typeface="Century Gothic"/>
              </a:rPr>
              <a:t>Effect modification</a:t>
            </a:r>
          </a:p>
          <a:p>
            <a:pPr marL="0" indent="0" algn="l">
              <a:lnSpc>
                <a:spcPct val="104000"/>
              </a:lnSpc>
              <a:spcBef>
                <a:spcPts val="400"/>
              </a:spcBef>
              <a:buNone/>
            </a:pPr>
            <a:r>
              <a:rPr lang="en-US" sz="1600" dirty="0">
                <a:solidFill>
                  <a:srgbClr val="000000"/>
                </a:solidFill>
                <a:latin typeface="Century Gothic"/>
                <a:cs typeface="Century Gothic"/>
              </a:rPr>
              <a:t>Reverse causation</a:t>
            </a:r>
          </a:p>
        </p:txBody>
      </p:sp>
      <p:sp>
        <p:nvSpPr>
          <p:cNvPr id="72" name="CardHead"/>
          <p:cNvSpPr/>
          <p:nvPr/>
        </p:nvSpPr>
        <p:spPr>
          <a:xfrm>
            <a:off x="33266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How big is it?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Risk, risk ratio (RR)</a:t>
            </a:r>
          </a:p>
          <a:p>
            <a:pPr marL="0" indent="0" algn="l">
              <a:lnSpc>
                <a:spcPct val="104000"/>
              </a:lnSpc>
              <a:spcBef>
                <a:spcPts val="400"/>
              </a:spcBef>
              <a:buNone/>
            </a:pPr>
            <a:r>
              <a:rPr lang="en-US" sz="1600" dirty="0">
                <a:solidFill>
                  <a:srgbClr val="000000"/>
                </a:solidFill>
                <a:latin typeface="Century Gothic"/>
                <a:cs typeface="Century Gothic"/>
              </a:rPr>
              <a:t>Risk difference, NNT</a:t>
            </a:r>
          </a:p>
          <a:p>
            <a:pPr marL="0" indent="0" algn="l">
              <a:lnSpc>
                <a:spcPct val="104000"/>
              </a:lnSpc>
              <a:spcBef>
                <a:spcPts val="400"/>
              </a:spcBef>
              <a:buNone/>
            </a:pPr>
            <a:r>
              <a:rPr lang="en-US" sz="1600" dirty="0">
                <a:solidFill>
                  <a:srgbClr val="000000"/>
                </a:solidFill>
                <a:latin typeface="Century Gothic"/>
                <a:cs typeface="Century Gothic"/>
              </a:rPr>
              <a:t>Odds ratio (OR)</a:t>
            </a:r>
          </a:p>
        </p:txBody>
      </p:sp>
      <p:sp>
        <p:nvSpPr>
          <p:cNvPr id="74" name="CardHead"/>
          <p:cNvSpPr/>
          <p:nvPr/>
        </p:nvSpPr>
        <p:spPr>
          <a:xfrm>
            <a:off x="61960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Tests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Sensitivity, specificity</a:t>
            </a:r>
          </a:p>
          <a:p>
            <a:pPr marL="0" indent="0" algn="l">
              <a:lnSpc>
                <a:spcPct val="104000"/>
              </a:lnSpc>
              <a:spcBef>
                <a:spcPts val="400"/>
              </a:spcBef>
              <a:buNone/>
            </a:pPr>
            <a:r>
              <a:rPr lang="en-US" sz="1600" dirty="0">
                <a:solidFill>
                  <a:srgbClr val="000000"/>
                </a:solidFill>
                <a:latin typeface="Century Gothic"/>
                <a:cs typeface="Century Gothic"/>
              </a:rPr>
              <a:t>PPV, NPV, ROC curve</a:t>
            </a:r>
          </a:p>
        </p:txBody>
      </p:sp>
      <p:sp>
        <p:nvSpPr>
          <p:cNvPr id="76" name="CardHead"/>
          <p:cNvSpPr/>
          <p:nvPr/>
        </p:nvSpPr>
        <p:spPr>
          <a:xfrm>
            <a:off x="9065400" y="221000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Many studies</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Forest plot, I-squared</a:t>
            </a:r>
          </a:p>
          <a:p>
            <a:pPr marL="0" indent="0" algn="l">
              <a:lnSpc>
                <a:spcPct val="104000"/>
              </a:lnSpc>
              <a:spcBef>
                <a:spcPts val="400"/>
              </a:spcBef>
              <a:buNone/>
            </a:pPr>
            <a:r>
              <a:rPr lang="en-US" sz="1600" dirty="0">
                <a:solidFill>
                  <a:srgbClr val="000000"/>
                </a:solidFill>
                <a:latin typeface="Century Gothic"/>
                <a:cs typeface="Century Gothic"/>
              </a:rPr>
              <a:t>Risk-of-bias tool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Bias is systematic error. Size does not fix it.</a:t>
            </a:r>
          </a:p>
          <a:p>
            <a:pPr marL="0" indent="0" algn="ctr">
              <a:spcBef>
                <a:spcPts val="1200"/>
              </a:spcBef>
              <a:buNone/>
            </a:pPr>
            <a:r>
              <a:rPr lang="en-US" sz="1900" i="1" dirty="0">
                <a:solidFill>
                  <a:srgbClr val="595959"/>
                </a:solidFill>
                <a:latin typeface="Century Gothic"/>
                <a:cs typeface="Century Gothic"/>
              </a:rPr>
              <a:t>Selection, information, confounding, effect modification -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Only patients who survived to hospital discharge are interviewed about their ICU care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The nurse who knows each patient's group scores their pain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Selection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Observer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bias for each -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More antibiotics -&gt; more deaths?</a:t>
            </a:r>
          </a:p>
          <a:p>
            <a:pPr marL="0" indent="0" algn="l">
              <a:lnSpc>
                <a:spcPct val="104000"/>
              </a:lnSpc>
              <a:spcBef>
                <a:spcPts val="400"/>
              </a:spcBef>
              <a:buNone/>
            </a:pPr>
            <a:r>
              <a:rPr lang="en-US" sz="1750" b="1" dirty="0">
                <a:solidFill>
                  <a:srgbClr val="000000"/>
                </a:solidFill>
                <a:latin typeface="Century Gothic"/>
                <a:cs typeface="Century Gothic"/>
              </a:rPr>
              <a:t>Confounder: severity of infection</a:t>
            </a:r>
          </a:p>
          <a:p>
            <a:pPr marL="0" indent="0" algn="l">
              <a:lnSpc>
                <a:spcPct val="104000"/>
              </a:lnSpc>
              <a:spcBef>
                <a:spcPts val="400"/>
              </a:spcBef>
              <a:buNone/>
            </a:pPr>
            <a:r>
              <a:rPr lang="en-US" sz="1750" dirty="0">
                <a:solidFill>
                  <a:srgbClr val="000000"/>
                </a:solidFill>
                <a:latin typeface="Century Gothic"/>
                <a:cs typeface="Century Gothic"/>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Seen by dietitian -&gt; more weight loss?</a:t>
            </a:r>
          </a:p>
          <a:p>
            <a:pPr marL="0" indent="0" algn="l">
              <a:lnSpc>
                <a:spcPct val="104000"/>
              </a:lnSpc>
              <a:spcBef>
                <a:spcPts val="400"/>
              </a:spcBef>
              <a:buNone/>
            </a:pPr>
            <a:r>
              <a:rPr lang="en-US" sz="1750" b="1" dirty="0">
                <a:solidFill>
                  <a:srgbClr val="000000"/>
                </a:solidFill>
                <a:latin typeface="Century Gothic"/>
                <a:cs typeface="Century Gothic"/>
              </a:rPr>
              <a:t>Confounder: malnutrition at admission</a:t>
            </a:r>
          </a:p>
          <a:p>
            <a:pPr marL="0" indent="0" algn="l">
              <a:lnSpc>
                <a:spcPct val="104000"/>
              </a:lnSpc>
              <a:spcBef>
                <a:spcPts val="400"/>
              </a:spcBef>
              <a:buNone/>
            </a:pPr>
            <a:r>
              <a:rPr lang="en-US" sz="1750" dirty="0">
                <a:solidFill>
                  <a:srgbClr val="000000"/>
                </a:solidFill>
                <a:latin typeface="Century Gothic"/>
                <a:cs typeface="Century Gothic"/>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Vasopressors -&gt; more arrhythmia?</a:t>
            </a:r>
          </a:p>
          <a:p>
            <a:pPr marL="0" indent="0" algn="l">
              <a:lnSpc>
                <a:spcPct val="104000"/>
              </a:lnSpc>
              <a:spcBef>
                <a:spcPts val="400"/>
              </a:spcBef>
              <a:buNone/>
            </a:pPr>
            <a:r>
              <a:rPr lang="en-US" sz="1750" b="1" dirty="0">
                <a:solidFill>
                  <a:srgbClr val="000000"/>
                </a:solidFill>
                <a:latin typeface="Century Gothic"/>
                <a:cs typeface="Century Gothic"/>
              </a:rPr>
              <a:t>Confounder: depth of shock</a:t>
            </a:r>
          </a:p>
          <a:p>
            <a:pPr marL="0" indent="0" algn="l">
              <a:lnSpc>
                <a:spcPct val="104000"/>
              </a:lnSpc>
              <a:spcBef>
                <a:spcPts val="400"/>
              </a:spcBef>
              <a:buNone/>
            </a:pPr>
            <a:r>
              <a:rPr lang="en-US" sz="1750" dirty="0">
                <a:solidFill>
                  <a:srgbClr val="000000"/>
                </a:solidFill>
                <a:latin typeface="Century Gothic"/>
                <a:cs typeface="Century Gothic"/>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Randomise +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Chance decides the group</a:t>
            </a:r>
          </a:p>
          <a:p>
            <a:pPr marL="0" indent="0" algn="l">
              <a:lnSpc>
                <a:spcPct val="104000"/>
              </a:lnSpc>
              <a:spcBef>
                <a:spcPts val="400"/>
              </a:spcBef>
              <a:buNone/>
            </a:pPr>
            <a:r>
              <a:rPr lang="en-US" sz="1750" dirty="0">
                <a:solidFill>
                  <a:srgbClr val="000000"/>
                </a:solidFill>
                <a:latin typeface="Century Gothic"/>
                <a:cs typeface="Century Gothic"/>
              </a:rPr>
              <a:t>Balances known AND unknown confounders</a:t>
            </a:r>
          </a:p>
          <a:p>
            <a:pPr marL="0" indent="0" algn="l">
              <a:lnSpc>
                <a:spcPct val="104000"/>
              </a:lnSpc>
              <a:spcBef>
                <a:spcPts val="400"/>
              </a:spcBef>
              <a:buNone/>
            </a:pPr>
            <a:r>
              <a:rPr lang="en-US" sz="1750" dirty="0">
                <a:solidFill>
                  <a:srgbClr val="000000"/>
                </a:solidFill>
                <a:latin typeface="Century Gothic"/>
                <a:cs typeface="Century Gothic"/>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Patients, clinicians, assessors, analysts</a:t>
            </a:r>
          </a:p>
          <a:p>
            <a:pPr marL="0" indent="0" algn="l">
              <a:lnSpc>
                <a:spcPct val="104000"/>
              </a:lnSpc>
              <a:spcBef>
                <a:spcPts val="400"/>
              </a:spcBef>
              <a:buNone/>
            </a:pPr>
            <a:r>
              <a:rPr lang="en-US" sz="1750" dirty="0">
                <a:solidFill>
                  <a:srgbClr val="000000"/>
                </a:solidFill>
                <a:latin typeface="Century Gothic"/>
                <a:cs typeface="Century Gothic"/>
              </a:rPr>
              <a:t>Protects how outcomes are measured</a:t>
            </a:r>
          </a:p>
          <a:p>
            <a:pPr marL="0" indent="0" algn="l">
              <a:lnSpc>
                <a:spcPct val="104000"/>
              </a:lnSpc>
              <a:spcBef>
                <a:spcPts val="400"/>
              </a:spcBef>
              <a:buNone/>
            </a:pPr>
            <a:r>
              <a:rPr lang="en-US" sz="1750" dirty="0">
                <a:solidFill>
                  <a:srgbClr val="000000"/>
                </a:solidFill>
                <a:latin typeface="Century Gothic"/>
                <a:cs typeface="Century Gothic"/>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Restrict: narrow eligibility</a:t>
            </a:r>
          </a:p>
          <a:p>
            <a:pPr marL="0" indent="0" algn="l">
              <a:lnSpc>
                <a:spcPct val="104000"/>
              </a:lnSpc>
              <a:spcBef>
                <a:spcPts val="400"/>
              </a:spcBef>
              <a:buNone/>
            </a:pPr>
            <a:r>
              <a:rPr lang="en-US" sz="1750" dirty="0">
                <a:solidFill>
                  <a:srgbClr val="000000"/>
                </a:solidFill>
                <a:latin typeface="Century Gothic"/>
                <a:cs typeface="Century Gothic"/>
              </a:rPr>
              <a:t>Match: pair similar patients</a:t>
            </a:r>
          </a:p>
          <a:p>
            <a:pPr marL="0" indent="0" algn="l">
              <a:lnSpc>
                <a:spcPct val="104000"/>
              </a:lnSpc>
              <a:spcBef>
                <a:spcPts val="400"/>
              </a:spcBef>
              <a:buNone/>
            </a:pPr>
            <a:r>
              <a:rPr lang="en-US" sz="1750" dirty="0">
                <a:solidFill>
                  <a:srgbClr val="000000"/>
                </a:solidFill>
                <a:latin typeface="Century Gothic"/>
                <a:cs typeface="Century Gothic"/>
              </a:rPr>
              <a:t>Adjust: statistics in the analysis</a:t>
            </a:r>
          </a:p>
          <a:p>
            <a:pPr marL="0" indent="0" algn="l">
              <a:lnSpc>
                <a:spcPct val="104000"/>
              </a:lnSpc>
              <a:spcBef>
                <a:spcPts val="400"/>
              </a:spcBef>
              <a:buNone/>
            </a:pPr>
            <a:r>
              <a:rPr lang="en-US" sz="1750" b="1" dirty="0">
                <a:solidFill>
                  <a:srgbClr val="B23B2E"/>
                </a:solidFill>
                <a:latin typeface="Century Gothic"/>
                <a:cs typeface="Century Gothic"/>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By chance, both groups get a similar mix -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Matching helps -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Internal and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From association to causation: Bradford Hill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Mothers of babies with a birth defect recall medicines in pregnancy better than other mothers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trial nurse who knows the group scores 'ready for discharge'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survey of ICU survivors' quality of life recruits only those who attend clinic</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Patients with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 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Selection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Recall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Observer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bias named for each scenario, with one fix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How common? How much more likely?</a:t>
            </a:r>
          </a:p>
          <a:p>
            <a:pPr marL="0" indent="0" algn="ctr">
              <a:spcBef>
                <a:spcPts val="1200"/>
              </a:spcBef>
              <a:buNone/>
            </a:pPr>
            <a:r>
              <a:rPr lang="en-US" sz="1900" i="1" dirty="0">
                <a:solidFill>
                  <a:srgbClr val="595959"/>
                </a:solidFill>
                <a:latin typeface="Century Gothic"/>
                <a:cs typeface="Century Gothic"/>
              </a:rPr>
              <a:t>Prevalence, incidence, risk, and the 2x2 table behind RR, OR, RD and NNT.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Exposure in rows, outcome in columns: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[a/(a+b)] / [c/(c+d)]</a:t>
            </a:r>
          </a:p>
          <a:p>
            <a:pPr marL="0" indent="0" algn="l">
              <a:lnSpc>
                <a:spcPct val="104000"/>
              </a:lnSpc>
              <a:spcBef>
                <a:spcPts val="400"/>
              </a:spcBef>
              <a:buNone/>
            </a:pPr>
            <a:r>
              <a:rPr lang="en-US" sz="1600" b="1" dirty="0">
                <a:solidFill>
                  <a:srgbClr val="000000"/>
                </a:solidFill>
                <a:latin typeface="Century Gothic"/>
                <a:cs typeface="Century Gothic"/>
              </a:rPr>
              <a:t>20% / 30% = 0.67</a:t>
            </a:r>
          </a:p>
          <a:p>
            <a:pPr marL="0" indent="0" algn="l">
              <a:lnSpc>
                <a:spcPct val="104000"/>
              </a:lnSpc>
              <a:spcBef>
                <a:spcPts val="400"/>
              </a:spcBef>
              <a:buNone/>
            </a:pPr>
            <a:r>
              <a:rPr lang="en-US" sz="1600" dirty="0">
                <a:solidFill>
                  <a:srgbClr val="000000"/>
                </a:solidFill>
                <a:latin typeface="Century Gothic"/>
                <a:cs typeface="Century Gothic"/>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Risk difference</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a/(a+b) - c/(c+d)</a:t>
            </a:r>
          </a:p>
          <a:p>
            <a:pPr marL="0" indent="0" algn="l">
              <a:lnSpc>
                <a:spcPct val="104000"/>
              </a:lnSpc>
              <a:spcBef>
                <a:spcPts val="400"/>
              </a:spcBef>
              <a:buNone/>
            </a:pPr>
            <a:r>
              <a:rPr lang="en-US" sz="1600" b="1" dirty="0">
                <a:solidFill>
                  <a:srgbClr val="000000"/>
                </a:solidFill>
                <a:latin typeface="Century Gothic"/>
                <a:cs typeface="Century Gothic"/>
              </a:rPr>
              <a:t>20% - 30% = -10 points</a:t>
            </a:r>
          </a:p>
          <a:p>
            <a:pPr marL="0" indent="0" algn="l">
              <a:lnSpc>
                <a:spcPct val="104000"/>
              </a:lnSpc>
              <a:spcBef>
                <a:spcPts val="400"/>
              </a:spcBef>
              <a:buNone/>
            </a:pPr>
            <a:r>
              <a:rPr lang="en-US" sz="1600" dirty="0">
                <a:solidFill>
                  <a:srgbClr val="000000"/>
                </a:solidFill>
                <a:latin typeface="Century Gothic"/>
                <a:cs typeface="Century Gothic"/>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 / |risk difference|</a:t>
            </a:r>
          </a:p>
          <a:p>
            <a:pPr marL="0" indent="0" algn="l">
              <a:lnSpc>
                <a:spcPct val="104000"/>
              </a:lnSpc>
              <a:spcBef>
                <a:spcPts val="400"/>
              </a:spcBef>
              <a:buNone/>
            </a:pPr>
            <a:r>
              <a:rPr lang="en-US" sz="1600" b="1" dirty="0">
                <a:solidFill>
                  <a:srgbClr val="000000"/>
                </a:solidFill>
                <a:latin typeface="Century Gothic"/>
                <a:cs typeface="Century Gothic"/>
              </a:rPr>
              <a:t>1 / 0.10 = 10</a:t>
            </a:r>
          </a:p>
          <a:p>
            <a:pPr marL="0" indent="0" algn="l">
              <a:lnSpc>
                <a:spcPct val="104000"/>
              </a:lnSpc>
              <a:spcBef>
                <a:spcPts val="400"/>
              </a:spcBef>
              <a:buNone/>
            </a:pPr>
            <a:r>
              <a:rPr lang="en-US" sz="1600" dirty="0">
                <a:solidFill>
                  <a:srgbClr val="000000"/>
                </a:solidFill>
                <a:latin typeface="Century Gothic"/>
                <a:cs typeface="Century Gothic"/>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x d) / (b x c)</a:t>
            </a:r>
          </a:p>
          <a:p>
            <a:pPr marL="0" indent="0" algn="l">
              <a:lnSpc>
                <a:spcPct val="104000"/>
              </a:lnSpc>
              <a:spcBef>
                <a:spcPts val="400"/>
              </a:spcBef>
              <a:buNone/>
            </a:pPr>
            <a:r>
              <a:rPr lang="en-US" sz="1600" b="1" dirty="0">
                <a:solidFill>
                  <a:srgbClr val="000000"/>
                </a:solidFill>
                <a:latin typeface="Century Gothic"/>
                <a:cs typeface="Century Gothic"/>
              </a:rPr>
              <a:t>(20x70)/(80x30) = 0.58</a:t>
            </a:r>
          </a:p>
          <a:p>
            <a:pPr marL="0" indent="0" algn="l">
              <a:lnSpc>
                <a:spcPct val="104000"/>
              </a:lnSpc>
              <a:spcBef>
                <a:spcPts val="400"/>
              </a:spcBef>
              <a:buNone/>
            </a:pPr>
            <a:r>
              <a:rPr lang="en-US" sz="1600" dirty="0">
                <a:solidFill>
                  <a:srgbClr val="000000"/>
                </a:solidFill>
                <a:latin typeface="Century Gothic"/>
                <a:cs typeface="Century Gothic"/>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NNT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one more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200 patients per group: 20 die with the new treatment, 30 with usual care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Risk in each group?</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RR? Risk difference?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Bonus: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Table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 20, b = 180</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Risks, RR, RD and NNT -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2x2_calculator.xlsx - sheet Association</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Enter a, b, c, d from the worked example: 20, 80, 30, 70</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Read risks, RR, RD, NNT and OR - and the plain-language lines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the deaths to 2 and 3 of 100: watch OR approach RR</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layout as the slide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Relative vs absolute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After the break: two 2x2 calculations - have a pen ready</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Then 4.3: beyond single studies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two 2x2 calculations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Handout Part C: draw each 2x2 table first, exposure in rows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Calculation 1 (trial): risks, RR, RD, NNT, OR - and one sentence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Calculation 2 (case-control): OR only - and say why not RR</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Check with your neighbour, then with the calculator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Remember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Risk = a / (a +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RR = risk / risk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NNT = 1 / risk difference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Two completed 2x2 tables with interpreted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study is rarely the answer.</a:t>
            </a:r>
          </a:p>
          <a:p>
            <a:pPr marL="0" indent="0" algn="ctr">
              <a:spcBef>
                <a:spcPts val="1200"/>
              </a:spcBef>
              <a:buNone/>
            </a:pPr>
            <a:r>
              <a:rPr lang="en-US" sz="1900" i="1" dirty="0">
                <a:solidFill>
                  <a:srgbClr val="595959"/>
                </a:solidFill>
                <a:latin typeface="Century Gothic"/>
                <a:cs typeface="Century Gothic"/>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PRISMA flow shows how studies were found, screened and excluded -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Match the appraisal tool to the design - and the reporting guideline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Questions 7-9 of our 10-question appraisal checklist (Session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'Caused' needs randomisation</a:t>
            </a:r>
          </a:p>
          <a:p>
            <a:pPr marL="0" indent="0" algn="l">
              <a:lnSpc>
                <a:spcPct val="104000"/>
              </a:lnSpc>
              <a:spcBef>
                <a:spcPts val="400"/>
              </a:spcBef>
              <a:buNone/>
            </a:pPr>
            <a:r>
              <a:rPr lang="en-US" sz="1750" dirty="0">
                <a:solidFill>
                  <a:srgbClr val="000000"/>
                </a:solidFill>
                <a:latin typeface="Century Gothic"/>
                <a:cs typeface="Century Gothic"/>
              </a:rPr>
              <a:t>Observational: 'associated with'</a:t>
            </a:r>
          </a:p>
          <a:p>
            <a:pPr marL="0" indent="0" algn="l">
              <a:lnSpc>
                <a:spcPct val="104000"/>
              </a:lnSpc>
              <a:spcBef>
                <a:spcPts val="400"/>
              </a:spcBef>
              <a:buNone/>
            </a:pPr>
            <a:r>
              <a:rPr lang="en-US" sz="1750" dirty="0">
                <a:solidFill>
                  <a:srgbClr val="000000"/>
                </a:solidFill>
                <a:latin typeface="Century Gothic"/>
                <a:cs typeface="Century Gothic"/>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size with 95% CI</a:t>
            </a:r>
          </a:p>
          <a:p>
            <a:pPr marL="0" indent="0" algn="l">
              <a:lnSpc>
                <a:spcPct val="104000"/>
              </a:lnSpc>
              <a:spcBef>
                <a:spcPts val="400"/>
              </a:spcBef>
              <a:buNone/>
            </a:pPr>
            <a:r>
              <a:rPr lang="en-US" sz="1750" dirty="0">
                <a:solidFill>
                  <a:srgbClr val="000000"/>
                </a:solidFill>
                <a:latin typeface="Century Gothic"/>
                <a:cs typeface="Century Gothic"/>
              </a:rPr>
              <a:t>Relative AND absolute</a:t>
            </a:r>
          </a:p>
          <a:p>
            <a:pPr marL="0" indent="0" algn="l">
              <a:lnSpc>
                <a:spcPct val="104000"/>
              </a:lnSpc>
              <a:spcBef>
                <a:spcPts val="400"/>
              </a:spcBef>
              <a:buNone/>
            </a:pPr>
            <a:r>
              <a:rPr lang="en-US" sz="1750" dirty="0">
                <a:solidFill>
                  <a:srgbClr val="000000"/>
                </a:solidFill>
                <a:latin typeface="Century Gothic"/>
                <a:cs typeface="Century Gothic"/>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Primary outcome reported first</a:t>
            </a:r>
          </a:p>
          <a:p>
            <a:pPr marL="0" indent="0" algn="l">
              <a:lnSpc>
                <a:spcPct val="104000"/>
              </a:lnSpc>
              <a:spcBef>
                <a:spcPts val="400"/>
              </a:spcBef>
              <a:buNone/>
            </a:pPr>
            <a:r>
              <a:rPr lang="en-US" sz="1750" dirty="0">
                <a:solidFill>
                  <a:srgbClr val="000000"/>
                </a:solidFill>
                <a:latin typeface="Century Gothic"/>
                <a:cs typeface="Century Gothic"/>
              </a:rPr>
              <a:t>Main limitations stated</a:t>
            </a:r>
          </a:p>
          <a:p>
            <a:pPr marL="0" indent="0" algn="l">
              <a:lnSpc>
                <a:spcPct val="104000"/>
              </a:lnSpc>
              <a:spcBef>
                <a:spcPts val="400"/>
              </a:spcBef>
              <a:buNone/>
            </a:pPr>
            <a:r>
              <a:rPr lang="en-US" sz="1750" dirty="0">
                <a:solidFill>
                  <a:srgbClr val="000000"/>
                </a:solidFill>
                <a:latin typeface="Century Gothic"/>
                <a:cs typeface="Century Gothic"/>
              </a:rPr>
              <a:t>Conclusion =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conclusion last -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Handout Part E: the forest plot of six fluid trials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Which trial carries the most weight? Does any single trial show a clear effect?</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Does the diamond cross RR = 1? Say the result in one sentence</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Pick the risk-of-bias tool for Boulet, for Hyun and for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Reminder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Square = one study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 = 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Diamond = pooled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One sentence on the pooled result +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primary outcome is not a word; it is a measurement with a method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Exposure or intervention: exactly what, how much, when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Comparator: who or what you compare against</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ONE primary outcome: what, how, when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2-3 secondary outcomes, each with what, how, when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Two main biases and the design step that reduces each</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Write one sentence: will you claim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Facilitator 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Comparator stated?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Only ONE primary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Outcome has a time point?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Bias -&gt; concrete mitigation?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2 complete (2a from Session 3 + 2b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Bias: size does not fix it</a:t>
            </a:r>
          </a:p>
          <a:p>
            <a:pPr marL="0" indent="0" algn="l">
              <a:lnSpc>
                <a:spcPct val="104000"/>
              </a:lnSpc>
              <a:spcBef>
                <a:spcPts val="400"/>
              </a:spcBef>
              <a:buNone/>
            </a:pPr>
            <a:r>
              <a:rPr lang="en-US" sz="1600" dirty="0">
                <a:solidFill>
                  <a:srgbClr val="000000"/>
                </a:solidFill>
                <a:latin typeface="Century Gothic"/>
                <a:cs typeface="Century Gothic"/>
              </a:rPr>
              <a:t>Confounding: remove it</a:t>
            </a:r>
          </a:p>
          <a:p>
            <a:pPr marL="0" indent="0" algn="l">
              <a:lnSpc>
                <a:spcPct val="104000"/>
              </a:lnSpc>
              <a:spcBef>
                <a:spcPts val="400"/>
              </a:spcBef>
              <a:buNone/>
            </a:pPr>
            <a:r>
              <a:rPr lang="en-US" sz="1600" dirty="0">
                <a:solidFill>
                  <a:srgbClr val="000000"/>
                </a:solidFill>
                <a:latin typeface="Century Gothic"/>
                <a:cs typeface="Century Gothic"/>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Relative: RR, OR</a:t>
            </a:r>
          </a:p>
          <a:p>
            <a:pPr marL="0" indent="0" algn="l">
              <a:lnSpc>
                <a:spcPct val="104000"/>
              </a:lnSpc>
              <a:spcBef>
                <a:spcPts val="400"/>
              </a:spcBef>
              <a:buNone/>
            </a:pPr>
            <a:r>
              <a:rPr lang="en-US" sz="1600" dirty="0">
                <a:solidFill>
                  <a:srgbClr val="000000"/>
                </a:solidFill>
                <a:latin typeface="Century Gothic"/>
                <a:cs typeface="Century Gothic"/>
              </a:rPr>
              <a:t>Absolute: RD, NNT</a:t>
            </a:r>
          </a:p>
          <a:p>
            <a:pPr marL="0" indent="0" algn="l">
              <a:lnSpc>
                <a:spcPct val="104000"/>
              </a:lnSpc>
              <a:spcBef>
                <a:spcPts val="400"/>
              </a:spcBef>
              <a:buNone/>
            </a:pPr>
            <a:r>
              <a:rPr lang="en-US" sz="1600" dirty="0">
                <a:solidFill>
                  <a:srgbClr val="000000"/>
                </a:solidFill>
                <a:latin typeface="Century Gothic"/>
                <a:cs typeface="Century Gothic"/>
              </a:rPr>
              <a:t>OR =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PPV depends on prevalence</a:t>
            </a:r>
          </a:p>
          <a:p>
            <a:pPr marL="0" indent="0" algn="l">
              <a:lnSpc>
                <a:spcPct val="104000"/>
              </a:lnSpc>
              <a:spcBef>
                <a:spcPts val="400"/>
              </a:spcBef>
              <a:buNone/>
            </a:pPr>
            <a:r>
              <a:rPr lang="en-US" sz="1600" dirty="0">
                <a:solidFill>
                  <a:srgbClr val="000000"/>
                </a:solidFill>
                <a:latin typeface="Century Gothic"/>
                <a:cs typeface="Century Gothic"/>
              </a:rPr>
              <a:t>Forest plot: read the diamond</a:t>
            </a:r>
          </a:p>
          <a:p>
            <a:pPr marL="0" indent="0" algn="l">
              <a:lnSpc>
                <a:spcPct val="104000"/>
              </a:lnSpc>
              <a:spcBef>
                <a:spcPts val="400"/>
              </a:spcBef>
              <a:buNone/>
            </a:pPr>
            <a:r>
              <a:rPr lang="en-US" sz="1600" dirty="0">
                <a:solidFill>
                  <a:srgbClr val="000000"/>
                </a:solidFill>
                <a:latin typeface="Century Gothic"/>
                <a:cs typeface="Century Gothic"/>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Part 2 complete</a:t>
            </a:r>
          </a:p>
          <a:p>
            <a:pPr marL="0" indent="0" algn="l">
              <a:lnSpc>
                <a:spcPct val="104000"/>
              </a:lnSpc>
              <a:spcBef>
                <a:spcPts val="400"/>
              </a:spcBef>
              <a:buNone/>
            </a:pPr>
            <a:r>
              <a:rPr lang="en-US" sz="1600" dirty="0">
                <a:solidFill>
                  <a:srgbClr val="000000"/>
                </a:solidFill>
                <a:latin typeface="Century Gothic"/>
                <a:cs typeface="Century Gothic"/>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Trust first, then size -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Exit question: ICU patients who received more fluid died more often. Give one reason other than the fluid</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Homework: finish Proposal Part 2 (exposure, comparator, outcomes, biases)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Optional: handout Parts B and D (effect modification, PPV in two settings)</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two Saturdays (Sessions 5-6): data - the FLUID-ICU course dataset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4</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Likelihood ratios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sensitivity / (1 - specificity)</a:t>
            </a:r>
          </a:p>
          <a:p>
            <a:pPr marL="0" indent="0" algn="l">
              <a:lnSpc>
                <a:spcPct val="104000"/>
              </a:lnSpc>
              <a:spcBef>
                <a:spcPts val="400"/>
              </a:spcBef>
              <a:buNone/>
            </a:pPr>
            <a:r>
              <a:rPr lang="en-US" sz="1750" b="1" dirty="0">
                <a:solidFill>
                  <a:srgbClr val="000000"/>
                </a:solidFill>
                <a:latin typeface="Century Gothic"/>
                <a:cs typeface="Century Gothic"/>
              </a:rPr>
              <a:t>0.90 / 0.20 = 4.5</a:t>
            </a:r>
          </a:p>
          <a:p>
            <a:pPr marL="0" indent="0" algn="l">
              <a:lnSpc>
                <a:spcPct val="104000"/>
              </a:lnSpc>
              <a:spcBef>
                <a:spcPts val="400"/>
              </a:spcBef>
              <a:buNone/>
            </a:pPr>
            <a:r>
              <a:rPr lang="en-US" sz="1750" dirty="0">
                <a:solidFill>
                  <a:srgbClr val="000000"/>
                </a:solidFill>
                <a:latin typeface="Century Gothic"/>
                <a:cs typeface="Century Gothic"/>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 sensitivity) / specificity</a:t>
            </a:r>
          </a:p>
          <a:p>
            <a:pPr marL="0" indent="0" algn="l">
              <a:lnSpc>
                <a:spcPct val="104000"/>
              </a:lnSpc>
              <a:spcBef>
                <a:spcPts val="400"/>
              </a:spcBef>
              <a:buNone/>
            </a:pPr>
            <a:r>
              <a:rPr lang="en-US" sz="1750" b="1" dirty="0">
                <a:solidFill>
                  <a:srgbClr val="000000"/>
                </a:solidFill>
                <a:latin typeface="Century Gothic"/>
                <a:cs typeface="Century Gothic"/>
              </a:rPr>
              <a:t>0.10 / 0.80 = 0.13</a:t>
            </a:r>
          </a:p>
          <a:p>
            <a:pPr marL="0" indent="0" algn="l">
              <a:lnSpc>
                <a:spcPct val="104000"/>
              </a:lnSpc>
              <a:spcBef>
                <a:spcPts val="400"/>
              </a:spcBef>
              <a:buNone/>
            </a:pPr>
            <a:r>
              <a:rPr lang="en-US" sz="1750" dirty="0">
                <a:solidFill>
                  <a:srgbClr val="000000"/>
                </a:solidFill>
                <a:latin typeface="Century Gothic"/>
                <a:cs typeface="Century Gothic"/>
              </a:rPr>
              <a:t>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STARD: 30-item checklist + flow diagram</a:t>
            </a:r>
          </a:p>
          <a:p>
            <a:pPr marL="0" indent="0" algn="l">
              <a:lnSpc>
                <a:spcPct val="104000"/>
              </a:lnSpc>
              <a:spcBef>
                <a:spcPts val="400"/>
              </a:spcBef>
              <a:buNone/>
            </a:pPr>
            <a:r>
              <a:rPr lang="en-US" sz="1750" dirty="0">
                <a:solidFill>
                  <a:srgbClr val="000000"/>
                </a:solidFill>
                <a:latin typeface="Century Gothic"/>
                <a:cs typeface="Century Gothic"/>
              </a:rPr>
              <a:t>QUADAS-2: risk of bias</a:t>
            </a:r>
          </a:p>
          <a:p>
            <a:pPr marL="0" indent="0" algn="l">
              <a:lnSpc>
                <a:spcPct val="104000"/>
              </a:lnSpc>
              <a:spcBef>
                <a:spcPts val="400"/>
              </a:spcBef>
              <a:buNone/>
            </a:pPr>
            <a:r>
              <a:rPr lang="en-US" sz="1750" dirty="0">
                <a:solidFill>
                  <a:srgbClr val="000000"/>
                </a:solidFill>
                <a:latin typeface="Century Gothic"/>
                <a:cs typeface="Century Gothic"/>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200 ward patients; 20 have a pressure injury</a:t>
            </a:r>
          </a:p>
          <a:p>
            <a:pPr marL="0" indent="0" algn="l">
              <a:lnSpc>
                <a:spcPct val="104000"/>
              </a:lnSpc>
              <a:spcBef>
                <a:spcPts val="200"/>
              </a:spcBef>
              <a:buNone/>
            </a:pPr>
            <a:r>
              <a:rPr lang="en-US" sz="1500" dirty="0">
                <a:solidFill>
                  <a:srgbClr val="000000"/>
                </a:solidFill>
                <a:latin typeface="Century Gothic"/>
                <a:cs typeface="Century Gothic"/>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9 / 180 = 5% per week</a:t>
            </a:r>
          </a:p>
          <a:p>
            <a:pPr marL="0" indent="0" algn="l">
              <a:lnSpc>
                <a:spcPct val="104000"/>
              </a:lnSpc>
              <a:spcBef>
                <a:spcPts val="200"/>
              </a:spcBef>
              <a:buNone/>
            </a:pPr>
            <a:r>
              <a:rPr lang="en-US" sz="1500" dirty="0">
                <a:solidFill>
                  <a:srgbClr val="000000"/>
                </a:solidFill>
                <a:latin typeface="Century Gothic"/>
                <a:cs typeface="Century Gothic"/>
              </a:rPr>
              <a:t>(denominator =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