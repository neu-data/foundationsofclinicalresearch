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 id="305" r:id="rId149"/>
    <p:sldId id="306" r:id="rId150"/>
    <p:sldId id="307" r:id="rId151"/>
    <p:sldId id="308" r:id="rId152"/>
    <p:sldId id="309" r:id="rId153"/>
    <p:sldId id="310" r:id="rId1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 Id="rId149" Type="http://schemas.openxmlformats.org/officeDocument/2006/relationships/slide" Target="slides/slide50.xml"/><Relationship Id="rId150" Type="http://schemas.openxmlformats.org/officeDocument/2006/relationships/slide" Target="slides/slide51.xml"/><Relationship Id="rId151" Type="http://schemas.openxmlformats.org/officeDocument/2006/relationships/slide" Target="slides/slide52.xml"/><Relationship Id="rId152" Type="http://schemas.openxmlformats.org/officeDocument/2006/relationships/slide" Target="slides/slide53.xml"/><Relationship Id="rId153" Type="http://schemas.openxmlformats.org/officeDocument/2006/relationships/slide" Target="slides/slide54.xml"/><Relationship Id="rId154" Type="http://schemas.openxmlformats.org/officeDocument/2006/relationships/slide" Target="slides/slide55.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Session 8 (19:30-22:30, break 20:50-21:05). The last session.</a:t>
            </a:r>
          </a:p>
          <a:p>
            <a:r>
              <a:rPr lang="en-US" sz="1400" b="0" dirty="0"/>
              <a:t>Today: the Introduction, Discussion, abstract and title, improving the Results drafts, publishing, reviewing, and about five proposal presentations. The closing (22:15) has its own slides.</a:t>
            </a:r>
          </a:p>
          <a:p>
            <a:r>
              <a:rPr lang="en-US" sz="1400" b="0" dirty="0"/>
              <a:t>Before: email the exercise sheet, the original papers and the class Q1 Results from Session 7. Collect and open the presenters'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Recap (19:30-19:35). Question 1 was the exit question: read two or three answers. Questions 2 and 3 are quick polls.</a:t>
            </a:r>
          </a:p>
          <a:p>
            <a:r>
              <a:rPr lang="en-US" sz="1400" b="0" dirty="0"/>
              <a:t>Question 3 leads into 8.1: the Discussion is where interpretation lives.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8.1 (19:35-20:05). About 2 minutes per slide and three 2-minute checks.</a:t>
            </a:r>
          </a:p>
          <a:p>
            <a:r>
              <a:rPr lang="en-US" sz="1400" b="0" dirty="0"/>
              <a:t>All four parts are taught as core. For the assignment, the title is required with the Results. The Introduction, Discussion and abstract are optional to submit. Slow down on the Discussion example.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Introduction is a funnel: known, not known, aim. The aim matches the primary outcome.</a:t>
            </a:r>
          </a:p>
          <a:p>
            <a:r>
              <a:rPr lang="en-US" sz="1400" b="0" dirty="0"/>
              <a:t>Paper 1 does this in under 500 words. Paper 2 cites both sides of a conflict in paragraph 2.</a:t>
            </a:r>
          </a:p>
          <a:p>
            <a:r>
              <a:rPr lang="en-US" sz="1400" b="0" dirty="0"/>
              <a:t>Ask: in one sentence, what is not known about your question? That is paragraph 2.</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Worked example for Q1. Model sentences (adapt, do not copy):</a:t>
            </a:r>
          </a:p>
          <a:p>
            <a:r>
              <a:rPr lang="en-US" sz="1400" b="0" dirty="0"/>
              <a:t>P2: 'Because sicker patients receive more fluid, it remains uncertain whether this association persists after adjustment for severity.'</a:t>
            </a:r>
          </a:p>
          <a:p>
            <a:r>
              <a:rPr lang="en-US" sz="1400" b="0" dirty="0"/>
              <a:t>P3: 'We therefore examined whether a positive fluid balance by day 3 was associated with 28-day mortality.'</a:t>
            </a:r>
          </a:p>
          <a:p>
            <a:r>
              <a:rPr lang="en-US" sz="1400" b="0" dirty="0"/>
              <a:t>The gap is the confounding by indication from Session 4.</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Check (2 minutes). One poll per sentence: known, not known, aim, or not in the Introduction.</a:t>
            </a:r>
          </a:p>
          <a:p>
            <a:r>
              <a:rPr lang="en-US" sz="1400" b="0" dirty="0"/>
              <a:t>Sentence 4 is the trap: your own results never go in the Introduction.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Six moves in order: answer, compare, explain, limitations with their direction, implications, conclusion.</a:t>
            </a:r>
          </a:p>
          <a:p>
            <a:r>
              <a:rPr lang="en-US" sz="1400" b="0" dirty="0"/>
              <a:t>Paper 1 answers in its first sentence. Paper 2 misses survivor bias in its limitations.</a:t>
            </a:r>
          </a:p>
          <a:p>
            <a:r>
              <a:rPr lang="en-US" sz="1400" b="0" dirty="0"/>
              <a:t>Poll: which move do first-time writers skip? Expected: the direction of each limitation.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Six moves, one sentence each, numbers from results pack Q1 (simulated).</a:t>
            </a:r>
          </a:p>
          <a:p>
            <a:r>
              <a:rPr lang="en-US" sz="1400" b="0" dirty="0"/>
              <a:t>The heart-failure interaction (OR 4.39 vs 1.29) is a hypothesis, not a finding.</a:t>
            </a:r>
          </a:p>
          <a:p>
            <a:r>
              <a:rPr lang="en-US" sz="1400" b="0" dirty="0"/>
              <a:t>The conclusion uses the same verb as the aim and the title: 'associated with'.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Crude 2.49, adjusted 1.62, imputed 1.70. The drop is the Session 4 lesson made visible.</a:t>
            </a:r>
          </a:p>
          <a:p>
            <a:r>
              <a:rPr lang="en-US" sz="1400" b="0" dirty="0"/>
              <a:t>The adjusted CI starts at 1.02: 'a modest association remained'.</a:t>
            </a:r>
          </a:p>
          <a:p>
            <a:r>
              <a:rPr lang="en-US" sz="1400" b="0" dirty="0"/>
              <a:t>Ask: what if the adjusted CI had crossed 1? Expected: 'no clear evidence of an association after adjustment', not 'no effect'.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strength of a verb is a claim. Read the ladder from the bottom.</a:t>
            </a:r>
          </a:p>
          <a:p>
            <a:r>
              <a:rPr lang="en-US" sz="1400" b="0" dirty="0"/>
              <a:t>Never: 'trend' for p = 0.42 (Paper 1), 'impact' in a cohort (Paper 2), 'first' or 'novel' unchecked.</a:t>
            </a:r>
          </a:p>
          <a:p>
            <a:r>
              <a:rPr lang="en-US" sz="1400" b="0" dirty="0"/>
              <a:t>These words matter in the Results section too.</a:t>
            </a:r>
          </a:p>
          <a:p>
            <a:r>
              <a:rPr lang="en-US" sz="1400" b="0" dirty="0"/>
              <a:t>Ask: rewrite 'positive fluid balance increases mortality' for Paper 2.</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Check (2 minutes). One poll per sentence: 'fine' or 'fix'. Call on one person for the fix.</a:t>
            </a:r>
          </a:p>
          <a:p>
            <a:r>
              <a:rPr lang="en-US" sz="1400" b="0" dirty="0"/>
              <a:t>Sentence 3: no 'trend', give the estimate and say the CI reaches 1. Sentence 4: 'predicts' is fine for prediction.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Structured abstract, 250-300 words, must stand alone.</a:t>
            </a:r>
          </a:p>
          <a:p>
            <a:r>
              <a:rPr lang="en-US" sz="1400" b="0" dirty="0"/>
              <a:t>Paper 2 gives every result as HR with CI. Paper 1 states its negative result plainly.</a:t>
            </a:r>
          </a:p>
          <a:p>
            <a:r>
              <a:rPr lang="en-US" sz="1400" b="0" dirty="0"/>
              <a:t>Write it last and check every number matches the text and tables.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Worked example (simulated). The title is required for everyone. The abstract is optional to submit, but everyone should be able to write one.</a:t>
            </a:r>
          </a:p>
          <a:p>
            <a:r>
              <a:rPr lang="en-US" sz="1400" b="0" dirty="0"/>
              <a:t>Conclusions: 'modestly associated', matching a CI of 1.02 to 2.59.</a:t>
            </a:r>
          </a:p>
          <a:p>
            <a:r>
              <a:rPr lang="en-US" sz="1400" b="0" dirty="0"/>
              <a:t>Ask: which sentences change if the CI had been 0.95 to 2.40? Expected: Results and Conclusions.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Check (2 minutes). Call on one person per sentence for the fix.</a:t>
            </a:r>
          </a:p>
          <a:p>
            <a:r>
              <a:rPr lang="en-US" sz="1400" b="0" dirty="0"/>
              <a:t>Every number in the abstract must match the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Build the title from the PICO: design, exposure, population, outcome, 10-16 words. No 'impact', 'novel', 'first'.</a:t>
            </a:r>
          </a:p>
          <a:p>
            <a:r>
              <a:rPr lang="en-US" sz="1400" b="0" dirty="0"/>
              <a:t>Paper 2's 'Impact' is causal wording for a cohort.</a:t>
            </a:r>
          </a:p>
          <a:p>
            <a:r>
              <a:rPr lang="en-US" sz="1400" b="0" dirty="0"/>
              <a:t>Keywords: 3-6 MeSH terms not already in the title.</a:t>
            </a:r>
          </a:p>
          <a:p>
            <a:r>
              <a:rPr lang="en-US" sz="1400" b="0" dirty="0"/>
              <a:t>Everyone writes their own working title in the workshop that follows.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References: use a reference manager and check every citation. Never cite a reference an AI suggested without reading it.</a:t>
            </a:r>
          </a:p>
          <a:p>
            <a:r>
              <a:rPr lang="en-US" sz="1400" b="0" dirty="0"/>
              <a:t>Checklist: fill it in while you write.</a:t>
            </a:r>
          </a:p>
          <a:p>
            <a:r>
              <a:rPr lang="en-US" sz="1400" b="0" dirty="0"/>
              <a:t>Final read: every number in the text against the tables. Most errors in both papers needed only a careful co-author.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Manuscript workshop 2 (20:05-20:30).</a:t>
            </a:r>
          </a:p>
          <a:p>
            <a:r>
              <a:rPr lang="en-US" sz="1400" b="0" dirty="0"/>
              <a:t>Part 1: improve last week's class Q1 Results live, using the reviewer checklist. Part 2: each participant checks their own draft and writes the working title.</a:t>
            </a:r>
          </a:p>
          <a:p>
            <a:r>
              <a:rPr lang="en-US" sz="1400" b="0" dirty="0"/>
              <a:t>Instructions: s8_exercises Part B. Model text: s8_solutions Part B.</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Workshop part 1 (20:05-20:22). Open last week's class draft and type into it. Call each phase.</a:t>
            </a:r>
          </a:p>
          <a:p>
            <a:r>
              <a:rPr lang="en-US" sz="1400" b="0" dirty="0"/>
              <a:t>Prompts: 'Does every percentage have a denominator?' 'Can Table 1 be read without the text?' 'Is any sentence explaining rather than reporting?'</a:t>
            </a:r>
          </a:p>
          <a:p>
            <a:r>
              <a:rPr lang="en-US" sz="1400" b="0" dirty="0"/>
              <a:t>Send the improved draft as a PDF after the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Workshop part 2 (20:22-20:30). Individual.</a:t>
            </a:r>
          </a:p>
          <a:p>
            <a:r>
              <a:rPr lang="en-US" sz="1400" b="0" dirty="0"/>
              <a:t>Post in the chat: Q2, AKI may also cause fluid accumulation. Q3, ventilator-free days count death as zero. Q4, give both complete-case and imputed estimates. Q5, survivors only.</a:t>
            </a:r>
          </a:p>
          <a:p>
            <a:r>
              <a:rPr lang="en-US" sz="1400" b="0" dirty="0"/>
              <a:t>Remind: the draft goes by email to the reviewer and the instructor (myluong1710@gmail.com) by 23:59 tomorrow, Sunday 20 December.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8.2 (20:30-20:50). About 2 minutes per slide, a 3-minute demo and a 2-minute check.</a:t>
            </a:r>
          </a:p>
          <a:p>
            <a:r>
              <a:rPr lang="en-US" sz="1400" b="0" dirty="0"/>
              <a:t>Preprints, licences, acceptance and rejection are in the extra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One reporting guideline per design, all free on the EQUATOR Network. Many journals require the checklist with page numbers.</a:t>
            </a:r>
          </a:p>
          <a:p>
            <a:r>
              <a:rPr lang="en-US" sz="1400" b="0" dirty="0"/>
              <a:t>Neither paper names its guideline.</a:t>
            </a:r>
          </a:p>
          <a:p>
            <a:r>
              <a:rPr lang="en-US" sz="1400" b="0" dirty="0"/>
              <a:t>Poll: which guideline fits your proposal? Expected: mostly STROBE.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Choose the journal first: its Guide for Authors sets the rules.</a:t>
            </a:r>
          </a:p>
          <a:p>
            <a:r>
              <a:rPr lang="en-US" sz="1400" b="0" dirty="0"/>
              <a:t>Trust: indexed in MEDLINE, DOAJ, Scopus or Web of Science. Cost: the article fee and waivers.</a:t>
            </a:r>
          </a:p>
          <a:p>
            <a:r>
              <a:rPr lang="en-US" sz="1400" b="0" dirty="0"/>
              <a:t>Paper 1 took 7 weeks to acceptance, Paper 2 7 months.</a:t>
            </a:r>
          </a:p>
          <a:p>
            <a:r>
              <a:rPr lang="en-US" sz="1400" b="0" dirty="0"/>
              <a:t>Ask: name one journal your unit reads.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Predatory journals take fees without real peer review or indexing.</a:t>
            </a:r>
          </a:p>
          <a:p>
            <a:r>
              <a:rPr lang="en-US" sz="1400" b="0" dirty="0"/>
              <a:t>Walk the five red flags on the invented e-mail. Checks: Think.Check.Submit, DOAJ, the NLM Catalog, the hospital librarian.</a:t>
            </a:r>
          </a:p>
          <a:p>
            <a:r>
              <a:rPr lang="en-US" sz="1400" b="0" dirty="0"/>
              <a:t>Poll: did you get an e-mail like this last month?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Demo (20:36-20:39). Script and offline fallback: s8_demo.md.</a:t>
            </a:r>
          </a:p>
          <a:p>
            <a:r>
              <a:rPr lang="en-US" sz="1400" b="0" dirty="0"/>
              <a:t>EQUATOR: CONSORT, then STROBE. DOAJ, then the NLM Catalog ('currently indexed in MEDLINE'). End on Think.Check.Submit. Paste the four addresses in the chat.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Journals check the package before any scientific review. Missing items send the paper back.</a:t>
            </a:r>
          </a:p>
          <a:p>
            <a:r>
              <a:rPr lang="en-US" sz="1400" b="0" dirty="0"/>
              <a:t>ORCID iD: free, register at orcid.org.</a:t>
            </a:r>
          </a:p>
          <a:p>
            <a:r>
              <a:rPr lang="en-US" sz="1400" b="0" dirty="0"/>
              <a:t>Paper 1 has a complete declarations block. Template: Cover_Letter_Template.</a:t>
            </a:r>
          </a:p>
          <a:p>
            <a:r>
              <a:rPr lang="en-US" sz="1400" b="0" dirty="0"/>
              <a:t>Ask: who already has an ORCID iD?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Submit, editor screen (desk rejection is common), 2 or 3 reviewers, decision, revision, acceptance.</a:t>
            </a:r>
          </a:p>
          <a:p>
            <a:r>
              <a:rPr lang="en-US" sz="1400" b="0" dirty="0"/>
              <a:t>One journal at a time. After rejection, improve the paper and submit elsewhere.</a:t>
            </a:r>
          </a:p>
          <a:p>
            <a:r>
              <a:rPr lang="en-US" sz="1400" b="0" dirty="0"/>
              <a:t>Ask: a reviewer is wrong. What do you do? Expected: thank, explain with evidence, clarify the text.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response letter is a table: comment, response, and where the paper changed.</a:t>
            </a:r>
          </a:p>
          <a:p>
            <a:r>
              <a:rPr lang="en-US" sz="1400" b="0" dirty="0"/>
              <a:t>The three rows: accept, clarify, and a polite rebuttal for data never collected.</a:t>
            </a:r>
          </a:p>
          <a:p>
            <a:r>
              <a:rPr lang="en-US" sz="1400" b="0" dirty="0"/>
              <a:t>Common mistakes: 'done' with no detail, changes without a location.</a:t>
            </a:r>
          </a:p>
          <a:p>
            <a:r>
              <a:rPr lang="en-US" sz="1400" b="0" dirty="0"/>
              <a:t>Participants use Response_to_Reviewers_Template after their peer review.</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Check (20:48-20:50). One true/false poll each.</a:t>
            </a:r>
          </a:p>
          <a:p>
            <a:r>
              <a:rPr lang="en-US" sz="1400" b="0" dirty="0"/>
              <a:t>Statement 1 is 'often true'. Statement 3: a preprint is posted before peer review.</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Break (20:50-21:05). Say: we restart at 21:05 with 8.3, then presentations and closing. Open Paper 1, Paper 2 and Part D of the exercise sheet.</a:t>
            </a:r>
          </a:p>
          <a:p>
            <a:r>
              <a:rPr lang="en-US" sz="1400" b="0" dirty="0"/>
              <a:t>Check you can share each presenter's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Section 8.3 (21:05-21:30). Guide with model answers: appraisal_instructor_guide.md.</a:t>
            </a:r>
          </a:p>
          <a:p>
            <a:r>
              <a:rPr lang="en-US" sz="1400" b="0" dirty="0"/>
              <a:t>3 minutes set-up, 15 minutes appraisal with polls, 7 minutes on what each design may claim.</a:t>
            </a:r>
          </a:p>
          <a:p>
            <a:r>
              <a:rPr lang="en-US" sz="1400" b="0" dirty="0"/>
              <a:t>The reviewing skills return in the peer review of the Results sections, which uses the Results checklist in Peer_Review_Instructions.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Set-up (1 minute): same clinical question, two designs, the same 10 questions.</a:t>
            </a:r>
          </a:p>
          <a:p>
            <a:r>
              <a:rPr lang="en-US" sz="1400" b="0" dirty="0"/>
              <a:t>Each participant fills in their own answer grid (Part D): Yes, No or Can't tell, plus the page.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Read each question once. Do not give answers.</a:t>
            </a:r>
          </a:p>
          <a:p>
            <a:r>
              <a:rPr lang="en-US" sz="1400" b="0" dirty="0"/>
              <a:t>Q3 is external validity: would your patients be in this study? Q4: look at Table 1.</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Q6 and Q7 use Session 6. Q8 is the heart of today: are the words as strong as the design allows? Q9: one limitation the authors missed. Q10: a reason is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Appraisal (21:08-21:23), about 1.5 minutes per question: read, show the page, poll, one person gives the evidence.</a:t>
            </a:r>
          </a:p>
          <a:p>
            <a:r>
              <a:rPr lang="en-US" sz="1400" b="0" dirty="0"/>
              <a:t>Key prompts: Paper 1, who was not blinded and who prescribed the fluid? Paper 2, who is missing when patients must stay 3 days?</a:t>
            </a:r>
          </a:p>
          <a:p>
            <a:r>
              <a:rPr lang="en-US" sz="1400" b="0" dirty="0"/>
              <a:t>Questions 1-3, 6 and 10 are homework.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Plenary (21:23-21:30).</a:t>
            </a:r>
          </a:p>
          <a:p>
            <a:r>
              <a:rPr lang="en-US" sz="1400" b="0" dirty="0"/>
              <a:t>Paper 1: randomised, may say 'did not reduce', but 48 patients: no evidence of an effect, not evidence of none, and no 'trend'.</a:t>
            </a:r>
          </a:p>
          <a:p>
            <a:r>
              <a:rPr lang="en-US" sz="1400" b="0" dirty="0"/>
              <a:t>Paper 2: doctors decided the fluid, so 'is associated with', not 'impact'.</a:t>
            </a:r>
          </a:p>
          <a:p>
            <a:r>
              <a:rPr lang="en-US" sz="1400" b="0" dirty="0"/>
              <a:t>Poll: which paper is stronger for causation, which for real-world risk?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Reveal this table only after the class has answered.</a:t>
            </a:r>
          </a:p>
          <a:p>
            <a:r>
              <a:rPr lang="en-US" sz="1400" b="0" dirty="0"/>
              <a:t>Four messages: design sets the verb, a wide CI means 'we don't know yet', published is not the same as correct, name the reporting guideline.</a:t>
            </a:r>
          </a:p>
          <a:p>
            <a:r>
              <a:rPr lang="en-US" sz="1400" b="0" dirty="0"/>
              <a:t>Transition: 'Now some of your own proposals.'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Presentations (21:30-22:15): about five volunteers, 6 minutes plus 2 minutes feedback, then a 5-minute closing round.</a:t>
            </a:r>
          </a:p>
          <a:p>
            <a:r>
              <a:rPr lang="en-US" sz="1400" b="0" dirty="0"/>
              <a:t>Everyone submits slides and the written proposal by email to the instructor (myluong1710@gmail.com) before 19:30 today.</a:t>
            </a:r>
          </a:p>
          <a:p>
            <a:r>
              <a:rPr lang="en-US" sz="1400" b="0" dirty="0"/>
              <a:t>The co-instructor posts '2 min', '1 min' and 'Time' in the chat. Stop the talk at 6:30.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 written proposal is scored for everyone after the course. Criteria 12-16 score the presentation, for presenters only. Presenting does not lower the score.</a:t>
            </a:r>
          </a:p>
          <a:p>
            <a:r>
              <a:rPr lang="en-US" sz="1400" b="0" dirty="0"/>
              <a:t>Feedback in 2 minutes: two people give two strengths and one suggestion, then the instructor, then the presenter says thank you.</a:t>
            </a:r>
          </a:p>
          <a:p>
            <a:r>
              <a:rPr lang="en-US" sz="1400" b="0" dirty="0"/>
              <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Share each presenter's slides. Keep this slide up between talks.</a:t>
            </a:r>
          </a:p>
          <a:p>
            <a:r>
              <a:rPr lang="en-US" sz="1400" b="0" dirty="0"/>
              <a:t>Feedback: a genuine strength, the most important improvement, one question if time allows. Check slide 6: journal, guideline, a calibrated title, author roles.</a:t>
            </a:r>
          </a:p>
          <a:p>
            <a:r>
              <a:rPr lang="en-US" sz="1400" b="0" dirty="0"/>
              <a:t>If late, shorten the closing round, never the last talks. At 22:15 move to the closing.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slides: optional, for a fast class or self-study.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the key words of Session 8, for self-study and the post-course quiz.</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writing drill (homework). Worksheet: s8_exercises Part A.</a:t>
            </a:r>
          </a:p>
          <a:p>
            <a:r>
              <a:rPr lang="en-US" sz="1400" b="0" dirty="0"/>
              <a:t>Model rewrite of Paper 1's 'trend': 'The point estimate favoured the restrictive strategy, but the 95% CI was wide (-15.2 to 41.6 ml/kg) and included no effect.'</a:t>
            </a:r>
          </a:p>
          <a:p>
            <a:r>
              <a:rPr lang="en-US" sz="1400" b="0" dirty="0"/>
              <a:t>Paper 2's title: 'association', not 'impact'.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A preprint is posted before peer review: say so. Gold open access usually has a fee, green means a repository copy. Paper 2 is CC BY, Paper 1 CC BY-NC-ND.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Read proofs as carefully as the data: Paper 1 prints its protocol paragraph twice. Share as the licence allows. Correct errors openly.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Rejection is normal. Desk rejection: re-target. After review: fix what the reviewers found before resubmitting. Never submit to two journals at once.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A conference abstract has real numbers and CIs, never 'results will be presented'. A poster is a billboard: one message, one figure, readable from 2 metres. Template: Conference_Abstract_Template.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one-slide summary of Sessions 7-8 for self-study.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Closing 22:15-22:30. Keep it brisk. Thank the presenters and everyone who submitted.</a:t>
            </a:r>
          </a:p>
          <a:p>
            <a:r>
              <a:rPr lang="en-US" sz="1400" b="0" dirty="0"/>
              <a:t>Paste the links to the post-course quiz and the evaluation form in the chat.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Same Google Form as Session 1. The full name matches the two attempts. Participants see no score.</a:t>
            </a:r>
          </a:p>
          <a:p>
            <a:r>
              <a:rPr lang="en-US" sz="1400" b="0" dirty="0"/>
              <a:t>Timing: 8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Ask two or three people: what is your next step with your proposal?</a:t>
            </a:r>
          </a:p>
          <a:p>
            <a:r>
              <a:rPr lang="en-US" sz="1400" b="0" dirty="0"/>
              <a:t>Timing: 1 minute.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Anonymous form, link in the chat. The pace question matters most.</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Each draft is reviewed once. Reviewers were assigned at random and announced in Session 7.</a:t>
            </a:r>
          </a:p>
          <a:p>
            <a:r>
              <a:rPr lang="en-US" sz="1400" b="0" dirty="0"/>
              <a:t>Submissions go by email to myluong1710@gmail.com. Results draft due 23:59 on Sunday 20 December (Vietnam time). Review report due Wednesday 30 December. Revised Results section and response to reviewers due Saturday 9 January 2027.</a:t>
            </a:r>
          </a:p>
          <a:p>
            <a:r>
              <a:rPr lang="en-US" sz="1400" b="0" dirty="0"/>
              <a:t>Files: Peer_Review_Instructions and Response_to_Reviewers_Template.</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Presenting is not required.</a:t>
            </a:r>
          </a:p>
          <a:p>
            <a:r>
              <a:rPr lang="en-US" sz="1400" b="0" dirty="0"/>
              <a:t>Post the trainers' contact details in the chat.</a:t>
            </a:r>
          </a:p>
          <a:p>
            <a:r>
              <a:rPr lang="en-US" sz="1400" b="0" dirty="0"/>
              <a:t>Timing: 2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Thank the leadership, organisers and participants. If everyone agrees, take a screenshot with cameras 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Leave on screen while people leave the meeting.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 Id="rId4" Type="http://schemas.openxmlformats.org/officeDocument/2006/relationships/image" Target="../media/image2.pn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 Id="rId4" Type="http://schemas.openxmlformats.org/officeDocument/2006/relationships/image" Target="../media/image3.pn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 Id="rId4" Type="http://schemas.openxmlformats.org/officeDocument/2006/relationships/image" Target="../media/image4.pn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 Id="rId4" Type="http://schemas.openxmlformats.org/officeDocument/2006/relationships/image" Target="../media/image5.pn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 Id="rId3" Type="http://schemas.openxmlformats.org/officeDocument/2006/relationships/image" Target="../media/image1.jpg"/>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 Id="rId3" Type="http://schemas.openxmlformats.org/officeDocument/2006/relationships/image" Target="../media/image1.jpg"/>
</Relationships>
</file>

<file path=ppt/slides/_rels/slide5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 Id="rId3" Type="http://schemas.openxmlformats.org/officeDocument/2006/relationships/image" Target="../media/image1.jpg"/>
</Relationships>
</file>

<file path=ppt/slides/_rels/slide5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 Id="rId3" Type="http://schemas.openxmlformats.org/officeDocument/2006/relationships/image" Target="../media/image1.jpg"/>
</Relationships>
</file>

<file path=ppt/slides/_rels/slide5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 Id="rId3" Type="http://schemas.openxmlformats.org/officeDocument/2006/relationships/image" Target="../media/image1.jpg"/>
</Relationships>
</file>

<file path=ppt/slides/_rels/slide5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5.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2600" b="1" dirty="0">
                <a:solidFill>
                  <a:srgbClr val="0D7377"/>
                </a:solidFill>
                <a:latin typeface="Arial"/>
                <a:cs typeface="Arial"/>
              </a:rPr>
              <a:t>Session 8 · Publish: polish your Results, get it out, present</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Week 8 · Saturday, 19:30-22:30 (online)</a:t>
            </a:r>
          </a:p>
          <a:p>
            <a:pPr>
              <a:buNone/>
            </a:pPr>
            <a:endParaRPr sz="800"/>
          </a:p>
          <a:p>
            <a:pPr marL="274320" indent="-274320" algn="l">
              <a:spcBef>
                <a:spcPts val="440"/>
              </a:spcBef>
              <a:buFont typeface="Arial"/>
              <a:buChar char="•"/>
            </a:pPr>
            <a:r>
              <a:rPr lang="en-US" sz="1900" dirty="0">
                <a:solidFill>
                  <a:srgbClr val="000000"/>
                </a:solidFill>
                <a:latin typeface="Arial"/>
                <a:cs typeface="Arial"/>
              </a:rPr>
              <a:t>19:30  Recap: Session 7</a:t>
            </a:r>
          </a:p>
          <a:p>
            <a:pPr marL="274320" indent="-274320" algn="l">
              <a:spcBef>
                <a:spcPts val="440"/>
              </a:spcBef>
              <a:buFont typeface="Arial"/>
              <a:buChar char="•"/>
            </a:pPr>
            <a:r>
              <a:rPr lang="en-US" sz="1900" dirty="0">
                <a:solidFill>
                  <a:srgbClr val="000000"/>
                </a:solidFill>
                <a:latin typeface="Arial"/>
                <a:cs typeface="Arial"/>
              </a:rPr>
              <a:t>19:35  8.1  Writing the paper (II): Introduction, Discussion, abstract, title</a:t>
            </a:r>
          </a:p>
          <a:p>
            <a:pPr marL="274320" indent="-274320" algn="l">
              <a:spcBef>
                <a:spcPts val="440"/>
              </a:spcBef>
              <a:buFont typeface="Arial"/>
              <a:buChar char="•"/>
            </a:pPr>
            <a:r>
              <a:rPr lang="en-US" sz="1900" dirty="0">
                <a:solidFill>
                  <a:srgbClr val="000000"/>
                </a:solidFill>
                <a:latin typeface="Arial"/>
                <a:cs typeface="Arial"/>
              </a:rPr>
              <a:t>20:05  Manuscript workshop 2: improve your Results section</a:t>
            </a:r>
          </a:p>
          <a:p>
            <a:pPr marL="274320" indent="-274320" algn="l">
              <a:spcBef>
                <a:spcPts val="440"/>
              </a:spcBef>
              <a:buFont typeface="Arial"/>
              <a:buChar char="•"/>
            </a:pPr>
            <a:r>
              <a:rPr lang="en-US" sz="1900" dirty="0">
                <a:solidFill>
                  <a:srgbClr val="000000"/>
                </a:solidFill>
                <a:latin typeface="Arial"/>
                <a:cs typeface="Arial"/>
              </a:rPr>
              <a:t>20:30  8.2  Getting published: from checklist to reviewers</a:t>
            </a:r>
          </a:p>
          <a:p>
            <a:pPr marL="274320" indent="-274320" algn="l">
              <a:spcBef>
                <a:spcPts val="440"/>
              </a:spcBef>
              <a:buFont typeface="Arial"/>
              <a:buChar char="•"/>
            </a:pPr>
            <a:r>
              <a:rPr lang="en-US" sz="1900" dirty="0">
                <a:solidFill>
                  <a:srgbClr val="000000"/>
                </a:solidFill>
                <a:latin typeface="Arial"/>
                <a:cs typeface="Arial"/>
              </a:rPr>
              <a:t>21:05  8.3  Be the reviewer: Papers 1 and 2, as a whole class</a:t>
            </a:r>
          </a:p>
          <a:p>
            <a:pPr marL="274320" indent="-274320" algn="l">
              <a:spcBef>
                <a:spcPts val="440"/>
              </a:spcBef>
              <a:buFont typeface="Arial"/>
              <a:buChar char="•"/>
            </a:pPr>
            <a:r>
              <a:rPr lang="en-US" sz="1900" dirty="0">
                <a:solidFill>
                  <a:srgbClr val="000000"/>
                </a:solidFill>
                <a:latin typeface="Arial"/>
                <a:cs typeface="Arial"/>
              </a:rPr>
              <a:t>21:30  Proposal presentations (about 5 volunteers), 22:15 closing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Recap: three questions from Session 7</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Who consents for a sedated patient in septic shock?</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Which STROBE item asks for crude and adjusted estimates?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Where does 'this may be because sicker patients got more fluid' belong?</a:t>
            </a:r>
          </a:p>
        </p:txBody>
      </p:sp>
      <p:sp>
        <p:nvSpPr>
          <p:cNvPr id="52" name="Side"/>
          <p:cNvSpPr/>
          <p:nvPr/>
        </p:nvSpPr>
        <p:spPr>
          <a:xfrm>
            <a:off x="7423760" y="1720000"/>
            <a:ext cx="4311040" cy="16917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a:t>
            </a:r>
          </a:p>
          <a:p>
            <a:pPr marL="0" indent="0" algn="ctr">
              <a:lnSpc>
                <a:spcPct val="104000"/>
              </a:lnSpc>
              <a:spcBef>
                <a:spcPts val="300"/>
              </a:spcBef>
              <a:buNone/>
            </a:pPr>
            <a:r>
              <a:rPr lang="en-US" sz="1500" dirty="0">
                <a:solidFill>
                  <a:srgbClr val="000000"/>
                </a:solidFill>
                <a:latin typeface="Arial"/>
                <a:cs typeface="Arial"/>
              </a:rPr>
              <a:t>The legal representative (or deferred consent, if the committee approved it)</a:t>
            </a:r>
          </a:p>
          <a:p>
            <a:pPr marL="0" indent="0" algn="ctr">
              <a:lnSpc>
                <a:spcPct val="104000"/>
              </a:lnSpc>
              <a:spcBef>
                <a:spcPts val="300"/>
              </a:spcBef>
              <a:buNone/>
            </a:pPr>
            <a:r>
              <a:rPr lang="en-US" sz="1500" dirty="0">
                <a:solidFill>
                  <a:srgbClr val="000000"/>
                </a:solidFill>
                <a:latin typeface="Arial"/>
                <a:cs typeface="Arial"/>
              </a:rPr>
              <a:t>Item 16 (main results)</a:t>
            </a:r>
          </a:p>
          <a:p>
            <a:pPr marL="0" indent="0" algn="ctr">
              <a:lnSpc>
                <a:spcPct val="104000"/>
              </a:lnSpc>
              <a:spcBef>
                <a:spcPts val="300"/>
              </a:spcBef>
              <a:buNone/>
            </a:pPr>
            <a:r>
              <a:rPr lang="en-US" sz="1500" dirty="0">
                <a:solidFill>
                  <a:srgbClr val="000000"/>
                </a:solidFill>
                <a:latin typeface="Arial"/>
                <a:cs typeface="Arial"/>
              </a:rPr>
              <a:t>Discussion, not Results</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Everyone back in writing mode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8.1  |  30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Writing the paper (II): Introduction, Discussion, abstract and title</a:t>
            </a:r>
          </a:p>
          <a:p>
            <a:pPr marL="0" indent="0" algn="ctr">
              <a:spcBef>
                <a:spcPts val="1200"/>
              </a:spcBef>
              <a:buNone/>
            </a:pPr>
            <a:r>
              <a:rPr lang="en-US" sz="1900" i="1" dirty="0">
                <a:solidFill>
                  <a:srgbClr val="595959"/>
                </a:solidFill>
                <a:latin typeface="Arial"/>
                <a:cs typeface="Arial"/>
              </a:rPr>
              <a:t>What each part does, a worked example on Q1, a short check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Introduction: a funnel in three paragraphs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Known, unknown, aim. The aim matches the primary outcome.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Worked example: the Introduction funnel for FLUID-ICU (Q1)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4215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1  Known</a:t>
            </a:r>
          </a:p>
        </p:txBody>
      </p:sp>
      <p:sp>
        <p:nvSpPr>
          <p:cNvPr id="71" name="CardBody"/>
          <p:cNvSpPr/>
          <p:nvPr/>
        </p:nvSpPr>
        <p:spPr>
          <a:xfrm>
            <a:off x="457200" y="2382152"/>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Fluids save lives early in sepsis</a:t>
            </a:r>
          </a:p>
          <a:p>
            <a:pPr marL="0" indent="0" algn="ctr">
              <a:lnSpc>
                <a:spcPct val="104000"/>
              </a:lnSpc>
              <a:spcBef>
                <a:spcPts val="400"/>
              </a:spcBef>
              <a:buNone/>
            </a:pPr>
            <a:r>
              <a:rPr lang="en-US" sz="1750" dirty="0">
                <a:solidFill>
                  <a:srgbClr val="000000"/>
                </a:solidFill>
                <a:latin typeface="Arial"/>
                <a:cs typeface="Arial"/>
              </a:rPr>
              <a:t>A positive balance is linked to death (Paper 2 and other cohorts)</a:t>
            </a:r>
          </a:p>
        </p:txBody>
      </p:sp>
      <p:sp>
        <p:nvSpPr>
          <p:cNvPr id="72" name="CardHead"/>
          <p:cNvSpPr/>
          <p:nvPr/>
        </p:nvSpPr>
        <p:spPr>
          <a:xfrm>
            <a:off x="4283066" y="174215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2  Not known</a:t>
            </a:r>
          </a:p>
        </p:txBody>
      </p:sp>
      <p:sp>
        <p:nvSpPr>
          <p:cNvPr id="73" name="CardBody"/>
          <p:cNvSpPr/>
          <p:nvPr/>
        </p:nvSpPr>
        <p:spPr>
          <a:xfrm>
            <a:off x="4283066" y="2382152"/>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Sicker patients get more fluid</a:t>
            </a:r>
          </a:p>
          <a:p>
            <a:pPr marL="0" indent="0" algn="ctr">
              <a:lnSpc>
                <a:spcPct val="104000"/>
              </a:lnSpc>
              <a:spcBef>
                <a:spcPts val="400"/>
              </a:spcBef>
              <a:buNone/>
            </a:pPr>
            <a:r>
              <a:rPr lang="en-US" sz="1750" dirty="0">
                <a:solidFill>
                  <a:srgbClr val="000000"/>
                </a:solidFill>
                <a:latin typeface="Arial"/>
                <a:cs typeface="Arial"/>
              </a:rPr>
              <a:t>Unclear whether the link remains after adjusting for severity</a:t>
            </a:r>
          </a:p>
        </p:txBody>
      </p:sp>
      <p:sp>
        <p:nvSpPr>
          <p:cNvPr id="74" name="CardHead"/>
          <p:cNvSpPr/>
          <p:nvPr/>
        </p:nvSpPr>
        <p:spPr>
          <a:xfrm>
            <a:off x="8108932" y="1742152"/>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3  Aim</a:t>
            </a:r>
          </a:p>
        </p:txBody>
      </p:sp>
      <p:sp>
        <p:nvSpPr>
          <p:cNvPr id="75" name="CardBody"/>
          <p:cNvSpPr/>
          <p:nvPr/>
        </p:nvSpPr>
        <p:spPr>
          <a:xfrm>
            <a:off x="8108932" y="2382152"/>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We examined whether a positive balance by day 3 is associated with 28-day mortality, after adjustment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Three paragraphs, about 350 words. The aim uses 'associated'.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known, not known or aim?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2 min</a:t>
            </a:r>
          </a:p>
        </p:txBody>
      </p:sp>
      <p:sp>
        <p:nvSpPr>
          <p:cNvPr id="51" name="Steps"/>
          <p:cNvSpPr txBox="1"/>
          <p:nvPr/>
        </p:nvSpPr>
        <p:spPr>
          <a:xfrm>
            <a:off x="457200" y="1720000"/>
            <a:ext cx="6766560" cy="423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'Early fluids are a core part of sepsis care.'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'Sicker patients receive more fluid, so it is unclear whether the link with death remains after adjustment.'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'We examined whether a positive balance by day 3 was associated with 28-day mortality.'</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'In our cohort, 35.9% of patients with a positive balance died.'</a:t>
            </a:r>
          </a:p>
        </p:txBody>
      </p:sp>
      <p:sp>
        <p:nvSpPr>
          <p:cNvPr id="52" name="Side"/>
          <p:cNvSpPr/>
          <p:nvPr/>
        </p:nvSpPr>
        <p:spPr>
          <a:xfrm>
            <a:off x="7423760" y="1720000"/>
            <a:ext cx="4311040" cy="19680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a:t>
            </a:r>
          </a:p>
          <a:p>
            <a:pPr marL="0" indent="0" algn="ctr">
              <a:lnSpc>
                <a:spcPct val="104000"/>
              </a:lnSpc>
              <a:spcBef>
                <a:spcPts val="300"/>
              </a:spcBef>
              <a:buNone/>
            </a:pPr>
            <a:r>
              <a:rPr lang="en-US" sz="1500" dirty="0">
                <a:solidFill>
                  <a:srgbClr val="000000"/>
                </a:solidFill>
                <a:latin typeface="Arial"/>
                <a:cs typeface="Arial"/>
              </a:rPr>
              <a:t>Paragraph 1: known</a:t>
            </a:r>
          </a:p>
          <a:p>
            <a:pPr marL="0" indent="0" algn="ctr">
              <a:lnSpc>
                <a:spcPct val="104000"/>
              </a:lnSpc>
              <a:spcBef>
                <a:spcPts val="300"/>
              </a:spcBef>
              <a:buNone/>
            </a:pPr>
            <a:r>
              <a:rPr lang="en-US" sz="1500" dirty="0">
                <a:solidFill>
                  <a:srgbClr val="000000"/>
                </a:solidFill>
                <a:latin typeface="Arial"/>
                <a:cs typeface="Arial"/>
              </a:rPr>
              <a:t>Paragraph 2: not known</a:t>
            </a:r>
          </a:p>
          <a:p>
            <a:pPr marL="0" indent="0" algn="ctr">
              <a:lnSpc>
                <a:spcPct val="104000"/>
              </a:lnSpc>
              <a:spcBef>
                <a:spcPts val="300"/>
              </a:spcBef>
              <a:buNone/>
            </a:pPr>
            <a:r>
              <a:rPr lang="en-US" sz="1500" dirty="0">
                <a:solidFill>
                  <a:srgbClr val="000000"/>
                </a:solidFill>
                <a:latin typeface="Arial"/>
                <a:cs typeface="Arial"/>
              </a:rPr>
              <a:t>Paragraph 3: aim</a:t>
            </a:r>
          </a:p>
          <a:p>
            <a:pPr marL="0" indent="0" algn="ctr">
              <a:lnSpc>
                <a:spcPct val="104000"/>
              </a:lnSpc>
              <a:spcBef>
                <a:spcPts val="300"/>
              </a:spcBef>
              <a:buNone/>
            </a:pPr>
            <a:r>
              <a:rPr lang="en-US" sz="1500" dirty="0">
                <a:solidFill>
                  <a:srgbClr val="000000"/>
                </a:solidFill>
                <a:latin typeface="Arial"/>
                <a:cs typeface="Arial"/>
              </a:rPr>
              <a:t>Not in the Introduction: your own results go in the Results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Discussion: six moves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19296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1 Answer</a:t>
            </a:r>
          </a:p>
        </p:txBody>
      </p:sp>
      <p:sp>
        <p:nvSpPr>
          <p:cNvPr id="81" name="StepText"/>
          <p:cNvSpPr/>
          <p:nvPr/>
        </p:nvSpPr>
        <p:spPr>
          <a:xfrm>
            <a:off x="497200" y="2140000"/>
            <a:ext cx="1789600" cy="1828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First sentence answers the question</a:t>
            </a:r>
          </a:p>
          <a:p>
            <a:pPr marL="0" indent="0" algn="ctr">
              <a:lnSpc>
                <a:spcPct val="104000"/>
              </a:lnSpc>
              <a:spcBef>
                <a:spcPts val="200"/>
              </a:spcBef>
              <a:buNone/>
            </a:pPr>
            <a:r>
              <a:rPr lang="en-US" sz="1300" dirty="0">
                <a:solidFill>
                  <a:srgbClr val="000000"/>
                </a:solidFill>
                <a:latin typeface="Arial"/>
                <a:cs typeface="Arial"/>
              </a:rPr>
              <a:t>Paper 1, p.8</a:t>
            </a:r>
          </a:p>
        </p:txBody>
      </p:sp>
      <p:sp>
        <p:nvSpPr>
          <p:cNvPr id="82" name="Step"/>
          <p:cNvSpPr/>
          <p:nvPr/>
        </p:nvSpPr>
        <p:spPr>
          <a:xfrm>
            <a:off x="2326800" y="1220000"/>
            <a:ext cx="19296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2 Compare</a:t>
            </a:r>
          </a:p>
        </p:txBody>
      </p:sp>
      <p:sp>
        <p:nvSpPr>
          <p:cNvPr id="83" name="StepText"/>
          <p:cNvSpPr/>
          <p:nvPr/>
        </p:nvSpPr>
        <p:spPr>
          <a:xfrm>
            <a:off x="2366800" y="2140000"/>
            <a:ext cx="1789600" cy="1828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With other studies, and why they differ</a:t>
            </a:r>
          </a:p>
          <a:p>
            <a:pPr marL="0" indent="0" algn="ctr">
              <a:lnSpc>
                <a:spcPct val="104000"/>
              </a:lnSpc>
              <a:spcBef>
                <a:spcPts val="200"/>
              </a:spcBef>
              <a:buNone/>
            </a:pPr>
            <a:r>
              <a:rPr lang="en-US" sz="1300" dirty="0">
                <a:solidFill>
                  <a:srgbClr val="000000"/>
                </a:solidFill>
                <a:latin typeface="Arial"/>
                <a:cs typeface="Arial"/>
              </a:rPr>
              <a:t>Paper 1: vs CLASSIC, POINCARE-2</a:t>
            </a:r>
          </a:p>
        </p:txBody>
      </p:sp>
      <p:sp>
        <p:nvSpPr>
          <p:cNvPr id="84" name="Step"/>
          <p:cNvSpPr/>
          <p:nvPr/>
        </p:nvSpPr>
        <p:spPr>
          <a:xfrm>
            <a:off x="4196400" y="1220000"/>
            <a:ext cx="19296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3 Explain</a:t>
            </a:r>
          </a:p>
        </p:txBody>
      </p:sp>
      <p:sp>
        <p:nvSpPr>
          <p:cNvPr id="85" name="StepText"/>
          <p:cNvSpPr/>
          <p:nvPr/>
        </p:nvSpPr>
        <p:spPr>
          <a:xfrm>
            <a:off x="4236400" y="2140000"/>
            <a:ext cx="1789600" cy="1828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Mechanism, briefly</a:t>
            </a:r>
          </a:p>
          <a:p>
            <a:pPr marL="0" indent="0" algn="ctr">
              <a:lnSpc>
                <a:spcPct val="104000"/>
              </a:lnSpc>
              <a:spcBef>
                <a:spcPts val="200"/>
              </a:spcBef>
              <a:buNone/>
            </a:pPr>
            <a:r>
              <a:rPr lang="en-US" sz="1300" dirty="0">
                <a:solidFill>
                  <a:srgbClr val="000000"/>
                </a:solidFill>
                <a:latin typeface="Arial"/>
                <a:cs typeface="Arial"/>
              </a:rPr>
              <a:t>Paper 2: four-phase fluid model</a:t>
            </a:r>
          </a:p>
        </p:txBody>
      </p:sp>
      <p:sp>
        <p:nvSpPr>
          <p:cNvPr id="86" name="Step"/>
          <p:cNvSpPr/>
          <p:nvPr/>
        </p:nvSpPr>
        <p:spPr>
          <a:xfrm>
            <a:off x="6066000" y="1220000"/>
            <a:ext cx="19296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4 Limits</a:t>
            </a:r>
          </a:p>
        </p:txBody>
      </p:sp>
      <p:sp>
        <p:nvSpPr>
          <p:cNvPr id="87" name="StepText"/>
          <p:cNvSpPr/>
          <p:nvPr/>
        </p:nvSpPr>
        <p:spPr>
          <a:xfrm>
            <a:off x="6106000" y="2140000"/>
            <a:ext cx="1789600" cy="1828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Specific: mechanism, direction, fix</a:t>
            </a:r>
          </a:p>
          <a:p>
            <a:pPr marL="0" indent="0" algn="ctr">
              <a:lnSpc>
                <a:spcPct val="104000"/>
              </a:lnSpc>
              <a:spcBef>
                <a:spcPts val="200"/>
              </a:spcBef>
              <a:buNone/>
            </a:pPr>
            <a:r>
              <a:rPr lang="en-US" sz="1300" dirty="0">
                <a:solidFill>
                  <a:srgbClr val="000000"/>
                </a:solidFill>
                <a:latin typeface="Arial"/>
                <a:cs typeface="Arial"/>
              </a:rPr>
              <a:t>Paper 1: control-group contamination</a:t>
            </a:r>
          </a:p>
        </p:txBody>
      </p:sp>
      <p:sp>
        <p:nvSpPr>
          <p:cNvPr id="88" name="Step"/>
          <p:cNvSpPr/>
          <p:nvPr/>
        </p:nvSpPr>
        <p:spPr>
          <a:xfrm>
            <a:off x="7935600" y="1220000"/>
            <a:ext cx="192960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5 Implications</a:t>
            </a:r>
          </a:p>
        </p:txBody>
      </p:sp>
      <p:sp>
        <p:nvSpPr>
          <p:cNvPr id="89" name="StepText"/>
          <p:cNvSpPr/>
          <p:nvPr/>
        </p:nvSpPr>
        <p:spPr>
          <a:xfrm>
            <a:off x="7975600" y="2140000"/>
            <a:ext cx="1789600" cy="1828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For practice and research, labelled</a:t>
            </a:r>
          </a:p>
          <a:p>
            <a:pPr marL="0" indent="0" algn="ctr">
              <a:lnSpc>
                <a:spcPct val="104000"/>
              </a:lnSpc>
              <a:spcBef>
                <a:spcPts val="200"/>
              </a:spcBef>
              <a:buNone/>
            </a:pPr>
            <a:r>
              <a:rPr lang="en-US" sz="1300" dirty="0">
                <a:solidFill>
                  <a:srgbClr val="000000"/>
                </a:solidFill>
                <a:latin typeface="Arial"/>
                <a:cs typeface="Arial"/>
              </a:rPr>
              <a:t>Paper 1: 'would probably be advantageous' is speculation</a:t>
            </a:r>
          </a:p>
        </p:txBody>
      </p:sp>
      <p:sp>
        <p:nvSpPr>
          <p:cNvPr id="90" name="Step"/>
          <p:cNvSpPr/>
          <p:nvPr/>
        </p:nvSpPr>
        <p:spPr>
          <a:xfrm>
            <a:off x="9805200" y="1220000"/>
            <a:ext cx="1929600" cy="760000"/>
          </a:xfrm>
          <a:prstGeom prst="chevron">
            <a:avLst>
              <a:gd name="adj" fmla="val 28000"/>
            </a:avLst>
          </a:prstGeom>
          <a:solidFill>
            <a:srgbClr val="8A99A3"/>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6 Conclusion</a:t>
            </a:r>
          </a:p>
        </p:txBody>
      </p:sp>
      <p:sp>
        <p:nvSpPr>
          <p:cNvPr id="91" name="StepText"/>
          <p:cNvSpPr/>
          <p:nvPr/>
        </p:nvSpPr>
        <p:spPr>
          <a:xfrm>
            <a:off x="9845200" y="2140000"/>
            <a:ext cx="1789600" cy="1828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300" dirty="0">
                <a:solidFill>
                  <a:srgbClr val="000000"/>
                </a:solidFill>
                <a:latin typeface="Arial"/>
                <a:cs typeface="Arial"/>
              </a:rPr>
              <a:t>Same message as abstract and title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Answer first. Limitations with their direction. Conclusion = abstract = title.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Worked example: the Discussion for FLUID-ICU question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Six moves, one sentence each (simulated data).</a:t>
            </a:r>
          </a:p>
          <a:p>
            <a:pPr>
              <a:buNone/>
            </a:pPr>
            <a:endParaRPr sz="950"/>
          </a:p>
          <a:p>
            <a:pPr marL="274320" indent="-274320" algn="l">
              <a:lnSpc>
                <a:spcPct val="106000"/>
              </a:lnSpc>
              <a:spcBef>
                <a:spcPts val="560"/>
              </a:spcBef>
              <a:buFont typeface="Arial"/>
              <a:buChar char="•"/>
            </a:pPr>
            <a:r>
              <a:rPr lang="en-US" sz="1700" dirty="0">
                <a:solidFill>
                  <a:srgbClr val="000000"/>
                </a:solidFill>
                <a:latin typeface="Arial"/>
                <a:cs typeface="Arial"/>
              </a:rPr>
              <a:t>1 Answer: A positive balance by day 3 was associated with higher 28-day mortality (adjusted OR 1.62, 95% CI 1.02 to 2.59).</a:t>
            </a:r>
          </a:p>
          <a:p>
            <a:pPr marL="274320" indent="-274320" algn="l">
              <a:lnSpc>
                <a:spcPct val="106000"/>
              </a:lnSpc>
              <a:spcBef>
                <a:spcPts val="560"/>
              </a:spcBef>
              <a:buFont typeface="Arial"/>
              <a:buChar char="•"/>
            </a:pPr>
            <a:r>
              <a:rPr lang="en-US" sz="1700" dirty="0">
                <a:solidFill>
                  <a:srgbClr val="000000"/>
                </a:solidFill>
                <a:latin typeface="Arial"/>
                <a:cs typeface="Arial"/>
              </a:rPr>
              <a:t>2 Compare: This agrees with Paper 2 (day-2 HR 2.13), although our adjusted estimate is smaller.</a:t>
            </a:r>
          </a:p>
          <a:p>
            <a:pPr marL="274320" indent="-274320" algn="l">
              <a:lnSpc>
                <a:spcPct val="106000"/>
              </a:lnSpc>
              <a:spcBef>
                <a:spcPts val="560"/>
              </a:spcBef>
              <a:buFont typeface="Arial"/>
              <a:buChar char="•"/>
            </a:pPr>
            <a:r>
              <a:rPr lang="en-US" sz="1700" dirty="0">
                <a:solidFill>
                  <a:srgbClr val="000000"/>
                </a:solidFill>
                <a:latin typeface="Arial"/>
                <a:cs typeface="Arial"/>
              </a:rPr>
              <a:t>3 Explain: Most of the crude association (OR 2.49) reflected confounding by indication: sicker patients received more fluid.</a:t>
            </a:r>
          </a:p>
          <a:p>
            <a:pPr marL="274320" indent="-274320" algn="l">
              <a:lnSpc>
                <a:spcPct val="106000"/>
              </a:lnSpc>
              <a:spcBef>
                <a:spcPts val="560"/>
              </a:spcBef>
              <a:buFont typeface="Arial"/>
              <a:buChar char="•"/>
            </a:pPr>
            <a:r>
              <a:rPr lang="en-US" sz="1700" dirty="0">
                <a:solidFill>
                  <a:srgbClr val="000000"/>
                </a:solidFill>
                <a:latin typeface="Arial"/>
                <a:cs typeface="Arial"/>
              </a:rPr>
              <a:t>4 Limitations: Residual confounding and reverse causation may exaggerate the association. The CI of the adjusted Cox HR reached 1.00.</a:t>
            </a:r>
          </a:p>
          <a:p>
            <a:pPr marL="274320" indent="-274320" algn="l">
              <a:lnSpc>
                <a:spcPct val="106000"/>
              </a:lnSpc>
              <a:spcBef>
                <a:spcPts val="560"/>
              </a:spcBef>
              <a:buFont typeface="Arial"/>
              <a:buChar char="•"/>
            </a:pPr>
            <a:r>
              <a:rPr lang="en-US" sz="1700" dirty="0">
                <a:solidFill>
                  <a:srgbClr val="000000"/>
                </a:solidFill>
                <a:latin typeface="Arial"/>
                <a:cs typeface="Arial"/>
              </a:rPr>
              <a:t>5 Implications: These data do not justify restricting fluid. A randomised trial (like Paper 1) is needed.</a:t>
            </a:r>
          </a:p>
          <a:p>
            <a:pPr marL="274320" indent="-274320" algn="l">
              <a:lnSpc>
                <a:spcPct val="106000"/>
              </a:lnSpc>
              <a:spcBef>
                <a:spcPts val="560"/>
              </a:spcBef>
              <a:buFont typeface="Arial"/>
              <a:buChar char="•"/>
            </a:pPr>
            <a:r>
              <a:rPr lang="en-US" sz="1700" dirty="0">
                <a:solidFill>
                  <a:srgbClr val="000000"/>
                </a:solidFill>
                <a:latin typeface="Arial"/>
                <a:cs typeface="Arial"/>
              </a:rPr>
              <a:t>6 Conclusion: 'associated with', the same verb as the aim, abstract and title.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Why the odds ratio shrank: explain it in the Discussion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FLUID-ICU Q1 (simulated)</a:t>
            </a:r>
          </a:p>
          <a:p>
            <a:pPr marL="274320" indent="-274320" algn="l">
              <a:spcBef>
                <a:spcPts val="440"/>
              </a:spcBef>
              <a:buFont typeface="Arial"/>
              <a:buChar char="•"/>
            </a:pPr>
            <a:r>
              <a:rPr lang="en-US" sz="1450" dirty="0">
                <a:solidFill>
                  <a:srgbClr val="000000"/>
                </a:solidFill>
                <a:latin typeface="Arial"/>
                <a:cs typeface="Arial"/>
              </a:rPr>
              <a:t>Crude OR 2.49 (1.70 to 3.70)</a:t>
            </a:r>
          </a:p>
          <a:p>
            <a:pPr marL="274320" indent="-274320" algn="l">
              <a:spcBef>
                <a:spcPts val="440"/>
              </a:spcBef>
              <a:buFont typeface="Arial"/>
              <a:buChar char="•"/>
            </a:pPr>
            <a:r>
              <a:rPr lang="en-US" sz="1450" dirty="0">
                <a:solidFill>
                  <a:srgbClr val="000000"/>
                </a:solidFill>
                <a:latin typeface="Arial"/>
                <a:cs typeface="Arial"/>
              </a:rPr>
              <a:t>Adjusted OR 1.62 (1.02 to 2.59)</a:t>
            </a:r>
          </a:p>
          <a:p>
            <a:pPr marL="274320" indent="-274320" algn="l">
              <a:spcBef>
                <a:spcPts val="440"/>
              </a:spcBef>
              <a:buFont typeface="Arial"/>
              <a:buChar char="•"/>
            </a:pPr>
            <a:r>
              <a:rPr lang="en-US" sz="1450" dirty="0">
                <a:solidFill>
                  <a:srgbClr val="000000"/>
                </a:solidFill>
                <a:latin typeface="Arial"/>
                <a:cs typeface="Arial"/>
              </a:rPr>
              <a:t>Imputed OR 1.70 (1.09 to 2.64)</a:t>
            </a:r>
          </a:p>
          <a:p>
            <a:pPr marL="274320" indent="-274320" algn="l">
              <a:spcBef>
                <a:spcPts val="440"/>
              </a:spcBef>
              <a:buFont typeface="Arial"/>
              <a:buChar char="•"/>
            </a:pPr>
            <a:r>
              <a:rPr lang="en-US" sz="1450" dirty="0">
                <a:solidFill>
                  <a:srgbClr val="000000"/>
                </a:solidFill>
                <a:latin typeface="Arial"/>
                <a:cs typeface="Arial"/>
              </a:rPr>
              <a:t>Gap = confounding by indication</a:t>
            </a:r>
          </a:p>
        </p:txBody>
      </p:sp>
      <p:pic>
        <p:nvPicPr>
          <p:cNvPr id="25" name="Figure"/>
          <p:cNvPicPr>
            <a:picLocks noChangeAspect="1"/>
          </p:cNvPicPr>
          <p:nvPr/>
        </p:nvPicPr>
        <p:blipFill>
          <a:blip r:embed="rId4"/>
          <a:stretch>
            <a:fillRect/>
          </a:stretch>
        </p:blipFill>
        <p:spPr>
          <a:xfrm>
            <a:off x="4307200" y="1150000"/>
            <a:ext cx="6773668"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Report both, explain the gap. Keep the verb at 'associated'.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Calibrated language: match the verb to the design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Stronger claim = needs a stronger design</a:t>
            </a:r>
          </a:p>
        </p:txBody>
      </p:sp>
      <p:graphicFrame>
        <p:nvGraphicFramePr>
          <p:cNvPr id="30" name="Table"/>
          <p:cNvGraphicFramePr/>
          <p:nvPr/>
        </p:nvGraphicFramePr>
        <p:xfrm>
          <a:off x="457200" y="1897563"/>
          <a:ext cx="11277600" cy="2314560"/>
        </p:xfrm>
        <a:graphic>
          <a:graphicData uri="http://schemas.openxmlformats.org/drawingml/2006/table">
            <a:tbl>
              <a:tblPr firstRow="1" bandRow="1">
                <a:tableStyleId>{5C22544A-7EE6-4342-B048-85BDC9FD1C3A}</a:tableStyleId>
              </a:tblPr>
              <a:tblGrid>
                <a:gridCol w="6265333"/>
                <a:gridCol w="5012267"/>
              </a:tblGrid>
              <a:tr h="385760">
                <a:tc>
                  <a:txBody>
                    <a:bodyPr/>
                    <a:lstStyle/>
                    <a:p>
                      <a:pPr algn="l"/>
                      <a:r>
                        <a:rPr lang="en-US" sz="1800" b="1" dirty="0">
                          <a:solidFill>
                            <a:srgbClr val="FFFFFF"/>
                          </a:solidFill>
                          <a:latin typeface="Arial"/>
                          <a:cs typeface="Arial"/>
                        </a:rPr>
                        <a:t>Verb (strongest at the top)</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Needs at least</a:t>
                      </a:r>
                    </a:p>
                  </a:txBody>
                  <a:tcPr marL="73152" marR="73152" marT="45720" marB="45720" anchor="ctr">
                    <a:solidFill>
                      <a:srgbClr val="0D7377"/>
                    </a:solidFill>
                  </a:tcPr>
                </a:tc>
              </a:tr>
              <a:tr h="385760">
                <a:tc>
                  <a:txBody>
                    <a:bodyPr/>
                    <a:lstStyle/>
                    <a:p>
                      <a:pPr algn="l"/>
                      <a:r>
                        <a:rPr lang="en-US" sz="1800" b="1" dirty="0">
                          <a:solidFill>
                            <a:srgbClr val="FFFFFF"/>
                          </a:solidFill>
                          <a:latin typeface="Arial"/>
                          <a:cs typeface="Arial"/>
                        </a:rPr>
                        <a:t>'causes', 'prevents', 'proves'</a:t>
                      </a:r>
                    </a:p>
                  </a:txBody>
                  <a:tcPr marL="73152" marR="73152" marT="45720" marB="45720" anchor="ctr">
                    <a:solidFill>
                      <a:srgbClr val="04242F"/>
                    </a:solidFill>
                  </a:tcPr>
                </a:tc>
                <a:tc>
                  <a:txBody>
                    <a:bodyPr/>
                    <a:lstStyle/>
                    <a:p>
                      <a:pPr algn="l"/>
                      <a:r>
                        <a:rPr lang="en-US" sz="1800" dirty="0">
                          <a:solidFill>
                            <a:srgbClr val="000000"/>
                          </a:solidFill>
                          <a:latin typeface="Arial"/>
                          <a:cs typeface="Arial"/>
                        </a:rPr>
                        <a:t>Several large RCTs agree</a:t>
                      </a:r>
                    </a:p>
                  </a:txBody>
                  <a:tcPr marL="73152" marR="73152" marT="45720" marB="45720" anchor="ctr">
                    <a:solidFill>
                      <a:srgbClr val="FFFFFF"/>
                    </a:solidFill>
                  </a:tcPr>
                </a:tc>
              </a:tr>
              <a:tr h="385760">
                <a:tc>
                  <a:txBody>
                    <a:bodyPr/>
                    <a:lstStyle/>
                    <a:p>
                      <a:pPr algn="l"/>
                      <a:r>
                        <a:rPr lang="en-US" sz="1800" b="1" dirty="0">
                          <a:solidFill>
                            <a:srgbClr val="FFFFFF"/>
                          </a:solidFill>
                          <a:latin typeface="Arial"/>
                          <a:cs typeface="Arial"/>
                        </a:rPr>
                        <a:t>'reduced', 'increased', 'did not reduce'</a:t>
                      </a:r>
                    </a:p>
                  </a:txBody>
                  <a:tcPr marL="73152" marR="73152" marT="45720" marB="45720" anchor="ctr">
                    <a:solidFill>
                      <a:srgbClr val="0B376C"/>
                    </a:solidFill>
                  </a:tcPr>
                </a:tc>
                <a:tc>
                  <a:txBody>
                    <a:bodyPr/>
                    <a:lstStyle/>
                    <a:p>
                      <a:pPr algn="l"/>
                      <a:r>
                        <a:rPr lang="en-US" sz="1800" dirty="0">
                          <a:solidFill>
                            <a:srgbClr val="000000"/>
                          </a:solidFill>
                          <a:latin typeface="Arial"/>
                          <a:cs typeface="Arial"/>
                        </a:rPr>
                        <a:t>A randomised trial (Paper 1)</a:t>
                      </a:r>
                    </a:p>
                  </a:txBody>
                  <a:tcPr marL="73152" marR="73152" marT="45720" marB="45720" anchor="ctr">
                    <a:solidFill>
                      <a:srgbClr val="F5F9FA"/>
                    </a:solidFill>
                  </a:tcPr>
                </a:tc>
              </a:tr>
              <a:tr h="385760">
                <a:tc>
                  <a:txBody>
                    <a:bodyPr/>
                    <a:lstStyle/>
                    <a:p>
                      <a:pPr algn="l"/>
                      <a:r>
                        <a:rPr lang="en-US" sz="1800" b="1" dirty="0">
                          <a:solidFill>
                            <a:srgbClr val="FFFFFF"/>
                          </a:solidFill>
                          <a:latin typeface="Arial"/>
                          <a:cs typeface="Arial"/>
                        </a:rPr>
                        <a:t>'may contribute to', 'is consistent with'</a:t>
                      </a:r>
                    </a:p>
                  </a:txBody>
                  <a:tcPr marL="73152" marR="73152" marT="45720" marB="45720" anchor="ctr">
                    <a:solidFill>
                      <a:srgbClr val="0070C0"/>
                    </a:solidFill>
                  </a:tcPr>
                </a:tc>
                <a:tc>
                  <a:txBody>
                    <a:bodyPr/>
                    <a:lstStyle/>
                    <a:p>
                      <a:pPr algn="l"/>
                      <a:r>
                        <a:rPr lang="en-US" sz="1800" dirty="0">
                          <a:solidFill>
                            <a:srgbClr val="000000"/>
                          </a:solidFill>
                          <a:latin typeface="Arial"/>
                          <a:cs typeface="Arial"/>
                        </a:rPr>
                        <a:t>Observational + causal reasoning</a:t>
                      </a:r>
                    </a:p>
                  </a:txBody>
                  <a:tcPr marL="73152" marR="73152" marT="45720" marB="45720" anchor="ctr">
                    <a:solidFill>
                      <a:srgbClr val="FFFFFF"/>
                    </a:solidFill>
                  </a:tcPr>
                </a:tc>
              </a:tr>
              <a:tr h="385760">
                <a:tc>
                  <a:txBody>
                    <a:bodyPr/>
                    <a:lstStyle/>
                    <a:p>
                      <a:pPr algn="l"/>
                      <a:r>
                        <a:rPr lang="en-US" sz="1800" b="1" dirty="0">
                          <a:solidFill>
                            <a:srgbClr val="FFFFFF"/>
                          </a:solidFill>
                          <a:latin typeface="Arial"/>
                          <a:cs typeface="Arial"/>
                        </a:rPr>
                        <a:t>'is associated with', 'predicts'</a:t>
                      </a:r>
                    </a:p>
                  </a:txBody>
                  <a:tcPr marL="73152" marR="73152" marT="45720" marB="45720" anchor="ctr">
                    <a:solidFill>
                      <a:srgbClr val="0D7377"/>
                    </a:solidFill>
                  </a:tcPr>
                </a:tc>
                <a:tc>
                  <a:txBody>
                    <a:bodyPr/>
                    <a:lstStyle/>
                    <a:p>
                      <a:pPr algn="l"/>
                      <a:r>
                        <a:rPr lang="en-US" sz="1800" dirty="0">
                          <a:solidFill>
                            <a:srgbClr val="000000"/>
                          </a:solidFill>
                          <a:latin typeface="Arial"/>
                          <a:cs typeface="Arial"/>
                        </a:rPr>
                        <a:t>Cohort, case-control (Paper 2)</a:t>
                      </a:r>
                    </a:p>
                  </a:txBody>
                  <a:tcPr marL="73152" marR="73152" marT="45720" marB="45720" anchor="ctr">
                    <a:solidFill>
                      <a:srgbClr val="F5F9FA"/>
                    </a:solidFill>
                  </a:tcPr>
                </a:tc>
              </a:tr>
              <a:tr h="385760">
                <a:tc>
                  <a:txBody>
                    <a:bodyPr/>
                    <a:lstStyle/>
                    <a:p>
                      <a:pPr algn="l"/>
                      <a:r>
                        <a:rPr lang="en-US" sz="1800" b="1" dirty="0">
                          <a:solidFill>
                            <a:srgbClr val="FFFFFF"/>
                          </a:solidFill>
                          <a:latin typeface="Arial"/>
                          <a:cs typeface="Arial"/>
                        </a:rPr>
                        <a:t>'was observed in', 'was common'</a:t>
                      </a:r>
                    </a:p>
                  </a:txBody>
                  <a:tcPr marL="73152" marR="73152" marT="45720" marB="45720" anchor="ctr">
                    <a:solidFill>
                      <a:srgbClr val="5FA39B"/>
                    </a:solidFill>
                  </a:tcPr>
                </a:tc>
                <a:tc>
                  <a:txBody>
                    <a:bodyPr/>
                    <a:lstStyle/>
                    <a:p>
                      <a:pPr algn="l"/>
                      <a:r>
                        <a:rPr lang="en-US" sz="1800" dirty="0">
                          <a:solidFill>
                            <a:srgbClr val="000000"/>
                          </a:solidFill>
                          <a:latin typeface="Arial"/>
                          <a:cs typeface="Arial"/>
                        </a:rPr>
                        <a:t>Descriptive, case series</a:t>
                      </a:r>
                    </a:p>
                  </a:txBody>
                  <a:tcPr marL="73152" marR="73152" marT="45720" marB="45720" anchor="ctr">
                    <a:solidFill>
                      <a:srgbClr val="FFFFFF"/>
                    </a:solidFill>
                  </a:tcPr>
                </a:tc>
              </a:tr>
            </a:tbl>
          </a:graphicData>
        </a:graphic>
      </p:graphicFrame>
      <p:sp>
        <p:nvSpPr>
          <p:cNvPr id="31" name="Caption"/>
          <p:cNvSpPr txBox="1"/>
          <p:nvPr/>
        </p:nvSpPr>
        <p:spPr>
          <a:xfrm>
            <a:off x="457200" y="4302123"/>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Never: 'trend' for p = 0.42. 'No difference' (say 'no evidence of a difference'). 'First', 'ever', 'novel' unchecked. 'Impact' in an observational study.</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Climb the ladder only as far as your design allows.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fix the verb (FLUID-ICU, simulated)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2 min</a:t>
            </a:r>
          </a:p>
        </p:txBody>
      </p:sp>
      <p:sp>
        <p:nvSpPr>
          <p:cNvPr id="51" name="Steps"/>
          <p:cNvSpPr txBox="1"/>
          <p:nvPr/>
        </p:nvSpPr>
        <p:spPr>
          <a:xfrm>
            <a:off x="457200" y="1720000"/>
            <a:ext cx="6766560" cy="423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positive balance caused higher mortality (OR 1.62).'</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'Fluid overload increases AKI (acute kidney injury) (OR 1.27 per 10 ml/kg).'</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'There was a trend towards death (Cox HR 1.46, 95% CI 1.00 to 2.13).'</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'Lactate predicts death (OR 1.39 per mmol/L).'</a:t>
            </a:r>
          </a:p>
        </p:txBody>
      </p:sp>
      <p:sp>
        <p:nvSpPr>
          <p:cNvPr id="52" name="Side"/>
          <p:cNvSpPr/>
          <p:nvPr/>
        </p:nvSpPr>
        <p:spPr>
          <a:xfrm>
            <a:off x="7423760" y="1720000"/>
            <a:ext cx="4311040" cy="24442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Better</a:t>
            </a:r>
          </a:p>
          <a:p>
            <a:pPr marL="0" indent="0" algn="ctr">
              <a:lnSpc>
                <a:spcPct val="104000"/>
              </a:lnSpc>
              <a:spcBef>
                <a:spcPts val="300"/>
              </a:spcBef>
              <a:buNone/>
            </a:pPr>
            <a:r>
              <a:rPr lang="en-US" sz="1500" dirty="0">
                <a:solidFill>
                  <a:srgbClr val="000000"/>
                </a:solidFill>
                <a:latin typeface="Arial"/>
                <a:cs typeface="Arial"/>
              </a:rPr>
              <a:t>'... was associated with ...'</a:t>
            </a:r>
          </a:p>
          <a:p>
            <a:pPr marL="0" indent="0" algn="ctr">
              <a:lnSpc>
                <a:spcPct val="104000"/>
              </a:lnSpc>
              <a:spcBef>
                <a:spcPts val="300"/>
              </a:spcBef>
              <a:buNone/>
            </a:pPr>
            <a:r>
              <a:rPr lang="en-US" sz="1500" dirty="0">
                <a:solidFill>
                  <a:srgbClr val="000000"/>
                </a:solidFill>
                <a:latin typeface="Arial"/>
                <a:cs typeface="Arial"/>
              </a:rPr>
              <a:t>'... was associated with higher odds of AKI'</a:t>
            </a:r>
          </a:p>
          <a:p>
            <a:pPr marL="0" indent="0" algn="ctr">
              <a:lnSpc>
                <a:spcPct val="104000"/>
              </a:lnSpc>
              <a:spcBef>
                <a:spcPts val="300"/>
              </a:spcBef>
              <a:buNone/>
            </a:pPr>
            <a:r>
              <a:rPr lang="en-US" sz="1500" dirty="0">
                <a:solidFill>
                  <a:srgbClr val="000000"/>
                </a:solidFill>
                <a:latin typeface="Arial"/>
                <a:cs typeface="Arial"/>
              </a:rPr>
              <a:t>'HR 1.46 (1.00 to 2.13): the CI reaches 1'</a:t>
            </a:r>
          </a:p>
          <a:p>
            <a:pPr marL="0" indent="0" algn="ctr">
              <a:lnSpc>
                <a:spcPct val="104000"/>
              </a:lnSpc>
              <a:spcBef>
                <a:spcPts val="300"/>
              </a:spcBef>
              <a:buNone/>
            </a:pPr>
            <a:r>
              <a:rPr lang="en-US" sz="1500" dirty="0">
                <a:solidFill>
                  <a:srgbClr val="000000"/>
                </a:solidFill>
                <a:latin typeface="Arial"/>
                <a:cs typeface="Arial"/>
              </a:rPr>
              <a:t>Fine for prediction. For cause, 'associated with'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structured abstract: the shop window</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758843"/>
          <a:ext cx="11277600" cy="241072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300" b="1" dirty="0">
                          <a:solidFill>
                            <a:srgbClr val="FFFFFF"/>
                          </a:solidFill>
                          <a:latin typeface="Arial"/>
                          <a:cs typeface="Arial"/>
                        </a:rPr>
                        <a:t>Section</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What it must say</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Good example</a:t>
                      </a:r>
                    </a:p>
                  </a:txBody>
                  <a:tcPr marL="73152" marR="73152" marT="45720" marB="45720" anchor="ctr">
                    <a:solidFill>
                      <a:srgbClr val="0D7377"/>
                    </a:solidFill>
                  </a:tcPr>
                </a:tc>
              </a:tr>
              <a:tr h="507680">
                <a:tc>
                  <a:txBody>
                    <a:bodyPr/>
                    <a:lstStyle/>
                    <a:p>
                      <a:pPr algn="l"/>
                      <a:r>
                        <a:rPr lang="en-US" sz="1300" dirty="0">
                          <a:solidFill>
                            <a:srgbClr val="000000"/>
                          </a:solidFill>
                          <a:latin typeface="Arial"/>
                          <a:cs typeface="Arial"/>
                        </a:rPr>
                        <a:t>Background</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Problem, gap and aim in 1-2 sentences</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 </a:t>
                      </a:r>
                    </a:p>
                  </a:txBody>
                  <a:tcPr marL="73152" marR="73152" marT="45720" marB="45720" anchor="ctr">
                    <a:solidFill>
                      <a:srgbClr val="FFFFFF"/>
                    </a:solidFill>
                  </a:tcPr>
                </a:tc>
              </a:tr>
              <a:tr h="507680">
                <a:tc>
                  <a:txBody>
                    <a:bodyPr/>
                    <a:lstStyle/>
                    <a:p>
                      <a:pPr algn="l"/>
                      <a:r>
                        <a:rPr lang="en-US" sz="1300" dirty="0">
                          <a:solidFill>
                            <a:srgbClr val="000000"/>
                          </a:solidFill>
                          <a:latin typeface="Arial"/>
                          <a:cs typeface="Arial"/>
                        </a:rPr>
                        <a:t>Methods</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Design, setting, participants, exposure, primary outcome, analysis</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Paper 2: population, setting and size</a:t>
                      </a:r>
                    </a:p>
                  </a:txBody>
                  <a:tcPr marL="73152" marR="73152" marT="45720" marB="45720" anchor="ctr">
                    <a:solidFill>
                      <a:srgbClr val="F5F9FA"/>
                    </a:solidFill>
                  </a:tcPr>
                </a:tc>
              </a:tr>
              <a:tr h="507680">
                <a:tc>
                  <a:txBody>
                    <a:bodyPr/>
                    <a:lstStyle/>
                    <a:p>
                      <a:pPr algn="l"/>
                      <a:r>
                        <a:rPr lang="en-US" sz="1300" dirty="0">
                          <a:solidFill>
                            <a:srgbClr val="000000"/>
                          </a:solidFill>
                          <a:latin typeface="Arial"/>
                          <a:cs typeface="Arial"/>
                        </a:rPr>
                        <a:t>Results</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Numbers analysed. Main effect with 95% CI. Key secondary results</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Paper 2: every result as HR (95% CI)</a:t>
                      </a:r>
                    </a:p>
                  </a:txBody>
                  <a:tcPr marL="73152" marR="73152" marT="45720" marB="45720" anchor="ctr">
                    <a:solidFill>
                      <a:srgbClr val="FFFFFF"/>
                    </a:solidFill>
                  </a:tcPr>
                </a:tc>
              </a:tr>
              <a:tr h="507680">
                <a:tc>
                  <a:txBody>
                    <a:bodyPr/>
                    <a:lstStyle/>
                    <a:p>
                      <a:pPr algn="l"/>
                      <a:r>
                        <a:rPr lang="en-US" sz="1300" dirty="0">
                          <a:solidFill>
                            <a:srgbClr val="000000"/>
                          </a:solidFill>
                          <a:latin typeface="Arial"/>
                          <a:cs typeface="Arial"/>
                        </a:rPr>
                        <a:t>Conclusion</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Answer the aim in words the design allows</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Paper 1: negative result stated plainly</a:t>
                      </a:r>
                    </a:p>
                  </a:txBody>
                  <a:tcPr marL="73152" marR="73152" marT="45720" marB="45720" anchor="ctr">
                    <a:solidFill>
                      <a:srgbClr val="F5F9FA"/>
                    </a:solidFill>
                  </a:tcPr>
                </a:tc>
              </a:tr>
            </a:tbl>
          </a:graphicData>
        </a:graphic>
      </p:graphicFrame>
      <p:sp>
        <p:nvSpPr>
          <p:cNvPr id="31" name="Caption"/>
          <p:cNvSpPr txBox="1"/>
          <p:nvPr/>
        </p:nvSpPr>
        <p:spPr>
          <a:xfrm>
            <a:off x="457200" y="4259563"/>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250-300 words, plus the registration number for trials. Fix in Paper 1: medians reported, but the estimate called a 'mean difference'.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Worked example: the abstract and title for FLUID-ICU question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Copy the numbers from your Results (simulated data, about 120 words shown).</a:t>
            </a:r>
          </a:p>
          <a:p>
            <a:pPr>
              <a:buNone/>
            </a:pPr>
            <a:endParaRPr sz="950"/>
          </a:p>
          <a:p>
            <a:pPr marL="274320" indent="-274320" algn="l">
              <a:lnSpc>
                <a:spcPct val="106000"/>
              </a:lnSpc>
              <a:spcBef>
                <a:spcPts val="560"/>
              </a:spcBef>
              <a:buFont typeface="Arial"/>
              <a:buChar char="•"/>
            </a:pPr>
            <a:r>
              <a:rPr lang="en-US" sz="1600" b="1" dirty="0">
                <a:solidFill>
                  <a:srgbClr val="000000"/>
                </a:solidFill>
                <a:latin typeface="Arial"/>
                <a:cs typeface="Arial"/>
              </a:rPr>
              <a:t>Title: Positive fluid balance by day 3 and 28-day mortality in sepsis: a multicentre cohort study</a:t>
            </a:r>
          </a:p>
          <a:p>
            <a:pPr marL="274320" indent="-274320" algn="l">
              <a:lnSpc>
                <a:spcPct val="106000"/>
              </a:lnSpc>
              <a:spcBef>
                <a:spcPts val="560"/>
              </a:spcBef>
              <a:buFont typeface="Arial"/>
              <a:buChar char="•"/>
            </a:pPr>
            <a:r>
              <a:rPr lang="en-US" sz="1600" dirty="0">
                <a:solidFill>
                  <a:srgbClr val="000000"/>
                </a:solidFill>
                <a:latin typeface="Arial"/>
                <a:cs typeface="Arial"/>
              </a:rPr>
              <a:t>Background: A positive fluid balance is linked to death in sepsis, but sicker patients receive more fluid. We examined the association after adjustment for severity.</a:t>
            </a:r>
          </a:p>
          <a:p>
            <a:pPr marL="274320" indent="-274320" algn="l">
              <a:lnSpc>
                <a:spcPct val="106000"/>
              </a:lnSpc>
              <a:spcBef>
                <a:spcPts val="560"/>
              </a:spcBef>
              <a:buFont typeface="Arial"/>
              <a:buChar char="•"/>
            </a:pPr>
            <a:r>
              <a:rPr lang="en-US" sz="1600" dirty="0">
                <a:solidFill>
                  <a:srgbClr val="000000"/>
                </a:solidFill>
                <a:latin typeface="Arial"/>
                <a:cs typeface="Arial"/>
              </a:rPr>
              <a:t>Methods: Prospective cohort (simulated teaching data), 620 adults, 4 ICUs, 2023-2024. Exposure: positive balance by day 3. Outcome: 28-day death. Logistic and Cox regression adjusted for severity.</a:t>
            </a:r>
          </a:p>
          <a:p>
            <a:pPr marL="274320" indent="-274320" algn="l">
              <a:lnSpc>
                <a:spcPct val="106000"/>
              </a:lnSpc>
              <a:spcBef>
                <a:spcPts val="560"/>
              </a:spcBef>
              <a:buFont typeface="Arial"/>
              <a:buChar char="•"/>
            </a:pPr>
            <a:r>
              <a:rPr lang="en-US" sz="1600" dirty="0">
                <a:solidFill>
                  <a:srgbClr val="000000"/>
                </a:solidFill>
                <a:latin typeface="Arial"/>
                <a:cs typeface="Arial"/>
              </a:rPr>
              <a:t>Results: Of 618 patients, 373 (60.4%) had a positive balance, 35.9% vs 18.4% died. Crude OR 2.49 (1.70 to 3.70), adjusted OR 1.62 (95% CI 1.02 to 2.59).</a:t>
            </a:r>
          </a:p>
          <a:p>
            <a:pPr marL="274320" indent="-274320" algn="l">
              <a:lnSpc>
                <a:spcPct val="106000"/>
              </a:lnSpc>
              <a:spcBef>
                <a:spcPts val="560"/>
              </a:spcBef>
              <a:buFont typeface="Arial"/>
              <a:buChar char="•"/>
            </a:pPr>
            <a:r>
              <a:rPr lang="en-US" sz="1600" dirty="0">
                <a:solidFill>
                  <a:srgbClr val="000000"/>
                </a:solidFill>
                <a:latin typeface="Arial"/>
                <a:cs typeface="Arial"/>
              </a:rPr>
              <a:t>Conclusions: A positive balance was modestly associated with 28-day mortality. Most of the crude association reflected severity. A randomised trial is needed.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fix these abstract sentences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2 min</a:t>
            </a:r>
          </a:p>
        </p:txBody>
      </p:sp>
      <p:sp>
        <p:nvSpPr>
          <p:cNvPr id="51" name="Steps"/>
          <p:cNvSpPr txBox="1"/>
          <p:nvPr/>
        </p:nvSpPr>
        <p:spPr>
          <a:xfrm>
            <a:off x="457200" y="1720000"/>
            <a:ext cx="6766560" cy="423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Methods: 'We studied fluid balance in ICU patients.'</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Results: 'Mortality was significantly higher with a positive balance.'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Conclusions: 'A positive balance increases mortality.'</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Results: 'The results are discussed in the paper.'</a:t>
            </a:r>
          </a:p>
        </p:txBody>
      </p:sp>
      <p:sp>
        <p:nvSpPr>
          <p:cNvPr id="52" name="Side"/>
          <p:cNvSpPr/>
          <p:nvPr/>
        </p:nvSpPr>
        <p:spPr>
          <a:xfrm>
            <a:off x="7423760" y="1720000"/>
            <a:ext cx="4311040" cy="220613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Better</a:t>
            </a:r>
          </a:p>
          <a:p>
            <a:pPr marL="0" indent="0" algn="ctr">
              <a:lnSpc>
                <a:spcPct val="104000"/>
              </a:lnSpc>
              <a:spcBef>
                <a:spcPts val="300"/>
              </a:spcBef>
              <a:buNone/>
            </a:pPr>
            <a:r>
              <a:rPr lang="en-US" sz="1500" dirty="0">
                <a:solidFill>
                  <a:srgbClr val="000000"/>
                </a:solidFill>
                <a:latin typeface="Arial"/>
                <a:cs typeface="Arial"/>
              </a:rPr>
              <a:t>Add design, setting, participants, exposure, outcome</a:t>
            </a:r>
          </a:p>
          <a:p>
            <a:pPr marL="0" indent="0" algn="ctr">
              <a:lnSpc>
                <a:spcPct val="104000"/>
              </a:lnSpc>
              <a:spcBef>
                <a:spcPts val="300"/>
              </a:spcBef>
              <a:buNone/>
            </a:pPr>
            <a:r>
              <a:rPr lang="en-US" sz="1500" dirty="0">
                <a:solidFill>
                  <a:srgbClr val="000000"/>
                </a:solidFill>
                <a:latin typeface="Arial"/>
                <a:cs typeface="Arial"/>
              </a:rPr>
              <a:t>Give n, %, and the OR with its 95% CI</a:t>
            </a:r>
          </a:p>
          <a:p>
            <a:pPr marL="0" indent="0" algn="ctr">
              <a:lnSpc>
                <a:spcPct val="104000"/>
              </a:lnSpc>
              <a:spcBef>
                <a:spcPts val="300"/>
              </a:spcBef>
              <a:buNone/>
            </a:pPr>
            <a:r>
              <a:rPr lang="en-US" sz="1500" dirty="0">
                <a:solidFill>
                  <a:srgbClr val="000000"/>
                </a:solidFill>
                <a:latin typeface="Arial"/>
                <a:cs typeface="Arial"/>
              </a:rPr>
              <a:t>'was associated with': it is a cohort</a:t>
            </a:r>
          </a:p>
          <a:p>
            <a:pPr marL="0" indent="0" algn="ctr">
              <a:lnSpc>
                <a:spcPct val="104000"/>
              </a:lnSpc>
              <a:spcBef>
                <a:spcPts val="300"/>
              </a:spcBef>
              <a:buNone/>
            </a:pPr>
            <a:r>
              <a:rPr lang="en-US" sz="1500" dirty="0">
                <a:solidFill>
                  <a:srgbClr val="000000"/>
                </a:solidFill>
                <a:latin typeface="Arial"/>
                <a:cs typeface="Arial"/>
              </a:rPr>
              <a:t>Give the main numbers: the abstract must stand alone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Title and keywords: your PICO in one line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Formula from your PICO: design, I vs C, in P, on O. 10-16 words. No 'impact', 'novel', 'first'.</a:t>
            </a:r>
          </a:p>
        </p:txBody>
      </p:sp>
      <p:sp>
        <p:nvSpPr>
          <p:cNvPr id="70" name="CardHead"/>
          <p:cNvSpPr/>
          <p:nvPr/>
        </p:nvSpPr>
        <p:spPr>
          <a:xfrm>
            <a:off x="457200" y="1944469"/>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1 (trial)</a:t>
            </a:r>
          </a:p>
        </p:txBody>
      </p:sp>
      <p:sp>
        <p:nvSpPr>
          <p:cNvPr id="71" name="CardBody"/>
          <p:cNvSpPr/>
          <p:nvPr/>
        </p:nvSpPr>
        <p:spPr>
          <a:xfrm>
            <a:off x="457200" y="2584469"/>
            <a:ext cx="5538800" cy="2096591"/>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i="1" dirty="0">
                <a:solidFill>
                  <a:srgbClr val="000000"/>
                </a:solidFill>
                <a:latin typeface="Arial"/>
                <a:cs typeface="Arial"/>
              </a:rPr>
              <a:t>Published: 'Impact on fluid balance of an optimized restrictive strategy targeting non-resuscitative fluids in ... septic shock: a single-blind, ... pilot study'</a:t>
            </a:r>
          </a:p>
          <a:p>
            <a:pPr marL="0" indent="0" algn="ctr">
              <a:lnSpc>
                <a:spcPct val="104000"/>
              </a:lnSpc>
              <a:spcBef>
                <a:spcPts val="400"/>
              </a:spcBef>
              <a:buNone/>
            </a:pPr>
            <a:r>
              <a:rPr lang="en-US" sz="1450" dirty="0">
                <a:solidFill>
                  <a:srgbClr val="C0392B"/>
                </a:solidFill>
                <a:latin typeface="Arial"/>
                <a:cs typeface="Arial"/>
              </a:rPr>
              <a:t>Problem: over 25 words, value words</a:t>
            </a:r>
          </a:p>
          <a:p>
            <a:pPr marL="0" indent="0" algn="ctr">
              <a:lnSpc>
                <a:spcPct val="104000"/>
              </a:lnSpc>
              <a:spcBef>
                <a:spcPts val="400"/>
              </a:spcBef>
              <a:buNone/>
            </a:pPr>
            <a:r>
              <a:rPr lang="en-US" sz="1450" b="1" dirty="0">
                <a:solidFill>
                  <a:srgbClr val="2E8B57"/>
                </a:solidFill>
                <a:latin typeface="Arial"/>
                <a:cs typeface="Arial"/>
              </a:rPr>
              <a:t>Better: Restricting non-resuscitative fluids in septic shock: a multicentre pilot randomised trial</a:t>
            </a:r>
          </a:p>
        </p:txBody>
      </p:sp>
      <p:sp>
        <p:nvSpPr>
          <p:cNvPr id="72" name="CardHead"/>
          <p:cNvSpPr/>
          <p:nvPr/>
        </p:nvSpPr>
        <p:spPr>
          <a:xfrm>
            <a:off x="6196000" y="1944469"/>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2 (cohort)</a:t>
            </a:r>
          </a:p>
        </p:txBody>
      </p:sp>
      <p:sp>
        <p:nvSpPr>
          <p:cNvPr id="73" name="CardBody"/>
          <p:cNvSpPr/>
          <p:nvPr/>
        </p:nvSpPr>
        <p:spPr>
          <a:xfrm>
            <a:off x="6196000" y="2584469"/>
            <a:ext cx="5538800" cy="2096591"/>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i="1" dirty="0">
                <a:solidFill>
                  <a:srgbClr val="000000"/>
                </a:solidFill>
                <a:latin typeface="Arial"/>
                <a:cs typeface="Arial"/>
              </a:rPr>
              <a:t>Published: 'Impact of a cumulative positive fluid balance during the first three ICU days in patients with sepsis: a propensity score-matched cohort study'</a:t>
            </a:r>
          </a:p>
          <a:p>
            <a:pPr marL="0" indent="0" algn="ctr">
              <a:lnSpc>
                <a:spcPct val="104000"/>
              </a:lnSpc>
              <a:spcBef>
                <a:spcPts val="400"/>
              </a:spcBef>
              <a:buNone/>
            </a:pPr>
            <a:r>
              <a:rPr lang="en-US" sz="1450" dirty="0">
                <a:solidFill>
                  <a:srgbClr val="C0392B"/>
                </a:solidFill>
                <a:latin typeface="Arial"/>
                <a:cs typeface="Arial"/>
              </a:rPr>
              <a:t>Problem: 'impact' is a causal word for a cohort</a:t>
            </a:r>
          </a:p>
          <a:p>
            <a:pPr marL="0" indent="0" algn="ctr">
              <a:lnSpc>
                <a:spcPct val="104000"/>
              </a:lnSpc>
              <a:spcBef>
                <a:spcPts val="400"/>
              </a:spcBef>
              <a:buNone/>
            </a:pPr>
            <a:r>
              <a:rPr lang="en-US" sz="1450" b="1" dirty="0">
                <a:solidFill>
                  <a:srgbClr val="2E8B57"/>
                </a:solidFill>
                <a:latin typeface="Arial"/>
                <a:cs typeface="Arial"/>
              </a:rPr>
              <a:t>Better: Positive fluid balance in the first three ICU days and 28-day mortality in sepsis: a propensity-matched cohort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Keywords: 3-6 MeSH terms (PubMed subject headings) not already in the title.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Before you submit: references, checklist, final read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25219"/>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References</a:t>
            </a:r>
          </a:p>
        </p:txBody>
      </p:sp>
      <p:sp>
        <p:nvSpPr>
          <p:cNvPr id="71" name="CardBody"/>
          <p:cNvSpPr/>
          <p:nvPr/>
        </p:nvSpPr>
        <p:spPr>
          <a:xfrm>
            <a:off x="457200"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Use a reference manager</a:t>
            </a:r>
          </a:p>
          <a:p>
            <a:pPr marL="0" indent="0" algn="ctr">
              <a:lnSpc>
                <a:spcPct val="104000"/>
              </a:lnSpc>
              <a:spcBef>
                <a:spcPts val="400"/>
              </a:spcBef>
              <a:buNone/>
            </a:pPr>
            <a:r>
              <a:rPr lang="en-US" sz="1750" dirty="0">
                <a:solidFill>
                  <a:srgbClr val="000000"/>
                </a:solidFill>
                <a:latin typeface="Arial"/>
                <a:cs typeface="Arial"/>
              </a:rPr>
              <a:t>Check every citation</a:t>
            </a:r>
          </a:p>
          <a:p>
            <a:pPr marL="0" indent="0" algn="ctr">
              <a:lnSpc>
                <a:spcPct val="104000"/>
              </a:lnSpc>
              <a:spcBef>
                <a:spcPts val="400"/>
              </a:spcBef>
              <a:buNone/>
            </a:pPr>
            <a:r>
              <a:rPr lang="en-US" sz="1750" dirty="0">
                <a:solidFill>
                  <a:srgbClr val="000000"/>
                </a:solidFill>
                <a:latin typeface="Arial"/>
                <a:cs typeface="Arial"/>
              </a:rPr>
              <a:t>Paper 2 cites the wrong reference for its covariates</a:t>
            </a:r>
          </a:p>
        </p:txBody>
      </p:sp>
      <p:sp>
        <p:nvSpPr>
          <p:cNvPr id="72" name="CardHead"/>
          <p:cNvSpPr/>
          <p:nvPr/>
        </p:nvSpPr>
        <p:spPr>
          <a:xfrm>
            <a:off x="4283066" y="1725219"/>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Reporting checklist</a:t>
            </a:r>
          </a:p>
        </p:txBody>
      </p:sp>
      <p:sp>
        <p:nvSpPr>
          <p:cNvPr id="73" name="CardBody"/>
          <p:cNvSpPr/>
          <p:nvPr/>
        </p:nvSpPr>
        <p:spPr>
          <a:xfrm>
            <a:off x="4283066"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Fill it in while writing</a:t>
            </a:r>
          </a:p>
          <a:p>
            <a:pPr marL="0" indent="0" algn="ctr">
              <a:lnSpc>
                <a:spcPct val="104000"/>
              </a:lnSpc>
              <a:spcBef>
                <a:spcPts val="400"/>
              </a:spcBef>
              <a:buNone/>
            </a:pPr>
            <a:r>
              <a:rPr lang="en-US" sz="1750" dirty="0">
                <a:solidFill>
                  <a:srgbClr val="000000"/>
                </a:solidFill>
                <a:latin typeface="Arial"/>
                <a:cs typeface="Arial"/>
              </a:rPr>
              <a:t>Add page numbers</a:t>
            </a:r>
          </a:p>
          <a:p>
            <a:pPr marL="0" indent="0" algn="ctr">
              <a:lnSpc>
                <a:spcPct val="104000"/>
              </a:lnSpc>
              <a:spcBef>
                <a:spcPts val="400"/>
              </a:spcBef>
              <a:buNone/>
            </a:pPr>
            <a:r>
              <a:rPr lang="en-US" sz="1750" dirty="0">
                <a:solidFill>
                  <a:srgbClr val="000000"/>
                </a:solidFill>
                <a:latin typeface="Arial"/>
                <a:cs typeface="Arial"/>
              </a:rPr>
              <a:t>Neither paper names CONSORT or STROBE</a:t>
            </a:r>
          </a:p>
        </p:txBody>
      </p:sp>
      <p:sp>
        <p:nvSpPr>
          <p:cNvPr id="74" name="CardHead"/>
          <p:cNvSpPr/>
          <p:nvPr/>
        </p:nvSpPr>
        <p:spPr>
          <a:xfrm>
            <a:off x="8108932" y="1725219"/>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Final read</a:t>
            </a:r>
          </a:p>
        </p:txBody>
      </p:sp>
      <p:sp>
        <p:nvSpPr>
          <p:cNvPr id="75" name="CardBody"/>
          <p:cNvSpPr/>
          <p:nvPr/>
        </p:nvSpPr>
        <p:spPr>
          <a:xfrm>
            <a:off x="8108932" y="2365219"/>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Text = table, for every number</a:t>
            </a:r>
          </a:p>
          <a:p>
            <a:pPr marL="0" indent="0" algn="ctr">
              <a:lnSpc>
                <a:spcPct val="104000"/>
              </a:lnSpc>
              <a:spcBef>
                <a:spcPts val="400"/>
              </a:spcBef>
              <a:buNone/>
            </a:pPr>
            <a:r>
              <a:rPr lang="en-US" sz="1750" dirty="0">
                <a:solidFill>
                  <a:srgbClr val="000000"/>
                </a:solidFill>
                <a:latin typeface="Arial"/>
                <a:cs typeface="Arial"/>
              </a:rPr>
              <a:t>Call-outs point to the right figure</a:t>
            </a:r>
          </a:p>
          <a:p>
            <a:pPr marL="0" indent="0" algn="ctr">
              <a:lnSpc>
                <a:spcPct val="104000"/>
              </a:lnSpc>
              <a:spcBef>
                <a:spcPts val="400"/>
              </a:spcBef>
              <a:buNone/>
            </a:pPr>
            <a:r>
              <a:rPr lang="en-US" sz="1750" dirty="0">
                <a:solidFill>
                  <a:srgbClr val="000000"/>
                </a:solidFill>
                <a:latin typeface="Arial"/>
                <a:cs typeface="Arial"/>
              </a:rPr>
              <a:t>A colleague reads the tables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Most errors in these two papers needed no new data, only a careful co-author.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Manuscript workshop 2  |  25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Improve your Results section: together, then on your own</a:t>
            </a:r>
          </a:p>
          <a:p>
            <a:pPr marL="0" indent="0" algn="ctr">
              <a:spcBef>
                <a:spcPts val="1200"/>
              </a:spcBef>
              <a:buNone/>
            </a:pPr>
            <a:r>
              <a:rPr lang="en-US" sz="1900" i="1" dirty="0">
                <a:solidFill>
                  <a:srgbClr val="595959"/>
                </a:solidFill>
                <a:latin typeface="Arial"/>
                <a:cs typeface="Arial"/>
              </a:rPr>
              <a:t>17 minutes on the class Q1 draft, then 8 minutes on your own draft and title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Manuscript workshop 2, part 1: we improve the Q1 Results together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17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Number check (5 min): every number against results pack Q1</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Tables and figure (4 min): does each stand alone?</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Words (5 min): no interpretation, no 'trend', no causal verbs</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Working title (3 min): design stated, 'associated'</a:t>
            </a:r>
          </a:p>
        </p:txBody>
      </p:sp>
      <p:sp>
        <p:nvSpPr>
          <p:cNvPr id="52" name="Side"/>
          <p:cNvSpPr/>
          <p:nvPr/>
        </p:nvSpPr>
        <p:spPr>
          <a:xfrm>
            <a:off x="7423760" y="1720000"/>
            <a:ext cx="4311040" cy="16917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Use</a:t>
            </a:r>
          </a:p>
          <a:p>
            <a:pPr marL="0" indent="0" algn="ctr">
              <a:lnSpc>
                <a:spcPct val="104000"/>
              </a:lnSpc>
              <a:spcBef>
                <a:spcPts val="300"/>
              </a:spcBef>
              <a:buNone/>
            </a:pPr>
            <a:r>
              <a:rPr lang="en-US" sz="1500" dirty="0">
                <a:solidFill>
                  <a:srgbClr val="000000"/>
                </a:solidFill>
                <a:latin typeface="Arial"/>
                <a:cs typeface="Arial"/>
              </a:rPr>
              <a:t>Class Q1 Results from Session 7 (PDF)</a:t>
            </a:r>
          </a:p>
          <a:p>
            <a:pPr marL="0" indent="0" algn="ctr">
              <a:lnSpc>
                <a:spcPct val="104000"/>
              </a:lnSpc>
              <a:spcBef>
                <a:spcPts val="300"/>
              </a:spcBef>
              <a:buNone/>
            </a:pPr>
            <a:r>
              <a:rPr lang="en-US" sz="1500" dirty="0">
                <a:solidFill>
                  <a:srgbClr val="000000"/>
                </a:solidFill>
                <a:latin typeface="Arial"/>
                <a:cs typeface="Arial"/>
              </a:rPr>
              <a:t>Results pack Q1</a:t>
            </a:r>
          </a:p>
          <a:p>
            <a:pPr marL="0" indent="0" algn="ctr">
              <a:lnSpc>
                <a:spcPct val="104000"/>
              </a:lnSpc>
              <a:spcBef>
                <a:spcPts val="300"/>
              </a:spcBef>
              <a:buNone/>
            </a:pPr>
            <a:r>
              <a:rPr lang="en-US" sz="1500" dirty="0">
                <a:solidFill>
                  <a:srgbClr val="000000"/>
                </a:solidFill>
                <a:latin typeface="Arial"/>
                <a:cs typeface="Arial"/>
              </a:rPr>
              <a:t>The checklist in Peer_Review_Instructions</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An improved class Q1 Results section, sent as a PDF after the session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Manuscript workshop 2, part 2: your own Results and title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INDIVIDUAL TASK   |   8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Run the same checks on your own Results draft</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Write your working title: design stated, 10-16 words, 'associated'</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Two volunteers read their title aloud. The instructor comments</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By 23:59 on Sunday 20 December: a final check, then email it</a:t>
            </a:r>
          </a:p>
        </p:txBody>
      </p:sp>
      <p:sp>
        <p:nvSpPr>
          <p:cNvPr id="52" name="Side"/>
          <p:cNvSpPr/>
          <p:nvPr/>
        </p:nvSpPr>
        <p:spPr>
          <a:xfrm>
            <a:off x="7423760" y="1720000"/>
            <a:ext cx="4311040" cy="24442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Submit</a:t>
            </a:r>
          </a:p>
          <a:p>
            <a:pPr marL="0" indent="0" algn="ctr">
              <a:lnSpc>
                <a:spcPct val="104000"/>
              </a:lnSpc>
              <a:spcBef>
                <a:spcPts val="300"/>
              </a:spcBef>
              <a:buNone/>
            </a:pPr>
            <a:r>
              <a:rPr lang="en-US" sz="1500" dirty="0">
                <a:solidFill>
                  <a:srgbClr val="000000"/>
                </a:solidFill>
                <a:latin typeface="Arial"/>
                <a:cs typeface="Arial"/>
              </a:rPr>
              <a:t>Results section, working title, Table 1, main table or figure</a:t>
            </a:r>
          </a:p>
          <a:p>
            <a:pPr marL="0" indent="0" algn="ctr">
              <a:lnSpc>
                <a:spcPct val="104000"/>
              </a:lnSpc>
              <a:spcBef>
                <a:spcPts val="300"/>
              </a:spcBef>
              <a:buNone/>
            </a:pPr>
            <a:r>
              <a:rPr lang="en-US" sz="1500" dirty="0">
                <a:solidFill>
                  <a:srgbClr val="000000"/>
                </a:solidFill>
                <a:latin typeface="Arial"/>
                <a:cs typeface="Arial"/>
              </a:rPr>
              <a:t>By 23:59, Sunday 20 December</a:t>
            </a:r>
          </a:p>
          <a:p>
            <a:pPr marL="0" indent="0" algn="ctr">
              <a:lnSpc>
                <a:spcPct val="104000"/>
              </a:lnSpc>
              <a:spcBef>
                <a:spcPts val="300"/>
              </a:spcBef>
              <a:buNone/>
            </a:pPr>
            <a:r>
              <a:rPr lang="en-US" sz="1500" dirty="0">
                <a:solidFill>
                  <a:srgbClr val="000000"/>
                </a:solidFill>
                <a:latin typeface="Arial"/>
                <a:cs typeface="Arial"/>
              </a:rPr>
              <a:t>Email it to your reviewer and the instructor</a:t>
            </a:r>
          </a:p>
          <a:p>
            <a:pPr marL="0" indent="0" algn="ctr">
              <a:lnSpc>
                <a:spcPct val="104000"/>
              </a:lnSpc>
              <a:spcBef>
                <a:spcPts val="300"/>
              </a:spcBef>
              <a:buNone/>
            </a:pPr>
            <a:r>
              <a:rPr lang="en-US" sz="1500" dirty="0">
                <a:solidFill>
                  <a:srgbClr val="000000"/>
                </a:solidFill>
                <a:latin typeface="Arial"/>
                <a:cs typeface="Arial"/>
              </a:rPr>
              <a:t>Other sections (optional) in the same file</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OUTPUT   </a:t>
            </a:r>
            <a:r>
              <a:rPr lang="en-US" sz="1500" dirty="0">
                <a:solidFill>
                  <a:srgbClr val="000000"/>
                </a:solidFill>
                <a:latin typeface="Arial"/>
                <a:cs typeface="Arial"/>
              </a:rPr>
              <a:t>Your working title. Your Results section emailed by 23:59 on Sunday 20 December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8.2  |  20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Getting published</a:t>
            </a:r>
          </a:p>
          <a:p>
            <a:pPr marL="0" indent="0" algn="ctr">
              <a:spcBef>
                <a:spcPts val="1200"/>
              </a:spcBef>
              <a:buNone/>
            </a:pPr>
            <a:r>
              <a:rPr lang="en-US" sz="1900" i="1" dirty="0">
                <a:solidFill>
                  <a:srgbClr val="595959"/>
                </a:solidFill>
                <a:latin typeface="Arial"/>
                <a:cs typeface="Arial"/>
              </a:rPr>
              <a:t>From checklist to reviewers, and the traps on the way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Reporting guidelines: choose by design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298470"/>
          <a:ext cx="11277600" cy="379184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Study design</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Reporting guideline</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Our example</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Randomised trial</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CONSORT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Paper 1</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Cohort, case-control, cross-sectional</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STROBE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Paper 2, FLUID-ICU</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Diagnostic accuracy study</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STARD</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 </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Systematic review or meta-analysis</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PRISMA</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 </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Trial protocol</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SPIRIT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 </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Case report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CARE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 </a:t>
                      </a:r>
                    </a:p>
                  </a:txBody>
                  <a:tcPr marL="73152" marR="73152" marT="45720" marB="45720" anchor="ctr">
                    <a:solidFill>
                      <a:srgbClr val="F5F9FA"/>
                    </a:solidFill>
                  </a:tcPr>
                </a:tc>
              </a:tr>
            </a:tbl>
          </a:graphicData>
        </a:graphic>
      </p:graphicFrame>
      <p:sp>
        <p:nvSpPr>
          <p:cNvPr id="31" name="Caption"/>
          <p:cNvSpPr txBox="1"/>
          <p:nvPr/>
        </p:nvSpPr>
        <p:spPr>
          <a:xfrm>
            <a:off x="457200" y="5180310"/>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All checklists are free at the EQUATOR Network (equator-network.org). Name your guideline in Proposal Part 4 and use it as a writing checklist.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Choosing a journal: four checks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Decide the target journal before you write: it sets the rules.</a:t>
            </a:r>
          </a:p>
        </p:txBody>
      </p:sp>
      <p:sp>
        <p:nvSpPr>
          <p:cNvPr id="70" name="CardHead"/>
          <p:cNvSpPr/>
          <p:nvPr/>
        </p:nvSpPr>
        <p:spPr>
          <a:xfrm>
            <a:off x="457200" y="1973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Fit</a:t>
            </a:r>
          </a:p>
        </p:txBody>
      </p:sp>
      <p:sp>
        <p:nvSpPr>
          <p:cNvPr id="71" name="CardBody"/>
          <p:cNvSpPr/>
          <p:nvPr/>
        </p:nvSpPr>
        <p:spPr>
          <a:xfrm>
            <a:off x="4572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Who needs your result?</a:t>
            </a:r>
          </a:p>
          <a:p>
            <a:pPr marL="0" indent="0" algn="ctr">
              <a:lnSpc>
                <a:spcPct val="104000"/>
              </a:lnSpc>
              <a:spcBef>
                <a:spcPts val="400"/>
              </a:spcBef>
              <a:buNone/>
            </a:pPr>
            <a:r>
              <a:rPr lang="en-US" sz="1600" dirty="0">
                <a:solidFill>
                  <a:srgbClr val="000000"/>
                </a:solidFill>
                <a:latin typeface="Arial"/>
                <a:cs typeface="Arial"/>
              </a:rPr>
              <a:t>Read 3 recent issues</a:t>
            </a:r>
          </a:p>
          <a:p>
            <a:pPr marL="0" indent="0" algn="ctr">
              <a:lnSpc>
                <a:spcPct val="104000"/>
              </a:lnSpc>
              <a:spcBef>
                <a:spcPts val="400"/>
              </a:spcBef>
              <a:buNone/>
            </a:pPr>
            <a:r>
              <a:rPr lang="en-US" sz="1600" dirty="0">
                <a:solidFill>
                  <a:srgbClr val="000000"/>
                </a:solidFill>
                <a:latin typeface="Arial"/>
                <a:cs typeface="Arial"/>
              </a:rPr>
              <a:t>Similar designs published?</a:t>
            </a:r>
          </a:p>
        </p:txBody>
      </p:sp>
      <p:sp>
        <p:nvSpPr>
          <p:cNvPr id="72" name="CardHead"/>
          <p:cNvSpPr/>
          <p:nvPr/>
        </p:nvSpPr>
        <p:spPr>
          <a:xfrm>
            <a:off x="3326600" y="1973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Trust</a:t>
            </a:r>
          </a:p>
        </p:txBody>
      </p:sp>
      <p:sp>
        <p:nvSpPr>
          <p:cNvPr id="73" name="CardBody"/>
          <p:cNvSpPr/>
          <p:nvPr/>
        </p:nvSpPr>
        <p:spPr>
          <a:xfrm>
            <a:off x="33266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Indexed in MEDLINE, DOAJ, Scopus or Web of Science</a:t>
            </a:r>
          </a:p>
          <a:p>
            <a:pPr marL="0" indent="0" algn="ctr">
              <a:lnSpc>
                <a:spcPct val="104000"/>
              </a:lnSpc>
              <a:spcBef>
                <a:spcPts val="400"/>
              </a:spcBef>
              <a:buNone/>
            </a:pPr>
            <a:r>
              <a:rPr lang="en-US" sz="1600" dirty="0">
                <a:solidFill>
                  <a:srgbClr val="000000"/>
                </a:solidFill>
                <a:latin typeface="Arial"/>
                <a:cs typeface="Arial"/>
              </a:rPr>
              <a:t>Clear peer-review policy</a:t>
            </a:r>
          </a:p>
        </p:txBody>
      </p:sp>
      <p:sp>
        <p:nvSpPr>
          <p:cNvPr id="74" name="CardHead"/>
          <p:cNvSpPr/>
          <p:nvPr/>
        </p:nvSpPr>
        <p:spPr>
          <a:xfrm>
            <a:off x="6196000" y="19735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Rules</a:t>
            </a:r>
          </a:p>
        </p:txBody>
      </p:sp>
      <p:sp>
        <p:nvSpPr>
          <p:cNvPr id="75" name="CardBody"/>
          <p:cNvSpPr/>
          <p:nvPr/>
        </p:nvSpPr>
        <p:spPr>
          <a:xfrm>
            <a:off x="61960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Guide for Authors</a:t>
            </a:r>
          </a:p>
          <a:p>
            <a:pPr marL="0" indent="0" algn="ctr">
              <a:lnSpc>
                <a:spcPct val="104000"/>
              </a:lnSpc>
              <a:spcBef>
                <a:spcPts val="400"/>
              </a:spcBef>
              <a:buNone/>
            </a:pPr>
            <a:r>
              <a:rPr lang="en-US" sz="1600" dirty="0">
                <a:solidFill>
                  <a:srgbClr val="000000"/>
                </a:solidFill>
                <a:latin typeface="Arial"/>
                <a:cs typeface="Arial"/>
              </a:rPr>
              <a:t>Word limit, checklist</a:t>
            </a:r>
          </a:p>
          <a:p>
            <a:pPr marL="0" indent="0" algn="ctr">
              <a:lnSpc>
                <a:spcPct val="104000"/>
              </a:lnSpc>
              <a:spcBef>
                <a:spcPts val="400"/>
              </a:spcBef>
              <a:buNone/>
            </a:pPr>
            <a:r>
              <a:rPr lang="en-US" sz="1600" dirty="0">
                <a:solidFill>
                  <a:srgbClr val="000000"/>
                </a:solidFill>
                <a:latin typeface="Arial"/>
                <a:cs typeface="Arial"/>
              </a:rPr>
              <a:t>Registration required?</a:t>
            </a:r>
          </a:p>
        </p:txBody>
      </p:sp>
      <p:sp>
        <p:nvSpPr>
          <p:cNvPr id="76" name="CardHead"/>
          <p:cNvSpPr/>
          <p:nvPr/>
        </p:nvSpPr>
        <p:spPr>
          <a:xfrm>
            <a:off x="9065400" y="1973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Cost and speed</a:t>
            </a:r>
          </a:p>
        </p:txBody>
      </p:sp>
      <p:sp>
        <p:nvSpPr>
          <p:cNvPr id="77" name="CardBody"/>
          <p:cNvSpPr/>
          <p:nvPr/>
        </p:nvSpPr>
        <p:spPr>
          <a:xfrm>
            <a:off x="9065400" y="2613573"/>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Article fee (APC) and waivers</a:t>
            </a:r>
          </a:p>
          <a:p>
            <a:pPr marL="0" indent="0" algn="ctr">
              <a:lnSpc>
                <a:spcPct val="104000"/>
              </a:lnSpc>
              <a:spcBef>
                <a:spcPts val="400"/>
              </a:spcBef>
              <a:buNone/>
            </a:pPr>
            <a:r>
              <a:rPr lang="en-US" sz="1600" dirty="0">
                <a:solidFill>
                  <a:srgbClr val="000000"/>
                </a:solidFill>
                <a:latin typeface="Arial"/>
                <a:cs typeface="Arial"/>
              </a:rPr>
              <a:t>Licence: who may re-use the paper</a:t>
            </a:r>
          </a:p>
          <a:p>
            <a:pPr marL="0" indent="0" algn="ctr">
              <a:lnSpc>
                <a:spcPct val="104000"/>
              </a:lnSpc>
              <a:spcBef>
                <a:spcPts val="400"/>
              </a:spcBef>
              <a:buNone/>
            </a:pPr>
            <a:r>
              <a:rPr lang="en-US" sz="1600" dirty="0">
                <a:solidFill>
                  <a:srgbClr val="000000"/>
                </a:solidFill>
                <a:latin typeface="Arial"/>
                <a:cs typeface="Arial"/>
              </a:rPr>
              <a:t>Paper 1: 7 weeks. Paper 2: 7 months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good journal is one your readers read, and one that is honestly run.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Spot the predatory journal</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If a journal finds you by flattering e-mail, check it twice.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Live demo: find a checklist and check a journal</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LIVE DEMO   |   3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Open the EQUATOR Network website and search 'CONSORT'</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Show the checklist and the flow diagram (Paper 1 has one)</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Find STROBE the same way (Paper 2 and FLUID-ICU)</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Check a journal in DOAJ and in the NLM Catalog</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Open the Think.Check.Submit checklist</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Watch for</a:t>
            </a:r>
          </a:p>
          <a:p>
            <a:pPr marL="0" indent="0" algn="ctr">
              <a:lnSpc>
                <a:spcPct val="104000"/>
              </a:lnSpc>
              <a:spcBef>
                <a:spcPts val="300"/>
              </a:spcBef>
              <a:buNone/>
            </a:pPr>
            <a:r>
              <a:rPr lang="en-US" sz="1500" dirty="0">
                <a:solidFill>
                  <a:srgbClr val="000000"/>
                </a:solidFill>
                <a:latin typeface="Arial"/>
                <a:cs typeface="Arial"/>
              </a:rPr>
              <a:t>Where the checklist PDF is</a:t>
            </a:r>
          </a:p>
          <a:p>
            <a:pPr marL="0" indent="0" algn="ctr">
              <a:lnSpc>
                <a:spcPct val="104000"/>
              </a:lnSpc>
              <a:spcBef>
                <a:spcPts val="300"/>
              </a:spcBef>
              <a:buNone/>
            </a:pPr>
            <a:r>
              <a:rPr lang="en-US" sz="1500" dirty="0">
                <a:solidFill>
                  <a:srgbClr val="000000"/>
                </a:solidFill>
                <a:latin typeface="Arial"/>
                <a:cs typeface="Arial"/>
              </a:rPr>
              <a:t>How to see if a journal is in MEDLINE</a:t>
            </a:r>
          </a:p>
          <a:p>
            <a:pPr marL="0" indent="0" algn="ctr">
              <a:lnSpc>
                <a:spcPct val="104000"/>
              </a:lnSpc>
              <a:spcBef>
                <a:spcPts val="300"/>
              </a:spcBef>
              <a:buNone/>
            </a:pPr>
            <a:r>
              <a:rPr lang="en-US" sz="1500" dirty="0">
                <a:solidFill>
                  <a:srgbClr val="000000"/>
                </a:solidFill>
                <a:latin typeface="Arial"/>
                <a:cs typeface="Arial"/>
              </a:rPr>
              <a:t>Three questions to ask any journal</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OUTPUT   </a:t>
            </a:r>
            <a:r>
              <a:rPr lang="en-US" sz="1500" dirty="0">
                <a:solidFill>
                  <a:srgbClr val="000000"/>
                </a:solidFill>
                <a:latin typeface="Arial"/>
                <a:cs typeface="Arial"/>
              </a:rPr>
              <a:t>Everyone checks the journal and guideline in their own publication plan at home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submission package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95653"/>
          <a:ext cx="11277600" cy="4063040"/>
        </p:xfrm>
        <a:graphic>
          <a:graphicData uri="http://schemas.openxmlformats.org/drawingml/2006/table">
            <a:tbl>
              <a:tblPr firstRow="1" bandRow="1">
                <a:tableStyleId>{5C22544A-7EE6-4342-B048-85BDC9FD1C3A}</a:tableStyleId>
              </a:tblPr>
              <a:tblGrid>
                <a:gridCol w="5638800"/>
                <a:gridCol w="5638800"/>
              </a:tblGrid>
              <a:tr h="380000">
                <a:tc>
                  <a:txBody>
                    <a:bodyPr/>
                    <a:lstStyle/>
                    <a:p>
                      <a:pPr algn="l"/>
                      <a:r>
                        <a:rPr lang="en-US" sz="1300" b="1" dirty="0">
                          <a:solidFill>
                            <a:srgbClr val="FFFFFF"/>
                          </a:solidFill>
                          <a:latin typeface="Arial"/>
                          <a:cs typeface="Arial"/>
                        </a:rPr>
                        <a:t>Item</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What it contains</a:t>
                      </a:r>
                    </a:p>
                  </a:txBody>
                  <a:tcPr marL="73152" marR="73152" marT="45720" marB="45720" anchor="ctr">
                    <a:solidFill>
                      <a:srgbClr val="0D7377"/>
                    </a:solidFill>
                  </a:tcPr>
                </a:tc>
              </a:tr>
              <a:tr h="360000">
                <a:tc>
                  <a:txBody>
                    <a:bodyPr/>
                    <a:lstStyle/>
                    <a:p>
                      <a:pPr algn="l"/>
                      <a:r>
                        <a:rPr lang="en-US" sz="1300" dirty="0">
                          <a:solidFill>
                            <a:srgbClr val="000000"/>
                          </a:solidFill>
                          <a:latin typeface="Arial"/>
                          <a:cs typeface="Arial"/>
                        </a:rPr>
                        <a:t>Cover letter</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Why this journal, what is new. Not under review elsewhere</a:t>
                      </a:r>
                    </a:p>
                  </a:txBody>
                  <a:tcPr marL="73152" marR="73152" marT="45720" marB="45720" anchor="ctr">
                    <a:solidFill>
                      <a:srgbClr val="FFFFFF"/>
                    </a:solidFill>
                  </a:tcPr>
                </a:tc>
              </a:tr>
              <a:tr h="507680">
                <a:tc>
                  <a:txBody>
                    <a:bodyPr/>
                    <a:lstStyle/>
                    <a:p>
                      <a:pPr algn="l"/>
                      <a:r>
                        <a:rPr lang="en-US" sz="1300" dirty="0">
                          <a:solidFill>
                            <a:srgbClr val="000000"/>
                          </a:solidFill>
                          <a:latin typeface="Arial"/>
                          <a:cs typeface="Arial"/>
                        </a:rPr>
                        <a:t>Title page</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Authors, affiliations, ORCID iDs (free researcher identifiers), corresponding author, word count</a:t>
                      </a:r>
                    </a:p>
                  </a:txBody>
                  <a:tcPr marL="73152" marR="73152" marT="45720" marB="45720" anchor="ctr">
                    <a:solidFill>
                      <a:srgbClr val="F5F9FA"/>
                    </a:solidFill>
                  </a:tcPr>
                </a:tc>
              </a:tr>
              <a:tr h="507680">
                <a:tc>
                  <a:txBody>
                    <a:bodyPr/>
                    <a:lstStyle/>
                    <a:p>
                      <a:pPr algn="l"/>
                      <a:r>
                        <a:rPr lang="en-US" sz="1300" dirty="0">
                          <a:solidFill>
                            <a:srgbClr val="000000"/>
                          </a:solidFill>
                          <a:latin typeface="Arial"/>
                          <a:cs typeface="Arial"/>
                        </a:rPr>
                        <a:t>Manuscript</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IMRaD, formatted as the Guide for Authors says (blinded if asked)</a:t>
                      </a:r>
                    </a:p>
                  </a:txBody>
                  <a:tcPr marL="73152" marR="73152" marT="45720" marB="45720" anchor="ctr">
                    <a:solidFill>
                      <a:srgbClr val="FFFFFF"/>
                    </a:solidFill>
                  </a:tcPr>
                </a:tc>
              </a:tr>
              <a:tr h="360000">
                <a:tc>
                  <a:txBody>
                    <a:bodyPr/>
                    <a:lstStyle/>
                    <a:p>
                      <a:pPr algn="l"/>
                      <a:r>
                        <a:rPr lang="en-US" sz="1300" dirty="0">
                          <a:solidFill>
                            <a:srgbClr val="000000"/>
                          </a:solidFill>
                          <a:latin typeface="Arial"/>
                          <a:cs typeface="Arial"/>
                        </a:rPr>
                        <a:t>Tables and figures</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Separate files, right format and resolution</a:t>
                      </a:r>
                    </a:p>
                  </a:txBody>
                  <a:tcPr marL="73152" marR="73152" marT="45720" marB="45720" anchor="ctr">
                    <a:solidFill>
                      <a:srgbClr val="F5F9FA"/>
                    </a:solidFill>
                  </a:tcPr>
                </a:tc>
              </a:tr>
              <a:tr h="360000">
                <a:tc>
                  <a:txBody>
                    <a:bodyPr/>
                    <a:lstStyle/>
                    <a:p>
                      <a:pPr algn="l"/>
                      <a:r>
                        <a:rPr lang="en-US" sz="1300" dirty="0">
                          <a:solidFill>
                            <a:srgbClr val="000000"/>
                          </a:solidFill>
                          <a:latin typeface="Arial"/>
                          <a:cs typeface="Arial"/>
                        </a:rPr>
                        <a:t>Reporting checklist</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CONSORT, STROBE ..., with page numbers</a:t>
                      </a:r>
                    </a:p>
                  </a:txBody>
                  <a:tcPr marL="73152" marR="73152" marT="45720" marB="45720" anchor="ctr">
                    <a:solidFill>
                      <a:srgbClr val="FFFFFF"/>
                    </a:solidFill>
                  </a:tcPr>
                </a:tc>
              </a:tr>
              <a:tr h="507680">
                <a:tc>
                  <a:txBody>
                    <a:bodyPr/>
                    <a:lstStyle/>
                    <a:p>
                      <a:pPr algn="l"/>
                      <a:r>
                        <a:rPr lang="en-US" sz="1300" dirty="0">
                          <a:solidFill>
                            <a:srgbClr val="000000"/>
                          </a:solidFill>
                          <a:latin typeface="Arial"/>
                          <a:cs typeface="Arial"/>
                        </a:rPr>
                        <a:t>Declarations</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Ethics number, consent, conflicts of interest, funding, data sharing, author roles, AI use</a:t>
                      </a:r>
                    </a:p>
                  </a:txBody>
                  <a:tcPr marL="73152" marR="73152" marT="45720" marB="45720" anchor="ctr">
                    <a:solidFill>
                      <a:srgbClr val="F5F9FA"/>
                    </a:solidFill>
                  </a:tcPr>
                </a:tc>
              </a:tr>
              <a:tr h="360000">
                <a:tc>
                  <a:txBody>
                    <a:bodyPr/>
                    <a:lstStyle/>
                    <a:p>
                      <a:pPr algn="l"/>
                      <a:r>
                        <a:rPr lang="en-US" sz="1300" dirty="0">
                          <a:solidFill>
                            <a:srgbClr val="000000"/>
                          </a:solidFill>
                          <a:latin typeface="Arial"/>
                          <a:cs typeface="Arial"/>
                        </a:rPr>
                        <a:t>Registration number</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Trials and systematic reviews</a:t>
                      </a:r>
                    </a:p>
                  </a:txBody>
                  <a:tcPr marL="73152" marR="73152" marT="45720" marB="45720" anchor="ctr">
                    <a:solidFill>
                      <a:srgbClr val="FFFFFF"/>
                    </a:solidFill>
                  </a:tcPr>
                </a:tc>
              </a:tr>
              <a:tr h="360000">
                <a:tc>
                  <a:txBody>
                    <a:bodyPr/>
                    <a:lstStyle/>
                    <a:p>
                      <a:pPr algn="l"/>
                      <a:r>
                        <a:rPr lang="en-US" sz="1300" dirty="0">
                          <a:solidFill>
                            <a:srgbClr val="000000"/>
                          </a:solidFill>
                          <a:latin typeface="Arial"/>
                          <a:cs typeface="Arial"/>
                        </a:rPr>
                        <a:t>Suggested reviewers</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Experts with no conflict, not recent co-authors</a:t>
                      </a:r>
                    </a:p>
                  </a:txBody>
                  <a:tcPr marL="73152" marR="73152" marT="45720" marB="45720" anchor="ctr">
                    <a:solidFill>
                      <a:srgbClr val="F5F9FA"/>
                    </a:solidFill>
                  </a:tcPr>
                </a:tc>
              </a:tr>
              <a:tr h="360000">
                <a:tc>
                  <a:txBody>
                    <a:bodyPr/>
                    <a:lstStyle/>
                    <a:p>
                      <a:pPr algn="l"/>
                      <a:r>
                        <a:rPr lang="en-US" sz="1300" dirty="0">
                          <a:solidFill>
                            <a:srgbClr val="000000"/>
                          </a:solidFill>
                          <a:latin typeface="Arial"/>
                          <a:cs typeface="Arial"/>
                        </a:rPr>
                        <a:t>Supplementary files</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Protocol, extra tables, long flow charts</a:t>
                      </a:r>
                    </a:p>
                  </a:txBody>
                  <a:tcPr marL="73152" marR="73152" marT="45720" marB="45720" anchor="ctr">
                    <a:solidFill>
                      <a:srgbClr val="FFFFFF"/>
                    </a:solidFill>
                  </a:tcPr>
                </a:tc>
              </a:tr>
            </a:tbl>
          </a:graphicData>
        </a:graphic>
      </p:graphicFrame>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peer-review journey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Rejected? Improve the paper, then submit to another journal. Never to two at once.</a:t>
            </a:r>
          </a:p>
        </p:txBody>
      </p:sp>
      <p:sp>
        <p:nvSpPr>
          <p:cNvPr id="80" name="Step"/>
          <p:cNvSpPr/>
          <p:nvPr/>
        </p:nvSpPr>
        <p:spPr>
          <a:xfrm>
            <a:off x="457200" y="1660000"/>
            <a:ext cx="19296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Submit</a:t>
            </a:r>
          </a:p>
        </p:txBody>
      </p:sp>
      <p:sp>
        <p:nvSpPr>
          <p:cNvPr id="81" name="StepText"/>
          <p:cNvSpPr/>
          <p:nvPr/>
        </p:nvSpPr>
        <p:spPr>
          <a:xfrm>
            <a:off x="4972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Manuscript, cover letter, checklist</a:t>
            </a:r>
          </a:p>
        </p:txBody>
      </p:sp>
      <p:sp>
        <p:nvSpPr>
          <p:cNvPr id="82" name="Step"/>
          <p:cNvSpPr/>
          <p:nvPr/>
        </p:nvSpPr>
        <p:spPr>
          <a:xfrm>
            <a:off x="2326800" y="1660000"/>
            <a:ext cx="19296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Editor</a:t>
            </a:r>
          </a:p>
        </p:txBody>
      </p:sp>
      <p:sp>
        <p:nvSpPr>
          <p:cNvPr id="83" name="StepText"/>
          <p:cNvSpPr/>
          <p:nvPr/>
        </p:nvSpPr>
        <p:spPr>
          <a:xfrm>
            <a:off x="23668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Screens the paper</a:t>
            </a:r>
          </a:p>
          <a:p>
            <a:pPr marL="0" indent="0" algn="ctr">
              <a:lnSpc>
                <a:spcPct val="104000"/>
              </a:lnSpc>
              <a:spcBef>
                <a:spcPts val="200"/>
              </a:spcBef>
              <a:buNone/>
            </a:pPr>
            <a:r>
              <a:rPr lang="en-US" sz="1500" dirty="0">
                <a:solidFill>
                  <a:srgbClr val="000000"/>
                </a:solidFill>
                <a:latin typeface="Arial"/>
                <a:cs typeface="Arial"/>
              </a:rPr>
              <a:t>Desk rejection is common</a:t>
            </a:r>
          </a:p>
        </p:txBody>
      </p:sp>
      <p:sp>
        <p:nvSpPr>
          <p:cNvPr id="84" name="Step"/>
          <p:cNvSpPr/>
          <p:nvPr/>
        </p:nvSpPr>
        <p:spPr>
          <a:xfrm>
            <a:off x="4196400" y="1660000"/>
            <a:ext cx="19296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Reviewers</a:t>
            </a:r>
          </a:p>
        </p:txBody>
      </p:sp>
      <p:sp>
        <p:nvSpPr>
          <p:cNvPr id="85" name="StepText"/>
          <p:cNvSpPr/>
          <p:nvPr/>
        </p:nvSpPr>
        <p:spPr>
          <a:xfrm>
            <a:off x="42364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2 or 3 peer reviewers comment</a:t>
            </a:r>
          </a:p>
        </p:txBody>
      </p:sp>
      <p:sp>
        <p:nvSpPr>
          <p:cNvPr id="86" name="Step"/>
          <p:cNvSpPr/>
          <p:nvPr/>
        </p:nvSpPr>
        <p:spPr>
          <a:xfrm>
            <a:off x="6066000" y="1660000"/>
            <a:ext cx="19296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Decision</a:t>
            </a:r>
          </a:p>
        </p:txBody>
      </p:sp>
      <p:sp>
        <p:nvSpPr>
          <p:cNvPr id="87" name="StepText"/>
          <p:cNvSpPr/>
          <p:nvPr/>
        </p:nvSpPr>
        <p:spPr>
          <a:xfrm>
            <a:off x="61060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Accept, minor or major revision, or reject</a:t>
            </a:r>
          </a:p>
        </p:txBody>
      </p:sp>
      <p:sp>
        <p:nvSpPr>
          <p:cNvPr id="88" name="Step"/>
          <p:cNvSpPr/>
          <p:nvPr/>
        </p:nvSpPr>
        <p:spPr>
          <a:xfrm>
            <a:off x="7935600" y="1660000"/>
            <a:ext cx="192960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Revise</a:t>
            </a:r>
          </a:p>
        </p:txBody>
      </p:sp>
      <p:sp>
        <p:nvSpPr>
          <p:cNvPr id="89" name="StepText"/>
          <p:cNvSpPr/>
          <p:nvPr/>
        </p:nvSpPr>
        <p:spPr>
          <a:xfrm>
            <a:off x="79756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Change the paper</a:t>
            </a:r>
          </a:p>
          <a:p>
            <a:pPr marL="0" indent="0" algn="ctr">
              <a:lnSpc>
                <a:spcPct val="104000"/>
              </a:lnSpc>
              <a:spcBef>
                <a:spcPts val="200"/>
              </a:spcBef>
              <a:buNone/>
            </a:pPr>
            <a:r>
              <a:rPr lang="en-US" sz="1500" dirty="0">
                <a:solidFill>
                  <a:srgbClr val="000000"/>
                </a:solidFill>
                <a:latin typeface="Arial"/>
                <a:cs typeface="Arial"/>
              </a:rPr>
              <a:t>Reply point by point</a:t>
            </a:r>
          </a:p>
        </p:txBody>
      </p:sp>
      <p:sp>
        <p:nvSpPr>
          <p:cNvPr id="90" name="Step"/>
          <p:cNvSpPr/>
          <p:nvPr/>
        </p:nvSpPr>
        <p:spPr>
          <a:xfrm>
            <a:off x="9805200" y="1660000"/>
            <a:ext cx="1929600" cy="760000"/>
          </a:xfrm>
          <a:prstGeom prst="chevron">
            <a:avLst>
              <a:gd name="adj" fmla="val 28000"/>
            </a:avLst>
          </a:prstGeom>
          <a:solidFill>
            <a:srgbClr val="8A99A3"/>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Accepted</a:t>
            </a:r>
          </a:p>
        </p:txBody>
      </p:sp>
      <p:sp>
        <p:nvSpPr>
          <p:cNvPr id="91" name="StepText"/>
          <p:cNvSpPr/>
          <p:nvPr/>
        </p:nvSpPr>
        <p:spPr>
          <a:xfrm>
            <a:off x="9845200" y="2580000"/>
            <a:ext cx="17896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Proofs, then publication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Most papers are revised before acceptance. Reply to every point politely.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Responding to reviewers: the point-by-point table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Comment, response, and exactly where the paper changed. Illustrative rows built on the annotated Paper 1.</a:t>
            </a:r>
          </a:p>
        </p:txBody>
      </p:sp>
      <p:sp>
        <p:nvSpPr>
          <p:cNvPr id="70" name="CardHead"/>
          <p:cNvSpPr/>
          <p:nvPr/>
        </p:nvSpPr>
        <p:spPr>
          <a:xfrm>
            <a:off x="457200" y="2042333"/>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R1.1</a:t>
            </a:r>
          </a:p>
        </p:txBody>
      </p:sp>
      <p:sp>
        <p:nvSpPr>
          <p:cNvPr id="71" name="CardBody"/>
          <p:cNvSpPr/>
          <p:nvPr/>
        </p:nvSpPr>
        <p:spPr>
          <a:xfrm>
            <a:off x="457200" y="2682333"/>
            <a:ext cx="3625866"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Comment: please do not call p = 0.42 a 'non-significant trend'.</a:t>
            </a:r>
          </a:p>
          <a:p>
            <a:pPr marL="0" indent="0" algn="ctr">
              <a:lnSpc>
                <a:spcPct val="104000"/>
              </a:lnSpc>
              <a:spcBef>
                <a:spcPts val="400"/>
              </a:spcBef>
              <a:buNone/>
            </a:pPr>
            <a:r>
              <a:rPr lang="en-US" sz="1450" dirty="0">
                <a:solidFill>
                  <a:srgbClr val="2E8B57"/>
                </a:solidFill>
                <a:latin typeface="Arial"/>
                <a:cs typeface="Arial"/>
              </a:rPr>
              <a:t>Accept: thank you, we agree. We report the estimate with its 95% CI and removed 'trend'.</a:t>
            </a:r>
          </a:p>
          <a:p>
            <a:pPr marL="0" indent="0" algn="ctr">
              <a:lnSpc>
                <a:spcPct val="104000"/>
              </a:lnSpc>
              <a:spcBef>
                <a:spcPts val="400"/>
              </a:spcBef>
              <a:buNone/>
            </a:pPr>
            <a:r>
              <a:rPr lang="en-US" sz="1450" i="1" dirty="0">
                <a:solidFill>
                  <a:srgbClr val="000000"/>
                </a:solidFill>
                <a:latin typeface="Arial"/>
                <a:cs typeface="Arial"/>
              </a:rPr>
              <a:t>Change: Discussion, p.10, lines 4-6</a:t>
            </a:r>
          </a:p>
        </p:txBody>
      </p:sp>
      <p:sp>
        <p:nvSpPr>
          <p:cNvPr id="72" name="CardHead"/>
          <p:cNvSpPr/>
          <p:nvPr/>
        </p:nvSpPr>
        <p:spPr>
          <a:xfrm>
            <a:off x="4283066" y="2042333"/>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R1.2</a:t>
            </a:r>
          </a:p>
        </p:txBody>
      </p:sp>
      <p:sp>
        <p:nvSpPr>
          <p:cNvPr id="73" name="CardBody"/>
          <p:cNvSpPr/>
          <p:nvPr/>
        </p:nvSpPr>
        <p:spPr>
          <a:xfrm>
            <a:off x="4283066" y="2682333"/>
            <a:ext cx="3625866"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Comment: how was allocation concealed with blocks of 2?</a:t>
            </a:r>
          </a:p>
          <a:p>
            <a:pPr marL="0" indent="0" algn="ctr">
              <a:lnSpc>
                <a:spcPct val="104000"/>
              </a:lnSpc>
              <a:spcBef>
                <a:spcPts val="400"/>
              </a:spcBef>
              <a:buNone/>
            </a:pPr>
            <a:r>
              <a:rPr lang="en-US" sz="1450" dirty="0">
                <a:solidFill>
                  <a:srgbClr val="0B376C"/>
                </a:solidFill>
                <a:latin typeface="Arial"/>
                <a:cs typeface="Arial"/>
              </a:rPr>
              <a:t>Clarify: allocation was central and computer-generated. Block size added as a limitation.</a:t>
            </a:r>
          </a:p>
          <a:p>
            <a:pPr marL="0" indent="0" algn="ctr">
              <a:lnSpc>
                <a:spcPct val="104000"/>
              </a:lnSpc>
              <a:spcBef>
                <a:spcPts val="400"/>
              </a:spcBef>
              <a:buNone/>
            </a:pPr>
            <a:r>
              <a:rPr lang="en-US" sz="1450" i="1" dirty="0">
                <a:solidFill>
                  <a:srgbClr val="000000"/>
                </a:solidFill>
                <a:latin typeface="Arial"/>
                <a:cs typeface="Arial"/>
              </a:rPr>
              <a:t>Change: Methods p.3, limitations p.10</a:t>
            </a:r>
          </a:p>
        </p:txBody>
      </p:sp>
      <p:sp>
        <p:nvSpPr>
          <p:cNvPr id="74" name="CardHead"/>
          <p:cNvSpPr/>
          <p:nvPr/>
        </p:nvSpPr>
        <p:spPr>
          <a:xfrm>
            <a:off x="8108932" y="2042333"/>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R2.1</a:t>
            </a:r>
          </a:p>
        </p:txBody>
      </p:sp>
      <p:sp>
        <p:nvSpPr>
          <p:cNvPr id="75" name="CardBody"/>
          <p:cNvSpPr/>
          <p:nvPr/>
        </p:nvSpPr>
        <p:spPr>
          <a:xfrm>
            <a:off x="8108932" y="2682333"/>
            <a:ext cx="3625866"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Comment: please add 90-day mortality.</a:t>
            </a:r>
          </a:p>
          <a:p>
            <a:pPr marL="0" indent="0" algn="ctr">
              <a:lnSpc>
                <a:spcPct val="104000"/>
              </a:lnSpc>
              <a:spcBef>
                <a:spcPts val="400"/>
              </a:spcBef>
              <a:buNone/>
            </a:pPr>
            <a:r>
              <a:rPr lang="en-US" sz="1450" dirty="0">
                <a:solidFill>
                  <a:srgbClr val="D9822B"/>
                </a:solidFill>
                <a:latin typeface="Arial"/>
                <a:cs typeface="Arial"/>
              </a:rPr>
              <a:t>Rebut, politely: 90-day status was not a pre-specified outcome and was not collected.</a:t>
            </a:r>
          </a:p>
          <a:p>
            <a:pPr marL="0" indent="0" algn="ctr">
              <a:lnSpc>
                <a:spcPct val="104000"/>
              </a:lnSpc>
              <a:spcBef>
                <a:spcPts val="400"/>
              </a:spcBef>
              <a:buNone/>
            </a:pPr>
            <a:r>
              <a:rPr lang="en-US" sz="1450" i="1" dirty="0">
                <a:solidFill>
                  <a:srgbClr val="000000"/>
                </a:solidFill>
                <a:latin typeface="Arial"/>
                <a:cs typeface="Arial"/>
              </a:rPr>
              <a:t>Change: noted as a limitation, p.10</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Thank, answer every point, show what changed, and disagree politely with evidence.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Check: true or false?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2 min</a:t>
            </a:r>
          </a:p>
        </p:txBody>
      </p:sp>
      <p:sp>
        <p:nvSpPr>
          <p:cNvPr id="51" name="Steps"/>
          <p:cNvSpPr txBox="1"/>
          <p:nvPr/>
        </p:nvSpPr>
        <p:spPr>
          <a:xfrm>
            <a:off x="457200" y="1720000"/>
            <a:ext cx="6766560" cy="423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journal that e-mails me first is probably predatory'</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'I can send my paper to two journals at once to save time'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preprint has been peer reviewed'</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'I must answer every reviewer comment, even if I disagree'</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'The FLUID-ICU paper should follow CONSORT'</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Answers</a:t>
            </a:r>
          </a:p>
          <a:p>
            <a:pPr marL="0" indent="0" algn="ctr">
              <a:lnSpc>
                <a:spcPct val="104000"/>
              </a:lnSpc>
              <a:spcBef>
                <a:spcPts val="300"/>
              </a:spcBef>
              <a:buNone/>
            </a:pPr>
            <a:r>
              <a:rPr lang="en-US" sz="1500" dirty="0">
                <a:solidFill>
                  <a:srgbClr val="000000"/>
                </a:solidFill>
                <a:latin typeface="Arial"/>
                <a:cs typeface="Arial"/>
              </a:rPr>
              <a:t>Often: check it twice</a:t>
            </a:r>
          </a:p>
          <a:p>
            <a:pPr marL="0" indent="0" algn="ctr">
              <a:lnSpc>
                <a:spcPct val="104000"/>
              </a:lnSpc>
              <a:spcBef>
                <a:spcPts val="300"/>
              </a:spcBef>
              <a:buNone/>
            </a:pPr>
            <a:r>
              <a:rPr lang="en-US" sz="1500" dirty="0">
                <a:solidFill>
                  <a:srgbClr val="000000"/>
                </a:solidFill>
                <a:latin typeface="Arial"/>
                <a:cs typeface="Arial"/>
              </a:rPr>
              <a:t>False: duplicate submission</a:t>
            </a:r>
          </a:p>
          <a:p>
            <a:pPr marL="0" indent="0" algn="ctr">
              <a:lnSpc>
                <a:spcPct val="104000"/>
              </a:lnSpc>
              <a:spcBef>
                <a:spcPts val="300"/>
              </a:spcBef>
              <a:buNone/>
            </a:pPr>
            <a:r>
              <a:rPr lang="en-US" sz="1500" dirty="0">
                <a:solidFill>
                  <a:srgbClr val="000000"/>
                </a:solidFill>
                <a:latin typeface="Arial"/>
                <a:cs typeface="Arial"/>
              </a:rPr>
              <a:t>False: posted before peer review</a:t>
            </a:r>
          </a:p>
          <a:p>
            <a:pPr marL="0" indent="0" algn="ctr">
              <a:lnSpc>
                <a:spcPct val="104000"/>
              </a:lnSpc>
              <a:spcBef>
                <a:spcPts val="300"/>
              </a:spcBef>
              <a:buNone/>
            </a:pPr>
            <a:r>
              <a:rPr lang="en-US" sz="1500" dirty="0">
                <a:solidFill>
                  <a:srgbClr val="000000"/>
                </a:solidFill>
                <a:latin typeface="Arial"/>
                <a:cs typeface="Arial"/>
              </a:rPr>
              <a:t>True: politely, with evidence</a:t>
            </a:r>
          </a:p>
          <a:p>
            <a:pPr marL="0" indent="0" algn="ctr">
              <a:lnSpc>
                <a:spcPct val="104000"/>
              </a:lnSpc>
              <a:spcBef>
                <a:spcPts val="300"/>
              </a:spcBef>
              <a:buNone/>
            </a:pPr>
            <a:r>
              <a:rPr lang="en-US" sz="1500" dirty="0">
                <a:solidFill>
                  <a:srgbClr val="000000"/>
                </a:solidFill>
                <a:latin typeface="Arial"/>
                <a:cs typeface="Arial"/>
              </a:rPr>
              <a:t>False: STROBE (cohort)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Break</a:t>
            </a:r>
          </a:p>
          <a:p>
            <a:pPr marL="0" indent="0" algn="ctr">
              <a:spcBef>
                <a:spcPts val="600"/>
              </a:spcBef>
              <a:buNone/>
            </a:pPr>
            <a:r>
              <a:rPr lang="en-US" sz="2400" dirty="0">
                <a:solidFill>
                  <a:srgbClr val="595959"/>
                </a:solidFill>
                <a:latin typeface="Arial"/>
                <a:cs typeface="Arial"/>
              </a:rPr>
              <a:t>15 min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8.3  |  25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Be the reviewer</a:t>
            </a:r>
          </a:p>
          <a:p>
            <a:pPr marL="0" indent="0" algn="ctr">
              <a:spcBef>
                <a:spcPts val="1200"/>
              </a:spcBef>
              <a:buNone/>
            </a:pPr>
            <a:r>
              <a:rPr lang="en-US" sz="1900" i="1" dirty="0">
                <a:solidFill>
                  <a:srgbClr val="595959"/>
                </a:solidFill>
                <a:latin typeface="Arial"/>
                <a:cs typeface="Arial"/>
              </a:rPr>
              <a:t>The whole class appraises Paper 1 and Paper 2 together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Two papers, one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Same clinical question (fluids in septic shock), two designs. Both PDFs were sent by email.</a:t>
            </a:r>
          </a:p>
        </p:txBody>
      </p:sp>
      <p:sp>
        <p:nvSpPr>
          <p:cNvPr id="70" name="CardHead"/>
          <p:cNvSpPr/>
          <p:nvPr/>
        </p:nvSpPr>
        <p:spPr>
          <a:xfrm>
            <a:off x="457200" y="2094224"/>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1: randomised trial</a:t>
            </a:r>
          </a:p>
        </p:txBody>
      </p:sp>
      <p:sp>
        <p:nvSpPr>
          <p:cNvPr id="71" name="CardBody"/>
          <p:cNvSpPr/>
          <p:nvPr/>
        </p:nvSpPr>
        <p:spPr>
          <a:xfrm>
            <a:off x="457200" y="2734224"/>
            <a:ext cx="5538800" cy="1647328"/>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Boulet 2024, Critical Care</a:t>
            </a:r>
          </a:p>
          <a:p>
            <a:pPr marL="0" indent="0" algn="ctr">
              <a:lnSpc>
                <a:spcPct val="104000"/>
              </a:lnSpc>
              <a:spcBef>
                <a:spcPts val="400"/>
              </a:spcBef>
              <a:buNone/>
            </a:pPr>
            <a:r>
              <a:rPr lang="en-US" sz="1750" dirty="0">
                <a:solidFill>
                  <a:srgbClr val="000000"/>
                </a:solidFill>
                <a:latin typeface="Arial"/>
                <a:cs typeface="Arial"/>
              </a:rPr>
              <a:t>Pilot trial, 48 patients analysed</a:t>
            </a:r>
          </a:p>
          <a:p>
            <a:pPr marL="0" indent="0" algn="ctr">
              <a:lnSpc>
                <a:spcPct val="104000"/>
              </a:lnSpc>
              <a:spcBef>
                <a:spcPts val="400"/>
              </a:spcBef>
              <a:buNone/>
            </a:pPr>
            <a:r>
              <a:rPr lang="en-US" sz="1750" dirty="0">
                <a:solidFill>
                  <a:srgbClr val="000000"/>
                </a:solidFill>
                <a:latin typeface="Arial"/>
                <a:cs typeface="Arial"/>
              </a:rPr>
              <a:t>Restrictive vs usual fluids in septic shock</a:t>
            </a:r>
          </a:p>
          <a:p>
            <a:pPr marL="0" indent="0" algn="ctr">
              <a:lnSpc>
                <a:spcPct val="104000"/>
              </a:lnSpc>
              <a:spcBef>
                <a:spcPts val="400"/>
              </a:spcBef>
              <a:buNone/>
            </a:pPr>
            <a:r>
              <a:rPr lang="en-US" sz="1750" dirty="0">
                <a:solidFill>
                  <a:srgbClr val="000000"/>
                </a:solidFill>
                <a:latin typeface="Arial"/>
                <a:cs typeface="Arial"/>
              </a:rPr>
              <a:t>Primary outcome: fluid balance on day 5</a:t>
            </a:r>
          </a:p>
        </p:txBody>
      </p:sp>
      <p:sp>
        <p:nvSpPr>
          <p:cNvPr id="72" name="CardHead"/>
          <p:cNvSpPr/>
          <p:nvPr/>
        </p:nvSpPr>
        <p:spPr>
          <a:xfrm>
            <a:off x="6196000" y="2094224"/>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2: cohort study</a:t>
            </a:r>
          </a:p>
        </p:txBody>
      </p:sp>
      <p:sp>
        <p:nvSpPr>
          <p:cNvPr id="73" name="CardBody"/>
          <p:cNvSpPr/>
          <p:nvPr/>
        </p:nvSpPr>
        <p:spPr>
          <a:xfrm>
            <a:off x="6196000" y="2734224"/>
            <a:ext cx="5538800" cy="1647328"/>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Hyun 2023, Annals of Intensive Care</a:t>
            </a:r>
          </a:p>
          <a:p>
            <a:pPr marL="0" indent="0" algn="ctr">
              <a:lnSpc>
                <a:spcPct val="104000"/>
              </a:lnSpc>
              <a:spcBef>
                <a:spcPts val="400"/>
              </a:spcBef>
              <a:buNone/>
            </a:pPr>
            <a:r>
              <a:rPr lang="en-US" sz="1750" dirty="0">
                <a:solidFill>
                  <a:srgbClr val="000000"/>
                </a:solidFill>
                <a:latin typeface="Arial"/>
                <a:cs typeface="Arial"/>
              </a:rPr>
              <a:t>Propensity-matched cohort, 2516 patients</a:t>
            </a:r>
          </a:p>
          <a:p>
            <a:pPr marL="0" indent="0" algn="ctr">
              <a:lnSpc>
                <a:spcPct val="104000"/>
              </a:lnSpc>
              <a:spcBef>
                <a:spcPts val="400"/>
              </a:spcBef>
              <a:buNone/>
            </a:pPr>
            <a:r>
              <a:rPr lang="en-US" sz="1750" dirty="0">
                <a:solidFill>
                  <a:srgbClr val="000000"/>
                </a:solidFill>
                <a:latin typeface="Arial"/>
                <a:cs typeface="Arial"/>
              </a:rPr>
              <a:t>Positive fluid balance in sepsis</a:t>
            </a:r>
          </a:p>
          <a:p>
            <a:pPr marL="0" indent="0" algn="ctr">
              <a:lnSpc>
                <a:spcPct val="104000"/>
              </a:lnSpc>
              <a:spcBef>
                <a:spcPts val="400"/>
              </a:spcBef>
              <a:buNone/>
            </a:pPr>
            <a:r>
              <a:rPr lang="en-US" sz="1750" dirty="0">
                <a:solidFill>
                  <a:srgbClr val="000000"/>
                </a:solidFill>
                <a:latin typeface="Arial"/>
                <a:cs typeface="Arial"/>
              </a:rPr>
              <a:t>Outcome: 28-day mortality</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Same question, two designs: compare what each may claim.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10-question checklist (1-5)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79923"/>
            <a:ext cx="2095520" cy="76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1  Question</a:t>
            </a:r>
          </a:p>
        </p:txBody>
      </p:sp>
      <p:sp>
        <p:nvSpPr>
          <p:cNvPr id="71" name="CardBody"/>
          <p:cNvSpPr/>
          <p:nvPr/>
        </p:nvSpPr>
        <p:spPr>
          <a:xfrm>
            <a:off x="457200" y="2639923"/>
            <a:ext cx="2095520" cy="1990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Can you write the study's PICO in one line?</a:t>
            </a:r>
          </a:p>
        </p:txBody>
      </p:sp>
      <p:sp>
        <p:nvSpPr>
          <p:cNvPr id="72" name="CardHead"/>
          <p:cNvSpPr/>
          <p:nvPr/>
        </p:nvSpPr>
        <p:spPr>
          <a:xfrm>
            <a:off x="2752720" y="1879923"/>
            <a:ext cx="2095520" cy="76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2  Design</a:t>
            </a:r>
          </a:p>
        </p:txBody>
      </p:sp>
      <p:sp>
        <p:nvSpPr>
          <p:cNvPr id="73" name="CardBody"/>
          <p:cNvSpPr/>
          <p:nvPr/>
        </p:nvSpPr>
        <p:spPr>
          <a:xfrm>
            <a:off x="2752720" y="2639923"/>
            <a:ext cx="2095520" cy="1990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What is the design, and is it the right one for the question?</a:t>
            </a:r>
          </a:p>
        </p:txBody>
      </p:sp>
      <p:sp>
        <p:nvSpPr>
          <p:cNvPr id="74" name="CardHead"/>
          <p:cNvSpPr/>
          <p:nvPr/>
        </p:nvSpPr>
        <p:spPr>
          <a:xfrm>
            <a:off x="5048240" y="1879923"/>
            <a:ext cx="2095520" cy="76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3  Participants</a:t>
            </a:r>
          </a:p>
        </p:txBody>
      </p:sp>
      <p:sp>
        <p:nvSpPr>
          <p:cNvPr id="75" name="CardBody"/>
          <p:cNvSpPr/>
          <p:nvPr/>
        </p:nvSpPr>
        <p:spPr>
          <a:xfrm>
            <a:off x="5048240" y="2639923"/>
            <a:ext cx="2095520" cy="1990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Who was included, and who was left out?</a:t>
            </a:r>
          </a:p>
          <a:p>
            <a:pPr marL="0" indent="0" algn="ctr">
              <a:lnSpc>
                <a:spcPct val="104000"/>
              </a:lnSpc>
              <a:spcBef>
                <a:spcPts val="400"/>
              </a:spcBef>
              <a:buNone/>
            </a:pPr>
            <a:r>
              <a:rPr lang="en-US" sz="1400" dirty="0">
                <a:solidFill>
                  <a:srgbClr val="000000"/>
                </a:solidFill>
                <a:latin typeface="Arial"/>
                <a:cs typeface="Arial"/>
              </a:rPr>
              <a:t>Would your patients have been included?</a:t>
            </a:r>
          </a:p>
        </p:txBody>
      </p:sp>
      <p:sp>
        <p:nvSpPr>
          <p:cNvPr id="76" name="CardHead"/>
          <p:cNvSpPr/>
          <p:nvPr/>
        </p:nvSpPr>
        <p:spPr>
          <a:xfrm>
            <a:off x="7343760" y="1879923"/>
            <a:ext cx="2095520" cy="76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4  Comparison groups</a:t>
            </a:r>
          </a:p>
        </p:txBody>
      </p:sp>
      <p:sp>
        <p:nvSpPr>
          <p:cNvPr id="77" name="CardBody"/>
          <p:cNvSpPr/>
          <p:nvPr/>
        </p:nvSpPr>
        <p:spPr>
          <a:xfrm>
            <a:off x="7343760" y="2639923"/>
            <a:ext cx="2095520" cy="1990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Were the groups similar at the start (Table 1)?</a:t>
            </a:r>
          </a:p>
          <a:p>
            <a:pPr marL="0" indent="0" algn="ctr">
              <a:lnSpc>
                <a:spcPct val="104000"/>
              </a:lnSpc>
              <a:spcBef>
                <a:spcPts val="400"/>
              </a:spcBef>
              <a:buNone/>
            </a:pPr>
            <a:r>
              <a:rPr lang="en-US" sz="1400" dirty="0">
                <a:solidFill>
                  <a:srgbClr val="000000"/>
                </a:solidFill>
                <a:latin typeface="Arial"/>
                <a:cs typeface="Arial"/>
              </a:rPr>
              <a:t>How was this achieved: randomisation, matching or adjustment?</a:t>
            </a:r>
          </a:p>
        </p:txBody>
      </p:sp>
      <p:sp>
        <p:nvSpPr>
          <p:cNvPr id="78" name="CardHead"/>
          <p:cNvSpPr/>
          <p:nvPr/>
        </p:nvSpPr>
        <p:spPr>
          <a:xfrm>
            <a:off x="9639280" y="1879923"/>
            <a:ext cx="2095520" cy="76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5  Bias</a:t>
            </a:r>
          </a:p>
        </p:txBody>
      </p:sp>
      <p:sp>
        <p:nvSpPr>
          <p:cNvPr id="79" name="CardBody"/>
          <p:cNvSpPr/>
          <p:nvPr/>
        </p:nvSpPr>
        <p:spPr>
          <a:xfrm>
            <a:off x="9639280" y="2639923"/>
            <a:ext cx="2095520" cy="19902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Who knew which group patients were in (blinding)?</a:t>
            </a:r>
          </a:p>
          <a:p>
            <a:pPr marL="0" indent="0" algn="ctr">
              <a:lnSpc>
                <a:spcPct val="104000"/>
              </a:lnSpc>
              <a:spcBef>
                <a:spcPts val="400"/>
              </a:spcBef>
              <a:buNone/>
            </a:pPr>
            <a:r>
              <a:rPr lang="en-US" sz="1400" dirty="0">
                <a:solidFill>
                  <a:srgbClr val="000000"/>
                </a:solidFill>
                <a:latin typeface="Arial"/>
                <a:cs typeface="Arial"/>
              </a:rPr>
              <a:t>Could that change the outcome?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10-question checklist (6-10)</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2028090"/>
            <a:ext cx="2095520" cy="76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6  Outcome</a:t>
            </a:r>
          </a:p>
        </p:txBody>
      </p:sp>
      <p:sp>
        <p:nvSpPr>
          <p:cNvPr id="71" name="CardBody"/>
          <p:cNvSpPr/>
          <p:nvPr/>
        </p:nvSpPr>
        <p:spPr>
          <a:xfrm>
            <a:off x="457200" y="2788090"/>
            <a:ext cx="2095520" cy="15457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Was there one pre-specified primary outcome, measured the same way in both groups?</a:t>
            </a:r>
          </a:p>
        </p:txBody>
      </p:sp>
      <p:sp>
        <p:nvSpPr>
          <p:cNvPr id="72" name="CardHead"/>
          <p:cNvSpPr/>
          <p:nvPr/>
        </p:nvSpPr>
        <p:spPr>
          <a:xfrm>
            <a:off x="2752720" y="2028090"/>
            <a:ext cx="2095520" cy="76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7  Numbers</a:t>
            </a:r>
          </a:p>
        </p:txBody>
      </p:sp>
      <p:sp>
        <p:nvSpPr>
          <p:cNvPr id="73" name="CardBody"/>
          <p:cNvSpPr/>
          <p:nvPr/>
        </p:nvSpPr>
        <p:spPr>
          <a:xfrm>
            <a:off x="2752720" y="2788090"/>
            <a:ext cx="2095520" cy="15457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What is the main result as an effect size with 95% CI?</a:t>
            </a:r>
          </a:p>
          <a:p>
            <a:pPr marL="0" indent="0" algn="ctr">
              <a:lnSpc>
                <a:spcPct val="104000"/>
              </a:lnSpc>
              <a:spcBef>
                <a:spcPts val="400"/>
              </a:spcBef>
              <a:buNone/>
            </a:pPr>
            <a:r>
              <a:rPr lang="en-US" sz="1400" dirty="0">
                <a:solidFill>
                  <a:srgbClr val="000000"/>
                </a:solidFill>
                <a:latin typeface="Arial"/>
                <a:cs typeface="Arial"/>
              </a:rPr>
              <a:t>Is the CI narrow or wide?</a:t>
            </a:r>
          </a:p>
        </p:txBody>
      </p:sp>
      <p:sp>
        <p:nvSpPr>
          <p:cNvPr id="74" name="CardHead"/>
          <p:cNvSpPr/>
          <p:nvPr/>
        </p:nvSpPr>
        <p:spPr>
          <a:xfrm>
            <a:off x="5048240" y="2028090"/>
            <a:ext cx="2095520" cy="76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8  Words vs design</a:t>
            </a:r>
          </a:p>
        </p:txBody>
      </p:sp>
      <p:sp>
        <p:nvSpPr>
          <p:cNvPr id="75" name="CardBody"/>
          <p:cNvSpPr/>
          <p:nvPr/>
        </p:nvSpPr>
        <p:spPr>
          <a:xfrm>
            <a:off x="5048240" y="2788090"/>
            <a:ext cx="2095520" cy="15457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Do the conclusions match the design ('associated' vs 'caused', no 'trend' for p = 0.42)?</a:t>
            </a:r>
          </a:p>
        </p:txBody>
      </p:sp>
      <p:sp>
        <p:nvSpPr>
          <p:cNvPr id="76" name="CardHead"/>
          <p:cNvSpPr/>
          <p:nvPr/>
        </p:nvSpPr>
        <p:spPr>
          <a:xfrm>
            <a:off x="7343760" y="2028090"/>
            <a:ext cx="2095520" cy="76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9  Limitations</a:t>
            </a:r>
          </a:p>
        </p:txBody>
      </p:sp>
      <p:sp>
        <p:nvSpPr>
          <p:cNvPr id="77" name="CardBody"/>
          <p:cNvSpPr/>
          <p:nvPr/>
        </p:nvSpPr>
        <p:spPr>
          <a:xfrm>
            <a:off x="7343760" y="2788090"/>
            <a:ext cx="2095520" cy="15457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Are the main limitations stated honestly?</a:t>
            </a:r>
          </a:p>
          <a:p>
            <a:pPr marL="0" indent="0" algn="ctr">
              <a:lnSpc>
                <a:spcPct val="104000"/>
              </a:lnSpc>
              <a:spcBef>
                <a:spcPts val="400"/>
              </a:spcBef>
              <a:buNone/>
            </a:pPr>
            <a:r>
              <a:rPr lang="en-US" sz="1400" dirty="0">
                <a:solidFill>
                  <a:srgbClr val="000000"/>
                </a:solidFill>
                <a:latin typeface="Arial"/>
                <a:cs typeface="Arial"/>
              </a:rPr>
              <a:t>Name one the authors missed.</a:t>
            </a:r>
          </a:p>
        </p:txBody>
      </p:sp>
      <p:sp>
        <p:nvSpPr>
          <p:cNvPr id="78" name="CardHead"/>
          <p:cNvSpPr/>
          <p:nvPr/>
        </p:nvSpPr>
        <p:spPr>
          <a:xfrm>
            <a:off x="9639280" y="2028090"/>
            <a:ext cx="2095520" cy="76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00" b="1" dirty="0">
                <a:solidFill>
                  <a:srgbClr val="FFFFFF"/>
                </a:solidFill>
                <a:latin typeface="Arial"/>
                <a:cs typeface="Arial"/>
              </a:rPr>
              <a:t>10  Use</a:t>
            </a:r>
          </a:p>
        </p:txBody>
      </p:sp>
      <p:sp>
        <p:nvSpPr>
          <p:cNvPr id="79" name="CardBody"/>
          <p:cNvSpPr/>
          <p:nvPr/>
        </p:nvSpPr>
        <p:spPr>
          <a:xfrm>
            <a:off x="9639280" y="2788090"/>
            <a:ext cx="2095520" cy="154573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00" dirty="0">
                <a:solidFill>
                  <a:srgbClr val="000000"/>
                </a:solidFill>
                <a:latin typeface="Arial"/>
                <a:cs typeface="Arial"/>
              </a:rPr>
              <a:t>Would this change practice in your unit?</a:t>
            </a:r>
          </a:p>
          <a:p>
            <a:pPr marL="0" indent="0" algn="ctr">
              <a:lnSpc>
                <a:spcPct val="104000"/>
              </a:lnSpc>
              <a:spcBef>
                <a:spcPts val="400"/>
              </a:spcBef>
              <a:buNone/>
            </a:pPr>
            <a:r>
              <a:rPr lang="en-US" sz="1400" dirty="0">
                <a:solidFill>
                  <a:srgbClr val="000000"/>
                </a:solidFill>
                <a:latin typeface="Arial"/>
                <a:cs typeface="Arial"/>
              </a:rPr>
              <a:t>Why, or why not?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Be the reviewer: the whole class appraises both papers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WHOLE-CLASS TASK   |   15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The instructor shows the right page of each paper on the shared screen</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Paper 1: questions 4, 5, 7, 8 and 9</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Paper 2: questions 4, 5, 8 and 9</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For each question, vote in the poll: Yes, No or Can't tell</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A volunteer gives the page and the sentence, microphone on</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Where to look</a:t>
            </a:r>
          </a:p>
          <a:p>
            <a:pPr marL="0" indent="0" algn="ctr">
              <a:lnSpc>
                <a:spcPct val="104000"/>
              </a:lnSpc>
              <a:spcBef>
                <a:spcPts val="300"/>
              </a:spcBef>
              <a:buNone/>
            </a:pPr>
            <a:r>
              <a:rPr lang="en-US" sz="1500" dirty="0">
                <a:solidFill>
                  <a:srgbClr val="000000"/>
                </a:solidFill>
                <a:latin typeface="Arial"/>
                <a:cs typeface="Arial"/>
              </a:rPr>
              <a:t>Abstract: question and result</a:t>
            </a:r>
          </a:p>
          <a:p>
            <a:pPr marL="0" indent="0" algn="ctr">
              <a:lnSpc>
                <a:spcPct val="104000"/>
              </a:lnSpc>
              <a:spcBef>
                <a:spcPts val="300"/>
              </a:spcBef>
              <a:buNone/>
            </a:pPr>
            <a:r>
              <a:rPr lang="en-US" sz="1500" dirty="0">
                <a:solidFill>
                  <a:srgbClr val="000000"/>
                </a:solidFill>
                <a:latin typeface="Arial"/>
                <a:cs typeface="Arial"/>
              </a:rPr>
              <a:t>Methods: design, blinding, outcome</a:t>
            </a:r>
          </a:p>
          <a:p>
            <a:pPr marL="0" indent="0" algn="ctr">
              <a:lnSpc>
                <a:spcPct val="104000"/>
              </a:lnSpc>
              <a:spcBef>
                <a:spcPts val="300"/>
              </a:spcBef>
              <a:buNone/>
            </a:pPr>
            <a:r>
              <a:rPr lang="en-US" sz="1500" dirty="0">
                <a:solidFill>
                  <a:srgbClr val="000000"/>
                </a:solidFill>
                <a:latin typeface="Arial"/>
                <a:cs typeface="Arial"/>
              </a:rPr>
              <a:t>Table 1: groups similar?</a:t>
            </a:r>
          </a:p>
          <a:p>
            <a:pPr marL="0" indent="0" algn="ctr">
              <a:lnSpc>
                <a:spcPct val="104000"/>
              </a:lnSpc>
              <a:spcBef>
                <a:spcPts val="300"/>
              </a:spcBef>
              <a:buNone/>
            </a:pPr>
            <a:r>
              <a:rPr lang="en-US" sz="1500" dirty="0">
                <a:solidFill>
                  <a:srgbClr val="000000"/>
                </a:solidFill>
                <a:latin typeface="Arial"/>
                <a:cs typeface="Arial"/>
              </a:rPr>
              <a:t>Discussion: words and limitations</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OUTPUT   </a:t>
            </a:r>
            <a:r>
              <a:rPr lang="en-US" sz="1500" dirty="0">
                <a:solidFill>
                  <a:srgbClr val="000000"/>
                </a:solidFill>
                <a:latin typeface="Arial"/>
                <a:cs typeface="Arial"/>
              </a:rPr>
              <a:t>A class answer grid for both papers, shared as a PDF. The other questions as homework</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What may each design claim?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23077"/>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1: randomised trial (n = 48)</a:t>
            </a:r>
          </a:p>
        </p:txBody>
      </p:sp>
      <p:sp>
        <p:nvSpPr>
          <p:cNvPr id="71" name="CardBody"/>
          <p:cNvSpPr/>
          <p:nvPr/>
        </p:nvSpPr>
        <p:spPr>
          <a:xfrm>
            <a:off x="457200" y="2163077"/>
            <a:ext cx="5538800"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Chance decided the groups: known and unknown factors balanced</a:t>
            </a:r>
          </a:p>
          <a:p>
            <a:pPr marL="0" indent="0" algn="ctr">
              <a:lnSpc>
                <a:spcPct val="104000"/>
              </a:lnSpc>
              <a:spcBef>
                <a:spcPts val="400"/>
              </a:spcBef>
              <a:buNone/>
            </a:pPr>
            <a:r>
              <a:rPr lang="en-US" sz="1750" dirty="0">
                <a:solidFill>
                  <a:srgbClr val="000000"/>
                </a:solidFill>
                <a:latin typeface="Arial"/>
                <a:cs typeface="Arial"/>
              </a:rPr>
              <a:t>Day-5 balance: difference 13.2 ml/kg (95% CI -15.2 to 41.6), p = 0.42</a:t>
            </a:r>
          </a:p>
          <a:p>
            <a:pPr marL="0" indent="0" algn="ctr">
              <a:lnSpc>
                <a:spcPct val="104000"/>
              </a:lnSpc>
              <a:spcBef>
                <a:spcPts val="400"/>
              </a:spcBef>
              <a:buNone/>
            </a:pPr>
            <a:r>
              <a:rPr lang="en-US" sz="1750" b="1" dirty="0">
                <a:solidFill>
                  <a:srgbClr val="2E8B57"/>
                </a:solidFill>
                <a:latin typeface="Arial"/>
                <a:cs typeface="Arial"/>
              </a:rPr>
              <a:t>May say: 'did not reduce'</a:t>
            </a:r>
          </a:p>
          <a:p>
            <a:pPr marL="0" indent="0" algn="ctr">
              <a:lnSpc>
                <a:spcPct val="104000"/>
              </a:lnSpc>
              <a:spcBef>
                <a:spcPts val="400"/>
              </a:spcBef>
              <a:buNone/>
            </a:pPr>
            <a:r>
              <a:rPr lang="en-US" sz="1750" dirty="0">
                <a:solidFill>
                  <a:srgbClr val="C0392B"/>
                </a:solidFill>
                <a:latin typeface="Arial"/>
                <a:cs typeface="Arial"/>
              </a:rPr>
              <a:t>But too small to be sure: no 'trend'</a:t>
            </a:r>
          </a:p>
        </p:txBody>
      </p:sp>
      <p:sp>
        <p:nvSpPr>
          <p:cNvPr id="72" name="CardHead"/>
          <p:cNvSpPr/>
          <p:nvPr/>
        </p:nvSpPr>
        <p:spPr>
          <a:xfrm>
            <a:off x="6196000" y="1523077"/>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Paper 2: matched cohort (n = 2516)</a:t>
            </a:r>
          </a:p>
        </p:txBody>
      </p:sp>
      <p:sp>
        <p:nvSpPr>
          <p:cNvPr id="73" name="CardBody"/>
          <p:cNvSpPr/>
          <p:nvPr/>
        </p:nvSpPr>
        <p:spPr>
          <a:xfrm>
            <a:off x="6196000" y="2163077"/>
            <a:ext cx="5538800"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Doctors decided the fluid: only measured factors balanced</a:t>
            </a:r>
          </a:p>
          <a:p>
            <a:pPr marL="0" indent="0" algn="ctr">
              <a:lnSpc>
                <a:spcPct val="104000"/>
              </a:lnSpc>
              <a:spcBef>
                <a:spcPts val="400"/>
              </a:spcBef>
              <a:buNone/>
            </a:pPr>
            <a:r>
              <a:rPr lang="en-US" sz="1750" dirty="0">
                <a:solidFill>
                  <a:srgbClr val="000000"/>
                </a:solidFill>
                <a:latin typeface="Arial"/>
                <a:cs typeface="Arial"/>
              </a:rPr>
              <a:t>Day-2 positive balance and 28-day death: HR 2.13 (95% CI 1.48 to 3.06)</a:t>
            </a:r>
          </a:p>
          <a:p>
            <a:pPr marL="0" indent="0" algn="ctr">
              <a:lnSpc>
                <a:spcPct val="104000"/>
              </a:lnSpc>
              <a:spcBef>
                <a:spcPts val="400"/>
              </a:spcBef>
              <a:buNone/>
            </a:pPr>
            <a:r>
              <a:rPr lang="en-US" sz="1750" b="1" dirty="0">
                <a:solidFill>
                  <a:srgbClr val="2E8B57"/>
                </a:solidFill>
                <a:latin typeface="Arial"/>
                <a:cs typeface="Arial"/>
              </a:rPr>
              <a:t>May say: 'is associated with'</a:t>
            </a:r>
          </a:p>
          <a:p>
            <a:pPr marL="0" indent="0" algn="ctr">
              <a:lnSpc>
                <a:spcPct val="104000"/>
              </a:lnSpc>
              <a:spcBef>
                <a:spcPts val="400"/>
              </a:spcBef>
              <a:buNone/>
            </a:pPr>
            <a:r>
              <a:rPr lang="en-US" sz="1750" dirty="0">
                <a:solidFill>
                  <a:srgbClr val="C0392B"/>
                </a:solidFill>
                <a:latin typeface="Arial"/>
                <a:cs typeface="Arial"/>
              </a:rPr>
              <a:t>Not 'impact' or 'show': sicker patients get more fluid</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Randomisation earns the word 'caused'. Observation earns 'associated'.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The two papers side by side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67261"/>
          <a:ext cx="11277600" cy="379184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 </a:t>
                      </a:r>
                    </a:p>
                  </a:txBody>
                  <a:tcPr marL="73152" marR="73152" marT="45720" marB="45720" anchor="ctr">
                    <a:solidFill>
                      <a:srgbClr val="FFFFFF"/>
                    </a:solidFill>
                  </a:tcPr>
                </a:tc>
                <a:tc>
                  <a:txBody>
                    <a:bodyPr/>
                    <a:lstStyle/>
                    <a:p>
                      <a:pPr algn="l"/>
                      <a:r>
                        <a:rPr lang="en-US" sz="1500" b="1" dirty="0">
                          <a:solidFill>
                            <a:srgbClr val="FFFFFF"/>
                          </a:solidFill>
                          <a:latin typeface="Arial"/>
                          <a:cs typeface="Arial"/>
                        </a:rPr>
                        <a:t>Paper 1: RCT (Boulet 2024)</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Paper 2: cohort (Hyun 2023)</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Groups made similar by</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Randomisation 1:1 (blocks of 2)</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Propensity matching (measured factors only)</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Who knew the group</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Clinicians knew, patients, statistician blinded</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Everyone (observational)</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Main result</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13.2 ml/kg (95% CI -15.2 to 41.6), p = 0.42</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Day 2: HR 2.13 (1.48 to 3.06)</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Missed limitation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Blocks of 2 with unblinded clinicians</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Survivor bias (ICU stay of 3+ days)</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Wording problem</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'Non-significant trend' (p = 0.42)</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'Impact', 'did not impact', 'show'</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May claim</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Did not reduce day-5 balance (small pilot)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Positive balance associated with death</a:t>
                      </a:r>
                    </a:p>
                  </a:txBody>
                  <a:tcPr marL="73152" marR="73152" marT="45720" marB="45720" anchor="ctr">
                    <a:solidFill>
                      <a:srgbClr val="F5F9FA"/>
                    </a:solidFill>
                  </a:tcPr>
                </a:tc>
              </a:tr>
            </a:tbl>
          </a:graphicData>
        </a:graphic>
      </p:graphicFrame>
      <p:sp>
        <p:nvSpPr>
          <p:cNvPr id="31" name="Caption"/>
          <p:cNvSpPr txBox="1"/>
          <p:nvPr/>
        </p:nvSpPr>
        <p:spPr>
          <a:xfrm>
            <a:off x="457200" y="5249101"/>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RCT = randomised controlled trial. Pages and details: the trainers' appraisal guide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Proposal presentations  |  45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Your proposals and publication plans</a:t>
            </a:r>
          </a:p>
          <a:p>
            <a:pPr marL="0" indent="0" algn="ctr">
              <a:spcBef>
                <a:spcPts val="1200"/>
              </a:spcBef>
              <a:buNone/>
            </a:pPr>
            <a:r>
              <a:rPr lang="en-US" sz="1900" i="1" dirty="0">
                <a:solidFill>
                  <a:srgbClr val="595959"/>
                </a:solidFill>
                <a:latin typeface="Arial"/>
                <a:cs typeface="Arial"/>
              </a:rPr>
              <a:t>About 5 volunteers, 6 minutes each, then 2 minutes of feedback. Everyone submits slides.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How proposals and presentations are scored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259416"/>
          <a:ext cx="11277600" cy="3909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300" b="1" dirty="0">
                          <a:solidFill>
                            <a:srgbClr val="FFFFFF"/>
                          </a:solidFill>
                          <a:latin typeface="Arial"/>
                          <a:cs typeface="Arial"/>
                        </a:rPr>
                        <a:t>Criterion</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What we look for</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Points</a:t>
                      </a:r>
                    </a:p>
                  </a:txBody>
                  <a:tcPr marL="73152" marR="73152" marT="45720" marB="45720" anchor="ctr">
                    <a:solidFill>
                      <a:srgbClr val="0D7377"/>
                    </a:solidFill>
                  </a:tcPr>
                </a:tc>
              </a:tr>
              <a:tr h="705800">
                <a:tc>
                  <a:txBody>
                    <a:bodyPr/>
                    <a:lstStyle/>
                    <a:p>
                      <a:pPr algn="l"/>
                      <a:r>
                        <a:rPr lang="en-US" sz="1300" dirty="0">
                          <a:solidFill>
                            <a:srgbClr val="000000"/>
                          </a:solidFill>
                          <a:latin typeface="Arial"/>
                          <a:cs typeface="Arial"/>
                        </a:rPr>
                        <a:t>12  Structure and content</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All 6 slides. Question, design, outcome, sample size, ethics, journal and guideline visible</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0-6</a:t>
                      </a:r>
                    </a:p>
                  </a:txBody>
                  <a:tcPr marL="73152" marR="73152" marT="45720" marB="45720" anchor="ctr">
                    <a:solidFill>
                      <a:srgbClr val="FFFFFF"/>
                    </a:solidFill>
                  </a:tcPr>
                </a:tc>
              </a:tr>
              <a:tr h="705800">
                <a:tc>
                  <a:txBody>
                    <a:bodyPr/>
                    <a:lstStyle/>
                    <a:p>
                      <a:pPr algn="l"/>
                      <a:r>
                        <a:rPr lang="en-US" sz="1300" dirty="0">
                          <a:solidFill>
                            <a:srgbClr val="000000"/>
                          </a:solidFill>
                          <a:latin typeface="Arial"/>
                          <a:cs typeface="Arial"/>
                        </a:rPr>
                        <a:t>13  Clarity</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Everyone in the class understands. One message per slide</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0-6</a:t>
                      </a:r>
                    </a:p>
                  </a:txBody>
                  <a:tcPr marL="73152" marR="73152" marT="45720" marB="45720" anchor="ctr">
                    <a:solidFill>
                      <a:srgbClr val="F5F9FA"/>
                    </a:solidFill>
                  </a:tcPr>
                </a:tc>
              </a:tr>
              <a:tr h="705800">
                <a:tc>
                  <a:txBody>
                    <a:bodyPr/>
                    <a:lstStyle/>
                    <a:p>
                      <a:pPr algn="l"/>
                      <a:r>
                        <a:rPr lang="en-US" sz="1300" dirty="0">
                          <a:solidFill>
                            <a:srgbClr val="000000"/>
                          </a:solidFill>
                          <a:latin typeface="Arial"/>
                          <a:cs typeface="Arial"/>
                        </a:rPr>
                        <a:t>14  Visual design</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Readable on a shared screen. Pictures, not text</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0-6</a:t>
                      </a:r>
                    </a:p>
                  </a:txBody>
                  <a:tcPr marL="73152" marR="73152" marT="45720" marB="45720" anchor="ctr">
                    <a:solidFill>
                      <a:srgbClr val="FFFFFF"/>
                    </a:solidFill>
                  </a:tcPr>
                </a:tc>
              </a:tr>
              <a:tr h="705800">
                <a:tc>
                  <a:txBody>
                    <a:bodyPr/>
                    <a:lstStyle/>
                    <a:p>
                      <a:pPr algn="l"/>
                      <a:r>
                        <a:rPr lang="en-US" sz="1300" dirty="0">
                          <a:solidFill>
                            <a:srgbClr val="000000"/>
                          </a:solidFill>
                          <a:latin typeface="Arial"/>
                          <a:cs typeface="Arial"/>
                        </a:rPr>
                        <a:t>15  Timekeeping</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Finished between 5:00 and 6:00</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0-6</a:t>
                      </a:r>
                    </a:p>
                  </a:txBody>
                  <a:tcPr marL="73152" marR="73152" marT="45720" marB="45720" anchor="ctr">
                    <a:solidFill>
                      <a:srgbClr val="F5F9FA"/>
                    </a:solidFill>
                  </a:tcPr>
                </a:tc>
              </a:tr>
              <a:tr h="705800">
                <a:tc>
                  <a:txBody>
                    <a:bodyPr/>
                    <a:lstStyle/>
                    <a:p>
                      <a:pPr algn="l"/>
                      <a:r>
                        <a:rPr lang="en-US" sz="1300" dirty="0">
                          <a:solidFill>
                            <a:srgbClr val="000000"/>
                          </a:solidFill>
                          <a:latin typeface="Arial"/>
                          <a:cs typeface="Arial"/>
                        </a:rPr>
                        <a:t>16  Questions and discussion</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Answers directly and honestly, names the limitations</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0-6</a:t>
                      </a:r>
                    </a:p>
                  </a:txBody>
                  <a:tcPr marL="73152" marR="73152" marT="45720" marB="45720" anchor="ctr">
                    <a:solidFill>
                      <a:srgbClr val="FFFFFF"/>
                    </a:solidFill>
                  </a:tcPr>
                </a:tc>
              </a:tr>
            </a:tbl>
          </a:graphicData>
        </a:graphic>
      </p:graphicFrame>
      <p:sp>
        <p:nvSpPr>
          <p:cNvPr id="31" name="Caption"/>
          <p:cNvSpPr txBox="1"/>
          <p:nvPr/>
        </p:nvSpPr>
        <p:spPr>
          <a:xfrm>
            <a:off x="457200" y="5258416"/>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Written proposal (criteria 1-11, /70): everyone. Criteria 12-16 (/30): presenters only. Rubric: Proposal_Rubric (sent by email with the proposal brief)</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Proposal presentations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070C0"/>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PRESENTATIONS   |   45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070C0"/>
              </a:buClr>
              <a:buFont typeface="Arial"/>
              <a:buChar char="•"/>
            </a:pPr>
            <a:r>
              <a:rPr lang="en-US" sz="1650" dirty="0">
                <a:solidFill>
                  <a:srgbClr val="000000"/>
                </a:solidFill>
                <a:latin typeface="Arial"/>
                <a:cs typeface="Arial"/>
              </a:rPr>
              <a:t>About 5 volunteers present their own proposal: 6 minutes, 6 slides</a:t>
            </a:r>
          </a:p>
          <a:p>
            <a:pPr marL="380000" indent="-380000" algn="l">
              <a:lnSpc>
                <a:spcPct val="104000"/>
              </a:lnSpc>
              <a:spcBef>
                <a:spcPts val="450"/>
              </a:spcBef>
              <a:buClr>
                <a:srgbClr val="0070C0"/>
              </a:buClr>
              <a:buFont typeface="Arial"/>
              <a:buChar char="•"/>
            </a:pPr>
            <a:r>
              <a:rPr lang="en-US" sz="1650" dirty="0">
                <a:solidFill>
                  <a:srgbClr val="000000"/>
                </a:solidFill>
                <a:latin typeface="Arial"/>
                <a:cs typeface="Arial"/>
              </a:rPr>
              <a:t>Slides: title, problem and PICO, design, data and analysis, ethics and feasibility, publication plan</a:t>
            </a:r>
          </a:p>
          <a:p>
            <a:pPr marL="380000" indent="-380000" algn="l">
              <a:lnSpc>
                <a:spcPct val="104000"/>
              </a:lnSpc>
              <a:spcBef>
                <a:spcPts val="450"/>
              </a:spcBef>
              <a:buClr>
                <a:srgbClr val="0070C0"/>
              </a:buClr>
              <a:buFont typeface="Arial"/>
              <a:buChar char="•"/>
            </a:pPr>
            <a:r>
              <a:rPr lang="en-US" sz="1650" dirty="0">
                <a:solidFill>
                  <a:srgbClr val="000000"/>
                </a:solidFill>
                <a:latin typeface="Arial"/>
                <a:cs typeface="Arial"/>
              </a:rPr>
              <a:t>Time signals in the chat: '2 min' at 4:00, '1 min' at 5:00, 'Time' at 6:00</a:t>
            </a:r>
          </a:p>
          <a:p>
            <a:pPr marL="380000" indent="-380000" algn="l">
              <a:lnSpc>
                <a:spcPct val="104000"/>
              </a:lnSpc>
              <a:spcBef>
                <a:spcPts val="450"/>
              </a:spcBef>
              <a:buClr>
                <a:srgbClr val="0070C0"/>
              </a:buClr>
              <a:buFont typeface="Arial"/>
              <a:buChar char="•"/>
            </a:pPr>
            <a:r>
              <a:rPr lang="en-US" sz="1650" dirty="0">
                <a:solidFill>
                  <a:srgbClr val="000000"/>
                </a:solidFill>
                <a:latin typeface="Arial"/>
                <a:cs typeface="Arial"/>
              </a:rPr>
              <a:t>Feedback, 2 minutes: two people give two strengths and one suggestion (microphone on), then the instructor</a:t>
            </a:r>
          </a:p>
          <a:p>
            <a:pPr marL="380000" indent="-380000" algn="l">
              <a:lnSpc>
                <a:spcPct val="104000"/>
              </a:lnSpc>
              <a:spcBef>
                <a:spcPts val="450"/>
              </a:spcBef>
              <a:buClr>
                <a:srgbClr val="0070C0"/>
              </a:buClr>
              <a:buFont typeface="Arial"/>
              <a:buChar char="•"/>
            </a:pPr>
            <a:r>
              <a:rPr lang="en-US" sz="1650" dirty="0">
                <a:solidFill>
                  <a:srgbClr val="000000"/>
                </a:solidFill>
                <a:latin typeface="Arial"/>
                <a:cs typeface="Arial"/>
              </a:rPr>
              <a:t>Everyone submits slides and the written proposal</a:t>
            </a:r>
          </a:p>
        </p:txBody>
      </p:sp>
      <p:sp>
        <p:nvSpPr>
          <p:cNvPr id="52" name="Side"/>
          <p:cNvSpPr/>
          <p:nvPr/>
        </p:nvSpPr>
        <p:spPr>
          <a:xfrm>
            <a:off x="7423760" y="1720000"/>
            <a:ext cx="4311040" cy="228233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070C0"/>
                </a:solidFill>
                <a:latin typeface="Arial"/>
                <a:cs typeface="Arial"/>
              </a:rPr>
              <a:t>Running order</a:t>
            </a:r>
          </a:p>
          <a:p>
            <a:pPr marL="0" indent="0" algn="ctr">
              <a:lnSpc>
                <a:spcPct val="104000"/>
              </a:lnSpc>
              <a:spcBef>
                <a:spcPts val="300"/>
              </a:spcBef>
              <a:buNone/>
            </a:pPr>
            <a:r>
              <a:rPr lang="en-US" sz="1500" dirty="0">
                <a:solidFill>
                  <a:srgbClr val="000000"/>
                </a:solidFill>
                <a:latin typeface="Arial"/>
                <a:cs typeface="Arial"/>
              </a:rPr>
              <a:t>21:30  Presenter 1</a:t>
            </a:r>
          </a:p>
          <a:p>
            <a:pPr marL="0" indent="0" algn="ctr">
              <a:lnSpc>
                <a:spcPct val="104000"/>
              </a:lnSpc>
              <a:spcBef>
                <a:spcPts val="300"/>
              </a:spcBef>
              <a:buNone/>
            </a:pPr>
            <a:r>
              <a:rPr lang="en-US" sz="1500" dirty="0">
                <a:solidFill>
                  <a:srgbClr val="000000"/>
                </a:solidFill>
                <a:latin typeface="Arial"/>
                <a:cs typeface="Arial"/>
              </a:rPr>
              <a:t>21:38  Presenter 2</a:t>
            </a:r>
          </a:p>
          <a:p>
            <a:pPr marL="0" indent="0" algn="ctr">
              <a:lnSpc>
                <a:spcPct val="104000"/>
              </a:lnSpc>
              <a:spcBef>
                <a:spcPts val="300"/>
              </a:spcBef>
              <a:buNone/>
            </a:pPr>
            <a:r>
              <a:rPr lang="en-US" sz="1500" dirty="0">
                <a:solidFill>
                  <a:srgbClr val="000000"/>
                </a:solidFill>
                <a:latin typeface="Arial"/>
                <a:cs typeface="Arial"/>
              </a:rPr>
              <a:t>21:46  Presenter 3</a:t>
            </a:r>
          </a:p>
          <a:p>
            <a:pPr marL="0" indent="0" algn="ctr">
              <a:lnSpc>
                <a:spcPct val="104000"/>
              </a:lnSpc>
              <a:spcBef>
                <a:spcPts val="300"/>
              </a:spcBef>
              <a:buNone/>
            </a:pPr>
            <a:r>
              <a:rPr lang="en-US" sz="1500" dirty="0">
                <a:solidFill>
                  <a:srgbClr val="000000"/>
                </a:solidFill>
                <a:latin typeface="Arial"/>
                <a:cs typeface="Arial"/>
              </a:rPr>
              <a:t>21:54  Presenter 4</a:t>
            </a:r>
          </a:p>
          <a:p>
            <a:pPr marL="0" indent="0" algn="ctr">
              <a:lnSpc>
                <a:spcPct val="104000"/>
              </a:lnSpc>
              <a:spcBef>
                <a:spcPts val="300"/>
              </a:spcBef>
              <a:buNone/>
            </a:pPr>
            <a:r>
              <a:rPr lang="en-US" sz="1500" dirty="0">
                <a:solidFill>
                  <a:srgbClr val="000000"/>
                </a:solidFill>
                <a:latin typeface="Arial"/>
                <a:cs typeface="Arial"/>
              </a:rPr>
              <a:t>22:02  Presenter 5</a:t>
            </a:r>
          </a:p>
          <a:p>
            <a:pPr marL="0" indent="0" algn="ctr">
              <a:lnSpc>
                <a:spcPct val="104000"/>
              </a:lnSpc>
              <a:spcBef>
                <a:spcPts val="300"/>
              </a:spcBef>
              <a:buNone/>
            </a:pPr>
            <a:r>
              <a:rPr lang="en-US" sz="1500" dirty="0">
                <a:solidFill>
                  <a:srgbClr val="000000"/>
                </a:solidFill>
                <a:latin typeface="Arial"/>
                <a:cs typeface="Arial"/>
              </a:rPr>
              <a:t>22:10  Closing round (5 min)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070C0"/>
            </a:solidFill>
          </a:ln>
        </p:spPr>
        <p:txBody>
          <a:bodyPr wrap="square" lIns="182880" tIns="45720" rIns="182880" bIns="45720" rtlCol="0" anchor="ctr">
            <a:normAutofit/>
          </a:bodyPr>
          <a:lstStyle/>
          <a:p>
            <a:pPr marL="0" indent="0" algn="ctr">
              <a:buNone/>
            </a:pPr>
            <a:r>
              <a:rPr lang="en-US" sz="1300" b="1" dirty="0">
                <a:solidFill>
                  <a:srgbClr val="0070C0"/>
                </a:solidFill>
                <a:latin typeface="Arial"/>
                <a:cs typeface="Arial"/>
              </a:rPr>
              <a:t>OUTPUT   </a:t>
            </a:r>
            <a:r>
              <a:rPr lang="en-US" sz="1500" dirty="0">
                <a:solidFill>
                  <a:srgbClr val="000000"/>
                </a:solidFill>
                <a:latin typeface="Arial"/>
                <a:cs typeface="Arial"/>
              </a:rPr>
              <a:t>About five proposals presented. Every proposal and slide set submitted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Extra slides  |  Session 8</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Extra slides: Session 8</a:t>
            </a:r>
          </a:p>
          <a:p>
            <a:pPr marL="0" indent="0" algn="ctr">
              <a:spcBef>
                <a:spcPts val="1200"/>
              </a:spcBef>
              <a:buNone/>
            </a:pPr>
            <a:r>
              <a:rPr lang="en-US" sz="1900" i="1" dirty="0">
                <a:solidFill>
                  <a:srgbClr val="595959"/>
                </a:solidFill>
                <a:latin typeface="Arial"/>
                <a:cs typeface="Arial"/>
              </a:rPr>
              <a:t>Use only if time allows, or for self-study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Key words of Session 8</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67261"/>
          <a:ext cx="11277600" cy="3791840"/>
        </p:xfrm>
        <a:graphic>
          <a:graphicData uri="http://schemas.openxmlformats.org/drawingml/2006/table">
            <a:tbl>
              <a:tblPr firstRow="1" bandRow="1">
                <a:tableStyleId>{5C22544A-7EE6-4342-B048-85BDC9FD1C3A}</a:tableStyleId>
              </a:tblPr>
              <a:tblGrid>
                <a:gridCol w="5638800"/>
                <a:gridCol w="5638800"/>
              </a:tblGrid>
              <a:tr h="380000">
                <a:tc>
                  <a:txBody>
                    <a:bodyPr/>
                    <a:lstStyle/>
                    <a:p>
                      <a:pPr algn="l"/>
                      <a:r>
                        <a:rPr lang="en-US" sz="1500" b="1" dirty="0">
                          <a:solidFill>
                            <a:srgbClr val="FFFFFF"/>
                          </a:solidFill>
                          <a:latin typeface="Arial"/>
                          <a:cs typeface="Arial"/>
                        </a:rPr>
                        <a:t>Term</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In plain words</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Introduction funnel</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Known, not known, aim: three paragraphs</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Six moves</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Answer, compare, explain, limitations, implications, conclusion</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Calibrated language</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Verbs as strong as the design allows ('associated', not 'caused')</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Predatory journal</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Takes fees without real peer review or indexing</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Point-by-point response</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A table answering every reviewer comment with the change made</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Preprint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Public manuscript posted before peer review</a:t>
                      </a:r>
                    </a:p>
                  </a:txBody>
                  <a:tcPr marL="73152" marR="73152" marT="45720" marB="45720" anchor="ctr">
                    <a:solidFill>
                      <a:srgbClr val="F5F9FA"/>
                    </a:solidFill>
                  </a:tcPr>
                </a:tc>
              </a:tr>
            </a:tbl>
          </a:graphicData>
        </a:graphic>
      </p:graphicFrame>
      <p:sp>
        <p:nvSpPr>
          <p:cNvPr id="31" name="Caption"/>
          <p:cNvSpPr txBox="1"/>
          <p:nvPr/>
        </p:nvSpPr>
        <p:spPr>
          <a:xfrm>
            <a:off x="457200" y="5249101"/>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Full glossary (English-Vietnamese): the PDF sent by email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Write it right: fix the spin, then draft your title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INDIVIDUAL TASK   |   6 min</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Rewrite Paper 1's 'non-significant trend' sentence honestly (2 min)</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Rewrite Paper 2's title with calibrated wording</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Draft the working title of your own proposal from its PICO (4 min)</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One line each for Background, Methods, expected Results, Conclusion</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Publication plan (Part 4)</a:t>
            </a:r>
          </a:p>
          <a:p>
            <a:pPr marL="0" indent="0" algn="ctr">
              <a:lnSpc>
                <a:spcPct val="104000"/>
              </a:lnSpc>
              <a:spcBef>
                <a:spcPts val="300"/>
              </a:spcBef>
              <a:buNone/>
            </a:pPr>
            <a:r>
              <a:rPr lang="en-US" sz="1500" dirty="0">
                <a:solidFill>
                  <a:srgbClr val="000000"/>
                </a:solidFill>
                <a:latin typeface="Arial"/>
                <a:cs typeface="Arial"/>
              </a:rPr>
              <a:t>Working title</a:t>
            </a:r>
          </a:p>
          <a:p>
            <a:pPr marL="0" indent="0" algn="ctr">
              <a:lnSpc>
                <a:spcPct val="104000"/>
              </a:lnSpc>
              <a:spcBef>
                <a:spcPts val="300"/>
              </a:spcBef>
              <a:buNone/>
            </a:pPr>
            <a:r>
              <a:rPr lang="en-US" sz="1500" dirty="0">
                <a:solidFill>
                  <a:srgbClr val="000000"/>
                </a:solidFill>
                <a:latin typeface="Arial"/>
                <a:cs typeface="Arial"/>
              </a:rPr>
              <a:t>Abstract skeleton</a:t>
            </a:r>
          </a:p>
          <a:p>
            <a:pPr marL="0" indent="0" algn="ctr">
              <a:lnSpc>
                <a:spcPct val="104000"/>
              </a:lnSpc>
              <a:spcBef>
                <a:spcPts val="300"/>
              </a:spcBef>
              <a:buNone/>
            </a:pPr>
            <a:r>
              <a:rPr lang="en-US" sz="1500" dirty="0">
                <a:solidFill>
                  <a:srgbClr val="000000"/>
                </a:solidFill>
                <a:latin typeface="Arial"/>
                <a:cs typeface="Arial"/>
              </a:rPr>
              <a:t>Authors and their roles</a:t>
            </a:r>
          </a:p>
          <a:p>
            <a:pPr marL="0" indent="0" algn="ctr">
              <a:lnSpc>
                <a:spcPct val="104000"/>
              </a:lnSpc>
              <a:spcBef>
                <a:spcPts val="300"/>
              </a:spcBef>
              <a:buNone/>
            </a:pPr>
            <a:r>
              <a:rPr lang="en-US" sz="1500" dirty="0">
                <a:solidFill>
                  <a:srgbClr val="000000"/>
                </a:solidFill>
                <a:latin typeface="Arial"/>
                <a:cs typeface="Arial"/>
              </a:rPr>
              <a:t>Target journal and guideline (8.2)</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OUTPUT   </a:t>
            </a:r>
            <a:r>
              <a:rPr lang="en-US" sz="1500" dirty="0">
                <a:solidFill>
                  <a:srgbClr val="000000"/>
                </a:solidFill>
                <a:latin typeface="Arial"/>
                <a:cs typeface="Arial"/>
              </a:rPr>
              <a:t>Working title and abstract skeleton for your own presentation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Preprints, open access and licences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1568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Preprint</a:t>
            </a:r>
          </a:p>
        </p:txBody>
      </p:sp>
      <p:sp>
        <p:nvSpPr>
          <p:cNvPr id="71" name="CardBody"/>
          <p:cNvSpPr/>
          <p:nvPr/>
        </p:nvSpPr>
        <p:spPr>
          <a:xfrm>
            <a:off x="457200" y="2255682"/>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Posted before peer review (e.g. medRxiv)</a:t>
            </a:r>
          </a:p>
          <a:p>
            <a:pPr marL="0" indent="0" algn="ctr">
              <a:lnSpc>
                <a:spcPct val="104000"/>
              </a:lnSpc>
              <a:spcBef>
                <a:spcPts val="400"/>
              </a:spcBef>
              <a:buNone/>
            </a:pPr>
            <a:r>
              <a:rPr lang="en-US" sz="1750" dirty="0">
                <a:solidFill>
                  <a:srgbClr val="000000"/>
                </a:solidFill>
                <a:latin typeface="Arial"/>
                <a:cs typeface="Arial"/>
              </a:rPr>
              <a:t>Fast, timestamped, open feedback</a:t>
            </a:r>
          </a:p>
          <a:p>
            <a:pPr marL="0" indent="0" algn="ctr">
              <a:lnSpc>
                <a:spcPct val="104000"/>
              </a:lnSpc>
              <a:spcBef>
                <a:spcPts val="400"/>
              </a:spcBef>
              <a:buNone/>
            </a:pPr>
            <a:r>
              <a:rPr lang="en-US" sz="1750" dirty="0">
                <a:solidFill>
                  <a:srgbClr val="000000"/>
                </a:solidFill>
                <a:latin typeface="Arial"/>
                <a:cs typeface="Arial"/>
              </a:rPr>
              <a:t>Not peer-reviewed: say so</a:t>
            </a:r>
          </a:p>
          <a:p>
            <a:pPr marL="0" indent="0" algn="ctr">
              <a:lnSpc>
                <a:spcPct val="104000"/>
              </a:lnSpc>
              <a:spcBef>
                <a:spcPts val="400"/>
              </a:spcBef>
              <a:buNone/>
            </a:pPr>
            <a:r>
              <a:rPr lang="en-US" sz="1750" dirty="0">
                <a:solidFill>
                  <a:srgbClr val="000000"/>
                </a:solidFill>
                <a:latin typeface="Arial"/>
                <a:cs typeface="Arial"/>
              </a:rPr>
              <a:t>Check the journal's policy</a:t>
            </a:r>
          </a:p>
        </p:txBody>
      </p:sp>
      <p:sp>
        <p:nvSpPr>
          <p:cNvPr id="72" name="CardHead"/>
          <p:cNvSpPr/>
          <p:nvPr/>
        </p:nvSpPr>
        <p:spPr>
          <a:xfrm>
            <a:off x="4283066" y="161568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Open access</a:t>
            </a:r>
          </a:p>
        </p:txBody>
      </p:sp>
      <p:sp>
        <p:nvSpPr>
          <p:cNvPr id="73" name="CardBody"/>
          <p:cNvSpPr/>
          <p:nvPr/>
        </p:nvSpPr>
        <p:spPr>
          <a:xfrm>
            <a:off x="4283066" y="2255682"/>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Free for everyone to read</a:t>
            </a:r>
          </a:p>
          <a:p>
            <a:pPr marL="0" indent="0" algn="ctr">
              <a:lnSpc>
                <a:spcPct val="104000"/>
              </a:lnSpc>
              <a:spcBef>
                <a:spcPts val="400"/>
              </a:spcBef>
              <a:buNone/>
            </a:pPr>
            <a:r>
              <a:rPr lang="en-US" sz="1750" dirty="0">
                <a:solidFill>
                  <a:srgbClr val="000000"/>
                </a:solidFill>
                <a:latin typeface="Arial"/>
                <a:cs typeface="Arial"/>
              </a:rPr>
              <a:t>Gold: the journal charges a fee (APC)</a:t>
            </a:r>
          </a:p>
          <a:p>
            <a:pPr marL="0" indent="0" algn="ctr">
              <a:lnSpc>
                <a:spcPct val="104000"/>
              </a:lnSpc>
              <a:spcBef>
                <a:spcPts val="400"/>
              </a:spcBef>
              <a:buNone/>
            </a:pPr>
            <a:r>
              <a:rPr lang="en-US" sz="1750" dirty="0">
                <a:solidFill>
                  <a:srgbClr val="000000"/>
                </a:solidFill>
                <a:latin typeface="Arial"/>
                <a:cs typeface="Arial"/>
              </a:rPr>
              <a:t>Green: accepted version in a repository</a:t>
            </a:r>
          </a:p>
          <a:p>
            <a:pPr marL="0" indent="0" algn="ctr">
              <a:lnSpc>
                <a:spcPct val="104000"/>
              </a:lnSpc>
              <a:spcBef>
                <a:spcPts val="400"/>
              </a:spcBef>
              <a:buNone/>
            </a:pPr>
            <a:r>
              <a:rPr lang="en-US" sz="1750" dirty="0">
                <a:solidFill>
                  <a:srgbClr val="000000"/>
                </a:solidFill>
                <a:latin typeface="Arial"/>
                <a:cs typeface="Arial"/>
              </a:rPr>
              <a:t>Ask about fee waivers</a:t>
            </a:r>
          </a:p>
        </p:txBody>
      </p:sp>
      <p:sp>
        <p:nvSpPr>
          <p:cNvPr id="74" name="CardHead"/>
          <p:cNvSpPr/>
          <p:nvPr/>
        </p:nvSpPr>
        <p:spPr>
          <a:xfrm>
            <a:off x="8108932" y="1615682"/>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Licence</a:t>
            </a:r>
          </a:p>
        </p:txBody>
      </p:sp>
      <p:sp>
        <p:nvSpPr>
          <p:cNvPr id="75" name="CardBody"/>
          <p:cNvSpPr/>
          <p:nvPr/>
        </p:nvSpPr>
        <p:spPr>
          <a:xfrm>
            <a:off x="8108932" y="2255682"/>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CC BY: re-use with credit (Paper 2)</a:t>
            </a:r>
          </a:p>
          <a:p>
            <a:pPr marL="0" indent="0" algn="ctr">
              <a:lnSpc>
                <a:spcPct val="104000"/>
              </a:lnSpc>
              <a:spcBef>
                <a:spcPts val="400"/>
              </a:spcBef>
              <a:buNone/>
            </a:pPr>
            <a:r>
              <a:rPr lang="en-US" sz="1750" dirty="0">
                <a:solidFill>
                  <a:srgbClr val="000000"/>
                </a:solidFill>
                <a:latin typeface="Arial"/>
                <a:cs typeface="Arial"/>
              </a:rPr>
              <a:t>CC BY-NC-ND: share, no changes (Paper 1)</a:t>
            </a:r>
          </a:p>
          <a:p>
            <a:pPr marL="0" indent="0" algn="ctr">
              <a:lnSpc>
                <a:spcPct val="104000"/>
              </a:lnSpc>
              <a:spcBef>
                <a:spcPts val="400"/>
              </a:spcBef>
              <a:buNone/>
            </a:pPr>
            <a:r>
              <a:rPr lang="en-US" sz="1750" dirty="0">
                <a:solidFill>
                  <a:srgbClr val="000000"/>
                </a:solidFill>
                <a:latin typeface="Arial"/>
                <a:cs typeface="Arial"/>
              </a:rPr>
              <a:t>Read it before you sign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Know who can read, re-use and pay before you submit.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After acceptance: proofs, sharing, corrections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Accepted</a:t>
            </a:r>
          </a:p>
        </p:txBody>
      </p:sp>
      <p:sp>
        <p:nvSpPr>
          <p:cNvPr id="81" name="StepText"/>
          <p:cNvSpPr/>
          <p:nvPr/>
        </p:nvSpPr>
        <p:spPr>
          <a:xfrm>
            <a:off x="497200" y="214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Congratulations</a:t>
            </a:r>
          </a:p>
        </p:txBody>
      </p:sp>
      <p:sp>
        <p:nvSpPr>
          <p:cNvPr id="82" name="Step"/>
          <p:cNvSpPr/>
          <p:nvPr/>
        </p:nvSpPr>
        <p:spPr>
          <a:xfrm>
            <a:off x="2700720" y="122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Proofs</a:t>
            </a:r>
          </a:p>
        </p:txBody>
      </p:sp>
      <p:sp>
        <p:nvSpPr>
          <p:cNvPr id="83" name="StepText"/>
          <p:cNvSpPr/>
          <p:nvPr/>
        </p:nvSpPr>
        <p:spPr>
          <a:xfrm>
            <a:off x="2740720" y="214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Check every number, name and table</a:t>
            </a:r>
          </a:p>
        </p:txBody>
      </p:sp>
      <p:sp>
        <p:nvSpPr>
          <p:cNvPr id="84" name="Step"/>
          <p:cNvSpPr/>
          <p:nvPr/>
        </p:nvSpPr>
        <p:spPr>
          <a:xfrm>
            <a:off x="4944240" y="122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Published</a:t>
            </a:r>
          </a:p>
        </p:txBody>
      </p:sp>
      <p:sp>
        <p:nvSpPr>
          <p:cNvPr id="85" name="StepText"/>
          <p:cNvSpPr/>
          <p:nvPr/>
        </p:nvSpPr>
        <p:spPr>
          <a:xfrm>
            <a:off x="4984240" y="214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Online, with a DOI</a:t>
            </a:r>
          </a:p>
        </p:txBody>
      </p:sp>
      <p:sp>
        <p:nvSpPr>
          <p:cNvPr id="86" name="Step"/>
          <p:cNvSpPr/>
          <p:nvPr/>
        </p:nvSpPr>
        <p:spPr>
          <a:xfrm>
            <a:off x="7187760" y="122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Share</a:t>
            </a:r>
          </a:p>
        </p:txBody>
      </p:sp>
      <p:sp>
        <p:nvSpPr>
          <p:cNvPr id="87" name="StepText"/>
          <p:cNvSpPr/>
          <p:nvPr/>
        </p:nvSpPr>
        <p:spPr>
          <a:xfrm>
            <a:off x="7227760" y="214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Repository, plain-language summary, your unit</a:t>
            </a:r>
          </a:p>
        </p:txBody>
      </p:sp>
      <p:sp>
        <p:nvSpPr>
          <p:cNvPr id="88" name="Step"/>
          <p:cNvSpPr/>
          <p:nvPr/>
        </p:nvSpPr>
        <p:spPr>
          <a:xfrm>
            <a:off x="9431280" y="122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Correct</a:t>
            </a:r>
          </a:p>
        </p:txBody>
      </p:sp>
      <p:sp>
        <p:nvSpPr>
          <p:cNvPr id="89" name="StepText"/>
          <p:cNvSpPr/>
          <p:nvPr/>
        </p:nvSpPr>
        <p:spPr>
          <a:xfrm>
            <a:off x="9471280" y="2140000"/>
            <a:ext cx="216352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Openly, if errors appear</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Read the proofs as carefully as the data. Errors become permanent.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Rejected? Resubmit smarter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Rejection is normal: most papers are rejected at least once.</a:t>
            </a:r>
          </a:p>
        </p:txBody>
      </p:sp>
      <p:sp>
        <p:nvSpPr>
          <p:cNvPr id="70" name="CardHead"/>
          <p:cNvSpPr/>
          <p:nvPr/>
        </p:nvSpPr>
        <p:spPr>
          <a:xfrm>
            <a:off x="457200" y="2111157"/>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Desk rejection</a:t>
            </a:r>
          </a:p>
        </p:txBody>
      </p:sp>
      <p:sp>
        <p:nvSpPr>
          <p:cNvPr id="71" name="CardBody"/>
          <p:cNvSpPr/>
          <p:nvPr/>
        </p:nvSpPr>
        <p:spPr>
          <a:xfrm>
            <a:off x="457200" y="2751157"/>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Out of scope or poorly reported</a:t>
            </a:r>
          </a:p>
          <a:p>
            <a:pPr marL="0" indent="0" algn="ctr">
              <a:lnSpc>
                <a:spcPct val="104000"/>
              </a:lnSpc>
              <a:spcBef>
                <a:spcPts val="400"/>
              </a:spcBef>
              <a:buNone/>
            </a:pPr>
            <a:r>
              <a:rPr lang="en-US" sz="1750" dirty="0">
                <a:solidFill>
                  <a:srgbClr val="000000"/>
                </a:solidFill>
                <a:latin typeface="Arial"/>
                <a:cs typeface="Arial"/>
              </a:rPr>
              <a:t>Often within days</a:t>
            </a:r>
          </a:p>
          <a:p>
            <a:pPr marL="0" indent="0" algn="ctr">
              <a:lnSpc>
                <a:spcPct val="104000"/>
              </a:lnSpc>
              <a:spcBef>
                <a:spcPts val="400"/>
              </a:spcBef>
              <a:buNone/>
            </a:pPr>
            <a:r>
              <a:rPr lang="en-US" sz="1750" dirty="0">
                <a:solidFill>
                  <a:srgbClr val="000000"/>
                </a:solidFill>
                <a:latin typeface="Arial"/>
                <a:cs typeface="Arial"/>
              </a:rPr>
              <a:t>Re-target the journal</a:t>
            </a:r>
          </a:p>
        </p:txBody>
      </p:sp>
      <p:sp>
        <p:nvSpPr>
          <p:cNvPr id="72" name="CardHead"/>
          <p:cNvSpPr/>
          <p:nvPr/>
        </p:nvSpPr>
        <p:spPr>
          <a:xfrm>
            <a:off x="4283066" y="2111157"/>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After review</a:t>
            </a:r>
          </a:p>
        </p:txBody>
      </p:sp>
      <p:sp>
        <p:nvSpPr>
          <p:cNvPr id="73" name="CardBody"/>
          <p:cNvSpPr/>
          <p:nvPr/>
        </p:nvSpPr>
        <p:spPr>
          <a:xfrm>
            <a:off x="4283066" y="2751157"/>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Read the reviews, wait a day</a:t>
            </a:r>
          </a:p>
          <a:p>
            <a:pPr marL="0" indent="0" algn="ctr">
              <a:lnSpc>
                <a:spcPct val="104000"/>
              </a:lnSpc>
              <a:spcBef>
                <a:spcPts val="400"/>
              </a:spcBef>
              <a:buNone/>
            </a:pPr>
            <a:r>
              <a:rPr lang="en-US" sz="1750" dirty="0">
                <a:solidFill>
                  <a:srgbClr val="000000"/>
                </a:solidFill>
                <a:latin typeface="Arial"/>
                <a:cs typeface="Arial"/>
              </a:rPr>
              <a:t>Fix what they found</a:t>
            </a:r>
          </a:p>
          <a:p>
            <a:pPr marL="0" indent="0" algn="ctr">
              <a:lnSpc>
                <a:spcPct val="104000"/>
              </a:lnSpc>
              <a:spcBef>
                <a:spcPts val="400"/>
              </a:spcBef>
              <a:buNone/>
            </a:pPr>
            <a:r>
              <a:rPr lang="en-US" sz="1750" dirty="0">
                <a:solidFill>
                  <a:srgbClr val="000000"/>
                </a:solidFill>
                <a:latin typeface="Arial"/>
                <a:cs typeface="Arial"/>
              </a:rPr>
              <a:t>Never resubmit unchanged</a:t>
            </a:r>
          </a:p>
        </p:txBody>
      </p:sp>
      <p:sp>
        <p:nvSpPr>
          <p:cNvPr id="74" name="CardHead"/>
          <p:cNvSpPr/>
          <p:nvPr/>
        </p:nvSpPr>
        <p:spPr>
          <a:xfrm>
            <a:off x="8108932" y="2111157"/>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Next journal</a:t>
            </a:r>
          </a:p>
        </p:txBody>
      </p:sp>
      <p:sp>
        <p:nvSpPr>
          <p:cNvPr id="75" name="CardBody"/>
          <p:cNvSpPr/>
          <p:nvPr/>
        </p:nvSpPr>
        <p:spPr>
          <a:xfrm>
            <a:off x="8108932" y="2751157"/>
            <a:ext cx="3625866" cy="1596529"/>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Reformat to its Guide for Authors</a:t>
            </a:r>
          </a:p>
          <a:p>
            <a:pPr marL="0" indent="0" algn="ctr">
              <a:lnSpc>
                <a:spcPct val="104000"/>
              </a:lnSpc>
              <a:spcBef>
                <a:spcPts val="400"/>
              </a:spcBef>
              <a:buNone/>
            </a:pPr>
            <a:r>
              <a:rPr lang="en-US" sz="1750" dirty="0">
                <a:solidFill>
                  <a:srgbClr val="000000"/>
                </a:solidFill>
                <a:latin typeface="Arial"/>
                <a:cs typeface="Arial"/>
              </a:rPr>
              <a:t>Use transfer offers if given</a:t>
            </a:r>
          </a:p>
          <a:p>
            <a:pPr marL="0" indent="0" algn="ctr">
              <a:lnSpc>
                <a:spcPct val="104000"/>
              </a:lnSpc>
              <a:spcBef>
                <a:spcPts val="400"/>
              </a:spcBef>
              <a:buNone/>
            </a:pPr>
            <a:r>
              <a:rPr lang="en-US" sz="1750" dirty="0">
                <a:solidFill>
                  <a:srgbClr val="000000"/>
                </a:solidFill>
                <a:latin typeface="Arial"/>
                <a:cs typeface="Arial"/>
              </a:rPr>
              <a:t>Appeal only for a clear error</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The next reviewer may be the same person. Fix the problems first.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Conference abstracts and posters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A poster is a billboard: one message, one figure, readable from 2 metres.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From question to publication: what you can now do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649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Protect</a:t>
            </a:r>
          </a:p>
        </p:txBody>
      </p:sp>
      <p:sp>
        <p:nvSpPr>
          <p:cNvPr id="71" name="CardBody"/>
          <p:cNvSpPr/>
          <p:nvPr/>
        </p:nvSpPr>
        <p:spPr>
          <a:xfrm>
            <a:off x="4572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Ethics, consent, registration</a:t>
            </a:r>
          </a:p>
          <a:p>
            <a:pPr marL="0" indent="0" algn="ctr">
              <a:lnSpc>
                <a:spcPct val="104000"/>
              </a:lnSpc>
              <a:spcBef>
                <a:spcPts val="400"/>
              </a:spcBef>
              <a:buNone/>
            </a:pPr>
            <a:r>
              <a:rPr lang="en-US" sz="1600" dirty="0">
                <a:solidFill>
                  <a:srgbClr val="000000"/>
                </a:solidFill>
                <a:latin typeface="Arial"/>
                <a:cs typeface="Arial"/>
              </a:rPr>
              <a:t>Honest data and authorship</a:t>
            </a:r>
          </a:p>
        </p:txBody>
      </p:sp>
      <p:sp>
        <p:nvSpPr>
          <p:cNvPr id="72" name="CardHead"/>
          <p:cNvSpPr/>
          <p:nvPr/>
        </p:nvSpPr>
        <p:spPr>
          <a:xfrm>
            <a:off x="3326600" y="17649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Write</a:t>
            </a:r>
          </a:p>
        </p:txBody>
      </p:sp>
      <p:sp>
        <p:nvSpPr>
          <p:cNvPr id="73" name="CardBody"/>
          <p:cNvSpPr/>
          <p:nvPr/>
        </p:nvSpPr>
        <p:spPr>
          <a:xfrm>
            <a:off x="33266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IMRaD in the right order</a:t>
            </a:r>
          </a:p>
          <a:p>
            <a:pPr marL="0" indent="0" algn="ctr">
              <a:lnSpc>
                <a:spcPct val="104000"/>
              </a:lnSpc>
              <a:spcBef>
                <a:spcPts val="400"/>
              </a:spcBef>
              <a:buNone/>
            </a:pPr>
            <a:r>
              <a:rPr lang="en-US" sz="1600" dirty="0">
                <a:solidFill>
                  <a:srgbClr val="000000"/>
                </a:solidFill>
                <a:latin typeface="Arial"/>
                <a:cs typeface="Arial"/>
              </a:rPr>
              <a:t>Numbers with CIs</a:t>
            </a:r>
          </a:p>
          <a:p>
            <a:pPr marL="0" indent="0" algn="ctr">
              <a:lnSpc>
                <a:spcPct val="104000"/>
              </a:lnSpc>
              <a:spcBef>
                <a:spcPts val="400"/>
              </a:spcBef>
              <a:buNone/>
            </a:pPr>
            <a:r>
              <a:rPr lang="en-US" sz="1600" dirty="0">
                <a:solidFill>
                  <a:srgbClr val="000000"/>
                </a:solidFill>
                <a:latin typeface="Arial"/>
                <a:cs typeface="Arial"/>
              </a:rPr>
              <a:t>Verbs that match the design</a:t>
            </a:r>
          </a:p>
        </p:txBody>
      </p:sp>
      <p:sp>
        <p:nvSpPr>
          <p:cNvPr id="74" name="CardHead"/>
          <p:cNvSpPr/>
          <p:nvPr/>
        </p:nvSpPr>
        <p:spPr>
          <a:xfrm>
            <a:off x="6196000" y="17649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Publish</a:t>
            </a:r>
          </a:p>
        </p:txBody>
      </p:sp>
      <p:sp>
        <p:nvSpPr>
          <p:cNvPr id="75" name="CardBody"/>
          <p:cNvSpPr/>
          <p:nvPr/>
        </p:nvSpPr>
        <p:spPr>
          <a:xfrm>
            <a:off x="61960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Reporting checklist</a:t>
            </a:r>
          </a:p>
          <a:p>
            <a:pPr marL="0" indent="0" algn="ctr">
              <a:lnSpc>
                <a:spcPct val="104000"/>
              </a:lnSpc>
              <a:spcBef>
                <a:spcPts val="400"/>
              </a:spcBef>
              <a:buNone/>
            </a:pPr>
            <a:r>
              <a:rPr lang="en-US" sz="1600" dirty="0">
                <a:solidFill>
                  <a:srgbClr val="000000"/>
                </a:solidFill>
                <a:latin typeface="Arial"/>
                <a:cs typeface="Arial"/>
              </a:rPr>
              <a:t>Trusted journal</a:t>
            </a:r>
          </a:p>
          <a:p>
            <a:pPr marL="0" indent="0" algn="ctr">
              <a:lnSpc>
                <a:spcPct val="104000"/>
              </a:lnSpc>
              <a:spcBef>
                <a:spcPts val="400"/>
              </a:spcBef>
              <a:buNone/>
            </a:pPr>
            <a:r>
              <a:rPr lang="en-US" sz="1600" dirty="0">
                <a:solidFill>
                  <a:srgbClr val="000000"/>
                </a:solidFill>
                <a:latin typeface="Arial"/>
                <a:cs typeface="Arial"/>
              </a:rPr>
              <a:t>Polite, complete responses</a:t>
            </a:r>
          </a:p>
        </p:txBody>
      </p:sp>
      <p:sp>
        <p:nvSpPr>
          <p:cNvPr id="76" name="CardHead"/>
          <p:cNvSpPr/>
          <p:nvPr/>
        </p:nvSpPr>
        <p:spPr>
          <a:xfrm>
            <a:off x="9065400" y="17649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Review</a:t>
            </a:r>
          </a:p>
        </p:txBody>
      </p:sp>
      <p:sp>
        <p:nvSpPr>
          <p:cNvPr id="77" name="CardBody"/>
          <p:cNvSpPr/>
          <p:nvPr/>
        </p:nvSpPr>
        <p:spPr>
          <a:xfrm>
            <a:off x="9065400" y="2404906"/>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10 questions</a:t>
            </a:r>
          </a:p>
          <a:p>
            <a:pPr marL="0" indent="0" algn="ctr">
              <a:lnSpc>
                <a:spcPct val="104000"/>
              </a:lnSpc>
              <a:spcBef>
                <a:spcPts val="400"/>
              </a:spcBef>
              <a:buNone/>
            </a:pPr>
            <a:r>
              <a:rPr lang="en-US" sz="1600" dirty="0">
                <a:solidFill>
                  <a:srgbClr val="000000"/>
                </a:solidFill>
                <a:latin typeface="Arial"/>
                <a:cs typeface="Arial"/>
              </a:rPr>
              <a:t>What each design may claim</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Next: submit your proposal and your Results section, then review one peer's draft.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Closing: what you built and what happens next</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Session 8 · 22:15-22:30</a:t>
            </a:r>
          </a:p>
          <a:p>
            <a:pPr>
              <a:buNone/>
            </a:pPr>
            <a:endParaRPr sz="800"/>
          </a:p>
          <a:p>
            <a:pPr marL="274320" indent="-274320" algn="l">
              <a:spcBef>
                <a:spcPts val="440"/>
              </a:spcBef>
              <a:buFont typeface="Arial"/>
              <a:buChar char="•"/>
            </a:pPr>
            <a:r>
              <a:rPr lang="en-US" sz="1900" dirty="0">
                <a:solidFill>
                  <a:srgbClr val="000000"/>
                </a:solidFill>
                <a:latin typeface="Arial"/>
                <a:cs typeface="Arial"/>
              </a:rPr>
              <a:t>Post-course quiz (the same 24 questions)</a:t>
            </a:r>
          </a:p>
          <a:p>
            <a:pPr marL="274320" indent="-274320" algn="l">
              <a:spcBef>
                <a:spcPts val="440"/>
              </a:spcBef>
              <a:buFont typeface="Arial"/>
              <a:buChar char="•"/>
            </a:pPr>
            <a:r>
              <a:rPr lang="en-US" sz="1900" dirty="0">
                <a:solidFill>
                  <a:srgbClr val="000000"/>
                </a:solidFill>
                <a:latin typeface="Arial"/>
                <a:cs typeface="Arial"/>
              </a:rPr>
              <a:t>What you built in eight sessions</a:t>
            </a:r>
          </a:p>
          <a:p>
            <a:pPr marL="274320" indent="-274320" algn="l">
              <a:spcBef>
                <a:spcPts val="440"/>
              </a:spcBef>
              <a:buFont typeface="Arial"/>
              <a:buChar char="•"/>
            </a:pPr>
            <a:r>
              <a:rPr lang="en-US" sz="1900" dirty="0">
                <a:solidFill>
                  <a:srgbClr val="000000"/>
                </a:solidFill>
                <a:latin typeface="Arial"/>
                <a:cs typeface="Arial"/>
              </a:rPr>
              <a:t>Course evaluation</a:t>
            </a:r>
          </a:p>
          <a:p>
            <a:pPr marL="274320" indent="-274320" algn="l">
              <a:spcBef>
                <a:spcPts val="440"/>
              </a:spcBef>
              <a:buFont typeface="Arial"/>
              <a:buChar char="•"/>
            </a:pPr>
            <a:r>
              <a:rPr lang="en-US" sz="1900" dirty="0">
                <a:solidFill>
                  <a:srgbClr val="000000"/>
                </a:solidFill>
                <a:latin typeface="Arial"/>
                <a:cs typeface="Arial"/>
              </a:rPr>
              <a:t>After the course: submit, then review one peer's Results section</a:t>
            </a:r>
          </a:p>
          <a:p>
            <a:pPr marL="274320" indent="-274320" algn="l">
              <a:spcBef>
                <a:spcPts val="440"/>
              </a:spcBef>
              <a:buFont typeface="Arial"/>
              <a:buChar char="•"/>
            </a:pPr>
            <a:r>
              <a:rPr lang="en-US" sz="1900" dirty="0">
                <a:solidFill>
                  <a:srgbClr val="000000"/>
                </a:solidFill>
                <a:latin typeface="Arial"/>
                <a:cs typeface="Arial"/>
              </a:rPr>
              <a:t>Next steps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Post-course quiz</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QUICK QUIZ   |   8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Open the form: the link is in the chat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Enter your full name, as in Session 1</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The same 24 questions as in Session 1</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Work alone. The answers are shared after the course</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OUTPUT   </a:t>
            </a:r>
            <a:r>
              <a:rPr lang="en-US" sz="1500" dirty="0">
                <a:solidFill>
                  <a:srgbClr val="000000"/>
                </a:solidFill>
                <a:latin typeface="Arial"/>
                <a:cs typeface="Arial"/>
              </a:rPr>
              <a:t>Form submitted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What you built in eight sessions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Ask &amp; find</a:t>
            </a:r>
          </a:p>
        </p:txBody>
      </p:sp>
      <p:sp>
        <p:nvSpPr>
          <p:cNvPr id="81" name="StepText"/>
          <p:cNvSpPr/>
          <p:nvPr/>
        </p:nvSpPr>
        <p:spPr>
          <a:xfrm>
            <a:off x="49720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 PICO question</a:t>
            </a:r>
          </a:p>
          <a:p>
            <a:pPr marL="0" indent="0" algn="ctr">
              <a:lnSpc>
                <a:spcPct val="104000"/>
              </a:lnSpc>
              <a:spcBef>
                <a:spcPts val="200"/>
              </a:spcBef>
              <a:buNone/>
            </a:pPr>
            <a:r>
              <a:rPr lang="en-US" sz="1500" dirty="0">
                <a:solidFill>
                  <a:srgbClr val="000000"/>
                </a:solidFill>
                <a:latin typeface="Arial"/>
                <a:cs typeface="Arial"/>
              </a:rPr>
              <a:t>5 key references</a:t>
            </a:r>
          </a:p>
          <a:p>
            <a:pPr marL="0" indent="0" algn="ctr">
              <a:lnSpc>
                <a:spcPct val="104000"/>
              </a:lnSpc>
              <a:spcBef>
                <a:spcPts val="200"/>
              </a:spcBef>
              <a:buNone/>
            </a:pPr>
            <a:r>
              <a:rPr lang="en-US" sz="1500" dirty="0">
                <a:solidFill>
                  <a:srgbClr val="000000"/>
                </a:solidFill>
                <a:latin typeface="Arial"/>
                <a:cs typeface="Arial"/>
              </a:rPr>
              <a:t>A working title</a:t>
            </a:r>
          </a:p>
        </p:txBody>
      </p:sp>
      <p:sp>
        <p:nvSpPr>
          <p:cNvPr id="82" name="Step"/>
          <p:cNvSpPr/>
          <p:nvPr/>
        </p:nvSpPr>
        <p:spPr>
          <a:xfrm>
            <a:off x="2700720" y="122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Design</a:t>
            </a:r>
          </a:p>
        </p:txBody>
      </p:sp>
      <p:sp>
        <p:nvSpPr>
          <p:cNvPr id="83" name="StepText"/>
          <p:cNvSpPr/>
          <p:nvPr/>
        </p:nvSpPr>
        <p:spPr>
          <a:xfrm>
            <a:off x="274072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 justified design</a:t>
            </a:r>
          </a:p>
          <a:p>
            <a:pPr marL="0" indent="0" algn="ctr">
              <a:lnSpc>
                <a:spcPct val="104000"/>
              </a:lnSpc>
              <a:spcBef>
                <a:spcPts val="200"/>
              </a:spcBef>
              <a:buNone/>
            </a:pPr>
            <a:r>
              <a:rPr lang="en-US" sz="1500" dirty="0">
                <a:solidFill>
                  <a:srgbClr val="000000"/>
                </a:solidFill>
                <a:latin typeface="Arial"/>
                <a:cs typeface="Arial"/>
              </a:rPr>
              <a:t>Outcomes</a:t>
            </a:r>
          </a:p>
          <a:p>
            <a:pPr marL="0" indent="0" algn="ctr">
              <a:lnSpc>
                <a:spcPct val="104000"/>
              </a:lnSpc>
              <a:spcBef>
                <a:spcPts val="200"/>
              </a:spcBef>
              <a:buNone/>
            </a:pPr>
            <a:r>
              <a:rPr lang="en-US" sz="1500" dirty="0">
                <a:solidFill>
                  <a:srgbClr val="000000"/>
                </a:solidFill>
                <a:latin typeface="Arial"/>
                <a:cs typeface="Arial"/>
              </a:rPr>
              <a:t>A bias plan</a:t>
            </a:r>
          </a:p>
        </p:txBody>
      </p:sp>
      <p:sp>
        <p:nvSpPr>
          <p:cNvPr id="84" name="Step"/>
          <p:cNvSpPr/>
          <p:nvPr/>
        </p:nvSpPr>
        <p:spPr>
          <a:xfrm>
            <a:off x="4944240" y="122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Analyse</a:t>
            </a:r>
          </a:p>
        </p:txBody>
      </p:sp>
      <p:sp>
        <p:nvSpPr>
          <p:cNvPr id="85" name="StepText"/>
          <p:cNvSpPr/>
          <p:nvPr/>
        </p:nvSpPr>
        <p:spPr>
          <a:xfrm>
            <a:off x="498424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 CRF and analysis plan</a:t>
            </a:r>
          </a:p>
          <a:p>
            <a:pPr marL="0" indent="0" algn="ctr">
              <a:lnSpc>
                <a:spcPct val="104000"/>
              </a:lnSpc>
              <a:spcBef>
                <a:spcPts val="200"/>
              </a:spcBef>
              <a:buNone/>
            </a:pPr>
            <a:r>
              <a:rPr lang="en-US" sz="1500" dirty="0">
                <a:solidFill>
                  <a:srgbClr val="000000"/>
                </a:solidFill>
                <a:latin typeface="Arial"/>
                <a:cs typeface="Arial"/>
              </a:rPr>
              <a:t>The course dataset read and interpreted</a:t>
            </a:r>
          </a:p>
        </p:txBody>
      </p:sp>
      <p:sp>
        <p:nvSpPr>
          <p:cNvPr id="86" name="Step"/>
          <p:cNvSpPr/>
          <p:nvPr/>
        </p:nvSpPr>
        <p:spPr>
          <a:xfrm>
            <a:off x="7187760" y="122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Write</a:t>
            </a:r>
          </a:p>
        </p:txBody>
      </p:sp>
      <p:sp>
        <p:nvSpPr>
          <p:cNvPr id="87" name="StepText"/>
          <p:cNvSpPr/>
          <p:nvPr/>
        </p:nvSpPr>
        <p:spPr>
          <a:xfrm>
            <a:off x="722776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A Results section</a:t>
            </a:r>
          </a:p>
          <a:p>
            <a:pPr marL="0" indent="0" algn="ctr">
              <a:lnSpc>
                <a:spcPct val="104000"/>
              </a:lnSpc>
              <a:spcBef>
                <a:spcPts val="200"/>
              </a:spcBef>
              <a:buNone/>
            </a:pPr>
            <a:r>
              <a:rPr lang="en-US" sz="1500" dirty="0">
                <a:solidFill>
                  <a:srgbClr val="000000"/>
                </a:solidFill>
                <a:latin typeface="Arial"/>
                <a:cs typeface="Arial"/>
              </a:rPr>
              <a:t>How to write every section and the abstract</a:t>
            </a:r>
          </a:p>
        </p:txBody>
      </p:sp>
      <p:sp>
        <p:nvSpPr>
          <p:cNvPr id="88" name="Step"/>
          <p:cNvSpPr/>
          <p:nvPr/>
        </p:nvSpPr>
        <p:spPr>
          <a:xfrm>
            <a:off x="9431280" y="122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Publish</a:t>
            </a:r>
          </a:p>
        </p:txBody>
      </p:sp>
      <p:sp>
        <p:nvSpPr>
          <p:cNvPr id="89" name="StepText"/>
          <p:cNvSpPr/>
          <p:nvPr/>
        </p:nvSpPr>
        <p:spPr>
          <a:xfrm>
            <a:off x="9471280" y="2140000"/>
            <a:ext cx="2163520" cy="15743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Your own proposal</a:t>
            </a:r>
          </a:p>
          <a:p>
            <a:pPr marL="0" indent="0" algn="ctr">
              <a:lnSpc>
                <a:spcPct val="104000"/>
              </a:lnSpc>
              <a:spcBef>
                <a:spcPts val="200"/>
              </a:spcBef>
              <a:buNone/>
            </a:pPr>
            <a:r>
              <a:rPr lang="en-US" sz="1500" dirty="0">
                <a:solidFill>
                  <a:srgbClr val="000000"/>
                </a:solidFill>
                <a:latin typeface="Arial"/>
                <a:cs typeface="Arial"/>
              </a:rPr>
              <a:t>Your own Results section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Each of you leaves with a research proposal and a Results section ready to submit.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Course evaluation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INDIVIDUAL TASK   |   2 min</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Rate each session: content, pace, usefulness</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One thing to keep, one thing to change</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Interested in Level 2 (statistical modelling in R)?</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OUTPUT   </a:t>
            </a:r>
            <a:r>
              <a:rPr lang="en-US" sz="1500" dirty="0">
                <a:solidFill>
                  <a:srgbClr val="000000"/>
                </a:solidFill>
                <a:latin typeface="Arial"/>
                <a:cs typeface="Arial"/>
              </a:rPr>
              <a:t>Evaluation form submitted (anonymous)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After the course: peer review like real authors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Session 7</a:t>
            </a:r>
          </a:p>
        </p:txBody>
      </p:sp>
      <p:sp>
        <p:nvSpPr>
          <p:cNvPr id="81" name="StepText"/>
          <p:cNvSpPr/>
          <p:nvPr/>
        </p:nvSpPr>
        <p:spPr>
          <a:xfrm>
            <a:off x="497200" y="214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Your reviewer is assigned at random</a:t>
            </a:r>
          </a:p>
        </p:txBody>
      </p:sp>
      <p:sp>
        <p:nvSpPr>
          <p:cNvPr id="82" name="Step"/>
          <p:cNvSpPr/>
          <p:nvPr/>
        </p:nvSpPr>
        <p:spPr>
          <a:xfrm>
            <a:off x="3261600" y="122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Sun 20 Dec</a:t>
            </a:r>
          </a:p>
        </p:txBody>
      </p:sp>
      <p:sp>
        <p:nvSpPr>
          <p:cNvPr id="83" name="StepText"/>
          <p:cNvSpPr/>
          <p:nvPr/>
        </p:nvSpPr>
        <p:spPr>
          <a:xfrm>
            <a:off x="3301600" y="214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Email your Results draft by 23:59</a:t>
            </a:r>
          </a:p>
          <a:p>
            <a:pPr marL="0" indent="0" algn="ctr">
              <a:lnSpc>
                <a:spcPct val="104000"/>
              </a:lnSpc>
              <a:spcBef>
                <a:spcPts val="200"/>
              </a:spcBef>
              <a:buNone/>
            </a:pPr>
            <a:r>
              <a:rPr lang="en-US" sz="1500" dirty="0">
                <a:solidFill>
                  <a:srgbClr val="000000"/>
                </a:solidFill>
                <a:latin typeface="Arial"/>
                <a:cs typeface="Arial"/>
              </a:rPr>
              <a:t>To your reviewer and the instructor</a:t>
            </a:r>
          </a:p>
        </p:txBody>
      </p:sp>
      <p:sp>
        <p:nvSpPr>
          <p:cNvPr id="84" name="Step"/>
          <p:cNvSpPr/>
          <p:nvPr/>
        </p:nvSpPr>
        <p:spPr>
          <a:xfrm>
            <a:off x="6066000" y="122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Wed 30 Dec</a:t>
            </a:r>
          </a:p>
        </p:txBody>
      </p:sp>
      <p:sp>
        <p:nvSpPr>
          <p:cNvPr id="85" name="StepText"/>
          <p:cNvSpPr/>
          <p:nvPr/>
        </p:nvSpPr>
        <p:spPr>
          <a:xfrm>
            <a:off x="6106000" y="214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Send your review report</a:t>
            </a:r>
          </a:p>
          <a:p>
            <a:pPr marL="0" indent="0" algn="ctr">
              <a:lnSpc>
                <a:spcPct val="104000"/>
              </a:lnSpc>
              <a:spcBef>
                <a:spcPts val="200"/>
              </a:spcBef>
              <a:buNone/>
            </a:pPr>
            <a:r>
              <a:rPr lang="en-US" sz="1500" dirty="0">
                <a:solidFill>
                  <a:srgbClr val="000000"/>
                </a:solidFill>
                <a:latin typeface="Arial"/>
                <a:cs typeface="Arial"/>
              </a:rPr>
              <a:t>Use the Results checklist</a:t>
            </a:r>
          </a:p>
        </p:txBody>
      </p:sp>
      <p:sp>
        <p:nvSpPr>
          <p:cNvPr id="86" name="Step"/>
          <p:cNvSpPr/>
          <p:nvPr/>
        </p:nvSpPr>
        <p:spPr>
          <a:xfrm>
            <a:off x="8870400" y="122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Sat 9 Jan</a:t>
            </a:r>
          </a:p>
        </p:txBody>
      </p:sp>
      <p:sp>
        <p:nvSpPr>
          <p:cNvPr id="87" name="StepText"/>
          <p:cNvSpPr/>
          <p:nvPr/>
        </p:nvSpPr>
        <p:spPr>
          <a:xfrm>
            <a:off x="8910400" y="2140000"/>
            <a:ext cx="2724400" cy="133618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Revised Results section</a:t>
            </a:r>
          </a:p>
          <a:p>
            <a:pPr marL="0" indent="0" algn="ctr">
              <a:lnSpc>
                <a:spcPct val="104000"/>
              </a:lnSpc>
              <a:spcBef>
                <a:spcPts val="200"/>
              </a:spcBef>
              <a:buNone/>
            </a:pPr>
            <a:r>
              <a:rPr lang="en-US" sz="1500" dirty="0">
                <a:solidFill>
                  <a:srgbClr val="000000"/>
                </a:solidFill>
                <a:latin typeface="Arial"/>
                <a:cs typeface="Arial"/>
              </a:rPr>
              <a:t>Response to reviewers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KEY MESSAGE   </a:t>
            </a:r>
            <a:r>
              <a:rPr lang="en-US" sz="1550" dirty="0">
                <a:solidFill>
                  <a:srgbClr val="FFFFFF"/>
                </a:solidFill>
                <a:latin typeface="Arial"/>
                <a:cs typeface="Arial"/>
              </a:rPr>
              <a:t>Everyone reviews one Results draft and receives one review.</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What comes next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49015"/>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Completion</a:t>
            </a:r>
          </a:p>
        </p:txBody>
      </p:sp>
      <p:sp>
        <p:nvSpPr>
          <p:cNvPr id="71" name="CardBody"/>
          <p:cNvSpPr/>
          <p:nvPr/>
        </p:nvSpPr>
        <p:spPr>
          <a:xfrm>
            <a:off x="457200" y="2489015"/>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Attendance at 6 of 8 sessions</a:t>
            </a:r>
          </a:p>
          <a:p>
            <a:pPr marL="0" indent="0" algn="ctr">
              <a:lnSpc>
                <a:spcPct val="104000"/>
              </a:lnSpc>
              <a:spcBef>
                <a:spcPts val="400"/>
              </a:spcBef>
              <a:buNone/>
            </a:pPr>
            <a:r>
              <a:rPr lang="en-US" sz="1750" dirty="0">
                <a:solidFill>
                  <a:srgbClr val="000000"/>
                </a:solidFill>
                <a:latin typeface="Arial"/>
                <a:cs typeface="Arial"/>
              </a:rPr>
              <a:t>Proposal submitted</a:t>
            </a:r>
          </a:p>
          <a:p>
            <a:pPr marL="0" indent="0" algn="ctr">
              <a:lnSpc>
                <a:spcPct val="104000"/>
              </a:lnSpc>
              <a:spcBef>
                <a:spcPts val="400"/>
              </a:spcBef>
              <a:buNone/>
            </a:pPr>
            <a:r>
              <a:rPr lang="en-US" sz="1750" dirty="0">
                <a:solidFill>
                  <a:srgbClr val="000000"/>
                </a:solidFill>
                <a:latin typeface="Arial"/>
                <a:cs typeface="Arial"/>
              </a:rPr>
              <a:t>Results draft by 23:59, Sunday 20 December</a:t>
            </a:r>
          </a:p>
          <a:p>
            <a:pPr marL="0" indent="0" algn="ctr">
              <a:lnSpc>
                <a:spcPct val="104000"/>
              </a:lnSpc>
              <a:spcBef>
                <a:spcPts val="400"/>
              </a:spcBef>
              <a:buNone/>
            </a:pPr>
            <a:r>
              <a:rPr lang="en-US" sz="1750" dirty="0">
                <a:solidFill>
                  <a:srgbClr val="000000"/>
                </a:solidFill>
                <a:latin typeface="Arial"/>
                <a:cs typeface="Arial"/>
              </a:rPr>
              <a:t>Review by 30 December, revision by 9 January</a:t>
            </a:r>
          </a:p>
        </p:txBody>
      </p:sp>
      <p:sp>
        <p:nvSpPr>
          <p:cNvPr id="72" name="CardHead"/>
          <p:cNvSpPr/>
          <p:nvPr/>
        </p:nvSpPr>
        <p:spPr>
          <a:xfrm>
            <a:off x="4283066" y="1849015"/>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Your toolkit</a:t>
            </a:r>
          </a:p>
        </p:txBody>
      </p:sp>
      <p:sp>
        <p:nvSpPr>
          <p:cNvPr id="73" name="CardBody"/>
          <p:cNvSpPr/>
          <p:nvPr/>
        </p:nvSpPr>
        <p:spPr>
          <a:xfrm>
            <a:off x="4283066" y="2489015"/>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Slides, handouts, glossary</a:t>
            </a:r>
          </a:p>
          <a:p>
            <a:pPr marL="0" indent="0" algn="ctr">
              <a:lnSpc>
                <a:spcPct val="104000"/>
              </a:lnSpc>
              <a:spcBef>
                <a:spcPts val="400"/>
              </a:spcBef>
              <a:buNone/>
            </a:pPr>
            <a:r>
              <a:rPr lang="en-US" sz="1750" dirty="0">
                <a:solidFill>
                  <a:srgbClr val="000000"/>
                </a:solidFill>
                <a:latin typeface="Arial"/>
                <a:cs typeface="Arial"/>
              </a:rPr>
              <a:t>Templates for every step, from proposal to response to reviewers</a:t>
            </a:r>
          </a:p>
        </p:txBody>
      </p:sp>
      <p:sp>
        <p:nvSpPr>
          <p:cNvPr id="74" name="CardHead"/>
          <p:cNvSpPr/>
          <p:nvPr/>
        </p:nvSpPr>
        <p:spPr>
          <a:xfrm>
            <a:off x="8108932" y="1849015"/>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Keep going</a:t>
            </a:r>
          </a:p>
        </p:txBody>
      </p:sp>
      <p:sp>
        <p:nvSpPr>
          <p:cNvPr id="75" name="CardBody"/>
          <p:cNvSpPr/>
          <p:nvPr/>
        </p:nvSpPr>
        <p:spPr>
          <a:xfrm>
            <a:off x="8108932" y="2489015"/>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Take your proposal to the ethics committee</a:t>
            </a:r>
          </a:p>
          <a:p>
            <a:pPr marL="0" indent="0" algn="ctr">
              <a:lnSpc>
                <a:spcPct val="104000"/>
              </a:lnSpc>
              <a:spcBef>
                <a:spcPts val="400"/>
              </a:spcBef>
              <a:buNone/>
            </a:pPr>
            <a:r>
              <a:rPr lang="en-US" sz="1750" dirty="0">
                <a:solidFill>
                  <a:srgbClr val="000000"/>
                </a:solidFill>
                <a:latin typeface="Arial"/>
                <a:cs typeface="Arial"/>
              </a:rPr>
              <a:t>Level 2: statistical modelling in R</a:t>
            </a:r>
          </a:p>
          <a:p>
            <a:pPr marL="0" indent="0" algn="ctr">
              <a:lnSpc>
                <a:spcPct val="104000"/>
              </a:lnSpc>
              <a:spcBef>
                <a:spcPts val="400"/>
              </a:spcBef>
              <a:buNone/>
            </a:pPr>
            <a:r>
              <a:rPr lang="en-US" sz="1750" dirty="0">
                <a:solidFill>
                  <a:srgbClr val="000000"/>
                </a:solidFill>
                <a:latin typeface="Arial"/>
                <a:cs typeface="Arial"/>
              </a:rPr>
              <a:t>Level 3: advanced methods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Thank you!</a:t>
            </a:r>
          </a:p>
          <a:p>
            <a:pPr marL="0" indent="0" algn="ctr">
              <a:spcBef>
                <a:spcPts val="1200"/>
              </a:spcBef>
              <a:buNone/>
            </a:pPr>
            <a:r>
              <a:rPr lang="en-US" sz="1900" i="1" dirty="0">
                <a:solidFill>
                  <a:srgbClr val="595959"/>
                </a:solidFill>
                <a:latin typeface="Arial"/>
                <a:cs typeface="Arial"/>
              </a:rPr>
              <a:t>Good questions. Sound designs. Honest analysis. Clear writing.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