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(0:00). Week 8, Saturday: the last session. Today the FLUID-ICU manuscripts become complete drafts, we follow a paper from submission to publication, practise reviewing, and every group presents its own proposal.</a:t>
            </a:r>
          </a:p>
          <a:p>
            <a:r>
              <a:rPr lang="en-US" sz="1400" b="0" dirty="0"/>
              <a:t>The closing block (post-course quiz, evaluation, peer-review swap) is the last 15 minutes and has its own slides.</a:t>
            </a:r>
          </a:p>
          <a:p>
            <a:r>
              <a:rPr lang="en-US" sz="1400" b="0" dirty="0"/>
              <a:t>Before you start: all five presentations on ONE laptop; each group's workshop-1 draft open.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(0:00-0:05). Quick hands-up; reveal the answers.</a:t>
            </a:r>
          </a:p>
          <a:p>
            <a:r>
              <a:rPr lang="en-US" sz="1400" b="0" dirty="0"/>
              <a:t>Q3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(0:05-0:30). Eleven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the gap, ideally with conflicting evidence cited on both sides. Paragraph 3: 'We therefore aimed to ...', one aim sentence that matches the primary outcome in the Methods.</a:t>
            </a:r>
          </a:p>
          <a:p>
            <a:r>
              <a:rPr lang="en-US" sz="1400" b="0" dirty="0"/>
              <a:t>Paper 1 is the model (annotations #10-#12): known (positive fluid balance is linked to death; hidden fluids are a large share of intake), unknown (earlier trials targeted resuscitation fluids only), aim (primary objective = fluid balance after 5 days), all in under 500 words (pages 2-3).</a:t>
            </a:r>
          </a:p>
          <a:p>
            <a:r>
              <a:rPr lang="en-US" sz="1400" b="0" dirty="0"/>
              <a:t>Paper 2's paragraph 2 defines the gap by citing both sides of a conflict (annotation #9). Copy that. But its introduction runs to about 550 words and the aim repeats the causal word 'impact' (#3, #10).</a:t>
            </a:r>
          </a:p>
          <a:p>
            <a:r>
              <a:rPr lang="en-US" sz="1400" b="0" dirty="0"/>
              <a:t>Link to Sessions 1-2: your problem statement and PICO already give you this funnel. The next slide shows a worked example for the FLUID-ICU paper.</a:t>
            </a:r>
          </a:p>
          <a:p>
            <a:r>
              <a:rPr lang="en-US" sz="1400" b="0" dirty="0"/>
              <a:t>Ask: in one sentence, what is NOT known in your group's topic?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groups use the references found in Sessions 1-2 plus Papers 1 and 2.</a:t>
            </a:r>
          </a:p>
          <a:p>
            <a:r>
              <a:rPr lang="en-US" sz="1400" b="0" dirty="0"/>
              <a:t>Point out: the confounding by indication from Session 4 IS the gap.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CLASSIC and POINCARE-2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Ask: which move do first-time writers usually skip? Expected: the limitations' direction,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a:t>
            </a:r>
          </a:p>
          <a:p>
            <a:r>
              <a:rPr lang="en-US" sz="1400" b="0" dirty="0"/>
              <a:t>1 Answer: adjusted OR 1.62 (95% CI 1.02 to 2.59). 2 Compare: Paper 2 found day-2 HR 2.13 (1.48 to 3.06). 3 Explain: the crude OR 2.49 fell to 1.62 after adjustment (confounding by indication). 4 Limitations: residual confounding, reverse causation (patients who are dying accumulate fluid), patients dying before day 3; the adjusted Cox HR 1.46 had a CI reaching 1.00. 5 Implications: no basis to restrict fluid. A trial like Paper 1 is needed. 6 Conclusion: 'associated with'.</a:t>
            </a:r>
          </a:p>
          <a:p>
            <a:r>
              <a:rPr lang="en-US" sz="1400" b="0" dirty="0"/>
              <a:t>Optional point for Q1 groups: the association looked stronger in heart failure (adjusted OR 4.39 vs 1.29, p for interaction 0.031, only 90 patients). This is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sicker patients received more fluid AND died more. The imputed estimate is close to the complete-case one, so missing lactate did not change the conclusion.</a:t>
            </a:r>
          </a:p>
          <a:p>
            <a:r>
              <a:rPr lang="en-US" sz="1400" b="0" dirty="0"/>
              <a:t>The adjusted CI starts at 1.02, just above 1. Calibrated sentence: 'a modest association remained'.</a:t>
            </a:r>
          </a:p>
          <a:p>
            <a:r>
              <a:rPr lang="en-US" sz="1400" b="0" dirty="0"/>
              <a:t>Ask: what would you write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(conclusions that go beyond the data)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Room votes 'fine' or 'fix'; ask one person for the fix.</a:t>
            </a:r>
          </a:p>
          <a:p>
            <a:r>
              <a:rPr lang="en-US" sz="1400" b="0" dirty="0"/>
              <a:t>Sentence 3: no 'trend'.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(Background, Methods, Results, Conclusions)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a:p>
            <a:r>
              <a:rPr lang="en-US" sz="1400" b="0" dirty="0"/>
              <a:t>Ask: what is the first thing you look for in an abstract's Results? Expected: the main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and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which matches an adjusted CI of 1.02 to 2.59.</a:t>
            </a:r>
          </a:p>
          <a:p>
            <a:r>
              <a:rPr lang="en-US" sz="1400" b="0" dirty="0"/>
              <a:t>Ask: which abstract sentence would change if the adjusted CI had been 0.95 to 2.40? Expected: Results and Conclusions, which would read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(good), but it is over 25 words and uses value words. A shorter descriptive version is on the slide.</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terms that are NOT in the title, so the paper is found by more searches.</a:t>
            </a:r>
          </a:p>
          <a:p>
            <a:r>
              <a:rPr lang="en-US" sz="1400" b="0" dirty="0"/>
              <a:t>Ask: say your group's study in one line, starting with the design. That is the first draft of your working title. You will write it in the activity at the end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(the Sepsis-3 definitions paper), almost certainly the wrong number (annotation #22). Never cite a reference an AI tool suggested without reading it.</a:t>
            </a:r>
          </a:p>
          <a:p>
            <a:r>
              <a:rPr lang="en-US" sz="1400" b="0" dirty="0"/>
              <a:t>Reporting checklist: fill in CONSORT or STROBE while you write, with page numbers.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(0:30-1:00). Course dataset. Groups add the Introduction, Discussion, Abstract and Title to last Saturday's Methods + Results.</a:t>
            </a:r>
          </a:p>
          <a:p>
            <a:r>
              <a:rPr lang="en-US" sz="1400" b="0" dirty="0"/>
              <a:t>Instructions: Practicals/s8_exercises.md, Part B. Model paragraphs for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 (0:30-1:00). Start a 30-minute timer; Introduction and Discussion are written in parallel.</a:t>
            </a:r>
          </a:p>
          <a:p>
            <a:r>
              <a:rPr lang="en-US" sz="1400" b="0" dirty="0"/>
              <a:t>Circulate. Prompts: 'Does your first Discussion sentence answer the question with the number?' 'Is there a limitation with its direction?' 'Does your conclusion use the same verb as your aim?' 'Is every number in the abstract identical to the Results?'</a:t>
            </a:r>
          </a:p>
          <a:p>
            <a:r>
              <a:rPr lang="en-US" sz="1400" b="0" dirty="0"/>
              <a:t>Q4 group: discuss why complete-case and imputed results differ (or not). Q5 group: survivors only, so say who is missing.</a:t>
            </a:r>
          </a:p>
          <a:p>
            <a:r>
              <a:rPr lang="en-US" sz="1400" b="0" dirty="0"/>
              <a:t>At 0:58 ask groups to save; the draft goes to the peer-review swap (homework, 2 weeks, using the 10-question checklist from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(1:00-1:15).</a:t>
            </a:r>
          </a:p>
          <a:p>
            <a:r>
              <a:rPr lang="en-US" sz="1400" b="0" dirty="0"/>
              <a:t>During the break: put the papers and the student appraisal pack (Practicals/s8_exercises.md, Part D) on the tables: Paper 1 on tables 1-3, Paper 2 on tables 4-5. Use the ORIGINAL (unannotated) papers.</a:t>
            </a:r>
          </a:p>
          <a:p>
            <a:r>
              <a:rPr lang="en-US" sz="1400" b="0" dirty="0"/>
              <a:t>Load all five presentations on one laptop and test the projector.</a:t>
            </a:r>
          </a:p>
          <a:p>
            <a:r>
              <a:rPr lang="en-US" sz="1400" b="0" dirty="0"/>
              <a:t>Collect the five manuscript drafts (shared folder). They are needed for the peer-review swap.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(1:15-1:40). Ten slides, the 3-minute EQUATOR demo and a 2-minute check.</a:t>
            </a:r>
          </a:p>
          <a:p>
            <a:r>
              <a:rPr lang="en-US" sz="1400" b="0" dirty="0"/>
              <a:t>Pace: about 2 minutes per slide. Point to the picture, give one example, move on. The appraisal needs its full 20 minutes at 1:40.</a:t>
            </a:r>
          </a:p>
          <a:p>
            <a:r>
              <a:rPr lang="en-US" sz="1400" b="0" dirty="0"/>
              <a:t>Link to the manuscripts: the FLUID-ICU drafts would go through exactly this route: STROBE checklist, journal choice, submission package,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(equator-network.org).</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(CONSORT); Paper 2 is a cohort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but reading them BEFORE you start is the best design checklist you will find.</a:t>
            </a:r>
          </a:p>
          <a:p>
            <a:r>
              <a:rPr lang="en-US" sz="1400" b="0" dirty="0"/>
              <a:t>Ask each group: which guideline fits your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pharmacists? intensivists?) decide the journal. Trust: indexed in MEDLINE/PubMed, the Directory of Open Access Journals (DOAJ), Scopus or Web of Science, with a clear peer-review and retraction policy.</a:t>
            </a:r>
          </a:p>
          <a:p>
            <a:r>
              <a:rPr lang="en-US" sz="1400" b="0" dirty="0"/>
              <a:t>Cost &amp; speed: many open-access journals charge an article-processing charge (APC); ask about waivers and institutional agreements. Licence: Paper 1 is CC BY-NC-ND (share, but no adaptation or commercial use), Paper 2 is CC BY (re-use with attribution).</a:t>
            </a:r>
          </a:p>
          <a:p>
            <a:r>
              <a:rPr lang="en-US" sz="1400" b="0" dirty="0"/>
              <a:t>Speed: Paper 1 went from submission to acceptance in about 7 weeks (10 Sept to 31 Oct 2024); Paper 2 took about 7 months (15 Jan to 24 Aug 2023). Speed varies; it is not a sign of quality by itself.</a:t>
            </a:r>
          </a:p>
          <a:p>
            <a:r>
              <a:rPr lang="en-US" sz="1400" b="0" dirty="0"/>
              <a:t>Ask: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Check the journal's policy first, and update the preprint with the published reference.</a:t>
            </a:r>
          </a:p>
          <a:p>
            <a:r>
              <a:rPr lang="en-US" sz="1400" b="0" dirty="0"/>
              <a:t>Open access: gold OA means the journal makes the article free and usually charges an article-processing charge (APC). Both our papers are gold OA (annotations #2). Green OA means you deposit the accepted manuscript in a repository, often after an embargo. Ask about waivers and institutional agreements.</a:t>
            </a:r>
          </a:p>
          <a:p>
            <a:r>
              <a:rPr lang="en-US" sz="1400" b="0" dirty="0"/>
              <a:t>Licences: Paper 2 is CC BY (anyone may re-use and adapt with credit); Paper 1 is CC BY-NC-ND (share, but no adaptation or commercial use). This also matters when you want to re-use a figure in teaching.</a:t>
            </a:r>
          </a:p>
          <a:p>
            <a:r>
              <a:rPr lang="en-US" sz="1400" b="0" dirty="0"/>
              <a:t>Ask: you want to put Paper 1's flow chart, redrawn, in your teaching slides. Allowed? Expected: adaptation is not covered by CC BY-NC-ND, so ask permission or cite and link instead.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to see if a journal is really indexed in MEDLINE. Also ask the hospital librarian.</a:t>
            </a:r>
          </a:p>
          <a:p>
            <a:r>
              <a:rPr lang="en-US" sz="1400" b="0" dirty="0"/>
              <a:t>Ask: how many of you received an e-mail like this in the last month? Usually many hands: every clinician who has published once receives them.</a:t>
            </a:r>
          </a:p>
          <a:p>
            <a:r>
              <a:rPr lang="en-US" sz="1400" b="0" dirty="0"/>
              <a:t>The s8 exercise sheet (Part C) has a short 'spot the predatory journal' exercise for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(1:24-1:27). Full script with offline fallback: Course/Demos/s8_demo.md.</a:t>
            </a:r>
          </a:p>
          <a:p>
            <a:r>
              <a:rPr lang="en-US" sz="1400" b="0" dirty="0"/>
              <a:t>Keep it to 3 minutes: EQUATOR home page, search box, CONSORT 2025 page, checklist and flow diagram; then STROBE. Then DOAJ search for a journal title, and the NLM Catalog with the filter 'currently indexed in MEDLINE'. End on the Think.Check.Submit checklist.</a:t>
            </a:r>
          </a:p>
          <a:p>
            <a:r>
              <a:rPr lang="en-US" sz="1400" b="0" dirty="0"/>
              <a:t>If the internet fails, use the screenshots described in the demo script.</a:t>
            </a:r>
          </a:p>
          <a:p>
            <a:r>
              <a:rPr lang="en-US" sz="1400" b="0" dirty="0"/>
              <a:t>Close: ask each group to check the target journal and guideline in its publication plan (Proposal builder 7) and on its FLUID-ICU draft (STROBE). Allow 30 seconds, then continue with the submission package.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covering why this journal, what is new, that the work is not under consideration elsewhere, and any preprint. Title page: all authors, affiliations, ORCID iDs (a free, permanent researcher identifier that every participant can register at orcid.org), corresponding author, word count. Manuscript in the journal's format (blinded if the journal uses double-blind review). Tables and figures in the required files and resolution. The reporting checklist with page numbers. Declarations: ethics approval number, consent, competing interests, funding, data availability, author contributions (CRediT) and AI use. The registration number for trials and systematic reviews. Suggested reviewers: experts without conflicts, not recent co-authors. The editor decides whether to use them. Supplementary files.</a:t>
            </a:r>
          </a:p>
          <a:p>
            <a:r>
              <a:rPr lang="en-US" sz="1400" b="0" dirty="0"/>
              <a:t>Running example: Paper 1 has a complete declarations block, exactly what the submission system asks for, item by item (annotation #48). Graphical abstracts are a journal-specific requirement you only find in the Guide for Authors (#8).</a:t>
            </a:r>
          </a:p>
          <a:p>
            <a:r>
              <a:rPr lang="en-US" sz="1400" b="0" dirty="0"/>
              <a:t>Ask: who in your group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Submit (with cover letter, reporting checklist and declarations). The editor screens, and many papers are rejected here without review ('desk rejection') because they do not fit or are poorly reported. Two or three peer reviewers comment. The editor decides: accept, minor revision, major revision or reject. You revise and answer every comment point by point. Accepted, then proofs (read them carefully!) and publication.</a:t>
            </a:r>
          </a:p>
          <a:p>
            <a:r>
              <a:rPr lang="en-US" sz="1400" b="0" dirty="0"/>
              <a:t>Running example: our annotators judged Paper 1 'minor revision' and Paper 2 'major revision'. Both were published, and both still contain errors a careful reviewer would have caught (Paper 1 even prints the same 'Study protocol' paragraph twice, a proof-reading miss).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illustrative, built on what the annotators say a reviewer would have asked Paper 1: remove the 'non-significant trend' (accept); justify blocks of 2 (clarify and add a limitation); a request for an outcome that was never collected (polite rebuttal: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A template is in Course/Templates/ (response to reviewers).</a:t>
            </a:r>
          </a:p>
          <a:p>
            <a:r>
              <a:rPr lang="en-US" sz="1400" b="0" dirty="0"/>
              <a:t>Ask: a reviewer asks for an analysis you think is inappropriate. What do you write? Expected: thank, explain why with a reference, and offer an alternative if one exists.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in the Methods (page 4) and again after the Conclusions (page 11). It is a duplication that should have been caught at proof stage (annotation #45). Paper 2's affiliations have inconsistent capitalisation (#42).</a:t>
            </a:r>
          </a:p>
          <a:p>
            <a:r>
              <a:rPr lang="en-US" sz="1400" b="0" dirty="0"/>
              <a:t>Sharing: post the article as its licence and the journal's policy allow: institutional repository, a plain-language summary for patients and colleagues, a short talk in your department, social media. If the media call, keep to what the design allows (calibrated language again).</a:t>
            </a:r>
          </a:p>
          <a:p>
            <a:r>
              <a:rPr lang="en-US" sz="1400" b="0" dirty="0"/>
              <a:t>Corrections: if you find an error after publication, contact the journal. A correction is honest; a retraction is for serious errors or misconduct.</a:t>
            </a:r>
          </a:p>
          <a:p>
            <a:r>
              <a:rPr lang="en-US" sz="1400" b="0" dirty="0"/>
              <a:t>Ask: who will present your published results back to your unit? That is part of the dissemination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(1:38-1:40). Thumbs up (true) or down (false) for each; reveal.</a:t>
            </a:r>
          </a:p>
          <a:p>
            <a:r>
              <a:rPr lang="en-US" sz="1400" b="0" dirty="0"/>
              <a:t>Statement 1 is 'often true' rather than always. Real journals also invite papers, but a flattering mass e-mail from an unknown journal deserves the five-flag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(1:40-2:00). Full instructor guide: Course/Resources/appraisal_instructor_guide.md (model answers, prompts, key messages).</a:t>
            </a:r>
          </a:p>
          <a:p>
            <a:r>
              <a:rPr lang="en-US" sz="1400" b="0" dirty="0"/>
              <a:t>Structure: 2 minutes set-up, 10 minutes group work, 8 minutes plenary. Papers and grids were put on the tables during the break.</a:t>
            </a:r>
          </a:p>
          <a:p>
            <a:r>
              <a:rPr lang="en-US" sz="1400" b="0" dirty="0"/>
              <a:t>Why now: after the course each group reviews another group's FLUID-ICU draft with the SAME 10 questions.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(fluids in septic shock) with different designs. Groups 1-3 appraise Paper 1, the randomised trial (Boulet 2024, Critical Care). Groups 4-5 appraise Paper 2, the propensity-matched cohort (Hyun 2023, Annals of Intensive Care).</a:t>
            </a:r>
          </a:p>
          <a:p>
            <a:r>
              <a:rPr lang="en-US" sz="1400" b="0" dirty="0"/>
              <a:t>Each group answers the same 10 questions on the answer grid: Yes / No / Can't tell, plus the page where they found it.</a:t>
            </a:r>
          </a:p>
          <a:p>
            <a:r>
              <a:rPr lang="en-US" sz="1400" b="0" dirty="0"/>
              <a:t>Then the plenary: groups report, and we compare what each design is allowed to claim.</a:t>
            </a:r>
          </a:p>
          <a:p>
            <a:r>
              <a:rPr lang="en-US" sz="1400" b="0" dirty="0"/>
              <a:t>Tip: split the work inside the group: pairs take 3-4 questions each, then the group agrees.</a:t>
            </a:r>
          </a:p>
          <a:p>
            <a:r>
              <a:rPr lang="en-US" sz="1400" b="0" dirty="0"/>
              <a:t>Link to Session 4: the 10 questions are a simplified version of the formal risk-of-bias tools: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Do not explain the answers.</a:t>
            </a:r>
          </a:p>
          <a:p>
            <a:r>
              <a:rPr lang="en-US" sz="1400" b="0" dirty="0"/>
              <a:t>Q1-Q2 are about the question and the design (Sessions 1-4). Q3 is about who was studied, external validity: would your patients be in this study? Q4 is about whether the groups were comparable at baseline (look at Table 1). Q5 is about blinding.</a:t>
            </a:r>
          </a:p>
          <a:p>
            <a:r>
              <a:rPr lang="en-US" sz="1400" b="0" dirty="0"/>
              <a:t>Hint to give: for Q4 the two papers use different tools: randomisation versus propensity-score matching. Ask them to find the sentence that says which.</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Each paper has a clear one (see the instructor guide).</a:t>
            </a:r>
          </a:p>
          <a:p>
            <a:r>
              <a:rPr lang="en-US" sz="1400" b="0" dirty="0"/>
              <a:t>Q10: their clinical judgement. There is no single right answer, but they must give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 (1:42-1:52). Start a visible 10-minute timer.</a:t>
            </a:r>
          </a:p>
          <a:p>
            <a:r>
              <a:rPr lang="en-US" sz="1400" b="0" dirty="0"/>
              <a:t>Circulate between tables. The most useful prompts (more in the instructor guide): Paper 1 groups: 'Who was NOT blinded, and who decided how much fluid the patients got?' (clinicians were unblinded and they prescribe the fluids that make up the outcome); 'Find p = 0.42 in the Discussion. What word did the authors use?' (page 10, 'non-significant trend'). Paper 2 groups: 'Who decided which patients got more fluid?' (the doctors, and sicker patients receive more fluid: confounding by indication); 'Patients had to stay at least 3 days in the ICU. Who is missing?' (early deaths and early discharges: survivor bias).</a:t>
            </a:r>
          </a:p>
          <a:p>
            <a:r>
              <a:rPr lang="en-US" sz="1400" b="0" dirty="0"/>
              <a:t>Time calls: at minute 7 'agree your answers'; at minute 9 'choose your speaker and write your one-sentence verdict'.</a:t>
            </a:r>
          </a:p>
          <a:p>
            <a:r>
              <a:rPr lang="en-US" sz="1400" b="0" dirty="0"/>
              <a:t>If a group is stuck on statistics, tell them 'Can't tell' is allowed and move them to Q8 and Q9.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at the START of the plenary, after the first group reports, to frame the comparison.</a:t>
            </a:r>
          </a:p>
          <a:p>
            <a:r>
              <a:rPr lang="en-US" sz="1400" b="0" dirty="0"/>
              <a:t>Paper 1: chance decided who got the restrictive strategy, so known AND unknown factors are balanced on average, so a randomised trial may make a causal claim. Its claim is negative: the strategy did not reduce day-5 fluid balance (difference 13.2 ml/kg, 95% CI -15.2 to 41.6, p = 0.42). But with 48 patients the CI is wide: this is 'no evidence of an effect', not 'evidence of no effect',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2.13, 95% CI 1.48 to 3.06), not that it 'impacts' or 'shows' anything causal, although its title says 'Impact'.</a:t>
            </a:r>
          </a:p>
          <a:p>
            <a:r>
              <a:rPr lang="en-US" sz="1400" b="0" dirty="0"/>
              <a:t>Ask: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after the groups have given their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page 3; Paper 2: requiring at least 3 ICU days excludes patients who died or left early (survivor bias), page 2); the wording problem (Paper 1 page 10; Paper 2 title and page 4); and the claim each design supports.</a:t>
            </a:r>
          </a:p>
          <a:p>
            <a:r>
              <a:rPr lang="en-US" sz="1400" b="0" dirty="0"/>
              <a:t>Both papers are good, published papers in Q1 journals, and both have fixable flaws. That is the normal state of the literature, which is why appraisal is a clinical skill.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(1:52-2:00). Keep strict time: 1 minute per report. Use the design-claims slide first and the side-by-side table last.</a:t>
            </a:r>
          </a:p>
          <a:p>
            <a:r>
              <a:rPr lang="en-US" sz="1400" b="0" dirty="0"/>
              <a:t>Steer the comparison to Q4 (randomisation vs matching), Q5 (blinding) and Q8 (words vs design). Group 5 should answer Q9-Q10 for Paper 2 when Group 3 does it for Paper 1, if time allows.</a:t>
            </a:r>
          </a:p>
          <a:p>
            <a:r>
              <a:rPr lang="en-US" sz="1400" b="0" dirty="0"/>
              <a:t>The four key messages are on the side panel. Say each of them out loud before you close.</a:t>
            </a:r>
          </a:p>
          <a:p>
            <a:r>
              <a:rPr lang="en-US" sz="1400" b="0" dirty="0"/>
              <a:t>Model answers for all ten questions for both papers: Resources/appraisal_instructor_guide.md.</a:t>
            </a:r>
          </a:p>
          <a:p>
            <a:r>
              <a:rPr lang="en-US" sz="1400" b="0" dirty="0"/>
              <a:t>Transition: 'Now it is your turn to be reviewed.' Then announce the presentation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before the presentations. Ask someone to explain each in their own words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Take-home before the presentations (1 minute). Read the four cards; the closing block will come back to what the course built.</a:t>
            </a:r>
          </a:p>
          <a:p>
            <a:r>
              <a:rPr lang="en-US" sz="1400" b="0" dirty="0"/>
              <a:t>Transition: 'Now it is your turn to be reviewed.' Then announce the running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(2:00-2:45). Five groups x 8 minutes = 40 minutes, then 5 minutes for a one-sentence summary of each group's manuscript (or buffer). The timekeeper is essential.</a:t>
            </a:r>
          </a:p>
          <a:p>
            <a:r>
              <a:rPr lang="en-US" sz="1400" b="0" dirty="0"/>
              <a:t>Appoint a timekeeper from the audience (or the co-trainer) with the green, yellow and red cards.</a:t>
            </a:r>
          </a:p>
          <a:p>
            <a:r>
              <a:rPr lang="en-US" sz="1400" b="0" dirty="0"/>
              <a:t>Remind the room: the reviewing skills we just used now apply to our own proposals,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 the day we score the PRESENTATION only: criteria 12-16 of Course/Assignment/proposal_rubric.md, 6/4/2/0 points each, total out of 30. The written proposal and publication plan (criteria 1-11, out of 70) are marked after the course.</a:t>
            </a:r>
          </a:p>
          <a:p>
            <a:r>
              <a:rPr lang="en-US" sz="1400" b="0" dirty="0"/>
              <a:t>Who scores: the instructors score every group; one peer group (rotating: Group 2 on Group 1, Group 3 on Group 2 ... Group 1 on Group 5) fills the feedback form at the end of proposal_rubric.md.</a:t>
            </a:r>
          </a:p>
          <a:p>
            <a:r>
              <a:rPr lang="en-US" sz="1400" b="0" dirty="0"/>
              <a:t>Feedback in 2 minutes (Assignment/presentation_guide.md): peer group 45 s (two stars and a wish); instructor 60 s (one strength, the most important improvement, one question); presenting group 15 s ('thank you', no defending).</a:t>
            </a:r>
          </a:p>
          <a:p>
            <a:r>
              <a:rPr lang="en-US" sz="1400" b="0" dirty="0"/>
              <a:t>Presenting does. It is feedback to help the group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running order. Clock times are relative to the start of the session (2:00 = two hours in; with an 08:00 start this is 10:00-10:45). 2:40-2:45: each group gives its FLUID-ICU question and main result in one sentence, or the 5 minutes absorb any overrun.</a:t>
            </a:r>
          </a:p>
          <a:p>
            <a:r>
              <a:rPr lang="en-US" sz="1400" b="0" dirty="0"/>
              <a:t>The timekeeper shows GREEN at 4 minutes (2 minutes left), YELLOW at 5 minutes (1 minute left) and RED at 6 minutes (stop).</a:t>
            </a:r>
          </a:p>
          <a:p>
            <a:r>
              <a:rPr lang="en-US" sz="1400" b="0" dirty="0"/>
              <a:t>The next group walks to the front during the previous group's feedback. All slides are already on one laptop, so no USB changes.</a:t>
            </a:r>
          </a:p>
          <a:p>
            <a:r>
              <a:rPr lang="en-US" sz="1400" b="0" dirty="0"/>
              <a:t>If the session runs late, shorten the feedback, never the presentations of the last groups. It is unfair to the group that presents last.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this slide on screen during the presentations if groups present from their own file; otherwise switch to each group's slides.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group: target journal + correct guideline (STROBE for a cohort, CONSORT for a trial), working title in calibrated words, CRediT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At 2:40 each group gives its manuscript in one sentence (question + main result, 1 minute each). At 2:45 collect the feedback forms and move straight to the closing: post-course quiz, evaluation and the peer-review swap (next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if Manuscript workshop 2 finishes early or as homework). Worksheet: Practicals/s8_exercises.md, Part A (writing exercises).</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Use 'association', not 'impact'.</a:t>
            </a:r>
          </a:p>
          <a:p>
            <a:r>
              <a:rPr lang="en-US" sz="1400" b="0" dirty="0"/>
              <a:t>Group title: check 10-16 words, design stated, no value words. Abstract skeleton: Results are EXPECTED results, so write the format, e.g. '28-day mortality, RR (95% CI)'.</a:t>
            </a:r>
          </a:p>
          <a:p>
            <a:r>
              <a:rPr lang="en-US" sz="1400" b="0" dirty="0"/>
              <a:t>Take 2 group titles aloud if there is time. Groups add the title and skeleton to their presentation during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which can save months. Appeal only if there is a clear factual error in the decision.</a:t>
            </a:r>
          </a:p>
          <a:p>
            <a:r>
              <a:rPr lang="en-US" sz="1400" b="0" dirty="0"/>
              <a:t>Never submit to two journals at once (duplicate submission is misconduct).</a:t>
            </a:r>
          </a:p>
          <a:p>
            <a:r>
              <a:rPr lang="en-US" sz="1400" b="0" dirty="0"/>
              <a:t>Ask: what is the first thing you do after a rejection? Expected: read the reviews for things to fix, not for reasons to be angry.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An abstract that says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Do write the full paper: many abstracts never become publications.</a:t>
            </a:r>
          </a:p>
          <a:p>
            <a:r>
              <a:rPr lang="en-US" sz="1400" b="0" dirty="0"/>
              <a:t>A conference abstract template is in Course/Templates/.</a:t>
            </a:r>
          </a:p>
          <a:p>
            <a:r>
              <a:rPr lang="en-US" sz="1400" b="0" dirty="0"/>
              <a:t>Ask: what would be the single figure on your group's poster? Expected: the primary outcome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Last 15 minutes of Session 8. Keep it brisk and positive.</a:t>
            </a:r>
          </a:p>
          <a:p>
            <a:r>
              <a:rPr lang="en-US" sz="1400" b="0" dirty="0"/>
              <a:t>Thank the groups for their presentations before starting the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 out the same quiz (online form or paper).</a:t>
            </a:r>
          </a:p>
          <a:p>
            <a:r>
              <a:rPr lang="en-US" sz="1400" b="0" dirty="0"/>
              <a:t>Later: compute the mean pre/post change with the table in pre_post_quiz_answer_key and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Celebrate: each group has a proposal it could take to the ethics committee and a draft paper.</a:t>
            </a:r>
          </a:p>
          <a:p>
            <a:r>
              <a:rPr lang="en-US" sz="1400" b="0" dirty="0"/>
              <a:t>Ask each group to agree a next step before leaving: who polishes the proposal, target date for the ethics committee, who leads the manuscript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Short anonymous form (paper or online). The pace question matters. We planned the course to be slow, so tell us if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swap: group 1 reviews group 2, 2 reviews 3, ... 5 reviews 1.</a:t>
            </a:r>
          </a:p>
          <a:p>
            <a:r>
              <a:rPr lang="en-US" sz="1400" b="0" dirty="0"/>
              <a:t>Reviews follow Assignment/peer_review_instructions.md and the 10-question checklist. Authors reply with Templates/Response_to_Reviewers_Template.docx.</a:t>
            </a:r>
          </a:p>
          <a:p>
            <a:r>
              <a:rPr lang="en-US" sz="1400" b="0" dirty="0"/>
              <a:t>This is the last step of the whole research process,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Level 2 (hands-on, for those who want to run analyses themselves): reproducible R projects, data management, linear and logistic regression in depth, missing data, publication-ready tables and figures. Prerequisite: this course plus the free Neudata course Clinical Data Analysis in R.</a:t>
            </a:r>
          </a:p>
          <a:p>
            <a:r>
              <a:rPr lang="en-US" sz="1400" b="0" dirty="0"/>
              <a:t>Level 3 (on request): advanced, specialised methods for complex data: meta-analysis, prediction and machine learning, diagnostic accuracy, advanced survival, longitudinal and multilevel models. See Course_Levels/.</a:t>
            </a:r>
          </a:p>
          <a:p>
            <a:r>
              <a:rPr lang="en-US" sz="1400" b="0" dirty="0"/>
              <a:t>Give the trainers' contact details for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Group photo.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(5 min)</a:t>
            </a:r>
          </a:p>
          <a:p>
            <a:pPr marL="274320" indent="-274320" algn="l">
              <a:spcBef>
                <a:spcPts val="440"/>
              </a:spcBef>
              <a:buFont typeface="Arial"/>
              <a:buChar char="•"/>
            </a:pPr>
            <a:r>
              <a:rPr lang="en-US" sz="1900" dirty="0">
                <a:solidFill>
                  <a:srgbClr val="000000"/>
                </a:solidFill>
                <a:latin typeface="Arial"/>
                <a:cs typeface="Arial"/>
              </a:rPr>
              <a:t>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Manuscript workshop 2: complete the draft</a:t>
            </a:r>
          </a:p>
          <a:p>
            <a:pPr marL="274320" indent="-274320" algn="l">
              <a:spcBef>
                <a:spcPts val="440"/>
              </a:spcBef>
              <a:buFont typeface="Arial"/>
              <a:buChar char="•"/>
            </a:pPr>
            <a:r>
              <a:rPr lang="en-US" sz="1900" dirty="0">
                <a:solidFill>
                  <a:srgbClr val="000000"/>
                </a:solidFill>
                <a:latin typeface="Arial"/>
                <a:cs typeface="Arial"/>
              </a:rPr>
              <a:t>8.2  Getting published: from checklist to proofs</a:t>
            </a:r>
          </a:p>
          <a:p>
            <a:pPr marL="274320" indent="-274320" algn="l">
              <a:spcBef>
                <a:spcPts val="440"/>
              </a:spcBef>
              <a:buFont typeface="Arial"/>
              <a:buChar char="•"/>
            </a:pPr>
            <a:r>
              <a:rPr lang="en-US" sz="1900" dirty="0">
                <a:solidFill>
                  <a:srgbClr val="000000"/>
                </a:solidFill>
                <a:latin typeface="Arial"/>
                <a:cs typeface="Arial"/>
              </a:rPr>
              <a:t>8.3  Be the reviewer: appraise Papers 1 and 2</a:t>
            </a:r>
          </a:p>
          <a:p>
            <a:pPr marL="274320" indent="-274320" algn="l">
              <a:spcBef>
                <a:spcPts val="440"/>
              </a:spcBef>
              <a:buFont typeface="Arial"/>
              <a:buChar char="•"/>
            </a:pPr>
            <a:r>
              <a:rPr lang="en-US" sz="1900" dirty="0">
                <a:solidFill>
                  <a:srgbClr val="000000"/>
                </a:solidFill>
                <a:latin typeface="Arial"/>
                <a:cs typeface="Arial"/>
              </a:rPr>
              <a:t>Group presentations: proposal +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The legal representative (or deferred consent if approved)</a:t>
            </a:r>
          </a:p>
          <a:p>
            <a:pPr marL="274320" indent="-274320" algn="l">
              <a:lnSpc>
                <a:spcPct val="104000"/>
              </a:lnSpc>
              <a:spcBef>
                <a:spcPts val="300"/>
              </a:spcBef>
              <a:buFont typeface="Arial"/>
              <a:buChar char="•"/>
            </a:pPr>
            <a:r>
              <a:rPr lang="en-US" sz="1500" dirty="0">
                <a:solidFill>
                  <a:srgbClr val="000000"/>
                </a:solidFill>
                <a:latin typeface="Arial"/>
                <a:cs typeface="Arial"/>
              </a:rPr>
              <a:t>Item 16 (main results)</a:t>
            </a:r>
          </a:p>
          <a:p>
            <a:pPr marL="274320" indent="-274320" algn="l">
              <a:lnSpc>
                <a:spcPct val="104000"/>
              </a:lnSpc>
              <a:spcBef>
                <a:spcPts val="300"/>
              </a:spcBef>
              <a:buFont typeface="Arial"/>
              <a:buChar char="•"/>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a:t>
            </a:r>
          </a:p>
          <a:p>
            <a:pPr marL="0" indent="0" algn="ctr">
              <a:spcBef>
                <a:spcPts val="1200"/>
              </a:spcBef>
              <a:buNone/>
            </a:pPr>
            <a:r>
              <a:rPr lang="en-US" sz="1900" i="1" dirty="0">
                <a:solidFill>
                  <a:srgbClr val="595959"/>
                </a:solidFill>
                <a:latin typeface="Arial"/>
                <a:cs typeface="Arial"/>
              </a:rPr>
              <a:t>Introduction, Discussion, Abstract and Title,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Fluids save lives early in sepsis</a:t>
            </a:r>
          </a:p>
          <a:p>
            <a:pPr marL="0" indent="0" algn="l">
              <a:lnSpc>
                <a:spcPct val="104000"/>
              </a:lnSpc>
              <a:spcBef>
                <a:spcPts val="400"/>
              </a:spcBef>
              <a:buNone/>
            </a:pPr>
            <a:r>
              <a:rPr lang="en-US" sz="1750" dirty="0">
                <a:solidFill>
                  <a:srgbClr val="000000"/>
                </a:solidFill>
                <a:latin typeface="Arial"/>
                <a:cs typeface="Arial"/>
              </a:rPr>
              <a:t>Positive balance linked to death</a:t>
            </a:r>
          </a:p>
          <a:p>
            <a:pPr marL="0" indent="0" algn="l">
              <a:lnSpc>
                <a:spcPct val="104000"/>
              </a:lnSpc>
              <a:spcBef>
                <a:spcPts val="400"/>
              </a:spcBef>
              <a:buNone/>
            </a:pPr>
            <a:r>
              <a:rPr lang="en-US" sz="1750" dirty="0">
                <a:solidFill>
                  <a:srgbClr val="000000"/>
                </a:solidFill>
                <a:latin typeface="Arial"/>
                <a:cs typeface="Arial"/>
              </a:rPr>
              <a:t>(Paper 2; large cohorts)</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Whether the link persists after</a:t>
            </a:r>
          </a:p>
          <a:p>
            <a:pPr marL="0" indent="0" algn="l">
              <a:lnSpc>
                <a:spcPct val="104000"/>
              </a:lnSpc>
              <a:spcBef>
                <a:spcPts val="400"/>
              </a:spcBef>
              <a:buNone/>
            </a:pPr>
            <a:r>
              <a:rPr lang="en-US" sz="1750" dirty="0">
                <a:solidFill>
                  <a:srgbClr val="000000"/>
                </a:solidFill>
                <a:latin typeface="Arial"/>
                <a:cs typeface="Arial"/>
              </a:rPr>
              <a:t>adjusting for severity</a:t>
            </a:r>
          </a:p>
          <a:p>
            <a:pPr marL="0" indent="0" algn="l">
              <a:lnSpc>
                <a:spcPct val="104000"/>
              </a:lnSpc>
              <a:spcBef>
                <a:spcPts val="400"/>
              </a:spcBef>
              <a:buNone/>
            </a:pPr>
            <a:r>
              <a:rPr lang="en-US" sz="1750" dirty="0">
                <a:solidFill>
                  <a:srgbClr val="000000"/>
                </a:solidFill>
                <a:latin typeface="Arial"/>
                <a:cs typeface="Arial"/>
              </a:rPr>
              <a:t>Sicker patients get more fluid</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We examined whether a positive</a:t>
            </a:r>
          </a:p>
          <a:p>
            <a:pPr marL="0" indent="0" algn="l">
              <a:lnSpc>
                <a:spcPct val="104000"/>
              </a:lnSpc>
              <a:spcBef>
                <a:spcPts val="400"/>
              </a:spcBef>
              <a:buNone/>
            </a:pPr>
            <a:r>
              <a:rPr lang="en-US" sz="1750" dirty="0">
                <a:solidFill>
                  <a:srgbClr val="000000"/>
                </a:solidFill>
                <a:latin typeface="Arial"/>
                <a:cs typeface="Arial"/>
              </a:rPr>
              <a:t>balance by day 3 is associated</a:t>
            </a:r>
          </a:p>
          <a:p>
            <a:pPr marL="0" indent="0" algn="l">
              <a:lnSpc>
                <a:spcPct val="104000"/>
              </a:lnSpc>
              <a:spcBef>
                <a:spcPts val="400"/>
              </a:spcBef>
              <a:buNone/>
            </a:pPr>
            <a:r>
              <a:rPr lang="en-US" sz="1750" dirty="0">
                <a:solidFill>
                  <a:srgbClr val="000000"/>
                </a:solidFill>
                <a:latin typeface="Arial"/>
                <a:cs typeface="Arial"/>
              </a:rPr>
              <a:t>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Answer with the number, explain the crude-adjusted gap, end with the same verb.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Better</a:t>
            </a:r>
          </a:p>
          <a:p>
            <a:pPr marL="274320" indent="-274320" algn="l">
              <a:lnSpc>
                <a:spcPct val="104000"/>
              </a:lnSpc>
              <a:spcBef>
                <a:spcPts val="300"/>
              </a:spcBef>
              <a:buFont typeface="Arial"/>
              <a:buChar char="•"/>
            </a:pPr>
            <a:r>
              <a:rPr lang="en-US" sz="1500" dirty="0">
                <a:solidFill>
                  <a:srgbClr val="000000"/>
                </a:solidFill>
                <a:latin typeface="Arial"/>
                <a:cs typeface="Arial"/>
              </a:rPr>
              <a:t>1 '... was associated with ...'</a:t>
            </a:r>
          </a:p>
          <a:p>
            <a:pPr marL="274320" indent="-274320" algn="l">
              <a:lnSpc>
                <a:spcPct val="104000"/>
              </a:lnSpc>
              <a:spcBef>
                <a:spcPts val="300"/>
              </a:spcBef>
              <a:buFont typeface="Arial"/>
              <a:buChar char="•"/>
            </a:pPr>
            <a:r>
              <a:rPr lang="en-US" sz="1500" dirty="0">
                <a:solidFill>
                  <a:srgbClr val="000000"/>
                </a:solidFill>
                <a:latin typeface="Arial"/>
                <a:cs typeface="Arial"/>
              </a:rPr>
              <a:t>2 '... was associated with higher odds of AKI'</a:t>
            </a:r>
          </a:p>
          <a:p>
            <a:pPr marL="274320" indent="-274320" algn="l">
              <a:lnSpc>
                <a:spcPct val="104000"/>
              </a:lnSpc>
              <a:spcBef>
                <a:spcPts val="300"/>
              </a:spcBef>
              <a:buFont typeface="Arial"/>
              <a:buChar char="•"/>
            </a:pPr>
            <a:r>
              <a:rPr lang="en-US" sz="1500" dirty="0">
                <a:solidFill>
                  <a:srgbClr val="000000"/>
                </a:solidFill>
                <a:latin typeface="Arial"/>
                <a:cs typeface="Arial"/>
              </a:rPr>
              <a:t>3 'HR 1.46 (1.00 to 2.13): CI reaches 1'</a:t>
            </a:r>
          </a:p>
          <a:p>
            <a:pPr marL="274320" indent="-274320" algn="l">
              <a:lnSpc>
                <a:spcPct val="104000"/>
              </a:lnSpc>
              <a:spcBef>
                <a:spcPts val="300"/>
              </a:spcBef>
              <a:buFont typeface="Arial"/>
              <a:buChar char="•"/>
            </a:pPr>
            <a:r>
              <a:rPr lang="en-US" sz="1500" dirty="0">
                <a:solidFill>
                  <a:srgbClr val="000000"/>
                </a:solidFill>
                <a:latin typeface="Arial"/>
                <a:cs typeface="Arial"/>
              </a:rPr>
              <a:t>4 OK for prediction; for cause: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result in the abstract has a number and a confidence interval.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Copy the numbers from your Results. The abstract must not contain new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title states the question and the design, with no sales 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Use a reference manager</a:t>
            </a:r>
          </a:p>
          <a:p>
            <a:pPr marL="0" indent="0" algn="l">
              <a:lnSpc>
                <a:spcPct val="104000"/>
              </a:lnSpc>
              <a:spcBef>
                <a:spcPts val="400"/>
              </a:spcBef>
              <a:buNone/>
            </a:pPr>
            <a:r>
              <a:rPr lang="en-US" sz="1750" dirty="0">
                <a:solidFill>
                  <a:srgbClr val="000000"/>
                </a:solidFill>
                <a:latin typeface="Arial"/>
                <a:cs typeface="Arial"/>
              </a:rPr>
              <a:t>Check every citation</a:t>
            </a:r>
          </a:p>
          <a:p>
            <a:pPr marL="0" indent="0" algn="l">
              <a:lnSpc>
                <a:spcPct val="104000"/>
              </a:lnSpc>
              <a:spcBef>
                <a:spcPts val="400"/>
              </a:spcBef>
              <a:buNone/>
            </a:pPr>
            <a:r>
              <a:rPr lang="en-US" sz="1750" dirty="0">
                <a:solidFill>
                  <a:srgbClr val="000000"/>
                </a:solidFill>
                <a:latin typeface="Arial"/>
                <a:cs typeface="Arial"/>
              </a:rPr>
              <a:t>P2 cites the Sepsis-3 paper for its covariates</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Fill it in while writing</a:t>
            </a:r>
          </a:p>
          <a:p>
            <a:pPr marL="0" indent="0" algn="l">
              <a:lnSpc>
                <a:spcPct val="104000"/>
              </a:lnSpc>
              <a:spcBef>
                <a:spcPts val="400"/>
              </a:spcBef>
              <a:buNone/>
            </a:pPr>
            <a:r>
              <a:rPr lang="en-US" sz="1750" dirty="0">
                <a:solidFill>
                  <a:srgbClr val="000000"/>
                </a:solidFill>
                <a:latin typeface="Arial"/>
                <a:cs typeface="Arial"/>
              </a:rPr>
              <a:t>Add page numbers</a:t>
            </a:r>
          </a:p>
          <a:p>
            <a:pPr marL="0" indent="0" algn="l">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Text = table, every number</a:t>
            </a:r>
          </a:p>
          <a:p>
            <a:pPr marL="0" indent="0" algn="l">
              <a:lnSpc>
                <a:spcPct val="104000"/>
              </a:lnSpc>
              <a:spcBef>
                <a:spcPts val="400"/>
              </a:spcBef>
              <a:buNone/>
            </a:pPr>
            <a:r>
              <a:rPr lang="en-US" sz="1750" dirty="0">
                <a:solidFill>
                  <a:srgbClr val="000000"/>
                </a:solidFill>
                <a:latin typeface="Arial"/>
                <a:cs typeface="Arial"/>
              </a:rPr>
              <a:t>Call-outs point to the right figure</a:t>
            </a:r>
          </a:p>
          <a:p>
            <a:pPr marL="0" indent="0" algn="l">
              <a:lnSpc>
                <a:spcPct val="104000"/>
              </a:lnSpc>
              <a:spcBef>
                <a:spcPts val="400"/>
              </a:spcBef>
              <a:buNone/>
            </a:pPr>
            <a:r>
              <a:rPr lang="en-US" sz="1750" dirty="0">
                <a:solidFill>
                  <a:srgbClr val="000000"/>
                </a:solidFill>
                <a:latin typeface="Arial"/>
                <a:cs typeface="Arial"/>
              </a:rPr>
              <a:t>A co-author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Complete your draft</a:t>
            </a:r>
          </a:p>
          <a:p>
            <a:pPr marL="0" indent="0" algn="ctr">
              <a:spcBef>
                <a:spcPts val="1200"/>
              </a:spcBef>
              <a:buNone/>
            </a:pPr>
            <a:r>
              <a:rPr lang="en-US" sz="1900" i="1" dirty="0">
                <a:solidFill>
                  <a:srgbClr val="595959"/>
                </a:solidFill>
                <a:latin typeface="Arial"/>
                <a:cs typeface="Arial"/>
              </a:rPr>
              <a:t>Introduction, Discussion,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Introduction, Discussion, Abstract,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0-8: Introduction, three paragraphs (two people)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0-15: Discussion, six moves (three people)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15-23: Abstract of 250 words, numbers from your Results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23-27: Title (10-16 words, design stated) + keywords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27-30: verb check: every 'cause' or 'impact' → 'associated'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Roles</a:t>
            </a:r>
          </a:p>
          <a:p>
            <a:pPr marL="274320" indent="-274320" algn="l">
              <a:lnSpc>
                <a:spcPct val="104000"/>
              </a:lnSpc>
              <a:spcBef>
                <a:spcPts val="300"/>
              </a:spcBef>
              <a:buFont typeface="Arial"/>
              <a:buChar char="•"/>
            </a:pPr>
            <a:r>
              <a:rPr lang="en-US" sz="1500" dirty="0">
                <a:solidFill>
                  <a:srgbClr val="000000"/>
                </a:solidFill>
                <a:latin typeface="Arial"/>
                <a:cs typeface="Arial"/>
              </a:rPr>
              <a:t>2 Introduction</a:t>
            </a:r>
          </a:p>
          <a:p>
            <a:pPr marL="274320" indent="-274320" algn="l">
              <a:lnSpc>
                <a:spcPct val="104000"/>
              </a:lnSpc>
              <a:spcBef>
                <a:spcPts val="300"/>
              </a:spcBef>
              <a:buFont typeface="Arial"/>
              <a:buChar char="•"/>
            </a:pPr>
            <a:r>
              <a:rPr lang="en-US" sz="1500" dirty="0">
                <a:solidFill>
                  <a:srgbClr val="000000"/>
                </a:solidFill>
                <a:latin typeface="Arial"/>
                <a:cs typeface="Arial"/>
              </a:rPr>
              <a:t>3 Discussion</a:t>
            </a:r>
          </a:p>
          <a:p>
            <a:pPr marL="274320" indent="-274320" algn="l">
              <a:lnSpc>
                <a:spcPct val="104000"/>
              </a:lnSpc>
              <a:spcBef>
                <a:spcPts val="300"/>
              </a:spcBef>
              <a:buFont typeface="Arial"/>
              <a:buChar char="•"/>
            </a:pPr>
            <a:r>
              <a:rPr lang="en-US" sz="1500" dirty="0">
                <a:solidFill>
                  <a:srgbClr val="000000"/>
                </a:solidFill>
                <a:latin typeface="Arial"/>
                <a:cs typeface="Arial"/>
              </a:rPr>
              <a:t>1 number + verb checker</a:t>
            </a:r>
          </a:p>
          <a:p>
            <a:pPr marL="274320" indent="-274320" algn="l">
              <a:lnSpc>
                <a:spcPct val="104000"/>
              </a:lnSpc>
              <a:spcBef>
                <a:spcPts val="300"/>
              </a:spcBef>
              <a:buFont typeface="Arial"/>
              <a:buChar char="•"/>
            </a:pPr>
            <a:r>
              <a:rPr lang="en-US" sz="1500" dirty="0">
                <a:solidFill>
                  <a:srgbClr val="000000"/>
                </a:solidFill>
                <a:latin typeface="Arial"/>
                <a:cs typeface="Arial"/>
              </a:rPr>
              <a:t>All: Abstract and Title together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Complete draft (~2,000 words) saved for the peer-review swap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Save and send your manuscript draft</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Groups 1-3: collect Paper 1 (RCT) and the answer grid</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Groups 4-5: collect Paper 2 (cohort) and the answer grid</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Presenters: check your slides open on the presentation laptop</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Back at 1:15 sharp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After the break</a:t>
            </a:r>
          </a:p>
          <a:p>
            <a:pPr marL="274320" indent="-274320" algn="l">
              <a:lnSpc>
                <a:spcPct val="104000"/>
              </a:lnSpc>
              <a:spcBef>
                <a:spcPts val="300"/>
              </a:spcBef>
              <a:buFont typeface="Arial"/>
              <a:buChar char="•"/>
            </a:pPr>
            <a:r>
              <a:rPr lang="en-US" sz="1500" dirty="0">
                <a:solidFill>
                  <a:srgbClr val="000000"/>
                </a:solidFill>
                <a:latin typeface="Arial"/>
                <a:cs typeface="Arial"/>
              </a:rPr>
              <a:t>Getting published (25 min)</a:t>
            </a:r>
          </a:p>
          <a:p>
            <a:pPr marL="274320" indent="-274320" algn="l">
              <a:lnSpc>
                <a:spcPct val="104000"/>
              </a:lnSpc>
              <a:spcBef>
                <a:spcPts val="300"/>
              </a:spcBef>
              <a:buFont typeface="Arial"/>
              <a:buChar char="•"/>
            </a:pPr>
            <a:r>
              <a:rPr lang="en-US" sz="1500" dirty="0">
                <a:solidFill>
                  <a:srgbClr val="000000"/>
                </a:solidFill>
                <a:latin typeface="Arial"/>
                <a:cs typeface="Arial"/>
              </a:rPr>
              <a:t>Be the reviewer (20 min)</a:t>
            </a:r>
          </a:p>
          <a:p>
            <a:pPr marL="274320" indent="-274320" algn="l">
              <a:lnSpc>
                <a:spcPct val="104000"/>
              </a:lnSpc>
              <a:spcBef>
                <a:spcPts val="300"/>
              </a:spcBef>
              <a:buFont typeface="Arial"/>
              <a:buChar char="•"/>
            </a:pPr>
            <a:r>
              <a:rPr lang="en-US" sz="1500" dirty="0">
                <a:solidFill>
                  <a:srgbClr val="000000"/>
                </a:solidFill>
                <a:latin typeface="Arial"/>
                <a:cs typeface="Arial"/>
              </a:rPr>
              <a:t>Group presentations (45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proofs,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Name your guideline in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Who needs your result?</a:t>
            </a:r>
          </a:p>
          <a:p>
            <a:pPr marL="0" indent="0" algn="l">
              <a:lnSpc>
                <a:spcPct val="104000"/>
              </a:lnSpc>
              <a:spcBef>
                <a:spcPts val="400"/>
              </a:spcBef>
              <a:buNone/>
            </a:pPr>
            <a:r>
              <a:rPr lang="en-US" sz="1600" dirty="0">
                <a:solidFill>
                  <a:srgbClr val="000000"/>
                </a:solidFill>
                <a:latin typeface="Arial"/>
                <a:cs typeface="Arial"/>
              </a:rPr>
              <a:t>Read 3 recent issues</a:t>
            </a:r>
          </a:p>
          <a:p>
            <a:pPr marL="0" indent="0" algn="l">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Indexed: MEDLINE, DOAJ, Scopus or Web of Science</a:t>
            </a:r>
          </a:p>
          <a:p>
            <a:pPr marL="0" indent="0" algn="l">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Guide for Authors</a:t>
            </a:r>
          </a:p>
          <a:p>
            <a:pPr marL="0" indent="0" algn="l">
              <a:lnSpc>
                <a:spcPct val="104000"/>
              </a:lnSpc>
              <a:spcBef>
                <a:spcPts val="400"/>
              </a:spcBef>
              <a:buNone/>
            </a:pPr>
            <a:r>
              <a:rPr lang="en-US" sz="1600" dirty="0">
                <a:solidFill>
                  <a:srgbClr val="000000"/>
                </a:solidFill>
                <a:latin typeface="Arial"/>
                <a:cs typeface="Arial"/>
              </a:rPr>
              <a:t>Word limit, checklist</a:t>
            </a:r>
          </a:p>
          <a:p>
            <a:pPr marL="0" indent="0" algn="l">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&amp; speed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Fee (APC) and waivers</a:t>
            </a:r>
          </a:p>
          <a:p>
            <a:pPr marL="0" indent="0" algn="l">
              <a:lnSpc>
                <a:spcPct val="104000"/>
              </a:lnSpc>
              <a:spcBef>
                <a:spcPts val="400"/>
              </a:spcBef>
              <a:buNone/>
            </a:pPr>
            <a:r>
              <a:rPr lang="en-US" sz="1600" dirty="0">
                <a:solidFill>
                  <a:srgbClr val="000000"/>
                </a:solidFill>
                <a:latin typeface="Arial"/>
                <a:cs typeface="Arial"/>
              </a:rPr>
              <a:t>Licence: CC BY or BY-NC-ND</a:t>
            </a:r>
          </a:p>
          <a:p>
            <a:pPr marL="0" indent="0" algn="l">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Posted before peer review (e.g. medRxiv)</a:t>
            </a:r>
          </a:p>
          <a:p>
            <a:pPr marL="0" indent="0" algn="l">
              <a:lnSpc>
                <a:spcPct val="104000"/>
              </a:lnSpc>
              <a:spcBef>
                <a:spcPts val="400"/>
              </a:spcBef>
              <a:buNone/>
            </a:pPr>
            <a:r>
              <a:rPr lang="en-US" sz="1750" dirty="0">
                <a:solidFill>
                  <a:srgbClr val="000000"/>
                </a:solidFill>
                <a:latin typeface="Arial"/>
                <a:cs typeface="Arial"/>
              </a:rPr>
              <a:t>Fast, timestamped, open feedback</a:t>
            </a:r>
          </a:p>
          <a:p>
            <a:pPr marL="0" indent="0" algn="l">
              <a:lnSpc>
                <a:spcPct val="104000"/>
              </a:lnSpc>
              <a:spcBef>
                <a:spcPts val="400"/>
              </a:spcBef>
              <a:buNone/>
            </a:pPr>
            <a:r>
              <a:rPr lang="en-US" sz="1750" dirty="0">
                <a:solidFill>
                  <a:srgbClr val="000000"/>
                </a:solidFill>
                <a:latin typeface="Arial"/>
                <a:cs typeface="Arial"/>
              </a:rPr>
              <a:t>NOT peer-reviewed: say so</a:t>
            </a:r>
          </a:p>
          <a:p>
            <a:pPr marL="0" indent="0" algn="l">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Free for everyone to read</a:t>
            </a:r>
          </a:p>
          <a:p>
            <a:pPr marL="0" indent="0" algn="l">
              <a:lnSpc>
                <a:spcPct val="104000"/>
              </a:lnSpc>
              <a:spcBef>
                <a:spcPts val="400"/>
              </a:spcBef>
              <a:buNone/>
            </a:pPr>
            <a:r>
              <a:rPr lang="en-US" sz="1750" dirty="0">
                <a:solidFill>
                  <a:srgbClr val="000000"/>
                </a:solidFill>
                <a:latin typeface="Arial"/>
                <a:cs typeface="Arial"/>
              </a:rPr>
              <a:t>Gold: journal charges a fee (APC)</a:t>
            </a:r>
          </a:p>
          <a:p>
            <a:pPr marL="0" indent="0" algn="l">
              <a:lnSpc>
                <a:spcPct val="104000"/>
              </a:lnSpc>
              <a:spcBef>
                <a:spcPts val="400"/>
              </a:spcBef>
              <a:buNone/>
            </a:pPr>
            <a:r>
              <a:rPr lang="en-US" sz="1750" dirty="0">
                <a:solidFill>
                  <a:srgbClr val="000000"/>
                </a:solidFill>
                <a:latin typeface="Arial"/>
                <a:cs typeface="Arial"/>
              </a:rPr>
              <a:t>Green: accepted version in a repository</a:t>
            </a:r>
          </a:p>
          <a:p>
            <a:pPr marL="0" indent="0" algn="l">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CC BY: re-use with credit (Paper 2)</a:t>
            </a:r>
          </a:p>
          <a:p>
            <a:pPr marL="0" indent="0" algn="l">
              <a:lnSpc>
                <a:spcPct val="104000"/>
              </a:lnSpc>
              <a:spcBef>
                <a:spcPts val="400"/>
              </a:spcBef>
              <a:buNone/>
            </a:pPr>
            <a:r>
              <a:rPr lang="en-US" sz="1750" dirty="0">
                <a:solidFill>
                  <a:srgbClr val="000000"/>
                </a:solidFill>
                <a:latin typeface="Arial"/>
                <a:cs typeface="Arial"/>
              </a:rPr>
              <a:t>CC BY-NC-ND: share, no changes (Paper 1)</a:t>
            </a:r>
          </a:p>
          <a:p>
            <a:pPr marL="0" indent="0" algn="l">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DOAJ and NLM Catalog search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Where the checklist PDF is</a:t>
            </a:r>
          </a:p>
          <a:p>
            <a:pPr marL="274320" indent="-274320" algn="l">
              <a:lnSpc>
                <a:spcPct val="104000"/>
              </a:lnSpc>
              <a:spcBef>
                <a:spcPts val="300"/>
              </a:spcBef>
              <a:buFont typeface="Arial"/>
              <a:buChar char="•"/>
            </a:pPr>
            <a:r>
              <a:rPr lang="en-US" sz="1500" dirty="0">
                <a:solidFill>
                  <a:srgbClr val="000000"/>
                </a:solidFill>
                <a:latin typeface="Arial"/>
                <a:cs typeface="Arial"/>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Each group checks the journal + guideline in its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Submit the whole package at once. Missing items mean delay.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1 Often: check it twice</a:t>
            </a:r>
          </a:p>
          <a:p>
            <a:pPr marL="274320" indent="-274320" algn="l">
              <a:lnSpc>
                <a:spcPct val="104000"/>
              </a:lnSpc>
              <a:spcBef>
                <a:spcPts val="300"/>
              </a:spcBef>
              <a:buFont typeface="Arial"/>
              <a:buChar char="•"/>
            </a:pPr>
            <a:r>
              <a:rPr lang="en-US" sz="1500" dirty="0">
                <a:solidFill>
                  <a:srgbClr val="000000"/>
                </a:solidFill>
                <a:latin typeface="Arial"/>
                <a:cs typeface="Arial"/>
              </a:rPr>
              <a:t>2 False: duplicate submission</a:t>
            </a:r>
          </a:p>
          <a:p>
            <a:pPr marL="274320" indent="-274320" algn="l">
              <a:lnSpc>
                <a:spcPct val="104000"/>
              </a:lnSpc>
              <a:spcBef>
                <a:spcPts val="300"/>
              </a:spcBef>
              <a:buFont typeface="Arial"/>
              <a:buChar char="•"/>
            </a:pPr>
            <a:r>
              <a:rPr lang="en-US" sz="1500" dirty="0">
                <a:solidFill>
                  <a:srgbClr val="000000"/>
                </a:solidFill>
                <a:latin typeface="Arial"/>
                <a:cs typeface="Arial"/>
              </a:rPr>
              <a:t>3 False</a:t>
            </a:r>
          </a:p>
          <a:p>
            <a:pPr marL="274320" indent="-274320" algn="l">
              <a:lnSpc>
                <a:spcPct val="104000"/>
              </a:lnSpc>
              <a:spcBef>
                <a:spcPts val="300"/>
              </a:spcBef>
              <a:buFont typeface="Arial"/>
              <a:buChar char="•"/>
            </a:pPr>
            <a:r>
              <a:rPr lang="en-US" sz="1500" dirty="0">
                <a:solidFill>
                  <a:srgbClr val="000000"/>
                </a:solidFill>
                <a:latin typeface="Arial"/>
                <a:cs typeface="Arial"/>
              </a:rPr>
              <a:t>4 True: politely, with evidence</a:t>
            </a:r>
          </a:p>
          <a:p>
            <a:pPr marL="274320" indent="-274320" algn="l">
              <a:lnSpc>
                <a:spcPct val="104000"/>
              </a:lnSpc>
              <a:spcBef>
                <a:spcPts val="300"/>
              </a:spcBef>
              <a:buFont typeface="Arial"/>
              <a:buChar char="•"/>
            </a:pPr>
            <a:r>
              <a:rPr lang="en-US" sz="1500" dirty="0">
                <a:solidFill>
                  <a:srgbClr val="000000"/>
                </a:solidFill>
                <a:latin typeface="Arial"/>
                <a:cs typeface="Arial"/>
              </a:rPr>
              <a:t>5 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Practice for the peer-review swap of your manuscripts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jigsaw: three groups on the trial, two on the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Same clinical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Who was included, and who was left out?</a:t>
            </a:r>
          </a:p>
          <a:p>
            <a:pPr marL="0" indent="0" algn="l">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Were the groups similar at the start (Table 1)?</a:t>
            </a:r>
          </a:p>
          <a:p>
            <a:pPr marL="0" indent="0" algn="l">
              <a:lnSpc>
                <a:spcPct val="104000"/>
              </a:lnSpc>
              <a:spcBef>
                <a:spcPts val="400"/>
              </a:spcBef>
              <a:buNone/>
            </a:pPr>
            <a:r>
              <a:rPr lang="en-US" sz="1400" dirty="0">
                <a:solidFill>
                  <a:srgbClr val="000000"/>
                </a:solidFill>
                <a:latin typeface="Arial"/>
                <a:cs typeface="Arial"/>
              </a:rPr>
              <a:t>How was this achieved (randomisation / matching /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Who knew which group patients were in (blinding)?</a:t>
            </a:r>
          </a:p>
          <a:p>
            <a:pPr marL="0" indent="0" algn="l">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Was there ONE pre-specified primary outcome,</a:t>
            </a:r>
          </a:p>
          <a:p>
            <a:pPr marL="0" indent="0" algn="l">
              <a:lnSpc>
                <a:spcPct val="104000"/>
              </a:lnSpc>
              <a:spcBef>
                <a:spcPts val="400"/>
              </a:spcBef>
              <a:buNone/>
            </a:pPr>
            <a:r>
              <a:rPr lang="en-US" sz="1400" dirty="0">
                <a:solidFill>
                  <a:srgbClr val="000000"/>
                </a:solidFill>
                <a:latin typeface="Arial"/>
                <a:cs typeface="Arial"/>
              </a:rPr>
              <a:t>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l">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Do the conclusions match the design</a:t>
            </a:r>
          </a:p>
          <a:p>
            <a:pPr marL="0" indent="0" algn="l">
              <a:lnSpc>
                <a:spcPct val="104000"/>
              </a:lnSpc>
              <a:spcBef>
                <a:spcPts val="400"/>
              </a:spcBef>
              <a:buNone/>
            </a:pPr>
            <a:r>
              <a:rPr lang="en-US" sz="1400" dirty="0">
                <a:solidFill>
                  <a:srgbClr val="000000"/>
                </a:solidFill>
                <a:latin typeface="Arial"/>
                <a:cs typeface="Arial"/>
              </a:rPr>
              <a:t>('associated'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Are the main limitations stated honestly?</a:t>
            </a:r>
          </a:p>
          <a:p>
            <a:pPr marL="0" indent="0" algn="l">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Would this change practice in your unit?</a:t>
            </a:r>
          </a:p>
          <a:p>
            <a:pPr marL="0" indent="0" algn="l">
              <a:lnSpc>
                <a:spcPct val="104000"/>
              </a:lnSpc>
              <a:spcBef>
                <a:spcPts val="400"/>
              </a:spcBef>
              <a:buNone/>
            </a:pPr>
            <a:r>
              <a:rPr lang="en-US" sz="1400" dirty="0">
                <a:solidFill>
                  <a:srgbClr val="000000"/>
                </a:solidFill>
                <a:latin typeface="Arial"/>
                <a:cs typeface="Arial"/>
              </a:rPr>
              <a:t>Why /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appraise your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Pairs take questions 1-3, 4-6 and 7-10</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ONLY the pages listed on your answer grid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Answer Yes / No / Can't tell + page number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Minute 7: agree the group answers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Minute 9: choose a speaker; write your verdict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Where to look</a:t>
            </a:r>
          </a:p>
          <a:p>
            <a:pPr marL="274320" indent="-274320" algn="l">
              <a:lnSpc>
                <a:spcPct val="104000"/>
              </a:lnSpc>
              <a:spcBef>
                <a:spcPts val="300"/>
              </a:spcBef>
              <a:buFont typeface="Arial"/>
              <a:buChar char="•"/>
            </a:pPr>
            <a:r>
              <a:rPr lang="en-US" sz="1500" dirty="0">
                <a:solidFill>
                  <a:srgbClr val="000000"/>
                </a:solidFill>
                <a:latin typeface="Arial"/>
                <a:cs typeface="Arial"/>
              </a:rPr>
              <a:t>Abstract: question and result</a:t>
            </a:r>
          </a:p>
          <a:p>
            <a:pPr marL="274320" indent="-274320" algn="l">
              <a:lnSpc>
                <a:spcPct val="104000"/>
              </a:lnSpc>
              <a:spcBef>
                <a:spcPts val="300"/>
              </a:spcBef>
              <a:buFont typeface="Arial"/>
              <a:buChar char="•"/>
            </a:pPr>
            <a:r>
              <a:rPr lang="en-US" sz="1500" dirty="0">
                <a:solidFill>
                  <a:srgbClr val="000000"/>
                </a:solidFill>
                <a:latin typeface="Arial"/>
                <a:cs typeface="Arial"/>
              </a:rPr>
              <a:t>Methods: design, blinding, outcome</a:t>
            </a:r>
          </a:p>
          <a:p>
            <a:pPr marL="274320" indent="-274320" algn="l">
              <a:lnSpc>
                <a:spcPct val="104000"/>
              </a:lnSpc>
              <a:spcBef>
                <a:spcPts val="300"/>
              </a:spcBef>
              <a:buFont typeface="Arial"/>
              <a:buChar char="•"/>
            </a:pPr>
            <a:r>
              <a:rPr lang="en-US" sz="1500" dirty="0">
                <a:solidFill>
                  <a:srgbClr val="000000"/>
                </a:solidFill>
                <a:latin typeface="Arial"/>
                <a:cs typeface="Arial"/>
              </a:rPr>
              <a:t>Table 1: groups similar?</a:t>
            </a:r>
          </a:p>
          <a:p>
            <a:pPr marL="274320" indent="-274320" algn="l">
              <a:lnSpc>
                <a:spcPct val="104000"/>
              </a:lnSpc>
              <a:spcBef>
                <a:spcPts val="300"/>
              </a:spcBef>
              <a:buFont typeface="Arial"/>
              <a:buChar char="•"/>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Completed answer grid + one-sentence verdict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
                      </a:r>
                    </a:p>
                  </a:txBody>
                  <a:tcPr marL="73152" marR="73152" marT="36576" marB="36576" anchor="ctr">
                    <a:solidFill>
                      <a:srgbClr val="0D7377"/>
                    </a:solidFill>
                  </a:tcPr>
                </a:tc>
                <a:tc>
                  <a:txBody>
                    <a:bodyPr/>
                    <a:lstStyle/>
                    <a:p>
                      <a:pPr algn="l"/>
                      <a:r>
                        <a:rPr lang="en-US" sz="1500" b="1" dirty="0">
                          <a:solidFill>
                            <a:srgbClr val="FFFFFF"/>
                          </a:solidFill>
                          <a:latin typeface="Arial"/>
                        </a:rPr>
                        <a:t>Paper 1: RCT (Boulet 2024)</a:t>
                      </a:r>
                    </a:p>
                  </a:txBody>
                  <a:tcPr marL="73152" marR="73152" marT="36576" marB="36576" anchor="ctr">
                    <a:solidFill>
                      <a:srgbClr val="0D7377"/>
                    </a:solidFill>
                  </a:tcPr>
                </a:tc>
                <a:tc>
                  <a:txBody>
                    <a:bodyPr/>
                    <a:lstStyle/>
                    <a:p>
                      <a:pPr algn="l"/>
                      <a:r>
                        <a:rPr lang="en-US" sz="1500" b="1" dirty="0">
                          <a:solidFill>
                            <a:srgbClr val="FFFFFF"/>
                          </a:solidFill>
                          <a:latin typeface="Arial"/>
                        </a:rPr>
                        <a:t>Paper 2: cohort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Groups made similar by</a:t>
                      </a:r>
                    </a:p>
                  </a:txBody>
                  <a:tcPr marL="73152" marR="73152" marT="36576" marB="36576" anchor="ctr">
                    <a:solidFill>
                      <a:srgbClr val="FFFFFF"/>
                    </a:solidFill>
                  </a:tcPr>
                </a:tc>
                <a:tc>
                  <a:txBody>
                    <a:bodyPr/>
                    <a:lstStyle/>
                    <a:p>
                      <a:pPr algn="l"/>
                      <a:r>
                        <a:rPr lang="en-US" sz="1500" b="0" dirty="0">
                          <a:solidFill>
                            <a:srgbClr val="000000"/>
                          </a:solidFill>
                          <a:latin typeface="Arial"/>
                        </a:rPr>
                        <a:t>Randomisation 1:1 (blocks of 2)</a:t>
                      </a:r>
                    </a:p>
                  </a:txBody>
                  <a:tcPr marL="73152" marR="73152" marT="36576" marB="36576" anchor="ctr">
                    <a:solidFill>
                      <a:srgbClr val="FFFFFF"/>
                    </a:solidFill>
                  </a:tcPr>
                </a:tc>
                <a:tc>
                  <a:txBody>
                    <a:bodyPr/>
                    <a:lstStyle/>
                    <a:p>
                      <a:pPr algn="l"/>
                      <a:r>
                        <a:rPr lang="en-US" sz="1500" b="0" dirty="0">
                          <a:solidFill>
                            <a:srgbClr val="000000"/>
                          </a:solidFill>
                          <a:latin typeface="Arial"/>
                        </a:rPr>
                        <a:t>Propensity matching (measured factors only)</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Who knew the group</a:t>
                      </a:r>
                    </a:p>
                  </a:txBody>
                  <a:tcPr marL="73152" marR="73152" marT="36576" marB="36576" anchor="ctr">
                    <a:solidFill>
                      <a:srgbClr val="FFFFFF"/>
                    </a:solidFill>
                  </a:tcPr>
                </a:tc>
                <a:tc>
                  <a:txBody>
                    <a:bodyPr/>
                    <a:lstStyle/>
                    <a:p>
                      <a:pPr algn="l"/>
                      <a:r>
                        <a:rPr lang="en-US" sz="1500" b="0" dirty="0">
                          <a:solidFill>
                            <a:srgbClr val="000000"/>
                          </a:solidFill>
                          <a:latin typeface="Arial"/>
                        </a:rPr>
                        <a:t>Clinicians knew; patients, statistician blinded</a:t>
                      </a:r>
                    </a:p>
                  </a:txBody>
                  <a:tcPr marL="73152" marR="73152" marT="36576" marB="36576" anchor="ctr">
                    <a:solidFill>
                      <a:srgbClr val="FFFFFF"/>
                    </a:solidFill>
                  </a:tcPr>
                </a:tc>
                <a:tc>
                  <a:txBody>
                    <a:bodyPr/>
                    <a:lstStyle/>
                    <a:p>
                      <a:pPr algn="l"/>
                      <a:r>
                        <a:rPr lang="en-US" sz="1500" b="0" dirty="0">
                          <a:solidFill>
                            <a:srgbClr val="000000"/>
                          </a:solidFill>
                          <a:latin typeface="Arial"/>
                        </a:rPr>
                        <a:t>Everyone (observational)</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Main result</a:t>
                      </a:r>
                    </a:p>
                  </a:txBody>
                  <a:tcPr marL="73152" marR="73152" marT="36576" marB="36576" anchor="ctr">
                    <a:solidFill>
                      <a:srgbClr val="FFFFFF"/>
                    </a:solidFill>
                  </a:tcPr>
                </a:tc>
                <a:tc>
                  <a:txBody>
                    <a:bodyPr/>
                    <a:lstStyle/>
                    <a:p>
                      <a:pPr algn="l"/>
                      <a:r>
                        <a:rPr lang="en-US" sz="1500" b="0" dirty="0">
                          <a:solidFill>
                            <a:srgbClr val="000000"/>
                          </a:solidFill>
                          <a:latin typeface="Arial"/>
                        </a:rPr>
                        <a:t>13.2 ml/kg (95% CI -15.2 to 41.6), p = 0.42</a:t>
                      </a:r>
                    </a:p>
                  </a:txBody>
                  <a:tcPr marL="73152" marR="73152" marT="36576" marB="36576" anchor="ctr">
                    <a:solidFill>
                      <a:srgbClr val="FFFFFF"/>
                    </a:solidFill>
                  </a:tcPr>
                </a:tc>
                <a:tc>
                  <a:txBody>
                    <a:bodyPr/>
                    <a:lstStyle/>
                    <a:p>
                      <a:pPr algn="l"/>
                      <a:r>
                        <a:rPr lang="en-US" sz="1500" b="0" dirty="0">
                          <a:solidFill>
                            <a:srgbClr val="000000"/>
                          </a:solidFill>
                          <a:latin typeface="Arial"/>
                        </a:rPr>
                        <a:t>Day 2: HR 2.13 (1.48 to 3.06)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Missed limitation</a:t>
                      </a:r>
                    </a:p>
                  </a:txBody>
                  <a:tcPr marL="73152" marR="73152" marT="36576" marB="36576" anchor="ctr">
                    <a:solidFill>
                      <a:srgbClr val="FFFFFF"/>
                    </a:solidFill>
                  </a:tcPr>
                </a:tc>
                <a:tc>
                  <a:txBody>
                    <a:bodyPr/>
                    <a:lstStyle/>
                    <a:p>
                      <a:pPr algn="l"/>
                      <a:r>
                        <a:rPr lang="en-US" sz="1500" b="0" dirty="0">
                          <a:solidFill>
                            <a:srgbClr val="000000"/>
                          </a:solidFill>
                          <a:latin typeface="Arial"/>
                        </a:rPr>
                        <a:t>Blocks of 2 with unblinded clinicians</a:t>
                      </a:r>
                    </a:p>
                  </a:txBody>
                  <a:tcPr marL="73152" marR="73152" marT="36576" marB="36576" anchor="ctr">
                    <a:solidFill>
                      <a:srgbClr val="FFFFFF"/>
                    </a:solidFill>
                  </a:tcPr>
                </a:tc>
                <a:tc>
                  <a:txBody>
                    <a:bodyPr/>
                    <a:lstStyle/>
                    <a:p>
                      <a:pPr algn="l"/>
                      <a:r>
                        <a:rPr lang="en-US" sz="1500" b="0" dirty="0">
                          <a:solidFill>
                            <a:srgbClr val="000000"/>
                          </a:solidFill>
                          <a:latin typeface="Arial"/>
                        </a:rPr>
                        <a:t>Survivor bias (ICU stay of 3+ days)</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Wording problem</a:t>
                      </a:r>
                    </a:p>
                  </a:txBody>
                  <a:tcPr marL="73152" marR="73152" marT="36576" marB="36576" anchor="ctr">
                    <a:solidFill>
                      <a:srgbClr val="FFFFFF"/>
                    </a:solidFill>
                  </a:tcPr>
                </a:tc>
                <a:tc>
                  <a:txBody>
                    <a:bodyPr/>
                    <a:lstStyle/>
                    <a:p>
                      <a:pPr algn="l"/>
                      <a:r>
                        <a:rPr lang="en-US" sz="1500" b="0" dirty="0">
                          <a:solidFill>
                            <a:srgbClr val="000000"/>
                          </a:solidFill>
                          <a:latin typeface="Arial"/>
                        </a:rPr>
                        <a:t>'Non-significant trend' (p = 0.42)</a:t>
                      </a:r>
                    </a:p>
                  </a:txBody>
                  <a:tcPr marL="73152" marR="73152" marT="36576" marB="36576" anchor="ctr">
                    <a:solidFill>
                      <a:srgbClr val="FFFFFF"/>
                    </a:solidFill>
                  </a:tcPr>
                </a:tc>
                <a:tc>
                  <a:txBody>
                    <a:bodyPr/>
                    <a:lstStyle/>
                    <a:p>
                      <a:pPr algn="l"/>
                      <a:r>
                        <a:rPr lang="en-US" sz="1500" b="0" dirty="0">
                          <a:solidFill>
                            <a:srgbClr val="000000"/>
                          </a:solidFill>
                          <a:latin typeface="Arial"/>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May claim</a:t>
                      </a:r>
                    </a:p>
                  </a:txBody>
                  <a:tcPr marL="73152" marR="73152" marT="36576" marB="36576" anchor="ctr">
                    <a:solidFill>
                      <a:srgbClr val="FFFFFF"/>
                    </a:solidFill>
                  </a:tcPr>
                </a:tc>
                <a:tc>
                  <a:txBody>
                    <a:bodyPr/>
                    <a:lstStyle/>
                    <a:p>
                      <a:pPr algn="l"/>
                      <a:r>
                        <a:rPr lang="en-US" sz="1500" b="0" dirty="0">
                          <a:solidFill>
                            <a:srgbClr val="000000"/>
                          </a:solidFill>
                          <a:latin typeface="Arial"/>
                        </a:rPr>
                        <a:t>Did not reduce day-5 balance (small pilot)</a:t>
                      </a:r>
                    </a:p>
                  </a:txBody>
                  <a:tcPr marL="73152" marR="73152" marT="36576" marB="36576" anchor="ctr">
                    <a:solidFill>
                      <a:srgbClr val="FFFFFF"/>
                    </a:solidFill>
                  </a:tcPr>
                </a:tc>
                <a:tc>
                  <a:txBody>
                    <a:bodyPr/>
                    <a:lstStyle/>
                    <a:p>
                      <a:pPr algn="l"/>
                      <a:r>
                        <a:rPr lang="en-US" sz="1500" b="0" dirty="0">
                          <a:solidFill>
                            <a:srgbClr val="000000"/>
                          </a:solidFill>
                          <a:latin typeface="Arial"/>
                        </a:rPr>
                        <a:t>Positive balance associated with death</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Pages and details: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Plenary: 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Groups 1 and 4 report Q1-Q4 (1 min each)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Groups 2 and 5 report Q5-Q8 (1 min each)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Group 3 reports Q9-Q10 for Paper 1</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Compare Q4, Q5 and Q8 across the two 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Vote on Q10: would either paper change practice in our unit?</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Land these messages</a:t>
            </a:r>
          </a:p>
          <a:p>
            <a:pPr marL="274320" indent="-274320" algn="l">
              <a:lnSpc>
                <a:spcPct val="104000"/>
              </a:lnSpc>
              <a:spcBef>
                <a:spcPts val="300"/>
              </a:spcBef>
              <a:buFont typeface="Arial"/>
              <a:buChar char="•"/>
            </a:pPr>
            <a:r>
              <a:rPr lang="en-US" sz="1500" dirty="0">
                <a:solidFill>
                  <a:srgbClr val="000000"/>
                </a:solidFill>
                <a:latin typeface="Arial"/>
                <a:cs typeface="Arial"/>
              </a:rPr>
              <a:t>Design sets the verb: caused vs associated</a:t>
            </a:r>
          </a:p>
          <a:p>
            <a:pPr marL="274320" indent="-274320" algn="l">
              <a:lnSpc>
                <a:spcPct val="104000"/>
              </a:lnSpc>
              <a:spcBef>
                <a:spcPts val="300"/>
              </a:spcBef>
              <a:buFont typeface="Arial"/>
              <a:buChar char="•"/>
            </a:pPr>
            <a:r>
              <a:rPr lang="en-US" sz="1500" dirty="0">
                <a:solidFill>
                  <a:srgbClr val="000000"/>
                </a:solidFill>
                <a:latin typeface="Arial"/>
                <a:cs typeface="Arial"/>
              </a:rPr>
              <a:t>A wide CI means 'we don't know yet'</a:t>
            </a:r>
          </a:p>
          <a:p>
            <a:pPr marL="274320" indent="-274320" algn="l">
              <a:lnSpc>
                <a:spcPct val="104000"/>
              </a:lnSpc>
              <a:spcBef>
                <a:spcPts val="300"/>
              </a:spcBef>
              <a:buFont typeface="Arial"/>
              <a:buChar char="•"/>
            </a:pPr>
            <a:r>
              <a:rPr lang="en-US" sz="1500" dirty="0">
                <a:solidFill>
                  <a:srgbClr val="000000"/>
                </a:solidFill>
                <a:latin typeface="Arial"/>
                <a:cs typeface="Arial"/>
              </a:rPr>
              <a:t>Published is not the same as correct</a:t>
            </a:r>
          </a:p>
          <a:p>
            <a:pPr marL="274320" indent="-274320" algn="l">
              <a:lnSpc>
                <a:spcPct val="104000"/>
              </a:lnSpc>
              <a:spcBef>
                <a:spcPts val="300"/>
              </a:spcBef>
              <a:buFont typeface="Arial"/>
              <a:buChar char="•"/>
            </a:pPr>
            <a:r>
              <a:rPr lang="en-US" sz="1500" dirty="0">
                <a:solidFill>
                  <a:srgbClr val="000000"/>
                </a:solidFill>
                <a:latin typeface="Arial"/>
                <a:cs typeface="Arial"/>
              </a:rPr>
              <a:t>Name the reporting guideline: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Each group states what its paper may and may not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Term</a:t>
                      </a:r>
                    </a:p>
                  </a:txBody>
                  <a:tcPr marL="73152" marR="73152" marT="36576" marB="36576" anchor="ctr">
                    <a:solidFill>
                      <a:srgbClr val="0D7377"/>
                    </a:solidFill>
                  </a:tcPr>
                </a:tc>
                <a:tc>
                  <a:txBody>
                    <a:bodyPr/>
                    <a:lstStyle/>
                    <a:p>
                      <a:pPr algn="l"/>
                      <a:r>
                        <a:rPr lang="en-US" sz="1500" b="1" dirty="0">
                          <a:solidFill>
                            <a:srgbClr val="FFFFFF"/>
                          </a:solidFill>
                          <a:latin typeface="Arial"/>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Introduction funnel</a:t>
                      </a:r>
                    </a:p>
                  </a:txBody>
                  <a:tcPr marL="73152" marR="73152" marT="36576" marB="36576" anchor="ctr">
                    <a:solidFill>
                      <a:srgbClr val="FFFFFF"/>
                    </a:solidFill>
                  </a:tcPr>
                </a:tc>
                <a:tc>
                  <a:txBody>
                    <a:bodyPr/>
                    <a:lstStyle/>
                    <a:p>
                      <a:pPr algn="l"/>
                      <a:r>
                        <a:rPr lang="en-US" sz="1500" b="0" dirty="0">
                          <a:solidFill>
                            <a:srgbClr val="000000"/>
                          </a:solidFill>
                          <a:latin typeface="Arial"/>
                        </a:rPr>
                        <a:t>Known → not known → aim, in three paragraphs</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Six moves</a:t>
                      </a:r>
                    </a:p>
                  </a:txBody>
                  <a:tcPr marL="73152" marR="73152" marT="36576" marB="36576" anchor="ctr">
                    <a:solidFill>
                      <a:srgbClr val="FFFFFF"/>
                    </a:solidFill>
                  </a:tcPr>
                </a:tc>
                <a:tc>
                  <a:txBody>
                    <a:bodyPr/>
                    <a:lstStyle/>
                    <a:p>
                      <a:pPr algn="l"/>
                      <a:r>
                        <a:rPr lang="en-US" sz="1500" b="0" dirty="0">
                          <a:solidFill>
                            <a:srgbClr val="000000"/>
                          </a:solidFill>
                          <a:latin typeface="Arial"/>
                        </a:rPr>
                        <a:t>Answer, compare, explain, limitations, implications, conclusion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Calibrated language</a:t>
                      </a:r>
                    </a:p>
                  </a:txBody>
                  <a:tcPr marL="73152" marR="73152" marT="36576" marB="36576" anchor="ctr">
                    <a:solidFill>
                      <a:srgbClr val="FFFFFF"/>
                    </a:solidFill>
                  </a:tcPr>
                </a:tc>
                <a:tc>
                  <a:txBody>
                    <a:bodyPr/>
                    <a:lstStyle/>
                    <a:p>
                      <a:pPr algn="l"/>
                      <a:r>
                        <a:rPr lang="en-US" sz="1500" b="0" dirty="0">
                          <a:solidFill>
                            <a:srgbClr val="000000"/>
                          </a:solidFill>
                          <a:latin typeface="Arial"/>
                        </a:rPr>
                        <a:t>Verbs as strong as the design allows ('associated', not 'caused')</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Predatory journal</a:t>
                      </a:r>
                    </a:p>
                  </a:txBody>
                  <a:tcPr marL="73152" marR="73152" marT="36576" marB="36576" anchor="ctr">
                    <a:solidFill>
                      <a:srgbClr val="FFFFFF"/>
                    </a:solidFill>
                  </a:tcPr>
                </a:tc>
                <a:tc>
                  <a:txBody>
                    <a:bodyPr/>
                    <a:lstStyle/>
                    <a:p>
                      <a:pPr algn="l"/>
                      <a:r>
                        <a:rPr lang="en-US" sz="1500" b="0" dirty="0">
                          <a:solidFill>
                            <a:srgbClr val="000000"/>
                          </a:solidFill>
                          <a:latin typeface="Arial"/>
                        </a:rPr>
                        <a:t>Takes fees without real peer review or indexing</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Point-by-point response</a:t>
                      </a:r>
                    </a:p>
                  </a:txBody>
                  <a:tcPr marL="73152" marR="73152" marT="36576" marB="36576" anchor="ctr">
                    <a:solidFill>
                      <a:srgbClr val="FFFFFF"/>
                    </a:solidFill>
                  </a:tcPr>
                </a:tc>
                <a:tc>
                  <a:txBody>
                    <a:bodyPr/>
                    <a:lstStyle/>
                    <a:p>
                      <a:pPr algn="l"/>
                      <a:r>
                        <a:rPr lang="en-US" sz="1500" b="0" dirty="0">
                          <a:solidFill>
                            <a:srgbClr val="000000"/>
                          </a:solidFill>
                          <a:latin typeface="Arial"/>
                        </a:rPr>
                        <a:t>A table answering every reviewer comment with the change made</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Preprint</a:t>
                      </a:r>
                    </a:p>
                  </a:txBody>
                  <a:tcPr marL="73152" marR="73152" marT="36576" marB="36576" anchor="ctr">
                    <a:solidFill>
                      <a:srgbClr val="FFFFFF"/>
                    </a:solidFill>
                  </a:tcPr>
                </a:tc>
                <a:tc>
                  <a:txBody>
                    <a:bodyPr/>
                    <a:lstStyle/>
                    <a:p>
                      <a:pPr algn="l"/>
                      <a:r>
                        <a:rPr lang="en-US" sz="1500" b="0" dirty="0">
                          <a:solidFill>
                            <a:srgbClr val="000000"/>
                          </a:solidFill>
                          <a:latin typeface="Arial"/>
                        </a:rPr>
                        <a:t>Public manuscript posted before peer review</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Ethics, consent, registration</a:t>
            </a:r>
          </a:p>
          <a:p>
            <a:pPr marL="0" indent="0" algn="l">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IMRaD in the right order</a:t>
            </a:r>
          </a:p>
          <a:p>
            <a:pPr marL="0" indent="0" algn="l">
              <a:lnSpc>
                <a:spcPct val="104000"/>
              </a:lnSpc>
              <a:spcBef>
                <a:spcPts val="400"/>
              </a:spcBef>
              <a:buNone/>
            </a:pPr>
            <a:r>
              <a:rPr lang="en-US" sz="1600" dirty="0">
                <a:solidFill>
                  <a:srgbClr val="000000"/>
                </a:solidFill>
                <a:latin typeface="Arial"/>
                <a:cs typeface="Arial"/>
              </a:rPr>
              <a:t>Numbers with CIs</a:t>
            </a:r>
          </a:p>
          <a:p>
            <a:pPr marL="0" indent="0" algn="l">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Reporting checklist</a:t>
            </a:r>
          </a:p>
          <a:p>
            <a:pPr marL="0" indent="0" algn="l">
              <a:lnSpc>
                <a:spcPct val="104000"/>
              </a:lnSpc>
              <a:spcBef>
                <a:spcPts val="400"/>
              </a:spcBef>
              <a:buNone/>
            </a:pPr>
            <a:r>
              <a:rPr lang="en-US" sz="1600" dirty="0">
                <a:solidFill>
                  <a:srgbClr val="000000"/>
                </a:solidFill>
                <a:latin typeface="Arial"/>
                <a:cs typeface="Arial"/>
              </a:rPr>
              <a:t>Trusted journal</a:t>
            </a:r>
          </a:p>
          <a:p>
            <a:pPr marL="0" indent="0" algn="l">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10 questions</a:t>
            </a:r>
          </a:p>
          <a:p>
            <a:pPr marL="0" indent="0" algn="l">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Next: present your proposal and swap manuscripts for peer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Group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6 minutes to present, 2 minutes of feedback: be kind, be specific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Criterion</a:t>
                      </a:r>
                    </a:p>
                  </a:txBody>
                  <a:tcPr marL="73152" marR="73152" marT="36576" marB="36576" anchor="ctr">
                    <a:solidFill>
                      <a:srgbClr val="0D7377"/>
                    </a:solidFill>
                  </a:tcPr>
                </a:tc>
                <a:tc>
                  <a:txBody>
                    <a:bodyPr/>
                    <a:lstStyle/>
                    <a:p>
                      <a:pPr algn="l"/>
                      <a:r>
                        <a:rPr lang="en-US" sz="1500" b="1" dirty="0">
                          <a:solidFill>
                            <a:srgbClr val="FFFFFF"/>
                          </a:solidFill>
                          <a:latin typeface="Arial"/>
                        </a:rPr>
                        <a:t>What we look for</a:t>
                      </a:r>
                    </a:p>
                  </a:txBody>
                  <a:tcPr marL="73152" marR="73152" marT="36576" marB="36576" anchor="ctr">
                    <a:solidFill>
                      <a:srgbClr val="0D7377"/>
                    </a:solidFill>
                  </a:tcPr>
                </a:tc>
                <a:tc>
                  <a:txBody>
                    <a:bodyPr/>
                    <a:lstStyle/>
                    <a:p>
                      <a:pPr algn="l"/>
                      <a:r>
                        <a:rPr lang="en-US" sz="1500" b="1" dirty="0">
                          <a:solidFill>
                            <a:srgbClr val="FFFFFF"/>
                          </a:solidFill>
                          <a:latin typeface="Arial"/>
                        </a:rPr>
                        <a:t>Points</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12  Structure &amp; content</a:t>
                      </a:r>
                    </a:p>
                  </a:txBody>
                  <a:tcPr marL="73152" marR="73152" marT="36576" marB="36576" anchor="ctr">
                    <a:solidFill>
                      <a:srgbClr val="FFFFFF"/>
                    </a:solidFill>
                  </a:tcPr>
                </a:tc>
                <a:tc>
                  <a:txBody>
                    <a:bodyPr/>
                    <a:lstStyle/>
                    <a:p>
                      <a:pPr algn="l"/>
                      <a:r>
                        <a:rPr lang="en-US" sz="1500" b="0" dirty="0">
                          <a:solidFill>
                            <a:srgbClr val="000000"/>
                          </a:solidFill>
                          <a:latin typeface="Arial"/>
                        </a:rPr>
                        <a:t>All 6 slides; question, design, outcome, sample size, ethics, journal + guideline visible</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13  Clarity</a:t>
                      </a:r>
                    </a:p>
                  </a:txBody>
                  <a:tcPr marL="73152" marR="73152" marT="36576" marB="36576" anchor="ctr">
                    <a:solidFill>
                      <a:srgbClr val="FFFFFF"/>
                    </a:solidFill>
                  </a:tcPr>
                </a:tc>
                <a:tc>
                  <a:txBody>
                    <a:bodyPr/>
                    <a:lstStyle/>
                    <a:p>
                      <a:pPr algn="l"/>
                      <a:r>
                        <a:rPr lang="en-US" sz="1500" b="0" dirty="0">
                          <a:solidFill>
                            <a:srgbClr val="000000"/>
                          </a:solidFill>
                          <a:latin typeface="Arial"/>
                        </a:rPr>
                        <a:t>Every profession understands; one message per slide</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14  Visual design</a:t>
                      </a:r>
                    </a:p>
                  </a:txBody>
                  <a:tcPr marL="73152" marR="73152" marT="36576" marB="36576" anchor="ctr">
                    <a:solidFill>
                      <a:srgbClr val="FFFFFF"/>
                    </a:solidFill>
                  </a:tcPr>
                </a:tc>
                <a:tc>
                  <a:txBody>
                    <a:bodyPr/>
                    <a:lstStyle/>
                    <a:p>
                      <a:pPr algn="l"/>
                      <a:r>
                        <a:rPr lang="en-US" sz="1500" b="0" dirty="0">
                          <a:solidFill>
                            <a:srgbClr val="000000"/>
                          </a:solidFill>
                          <a:latin typeface="Arial"/>
                        </a:rPr>
                        <a:t>Readable from the back; pictures, not text</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15  Timekeeping</a:t>
                      </a:r>
                    </a:p>
                  </a:txBody>
                  <a:tcPr marL="73152" marR="73152" marT="36576" marB="36576" anchor="ctr">
                    <a:solidFill>
                      <a:srgbClr val="FFFFFF"/>
                    </a:solidFill>
                  </a:tcPr>
                </a:tc>
                <a:tc>
                  <a:txBody>
                    <a:bodyPr/>
                    <a:lstStyle/>
                    <a:p>
                      <a:pPr algn="l"/>
                      <a:r>
                        <a:rPr lang="en-US" sz="1500" b="0" dirty="0">
                          <a:solidFill>
                            <a:srgbClr val="000000"/>
                          </a:solidFill>
                          <a:latin typeface="Arial"/>
                        </a:rPr>
                        <a:t>Finished between 5:00 and 6:00</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16  Questions &amp; teamwork</a:t>
                      </a:r>
                    </a:p>
                  </a:txBody>
                  <a:tcPr marL="73152" marR="73152" marT="36576" marB="36576" anchor="ctr">
                    <a:solidFill>
                      <a:srgbClr val="FFFFFF"/>
                    </a:solidFill>
                  </a:tcPr>
                </a:tc>
                <a:tc>
                  <a:txBody>
                    <a:bodyPr/>
                    <a:lstStyle/>
                    <a:p>
                      <a:pPr algn="l"/>
                      <a:r>
                        <a:rPr lang="en-US" sz="1500" b="0" dirty="0">
                          <a:solidFill>
                            <a:srgbClr val="000000"/>
                          </a:solidFill>
                          <a:latin typeface="Arial"/>
                        </a:rPr>
                        <a:t>Honest answers; several members speak</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6 excellent, 4 good, 2 needs work, 0 missing = presentation /30.  Written proposal + publication plan /70 marked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Running order and timekeeping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When the red card goes up, finish your sentence and stop.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Group 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6 minutes, 6 slides: question, design, data and analysis, ethics and feasibility, publication plan (title, journal, guideline, abstract)</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Timekeeper: green at 4:00, yellow at 5:00, red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 peer group (two stars and a wish), then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Peer group and instructors fill the feedback form</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Next group sets up during the feedback</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Arial"/>
                <a:cs typeface="Arial"/>
              </a:rPr>
              <a:t>Running order</a:t>
            </a:r>
          </a:p>
          <a:p>
            <a:pPr marL="274320" indent="-274320" algn="l">
              <a:lnSpc>
                <a:spcPct val="104000"/>
              </a:lnSpc>
              <a:spcBef>
                <a:spcPts val="300"/>
              </a:spcBef>
              <a:buFont typeface="Arial"/>
              <a:buChar char="•"/>
            </a:pPr>
            <a:r>
              <a:rPr lang="en-US" sz="1500" dirty="0">
                <a:solidFill>
                  <a:srgbClr val="000000"/>
                </a:solidFill>
                <a:latin typeface="Arial"/>
                <a:cs typeface="Arial"/>
              </a:rPr>
              <a:t>2:00  Group 1</a:t>
            </a:r>
          </a:p>
          <a:p>
            <a:pPr marL="274320" indent="-274320" algn="l">
              <a:lnSpc>
                <a:spcPct val="104000"/>
              </a:lnSpc>
              <a:spcBef>
                <a:spcPts val="300"/>
              </a:spcBef>
              <a:buFont typeface="Arial"/>
              <a:buChar char="•"/>
            </a:pPr>
            <a:r>
              <a:rPr lang="en-US" sz="1500" dirty="0">
                <a:solidFill>
                  <a:srgbClr val="000000"/>
                </a:solidFill>
                <a:latin typeface="Arial"/>
                <a:cs typeface="Arial"/>
              </a:rPr>
              <a:t>2:08  Group 2</a:t>
            </a:r>
          </a:p>
          <a:p>
            <a:pPr marL="274320" indent="-274320" algn="l">
              <a:lnSpc>
                <a:spcPct val="104000"/>
              </a:lnSpc>
              <a:spcBef>
                <a:spcPts val="300"/>
              </a:spcBef>
              <a:buFont typeface="Arial"/>
              <a:buChar char="•"/>
            </a:pPr>
            <a:r>
              <a:rPr lang="en-US" sz="1500" dirty="0">
                <a:solidFill>
                  <a:srgbClr val="000000"/>
                </a:solidFill>
                <a:latin typeface="Arial"/>
                <a:cs typeface="Arial"/>
              </a:rPr>
              <a:t>2:16  Group 3</a:t>
            </a:r>
          </a:p>
          <a:p>
            <a:pPr marL="274320" indent="-274320" algn="l">
              <a:lnSpc>
                <a:spcPct val="104000"/>
              </a:lnSpc>
              <a:spcBef>
                <a:spcPts val="300"/>
              </a:spcBef>
              <a:buFont typeface="Arial"/>
              <a:buChar char="•"/>
            </a:pPr>
            <a:r>
              <a:rPr lang="en-US" sz="1500" dirty="0">
                <a:solidFill>
                  <a:srgbClr val="000000"/>
                </a:solidFill>
                <a:latin typeface="Arial"/>
                <a:cs typeface="Arial"/>
              </a:rPr>
              <a:t>2:24  Group 4</a:t>
            </a:r>
          </a:p>
          <a:p>
            <a:pPr marL="274320" indent="-274320" algn="l">
              <a:lnSpc>
                <a:spcPct val="104000"/>
              </a:lnSpc>
              <a:spcBef>
                <a:spcPts val="300"/>
              </a:spcBef>
              <a:buFont typeface="Arial"/>
              <a:buChar char="•"/>
            </a:pPr>
            <a:r>
              <a:rPr lang="en-US" sz="1500" dirty="0">
                <a:solidFill>
                  <a:srgbClr val="000000"/>
                </a:solidFill>
                <a:latin typeface="Arial"/>
                <a:cs typeface="Arial"/>
              </a:rPr>
              <a:t>2:32  Group 5</a:t>
            </a:r>
          </a:p>
          <a:p>
            <a:pPr marL="274320" indent="-274320" algn="l">
              <a:lnSpc>
                <a:spcPct val="104000"/>
              </a:lnSpc>
              <a:spcBef>
                <a:spcPts val="300"/>
              </a:spcBef>
              <a:buFont typeface="Arial"/>
              <a:buChar char="•"/>
            </a:pPr>
            <a:r>
              <a:rPr lang="en-US" sz="1500" dirty="0">
                <a:solidFill>
                  <a:srgbClr val="000000"/>
                </a:solidFill>
                <a:latin typeface="Arial"/>
                <a:cs typeface="Arial"/>
              </a:rPr>
              <a:t>2:40  Manuscript summary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Arial"/>
                <a:cs typeface="Arial"/>
              </a:rPr>
              <a:t>OUTPUT   </a:t>
            </a:r>
            <a:r>
              <a:rPr lang="en-US" sz="1500" dirty="0">
                <a:solidFill>
                  <a:srgbClr val="000000"/>
                </a:solidFill>
                <a:latin typeface="Arial"/>
                <a:cs typeface="Arial"/>
              </a:rPr>
              <a:t>Five proposals and publication plans presented; feedback forms to the trainers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Alone (2 min): rewrite Paper 1's 'non-significant trend' sentence honestly</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Alone: 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Group (4 min): draft your working title from your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Group: 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Publication plan (Part 4)</a:t>
            </a:r>
          </a:p>
          <a:p>
            <a:pPr marL="274320" indent="-274320" algn="l">
              <a:lnSpc>
                <a:spcPct val="104000"/>
              </a:lnSpc>
              <a:spcBef>
                <a:spcPts val="300"/>
              </a:spcBef>
              <a:buFont typeface="Arial"/>
              <a:buChar char="•"/>
            </a:pPr>
            <a:r>
              <a:rPr lang="en-US" sz="1500" dirty="0">
                <a:solidFill>
                  <a:srgbClr val="000000"/>
                </a:solidFill>
                <a:latin typeface="Arial"/>
                <a:cs typeface="Arial"/>
              </a:rPr>
              <a:t>Working title</a:t>
            </a:r>
          </a:p>
          <a:p>
            <a:pPr marL="274320" indent="-274320" algn="l">
              <a:lnSpc>
                <a:spcPct val="104000"/>
              </a:lnSpc>
              <a:spcBef>
                <a:spcPts val="300"/>
              </a:spcBef>
              <a:buFont typeface="Arial"/>
              <a:buChar char="•"/>
            </a:pPr>
            <a:r>
              <a:rPr lang="en-US" sz="1500" dirty="0">
                <a:solidFill>
                  <a:srgbClr val="000000"/>
                </a:solidFill>
                <a:latin typeface="Arial"/>
                <a:cs typeface="Arial"/>
              </a:rPr>
              <a:t>Abstract skeleton</a:t>
            </a:r>
          </a:p>
          <a:p>
            <a:pPr marL="274320" indent="-274320" algn="l">
              <a:lnSpc>
                <a:spcPct val="104000"/>
              </a:lnSpc>
              <a:spcBef>
                <a:spcPts val="300"/>
              </a:spcBef>
              <a:buFont typeface="Arial"/>
              <a:buChar char="•"/>
            </a:pPr>
            <a:r>
              <a:rPr lang="en-US" sz="1500" dirty="0">
                <a:solidFill>
                  <a:srgbClr val="000000"/>
                </a:solidFill>
                <a:latin typeface="Arial"/>
                <a:cs typeface="Arial"/>
              </a:rPr>
              <a:t>Authors + CRediT roles</a:t>
            </a:r>
          </a:p>
          <a:p>
            <a:pPr marL="274320" indent="-274320" algn="l">
              <a:lnSpc>
                <a:spcPct val="104000"/>
              </a:lnSpc>
              <a:spcBef>
                <a:spcPts val="300"/>
              </a:spcBef>
              <a:buFont typeface="Arial"/>
              <a:buChar char="•"/>
            </a:pPr>
            <a:r>
              <a:rPr lang="en-US" sz="1500" dirty="0">
                <a:solidFill>
                  <a:srgbClr val="000000"/>
                </a:solidFill>
                <a:latin typeface="Arial"/>
                <a:cs typeface="Arial"/>
              </a:rPr>
              <a:t>Target journal +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 abstract skeleton to show in your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Out of scope or poorly reported</a:t>
            </a:r>
          </a:p>
          <a:p>
            <a:pPr marL="0" indent="0" algn="l">
              <a:lnSpc>
                <a:spcPct val="104000"/>
              </a:lnSpc>
              <a:spcBef>
                <a:spcPts val="400"/>
              </a:spcBef>
              <a:buNone/>
            </a:pPr>
            <a:r>
              <a:rPr lang="en-US" sz="1750" dirty="0">
                <a:solidFill>
                  <a:srgbClr val="000000"/>
                </a:solidFill>
                <a:latin typeface="Arial"/>
                <a:cs typeface="Arial"/>
              </a:rPr>
              <a:t>Often within days</a:t>
            </a:r>
          </a:p>
          <a:p>
            <a:pPr marL="0" indent="0" algn="l">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Read the reviews, wait a day</a:t>
            </a:r>
          </a:p>
          <a:p>
            <a:pPr marL="0" indent="0" algn="l">
              <a:lnSpc>
                <a:spcPct val="104000"/>
              </a:lnSpc>
              <a:spcBef>
                <a:spcPts val="400"/>
              </a:spcBef>
              <a:buNone/>
            </a:pPr>
            <a:r>
              <a:rPr lang="en-US" sz="1750" dirty="0">
                <a:solidFill>
                  <a:srgbClr val="000000"/>
                </a:solidFill>
                <a:latin typeface="Arial"/>
                <a:cs typeface="Arial"/>
              </a:rPr>
              <a:t>Fix what they found</a:t>
            </a:r>
          </a:p>
          <a:p>
            <a:pPr marL="0" indent="0" algn="l">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Reformat to its Guide</a:t>
            </a:r>
          </a:p>
          <a:p>
            <a:pPr marL="0" indent="0" algn="l">
              <a:lnSpc>
                <a:spcPct val="104000"/>
              </a:lnSpc>
              <a:spcBef>
                <a:spcPts val="400"/>
              </a:spcBef>
              <a:buNone/>
            </a:pPr>
            <a:r>
              <a:rPr lang="en-US" sz="1750" dirty="0">
                <a:solidFill>
                  <a:srgbClr val="000000"/>
                </a:solidFill>
                <a:latin typeface="Arial"/>
                <a:cs typeface="Arial"/>
              </a:rPr>
              <a:t>Use transfer offers if given</a:t>
            </a:r>
          </a:p>
          <a:p>
            <a:pPr marL="0" indent="0" algn="l">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peer review of the manuscripts</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Same 24 questions as in Session 1 (online form recommended)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Individual, no discussion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the same participant number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PICO question</a:t>
            </a:r>
          </a:p>
          <a:p>
            <a:pPr marL="0" indent="0" algn="l">
              <a:lnSpc>
                <a:spcPct val="104000"/>
              </a:lnSpc>
              <a:spcBef>
                <a:spcPts val="200"/>
              </a:spcBef>
              <a:buNone/>
            </a:pPr>
            <a:r>
              <a:rPr lang="en-US" sz="1500" dirty="0">
                <a:solidFill>
                  <a:srgbClr val="000000"/>
                </a:solidFill>
                <a:latin typeface="Arial"/>
                <a:cs typeface="Arial"/>
              </a:rPr>
              <a:t>5 key references</a:t>
            </a:r>
          </a:p>
          <a:p>
            <a:pPr marL="0" indent="0" algn="l">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justified design</a:t>
            </a:r>
          </a:p>
          <a:p>
            <a:pPr marL="0" indent="0" algn="l">
              <a:lnSpc>
                <a:spcPct val="104000"/>
              </a:lnSpc>
              <a:spcBef>
                <a:spcPts val="200"/>
              </a:spcBef>
              <a:buNone/>
            </a:pPr>
            <a:r>
              <a:rPr lang="en-US" sz="1500" dirty="0">
                <a:solidFill>
                  <a:srgbClr val="000000"/>
                </a:solidFill>
                <a:latin typeface="Arial"/>
                <a:cs typeface="Arial"/>
              </a:rPr>
              <a:t>Outcomes</a:t>
            </a:r>
          </a:p>
          <a:p>
            <a:pPr marL="0" indent="0" algn="l">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CRF and analysis plan</a:t>
            </a:r>
          </a:p>
          <a:p>
            <a:pPr marL="0" indent="0" algn="l">
              <a:lnSpc>
                <a:spcPct val="104000"/>
              </a:lnSpc>
              <a:spcBef>
                <a:spcPts val="200"/>
              </a:spcBef>
              <a:buNone/>
            </a:pPr>
            <a:r>
              <a:rPr lang="en-US" sz="1500" dirty="0">
                <a:solidFill>
                  <a:srgbClr val="000000"/>
                </a:solidFill>
                <a:latin typeface="Arial"/>
                <a:cs typeface="Arial"/>
              </a:rPr>
              <a:t>A real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Methods, Results</a:t>
            </a:r>
          </a:p>
          <a:p>
            <a:pPr marL="0" indent="0" algn="l">
              <a:lnSpc>
                <a:spcPct val="104000"/>
              </a:lnSpc>
              <a:spcBef>
                <a:spcPts val="200"/>
              </a:spcBef>
              <a:buNone/>
            </a:pPr>
            <a:r>
              <a:rPr lang="en-US" sz="1500" dirty="0">
                <a:solidFill>
                  <a:srgbClr val="000000"/>
                </a:solidFill>
                <a:latin typeface="Arial"/>
                <a:cs typeface="Arial"/>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presented proposal</a:t>
            </a:r>
          </a:p>
          <a:p>
            <a:pPr marL="0" indent="0" algn="l">
              <a:lnSpc>
                <a:spcPct val="104000"/>
              </a:lnSpc>
              <a:spcBef>
                <a:spcPts val="200"/>
              </a:spcBef>
              <a:buNone/>
            </a:pPr>
            <a:r>
              <a:rPr lang="en-US" sz="1500" dirty="0">
                <a:solidFill>
                  <a:srgbClr val="000000"/>
                </a:solidFill>
                <a:latin typeface="Arial"/>
                <a:cs typeface="Arial"/>
              </a:rPr>
              <a:t>A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Five proposals and five draft papers from this department.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(hands-on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Polish your draft</a:t>
            </a:r>
          </a:p>
          <a:p>
            <a:pPr marL="0" indent="0" algn="l">
              <a:lnSpc>
                <a:spcPct val="104000"/>
              </a:lnSpc>
              <a:spcBef>
                <a:spcPts val="200"/>
              </a:spcBef>
              <a:buNone/>
            </a:pPr>
            <a:r>
              <a:rPr lang="en-US" sz="1500" dirty="0">
                <a:solidFill>
                  <a:srgbClr val="000000"/>
                </a:solidFill>
                <a:latin typeface="Arial"/>
                <a:cs typeface="Arial"/>
              </a:rPr>
              <a:t>Submit it to the trainers</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Swap</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Review another group's paper</a:t>
            </a:r>
          </a:p>
          <a:p>
            <a:pPr marL="0" indent="0" algn="l">
              <a:lnSpc>
                <a:spcPct val="104000"/>
              </a:lnSpc>
              <a:spcBef>
                <a:spcPts val="200"/>
              </a:spcBef>
              <a:buNone/>
            </a:pPr>
            <a:r>
              <a:rPr lang="en-US" sz="1500" dirty="0">
                <a:solidFill>
                  <a:srgbClr val="000000"/>
                </a:solidFill>
                <a:latin typeface="Arial"/>
                <a:cs typeface="Arial"/>
              </a:rPr>
              <a:t>10-question checklist + writing checks</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Respond</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Answer each comment</a:t>
            </a:r>
          </a:p>
          <a:p>
            <a:pPr marL="0" indent="0" algn="l">
              <a:lnSpc>
                <a:spcPct val="104000"/>
              </a:lnSpc>
              <a:spcBef>
                <a:spcPts val="200"/>
              </a:spcBef>
              <a:buNone/>
            </a:pPr>
            <a:r>
              <a:rPr lang="en-US" sz="1500" dirty="0">
                <a:solidFill>
                  <a:srgbClr val="000000"/>
                </a:solidFill>
                <a:latin typeface="Arial"/>
                <a:cs typeface="Arial"/>
              </a:rPr>
              <a:t>Response-to-reviewers template</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Final draft + response letter</a:t>
            </a:r>
          </a:p>
          <a:p>
            <a:pPr marL="0" indent="0" algn="l">
              <a:lnSpc>
                <a:spcPct val="104000"/>
              </a:lnSpc>
              <a:spcBef>
                <a:spcPts val="200"/>
              </a:spcBef>
              <a:buNone/>
            </a:pPr>
            <a:r>
              <a:rPr lang="en-US" sz="1500" dirty="0">
                <a:solidFill>
                  <a:srgbClr val="000000"/>
                </a:solidFill>
                <a:latin typeface="Arial"/>
                <a:cs typeface="Arial"/>
              </a:rPr>
              <a:t>Trainer feedback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Due two weeks after Session 8 (see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At least 6 of 8 sessions</a:t>
            </a:r>
          </a:p>
          <a:p>
            <a:pPr marL="0" indent="0" algn="l">
              <a:lnSpc>
                <a:spcPct val="104000"/>
              </a:lnSpc>
              <a:spcBef>
                <a:spcPts val="400"/>
              </a:spcBef>
              <a:buNone/>
            </a:pPr>
            <a:r>
              <a:rPr lang="en-US" sz="1750" dirty="0">
                <a:solidFill>
                  <a:srgbClr val="000000"/>
                </a:solidFill>
                <a:latin typeface="Arial"/>
                <a:cs typeface="Arial"/>
              </a:rPr>
              <a:t>Proposal presented</a:t>
            </a:r>
          </a:p>
          <a:p>
            <a:pPr marL="0" indent="0" algn="l">
              <a:lnSpc>
                <a:spcPct val="104000"/>
              </a:lnSpc>
              <a:spcBef>
                <a:spcPts val="400"/>
              </a:spcBef>
              <a:buNone/>
            </a:pPr>
            <a:r>
              <a:rPr lang="en-US" sz="1750" dirty="0">
                <a:solidFill>
                  <a:srgbClr val="000000"/>
                </a:solidFill>
                <a:latin typeface="Arial"/>
                <a:cs typeface="Arial"/>
              </a:rPr>
              <a:t>Manuscript draft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Slides, handouts, glossary</a:t>
            </a:r>
          </a:p>
          <a:p>
            <a:pPr marL="0" indent="0" algn="l">
              <a:lnSpc>
                <a:spcPct val="104000"/>
              </a:lnSpc>
              <a:spcBef>
                <a:spcPts val="400"/>
              </a:spcBef>
              <a:buNone/>
            </a:pPr>
            <a:r>
              <a:rPr lang="en-US" sz="1750" dirty="0">
                <a:solidFill>
                  <a:srgbClr val="000000"/>
                </a:solidFill>
                <a:latin typeface="Arial"/>
                <a:cs typeface="Arial"/>
              </a:rPr>
              <a:t>Proposal, protocol, consent, CRF, SAP,</a:t>
            </a:r>
          </a:p>
          <a:p>
            <a:pPr marL="0" indent="0" algn="l">
              <a:lnSpc>
                <a:spcPct val="104000"/>
              </a:lnSpc>
              <a:spcBef>
                <a:spcPts val="400"/>
              </a:spcBef>
              <a:buNone/>
            </a:pPr>
            <a:r>
              <a:rPr lang="en-US" sz="1750" dirty="0">
                <a:solidFill>
                  <a:srgbClr val="000000"/>
                </a:solidFill>
                <a:latin typeface="Arial"/>
                <a:cs typeface="Arial"/>
              </a:rPr>
              <a:t>manuscript and reviewer templates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Take your proposal to ethics</a:t>
            </a:r>
          </a:p>
          <a:p>
            <a:pPr marL="0" indent="0" algn="l">
              <a:lnSpc>
                <a:spcPct val="104000"/>
              </a:lnSpc>
              <a:spcBef>
                <a:spcPts val="400"/>
              </a:spcBef>
              <a:buNone/>
            </a:pPr>
            <a:r>
              <a:rPr lang="en-US" sz="1750" dirty="0">
                <a:solidFill>
                  <a:srgbClr val="000000"/>
                </a:solidFill>
                <a:latin typeface="Arial"/>
                <a:cs typeface="Arial"/>
              </a:rPr>
              <a:t>Level 2: hands-on analysis in R</a:t>
            </a:r>
          </a:p>
          <a:p>
            <a:pPr marL="0" indent="0" algn="l">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