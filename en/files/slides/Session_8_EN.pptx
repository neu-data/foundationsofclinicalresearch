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8 (0:00). Weekend 4, Sunday - the last session. Today the FLUID-ICU manuscripts become complete drafts, we follow a paper from submission to publication, practise reviewing, and every group presents its own proposal.</a:t>
            </a:r>
          </a:p>
          <a:p>
            <a:r>
              <a:rPr lang="en-US" sz="1400" b="0" dirty="0"/>
              <a:t>The closing block (post-course quiz, evaluation, peer-review swap) is the last 15 minutes and has its own slides.</a:t>
            </a:r>
          </a:p>
          <a:p>
            <a:r>
              <a:rPr lang="en-US" sz="1400" b="0" dirty="0"/>
              <a:t>Before you start: all five presentations on ONE laptop; each group's workshop-1 draft open.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(0:00-0:05). Quick hands-up; reveal the answers.</a:t>
            </a:r>
          </a:p>
          <a:p>
            <a:r>
              <a:rPr lang="en-US" sz="1400" b="0" dirty="0"/>
              <a:t>Q3 leads into 8.1: the Discussion is where interpretation lives.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8.1 (0:05-0:30). Eleven slides with three worked examples from FLUID-ICU Q1 and a 2-minute check.</a:t>
            </a:r>
          </a:p>
          <a:p>
            <a:r>
              <a:rPr lang="en-US" sz="1400" b="0" dirty="0"/>
              <a:t>Order follows the writing order from yesterday: Introduction, Discussion, then the Abstract and the Title last.</a:t>
            </a:r>
          </a:p>
          <a:p>
            <a:r>
              <a:rPr lang="en-US" sz="1400" b="0" dirty="0"/>
              <a:t>Pace: about 2 minutes per slide; slow down on the worked Discussion example.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introduction is a funnel, not a literature review. Paragraph 1: what is known (burden, mechanism, current practice). Paragraph 2: what is not known - the gap, ideally with conflicting evidence cited on both sides. Paragraph 3: 'We therefore aimed to ...' - one aim sentence that matches the primary outcome in the Methods.</a:t>
            </a:r>
          </a:p>
          <a:p>
            <a:r>
              <a:rPr lang="en-US" sz="1400" b="0" dirty="0"/>
              <a:t>Paper 1 is the model (annotations #10-#12): known (positive fluid balance is linked to death; hidden fluids are a large share of intake), unknown (earlier trials targeted resuscitation fluids only), aim (primary objective = fluid balance after 5 days) - under 500 words (pages 2-3).</a:t>
            </a:r>
          </a:p>
          <a:p>
            <a:r>
              <a:rPr lang="en-US" sz="1400" b="0" dirty="0"/>
              <a:t>Paper 2's paragraph 2 defines the gap by citing both sides of a conflict (annotation #9) - copy that; but its introduction runs to about 550 words and the aim repeats the causal word 'impact' (#3, #10).</a:t>
            </a:r>
          </a:p>
          <a:p>
            <a:r>
              <a:rPr lang="en-US" sz="1400" b="0" dirty="0"/>
              <a:t>Link to Sessions 1-2: your problem statement and PICO already give you this funnel - and for the FLUID-ICU paper the next slide shows a worked example.</a:t>
            </a:r>
          </a:p>
          <a:p>
            <a:r>
              <a:rPr lang="en-US" sz="1400" b="0" dirty="0"/>
              <a:t>Ask: in one sentence, what is NOT known in your group's topic? That sentence is your paragraph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Model opening sentences (adapt, do not copy):</a:t>
            </a:r>
          </a:p>
          <a:p>
            <a:r>
              <a:rPr lang="en-US" sz="1400" b="0" dirty="0"/>
              <a:t>P1: 'Intravenous fluids are a cornerstone of early sepsis care, but a positive cumulative fluid balance has been associated with higher mortality in several observational studies [refs].'</a:t>
            </a:r>
          </a:p>
          <a:p>
            <a:r>
              <a:rPr lang="en-US" sz="1400" b="0" dirty="0"/>
              <a:t>P2: 'Because sicker patients receive more fluid, it remains uncertain whether this association persists after adjustment for illness severity [refs].'</a:t>
            </a:r>
          </a:p>
          <a:p>
            <a:r>
              <a:rPr lang="en-US" sz="1400" b="0" dirty="0"/>
              <a:t>P3: 'We therefore examined whether a positive cumulative fluid balance by ICU day 3 was associated with 28-day mortality in adults with sepsis, before and after adjustment for severity.'</a:t>
            </a:r>
          </a:p>
          <a:p>
            <a:r>
              <a:rPr lang="en-US" sz="1400" b="0" dirty="0"/>
              <a:t>References: groups use the references found in Sessions 1-2 plus Papers 1 and 2.</a:t>
            </a:r>
          </a:p>
          <a:p>
            <a:r>
              <a:rPr lang="en-US" sz="1400" b="0" dirty="0"/>
              <a:t>Point out: the confounding by indication from Session 4 IS the gap - that is why the study is worth doing.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good discussion makes six moves, in this order: answer the question; compare with other studies and explain why results differ; explain the mechanism briefly; state the limitations specifically, with their likely direction and a fix; give implications for practice and research, labelled as such; conclude with the same message as the abstract and title.</a:t>
            </a:r>
          </a:p>
          <a:p>
            <a:r>
              <a:rPr lang="en-US" sz="1400" b="0" dirty="0"/>
              <a:t>Paper 1 does most of this well: the first sentence answers the primary question (annotation #36); the comparison with CLASSIC and POINCARE-2 explains WHY results differ (#37); limitations are specific, with mechanism and a fix (#38, #39); the conclusion matches the abstract (#44). Weak point: 'would probably be advantageous' is speculation without data (#46).</a:t>
            </a:r>
          </a:p>
          <a:p>
            <a:r>
              <a:rPr lang="en-US" sz="1400" b="0" dirty="0"/>
              <a:t>Paper 2: one-paragraph mechanism using the four-phase fluid model (#34); comparison closes the loop with the conflicting studies from the introduction (#35). But its limitations miss survivor bias, residual lactate imbalance and confounding by indication (#36).</a:t>
            </a:r>
          </a:p>
          <a:p>
            <a:r>
              <a:rPr lang="en-US" sz="1400" b="0" dirty="0"/>
              <a:t>Ask: which move do first-time writers usually skip? Expected: the limitations' direction - saying whether a bias makes the effect look bigger or smaller.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(six moves, one sentence each; numbers from key_results.md, SIMULATED data).</a:t>
            </a:r>
          </a:p>
          <a:p>
            <a:r>
              <a:rPr lang="en-US" sz="1400" b="0" dirty="0"/>
              <a:t>1 Answer: adjusted OR 1.62 (95% CI 1.02 to 2.59). 2 Compare: Paper 2 found day-2 HR 2.13 (1.48 to 3.06). 3 Explain: the crude OR 2.49 fell to 1.62 after adjustment - confounding by indication. 4 Limitations: residual confounding, reverse causation (patients who are dying accumulate fluid), patients dying before day 3; the adjusted Cox HR 1.46 had a CI reaching 1.00. 5 Implications: no basis to restrict fluid - a trial like Paper 1 is needed. 6 Conclusion: 'associated with'.</a:t>
            </a:r>
          </a:p>
          <a:p>
            <a:r>
              <a:rPr lang="en-US" sz="1400" b="0" dirty="0"/>
              <a:t>Optional point for Q1 groups: the association looked stronger in heart failure (adjusted OR 4.39 vs 1.29, p for interaction 0.031, only 90 patients) - a hypothesis, not a finding.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figure shows the three estimates from results pack Q1 (Table 6): crude (n = 618), adjusted complete-case (n = 527) and adjusted after multiple imputation (n = 620).</a:t>
            </a:r>
          </a:p>
          <a:p>
            <a:r>
              <a:rPr lang="en-US" sz="1400" b="0" dirty="0"/>
              <a:t>Teaching point: the drop from 2.49 to 1.62 is the Session 4 lesson made visible - sicker patients received more fluid AND died more. The imputed estimate is close to the complete-case one, so missing lactate did not change the conclusion.</a:t>
            </a:r>
          </a:p>
          <a:p>
            <a:r>
              <a:rPr lang="en-US" sz="1400" b="0" dirty="0"/>
              <a:t>The adjusted CI starts at 1.02 - just above 1. Calibrated sentence: 'a modest association remained'.</a:t>
            </a:r>
          </a:p>
          <a:p>
            <a:r>
              <a:rPr lang="en-US" sz="1400" b="0" dirty="0"/>
              <a:t>Ask: what would you write if the adjusted CI had crossed 1? Expected: 'no clear evidence of an association after adjustment' - not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strength of a verb is a claim. Over-interpretation - conclusions that go beyond the data - is one of the commonest reasons for rejection.</a:t>
            </a:r>
          </a:p>
          <a:p>
            <a:r>
              <a:rPr lang="en-US" sz="1400" b="0" dirty="0"/>
              <a:t>Read the ladder from the bottom: descriptive studies 'observe'; cohorts and case-control studies find that something 'is associated with' an outcome; strong observational evidence plus causal reasoning may 'contribute to'; a randomised trial may say 'reduced' or 'did not reduce'; 'causes' or 'proves' needs several consistent large trials.</a:t>
            </a:r>
          </a:p>
          <a:p>
            <a:r>
              <a:rPr lang="en-US" sz="1400" b="0" dirty="0"/>
              <a:t>NEVER: 'non-significant trend' for p = 0.42 (Paper 1, page 10, annotation #41); 'no difference' when the study was too small - say 'no evidence of a difference' (#29); 'first', 'ever', 'novel' without checking ('lowest fluid balance ever published', #40); 'impact', 'did not impact', 'show' in an observational study (Paper 2, #1, #27, #28); 'the most reliable comparison' (#32); ranking HRs from different cohorts as 'the highest risk' without a test (#37).</a:t>
            </a:r>
          </a:p>
          <a:p>
            <a:r>
              <a:rPr lang="en-US" sz="1400" b="0" dirty="0"/>
              <a:t>Ask: rewrite 'positive fluid balance increases mortality' for Paper 2. Expected: 'a positive fluid balance on ICU day 2 was associated with higher 28-day mortality'.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Numbers from key_results.md (SIMULATED): Q1 adjusted OR 1.62; Q2 adjusted OR 1.27 per 10 ml/kg; Q1 adjusted Cox HR 1.46 (1.00 to 2.13); Q4 adjusted complete-case OR 1.39 per mmol/L.</a:t>
            </a:r>
          </a:p>
          <a:p>
            <a:r>
              <a:rPr lang="en-US" sz="1400" b="0" dirty="0"/>
              <a:t>Room votes 'fine' or 'fix'; ask one person for the fix.</a:t>
            </a:r>
          </a:p>
          <a:p>
            <a:r>
              <a:rPr lang="en-US" sz="1400" b="0" dirty="0"/>
              <a:t>Sentence 3: no 'trend' - give the estimate and say the CI reaches 1.</a:t>
            </a:r>
          </a:p>
          <a:p>
            <a:r>
              <a:rPr lang="en-US" sz="1400" b="0" dirty="0"/>
              <a:t>Sentence 4: 'predicts' is acceptable in a prediction sense; if the authors mean cause, 'associated with' is the honest verb.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most clinical journals want a structured abstract - Background, Methods, Results, Conclusions - of about 250-300 words; trials add the registration number. Many readers never go further, so it must stand alone.</a:t>
            </a:r>
          </a:p>
          <a:p>
            <a:r>
              <a:rPr lang="en-US" sz="1400" b="0" dirty="0"/>
              <a:t>Good practice: Paper 2's abstract gives the source population, setting and size (annotation #4) and every result as HR with 95% CI and exact P (annotation #5). Paper 1's conclusion reports a negative result plainly, with no spin (annotation #6), and the registration number is in the abstract (annotation #7).</a:t>
            </a:r>
          </a:p>
          <a:p>
            <a:r>
              <a:rPr lang="en-US" sz="1400" b="0" dirty="0"/>
              <a:t>Fix (Paper 1, annotation #4): medians are reported but the estimate is called a 'mean difference', and p = 0.0506 with a CI touching 0 is given to four decimals. The summary, the estimate and the test must match, and borderline p-values are not 'nearly significant'.</a:t>
            </a:r>
          </a:p>
          <a:p>
            <a:r>
              <a:rPr lang="en-US" sz="1400" b="0" dirty="0"/>
              <a:t>Write the abstract LAST, and check that each number appears identically in the abstract, text and tables.</a:t>
            </a:r>
          </a:p>
          <a:p>
            <a:r>
              <a:rPr lang="en-US" sz="1400" b="0" dirty="0"/>
              <a:t>Ask: what is the first thing you look for in an abstract's Results? Expected: the main effect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(SIMULATED data; about 120 words shown - a full abstract is up to 250).</a:t>
            </a:r>
          </a:p>
          <a:p>
            <a:r>
              <a:rPr lang="en-US" sz="1400" b="0" dirty="0"/>
              <a:t>Title: names the exposure, outcome, population and design; no 'impact'.</a:t>
            </a:r>
          </a:p>
          <a:p>
            <a:r>
              <a:rPr lang="en-US" sz="1400" b="0" dirty="0"/>
              <a:t>Methods: must say the data are simulated (course rule).</a:t>
            </a:r>
          </a:p>
          <a:p>
            <a:r>
              <a:rPr lang="en-US" sz="1400" b="0" dirty="0"/>
              <a:t>Results: the crude AND adjusted ORs, as in the Results; the participant numbers (618 analysed, 373 positive).</a:t>
            </a:r>
          </a:p>
          <a:p>
            <a:r>
              <a:rPr lang="en-US" sz="1400" b="0" dirty="0"/>
              <a:t>Conclusions: 'modestly associated' - matches an adjusted CI of 1.02 to 2.59.</a:t>
            </a:r>
          </a:p>
          <a:p>
            <a:r>
              <a:rPr lang="en-US" sz="1400" b="0" dirty="0"/>
              <a:t>Ask: which abstract sentence would change if the adjusted CI had been 0.95 to 2.40? Expected: Results and Conclusions - 'no clear evidence of an association after adjustment'.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title is the most-read sentence of the paper. Build it from the PICO: design, intervention or exposure vs comparator, population, outcome. Aim for about 10-16 words; state the design; avoid value-laden words ('impact', 'optimized', 'novel', 'first').</a:t>
            </a:r>
          </a:p>
          <a:p>
            <a:r>
              <a:rPr lang="en-US" sz="1400" b="0" dirty="0"/>
              <a:t>Paper 1 (annotation #1): the design is in the title - good - but it is over 25 words and uses value words. A shorter descriptive version is on the slide.</a:t>
            </a:r>
          </a:p>
          <a:p>
            <a:r>
              <a:rPr lang="en-US" sz="1400" b="0" dirty="0"/>
              <a:t>Paper 2 (annotation #1): 'Impact' is causal wording for an observational cohort; reviewers routinely ask for 'Association between ...'.</a:t>
            </a:r>
          </a:p>
          <a:p>
            <a:r>
              <a:rPr lang="en-US" sz="1400" b="0" dirty="0"/>
              <a:t>Keywords (Paper 1, annotation #9): its keywords repeat words already in the title. Choose 3-6 MeSH terms that are NOT in the title, so the paper is found by more searches.</a:t>
            </a:r>
          </a:p>
          <a:p>
            <a:r>
              <a:rPr lang="en-US" sz="1400" b="0" dirty="0"/>
              <a:t>Ask: say your group's study in one line, starting with the design. That is the first draft of your working title - you will write it in the activity at the end of this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References: use a reference manager (Zotero, Mendeley, EndNote) and check every citation. In Paper 2 the covariate list cites reference 26 - the Sepsis-3 definitions paper - almost certainly the wrong number (annotation #22). Never cite a reference an AI tool suggested without reading it.</a:t>
            </a:r>
          </a:p>
          <a:p>
            <a:r>
              <a:rPr lang="en-US" sz="1400" b="0" dirty="0"/>
              <a:t>Reporting checklist: fill in CONSORT or STROBE while you write, with page numbers - many journals require it at submission. Neither paper names its guideline (both annotated summaries flag this).</a:t>
            </a:r>
          </a:p>
          <a:p>
            <a:r>
              <a:rPr lang="en-US" sz="1400" b="0" dirty="0"/>
              <a:t>Final read: check every number in the text against the tables (Paper 1's creatinine, #25), every figure call-out (Paper 1 refers to Fig. 1 where it means Fig. 2A, #28), and typography of numbers (an IQR whose upper limit is below the lower limit, #35).</a:t>
            </a:r>
          </a:p>
          <a:p>
            <a:r>
              <a:rPr lang="en-US" sz="1400" b="0" dirty="0"/>
              <a:t>Key message from the annotated summaries: almost all of Paper 1's errors would have been caught by a co-author reading the tables against the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2 (0:30-1:00). Level 2. Groups add the Introduction, Discussion, Abstract and Title to yesterday's Methods + Results.</a:t>
            </a:r>
          </a:p>
          <a:p>
            <a:r>
              <a:rPr lang="en-US" sz="1400" b="0" dirty="0"/>
              <a:t>Instructions: Practicals/s8_exercises.md, Part B. Model paragraphs for Q1: 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2 (0:30-1:00). Start a 30-minute timer; Introduction and Discussion are written in parallel.</a:t>
            </a:r>
          </a:p>
          <a:p>
            <a:r>
              <a:rPr lang="en-US" sz="1400" b="0" dirty="0"/>
              <a:t>Circulate. Prompts: 'Does your first Discussion sentence answer the question with the number?' 'Is there a limitation with its direction?' 'Does your conclusion use the same verb as your aim?' 'Is every number in the abstract identical to the Results?'</a:t>
            </a:r>
          </a:p>
          <a:p>
            <a:r>
              <a:rPr lang="en-US" sz="1400" b="0" dirty="0"/>
              <a:t>Q4 group: discuss why complete-case and imputed results differ (or not). Q5 group: survivors only - say who is missing.</a:t>
            </a:r>
          </a:p>
          <a:p>
            <a:r>
              <a:rPr lang="en-US" sz="1400" b="0" dirty="0"/>
              <a:t>At 0:58 ask groups to save; the draft goes to the peer-review swap (homework, 2 weeks, using the 10-question checklist from 8.3).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(1:00-1:15).</a:t>
            </a:r>
          </a:p>
          <a:p>
            <a:r>
              <a:rPr lang="en-US" sz="1400" b="0" dirty="0"/>
              <a:t>During the break: put the papers and the student appraisal pack (Practicals/s8_exercises.md, Part D) on the tables - Paper 1 on tables 1-3, Paper 2 on tables 4-5. Use the ORIGINAL (unannotated) papers.</a:t>
            </a:r>
          </a:p>
          <a:p>
            <a:r>
              <a:rPr lang="en-US" sz="1400" b="0" dirty="0"/>
              <a:t>Load all five presentations on one laptop and test the projector.</a:t>
            </a:r>
          </a:p>
          <a:p>
            <a:r>
              <a:rPr lang="en-US" sz="1400" b="0" dirty="0"/>
              <a:t>Collect the five manuscript drafts (shared folder) - they are needed for the peer-review swap.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8.2 (1:15-1:40). Ten slides, the 3-minute EQUATOR demo and a 2-minute check.</a:t>
            </a:r>
          </a:p>
          <a:p>
            <a:r>
              <a:rPr lang="en-US" sz="1400" b="0" dirty="0"/>
              <a:t>Pace: about 2 minutes per slide - point to the picture, give one example, move on. The appraisal needs its full 20 minutes at 1:40.</a:t>
            </a:r>
          </a:p>
          <a:p>
            <a:r>
              <a:rPr lang="en-US" sz="1400" b="0" dirty="0"/>
              <a:t>Link to the manuscripts: the FLUID-ICU drafts would go through exactly this route - STROBE checklist, journal choice, submission package,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each study design there is an internationally agreed reporting checklist; all of them are collected free at the EQUATOR Network (equator-network.org).</a:t>
            </a:r>
          </a:p>
          <a:p>
            <a:r>
              <a:rPr lang="en-US" sz="1400" b="0" dirty="0"/>
              <a:t>CONSORT for randomised trials (updated as CONSORT 2025), STROBE for observational studies (cohort, case-control, cross-sectional), STARD for diagnostic accuracy, PRISMA for systematic reviews, SPIRIT for trial protocols (SPIRIT 2025), CARE for case reports.</a:t>
            </a:r>
          </a:p>
          <a:p>
            <a:r>
              <a:rPr lang="en-US" sz="1400" b="0" dirty="0"/>
              <a:t>Running example: Paper 1 is an RCT - CONSORT; Paper 2 is a cohort - STROBE. Interesting finding from the annotated papers: neither paper names its guideline. Paper 1 does include the CONSORT flow diagram in the main text; Paper 2 keeps its flow chart in the supplement.</a:t>
            </a:r>
          </a:p>
          <a:p>
            <a:r>
              <a:rPr lang="en-US" sz="1400" b="0" dirty="0"/>
              <a:t>Many journals require the completed checklist at submission, with page numbers.</a:t>
            </a:r>
          </a:p>
          <a:p>
            <a:r>
              <a:rPr lang="en-US" sz="1400" b="0" dirty="0"/>
              <a:t>Misconception: 'reporting guidelines tell you how to do the study'. They tell you what to report - but reading them BEFORE you start is the best design checklist you will find.</a:t>
            </a:r>
          </a:p>
          <a:p>
            <a:r>
              <a:rPr lang="en-US" sz="1400" b="0" dirty="0"/>
              <a:t>Ask each group: which guideline fits your proposal? Expected: most ICU proposals are cohort or cross-sectional (STROBE); a few are trials (CONSORT, and SPIRIT for the protocol).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choose the journal at the start, because its Guide for Authors sets word limits, structure, checklist and registration rules.</a:t>
            </a:r>
          </a:p>
          <a:p>
            <a:r>
              <a:rPr lang="en-US" sz="1400" b="0" dirty="0"/>
              <a:t>Fit: the people who need your answer (ICU nurses? pharmacists? intensivists?) decide the journal. Trust: indexed in MEDLINE/PubMed, the Directory of Open Access Journals (DOAJ), Scopus or Web of Science, with a clear peer-review and retraction policy.</a:t>
            </a:r>
          </a:p>
          <a:p>
            <a:r>
              <a:rPr lang="en-US" sz="1400" b="0" dirty="0"/>
              <a:t>Cost &amp; speed: many open-access journals charge an article-processing charge (APC); ask about waivers and institutional agreements. Licence: Paper 1 is CC BY-NC-ND (share, but no adaptation or commercial use), Paper 2 is CC BY (re-use with attribution).</a:t>
            </a:r>
          </a:p>
          <a:p>
            <a:r>
              <a:rPr lang="en-US" sz="1400" b="0" dirty="0"/>
              <a:t>Speed: Paper 1 went from submission to acceptance in about 7 weeks (10 Sept - 31 Oct 2024); Paper 2 took about 7 months (15 Jan - 24 Aug 2023). Speed varies; it is not a sign of quality by itself.</a:t>
            </a:r>
          </a:p>
          <a:p>
            <a:r>
              <a:rPr lang="en-US" sz="1400" b="0" dirty="0"/>
              <a:t>Ask: name one journal your unit reads regularly. That is often a sensible first target.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Preprints: a manuscript posted on a public server (for health research, medRxiv is the best known) before or during peer review. Benefits: speed, a public timestamp, early feedback. Risks: it has not been peer-reviewed, and the media or colleagues may treat it as established. Most journals accept submissions that were preprinted - check the journal's policy first, and update the preprint with the published reference.</a:t>
            </a:r>
          </a:p>
          <a:p>
            <a:r>
              <a:rPr lang="en-US" sz="1400" b="0" dirty="0"/>
              <a:t>Open access: gold OA means the journal makes the article free and usually charges an article-processing charge (APC) - both our papers are gold OA (annotations #2). Green OA means you deposit the accepted manuscript in a repository, often after an embargo. Ask about waivers and institutional agreements.</a:t>
            </a:r>
          </a:p>
          <a:p>
            <a:r>
              <a:rPr lang="en-US" sz="1400" b="0" dirty="0"/>
              <a:t>Licences: Paper 2 is CC BY (anyone may re-use and adapt with credit); Paper 1 is CC BY-NC-ND (share, but no adaptation or commercial use) - which also matters when you want to re-use a figure in teaching.</a:t>
            </a:r>
          </a:p>
          <a:p>
            <a:r>
              <a:rPr lang="en-US" sz="1400" b="0" dirty="0"/>
              <a:t>Ask: you want to put Paper 1's flow chart, redrawn, in your teaching slides. Allowed? Expected: adaptation is not covered by CC BY-NC-ND - ask permission or cite and link instead.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predatory journals take publication fees without providing real peer review, editing or indexing. Your work disappears into a journal nobody trusts, and you cannot submit it elsewhere.</a:t>
            </a:r>
          </a:p>
          <a:p>
            <a:r>
              <a:rPr lang="en-US" sz="1400" b="0" dirty="0"/>
              <a:t>Walk the five red flags on this (invented) e-mail: flattering mass e-mail from a free address; a vague, huge scope and a name that imitates a real journal; impossibly fast review; fake or unknown 'impact' metrics; fees hidden until after acceptance. Other flags: editorial board members who cannot be verified, no physical address, many spelling errors.</a:t>
            </a:r>
          </a:p>
          <a:p>
            <a:r>
              <a:rPr lang="en-US" sz="1400" b="0" dirty="0"/>
              <a:t>Checks: Think.Check.Submit (a free checklist), DOAJ for open-access journals, the NLM Catalog to see if a journal is really indexed in MEDLINE - and ask the hospital librarian.</a:t>
            </a:r>
          </a:p>
          <a:p>
            <a:r>
              <a:rPr lang="en-US" sz="1400" b="0" dirty="0"/>
              <a:t>Ask: how many of you received an e-mail like this in the last month? Usually many hands - every clinician who has published once receives them.</a:t>
            </a:r>
          </a:p>
          <a:p>
            <a:r>
              <a:rPr lang="en-US" sz="1400" b="0" dirty="0"/>
              <a:t>The s8 exercise sheet (Part C) has a short 'spot the predatory journal' exercise for later.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(1:24-1:27). Full script with offline fallback: Course/Demos/s8_demo.md.</a:t>
            </a:r>
          </a:p>
          <a:p>
            <a:r>
              <a:rPr lang="en-US" sz="1400" b="0" dirty="0"/>
              <a:t>Keep it to 3 minutes: EQUATOR home page - search box - CONSORT 2025 page - checklist and flow diagram; then STROBE. Then DOAJ search for a journal title, and the NLM Catalog with the filter 'currently indexed in MEDLINE'. End on the Think.Check.Submit checklist.</a:t>
            </a:r>
          </a:p>
          <a:p>
            <a:r>
              <a:rPr lang="en-US" sz="1400" b="0" dirty="0"/>
              <a:t>If the internet fails, use the screenshots described in the demo script.</a:t>
            </a:r>
          </a:p>
          <a:p>
            <a:r>
              <a:rPr lang="en-US" sz="1400" b="0" dirty="0"/>
              <a:t>Close: ask each group to check the target journal and guideline in its publication plan (Proposal builder 7) and on its FLUID-ICU draft (STROBE) - 30 seconds, then continue with the submission package.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check the package before any scientific review. Missing items send the manuscript straight back.</a:t>
            </a:r>
          </a:p>
          <a:p>
            <a:r>
              <a:rPr lang="en-US" sz="1400" b="0" dirty="0"/>
              <a:t>Cover letter: one page - why this journal, what is new, that the work is not under consideration elsewhere, and any preprint. Title page: all authors, affiliations, ORCID iDs (a free, permanent researcher identifier - every participant can register at orcid.org), corresponding author, word count. Manuscript in the journal's format (blinded if the journal uses double-blind review). Tables and figures in the required files and resolution. The reporting checklist with page numbers. Declarations: ethics approval number, consent, competing interests, funding, data availability, author contributions (CRediT) and AI use. The registration number for trials and systematic reviews. Suggested reviewers: experts without conflicts, not recent co-authors - the editor decides whether to use them. Supplementary files.</a:t>
            </a:r>
          </a:p>
          <a:p>
            <a:r>
              <a:rPr lang="en-US" sz="1400" b="0" dirty="0"/>
              <a:t>Running example: Paper 1 has a complete declarations block - exactly what the submission system asks for, item by item (annotation #48). Graphical abstracts are a journal-specific requirement you only find in the Guide for Authors (#8).</a:t>
            </a:r>
          </a:p>
          <a:p>
            <a:r>
              <a:rPr lang="en-US" sz="1400" b="0" dirty="0"/>
              <a:t>Ask: who in your group already has an ORCID iD? Encourage everyone to register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stations. Submit (with cover letter, reporting checklist and declarations) - the editor screens, and many papers are rejected here without review ('desk rejection') because they do not fit or are poorly reported - two or three peer reviewers comment - the editor decides: accept, minor revision, major revision or reject - you revise and answer every comment point by point - accepted, then proofs (read them carefully!) and publication.</a:t>
            </a:r>
          </a:p>
          <a:p>
            <a:r>
              <a:rPr lang="en-US" sz="1400" b="0" dirty="0"/>
              <a:t>Running example: our annotators judged Paper 1 'minor revision' and Paper 2 'major revision' - both were published, and both still contain errors a careful reviewer would have caught (Paper 1 even prints the same 'Study protocol' paragraph twice - a proof-reading miss).</a:t>
            </a:r>
          </a:p>
          <a:p>
            <a:r>
              <a:rPr lang="en-US" sz="1400" b="0" dirty="0"/>
              <a:t>Rule: submit to ONE journal at a time; after rejection, improve the paper using the reviews, then submit elsewhere.</a:t>
            </a:r>
          </a:p>
          <a:p>
            <a:r>
              <a:rPr lang="en-US" sz="1400" b="0" dirty="0"/>
              <a:t>Ask: a reviewer is wrong about something. What do you do? Expected: thank them, explain politely with evidence, and clarify the text so the next reader is not confused.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response letter is a table - every reviewer comment, your response, and exactly where the manuscript changed (page and line). Number the comments (R1.1, R1.2, R2.1 ...).</a:t>
            </a:r>
          </a:p>
          <a:p>
            <a:r>
              <a:rPr lang="en-US" sz="1400" b="0" dirty="0"/>
              <a:t>Tone: thank the reviewers, agree where you can, never ignore a point, never argue emotionally. When you disagree (a rebuttal), explain politely with evidence and, where possible, still clarify the text so the next reader is not confused.</a:t>
            </a:r>
          </a:p>
          <a:p>
            <a:r>
              <a:rPr lang="en-US" sz="1400" b="0" dirty="0"/>
              <a:t>The three rows are illustrative, built on what the annotators say a reviewer would have asked Paper 1: remove the 'non-significant trend' (accept); justify blocks of 2 (clarify and add a limitation); a request for an outcome that was never collected (polite rebuttal - you cannot add data that do not exist, but you can name it as a limitation).</a:t>
            </a:r>
          </a:p>
          <a:p>
            <a:r>
              <a:rPr lang="en-US" sz="1400" b="0" dirty="0"/>
              <a:t>Common mistakes: changing the manuscript without saying where; answering 'done' with no detail; accepting a request that makes the paper wrong just to please the reviewer.</a:t>
            </a:r>
          </a:p>
          <a:p>
            <a:r>
              <a:rPr lang="en-US" sz="1400" b="0" dirty="0"/>
              <a:t>A template is in Course/Templates/ (response to reviewers).</a:t>
            </a:r>
          </a:p>
          <a:p>
            <a:r>
              <a:rPr lang="en-US" sz="1400" b="0" dirty="0"/>
              <a:t>Ask: a reviewer asks for an analysis you think is inappropriate. What do you write? Expected: thank, explain why with a reference, and offer an alternative if one exists.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after acceptance the publisher sends proofs, often with a short deadline (days). Read them slowly: every number, every name and affiliation, every table and figure. This is the last chance.</a:t>
            </a:r>
          </a:p>
          <a:p>
            <a:r>
              <a:rPr lang="en-US" sz="1400" b="0" dirty="0"/>
              <a:t>Running example: Paper 1 prints the whole 'Study protocol' paragraph twice - in the Methods (page 4) and again after the Conclusions (page 11) - a duplication that should have been caught at proof stage (annotation #45). Paper 2's affiliations have inconsistent capitalisation (#42).</a:t>
            </a:r>
          </a:p>
          <a:p>
            <a:r>
              <a:rPr lang="en-US" sz="1400" b="0" dirty="0"/>
              <a:t>Sharing: post the article as its licence and the journal's policy allow - institutional repository, a plain-language summary for patients and colleagues, a short talk in your department, social media. If the media call, keep to what the design allows (calibrated language again).</a:t>
            </a:r>
          </a:p>
          <a:p>
            <a:r>
              <a:rPr lang="en-US" sz="1400" b="0" dirty="0"/>
              <a:t>Corrections: if you find an error after publication, contact the journal - a correction is honest; a retraction is for serious errors or misconduct.</a:t>
            </a:r>
          </a:p>
          <a:p>
            <a:r>
              <a:rPr lang="en-US" sz="1400" b="0" dirty="0"/>
              <a:t>Ask: who will present your published results back to your unit? That is part of the dissemination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(1:38-1:40). Thumbs up (true) or down (false) for each; reveal.</a:t>
            </a:r>
          </a:p>
          <a:p>
            <a:r>
              <a:rPr lang="en-US" sz="1400" b="0" dirty="0"/>
              <a:t>Statement 1 is 'often true' rather than always - real journals also invite papers, but a flattering mass e-mail from an unknown journal deserves the five-flag check.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8.3 (1:40-2:00). Full instructor guide: Course/Resources/appraisal_instructor_guide.md (model answers, prompts, key messages).</a:t>
            </a:r>
          </a:p>
          <a:p>
            <a:r>
              <a:rPr lang="en-US" sz="1400" b="0" dirty="0"/>
              <a:t>Structure: 2 minutes set-up, 10 minutes group work, 8 minutes plenary. Papers and grids were put on the tables during the break.</a:t>
            </a:r>
          </a:p>
          <a:p>
            <a:r>
              <a:rPr lang="en-US" sz="1400" b="0" dirty="0"/>
              <a:t>Why now: after the course each group reviews another group's FLUID-ICU draft with the SAME 10 questions - this is the rehearsal.</a:t>
            </a:r>
          </a:p>
          <a:p>
            <a:r>
              <a:rPr lang="en-US" sz="1400" b="0" dirty="0"/>
              <a:t>Reassure: 'Can't tell' is a perfectly good answer if the paper does not say.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set-up in one minute. Both papers address our running question - fluids in septic shock - with different designs. Groups 1-3 appraise Paper 1, the randomised trial (Boulet 2024, Critical Care). Groups 4-5 appraise Paper 2, the propensity-matched cohort (Hyun 2023, Annals of Intensive Care).</a:t>
            </a:r>
          </a:p>
          <a:p>
            <a:r>
              <a:rPr lang="en-US" sz="1400" b="0" dirty="0"/>
              <a:t>Each group answers the same 10 questions on the answer grid: Yes / No / Can't tell, plus the page where they found it.</a:t>
            </a:r>
          </a:p>
          <a:p>
            <a:r>
              <a:rPr lang="en-US" sz="1400" b="0" dirty="0"/>
              <a:t>Then the plenary: groups report, and we compare what each design is allowed to claim.</a:t>
            </a:r>
          </a:p>
          <a:p>
            <a:r>
              <a:rPr lang="en-US" sz="1400" b="0" dirty="0"/>
              <a:t>Tip: split the work inside the group - pairs take 3-4 questions each, then the group agrees.</a:t>
            </a:r>
          </a:p>
          <a:p>
            <a:r>
              <a:rPr lang="en-US" sz="1400" b="0" dirty="0"/>
              <a:t>Link to Session 4: the 10 questions are a simplified version of the formal risk-of-bias tools - RoB 2 for Paper 1, Newcastle-Ottawa (or the newer ROBINS-E) for Paper 2. We do not run the formal tools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1. Read each question aloud once - do not explain the answers.</a:t>
            </a:r>
          </a:p>
          <a:p>
            <a:r>
              <a:rPr lang="en-US" sz="1400" b="0" dirty="0"/>
              <a:t>Q1-Q2 are about the question and the design (Sessions 1-4). Q3 is about who was studied - external validity: would your patients be in this study? Q4 is about whether the groups were comparable at baseline - look at Table 1. Q5 is about blinding.</a:t>
            </a:r>
          </a:p>
          <a:p>
            <a:r>
              <a:rPr lang="en-US" sz="1400" b="0" dirty="0"/>
              <a:t>Hint to give: for Q4 the two papers use different tools - randomisation versus propensity-score matching. Ask them to find the sentence that says which.</a:t>
            </a:r>
          </a:p>
          <a:p>
            <a:r>
              <a:rPr lang="en-US" sz="1400" b="0" dirty="0"/>
              <a:t>Answers are Yes / No / Can't tell, plus the page.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2. Q6 and Q7 use what we learnt in Session 6: one primary outcome, an effect size with its 95% confidence interval.</a:t>
            </a:r>
          </a:p>
          <a:p>
            <a:r>
              <a:rPr lang="en-US" sz="1400" b="0" dirty="0"/>
              <a:t>Q8 is the heart of today's exercise: are the words in the title, abstract and discussion as strong as the design allows? 'Caused' or 'impact' needs randomisation; observational studies say 'associated'. And p = 0.42 is never a 'trend'.</a:t>
            </a:r>
          </a:p>
          <a:p>
            <a:r>
              <a:rPr lang="en-US" sz="1400" b="0" dirty="0"/>
              <a:t>Q9: the authors' own limitations section, plus one they missed - each paper has a clear one (see the instructor guide).</a:t>
            </a:r>
          </a:p>
          <a:p>
            <a:r>
              <a:rPr lang="en-US" sz="1400" b="0" dirty="0"/>
              <a:t>Q10: their clinical judgement - there is no single right answer, but they must give a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 (1:42-1:52). Start a visible 10-minute timer.</a:t>
            </a:r>
          </a:p>
          <a:p>
            <a:r>
              <a:rPr lang="en-US" sz="1400" b="0" dirty="0"/>
              <a:t>Circulate between tables. The most useful prompts (more in the instructor guide): Paper 1 groups - 'Who was NOT blinded, and who decided how much fluid the patients got?' (clinicians were unblinded and they prescribe the fluids that make up the outcome); 'Find p = 0.42 in the Discussion - what word did the authors use?' (page 10, 'non-significant trend'). Paper 2 groups - 'Who decided which patients got more fluid?' (the doctors - sicker patients receive more fluid: confounding by indication); 'Patients had to stay at least 3 days in the ICU - who is missing?' (early deaths and early discharges: survivor bias).</a:t>
            </a:r>
          </a:p>
          <a:p>
            <a:r>
              <a:rPr lang="en-US" sz="1400" b="0" dirty="0"/>
              <a:t>Time calls: at minute 7 'agree your answers'; at minute 9 'choose your speaker and write your one-sentence verdict'.</a:t>
            </a:r>
          </a:p>
          <a:p>
            <a:r>
              <a:rPr lang="en-US" sz="1400" b="0" dirty="0"/>
              <a:t>If a group is stuck on statistics, tell them 'Can't tell' is allowed and move them to Q8 and Q9.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this slide at the START of the plenary, after the first group reports, to frame the comparison.</a:t>
            </a:r>
          </a:p>
          <a:p>
            <a:r>
              <a:rPr lang="en-US" sz="1400" b="0" dirty="0"/>
              <a:t>Paper 1: chance decided who got the restrictive strategy, so known AND unknown factors are balanced on average - a randomised trial may make a causal claim. Its claim is negative: the strategy did not reduce day-5 fluid balance (difference 13.2 ml/kg, 95% CI -15.2 to 41.6, p = 0.42). But with 48 patients the CI is wide: this is 'no evidence of an effect', not 'evidence of no effect' - and certainly not a 'trend'.</a:t>
            </a:r>
          </a:p>
          <a:p>
            <a:r>
              <a:rPr lang="en-US" sz="1400" b="0" dirty="0"/>
              <a:t>Paper 2: doctors decided how much fluid each patient got. Propensity matching balances only the factors that were measured; sicker patients receive more fluid (confounding by indication, Session 4) and some severity is never fully measured. So the paper may say a positive balance on day 2 'is associated with' higher 28-day mortality (HR 2.13, 95% CI 1.48 to 3.06) - not that it 'impacts' or 'shows' anything causal, although its title says 'Impact'.</a:t>
            </a:r>
          </a:p>
          <a:p>
            <a:r>
              <a:rPr lang="en-US" sz="1400" b="0" dirty="0"/>
              <a:t>Ask: if you had to change ICU practice tomorrow, which paper is stronger evidence for causation, and which tells you more about real-world risk? Expected: the RCT for causation (but it is a small pilot); the cohort for a large, real-world association that needs a trial to confirm.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this table at the END of the plenary as the summary - after the groups have given their own answers, not before.</a:t>
            </a:r>
          </a:p>
          <a:p>
            <a:r>
              <a:rPr lang="en-US" sz="1400" b="0" dirty="0"/>
              <a:t>Row by row: how the groups were made comparable; who knew the allocation; the main effect with its CI; the limitation the authors missed (Paper 1: permuted blocks of 2 make the next allocation predictable when clinicians are unblinded - page 3; Paper 2: requiring at least 3 ICU days excludes patients who died or left early - survivor bias - page 2); the wording problem (Paper 1 page 10; Paper 2 title and page 4); and the claim each design supports.</a:t>
            </a:r>
          </a:p>
          <a:p>
            <a:r>
              <a:rPr lang="en-US" sz="1400" b="0" dirty="0"/>
              <a:t>Both papers are good, published papers in Q1 journals - and both have fixable flaws. That is the normal state of the literature, which is why appraisal is a clinical skill.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PLENARY (1:52-2:00). Keep strict time: 1 minute per report. Use the design-claims slide first and the side-by-side table last.</a:t>
            </a:r>
          </a:p>
          <a:p>
            <a:r>
              <a:rPr lang="en-US" sz="1400" b="0" dirty="0"/>
              <a:t>Steer the comparison to Q4 (randomisation vs matching), Q5 (blinding) and Q8 (words vs design). Group 5 should answer Q9-Q10 for Paper 2 when Group 3 does it for Paper 1, if time allows.</a:t>
            </a:r>
          </a:p>
          <a:p>
            <a:r>
              <a:rPr lang="en-US" sz="1400" b="0" dirty="0"/>
              <a:t>The four key messages are on the side panel - say each of them out loud before you close.</a:t>
            </a:r>
          </a:p>
          <a:p>
            <a:r>
              <a:rPr lang="en-US" sz="1400" b="0" dirty="0"/>
              <a:t>Model answers for all ten questions for both papers: Resources/appraisal_instructor_guide.md.</a:t>
            </a:r>
          </a:p>
          <a:p>
            <a:r>
              <a:rPr lang="en-US" sz="1400" b="0" dirty="0"/>
              <a:t>Transition: 'Now it is your turn to be reviewed' - announce the presentation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six terms with the room before the presentations - ask someone to explain each in their own words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Take-home before the presentations (1 minute). Read the four cards; the closing block will come back to what the course built.</a:t>
            </a:r>
          </a:p>
          <a:p>
            <a:r>
              <a:rPr lang="en-US" sz="1400" b="0" dirty="0"/>
              <a:t>Transition: 'Now it is your turn to be reviewed' - announce the running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(2:00-2:45). Five groups x 8 minutes = 40 minutes, then 5 minutes for a one-sentence summary of each group's manuscript (or buffer). The timekeeper is essential.</a:t>
            </a:r>
          </a:p>
          <a:p>
            <a:r>
              <a:rPr lang="en-US" sz="1400" b="0" dirty="0"/>
              <a:t>Appoint a timekeeper from the audience (or the co-trainer) with the green, yellow and red cards.</a:t>
            </a:r>
          </a:p>
          <a:p>
            <a:r>
              <a:rPr lang="en-US" sz="1400" b="0" dirty="0"/>
              <a:t>Remind the room: the reviewing skills we just used now apply to our own proposals - but feedback is given the way you would like to receive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 the day we score the PRESENTATION only: criteria 12-16 of Course/Assignment/proposal_rubric.md, 6/4/2/0 points each, total out of 30. The written proposal and publication plan (criteria 1-11, out of 70) are marked after the course.</a:t>
            </a:r>
          </a:p>
          <a:p>
            <a:r>
              <a:rPr lang="en-US" sz="1400" b="0" dirty="0"/>
              <a:t>Who scores: the instructors score every group; one peer group (rotating: Group 2 on Group 1, Group 3 on Group 2 ... Group 1 on Group 5) fills the feedback form at the end of proposal_rubric.md.</a:t>
            </a:r>
          </a:p>
          <a:p>
            <a:r>
              <a:rPr lang="en-US" sz="1400" b="0" dirty="0"/>
              <a:t>Feedback in 2 minutes (Assignment/presentation_guide.md): peer group 45 s - two stars and a wish; instructor 60 s - one strength, the most important improvement, one question; presenting group 15 s - 'thank you', no defending.</a:t>
            </a:r>
          </a:p>
          <a:p>
            <a:r>
              <a:rPr lang="en-US" sz="1400" b="0" dirty="0"/>
              <a:t>It is feedback to help the group polish the proposal for the ethics committee.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running order. Clock times are relative to the start of the session (2:00 = two hours in; with an 08:00 start this is 10:00-10:45). 2:40-2:45: each group gives its FLUID-ICU question and main result in one sentence - or the 5 minutes absorb any overrun.</a:t>
            </a:r>
          </a:p>
          <a:p>
            <a:r>
              <a:rPr lang="en-US" sz="1400" b="0" dirty="0"/>
              <a:t>The timekeeper shows GREEN at 4 minutes (2 minutes left), YELLOW at 5 minutes (1 minute left) and RED at 6 minutes (stop).</a:t>
            </a:r>
          </a:p>
          <a:p>
            <a:r>
              <a:rPr lang="en-US" sz="1400" b="0" dirty="0"/>
              <a:t>The next group walks to the front during the previous group's feedback. All slides are already on one laptop - no USB changes.</a:t>
            </a:r>
          </a:p>
          <a:p>
            <a:r>
              <a:rPr lang="en-US" sz="1400" b="0" dirty="0"/>
              <a:t>If the session runs late, shorten the feedback, never the presentations of the last groups - it is unfair to the group that presents last.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this slide on screen during the presentations if groups present from their own file; otherwise switch to each group's slides.</a:t>
            </a:r>
          </a:p>
          <a:p>
            <a:r>
              <a:rPr lang="en-US" sz="1400" b="0" dirty="0"/>
              <a:t>Instructor feedback: start with a genuine strength; give the most important improvement for the written proposal or publication plan (usually design, outcome definition, feasibility or the choice of journal and guideline); one question if time allows.</a:t>
            </a:r>
          </a:p>
          <a:p>
            <a:r>
              <a:rPr lang="en-US" sz="1400" b="0" dirty="0"/>
              <a:t>Check slide 6 of each group: target journal + correct guideline (STROBE for a cohort, CONSORT for a trial), working title in calibrated words, CRediT roles, one line of the abstract skeleton.</a:t>
            </a:r>
          </a:p>
          <a:p>
            <a:r>
              <a:rPr lang="en-US" sz="1400" b="0" dirty="0"/>
              <a:t>Typical issues to watch for: outcome not measurable in routine data; a causal claim planned from an observational design (link back to the appraisal!); no plan for consent in sedated patients; unrealistic recruitment.</a:t>
            </a:r>
          </a:p>
          <a:p>
            <a:r>
              <a:rPr lang="en-US" sz="1400" b="0" dirty="0"/>
              <a:t>At 2:40 each group gives its manuscript in one sentence (question + main result, 1 minute each). At 2:45 collect the feedback forms and move straight to the closing: post-course quiz, evaluation and the peer-review swap (next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 use them if time allows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Optional 6-minute writing drill on the two papers (use if Manuscript workshop 2 finishes early or as homework). Worksheet: Practicals/s8_exercises.md, Part A (writing exercises).</a:t>
            </a:r>
          </a:p>
          <a:p>
            <a:r>
              <a:rPr lang="en-US" sz="1400" b="0" dirty="0"/>
              <a:t>Spin sentence (Paper 1, page 10): 'considering the non-significant trend in fluid balance reduction in the optimized group, our approach ... remains worth exploring in a larger randomized controlled trial'. Model rewrite: 'The point estimate favoured the restrictive strategy, but the 95% CI was wide (-15.2 to 41.6 ml/kg) and included no effect; a larger trial would be needed to detect a smaller difference.'</a:t>
            </a:r>
          </a:p>
          <a:p>
            <a:r>
              <a:rPr lang="en-US" sz="1400" b="0" dirty="0"/>
              <a:t>Title (Paper 2): 'Positive cumulative fluid balance during the first three ICU days and 28-day mortality in sepsis: a propensity score-matched cohort study' - 'association', not 'impact'.</a:t>
            </a:r>
          </a:p>
          <a:p>
            <a:r>
              <a:rPr lang="en-US" sz="1400" b="0" dirty="0"/>
              <a:t>Group title: check 10-16 words, design stated, no value words. Abstract skeleton: Results are EXPECTED results - write the format, e.g. '28-day mortality, RR (95% CI)'.</a:t>
            </a:r>
          </a:p>
          <a:p>
            <a:r>
              <a:rPr lang="en-US" sz="1400" b="0" dirty="0"/>
              <a:t>Take 2 group titles aloud if there is time. Groups add the title and skeleton to their presentation during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rejection is part of publishing, not a verdict on you. Many good papers are rejected once or twice before acceptance.</a:t>
            </a:r>
          </a:p>
          <a:p>
            <a:r>
              <a:rPr lang="en-US" sz="1400" b="0" dirty="0"/>
              <a:t>Desk rejection: the editor declines without review - usually because the topic does not fit the journal or the reporting is poor. Re-target: choose a journal whose readers need your result.</a:t>
            </a:r>
          </a:p>
          <a:p>
            <a:r>
              <a:rPr lang="en-US" sz="1400" b="0" dirty="0"/>
              <a:t>After peer review: read the reviews, wait a day before reacting, then fix what they found. The same reviewers are often invited by the next journal in the same field; an unchanged manuscript annoys them.</a:t>
            </a:r>
          </a:p>
          <a:p>
            <a:r>
              <a:rPr lang="en-US" sz="1400" b="0" dirty="0"/>
              <a:t>Next journal: reformat to the new Guide for Authors; some publishers offer to transfer the manuscript and reviews to a sister journal - this can save months. Appeal only if there is a clear factual error in the decision.</a:t>
            </a:r>
          </a:p>
          <a:p>
            <a:r>
              <a:rPr lang="en-US" sz="1400" b="0" dirty="0"/>
              <a:t>Never submit to two journals at once (duplicate submission is misconduct).</a:t>
            </a:r>
          </a:p>
          <a:p>
            <a:r>
              <a:rPr lang="en-US" sz="1400" b="0" dirty="0"/>
              <a:t>Ask: what is the first thing you do after a rejection? Expected: read the reviews for things to fix, not for reasons to be angry.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conference abstract is often the first output of a study. It follows the same IMRaD logic as the paper's abstract, usually 250-300 words, with real numbers and confidence intervals - 'results will be presented' is usually rejected. Follow the conference template and deadline.</a:t>
            </a:r>
          </a:p>
          <a:p>
            <a:r>
              <a:rPr lang="en-US" sz="1400" b="0" dirty="0"/>
              <a:t>Poster: a billboard, not a paper on a wall. A short title that states the finding, a few words of background and methods (a flow chart), ONE big figure, a take-home message in one sentence, and a QR code linking to more detail. It should be readable from 2 metres.</a:t>
            </a:r>
          </a:p>
          <a:p>
            <a:r>
              <a:rPr lang="en-US" sz="1400" b="0" dirty="0"/>
              <a:t>Presenting an abstract does not normally prevent publication of the full paper, but check the journal's policy - and do write the full paper: many abstracts never become publications.</a:t>
            </a:r>
          </a:p>
          <a:p>
            <a:r>
              <a:rPr lang="en-US" sz="1400" b="0" dirty="0"/>
              <a:t>A conference abstract template is in Course/Templates/.</a:t>
            </a:r>
          </a:p>
          <a:p>
            <a:r>
              <a:rPr lang="en-US" sz="1400" b="0" dirty="0"/>
              <a:t>Ask: what would be the single figure on your group's poster? Expected: the primary outcome by group.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Last 15 minutes of Session 8. Keep it brisk and positive.</a:t>
            </a:r>
          </a:p>
          <a:p>
            <a:r>
              <a:rPr lang="en-US" sz="1400" b="0" dirty="0"/>
              <a:t>Thank the groups for their presentations before starting the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Hand out the same quiz (online form or paper).</a:t>
            </a:r>
          </a:p>
          <a:p>
            <a:r>
              <a:rPr lang="en-US" sz="1400" b="0" dirty="0"/>
              <a:t>Later: compute the mean pre/post change with the table in pre_post_quiz_answer_key - report it to the department head in the course report.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Celebrate: each group has a proposal it could take to the ethics committee and a draft paper.</a:t>
            </a:r>
          </a:p>
          <a:p>
            <a:r>
              <a:rPr lang="en-US" sz="1400" b="0" dirty="0"/>
              <a:t>Ask each group to agree a next step before leaving: who polishes the proposal, target date for the ethics committee, who leads the manuscript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Short anonymous form (paper or online). The pace question matters - we planned the course to be slow; tell us if it was right.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swap: group 1 reviews group 2, 2 reviews 3, ... 5 reviews 1.</a:t>
            </a:r>
          </a:p>
          <a:p>
            <a:r>
              <a:rPr lang="en-US" sz="1400" b="0" dirty="0"/>
              <a:t>Reviews follow Assignment/peer_review_instructions.md and the 10-question checklist; authors reply with Templates/Response_to_Reviewers_Template.docx.</a:t>
            </a:r>
          </a:p>
          <a:p>
            <a:r>
              <a:rPr lang="en-US" sz="1400" b="0" dirty="0"/>
              <a:t>This is the last step of the whole research process - exactly what happens after a real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
            </a:r>
          </a:p>
          <a:p>
            <a:r>
              <a:rPr lang="en-US" sz="1400" b="0" dirty="0"/>
              <a:t>Advanced modules (optional, see Advanced_Modules/): hands-on analysis of your own data in R, meta-analysis, prediction models and machine learning, diagnostic-accuracy studies.</a:t>
            </a:r>
          </a:p>
          <a:p>
            <a:r>
              <a:rPr lang="en-US" sz="1400" b="0" dirty="0"/>
              <a:t>Give the trainers' contact details for follow-up questions.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Thank the department leadership, the organisers and the participants. Group photo.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6.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9.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1.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19.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8 · Publish: finish the paper, get it out, present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4 · Sunday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(5 min)</a:t>
            </a:r>
          </a:p>
          <a:p>
            <a:pPr marL="274320" indent="-274320" algn="l">
              <a:spcBef>
                <a:spcPts val="440"/>
              </a:spcBef>
              <a:buFont typeface="Arial"/>
              <a:buChar char="•"/>
            </a:pPr>
            <a:r>
              <a:rPr lang="en-US" sz="1900" dirty="0">
                <a:solidFill>
                  <a:srgbClr val="000000"/>
                </a:solidFill>
                <a:latin typeface="Century Gothic"/>
                <a:cs typeface="Century Gothic"/>
              </a:rPr>
              <a:t>8.1  Writing the paper (II): Introduction, Discussion, Abstract, Title</a:t>
            </a:r>
          </a:p>
          <a:p>
            <a:pPr marL="274320" indent="-274320" algn="l">
              <a:spcBef>
                <a:spcPts val="440"/>
              </a:spcBef>
              <a:buFont typeface="Arial"/>
              <a:buChar char="•"/>
            </a:pPr>
            <a:r>
              <a:rPr lang="en-US" sz="1900" dirty="0">
                <a:solidFill>
                  <a:srgbClr val="000000"/>
                </a:solidFill>
                <a:latin typeface="Century Gothic"/>
                <a:cs typeface="Century Gothic"/>
              </a:rPr>
              <a:t>Manuscript workshop 2: complete the draft</a:t>
            </a:r>
          </a:p>
          <a:p>
            <a:pPr marL="274320" indent="-274320" algn="l">
              <a:spcBef>
                <a:spcPts val="440"/>
              </a:spcBef>
              <a:buFont typeface="Arial"/>
              <a:buChar char="•"/>
            </a:pPr>
            <a:r>
              <a:rPr lang="en-US" sz="1900" dirty="0">
                <a:solidFill>
                  <a:srgbClr val="000000"/>
                </a:solidFill>
                <a:latin typeface="Century Gothic"/>
                <a:cs typeface="Century Gothic"/>
              </a:rPr>
              <a:t>8.2  Getting published: from checklist to proofs</a:t>
            </a:r>
          </a:p>
          <a:p>
            <a:pPr marL="274320" indent="-274320" algn="l">
              <a:spcBef>
                <a:spcPts val="440"/>
              </a:spcBef>
              <a:buFont typeface="Arial"/>
              <a:buChar char="•"/>
            </a:pPr>
            <a:r>
              <a:rPr lang="en-US" sz="1900" dirty="0">
                <a:solidFill>
                  <a:srgbClr val="000000"/>
                </a:solidFill>
                <a:latin typeface="Century Gothic"/>
                <a:cs typeface="Century Gothic"/>
              </a:rPr>
              <a:t>8.3  Be the reviewer: appraise Papers 1 and 2</a:t>
            </a:r>
          </a:p>
          <a:p>
            <a:pPr marL="274320" indent="-274320" algn="l">
              <a:spcBef>
                <a:spcPts val="440"/>
              </a:spcBef>
              <a:buFont typeface="Arial"/>
              <a:buChar char="•"/>
            </a:pPr>
            <a:r>
              <a:rPr lang="en-US" sz="1900" dirty="0">
                <a:solidFill>
                  <a:srgbClr val="000000"/>
                </a:solidFill>
                <a:latin typeface="Century Gothic"/>
                <a:cs typeface="Century Gothic"/>
              </a:rPr>
              <a:t>Group presentations: proposal + publication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three questions from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Who consents for a sedated patient in septic shock?</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Which STROBE item asks for crude AND adjusted estimates?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Where does 'this may be because sicker patients got more fluid' belong?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The legal representative (or deferred consent if approved)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Item 16 (main results)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Discussion - not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back in writing mode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8.1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Writing the paper (II)</a:t>
            </a:r>
          </a:p>
          <a:p>
            <a:pPr marL="0" indent="0" algn="ctr">
              <a:spcBef>
                <a:spcPts val="1200"/>
              </a:spcBef>
              <a:buNone/>
            </a:pPr>
            <a:r>
              <a:rPr lang="en-US" sz="1900" i="1" dirty="0">
                <a:solidFill>
                  <a:srgbClr val="595959"/>
                </a:solidFill>
                <a:latin typeface="Century Gothic"/>
                <a:cs typeface="Century Gothic"/>
              </a:rPr>
              <a:t>Introduction, Discussion, Abstract and Title - in that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Introduction: a funnel in three paragraphs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Known, unknown, aim - and the aim matches the primary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the Introduction funnel for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Known</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Fluids save lives early in sepsis</a:t>
            </a:r>
          </a:p>
          <a:p>
            <a:pPr marL="0" indent="0" algn="l">
              <a:lnSpc>
                <a:spcPct val="104000"/>
              </a:lnSpc>
              <a:spcBef>
                <a:spcPts val="400"/>
              </a:spcBef>
              <a:buNone/>
            </a:pPr>
            <a:r>
              <a:rPr lang="en-US" sz="1750" dirty="0">
                <a:solidFill>
                  <a:srgbClr val="000000"/>
                </a:solidFill>
                <a:latin typeface="Century Gothic"/>
                <a:cs typeface="Century Gothic"/>
              </a:rPr>
              <a:t>Positive balance linked to death</a:t>
            </a:r>
          </a:p>
          <a:p>
            <a:pPr marL="0" indent="0" algn="l">
              <a:lnSpc>
                <a:spcPct val="104000"/>
              </a:lnSpc>
              <a:spcBef>
                <a:spcPts val="400"/>
              </a:spcBef>
              <a:buNone/>
            </a:pPr>
            <a:r>
              <a:rPr lang="en-US" sz="1750" dirty="0">
                <a:solidFill>
                  <a:srgbClr val="000000"/>
                </a:solidFill>
                <a:latin typeface="Century Gothic"/>
                <a:cs typeface="Century Gothic"/>
              </a:rPr>
              <a:t>(Paper 2; large cohorts)</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Not known</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Whether the link persists after</a:t>
            </a:r>
          </a:p>
          <a:p>
            <a:pPr marL="0" indent="0" algn="l">
              <a:lnSpc>
                <a:spcPct val="104000"/>
              </a:lnSpc>
              <a:spcBef>
                <a:spcPts val="400"/>
              </a:spcBef>
              <a:buNone/>
            </a:pPr>
            <a:r>
              <a:rPr lang="en-US" sz="1750" dirty="0">
                <a:solidFill>
                  <a:srgbClr val="000000"/>
                </a:solidFill>
                <a:latin typeface="Century Gothic"/>
                <a:cs typeface="Century Gothic"/>
              </a:rPr>
              <a:t>adjusting for severity</a:t>
            </a:r>
          </a:p>
          <a:p>
            <a:pPr marL="0" indent="0" algn="l">
              <a:lnSpc>
                <a:spcPct val="104000"/>
              </a:lnSpc>
              <a:spcBef>
                <a:spcPts val="400"/>
              </a:spcBef>
              <a:buNone/>
            </a:pPr>
            <a:r>
              <a:rPr lang="en-US" sz="1750" dirty="0">
                <a:solidFill>
                  <a:srgbClr val="000000"/>
                </a:solidFill>
                <a:latin typeface="Century Gothic"/>
                <a:cs typeface="Century Gothic"/>
              </a:rPr>
              <a:t>Sicker patients get more fluid</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Aim</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We examined whether a positive</a:t>
            </a:r>
          </a:p>
          <a:p>
            <a:pPr marL="0" indent="0" algn="l">
              <a:lnSpc>
                <a:spcPct val="104000"/>
              </a:lnSpc>
              <a:spcBef>
                <a:spcPts val="400"/>
              </a:spcBef>
              <a:buNone/>
            </a:pPr>
            <a:r>
              <a:rPr lang="en-US" sz="1750" dirty="0">
                <a:solidFill>
                  <a:srgbClr val="000000"/>
                </a:solidFill>
                <a:latin typeface="Century Gothic"/>
                <a:cs typeface="Century Gothic"/>
              </a:rPr>
              <a:t>balance by day 3 is associated</a:t>
            </a:r>
          </a:p>
          <a:p>
            <a:pPr marL="0" indent="0" algn="l">
              <a:lnSpc>
                <a:spcPct val="104000"/>
              </a:lnSpc>
              <a:spcBef>
                <a:spcPts val="400"/>
              </a:spcBef>
              <a:buNone/>
            </a:pPr>
            <a:r>
              <a:rPr lang="en-US" sz="1750" dirty="0">
                <a:solidFill>
                  <a:srgbClr val="000000"/>
                </a:solidFill>
                <a:latin typeface="Century Gothic"/>
                <a:cs typeface="Century Gothic"/>
              </a:rPr>
              <a:t>with 28-day mortality, after adjustment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Three paragraphs, about 350 words - and the aim uses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Discussion: six moves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Answer first; limitations with their direction; conclusion = abstract =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Discussion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Answer with the number, explain the crude-adjusted gap, end with the same verb.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the odds ratio shrank: explain it in the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FLUID-ICU Q1 (simulated)</a:t>
            </a:r>
          </a:p>
          <a:p>
            <a:pPr marL="274320" indent="-274320" algn="l">
              <a:spcBef>
                <a:spcPts val="440"/>
              </a:spcBef>
              <a:buFont typeface="Arial"/>
              <a:buChar char="•"/>
            </a:pPr>
            <a:r>
              <a:rPr lang="en-US" sz="1450" dirty="0">
                <a:solidFill>
                  <a:srgbClr val="000000"/>
                </a:solidFill>
                <a:latin typeface="Century Gothic"/>
                <a:cs typeface="Century Gothic"/>
              </a:rPr>
              <a:t>Crude OR 2.49 (1.70 to 3.70)</a:t>
            </a:r>
          </a:p>
          <a:p>
            <a:pPr marL="274320" indent="-274320" algn="l">
              <a:spcBef>
                <a:spcPts val="440"/>
              </a:spcBef>
              <a:buFont typeface="Arial"/>
              <a:buChar char="•"/>
            </a:pPr>
            <a:r>
              <a:rPr lang="en-US" sz="1450" dirty="0">
                <a:solidFill>
                  <a:srgbClr val="000000"/>
                </a:solidFill>
                <a:latin typeface="Century Gothic"/>
                <a:cs typeface="Century Gothic"/>
              </a:rPr>
              <a:t>Adjusted OR 1.62 (1.02 to 2.59)</a:t>
            </a:r>
          </a:p>
          <a:p>
            <a:pPr marL="274320" indent="-274320" algn="l">
              <a:spcBef>
                <a:spcPts val="440"/>
              </a:spcBef>
              <a:buFont typeface="Arial"/>
              <a:buChar char="•"/>
            </a:pPr>
            <a:r>
              <a:rPr lang="en-US" sz="1450" dirty="0">
                <a:solidFill>
                  <a:srgbClr val="000000"/>
                </a:solidFill>
                <a:latin typeface="Century Gothic"/>
                <a:cs typeface="Century Gothic"/>
              </a:rPr>
              <a:t>Imputed OR 1.70 (1.09 to 2.64)</a:t>
            </a:r>
          </a:p>
          <a:p>
            <a:pPr marL="274320" indent="-274320" algn="l">
              <a:spcBef>
                <a:spcPts val="440"/>
              </a:spcBef>
              <a:buFont typeface="Arial"/>
              <a:buChar char="•"/>
            </a:pPr>
            <a:r>
              <a:rPr lang="en-US" sz="1450" dirty="0">
                <a:solidFill>
                  <a:srgbClr val="000000"/>
                </a:solidFill>
                <a:latin typeface="Century Gothic"/>
                <a:cs typeface="Century Gothic"/>
              </a:rPr>
              <a:t>Gap = confounding by indication</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both; explain the gap; keep the verb at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Calibrated language: match the verb to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Climb the ladder only as far as your design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fix the verb (FLUID-ICU, simulated)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positive balance caused higher mortality (OR 1.62).'</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'Fluid overload increases AKI (OR 1.27 per 10 ml/kg).'</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'There was a trend towards death (Cox HR 1.46, 95% CI 1.00 to 2.13).'</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'Lactate predicts death (OR 1.39 per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Better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 was associated with ...'</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 was associated with higher odds of AKI'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'HR 1.46 (1.00 to 2.13): CI reaches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OK for prediction; for cause: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structured abstract: the shop window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result in the abstract has a number and a confidence interval.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the abstract and title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Copy the numbers from your Results - the abstract must not contain new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Title and keywords: your PICO in one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title states the question and the design - no sales words.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Before you submit: references, checklist, final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References</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Use a reference manager</a:t>
            </a:r>
          </a:p>
          <a:p>
            <a:pPr marL="0" indent="0" algn="l">
              <a:lnSpc>
                <a:spcPct val="104000"/>
              </a:lnSpc>
              <a:spcBef>
                <a:spcPts val="400"/>
              </a:spcBef>
              <a:buNone/>
            </a:pPr>
            <a:r>
              <a:rPr lang="en-US" sz="1750" dirty="0">
                <a:solidFill>
                  <a:srgbClr val="000000"/>
                </a:solidFill>
                <a:latin typeface="Century Gothic"/>
                <a:cs typeface="Century Gothic"/>
              </a:rPr>
              <a:t>Check every citation</a:t>
            </a:r>
          </a:p>
          <a:p>
            <a:pPr marL="0" indent="0" algn="l">
              <a:lnSpc>
                <a:spcPct val="104000"/>
              </a:lnSpc>
              <a:spcBef>
                <a:spcPts val="400"/>
              </a:spcBef>
              <a:buNone/>
            </a:pPr>
            <a:r>
              <a:rPr lang="en-US" sz="1750" dirty="0">
                <a:solidFill>
                  <a:srgbClr val="000000"/>
                </a:solidFill>
                <a:latin typeface="Century Gothic"/>
                <a:cs typeface="Century Gothic"/>
              </a:rPr>
              <a:t>P2 cites the Sepsis-3 paper for its covariates</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Reporting checklist</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Fill it in while writing</a:t>
            </a:r>
          </a:p>
          <a:p>
            <a:pPr marL="0" indent="0" algn="l">
              <a:lnSpc>
                <a:spcPct val="104000"/>
              </a:lnSpc>
              <a:spcBef>
                <a:spcPts val="400"/>
              </a:spcBef>
              <a:buNone/>
            </a:pPr>
            <a:r>
              <a:rPr lang="en-US" sz="1750" dirty="0">
                <a:solidFill>
                  <a:srgbClr val="000000"/>
                </a:solidFill>
                <a:latin typeface="Century Gothic"/>
                <a:cs typeface="Century Gothic"/>
              </a:rPr>
              <a:t>Add page numbers</a:t>
            </a:r>
          </a:p>
          <a:p>
            <a:pPr marL="0" indent="0" algn="l">
              <a:lnSpc>
                <a:spcPct val="104000"/>
              </a:lnSpc>
              <a:spcBef>
                <a:spcPts val="400"/>
              </a:spcBef>
              <a:buNone/>
            </a:pPr>
            <a:r>
              <a:rPr lang="en-US" sz="1750" dirty="0">
                <a:solidFill>
                  <a:srgbClr val="000000"/>
                </a:solidFill>
                <a:latin typeface="Century Gothic"/>
                <a:cs typeface="Century Gothic"/>
              </a:rPr>
              <a:t>Neither paper names CONSORT or STROBE</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Final read</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Text = table, every number</a:t>
            </a:r>
          </a:p>
          <a:p>
            <a:pPr marL="0" indent="0" algn="l">
              <a:lnSpc>
                <a:spcPct val="104000"/>
              </a:lnSpc>
              <a:spcBef>
                <a:spcPts val="400"/>
              </a:spcBef>
              <a:buNone/>
            </a:pPr>
            <a:r>
              <a:rPr lang="en-US" sz="1750" dirty="0">
                <a:solidFill>
                  <a:srgbClr val="000000"/>
                </a:solidFill>
                <a:latin typeface="Century Gothic"/>
                <a:cs typeface="Century Gothic"/>
              </a:rPr>
              <a:t>Call-outs point to the right figure</a:t>
            </a:r>
          </a:p>
          <a:p>
            <a:pPr marL="0" indent="0" algn="l">
              <a:lnSpc>
                <a:spcPct val="104000"/>
              </a:lnSpc>
              <a:spcBef>
                <a:spcPts val="400"/>
              </a:spcBef>
              <a:buNone/>
            </a:pPr>
            <a:r>
              <a:rPr lang="en-US" sz="1750" dirty="0">
                <a:solidFill>
                  <a:srgbClr val="000000"/>
                </a:solidFill>
                <a:latin typeface="Century Gothic"/>
                <a:cs typeface="Century Gothic"/>
              </a:rPr>
              <a:t>A co-author reads the tables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Most errors in these two papers needed no new data - only a careful co-author.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Manuscript workshop 2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Complete your draft</a:t>
            </a:r>
          </a:p>
          <a:p>
            <a:pPr marL="0" indent="0" algn="ctr">
              <a:spcBef>
                <a:spcPts val="1200"/>
              </a:spcBef>
              <a:buNone/>
            </a:pPr>
            <a:r>
              <a:rPr lang="en-US" sz="1900" i="1" dirty="0">
                <a:solidFill>
                  <a:srgbClr val="595959"/>
                </a:solidFill>
                <a:latin typeface="Century Gothic"/>
                <a:cs typeface="Century Gothic"/>
              </a:rPr>
              <a:t>Introduction, Discussion, Abstract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Manuscript workshop 2: Introduction, Discussion, Abstract,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0-8: Introduction - three paragraphs (two people)</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0-15: Discussion - six moves (three people)</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15-23: Abstract - 250 words, numbers from your Results</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23-27: Title (10-16 words, design stated) + keywords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27-30: verb check: every 'cause' or 'impact' -&gt; 'associated'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Roles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Introduction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Discussion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number + verb checker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All: Abstract and Title together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Complete draft (~2,000 words) saved - peer-review swap after the course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Save and send your manuscript draft</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Groups 1-3: collect Paper 1 (RCT) and the answer grid</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Groups 4-5: collect Paper 2 (cohort) and the answer grid</a:t>
            </a:r>
          </a:p>
          <a:p>
            <a:pPr marL="380000" indent="-380000" algn="l">
              <a:lnSpc>
                <a:spcPct val="104000"/>
              </a:lnSpc>
              <a:spcBef>
                <a:spcPts val="450"/>
              </a:spcBef>
              <a:buNone/>
            </a:pPr>
            <a:r>
              <a:rPr lang="en-US" sz="1650" b="1" dirty="0">
                <a:solidFill>
                  <a:srgbClr val="8A99A3"/>
                </a:solidFill>
                <a:latin typeface="Century Gothic"/>
                <a:cs typeface="Century Gothic"/>
              </a:rPr>
              <a:t>4.  </a:t>
            </a:r>
            <a:r>
              <a:rPr lang="en-US" sz="1650" dirty="0">
                <a:solidFill>
                  <a:srgbClr val="000000"/>
                </a:solidFill>
                <a:latin typeface="Century Gothic"/>
                <a:cs typeface="Century Gothic"/>
              </a:rPr>
              <a:t>Presenters: check your slides open on the presentation laptop</a:t>
            </a:r>
          </a:p>
          <a:p>
            <a:pPr marL="380000" indent="-380000" algn="l">
              <a:lnSpc>
                <a:spcPct val="104000"/>
              </a:lnSpc>
              <a:spcBef>
                <a:spcPts val="450"/>
              </a:spcBef>
              <a:buNone/>
            </a:pPr>
            <a:r>
              <a:rPr lang="en-US" sz="1650" b="1" dirty="0">
                <a:solidFill>
                  <a:srgbClr val="8A99A3"/>
                </a:solidFill>
                <a:latin typeface="Century Gothic"/>
                <a:cs typeface="Century Gothic"/>
              </a:rPr>
              <a:t>5.  </a:t>
            </a:r>
            <a:r>
              <a:rPr lang="en-US" sz="1650" dirty="0">
                <a:solidFill>
                  <a:srgbClr val="000000"/>
                </a:solidFill>
                <a:latin typeface="Century Gothic"/>
                <a:cs typeface="Century Gothic"/>
              </a:rPr>
              <a:t>Back at 1:15 sharp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Getting published (25 min)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Be the reviewer (20 min)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Group presentations (45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8.2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Getting published</a:t>
            </a:r>
          </a:p>
          <a:p>
            <a:pPr marL="0" indent="0" algn="ctr">
              <a:spcBef>
                <a:spcPts val="1200"/>
              </a:spcBef>
              <a:buNone/>
            </a:pPr>
            <a:r>
              <a:rPr lang="en-US" sz="1900" i="1" dirty="0">
                <a:solidFill>
                  <a:srgbClr val="595959"/>
                </a:solidFill>
                <a:latin typeface="Century Gothic"/>
                <a:cs typeface="Century Gothic"/>
              </a:rPr>
              <a:t>From checklist to proofs - and the traps on the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Reporting guidelines: choose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 your guideline in Part 4 - and use it as a writing checklist.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a journal: four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Decide the target journal before you write - it sets the rules.</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Fit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Who needs your result?</a:t>
            </a:r>
          </a:p>
          <a:p>
            <a:pPr marL="0" indent="0" algn="l">
              <a:lnSpc>
                <a:spcPct val="104000"/>
              </a:lnSpc>
              <a:spcBef>
                <a:spcPts val="400"/>
              </a:spcBef>
              <a:buNone/>
            </a:pPr>
            <a:r>
              <a:rPr lang="en-US" sz="1600" dirty="0">
                <a:solidFill>
                  <a:srgbClr val="000000"/>
                </a:solidFill>
                <a:latin typeface="Century Gothic"/>
                <a:cs typeface="Century Gothic"/>
              </a:rPr>
              <a:t>Read 3 recent issues</a:t>
            </a:r>
          </a:p>
          <a:p>
            <a:pPr marL="0" indent="0" algn="l">
              <a:lnSpc>
                <a:spcPct val="104000"/>
              </a:lnSpc>
              <a:spcBef>
                <a:spcPts val="400"/>
              </a:spcBef>
              <a:buNone/>
            </a:pPr>
            <a:r>
              <a:rPr lang="en-US" sz="1600" dirty="0">
                <a:solidFill>
                  <a:srgbClr val="000000"/>
                </a:solidFill>
                <a:latin typeface="Century Gothic"/>
                <a:cs typeface="Century Gothic"/>
              </a:rPr>
              <a:t>Similar designs published?</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Trust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Indexed: MEDLINE, DOAJ, Scopus or Web of Science</a:t>
            </a:r>
          </a:p>
          <a:p>
            <a:pPr marL="0" indent="0" algn="l">
              <a:lnSpc>
                <a:spcPct val="104000"/>
              </a:lnSpc>
              <a:spcBef>
                <a:spcPts val="400"/>
              </a:spcBef>
              <a:buNone/>
            </a:pPr>
            <a:r>
              <a:rPr lang="en-US" sz="1600" dirty="0">
                <a:solidFill>
                  <a:srgbClr val="000000"/>
                </a:solidFill>
                <a:latin typeface="Century Gothic"/>
                <a:cs typeface="Century Gothic"/>
              </a:rPr>
              <a:t>Clear peer-review policy</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Rules</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Guide for Authors</a:t>
            </a:r>
          </a:p>
          <a:p>
            <a:pPr marL="0" indent="0" algn="l">
              <a:lnSpc>
                <a:spcPct val="104000"/>
              </a:lnSpc>
              <a:spcBef>
                <a:spcPts val="400"/>
              </a:spcBef>
              <a:buNone/>
            </a:pPr>
            <a:r>
              <a:rPr lang="en-US" sz="1600" dirty="0">
                <a:solidFill>
                  <a:srgbClr val="000000"/>
                </a:solidFill>
                <a:latin typeface="Century Gothic"/>
                <a:cs typeface="Century Gothic"/>
              </a:rPr>
              <a:t>Word limit, checklist</a:t>
            </a:r>
          </a:p>
          <a:p>
            <a:pPr marL="0" indent="0" algn="l">
              <a:lnSpc>
                <a:spcPct val="104000"/>
              </a:lnSpc>
              <a:spcBef>
                <a:spcPts val="400"/>
              </a:spcBef>
              <a:buNone/>
            </a:pPr>
            <a:r>
              <a:rPr lang="en-US" sz="1600" dirty="0">
                <a:solidFill>
                  <a:srgbClr val="000000"/>
                </a:solidFill>
                <a:latin typeface="Century Gothic"/>
                <a:cs typeface="Century Gothic"/>
              </a:rPr>
              <a:t>Registration required?</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Cost &amp; speed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Fee (APC) and waivers</a:t>
            </a:r>
          </a:p>
          <a:p>
            <a:pPr marL="0" indent="0" algn="l">
              <a:lnSpc>
                <a:spcPct val="104000"/>
              </a:lnSpc>
              <a:spcBef>
                <a:spcPts val="400"/>
              </a:spcBef>
              <a:buNone/>
            </a:pPr>
            <a:r>
              <a:rPr lang="en-US" sz="1600" dirty="0">
                <a:solidFill>
                  <a:srgbClr val="000000"/>
                </a:solidFill>
                <a:latin typeface="Century Gothic"/>
                <a:cs typeface="Century Gothic"/>
              </a:rPr>
              <a:t>Licence: CC BY or BY-NC-ND</a:t>
            </a:r>
          </a:p>
          <a:p>
            <a:pPr marL="0" indent="0" algn="l">
              <a:lnSpc>
                <a:spcPct val="104000"/>
              </a:lnSpc>
              <a:spcBef>
                <a:spcPts val="400"/>
              </a:spcBef>
              <a:buNone/>
            </a:pPr>
            <a:r>
              <a:rPr lang="en-US" sz="1600" dirty="0">
                <a:solidFill>
                  <a:srgbClr val="000000"/>
                </a:solidFill>
                <a:latin typeface="Century Gothic"/>
                <a:cs typeface="Century Gothic"/>
              </a:rPr>
              <a:t>Paper 1: 7 weeks; Paper 2: 7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journal is one your readers read - and one that is honestly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Preprints, open access and licences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Preprint</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Posted before peer review (e.g. medRxiv)</a:t>
            </a:r>
          </a:p>
          <a:p>
            <a:pPr marL="0" indent="0" algn="l">
              <a:lnSpc>
                <a:spcPct val="104000"/>
              </a:lnSpc>
              <a:spcBef>
                <a:spcPts val="400"/>
              </a:spcBef>
              <a:buNone/>
            </a:pPr>
            <a:r>
              <a:rPr lang="en-US" sz="1750" dirty="0">
                <a:solidFill>
                  <a:srgbClr val="000000"/>
                </a:solidFill>
                <a:latin typeface="Century Gothic"/>
                <a:cs typeface="Century Gothic"/>
              </a:rPr>
              <a:t>Fast, timestamped, open feedback</a:t>
            </a:r>
          </a:p>
          <a:p>
            <a:pPr marL="0" indent="0" algn="l">
              <a:lnSpc>
                <a:spcPct val="104000"/>
              </a:lnSpc>
              <a:spcBef>
                <a:spcPts val="400"/>
              </a:spcBef>
              <a:buNone/>
            </a:pPr>
            <a:r>
              <a:rPr lang="en-US" sz="1750" dirty="0">
                <a:solidFill>
                  <a:srgbClr val="000000"/>
                </a:solidFill>
                <a:latin typeface="Century Gothic"/>
                <a:cs typeface="Century Gothic"/>
              </a:rPr>
              <a:t>NOT peer-reviewed: say so</a:t>
            </a:r>
          </a:p>
          <a:p>
            <a:pPr marL="0" indent="0" algn="l">
              <a:lnSpc>
                <a:spcPct val="104000"/>
              </a:lnSpc>
              <a:spcBef>
                <a:spcPts val="400"/>
              </a:spcBef>
              <a:buNone/>
            </a:pPr>
            <a:r>
              <a:rPr lang="en-US" sz="1750" dirty="0">
                <a:solidFill>
                  <a:srgbClr val="000000"/>
                </a:solidFill>
                <a:latin typeface="Century Gothic"/>
                <a:cs typeface="Century Gothic"/>
              </a:rPr>
              <a:t>Check the journal's policy</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Open access</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Free for everyone to read</a:t>
            </a:r>
          </a:p>
          <a:p>
            <a:pPr marL="0" indent="0" algn="l">
              <a:lnSpc>
                <a:spcPct val="104000"/>
              </a:lnSpc>
              <a:spcBef>
                <a:spcPts val="400"/>
              </a:spcBef>
              <a:buNone/>
            </a:pPr>
            <a:r>
              <a:rPr lang="en-US" sz="1750" dirty="0">
                <a:solidFill>
                  <a:srgbClr val="000000"/>
                </a:solidFill>
                <a:latin typeface="Century Gothic"/>
                <a:cs typeface="Century Gothic"/>
              </a:rPr>
              <a:t>Gold: journal charges a fee (APC)</a:t>
            </a:r>
          </a:p>
          <a:p>
            <a:pPr marL="0" indent="0" algn="l">
              <a:lnSpc>
                <a:spcPct val="104000"/>
              </a:lnSpc>
              <a:spcBef>
                <a:spcPts val="400"/>
              </a:spcBef>
              <a:buNone/>
            </a:pPr>
            <a:r>
              <a:rPr lang="en-US" sz="1750" dirty="0">
                <a:solidFill>
                  <a:srgbClr val="000000"/>
                </a:solidFill>
                <a:latin typeface="Century Gothic"/>
                <a:cs typeface="Century Gothic"/>
              </a:rPr>
              <a:t>Green: accepted version in a repository</a:t>
            </a:r>
          </a:p>
          <a:p>
            <a:pPr marL="0" indent="0" algn="l">
              <a:lnSpc>
                <a:spcPct val="104000"/>
              </a:lnSpc>
              <a:spcBef>
                <a:spcPts val="400"/>
              </a:spcBef>
              <a:buNone/>
            </a:pPr>
            <a:r>
              <a:rPr lang="en-US" sz="1750" dirty="0">
                <a:solidFill>
                  <a:srgbClr val="000000"/>
                </a:solidFill>
                <a:latin typeface="Century Gothic"/>
                <a:cs typeface="Century Gothic"/>
              </a:rPr>
              <a:t>Ask about fee waivers</a:t>
            </a:r>
          </a:p>
        </p:txBody>
      </p:sp>
      <p:sp>
        <p:nvSpPr>
          <p:cNvPr id="74" name="CardHead"/>
          <p:cNvSpPr/>
          <p:nvPr/>
        </p:nvSpPr>
        <p:spPr>
          <a:xfrm>
            <a:off x="8108932" y="161568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Licence</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CC BY: re-use with credit (Paper 2)</a:t>
            </a:r>
          </a:p>
          <a:p>
            <a:pPr marL="0" indent="0" algn="l">
              <a:lnSpc>
                <a:spcPct val="104000"/>
              </a:lnSpc>
              <a:spcBef>
                <a:spcPts val="400"/>
              </a:spcBef>
              <a:buNone/>
            </a:pPr>
            <a:r>
              <a:rPr lang="en-US" sz="1750" dirty="0">
                <a:solidFill>
                  <a:srgbClr val="000000"/>
                </a:solidFill>
                <a:latin typeface="Century Gothic"/>
                <a:cs typeface="Century Gothic"/>
              </a:rPr>
              <a:t>CC BY-NC-ND: share, no changes (Paper 1)</a:t>
            </a:r>
          </a:p>
          <a:p>
            <a:pPr marL="0" indent="0" algn="l">
              <a:lnSpc>
                <a:spcPct val="104000"/>
              </a:lnSpc>
              <a:spcBef>
                <a:spcPts val="400"/>
              </a:spcBef>
              <a:buNone/>
            </a:pPr>
            <a:r>
              <a:rPr lang="en-US" sz="1750" dirty="0">
                <a:solidFill>
                  <a:srgbClr val="000000"/>
                </a:solidFill>
                <a:latin typeface="Century Gothic"/>
                <a:cs typeface="Century Gothic"/>
              </a:rPr>
              <a:t>Read it before you sign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Know who can read, re-use and pay - before you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Spot the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a journal finds you by flattering e-mail, check it twice.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find a checklist and check a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the EQUATOR Network website and search 'CONSORT'</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Show the checklist and the flow diagram (Paper 1 has one)</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Find STROBE the same way (Paper 2)</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Check a journal: DOAJ and NLM Catalog search</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Open the Think.Check.Submit checklist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Where the checklist PDF is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to see if a journal is in MEDLINE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Three questions to ask any journal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Each group checks the journal + guideline in its publication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submission package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Submit the whole package at once - missing items mean delay.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peer-review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Most papers are revised before acceptance - reply to every point politely.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Responding to reviewers: the point-by-point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Thank, answer every point, show exactly what changed - disagree politely with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After acceptance: proofs, sharing, corrections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proofs as carefully as the data - errors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true or false?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journal that e-mails me first is probably predatory'</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'I can send my paper to two journals at once to save time'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'A preprint has been peer reviewed'</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'I must answer every reviewer comment, even if I disagree'</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'The FLUID-ICU paper should follow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Often - check it twice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False - duplicate submission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False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True - politely, with evidence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5 False - STROBE (cohort)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8.3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 the reviewer</a:t>
            </a:r>
          </a:p>
          <a:p>
            <a:pPr marL="0" indent="0" algn="ctr">
              <a:spcBef>
                <a:spcPts val="1200"/>
              </a:spcBef>
              <a:buNone/>
            </a:pPr>
            <a:r>
              <a:rPr lang="en-US" sz="1900" i="1" dirty="0">
                <a:solidFill>
                  <a:srgbClr val="595959"/>
                </a:solidFill>
                <a:latin typeface="Century Gothic"/>
                <a:cs typeface="Century Gothic"/>
              </a:rPr>
              <a:t>Practice for the peer-review swap of your manuscripts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The jigsaw: three groups on the trial, two on the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clinical question, two designs - compare what each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10-question checklist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1  Question</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Can you write the study's PICO in one line?</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2  Design</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What is the design, and is it the right one for the question?</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3  Participants</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Who was included, and who was left out?</a:t>
            </a:r>
          </a:p>
          <a:p>
            <a:pPr marL="0" indent="0" algn="l">
              <a:lnSpc>
                <a:spcPct val="104000"/>
              </a:lnSpc>
              <a:spcBef>
                <a:spcPts val="400"/>
              </a:spcBef>
              <a:buNone/>
            </a:pPr>
            <a:r>
              <a:rPr lang="en-US" sz="1400" dirty="0">
                <a:solidFill>
                  <a:srgbClr val="000000"/>
                </a:solidFill>
                <a:latin typeface="Century Gothic"/>
                <a:cs typeface="Century Gothic"/>
              </a:rPr>
              <a:t>Would your patients have been included?</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4  Comparison groups</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Were the groups similar at the start (Table 1)?</a:t>
            </a:r>
          </a:p>
          <a:p>
            <a:pPr marL="0" indent="0" algn="l">
              <a:lnSpc>
                <a:spcPct val="104000"/>
              </a:lnSpc>
              <a:spcBef>
                <a:spcPts val="400"/>
              </a:spcBef>
              <a:buNone/>
            </a:pPr>
            <a:r>
              <a:rPr lang="en-US" sz="1400" dirty="0">
                <a:solidFill>
                  <a:srgbClr val="000000"/>
                </a:solidFill>
                <a:latin typeface="Century Gothic"/>
                <a:cs typeface="Century Gothic"/>
              </a:rPr>
              <a:t>How was this achieved (randomisation / matching / adjustment)?</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5  Bias</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Who knew which group patients were in (blinding)?</a:t>
            </a:r>
          </a:p>
          <a:p>
            <a:pPr marL="0" indent="0" algn="l">
              <a:lnSpc>
                <a:spcPct val="104000"/>
              </a:lnSpc>
              <a:spcBef>
                <a:spcPts val="400"/>
              </a:spcBef>
              <a:buNone/>
            </a:pPr>
            <a:r>
              <a:rPr lang="en-US" sz="1400" dirty="0">
                <a:solidFill>
                  <a:srgbClr val="000000"/>
                </a:solidFill>
                <a:latin typeface="Century Gothic"/>
                <a:cs typeface="Century Gothic"/>
              </a:rPr>
              <a:t>Could that change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10-question checklist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2809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6  Outcome</a:t>
            </a:r>
          </a:p>
        </p:txBody>
      </p:sp>
      <p:sp>
        <p:nvSpPr>
          <p:cNvPr id="71" name="CardBody"/>
          <p:cNvSpPr/>
          <p:nvPr/>
        </p:nvSpPr>
        <p:spPr>
          <a:xfrm>
            <a:off x="45720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Was there ONE pre-specified primary outcome,</a:t>
            </a:r>
          </a:p>
          <a:p>
            <a:pPr marL="0" indent="0" algn="l">
              <a:lnSpc>
                <a:spcPct val="104000"/>
              </a:lnSpc>
              <a:spcBef>
                <a:spcPts val="400"/>
              </a:spcBef>
              <a:buNone/>
            </a:pPr>
            <a:r>
              <a:rPr lang="en-US" sz="1400" dirty="0">
                <a:solidFill>
                  <a:srgbClr val="000000"/>
                </a:solidFill>
                <a:latin typeface="Century Gothic"/>
                <a:cs typeface="Century Gothic"/>
              </a:rPr>
              <a:t>measured the same way in both groups?</a:t>
            </a:r>
          </a:p>
        </p:txBody>
      </p:sp>
      <p:sp>
        <p:nvSpPr>
          <p:cNvPr id="72" name="CardHead"/>
          <p:cNvSpPr/>
          <p:nvPr/>
        </p:nvSpPr>
        <p:spPr>
          <a:xfrm>
            <a:off x="2752720" y="202809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7  Numbers</a:t>
            </a:r>
          </a:p>
        </p:txBody>
      </p:sp>
      <p:sp>
        <p:nvSpPr>
          <p:cNvPr id="73" name="CardBody"/>
          <p:cNvSpPr/>
          <p:nvPr/>
        </p:nvSpPr>
        <p:spPr>
          <a:xfrm>
            <a:off x="275272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What is the main result as an effect size with 95% CI?</a:t>
            </a:r>
          </a:p>
          <a:p>
            <a:pPr marL="0" indent="0" algn="l">
              <a:lnSpc>
                <a:spcPct val="104000"/>
              </a:lnSpc>
              <a:spcBef>
                <a:spcPts val="400"/>
              </a:spcBef>
              <a:buNone/>
            </a:pPr>
            <a:r>
              <a:rPr lang="en-US" sz="1400" dirty="0">
                <a:solidFill>
                  <a:srgbClr val="000000"/>
                </a:solidFill>
                <a:latin typeface="Century Gothic"/>
                <a:cs typeface="Century Gothic"/>
              </a:rPr>
              <a:t>Is the CI narrow or wide?</a:t>
            </a:r>
          </a:p>
        </p:txBody>
      </p:sp>
      <p:sp>
        <p:nvSpPr>
          <p:cNvPr id="74" name="CardHead"/>
          <p:cNvSpPr/>
          <p:nvPr/>
        </p:nvSpPr>
        <p:spPr>
          <a:xfrm>
            <a:off x="5048240" y="202809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8  Words vs design</a:t>
            </a:r>
          </a:p>
        </p:txBody>
      </p:sp>
      <p:sp>
        <p:nvSpPr>
          <p:cNvPr id="75" name="CardBody"/>
          <p:cNvSpPr/>
          <p:nvPr/>
        </p:nvSpPr>
        <p:spPr>
          <a:xfrm>
            <a:off x="504824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Do the conclusions match the design</a:t>
            </a:r>
          </a:p>
          <a:p>
            <a:pPr marL="0" indent="0" algn="l">
              <a:lnSpc>
                <a:spcPct val="104000"/>
              </a:lnSpc>
              <a:spcBef>
                <a:spcPts val="400"/>
              </a:spcBef>
              <a:buNone/>
            </a:pPr>
            <a:r>
              <a:rPr lang="en-US" sz="1400" dirty="0">
                <a:solidFill>
                  <a:srgbClr val="000000"/>
                </a:solidFill>
                <a:latin typeface="Century Gothic"/>
                <a:cs typeface="Century Gothic"/>
              </a:rPr>
              <a:t>('associated' vs 'caused'; no 'trend' for p = 0.42)?</a:t>
            </a:r>
          </a:p>
        </p:txBody>
      </p:sp>
      <p:sp>
        <p:nvSpPr>
          <p:cNvPr id="76" name="CardHead"/>
          <p:cNvSpPr/>
          <p:nvPr/>
        </p:nvSpPr>
        <p:spPr>
          <a:xfrm>
            <a:off x="7343760" y="202809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9  Limitations</a:t>
            </a:r>
          </a:p>
        </p:txBody>
      </p:sp>
      <p:sp>
        <p:nvSpPr>
          <p:cNvPr id="77" name="CardBody"/>
          <p:cNvSpPr/>
          <p:nvPr/>
        </p:nvSpPr>
        <p:spPr>
          <a:xfrm>
            <a:off x="734376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Are the main limitations stated honestly?</a:t>
            </a:r>
          </a:p>
          <a:p>
            <a:pPr marL="0" indent="0" algn="l">
              <a:lnSpc>
                <a:spcPct val="104000"/>
              </a:lnSpc>
              <a:spcBef>
                <a:spcPts val="400"/>
              </a:spcBef>
              <a:buNone/>
            </a:pPr>
            <a:r>
              <a:rPr lang="en-US" sz="1400" dirty="0">
                <a:solidFill>
                  <a:srgbClr val="000000"/>
                </a:solidFill>
                <a:latin typeface="Century Gothic"/>
                <a:cs typeface="Century Gothic"/>
              </a:rPr>
              <a:t>Name one the authors missed.</a:t>
            </a:r>
          </a:p>
        </p:txBody>
      </p:sp>
      <p:sp>
        <p:nvSpPr>
          <p:cNvPr id="78" name="CardHead"/>
          <p:cNvSpPr/>
          <p:nvPr/>
        </p:nvSpPr>
        <p:spPr>
          <a:xfrm>
            <a:off x="9639280" y="202809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10  Use</a:t>
            </a:r>
          </a:p>
        </p:txBody>
      </p:sp>
      <p:sp>
        <p:nvSpPr>
          <p:cNvPr id="79" name="CardBody"/>
          <p:cNvSpPr/>
          <p:nvPr/>
        </p:nvSpPr>
        <p:spPr>
          <a:xfrm>
            <a:off x="963928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Would this change practice in your unit?</a:t>
            </a:r>
          </a:p>
          <a:p>
            <a:pPr marL="0" indent="0" algn="l">
              <a:lnSpc>
                <a:spcPct val="104000"/>
              </a:lnSpc>
              <a:spcBef>
                <a:spcPts val="400"/>
              </a:spcBef>
              <a:buNone/>
            </a:pPr>
            <a:r>
              <a:rPr lang="en-US" sz="1400" dirty="0">
                <a:solidFill>
                  <a:srgbClr val="000000"/>
                </a:solidFill>
                <a:latin typeface="Century Gothic"/>
                <a:cs typeface="Century Gothic"/>
              </a:rPr>
              <a:t>Why /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Be the reviewer: appraise your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Pairs take questions 1-3, 4-6 and 7-10</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Read ONLY the pages listed on your answer grid</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Answer Yes / No / Can't tell + page number</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Minute 7: agree the group answers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Minute 9: choose a speaker; write your verdict in one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Where to look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Abstract: question and result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Methods: design, blinding, outcome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Table 1: groups similar?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Discussion: words and limitations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Completed answer grid + one-sentence verdict per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may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Randomisation earns the word 'caused'; observation earns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two papers side by side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Paper 1 - RCT (Boulet 2024)</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Paper 2 - cohort (Hyun 2023)</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Groups made similar by</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Randomisation 1:1 (blocks of 2)</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Propensity matching (measured factors only)</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Who knew the group</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Clinicians knew; patients, statistician blinded</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Everyone (observational)</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Main result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13.2 ml/kg (95% CI -15.2 to 41.6), p = 0.42</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Day 2: HR 2.13 (1.48 to 3.06)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Missed limitation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Blocks of 2 with unblinded clinicians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Survivor bias (ICU stay of 3+ days)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Wording problem</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'Non-significant trend' (p = 0.42)</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'Impact', 'did not impact', 'show'</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May claim</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Did not reduce day-5 balance (small pilot)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Positive balance associated with death</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Pages and details: 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Plenary: 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Groups 1 and 4 report Q1-Q4 (1 min each)</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Groups 2 and 5 report Q5-Q8 (1 min each)</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Group 3 reports Q9-Q10 for Paper 1</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Compare Q4, Q5 and Q8 across the two papers</a:t>
            </a:r>
          </a:p>
          <a:p>
            <a:pPr marL="380000" indent="-380000" algn="l">
              <a:lnSpc>
                <a:spcPct val="104000"/>
              </a:lnSpc>
              <a:spcBef>
                <a:spcPts val="450"/>
              </a:spcBef>
              <a:buNone/>
            </a:pPr>
            <a:r>
              <a:rPr lang="en-US" sz="1650" b="1" dirty="0">
                <a:solidFill>
                  <a:srgbClr val="1F5C7A"/>
                </a:solidFill>
                <a:latin typeface="Century Gothic"/>
                <a:cs typeface="Century Gothic"/>
              </a:rPr>
              <a:t>5.  </a:t>
            </a:r>
            <a:r>
              <a:rPr lang="en-US" sz="1650" dirty="0">
                <a:solidFill>
                  <a:srgbClr val="000000"/>
                </a:solidFill>
                <a:latin typeface="Century Gothic"/>
                <a:cs typeface="Century Gothic"/>
              </a:rPr>
              <a:t>Vote on Q10: would either paper change practice in our unit?</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Land these messages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Design sets the verb: caused vs associated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wide CI means 'we don't know yet'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Published is not the same as correct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Name the reporting guideline: CONSORT, STROBE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Each group states what its paper may and may not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Term</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plain words</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Introduction funnel</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Known -&gt; not known -&gt; aim, in three paragraphs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Six moves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Answer, compare, explain, limitations, implications, conclusion</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Calibrated language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Verbs as strong as the design allows ('associated', not 'caused')</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Predatory journal</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Takes fees without real peer review or indexing</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Point-by-point response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 table answering every reviewer comment with the change made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Preprint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Public manuscript posted before peer review</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Full glossary (EN-VN):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question to publication: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Protect</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Ethics, consent, registration</a:t>
            </a:r>
          </a:p>
          <a:p>
            <a:pPr marL="0" indent="0" algn="l">
              <a:lnSpc>
                <a:spcPct val="104000"/>
              </a:lnSpc>
              <a:spcBef>
                <a:spcPts val="400"/>
              </a:spcBef>
              <a:buNone/>
            </a:pPr>
            <a:r>
              <a:rPr lang="en-US" sz="1600" dirty="0">
                <a:solidFill>
                  <a:srgbClr val="000000"/>
                </a:solidFill>
                <a:latin typeface="Century Gothic"/>
                <a:cs typeface="Century Gothic"/>
              </a:rPr>
              <a:t>Honest data and authorship</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Write</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IMRaD in the right order</a:t>
            </a:r>
          </a:p>
          <a:p>
            <a:pPr marL="0" indent="0" algn="l">
              <a:lnSpc>
                <a:spcPct val="104000"/>
              </a:lnSpc>
              <a:spcBef>
                <a:spcPts val="400"/>
              </a:spcBef>
              <a:buNone/>
            </a:pPr>
            <a:r>
              <a:rPr lang="en-US" sz="1600" dirty="0">
                <a:solidFill>
                  <a:srgbClr val="000000"/>
                </a:solidFill>
                <a:latin typeface="Century Gothic"/>
                <a:cs typeface="Century Gothic"/>
              </a:rPr>
              <a:t>Numbers with CIs</a:t>
            </a:r>
          </a:p>
          <a:p>
            <a:pPr marL="0" indent="0" algn="l">
              <a:lnSpc>
                <a:spcPct val="104000"/>
              </a:lnSpc>
              <a:spcBef>
                <a:spcPts val="400"/>
              </a:spcBef>
              <a:buNone/>
            </a:pPr>
            <a:r>
              <a:rPr lang="en-US" sz="1600" dirty="0">
                <a:solidFill>
                  <a:srgbClr val="000000"/>
                </a:solidFill>
                <a:latin typeface="Century Gothic"/>
                <a:cs typeface="Century Gothic"/>
              </a:rPr>
              <a:t>Verbs that match the design</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Publish</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Reporting checklist</a:t>
            </a:r>
          </a:p>
          <a:p>
            <a:pPr marL="0" indent="0" algn="l">
              <a:lnSpc>
                <a:spcPct val="104000"/>
              </a:lnSpc>
              <a:spcBef>
                <a:spcPts val="400"/>
              </a:spcBef>
              <a:buNone/>
            </a:pPr>
            <a:r>
              <a:rPr lang="en-US" sz="1600" dirty="0">
                <a:solidFill>
                  <a:srgbClr val="000000"/>
                </a:solidFill>
                <a:latin typeface="Century Gothic"/>
                <a:cs typeface="Century Gothic"/>
              </a:rPr>
              <a:t>Trusted journal</a:t>
            </a:r>
          </a:p>
          <a:p>
            <a:pPr marL="0" indent="0" algn="l">
              <a:lnSpc>
                <a:spcPct val="104000"/>
              </a:lnSpc>
              <a:spcBef>
                <a:spcPts val="400"/>
              </a:spcBef>
              <a:buNone/>
            </a:pPr>
            <a:r>
              <a:rPr lang="en-US" sz="1600" dirty="0">
                <a:solidFill>
                  <a:srgbClr val="000000"/>
                </a:solidFill>
                <a:latin typeface="Century Gothic"/>
                <a:cs typeface="Century Gothic"/>
              </a:rPr>
              <a:t>Polite, complete responses</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Review</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10 questions</a:t>
            </a:r>
          </a:p>
          <a:p>
            <a:pPr marL="0" indent="0" algn="l">
              <a:lnSpc>
                <a:spcPct val="104000"/>
              </a:lnSpc>
              <a:spcBef>
                <a:spcPts val="400"/>
              </a:spcBef>
              <a:buNone/>
            </a:pPr>
            <a:r>
              <a:rPr lang="en-US" sz="1600" dirty="0">
                <a:solidFill>
                  <a:srgbClr val="000000"/>
                </a:solidFill>
                <a:latin typeface="Century Gothic"/>
                <a:cs typeface="Century Gothic"/>
              </a:rPr>
              <a:t>What each design may claim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Next: present your proposal - and swap manuscripts for peer review.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Group presentations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Your proposals and publication plans</a:t>
            </a:r>
          </a:p>
          <a:p>
            <a:pPr marL="0" indent="0" algn="ctr">
              <a:spcBef>
                <a:spcPts val="1200"/>
              </a:spcBef>
              <a:buNone/>
            </a:pPr>
            <a:r>
              <a:rPr lang="en-US" sz="1900" i="1" dirty="0">
                <a:solidFill>
                  <a:srgbClr val="595959"/>
                </a:solidFill>
                <a:latin typeface="Century Gothic"/>
                <a:cs typeface="Century Gothic"/>
              </a:rPr>
              <a:t>6 minutes to present, 2 minutes of feedback - be kind, be specific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presentations are scored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Criterion</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What we look for</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Points</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12  Structure &amp; content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 slides; key decisions incl. journal + guideline visible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13  Clarity</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Every profession understands; one message per slide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14  Visual design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Readable from the back; pictures, not text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15  Timekeeping</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Finished between 5:00 and 6:00</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16  Questions &amp; teamwork</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Honest answers; several members speak</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6 excellent, 4 good, 2 needs work, 0 missing = presentation /30.  Written proposal + publication plan /70 marked after the course.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Running order and timekeeping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When the red card goes up, finish your sentence and stop.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Group proposal presentations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PRESENTATIONS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070C0"/>
                </a:solidFill>
                <a:latin typeface="Century Gothic"/>
                <a:cs typeface="Century Gothic"/>
              </a:rPr>
              <a:t>1.  </a:t>
            </a:r>
            <a:r>
              <a:rPr lang="en-US" sz="1650" dirty="0">
                <a:solidFill>
                  <a:srgbClr val="000000"/>
                </a:solidFill>
                <a:latin typeface="Century Gothic"/>
                <a:cs typeface="Century Gothic"/>
              </a:rPr>
              <a:t>6 minutes, 6 slides: question, design, data and analysis, ethics and feasibility, publication plan (title, journal, guideline, abstract)</a:t>
            </a:r>
          </a:p>
          <a:p>
            <a:pPr marL="380000" indent="-380000" algn="l">
              <a:lnSpc>
                <a:spcPct val="104000"/>
              </a:lnSpc>
              <a:spcBef>
                <a:spcPts val="450"/>
              </a:spcBef>
              <a:buNone/>
            </a:pPr>
            <a:r>
              <a:rPr lang="en-US" sz="1650" b="1" dirty="0">
                <a:solidFill>
                  <a:srgbClr val="0070C0"/>
                </a:solidFill>
                <a:latin typeface="Century Gothic"/>
                <a:cs typeface="Century Gothic"/>
              </a:rPr>
              <a:t>2.  </a:t>
            </a:r>
            <a:r>
              <a:rPr lang="en-US" sz="1650" dirty="0">
                <a:solidFill>
                  <a:srgbClr val="000000"/>
                </a:solidFill>
                <a:latin typeface="Century Gothic"/>
                <a:cs typeface="Century Gothic"/>
              </a:rPr>
              <a:t>Timekeeper: green at 4:00, yellow at 5:00, red at 6:00</a:t>
            </a:r>
          </a:p>
          <a:p>
            <a:pPr marL="380000" indent="-380000" algn="l">
              <a:lnSpc>
                <a:spcPct val="104000"/>
              </a:lnSpc>
              <a:spcBef>
                <a:spcPts val="450"/>
              </a:spcBef>
              <a:buNone/>
            </a:pPr>
            <a:r>
              <a:rPr lang="en-US" sz="1650" b="1" dirty="0">
                <a:solidFill>
                  <a:srgbClr val="0070C0"/>
                </a:solidFill>
                <a:latin typeface="Century Gothic"/>
                <a:cs typeface="Century Gothic"/>
              </a:rPr>
              <a:t>3.  </a:t>
            </a:r>
            <a:r>
              <a:rPr lang="en-US" sz="1650" dirty="0">
                <a:solidFill>
                  <a:srgbClr val="000000"/>
                </a:solidFill>
                <a:latin typeface="Century Gothic"/>
                <a:cs typeface="Century Gothic"/>
              </a:rPr>
              <a:t>Feedback 2 min: peer group (two stars and a wish), then instructor</a:t>
            </a:r>
          </a:p>
          <a:p>
            <a:pPr marL="380000" indent="-380000" algn="l">
              <a:lnSpc>
                <a:spcPct val="104000"/>
              </a:lnSpc>
              <a:spcBef>
                <a:spcPts val="450"/>
              </a:spcBef>
              <a:buNone/>
            </a:pPr>
            <a:r>
              <a:rPr lang="en-US" sz="1650" b="1" dirty="0">
                <a:solidFill>
                  <a:srgbClr val="0070C0"/>
                </a:solidFill>
                <a:latin typeface="Century Gothic"/>
                <a:cs typeface="Century Gothic"/>
              </a:rPr>
              <a:t>4.  </a:t>
            </a:r>
            <a:r>
              <a:rPr lang="en-US" sz="1650" dirty="0">
                <a:solidFill>
                  <a:srgbClr val="000000"/>
                </a:solidFill>
                <a:latin typeface="Century Gothic"/>
                <a:cs typeface="Century Gothic"/>
              </a:rPr>
              <a:t>Peer group and instructors fill the feedback form</a:t>
            </a:r>
          </a:p>
          <a:p>
            <a:pPr marL="380000" indent="-380000" algn="l">
              <a:lnSpc>
                <a:spcPct val="104000"/>
              </a:lnSpc>
              <a:spcBef>
                <a:spcPts val="450"/>
              </a:spcBef>
              <a:buNone/>
            </a:pPr>
            <a:r>
              <a:rPr lang="en-US" sz="1650" b="1" dirty="0">
                <a:solidFill>
                  <a:srgbClr val="0070C0"/>
                </a:solidFill>
                <a:latin typeface="Century Gothic"/>
                <a:cs typeface="Century Gothic"/>
              </a:rPr>
              <a:t>5.  </a:t>
            </a:r>
            <a:r>
              <a:rPr lang="en-US" sz="1650" dirty="0">
                <a:solidFill>
                  <a:srgbClr val="000000"/>
                </a:solidFill>
                <a:latin typeface="Century Gothic"/>
                <a:cs typeface="Century Gothic"/>
              </a:rPr>
              <a:t>Next group sets up during the feedback</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070C0"/>
                </a:solidFill>
                <a:latin typeface="Century Gothic"/>
                <a:cs typeface="Century Gothic"/>
              </a:rPr>
              <a:t>Running order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2:00  Group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2:08  Group 2</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2:16  Group 3</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2:24  Group 4</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2:32  Group 5</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2:40  Manuscript summary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l">
              <a:buNone/>
            </a:pPr>
            <a:r>
              <a:rPr lang="en-US" sz="1300" b="1" dirty="0">
                <a:solidFill>
                  <a:srgbClr val="0070C0"/>
                </a:solidFill>
                <a:latin typeface="Century Gothic"/>
                <a:cs typeface="Century Gothic"/>
              </a:rPr>
              <a:t>OUTPUT   </a:t>
            </a:r>
            <a:r>
              <a:rPr lang="en-US" sz="1500" dirty="0">
                <a:solidFill>
                  <a:srgbClr val="000000"/>
                </a:solidFill>
                <a:latin typeface="Century Gothic"/>
                <a:cs typeface="Century Gothic"/>
              </a:rPr>
              <a:t>Five proposals and publication plans presented; feedback forms to the trainers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8</a:t>
            </a:r>
          </a:p>
          <a:p>
            <a:pPr marL="0" indent="0" algn="ctr">
              <a:spcBef>
                <a:spcPts val="1200"/>
              </a:spcBef>
              <a:buNone/>
            </a:pPr>
            <a:r>
              <a:rPr lang="en-US" sz="1900" i="1" dirty="0">
                <a:solidFill>
                  <a:srgbClr val="595959"/>
                </a:solidFill>
                <a:latin typeface="Century Gothic"/>
                <a:cs typeface="Century Gothic"/>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Write it right: fix the spin, then draft your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Alone (2 min): rewrite Paper 1's 'non-significant trend' sentence honestly</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Alone: rewrite Paper 2's title with calibrated wording</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Group (4 min): draft your working title from your PICO</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Group: one line each for Background, Methods, expected Results, Conclusion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Publication plan (Part 4)</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Working title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Abstract skeleton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Authors + CRediT roles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Target journal + guideline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Working title + abstract skeleton - show them in your presentation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Rejected? Resubmit - smarter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Rejection is normal: most papers are rejected at least once.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Desk rejection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Out of scope or poorly reported</a:t>
            </a:r>
          </a:p>
          <a:p>
            <a:pPr marL="0" indent="0" algn="l">
              <a:lnSpc>
                <a:spcPct val="104000"/>
              </a:lnSpc>
              <a:spcBef>
                <a:spcPts val="400"/>
              </a:spcBef>
              <a:buNone/>
            </a:pPr>
            <a:r>
              <a:rPr lang="en-US" sz="1750" dirty="0">
                <a:solidFill>
                  <a:srgbClr val="000000"/>
                </a:solidFill>
                <a:latin typeface="Century Gothic"/>
                <a:cs typeface="Century Gothic"/>
              </a:rPr>
              <a:t>Often within days</a:t>
            </a:r>
          </a:p>
          <a:p>
            <a:pPr marL="0" indent="0" algn="l">
              <a:lnSpc>
                <a:spcPct val="104000"/>
              </a:lnSpc>
              <a:spcBef>
                <a:spcPts val="400"/>
              </a:spcBef>
              <a:buNone/>
            </a:pPr>
            <a:r>
              <a:rPr lang="en-US" sz="1750" dirty="0">
                <a:solidFill>
                  <a:srgbClr val="000000"/>
                </a:solidFill>
                <a:latin typeface="Century Gothic"/>
                <a:cs typeface="Century Gothic"/>
              </a:rPr>
              <a:t>Re-target the journal</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After review</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Read the reviews, wait a day</a:t>
            </a:r>
          </a:p>
          <a:p>
            <a:pPr marL="0" indent="0" algn="l">
              <a:lnSpc>
                <a:spcPct val="104000"/>
              </a:lnSpc>
              <a:spcBef>
                <a:spcPts val="400"/>
              </a:spcBef>
              <a:buNone/>
            </a:pPr>
            <a:r>
              <a:rPr lang="en-US" sz="1750" dirty="0">
                <a:solidFill>
                  <a:srgbClr val="000000"/>
                </a:solidFill>
                <a:latin typeface="Century Gothic"/>
                <a:cs typeface="Century Gothic"/>
              </a:rPr>
              <a:t>Fix what they found</a:t>
            </a:r>
          </a:p>
          <a:p>
            <a:pPr marL="0" indent="0" algn="l">
              <a:lnSpc>
                <a:spcPct val="104000"/>
              </a:lnSpc>
              <a:spcBef>
                <a:spcPts val="400"/>
              </a:spcBef>
              <a:buNone/>
            </a:pPr>
            <a:r>
              <a:rPr lang="en-US" sz="1750" dirty="0">
                <a:solidFill>
                  <a:srgbClr val="000000"/>
                </a:solidFill>
                <a:latin typeface="Century Gothic"/>
                <a:cs typeface="Century Gothic"/>
              </a:rPr>
              <a:t>Never resubmit unchanged</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Next journal</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Reformat to its Guide</a:t>
            </a:r>
          </a:p>
          <a:p>
            <a:pPr marL="0" indent="0" algn="l">
              <a:lnSpc>
                <a:spcPct val="104000"/>
              </a:lnSpc>
              <a:spcBef>
                <a:spcPts val="400"/>
              </a:spcBef>
              <a:buNone/>
            </a:pPr>
            <a:r>
              <a:rPr lang="en-US" sz="1750" dirty="0">
                <a:solidFill>
                  <a:srgbClr val="000000"/>
                </a:solidFill>
                <a:latin typeface="Century Gothic"/>
                <a:cs typeface="Century Gothic"/>
              </a:rPr>
              <a:t>Use transfer offers if given</a:t>
            </a:r>
          </a:p>
          <a:p>
            <a:pPr marL="0" indent="0" algn="l">
              <a:lnSpc>
                <a:spcPct val="104000"/>
              </a:lnSpc>
              <a:spcBef>
                <a:spcPts val="400"/>
              </a:spcBef>
              <a:buNone/>
            </a:pPr>
            <a:r>
              <a:rPr lang="en-US" sz="1750" dirty="0">
                <a:solidFill>
                  <a:srgbClr val="000000"/>
                </a:solidFill>
                <a:latin typeface="Century Gothic"/>
                <a:cs typeface="Century Gothic"/>
              </a:rPr>
              <a:t>Appeal only for a clear error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next reviewer may be the same person - fix the problems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Conference abstracts and posters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poster is a billboard: one message, one figure, readable from 2 metres.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Closing: what you built and what happens next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Post-course quiz (same 24 questions)</a:t>
            </a:r>
          </a:p>
          <a:p>
            <a:pPr marL="274320" indent="-274320" algn="l">
              <a:spcBef>
                <a:spcPts val="440"/>
              </a:spcBef>
              <a:buFont typeface="Arial"/>
              <a:buChar char="•"/>
            </a:pPr>
            <a:r>
              <a:rPr lang="en-US" sz="1900" dirty="0">
                <a:solidFill>
                  <a:srgbClr val="000000"/>
                </a:solidFill>
                <a:latin typeface="Century Gothic"/>
                <a:cs typeface="Century Gothic"/>
              </a:rPr>
              <a:t>What you built in eight sessions</a:t>
            </a:r>
          </a:p>
          <a:p>
            <a:pPr marL="274320" indent="-274320" algn="l">
              <a:spcBef>
                <a:spcPts val="440"/>
              </a:spcBef>
              <a:buFont typeface="Arial"/>
              <a:buChar char="•"/>
            </a:pPr>
            <a:r>
              <a:rPr lang="en-US" sz="1900" dirty="0">
                <a:solidFill>
                  <a:srgbClr val="000000"/>
                </a:solidFill>
                <a:latin typeface="Century Gothic"/>
                <a:cs typeface="Century Gothic"/>
              </a:rPr>
              <a:t>Course evaluation</a:t>
            </a:r>
          </a:p>
          <a:p>
            <a:pPr marL="274320" indent="-274320" algn="l">
              <a:spcBef>
                <a:spcPts val="440"/>
              </a:spcBef>
              <a:buFont typeface="Arial"/>
              <a:buChar char="•"/>
            </a:pPr>
            <a:r>
              <a:rPr lang="en-US" sz="1900" dirty="0">
                <a:solidFill>
                  <a:srgbClr val="000000"/>
                </a:solidFill>
                <a:latin typeface="Century Gothic"/>
                <a:cs typeface="Century Gothic"/>
              </a:rPr>
              <a:t>After the course: peer review of the manuscripts</a:t>
            </a:r>
          </a:p>
          <a:p>
            <a:pPr marL="274320" indent="-274320" algn="l">
              <a:spcBef>
                <a:spcPts val="440"/>
              </a:spcBef>
              <a:buFont typeface="Arial"/>
              <a:buChar char="•"/>
            </a:pPr>
            <a:r>
              <a:rPr lang="en-US" sz="1900" dirty="0">
                <a:solidFill>
                  <a:srgbClr val="000000"/>
                </a:solidFill>
                <a:latin typeface="Century Gothic"/>
                <a:cs typeface="Century Gothic"/>
              </a:rPr>
              <a:t>Next steps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Post-course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Same 24 questions as in Session 1 (online form recommended)</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Individual, no discussion</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the same participant number as in Session 1</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The answer key is shared after the course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Quiz handed in (participant number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you built in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ASK &amp; FIND</a:t>
            </a:r>
          </a:p>
        </p:txBody>
      </p:sp>
      <p:sp>
        <p:nvSpPr>
          <p:cNvPr id="81" name="StepText"/>
          <p:cNvSpPr/>
          <p:nvPr/>
        </p:nvSpPr>
        <p:spPr>
          <a:xfrm>
            <a:off x="49720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PICO question</a:t>
            </a:r>
          </a:p>
          <a:p>
            <a:pPr marL="0" indent="0" algn="l">
              <a:lnSpc>
                <a:spcPct val="104000"/>
              </a:lnSpc>
              <a:spcBef>
                <a:spcPts val="200"/>
              </a:spcBef>
              <a:buNone/>
            </a:pPr>
            <a:r>
              <a:rPr lang="en-US" sz="1500" dirty="0">
                <a:solidFill>
                  <a:srgbClr val="000000"/>
                </a:solidFill>
                <a:latin typeface="Century Gothic"/>
                <a:cs typeface="Century Gothic"/>
              </a:rPr>
              <a:t>5 key references</a:t>
            </a:r>
          </a:p>
          <a:p>
            <a:pPr marL="0" indent="0" algn="l">
              <a:lnSpc>
                <a:spcPct val="104000"/>
              </a:lnSpc>
              <a:spcBef>
                <a:spcPts val="200"/>
              </a:spcBef>
              <a:buNone/>
            </a:pPr>
            <a:r>
              <a:rPr lang="en-US" sz="1500" dirty="0">
                <a:solidFill>
                  <a:srgbClr val="000000"/>
                </a:solidFill>
                <a:latin typeface="Century Gothic"/>
                <a:cs typeface="Century Gothic"/>
              </a:rPr>
              <a:t>A working title</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DESIGN</a:t>
            </a:r>
          </a:p>
        </p:txBody>
      </p:sp>
      <p:sp>
        <p:nvSpPr>
          <p:cNvPr id="83" name="StepText"/>
          <p:cNvSpPr/>
          <p:nvPr/>
        </p:nvSpPr>
        <p:spPr>
          <a:xfrm>
            <a:off x="274072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justified design</a:t>
            </a:r>
          </a:p>
          <a:p>
            <a:pPr marL="0" indent="0" algn="l">
              <a:lnSpc>
                <a:spcPct val="104000"/>
              </a:lnSpc>
              <a:spcBef>
                <a:spcPts val="200"/>
              </a:spcBef>
              <a:buNone/>
            </a:pPr>
            <a:r>
              <a:rPr lang="en-US" sz="1500" dirty="0">
                <a:solidFill>
                  <a:srgbClr val="000000"/>
                </a:solidFill>
                <a:latin typeface="Century Gothic"/>
                <a:cs typeface="Century Gothic"/>
              </a:rPr>
              <a:t>Outcomes</a:t>
            </a:r>
          </a:p>
          <a:p>
            <a:pPr marL="0" indent="0" algn="l">
              <a:lnSpc>
                <a:spcPct val="104000"/>
              </a:lnSpc>
              <a:spcBef>
                <a:spcPts val="200"/>
              </a:spcBef>
              <a:buNone/>
            </a:pPr>
            <a:r>
              <a:rPr lang="en-US" sz="1500" dirty="0">
                <a:solidFill>
                  <a:srgbClr val="000000"/>
                </a:solidFill>
                <a:latin typeface="Century Gothic"/>
                <a:cs typeface="Century Gothic"/>
              </a:rPr>
              <a:t>A bias plan</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ANALYSE</a:t>
            </a:r>
          </a:p>
        </p:txBody>
      </p:sp>
      <p:sp>
        <p:nvSpPr>
          <p:cNvPr id="85" name="StepText"/>
          <p:cNvSpPr/>
          <p:nvPr/>
        </p:nvSpPr>
        <p:spPr>
          <a:xfrm>
            <a:off x="498424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CRF and analysis plan</a:t>
            </a:r>
          </a:p>
          <a:p>
            <a:pPr marL="0" indent="0" algn="l">
              <a:lnSpc>
                <a:spcPct val="104000"/>
              </a:lnSpc>
              <a:spcBef>
                <a:spcPts val="200"/>
              </a:spcBef>
              <a:buNone/>
            </a:pPr>
            <a:r>
              <a:rPr lang="en-US" sz="1500" dirty="0">
                <a:solidFill>
                  <a:srgbClr val="000000"/>
                </a:solidFill>
                <a:latin typeface="Century Gothic"/>
                <a:cs typeface="Century Gothic"/>
              </a:rPr>
              <a:t>A real dataset read and interpreted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WRITE</a:t>
            </a:r>
          </a:p>
        </p:txBody>
      </p:sp>
      <p:sp>
        <p:nvSpPr>
          <p:cNvPr id="87" name="StepText"/>
          <p:cNvSpPr/>
          <p:nvPr/>
        </p:nvSpPr>
        <p:spPr>
          <a:xfrm>
            <a:off x="722776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Methods, Results</a:t>
            </a:r>
          </a:p>
          <a:p>
            <a:pPr marL="0" indent="0" algn="l">
              <a:lnSpc>
                <a:spcPct val="104000"/>
              </a:lnSpc>
              <a:spcBef>
                <a:spcPts val="200"/>
              </a:spcBef>
              <a:buNone/>
            </a:pPr>
            <a:r>
              <a:rPr lang="en-US" sz="1500" dirty="0">
                <a:solidFill>
                  <a:srgbClr val="000000"/>
                </a:solidFill>
                <a:latin typeface="Century Gothic"/>
                <a:cs typeface="Century Gothic"/>
              </a:rPr>
              <a:t>Introduction, Discussion, Abstract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PUBLISH</a:t>
            </a:r>
          </a:p>
        </p:txBody>
      </p:sp>
      <p:sp>
        <p:nvSpPr>
          <p:cNvPr id="89" name="StepText"/>
          <p:cNvSpPr/>
          <p:nvPr/>
        </p:nvSpPr>
        <p:spPr>
          <a:xfrm>
            <a:off x="947128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presented proposal</a:t>
            </a:r>
          </a:p>
          <a:p>
            <a:pPr marL="0" indent="0" algn="l">
              <a:lnSpc>
                <a:spcPct val="104000"/>
              </a:lnSpc>
              <a:spcBef>
                <a:spcPts val="200"/>
              </a:spcBef>
              <a:buNone/>
            </a:pPr>
            <a:r>
              <a:rPr lang="en-US" sz="1500" dirty="0">
                <a:solidFill>
                  <a:srgbClr val="000000"/>
                </a:solidFill>
                <a:latin typeface="Century Gothic"/>
                <a:cs typeface="Century Gothic"/>
              </a:rPr>
              <a:t>A draft manuscript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Five proposals and five draft papers from this department.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Course evaluation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Rate each weekend: content, pace, usefulness</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One thing to keep, one thing to change</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Which advanced topics would you want next?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Evaluation form (anonymous)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After the course: peer review like real authors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Week 1</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Polish your draft</a:t>
            </a:r>
          </a:p>
          <a:p>
            <a:pPr marL="0" indent="0" algn="l">
              <a:lnSpc>
                <a:spcPct val="104000"/>
              </a:lnSpc>
              <a:spcBef>
                <a:spcPts val="200"/>
              </a:spcBef>
              <a:buNone/>
            </a:pPr>
            <a:r>
              <a:rPr lang="en-US" sz="1500" dirty="0">
                <a:solidFill>
                  <a:srgbClr val="000000"/>
                </a:solidFill>
                <a:latin typeface="Century Gothic"/>
                <a:cs typeface="Century Gothic"/>
              </a:rPr>
              <a:t>Submit it to the trainers</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Swap</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Review another group's paper</a:t>
            </a:r>
          </a:p>
          <a:p>
            <a:pPr marL="0" indent="0" algn="l">
              <a:lnSpc>
                <a:spcPct val="104000"/>
              </a:lnSpc>
              <a:spcBef>
                <a:spcPts val="200"/>
              </a:spcBef>
              <a:buNone/>
            </a:pPr>
            <a:r>
              <a:rPr lang="en-US" sz="1500" dirty="0">
                <a:solidFill>
                  <a:srgbClr val="000000"/>
                </a:solidFill>
                <a:latin typeface="Century Gothic"/>
                <a:cs typeface="Century Gothic"/>
              </a:rPr>
              <a:t>10-question checklist + writing checks</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Respond</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Answer each comment</a:t>
            </a:r>
          </a:p>
          <a:p>
            <a:pPr marL="0" indent="0" algn="l">
              <a:lnSpc>
                <a:spcPct val="104000"/>
              </a:lnSpc>
              <a:spcBef>
                <a:spcPts val="200"/>
              </a:spcBef>
              <a:buNone/>
            </a:pPr>
            <a:r>
              <a:rPr lang="en-US" sz="1500" dirty="0">
                <a:solidFill>
                  <a:srgbClr val="000000"/>
                </a:solidFill>
                <a:latin typeface="Century Gothic"/>
                <a:cs typeface="Century Gothic"/>
              </a:rPr>
              <a:t>Response-to-reviewers template</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Week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Final draft + response letter</a:t>
            </a:r>
          </a:p>
          <a:p>
            <a:pPr marL="0" indent="0" algn="l">
              <a:lnSpc>
                <a:spcPct val="104000"/>
              </a:lnSpc>
              <a:spcBef>
                <a:spcPts val="200"/>
              </a:spcBef>
              <a:buNone/>
            </a:pPr>
            <a:r>
              <a:rPr lang="en-US" sz="1500" dirty="0">
                <a:solidFill>
                  <a:srgbClr val="000000"/>
                </a:solidFill>
                <a:latin typeface="Century Gothic"/>
                <a:cs typeface="Century Gothic"/>
              </a:rPr>
              <a:t>Trainer feedback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Due two weeks after Session 8 - see Assignment/peer_review_instructions.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comes next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Completion</a:t>
            </a:r>
          </a:p>
        </p:txBody>
      </p:sp>
      <p:sp>
        <p:nvSpPr>
          <p:cNvPr id="71" name="CardBody"/>
          <p:cNvSpPr/>
          <p:nvPr/>
        </p:nvSpPr>
        <p:spPr>
          <a:xfrm>
            <a:off x="457200"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At least 6 of 8 sessions</a:t>
            </a:r>
          </a:p>
          <a:p>
            <a:pPr marL="0" indent="0" algn="l">
              <a:lnSpc>
                <a:spcPct val="104000"/>
              </a:lnSpc>
              <a:spcBef>
                <a:spcPts val="400"/>
              </a:spcBef>
              <a:buNone/>
            </a:pPr>
            <a:r>
              <a:rPr lang="en-US" sz="1750" dirty="0">
                <a:solidFill>
                  <a:srgbClr val="000000"/>
                </a:solidFill>
                <a:latin typeface="Century Gothic"/>
                <a:cs typeface="Century Gothic"/>
              </a:rPr>
              <a:t>Proposal presented</a:t>
            </a:r>
          </a:p>
          <a:p>
            <a:pPr marL="0" indent="0" algn="l">
              <a:lnSpc>
                <a:spcPct val="104000"/>
              </a:lnSpc>
              <a:spcBef>
                <a:spcPts val="400"/>
              </a:spcBef>
              <a:buNone/>
            </a:pPr>
            <a:r>
              <a:rPr lang="en-US" sz="1750" dirty="0">
                <a:solidFill>
                  <a:srgbClr val="000000"/>
                </a:solidFill>
                <a:latin typeface="Century Gothic"/>
                <a:cs typeface="Century Gothic"/>
              </a:rPr>
              <a:t>Manuscript draft submitted</a:t>
            </a:r>
          </a:p>
        </p:txBody>
      </p:sp>
      <p:sp>
        <p:nvSpPr>
          <p:cNvPr id="72" name="CardHead"/>
          <p:cNvSpPr/>
          <p:nvPr/>
        </p:nvSpPr>
        <p:spPr>
          <a:xfrm>
            <a:off x="4283066" y="195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Your toolkit</a:t>
            </a:r>
          </a:p>
        </p:txBody>
      </p:sp>
      <p:sp>
        <p:nvSpPr>
          <p:cNvPr id="73" name="CardBody"/>
          <p:cNvSpPr/>
          <p:nvPr/>
        </p:nvSpPr>
        <p:spPr>
          <a:xfrm>
            <a:off x="4283066"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Slides, handouts, glossary</a:t>
            </a:r>
          </a:p>
          <a:p>
            <a:pPr marL="0" indent="0" algn="l">
              <a:lnSpc>
                <a:spcPct val="104000"/>
              </a:lnSpc>
              <a:spcBef>
                <a:spcPts val="400"/>
              </a:spcBef>
              <a:buNone/>
            </a:pPr>
            <a:r>
              <a:rPr lang="en-US" sz="1750" dirty="0">
                <a:solidFill>
                  <a:srgbClr val="000000"/>
                </a:solidFill>
                <a:latin typeface="Century Gothic"/>
                <a:cs typeface="Century Gothic"/>
              </a:rPr>
              <a:t>Proposal, protocol, consent, CRF, SAP,</a:t>
            </a:r>
          </a:p>
          <a:p>
            <a:pPr marL="0" indent="0" algn="l">
              <a:lnSpc>
                <a:spcPct val="104000"/>
              </a:lnSpc>
              <a:spcBef>
                <a:spcPts val="400"/>
              </a:spcBef>
              <a:buNone/>
            </a:pPr>
            <a:r>
              <a:rPr lang="en-US" sz="1750" dirty="0">
                <a:solidFill>
                  <a:srgbClr val="000000"/>
                </a:solidFill>
                <a:latin typeface="Century Gothic"/>
                <a:cs typeface="Century Gothic"/>
              </a:rPr>
              <a:t>manuscript and reviewer templates</a:t>
            </a:r>
          </a:p>
        </p:txBody>
      </p:sp>
      <p:sp>
        <p:nvSpPr>
          <p:cNvPr id="74" name="CardHead"/>
          <p:cNvSpPr/>
          <p:nvPr/>
        </p:nvSpPr>
        <p:spPr>
          <a:xfrm>
            <a:off x="8108932" y="195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Keep going</a:t>
            </a:r>
          </a:p>
        </p:txBody>
      </p:sp>
      <p:sp>
        <p:nvSpPr>
          <p:cNvPr id="75" name="CardBody"/>
          <p:cNvSpPr/>
          <p:nvPr/>
        </p:nvSpPr>
        <p:spPr>
          <a:xfrm>
            <a:off x="8108932"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Take your proposal to ethics</a:t>
            </a:r>
          </a:p>
          <a:p>
            <a:pPr marL="0" indent="0" algn="l">
              <a:lnSpc>
                <a:spcPct val="104000"/>
              </a:lnSpc>
              <a:spcBef>
                <a:spcPts val="400"/>
              </a:spcBef>
              <a:buNone/>
            </a:pPr>
            <a:r>
              <a:rPr lang="en-US" sz="1750" dirty="0">
                <a:solidFill>
                  <a:srgbClr val="000000"/>
                </a:solidFill>
                <a:latin typeface="Century Gothic"/>
                <a:cs typeface="Century Gothic"/>
              </a:rPr>
              <a:t>Free R course: run analyses yourself</a:t>
            </a:r>
          </a:p>
          <a:p>
            <a:pPr marL="0" indent="0" algn="l">
              <a:lnSpc>
                <a:spcPct val="104000"/>
              </a:lnSpc>
              <a:spcBef>
                <a:spcPts val="400"/>
              </a:spcBef>
              <a:buNone/>
            </a:pPr>
            <a:r>
              <a:rPr lang="en-US" sz="1750" dirty="0">
                <a:solidFill>
                  <a:srgbClr val="000000"/>
                </a:solidFill>
                <a:latin typeface="Century Gothic"/>
                <a:cs typeface="Century Gothic"/>
              </a:rPr>
              <a:t>Optional advanced modules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Thank you!</a:t>
            </a:r>
          </a:p>
          <a:p>
            <a:pPr marL="0" indent="0" algn="ctr">
              <a:spcBef>
                <a:spcPts val="1200"/>
              </a:spcBef>
              <a:buNone/>
            </a:pPr>
            <a:r>
              <a:rPr lang="en-US" sz="1900" i="1" dirty="0">
                <a:solidFill>
                  <a:srgbClr val="595959"/>
                </a:solidFill>
                <a:latin typeface="Century Gothic"/>
                <a:cs typeface="Century Gothic"/>
              </a:rPr>
              <a:t>Good questions. Sound designs. Honest analysis. Clear writing.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