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8 (19:30-22:30, break 20:50-21:05). The last session.</a:t>
            </a:r>
          </a:p>
          <a:p>
            <a:r>
              <a:rPr lang="en-US" sz="1400" b="0" dirty="0"/>
              <a:t>Today: the optional parts and the title, improving the Results drafts, publishing, reviewing, and about five proposal presentations. The closing (22:15) has its own slides.</a:t>
            </a:r>
          </a:p>
          <a:p>
            <a:r>
              <a:rPr lang="en-US" sz="1400" b="0" dirty="0"/>
              <a:t>Before: email the exercise sheet, the original papers and the class Q1 Results from Session 7. Collect and open the presenters'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(19:30-19:35). Question 1 was the exit question: read two or three answers. Questions 2 and 3 are quick polls.</a:t>
            </a:r>
          </a:p>
          <a:p>
            <a:r>
              <a:rPr lang="en-US" sz="1400" b="0" dirty="0"/>
              <a:t>Question 3 leads into 8.1: the Discussion is where interpretation lives.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8.1 (19:35-20:00). About 2 minutes per slide.</a:t>
            </a:r>
          </a:p>
          <a:p>
            <a:r>
              <a:rPr lang="en-US" sz="1400" b="0" dirty="0"/>
              <a:t>The Introduction, Discussion and Abstract are optional for the manuscript. The title is required. Slow down on the Discussion example.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Introduction is a funnel: known, not known, aim. The aim matches the primary outcome.</a:t>
            </a:r>
          </a:p>
          <a:p>
            <a:r>
              <a:rPr lang="en-US" sz="1400" b="0" dirty="0"/>
              <a:t>Paper 1 does this in under 500 words. Paper 2 cites both sides of a conflict in paragraph 2.</a:t>
            </a:r>
          </a:p>
          <a:p>
            <a:r>
              <a:rPr lang="en-US" sz="1400" b="0" dirty="0"/>
              <a:t>Ask: in one sentence, what is not known about your question? That is paragraph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Worked example for Q1. Model sentences (adapt, do not copy):</a:t>
            </a:r>
          </a:p>
          <a:p>
            <a:r>
              <a:rPr lang="en-US" sz="1400" b="0" dirty="0"/>
              <a:t>P2: 'Because sicker patients receive more fluid, it remains uncertain whether this association persists after adjustment for severity.'</a:t>
            </a:r>
          </a:p>
          <a:p>
            <a:r>
              <a:rPr lang="en-US" sz="1400" b="0" dirty="0"/>
              <a:t>P3: 'We therefore examined whether a positive fluid balance by day 3 was associated with 28-day mortality.'</a:t>
            </a:r>
          </a:p>
          <a:p>
            <a:r>
              <a:rPr lang="en-US" sz="1400" b="0" dirty="0"/>
              <a:t>The gap is the confounding by indication from Session 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Six moves in order: answer, compare, explain, limitations with their direction, implications, conclusion.</a:t>
            </a:r>
          </a:p>
          <a:p>
            <a:r>
              <a:rPr lang="en-US" sz="1400" b="0" dirty="0"/>
              <a:t>Paper 1 answers in its first sentence. Paper 2 misses survivor bias in its limitations.</a:t>
            </a:r>
          </a:p>
          <a:p>
            <a:r>
              <a:rPr lang="en-US" sz="1400" b="0" dirty="0"/>
              <a:t>Poll: which move do first-time writers skip? Expected: the direction of each limitation.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Six moves, one sentence each, numbers from results pack Q1 (simulated).</a:t>
            </a:r>
          </a:p>
          <a:p>
            <a:r>
              <a:rPr lang="en-US" sz="1400" b="0" dirty="0"/>
              <a:t>The heart-failure interaction (OR 4.39 vs 1.29) is a hypothesis, not a finding.</a:t>
            </a:r>
          </a:p>
          <a:p>
            <a:r>
              <a:rPr lang="en-US" sz="1400" b="0" dirty="0"/>
              <a:t>The conclusion uses the same verb as the aim and the title: 'associated with'.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Crude 2.49, adjusted 1.62, imputed 1.70. The drop is the Session 4 lesson made visible.</a:t>
            </a:r>
          </a:p>
          <a:p>
            <a:r>
              <a:rPr lang="en-US" sz="1400" b="0" dirty="0"/>
              <a:t>The adjusted CI starts at 1.02: 'a modest association remained'.</a:t>
            </a:r>
          </a:p>
          <a:p>
            <a:r>
              <a:rPr lang="en-US" sz="1400" b="0" dirty="0"/>
              <a:t>Ask: what if the adjusted CI had crossed 1? Expected: 'no clear evidence of an association after adjustment', not 'no effect'.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strength of a verb is a claim. Read the ladder from the bottom.</a:t>
            </a:r>
          </a:p>
          <a:p>
            <a:r>
              <a:rPr lang="en-US" sz="1400" b="0" dirty="0"/>
              <a:t>Never: 'trend' for p = 0.42 (Paper 1), 'impact' in a cohort (Paper 2), 'first' or 'novel' unchecked.</a:t>
            </a:r>
          </a:p>
          <a:p>
            <a:r>
              <a:rPr lang="en-US" sz="1400" b="0" dirty="0"/>
              <a:t>These words matter in the Results section too.</a:t>
            </a:r>
          </a:p>
          <a:p>
            <a:r>
              <a:rPr lang="en-US" sz="1400" b="0" dirty="0"/>
              <a:t>Ask: rewrite 'positive fluid balance increases mortality' for Paper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 minutes). One poll per sentence: 'fine' or 'fix'. Call on one person for the fix.</a:t>
            </a:r>
          </a:p>
          <a:p>
            <a:r>
              <a:rPr lang="en-US" sz="1400" b="0" dirty="0"/>
              <a:t>Sentence 3: no 'trend', give the estimate and say the CI reaches 1. Sentence 4: 'predicts' is fine for prediction.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Structured abstract, 250-300 words, must stand alone.</a:t>
            </a:r>
          </a:p>
          <a:p>
            <a:r>
              <a:rPr lang="en-US" sz="1400" b="0" dirty="0"/>
              <a:t>Paper 2 gives every result as HR with CI. Paper 1 states its negative result plainly.</a:t>
            </a:r>
          </a:p>
          <a:p>
            <a:r>
              <a:rPr lang="en-US" sz="1400" b="0" dirty="0"/>
              <a:t>Write it last and check every number matches the text and tables.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(simulated). The title is required for everyone. The abstract is optional.</a:t>
            </a:r>
          </a:p>
          <a:p>
            <a:r>
              <a:rPr lang="en-US" sz="1400" b="0" dirty="0"/>
              <a:t>The Methods line must say the data are simulated. Conclusions: 'modestly associated', matching a CI of 1.02 to 2.59.</a:t>
            </a:r>
          </a:p>
          <a:p>
            <a:r>
              <a:rPr lang="en-US" sz="1400" b="0" dirty="0"/>
              <a:t>Ask: which sentences change if the CI had been 0.95 to 2.40? Expected: Results and Conclusions.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Build the title from the PICO: design, exposure, population, outcome, 10-16 words. No 'impact', 'novel', 'first'.</a:t>
            </a:r>
          </a:p>
          <a:p>
            <a:r>
              <a:rPr lang="en-US" sz="1400" b="0" dirty="0"/>
              <a:t>Paper 2's 'Impact' is causal wording for a cohort.</a:t>
            </a:r>
          </a:p>
          <a:p>
            <a:r>
              <a:rPr lang="en-US" sz="1400" b="0" dirty="0"/>
              <a:t>Keywords: 3-6 MeSH terms not already in the title.</a:t>
            </a:r>
          </a:p>
          <a:p>
            <a:r>
              <a:rPr lang="en-US" sz="1400" b="0" dirty="0"/>
              <a:t>Everyone writes their own working title in the workshop that follows.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References: use a reference manager and check every citation. Never cite a reference an AI suggested without reading it.</a:t>
            </a:r>
          </a:p>
          <a:p>
            <a:r>
              <a:rPr lang="en-US" sz="1400" b="0" dirty="0"/>
              <a:t>Checklist: fill it in while you write.</a:t>
            </a:r>
          </a:p>
          <a:p>
            <a:r>
              <a:rPr lang="en-US" sz="1400" b="0" dirty="0"/>
              <a:t>Final read: every number in the text against the tables. Most errors in both papers needed only a careful co-author.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Manuscript workshop 2 (20:00-20:30).</a:t>
            </a:r>
          </a:p>
          <a:p>
            <a:r>
              <a:rPr lang="en-US" sz="1400" b="0" dirty="0"/>
              <a:t>Part 1: improve last week's class Q1 Results live, using the reviewer checklist. Part 2: each participant checks their own draft and writes the working title.</a:t>
            </a:r>
          </a:p>
          <a:p>
            <a:r>
              <a:rPr lang="en-US" sz="1400" b="0" dirty="0"/>
              <a:t>Instructions: s8_exercises Part B. Model text: s8_solutions Part B.</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part 1 (20:00-20:22). Open last week's class draft and type into it. Call each phase.</a:t>
            </a:r>
          </a:p>
          <a:p>
            <a:r>
              <a:rPr lang="en-US" sz="1400" b="0" dirty="0"/>
              <a:t>Prompts: 'Does every percentage have a denominator?' 'Can Table 1 be read without the text?' 'Is any sentence explaining rather than reporting?'</a:t>
            </a:r>
          </a:p>
          <a:p>
            <a:r>
              <a:rPr lang="en-US" sz="1400" b="0" dirty="0"/>
              <a:t>In the last 3 minutes, show where an Introduction and Discussion would sit and what they would say.</a:t>
            </a:r>
          </a:p>
          <a:p>
            <a:r>
              <a:rPr lang="en-US" sz="1400" b="0" dirty="0"/>
              <a:t>Send the improved draft as a PDF after the session.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part 2 (20:22-20:30). Individual.</a:t>
            </a:r>
          </a:p>
          <a:p>
            <a:r>
              <a:rPr lang="en-US" sz="1400" b="0" dirty="0"/>
              <a:t>Post in the chat: Q2, AKI may also cause fluid accumulation. Q3, ventilator-free days count death as zero. Q4, give both complete-case and imputed estimates. Q5, survivors only.</a:t>
            </a:r>
          </a:p>
          <a:p>
            <a:r>
              <a:rPr lang="en-US" sz="1400" b="0" dirty="0"/>
              <a:t>Remind: the draft goes by email to the reviewer and the course lead (myluong1710@gmail.com) by 23:59.</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8.2 (20:30-20:50). About 2 minutes per slide, a 3-minute demo and a 2-minute check.</a:t>
            </a:r>
          </a:p>
          <a:p>
            <a:r>
              <a:rPr lang="en-US" sz="1400" b="0" dirty="0"/>
              <a:t>Preprints, licences, acceptance and rejection are in the extra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One reporting guideline per design, all free on the EQUATOR Network. Many journals require the checklist with page numbers.</a:t>
            </a:r>
          </a:p>
          <a:p>
            <a:r>
              <a:rPr lang="en-US" sz="1400" b="0" dirty="0"/>
              <a:t>Neither paper names its guideline.</a:t>
            </a:r>
          </a:p>
          <a:p>
            <a:r>
              <a:rPr lang="en-US" sz="1400" b="0" dirty="0"/>
              <a:t>Poll: which guideline fits your proposal? Expected: mostly STROBE.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Choose the journal first: its Guide for Authors sets the rules.</a:t>
            </a:r>
          </a:p>
          <a:p>
            <a:r>
              <a:rPr lang="en-US" sz="1400" b="0" dirty="0"/>
              <a:t>Trust: indexed in MEDLINE, DOAJ, Scopus or Web of Science. Cost: the article fee and waivers.</a:t>
            </a:r>
          </a:p>
          <a:p>
            <a:r>
              <a:rPr lang="en-US" sz="1400" b="0" dirty="0"/>
              <a:t>Paper 1 took 7 weeks to acceptance, Paper 2 7 months.</a:t>
            </a:r>
          </a:p>
          <a:p>
            <a:r>
              <a:rPr lang="en-US" sz="1400" b="0" dirty="0"/>
              <a:t>Ask: name one journal your unit reads.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Predatory journals take fees without real peer review or indexing.</a:t>
            </a:r>
          </a:p>
          <a:p>
            <a:r>
              <a:rPr lang="en-US" sz="1400" b="0" dirty="0"/>
              <a:t>Walk the five red flags on the invented e-mail. Checks: Think.Check.Submit, DOAJ, the NLM Catalog, the hospital librarian.</a:t>
            </a:r>
          </a:p>
          <a:p>
            <a:r>
              <a:rPr lang="en-US" sz="1400" b="0" dirty="0"/>
              <a:t>Poll: did you get an e-mail like this last month?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Demo (20:36-20:39). Script and offline fallback: s8_demo.md.</a:t>
            </a:r>
          </a:p>
          <a:p>
            <a:r>
              <a:rPr lang="en-US" sz="1400" b="0" dirty="0"/>
              <a:t>EQUATOR: CONSORT, then STROBE. DOAJ, then the NLM Catalog ('currently indexed in MEDLINE'). End on Think.Check.Submit. Paste the four addresses in the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Journals check the package before any scientific review. Missing items send the paper back.</a:t>
            </a:r>
          </a:p>
          <a:p>
            <a:r>
              <a:rPr lang="en-US" sz="1400" b="0" dirty="0"/>
              <a:t>ORCID iD: free, register at orcid.org.</a:t>
            </a:r>
          </a:p>
          <a:p>
            <a:r>
              <a:rPr lang="en-US" sz="1400" b="0" dirty="0"/>
              <a:t>Paper 1 has a complete declarations block. Template: Cover_Letter_Template.</a:t>
            </a:r>
          </a:p>
          <a:p>
            <a:r>
              <a:rPr lang="en-US" sz="1400" b="0" dirty="0"/>
              <a:t>Ask: who already has an ORCID iD?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Submit, editor screen (desk rejection is common), 2 or 3 reviewers, decision, revision, acceptance.</a:t>
            </a:r>
          </a:p>
          <a:p>
            <a:r>
              <a:rPr lang="en-US" sz="1400" b="0" dirty="0"/>
              <a:t>One journal at a time. After rejection, improve the paper and submit elsewhere.</a:t>
            </a:r>
          </a:p>
          <a:p>
            <a:r>
              <a:rPr lang="en-US" sz="1400" b="0" dirty="0"/>
              <a:t>Ask: a reviewer is wrong. What do you do? Expected: thank, explain with evidence, clarify the text.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response letter is a table: comment, response, and where the paper changed.</a:t>
            </a:r>
          </a:p>
          <a:p>
            <a:r>
              <a:rPr lang="en-US" sz="1400" b="0" dirty="0"/>
              <a:t>The three rows: accept, clarify, and a polite rebuttal for data never collected.</a:t>
            </a:r>
          </a:p>
          <a:p>
            <a:r>
              <a:rPr lang="en-US" sz="1400" b="0" dirty="0"/>
              <a:t>Common mistakes: 'done' with no detail, changes without a location.</a:t>
            </a:r>
          </a:p>
          <a:p>
            <a:r>
              <a:rPr lang="en-US" sz="1400" b="0" dirty="0"/>
              <a:t>Participants use Response_to_Reviewers_Template after their peer review.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(20:48-20:50). One true/false poll each.</a:t>
            </a:r>
          </a:p>
          <a:p>
            <a:r>
              <a:rPr lang="en-US" sz="1400" b="0" dirty="0"/>
              <a:t>Statement 1 is 'often true'. Statement 3: a preprint is posted before peer review.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(20:50-21:05). Say: we restart at 21:05 with 8.3, then presentations and closing. Open Paper 1, Paper 2 and Part D of the exercise sheet.</a:t>
            </a:r>
          </a:p>
          <a:p>
            <a:r>
              <a:rPr lang="en-US" sz="1400" b="0" dirty="0"/>
              <a:t>Check you can share each presenter's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8.3 (21:05-21:30). Guide with model answers: appraisal_instructor_guide.md.</a:t>
            </a:r>
          </a:p>
          <a:p>
            <a:r>
              <a:rPr lang="en-US" sz="1400" b="0" dirty="0"/>
              <a:t>3 minutes set-up, 15 minutes appraisal with polls, 7 minutes on what each design may claim.</a:t>
            </a:r>
          </a:p>
          <a:p>
            <a:r>
              <a:rPr lang="en-US" sz="1400" b="0" dirty="0"/>
              <a:t>The reviewing skills return in the peer review of the Results sections, which uses the Results checklist in Peer_Review_Instructions.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Set-up (1 minute): same clinical question, two designs, the same 10 questions.</a:t>
            </a:r>
          </a:p>
          <a:p>
            <a:r>
              <a:rPr lang="en-US" sz="1400" b="0" dirty="0"/>
              <a:t>Each participant fills in their own answer grid (Part D): Yes, No or Can't tell, plus the page.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each question once. Do not give answers.</a:t>
            </a:r>
          </a:p>
          <a:p>
            <a:r>
              <a:rPr lang="en-US" sz="1400" b="0" dirty="0"/>
              <a:t>Q3 is external validity: would your patients be in this study? Q4: look at Table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Q6 and Q7 use Session 6. Q8 is the heart of today: are the words as strong as the design allows? Q9: one limitation the authors missed. Q10: a reason is needed.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Appraisal (21:08-21:23), about 1.5 minutes per question: read, show the page, poll, one person gives the evidence.</a:t>
            </a:r>
          </a:p>
          <a:p>
            <a:r>
              <a:rPr lang="en-US" sz="1400" b="0" dirty="0"/>
              <a:t>Key prompts: Paper 1, who was not blinded and who prescribed the fluid? Paper 2, who is missing when patients must stay 3 days?</a:t>
            </a:r>
          </a:p>
          <a:p>
            <a:r>
              <a:rPr lang="en-US" sz="1400" b="0" dirty="0"/>
              <a:t>Questions 1-3, 6 and 10 are homework.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Plenary (21:23-21:30).</a:t>
            </a:r>
          </a:p>
          <a:p>
            <a:r>
              <a:rPr lang="en-US" sz="1400" b="0" dirty="0"/>
              <a:t>Paper 1: randomised, may say 'did not reduce', but 48 patients: no evidence of an effect, not evidence of none, and no 'trend'.</a:t>
            </a:r>
          </a:p>
          <a:p>
            <a:r>
              <a:rPr lang="en-US" sz="1400" b="0" dirty="0"/>
              <a:t>Paper 2: doctors decided the fluid, so 'is associated with', not 'impact'.</a:t>
            </a:r>
          </a:p>
          <a:p>
            <a:r>
              <a:rPr lang="en-US" sz="1400" b="0" dirty="0"/>
              <a:t>Poll: which paper is stronger for causation, which for real-world risk?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Reveal this table only after the class has answered.</a:t>
            </a:r>
          </a:p>
          <a:p>
            <a:r>
              <a:rPr lang="en-US" sz="1400" b="0" dirty="0"/>
              <a:t>Four messages: design sets the verb, a wide CI means 'we don't know yet', published is not the same as correct, name the reporting guideline.</a:t>
            </a:r>
          </a:p>
          <a:p>
            <a:r>
              <a:rPr lang="en-US" sz="1400" b="0" dirty="0"/>
              <a:t>Transition: 'Now some of your own proposals.'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Presentations (21:30-22:15): about five volunteers, 6 minutes plus 2 minutes feedback, then a 5-minute closing round.</a:t>
            </a:r>
          </a:p>
          <a:p>
            <a:r>
              <a:rPr lang="en-US" sz="1400" b="0" dirty="0"/>
              <a:t>Everyone submits slides and the written proposal by email to the course lead (myluong1710@gmail.com) before 19:30 today.</a:t>
            </a:r>
          </a:p>
          <a:p>
            <a:r>
              <a:rPr lang="en-US" sz="1400" b="0" dirty="0"/>
              <a:t>The co-instructor posts '2 min', '1 min' and 'Time' in the chat. Stop the talk at 6:30.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written proposal is scored for everyone after the course. Criteria 12-16 score the presentation, for presenters only. Presenting never lowers a score.</a:t>
            </a:r>
          </a:p>
          <a:p>
            <a:r>
              <a:rPr lang="en-US" sz="1400" b="0" dirty="0"/>
              <a:t>Feedback in 2 minutes: two people give two stars and a wish, then the instructor, then the presenter says thank you.</a:t>
            </a:r>
          </a:p>
          <a:p>
            <a:r>
              <a:rPr lang="en-US" sz="1400" b="0" dirty="0"/>
              <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Share each presenter's slides. Keep this slide up between talks.</a:t>
            </a:r>
          </a:p>
          <a:p>
            <a:r>
              <a:rPr lang="en-US" sz="1400" b="0" dirty="0"/>
              <a:t>Feedback: a genuine strength, the most important improvement, one question if time allows. Check slide 6: journal, guideline, a calibrated title, author roles.</a:t>
            </a:r>
          </a:p>
          <a:p>
            <a:r>
              <a:rPr lang="en-US" sz="1400" b="0" dirty="0"/>
              <a:t>If late, shorten the closing round, never the last talks. At 22:15 move to the closing.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slides: optional, for a fast class 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key words of Session 8, for self-study and the post-course quiz.</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writing drill (homework). Worksheet: s8_exercises Part A.</a:t>
            </a:r>
          </a:p>
          <a:p>
            <a:r>
              <a:rPr lang="en-US" sz="1400" b="0" dirty="0"/>
              <a:t>Model rewrite of Paper 1's 'trend': 'The point estimate favoured the restrictive strategy, but the 95% CI was wide (-15.2 to 41.6 ml/kg) and included no effect.'</a:t>
            </a:r>
          </a:p>
          <a:p>
            <a:r>
              <a:rPr lang="en-US" sz="1400" b="0" dirty="0"/>
              <a:t>Paper 2's title: 'association', not 'impact'.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A preprint is posted before peer review: say so. Gold open access usually has a fee, green means a repository copy. Paper 2 is CC BY, Paper 1 CC BY-NC-ND.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Read proofs as carefully as the data: Paper 1 prints its protocol paragraph twice. Share as the licence allows. Correct errors openly.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Rejection is normal. Desk rejection: re-target. After review: fix what the reviewers found before resubmitting. Never submit to two journals at once.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A conference abstract has real numbers and CIs, never 'results will be presented'. A poster is a billboard: one message, one figure, readable from 2 metres. Template: Conference_Abstract_Template.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one-slide summary of Sessions 7-8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Closing 22:15-22:30. Keep it brisk. Thank the presenters and everyone who submitted.</a:t>
            </a:r>
          </a:p>
          <a:p>
            <a:r>
              <a:rPr lang="en-US" sz="1400" b="0" dirty="0"/>
              <a:t>Paste the links to the post-course quiz and the evaluation form in the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Same Google Form as Session 1. The full name matches the two attempts. Participants see no score.</a:t>
            </a:r>
          </a:p>
          <a:p>
            <a:r>
              <a:rPr lang="en-US" sz="1400" b="0" dirty="0"/>
              <a:t>Timing: 8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Ask two or three people: what is your next step with your proposal?</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Anonymous form, link in the chat. The pace question matters most.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Each draft is reviewed once. Reviewers were assigned at random and announced in Session 7.</a:t>
            </a:r>
          </a:p>
          <a:p>
            <a:r>
              <a:rPr lang="en-US" sz="1400" b="0" dirty="0"/>
              <a:t>Submissions go by email to myluong1710@gmail.com. Review report due 2 weeks after Session 8. Revised Results section and response to reviewers due 4 weeks after the review.</a:t>
            </a:r>
          </a:p>
          <a:p>
            <a:r>
              <a:rPr lang="en-US" sz="1400" b="0" dirty="0"/>
              <a:t>Files: Peer_Review_Instructions and Response_to_Reviewers_Template.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Presenting is not required.</a:t>
            </a:r>
          </a:p>
          <a:p>
            <a:r>
              <a:rPr lang="en-US" sz="1400" b="0" dirty="0"/>
              <a:t>Post the trainers' contact details in the chat.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Thank the leadership, organisers and participants. If everyone agrees, take a screenshot with cameras 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on screen while people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3.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 Id="rId4" Type="http://schemas.openxmlformats.org/officeDocument/2006/relationships/image" Target="../media/image4.pn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 Id="rId4" Type="http://schemas.openxmlformats.org/officeDocument/2006/relationships/image" Target="../media/image5.pn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Session 8 · Publish: polish your Results, get it out, present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8 · Saturday, 19:30-22:30 (online)</a:t>
            </a:r>
          </a:p>
          <a:p>
            <a:pPr>
              <a:buNone/>
            </a:pPr>
            <a:endParaRPr sz="800"/>
          </a:p>
          <a:p>
            <a:pPr marL="274320" indent="-274320" algn="l">
              <a:spcBef>
                <a:spcPts val="440"/>
              </a:spcBef>
              <a:buFont typeface="Arial"/>
              <a:buChar char="•"/>
            </a:pPr>
            <a:r>
              <a:rPr lang="en-US" sz="1900" dirty="0">
                <a:solidFill>
                  <a:srgbClr val="000000"/>
                </a:solidFill>
                <a:latin typeface="Arial"/>
                <a:cs typeface="Arial"/>
              </a:rPr>
              <a:t>19:30  Recap: Session 7</a:t>
            </a:r>
          </a:p>
          <a:p>
            <a:pPr marL="274320" indent="-274320" algn="l">
              <a:spcBef>
                <a:spcPts val="440"/>
              </a:spcBef>
              <a:buFont typeface="Arial"/>
              <a:buChar char="•"/>
            </a:pPr>
            <a:r>
              <a:rPr lang="en-US" sz="1900" dirty="0">
                <a:solidFill>
                  <a:srgbClr val="000000"/>
                </a:solidFill>
                <a:latin typeface="Arial"/>
                <a:cs typeface="Arial"/>
              </a:rPr>
              <a:t>19:35  8.1  Writing the paper (II): the optional parts and the title</a:t>
            </a:r>
          </a:p>
          <a:p>
            <a:pPr marL="274320" indent="-274320" algn="l">
              <a:spcBef>
                <a:spcPts val="440"/>
              </a:spcBef>
              <a:buFont typeface="Arial"/>
              <a:buChar char="•"/>
            </a:pPr>
            <a:r>
              <a:rPr lang="en-US" sz="1900" dirty="0">
                <a:solidFill>
                  <a:srgbClr val="000000"/>
                </a:solidFill>
                <a:latin typeface="Arial"/>
                <a:cs typeface="Arial"/>
              </a:rPr>
              <a:t>20:00  Manuscript workshop 2: improve your Results section</a:t>
            </a:r>
          </a:p>
          <a:p>
            <a:pPr marL="274320" indent="-274320" algn="l">
              <a:spcBef>
                <a:spcPts val="440"/>
              </a:spcBef>
              <a:buFont typeface="Arial"/>
              <a:buChar char="•"/>
            </a:pPr>
            <a:r>
              <a:rPr lang="en-US" sz="1900" dirty="0">
                <a:solidFill>
                  <a:srgbClr val="000000"/>
                </a:solidFill>
                <a:latin typeface="Arial"/>
                <a:cs typeface="Arial"/>
              </a:rPr>
              <a:t>20:30  8.2  Getting published: from checklist to reviewers</a:t>
            </a:r>
          </a:p>
          <a:p>
            <a:pPr marL="274320" indent="-274320" algn="l">
              <a:spcBef>
                <a:spcPts val="440"/>
              </a:spcBef>
              <a:buFont typeface="Arial"/>
              <a:buChar char="•"/>
            </a:pPr>
            <a:r>
              <a:rPr lang="en-US" sz="1900" dirty="0">
                <a:solidFill>
                  <a:srgbClr val="000000"/>
                </a:solidFill>
                <a:latin typeface="Arial"/>
                <a:cs typeface="Arial"/>
              </a:rPr>
              <a:t>21:05  8.3  Be the reviewer: Papers 1 and 2, as a whole class</a:t>
            </a:r>
          </a:p>
          <a:p>
            <a:pPr marL="274320" indent="-274320" algn="l">
              <a:spcBef>
                <a:spcPts val="440"/>
              </a:spcBef>
              <a:buFont typeface="Arial"/>
              <a:buChar char="•"/>
            </a:pPr>
            <a:r>
              <a:rPr lang="en-US" sz="1900" dirty="0">
                <a:solidFill>
                  <a:srgbClr val="000000"/>
                </a:solidFill>
                <a:latin typeface="Arial"/>
                <a:cs typeface="Arial"/>
              </a:rPr>
              <a:t>21:30  Proposal presentations (about 5 volunteers), 22:15 closing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three questions from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Who consents for a sedated patient in septic shock?</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Which STROBE item asks for crude and adjusted estimates?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Where does 'this may be because sicker patients got more fluid' belong?</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The legal representative (or deferred consent, if the committee approved it)</a:t>
            </a:r>
          </a:p>
          <a:p>
            <a:pPr marL="0" indent="0" algn="ctr">
              <a:lnSpc>
                <a:spcPct val="104000"/>
              </a:lnSpc>
              <a:spcBef>
                <a:spcPts val="300"/>
              </a:spcBef>
              <a:buNone/>
            </a:pPr>
            <a:r>
              <a:rPr lang="en-US" sz="1500" dirty="0">
                <a:solidFill>
                  <a:srgbClr val="000000"/>
                </a:solidFill>
                <a:latin typeface="Arial"/>
                <a:cs typeface="Arial"/>
              </a:rPr>
              <a:t>Item 16 (main results)</a:t>
            </a:r>
          </a:p>
          <a:p>
            <a:pPr marL="0" indent="0" algn="ctr">
              <a:lnSpc>
                <a:spcPct val="104000"/>
              </a:lnSpc>
              <a:spcBef>
                <a:spcPts val="300"/>
              </a:spcBef>
              <a:buNone/>
            </a:pPr>
            <a:r>
              <a:rPr lang="en-US" sz="1500" dirty="0">
                <a:solidFill>
                  <a:srgbClr val="000000"/>
                </a:solidFill>
                <a:latin typeface="Arial"/>
                <a:cs typeface="Arial"/>
              </a:rPr>
              <a:t>Discussion, not Results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back in writing mode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8.1  |  25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Writing the paper (II): the optional parts</a:t>
            </a:r>
          </a:p>
          <a:p>
            <a:pPr marL="0" indent="0" algn="ctr">
              <a:spcBef>
                <a:spcPts val="1200"/>
              </a:spcBef>
              <a:buNone/>
            </a:pPr>
            <a:r>
              <a:rPr lang="en-US" sz="1900" i="1" dirty="0">
                <a:solidFill>
                  <a:srgbClr val="595959"/>
                </a:solidFill>
                <a:latin typeface="Arial"/>
                <a:cs typeface="Arial"/>
              </a:rPr>
              <a:t>Introduction, Discussion, Abstract, and the title you need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Introduction: a funnel in three paragraphs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Known, unknown, aim. The aim matches the primary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the Introduction funnel for FLUID-ICU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421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1  Known</a:t>
            </a:r>
          </a:p>
        </p:txBody>
      </p:sp>
      <p:sp>
        <p:nvSpPr>
          <p:cNvPr id="71" name="CardBody"/>
          <p:cNvSpPr/>
          <p:nvPr/>
        </p:nvSpPr>
        <p:spPr>
          <a:xfrm>
            <a:off x="457200"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Fluids save lives early in sepsis</a:t>
            </a:r>
          </a:p>
          <a:p>
            <a:pPr marL="0" indent="0" algn="ctr">
              <a:lnSpc>
                <a:spcPct val="104000"/>
              </a:lnSpc>
              <a:spcBef>
                <a:spcPts val="400"/>
              </a:spcBef>
              <a:buNone/>
            </a:pPr>
            <a:r>
              <a:rPr lang="en-US" sz="1750" dirty="0">
                <a:solidFill>
                  <a:srgbClr val="000000"/>
                </a:solidFill>
                <a:latin typeface="Arial"/>
                <a:cs typeface="Arial"/>
              </a:rPr>
              <a:t>A positive balance is linked to death (Paper 2 and other cohorts)</a:t>
            </a:r>
          </a:p>
        </p:txBody>
      </p:sp>
      <p:sp>
        <p:nvSpPr>
          <p:cNvPr id="72" name="CardHead"/>
          <p:cNvSpPr/>
          <p:nvPr/>
        </p:nvSpPr>
        <p:spPr>
          <a:xfrm>
            <a:off x="4283066" y="17421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2  Not known</a:t>
            </a:r>
          </a:p>
        </p:txBody>
      </p:sp>
      <p:sp>
        <p:nvSpPr>
          <p:cNvPr id="73" name="CardBody"/>
          <p:cNvSpPr/>
          <p:nvPr/>
        </p:nvSpPr>
        <p:spPr>
          <a:xfrm>
            <a:off x="4283066"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Sicker patients get more fluid</a:t>
            </a:r>
          </a:p>
          <a:p>
            <a:pPr marL="0" indent="0" algn="ctr">
              <a:lnSpc>
                <a:spcPct val="104000"/>
              </a:lnSpc>
              <a:spcBef>
                <a:spcPts val="400"/>
              </a:spcBef>
              <a:buNone/>
            </a:pPr>
            <a:r>
              <a:rPr lang="en-US" sz="1750" dirty="0">
                <a:solidFill>
                  <a:srgbClr val="000000"/>
                </a:solidFill>
                <a:latin typeface="Arial"/>
                <a:cs typeface="Arial"/>
              </a:rPr>
              <a:t>Unclear whether the link remains after adjusting for severity</a:t>
            </a:r>
          </a:p>
        </p:txBody>
      </p:sp>
      <p:sp>
        <p:nvSpPr>
          <p:cNvPr id="74" name="CardHead"/>
          <p:cNvSpPr/>
          <p:nvPr/>
        </p:nvSpPr>
        <p:spPr>
          <a:xfrm>
            <a:off x="8108932" y="17421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  Aim</a:t>
            </a:r>
          </a:p>
        </p:txBody>
      </p:sp>
      <p:sp>
        <p:nvSpPr>
          <p:cNvPr id="75" name="CardBody"/>
          <p:cNvSpPr/>
          <p:nvPr/>
        </p:nvSpPr>
        <p:spPr>
          <a:xfrm>
            <a:off x="8108932"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We examined whether a positive balance by day 3 is associated with 28-day mortality, after adjustment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Three paragraphs, about 350 words. The aim uses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Discussion: six moves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Answer</a:t>
            </a:r>
          </a:p>
        </p:txBody>
      </p:sp>
      <p:sp>
        <p:nvSpPr>
          <p:cNvPr id="81" name="StepText"/>
          <p:cNvSpPr/>
          <p:nvPr/>
        </p:nvSpPr>
        <p:spPr>
          <a:xfrm>
            <a:off x="4972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First sentence answers the question</a:t>
            </a:r>
          </a:p>
          <a:p>
            <a:pPr marL="0" indent="0" algn="ctr">
              <a:lnSpc>
                <a:spcPct val="104000"/>
              </a:lnSpc>
              <a:spcBef>
                <a:spcPts val="200"/>
              </a:spcBef>
              <a:buNone/>
            </a:pPr>
            <a:r>
              <a:rPr lang="en-US" sz="1300" dirty="0">
                <a:solidFill>
                  <a:srgbClr val="000000"/>
                </a:solidFill>
                <a:latin typeface="Arial"/>
                <a:cs typeface="Arial"/>
              </a:rPr>
              <a:t>Paper 1, p.8</a:t>
            </a:r>
          </a:p>
        </p:txBody>
      </p:sp>
      <p:sp>
        <p:nvSpPr>
          <p:cNvPr id="82" name="Step"/>
          <p:cNvSpPr/>
          <p:nvPr/>
        </p:nvSpPr>
        <p:spPr>
          <a:xfrm>
            <a:off x="2326800" y="122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Compare</a:t>
            </a:r>
          </a:p>
        </p:txBody>
      </p:sp>
      <p:sp>
        <p:nvSpPr>
          <p:cNvPr id="83" name="StepText"/>
          <p:cNvSpPr/>
          <p:nvPr/>
        </p:nvSpPr>
        <p:spPr>
          <a:xfrm>
            <a:off x="23668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With other studies, and why they differ</a:t>
            </a:r>
          </a:p>
          <a:p>
            <a:pPr marL="0" indent="0" algn="ctr">
              <a:lnSpc>
                <a:spcPct val="104000"/>
              </a:lnSpc>
              <a:spcBef>
                <a:spcPts val="200"/>
              </a:spcBef>
              <a:buNone/>
            </a:pPr>
            <a:r>
              <a:rPr lang="en-US" sz="1300" dirty="0">
                <a:solidFill>
                  <a:srgbClr val="000000"/>
                </a:solidFill>
                <a:latin typeface="Arial"/>
                <a:cs typeface="Arial"/>
              </a:rPr>
              <a:t>Paper 1: vs CLASSIC, POINCARE-2</a:t>
            </a:r>
          </a:p>
        </p:txBody>
      </p:sp>
      <p:sp>
        <p:nvSpPr>
          <p:cNvPr id="84" name="Step"/>
          <p:cNvSpPr/>
          <p:nvPr/>
        </p:nvSpPr>
        <p:spPr>
          <a:xfrm>
            <a:off x="4196400" y="122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Explain</a:t>
            </a:r>
          </a:p>
        </p:txBody>
      </p:sp>
      <p:sp>
        <p:nvSpPr>
          <p:cNvPr id="85" name="StepText"/>
          <p:cNvSpPr/>
          <p:nvPr/>
        </p:nvSpPr>
        <p:spPr>
          <a:xfrm>
            <a:off x="42364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Mechanism, briefly</a:t>
            </a:r>
          </a:p>
          <a:p>
            <a:pPr marL="0" indent="0" algn="ctr">
              <a:lnSpc>
                <a:spcPct val="104000"/>
              </a:lnSpc>
              <a:spcBef>
                <a:spcPts val="200"/>
              </a:spcBef>
              <a:buNone/>
            </a:pPr>
            <a:r>
              <a:rPr lang="en-US" sz="1300" dirty="0">
                <a:solidFill>
                  <a:srgbClr val="000000"/>
                </a:solidFill>
                <a:latin typeface="Arial"/>
                <a:cs typeface="Arial"/>
              </a:rPr>
              <a:t>Paper 2: four-phase fluid model</a:t>
            </a:r>
          </a:p>
        </p:txBody>
      </p:sp>
      <p:sp>
        <p:nvSpPr>
          <p:cNvPr id="86" name="Step"/>
          <p:cNvSpPr/>
          <p:nvPr/>
        </p:nvSpPr>
        <p:spPr>
          <a:xfrm>
            <a:off x="6066000" y="122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Limits</a:t>
            </a:r>
          </a:p>
        </p:txBody>
      </p:sp>
      <p:sp>
        <p:nvSpPr>
          <p:cNvPr id="87" name="StepText"/>
          <p:cNvSpPr/>
          <p:nvPr/>
        </p:nvSpPr>
        <p:spPr>
          <a:xfrm>
            <a:off x="61060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Specific: mechanism, direction, fix</a:t>
            </a:r>
          </a:p>
          <a:p>
            <a:pPr marL="0" indent="0" algn="ctr">
              <a:lnSpc>
                <a:spcPct val="104000"/>
              </a:lnSpc>
              <a:spcBef>
                <a:spcPts val="200"/>
              </a:spcBef>
              <a:buNone/>
            </a:pPr>
            <a:r>
              <a:rPr lang="en-US" sz="1300" dirty="0">
                <a:solidFill>
                  <a:srgbClr val="000000"/>
                </a:solidFill>
                <a:latin typeface="Arial"/>
                <a:cs typeface="Arial"/>
              </a:rPr>
              <a:t>Paper 1: control-group contamination</a:t>
            </a:r>
          </a:p>
        </p:txBody>
      </p:sp>
      <p:sp>
        <p:nvSpPr>
          <p:cNvPr id="88" name="Step"/>
          <p:cNvSpPr/>
          <p:nvPr/>
        </p:nvSpPr>
        <p:spPr>
          <a:xfrm>
            <a:off x="7935600" y="122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Implications</a:t>
            </a:r>
          </a:p>
        </p:txBody>
      </p:sp>
      <p:sp>
        <p:nvSpPr>
          <p:cNvPr id="89" name="StepText"/>
          <p:cNvSpPr/>
          <p:nvPr/>
        </p:nvSpPr>
        <p:spPr>
          <a:xfrm>
            <a:off x="79756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For practice and research, labelled</a:t>
            </a:r>
          </a:p>
          <a:p>
            <a:pPr marL="0" indent="0" algn="ctr">
              <a:lnSpc>
                <a:spcPct val="104000"/>
              </a:lnSpc>
              <a:spcBef>
                <a:spcPts val="200"/>
              </a:spcBef>
              <a:buNone/>
            </a:pPr>
            <a:r>
              <a:rPr lang="en-US" sz="1300" dirty="0">
                <a:solidFill>
                  <a:srgbClr val="000000"/>
                </a:solidFill>
                <a:latin typeface="Arial"/>
                <a:cs typeface="Arial"/>
              </a:rPr>
              <a:t>Paper 1: 'would probably be advantageous' is speculation</a:t>
            </a:r>
          </a:p>
        </p:txBody>
      </p:sp>
      <p:sp>
        <p:nvSpPr>
          <p:cNvPr id="90" name="Step"/>
          <p:cNvSpPr/>
          <p:nvPr/>
        </p:nvSpPr>
        <p:spPr>
          <a:xfrm>
            <a:off x="9805200" y="122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6 Conclusion</a:t>
            </a:r>
          </a:p>
        </p:txBody>
      </p:sp>
      <p:sp>
        <p:nvSpPr>
          <p:cNvPr id="91" name="StepText"/>
          <p:cNvSpPr/>
          <p:nvPr/>
        </p:nvSpPr>
        <p:spPr>
          <a:xfrm>
            <a:off x="98452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Same message as abstract and title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Answer first. Limitations with their direction. Conclusion = abstract =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the Discussion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Six moves, one sentence each (simulated data).</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1 Answer: A positive balance by day 3 was associated with higher 28-day mortality (adjusted OR 1.62, 95% CI 1.02 to 2.59).</a:t>
            </a:r>
          </a:p>
          <a:p>
            <a:pPr marL="274320" indent="-274320" algn="l">
              <a:lnSpc>
                <a:spcPct val="106000"/>
              </a:lnSpc>
              <a:spcBef>
                <a:spcPts val="560"/>
              </a:spcBef>
              <a:buFont typeface="Arial"/>
              <a:buChar char="•"/>
            </a:pPr>
            <a:r>
              <a:rPr lang="en-US" sz="1700" dirty="0">
                <a:solidFill>
                  <a:srgbClr val="000000"/>
                </a:solidFill>
                <a:latin typeface="Arial"/>
                <a:cs typeface="Arial"/>
              </a:rPr>
              <a:t>2 Compare: This agrees with Paper 2 (day-2 HR 2.13), although our adjusted estimate is smaller.</a:t>
            </a:r>
          </a:p>
          <a:p>
            <a:pPr marL="274320" indent="-274320" algn="l">
              <a:lnSpc>
                <a:spcPct val="106000"/>
              </a:lnSpc>
              <a:spcBef>
                <a:spcPts val="560"/>
              </a:spcBef>
              <a:buFont typeface="Arial"/>
              <a:buChar char="•"/>
            </a:pPr>
            <a:r>
              <a:rPr lang="en-US" sz="1700" dirty="0">
                <a:solidFill>
                  <a:srgbClr val="000000"/>
                </a:solidFill>
                <a:latin typeface="Arial"/>
                <a:cs typeface="Arial"/>
              </a:rPr>
              <a:t>3 Explain: Most of the crude association (OR 2.49) reflected confounding by indication: sicker patients received more fluid.</a:t>
            </a:r>
          </a:p>
          <a:p>
            <a:pPr marL="274320" indent="-274320" algn="l">
              <a:lnSpc>
                <a:spcPct val="106000"/>
              </a:lnSpc>
              <a:spcBef>
                <a:spcPts val="560"/>
              </a:spcBef>
              <a:buFont typeface="Arial"/>
              <a:buChar char="•"/>
            </a:pPr>
            <a:r>
              <a:rPr lang="en-US" sz="1700" dirty="0">
                <a:solidFill>
                  <a:srgbClr val="000000"/>
                </a:solidFill>
                <a:latin typeface="Arial"/>
                <a:cs typeface="Arial"/>
              </a:rPr>
              <a:t>4 Limitations: Residual confounding and reverse causation may exaggerate the association. The CI of the adjusted Cox HR reached 1.00.</a:t>
            </a:r>
          </a:p>
          <a:p>
            <a:pPr marL="274320" indent="-274320" algn="l">
              <a:lnSpc>
                <a:spcPct val="106000"/>
              </a:lnSpc>
              <a:spcBef>
                <a:spcPts val="560"/>
              </a:spcBef>
              <a:buFont typeface="Arial"/>
              <a:buChar char="•"/>
            </a:pPr>
            <a:r>
              <a:rPr lang="en-US" sz="1700" dirty="0">
                <a:solidFill>
                  <a:srgbClr val="000000"/>
                </a:solidFill>
                <a:latin typeface="Arial"/>
                <a:cs typeface="Arial"/>
              </a:rPr>
              <a:t>5 Implications: These data do not justify restricting fluid. A randomised trial (like Paper 1) is needed.</a:t>
            </a:r>
          </a:p>
          <a:p>
            <a:pPr marL="274320" indent="-274320" algn="l">
              <a:lnSpc>
                <a:spcPct val="106000"/>
              </a:lnSpc>
              <a:spcBef>
                <a:spcPts val="560"/>
              </a:spcBef>
              <a:buFont typeface="Arial"/>
              <a:buChar char="•"/>
            </a:pPr>
            <a:r>
              <a:rPr lang="en-US" sz="1700" dirty="0">
                <a:solidFill>
                  <a:srgbClr val="000000"/>
                </a:solidFill>
                <a:latin typeface="Arial"/>
                <a:cs typeface="Arial"/>
              </a:rPr>
              <a:t>6 Conclusion: 'associated with', the same verb as the aim, abstract and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the odds ratio shrank: explain it in the Discussion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FLUID-ICU Q1 (simulated)</a:t>
            </a:r>
          </a:p>
          <a:p>
            <a:pPr marL="274320" indent="-274320" algn="l">
              <a:spcBef>
                <a:spcPts val="440"/>
              </a:spcBef>
              <a:buFont typeface="Arial"/>
              <a:buChar char="•"/>
            </a:pPr>
            <a:r>
              <a:rPr lang="en-US" sz="1450" dirty="0">
                <a:solidFill>
                  <a:srgbClr val="000000"/>
                </a:solidFill>
                <a:latin typeface="Arial"/>
                <a:cs typeface="Arial"/>
              </a:rPr>
              <a:t>Crude OR 2.49 (1.70 to 3.70)</a:t>
            </a:r>
          </a:p>
          <a:p>
            <a:pPr marL="274320" indent="-274320" algn="l">
              <a:spcBef>
                <a:spcPts val="440"/>
              </a:spcBef>
              <a:buFont typeface="Arial"/>
              <a:buChar char="•"/>
            </a:pPr>
            <a:r>
              <a:rPr lang="en-US" sz="1450" dirty="0">
                <a:solidFill>
                  <a:srgbClr val="000000"/>
                </a:solidFill>
                <a:latin typeface="Arial"/>
                <a:cs typeface="Arial"/>
              </a:rPr>
              <a:t>Adjusted OR 1.62 (1.02 to 2.59)</a:t>
            </a:r>
          </a:p>
          <a:p>
            <a:pPr marL="274320" indent="-274320" algn="l">
              <a:spcBef>
                <a:spcPts val="440"/>
              </a:spcBef>
              <a:buFont typeface="Arial"/>
              <a:buChar char="•"/>
            </a:pPr>
            <a:r>
              <a:rPr lang="en-US" sz="1450" dirty="0">
                <a:solidFill>
                  <a:srgbClr val="000000"/>
                </a:solidFill>
                <a:latin typeface="Arial"/>
                <a:cs typeface="Arial"/>
              </a:rPr>
              <a:t>Imputed OR 1.70 (1.09 to 2.64)</a:t>
            </a:r>
          </a:p>
          <a:p>
            <a:pPr marL="274320" indent="-274320" algn="l">
              <a:spcBef>
                <a:spcPts val="440"/>
              </a:spcBef>
              <a:buFont typeface="Arial"/>
              <a:buChar char="•"/>
            </a:pPr>
            <a:r>
              <a:rPr lang="en-US" sz="1450" dirty="0">
                <a:solidFill>
                  <a:srgbClr val="000000"/>
                </a:solidFill>
                <a:latin typeface="Arial"/>
                <a:cs typeface="Arial"/>
              </a:rPr>
              <a:t>Gap = confounding by indication</a:t>
            </a:r>
          </a:p>
        </p:txBody>
      </p:sp>
      <p:pic>
        <p:nvPicPr>
          <p:cNvPr id="25" name="Figure"/>
          <p:cNvPicPr>
            <a:picLocks noChangeAspect="1"/>
          </p:cNvPicPr>
          <p:nvPr/>
        </p:nvPicPr>
        <p:blipFill>
          <a:blip r:embed="rId4"/>
          <a:stretch>
            <a:fillRect/>
          </a:stretch>
        </p:blipFill>
        <p:spPr>
          <a:xfrm>
            <a:off x="4307200" y="1150000"/>
            <a:ext cx="6773668"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Report both, explain the gap. Keep the verb at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Calibrated language: match the verb to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Stronger claim = needs a stronger design</a:t>
            </a:r>
          </a:p>
        </p:txBody>
      </p:sp>
      <p:graphicFrame>
        <p:nvGraphicFramePr>
          <p:cNvPr id="30" name="Table"/>
          <p:cNvGraphicFramePr/>
          <p:nvPr/>
        </p:nvGraphicFramePr>
        <p:xfrm>
          <a:off x="457200" y="1897563"/>
          <a:ext cx="11277600" cy="2314560"/>
        </p:xfrm>
        <a:graphic>
          <a:graphicData uri="http://schemas.openxmlformats.org/drawingml/2006/table">
            <a:tbl>
              <a:tblPr firstRow="1" bandRow="1">
                <a:tableStyleId>{5C22544A-7EE6-4342-B048-85BDC9FD1C3A}</a:tableStyleId>
              </a:tblPr>
              <a:tblGrid>
                <a:gridCol w="6265333"/>
                <a:gridCol w="5012267"/>
              </a:tblGrid>
              <a:tr h="385760">
                <a:tc>
                  <a:txBody>
                    <a:bodyPr/>
                    <a:lstStyle/>
                    <a:p>
                      <a:pPr algn="l"/>
                      <a:r>
                        <a:rPr lang="en-US" sz="1800" b="1" dirty="0">
                          <a:solidFill>
                            <a:srgbClr val="FFFFFF"/>
                          </a:solidFill>
                          <a:latin typeface="Arial"/>
                          <a:cs typeface="Arial"/>
                        </a:rPr>
                        <a:t>Verb (strongest at the top)</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Needs at least</a:t>
                      </a:r>
                    </a:p>
                  </a:txBody>
                  <a:tcPr marL="73152" marR="73152" marT="45720" marB="45720" anchor="ctr">
                    <a:solidFill>
                      <a:srgbClr val="0D7377"/>
                    </a:solidFill>
                  </a:tcPr>
                </a:tc>
              </a:tr>
              <a:tr h="385760">
                <a:tc>
                  <a:txBody>
                    <a:bodyPr/>
                    <a:lstStyle/>
                    <a:p>
                      <a:pPr algn="l"/>
                      <a:r>
                        <a:rPr lang="en-US" sz="1800" b="1" dirty="0">
                          <a:solidFill>
                            <a:srgbClr val="FFFFFF"/>
                          </a:solidFill>
                          <a:latin typeface="Arial"/>
                          <a:cs typeface="Arial"/>
                        </a:rPr>
                        <a:t>'causes', 'prevents', 'proves'</a:t>
                      </a:r>
                    </a:p>
                  </a:txBody>
                  <a:tcPr marL="73152" marR="73152" marT="45720" marB="45720" anchor="ctr">
                    <a:solidFill>
                      <a:srgbClr val="04242F"/>
                    </a:solidFill>
                  </a:tcPr>
                </a:tc>
                <a:tc>
                  <a:txBody>
                    <a:bodyPr/>
                    <a:lstStyle/>
                    <a:p>
                      <a:pPr algn="l"/>
                      <a:r>
                        <a:rPr lang="en-US" sz="1800" dirty="0">
                          <a:solidFill>
                            <a:srgbClr val="000000"/>
                          </a:solidFill>
                          <a:latin typeface="Arial"/>
                          <a:cs typeface="Arial"/>
                        </a:rPr>
                        <a:t>Several large RCTs agree</a:t>
                      </a:r>
                    </a:p>
                  </a:txBody>
                  <a:tcPr marL="73152" marR="73152" marT="45720" marB="45720" anchor="ctr">
                    <a:solidFill>
                      <a:srgbClr val="FFFFFF"/>
                    </a:solidFill>
                  </a:tcPr>
                </a:tc>
              </a:tr>
              <a:tr h="385760">
                <a:tc>
                  <a:txBody>
                    <a:bodyPr/>
                    <a:lstStyle/>
                    <a:p>
                      <a:pPr algn="l"/>
                      <a:r>
                        <a:rPr lang="en-US" sz="1800" b="1" dirty="0">
                          <a:solidFill>
                            <a:srgbClr val="FFFFFF"/>
                          </a:solidFill>
                          <a:latin typeface="Arial"/>
                          <a:cs typeface="Arial"/>
                        </a:rPr>
                        <a:t>'reduced', 'increased', 'did not reduce'</a:t>
                      </a:r>
                    </a:p>
                  </a:txBody>
                  <a:tcPr marL="73152" marR="73152" marT="45720" marB="45720" anchor="ctr">
                    <a:solidFill>
                      <a:srgbClr val="0B376C"/>
                    </a:solidFill>
                  </a:tcPr>
                </a:tc>
                <a:tc>
                  <a:txBody>
                    <a:bodyPr/>
                    <a:lstStyle/>
                    <a:p>
                      <a:pPr algn="l"/>
                      <a:r>
                        <a:rPr lang="en-US" sz="1800" dirty="0">
                          <a:solidFill>
                            <a:srgbClr val="000000"/>
                          </a:solidFill>
                          <a:latin typeface="Arial"/>
                          <a:cs typeface="Arial"/>
                        </a:rPr>
                        <a:t>A randomised trial (Paper 1)</a:t>
                      </a:r>
                    </a:p>
                  </a:txBody>
                  <a:tcPr marL="73152" marR="73152" marT="45720" marB="45720" anchor="ctr">
                    <a:solidFill>
                      <a:srgbClr val="F5F9FA"/>
                    </a:solidFill>
                  </a:tcPr>
                </a:tc>
              </a:tr>
              <a:tr h="385760">
                <a:tc>
                  <a:txBody>
                    <a:bodyPr/>
                    <a:lstStyle/>
                    <a:p>
                      <a:pPr algn="l"/>
                      <a:r>
                        <a:rPr lang="en-US" sz="1800" b="1" dirty="0">
                          <a:solidFill>
                            <a:srgbClr val="FFFFFF"/>
                          </a:solidFill>
                          <a:latin typeface="Arial"/>
                          <a:cs typeface="Arial"/>
                        </a:rPr>
                        <a:t>'may contribute to', 'is consistent with'</a:t>
                      </a:r>
                    </a:p>
                  </a:txBody>
                  <a:tcPr marL="73152" marR="73152" marT="45720" marB="45720" anchor="ctr">
                    <a:solidFill>
                      <a:srgbClr val="0070C0"/>
                    </a:solidFill>
                  </a:tcPr>
                </a:tc>
                <a:tc>
                  <a:txBody>
                    <a:bodyPr/>
                    <a:lstStyle/>
                    <a:p>
                      <a:pPr algn="l"/>
                      <a:r>
                        <a:rPr lang="en-US" sz="1800" dirty="0">
                          <a:solidFill>
                            <a:srgbClr val="000000"/>
                          </a:solidFill>
                          <a:latin typeface="Arial"/>
                          <a:cs typeface="Arial"/>
                        </a:rPr>
                        <a:t>Observational + causal reasoning</a:t>
                      </a:r>
                    </a:p>
                  </a:txBody>
                  <a:tcPr marL="73152" marR="73152" marT="45720" marB="45720" anchor="ctr">
                    <a:solidFill>
                      <a:srgbClr val="FFFFFF"/>
                    </a:solidFill>
                  </a:tcPr>
                </a:tc>
              </a:tr>
              <a:tr h="385760">
                <a:tc>
                  <a:txBody>
                    <a:bodyPr/>
                    <a:lstStyle/>
                    <a:p>
                      <a:pPr algn="l"/>
                      <a:r>
                        <a:rPr lang="en-US" sz="1800" b="1" dirty="0">
                          <a:solidFill>
                            <a:srgbClr val="FFFFFF"/>
                          </a:solidFill>
                          <a:latin typeface="Arial"/>
                          <a:cs typeface="Arial"/>
                        </a:rPr>
                        <a:t>'is associated with', 'predicts'</a:t>
                      </a:r>
                    </a:p>
                  </a:txBody>
                  <a:tcPr marL="73152" marR="73152" marT="45720" marB="45720" anchor="ctr">
                    <a:solidFill>
                      <a:srgbClr val="0D7377"/>
                    </a:solidFill>
                  </a:tcPr>
                </a:tc>
                <a:tc>
                  <a:txBody>
                    <a:bodyPr/>
                    <a:lstStyle/>
                    <a:p>
                      <a:pPr algn="l"/>
                      <a:r>
                        <a:rPr lang="en-US" sz="1800" dirty="0">
                          <a:solidFill>
                            <a:srgbClr val="000000"/>
                          </a:solidFill>
                          <a:latin typeface="Arial"/>
                          <a:cs typeface="Arial"/>
                        </a:rPr>
                        <a:t>Cohort, case-control (Paper 2)</a:t>
                      </a:r>
                    </a:p>
                  </a:txBody>
                  <a:tcPr marL="73152" marR="73152" marT="45720" marB="45720" anchor="ctr">
                    <a:solidFill>
                      <a:srgbClr val="F5F9FA"/>
                    </a:solidFill>
                  </a:tcPr>
                </a:tc>
              </a:tr>
              <a:tr h="385760">
                <a:tc>
                  <a:txBody>
                    <a:bodyPr/>
                    <a:lstStyle/>
                    <a:p>
                      <a:pPr algn="l"/>
                      <a:r>
                        <a:rPr lang="en-US" sz="1800" b="1" dirty="0">
                          <a:solidFill>
                            <a:srgbClr val="FFFFFF"/>
                          </a:solidFill>
                          <a:latin typeface="Arial"/>
                          <a:cs typeface="Arial"/>
                        </a:rPr>
                        <a:t>'was observed in', 'was common'</a:t>
                      </a:r>
                    </a:p>
                  </a:txBody>
                  <a:tcPr marL="73152" marR="73152" marT="45720" marB="45720" anchor="ctr">
                    <a:solidFill>
                      <a:srgbClr val="5FA39B"/>
                    </a:solidFill>
                  </a:tcPr>
                </a:tc>
                <a:tc>
                  <a:txBody>
                    <a:bodyPr/>
                    <a:lstStyle/>
                    <a:p>
                      <a:pPr algn="l"/>
                      <a:r>
                        <a:rPr lang="en-US" sz="1800" dirty="0">
                          <a:solidFill>
                            <a:srgbClr val="000000"/>
                          </a:solidFill>
                          <a:latin typeface="Arial"/>
                          <a:cs typeface="Arial"/>
                        </a:rPr>
                        <a:t>Descriptive, case series</a:t>
                      </a:r>
                    </a:p>
                  </a:txBody>
                  <a:tcPr marL="73152" marR="73152" marT="45720" marB="45720" anchor="ctr">
                    <a:solidFill>
                      <a:srgbClr val="FFFFFF"/>
                    </a:solidFill>
                  </a:tcPr>
                </a:tc>
              </a:tr>
            </a:tbl>
          </a:graphicData>
        </a:graphic>
      </p:graphicFrame>
      <p:sp>
        <p:nvSpPr>
          <p:cNvPr id="31" name="Caption"/>
          <p:cNvSpPr txBox="1"/>
          <p:nvPr/>
        </p:nvSpPr>
        <p:spPr>
          <a:xfrm>
            <a:off x="457200" y="430212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Never: 'trend' for p = 0.42. 'No difference' (say 'no evidence of a difference'). 'First', 'ever', 'novel' unchecked. 'Impact' in an observational study.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Climb the ladder only as far as your design allows.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fix the verb (FLUID-ICU, simulated)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positive balance caused higher mortality (OR 1.62).'</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'Fluid overload increases AKI (acute kidney injury) (OR 1.27 per 10 ml/kg).'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'There was a trend towards death (Cox HR 1.46, 95% CI 1.00 to 2.13).'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predicts death (OR 1.39 per mmol/L).'</a:t>
            </a:r>
          </a:p>
        </p:txBody>
      </p:sp>
      <p:sp>
        <p:nvSpPr>
          <p:cNvPr id="52" name="Side"/>
          <p:cNvSpPr/>
          <p:nvPr/>
        </p:nvSpPr>
        <p:spPr>
          <a:xfrm>
            <a:off x="7423760" y="1720000"/>
            <a:ext cx="4311040" cy="24442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Better</a:t>
            </a:r>
          </a:p>
          <a:p>
            <a:pPr marL="0" indent="0" algn="ctr">
              <a:lnSpc>
                <a:spcPct val="104000"/>
              </a:lnSpc>
              <a:spcBef>
                <a:spcPts val="300"/>
              </a:spcBef>
              <a:buNone/>
            </a:pPr>
            <a:r>
              <a:rPr lang="en-US" sz="1500" dirty="0">
                <a:solidFill>
                  <a:srgbClr val="000000"/>
                </a:solidFill>
                <a:latin typeface="Arial"/>
                <a:cs typeface="Arial"/>
              </a:rPr>
              <a:t>'... was associated with ...'</a:t>
            </a:r>
          </a:p>
          <a:p>
            <a:pPr marL="0" indent="0" algn="ctr">
              <a:lnSpc>
                <a:spcPct val="104000"/>
              </a:lnSpc>
              <a:spcBef>
                <a:spcPts val="300"/>
              </a:spcBef>
              <a:buNone/>
            </a:pPr>
            <a:r>
              <a:rPr lang="en-US" sz="1500" dirty="0">
                <a:solidFill>
                  <a:srgbClr val="000000"/>
                </a:solidFill>
                <a:latin typeface="Arial"/>
                <a:cs typeface="Arial"/>
              </a:rPr>
              <a:t>'... was associated with higher odds of AKI'</a:t>
            </a:r>
          </a:p>
          <a:p>
            <a:pPr marL="0" indent="0" algn="ctr">
              <a:lnSpc>
                <a:spcPct val="104000"/>
              </a:lnSpc>
              <a:spcBef>
                <a:spcPts val="300"/>
              </a:spcBef>
              <a:buNone/>
            </a:pPr>
            <a:r>
              <a:rPr lang="en-US" sz="1500" dirty="0">
                <a:solidFill>
                  <a:srgbClr val="000000"/>
                </a:solidFill>
                <a:latin typeface="Arial"/>
                <a:cs typeface="Arial"/>
              </a:rPr>
              <a:t>'HR 1.46 (1.00 to 2.13): the CI reaches 1'</a:t>
            </a:r>
          </a:p>
          <a:p>
            <a:pPr marL="0" indent="0" algn="ctr">
              <a:lnSpc>
                <a:spcPct val="104000"/>
              </a:lnSpc>
              <a:spcBef>
                <a:spcPts val="300"/>
              </a:spcBef>
              <a:buNone/>
            </a:pPr>
            <a:r>
              <a:rPr lang="en-US" sz="1500" dirty="0">
                <a:solidFill>
                  <a:srgbClr val="000000"/>
                </a:solidFill>
                <a:latin typeface="Arial"/>
                <a:cs typeface="Arial"/>
              </a:rPr>
              <a:t>Fine for prediction. For cause, 'associated with'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structured abstract: the shop window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58843"/>
          <a:ext cx="11277600" cy="241072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Section</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What it must say</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Good example</a:t>
                      </a:r>
                    </a:p>
                  </a:txBody>
                  <a:tcPr marL="73152" marR="73152" marT="45720" marB="45720" anchor="ctr">
                    <a:solidFill>
                      <a:srgbClr val="0D7377"/>
                    </a:solidFill>
                  </a:tcPr>
                </a:tc>
              </a:tr>
              <a:tr h="507680">
                <a:tc>
                  <a:txBody>
                    <a:bodyPr/>
                    <a:lstStyle/>
                    <a:p>
                      <a:pPr algn="l"/>
                      <a:r>
                        <a:rPr lang="en-US" sz="1300" dirty="0">
                          <a:solidFill>
                            <a:srgbClr val="000000"/>
                          </a:solidFill>
                          <a:latin typeface="Arial"/>
                          <a:cs typeface="Arial"/>
                        </a:rPr>
                        <a:t>Background</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Problem, gap and aim in 1-2 sentences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 </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Methods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Design, setting, participants, exposure, primary outcome, analysis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Paper 2: population, setting and size</a:t>
                      </a:r>
                    </a:p>
                  </a:txBody>
                  <a:tcPr marL="73152" marR="73152" marT="45720" marB="45720" anchor="ctr">
                    <a:solidFill>
                      <a:srgbClr val="F5F9FA"/>
                    </a:solidFill>
                  </a:tcPr>
                </a:tc>
              </a:tr>
              <a:tr h="507680">
                <a:tc>
                  <a:txBody>
                    <a:bodyPr/>
                    <a:lstStyle/>
                    <a:p>
                      <a:pPr algn="l"/>
                      <a:r>
                        <a:rPr lang="en-US" sz="1300" dirty="0">
                          <a:solidFill>
                            <a:srgbClr val="000000"/>
                          </a:solidFill>
                          <a:latin typeface="Arial"/>
                          <a:cs typeface="Arial"/>
                        </a:rPr>
                        <a:t>Results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Numbers analysed. Main effect with 95% CI. Key secondary results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Paper 2: every result as HR (95% CI)</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Conclusion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Answer the aim in words the design allows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Paper 1: negative result stated plainly</a:t>
                      </a:r>
                    </a:p>
                  </a:txBody>
                  <a:tcPr marL="73152" marR="73152" marT="45720" marB="45720" anchor="ctr">
                    <a:solidFill>
                      <a:srgbClr val="F5F9FA"/>
                    </a:solidFill>
                  </a:tcPr>
                </a:tc>
              </a:tr>
            </a:tbl>
          </a:graphicData>
        </a:graphic>
      </p:graphicFrame>
      <p:sp>
        <p:nvSpPr>
          <p:cNvPr id="31" name="Caption"/>
          <p:cNvSpPr txBox="1"/>
          <p:nvPr/>
        </p:nvSpPr>
        <p:spPr>
          <a:xfrm>
            <a:off x="457200" y="425956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250-300 words, plus the registration number for trials. Fix in Paper 1: medians reported, but the estimate called a 'mean difference'.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the abstract and title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Copy the numbers from your Results (simulated data, about 120 words shown).</a:t>
            </a:r>
          </a:p>
          <a:p>
            <a:pPr>
              <a:buNone/>
            </a:pPr>
            <a:endParaRPr sz="950"/>
          </a:p>
          <a:p>
            <a:pPr marL="274320" indent="-274320" algn="l">
              <a:lnSpc>
                <a:spcPct val="106000"/>
              </a:lnSpc>
              <a:spcBef>
                <a:spcPts val="560"/>
              </a:spcBef>
              <a:buFont typeface="Arial"/>
              <a:buChar char="•"/>
            </a:pPr>
            <a:r>
              <a:rPr lang="en-US" sz="1600" b="1" dirty="0">
                <a:solidFill>
                  <a:srgbClr val="000000"/>
                </a:solidFill>
                <a:latin typeface="Arial"/>
                <a:cs typeface="Arial"/>
              </a:rPr>
              <a:t>Title: Positive fluid balance by day 3 and 28-day mortality in sepsis: a multicentre cohort study</a:t>
            </a:r>
          </a:p>
          <a:p>
            <a:pPr marL="274320" indent="-274320" algn="l">
              <a:lnSpc>
                <a:spcPct val="106000"/>
              </a:lnSpc>
              <a:spcBef>
                <a:spcPts val="560"/>
              </a:spcBef>
              <a:buFont typeface="Arial"/>
              <a:buChar char="•"/>
            </a:pPr>
            <a:r>
              <a:rPr lang="en-US" sz="1600" dirty="0">
                <a:solidFill>
                  <a:srgbClr val="000000"/>
                </a:solidFill>
                <a:latin typeface="Arial"/>
                <a:cs typeface="Arial"/>
              </a:rPr>
              <a:t>Background: A positive fluid balance is linked to death in sepsis, but sicker patients receive more fluid. We examined the association after adjustment for severity.</a:t>
            </a:r>
          </a:p>
          <a:p>
            <a:pPr marL="274320" indent="-274320" algn="l">
              <a:lnSpc>
                <a:spcPct val="106000"/>
              </a:lnSpc>
              <a:spcBef>
                <a:spcPts val="560"/>
              </a:spcBef>
              <a:buFont typeface="Arial"/>
              <a:buChar char="•"/>
            </a:pPr>
            <a:r>
              <a:rPr lang="en-US" sz="1600" dirty="0">
                <a:solidFill>
                  <a:srgbClr val="000000"/>
                </a:solidFill>
                <a:latin typeface="Arial"/>
                <a:cs typeface="Arial"/>
              </a:rPr>
              <a:t>Methods: Prospective cohort (simulated teaching data), 620 adults, 4 ICUs, 2023-2024. Exposure: positive balance by day 3. Outcome: 28-day death. Logistic and Cox regression adjusted for severity.</a:t>
            </a:r>
          </a:p>
          <a:p>
            <a:pPr marL="274320" indent="-274320" algn="l">
              <a:lnSpc>
                <a:spcPct val="106000"/>
              </a:lnSpc>
              <a:spcBef>
                <a:spcPts val="560"/>
              </a:spcBef>
              <a:buFont typeface="Arial"/>
              <a:buChar char="•"/>
            </a:pPr>
            <a:r>
              <a:rPr lang="en-US" sz="1600" dirty="0">
                <a:solidFill>
                  <a:srgbClr val="000000"/>
                </a:solidFill>
                <a:latin typeface="Arial"/>
                <a:cs typeface="Arial"/>
              </a:rPr>
              <a:t>Results: Of 618 patients, 373 (60.4%) had a positive balance, 35.9% vs 18.4% died. Crude OR 2.49 (1.70 to 3.70), adjusted OR 1.62 (95% CI 1.02 to 2.59).</a:t>
            </a:r>
          </a:p>
          <a:p>
            <a:pPr marL="274320" indent="-274320" algn="l">
              <a:lnSpc>
                <a:spcPct val="106000"/>
              </a:lnSpc>
              <a:spcBef>
                <a:spcPts val="560"/>
              </a:spcBef>
              <a:buFont typeface="Arial"/>
              <a:buChar char="•"/>
            </a:pPr>
            <a:r>
              <a:rPr lang="en-US" sz="1600" dirty="0">
                <a:solidFill>
                  <a:srgbClr val="000000"/>
                </a:solidFill>
                <a:latin typeface="Arial"/>
                <a:cs typeface="Arial"/>
              </a:rPr>
              <a:t>Conclusions: A positive balance was modestly associated with 28-day mortality. Most of the crude association reflected severity. A randomised trial is needed.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Title and keywords: your PICO in one 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Formula from your PICO: design, I vs C, in P, on O. 10-16 words. No 'impact', 'novel', 'first'.</a:t>
            </a:r>
          </a:p>
        </p:txBody>
      </p:sp>
      <p:sp>
        <p:nvSpPr>
          <p:cNvPr id="70" name="CardHead"/>
          <p:cNvSpPr/>
          <p:nvPr/>
        </p:nvSpPr>
        <p:spPr>
          <a:xfrm>
            <a:off x="457200" y="1944469"/>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(trial)</a:t>
            </a:r>
          </a:p>
        </p:txBody>
      </p:sp>
      <p:sp>
        <p:nvSpPr>
          <p:cNvPr id="71" name="CardBody"/>
          <p:cNvSpPr/>
          <p:nvPr/>
        </p:nvSpPr>
        <p:spPr>
          <a:xfrm>
            <a:off x="457200" y="2584469"/>
            <a:ext cx="5538800" cy="209659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Published: 'Impact on fluid balance of an optimized restrictive strategy targeting non-resuscitative fluids in ... septic shock: a single-blind, ... pilot study'</a:t>
            </a:r>
          </a:p>
          <a:p>
            <a:pPr marL="0" indent="0" algn="ctr">
              <a:lnSpc>
                <a:spcPct val="104000"/>
              </a:lnSpc>
              <a:spcBef>
                <a:spcPts val="400"/>
              </a:spcBef>
              <a:buNone/>
            </a:pPr>
            <a:r>
              <a:rPr lang="en-US" sz="1450" dirty="0">
                <a:solidFill>
                  <a:srgbClr val="C0392B"/>
                </a:solidFill>
                <a:latin typeface="Arial"/>
                <a:cs typeface="Arial"/>
              </a:rPr>
              <a:t>Problem: over 25 words, value words</a:t>
            </a:r>
          </a:p>
          <a:p>
            <a:pPr marL="0" indent="0" algn="ctr">
              <a:lnSpc>
                <a:spcPct val="104000"/>
              </a:lnSpc>
              <a:spcBef>
                <a:spcPts val="400"/>
              </a:spcBef>
              <a:buNone/>
            </a:pPr>
            <a:r>
              <a:rPr lang="en-US" sz="1450" b="1" dirty="0">
                <a:solidFill>
                  <a:srgbClr val="2E8B57"/>
                </a:solidFill>
                <a:latin typeface="Arial"/>
                <a:cs typeface="Arial"/>
              </a:rPr>
              <a:t>Better: Restricting non-resuscitative fluids in septic shock: a multicentre pilot randomised trial</a:t>
            </a:r>
          </a:p>
        </p:txBody>
      </p:sp>
      <p:sp>
        <p:nvSpPr>
          <p:cNvPr id="72" name="CardHead"/>
          <p:cNvSpPr/>
          <p:nvPr/>
        </p:nvSpPr>
        <p:spPr>
          <a:xfrm>
            <a:off x="6196000" y="1944469"/>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(cohort)</a:t>
            </a:r>
          </a:p>
        </p:txBody>
      </p:sp>
      <p:sp>
        <p:nvSpPr>
          <p:cNvPr id="73" name="CardBody"/>
          <p:cNvSpPr/>
          <p:nvPr/>
        </p:nvSpPr>
        <p:spPr>
          <a:xfrm>
            <a:off x="6196000" y="2584469"/>
            <a:ext cx="5538800" cy="209659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Published: 'Impact of a cumulative positive fluid balance during the first three ICU days in patients with sepsis: a propensity score-matched cohort study'</a:t>
            </a:r>
          </a:p>
          <a:p>
            <a:pPr marL="0" indent="0" algn="ctr">
              <a:lnSpc>
                <a:spcPct val="104000"/>
              </a:lnSpc>
              <a:spcBef>
                <a:spcPts val="400"/>
              </a:spcBef>
              <a:buNone/>
            </a:pPr>
            <a:r>
              <a:rPr lang="en-US" sz="1450" dirty="0">
                <a:solidFill>
                  <a:srgbClr val="C0392B"/>
                </a:solidFill>
                <a:latin typeface="Arial"/>
                <a:cs typeface="Arial"/>
              </a:rPr>
              <a:t>Problem: 'impact' is a causal word for a cohort</a:t>
            </a:r>
          </a:p>
          <a:p>
            <a:pPr marL="0" indent="0" algn="ctr">
              <a:lnSpc>
                <a:spcPct val="104000"/>
              </a:lnSpc>
              <a:spcBef>
                <a:spcPts val="400"/>
              </a:spcBef>
              <a:buNone/>
            </a:pPr>
            <a:r>
              <a:rPr lang="en-US" sz="1450" b="1" dirty="0">
                <a:solidFill>
                  <a:srgbClr val="2E8B57"/>
                </a:solidFill>
                <a:latin typeface="Arial"/>
                <a:cs typeface="Arial"/>
              </a:rPr>
              <a:t>Better: Positive fluid balance in the first three ICU days and 28-day mortality in sepsis: a propensity-matched cohort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Keywords: 3-6 MeSH terms (PubMed subject headings) not already in the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Before you submit: references, checklist, final 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References</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Use a reference manager</a:t>
            </a:r>
          </a:p>
          <a:p>
            <a:pPr marL="0" indent="0" algn="ctr">
              <a:lnSpc>
                <a:spcPct val="104000"/>
              </a:lnSpc>
              <a:spcBef>
                <a:spcPts val="400"/>
              </a:spcBef>
              <a:buNone/>
            </a:pPr>
            <a:r>
              <a:rPr lang="en-US" sz="1750" dirty="0">
                <a:solidFill>
                  <a:srgbClr val="000000"/>
                </a:solidFill>
                <a:latin typeface="Arial"/>
                <a:cs typeface="Arial"/>
              </a:rPr>
              <a:t>Check every citation</a:t>
            </a:r>
          </a:p>
          <a:p>
            <a:pPr marL="0" indent="0" algn="ctr">
              <a:lnSpc>
                <a:spcPct val="104000"/>
              </a:lnSpc>
              <a:spcBef>
                <a:spcPts val="400"/>
              </a:spcBef>
              <a:buNone/>
            </a:pPr>
            <a:r>
              <a:rPr lang="en-US" sz="1750" dirty="0">
                <a:solidFill>
                  <a:srgbClr val="000000"/>
                </a:solidFill>
                <a:latin typeface="Arial"/>
                <a:cs typeface="Arial"/>
              </a:rPr>
              <a:t>Paper 2 cites the wrong reference for its covariates</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Reporting checklist</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Fill it in while writing</a:t>
            </a:r>
          </a:p>
          <a:p>
            <a:pPr marL="0" indent="0" algn="ctr">
              <a:lnSpc>
                <a:spcPct val="104000"/>
              </a:lnSpc>
              <a:spcBef>
                <a:spcPts val="400"/>
              </a:spcBef>
              <a:buNone/>
            </a:pPr>
            <a:r>
              <a:rPr lang="en-US" sz="1750" dirty="0">
                <a:solidFill>
                  <a:srgbClr val="000000"/>
                </a:solidFill>
                <a:latin typeface="Arial"/>
                <a:cs typeface="Arial"/>
              </a:rPr>
              <a:t>Add page numbers</a:t>
            </a:r>
          </a:p>
          <a:p>
            <a:pPr marL="0" indent="0" algn="ctr">
              <a:lnSpc>
                <a:spcPct val="104000"/>
              </a:lnSpc>
              <a:spcBef>
                <a:spcPts val="400"/>
              </a:spcBef>
              <a:buNone/>
            </a:pPr>
            <a:r>
              <a:rPr lang="en-US" sz="1750" dirty="0">
                <a:solidFill>
                  <a:srgbClr val="000000"/>
                </a:solidFill>
                <a:latin typeface="Arial"/>
                <a:cs typeface="Arial"/>
              </a:rPr>
              <a:t>Neither paper names CONSORT or STROBE</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Final read</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Text = table, for every number</a:t>
            </a:r>
          </a:p>
          <a:p>
            <a:pPr marL="0" indent="0" algn="ctr">
              <a:lnSpc>
                <a:spcPct val="104000"/>
              </a:lnSpc>
              <a:spcBef>
                <a:spcPts val="400"/>
              </a:spcBef>
              <a:buNone/>
            </a:pPr>
            <a:r>
              <a:rPr lang="en-US" sz="1750" dirty="0">
                <a:solidFill>
                  <a:srgbClr val="000000"/>
                </a:solidFill>
                <a:latin typeface="Arial"/>
                <a:cs typeface="Arial"/>
              </a:rPr>
              <a:t>Call-outs point to the right figure</a:t>
            </a:r>
          </a:p>
          <a:p>
            <a:pPr marL="0" indent="0" algn="ctr">
              <a:lnSpc>
                <a:spcPct val="104000"/>
              </a:lnSpc>
              <a:spcBef>
                <a:spcPts val="400"/>
              </a:spcBef>
              <a:buNone/>
            </a:pPr>
            <a:r>
              <a:rPr lang="en-US" sz="1750" dirty="0">
                <a:solidFill>
                  <a:srgbClr val="000000"/>
                </a:solidFill>
                <a:latin typeface="Arial"/>
                <a:cs typeface="Arial"/>
              </a:rPr>
              <a:t>A colleague reads the tables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Most errors in these two papers needed no new data, only a careful co-author.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2  |  30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Improve your Results section: together, then on your own</a:t>
            </a:r>
          </a:p>
          <a:p>
            <a:pPr marL="0" indent="0" algn="ctr">
              <a:spcBef>
                <a:spcPts val="1200"/>
              </a:spcBef>
              <a:buNone/>
            </a:pPr>
            <a:r>
              <a:rPr lang="en-US" sz="1900" i="1" dirty="0">
                <a:solidFill>
                  <a:srgbClr val="595959"/>
                </a:solidFill>
                <a:latin typeface="Arial"/>
                <a:cs typeface="Arial"/>
              </a:rPr>
              <a:t>22 minutes on the class Q1 draft, then 8 minutes on your own draft and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Manuscript workshop 2, part 1: we improve the Q1 Results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22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Number check (6 min): every number against results pack Q1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Tables and figure (5 min): does each stand alone?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Words (5 min): no interpretation, no 'trend', no causal verbs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Working title (3 min): design stated, 'associated'</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optional parts (3 min): what each would add</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Use</a:t>
            </a:r>
          </a:p>
          <a:p>
            <a:pPr marL="0" indent="0" algn="ctr">
              <a:lnSpc>
                <a:spcPct val="104000"/>
              </a:lnSpc>
              <a:spcBef>
                <a:spcPts val="300"/>
              </a:spcBef>
              <a:buNone/>
            </a:pPr>
            <a:r>
              <a:rPr lang="en-US" sz="1500" dirty="0">
                <a:solidFill>
                  <a:srgbClr val="000000"/>
                </a:solidFill>
                <a:latin typeface="Arial"/>
                <a:cs typeface="Arial"/>
              </a:rPr>
              <a:t>Class Q1 Results from Session 7 (PDF)</a:t>
            </a:r>
          </a:p>
          <a:p>
            <a:pPr marL="0" indent="0" algn="ctr">
              <a:lnSpc>
                <a:spcPct val="104000"/>
              </a:lnSpc>
              <a:spcBef>
                <a:spcPts val="300"/>
              </a:spcBef>
              <a:buNone/>
            </a:pPr>
            <a:r>
              <a:rPr lang="en-US" sz="1500" dirty="0">
                <a:solidFill>
                  <a:srgbClr val="000000"/>
                </a:solidFill>
                <a:latin typeface="Arial"/>
                <a:cs typeface="Arial"/>
              </a:rPr>
              <a:t>Results pack Q1</a:t>
            </a:r>
          </a:p>
          <a:p>
            <a:pPr marL="0" indent="0" algn="ctr">
              <a:lnSpc>
                <a:spcPct val="104000"/>
              </a:lnSpc>
              <a:spcBef>
                <a:spcPts val="300"/>
              </a:spcBef>
              <a:buNone/>
            </a:pPr>
            <a:r>
              <a:rPr lang="en-US" sz="1500" dirty="0">
                <a:solidFill>
                  <a:srgbClr val="000000"/>
                </a:solidFill>
                <a:latin typeface="Arial"/>
                <a:cs typeface="Arial"/>
              </a:rPr>
              <a:t>The checklist in Peer_Review_Instructions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An improved class Q1 Results section, sent as a PDF after the session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Manuscript workshop 2, part 2: your own Results and title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Run the same checks on your own Results draft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your working title: design stated, 10-16 words, 'associated'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Two volunteers read their title aloud. The instructor comments</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Tonight: a final check, then email it by 23:59</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Submit</a:t>
            </a:r>
          </a:p>
          <a:p>
            <a:pPr marL="0" indent="0" algn="ctr">
              <a:lnSpc>
                <a:spcPct val="104000"/>
              </a:lnSpc>
              <a:spcBef>
                <a:spcPts val="300"/>
              </a:spcBef>
              <a:buNone/>
            </a:pPr>
            <a:r>
              <a:rPr lang="en-US" sz="1500" dirty="0">
                <a:solidFill>
                  <a:srgbClr val="000000"/>
                </a:solidFill>
                <a:latin typeface="Arial"/>
                <a:cs typeface="Arial"/>
              </a:rPr>
              <a:t>Results section, working title, Table 1, main table or figure</a:t>
            </a:r>
          </a:p>
          <a:p>
            <a:pPr marL="0" indent="0" algn="ctr">
              <a:lnSpc>
                <a:spcPct val="104000"/>
              </a:lnSpc>
              <a:spcBef>
                <a:spcPts val="300"/>
              </a:spcBef>
              <a:buNone/>
            </a:pPr>
            <a:r>
              <a:rPr lang="en-US" sz="1500" dirty="0">
                <a:solidFill>
                  <a:srgbClr val="000000"/>
                </a:solidFill>
                <a:latin typeface="Arial"/>
                <a:cs typeface="Arial"/>
              </a:rPr>
              <a:t>By 23:59 tonight</a:t>
            </a:r>
          </a:p>
          <a:p>
            <a:pPr marL="0" indent="0" algn="ctr">
              <a:lnSpc>
                <a:spcPct val="104000"/>
              </a:lnSpc>
              <a:spcBef>
                <a:spcPts val="300"/>
              </a:spcBef>
              <a:buNone/>
            </a:pPr>
            <a:r>
              <a:rPr lang="en-US" sz="1500" dirty="0">
                <a:solidFill>
                  <a:srgbClr val="000000"/>
                </a:solidFill>
                <a:latin typeface="Arial"/>
                <a:cs typeface="Arial"/>
              </a:rPr>
              <a:t>Email it to your reviewer and the course lead</a:t>
            </a:r>
          </a:p>
          <a:p>
            <a:pPr marL="0" indent="0" algn="ctr">
              <a:lnSpc>
                <a:spcPct val="104000"/>
              </a:lnSpc>
              <a:spcBef>
                <a:spcPts val="300"/>
              </a:spcBef>
              <a:buNone/>
            </a:pPr>
            <a:r>
              <a:rPr lang="en-US" sz="1500" dirty="0">
                <a:solidFill>
                  <a:srgbClr val="000000"/>
                </a:solidFill>
                <a:latin typeface="Arial"/>
                <a:cs typeface="Arial"/>
              </a:rPr>
              <a:t>Optional parts in the same file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Your working title. Your Results section emailed by 23:59 tonight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8.2  |  20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Getting published</a:t>
            </a:r>
          </a:p>
          <a:p>
            <a:pPr marL="0" indent="0" algn="ctr">
              <a:spcBef>
                <a:spcPts val="1200"/>
              </a:spcBef>
              <a:buNone/>
            </a:pPr>
            <a:r>
              <a:rPr lang="en-US" sz="1900" i="1" dirty="0">
                <a:solidFill>
                  <a:srgbClr val="595959"/>
                </a:solidFill>
                <a:latin typeface="Arial"/>
                <a:cs typeface="Arial"/>
              </a:rPr>
              <a:t>From checklist to reviewers, and the traps on the way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Reporting guidelines: choose by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98470"/>
          <a:ext cx="11277600" cy="37918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Study design</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Reporting guideline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Our example</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Randomised trial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CONSORT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Paper 1</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Cohort, case-control, cross-sectional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STROBE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Paper 2, FLUID-ICU</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Diagnostic accuracy study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STARD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Systematic review or meta-analysis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PRISMA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Trial protocol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SPIRIT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Case report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CARE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5F9FA"/>
                    </a:solidFill>
                  </a:tcPr>
                </a:tc>
              </a:tr>
            </a:tbl>
          </a:graphicData>
        </a:graphic>
      </p:graphicFrame>
      <p:sp>
        <p:nvSpPr>
          <p:cNvPr id="31" name="Caption"/>
          <p:cNvSpPr txBox="1"/>
          <p:nvPr/>
        </p:nvSpPr>
        <p:spPr>
          <a:xfrm>
            <a:off x="457200" y="518031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All checklists are free at the EQUATOR Network (equator-network.org). Name your guideline in Proposal Part 4 and use it as a writing checklist.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Choosing a journal: four checks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Decide the target journal before you write: it sets the rules.</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Fit</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Who needs your result?</a:t>
            </a:r>
          </a:p>
          <a:p>
            <a:pPr marL="0" indent="0" algn="ctr">
              <a:lnSpc>
                <a:spcPct val="104000"/>
              </a:lnSpc>
              <a:spcBef>
                <a:spcPts val="400"/>
              </a:spcBef>
              <a:buNone/>
            </a:pPr>
            <a:r>
              <a:rPr lang="en-US" sz="1600" dirty="0">
                <a:solidFill>
                  <a:srgbClr val="000000"/>
                </a:solidFill>
                <a:latin typeface="Arial"/>
                <a:cs typeface="Arial"/>
              </a:rPr>
              <a:t>Read 3 recent issues</a:t>
            </a:r>
          </a:p>
          <a:p>
            <a:pPr marL="0" indent="0" algn="ctr">
              <a:lnSpc>
                <a:spcPct val="104000"/>
              </a:lnSpc>
              <a:spcBef>
                <a:spcPts val="400"/>
              </a:spcBef>
              <a:buNone/>
            </a:pPr>
            <a:r>
              <a:rPr lang="en-US" sz="1600" dirty="0">
                <a:solidFill>
                  <a:srgbClr val="000000"/>
                </a:solidFill>
                <a:latin typeface="Arial"/>
                <a:cs typeface="Arial"/>
              </a:rPr>
              <a:t>Similar designs published?</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Trust</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Indexed in MEDLINE, DOAJ, Scopus or Web of Science</a:t>
            </a:r>
          </a:p>
          <a:p>
            <a:pPr marL="0" indent="0" algn="ctr">
              <a:lnSpc>
                <a:spcPct val="104000"/>
              </a:lnSpc>
              <a:spcBef>
                <a:spcPts val="400"/>
              </a:spcBef>
              <a:buNone/>
            </a:pPr>
            <a:r>
              <a:rPr lang="en-US" sz="1600" dirty="0">
                <a:solidFill>
                  <a:srgbClr val="000000"/>
                </a:solidFill>
                <a:latin typeface="Arial"/>
                <a:cs typeface="Arial"/>
              </a:rPr>
              <a:t>Clear peer-review policy</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Rules</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Guide for Authors</a:t>
            </a:r>
          </a:p>
          <a:p>
            <a:pPr marL="0" indent="0" algn="ctr">
              <a:lnSpc>
                <a:spcPct val="104000"/>
              </a:lnSpc>
              <a:spcBef>
                <a:spcPts val="400"/>
              </a:spcBef>
              <a:buNone/>
            </a:pPr>
            <a:r>
              <a:rPr lang="en-US" sz="1600" dirty="0">
                <a:solidFill>
                  <a:srgbClr val="000000"/>
                </a:solidFill>
                <a:latin typeface="Arial"/>
                <a:cs typeface="Arial"/>
              </a:rPr>
              <a:t>Word limit, checklist</a:t>
            </a:r>
          </a:p>
          <a:p>
            <a:pPr marL="0" indent="0" algn="ctr">
              <a:lnSpc>
                <a:spcPct val="104000"/>
              </a:lnSpc>
              <a:spcBef>
                <a:spcPts val="400"/>
              </a:spcBef>
              <a:buNone/>
            </a:pPr>
            <a:r>
              <a:rPr lang="en-US" sz="1600" dirty="0">
                <a:solidFill>
                  <a:srgbClr val="000000"/>
                </a:solidFill>
                <a:latin typeface="Arial"/>
                <a:cs typeface="Arial"/>
              </a:rPr>
              <a:t>Registration required?</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Cost and speed</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Article fee (APC) and waivers</a:t>
            </a:r>
          </a:p>
          <a:p>
            <a:pPr marL="0" indent="0" algn="ctr">
              <a:lnSpc>
                <a:spcPct val="104000"/>
              </a:lnSpc>
              <a:spcBef>
                <a:spcPts val="400"/>
              </a:spcBef>
              <a:buNone/>
            </a:pPr>
            <a:r>
              <a:rPr lang="en-US" sz="1600" dirty="0">
                <a:solidFill>
                  <a:srgbClr val="000000"/>
                </a:solidFill>
                <a:latin typeface="Arial"/>
                <a:cs typeface="Arial"/>
              </a:rPr>
              <a:t>Licence: who may re-use the paper</a:t>
            </a:r>
          </a:p>
          <a:p>
            <a:pPr marL="0" indent="0" algn="ctr">
              <a:lnSpc>
                <a:spcPct val="104000"/>
              </a:lnSpc>
              <a:spcBef>
                <a:spcPts val="400"/>
              </a:spcBef>
              <a:buNone/>
            </a:pPr>
            <a:r>
              <a:rPr lang="en-US" sz="1600" dirty="0">
                <a:solidFill>
                  <a:srgbClr val="000000"/>
                </a:solidFill>
                <a:latin typeface="Arial"/>
                <a:cs typeface="Arial"/>
              </a:rPr>
              <a:t>Paper 1: 7 weeks. Paper 2: 7 months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good journal is one your readers read, and one that is honestly run.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Spot the predatory journal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a journal finds you by flattering e-mail, check it twice.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find a checklist and check a journal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the EQUATOR Network website and search 'CONSORT'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Show the checklist and the flow diagram (Paper 1 has one)</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Find STROBE the same way (Paper 2 and FLUID-ICU)</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Check a journal in DOAJ and in the NLM Catalog</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the Think.Check.Submit checklist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Watch for</a:t>
            </a:r>
          </a:p>
          <a:p>
            <a:pPr marL="0" indent="0" algn="ctr">
              <a:lnSpc>
                <a:spcPct val="104000"/>
              </a:lnSpc>
              <a:spcBef>
                <a:spcPts val="300"/>
              </a:spcBef>
              <a:buNone/>
            </a:pPr>
            <a:r>
              <a:rPr lang="en-US" sz="1500" dirty="0">
                <a:solidFill>
                  <a:srgbClr val="000000"/>
                </a:solidFill>
                <a:latin typeface="Arial"/>
                <a:cs typeface="Arial"/>
              </a:rPr>
              <a:t>Where the checklist PDF is</a:t>
            </a:r>
          </a:p>
          <a:p>
            <a:pPr marL="0" indent="0" algn="ctr">
              <a:lnSpc>
                <a:spcPct val="104000"/>
              </a:lnSpc>
              <a:spcBef>
                <a:spcPts val="300"/>
              </a:spcBef>
              <a:buNone/>
            </a:pPr>
            <a:r>
              <a:rPr lang="en-US" sz="1500" dirty="0">
                <a:solidFill>
                  <a:srgbClr val="000000"/>
                </a:solidFill>
                <a:latin typeface="Arial"/>
                <a:cs typeface="Arial"/>
              </a:rPr>
              <a:t>How to see if a journal is in MEDLINE</a:t>
            </a:r>
          </a:p>
          <a:p>
            <a:pPr marL="0" indent="0" algn="ctr">
              <a:lnSpc>
                <a:spcPct val="104000"/>
              </a:lnSpc>
              <a:spcBef>
                <a:spcPts val="300"/>
              </a:spcBef>
              <a:buNone/>
            </a:pPr>
            <a:r>
              <a:rPr lang="en-US" sz="1500" dirty="0">
                <a:solidFill>
                  <a:srgbClr val="000000"/>
                </a:solidFill>
                <a:latin typeface="Arial"/>
                <a:cs typeface="Arial"/>
              </a:rPr>
              <a:t>Three questions to ask any journal</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checks the journal and guideline in their own publication plan at home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submission package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95653"/>
          <a:ext cx="11277600" cy="40630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300" b="1" dirty="0">
                          <a:solidFill>
                            <a:srgbClr val="FFFFFF"/>
                          </a:solidFill>
                          <a:latin typeface="Arial"/>
                          <a:cs typeface="Arial"/>
                        </a:rPr>
                        <a:t>Item</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What it contains</a:t>
                      </a:r>
                    </a:p>
                  </a:txBody>
                  <a:tcPr marL="73152" marR="73152" marT="45720" marB="45720" anchor="ctr">
                    <a:solidFill>
                      <a:srgbClr val="0D7377"/>
                    </a:solidFill>
                  </a:tcPr>
                </a:tc>
              </a:tr>
              <a:tr h="360000">
                <a:tc>
                  <a:txBody>
                    <a:bodyPr/>
                    <a:lstStyle/>
                    <a:p>
                      <a:pPr algn="l"/>
                      <a:r>
                        <a:rPr lang="en-US" sz="1300" dirty="0">
                          <a:solidFill>
                            <a:srgbClr val="000000"/>
                          </a:solidFill>
                          <a:latin typeface="Arial"/>
                          <a:cs typeface="Arial"/>
                        </a:rPr>
                        <a:t>Cover letter</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Why this journal, what is new. Not under review elsewhere</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Title page</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Authors, affiliations, ORCID iDs (free researcher identifiers), corresponding author, word count</a:t>
                      </a:r>
                    </a:p>
                  </a:txBody>
                  <a:tcPr marL="73152" marR="73152" marT="45720" marB="45720" anchor="ctr">
                    <a:solidFill>
                      <a:srgbClr val="F5F9FA"/>
                    </a:solidFill>
                  </a:tcPr>
                </a:tc>
              </a:tr>
              <a:tr h="507680">
                <a:tc>
                  <a:txBody>
                    <a:bodyPr/>
                    <a:lstStyle/>
                    <a:p>
                      <a:pPr algn="l"/>
                      <a:r>
                        <a:rPr lang="en-US" sz="1300" dirty="0">
                          <a:solidFill>
                            <a:srgbClr val="000000"/>
                          </a:solidFill>
                          <a:latin typeface="Arial"/>
                          <a:cs typeface="Arial"/>
                        </a:rPr>
                        <a:t>Manuscript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IMRaD, formatted as the Guide for Authors says (blinded if asked)</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Tables and figures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Separate files, right format and resolution</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Reporting checklist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CONSORT, STROBE ..., with page numbers</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Declarations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Ethics number, consent, conflicts of interest, funding, data sharing, author roles, AI use</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Registration number</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Trials and systematic reviews</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Suggested reviewers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Experts with no conflict, not recent co-authors</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Supplementary files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Protocol, extra tables, long flow charts</a:t>
                      </a:r>
                    </a:p>
                  </a:txBody>
                  <a:tcPr marL="73152" marR="73152" marT="45720" marB="45720"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peer-review journey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Rejected? Improve the paper, then submit to another journal. Never to two at once.</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Submit</a:t>
            </a:r>
          </a:p>
        </p:txBody>
      </p:sp>
      <p:sp>
        <p:nvSpPr>
          <p:cNvPr id="81" name="StepText"/>
          <p:cNvSpPr/>
          <p:nvPr/>
        </p:nvSpPr>
        <p:spPr>
          <a:xfrm>
            <a:off x="4972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Manuscript, cover letter, checklist</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Editor</a:t>
            </a:r>
          </a:p>
        </p:txBody>
      </p:sp>
      <p:sp>
        <p:nvSpPr>
          <p:cNvPr id="83" name="StepText"/>
          <p:cNvSpPr/>
          <p:nvPr/>
        </p:nvSpPr>
        <p:spPr>
          <a:xfrm>
            <a:off x="23668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Screens the paper</a:t>
            </a:r>
          </a:p>
          <a:p>
            <a:pPr marL="0" indent="0" algn="ctr">
              <a:lnSpc>
                <a:spcPct val="104000"/>
              </a:lnSpc>
              <a:spcBef>
                <a:spcPts val="200"/>
              </a:spcBef>
              <a:buNone/>
            </a:pPr>
            <a:r>
              <a:rPr lang="en-US" sz="1500" dirty="0">
                <a:solidFill>
                  <a:srgbClr val="000000"/>
                </a:solidFill>
                <a:latin typeface="Arial"/>
                <a:cs typeface="Arial"/>
              </a:rPr>
              <a:t>Desk rejection is common</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Reviewers</a:t>
            </a:r>
          </a:p>
        </p:txBody>
      </p:sp>
      <p:sp>
        <p:nvSpPr>
          <p:cNvPr id="85" name="StepText"/>
          <p:cNvSpPr/>
          <p:nvPr/>
        </p:nvSpPr>
        <p:spPr>
          <a:xfrm>
            <a:off x="42364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2 or 3 peer reviewers comment</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Decision</a:t>
            </a:r>
          </a:p>
        </p:txBody>
      </p:sp>
      <p:sp>
        <p:nvSpPr>
          <p:cNvPr id="87" name="StepText"/>
          <p:cNvSpPr/>
          <p:nvPr/>
        </p:nvSpPr>
        <p:spPr>
          <a:xfrm>
            <a:off x="61060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Accept, minor or major revision, or reject</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Revise</a:t>
            </a:r>
          </a:p>
        </p:txBody>
      </p:sp>
      <p:sp>
        <p:nvSpPr>
          <p:cNvPr id="89" name="StepText"/>
          <p:cNvSpPr/>
          <p:nvPr/>
        </p:nvSpPr>
        <p:spPr>
          <a:xfrm>
            <a:off x="79756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Change the paper</a:t>
            </a:r>
          </a:p>
          <a:p>
            <a:pPr marL="0" indent="0" algn="ctr">
              <a:lnSpc>
                <a:spcPct val="104000"/>
              </a:lnSpc>
              <a:spcBef>
                <a:spcPts val="200"/>
              </a:spcBef>
              <a:buNone/>
            </a:pPr>
            <a:r>
              <a:rPr lang="en-US" sz="1500" dirty="0">
                <a:solidFill>
                  <a:srgbClr val="000000"/>
                </a:solidFill>
                <a:latin typeface="Arial"/>
                <a:cs typeface="Arial"/>
              </a:rPr>
              <a:t>Reply point by point</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Accepted</a:t>
            </a:r>
          </a:p>
        </p:txBody>
      </p:sp>
      <p:sp>
        <p:nvSpPr>
          <p:cNvPr id="91" name="StepText"/>
          <p:cNvSpPr/>
          <p:nvPr/>
        </p:nvSpPr>
        <p:spPr>
          <a:xfrm>
            <a:off x="98452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Proofs, then publication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Most papers are revised before acceptance. Reply to every point politely.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Responding to reviewers: the point-by-point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Comment, response, and exactly where the paper changed. Illustrative rows built on the annotated Paper 1.</a:t>
            </a:r>
          </a:p>
        </p:txBody>
      </p:sp>
      <p:sp>
        <p:nvSpPr>
          <p:cNvPr id="70" name="CardHead"/>
          <p:cNvSpPr/>
          <p:nvPr/>
        </p:nvSpPr>
        <p:spPr>
          <a:xfrm>
            <a:off x="457200" y="204233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R1.1</a:t>
            </a:r>
          </a:p>
        </p:txBody>
      </p:sp>
      <p:sp>
        <p:nvSpPr>
          <p:cNvPr id="71" name="CardBody"/>
          <p:cNvSpPr/>
          <p:nvPr/>
        </p:nvSpPr>
        <p:spPr>
          <a:xfrm>
            <a:off x="457200" y="2682333"/>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Comment: please do not call p = 0.42 a 'non-significant trend'.</a:t>
            </a:r>
          </a:p>
          <a:p>
            <a:pPr marL="0" indent="0" algn="ctr">
              <a:lnSpc>
                <a:spcPct val="104000"/>
              </a:lnSpc>
              <a:spcBef>
                <a:spcPts val="400"/>
              </a:spcBef>
              <a:buNone/>
            </a:pPr>
            <a:r>
              <a:rPr lang="en-US" sz="1450" dirty="0">
                <a:solidFill>
                  <a:srgbClr val="2E8B57"/>
                </a:solidFill>
                <a:latin typeface="Arial"/>
                <a:cs typeface="Arial"/>
              </a:rPr>
              <a:t>Accept: thank you, we agree. We report the estimate with its 95% CI and removed 'trend'.</a:t>
            </a:r>
          </a:p>
          <a:p>
            <a:pPr marL="0" indent="0" algn="ctr">
              <a:lnSpc>
                <a:spcPct val="104000"/>
              </a:lnSpc>
              <a:spcBef>
                <a:spcPts val="400"/>
              </a:spcBef>
              <a:buNone/>
            </a:pPr>
            <a:r>
              <a:rPr lang="en-US" sz="1450" i="1" dirty="0">
                <a:solidFill>
                  <a:srgbClr val="000000"/>
                </a:solidFill>
                <a:latin typeface="Arial"/>
                <a:cs typeface="Arial"/>
              </a:rPr>
              <a:t>Change: Discussion, p.10, lines 4-6</a:t>
            </a:r>
          </a:p>
        </p:txBody>
      </p:sp>
      <p:sp>
        <p:nvSpPr>
          <p:cNvPr id="72" name="CardHead"/>
          <p:cNvSpPr/>
          <p:nvPr/>
        </p:nvSpPr>
        <p:spPr>
          <a:xfrm>
            <a:off x="4283066" y="204233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R1.2</a:t>
            </a:r>
          </a:p>
        </p:txBody>
      </p:sp>
      <p:sp>
        <p:nvSpPr>
          <p:cNvPr id="73" name="CardBody"/>
          <p:cNvSpPr/>
          <p:nvPr/>
        </p:nvSpPr>
        <p:spPr>
          <a:xfrm>
            <a:off x="4283066" y="2682333"/>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Comment: how was allocation concealed with blocks of 2?</a:t>
            </a:r>
          </a:p>
          <a:p>
            <a:pPr marL="0" indent="0" algn="ctr">
              <a:lnSpc>
                <a:spcPct val="104000"/>
              </a:lnSpc>
              <a:spcBef>
                <a:spcPts val="400"/>
              </a:spcBef>
              <a:buNone/>
            </a:pPr>
            <a:r>
              <a:rPr lang="en-US" sz="1450" dirty="0">
                <a:solidFill>
                  <a:srgbClr val="0B376C"/>
                </a:solidFill>
                <a:latin typeface="Arial"/>
                <a:cs typeface="Arial"/>
              </a:rPr>
              <a:t>Clarify: allocation was central and computer-generated. Block size added as a limitation.</a:t>
            </a:r>
          </a:p>
          <a:p>
            <a:pPr marL="0" indent="0" algn="ctr">
              <a:lnSpc>
                <a:spcPct val="104000"/>
              </a:lnSpc>
              <a:spcBef>
                <a:spcPts val="400"/>
              </a:spcBef>
              <a:buNone/>
            </a:pPr>
            <a:r>
              <a:rPr lang="en-US" sz="1450" i="1" dirty="0">
                <a:solidFill>
                  <a:srgbClr val="000000"/>
                </a:solidFill>
                <a:latin typeface="Arial"/>
                <a:cs typeface="Arial"/>
              </a:rPr>
              <a:t>Change: Methods p.3, limitations p.10</a:t>
            </a:r>
          </a:p>
        </p:txBody>
      </p:sp>
      <p:sp>
        <p:nvSpPr>
          <p:cNvPr id="74" name="CardHead"/>
          <p:cNvSpPr/>
          <p:nvPr/>
        </p:nvSpPr>
        <p:spPr>
          <a:xfrm>
            <a:off x="8108932" y="204233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R2.1</a:t>
            </a:r>
          </a:p>
        </p:txBody>
      </p:sp>
      <p:sp>
        <p:nvSpPr>
          <p:cNvPr id="75" name="CardBody"/>
          <p:cNvSpPr/>
          <p:nvPr/>
        </p:nvSpPr>
        <p:spPr>
          <a:xfrm>
            <a:off x="8108932" y="2682333"/>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Comment: please add 90-day mortality.</a:t>
            </a:r>
          </a:p>
          <a:p>
            <a:pPr marL="0" indent="0" algn="ctr">
              <a:lnSpc>
                <a:spcPct val="104000"/>
              </a:lnSpc>
              <a:spcBef>
                <a:spcPts val="400"/>
              </a:spcBef>
              <a:buNone/>
            </a:pPr>
            <a:r>
              <a:rPr lang="en-US" sz="1450" dirty="0">
                <a:solidFill>
                  <a:srgbClr val="D9822B"/>
                </a:solidFill>
                <a:latin typeface="Arial"/>
                <a:cs typeface="Arial"/>
              </a:rPr>
              <a:t>Rebut, politely: 90-day status was not a pre-specified outcome and was not collected.</a:t>
            </a:r>
          </a:p>
          <a:p>
            <a:pPr marL="0" indent="0" algn="ctr">
              <a:lnSpc>
                <a:spcPct val="104000"/>
              </a:lnSpc>
              <a:spcBef>
                <a:spcPts val="400"/>
              </a:spcBef>
              <a:buNone/>
            </a:pPr>
            <a:r>
              <a:rPr lang="en-US" sz="1450" i="1" dirty="0">
                <a:solidFill>
                  <a:srgbClr val="000000"/>
                </a:solidFill>
                <a:latin typeface="Arial"/>
                <a:cs typeface="Arial"/>
              </a:rPr>
              <a:t>Change: noted as a limitation, p.10</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Thank, answer every point, show what changed, and disagree politely with evidence.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true or false?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journal that e-mails me first is probably predatory'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 can send my paper to two journals at once to save time'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preprint has been peer reviewed'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 must answer every reviewer comment, even if I disagree'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FLUID-ICU paper should follow CONSORT'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Often: check it twice</a:t>
            </a:r>
          </a:p>
          <a:p>
            <a:pPr marL="0" indent="0" algn="ctr">
              <a:lnSpc>
                <a:spcPct val="104000"/>
              </a:lnSpc>
              <a:spcBef>
                <a:spcPts val="300"/>
              </a:spcBef>
              <a:buNone/>
            </a:pPr>
            <a:r>
              <a:rPr lang="en-US" sz="1500" dirty="0">
                <a:solidFill>
                  <a:srgbClr val="000000"/>
                </a:solidFill>
                <a:latin typeface="Arial"/>
                <a:cs typeface="Arial"/>
              </a:rPr>
              <a:t>False: duplicate submission</a:t>
            </a:r>
          </a:p>
          <a:p>
            <a:pPr marL="0" indent="0" algn="ctr">
              <a:lnSpc>
                <a:spcPct val="104000"/>
              </a:lnSpc>
              <a:spcBef>
                <a:spcPts val="300"/>
              </a:spcBef>
              <a:buNone/>
            </a:pPr>
            <a:r>
              <a:rPr lang="en-US" sz="1500" dirty="0">
                <a:solidFill>
                  <a:srgbClr val="000000"/>
                </a:solidFill>
                <a:latin typeface="Arial"/>
                <a:cs typeface="Arial"/>
              </a:rPr>
              <a:t>False: posted before peer review</a:t>
            </a:r>
          </a:p>
          <a:p>
            <a:pPr marL="0" indent="0" algn="ctr">
              <a:lnSpc>
                <a:spcPct val="104000"/>
              </a:lnSpc>
              <a:spcBef>
                <a:spcPts val="300"/>
              </a:spcBef>
              <a:buNone/>
            </a:pPr>
            <a:r>
              <a:rPr lang="en-US" sz="1500" dirty="0">
                <a:solidFill>
                  <a:srgbClr val="000000"/>
                </a:solidFill>
                <a:latin typeface="Arial"/>
                <a:cs typeface="Arial"/>
              </a:rPr>
              <a:t>True: politely, with evidence</a:t>
            </a:r>
          </a:p>
          <a:p>
            <a:pPr marL="0" indent="0" algn="ctr">
              <a:lnSpc>
                <a:spcPct val="104000"/>
              </a:lnSpc>
              <a:spcBef>
                <a:spcPts val="300"/>
              </a:spcBef>
              <a:buNone/>
            </a:pPr>
            <a:r>
              <a:rPr lang="en-US" sz="1500" dirty="0">
                <a:solidFill>
                  <a:srgbClr val="000000"/>
                </a:solidFill>
                <a:latin typeface="Arial"/>
                <a:cs typeface="Arial"/>
              </a:rPr>
              <a:t>False: STROBE (cohort)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8.3  |  25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Be the reviewer</a:t>
            </a:r>
          </a:p>
          <a:p>
            <a:pPr marL="0" indent="0" algn="ctr">
              <a:spcBef>
                <a:spcPts val="1200"/>
              </a:spcBef>
              <a:buNone/>
            </a:pPr>
            <a:r>
              <a:rPr lang="en-US" sz="1900" i="1" dirty="0">
                <a:solidFill>
                  <a:srgbClr val="595959"/>
                </a:solidFill>
                <a:latin typeface="Arial"/>
                <a:cs typeface="Arial"/>
              </a:rPr>
              <a:t>The whole class appraises Paper 1 and Paper 2 together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Two papers, one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Same clinical question (fluids in septic shock), two designs. Both PDFs were sent by email.</a:t>
            </a:r>
          </a:p>
        </p:txBody>
      </p:sp>
      <p:sp>
        <p:nvSpPr>
          <p:cNvPr id="70" name="CardHead"/>
          <p:cNvSpPr/>
          <p:nvPr/>
        </p:nvSpPr>
        <p:spPr>
          <a:xfrm>
            <a:off x="457200" y="2094224"/>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randomised trial</a:t>
            </a:r>
          </a:p>
        </p:txBody>
      </p:sp>
      <p:sp>
        <p:nvSpPr>
          <p:cNvPr id="71" name="CardBody"/>
          <p:cNvSpPr/>
          <p:nvPr/>
        </p:nvSpPr>
        <p:spPr>
          <a:xfrm>
            <a:off x="457200" y="2734224"/>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Boulet 2024, Critical Care</a:t>
            </a:r>
          </a:p>
          <a:p>
            <a:pPr marL="0" indent="0" algn="ctr">
              <a:lnSpc>
                <a:spcPct val="104000"/>
              </a:lnSpc>
              <a:spcBef>
                <a:spcPts val="400"/>
              </a:spcBef>
              <a:buNone/>
            </a:pPr>
            <a:r>
              <a:rPr lang="en-US" sz="1750" dirty="0">
                <a:solidFill>
                  <a:srgbClr val="000000"/>
                </a:solidFill>
                <a:latin typeface="Arial"/>
                <a:cs typeface="Arial"/>
              </a:rPr>
              <a:t>Pilot trial, 48 patients analysed</a:t>
            </a:r>
          </a:p>
          <a:p>
            <a:pPr marL="0" indent="0" algn="ctr">
              <a:lnSpc>
                <a:spcPct val="104000"/>
              </a:lnSpc>
              <a:spcBef>
                <a:spcPts val="400"/>
              </a:spcBef>
              <a:buNone/>
            </a:pPr>
            <a:r>
              <a:rPr lang="en-US" sz="1750" dirty="0">
                <a:solidFill>
                  <a:srgbClr val="000000"/>
                </a:solidFill>
                <a:latin typeface="Arial"/>
                <a:cs typeface="Arial"/>
              </a:rPr>
              <a:t>Restrictive vs usual fluids in septic shock</a:t>
            </a:r>
          </a:p>
          <a:p>
            <a:pPr marL="0" indent="0" algn="ctr">
              <a:lnSpc>
                <a:spcPct val="104000"/>
              </a:lnSpc>
              <a:spcBef>
                <a:spcPts val="400"/>
              </a:spcBef>
              <a:buNone/>
            </a:pPr>
            <a:r>
              <a:rPr lang="en-US" sz="1750" dirty="0">
                <a:solidFill>
                  <a:srgbClr val="000000"/>
                </a:solidFill>
                <a:latin typeface="Arial"/>
                <a:cs typeface="Arial"/>
              </a:rPr>
              <a:t>Primary outcome: fluid balance on day 5</a:t>
            </a:r>
          </a:p>
        </p:txBody>
      </p:sp>
      <p:sp>
        <p:nvSpPr>
          <p:cNvPr id="72" name="CardHead"/>
          <p:cNvSpPr/>
          <p:nvPr/>
        </p:nvSpPr>
        <p:spPr>
          <a:xfrm>
            <a:off x="6196000" y="2094224"/>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cohort study</a:t>
            </a:r>
          </a:p>
        </p:txBody>
      </p:sp>
      <p:sp>
        <p:nvSpPr>
          <p:cNvPr id="73" name="CardBody"/>
          <p:cNvSpPr/>
          <p:nvPr/>
        </p:nvSpPr>
        <p:spPr>
          <a:xfrm>
            <a:off x="6196000" y="2734224"/>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Hyun 2023, Annals of Intensive Care</a:t>
            </a:r>
          </a:p>
          <a:p>
            <a:pPr marL="0" indent="0" algn="ctr">
              <a:lnSpc>
                <a:spcPct val="104000"/>
              </a:lnSpc>
              <a:spcBef>
                <a:spcPts val="400"/>
              </a:spcBef>
              <a:buNone/>
            </a:pPr>
            <a:r>
              <a:rPr lang="en-US" sz="1750" dirty="0">
                <a:solidFill>
                  <a:srgbClr val="000000"/>
                </a:solidFill>
                <a:latin typeface="Arial"/>
                <a:cs typeface="Arial"/>
              </a:rPr>
              <a:t>Propensity-matched cohort, 2516 patients</a:t>
            </a:r>
          </a:p>
          <a:p>
            <a:pPr marL="0" indent="0" algn="ctr">
              <a:lnSpc>
                <a:spcPct val="104000"/>
              </a:lnSpc>
              <a:spcBef>
                <a:spcPts val="400"/>
              </a:spcBef>
              <a:buNone/>
            </a:pPr>
            <a:r>
              <a:rPr lang="en-US" sz="1750" dirty="0">
                <a:solidFill>
                  <a:srgbClr val="000000"/>
                </a:solidFill>
                <a:latin typeface="Arial"/>
                <a:cs typeface="Arial"/>
              </a:rPr>
              <a:t>Positive fluid balance in sepsis</a:t>
            </a:r>
          </a:p>
          <a:p>
            <a:pPr marL="0" indent="0" algn="ctr">
              <a:lnSpc>
                <a:spcPct val="104000"/>
              </a:lnSpc>
              <a:spcBef>
                <a:spcPts val="400"/>
              </a:spcBef>
              <a:buNone/>
            </a:pPr>
            <a:r>
              <a:rPr lang="en-US" sz="1750" dirty="0">
                <a:solidFill>
                  <a:srgbClr val="000000"/>
                </a:solidFill>
                <a:latin typeface="Arial"/>
                <a:cs typeface="Arial"/>
              </a:rPr>
              <a:t>Outcome: 28-day mortality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Same question, two designs: compare what each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10-question checklist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79923"/>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  Question</a:t>
            </a:r>
          </a:p>
        </p:txBody>
      </p:sp>
      <p:sp>
        <p:nvSpPr>
          <p:cNvPr id="71" name="CardBody"/>
          <p:cNvSpPr/>
          <p:nvPr/>
        </p:nvSpPr>
        <p:spPr>
          <a:xfrm>
            <a:off x="45720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Can you write the study's PICO in one line?</a:t>
            </a:r>
          </a:p>
        </p:txBody>
      </p:sp>
      <p:sp>
        <p:nvSpPr>
          <p:cNvPr id="72" name="CardHead"/>
          <p:cNvSpPr/>
          <p:nvPr/>
        </p:nvSpPr>
        <p:spPr>
          <a:xfrm>
            <a:off x="2752720" y="1879923"/>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2  Design</a:t>
            </a:r>
          </a:p>
        </p:txBody>
      </p:sp>
      <p:sp>
        <p:nvSpPr>
          <p:cNvPr id="73" name="CardBody"/>
          <p:cNvSpPr/>
          <p:nvPr/>
        </p:nvSpPr>
        <p:spPr>
          <a:xfrm>
            <a:off x="275272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What is the design, and is it the right one for the question?</a:t>
            </a:r>
          </a:p>
        </p:txBody>
      </p:sp>
      <p:sp>
        <p:nvSpPr>
          <p:cNvPr id="74" name="CardHead"/>
          <p:cNvSpPr/>
          <p:nvPr/>
        </p:nvSpPr>
        <p:spPr>
          <a:xfrm>
            <a:off x="5048240" y="1879923"/>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3  Participants</a:t>
            </a:r>
          </a:p>
        </p:txBody>
      </p:sp>
      <p:sp>
        <p:nvSpPr>
          <p:cNvPr id="75" name="CardBody"/>
          <p:cNvSpPr/>
          <p:nvPr/>
        </p:nvSpPr>
        <p:spPr>
          <a:xfrm>
            <a:off x="504824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Who was included, and who was left out?</a:t>
            </a:r>
          </a:p>
          <a:p>
            <a:pPr marL="0" indent="0" algn="ctr">
              <a:lnSpc>
                <a:spcPct val="104000"/>
              </a:lnSpc>
              <a:spcBef>
                <a:spcPts val="400"/>
              </a:spcBef>
              <a:buNone/>
            </a:pPr>
            <a:r>
              <a:rPr lang="en-US" sz="1400" dirty="0">
                <a:solidFill>
                  <a:srgbClr val="000000"/>
                </a:solidFill>
                <a:latin typeface="Arial"/>
                <a:cs typeface="Arial"/>
              </a:rPr>
              <a:t>Would your patients have been included?</a:t>
            </a:r>
          </a:p>
        </p:txBody>
      </p:sp>
      <p:sp>
        <p:nvSpPr>
          <p:cNvPr id="76" name="CardHead"/>
          <p:cNvSpPr/>
          <p:nvPr/>
        </p:nvSpPr>
        <p:spPr>
          <a:xfrm>
            <a:off x="7343760" y="1879923"/>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4  Comparison groups</a:t>
            </a:r>
          </a:p>
        </p:txBody>
      </p:sp>
      <p:sp>
        <p:nvSpPr>
          <p:cNvPr id="77" name="CardBody"/>
          <p:cNvSpPr/>
          <p:nvPr/>
        </p:nvSpPr>
        <p:spPr>
          <a:xfrm>
            <a:off x="734376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Were the groups similar at the start (Table 1)?</a:t>
            </a:r>
          </a:p>
          <a:p>
            <a:pPr marL="0" indent="0" algn="ctr">
              <a:lnSpc>
                <a:spcPct val="104000"/>
              </a:lnSpc>
              <a:spcBef>
                <a:spcPts val="400"/>
              </a:spcBef>
              <a:buNone/>
            </a:pPr>
            <a:r>
              <a:rPr lang="en-US" sz="1400" dirty="0">
                <a:solidFill>
                  <a:srgbClr val="000000"/>
                </a:solidFill>
                <a:latin typeface="Arial"/>
                <a:cs typeface="Arial"/>
              </a:rPr>
              <a:t>How was this achieved: randomisation, matching or adjustment?</a:t>
            </a:r>
          </a:p>
        </p:txBody>
      </p:sp>
      <p:sp>
        <p:nvSpPr>
          <p:cNvPr id="78" name="CardHead"/>
          <p:cNvSpPr/>
          <p:nvPr/>
        </p:nvSpPr>
        <p:spPr>
          <a:xfrm>
            <a:off x="9639280" y="1879923"/>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5  Bias</a:t>
            </a:r>
          </a:p>
        </p:txBody>
      </p:sp>
      <p:sp>
        <p:nvSpPr>
          <p:cNvPr id="79" name="CardBody"/>
          <p:cNvSpPr/>
          <p:nvPr/>
        </p:nvSpPr>
        <p:spPr>
          <a:xfrm>
            <a:off x="963928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Who knew which group patients were in (blinding)?</a:t>
            </a:r>
          </a:p>
          <a:p>
            <a:pPr marL="0" indent="0" algn="ctr">
              <a:lnSpc>
                <a:spcPct val="104000"/>
              </a:lnSpc>
              <a:spcBef>
                <a:spcPts val="400"/>
              </a:spcBef>
              <a:buNone/>
            </a:pPr>
            <a:r>
              <a:rPr lang="en-US" sz="1400" dirty="0">
                <a:solidFill>
                  <a:srgbClr val="000000"/>
                </a:solidFill>
                <a:latin typeface="Arial"/>
                <a:cs typeface="Arial"/>
              </a:rPr>
              <a:t>Could that change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10-question checklist (6-10)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2028090"/>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6  Outcome</a:t>
            </a:r>
          </a:p>
        </p:txBody>
      </p:sp>
      <p:sp>
        <p:nvSpPr>
          <p:cNvPr id="71" name="CardBody"/>
          <p:cNvSpPr/>
          <p:nvPr/>
        </p:nvSpPr>
        <p:spPr>
          <a:xfrm>
            <a:off x="45720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Was there one pre-specified primary outcome, measured the same way in both groups?</a:t>
            </a:r>
          </a:p>
        </p:txBody>
      </p:sp>
      <p:sp>
        <p:nvSpPr>
          <p:cNvPr id="72" name="CardHead"/>
          <p:cNvSpPr/>
          <p:nvPr/>
        </p:nvSpPr>
        <p:spPr>
          <a:xfrm>
            <a:off x="2752720" y="2028090"/>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7  Numbers</a:t>
            </a:r>
          </a:p>
        </p:txBody>
      </p:sp>
      <p:sp>
        <p:nvSpPr>
          <p:cNvPr id="73" name="CardBody"/>
          <p:cNvSpPr/>
          <p:nvPr/>
        </p:nvSpPr>
        <p:spPr>
          <a:xfrm>
            <a:off x="275272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What is the main result as an effect size with 95% CI?</a:t>
            </a:r>
          </a:p>
          <a:p>
            <a:pPr marL="0" indent="0" algn="ctr">
              <a:lnSpc>
                <a:spcPct val="104000"/>
              </a:lnSpc>
              <a:spcBef>
                <a:spcPts val="400"/>
              </a:spcBef>
              <a:buNone/>
            </a:pPr>
            <a:r>
              <a:rPr lang="en-US" sz="1400" dirty="0">
                <a:solidFill>
                  <a:srgbClr val="000000"/>
                </a:solidFill>
                <a:latin typeface="Arial"/>
                <a:cs typeface="Arial"/>
              </a:rPr>
              <a:t>Is the CI narrow or wide?</a:t>
            </a:r>
          </a:p>
        </p:txBody>
      </p:sp>
      <p:sp>
        <p:nvSpPr>
          <p:cNvPr id="74" name="CardHead"/>
          <p:cNvSpPr/>
          <p:nvPr/>
        </p:nvSpPr>
        <p:spPr>
          <a:xfrm>
            <a:off x="5048240" y="2028090"/>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8  Words vs design</a:t>
            </a:r>
          </a:p>
        </p:txBody>
      </p:sp>
      <p:sp>
        <p:nvSpPr>
          <p:cNvPr id="75" name="CardBody"/>
          <p:cNvSpPr/>
          <p:nvPr/>
        </p:nvSpPr>
        <p:spPr>
          <a:xfrm>
            <a:off x="504824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Do the conclusions match the design ('associated' vs 'caused', no 'trend' for p = 0.42)?</a:t>
            </a:r>
          </a:p>
        </p:txBody>
      </p:sp>
      <p:sp>
        <p:nvSpPr>
          <p:cNvPr id="76" name="CardHead"/>
          <p:cNvSpPr/>
          <p:nvPr/>
        </p:nvSpPr>
        <p:spPr>
          <a:xfrm>
            <a:off x="7343760" y="2028090"/>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9  Limitations</a:t>
            </a:r>
          </a:p>
        </p:txBody>
      </p:sp>
      <p:sp>
        <p:nvSpPr>
          <p:cNvPr id="77" name="CardBody"/>
          <p:cNvSpPr/>
          <p:nvPr/>
        </p:nvSpPr>
        <p:spPr>
          <a:xfrm>
            <a:off x="734376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Are the main limitations stated honestly?</a:t>
            </a:r>
          </a:p>
          <a:p>
            <a:pPr marL="0" indent="0" algn="ctr">
              <a:lnSpc>
                <a:spcPct val="104000"/>
              </a:lnSpc>
              <a:spcBef>
                <a:spcPts val="400"/>
              </a:spcBef>
              <a:buNone/>
            </a:pPr>
            <a:r>
              <a:rPr lang="en-US" sz="1400" dirty="0">
                <a:solidFill>
                  <a:srgbClr val="000000"/>
                </a:solidFill>
                <a:latin typeface="Arial"/>
                <a:cs typeface="Arial"/>
              </a:rPr>
              <a:t>Name one the authors missed.</a:t>
            </a:r>
          </a:p>
        </p:txBody>
      </p:sp>
      <p:sp>
        <p:nvSpPr>
          <p:cNvPr id="78" name="CardHead"/>
          <p:cNvSpPr/>
          <p:nvPr/>
        </p:nvSpPr>
        <p:spPr>
          <a:xfrm>
            <a:off x="9639280" y="2028090"/>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10  Use</a:t>
            </a:r>
          </a:p>
        </p:txBody>
      </p:sp>
      <p:sp>
        <p:nvSpPr>
          <p:cNvPr id="79" name="CardBody"/>
          <p:cNvSpPr/>
          <p:nvPr/>
        </p:nvSpPr>
        <p:spPr>
          <a:xfrm>
            <a:off x="963928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Would this change practice in your unit?</a:t>
            </a:r>
          </a:p>
          <a:p>
            <a:pPr marL="0" indent="0" algn="ctr">
              <a:lnSpc>
                <a:spcPct val="104000"/>
              </a:lnSpc>
              <a:spcBef>
                <a:spcPts val="400"/>
              </a:spcBef>
              <a:buNone/>
            </a:pPr>
            <a:r>
              <a:rPr lang="en-US" sz="1400" dirty="0">
                <a:solidFill>
                  <a:srgbClr val="000000"/>
                </a:solidFill>
                <a:latin typeface="Arial"/>
                <a:cs typeface="Arial"/>
              </a:rPr>
              <a:t>Why, or why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Be the reviewer: the whole class appraises both papers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shows the right page of each paper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Paper 1: questions 4, 5, 7, 8 and 9</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Paper 2: questions 4, 5, 8 and 9</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For each question, vote in the poll: Yes, No or Can't tell</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 volunteer gives the page and the sentence, microphone on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Where to look</a:t>
            </a:r>
          </a:p>
          <a:p>
            <a:pPr marL="0" indent="0" algn="ctr">
              <a:lnSpc>
                <a:spcPct val="104000"/>
              </a:lnSpc>
              <a:spcBef>
                <a:spcPts val="300"/>
              </a:spcBef>
              <a:buNone/>
            </a:pPr>
            <a:r>
              <a:rPr lang="en-US" sz="1500" dirty="0">
                <a:solidFill>
                  <a:srgbClr val="000000"/>
                </a:solidFill>
                <a:latin typeface="Arial"/>
                <a:cs typeface="Arial"/>
              </a:rPr>
              <a:t>Abstract: question and result</a:t>
            </a:r>
          </a:p>
          <a:p>
            <a:pPr marL="0" indent="0" algn="ctr">
              <a:lnSpc>
                <a:spcPct val="104000"/>
              </a:lnSpc>
              <a:spcBef>
                <a:spcPts val="300"/>
              </a:spcBef>
              <a:buNone/>
            </a:pPr>
            <a:r>
              <a:rPr lang="en-US" sz="1500" dirty="0">
                <a:solidFill>
                  <a:srgbClr val="000000"/>
                </a:solidFill>
                <a:latin typeface="Arial"/>
                <a:cs typeface="Arial"/>
              </a:rPr>
              <a:t>Methods: design, blinding, outcome</a:t>
            </a:r>
          </a:p>
          <a:p>
            <a:pPr marL="0" indent="0" algn="ctr">
              <a:lnSpc>
                <a:spcPct val="104000"/>
              </a:lnSpc>
              <a:spcBef>
                <a:spcPts val="300"/>
              </a:spcBef>
              <a:buNone/>
            </a:pPr>
            <a:r>
              <a:rPr lang="en-US" sz="1500" dirty="0">
                <a:solidFill>
                  <a:srgbClr val="000000"/>
                </a:solidFill>
                <a:latin typeface="Arial"/>
                <a:cs typeface="Arial"/>
              </a:rPr>
              <a:t>Table 1: groups similar?</a:t>
            </a:r>
          </a:p>
          <a:p>
            <a:pPr marL="0" indent="0" algn="ctr">
              <a:lnSpc>
                <a:spcPct val="104000"/>
              </a:lnSpc>
              <a:spcBef>
                <a:spcPts val="300"/>
              </a:spcBef>
              <a:buNone/>
            </a:pPr>
            <a:r>
              <a:rPr lang="en-US" sz="1500" dirty="0">
                <a:solidFill>
                  <a:srgbClr val="000000"/>
                </a:solidFill>
                <a:latin typeface="Arial"/>
                <a:cs typeface="Arial"/>
              </a:rPr>
              <a:t>Discussion: words and limitations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A class answer grid for both papers, shared as a PDF. The other questions as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may each design claim?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23077"/>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randomised trial (n = 48)</a:t>
            </a:r>
          </a:p>
        </p:txBody>
      </p:sp>
      <p:sp>
        <p:nvSpPr>
          <p:cNvPr id="71" name="CardBody"/>
          <p:cNvSpPr/>
          <p:nvPr/>
        </p:nvSpPr>
        <p:spPr>
          <a:xfrm>
            <a:off x="457200" y="2163077"/>
            <a:ext cx="5538800"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Chance decided the groups: known and unknown factors balanced</a:t>
            </a:r>
          </a:p>
          <a:p>
            <a:pPr marL="0" indent="0" algn="ctr">
              <a:lnSpc>
                <a:spcPct val="104000"/>
              </a:lnSpc>
              <a:spcBef>
                <a:spcPts val="400"/>
              </a:spcBef>
              <a:buNone/>
            </a:pPr>
            <a:r>
              <a:rPr lang="en-US" sz="1750" dirty="0">
                <a:solidFill>
                  <a:srgbClr val="000000"/>
                </a:solidFill>
                <a:latin typeface="Arial"/>
                <a:cs typeface="Arial"/>
              </a:rPr>
              <a:t>Day-5 balance: difference 13.2 ml/kg (95% CI -15.2 to 41.6), p = 0.42</a:t>
            </a:r>
          </a:p>
          <a:p>
            <a:pPr marL="0" indent="0" algn="ctr">
              <a:lnSpc>
                <a:spcPct val="104000"/>
              </a:lnSpc>
              <a:spcBef>
                <a:spcPts val="400"/>
              </a:spcBef>
              <a:buNone/>
            </a:pPr>
            <a:r>
              <a:rPr lang="en-US" sz="1750" b="1" dirty="0">
                <a:solidFill>
                  <a:srgbClr val="2E8B57"/>
                </a:solidFill>
                <a:latin typeface="Arial"/>
                <a:cs typeface="Arial"/>
              </a:rPr>
              <a:t>May say: 'did not reduce'</a:t>
            </a:r>
          </a:p>
          <a:p>
            <a:pPr marL="0" indent="0" algn="ctr">
              <a:lnSpc>
                <a:spcPct val="104000"/>
              </a:lnSpc>
              <a:spcBef>
                <a:spcPts val="400"/>
              </a:spcBef>
              <a:buNone/>
            </a:pPr>
            <a:r>
              <a:rPr lang="en-US" sz="1750" dirty="0">
                <a:solidFill>
                  <a:srgbClr val="C0392B"/>
                </a:solidFill>
                <a:latin typeface="Arial"/>
                <a:cs typeface="Arial"/>
              </a:rPr>
              <a:t>But too small to be sure: no 'trend'</a:t>
            </a:r>
          </a:p>
        </p:txBody>
      </p:sp>
      <p:sp>
        <p:nvSpPr>
          <p:cNvPr id="72" name="CardHead"/>
          <p:cNvSpPr/>
          <p:nvPr/>
        </p:nvSpPr>
        <p:spPr>
          <a:xfrm>
            <a:off x="6196000" y="1523077"/>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matched cohort (n = 2516)</a:t>
            </a:r>
          </a:p>
        </p:txBody>
      </p:sp>
      <p:sp>
        <p:nvSpPr>
          <p:cNvPr id="73" name="CardBody"/>
          <p:cNvSpPr/>
          <p:nvPr/>
        </p:nvSpPr>
        <p:spPr>
          <a:xfrm>
            <a:off x="6196000" y="2163077"/>
            <a:ext cx="5538800"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Doctors decided the fluid: only measured factors balanced</a:t>
            </a:r>
          </a:p>
          <a:p>
            <a:pPr marL="0" indent="0" algn="ctr">
              <a:lnSpc>
                <a:spcPct val="104000"/>
              </a:lnSpc>
              <a:spcBef>
                <a:spcPts val="400"/>
              </a:spcBef>
              <a:buNone/>
            </a:pPr>
            <a:r>
              <a:rPr lang="en-US" sz="1750" dirty="0">
                <a:solidFill>
                  <a:srgbClr val="000000"/>
                </a:solidFill>
                <a:latin typeface="Arial"/>
                <a:cs typeface="Arial"/>
              </a:rPr>
              <a:t>Day-2 positive balance and 28-day death: HR 2.13 (95% CI 1.48 to 3.06)</a:t>
            </a:r>
          </a:p>
          <a:p>
            <a:pPr marL="0" indent="0" algn="ctr">
              <a:lnSpc>
                <a:spcPct val="104000"/>
              </a:lnSpc>
              <a:spcBef>
                <a:spcPts val="400"/>
              </a:spcBef>
              <a:buNone/>
            </a:pPr>
            <a:r>
              <a:rPr lang="en-US" sz="1750" b="1" dirty="0">
                <a:solidFill>
                  <a:srgbClr val="2E8B57"/>
                </a:solidFill>
                <a:latin typeface="Arial"/>
                <a:cs typeface="Arial"/>
              </a:rPr>
              <a:t>May say: 'is associated with'</a:t>
            </a:r>
          </a:p>
          <a:p>
            <a:pPr marL="0" indent="0" algn="ctr">
              <a:lnSpc>
                <a:spcPct val="104000"/>
              </a:lnSpc>
              <a:spcBef>
                <a:spcPts val="400"/>
              </a:spcBef>
              <a:buNone/>
            </a:pPr>
            <a:r>
              <a:rPr lang="en-US" sz="1750" dirty="0">
                <a:solidFill>
                  <a:srgbClr val="C0392B"/>
                </a:solidFill>
                <a:latin typeface="Arial"/>
                <a:cs typeface="Arial"/>
              </a:rPr>
              <a:t>Not 'impact' or 'show': sicker patients get more fluid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Randomisation earns the word 'caused'. Observation earns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two papers side by side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500" b="1" dirty="0">
                          <a:solidFill>
                            <a:srgbClr val="FFFFFF"/>
                          </a:solidFill>
                          <a:latin typeface="Arial"/>
                          <a:cs typeface="Arial"/>
                        </a:rPr>
                        <a:t>Paper 1: RCT (Boulet 2024)</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Paper 2: cohort (Hyun 2023)</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Groups made similar by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Randomisation 1:1 (blocks of 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Propensity matching (measured factors only)</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Who knew the group</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Clinicians knew, patients, statistician blinded</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Everyone (observational)</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Main result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13.2 ml/kg (95% CI -15.2 to 41.6), p = 0.42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Day 2: HR 2.13 (1.48 to 3.06)</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Missed limitation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Blocks of 2 with unblinded clinicians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Survivor bias (ICU stay of 3+ days)</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Wording problem</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'Non-significant trend' (p = 0.42)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'Impact', 'did not impact', 'show'</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May claim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Did not reduce day-5 balance (small pilot)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Positive balance associated with death</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RCT = randomised controlled trial. Pages and details: the trainers' appraisal guide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presentations  |  45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Your proposals and publication plans</a:t>
            </a:r>
          </a:p>
          <a:p>
            <a:pPr marL="0" indent="0" algn="ctr">
              <a:spcBef>
                <a:spcPts val="1200"/>
              </a:spcBef>
              <a:buNone/>
            </a:pPr>
            <a:r>
              <a:rPr lang="en-US" sz="1900" i="1" dirty="0">
                <a:solidFill>
                  <a:srgbClr val="595959"/>
                </a:solidFill>
                <a:latin typeface="Arial"/>
                <a:cs typeface="Arial"/>
              </a:rPr>
              <a:t>About 5 volunteers, 6 minutes each, then 2 minutes of feedback. Everyone submits slides.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proposals and presentations are scored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59416"/>
          <a:ext cx="11277600" cy="3909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Criterion</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What we look for</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Points</a:t>
                      </a:r>
                    </a:p>
                  </a:txBody>
                  <a:tcPr marL="73152" marR="73152" marT="45720" marB="45720" anchor="ctr">
                    <a:solidFill>
                      <a:srgbClr val="0D7377"/>
                    </a:solidFill>
                  </a:tcPr>
                </a:tc>
              </a:tr>
              <a:tr h="705800">
                <a:tc>
                  <a:txBody>
                    <a:bodyPr/>
                    <a:lstStyle/>
                    <a:p>
                      <a:pPr algn="l"/>
                      <a:r>
                        <a:rPr lang="en-US" sz="1300" dirty="0">
                          <a:solidFill>
                            <a:srgbClr val="000000"/>
                          </a:solidFill>
                          <a:latin typeface="Arial"/>
                          <a:cs typeface="Arial"/>
                        </a:rPr>
                        <a:t>12  Structure and content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All 6 slides. Question, design, outcome, sample size, ethics, journal and guideline visible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13  Clarity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Every doctor and nurse in the class understands. One message per slide</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14  Visual design</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Readable on a shared screen. Pictures, not text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15  Timekeeping</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Finished between 5:00 and 6:00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16  Questions and discussion</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Answers directly and honestly, names the limitations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bl>
          </a:graphicData>
        </a:graphic>
      </p:graphicFrame>
      <p:sp>
        <p:nvSpPr>
          <p:cNvPr id="31" name="Caption"/>
          <p:cNvSpPr txBox="1"/>
          <p:nvPr/>
        </p:nvSpPr>
        <p:spPr>
          <a:xfrm>
            <a:off x="457200" y="525841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Written proposal (criteria 1-11, /70): everyone. Criteria 12-16 (/30): presenters only. Rubric: Proposal_Rubric (sent by email with the proposal brief)</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presentations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070C0"/>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PRESENTATIONS   |   45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About 5 volunteers present their own proposal: 6 minutes, 6 slides</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Slides: title, problem and PICO, design, data and analysis, ethics and feasibility, publication plan</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Time signals in the chat: '2 min' at 4:00, '1 min' at 5:00, 'Time' at 6:00</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Feedback, 2 minutes: two people give two stars and a wish (microphone on), then the instructor</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Everyone submits slides and the written proposal</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070C0"/>
                </a:solidFill>
                <a:latin typeface="Arial"/>
                <a:cs typeface="Arial"/>
              </a:rPr>
              <a:t>Running order</a:t>
            </a:r>
          </a:p>
          <a:p>
            <a:pPr marL="0" indent="0" algn="ctr">
              <a:lnSpc>
                <a:spcPct val="104000"/>
              </a:lnSpc>
              <a:spcBef>
                <a:spcPts val="300"/>
              </a:spcBef>
              <a:buNone/>
            </a:pPr>
            <a:r>
              <a:rPr lang="en-US" sz="1500" dirty="0">
                <a:solidFill>
                  <a:srgbClr val="000000"/>
                </a:solidFill>
                <a:latin typeface="Arial"/>
                <a:cs typeface="Arial"/>
              </a:rPr>
              <a:t>21:30  Presenter 1</a:t>
            </a:r>
          </a:p>
          <a:p>
            <a:pPr marL="0" indent="0" algn="ctr">
              <a:lnSpc>
                <a:spcPct val="104000"/>
              </a:lnSpc>
              <a:spcBef>
                <a:spcPts val="300"/>
              </a:spcBef>
              <a:buNone/>
            </a:pPr>
            <a:r>
              <a:rPr lang="en-US" sz="1500" dirty="0">
                <a:solidFill>
                  <a:srgbClr val="000000"/>
                </a:solidFill>
                <a:latin typeface="Arial"/>
                <a:cs typeface="Arial"/>
              </a:rPr>
              <a:t>21:38  Presenter 2</a:t>
            </a:r>
          </a:p>
          <a:p>
            <a:pPr marL="0" indent="0" algn="ctr">
              <a:lnSpc>
                <a:spcPct val="104000"/>
              </a:lnSpc>
              <a:spcBef>
                <a:spcPts val="300"/>
              </a:spcBef>
              <a:buNone/>
            </a:pPr>
            <a:r>
              <a:rPr lang="en-US" sz="1500" dirty="0">
                <a:solidFill>
                  <a:srgbClr val="000000"/>
                </a:solidFill>
                <a:latin typeface="Arial"/>
                <a:cs typeface="Arial"/>
              </a:rPr>
              <a:t>21:46  Presenter 3</a:t>
            </a:r>
          </a:p>
          <a:p>
            <a:pPr marL="0" indent="0" algn="ctr">
              <a:lnSpc>
                <a:spcPct val="104000"/>
              </a:lnSpc>
              <a:spcBef>
                <a:spcPts val="300"/>
              </a:spcBef>
              <a:buNone/>
            </a:pPr>
            <a:r>
              <a:rPr lang="en-US" sz="1500" dirty="0">
                <a:solidFill>
                  <a:srgbClr val="000000"/>
                </a:solidFill>
                <a:latin typeface="Arial"/>
                <a:cs typeface="Arial"/>
              </a:rPr>
              <a:t>21:54  Presenter 4</a:t>
            </a:r>
          </a:p>
          <a:p>
            <a:pPr marL="0" indent="0" algn="ctr">
              <a:lnSpc>
                <a:spcPct val="104000"/>
              </a:lnSpc>
              <a:spcBef>
                <a:spcPts val="300"/>
              </a:spcBef>
              <a:buNone/>
            </a:pPr>
            <a:r>
              <a:rPr lang="en-US" sz="1500" dirty="0">
                <a:solidFill>
                  <a:srgbClr val="000000"/>
                </a:solidFill>
                <a:latin typeface="Arial"/>
                <a:cs typeface="Arial"/>
              </a:rPr>
              <a:t>22:02  Presenter 5</a:t>
            </a:r>
          </a:p>
          <a:p>
            <a:pPr marL="0" indent="0" algn="ctr">
              <a:lnSpc>
                <a:spcPct val="104000"/>
              </a:lnSpc>
              <a:spcBef>
                <a:spcPts val="300"/>
              </a:spcBef>
              <a:buNone/>
            </a:pPr>
            <a:r>
              <a:rPr lang="en-US" sz="1500" dirty="0">
                <a:solidFill>
                  <a:srgbClr val="000000"/>
                </a:solidFill>
                <a:latin typeface="Arial"/>
                <a:cs typeface="Arial"/>
              </a:rPr>
              <a:t>22:10  Closing round (5 min)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070C0"/>
            </a:solidFill>
          </a:ln>
        </p:spPr>
        <p:txBody>
          <a:bodyPr wrap="square" lIns="182880" tIns="45720" rIns="182880" bIns="45720" rtlCol="0" anchor="ctr">
            <a:normAutofit/>
          </a:bodyPr>
          <a:lstStyle/>
          <a:p>
            <a:pPr marL="0" indent="0" algn="ctr">
              <a:buNone/>
            </a:pPr>
            <a:r>
              <a:rPr lang="en-US" sz="1300" b="1" dirty="0">
                <a:solidFill>
                  <a:srgbClr val="0070C0"/>
                </a:solidFill>
                <a:latin typeface="Arial"/>
                <a:cs typeface="Arial"/>
              </a:rPr>
              <a:t>OUTPUT   </a:t>
            </a:r>
            <a:r>
              <a:rPr lang="en-US" sz="1500" dirty="0">
                <a:solidFill>
                  <a:srgbClr val="000000"/>
                </a:solidFill>
                <a:latin typeface="Arial"/>
                <a:cs typeface="Arial"/>
              </a:rPr>
              <a:t>About five proposals presented. Every proposal and slide set submitted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  Session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8</a:t>
            </a:r>
          </a:p>
          <a:p>
            <a:pPr marL="0" indent="0" algn="ctr">
              <a:spcBef>
                <a:spcPts val="1200"/>
              </a:spcBef>
              <a:buNone/>
            </a:pPr>
            <a:r>
              <a:rPr lang="en-US" sz="1900" i="1" dirty="0">
                <a:solidFill>
                  <a:srgbClr val="595959"/>
                </a:solidFill>
                <a:latin typeface="Arial"/>
                <a:cs typeface="Arial"/>
              </a:rPr>
              <a:t>Use only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Session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Term</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In plain words</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Introduction funnel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Known, not known, aim: three paragraphs</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Six moves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Answer, compare, explain, limitations, implications, conclusion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Calibrated language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Verbs as strong as the design allows ('associated', not 'caused')</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Predatory journal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Takes fees without real peer review or indexing</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Point-by-point response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 table answering every reviewer comment with the change made</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Preprint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Public manuscript posted before peer review</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Full glossary (English-Vietnamese): the PDF sent by email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Write it right: fix the spin, then draft your title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Rewrite Paper 1's 'non-significant trend' sentence honestly (2 min)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Rewrite Paper 2's title with calibrated wording</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Draft the working title of your own proposal from its PICO (4 min)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One line each for Background, Methods, expected Results, Conclusion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Publication plan (Part 4)</a:t>
            </a:r>
          </a:p>
          <a:p>
            <a:pPr marL="0" indent="0" algn="ctr">
              <a:lnSpc>
                <a:spcPct val="104000"/>
              </a:lnSpc>
              <a:spcBef>
                <a:spcPts val="300"/>
              </a:spcBef>
              <a:buNone/>
            </a:pPr>
            <a:r>
              <a:rPr lang="en-US" sz="1500" dirty="0">
                <a:solidFill>
                  <a:srgbClr val="000000"/>
                </a:solidFill>
                <a:latin typeface="Arial"/>
                <a:cs typeface="Arial"/>
              </a:rPr>
              <a:t>Working title</a:t>
            </a:r>
          </a:p>
          <a:p>
            <a:pPr marL="0" indent="0" algn="ctr">
              <a:lnSpc>
                <a:spcPct val="104000"/>
              </a:lnSpc>
              <a:spcBef>
                <a:spcPts val="300"/>
              </a:spcBef>
              <a:buNone/>
            </a:pPr>
            <a:r>
              <a:rPr lang="en-US" sz="1500" dirty="0">
                <a:solidFill>
                  <a:srgbClr val="000000"/>
                </a:solidFill>
                <a:latin typeface="Arial"/>
                <a:cs typeface="Arial"/>
              </a:rPr>
              <a:t>Abstract skeleton</a:t>
            </a:r>
          </a:p>
          <a:p>
            <a:pPr marL="0" indent="0" algn="ctr">
              <a:lnSpc>
                <a:spcPct val="104000"/>
              </a:lnSpc>
              <a:spcBef>
                <a:spcPts val="300"/>
              </a:spcBef>
              <a:buNone/>
            </a:pPr>
            <a:r>
              <a:rPr lang="en-US" sz="1500" dirty="0">
                <a:solidFill>
                  <a:srgbClr val="000000"/>
                </a:solidFill>
                <a:latin typeface="Arial"/>
                <a:cs typeface="Arial"/>
              </a:rPr>
              <a:t>Authors and their roles</a:t>
            </a:r>
          </a:p>
          <a:p>
            <a:pPr marL="0" indent="0" algn="ctr">
              <a:lnSpc>
                <a:spcPct val="104000"/>
              </a:lnSpc>
              <a:spcBef>
                <a:spcPts val="300"/>
              </a:spcBef>
              <a:buNone/>
            </a:pPr>
            <a:r>
              <a:rPr lang="en-US" sz="1500" dirty="0">
                <a:solidFill>
                  <a:srgbClr val="000000"/>
                </a:solidFill>
                <a:latin typeface="Arial"/>
                <a:cs typeface="Arial"/>
              </a:rPr>
              <a:t>Target journal and guideline (8.2)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Working title and abstract skeleton for your own presentation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Preprints, open access and licences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Preprint</a:t>
            </a:r>
          </a:p>
        </p:txBody>
      </p:sp>
      <p:sp>
        <p:nvSpPr>
          <p:cNvPr id="71" name="CardBody"/>
          <p:cNvSpPr/>
          <p:nvPr/>
        </p:nvSpPr>
        <p:spPr>
          <a:xfrm>
            <a:off x="457200"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Posted before peer review (e.g. medRxiv)</a:t>
            </a:r>
          </a:p>
          <a:p>
            <a:pPr marL="0" indent="0" algn="ctr">
              <a:lnSpc>
                <a:spcPct val="104000"/>
              </a:lnSpc>
              <a:spcBef>
                <a:spcPts val="400"/>
              </a:spcBef>
              <a:buNone/>
            </a:pPr>
            <a:r>
              <a:rPr lang="en-US" sz="1750" dirty="0">
                <a:solidFill>
                  <a:srgbClr val="000000"/>
                </a:solidFill>
                <a:latin typeface="Arial"/>
                <a:cs typeface="Arial"/>
              </a:rPr>
              <a:t>Fast, timestamped, open feedback</a:t>
            </a:r>
          </a:p>
          <a:p>
            <a:pPr marL="0" indent="0" algn="ctr">
              <a:lnSpc>
                <a:spcPct val="104000"/>
              </a:lnSpc>
              <a:spcBef>
                <a:spcPts val="400"/>
              </a:spcBef>
              <a:buNone/>
            </a:pPr>
            <a:r>
              <a:rPr lang="en-US" sz="1750" dirty="0">
                <a:solidFill>
                  <a:srgbClr val="000000"/>
                </a:solidFill>
                <a:latin typeface="Arial"/>
                <a:cs typeface="Arial"/>
              </a:rPr>
              <a:t>Not peer-reviewed: say so</a:t>
            </a:r>
          </a:p>
          <a:p>
            <a:pPr marL="0" indent="0" algn="ctr">
              <a:lnSpc>
                <a:spcPct val="104000"/>
              </a:lnSpc>
              <a:spcBef>
                <a:spcPts val="400"/>
              </a:spcBef>
              <a:buNone/>
            </a:pPr>
            <a:r>
              <a:rPr lang="en-US" sz="1750" dirty="0">
                <a:solidFill>
                  <a:srgbClr val="000000"/>
                </a:solidFill>
                <a:latin typeface="Arial"/>
                <a:cs typeface="Arial"/>
              </a:rPr>
              <a:t>Check the journal's policy</a:t>
            </a:r>
          </a:p>
        </p:txBody>
      </p:sp>
      <p:sp>
        <p:nvSpPr>
          <p:cNvPr id="72" name="CardHead"/>
          <p:cNvSpPr/>
          <p:nvPr/>
        </p:nvSpPr>
        <p:spPr>
          <a:xfrm>
            <a:off x="4283066" y="161568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Open access</a:t>
            </a:r>
          </a:p>
        </p:txBody>
      </p:sp>
      <p:sp>
        <p:nvSpPr>
          <p:cNvPr id="73" name="CardBody"/>
          <p:cNvSpPr/>
          <p:nvPr/>
        </p:nvSpPr>
        <p:spPr>
          <a:xfrm>
            <a:off x="4283066"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Free for everyone to read</a:t>
            </a:r>
          </a:p>
          <a:p>
            <a:pPr marL="0" indent="0" algn="ctr">
              <a:lnSpc>
                <a:spcPct val="104000"/>
              </a:lnSpc>
              <a:spcBef>
                <a:spcPts val="400"/>
              </a:spcBef>
              <a:buNone/>
            </a:pPr>
            <a:r>
              <a:rPr lang="en-US" sz="1750" dirty="0">
                <a:solidFill>
                  <a:srgbClr val="000000"/>
                </a:solidFill>
                <a:latin typeface="Arial"/>
                <a:cs typeface="Arial"/>
              </a:rPr>
              <a:t>Gold: the journal charges a fee (APC)</a:t>
            </a:r>
          </a:p>
          <a:p>
            <a:pPr marL="0" indent="0" algn="ctr">
              <a:lnSpc>
                <a:spcPct val="104000"/>
              </a:lnSpc>
              <a:spcBef>
                <a:spcPts val="400"/>
              </a:spcBef>
              <a:buNone/>
            </a:pPr>
            <a:r>
              <a:rPr lang="en-US" sz="1750" dirty="0">
                <a:solidFill>
                  <a:srgbClr val="000000"/>
                </a:solidFill>
                <a:latin typeface="Arial"/>
                <a:cs typeface="Arial"/>
              </a:rPr>
              <a:t>Green: accepted version in a repository</a:t>
            </a:r>
          </a:p>
          <a:p>
            <a:pPr marL="0" indent="0" algn="ctr">
              <a:lnSpc>
                <a:spcPct val="104000"/>
              </a:lnSpc>
              <a:spcBef>
                <a:spcPts val="400"/>
              </a:spcBef>
              <a:buNone/>
            </a:pPr>
            <a:r>
              <a:rPr lang="en-US" sz="1750" dirty="0">
                <a:solidFill>
                  <a:srgbClr val="000000"/>
                </a:solidFill>
                <a:latin typeface="Arial"/>
                <a:cs typeface="Arial"/>
              </a:rPr>
              <a:t>Ask about fee waivers</a:t>
            </a:r>
          </a:p>
        </p:txBody>
      </p:sp>
      <p:sp>
        <p:nvSpPr>
          <p:cNvPr id="74" name="CardHead"/>
          <p:cNvSpPr/>
          <p:nvPr/>
        </p:nvSpPr>
        <p:spPr>
          <a:xfrm>
            <a:off x="8108932" y="161568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Licence</a:t>
            </a:r>
          </a:p>
        </p:txBody>
      </p:sp>
      <p:sp>
        <p:nvSpPr>
          <p:cNvPr id="75" name="CardBody"/>
          <p:cNvSpPr/>
          <p:nvPr/>
        </p:nvSpPr>
        <p:spPr>
          <a:xfrm>
            <a:off x="8108932"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CC BY: re-use with credit (Paper 2)</a:t>
            </a:r>
          </a:p>
          <a:p>
            <a:pPr marL="0" indent="0" algn="ctr">
              <a:lnSpc>
                <a:spcPct val="104000"/>
              </a:lnSpc>
              <a:spcBef>
                <a:spcPts val="400"/>
              </a:spcBef>
              <a:buNone/>
            </a:pPr>
            <a:r>
              <a:rPr lang="en-US" sz="1750" dirty="0">
                <a:solidFill>
                  <a:srgbClr val="000000"/>
                </a:solidFill>
                <a:latin typeface="Arial"/>
                <a:cs typeface="Arial"/>
              </a:rPr>
              <a:t>CC BY-NC-ND: share, no changes (Paper 1)</a:t>
            </a:r>
          </a:p>
          <a:p>
            <a:pPr marL="0" indent="0" algn="ctr">
              <a:lnSpc>
                <a:spcPct val="104000"/>
              </a:lnSpc>
              <a:spcBef>
                <a:spcPts val="400"/>
              </a:spcBef>
              <a:buNone/>
            </a:pPr>
            <a:r>
              <a:rPr lang="en-US" sz="1750" dirty="0">
                <a:solidFill>
                  <a:srgbClr val="000000"/>
                </a:solidFill>
                <a:latin typeface="Arial"/>
                <a:cs typeface="Arial"/>
              </a:rPr>
              <a:t>Read it before you sign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Know who can read, re-use and pay before you submit.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After acceptance: proofs, sharing, corrections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Accepted</a:t>
            </a:r>
          </a:p>
        </p:txBody>
      </p:sp>
      <p:sp>
        <p:nvSpPr>
          <p:cNvPr id="81" name="StepText"/>
          <p:cNvSpPr/>
          <p:nvPr/>
        </p:nvSpPr>
        <p:spPr>
          <a:xfrm>
            <a:off x="49720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Congratulations</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Proofs</a:t>
            </a:r>
          </a:p>
        </p:txBody>
      </p:sp>
      <p:sp>
        <p:nvSpPr>
          <p:cNvPr id="83" name="StepText"/>
          <p:cNvSpPr/>
          <p:nvPr/>
        </p:nvSpPr>
        <p:spPr>
          <a:xfrm>
            <a:off x="274072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Check every number, name and table</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Published</a:t>
            </a:r>
          </a:p>
        </p:txBody>
      </p:sp>
      <p:sp>
        <p:nvSpPr>
          <p:cNvPr id="85" name="StepText"/>
          <p:cNvSpPr/>
          <p:nvPr/>
        </p:nvSpPr>
        <p:spPr>
          <a:xfrm>
            <a:off x="498424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Online, with a DOI</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Share</a:t>
            </a:r>
          </a:p>
        </p:txBody>
      </p:sp>
      <p:sp>
        <p:nvSpPr>
          <p:cNvPr id="87" name="StepText"/>
          <p:cNvSpPr/>
          <p:nvPr/>
        </p:nvSpPr>
        <p:spPr>
          <a:xfrm>
            <a:off x="722776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Repository, plain-language summary, your unit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Correct</a:t>
            </a:r>
          </a:p>
        </p:txBody>
      </p:sp>
      <p:sp>
        <p:nvSpPr>
          <p:cNvPr id="89" name="StepText"/>
          <p:cNvSpPr/>
          <p:nvPr/>
        </p:nvSpPr>
        <p:spPr>
          <a:xfrm>
            <a:off x="947128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Openly, if errors appear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the proofs as carefully as the data. Errors become permanent.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Rejected? Resubmit smarter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Rejection is normal: most papers are rejected at least once.</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Desk rejection</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Out of scope or poorly reported</a:t>
            </a:r>
          </a:p>
          <a:p>
            <a:pPr marL="0" indent="0" algn="ctr">
              <a:lnSpc>
                <a:spcPct val="104000"/>
              </a:lnSpc>
              <a:spcBef>
                <a:spcPts val="400"/>
              </a:spcBef>
              <a:buNone/>
            </a:pPr>
            <a:r>
              <a:rPr lang="en-US" sz="1750" dirty="0">
                <a:solidFill>
                  <a:srgbClr val="000000"/>
                </a:solidFill>
                <a:latin typeface="Arial"/>
                <a:cs typeface="Arial"/>
              </a:rPr>
              <a:t>Often within days</a:t>
            </a:r>
          </a:p>
          <a:p>
            <a:pPr marL="0" indent="0" algn="ctr">
              <a:lnSpc>
                <a:spcPct val="104000"/>
              </a:lnSpc>
              <a:spcBef>
                <a:spcPts val="400"/>
              </a:spcBef>
              <a:buNone/>
            </a:pPr>
            <a:r>
              <a:rPr lang="en-US" sz="1750" dirty="0">
                <a:solidFill>
                  <a:srgbClr val="000000"/>
                </a:solidFill>
                <a:latin typeface="Arial"/>
                <a:cs typeface="Arial"/>
              </a:rPr>
              <a:t>Re-target the journal</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After review</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Read the reviews, wait a day</a:t>
            </a:r>
          </a:p>
          <a:p>
            <a:pPr marL="0" indent="0" algn="ctr">
              <a:lnSpc>
                <a:spcPct val="104000"/>
              </a:lnSpc>
              <a:spcBef>
                <a:spcPts val="400"/>
              </a:spcBef>
              <a:buNone/>
            </a:pPr>
            <a:r>
              <a:rPr lang="en-US" sz="1750" dirty="0">
                <a:solidFill>
                  <a:srgbClr val="000000"/>
                </a:solidFill>
                <a:latin typeface="Arial"/>
                <a:cs typeface="Arial"/>
              </a:rPr>
              <a:t>Fix what they found</a:t>
            </a:r>
          </a:p>
          <a:p>
            <a:pPr marL="0" indent="0" algn="ctr">
              <a:lnSpc>
                <a:spcPct val="104000"/>
              </a:lnSpc>
              <a:spcBef>
                <a:spcPts val="400"/>
              </a:spcBef>
              <a:buNone/>
            </a:pPr>
            <a:r>
              <a:rPr lang="en-US" sz="1750" dirty="0">
                <a:solidFill>
                  <a:srgbClr val="000000"/>
                </a:solidFill>
                <a:latin typeface="Arial"/>
                <a:cs typeface="Arial"/>
              </a:rPr>
              <a:t>Never resubmit unchanged</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Next journal</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Reformat to its Guide for Authors</a:t>
            </a:r>
          </a:p>
          <a:p>
            <a:pPr marL="0" indent="0" algn="ctr">
              <a:lnSpc>
                <a:spcPct val="104000"/>
              </a:lnSpc>
              <a:spcBef>
                <a:spcPts val="400"/>
              </a:spcBef>
              <a:buNone/>
            </a:pPr>
            <a:r>
              <a:rPr lang="en-US" sz="1750" dirty="0">
                <a:solidFill>
                  <a:srgbClr val="000000"/>
                </a:solidFill>
                <a:latin typeface="Arial"/>
                <a:cs typeface="Arial"/>
              </a:rPr>
              <a:t>Use transfer offers if given</a:t>
            </a:r>
          </a:p>
          <a:p>
            <a:pPr marL="0" indent="0" algn="ctr">
              <a:lnSpc>
                <a:spcPct val="104000"/>
              </a:lnSpc>
              <a:spcBef>
                <a:spcPts val="400"/>
              </a:spcBef>
              <a:buNone/>
            </a:pPr>
            <a:r>
              <a:rPr lang="en-US" sz="1750" dirty="0">
                <a:solidFill>
                  <a:srgbClr val="000000"/>
                </a:solidFill>
                <a:latin typeface="Arial"/>
                <a:cs typeface="Arial"/>
              </a:rPr>
              <a:t>Appeal only for a clear error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next reviewer may be the same person. Fix the problems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Conference abstracts and posters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poster is a billboard: one message, one figure, readable from 2 metres.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question to publication: what you can now do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Protect</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Ethics, consent, registration</a:t>
            </a:r>
          </a:p>
          <a:p>
            <a:pPr marL="0" indent="0" algn="ctr">
              <a:lnSpc>
                <a:spcPct val="104000"/>
              </a:lnSpc>
              <a:spcBef>
                <a:spcPts val="400"/>
              </a:spcBef>
              <a:buNone/>
            </a:pPr>
            <a:r>
              <a:rPr lang="en-US" sz="1600" dirty="0">
                <a:solidFill>
                  <a:srgbClr val="000000"/>
                </a:solidFill>
                <a:latin typeface="Arial"/>
                <a:cs typeface="Arial"/>
              </a:rPr>
              <a:t>Honest data and authorship</a:t>
            </a:r>
          </a:p>
        </p:txBody>
      </p:sp>
      <p:sp>
        <p:nvSpPr>
          <p:cNvPr id="72" name="CardHead"/>
          <p:cNvSpPr/>
          <p:nvPr/>
        </p:nvSpPr>
        <p:spPr>
          <a:xfrm>
            <a:off x="33266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Write</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IMRaD in the right order</a:t>
            </a:r>
          </a:p>
          <a:p>
            <a:pPr marL="0" indent="0" algn="ctr">
              <a:lnSpc>
                <a:spcPct val="104000"/>
              </a:lnSpc>
              <a:spcBef>
                <a:spcPts val="400"/>
              </a:spcBef>
              <a:buNone/>
            </a:pPr>
            <a:r>
              <a:rPr lang="en-US" sz="1600" dirty="0">
                <a:solidFill>
                  <a:srgbClr val="000000"/>
                </a:solidFill>
                <a:latin typeface="Arial"/>
                <a:cs typeface="Arial"/>
              </a:rPr>
              <a:t>Numbers with CIs</a:t>
            </a:r>
          </a:p>
          <a:p>
            <a:pPr marL="0" indent="0" algn="ctr">
              <a:lnSpc>
                <a:spcPct val="104000"/>
              </a:lnSpc>
              <a:spcBef>
                <a:spcPts val="400"/>
              </a:spcBef>
              <a:buNone/>
            </a:pPr>
            <a:r>
              <a:rPr lang="en-US" sz="1600" dirty="0">
                <a:solidFill>
                  <a:srgbClr val="000000"/>
                </a:solidFill>
                <a:latin typeface="Arial"/>
                <a:cs typeface="Arial"/>
              </a:rPr>
              <a:t>Verbs that match the design</a:t>
            </a:r>
          </a:p>
        </p:txBody>
      </p:sp>
      <p:sp>
        <p:nvSpPr>
          <p:cNvPr id="74" name="CardHead"/>
          <p:cNvSpPr/>
          <p:nvPr/>
        </p:nvSpPr>
        <p:spPr>
          <a:xfrm>
            <a:off x="61960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Publish</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Reporting checklist</a:t>
            </a:r>
          </a:p>
          <a:p>
            <a:pPr marL="0" indent="0" algn="ctr">
              <a:lnSpc>
                <a:spcPct val="104000"/>
              </a:lnSpc>
              <a:spcBef>
                <a:spcPts val="400"/>
              </a:spcBef>
              <a:buNone/>
            </a:pPr>
            <a:r>
              <a:rPr lang="en-US" sz="1600" dirty="0">
                <a:solidFill>
                  <a:srgbClr val="000000"/>
                </a:solidFill>
                <a:latin typeface="Arial"/>
                <a:cs typeface="Arial"/>
              </a:rPr>
              <a:t>Trusted journal</a:t>
            </a:r>
          </a:p>
          <a:p>
            <a:pPr marL="0" indent="0" algn="ctr">
              <a:lnSpc>
                <a:spcPct val="104000"/>
              </a:lnSpc>
              <a:spcBef>
                <a:spcPts val="400"/>
              </a:spcBef>
              <a:buNone/>
            </a:pPr>
            <a:r>
              <a:rPr lang="en-US" sz="1600" dirty="0">
                <a:solidFill>
                  <a:srgbClr val="000000"/>
                </a:solidFill>
                <a:latin typeface="Arial"/>
                <a:cs typeface="Arial"/>
              </a:rPr>
              <a:t>Polite, complete responses</a:t>
            </a:r>
          </a:p>
        </p:txBody>
      </p:sp>
      <p:sp>
        <p:nvSpPr>
          <p:cNvPr id="76" name="CardHead"/>
          <p:cNvSpPr/>
          <p:nvPr/>
        </p:nvSpPr>
        <p:spPr>
          <a:xfrm>
            <a:off x="90654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Review</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10 questions</a:t>
            </a:r>
          </a:p>
          <a:p>
            <a:pPr marL="0" indent="0" algn="ctr">
              <a:lnSpc>
                <a:spcPct val="104000"/>
              </a:lnSpc>
              <a:spcBef>
                <a:spcPts val="400"/>
              </a:spcBef>
              <a:buNone/>
            </a:pPr>
            <a:r>
              <a:rPr lang="en-US" sz="1600" dirty="0">
                <a:solidFill>
                  <a:srgbClr val="000000"/>
                </a:solidFill>
                <a:latin typeface="Arial"/>
                <a:cs typeface="Arial"/>
              </a:rPr>
              <a:t>What each design may claim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Next: submit your proposal and your Results section, then review one peer's draft.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Closing: what you built and what happens next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Session 8 · 22:15-22:30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Post-course quiz (the same 24 questions)</a:t>
            </a:r>
          </a:p>
          <a:p>
            <a:pPr marL="274320" indent="-274320" algn="l">
              <a:spcBef>
                <a:spcPts val="440"/>
              </a:spcBef>
              <a:buFont typeface="Arial"/>
              <a:buChar char="•"/>
            </a:pPr>
            <a:r>
              <a:rPr lang="en-US" sz="1900" dirty="0">
                <a:solidFill>
                  <a:srgbClr val="000000"/>
                </a:solidFill>
                <a:latin typeface="Arial"/>
                <a:cs typeface="Arial"/>
              </a:rPr>
              <a:t>What you built in eight sessions</a:t>
            </a:r>
          </a:p>
          <a:p>
            <a:pPr marL="274320" indent="-274320" algn="l">
              <a:spcBef>
                <a:spcPts val="440"/>
              </a:spcBef>
              <a:buFont typeface="Arial"/>
              <a:buChar char="•"/>
            </a:pPr>
            <a:r>
              <a:rPr lang="en-US" sz="1900" dirty="0">
                <a:solidFill>
                  <a:srgbClr val="000000"/>
                </a:solidFill>
                <a:latin typeface="Arial"/>
                <a:cs typeface="Arial"/>
              </a:rPr>
              <a:t>Course evaluation</a:t>
            </a:r>
          </a:p>
          <a:p>
            <a:pPr marL="274320" indent="-274320" algn="l">
              <a:spcBef>
                <a:spcPts val="440"/>
              </a:spcBef>
              <a:buFont typeface="Arial"/>
              <a:buChar char="•"/>
            </a:pPr>
            <a:r>
              <a:rPr lang="en-US" sz="1900" dirty="0">
                <a:solidFill>
                  <a:srgbClr val="000000"/>
                </a:solidFill>
                <a:latin typeface="Arial"/>
                <a:cs typeface="Arial"/>
              </a:rPr>
              <a:t>After the course: submit, then review one peer's Results section</a:t>
            </a:r>
          </a:p>
          <a:p>
            <a:pPr marL="274320" indent="-274320" algn="l">
              <a:spcBef>
                <a:spcPts val="440"/>
              </a:spcBef>
              <a:buFont typeface="Arial"/>
              <a:buChar char="•"/>
            </a:pPr>
            <a:r>
              <a:rPr lang="en-US" sz="1900" dirty="0">
                <a:solidFill>
                  <a:srgbClr val="000000"/>
                </a:solidFill>
                <a:latin typeface="Arial"/>
                <a:cs typeface="Arial"/>
              </a:rPr>
              <a:t>Next steps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Post-course quiz</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8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Open the form: the link is in the chat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Enter your full name, as in Session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same 24 questions as in Session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Work alone. The answers are shared after the course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Form submitted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you built in eight sessions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Ask &amp; find</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PICO question</a:t>
            </a:r>
          </a:p>
          <a:p>
            <a:pPr marL="0" indent="0" algn="ctr">
              <a:lnSpc>
                <a:spcPct val="104000"/>
              </a:lnSpc>
              <a:spcBef>
                <a:spcPts val="200"/>
              </a:spcBef>
              <a:buNone/>
            </a:pPr>
            <a:r>
              <a:rPr lang="en-US" sz="1500" dirty="0">
                <a:solidFill>
                  <a:srgbClr val="000000"/>
                </a:solidFill>
                <a:latin typeface="Arial"/>
                <a:cs typeface="Arial"/>
              </a:rPr>
              <a:t>5 key references</a:t>
            </a:r>
          </a:p>
          <a:p>
            <a:pPr marL="0" indent="0" algn="ctr">
              <a:lnSpc>
                <a:spcPct val="104000"/>
              </a:lnSpc>
              <a:spcBef>
                <a:spcPts val="200"/>
              </a:spcBef>
              <a:buNone/>
            </a:pPr>
            <a:r>
              <a:rPr lang="en-US" sz="1500" dirty="0">
                <a:solidFill>
                  <a:srgbClr val="000000"/>
                </a:solidFill>
                <a:latin typeface="Arial"/>
                <a:cs typeface="Arial"/>
              </a:rPr>
              <a:t>A working title</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Design</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justified design</a:t>
            </a:r>
          </a:p>
          <a:p>
            <a:pPr marL="0" indent="0" algn="ctr">
              <a:lnSpc>
                <a:spcPct val="104000"/>
              </a:lnSpc>
              <a:spcBef>
                <a:spcPts val="200"/>
              </a:spcBef>
              <a:buNone/>
            </a:pPr>
            <a:r>
              <a:rPr lang="en-US" sz="1500" dirty="0">
                <a:solidFill>
                  <a:srgbClr val="000000"/>
                </a:solidFill>
                <a:latin typeface="Arial"/>
                <a:cs typeface="Arial"/>
              </a:rPr>
              <a:t>Outcomes</a:t>
            </a:r>
          </a:p>
          <a:p>
            <a:pPr marL="0" indent="0" algn="ctr">
              <a:lnSpc>
                <a:spcPct val="104000"/>
              </a:lnSpc>
              <a:spcBef>
                <a:spcPts val="200"/>
              </a:spcBef>
              <a:buNone/>
            </a:pPr>
            <a:r>
              <a:rPr lang="en-US" sz="1500" dirty="0">
                <a:solidFill>
                  <a:srgbClr val="000000"/>
                </a:solidFill>
                <a:latin typeface="Arial"/>
                <a:cs typeface="Arial"/>
              </a:rPr>
              <a:t>A bias plan</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Analyse</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CRF and analysis plan</a:t>
            </a:r>
          </a:p>
          <a:p>
            <a:pPr marL="0" indent="0" algn="ctr">
              <a:lnSpc>
                <a:spcPct val="104000"/>
              </a:lnSpc>
              <a:spcBef>
                <a:spcPts val="200"/>
              </a:spcBef>
              <a:buNone/>
            </a:pPr>
            <a:r>
              <a:rPr lang="en-US" sz="1500" dirty="0">
                <a:solidFill>
                  <a:srgbClr val="000000"/>
                </a:solidFill>
                <a:latin typeface="Arial"/>
                <a:cs typeface="Arial"/>
              </a:rPr>
              <a:t>The course dataset read and interpreted</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Write</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Results section</a:t>
            </a:r>
          </a:p>
          <a:p>
            <a:pPr marL="0" indent="0" algn="ctr">
              <a:lnSpc>
                <a:spcPct val="104000"/>
              </a:lnSpc>
              <a:spcBef>
                <a:spcPts val="200"/>
              </a:spcBef>
              <a:buNone/>
            </a:pPr>
            <a:r>
              <a:rPr lang="en-US" sz="1500" dirty="0">
                <a:solidFill>
                  <a:srgbClr val="000000"/>
                </a:solidFill>
                <a:latin typeface="Arial"/>
                <a:cs typeface="Arial"/>
              </a:rPr>
              <a:t>Optional: Methods, Introduction, Discussion, Abstract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Publish</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Your own proposal</a:t>
            </a:r>
          </a:p>
          <a:p>
            <a:pPr marL="0" indent="0" algn="ctr">
              <a:lnSpc>
                <a:spcPct val="104000"/>
              </a:lnSpc>
              <a:spcBef>
                <a:spcPts val="200"/>
              </a:spcBef>
              <a:buNone/>
            </a:pPr>
            <a:r>
              <a:rPr lang="en-US" sz="1500" dirty="0">
                <a:solidFill>
                  <a:srgbClr val="000000"/>
                </a:solidFill>
                <a:latin typeface="Arial"/>
                <a:cs typeface="Arial"/>
              </a:rPr>
              <a:t>Your own Results section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Each of you leaves with a research proposal and a Results section ready to submit.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Course evaluation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Rate each session: content, pace, usefulness</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One thing to keep, one thing to change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Interested in Level 2 (statistical modelling in 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Evaluation form submitted (anonymous)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After the course: peer review like real authors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Session 7</a:t>
            </a:r>
          </a:p>
        </p:txBody>
      </p:sp>
      <p:sp>
        <p:nvSpPr>
          <p:cNvPr id="81" name="StepText"/>
          <p:cNvSpPr/>
          <p:nvPr/>
        </p:nvSpPr>
        <p:spPr>
          <a:xfrm>
            <a:off x="4972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Your reviewer is assigned at random</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Tonight</a:t>
            </a:r>
          </a:p>
        </p:txBody>
      </p:sp>
      <p:sp>
        <p:nvSpPr>
          <p:cNvPr id="83" name="StepText"/>
          <p:cNvSpPr/>
          <p:nvPr/>
        </p:nvSpPr>
        <p:spPr>
          <a:xfrm>
            <a:off x="33016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Email your Results draft by 23:59</a:t>
            </a:r>
          </a:p>
          <a:p>
            <a:pPr marL="0" indent="0" algn="ctr">
              <a:lnSpc>
                <a:spcPct val="104000"/>
              </a:lnSpc>
              <a:spcBef>
                <a:spcPts val="200"/>
              </a:spcBef>
              <a:buNone/>
            </a:pPr>
            <a:r>
              <a:rPr lang="en-US" sz="1500" dirty="0">
                <a:solidFill>
                  <a:srgbClr val="000000"/>
                </a:solidFill>
                <a:latin typeface="Arial"/>
                <a:cs typeface="Arial"/>
              </a:rPr>
              <a:t>To your reviewer and the course lead</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2 weeks</a:t>
            </a:r>
          </a:p>
        </p:txBody>
      </p:sp>
      <p:sp>
        <p:nvSpPr>
          <p:cNvPr id="85" name="StepText"/>
          <p:cNvSpPr/>
          <p:nvPr/>
        </p:nvSpPr>
        <p:spPr>
          <a:xfrm>
            <a:off x="61060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Send your review report</a:t>
            </a:r>
          </a:p>
          <a:p>
            <a:pPr marL="0" indent="0" algn="ctr">
              <a:lnSpc>
                <a:spcPct val="104000"/>
              </a:lnSpc>
              <a:spcBef>
                <a:spcPts val="200"/>
              </a:spcBef>
              <a:buNone/>
            </a:pPr>
            <a:r>
              <a:rPr lang="en-US" sz="1500" dirty="0">
                <a:solidFill>
                  <a:srgbClr val="000000"/>
                </a:solidFill>
                <a:latin typeface="Arial"/>
                <a:cs typeface="Arial"/>
              </a:rPr>
              <a:t>Use the Results checklist</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4 weeks later</a:t>
            </a:r>
          </a:p>
        </p:txBody>
      </p:sp>
      <p:sp>
        <p:nvSpPr>
          <p:cNvPr id="87" name="StepText"/>
          <p:cNvSpPr/>
          <p:nvPr/>
        </p:nvSpPr>
        <p:spPr>
          <a:xfrm>
            <a:off x="89104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Revised Results section</a:t>
            </a:r>
          </a:p>
          <a:p>
            <a:pPr marL="0" indent="0" algn="ctr">
              <a:lnSpc>
                <a:spcPct val="104000"/>
              </a:lnSpc>
              <a:spcBef>
                <a:spcPts val="200"/>
              </a:spcBef>
              <a:buNone/>
            </a:pPr>
            <a:r>
              <a:rPr lang="en-US" sz="1500" dirty="0">
                <a:solidFill>
                  <a:srgbClr val="000000"/>
                </a:solidFill>
                <a:latin typeface="Arial"/>
                <a:cs typeface="Arial"/>
              </a:rPr>
              <a:t>Response to reviewers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Everyone reviews one Results draft and receives one review.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comes next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5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Completion</a:t>
            </a:r>
          </a:p>
        </p:txBody>
      </p:sp>
      <p:sp>
        <p:nvSpPr>
          <p:cNvPr id="71" name="CardBody"/>
          <p:cNvSpPr/>
          <p:nvPr/>
        </p:nvSpPr>
        <p:spPr>
          <a:xfrm>
            <a:off x="457200" y="259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Attendance at 6 of 8 sessions</a:t>
            </a:r>
          </a:p>
          <a:p>
            <a:pPr marL="0" indent="0" algn="ctr">
              <a:lnSpc>
                <a:spcPct val="104000"/>
              </a:lnSpc>
              <a:spcBef>
                <a:spcPts val="400"/>
              </a:spcBef>
              <a:buNone/>
            </a:pPr>
            <a:r>
              <a:rPr lang="en-US" sz="1750" dirty="0">
                <a:solidFill>
                  <a:srgbClr val="000000"/>
                </a:solidFill>
                <a:latin typeface="Arial"/>
                <a:cs typeface="Arial"/>
              </a:rPr>
              <a:t>Proposal submitted</a:t>
            </a:r>
          </a:p>
          <a:p>
            <a:pPr marL="0" indent="0" algn="ctr">
              <a:lnSpc>
                <a:spcPct val="104000"/>
              </a:lnSpc>
              <a:spcBef>
                <a:spcPts val="400"/>
              </a:spcBef>
              <a:buNone/>
            </a:pPr>
            <a:r>
              <a:rPr lang="en-US" sz="1750" dirty="0">
                <a:solidFill>
                  <a:srgbClr val="000000"/>
                </a:solidFill>
                <a:latin typeface="Arial"/>
                <a:cs typeface="Arial"/>
              </a:rPr>
              <a:t>Results section submitted</a:t>
            </a:r>
          </a:p>
        </p:txBody>
      </p:sp>
      <p:sp>
        <p:nvSpPr>
          <p:cNvPr id="72" name="CardHead"/>
          <p:cNvSpPr/>
          <p:nvPr/>
        </p:nvSpPr>
        <p:spPr>
          <a:xfrm>
            <a:off x="4283066" y="195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Your toolkit</a:t>
            </a:r>
          </a:p>
        </p:txBody>
      </p:sp>
      <p:sp>
        <p:nvSpPr>
          <p:cNvPr id="73" name="CardBody"/>
          <p:cNvSpPr/>
          <p:nvPr/>
        </p:nvSpPr>
        <p:spPr>
          <a:xfrm>
            <a:off x="4283066" y="259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Slides, handouts, glossary</a:t>
            </a:r>
          </a:p>
          <a:p>
            <a:pPr marL="0" indent="0" algn="ctr">
              <a:lnSpc>
                <a:spcPct val="104000"/>
              </a:lnSpc>
              <a:spcBef>
                <a:spcPts val="400"/>
              </a:spcBef>
              <a:buNone/>
            </a:pPr>
            <a:r>
              <a:rPr lang="en-US" sz="1750" dirty="0">
                <a:solidFill>
                  <a:srgbClr val="000000"/>
                </a:solidFill>
                <a:latin typeface="Arial"/>
                <a:cs typeface="Arial"/>
              </a:rPr>
              <a:t>Templates for every step, from proposal to response to reviewers</a:t>
            </a:r>
          </a:p>
        </p:txBody>
      </p:sp>
      <p:sp>
        <p:nvSpPr>
          <p:cNvPr id="74" name="CardHead"/>
          <p:cNvSpPr/>
          <p:nvPr/>
        </p:nvSpPr>
        <p:spPr>
          <a:xfrm>
            <a:off x="8108932" y="195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Keep going</a:t>
            </a:r>
          </a:p>
        </p:txBody>
      </p:sp>
      <p:sp>
        <p:nvSpPr>
          <p:cNvPr id="75" name="CardBody"/>
          <p:cNvSpPr/>
          <p:nvPr/>
        </p:nvSpPr>
        <p:spPr>
          <a:xfrm>
            <a:off x="8108932" y="259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Take your proposal to the ethics committee</a:t>
            </a:r>
          </a:p>
          <a:p>
            <a:pPr marL="0" indent="0" algn="ctr">
              <a:lnSpc>
                <a:spcPct val="104000"/>
              </a:lnSpc>
              <a:spcBef>
                <a:spcPts val="400"/>
              </a:spcBef>
              <a:buNone/>
            </a:pPr>
            <a:r>
              <a:rPr lang="en-US" sz="1750" dirty="0">
                <a:solidFill>
                  <a:srgbClr val="000000"/>
                </a:solidFill>
                <a:latin typeface="Arial"/>
                <a:cs typeface="Arial"/>
              </a:rPr>
              <a:t>Level 2: statistical modelling in R</a:t>
            </a:r>
          </a:p>
          <a:p>
            <a:pPr marL="0" indent="0" algn="ctr">
              <a:lnSpc>
                <a:spcPct val="104000"/>
              </a:lnSpc>
              <a:spcBef>
                <a:spcPts val="400"/>
              </a:spcBef>
              <a:buNone/>
            </a:pPr>
            <a:r>
              <a:rPr lang="en-US" sz="1750" dirty="0">
                <a:solidFill>
                  <a:srgbClr val="000000"/>
                </a:solidFill>
                <a:latin typeface="Arial"/>
                <a:cs typeface="Arial"/>
              </a:rPr>
              <a:t>Level 3: advanced methods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Thank you!</a:t>
            </a:r>
          </a:p>
          <a:p>
            <a:pPr marL="0" indent="0" algn="ctr">
              <a:spcBef>
                <a:spcPts val="1200"/>
              </a:spcBef>
              <a:buNone/>
            </a:pPr>
            <a:r>
              <a:rPr lang="en-US" sz="1900" i="1" dirty="0">
                <a:solidFill>
                  <a:srgbClr val="595959"/>
                </a:solidFill>
                <a:latin typeface="Arial"/>
                <a:cs typeface="Arial"/>
              </a:rPr>
              <a:t>Good questions. Sound designs. Honest analysis. Clear writing.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