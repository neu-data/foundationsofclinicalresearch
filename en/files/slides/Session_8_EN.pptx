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 Online, 19:30-22:30, with a 15-minute break at 20:50. The last session. Today we finish writing the FLUID-ICU manuscript (Q1 together, then each participant's own question), follow a paper from submission to reviewers, practise reviewing as a whole class, and about five volunteers present their own proposals.</a:t>
            </a:r>
          </a:p>
          <a:p>
            <a:r>
              <a:rPr lang="en-US" sz="1400" b="0" dirty="0"/>
              <a:t/>
            </a:r>
          </a:p>
          <a:p>
            <a:r>
              <a:rPr lang="en-US" sz="1400" b="0" dirty="0"/>
              <a:t>Before the session: send the PDFs (Session 8 exercise sheet, Papers 1 and 2 original versions, the class Q1 draft from Session 7). Collect the presenters' slides and open them on your computer. Load the polls.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last week's exit question: read two or three of the answers you received and correct any misunderstanding. Questions 2 and 3 are quick polls. Reveal the answers.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(19:35-20:00). Ten slides with three worked examples from FLUID-ICU Q1 and a 2-minute check.</a:t>
            </a:r>
          </a:p>
          <a:p>
            <a:r>
              <a:rPr lang="en-US" sz="1400" b="0" dirty="0"/>
              <a:t>Order follows the writing order from last Saturday: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the gap, ideally with conflicting evidence cited on both sides. Paragraph 3: 'We therefore aimed to ...', one aim sentence that matches the primary outcome in the Methods.</a:t>
            </a:r>
          </a:p>
          <a:p>
            <a:r>
              <a:rPr lang="en-US" sz="1400" b="0" dirty="0"/>
              <a:t>Paper 1 (Boulet 2024, the trial) is the model (annotations #10-#12): known (positive fluid balance is linked to death, hidden fluids are a large share of intake), unknown (earlier trials targeted resuscitation fluids only), aim (primary objective = fluid balance after 5 days), all in under 500 words (pages 2-3).</a:t>
            </a:r>
          </a:p>
          <a:p>
            <a:r>
              <a:rPr lang="en-US" sz="1400" b="0" dirty="0"/>
              <a:t>Paper 2 (Hyun 2023, the cohort) defines the gap in paragraph 2 by citing both sides of a conflict (annotation #9). Copy that. But its introduction runs to about 550 words and the aim repeats the causal word 'impact' (#3, #10).</a:t>
            </a:r>
          </a:p>
          <a:p>
            <a:r>
              <a:rPr lang="en-US" sz="1400" b="0" dirty="0"/>
              <a:t>Link to Sessions 1-2: the problem statement and PICO of your proposal already give you this funnel.</a:t>
            </a:r>
          </a:p>
          <a:p>
            <a:r>
              <a:rPr lang="en-US" sz="1400" b="0" dirty="0"/>
              <a:t>Ask (call on two or three people, microphone on): in one sentence, what is not known about the question you chose?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participants use the references found in Sessions 1-2 plus Papers 1 and 2.</a:t>
            </a:r>
          </a:p>
          <a:p>
            <a:r>
              <a:rPr lang="en-US" sz="1400" b="0" dirty="0"/>
              <a:t>Point out: the confounding by indication from Session 4 is the gap.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the CLASSIC and POINCARE-2 trials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Poll: which move do first-time writers usually skip? Expected: the limitations' direction,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 OR = odds ratio. HR = hazard ratio. CI = confidence interval.</a:t>
            </a:r>
          </a:p>
          <a:p>
            <a:r>
              <a:rPr lang="en-US" sz="1400" b="0" dirty="0"/>
              <a:t>1 Answer: adjusted OR 1.62 (95% CI 1.02 to 2.59). 2 Compare: Paper 2 found day-2 HR 2.13 (1.48 to 3.06). 3 Explain: the crude OR 2.49 fell to 1.62 after adjustment (confounding by indication). 4 Limitations: residual confounding, reverse causation (patients who are dying accumulate fluid), patients dying before day 3. The adjusted Cox HR 1.46 had a CI reaching 1.00. 5 Implications: no basis to restrict fluid. A trial like Paper 1 is needed. 6 Conclusion: 'associated with'.</a:t>
            </a:r>
          </a:p>
          <a:p>
            <a:r>
              <a:rPr lang="en-US" sz="1400" b="0" dirty="0"/>
              <a:t>Optional point for those who chose Q1: the association looked stronger in heart failure (adjusted OR 4.39 vs 1.29, p for interaction 0.031, only 90 patients). This is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sicker patients received more fluid and died more. The imputed estimate is close to the complete-case one, so missing lactate did not change the conclusion.</a:t>
            </a:r>
          </a:p>
          <a:p>
            <a:r>
              <a:rPr lang="en-US" sz="1400" b="0" dirty="0"/>
              <a:t>The adjusted CI starts at 1.02, just above 1. Calibrated sentence: 'a modest association remained'.</a:t>
            </a:r>
          </a:p>
          <a:p>
            <a:r>
              <a:rPr lang="en-US" sz="1400" b="0" dirty="0"/>
              <a:t>Ask: what would you write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(conclusions that go beyond the data)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(call on two or three people, microphone on):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One poll per sentence: 'fine' or 'fix'. Call on one person to say the fix with the microphone on.</a:t>
            </a:r>
          </a:p>
          <a:p>
            <a:r>
              <a:rPr lang="en-US" sz="1400" b="0" dirty="0"/>
              <a:t>Sentence 3: no 'trend'.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(Background, Methods, Results, Conclusions)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and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which matches an adjusted CI of 1.02 to 2.59.</a:t>
            </a:r>
          </a:p>
          <a:p>
            <a:r>
              <a:rPr lang="en-US" sz="1400" b="0" dirty="0"/>
              <a:t>Ask: which abstract sentence would change if the adjusted CI had been 0.95 to 2.40? Expected: Results and Conclusions, which would read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(good), but it is over 25 words and uses value words. A shorter descriptive version is shown in green.</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(Medical Subject Headings) terms that are NOT in the title, so the paper is found by more searches.</a:t>
            </a:r>
          </a:p>
          <a:p>
            <a:r>
              <a:rPr lang="en-US" sz="1400" b="0" dirty="0"/>
              <a:t>You will write your own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(the Sepsis-3 definitions paper), almost certainly the wrong number (annotation #22). Never cite a reference an AI tool suggested without reading it.</a:t>
            </a:r>
          </a:p>
          <a:p>
            <a:r>
              <a:rPr lang="en-US" sz="1400" b="0" dirty="0"/>
              <a:t>Reporting checklist: fill in CONSORT (trials) or STROBE (observational studies) while you write, with page numbers.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(20:00-20:30). Course dataset.</a:t>
            </a:r>
          </a:p>
          <a:p>
            <a:r>
              <a:rPr lang="en-US" sz="1400" b="0" dirty="0"/>
              <a:t>Part 1 (20:00-20:22): you add the Introduction, Discussion, Abstract and Title to last Saturday's class draft for Q1, live on the shared screen.</a:t>
            </a:r>
          </a:p>
          <a:p>
            <a:r>
              <a:rPr lang="en-US" sz="1400" b="0" dirty="0"/>
              <a:t>Part 2 (20:22-20:30): each participant writes the aim sentence and title for their own question, then finishes the draft and submits it by 23:59 tonight (Course/Assignment/manuscript_brief.md).</a:t>
            </a:r>
          </a:p>
          <a:p>
            <a:r>
              <a:rPr lang="en-US" sz="1400" b="0" dirty="0"/>
              <a:t>Instructions: Course/Practicals/s8_exercises.md, Part B. Model paragraphs for Q1: Course/Solutions/s8_solutions.md.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(20:00-20:22). Whole class. Open last week's class draft and type into it. Call each phase.</a:t>
            </a:r>
          </a:p>
          <a:p>
            <a:r>
              <a:rPr lang="en-US" sz="1400" b="0" dirty="0"/>
              <a:t>Prompts: 'Does our first Discussion sentence answer the question with the number?' 'Is there a limitation with its direction?' 'Does our conclusion use the same verb as our aim?' 'Is every number in the abstract identical to the Results?'</a:t>
            </a:r>
          </a:p>
          <a:p>
            <a:r>
              <a:rPr lang="en-US" sz="1400" b="0" dirty="0"/>
              <a:t>Share the completed class draft as a PDF after the session. It is the model for everyone's own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Question-specific reminders (post them in the chat): Q2, AKI may also cause fluid accumulation (reverse causation). Q3, ventilator-free days count death as zero. Explain the measure. Q4, compare complete-case and imputed estimates and say what MAR (missing at random) means for the conclusion. Q5, survivors only: say who the result applies to.</a:t>
            </a:r>
          </a:p>
          <a:p>
            <a:r>
              <a:rPr lang="en-US" sz="1400" b="0" dirty="0"/>
              <a:t>Deadline: the complete draft by 23:59 on the day of Session 8 (Course/Assignment/manuscript_brief.md). It then goes to the individual peer review (closing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Six slides, the 3-minute live demo at 20:36 and a 2-minute check at 20:48.</a:t>
            </a:r>
          </a:p>
          <a:p>
            <a:r>
              <a:rPr lang="en-US" sz="1400" b="0" dirty="0"/>
              <a:t>Pace: about 2 minutes per slide. Point to the slide, give one example, move on.</a:t>
            </a:r>
          </a:p>
          <a:p>
            <a:r>
              <a:rPr lang="en-US" sz="1400" b="0" dirty="0"/>
              <a:t>Link to the manuscripts: a FLUID-ICU paper would go through exactly this route: STROBE checklist, journal choice, submission package, peer review. Preprints, licences, what happens after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(Enhancing the QUAlity and Transparency Of health Research).</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(CONSORT). Paper 2 is a cohort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but reading them before you start is the best design checklist you will find.</a:t>
            </a:r>
          </a:p>
          <a:p>
            <a:r>
              <a:rPr lang="en-US" sz="1400" b="0" dirty="0"/>
              <a:t>Poll: which guideline fits your own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intensivists?) decide the journal. Trust: indexed in MEDLINE/PubMed, the Directory of Open Access Journals (DOAJ), Scopus or Web of Science, with a clear peer-review and retraction policy.</a:t>
            </a:r>
          </a:p>
          <a:p>
            <a:r>
              <a:rPr lang="en-US" sz="1400" b="0" dirty="0"/>
              <a:t>Cost: many open-access journals charge an article-processing charge (APC). Ask about waivers and institutional agreements. Licence: Paper 1 is CC BY-NC-ND (share, but no adaptation or commercial use), Paper 2 is CC BY (re-use with attribution). CC = Creative Commons.</a:t>
            </a:r>
          </a:p>
          <a:p>
            <a:r>
              <a:rPr lang="en-US" sz="1400" b="0" dirty="0"/>
              <a:t>Speed: Paper 1 went from submission to acceptance in about 7 weeks (10 Sept to 31 Oct 2024). Paper 2 took about 7 months (15 Jan to 24 Aug 2023). Speed varies. It is not a sign of quality by itself.</a:t>
            </a:r>
          </a:p>
          <a:p>
            <a:r>
              <a:rPr lang="en-US" sz="1400" b="0" dirty="0"/>
              <a:t>Ask (call on two or three people, microphone on):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(US National Library of Medicine) to see if a journal is really indexed in MEDLINE. Also ask the hospital librarian.</a:t>
            </a:r>
          </a:p>
          <a:p>
            <a:r>
              <a:rPr lang="en-US" sz="1400" b="0" dirty="0"/>
              <a:t>Poll: did you receive an e-mail like this in the last month? Usually most say yes: every clinician who has published once receives them.</a:t>
            </a:r>
          </a:p>
          <a:p>
            <a:r>
              <a:rPr lang="en-US" sz="1400" b="0" dirty="0"/>
              <a:t>The Session 8 exercise sheet (Part C) has a short 'spot the predatory journal' exercise for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on the shared screen. Full script with offline fallback: Course/Demos/s8_demo.md.</a:t>
            </a:r>
          </a:p>
          <a:p>
            <a:r>
              <a:rPr lang="en-US" sz="1400" b="0" dirty="0"/>
              <a:t>Keep it to 3 minutes: EQUATOR home page, search box, CONSORT 2025 page, checklist and flow diagram, then STROBE. Then a DOAJ search for a journal title, and the NLM Catalog with the filter 'currently indexed in MEDLINE'. End on the Think.Check.Submit checklist. Paste the four web addresses in the chat.</a:t>
            </a:r>
          </a:p>
          <a:p>
            <a:r>
              <a:rPr lang="en-US" sz="1400" b="0" dirty="0"/>
              <a:t>If your internet fails, use the screenshots described in the demo 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covering why this journal, what is new, that the work is not under consideration elsewhere, and any preprint. Title page: all authors, affiliations, ORCID iDs (a free, permanent researcher identifier that every participant can register at orcid.org), corresponding author, word count. Manuscript in the journal's format (blinded if the journal uses double-blind review). Declarations: ethics approval number, consent, competing interests, funding, data availability, author contributions (CRediT) and AI use. Suggested reviewers: experts without conflicts. The editor decides whether to use them.</a:t>
            </a:r>
          </a:p>
          <a:p>
            <a:r>
              <a:rPr lang="en-US" sz="1400" b="0" dirty="0"/>
              <a:t>Running example: Paper 1 has a complete declarations block, exactly what the submission system asks for, item by item (annotation #48). Templates: Course/Templates/Cover_Letter_Template.</a:t>
            </a:r>
          </a:p>
          <a:p>
            <a:r>
              <a:rPr lang="en-US" sz="1400" b="0" dirty="0"/>
              <a:t>Ask: who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Submit (with cover letter, reporting checklist and declarations). The editor screens, and many papers are rejected here without review ('desk rejection') because they do not fit or are poorly reported. Two or three peer reviewers comment. The editor decides: accept, minor revision, major revision or reject. You revise and answer every comment point by point. Accepted, then proofs (read them carefully!) and publication.</a:t>
            </a:r>
          </a:p>
          <a:p>
            <a:r>
              <a:rPr lang="en-US" sz="1400" b="0" dirty="0"/>
              <a:t>Running example: our annotators judged Paper 1 'minor revision' and Paper 2 'major revision'. Both were published, and both still contain errors a careful reviewer would have caught. Paper 1 took about 7 weeks from submission to acceptance. Paper 2 about 7 months.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what the annotators say a reviewer would have asked Paper 1: remove the 'non-significant trend' (accept). Justify blocks of 2 (clarify and add a limitation). A request for an outcome that was never collected (polite rebuttal: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Template: Course/Templates/Response_to_Reviewers_Template. Participants use this format when they answer their peer reviewer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per statement. Reveal.</a:t>
            </a:r>
          </a:p>
          <a:p>
            <a:r>
              <a:rPr lang="en-US" sz="1400" b="0" dirty="0"/>
              <a:t>Statement 1 is 'often true' rather than always. Real journals also invite papers, but a flattering mass e-mail from an unknown journal deserves the five-flag check.</a:t>
            </a:r>
          </a:p>
          <a:p>
            <a:r>
              <a:rPr lang="en-US" sz="1400" b="0" dirty="0"/>
              <a:t>Statement 3: a preprint is a manuscript posted publicly (e.g. on medRxiv) before peer review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are back at 21:05 for 8.3, be the reviewer (25 min), then the proposal presentations (45 min) and the closing (15 min). During the break, open Paper 1 and Paper 2 (original PDFs) and the Session 8 exercise sheet, Part D (the answer grid). Presenters: check that your slides reached the instructor.</a:t>
            </a:r>
          </a:p>
          <a:p>
            <a:r>
              <a:rPr lang="en-US" sz="1400" b="0" dirty="0"/>
              <a:t>Break (20:50-21:05).</a:t>
            </a:r>
          </a:p>
          <a:p>
            <a:r>
              <a:rPr lang="en-US" sz="1400" b="0" dirty="0"/>
              <a:t>Open the presenters' slides on your computer and check you can share each one. Confirm the running order by chat with the volunteers.</a:t>
            </a:r>
          </a:p>
          <a:p>
            <a:r>
              <a:rPr lang="en-US" sz="1400" b="0" dirty="0"/>
              <a:t>Prepare your screen for 8.3: Paper 1 and Paper 2 (original, unannotated PDFs) in two tabs.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Full instructor guide: Course/Resources/appraisal_instructor_guide.md (model answers, prompts, key messages).</a:t>
            </a:r>
          </a:p>
          <a:p>
            <a:r>
              <a:rPr lang="en-US" sz="1400" b="0" dirty="0"/>
              <a:t>Structure: 3 minutes set-up (two papers, the 10 questions), 15 minutes whole-class appraisal with polls, 7 minutes on what each design may claim.</a:t>
            </a:r>
          </a:p>
          <a:p>
            <a:r>
              <a:rPr lang="en-US" sz="1400" b="0" dirty="0"/>
              <a:t>Why now: after the course each participant reviews one peer's FLUID-ICU draft with the same 10 questions.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(fluids in septic shock) with different designs. The whole class appraises both, with the same 10 questions (next two slides).</a:t>
            </a:r>
          </a:p>
          <a:p>
            <a:r>
              <a:rPr lang="en-US" sz="1400" b="0" dirty="0"/>
              <a:t>Each participant keeps their own copy of the answer grid (Session 8 exercise sheet, Part D) and fills it in as we go: Yes / No / Can't tell, plus the page.</a:t>
            </a:r>
          </a:p>
          <a:p>
            <a:r>
              <a:rPr lang="en-US" sz="1400" b="0" dirty="0"/>
              <a:t>Link to Session 4: the 10 questions are a simplified version of the formal risk-of-bias tools: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Do not explain the answers.</a:t>
            </a:r>
          </a:p>
          <a:p>
            <a:r>
              <a:rPr lang="en-US" sz="1400" b="0" dirty="0"/>
              <a:t>Q1-Q2 are about the question and the design (Sessions 1-4). Q3 is about who was studied, external validity: would your patients be in this study? Q4 is about whether the groups were comparable at baseline (look at Table 1). Q5 is about blinding.</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Each paper has a clear one (see the instructor guide).</a:t>
            </a:r>
          </a:p>
          <a:p>
            <a:r>
              <a:rPr lang="en-US" sz="1400" b="0" dirty="0"/>
              <a:t>Q10: clinical judgement. There is no single right answer, but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appraisal (21:08-21:23). About 1.5 minutes per question. Read the question, show the page, run the poll, then call on one person to give the evidence with the microphone on. Type the class answer into the grid on the shared screen.</a:t>
            </a:r>
          </a:p>
          <a:p>
            <a:r>
              <a:rPr lang="en-US" sz="1400" b="0" dirty="0"/>
              <a:t>The most useful prompts (more in the instructor guide): Paper 1: 'Who was not blinded, and who decided how much fluid the patients got?' (clinicians were unblinded and they prescribe the fluids that make up the outcome). 'Find p = 0.42 in the Discussion. What word did the authors use?' (page 10, 'non-significant trend'). Paper 2: 'Who decided which patients got more fluid?' (the doctors, and sicker patients receive more fluid: confounding by indication). 'Patients had to stay at least 3 days in the ICU. Who is missing?' (early deaths and early discharges: survivor bias).</a:t>
            </a:r>
          </a:p>
          <a:p>
            <a:r>
              <a:rPr lang="en-US" sz="1400" b="0" dirty="0"/>
              <a:t>The remaining questions (1-3, 6 and 10) are homework on the answer grid: good practice for the peer review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 with the next table.</a:t>
            </a:r>
          </a:p>
          <a:p>
            <a:r>
              <a:rPr lang="en-US" sz="1400" b="0" dirty="0"/>
              <a:t>Paper 1: chance decided who got the restrictive strategy, so known and unknown factors are balanced on average, so a randomised trial may make a causal claim. Its claim is negative: the strategy did not reduce day-5 fluid balance (difference 13.2 ml/kg, 95% CI -15.2 to 41.6, p = 0.42). But with 48 patients the CI is wide: this is 'no evidence of an effect', not 'evidence of no effect',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hazard ratio, 2.13, 95% CI 1.48 to 3.06), not that it 'impacts' or 'shows' anything causal, although its title says 'Impact'.</a:t>
            </a:r>
          </a:p>
          <a:p>
            <a:r>
              <a:rPr lang="en-US" sz="1400" b="0" dirty="0"/>
              <a:t>Poll: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after the class has given its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page 3. Paper 2: requiring at least 3 ICU days excludes patients who died or left early (survivor bias), page 2). The wording problem (Paper 1 page 10. Paper 2 title and page 4). And the claim each design supports.</a:t>
            </a:r>
          </a:p>
          <a:p>
            <a:r>
              <a:rPr lang="en-US" sz="1400" b="0" dirty="0"/>
              <a:t>Both papers are good, published papers in Q1 journals, and both have fixable flaws. That is the normal state of the literature, which is why appraisal is a clinical skill.</a:t>
            </a:r>
          </a:p>
          <a:p>
            <a:r>
              <a:rPr lang="en-US" sz="1400" b="0" dirty="0"/>
              <a:t>Land the four messages: design sets the verb. A wide CI means 'we don't know yet'. Published is not the same as correct. Name the reporting guideline.</a:t>
            </a:r>
          </a:p>
          <a:p>
            <a:r>
              <a:rPr lang="en-US" sz="1400" b="0" dirty="0"/>
              <a:t>Transition: 'Now it is time to hear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present their own proposal (volunteers told the course lead by the Wednesday before Session 8): 5 x (6 minutes + 2 minutes feedback) = 40 minutes, then a 5-minute closing round in which you sum up the common strengths and problems seen in the submitted proposals and remind everyone of the deadlines. Show this slide and the scoring slide in the first minute.</a:t>
            </a:r>
          </a:p>
          <a:p>
            <a:r>
              <a:rPr lang="en-US" sz="1400" b="0" dirty="0"/>
              <a:t>Everyone, presenting or not, submits slides and the written proposal before 19:30 today (Course/Assignment/proposal_brief.md).</a:t>
            </a:r>
          </a:p>
          <a:p>
            <a:r>
              <a:rPr lang="en-US" sz="1400" b="0" dirty="0"/>
              <a:t>The co-instructor keeps time and posts '2 min' at 4:00, '1 min' at 5:00 and 'Time' at 6:00 in the chat. The chair stops the talk at 6:30.</a:t>
            </a:r>
          </a:p>
          <a:p>
            <a:r>
              <a:rPr lang="en-US" sz="1400" b="0" dirty="0"/>
              <a:t>Remind the class: the reviewing skills we just used now apply to our own proposals,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Scoring: the written proposal (criteria 1-11 of Course/Assignment/proposal_rubric.md, out of 70) is scored for every participant, after the course. Criteria 12-16 (6/4/2/0 points each, out of 30) score the presentation, and only for those who present. Non-presenters: the written subtotal is scaled to 100 (rule at the top of the rubric). Presenting never lowers anyone's score.</a:t>
            </a:r>
          </a:p>
          <a:p>
            <a:r>
              <a:rPr lang="en-US" sz="1400" b="0" dirty="0"/>
              <a:t>Who scores the presentations: the instructors. Two or three people give feedback with the microphone on (two stars and a wish).</a:t>
            </a:r>
          </a:p>
          <a:p>
            <a:r>
              <a:rPr lang="en-US" sz="1400" b="0" dirty="0"/>
              <a:t>Feedback in 2 minutes (Course/Assignment/presentation_guide.md): call on two people to give two stars and a wish with the microphone on (45 seconds). instructor 1 minute (one strength, the most important improvement, one question). Presenter 15 seconds ('thank you', no defending). Fill in the feedback form at the end of the rubric and email it with the saved chat after the session.</a:t>
            </a:r>
          </a:p>
          <a:p>
            <a:r>
              <a:rPr lang="en-US" sz="1400" b="0" dirty="0"/>
              <a:t>The score is feedback to help each participant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Share each presenter's slides from your computer, or let the presenter share their screen. Keep this slide up between presenters.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presenter: target journal and correct guideline (STROBE for a cohort, CONSORT for a trial), working title in calibrated words, author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If the session runs late, shorten the closing round, never the last presentations.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They also appear in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it as homework). Worksheet: Course/Practicals/s8_exercises.md, Part A.</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Use 'association', not 'impact'.</a:t>
            </a:r>
          </a:p>
          <a:p>
            <a:r>
              <a:rPr lang="en-US" sz="1400" b="0" dirty="0"/>
              <a:t>Own title: check 10-16 words, design stated, no value words. Abstract skeleton: Results are Expected results, so write the format, e.g. '28-day mortality, RR (95%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Check the journal's policy first.</a:t>
            </a:r>
          </a:p>
          <a:p>
            <a:r>
              <a:rPr lang="en-US" sz="1400" b="0" dirty="0"/>
              <a:t>Open access: gold OA means the journal makes the article free and usually charges an article-processing charge (APC). Both our papers are gold OA. Green OA means you deposit the accepted manuscript in a repository, often after an embargo.</a:t>
            </a:r>
          </a:p>
          <a:p>
            <a:r>
              <a:rPr lang="en-US" sz="1400" b="0" dirty="0"/>
              <a:t>Licences (CC = Creative Commons): Paper 2 is CC BY (anyone may re-use and adapt with credit). Paper 1 is CC BY-NC-ND (share, but no adaptation or commercial use). This also matters when you want to re-use a figure in teaching.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in the Methods (page 4) and again after the Conclusions (page 11). It is a duplication that should have been caught at proof stage (annotation #45). Paper 2's affiliations have inconsistent capitalisation (#42).</a:t>
            </a:r>
          </a:p>
          <a:p>
            <a:r>
              <a:rPr lang="en-US" sz="1400" b="0" dirty="0"/>
              <a:t>Sharing: post the article as its licence and the journal's policy allow (Paper 2 is CC BY and allows re-use. Paper 1 is CC BY-NC-ND and allows no adaptation): institutional repository, a plain-language summary for patients and colleagues, a short talk in your department.</a:t>
            </a:r>
          </a:p>
          <a:p>
            <a:r>
              <a:rPr lang="en-US" sz="1400" b="0" dirty="0"/>
              <a:t>Corrections: if you find an error after publication, contact the journal. A correction is honest, a retraction is for serious errors or misconduct.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which can save months. Appeal only if there is a clear factual error in the decision.</a:t>
            </a:r>
          </a:p>
          <a:p>
            <a:r>
              <a:rPr lang="en-US" sz="1400" b="0" dirty="0"/>
              <a:t>Never submit to two journals at once (duplicate submission is misconduct).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An abstract that says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Do write the full paper: many abstracts never become publications.</a:t>
            </a:r>
          </a:p>
          <a:p>
            <a:r>
              <a:rPr lang="en-US" sz="1400" b="0" dirty="0"/>
              <a:t>A conference abstract template is in Course/Templates/Conference_Abstract_Template.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one-slide summary of Sessions 7-8 for self-study. The closing slides cover what the whole course built.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the last 15 minutes of Session 8. Keep it brisk and positive.</a:t>
            </a:r>
          </a:p>
          <a:p>
            <a:r>
              <a:rPr lang="en-US" sz="1400" b="0" dirty="0"/>
              <a:t>Thank the volunteers who presented, and everyone who submitted slides, before starting the quiz.</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Post-course quiz (22:15-22:23). The same online form as the pre-course quiz in Session 1.</a:t>
            </a:r>
          </a:p>
          <a:p>
            <a:r>
              <a:rPr lang="en-US" sz="1400" b="0" dirty="0"/>
              <a:t>Later: compute the mean pre/post change with the table in the pre/post quiz answer key (Course/Assessment) and report it to the department head in the course report.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What you built (1 minute). Celebrate: each participant has a proposal they could take to the ethics committee and a draft paper written from the course dataset. CRF = case report form.</a:t>
            </a:r>
          </a:p>
          <a:p>
            <a:r>
              <a:rPr lang="en-US" sz="1400" b="0" dirty="0"/>
              <a:t>Ask (call on two or three people, microphone on): what is your next step with your proposal? (Who to discuss it with, a target date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Evaluation (2 minutes, finished at home if needed). Short anonymous online form (link in the chat). The pace question matters: we planned the course to be slow and online in the evening, so tell us whether it was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 minutes). This is individual homework. Drafts are due by 23:59 tonight. Within 2 days the course lead sends each participant one peer's draft to review (a simple list so that every draft is reviewed exactly once, where possible on a different question), by email or through the course folder. Reviews are due within 1 week. The revised draft and response letter within 2 weeks.</a:t>
            </a:r>
          </a:p>
          <a:p>
            <a:r>
              <a:rPr lang="en-US" sz="1400" b="0" dirty="0"/>
              <a:t>Reviews follow Course/Assignment/peer_review_instructions.md and the 10-question checklist from 8.3. Authors reply with Course/Templates/Response_to_Reviewers_Template.</a:t>
            </a:r>
          </a:p>
          <a:p>
            <a:r>
              <a:rPr lang="en-US" sz="1400" b="0" dirty="0"/>
              <a:t>This is the last step of the whole research process, exactly what happens after a real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Level 2 (hands-on, for those who want to run analyses themselves): statistical modelling in R, one model family per session: linear, logistic, count (Poisson, negative binomial) and Cox models, with their assumptions and how to report them. Data cleaning, Table 1 and the basics of missing data are taught as far as the analysis needs them, and each participant does an individual analysis project. Prerequisite: this course plus the free Neudata course Clinical Data Analysis in R.</a:t>
            </a:r>
          </a:p>
          <a:p>
            <a:r>
              <a:rPr lang="en-US" sz="1400" b="0" dirty="0"/>
              <a:t>Level 3 (on request, workshops and consultancy): reproducible projects with version control and Quarto, figures that meet journal requirements, missing-data and sensitivity analyses in depth, systematic review and meta-analysis, and other advanced methods (prediction, diagnostic accuracy, advanced survival, longitudinal and clustered data). See Course_Levels/.</a:t>
            </a:r>
          </a:p>
          <a:p>
            <a:r>
              <a:rPr lang="en-US" sz="1400" b="0" dirty="0"/>
              <a:t>Give the trainers' contact details for follow-up questions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If everyone agrees, take a screenshot of the class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20:00  Manuscript workshop 2: Q1 together, then your own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The legal representative (or deferred consent, if the committee approved it)</a:t>
            </a:r>
          </a:p>
          <a:p>
            <a:pPr marL="274320" indent="-274320" algn="l">
              <a:lnSpc>
                <a:spcPct val="104000"/>
              </a:lnSpc>
              <a:spcBef>
                <a:spcPts val="300"/>
              </a:spcBef>
              <a:buFont typeface="Arial"/>
              <a:buChar char="•"/>
            </a:pPr>
            <a:r>
              <a:rPr lang="en-US" sz="1500" dirty="0">
                <a:solidFill>
                  <a:srgbClr val="000000"/>
                </a:solidFill>
                <a:latin typeface="Arial"/>
                <a:cs typeface="Arial"/>
              </a:rPr>
              <a:t>Item 16 (main results)</a:t>
            </a:r>
          </a:p>
          <a:p>
            <a:pPr marL="274320" indent="-274320" algn="l">
              <a:lnSpc>
                <a:spcPct val="104000"/>
              </a:lnSpc>
              <a:spcBef>
                <a:spcPts val="300"/>
              </a:spcBef>
              <a:buFont typeface="Arial"/>
              <a:buChar char="•"/>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a:t>
            </a:r>
          </a:p>
          <a:p>
            <a:pPr marL="0" indent="0" algn="ctr">
              <a:spcBef>
                <a:spcPts val="1200"/>
              </a:spcBef>
              <a:buNone/>
            </a:pPr>
            <a:r>
              <a:rPr lang="en-US" sz="1900" i="1" dirty="0">
                <a:solidFill>
                  <a:srgbClr val="595959"/>
                </a:solidFill>
                <a:latin typeface="Arial"/>
                <a:cs typeface="Arial"/>
              </a:rPr>
              <a:t>Introduction, Discussion, Abstract and Title,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Fluids save lives early in sepsis</a:t>
            </a:r>
          </a:p>
          <a:p>
            <a:pPr marL="0" indent="0" algn="l">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Sicker patients get more fluid</a:t>
            </a:r>
          </a:p>
          <a:p>
            <a:pPr marL="0" indent="0" algn="l">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First sentence answers the question</a:t>
            </a:r>
          </a:p>
          <a:p>
            <a:pPr marL="0" indent="0" algn="l">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With other studies, and why they differ</a:t>
            </a:r>
          </a:p>
          <a:p>
            <a:pPr marL="0" indent="0" algn="l">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Mechanism, briefly</a:t>
            </a:r>
          </a:p>
          <a:p>
            <a:pPr marL="0" indent="0" algn="l">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Specific: mechanism, direction, fix</a:t>
            </a:r>
          </a:p>
          <a:p>
            <a:pPr marL="0" indent="0" algn="l">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For practice and research, labelled</a:t>
            </a:r>
          </a:p>
          <a:p>
            <a:pPr marL="0" indent="0" algn="l">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Better</a:t>
            </a:r>
          </a:p>
          <a:p>
            <a:pPr marL="274320" indent="-274320" algn="l">
              <a:lnSpc>
                <a:spcPct val="104000"/>
              </a:lnSpc>
              <a:spcBef>
                <a:spcPts val="300"/>
              </a:spcBef>
              <a:buFont typeface="Arial"/>
              <a:buChar char="•"/>
            </a:pPr>
            <a:r>
              <a:rPr lang="en-US" sz="1500" dirty="0">
                <a:solidFill>
                  <a:srgbClr val="000000"/>
                </a:solidFill>
                <a:latin typeface="Arial"/>
                <a:cs typeface="Arial"/>
              </a:rPr>
              <a:t>'... was associated with ...'</a:t>
            </a:r>
          </a:p>
          <a:p>
            <a:pPr marL="274320" indent="-274320" algn="l">
              <a:lnSpc>
                <a:spcPct val="104000"/>
              </a:lnSpc>
              <a:spcBef>
                <a:spcPts val="300"/>
              </a:spcBef>
              <a:buFont typeface="Arial"/>
              <a:buChar char="•"/>
            </a:pPr>
            <a:r>
              <a:rPr lang="en-US" sz="1500" dirty="0">
                <a:solidFill>
                  <a:srgbClr val="000000"/>
                </a:solidFill>
                <a:latin typeface="Arial"/>
                <a:cs typeface="Arial"/>
              </a:rPr>
              <a:t>'... was associated with higher odds of AKI'</a:t>
            </a:r>
          </a:p>
          <a:p>
            <a:pPr marL="274320" indent="-274320" algn="l">
              <a:lnSpc>
                <a:spcPct val="104000"/>
              </a:lnSpc>
              <a:spcBef>
                <a:spcPts val="300"/>
              </a:spcBef>
              <a:buFont typeface="Arial"/>
              <a:buChar char="•"/>
            </a:pPr>
            <a:r>
              <a:rPr lang="en-US" sz="1500" dirty="0">
                <a:solidFill>
                  <a:srgbClr val="000000"/>
                </a:solidFill>
                <a:latin typeface="Arial"/>
                <a:cs typeface="Arial"/>
              </a:rPr>
              <a:t>'HR 1.46 (1.00 to 2.13): the CI reaches 1'</a:t>
            </a:r>
          </a:p>
          <a:p>
            <a:pPr marL="274320" indent="-274320" algn="l">
              <a:lnSpc>
                <a:spcPct val="104000"/>
              </a:lnSpc>
              <a:spcBef>
                <a:spcPts val="300"/>
              </a:spcBef>
              <a:buFont typeface="Arial"/>
              <a:buChar char="•"/>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l">
              <a:lnSpc>
                <a:spcPct val="104000"/>
              </a:lnSpc>
              <a:spcBef>
                <a:spcPts val="400"/>
              </a:spcBef>
              <a:buNone/>
            </a:pPr>
            <a:r>
              <a:rPr lang="en-US" sz="1450" dirty="0">
                <a:solidFill>
                  <a:srgbClr val="C0392B"/>
                </a:solidFill>
                <a:latin typeface="Arial"/>
                <a:cs typeface="Arial"/>
              </a:rPr>
              <a:t>Problem: over 25 words, value words</a:t>
            </a:r>
          </a:p>
          <a:p>
            <a:pPr marL="0" indent="0" algn="l">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l">
              <a:lnSpc>
                <a:spcPct val="104000"/>
              </a:lnSpc>
              <a:spcBef>
                <a:spcPts val="400"/>
              </a:spcBef>
              <a:buNone/>
            </a:pPr>
            <a:r>
              <a:rPr lang="en-US" sz="1450" dirty="0">
                <a:solidFill>
                  <a:srgbClr val="C0392B"/>
                </a:solidFill>
                <a:latin typeface="Arial"/>
                <a:cs typeface="Arial"/>
              </a:rPr>
              <a:t>Problem: 'impact' is a causal word for a cohort</a:t>
            </a:r>
          </a:p>
          <a:p>
            <a:pPr marL="0" indent="0" algn="l">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Use a reference manager</a:t>
            </a:r>
          </a:p>
          <a:p>
            <a:pPr marL="0" indent="0" algn="l">
              <a:lnSpc>
                <a:spcPct val="104000"/>
              </a:lnSpc>
              <a:spcBef>
                <a:spcPts val="400"/>
              </a:spcBef>
              <a:buNone/>
            </a:pPr>
            <a:r>
              <a:rPr lang="en-US" sz="1750" dirty="0">
                <a:solidFill>
                  <a:srgbClr val="000000"/>
                </a:solidFill>
                <a:latin typeface="Arial"/>
                <a:cs typeface="Arial"/>
              </a:rPr>
              <a:t>Check every citation</a:t>
            </a:r>
          </a:p>
          <a:p>
            <a:pPr marL="0" indent="0" algn="l">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Fill it in while writing</a:t>
            </a:r>
          </a:p>
          <a:p>
            <a:pPr marL="0" indent="0" algn="l">
              <a:lnSpc>
                <a:spcPct val="104000"/>
              </a:lnSpc>
              <a:spcBef>
                <a:spcPts val="400"/>
              </a:spcBef>
              <a:buNone/>
            </a:pPr>
            <a:r>
              <a:rPr lang="en-US" sz="1750" dirty="0">
                <a:solidFill>
                  <a:srgbClr val="000000"/>
                </a:solidFill>
                <a:latin typeface="Arial"/>
                <a:cs typeface="Arial"/>
              </a:rPr>
              <a:t>Add page numbers</a:t>
            </a:r>
          </a:p>
          <a:p>
            <a:pPr marL="0" indent="0" algn="l">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Text = table, for every number</a:t>
            </a:r>
          </a:p>
          <a:p>
            <a:pPr marL="0" indent="0" algn="l">
              <a:lnSpc>
                <a:spcPct val="104000"/>
              </a:lnSpc>
              <a:spcBef>
                <a:spcPts val="400"/>
              </a:spcBef>
              <a:buNone/>
            </a:pPr>
            <a:r>
              <a:rPr lang="en-US" sz="1750" dirty="0">
                <a:solidFill>
                  <a:srgbClr val="000000"/>
                </a:solidFill>
                <a:latin typeface="Arial"/>
                <a:cs typeface="Arial"/>
              </a:rPr>
              <a:t>Call-outs point to the right figure</a:t>
            </a:r>
          </a:p>
          <a:p>
            <a:pPr marL="0" indent="0" algn="l">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Complete the draft: together, then on your own</a:t>
            </a:r>
          </a:p>
          <a:p>
            <a:pPr marL="0" indent="0" algn="ctr">
              <a:spcBef>
                <a:spcPts val="1200"/>
              </a:spcBef>
              <a:buNone/>
            </a:pPr>
            <a:r>
              <a:rPr lang="en-US" sz="1900" i="1" dirty="0">
                <a:solidFill>
                  <a:srgbClr val="595959"/>
                </a:solidFill>
                <a:latin typeface="Arial"/>
                <a:cs typeface="Arial"/>
              </a:rPr>
              <a:t>22 minutes drafting Q1 live with the whole class, then 8 minutes on your own aim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part 1: we complete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22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Introduction (6 min): three paragraphs. You suggest sentences aloud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Discussion (9 min): six moves, one or two sentences each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Abstract (5 min): numbers copied from the class Results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Title and verb check (2 min): every 'cause' or 'impact' becomes 'associated with'</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Use</a:t>
            </a:r>
          </a:p>
          <a:p>
            <a:pPr marL="274320" indent="-274320" algn="l">
              <a:lnSpc>
                <a:spcPct val="104000"/>
              </a:lnSpc>
              <a:spcBef>
                <a:spcPts val="300"/>
              </a:spcBef>
              <a:buFont typeface="Arial"/>
              <a:buChar char="•"/>
            </a:pPr>
            <a:r>
              <a:rPr lang="en-US" sz="1500" dirty="0">
                <a:solidFill>
                  <a:srgbClr val="000000"/>
                </a:solidFill>
                <a:latin typeface="Arial"/>
                <a:cs typeface="Arial"/>
              </a:rPr>
              <a:t>Class Q1 draft from Session 7 (PDF)</a:t>
            </a:r>
          </a:p>
          <a:p>
            <a:pPr marL="274320" indent="-274320" algn="l">
              <a:lnSpc>
                <a:spcPct val="104000"/>
              </a:lnSpc>
              <a:spcBef>
                <a:spcPts val="300"/>
              </a:spcBef>
              <a:buFont typeface="Arial"/>
              <a:buChar char="•"/>
            </a:pPr>
            <a:r>
              <a:rPr lang="en-US" sz="1500" dirty="0">
                <a:solidFill>
                  <a:srgbClr val="000000"/>
                </a:solidFill>
                <a:latin typeface="Arial"/>
                <a:cs typeface="Arial"/>
              </a:rPr>
              <a:t>Results pack Q1</a:t>
            </a:r>
          </a:p>
          <a:p>
            <a:pPr marL="274320" indent="-274320" algn="l">
              <a:lnSpc>
                <a:spcPct val="104000"/>
              </a:lnSpc>
              <a:spcBef>
                <a:spcPts val="300"/>
              </a:spcBef>
              <a:buFont typeface="Arial"/>
              <a:buChar char="•"/>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complete class draft for Q1, shared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part 2: your own aim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the aim sentence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Tonight: add the Introduction, Discussion and Abstract. Submit by 23:59</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Submit</a:t>
            </a:r>
          </a:p>
          <a:p>
            <a:pPr marL="274320" indent="-274320" algn="l">
              <a:lnSpc>
                <a:spcPct val="104000"/>
              </a:lnSpc>
              <a:spcBef>
                <a:spcPts val="300"/>
              </a:spcBef>
              <a:buFont typeface="Arial"/>
              <a:buChar char="•"/>
            </a:pPr>
            <a:r>
              <a:rPr lang="en-US" sz="1500" dirty="0">
                <a:solidFill>
                  <a:srgbClr val="000000"/>
                </a:solidFill>
                <a:latin typeface="Arial"/>
                <a:cs typeface="Arial"/>
              </a:rPr>
              <a:t>Complete draft, about 2,000 words</a:t>
            </a:r>
          </a:p>
          <a:p>
            <a:pPr marL="274320" indent="-274320" algn="l">
              <a:lnSpc>
                <a:spcPct val="104000"/>
              </a:lnSpc>
              <a:spcBef>
                <a:spcPts val="300"/>
              </a:spcBef>
              <a:buFont typeface="Arial"/>
              <a:buChar char="•"/>
            </a:pPr>
            <a:r>
              <a:rPr lang="en-US" sz="1500" dirty="0">
                <a:solidFill>
                  <a:srgbClr val="000000"/>
                </a:solidFill>
                <a:latin typeface="Arial"/>
                <a:cs typeface="Arial"/>
              </a:rPr>
              <a:t>By 23:59 tonight</a:t>
            </a:r>
          </a:p>
          <a:p>
            <a:pPr marL="274320" indent="-274320" algn="l">
              <a:lnSpc>
                <a:spcPct val="104000"/>
              </a:lnSpc>
              <a:spcBef>
                <a:spcPts val="300"/>
              </a:spcBef>
              <a:buFont typeface="Arial"/>
              <a:buChar char="•"/>
            </a:pPr>
            <a:r>
              <a:rPr lang="en-US" sz="1500" dirty="0">
                <a:solidFill>
                  <a:srgbClr val="000000"/>
                </a:solidFill>
                <a:latin typeface="Arial"/>
                <a:cs typeface="Arial"/>
              </a:rPr>
              <a:t>Course folder or email to the course lead</a:t>
            </a:r>
          </a:p>
          <a:p>
            <a:pPr marL="274320" indent="-274320" algn="l">
              <a:lnSpc>
                <a:spcPct val="104000"/>
              </a:lnSpc>
              <a:spcBef>
                <a:spcPts val="300"/>
              </a:spcBef>
              <a:buFont typeface="Arial"/>
              <a:buChar char="•"/>
            </a:pPr>
            <a:r>
              <a:rPr lang="en-US" sz="1500" dirty="0">
                <a:solidFill>
                  <a:srgbClr val="000000"/>
                </a:solidFill>
                <a:latin typeface="Arial"/>
                <a:cs typeface="Arial"/>
              </a:rPr>
              <a:t>Then the peer review (closing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aim sentence and working title. The complete draft submitted by 23:59 tonight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Who needs your result?</a:t>
            </a:r>
          </a:p>
          <a:p>
            <a:pPr marL="0" indent="0" algn="l">
              <a:lnSpc>
                <a:spcPct val="104000"/>
              </a:lnSpc>
              <a:spcBef>
                <a:spcPts val="400"/>
              </a:spcBef>
              <a:buNone/>
            </a:pPr>
            <a:r>
              <a:rPr lang="en-US" sz="1600" dirty="0">
                <a:solidFill>
                  <a:srgbClr val="000000"/>
                </a:solidFill>
                <a:latin typeface="Arial"/>
                <a:cs typeface="Arial"/>
              </a:rPr>
              <a:t>Read 3 recent issues</a:t>
            </a:r>
          </a:p>
          <a:p>
            <a:pPr marL="0" indent="0" algn="l">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Indexed in MEDLINE, DOAJ, Scopus or Web of Science</a:t>
            </a:r>
          </a:p>
          <a:p>
            <a:pPr marL="0" indent="0" algn="l">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Guide for Authors</a:t>
            </a:r>
          </a:p>
          <a:p>
            <a:pPr marL="0" indent="0" algn="l">
              <a:lnSpc>
                <a:spcPct val="104000"/>
              </a:lnSpc>
              <a:spcBef>
                <a:spcPts val="400"/>
              </a:spcBef>
              <a:buNone/>
            </a:pPr>
            <a:r>
              <a:rPr lang="en-US" sz="1600" dirty="0">
                <a:solidFill>
                  <a:srgbClr val="000000"/>
                </a:solidFill>
                <a:latin typeface="Arial"/>
                <a:cs typeface="Arial"/>
              </a:rPr>
              <a:t>Word limit, checklist</a:t>
            </a:r>
          </a:p>
          <a:p>
            <a:pPr marL="0" indent="0" algn="l">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Article fee (APC) and waivers</a:t>
            </a:r>
          </a:p>
          <a:p>
            <a:pPr marL="0" indent="0" algn="l">
              <a:lnSpc>
                <a:spcPct val="104000"/>
              </a:lnSpc>
              <a:spcBef>
                <a:spcPts val="400"/>
              </a:spcBef>
              <a:buNone/>
            </a:pPr>
            <a:r>
              <a:rPr lang="en-US" sz="1600" dirty="0">
                <a:solidFill>
                  <a:srgbClr val="000000"/>
                </a:solidFill>
                <a:latin typeface="Arial"/>
                <a:cs typeface="Arial"/>
              </a:rPr>
              <a:t>Licence: who may re-use the paper</a:t>
            </a:r>
          </a:p>
          <a:p>
            <a:pPr marL="0" indent="0" algn="l">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Where the checklist PDF is</a:t>
            </a:r>
          </a:p>
          <a:p>
            <a:pPr marL="274320" indent="-274320" algn="l">
              <a:lnSpc>
                <a:spcPct val="104000"/>
              </a:lnSpc>
              <a:spcBef>
                <a:spcPts val="300"/>
              </a:spcBef>
              <a:buFont typeface="Arial"/>
              <a:buChar char="•"/>
            </a:pPr>
            <a:r>
              <a:rPr lang="en-US" sz="1500" dirty="0">
                <a:solidFill>
                  <a:srgbClr val="000000"/>
                </a:solidFill>
                <a:latin typeface="Arial"/>
                <a:cs typeface="Arial"/>
              </a:rPr>
              <a:t>How to see if a journal is in MEDLINE</a:t>
            </a:r>
          </a:p>
          <a:p>
            <a:pPr marL="274320" indent="-274320" algn="l">
              <a:lnSpc>
                <a:spcPct val="104000"/>
              </a:lnSpc>
              <a:spcBef>
                <a:spcPts val="300"/>
              </a:spcBef>
              <a:buFont typeface="Arial"/>
              <a:buChar char="•"/>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Screens the paper</a:t>
            </a:r>
          </a:p>
          <a:p>
            <a:pPr marL="0" indent="0" algn="l">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Change the paper</a:t>
            </a:r>
          </a:p>
          <a:p>
            <a:pPr marL="0" indent="0" algn="l">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l">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l">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l">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l">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Comment: please add 90-day mortality.</a:t>
            </a:r>
          </a:p>
          <a:p>
            <a:pPr marL="0" indent="0" algn="l">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l">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Often: check it twice</a:t>
            </a:r>
          </a:p>
          <a:p>
            <a:pPr marL="274320" indent="-274320" algn="l">
              <a:lnSpc>
                <a:spcPct val="104000"/>
              </a:lnSpc>
              <a:spcBef>
                <a:spcPts val="300"/>
              </a:spcBef>
              <a:buFont typeface="Arial"/>
              <a:buChar char="•"/>
            </a:pPr>
            <a:r>
              <a:rPr lang="en-US" sz="1500" dirty="0">
                <a:solidFill>
                  <a:srgbClr val="000000"/>
                </a:solidFill>
                <a:latin typeface="Arial"/>
                <a:cs typeface="Arial"/>
              </a:rPr>
              <a:t>False: duplicate submission</a:t>
            </a:r>
          </a:p>
          <a:p>
            <a:pPr marL="274320" indent="-274320" algn="l">
              <a:lnSpc>
                <a:spcPct val="104000"/>
              </a:lnSpc>
              <a:spcBef>
                <a:spcPts val="300"/>
              </a:spcBef>
              <a:buFont typeface="Arial"/>
              <a:buChar char="•"/>
            </a:pPr>
            <a:r>
              <a:rPr lang="en-US" sz="1500" dirty="0">
                <a:solidFill>
                  <a:srgbClr val="000000"/>
                </a:solidFill>
                <a:latin typeface="Arial"/>
                <a:cs typeface="Arial"/>
              </a:rPr>
              <a:t>False: posted before peer review</a:t>
            </a:r>
          </a:p>
          <a:p>
            <a:pPr marL="274320" indent="-274320" algn="l">
              <a:lnSpc>
                <a:spcPct val="104000"/>
              </a:lnSpc>
              <a:spcBef>
                <a:spcPts val="300"/>
              </a:spcBef>
              <a:buFont typeface="Arial"/>
              <a:buChar char="•"/>
            </a:pPr>
            <a:r>
              <a:rPr lang="en-US" sz="1500" dirty="0">
                <a:solidFill>
                  <a:srgbClr val="000000"/>
                </a:solidFill>
                <a:latin typeface="Arial"/>
                <a:cs typeface="Arial"/>
              </a:rPr>
              <a:t>True: politely, with evidence</a:t>
            </a:r>
          </a:p>
          <a:p>
            <a:pPr marL="274320" indent="-274320" algn="l">
              <a:lnSpc>
                <a:spcPct val="104000"/>
              </a:lnSpc>
              <a:spcBef>
                <a:spcPts val="300"/>
              </a:spcBef>
              <a:buFont typeface="Arial"/>
              <a:buChar char="•"/>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Course/Papers.</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Boulet 2024, Critical Care</a:t>
            </a:r>
          </a:p>
          <a:p>
            <a:pPr marL="0" indent="0" algn="l">
              <a:lnSpc>
                <a:spcPct val="104000"/>
              </a:lnSpc>
              <a:spcBef>
                <a:spcPts val="400"/>
              </a:spcBef>
              <a:buNone/>
            </a:pPr>
            <a:r>
              <a:rPr lang="en-US" sz="1750" dirty="0">
                <a:solidFill>
                  <a:srgbClr val="000000"/>
                </a:solidFill>
                <a:latin typeface="Arial"/>
                <a:cs typeface="Arial"/>
              </a:rPr>
              <a:t>Pilot trial, 48 patients analysed</a:t>
            </a:r>
          </a:p>
          <a:p>
            <a:pPr marL="0" indent="0" algn="l">
              <a:lnSpc>
                <a:spcPct val="104000"/>
              </a:lnSpc>
              <a:spcBef>
                <a:spcPts val="400"/>
              </a:spcBef>
              <a:buNone/>
            </a:pPr>
            <a:r>
              <a:rPr lang="en-US" sz="1750" dirty="0">
                <a:solidFill>
                  <a:srgbClr val="000000"/>
                </a:solidFill>
                <a:latin typeface="Arial"/>
                <a:cs typeface="Arial"/>
              </a:rPr>
              <a:t>Restrictive vs usual fluids in septic shock</a:t>
            </a:r>
          </a:p>
          <a:p>
            <a:pPr marL="0" indent="0" algn="l">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Hyun 2023, Annals of Intensive Care</a:t>
            </a:r>
          </a:p>
          <a:p>
            <a:pPr marL="0" indent="0" algn="l">
              <a:lnSpc>
                <a:spcPct val="104000"/>
              </a:lnSpc>
              <a:spcBef>
                <a:spcPts val="400"/>
              </a:spcBef>
              <a:buNone/>
            </a:pPr>
            <a:r>
              <a:rPr lang="en-US" sz="1750" dirty="0">
                <a:solidFill>
                  <a:srgbClr val="000000"/>
                </a:solidFill>
                <a:latin typeface="Arial"/>
                <a:cs typeface="Arial"/>
              </a:rPr>
              <a:t>Propensity-matched cohort, 2516 patients</a:t>
            </a:r>
          </a:p>
          <a:p>
            <a:pPr marL="0" indent="0" algn="l">
              <a:lnSpc>
                <a:spcPct val="104000"/>
              </a:lnSpc>
              <a:spcBef>
                <a:spcPts val="400"/>
              </a:spcBef>
              <a:buNone/>
            </a:pPr>
            <a:r>
              <a:rPr lang="en-US" sz="1750" dirty="0">
                <a:solidFill>
                  <a:srgbClr val="000000"/>
                </a:solidFill>
                <a:latin typeface="Arial"/>
                <a:cs typeface="Arial"/>
              </a:rPr>
              <a:t>Positive fluid balance in sepsis</a:t>
            </a:r>
          </a:p>
          <a:p>
            <a:pPr marL="0" indent="0" algn="l">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Who was included, and who was left out?</a:t>
            </a:r>
          </a:p>
          <a:p>
            <a:pPr marL="0" indent="0" algn="l">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Were the groups similar at the start (Table 1)?</a:t>
            </a:r>
          </a:p>
          <a:p>
            <a:pPr marL="0" indent="0" algn="l">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Who knew which group patients were in (blinding)?</a:t>
            </a:r>
          </a:p>
          <a:p>
            <a:pPr marL="0" indent="0" algn="l">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l">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Are the main limitations stated honestly?</a:t>
            </a:r>
          </a:p>
          <a:p>
            <a:pPr marL="0" indent="0" algn="l">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Would this change practice in your unit?</a:t>
            </a:r>
          </a:p>
          <a:p>
            <a:pPr marL="0" indent="0" algn="l">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Where to look</a:t>
            </a:r>
          </a:p>
          <a:p>
            <a:pPr marL="274320" indent="-274320" algn="l">
              <a:lnSpc>
                <a:spcPct val="104000"/>
              </a:lnSpc>
              <a:spcBef>
                <a:spcPts val="300"/>
              </a:spcBef>
              <a:buFont typeface="Arial"/>
              <a:buChar char="•"/>
            </a:pPr>
            <a:r>
              <a:rPr lang="en-US" sz="1500" dirty="0">
                <a:solidFill>
                  <a:srgbClr val="000000"/>
                </a:solidFill>
                <a:latin typeface="Arial"/>
                <a:cs typeface="Arial"/>
              </a:rPr>
              <a:t>Abstract: question and result</a:t>
            </a:r>
          </a:p>
          <a:p>
            <a:pPr marL="274320" indent="-274320" algn="l">
              <a:lnSpc>
                <a:spcPct val="104000"/>
              </a:lnSpc>
              <a:spcBef>
                <a:spcPts val="300"/>
              </a:spcBef>
              <a:buFont typeface="Arial"/>
              <a:buChar char="•"/>
            </a:pPr>
            <a:r>
              <a:rPr lang="en-US" sz="1500" dirty="0">
                <a:solidFill>
                  <a:srgbClr val="000000"/>
                </a:solidFill>
                <a:latin typeface="Arial"/>
                <a:cs typeface="Arial"/>
              </a:rPr>
              <a:t>Methods: design, blinding, outcome</a:t>
            </a:r>
          </a:p>
          <a:p>
            <a:pPr marL="274320" indent="-274320" algn="l">
              <a:lnSpc>
                <a:spcPct val="104000"/>
              </a:lnSpc>
              <a:spcBef>
                <a:spcPts val="300"/>
              </a:spcBef>
              <a:buFont typeface="Arial"/>
              <a:buChar char="•"/>
            </a:pPr>
            <a:r>
              <a:rPr lang="en-US" sz="1500" dirty="0">
                <a:solidFill>
                  <a:srgbClr val="000000"/>
                </a:solidFill>
                <a:latin typeface="Arial"/>
                <a:cs typeface="Arial"/>
              </a:rPr>
              <a:t>Table 1: groups similar?</a:t>
            </a:r>
          </a:p>
          <a:p>
            <a:pPr marL="274320" indent="-274320" algn="l">
              <a:lnSpc>
                <a:spcPct val="104000"/>
              </a:lnSpc>
              <a:spcBef>
                <a:spcPts val="300"/>
              </a:spcBef>
              <a:buFont typeface="Arial"/>
              <a:buChar char="•"/>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l">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l">
              <a:lnSpc>
                <a:spcPct val="104000"/>
              </a:lnSpc>
              <a:spcBef>
                <a:spcPts val="400"/>
              </a:spcBef>
              <a:buNone/>
            </a:pPr>
            <a:r>
              <a:rPr lang="en-US" sz="1750" b="1" dirty="0">
                <a:solidFill>
                  <a:srgbClr val="2E8B57"/>
                </a:solidFill>
                <a:latin typeface="Arial"/>
                <a:cs typeface="Arial"/>
              </a:rPr>
              <a:t>May say: 'did not reduce'</a:t>
            </a:r>
          </a:p>
          <a:p>
            <a:pPr marL="0" indent="0" algn="l">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l">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l">
              <a:lnSpc>
                <a:spcPct val="104000"/>
              </a:lnSpc>
              <a:spcBef>
                <a:spcPts val="400"/>
              </a:spcBef>
              <a:buNone/>
            </a:pPr>
            <a:r>
              <a:rPr lang="en-US" sz="1750" b="1" dirty="0">
                <a:solidFill>
                  <a:srgbClr val="2E8B57"/>
                </a:solidFill>
                <a:latin typeface="Arial"/>
                <a:cs typeface="Arial"/>
              </a:rPr>
              <a:t>May say: 'is associated with'</a:t>
            </a:r>
          </a:p>
          <a:p>
            <a:pPr marL="0" indent="0" algn="l">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Course/Resources/appraisal_instructor_guide.md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 doctor and nurse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Course/Assignment/proposal_rubric.md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stars and a wish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Arial"/>
                <a:cs typeface="Arial"/>
              </a:rPr>
              <a:t>Running order</a:t>
            </a:r>
          </a:p>
          <a:p>
            <a:pPr marL="274320" indent="-274320" algn="l">
              <a:lnSpc>
                <a:spcPct val="104000"/>
              </a:lnSpc>
              <a:spcBef>
                <a:spcPts val="300"/>
              </a:spcBef>
              <a:buFont typeface="Arial"/>
              <a:buChar char="•"/>
            </a:pPr>
            <a:r>
              <a:rPr lang="en-US" sz="1500" dirty="0">
                <a:solidFill>
                  <a:srgbClr val="000000"/>
                </a:solidFill>
                <a:latin typeface="Arial"/>
                <a:cs typeface="Arial"/>
              </a:rPr>
              <a:t>21:30  Presenter 1</a:t>
            </a:r>
          </a:p>
          <a:p>
            <a:pPr marL="274320" indent="-274320" algn="l">
              <a:lnSpc>
                <a:spcPct val="104000"/>
              </a:lnSpc>
              <a:spcBef>
                <a:spcPts val="300"/>
              </a:spcBef>
              <a:buFont typeface="Arial"/>
              <a:buChar char="•"/>
            </a:pPr>
            <a:r>
              <a:rPr lang="en-US" sz="1500" dirty="0">
                <a:solidFill>
                  <a:srgbClr val="000000"/>
                </a:solidFill>
                <a:latin typeface="Arial"/>
                <a:cs typeface="Arial"/>
              </a:rPr>
              <a:t>21:38  Presenter 2</a:t>
            </a:r>
          </a:p>
          <a:p>
            <a:pPr marL="274320" indent="-274320" algn="l">
              <a:lnSpc>
                <a:spcPct val="104000"/>
              </a:lnSpc>
              <a:spcBef>
                <a:spcPts val="300"/>
              </a:spcBef>
              <a:buFont typeface="Arial"/>
              <a:buChar char="•"/>
            </a:pPr>
            <a:r>
              <a:rPr lang="en-US" sz="1500" dirty="0">
                <a:solidFill>
                  <a:srgbClr val="000000"/>
                </a:solidFill>
                <a:latin typeface="Arial"/>
                <a:cs typeface="Arial"/>
              </a:rPr>
              <a:t>21:46  Presenter 3</a:t>
            </a:r>
          </a:p>
          <a:p>
            <a:pPr marL="274320" indent="-274320" algn="l">
              <a:lnSpc>
                <a:spcPct val="104000"/>
              </a:lnSpc>
              <a:spcBef>
                <a:spcPts val="300"/>
              </a:spcBef>
              <a:buFont typeface="Arial"/>
              <a:buChar char="•"/>
            </a:pPr>
            <a:r>
              <a:rPr lang="en-US" sz="1500" dirty="0">
                <a:solidFill>
                  <a:srgbClr val="000000"/>
                </a:solidFill>
                <a:latin typeface="Arial"/>
                <a:cs typeface="Arial"/>
              </a:rPr>
              <a:t>21:54  Presenter 4</a:t>
            </a:r>
          </a:p>
          <a:p>
            <a:pPr marL="274320" indent="-274320" algn="l">
              <a:lnSpc>
                <a:spcPct val="104000"/>
              </a:lnSpc>
              <a:spcBef>
                <a:spcPts val="300"/>
              </a:spcBef>
              <a:buFont typeface="Arial"/>
              <a:buChar char="•"/>
            </a:pPr>
            <a:r>
              <a:rPr lang="en-US" sz="1500" dirty="0">
                <a:solidFill>
                  <a:srgbClr val="000000"/>
                </a:solidFill>
                <a:latin typeface="Arial"/>
                <a:cs typeface="Arial"/>
              </a:rPr>
              <a:t>22:02  Presenter 5</a:t>
            </a:r>
          </a:p>
          <a:p>
            <a:pPr marL="274320" indent="-274320" algn="l">
              <a:lnSpc>
                <a:spcPct val="104000"/>
              </a:lnSpc>
              <a:spcBef>
                <a:spcPts val="300"/>
              </a:spcBef>
              <a:buFont typeface="Arial"/>
              <a:buChar char="•"/>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Course/References/glossary_EN_VN (PDF in the course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Publication plan (Part 4)</a:t>
            </a:r>
          </a:p>
          <a:p>
            <a:pPr marL="274320" indent="-274320" algn="l">
              <a:lnSpc>
                <a:spcPct val="104000"/>
              </a:lnSpc>
              <a:spcBef>
                <a:spcPts val="300"/>
              </a:spcBef>
              <a:buFont typeface="Arial"/>
              <a:buChar char="•"/>
            </a:pPr>
            <a:r>
              <a:rPr lang="en-US" sz="1500" dirty="0">
                <a:solidFill>
                  <a:srgbClr val="000000"/>
                </a:solidFill>
                <a:latin typeface="Arial"/>
                <a:cs typeface="Arial"/>
              </a:rPr>
              <a:t>Working title</a:t>
            </a:r>
          </a:p>
          <a:p>
            <a:pPr marL="274320" indent="-274320" algn="l">
              <a:lnSpc>
                <a:spcPct val="104000"/>
              </a:lnSpc>
              <a:spcBef>
                <a:spcPts val="300"/>
              </a:spcBef>
              <a:buFont typeface="Arial"/>
              <a:buChar char="•"/>
            </a:pPr>
            <a:r>
              <a:rPr lang="en-US" sz="1500" dirty="0">
                <a:solidFill>
                  <a:srgbClr val="000000"/>
                </a:solidFill>
                <a:latin typeface="Arial"/>
                <a:cs typeface="Arial"/>
              </a:rPr>
              <a:t>Abstract skeleton</a:t>
            </a:r>
          </a:p>
          <a:p>
            <a:pPr marL="274320" indent="-274320" algn="l">
              <a:lnSpc>
                <a:spcPct val="104000"/>
              </a:lnSpc>
              <a:spcBef>
                <a:spcPts val="300"/>
              </a:spcBef>
              <a:buFont typeface="Arial"/>
              <a:buChar char="•"/>
            </a:pPr>
            <a:r>
              <a:rPr lang="en-US" sz="1500" dirty="0">
                <a:solidFill>
                  <a:srgbClr val="000000"/>
                </a:solidFill>
                <a:latin typeface="Arial"/>
                <a:cs typeface="Arial"/>
              </a:rPr>
              <a:t>Authors and their roles</a:t>
            </a:r>
          </a:p>
          <a:p>
            <a:pPr marL="274320" indent="-274320" algn="l">
              <a:lnSpc>
                <a:spcPct val="104000"/>
              </a:lnSpc>
              <a:spcBef>
                <a:spcPts val="300"/>
              </a:spcBef>
              <a:buFont typeface="Arial"/>
              <a:buChar char="•"/>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Posted before peer review (e.g. medRxiv)</a:t>
            </a:r>
          </a:p>
          <a:p>
            <a:pPr marL="0" indent="0" algn="l">
              <a:lnSpc>
                <a:spcPct val="104000"/>
              </a:lnSpc>
              <a:spcBef>
                <a:spcPts val="400"/>
              </a:spcBef>
              <a:buNone/>
            </a:pPr>
            <a:r>
              <a:rPr lang="en-US" sz="1750" dirty="0">
                <a:solidFill>
                  <a:srgbClr val="000000"/>
                </a:solidFill>
                <a:latin typeface="Arial"/>
                <a:cs typeface="Arial"/>
              </a:rPr>
              <a:t>Fast, timestamped, open feedback</a:t>
            </a:r>
          </a:p>
          <a:p>
            <a:pPr marL="0" indent="0" algn="l">
              <a:lnSpc>
                <a:spcPct val="104000"/>
              </a:lnSpc>
              <a:spcBef>
                <a:spcPts val="400"/>
              </a:spcBef>
              <a:buNone/>
            </a:pPr>
            <a:r>
              <a:rPr lang="en-US" sz="1750" dirty="0">
                <a:solidFill>
                  <a:srgbClr val="000000"/>
                </a:solidFill>
                <a:latin typeface="Arial"/>
                <a:cs typeface="Arial"/>
              </a:rPr>
              <a:t>Not peer-reviewed: say so</a:t>
            </a:r>
          </a:p>
          <a:p>
            <a:pPr marL="0" indent="0" algn="l">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Free for everyone to read</a:t>
            </a:r>
          </a:p>
          <a:p>
            <a:pPr marL="0" indent="0" algn="l">
              <a:lnSpc>
                <a:spcPct val="104000"/>
              </a:lnSpc>
              <a:spcBef>
                <a:spcPts val="400"/>
              </a:spcBef>
              <a:buNone/>
            </a:pPr>
            <a:r>
              <a:rPr lang="en-US" sz="1750" dirty="0">
                <a:solidFill>
                  <a:srgbClr val="000000"/>
                </a:solidFill>
                <a:latin typeface="Arial"/>
                <a:cs typeface="Arial"/>
              </a:rPr>
              <a:t>Gold: the journal charges a fee (APC)</a:t>
            </a:r>
          </a:p>
          <a:p>
            <a:pPr marL="0" indent="0" algn="l">
              <a:lnSpc>
                <a:spcPct val="104000"/>
              </a:lnSpc>
              <a:spcBef>
                <a:spcPts val="400"/>
              </a:spcBef>
              <a:buNone/>
            </a:pPr>
            <a:r>
              <a:rPr lang="en-US" sz="1750" dirty="0">
                <a:solidFill>
                  <a:srgbClr val="000000"/>
                </a:solidFill>
                <a:latin typeface="Arial"/>
                <a:cs typeface="Arial"/>
              </a:rPr>
              <a:t>Green: accepted version in a repository</a:t>
            </a:r>
          </a:p>
          <a:p>
            <a:pPr marL="0" indent="0" algn="l">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CC BY: re-use with credit (Paper 2)</a:t>
            </a:r>
          </a:p>
          <a:p>
            <a:pPr marL="0" indent="0" algn="l">
              <a:lnSpc>
                <a:spcPct val="104000"/>
              </a:lnSpc>
              <a:spcBef>
                <a:spcPts val="400"/>
              </a:spcBef>
              <a:buNone/>
            </a:pPr>
            <a:r>
              <a:rPr lang="en-US" sz="1750" dirty="0">
                <a:solidFill>
                  <a:srgbClr val="000000"/>
                </a:solidFill>
                <a:latin typeface="Arial"/>
                <a:cs typeface="Arial"/>
              </a:rPr>
              <a:t>CC BY-NC-ND: share, no changes (Paper 1)</a:t>
            </a:r>
          </a:p>
          <a:p>
            <a:pPr marL="0" indent="0" algn="l">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Out of scope or poorly reported</a:t>
            </a:r>
          </a:p>
          <a:p>
            <a:pPr marL="0" indent="0" algn="l">
              <a:lnSpc>
                <a:spcPct val="104000"/>
              </a:lnSpc>
              <a:spcBef>
                <a:spcPts val="400"/>
              </a:spcBef>
              <a:buNone/>
            </a:pPr>
            <a:r>
              <a:rPr lang="en-US" sz="1750" dirty="0">
                <a:solidFill>
                  <a:srgbClr val="000000"/>
                </a:solidFill>
                <a:latin typeface="Arial"/>
                <a:cs typeface="Arial"/>
              </a:rPr>
              <a:t>Often within days</a:t>
            </a:r>
          </a:p>
          <a:p>
            <a:pPr marL="0" indent="0" algn="l">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Read the reviews, wait a day</a:t>
            </a:r>
          </a:p>
          <a:p>
            <a:pPr marL="0" indent="0" algn="l">
              <a:lnSpc>
                <a:spcPct val="104000"/>
              </a:lnSpc>
              <a:spcBef>
                <a:spcPts val="400"/>
              </a:spcBef>
              <a:buNone/>
            </a:pPr>
            <a:r>
              <a:rPr lang="en-US" sz="1750" dirty="0">
                <a:solidFill>
                  <a:srgbClr val="000000"/>
                </a:solidFill>
                <a:latin typeface="Arial"/>
                <a:cs typeface="Arial"/>
              </a:rPr>
              <a:t>Fix what they found</a:t>
            </a:r>
          </a:p>
          <a:p>
            <a:pPr marL="0" indent="0" algn="l">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Reformat to its Guide for Authors</a:t>
            </a:r>
          </a:p>
          <a:p>
            <a:pPr marL="0" indent="0" algn="l">
              <a:lnSpc>
                <a:spcPct val="104000"/>
              </a:lnSpc>
              <a:spcBef>
                <a:spcPts val="400"/>
              </a:spcBef>
              <a:buNone/>
            </a:pPr>
            <a:r>
              <a:rPr lang="en-US" sz="1750" dirty="0">
                <a:solidFill>
                  <a:srgbClr val="000000"/>
                </a:solidFill>
                <a:latin typeface="Arial"/>
                <a:cs typeface="Arial"/>
              </a:rPr>
              <a:t>Use transfer offers if given</a:t>
            </a:r>
          </a:p>
          <a:p>
            <a:pPr marL="0" indent="0" algn="l">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Ethics, consent, registration</a:t>
            </a:r>
          </a:p>
          <a:p>
            <a:pPr marL="0" indent="0" algn="l">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IMRaD in the right order</a:t>
            </a:r>
          </a:p>
          <a:p>
            <a:pPr marL="0" indent="0" algn="l">
              <a:lnSpc>
                <a:spcPct val="104000"/>
              </a:lnSpc>
              <a:spcBef>
                <a:spcPts val="400"/>
              </a:spcBef>
              <a:buNone/>
            </a:pPr>
            <a:r>
              <a:rPr lang="en-US" sz="1600" dirty="0">
                <a:solidFill>
                  <a:srgbClr val="000000"/>
                </a:solidFill>
                <a:latin typeface="Arial"/>
                <a:cs typeface="Arial"/>
              </a:rPr>
              <a:t>Numbers with CIs</a:t>
            </a:r>
          </a:p>
          <a:p>
            <a:pPr marL="0" indent="0" algn="l">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Reporting checklist</a:t>
            </a:r>
          </a:p>
          <a:p>
            <a:pPr marL="0" indent="0" algn="l">
              <a:lnSpc>
                <a:spcPct val="104000"/>
              </a:lnSpc>
              <a:spcBef>
                <a:spcPts val="400"/>
              </a:spcBef>
              <a:buNone/>
            </a:pPr>
            <a:r>
              <a:rPr lang="en-US" sz="1600" dirty="0">
                <a:solidFill>
                  <a:srgbClr val="000000"/>
                </a:solidFill>
                <a:latin typeface="Arial"/>
                <a:cs typeface="Arial"/>
              </a:rPr>
              <a:t>Trusted journal</a:t>
            </a:r>
          </a:p>
          <a:p>
            <a:pPr marL="0" indent="0" algn="l">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10 questions</a:t>
            </a:r>
          </a:p>
          <a:p>
            <a:pPr marL="0" indent="0" algn="l">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manuscript,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manuscript</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 in an online form (link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Individual, no discussion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same participant code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answer key is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Quiz submitted (participant code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PICO question</a:t>
            </a:r>
          </a:p>
          <a:p>
            <a:pPr marL="0" indent="0" algn="l">
              <a:lnSpc>
                <a:spcPct val="104000"/>
              </a:lnSpc>
              <a:spcBef>
                <a:spcPts val="200"/>
              </a:spcBef>
              <a:buNone/>
            </a:pPr>
            <a:r>
              <a:rPr lang="en-US" sz="1500" dirty="0">
                <a:solidFill>
                  <a:srgbClr val="000000"/>
                </a:solidFill>
                <a:latin typeface="Arial"/>
                <a:cs typeface="Arial"/>
              </a:rPr>
              <a:t>5 key references</a:t>
            </a:r>
          </a:p>
          <a:p>
            <a:pPr marL="0" indent="0" algn="l">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justified design</a:t>
            </a:r>
          </a:p>
          <a:p>
            <a:pPr marL="0" indent="0" algn="l">
              <a:lnSpc>
                <a:spcPct val="104000"/>
              </a:lnSpc>
              <a:spcBef>
                <a:spcPts val="200"/>
              </a:spcBef>
              <a:buNone/>
            </a:pPr>
            <a:r>
              <a:rPr lang="en-US" sz="1500" dirty="0">
                <a:solidFill>
                  <a:srgbClr val="000000"/>
                </a:solidFill>
                <a:latin typeface="Arial"/>
                <a:cs typeface="Arial"/>
              </a:rPr>
              <a:t>Outcomes</a:t>
            </a:r>
          </a:p>
          <a:p>
            <a:pPr marL="0" indent="0" algn="l">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CRF and analysis plan</a:t>
            </a:r>
          </a:p>
          <a:p>
            <a:pPr marL="0" indent="0" algn="l">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Methods, Results</a:t>
            </a:r>
          </a:p>
          <a:p>
            <a:pPr marL="0" indent="0" algn="l">
              <a:lnSpc>
                <a:spcPct val="104000"/>
              </a:lnSpc>
              <a:spcBef>
                <a:spcPts val="200"/>
              </a:spcBef>
              <a:buNone/>
            </a:pPr>
            <a:r>
              <a:rPr lang="en-US" sz="1500" dirty="0">
                <a:solidFill>
                  <a:srgbClr val="000000"/>
                </a:solidFill>
                <a:latin typeface="Arial"/>
                <a:cs typeface="Arial"/>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Your own proposal</a:t>
            </a:r>
          </a:p>
          <a:p>
            <a:pPr marL="0" indent="0" algn="l">
              <a:lnSpc>
                <a:spcPct val="104000"/>
              </a:lnSpc>
              <a:spcBef>
                <a:spcPts val="200"/>
              </a:spcBef>
              <a:buNone/>
            </a:pPr>
            <a:r>
              <a:rPr lang="en-US" sz="1500" dirty="0">
                <a:solidFill>
                  <a:srgbClr val="000000"/>
                </a:solidFill>
                <a:latin typeface="Arial"/>
                <a:cs typeface="Arial"/>
              </a:rPr>
              <a:t>Your own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draft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Tonight</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Submit your complete draft by 23:59</a:t>
            </a:r>
          </a:p>
          <a:p>
            <a:pPr marL="0" indent="0" algn="l">
              <a:lnSpc>
                <a:spcPct val="104000"/>
              </a:lnSpc>
              <a:spcBef>
                <a:spcPts val="200"/>
              </a:spcBef>
              <a:buNone/>
            </a:pPr>
            <a:r>
              <a:rPr lang="en-US" sz="1500" dirty="0">
                <a:solidFill>
                  <a:srgbClr val="000000"/>
                </a:solidFill>
                <a:latin typeface="Arial"/>
                <a:cs typeface="Arial"/>
              </a:rPr>
              <a:t>Course folder or email</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days</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The course lead sends you one peer's draft to review</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1</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Send your review report</a:t>
            </a:r>
          </a:p>
          <a:p>
            <a:pPr marL="0" indent="0" algn="l">
              <a:lnSpc>
                <a:spcPct val="104000"/>
              </a:lnSpc>
              <a:spcBef>
                <a:spcPts val="200"/>
              </a:spcBef>
              <a:buNone/>
            </a:pPr>
            <a:r>
              <a:rPr lang="en-US" sz="1500" dirty="0">
                <a:solidFill>
                  <a:srgbClr val="000000"/>
                </a:solidFill>
                <a:latin typeface="Arial"/>
                <a:cs typeface="Arial"/>
              </a:rPr>
              <a:t>Use the 10-question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Revised draft and response letter</a:t>
            </a:r>
          </a:p>
          <a:p>
            <a:pPr marL="0" indent="0" algn="l">
              <a:lnSpc>
                <a:spcPct val="104000"/>
              </a:lnSpc>
              <a:spcBef>
                <a:spcPts val="200"/>
              </a:spcBef>
              <a:buNone/>
            </a:pPr>
            <a:r>
              <a:rPr lang="en-US" sz="1500" dirty="0">
                <a:solidFill>
                  <a:srgbClr val="000000"/>
                </a:solidFill>
                <a:latin typeface="Arial"/>
                <a:cs typeface="Arial"/>
              </a:rPr>
              <a:t>Use the response-to-reviewers template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Individual homework: everyone reviews one draft and receives one review (Course/Assignment/peer_review_instructions).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0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Attendance at 6 of 8 sessions</a:t>
            </a:r>
          </a:p>
          <a:p>
            <a:pPr marL="0" indent="0" algn="l">
              <a:lnSpc>
                <a:spcPct val="104000"/>
              </a:lnSpc>
              <a:spcBef>
                <a:spcPts val="400"/>
              </a:spcBef>
              <a:buNone/>
            </a:pPr>
            <a:r>
              <a:rPr lang="en-US" sz="1750" dirty="0">
                <a:solidFill>
                  <a:srgbClr val="000000"/>
                </a:solidFill>
                <a:latin typeface="Arial"/>
                <a:cs typeface="Arial"/>
              </a:rPr>
              <a:t>Proposal submitted</a:t>
            </a:r>
          </a:p>
          <a:p>
            <a:pPr marL="0" indent="0" algn="l">
              <a:lnSpc>
                <a:spcPct val="104000"/>
              </a:lnSpc>
              <a:spcBef>
                <a:spcPts val="400"/>
              </a:spcBef>
              <a:buNone/>
            </a:pPr>
            <a:r>
              <a:rPr lang="en-US" sz="1750" dirty="0">
                <a:solidFill>
                  <a:srgbClr val="000000"/>
                </a:solidFill>
                <a:latin typeface="Arial"/>
                <a:cs typeface="Arial"/>
              </a:rPr>
              <a:t>Manuscript submitted</a:t>
            </a:r>
          </a:p>
        </p:txBody>
      </p:sp>
      <p:sp>
        <p:nvSpPr>
          <p:cNvPr id="72" name="CardHead"/>
          <p:cNvSpPr/>
          <p:nvPr/>
        </p:nvSpPr>
        <p:spPr>
          <a:xfrm>
            <a:off x="4283066" y="186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0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Slides, handouts, glossary</a:t>
            </a:r>
          </a:p>
          <a:p>
            <a:pPr marL="0" indent="0" algn="l">
              <a:lnSpc>
                <a:spcPct val="104000"/>
              </a:lnSpc>
              <a:spcBef>
                <a:spcPts val="400"/>
              </a:spcBef>
              <a:buNone/>
            </a:pPr>
            <a:r>
              <a:rPr lang="en-US" sz="1750" dirty="0">
                <a:solidFill>
                  <a:srgbClr val="000000"/>
                </a:solidFill>
                <a:latin typeface="Arial"/>
                <a:cs typeface="Arial"/>
              </a:rPr>
              <a:t>Templates: proposal, protocol, consent form, case report form (CRF), analysis plan</a:t>
            </a:r>
          </a:p>
          <a:p>
            <a:pPr marL="0" indent="0" algn="l">
              <a:lnSpc>
                <a:spcPct val="104000"/>
              </a:lnSpc>
              <a:spcBef>
                <a:spcPts val="400"/>
              </a:spcBef>
              <a:buNone/>
            </a:pPr>
            <a:r>
              <a:rPr lang="en-US" sz="1750" dirty="0">
                <a:solidFill>
                  <a:srgbClr val="000000"/>
                </a:solidFill>
                <a:latin typeface="Arial"/>
                <a:cs typeface="Arial"/>
              </a:rPr>
              <a:t>Templates: manuscript, response to reviewers</a:t>
            </a:r>
          </a:p>
        </p:txBody>
      </p:sp>
      <p:sp>
        <p:nvSpPr>
          <p:cNvPr id="74" name="CardHead"/>
          <p:cNvSpPr/>
          <p:nvPr/>
        </p:nvSpPr>
        <p:spPr>
          <a:xfrm>
            <a:off x="8108932" y="186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05948"/>
            <a:ext cx="3625866" cy="21521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Take your proposal to the ethics committee</a:t>
            </a:r>
          </a:p>
          <a:p>
            <a:pPr marL="0" indent="0" algn="l">
              <a:lnSpc>
                <a:spcPct val="104000"/>
              </a:lnSpc>
              <a:spcBef>
                <a:spcPts val="400"/>
              </a:spcBef>
              <a:buNone/>
            </a:pPr>
            <a:r>
              <a:rPr lang="en-US" sz="1750" dirty="0">
                <a:solidFill>
                  <a:srgbClr val="000000"/>
                </a:solidFill>
                <a:latin typeface="Arial"/>
                <a:cs typeface="Arial"/>
              </a:rPr>
              <a:t>Level 2: statistical modelling in R</a:t>
            </a:r>
          </a:p>
          <a:p>
            <a:pPr marL="0" indent="0" algn="l">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