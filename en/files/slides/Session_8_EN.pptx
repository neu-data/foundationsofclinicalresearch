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(19:30-22:30, break 20:50-21:05). The last session.</a:t>
            </a:r>
          </a:p>
          <a:p>
            <a:r>
              <a:rPr lang="en-US" sz="1400" b="0" dirty="0"/>
              <a:t>Today: the Introduction, Discussion, abstract and title, improving the Results drafts, publishing, reviewing, and about five proposal presentations. The closing (22:15) has its own slides.</a:t>
            </a:r>
          </a:p>
          <a:p>
            <a:r>
              <a:rPr lang="en-US" sz="1400" b="0" dirty="0"/>
              <a:t>Before: email the exercise sheet, the original papers and the class Q1 Results from Session 7. Collect and open the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the exit question: read two or three answers. Questions 2 and 3 are quick polls.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(19:35-20:05). About 2 minutes per slide and three 2-minute checks.</a:t>
            </a:r>
          </a:p>
          <a:p>
            <a:r>
              <a:rPr lang="en-US" sz="1400" b="0" dirty="0"/>
              <a:t>All four parts are taught as core. For the assignment, the title is required with the Results. The Introduction, Discussion and abstract are optional to submit. Slow down on the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Introduction is a funnel: known, not known, aim. The aim matches the primary outcome.</a:t>
            </a:r>
          </a:p>
          <a:p>
            <a:r>
              <a:rPr lang="en-US" sz="1400" b="0" dirty="0"/>
              <a:t>Paper 1 does this in under 500 words. Paper 2 cites both sides of a conflict in paragraph 2.</a:t>
            </a:r>
          </a:p>
          <a:p>
            <a:r>
              <a:rPr lang="en-US" sz="1400" b="0" dirty="0"/>
              <a:t>Ask: in one sentence, what is not known about your question? That is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for Q1. Model sentences (adapt, do not copy):</a:t>
            </a:r>
          </a:p>
          <a:p>
            <a:r>
              <a:rPr lang="en-US" sz="1400" b="0" dirty="0"/>
              <a:t>P2: 'Because sicker patients receive more fluid, it remains uncertain whether this association persists after adjustment for severity.'</a:t>
            </a:r>
          </a:p>
          <a:p>
            <a:r>
              <a:rPr lang="en-US" sz="1400" b="0" dirty="0"/>
              <a:t>P3: 'We therefore examined whether a positive fluid balance by day 3 was associated with 28-day mortality.'</a:t>
            </a:r>
          </a:p>
          <a:p>
            <a:r>
              <a:rPr lang="en-US" sz="1400" b="0" dirty="0"/>
              <a:t>The gap is the confounding by indication from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known, not known, aim, or not in the Introduction.</a:t>
            </a:r>
          </a:p>
          <a:p>
            <a:r>
              <a:rPr lang="en-US" sz="1400" b="0" dirty="0"/>
              <a:t>Sentence 4 is the trap: your own results never go in the Introduction.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in order: answer, compare, explain, limitations with their direction, implications, conclusion.</a:t>
            </a:r>
          </a:p>
          <a:p>
            <a:r>
              <a:rPr lang="en-US" sz="1400" b="0" dirty="0"/>
              <a:t>Paper 1 answers in its first sentence. Paper 2 misses survivor bias in its limitations.</a:t>
            </a:r>
          </a:p>
          <a:p>
            <a:r>
              <a:rPr lang="en-US" sz="1400" b="0" dirty="0"/>
              <a:t>Poll: which move do first-time writers skip? Expected: the direction of each limitation.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one sentence each, numbers from results pack Q1 (simulated).</a:t>
            </a:r>
          </a:p>
          <a:p>
            <a:r>
              <a:rPr lang="en-US" sz="1400" b="0" dirty="0"/>
              <a:t>The heart-failure interaction (OR 4.39 vs 1.29) is a hypothesis, not a finding.</a:t>
            </a:r>
          </a:p>
          <a:p>
            <a:r>
              <a:rPr lang="en-US" sz="1400" b="0" dirty="0"/>
              <a:t>The conclusion uses the same verb as the aim and the title: 'associated with'.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2.49, adjusted 1.62, imputed 1.70. The drop is the Session 4 lesson made visible.</a:t>
            </a:r>
          </a:p>
          <a:p>
            <a:r>
              <a:rPr lang="en-US" sz="1400" b="0" dirty="0"/>
              <a:t>The adjusted CI starts at 1.02: 'a modest association remained'.</a:t>
            </a:r>
          </a:p>
          <a:p>
            <a:r>
              <a:rPr lang="en-US" sz="1400" b="0" dirty="0"/>
              <a:t>Ask: what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strength of a verb is a claim. Read the ladder from the bottom.</a:t>
            </a:r>
          </a:p>
          <a:p>
            <a:r>
              <a:rPr lang="en-US" sz="1400" b="0" dirty="0"/>
              <a:t>Never: 'trend' for p = 0.42 (Paper 1), 'impact' in a cohort (Paper 2), 'first' or 'novel' unchecked.</a:t>
            </a:r>
          </a:p>
          <a:p>
            <a:r>
              <a:rPr lang="en-US" sz="1400" b="0" dirty="0"/>
              <a:t>These words matter in the Results section too.</a:t>
            </a:r>
          </a:p>
          <a:p>
            <a:r>
              <a:rPr lang="en-US" sz="1400" b="0" dirty="0"/>
              <a:t>Ask: rewrite 'positive fluid balance increases mortality' for Paper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'fine' or 'fix'. Call on one person for the fix.</a:t>
            </a:r>
          </a:p>
          <a:p>
            <a:r>
              <a:rPr lang="en-US" sz="1400" b="0" dirty="0"/>
              <a:t>Sentence 3: no 'trend', give the estimate and say the CI reaches 1. Sentence 4: 'predicts' is fine for prediction.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Structured abstract, 250-300 words, must stand alone.</a:t>
            </a:r>
          </a:p>
          <a:p>
            <a:r>
              <a:rPr lang="en-US" sz="1400" b="0" dirty="0"/>
              <a:t>Paper 2 gives every result as HR with CI. Paper 1 states its negative result plainly.</a:t>
            </a:r>
          </a:p>
          <a:p>
            <a:r>
              <a:rPr lang="en-US" sz="1400" b="0" dirty="0"/>
              <a:t>Write it last and check every number matches the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The title is required for everyone. The abstract is optional to submit, but everyone should be able to write one.</a:t>
            </a:r>
          </a:p>
          <a:p>
            <a:r>
              <a:rPr lang="en-US" sz="1400" b="0" dirty="0"/>
              <a:t>Conclusions: 'modestly associated', matching a CI of 1.02 to 2.59.</a:t>
            </a:r>
          </a:p>
          <a:p>
            <a:r>
              <a:rPr lang="en-US" sz="1400" b="0" dirty="0"/>
              <a:t>Ask: which sentences change if the CI had been 0.95 to 2.40? Expected: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Call on one person per sentence for the fix.</a:t>
            </a:r>
          </a:p>
          <a:p>
            <a:r>
              <a:rPr lang="en-US" sz="1400" b="0" dirty="0"/>
              <a:t>Every number in the abstract must match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the title from the PICO: design, exposure, population, outcome, 10-16 words. No 'impact', 'novel', 'first'.</a:t>
            </a:r>
          </a:p>
          <a:p>
            <a:r>
              <a:rPr lang="en-US" sz="1400" b="0" dirty="0"/>
              <a:t>Paper 2's 'Impact' is causal wording for a cohort.</a:t>
            </a:r>
          </a:p>
          <a:p>
            <a:r>
              <a:rPr lang="en-US" sz="1400" b="0" dirty="0"/>
              <a:t>Keywords: 3-6 MeSH terms not already in the title.</a:t>
            </a:r>
          </a:p>
          <a:p>
            <a:r>
              <a:rPr lang="en-US" sz="1400" b="0" dirty="0"/>
              <a:t>Everyone writes their own working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and check every citation. Never cite a reference an AI suggested without reading it.</a:t>
            </a:r>
          </a:p>
          <a:p>
            <a:r>
              <a:rPr lang="en-US" sz="1400" b="0" dirty="0"/>
              <a:t>Checklist: fill it in while you write.</a:t>
            </a:r>
          </a:p>
          <a:p>
            <a:r>
              <a:rPr lang="en-US" sz="1400" b="0" dirty="0"/>
              <a:t>Final read: every number in the text against the tables. Most errors in both papers needed only a careful co-author.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(20:05-20:30).</a:t>
            </a:r>
          </a:p>
          <a:p>
            <a:r>
              <a:rPr lang="en-US" sz="1400" b="0" dirty="0"/>
              <a:t>Part 1: improve last week's class Q1 Results live, using the reviewer checklist. Part 2: each participant checks their own draft and writes the working title.</a:t>
            </a:r>
          </a:p>
          <a:p>
            <a:r>
              <a:rPr lang="en-US" sz="1400" b="0" dirty="0"/>
              <a:t>Instructions: s8_exercises Part B. Model text: s8_solutions Part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(20:05-20:22). Open last week's class draft and type into it. Call each phase.</a:t>
            </a:r>
          </a:p>
          <a:p>
            <a:r>
              <a:rPr lang="en-US" sz="1400" b="0" dirty="0"/>
              <a:t>Prompts: 'Does every percentage have a denominator?' 'Can Table 1 be read without the text?' 'Is any sentence explaining rather than reporting?'</a:t>
            </a:r>
          </a:p>
          <a:p>
            <a:r>
              <a:rPr lang="en-US" sz="1400" b="0" dirty="0"/>
              <a:t>Send the improved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Post in the chat: Q2, AKI may also cause fluid accumulation. Q3, ventilator-free days count death as zero. Q4, give both complete-case and imputed estimates. Q5, survivors only.</a:t>
            </a:r>
          </a:p>
          <a:p>
            <a:r>
              <a:rPr lang="en-US" sz="1400" b="0" dirty="0"/>
              <a:t>Remind: the draft goes by email to the reviewer and the instructor (myluong1710@gmail.com) by 23:59 tomorrow, Sunday 20 December.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About 2 minutes per slide, a 3-minute demo and a 2-minute check.</a:t>
            </a:r>
          </a:p>
          <a:p>
            <a:r>
              <a:rPr lang="en-US" sz="1400" b="0" dirty="0"/>
              <a:t>Preprints, licences,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reporting guideline per design, all free on the EQUATOR Network. Many journals require the checklist with page numbers.</a:t>
            </a:r>
          </a:p>
          <a:p>
            <a:r>
              <a:rPr lang="en-US" sz="1400" b="0" dirty="0"/>
              <a:t>Neither paper names its guideline.</a:t>
            </a:r>
          </a:p>
          <a:p>
            <a:r>
              <a:rPr lang="en-US" sz="1400" b="0" dirty="0"/>
              <a:t>Poll: which guideline fits your proposal? Expected: mostly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Choose the journal first: its Guide for Authors sets the rules.</a:t>
            </a:r>
          </a:p>
          <a:p>
            <a:r>
              <a:rPr lang="en-US" sz="1400" b="0" dirty="0"/>
              <a:t>Trust: indexed in MEDLINE, DOAJ, Scopus or Web of Science. Cost: the article fee and waivers.</a:t>
            </a:r>
          </a:p>
          <a:p>
            <a:r>
              <a:rPr lang="en-US" sz="1400" b="0" dirty="0"/>
              <a:t>Paper 1 took 7 weeks to acceptance, Paper 2 7 months.</a:t>
            </a:r>
          </a:p>
          <a:p>
            <a:r>
              <a:rPr lang="en-US" sz="1400" b="0" dirty="0"/>
              <a:t>Ask: name one journal your unit reads.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Predatory journals take fees without real peer review or indexing.</a:t>
            </a:r>
          </a:p>
          <a:p>
            <a:r>
              <a:rPr lang="en-US" sz="1400" b="0" dirty="0"/>
              <a:t>Walk the five red flags on the invented e-mail. Checks: Think.Check.Submit, DOAJ, the NLM Catalog, the hospital librarian.</a:t>
            </a:r>
          </a:p>
          <a:p>
            <a:r>
              <a:rPr lang="en-US" sz="1400" b="0" dirty="0"/>
              <a:t>Poll: did you get an e-mail like this last month?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Script and offline fallback: s8_demo.md.</a:t>
            </a:r>
          </a:p>
          <a:p>
            <a:r>
              <a:rPr lang="en-US" sz="1400" b="0" dirty="0"/>
              <a:t>EQUATOR: CONSORT, then STROBE. DOAJ, then the NLM Catalog ('currently indexed in MEDLINE'). End on Think.Check.Submit. Paste the four addresses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Journals check the package before any scientific review. Missing items send the paper back.</a:t>
            </a:r>
          </a:p>
          <a:p>
            <a:r>
              <a:rPr lang="en-US" sz="1400" b="0" dirty="0"/>
              <a:t>ORCID iD: free, register at orcid.org.</a:t>
            </a:r>
          </a:p>
          <a:p>
            <a:r>
              <a:rPr lang="en-US" sz="1400" b="0" dirty="0"/>
              <a:t>Paper 1 has a complete declarations block. Template: Cover_Letter_Template.</a:t>
            </a:r>
          </a:p>
          <a:p>
            <a:r>
              <a:rPr lang="en-US" sz="1400" b="0" dirty="0"/>
              <a:t>Ask: who already has an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Submit, editor screen (desk rejection is common), 2 or 3 reviewers, decision, revision, acceptance.</a:t>
            </a:r>
          </a:p>
          <a:p>
            <a:r>
              <a:rPr lang="en-US" sz="1400" b="0" dirty="0"/>
              <a:t>One journal at a time. After rejection, improve the paper and submit elsewhere.</a:t>
            </a:r>
          </a:p>
          <a:p>
            <a:r>
              <a:rPr lang="en-US" sz="1400" b="0" dirty="0"/>
              <a:t>Ask: a reviewer is wrong. What do you do? Expected: thank, explain with evidence, clarify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response letter is a table: comment, response, and where the paper changed.</a:t>
            </a:r>
          </a:p>
          <a:p>
            <a:r>
              <a:rPr lang="en-US" sz="1400" b="0" dirty="0"/>
              <a:t>The three rows: accept, clarify, and a polite rebuttal for data never collected.</a:t>
            </a:r>
          </a:p>
          <a:p>
            <a:r>
              <a:rPr lang="en-US" sz="1400" b="0" dirty="0"/>
              <a:t>Common mistakes: 'done' with no detail, changes without a location.</a:t>
            </a:r>
          </a:p>
          <a:p>
            <a:r>
              <a:rPr lang="en-US" sz="1400" b="0" dirty="0"/>
              <a:t>Participants use Response_to_Reviewers_Template after their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each.</a:t>
            </a:r>
          </a:p>
          <a:p>
            <a:r>
              <a:rPr lang="en-US" sz="1400" b="0" dirty="0"/>
              <a:t>Statement 1 is 'often true'. Statement 3: a preprint is posted before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(20:50-21:05). Say: we restart at 21:05 with 8.3, then presentations and closing. Open Paper 1, Paper 2 and Part D of the exercise sheet.</a:t>
            </a:r>
          </a:p>
          <a:p>
            <a:r>
              <a:rPr lang="en-US" sz="1400" b="0" dirty="0"/>
              <a:t>Check you can share each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Guide with model answers: appraisal_instructor_guide.md.</a:t>
            </a:r>
          </a:p>
          <a:p>
            <a:r>
              <a:rPr lang="en-US" sz="1400" b="0" dirty="0"/>
              <a:t>3 minutes set-up, 15 minutes appraisal with polls, 7 minutes on what each design may claim.</a:t>
            </a:r>
          </a:p>
          <a:p>
            <a:r>
              <a:rPr lang="en-US" sz="1400" b="0" dirty="0"/>
              <a:t>The reviewing skills return in the peer review of the Results sections, which uses the Results checklist in Peer_Review_Instructions.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Set-up (1 minute): same clinical question, two designs, the same 10 questions.</a:t>
            </a:r>
          </a:p>
          <a:p>
            <a:r>
              <a:rPr lang="en-US" sz="1400" b="0" dirty="0"/>
              <a:t>Each participant fills in their own answer grid (Part D): Yes, No or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question once. Do not give answers.</a:t>
            </a:r>
          </a:p>
          <a:p>
            <a:r>
              <a:rPr lang="en-US" sz="1400" b="0" dirty="0"/>
              <a:t>Q3 is external validity: would your patients be in this study? Q4: look at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Q6 and Q7 use Session 6. Q8 is the heart of today: are the words as strong as the design allows? Q9: one limitation the authors missed. Q10: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Appraisal (21:08-21:23), about 1.5 minutes per question: read, show the page, poll, one person gives the evidence.</a:t>
            </a:r>
          </a:p>
          <a:p>
            <a:r>
              <a:rPr lang="en-US" sz="1400" b="0" dirty="0"/>
              <a:t>Key prompts: Paper 1, who was not blinded and who prescribed the fluid? Paper 2, who is missing when patients must stay 3 days?</a:t>
            </a:r>
          </a:p>
          <a:p>
            <a:r>
              <a:rPr lang="en-US" sz="1400" b="0" dirty="0"/>
              <a:t>Questions 1-3, 6 and 10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a:t>
            </a:r>
          </a:p>
          <a:p>
            <a:r>
              <a:rPr lang="en-US" sz="1400" b="0" dirty="0"/>
              <a:t>Paper 1: randomised, may say 'did not reduce', but 48 patients: no evidence of an effect, not evidence of none, and no 'trend'.</a:t>
            </a:r>
          </a:p>
          <a:p>
            <a:r>
              <a:rPr lang="en-US" sz="1400" b="0" dirty="0"/>
              <a:t>Paper 2: doctors decided the fluid, so 'is associated with', not 'impact'.</a:t>
            </a:r>
          </a:p>
          <a:p>
            <a:r>
              <a:rPr lang="en-US" sz="1400" b="0" dirty="0"/>
              <a:t>Poll: which paper is stronger for causation, which for real-world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only after the class has answered.</a:t>
            </a:r>
          </a:p>
          <a:p>
            <a:r>
              <a:rPr lang="en-US" sz="1400" b="0" dirty="0"/>
              <a:t>Four messages: design sets the verb, a wide CI means 'we don't know yet', published is not the same as correct, name the reporting guideline.</a:t>
            </a:r>
          </a:p>
          <a:p>
            <a:r>
              <a:rPr lang="en-US" sz="1400" b="0" dirty="0"/>
              <a:t>Transition: 'Now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6 minutes plus 2 minutes feedback, then a 5-minute closing round.</a:t>
            </a:r>
          </a:p>
          <a:p>
            <a:r>
              <a:rPr lang="en-US" sz="1400" b="0" dirty="0"/>
              <a:t>Everyone submits slides and the written proposal by email to the instructor (myluong1710@gmail.com) before 19:30 today.</a:t>
            </a:r>
          </a:p>
          <a:p>
            <a:r>
              <a:rPr lang="en-US" sz="1400" b="0" dirty="0"/>
              <a:t>The co-instructor posts '2 min', '1 min' and 'Time' in the chat. Stop the talk at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written proposal is scored for everyone after the course. Criteria 12-16 score the presentation, for presenters only. Presenting does not lower the score.</a:t>
            </a:r>
          </a:p>
          <a:p>
            <a:r>
              <a:rPr lang="en-US" sz="1400" b="0" dirty="0"/>
              <a:t>Feedback in 2 minutes: two people give two strengths and one suggestion, then the instructor, then the presenter says thank you.</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Share each presenter's slides. Keep this slide up between talks.</a:t>
            </a:r>
          </a:p>
          <a:p>
            <a:r>
              <a:rPr lang="en-US" sz="1400" b="0" dirty="0"/>
              <a:t>Feedback: a genuine strength, the most important improvement, one question if time allows. Check slide 6: journal, guideline, a calibrated title, author roles.</a:t>
            </a:r>
          </a:p>
          <a:p>
            <a:r>
              <a:rPr lang="en-US" sz="1400" b="0" dirty="0"/>
              <a:t>If late, shorten the closing round, never the last talks. At 22:15 move to the closing.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and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writing drill (homework). Worksheet: s8_exercises Part A.</a:t>
            </a:r>
          </a:p>
          <a:p>
            <a:r>
              <a:rPr lang="en-US" sz="1400" b="0" dirty="0"/>
              <a:t>Model rewrite of Paper 1's 'trend': 'The point estimate favoured the restrictive strategy, but the 95% CI was wide (-15.2 to 41.6 ml/kg) and included no effect.'</a:t>
            </a:r>
          </a:p>
          <a:p>
            <a:r>
              <a:rPr lang="en-US" sz="1400" b="0" dirty="0"/>
              <a:t>Paper 2's title: 'association', not 'impact'.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preprint is posted before peer review: say so. Gold open access usually has a fee, green means a repository copy. Paper 2 is CC BY, Paper 1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proofs as carefully as the data: Paper 1 prints its protocol paragraph twice. Share as the licence allows. Correct errors openly.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Rejection is normal. Desk rejection: re-target. After review: fix what the reviewers found before resubmitting. Never submit to two journals at once.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conference abstract has real numbers and CIs, never 'results will be presented'. A poster is a billboard: one message, one figure, readable from 2 metres. Template: 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one-slide summary of Sessions 7-8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Keep it brisk. Thank the presenters and everyone who submitted.</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Google Form as Session 1. The full name matches the two attempts. Participants see no score.</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two or three people: what is your next step with your proposal?</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Anonymous form, link in the chat. The pace question matters most.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draft is reviewed once. Reviewers were assigned at random and announced in Session 7.</a:t>
            </a:r>
          </a:p>
          <a:p>
            <a:r>
              <a:rPr lang="en-US" sz="1400" b="0" dirty="0"/>
              <a:t>Submissions go by email to myluong1710@gmail.com. Results draft due 23:59 on Sunday 20 December (Vietnam time). Review report due Wednesday 30 December. Revised Results section and response to reviewers due Saturday 9 January 2027.</a:t>
            </a:r>
          </a:p>
          <a:p>
            <a:r>
              <a:rPr lang="en-US" sz="1400" b="0" dirty="0"/>
              <a:t>Files: Peer_Review_Instructions and Response_to_Reviewers_Template.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Post the trainers' contact details in the chat.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leadership, organisers and participants. If everyone agrees, take a screenshot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3.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4.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5.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polish your Results,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20:05  Manuscript workshop 2: improve your Results section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The legal representative (or deferred consent, if the committee approved it)</a:t>
            </a:r>
          </a:p>
          <a:p>
            <a:pPr marL="0" indent="0" algn="ctr">
              <a:lnSpc>
                <a:spcPct val="104000"/>
              </a:lnSpc>
              <a:spcBef>
                <a:spcPts val="300"/>
              </a:spcBef>
              <a:buNone/>
            </a:pPr>
            <a:r>
              <a:rPr lang="en-US" sz="1500" dirty="0">
                <a:solidFill>
                  <a:srgbClr val="000000"/>
                </a:solidFill>
                <a:latin typeface="Arial"/>
                <a:cs typeface="Arial"/>
              </a:rPr>
              <a:t>Item 16 (main results)</a:t>
            </a:r>
          </a:p>
          <a:p>
            <a:pPr marL="0" indent="0" algn="ctr">
              <a:lnSpc>
                <a:spcPct val="104000"/>
              </a:lnSpc>
              <a:spcBef>
                <a:spcPts val="300"/>
              </a:spcBef>
              <a:buNone/>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 Introduction, Discussion, abstract and title</a:t>
            </a:r>
          </a:p>
          <a:p>
            <a:pPr marL="0" indent="0" algn="ctr">
              <a:spcBef>
                <a:spcPts val="1200"/>
              </a:spcBef>
              <a:buNone/>
            </a:pPr>
            <a:r>
              <a:rPr lang="en-US" sz="1900" i="1" dirty="0">
                <a:solidFill>
                  <a:srgbClr val="595959"/>
                </a:solidFill>
                <a:latin typeface="Arial"/>
                <a:cs typeface="Arial"/>
              </a:rPr>
              <a:t>What each part does, a worked example on Q1, a short check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Fluids save lives early in sepsis</a:t>
            </a:r>
          </a:p>
          <a:p>
            <a:pPr marL="0" indent="0" algn="ctr">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Sicker patients get more fluid</a:t>
            </a:r>
          </a:p>
          <a:p>
            <a:pPr marL="0" indent="0" algn="ctr">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known, not known or 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'Early fluids are a core part of sepsis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'Sicker patients receive more fluid, so it is unclear whether the link with death remains after adjustment.'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examined whether a positive balance by day 3 was associated with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our cohort, 35.9% of patients with a positive balance died.'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Paragraph 1: known</a:t>
            </a:r>
          </a:p>
          <a:p>
            <a:pPr marL="0" indent="0" algn="ctr">
              <a:lnSpc>
                <a:spcPct val="104000"/>
              </a:lnSpc>
              <a:spcBef>
                <a:spcPts val="300"/>
              </a:spcBef>
              <a:buNone/>
            </a:pPr>
            <a:r>
              <a:rPr lang="en-US" sz="1500" dirty="0">
                <a:solidFill>
                  <a:srgbClr val="000000"/>
                </a:solidFill>
                <a:latin typeface="Arial"/>
                <a:cs typeface="Arial"/>
              </a:rPr>
              <a:t>Paragraph 2: not known</a:t>
            </a:r>
          </a:p>
          <a:p>
            <a:pPr marL="0" indent="0" algn="ctr">
              <a:lnSpc>
                <a:spcPct val="104000"/>
              </a:lnSpc>
              <a:spcBef>
                <a:spcPts val="300"/>
              </a:spcBef>
              <a:buNone/>
            </a:pPr>
            <a:r>
              <a:rPr lang="en-US" sz="1500" dirty="0">
                <a:solidFill>
                  <a:srgbClr val="000000"/>
                </a:solidFill>
                <a:latin typeface="Arial"/>
                <a:cs typeface="Arial"/>
              </a:rPr>
              <a:t>Paragraph 3: aim</a:t>
            </a:r>
          </a:p>
          <a:p>
            <a:pPr marL="0" indent="0" algn="ctr">
              <a:lnSpc>
                <a:spcPct val="104000"/>
              </a:lnSpc>
              <a:spcBef>
                <a:spcPts val="300"/>
              </a:spcBef>
              <a:buNone/>
            </a:pPr>
            <a:r>
              <a:rPr lang="en-US" sz="1500" dirty="0">
                <a:solidFill>
                  <a:srgbClr val="000000"/>
                </a:solidFill>
                <a:latin typeface="Arial"/>
                <a:cs typeface="Arial"/>
              </a:rPr>
              <a:t>Not in the Introduction: your own results go in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First sentence answers the question</a:t>
            </a:r>
          </a:p>
          <a:p>
            <a:pPr marL="0" indent="0" algn="ctr">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With other studies, and why they differ</a:t>
            </a:r>
          </a:p>
          <a:p>
            <a:pPr marL="0" indent="0" algn="ctr">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Mechanism, briefly</a:t>
            </a:r>
          </a:p>
          <a:p>
            <a:pPr marL="0" indent="0" algn="ctr">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Specific: mechanism, direction, fix</a:t>
            </a:r>
          </a:p>
          <a:p>
            <a:pPr marL="0" indent="0" algn="ctr">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For practice and research, labelled</a:t>
            </a:r>
          </a:p>
          <a:p>
            <a:pPr marL="0" indent="0" algn="ctr">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 was associated with ...'</a:t>
            </a:r>
          </a:p>
          <a:p>
            <a:pPr marL="0" indent="0" algn="ctr">
              <a:lnSpc>
                <a:spcPct val="104000"/>
              </a:lnSpc>
              <a:spcBef>
                <a:spcPts val="300"/>
              </a:spcBef>
              <a:buNone/>
            </a:pPr>
            <a:r>
              <a:rPr lang="en-US" sz="1500" dirty="0">
                <a:solidFill>
                  <a:srgbClr val="000000"/>
                </a:solidFill>
                <a:latin typeface="Arial"/>
                <a:cs typeface="Arial"/>
              </a:rPr>
              <a:t>'... was associated with higher odds of AKI'</a:t>
            </a:r>
          </a:p>
          <a:p>
            <a:pPr marL="0" indent="0" algn="ctr">
              <a:lnSpc>
                <a:spcPct val="104000"/>
              </a:lnSpc>
              <a:spcBef>
                <a:spcPts val="300"/>
              </a:spcBef>
              <a:buNone/>
            </a:pPr>
            <a:r>
              <a:rPr lang="en-US" sz="1500" dirty="0">
                <a:solidFill>
                  <a:srgbClr val="000000"/>
                </a:solidFill>
                <a:latin typeface="Arial"/>
                <a:cs typeface="Arial"/>
              </a:rPr>
              <a:t>'HR 1.46 (1.00 to 2.13): the CI reaches 1'</a:t>
            </a:r>
          </a:p>
          <a:p>
            <a:pPr marL="0" indent="0" algn="ctr">
              <a:lnSpc>
                <a:spcPct val="104000"/>
              </a:lnSpc>
              <a:spcBef>
                <a:spcPts val="300"/>
              </a:spcBef>
              <a:buNone/>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these abstract sentences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Methods: 'We studied fluid balance in ICU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Results: 'Mortality was significantly higher with a positive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Conclusions: 'A positive balance increases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Results: 'The results are discussed in the paper.'</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Add design, setting, participants, exposure, outcome</a:t>
            </a:r>
          </a:p>
          <a:p>
            <a:pPr marL="0" indent="0" algn="ctr">
              <a:lnSpc>
                <a:spcPct val="104000"/>
              </a:lnSpc>
              <a:spcBef>
                <a:spcPts val="300"/>
              </a:spcBef>
              <a:buNone/>
            </a:pPr>
            <a:r>
              <a:rPr lang="en-US" sz="1500" dirty="0">
                <a:solidFill>
                  <a:srgbClr val="000000"/>
                </a:solidFill>
                <a:latin typeface="Arial"/>
                <a:cs typeface="Arial"/>
              </a:rPr>
              <a:t>Give n, %, and the OR with its 95% CI</a:t>
            </a:r>
          </a:p>
          <a:p>
            <a:pPr marL="0" indent="0" algn="ctr">
              <a:lnSpc>
                <a:spcPct val="104000"/>
              </a:lnSpc>
              <a:spcBef>
                <a:spcPts val="300"/>
              </a:spcBef>
              <a:buNone/>
            </a:pPr>
            <a:r>
              <a:rPr lang="en-US" sz="1500" dirty="0">
                <a:solidFill>
                  <a:srgbClr val="000000"/>
                </a:solidFill>
                <a:latin typeface="Arial"/>
                <a:cs typeface="Arial"/>
              </a:rPr>
              <a:t>'was associated with': it is a cohort</a:t>
            </a:r>
          </a:p>
          <a:p>
            <a:pPr marL="0" indent="0" algn="ctr">
              <a:lnSpc>
                <a:spcPct val="104000"/>
              </a:lnSpc>
              <a:spcBef>
                <a:spcPts val="300"/>
              </a:spcBef>
              <a:buNone/>
            </a:pPr>
            <a:r>
              <a:rPr lang="en-US" sz="1500" dirty="0">
                <a:solidFill>
                  <a:srgbClr val="000000"/>
                </a:solidFill>
                <a:latin typeface="Arial"/>
                <a:cs typeface="Arial"/>
              </a:rPr>
              <a:t>Give the main numbers: the abstract must stand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Problem: over 25 words, value words</a:t>
            </a:r>
          </a:p>
          <a:p>
            <a:pPr marL="0" indent="0" algn="ctr">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Problem: 'impact' is a causal word for a cohort</a:t>
            </a:r>
          </a:p>
          <a:p>
            <a:pPr marL="0" indent="0" algn="ctr">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Use a reference manager</a:t>
            </a:r>
          </a:p>
          <a:p>
            <a:pPr marL="0" indent="0" algn="ctr">
              <a:lnSpc>
                <a:spcPct val="104000"/>
              </a:lnSpc>
              <a:spcBef>
                <a:spcPts val="400"/>
              </a:spcBef>
              <a:buNone/>
            </a:pPr>
            <a:r>
              <a:rPr lang="en-US" sz="1750" dirty="0">
                <a:solidFill>
                  <a:srgbClr val="000000"/>
                </a:solidFill>
                <a:latin typeface="Arial"/>
                <a:cs typeface="Arial"/>
              </a:rPr>
              <a:t>Check every citation</a:t>
            </a:r>
          </a:p>
          <a:p>
            <a:pPr marL="0" indent="0" algn="ctr">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Fill it in while writing</a:t>
            </a:r>
          </a:p>
          <a:p>
            <a:pPr marL="0" indent="0" algn="ctr">
              <a:lnSpc>
                <a:spcPct val="104000"/>
              </a:lnSpc>
              <a:spcBef>
                <a:spcPts val="400"/>
              </a:spcBef>
              <a:buNone/>
            </a:pPr>
            <a:r>
              <a:rPr lang="en-US" sz="1750" dirty="0">
                <a:solidFill>
                  <a:srgbClr val="000000"/>
                </a:solidFill>
                <a:latin typeface="Arial"/>
                <a:cs typeface="Arial"/>
              </a:rPr>
              <a:t>Add page numbers</a:t>
            </a:r>
          </a:p>
          <a:p>
            <a:pPr marL="0" indent="0" algn="ctr">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Text = table, for every number</a:t>
            </a:r>
          </a:p>
          <a:p>
            <a:pPr marL="0" indent="0" algn="ctr">
              <a:lnSpc>
                <a:spcPct val="104000"/>
              </a:lnSpc>
              <a:spcBef>
                <a:spcPts val="400"/>
              </a:spcBef>
              <a:buNone/>
            </a:pPr>
            <a:r>
              <a:rPr lang="en-US" sz="1750" dirty="0">
                <a:solidFill>
                  <a:srgbClr val="000000"/>
                </a:solidFill>
                <a:latin typeface="Arial"/>
                <a:cs typeface="Arial"/>
              </a:rPr>
              <a:t>Call-outs point to the right figure</a:t>
            </a:r>
          </a:p>
          <a:p>
            <a:pPr marL="0" indent="0" algn="ctr">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Improve your Results section: together, then on your own</a:t>
            </a:r>
          </a:p>
          <a:p>
            <a:pPr marL="0" indent="0" algn="ctr">
              <a:spcBef>
                <a:spcPts val="1200"/>
              </a:spcBef>
              <a:buNone/>
            </a:pPr>
            <a:r>
              <a:rPr lang="en-US" sz="1900" i="1" dirty="0">
                <a:solidFill>
                  <a:srgbClr val="595959"/>
                </a:solidFill>
                <a:latin typeface="Arial"/>
                <a:cs typeface="Arial"/>
              </a:rPr>
              <a:t>17 minutes on the class Q1 draft, then 8 minutes on your own draft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1: we improve the Q1 Results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(5 min): every number against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Tables and figure (4 min): does each stand alone?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Words (5 min): no interpretation, no 'trend', no causal verbs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Working title (3 min): design stated, 'associated'</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Class Q1 Results from Session 7 (PDF)</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The checklist in Peer_Review_Instructions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An improved class Q1 Results section,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2: your own Results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Run the same checks on your own Results draft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working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By 23:59 on Sunday 20 December: a final check, then email it</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Submit</a:t>
            </a:r>
          </a:p>
          <a:p>
            <a:pPr marL="0" indent="0" algn="ctr">
              <a:lnSpc>
                <a:spcPct val="104000"/>
              </a:lnSpc>
              <a:spcBef>
                <a:spcPts val="300"/>
              </a:spcBef>
              <a:buNone/>
            </a:pPr>
            <a:r>
              <a:rPr lang="en-US" sz="1500" dirty="0">
                <a:solidFill>
                  <a:srgbClr val="000000"/>
                </a:solidFill>
                <a:latin typeface="Arial"/>
                <a:cs typeface="Arial"/>
              </a:rPr>
              <a:t>Results section, working title, Table 1, main table or figure</a:t>
            </a:r>
          </a:p>
          <a:p>
            <a:pPr marL="0" indent="0" algn="ctr">
              <a:lnSpc>
                <a:spcPct val="104000"/>
              </a:lnSpc>
              <a:spcBef>
                <a:spcPts val="300"/>
              </a:spcBef>
              <a:buNone/>
            </a:pPr>
            <a:r>
              <a:rPr lang="en-US" sz="1500" dirty="0">
                <a:solidFill>
                  <a:srgbClr val="000000"/>
                </a:solidFill>
                <a:latin typeface="Arial"/>
                <a:cs typeface="Arial"/>
              </a:rPr>
              <a:t>By 23:59, Sunday 20 December</a:t>
            </a:r>
          </a:p>
          <a:p>
            <a:pPr marL="0" indent="0" algn="ctr">
              <a:lnSpc>
                <a:spcPct val="104000"/>
              </a:lnSpc>
              <a:spcBef>
                <a:spcPts val="300"/>
              </a:spcBef>
              <a:buNone/>
            </a:pPr>
            <a:r>
              <a:rPr lang="en-US" sz="1500" dirty="0">
                <a:solidFill>
                  <a:srgbClr val="000000"/>
                </a:solidFill>
                <a:latin typeface="Arial"/>
                <a:cs typeface="Arial"/>
              </a:rPr>
              <a:t>Email it to your reviewer and the instructor</a:t>
            </a:r>
          </a:p>
          <a:p>
            <a:pPr marL="0" indent="0" algn="ctr">
              <a:lnSpc>
                <a:spcPct val="104000"/>
              </a:lnSpc>
              <a:spcBef>
                <a:spcPts val="300"/>
              </a:spcBef>
              <a:buNone/>
            </a:pPr>
            <a:r>
              <a:rPr lang="en-US" sz="1500" dirty="0">
                <a:solidFill>
                  <a:srgbClr val="000000"/>
                </a:solidFill>
                <a:latin typeface="Arial"/>
                <a:cs typeface="Arial"/>
              </a:rPr>
              <a:t>Other sections (optional) in the same file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working title. Your Results section emailed by 23:59 on Sunday 20 December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Who needs your result?</a:t>
            </a:r>
          </a:p>
          <a:p>
            <a:pPr marL="0" indent="0" algn="ctr">
              <a:lnSpc>
                <a:spcPct val="104000"/>
              </a:lnSpc>
              <a:spcBef>
                <a:spcPts val="400"/>
              </a:spcBef>
              <a:buNone/>
            </a:pPr>
            <a:r>
              <a:rPr lang="en-US" sz="1600" dirty="0">
                <a:solidFill>
                  <a:srgbClr val="000000"/>
                </a:solidFill>
                <a:latin typeface="Arial"/>
                <a:cs typeface="Arial"/>
              </a:rPr>
              <a:t>Read 3 recent issues</a:t>
            </a:r>
          </a:p>
          <a:p>
            <a:pPr marL="0" indent="0" algn="ctr">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Indexed in MEDLINE, DOAJ, Scopus or Web of Science</a:t>
            </a:r>
          </a:p>
          <a:p>
            <a:pPr marL="0" indent="0" algn="ctr">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Guide for Authors</a:t>
            </a:r>
          </a:p>
          <a:p>
            <a:pPr marL="0" indent="0" algn="ctr">
              <a:lnSpc>
                <a:spcPct val="104000"/>
              </a:lnSpc>
              <a:spcBef>
                <a:spcPts val="400"/>
              </a:spcBef>
              <a:buNone/>
            </a:pPr>
            <a:r>
              <a:rPr lang="en-US" sz="1600" dirty="0">
                <a:solidFill>
                  <a:srgbClr val="000000"/>
                </a:solidFill>
                <a:latin typeface="Arial"/>
                <a:cs typeface="Arial"/>
              </a:rPr>
              <a:t>Word limit, checklist</a:t>
            </a:r>
          </a:p>
          <a:p>
            <a:pPr marL="0" indent="0" algn="ctr">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fee (APC) and waivers</a:t>
            </a:r>
          </a:p>
          <a:p>
            <a:pPr marL="0" indent="0" algn="ctr">
              <a:lnSpc>
                <a:spcPct val="104000"/>
              </a:lnSpc>
              <a:spcBef>
                <a:spcPts val="400"/>
              </a:spcBef>
              <a:buNone/>
            </a:pPr>
            <a:r>
              <a:rPr lang="en-US" sz="1600" dirty="0">
                <a:solidFill>
                  <a:srgbClr val="000000"/>
                </a:solidFill>
                <a:latin typeface="Arial"/>
                <a:cs typeface="Arial"/>
              </a:rPr>
              <a:t>Licence: who may re-use the paper</a:t>
            </a:r>
          </a:p>
          <a:p>
            <a:pPr marL="0" indent="0" algn="ctr">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Where the checklist PDF is</a:t>
            </a:r>
          </a:p>
          <a:p>
            <a:pPr marL="0" indent="0" algn="ctr">
              <a:lnSpc>
                <a:spcPct val="104000"/>
              </a:lnSpc>
              <a:spcBef>
                <a:spcPts val="300"/>
              </a:spcBef>
              <a:buNone/>
            </a:pPr>
            <a:r>
              <a:rPr lang="en-US" sz="1500" dirty="0">
                <a:solidFill>
                  <a:srgbClr val="000000"/>
                </a:solidFill>
                <a:latin typeface="Arial"/>
                <a:cs typeface="Arial"/>
              </a:rPr>
              <a:t>How to see if a journal is in MEDLINE</a:t>
            </a:r>
          </a:p>
          <a:p>
            <a:pPr marL="0" indent="0" algn="ctr">
              <a:lnSpc>
                <a:spcPct val="104000"/>
              </a:lnSpc>
              <a:spcBef>
                <a:spcPts val="300"/>
              </a:spcBef>
              <a:buNone/>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Screens the paper</a:t>
            </a:r>
          </a:p>
          <a:p>
            <a:pPr marL="0" indent="0" algn="ctr">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Change the paper</a:t>
            </a:r>
          </a:p>
          <a:p>
            <a:pPr marL="0" indent="0" algn="ctr">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ctr">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ctr">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ctr">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ctr">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add 90-day mortality.</a:t>
            </a:r>
          </a:p>
          <a:p>
            <a:pPr marL="0" indent="0" algn="ctr">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ctr">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Often: check it twice</a:t>
            </a:r>
          </a:p>
          <a:p>
            <a:pPr marL="0" indent="0" algn="ctr">
              <a:lnSpc>
                <a:spcPct val="104000"/>
              </a:lnSpc>
              <a:spcBef>
                <a:spcPts val="300"/>
              </a:spcBef>
              <a:buNone/>
            </a:pPr>
            <a:r>
              <a:rPr lang="en-US" sz="1500" dirty="0">
                <a:solidFill>
                  <a:srgbClr val="000000"/>
                </a:solidFill>
                <a:latin typeface="Arial"/>
                <a:cs typeface="Arial"/>
              </a:rPr>
              <a:t>False: duplicate submission</a:t>
            </a:r>
          </a:p>
          <a:p>
            <a:pPr marL="0" indent="0" algn="ctr">
              <a:lnSpc>
                <a:spcPct val="104000"/>
              </a:lnSpc>
              <a:spcBef>
                <a:spcPts val="300"/>
              </a:spcBef>
              <a:buNone/>
            </a:pPr>
            <a:r>
              <a:rPr lang="en-US" sz="1500" dirty="0">
                <a:solidFill>
                  <a:srgbClr val="000000"/>
                </a:solidFill>
                <a:latin typeface="Arial"/>
                <a:cs typeface="Arial"/>
              </a:rPr>
              <a:t>False: posted before peer review</a:t>
            </a:r>
          </a:p>
          <a:p>
            <a:pPr marL="0" indent="0" algn="ctr">
              <a:lnSpc>
                <a:spcPct val="104000"/>
              </a:lnSpc>
              <a:spcBef>
                <a:spcPts val="300"/>
              </a:spcBef>
              <a:buNone/>
            </a:pPr>
            <a:r>
              <a:rPr lang="en-US" sz="1500" dirty="0">
                <a:solidFill>
                  <a:srgbClr val="000000"/>
                </a:solidFill>
                <a:latin typeface="Arial"/>
                <a:cs typeface="Arial"/>
              </a:rPr>
              <a:t>True: politely, with evidence</a:t>
            </a:r>
          </a:p>
          <a:p>
            <a:pPr marL="0" indent="0" algn="ctr">
              <a:lnSpc>
                <a:spcPct val="104000"/>
              </a:lnSpc>
              <a:spcBef>
                <a:spcPts val="300"/>
              </a:spcBef>
              <a:buNone/>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were sent by email.</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Pilot trial, 48 patients analysed</a:t>
            </a:r>
          </a:p>
          <a:p>
            <a:pPr marL="0" indent="0" algn="ctr">
              <a:lnSpc>
                <a:spcPct val="104000"/>
              </a:lnSpc>
              <a:spcBef>
                <a:spcPts val="400"/>
              </a:spcBef>
              <a:buNone/>
            </a:pPr>
            <a:r>
              <a:rPr lang="en-US" sz="1750" dirty="0">
                <a:solidFill>
                  <a:srgbClr val="000000"/>
                </a:solidFill>
                <a:latin typeface="Arial"/>
                <a:cs typeface="Arial"/>
              </a:rPr>
              <a:t>Restrictive vs usual fluids in septic shock</a:t>
            </a:r>
          </a:p>
          <a:p>
            <a:pPr marL="0" indent="0" algn="ctr">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Propensity-matched cohort, 2516 patients</a:t>
            </a:r>
          </a:p>
          <a:p>
            <a:pPr marL="0" indent="0" algn="ctr">
              <a:lnSpc>
                <a:spcPct val="104000"/>
              </a:lnSpc>
              <a:spcBef>
                <a:spcPts val="400"/>
              </a:spcBef>
              <a:buNone/>
            </a:pPr>
            <a:r>
              <a:rPr lang="en-US" sz="1750" dirty="0">
                <a:solidFill>
                  <a:srgbClr val="000000"/>
                </a:solidFill>
                <a:latin typeface="Arial"/>
                <a:cs typeface="Arial"/>
              </a:rPr>
              <a:t>Positive fluid balance in sepsis</a:t>
            </a:r>
          </a:p>
          <a:p>
            <a:pPr marL="0" indent="0" algn="ctr">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was included, and who was left out?</a:t>
            </a:r>
          </a:p>
          <a:p>
            <a:pPr marL="0" indent="0" algn="ctr">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Were the groups similar at the start (Table 1)?</a:t>
            </a:r>
          </a:p>
          <a:p>
            <a:pPr marL="0" indent="0" algn="ctr">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knew which group patients were in (blinding)?</a:t>
            </a:r>
          </a:p>
          <a:p>
            <a:pPr marL="0" indent="0" algn="ctr">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ctr">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Are the main limitations stated honestly?</a:t>
            </a:r>
          </a:p>
          <a:p>
            <a:pPr marL="0" indent="0" algn="ctr">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Would this change practice in your unit?</a:t>
            </a:r>
          </a:p>
          <a:p>
            <a:pPr marL="0" indent="0" algn="ctr">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Where to look</a:t>
            </a:r>
          </a:p>
          <a:p>
            <a:pPr marL="0" indent="0" algn="ctr">
              <a:lnSpc>
                <a:spcPct val="104000"/>
              </a:lnSpc>
              <a:spcBef>
                <a:spcPts val="300"/>
              </a:spcBef>
              <a:buNone/>
            </a:pPr>
            <a:r>
              <a:rPr lang="en-US" sz="1500" dirty="0">
                <a:solidFill>
                  <a:srgbClr val="000000"/>
                </a:solidFill>
                <a:latin typeface="Arial"/>
                <a:cs typeface="Arial"/>
              </a:rPr>
              <a:t>Abstract: question and result</a:t>
            </a:r>
          </a:p>
          <a:p>
            <a:pPr marL="0" indent="0" algn="ctr">
              <a:lnSpc>
                <a:spcPct val="104000"/>
              </a:lnSpc>
              <a:spcBef>
                <a:spcPts val="300"/>
              </a:spcBef>
              <a:buNone/>
            </a:pPr>
            <a:r>
              <a:rPr lang="en-US" sz="1500" dirty="0">
                <a:solidFill>
                  <a:srgbClr val="000000"/>
                </a:solidFill>
                <a:latin typeface="Arial"/>
                <a:cs typeface="Arial"/>
              </a:rPr>
              <a:t>Methods: design, blinding, outcome</a:t>
            </a:r>
          </a:p>
          <a:p>
            <a:pPr marL="0" indent="0" algn="ctr">
              <a:lnSpc>
                <a:spcPct val="104000"/>
              </a:lnSpc>
              <a:spcBef>
                <a:spcPts val="300"/>
              </a:spcBef>
              <a:buNone/>
            </a:pPr>
            <a:r>
              <a:rPr lang="en-US" sz="1500" dirty="0">
                <a:solidFill>
                  <a:srgbClr val="000000"/>
                </a:solidFill>
                <a:latin typeface="Arial"/>
                <a:cs typeface="Arial"/>
              </a:rPr>
              <a:t>Table 1: groups similar?</a:t>
            </a:r>
          </a:p>
          <a:p>
            <a:pPr marL="0" indent="0" algn="ctr">
              <a:lnSpc>
                <a:spcPct val="104000"/>
              </a:lnSpc>
              <a:spcBef>
                <a:spcPts val="300"/>
              </a:spcBef>
              <a:buNone/>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ctr">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ctr">
              <a:lnSpc>
                <a:spcPct val="104000"/>
              </a:lnSpc>
              <a:spcBef>
                <a:spcPts val="400"/>
              </a:spcBef>
              <a:buNone/>
            </a:pPr>
            <a:r>
              <a:rPr lang="en-US" sz="1750" b="1" dirty="0">
                <a:solidFill>
                  <a:srgbClr val="2E8B57"/>
                </a:solidFill>
                <a:latin typeface="Arial"/>
                <a:cs typeface="Arial"/>
              </a:rPr>
              <a:t>May say: 'did not reduce'</a:t>
            </a:r>
          </a:p>
          <a:p>
            <a:pPr marL="0" indent="0" algn="ctr">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ctr">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ctr">
              <a:lnSpc>
                <a:spcPct val="104000"/>
              </a:lnSpc>
              <a:spcBef>
                <a:spcPts val="400"/>
              </a:spcBef>
              <a:buNone/>
            </a:pPr>
            <a:r>
              <a:rPr lang="en-US" sz="1750" b="1" dirty="0">
                <a:solidFill>
                  <a:srgbClr val="2E8B57"/>
                </a:solidFill>
                <a:latin typeface="Arial"/>
                <a:cs typeface="Arial"/>
              </a:rPr>
              <a:t>May say: 'is associated with'</a:t>
            </a:r>
          </a:p>
          <a:p>
            <a:pPr marL="0" indent="0" algn="ctr">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the trainers' appraisal guide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Everyone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Proposal_Rubric (sent by email with the proposal brief)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strengths and one suggestion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Running order</a:t>
            </a:r>
          </a:p>
          <a:p>
            <a:pPr marL="0" indent="0" algn="ctr">
              <a:lnSpc>
                <a:spcPct val="104000"/>
              </a:lnSpc>
              <a:spcBef>
                <a:spcPts val="300"/>
              </a:spcBef>
              <a:buNone/>
            </a:pPr>
            <a:r>
              <a:rPr lang="en-US" sz="1500" dirty="0">
                <a:solidFill>
                  <a:srgbClr val="000000"/>
                </a:solidFill>
                <a:latin typeface="Arial"/>
                <a:cs typeface="Arial"/>
              </a:rPr>
              <a:t>21:30  Presenter 1</a:t>
            </a:r>
          </a:p>
          <a:p>
            <a:pPr marL="0" indent="0" algn="ctr">
              <a:lnSpc>
                <a:spcPct val="104000"/>
              </a:lnSpc>
              <a:spcBef>
                <a:spcPts val="300"/>
              </a:spcBef>
              <a:buNone/>
            </a:pPr>
            <a:r>
              <a:rPr lang="en-US" sz="1500" dirty="0">
                <a:solidFill>
                  <a:srgbClr val="000000"/>
                </a:solidFill>
                <a:latin typeface="Arial"/>
                <a:cs typeface="Arial"/>
              </a:rPr>
              <a:t>21:38  Presenter 2</a:t>
            </a:r>
          </a:p>
          <a:p>
            <a:pPr marL="0" indent="0" algn="ctr">
              <a:lnSpc>
                <a:spcPct val="104000"/>
              </a:lnSpc>
              <a:spcBef>
                <a:spcPts val="300"/>
              </a:spcBef>
              <a:buNone/>
            </a:pPr>
            <a:r>
              <a:rPr lang="en-US" sz="1500" dirty="0">
                <a:solidFill>
                  <a:srgbClr val="000000"/>
                </a:solidFill>
                <a:latin typeface="Arial"/>
                <a:cs typeface="Arial"/>
              </a:rPr>
              <a:t>21:46  Presenter 3</a:t>
            </a:r>
          </a:p>
          <a:p>
            <a:pPr marL="0" indent="0" algn="ctr">
              <a:lnSpc>
                <a:spcPct val="104000"/>
              </a:lnSpc>
              <a:spcBef>
                <a:spcPts val="300"/>
              </a:spcBef>
              <a:buNone/>
            </a:pPr>
            <a:r>
              <a:rPr lang="en-US" sz="1500" dirty="0">
                <a:solidFill>
                  <a:srgbClr val="000000"/>
                </a:solidFill>
                <a:latin typeface="Arial"/>
                <a:cs typeface="Arial"/>
              </a:rPr>
              <a:t>21:54  Presenter 4</a:t>
            </a:r>
          </a:p>
          <a:p>
            <a:pPr marL="0" indent="0" algn="ctr">
              <a:lnSpc>
                <a:spcPct val="104000"/>
              </a:lnSpc>
              <a:spcBef>
                <a:spcPts val="300"/>
              </a:spcBef>
              <a:buNone/>
            </a:pPr>
            <a:r>
              <a:rPr lang="en-US" sz="1500" dirty="0">
                <a:solidFill>
                  <a:srgbClr val="000000"/>
                </a:solidFill>
                <a:latin typeface="Arial"/>
                <a:cs typeface="Arial"/>
              </a:rPr>
              <a:t>22:02  Presenter 5</a:t>
            </a:r>
          </a:p>
          <a:p>
            <a:pPr marL="0" indent="0" algn="ctr">
              <a:lnSpc>
                <a:spcPct val="104000"/>
              </a:lnSpc>
              <a:spcBef>
                <a:spcPts val="300"/>
              </a:spcBef>
              <a:buNone/>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Publication plan (Part 4)</a:t>
            </a:r>
          </a:p>
          <a:p>
            <a:pPr marL="0" indent="0" algn="ctr">
              <a:lnSpc>
                <a:spcPct val="104000"/>
              </a:lnSpc>
              <a:spcBef>
                <a:spcPts val="300"/>
              </a:spcBef>
              <a:buNone/>
            </a:pPr>
            <a:r>
              <a:rPr lang="en-US" sz="1500" dirty="0">
                <a:solidFill>
                  <a:srgbClr val="000000"/>
                </a:solidFill>
                <a:latin typeface="Arial"/>
                <a:cs typeface="Arial"/>
              </a:rPr>
              <a:t>Working title</a:t>
            </a:r>
          </a:p>
          <a:p>
            <a:pPr marL="0" indent="0" algn="ctr">
              <a:lnSpc>
                <a:spcPct val="104000"/>
              </a:lnSpc>
              <a:spcBef>
                <a:spcPts val="300"/>
              </a:spcBef>
              <a:buNone/>
            </a:pPr>
            <a:r>
              <a:rPr lang="en-US" sz="1500" dirty="0">
                <a:solidFill>
                  <a:srgbClr val="000000"/>
                </a:solidFill>
                <a:latin typeface="Arial"/>
                <a:cs typeface="Arial"/>
              </a:rPr>
              <a:t>Abstract skeleton</a:t>
            </a:r>
          </a:p>
          <a:p>
            <a:pPr marL="0" indent="0" algn="ctr">
              <a:lnSpc>
                <a:spcPct val="104000"/>
              </a:lnSpc>
              <a:spcBef>
                <a:spcPts val="300"/>
              </a:spcBef>
              <a:buNone/>
            </a:pPr>
            <a:r>
              <a:rPr lang="en-US" sz="1500" dirty="0">
                <a:solidFill>
                  <a:srgbClr val="000000"/>
                </a:solidFill>
                <a:latin typeface="Arial"/>
                <a:cs typeface="Arial"/>
              </a:rPr>
              <a:t>Authors and their roles</a:t>
            </a:r>
          </a:p>
          <a:p>
            <a:pPr marL="0" indent="0" algn="ctr">
              <a:lnSpc>
                <a:spcPct val="104000"/>
              </a:lnSpc>
              <a:spcBef>
                <a:spcPts val="300"/>
              </a:spcBef>
              <a:buNone/>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Posted before peer review (e.g. medRxiv)</a:t>
            </a:r>
          </a:p>
          <a:p>
            <a:pPr marL="0" indent="0" algn="ctr">
              <a:lnSpc>
                <a:spcPct val="104000"/>
              </a:lnSpc>
              <a:spcBef>
                <a:spcPts val="400"/>
              </a:spcBef>
              <a:buNone/>
            </a:pPr>
            <a:r>
              <a:rPr lang="en-US" sz="1750" dirty="0">
                <a:solidFill>
                  <a:srgbClr val="000000"/>
                </a:solidFill>
                <a:latin typeface="Arial"/>
                <a:cs typeface="Arial"/>
              </a:rPr>
              <a:t>Fast, timestamped, open feedback</a:t>
            </a:r>
          </a:p>
          <a:p>
            <a:pPr marL="0" indent="0" algn="ctr">
              <a:lnSpc>
                <a:spcPct val="104000"/>
              </a:lnSpc>
              <a:spcBef>
                <a:spcPts val="400"/>
              </a:spcBef>
              <a:buNone/>
            </a:pPr>
            <a:r>
              <a:rPr lang="en-US" sz="1750" dirty="0">
                <a:solidFill>
                  <a:srgbClr val="000000"/>
                </a:solidFill>
                <a:latin typeface="Arial"/>
                <a:cs typeface="Arial"/>
              </a:rPr>
              <a:t>Not peer-reviewed: say so</a:t>
            </a:r>
          </a:p>
          <a:p>
            <a:pPr marL="0" indent="0" algn="ctr">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Free for everyone to read</a:t>
            </a:r>
          </a:p>
          <a:p>
            <a:pPr marL="0" indent="0" algn="ctr">
              <a:lnSpc>
                <a:spcPct val="104000"/>
              </a:lnSpc>
              <a:spcBef>
                <a:spcPts val="400"/>
              </a:spcBef>
              <a:buNone/>
            </a:pPr>
            <a:r>
              <a:rPr lang="en-US" sz="1750" dirty="0">
                <a:solidFill>
                  <a:srgbClr val="000000"/>
                </a:solidFill>
                <a:latin typeface="Arial"/>
                <a:cs typeface="Arial"/>
              </a:rPr>
              <a:t>Gold: the journal charges a fee (APC)</a:t>
            </a:r>
          </a:p>
          <a:p>
            <a:pPr marL="0" indent="0" algn="ctr">
              <a:lnSpc>
                <a:spcPct val="104000"/>
              </a:lnSpc>
              <a:spcBef>
                <a:spcPts val="400"/>
              </a:spcBef>
              <a:buNone/>
            </a:pPr>
            <a:r>
              <a:rPr lang="en-US" sz="1750" dirty="0">
                <a:solidFill>
                  <a:srgbClr val="000000"/>
                </a:solidFill>
                <a:latin typeface="Arial"/>
                <a:cs typeface="Arial"/>
              </a:rPr>
              <a:t>Green: accepted version in a repository</a:t>
            </a:r>
          </a:p>
          <a:p>
            <a:pPr marL="0" indent="0" algn="ctr">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re-use with credit (Paper 2)</a:t>
            </a:r>
          </a:p>
          <a:p>
            <a:pPr marL="0" indent="0" algn="ctr">
              <a:lnSpc>
                <a:spcPct val="104000"/>
              </a:lnSpc>
              <a:spcBef>
                <a:spcPts val="400"/>
              </a:spcBef>
              <a:buNone/>
            </a:pPr>
            <a:r>
              <a:rPr lang="en-US" sz="1750" dirty="0">
                <a:solidFill>
                  <a:srgbClr val="000000"/>
                </a:solidFill>
                <a:latin typeface="Arial"/>
                <a:cs typeface="Arial"/>
              </a:rPr>
              <a:t>CC BY-NC-ND: share, no changes (Paper 1)</a:t>
            </a:r>
          </a:p>
          <a:p>
            <a:pPr marL="0" indent="0" algn="ctr">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Out of scope or poorly reported</a:t>
            </a:r>
          </a:p>
          <a:p>
            <a:pPr marL="0" indent="0" algn="ctr">
              <a:lnSpc>
                <a:spcPct val="104000"/>
              </a:lnSpc>
              <a:spcBef>
                <a:spcPts val="400"/>
              </a:spcBef>
              <a:buNone/>
            </a:pPr>
            <a:r>
              <a:rPr lang="en-US" sz="1750" dirty="0">
                <a:solidFill>
                  <a:srgbClr val="000000"/>
                </a:solidFill>
                <a:latin typeface="Arial"/>
                <a:cs typeface="Arial"/>
              </a:rPr>
              <a:t>Often within days</a:t>
            </a:r>
          </a:p>
          <a:p>
            <a:pPr marL="0" indent="0" algn="ctr">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Read the reviews, wait a day</a:t>
            </a:r>
          </a:p>
          <a:p>
            <a:pPr marL="0" indent="0" algn="ctr">
              <a:lnSpc>
                <a:spcPct val="104000"/>
              </a:lnSpc>
              <a:spcBef>
                <a:spcPts val="400"/>
              </a:spcBef>
              <a:buNone/>
            </a:pPr>
            <a:r>
              <a:rPr lang="en-US" sz="1750" dirty="0">
                <a:solidFill>
                  <a:srgbClr val="000000"/>
                </a:solidFill>
                <a:latin typeface="Arial"/>
                <a:cs typeface="Arial"/>
              </a:rPr>
              <a:t>Fix what they found</a:t>
            </a:r>
          </a:p>
          <a:p>
            <a:pPr marL="0" indent="0" algn="ctr">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Reformat to its Guide for Authors</a:t>
            </a:r>
          </a:p>
          <a:p>
            <a:pPr marL="0" indent="0" algn="ctr">
              <a:lnSpc>
                <a:spcPct val="104000"/>
              </a:lnSpc>
              <a:spcBef>
                <a:spcPts val="400"/>
              </a:spcBef>
              <a:buNone/>
            </a:pPr>
            <a:r>
              <a:rPr lang="en-US" sz="1750" dirty="0">
                <a:solidFill>
                  <a:srgbClr val="000000"/>
                </a:solidFill>
                <a:latin typeface="Arial"/>
                <a:cs typeface="Arial"/>
              </a:rPr>
              <a:t>Use transfer offers if given</a:t>
            </a:r>
          </a:p>
          <a:p>
            <a:pPr marL="0" indent="0" algn="ctr">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consent, registration</a:t>
            </a:r>
          </a:p>
          <a:p>
            <a:pPr marL="0" indent="0" algn="ctr">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in the right order</a:t>
            </a:r>
          </a:p>
          <a:p>
            <a:pPr marL="0" indent="0" algn="ctr">
              <a:lnSpc>
                <a:spcPct val="104000"/>
              </a:lnSpc>
              <a:spcBef>
                <a:spcPts val="400"/>
              </a:spcBef>
              <a:buNone/>
            </a:pPr>
            <a:r>
              <a:rPr lang="en-US" sz="1600" dirty="0">
                <a:solidFill>
                  <a:srgbClr val="000000"/>
                </a:solidFill>
                <a:latin typeface="Arial"/>
                <a:cs typeface="Arial"/>
              </a:rPr>
              <a:t>Numbers with CIs</a:t>
            </a:r>
          </a:p>
          <a:p>
            <a:pPr marL="0" indent="0" algn="ctr">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Reporting checklist</a:t>
            </a:r>
          </a:p>
          <a:p>
            <a:pPr marL="0" indent="0" algn="ctr">
              <a:lnSpc>
                <a:spcPct val="104000"/>
              </a:lnSpc>
              <a:spcBef>
                <a:spcPts val="400"/>
              </a:spcBef>
              <a:buNone/>
            </a:pPr>
            <a:r>
              <a:rPr lang="en-US" sz="1600" dirty="0">
                <a:solidFill>
                  <a:srgbClr val="000000"/>
                </a:solidFill>
                <a:latin typeface="Arial"/>
                <a:cs typeface="Arial"/>
              </a:rPr>
              <a:t>Trusted journal</a:t>
            </a:r>
          </a:p>
          <a:p>
            <a:pPr marL="0" indent="0" algn="ctr">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questions</a:t>
            </a:r>
          </a:p>
          <a:p>
            <a:pPr marL="0" indent="0" algn="ctr">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Results section,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Results section</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form: the link is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The answers are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PICO question</a:t>
            </a:r>
          </a:p>
          <a:p>
            <a:pPr marL="0" indent="0" algn="ctr">
              <a:lnSpc>
                <a:spcPct val="104000"/>
              </a:lnSpc>
              <a:spcBef>
                <a:spcPts val="200"/>
              </a:spcBef>
              <a:buNone/>
            </a:pPr>
            <a:r>
              <a:rPr lang="en-US" sz="1500" dirty="0">
                <a:solidFill>
                  <a:srgbClr val="000000"/>
                </a:solidFill>
                <a:latin typeface="Arial"/>
                <a:cs typeface="Arial"/>
              </a:rPr>
              <a:t>5 key references</a:t>
            </a:r>
          </a:p>
          <a:p>
            <a:pPr marL="0" indent="0" algn="ctr">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justified design</a:t>
            </a:r>
          </a:p>
          <a:p>
            <a:pPr marL="0" indent="0" algn="ctr">
              <a:lnSpc>
                <a:spcPct val="104000"/>
              </a:lnSpc>
              <a:spcBef>
                <a:spcPts val="200"/>
              </a:spcBef>
              <a:buNone/>
            </a:pPr>
            <a:r>
              <a:rPr lang="en-US" sz="1500" dirty="0">
                <a:solidFill>
                  <a:srgbClr val="000000"/>
                </a:solidFill>
                <a:latin typeface="Arial"/>
                <a:cs typeface="Arial"/>
              </a:rPr>
              <a:t>Outcomes</a:t>
            </a:r>
          </a:p>
          <a:p>
            <a:pPr marL="0" indent="0" algn="ctr">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CRF and analysis plan</a:t>
            </a:r>
          </a:p>
          <a:p>
            <a:pPr marL="0" indent="0" algn="ctr">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Results section</a:t>
            </a:r>
          </a:p>
          <a:p>
            <a:pPr marL="0" indent="0" algn="ctr">
              <a:lnSpc>
                <a:spcPct val="104000"/>
              </a:lnSpc>
              <a:spcBef>
                <a:spcPts val="200"/>
              </a:spcBef>
              <a:buNone/>
            </a:pPr>
            <a:r>
              <a:rPr lang="en-US" sz="1500" dirty="0">
                <a:solidFill>
                  <a:srgbClr val="000000"/>
                </a:solidFill>
                <a:latin typeface="Arial"/>
                <a:cs typeface="Arial"/>
              </a:rPr>
              <a:t>How to write every section and the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own proposal</a:t>
            </a:r>
          </a:p>
          <a:p>
            <a:pPr marL="0" indent="0" algn="ctr">
              <a:lnSpc>
                <a:spcPct val="104000"/>
              </a:lnSpc>
              <a:spcBef>
                <a:spcPts val="200"/>
              </a:spcBef>
              <a:buNone/>
            </a:pPr>
            <a:r>
              <a:rPr lang="en-US" sz="1500" dirty="0">
                <a:solidFill>
                  <a:srgbClr val="000000"/>
                </a:solidFill>
                <a:latin typeface="Arial"/>
                <a:cs typeface="Arial"/>
              </a:rPr>
              <a:t>Your own Results section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Results section ready to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Session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reviewer is assigned at random</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Sun 20 Dec</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your Results draft by 23:59</a:t>
            </a:r>
          </a:p>
          <a:p>
            <a:pPr marL="0" indent="0" algn="ctr">
              <a:lnSpc>
                <a:spcPct val="104000"/>
              </a:lnSpc>
              <a:spcBef>
                <a:spcPts val="200"/>
              </a:spcBef>
              <a:buNone/>
            </a:pPr>
            <a:r>
              <a:rPr lang="en-US" sz="1500" dirty="0">
                <a:solidFill>
                  <a:srgbClr val="000000"/>
                </a:solidFill>
                <a:latin typeface="Arial"/>
                <a:cs typeface="Arial"/>
              </a:rPr>
              <a:t>To your reviewer and the instructor</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Wed 30 Dec</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your review report</a:t>
            </a:r>
          </a:p>
          <a:p>
            <a:pPr marL="0" indent="0" algn="ctr">
              <a:lnSpc>
                <a:spcPct val="104000"/>
              </a:lnSpc>
              <a:spcBef>
                <a:spcPts val="200"/>
              </a:spcBef>
              <a:buNone/>
            </a:pPr>
            <a:r>
              <a:rPr lang="en-US" sz="1500" dirty="0">
                <a:solidFill>
                  <a:srgbClr val="000000"/>
                </a:solidFill>
                <a:latin typeface="Arial"/>
                <a:cs typeface="Arial"/>
              </a:rPr>
              <a:t>Use the Results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Sat 9 Jan</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Revised Results section</a:t>
            </a:r>
          </a:p>
          <a:p>
            <a:pPr marL="0" indent="0" algn="ctr">
              <a:lnSpc>
                <a:spcPct val="104000"/>
              </a:lnSpc>
              <a:spcBef>
                <a:spcPts val="200"/>
              </a:spcBef>
              <a:buNone/>
            </a:pPr>
            <a:r>
              <a:rPr lang="en-US" sz="1500" dirty="0">
                <a:solidFill>
                  <a:srgbClr val="000000"/>
                </a:solidFill>
                <a:latin typeface="Arial"/>
                <a:cs typeface="Arial"/>
              </a:rPr>
              <a:t>Response to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Everyone reviews one Results draft and receives one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Attendance at 6 of 8 sessions</a:t>
            </a:r>
          </a:p>
          <a:p>
            <a:pPr marL="0" indent="0" algn="ctr">
              <a:lnSpc>
                <a:spcPct val="104000"/>
              </a:lnSpc>
              <a:spcBef>
                <a:spcPts val="400"/>
              </a:spcBef>
              <a:buNone/>
            </a:pPr>
            <a:r>
              <a:rPr lang="en-US" sz="1750" dirty="0">
                <a:solidFill>
                  <a:srgbClr val="000000"/>
                </a:solidFill>
                <a:latin typeface="Arial"/>
                <a:cs typeface="Arial"/>
              </a:rPr>
              <a:t>Proposal submitted</a:t>
            </a:r>
          </a:p>
          <a:p>
            <a:pPr marL="0" indent="0" algn="ctr">
              <a:lnSpc>
                <a:spcPct val="104000"/>
              </a:lnSpc>
              <a:spcBef>
                <a:spcPts val="400"/>
              </a:spcBef>
              <a:buNone/>
            </a:pPr>
            <a:r>
              <a:rPr lang="en-US" sz="1750" dirty="0">
                <a:solidFill>
                  <a:srgbClr val="000000"/>
                </a:solidFill>
                <a:latin typeface="Arial"/>
                <a:cs typeface="Arial"/>
              </a:rPr>
              <a:t>Results draft by 23:59, Sunday 20 December</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Slides, handouts, glossary</a:t>
            </a:r>
          </a:p>
          <a:p>
            <a:pPr marL="0" indent="0" algn="ctr">
              <a:lnSpc>
                <a:spcPct val="104000"/>
              </a:lnSpc>
              <a:spcBef>
                <a:spcPts val="400"/>
              </a:spcBef>
              <a:buNone/>
            </a:pPr>
            <a:r>
              <a:rPr lang="en-US" sz="1750" dirty="0">
                <a:solidFill>
                  <a:srgbClr val="000000"/>
                </a:solidFill>
                <a:latin typeface="Arial"/>
                <a:cs typeface="Arial"/>
              </a:rPr>
              <a:t>Templates for every step, from proposal to response to reviewers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Take your proposal to the ethics committee</a:t>
            </a:r>
          </a:p>
          <a:p>
            <a:pPr marL="0" indent="0" algn="ctr">
              <a:lnSpc>
                <a:spcPct val="104000"/>
              </a:lnSpc>
              <a:spcBef>
                <a:spcPts val="400"/>
              </a:spcBef>
              <a:buNone/>
            </a:pPr>
            <a:r>
              <a:rPr lang="en-US" sz="1750" dirty="0">
                <a:solidFill>
                  <a:srgbClr val="000000"/>
                </a:solidFill>
                <a:latin typeface="Arial"/>
                <a:cs typeface="Arial"/>
              </a:rPr>
              <a:t>Level 2: statistical modelling in R</a:t>
            </a:r>
          </a:p>
          <a:p>
            <a:pPr marL="0" indent="0" algn="ctr">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