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(0:00). Week 8, Saturday: the last session. Today the FLUID-ICU manuscripts become complete drafts, we follow a paper from submission to publication, practise reviewing, and every group presents its own proposal.</a:t>
            </a:r>
          </a:p>
          <a:p>
            <a:r>
              <a:rPr lang="en-US" sz="1400" b="0" dirty="0"/>
              <a:t>The closing block (post-course quiz, evaluation, peer-review swap) is the last 15 minutes and has its own slides.</a:t>
            </a:r>
          </a:p>
          <a:p>
            <a:r>
              <a:rPr lang="en-US" sz="1400" b="0" dirty="0"/>
              <a:t>Before you start: all five presentations on ONE laptop; each group's workshop-1 draft open.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(0:00-0:05). Quick hands-up; reveal the answers.</a:t>
            </a:r>
          </a:p>
          <a:p>
            <a:r>
              <a:rPr lang="en-US" sz="1400" b="0" dirty="0"/>
              <a:t>Q3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(0:05-0:30). Eleven slides with three worked examples from FLUID-ICU Q1 and a 2-minute check.</a:t>
            </a:r>
          </a:p>
          <a:p>
            <a:r>
              <a:rPr lang="en-US" sz="1400" b="0" dirty="0"/>
              <a:t>Order follows the writing order from last Saturday: Introduction, Discussion, then the Abstract and the Title last.</a:t>
            </a:r>
          </a:p>
          <a:p>
            <a:r>
              <a:rPr lang="en-US" sz="1400" b="0" dirty="0"/>
              <a:t>Pace: about 2 minutes per slide; slow down on the worked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introduction is a funnel, not a literature review. Paragraph 1: what is known (burden, mechanism, current practice). Paragraph 2: what is not known: the gap, ideally with conflicting evidence cited on both sides. Paragraph 3: 'We therefore aimed to ...', one aim sentence that matches the primary outcome in the Methods.</a:t>
            </a:r>
          </a:p>
          <a:p>
            <a:r>
              <a:rPr lang="en-US" sz="1400" b="0" dirty="0"/>
              <a:t>Paper 1 is the model (annotations #10-#12): known (positive fluid balance is linked to death; hidden fluids are a large share of intake), unknown (earlier trials targeted resuscitation fluids only), aim (primary objective = fluid balance after 5 days), all in under 500 words (pages 2-3).</a:t>
            </a:r>
          </a:p>
          <a:p>
            <a:r>
              <a:rPr lang="en-US" sz="1400" b="0" dirty="0"/>
              <a:t>Paper 2's paragraph 2 defines the gap by citing both sides of a conflict (annotation #9). Copy that. But its introduction runs to about 550 words and the aim repeats the causal word 'impact' (#3, #10).</a:t>
            </a:r>
          </a:p>
          <a:p>
            <a:r>
              <a:rPr lang="en-US" sz="1400" b="0" dirty="0"/>
              <a:t>Link to Sessions 1-2: your problem statement and PICO already give you this funnel. The next slide shows a worked example for the FLUID-ICU paper.</a:t>
            </a:r>
          </a:p>
          <a:p>
            <a:r>
              <a:rPr lang="en-US" sz="1400" b="0" dirty="0"/>
              <a:t>Ask: in one sentence, what is NOT known in your group's topic? That sentence is your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Model opening sentences (adapt, do not copy):</a:t>
            </a:r>
          </a:p>
          <a:p>
            <a:r>
              <a:rPr lang="en-US" sz="1400" b="0" dirty="0"/>
              <a:t>P1: 'Intravenous fluids are a cornerstone of early sepsis care, but a positive cumulative fluid balance has been associated with higher mortality in several observational studies [refs].'</a:t>
            </a:r>
          </a:p>
          <a:p>
            <a:r>
              <a:rPr lang="en-US" sz="1400" b="0" dirty="0"/>
              <a:t>P2: 'Because sicker patients receive more fluid, it remains uncertain whether this association persists after adjustment for illness severity [refs].'</a:t>
            </a:r>
          </a:p>
          <a:p>
            <a:r>
              <a:rPr lang="en-US" sz="1400" b="0" dirty="0"/>
              <a:t>P3: 'We therefore examined whether a positive cumulative fluid balance by ICU day 3 was associated with 28-day mortality in adults with sepsis, before and after adjustment for severity.'</a:t>
            </a:r>
          </a:p>
          <a:p>
            <a:r>
              <a:rPr lang="en-US" sz="1400" b="0" dirty="0"/>
              <a:t>References: groups use the references found in Sessions 1-2 plus Papers 1 and 2.</a:t>
            </a:r>
          </a:p>
          <a:p>
            <a:r>
              <a:rPr lang="en-US" sz="1400" b="0" dirty="0"/>
              <a:t>Point out: the confounding by indication from Session 4 IS the gap. That is why the study is worth doing.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good discussion makes six moves, in this order: answer the question; compare with other studies and explain why results differ; explain the mechanism briefly; state the limitations specifically, with their likely direction and a fix; give implications for practice and research, labelled as such; conclude with the same message as the abstract and title.</a:t>
            </a:r>
          </a:p>
          <a:p>
            <a:r>
              <a:rPr lang="en-US" sz="1400" b="0" dirty="0"/>
              <a:t>Paper 1 does most of this well: the first sentence answers the primary question (annotation #36); the comparison with CLASSIC and POINCARE-2 explains WHY results differ (#37); limitations are specific, with mechanism and a fix (#38, #39); the conclusion matches the abstract (#44). Weak point: 'would probably be advantageous' is speculation without data (#46).</a:t>
            </a:r>
          </a:p>
          <a:p>
            <a:r>
              <a:rPr lang="en-US" sz="1400" b="0" dirty="0"/>
              <a:t>Paper 2: one-paragraph mechanism using the four-phase fluid model (#34); comparison closes the loop with the conflicting studies from the introduction (#35). But its limitations miss survivor bias, residual lactate imbalance and confounding by indication (#36).</a:t>
            </a:r>
          </a:p>
          <a:p>
            <a:r>
              <a:rPr lang="en-US" sz="1400" b="0" dirty="0"/>
              <a:t>Ask: which move do first-time writers usually skip? Expected: the limitations' direction, saying whether a bias makes the effect look bigger or smaller.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(six moves, one sentence each; numbers from key_results.md, SIMULATED data).</a:t>
            </a:r>
          </a:p>
          <a:p>
            <a:r>
              <a:rPr lang="en-US" sz="1400" b="0" dirty="0"/>
              <a:t>1 Answer: adjusted OR 1.62 (95% CI 1.02 to 2.59). 2 Compare: Paper 2 found day-2 HR 2.13 (1.48 to 3.06). 3 Explain: the crude OR 2.49 fell to 1.62 after adjustment (confounding by indication). 4 Limitations: residual confounding, reverse causation (patients who are dying accumulate fluid), patients dying before day 3; the adjusted Cox HR 1.46 had a CI reaching 1.00. 5 Implications: no basis to restrict fluid. A trial like Paper 1 is needed. 6 Conclusion: 'associated with'.</a:t>
            </a:r>
          </a:p>
          <a:p>
            <a:r>
              <a:rPr lang="en-US" sz="1400" b="0" dirty="0"/>
              <a:t>Optional point for Q1 groups: the association looked stronger in heart failure (adjusted OR 4.39 vs 1.29, p for interaction 0.031, only 90 patients). This is a hypothesis, not a finding.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figure shows the three estimates from results pack Q1 (Table 6): crude (n = 618), adjusted complete-case (n = 527) and adjusted after multiple imputation (n = 620).</a:t>
            </a:r>
          </a:p>
          <a:p>
            <a:r>
              <a:rPr lang="en-US" sz="1400" b="0" dirty="0"/>
              <a:t>Teaching point: the drop from 2.49 to 1.62 is the Session 4 lesson made visible: sicker patients received more fluid AND died more. The imputed estimate is close to the complete-case one, so missing lactate did not change the conclusion.</a:t>
            </a:r>
          </a:p>
          <a:p>
            <a:r>
              <a:rPr lang="en-US" sz="1400" b="0" dirty="0"/>
              <a:t>The adjusted CI starts at 1.02, just above 1. Calibrated sentence: 'a modest association remained'.</a:t>
            </a:r>
          </a:p>
          <a:p>
            <a:r>
              <a:rPr lang="en-US" sz="1400" b="0" dirty="0"/>
              <a:t>Ask: what would you write if the adjusted CI had crossed 1? Expected: 'no clear evidence of an association after adjustment',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strength of a verb is a claim. Over-interpretation (conclusions that go beyond the data) is one of the commonest reasons for rejection.</a:t>
            </a:r>
          </a:p>
          <a:p>
            <a:r>
              <a:rPr lang="en-US" sz="1400" b="0" dirty="0"/>
              <a:t>Read the ladder from the bottom: descriptive studies 'observe'; cohorts and case-control studies find that something 'is associated with' an outcome; strong observational evidence plus causal reasoning may 'contribute to'; a randomised trial may say 'reduced' or 'did not reduce'; 'causes' or 'proves' needs several consistent large trials.</a:t>
            </a:r>
          </a:p>
          <a:p>
            <a:r>
              <a:rPr lang="en-US" sz="1400" b="0" dirty="0"/>
              <a:t>NEVER: 'non-significant trend' for p = 0.42 (Paper 1, page 10, annotation #41); 'no difference' when the study was too small (say 'no evidence of a difference', #29); 'first', 'ever', 'novel' without checking ('lowest fluid balance ever published', #40); 'impact', 'did not impact', 'show' in an observational study (Paper 2, #1, #27, #28); 'the most reliable comparison' (#32); ranking HRs from different cohorts as 'the highest risk' without a test (#37).</a:t>
            </a:r>
          </a:p>
          <a:p>
            <a:r>
              <a:rPr lang="en-US" sz="1400" b="0" dirty="0"/>
              <a:t>Ask: rewrite 'positive fluid balance increases mortality' for Paper 2. Expected: 'a positive fluid balance on ICU day 2 was associated with higher 28-day mortality'.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Numbers from key_results.md (SIMULATED): Q1 adjusted OR 1.62; Q2 adjusted OR 1.27 per 10 ml/kg; Q1 adjusted Cox HR 1.46 (1.00 to 2.13); Q4 adjusted complete-case OR 1.39 per mmol/L.</a:t>
            </a:r>
          </a:p>
          <a:p>
            <a:r>
              <a:rPr lang="en-US" sz="1400" b="0" dirty="0"/>
              <a:t>Room votes 'fine' or 'fix'; ask one person for the fix.</a:t>
            </a:r>
          </a:p>
          <a:p>
            <a:r>
              <a:rPr lang="en-US" sz="1400" b="0" dirty="0"/>
              <a:t>Sentence 3: no 'trend'. Give the estimate and say the CI reaches 1.</a:t>
            </a:r>
          </a:p>
          <a:p>
            <a:r>
              <a:rPr lang="en-US" sz="1400" b="0" dirty="0"/>
              <a:t>Sentence 4: 'predicts' is acceptable in a prediction sense; if the authors mean cause, 'associated with' is the honest verb.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most clinical journals want a structured abstract (Background, Methods, Results, Conclusions) of about 250-300 words; trials add the registration number. Many readers never go further, so it must stand alone.</a:t>
            </a:r>
          </a:p>
          <a:p>
            <a:r>
              <a:rPr lang="en-US" sz="1400" b="0" dirty="0"/>
              <a:t>Good practice: Paper 2's abstract gives the source population, setting and size (annotation #4) and every result as HR with 95% CI and exact P (annotation #5). Paper 1's conclusion reports a negative result plainly, with no spin (annotation #6), and the registration number is in the abstract (annotation #7).</a:t>
            </a:r>
          </a:p>
          <a:p>
            <a:r>
              <a:rPr lang="en-US" sz="1400" b="0" dirty="0"/>
              <a:t>Fix (Paper 1, annotation #4): medians are reported but the estimate is called a 'mean difference', and p = 0.0506 with a CI touching 0 is given to four decimals. The summary, the estimate and the test must match, and borderline p-values are not 'nearly significant'.</a:t>
            </a:r>
          </a:p>
          <a:p>
            <a:r>
              <a:rPr lang="en-US" sz="1400" b="0" dirty="0"/>
              <a:t>Write the abstract LAST, and check that each number appears identically in the abstract, text and tables.</a:t>
            </a:r>
          </a:p>
          <a:p>
            <a:r>
              <a:rPr lang="en-US" sz="1400" b="0" dirty="0"/>
              <a:t>Ask: what is the first thing you look for in an abstract's Results? Expected: the main effect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data; about 120 words shown, and a full abstract is up to 250).</a:t>
            </a:r>
          </a:p>
          <a:p>
            <a:r>
              <a:rPr lang="en-US" sz="1400" b="0" dirty="0"/>
              <a:t>Title: names the exposure, outcome, population and design; no 'impact'.</a:t>
            </a:r>
          </a:p>
          <a:p>
            <a:r>
              <a:rPr lang="en-US" sz="1400" b="0" dirty="0"/>
              <a:t>Methods: must say the data are simulated (course rule).</a:t>
            </a:r>
          </a:p>
          <a:p>
            <a:r>
              <a:rPr lang="en-US" sz="1400" b="0" dirty="0"/>
              <a:t>Results: the crude AND adjusted ORs, as in the Results; the participant numbers (618 analysed, 373 positive).</a:t>
            </a:r>
          </a:p>
          <a:p>
            <a:r>
              <a:rPr lang="en-US" sz="1400" b="0" dirty="0"/>
              <a:t>Conclusions: 'modestly associated', which matches an adjusted CI of 1.02 to 2.59.</a:t>
            </a:r>
          </a:p>
          <a:p>
            <a:r>
              <a:rPr lang="en-US" sz="1400" b="0" dirty="0"/>
              <a:t>Ask: which abstract sentence would change if the adjusted CI had been 0.95 to 2.40? Expected: Results and Conclusions, which would read 'no clear evidence of an association after adjustment'.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title is the most-read sentence of the paper. Build it from the PICO: design, intervention or exposure vs comparator, population, outcome. Aim for about 10-16 words; state the design; avoid value-laden words ('impact', 'optimized', 'novel', 'first').</a:t>
            </a:r>
          </a:p>
          <a:p>
            <a:r>
              <a:rPr lang="en-US" sz="1400" b="0" dirty="0"/>
              <a:t>Paper 1 (annotation #1): the design is in the title (good), but it is over 25 words and uses value words. A shorter descriptive version is on the slide.</a:t>
            </a:r>
          </a:p>
          <a:p>
            <a:r>
              <a:rPr lang="en-US" sz="1400" b="0" dirty="0"/>
              <a:t>Paper 2 (annotation #1): 'Impact' is causal wording for an observational cohort; reviewers routinely ask for 'Association between ...'.</a:t>
            </a:r>
          </a:p>
          <a:p>
            <a:r>
              <a:rPr lang="en-US" sz="1400" b="0" dirty="0"/>
              <a:t>Keywords (Paper 1, annotation #9): its keywords repeat words already in the title. Choose 3-6 MeSH terms that are NOT in the title, so the paper is found by more searches.</a:t>
            </a:r>
          </a:p>
          <a:p>
            <a:r>
              <a:rPr lang="en-US" sz="1400" b="0" dirty="0"/>
              <a:t>Ask: say your group's study in one line, starting with the design. That is the first draft of your working title. You will write it in the activity at the end of this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(Zotero, Mendeley, EndNote) and check every citation. In Paper 2 the covariate list cites reference 26 (the Sepsis-3 definitions paper), almost certainly the wrong number (annotation #22). Never cite a reference an AI tool suggested without reading it.</a:t>
            </a:r>
          </a:p>
          <a:p>
            <a:r>
              <a:rPr lang="en-US" sz="1400" b="0" dirty="0"/>
              <a:t>Reporting checklist: fill in CONSORT or STROBE while you write, with page numbers. Many journals require it at submission. Neither paper names its guideline (both annotated summaries flag this).</a:t>
            </a:r>
          </a:p>
          <a:p>
            <a:r>
              <a:rPr lang="en-US" sz="1400" b="0" dirty="0"/>
              <a:t>Final read: check every number in the text against the tables (Paper 1's creatinine, #25), every figure call-out (Paper 1 refers to Fig. 1 where it means Fig. 2A, #28), and typography of numbers (an IQR whose upper limit is below the lower limit, #35).</a:t>
            </a:r>
          </a:p>
          <a:p>
            <a:r>
              <a:rPr lang="en-US" sz="1400" b="0" dirty="0"/>
              <a:t>Key message from the annotated summaries: almost all of Paper 1's errors would have been caught by a co-author reading the tables against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(0:30-1:00). Course dataset. Groups add the Introduction, Discussion, Abstract and Title to last Saturday's Methods + Results.</a:t>
            </a:r>
          </a:p>
          <a:p>
            <a:r>
              <a:rPr lang="en-US" sz="1400" b="0" dirty="0"/>
              <a:t>Instructions: Practicals/s8_exercises.md, Part B. Model paragraphs for Q1: 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2 (0:30-1:00). Start a 30-minute timer; Introduction and Discussion are written in parallel.</a:t>
            </a:r>
          </a:p>
          <a:p>
            <a:r>
              <a:rPr lang="en-US" sz="1400" b="0" dirty="0"/>
              <a:t>Circulate. Prompts: 'Does your first Discussion sentence answer the question with the number?' 'Is there a limitation with its direction?' 'Does your conclusion use the same verb as your aim?' 'Is every number in the abstract identical to the Results?'</a:t>
            </a:r>
          </a:p>
          <a:p>
            <a:r>
              <a:rPr lang="en-US" sz="1400" b="0" dirty="0"/>
              <a:t>Q4 group: discuss why complete-case and imputed results differ (or not). Q5 group: survivors only, so say who is missing.</a:t>
            </a:r>
          </a:p>
          <a:p>
            <a:r>
              <a:rPr lang="en-US" sz="1400" b="0" dirty="0"/>
              <a:t>At 0:58 ask groups to save; the draft goes to the peer-review swap (homework, 2 weeks, using the 10-question checklist from 8.3).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(1:00-1:15).</a:t>
            </a:r>
          </a:p>
          <a:p>
            <a:r>
              <a:rPr lang="en-US" sz="1400" b="0" dirty="0"/>
              <a:t>During the break: put the papers and the student appraisal pack (Practicals/s8_exercises.md, Part D) on the tables: Paper 1 on tables 1-3, Paper 2 on tables 4-5. Use the ORIGINAL (unannotated) papers.</a:t>
            </a:r>
          </a:p>
          <a:p>
            <a:r>
              <a:rPr lang="en-US" sz="1400" b="0" dirty="0"/>
              <a:t>Load all five presentations on one laptop and test the projector.</a:t>
            </a:r>
          </a:p>
          <a:p>
            <a:r>
              <a:rPr lang="en-US" sz="1400" b="0" dirty="0"/>
              <a:t>Collect the five manuscript drafts (shared folder). They are needed for the peer-review swap.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(1:15-1:40). Ten slides, the 3-minute EQUATOR demo and a 2-minute check.</a:t>
            </a:r>
          </a:p>
          <a:p>
            <a:r>
              <a:rPr lang="en-US" sz="1400" b="0" dirty="0"/>
              <a:t>Pace: about 2 minutes per slide. Point to the picture, give one example, move on. The appraisal needs its full 20 minutes at 1:40.</a:t>
            </a:r>
          </a:p>
          <a:p>
            <a:r>
              <a:rPr lang="en-US" sz="1400" b="0" dirty="0"/>
              <a:t>Link to the manuscripts: the FLUID-ICU drafts would go through exactly this route: STROBE checklist, journal choice, submission package,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each study design there is an internationally agreed reporting checklist; all of them are collected free at the EQUATOR Network (equator-network.org).</a:t>
            </a:r>
          </a:p>
          <a:p>
            <a:r>
              <a:rPr lang="en-US" sz="1400" b="0" dirty="0"/>
              <a:t>CONSORT for randomised trials (updated as CONSORT 2025), STROBE for observational studies (cohort, case-control, cross-sectional), STARD for diagnostic accuracy, PRISMA for systematic reviews, SPIRIT for trial protocols (SPIRIT 2025), CARE for case reports.</a:t>
            </a:r>
          </a:p>
          <a:p>
            <a:r>
              <a:rPr lang="en-US" sz="1400" b="0" dirty="0"/>
              <a:t>Running example: Paper 1 is an RCT (CONSORT); Paper 2 is a cohort (STROBE). Interesting finding from the annotated papers: neither paper names its guideline. Paper 1 does include the CONSORT flow diagram in the main text; Paper 2 keeps its flow chart in the supplement.</a:t>
            </a:r>
          </a:p>
          <a:p>
            <a:r>
              <a:rPr lang="en-US" sz="1400" b="0" dirty="0"/>
              <a:t>Many journals require the completed checklist at submission, with page numbers.</a:t>
            </a:r>
          </a:p>
          <a:p>
            <a:r>
              <a:rPr lang="en-US" sz="1400" b="0" dirty="0"/>
              <a:t>Misconception: 'reporting guidelines tell you how to do the study'. They tell you what to report, but reading them BEFORE you start is the best design checklist you will find.</a:t>
            </a:r>
          </a:p>
          <a:p>
            <a:r>
              <a:rPr lang="en-US" sz="1400" b="0" dirty="0"/>
              <a:t>Ask each group: which guideline fits your proposal? Expected: most ICU proposals are cohort or cross-sectional (STROBE); a few are trials (CONSORT, and SPIRIT for the protocol).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choose the journal at the start, because its Guide for Authors sets word limits, structure, checklist and registration rules.</a:t>
            </a:r>
          </a:p>
          <a:p>
            <a:r>
              <a:rPr lang="en-US" sz="1400" b="0" dirty="0"/>
              <a:t>Fit: the people who need your answer (ICU nurses? pharmacists? intensivists?) decide the journal. Trust: indexed in MEDLINE/PubMed, the Directory of Open Access Journals (DOAJ), Scopus or Web of Science, with a clear peer-review and retraction policy.</a:t>
            </a:r>
          </a:p>
          <a:p>
            <a:r>
              <a:rPr lang="en-US" sz="1400" b="0" dirty="0"/>
              <a:t>Cost &amp; speed: many open-access journals charge an article-processing charge (APC); ask about waivers and institutional agreements. Licence: Paper 1 is CC BY-NC-ND (share, but no adaptation or commercial use), Paper 2 is CC BY (re-use with attribution).</a:t>
            </a:r>
          </a:p>
          <a:p>
            <a:r>
              <a:rPr lang="en-US" sz="1400" b="0" dirty="0"/>
              <a:t>Speed: Paper 1 went from submission to acceptance in about 7 weeks (10 Sept to 31 Oct 2024); Paper 2 took about 7 months (15 Jan to 24 Aug 2023). Speed varies; it is not a sign of quality by itself.</a:t>
            </a:r>
          </a:p>
          <a:p>
            <a:r>
              <a:rPr lang="en-US" sz="1400" b="0" dirty="0"/>
              <a:t>Ask: name one journal your unit reads regularly. That is often a sensible first target.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Preprints: a manuscript posted on a public server (for health research, medRxiv is the best known) before or during peer review. Benefits: speed, a public timestamp, early feedback. Risks: it has not been peer-reviewed, and the media or colleagues may treat it as established. Most journals accept submissions that were preprinted. Check the journal's policy first, and update the preprint with the published reference.</a:t>
            </a:r>
          </a:p>
          <a:p>
            <a:r>
              <a:rPr lang="en-US" sz="1400" b="0" dirty="0"/>
              <a:t>Open access: gold OA means the journal makes the article free and usually charges an article-processing charge (APC). Both our papers are gold OA (annotations #2). Green OA means you deposit the accepted manuscript in a repository, often after an embargo. Ask about waivers and institutional agreements.</a:t>
            </a:r>
          </a:p>
          <a:p>
            <a:r>
              <a:rPr lang="en-US" sz="1400" b="0" dirty="0"/>
              <a:t>Licences: Paper 2 is CC BY (anyone may re-use and adapt with credit); Paper 1 is CC BY-NC-ND (share, but no adaptation or commercial use). This also matters when you want to re-use a figure in teaching.</a:t>
            </a:r>
          </a:p>
          <a:p>
            <a:r>
              <a:rPr lang="en-US" sz="1400" b="0" dirty="0"/>
              <a:t>Ask: you want to put Paper 1's flow chart, redrawn, in your teaching slides. Allowed? Expected: adaptation is not covered by CC BY-NC-ND, so ask permission or cite and link instead.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predatory journals take publication fees without providing real peer review, editing or indexing. Your work disappears into a journal nobody trusts, and you cannot submit it elsewhere.</a:t>
            </a:r>
          </a:p>
          <a:p>
            <a:r>
              <a:rPr lang="en-US" sz="1400" b="0" dirty="0"/>
              <a:t>Walk the five red flags on this (invented) e-mail: flattering mass e-mail from a free address; a vague, huge scope and a name that imitates a real journal; impossibly fast review; fake or unknown 'impact' metrics; fees hidden until after acceptance. Other flags: editorial board members who cannot be verified, no physical address, many spelling errors.</a:t>
            </a:r>
          </a:p>
          <a:p>
            <a:r>
              <a:rPr lang="en-US" sz="1400" b="0" dirty="0"/>
              <a:t>Checks: Think.Check.Submit (a free checklist), DOAJ for open-access journals, the NLM Catalog to see if a journal is really indexed in MEDLINE. Also ask the hospital librarian.</a:t>
            </a:r>
          </a:p>
          <a:p>
            <a:r>
              <a:rPr lang="en-US" sz="1400" b="0" dirty="0"/>
              <a:t>Ask: how many of you received an e-mail like this in the last month? Usually many hands: every clinician who has published once receives them.</a:t>
            </a:r>
          </a:p>
          <a:p>
            <a:r>
              <a:rPr lang="en-US" sz="1400" b="0" dirty="0"/>
              <a:t>The s8 exercise sheet (Part C) has a short 'spot the predatory journal' exercise for later.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(1:24-1:27). Full script with offline fallback: Course/Demos/s8_demo.md.</a:t>
            </a:r>
          </a:p>
          <a:p>
            <a:r>
              <a:rPr lang="en-US" sz="1400" b="0" dirty="0"/>
              <a:t>Keep it to 3 minutes: EQUATOR home page, search box, CONSORT 2025 page, checklist and flow diagram; then STROBE. Then DOAJ search for a journal title, and the NLM Catalog with the filter 'currently indexed in MEDLINE'. End on the Think.Check.Submit checklist.</a:t>
            </a:r>
          </a:p>
          <a:p>
            <a:r>
              <a:rPr lang="en-US" sz="1400" b="0" dirty="0"/>
              <a:t>If the internet fails, use the screenshots described in the demo script.</a:t>
            </a:r>
          </a:p>
          <a:p>
            <a:r>
              <a:rPr lang="en-US" sz="1400" b="0" dirty="0"/>
              <a:t>Close: ask each group to check the target journal and guideline in its publication plan (Proposal builder 7) and on its FLUID-ICU draft (STROBE). Allow 30 seconds, then continue with the submission package.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check the package before any scientific review. Missing items send the manuscript straight back.</a:t>
            </a:r>
          </a:p>
          <a:p>
            <a:r>
              <a:rPr lang="en-US" sz="1400" b="0" dirty="0"/>
              <a:t>Cover letter: one page covering why this journal, what is new, that the work is not under consideration elsewhere, and any preprint. Title page: all authors, affiliations, ORCID iDs (a free, permanent researcher identifier that every participant can register at orcid.org), corresponding author, word count. Manuscript in the journal's format (blinded if the journal uses double-blind review). Tables and figures in the required files and resolution. The reporting checklist with page numbers. Declarations: ethics approval number, consent, competing interests, funding, data availability, author contributions (CRediT) and AI use. The registration number for trials and systematic reviews. Suggested reviewers: experts without conflicts, not recent co-authors. The editor decides whether to use them. Supplementary files.</a:t>
            </a:r>
          </a:p>
          <a:p>
            <a:r>
              <a:rPr lang="en-US" sz="1400" b="0" dirty="0"/>
              <a:t>Running example: Paper 1 has a complete declarations block, exactly what the submission system asks for, item by item (annotation #48). Graphical abstracts are a journal-specific requirement you only find in the Guide for Authors (#8).</a:t>
            </a:r>
          </a:p>
          <a:p>
            <a:r>
              <a:rPr lang="en-US" sz="1400" b="0" dirty="0"/>
              <a:t>Ask: who in your group already has an ORCID iD? Encourage everyone to register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stations. Submit (with cover letter, reporting checklist and declarations). The editor screens, and many papers are rejected here without review ('desk rejection') because they do not fit or are poorly reported. Two or three peer reviewers comment. The editor decides: accept, minor revision, major revision or reject. You revise and answer every comment point by point. Accepted, then proofs (read them carefully!) and publication.</a:t>
            </a:r>
          </a:p>
          <a:p>
            <a:r>
              <a:rPr lang="en-US" sz="1400" b="0" dirty="0"/>
              <a:t>Running example: our annotators judged Paper 1 'minor revision' and Paper 2 'major revision'. Both were published, and both still contain errors a careful reviewer would have caught (Paper 1 even prints the same 'Study protocol' paragraph twice, a proof-reading miss).</a:t>
            </a:r>
          </a:p>
          <a:p>
            <a:r>
              <a:rPr lang="en-US" sz="1400" b="0" dirty="0"/>
              <a:t>Rule: submit to ONE journal at a time; after rejection, improve the paper using the reviews, then submit elsewhere.</a:t>
            </a:r>
          </a:p>
          <a:p>
            <a:r>
              <a:rPr lang="en-US" sz="1400" b="0" dirty="0"/>
              <a:t>Ask: a reviewer is wrong about something. What do you do? Expected: thank them, explain politely with evidence, and clarify the text so the next reader is not confused.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response letter is a table: every reviewer comment, your response, and exactly where the manuscript changed (page and line). Number the comments (R1.1, R1.2, R2.1 ...).</a:t>
            </a:r>
          </a:p>
          <a:p>
            <a:r>
              <a:rPr lang="en-US" sz="1400" b="0" dirty="0"/>
              <a:t>Tone: thank the reviewers, agree where you can, never ignore a point, never argue emotionally. When you disagree (a rebuttal), explain politely with evidence and, where possible, still clarify the text so the next reader is not confused.</a:t>
            </a:r>
          </a:p>
          <a:p>
            <a:r>
              <a:rPr lang="en-US" sz="1400" b="0" dirty="0"/>
              <a:t>The three rows are illustrative, built on what the annotators say a reviewer would have asked Paper 1: remove the 'non-significant trend' (accept); justify blocks of 2 (clarify and add a limitation); a request for an outcome that was never collected (polite rebuttal: you cannot add data that do not exist, but you can name it as a limitation).</a:t>
            </a:r>
          </a:p>
          <a:p>
            <a:r>
              <a:rPr lang="en-US" sz="1400" b="0" dirty="0"/>
              <a:t>Common mistakes: changing the manuscript without saying where; answering 'done' with no detail; accepting a request that makes the paper wrong just to please the reviewer.</a:t>
            </a:r>
          </a:p>
          <a:p>
            <a:r>
              <a:rPr lang="en-US" sz="1400" b="0" dirty="0"/>
              <a:t>A template is in Course/Templates/ (response to reviewers).</a:t>
            </a:r>
          </a:p>
          <a:p>
            <a:r>
              <a:rPr lang="en-US" sz="1400" b="0" dirty="0"/>
              <a:t>Ask: a reviewer asks for an analysis you think is inappropriate. What do you write? Expected: thank, explain why with a reference, and offer an alternative if one exists.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after acceptance the publisher sends proofs, often with a short deadline (days). Read them slowly: every number, every name and affiliation, every table and figure. This is the last chance.</a:t>
            </a:r>
          </a:p>
          <a:p>
            <a:r>
              <a:rPr lang="en-US" sz="1400" b="0" dirty="0"/>
              <a:t>Running example: Paper 1 prints the whole 'Study protocol' paragraph twice: in the Methods (page 4) and again after the Conclusions (page 11). It is a duplication that should have been caught at proof stage (annotation #45). Paper 2's affiliations have inconsistent capitalisation (#42).</a:t>
            </a:r>
          </a:p>
          <a:p>
            <a:r>
              <a:rPr lang="en-US" sz="1400" b="0" dirty="0"/>
              <a:t>Sharing: post the article as its licence and the journal's policy allow: institutional repository, a plain-language summary for patients and colleagues, a short talk in your department, social media. If the media call, keep to what the design allows (calibrated language again).</a:t>
            </a:r>
          </a:p>
          <a:p>
            <a:r>
              <a:rPr lang="en-US" sz="1400" b="0" dirty="0"/>
              <a:t>Corrections: if you find an error after publication, contact the journal. A correction is honest; a retraction is for serious errors or misconduct.</a:t>
            </a:r>
          </a:p>
          <a:p>
            <a:r>
              <a:rPr lang="en-US" sz="1400" b="0" dirty="0"/>
              <a:t>Ask: who will present your published results back to your unit? That is part of the dissemination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(1:38-1:40). Thumbs up (true) or down (false) for each; reveal.</a:t>
            </a:r>
          </a:p>
          <a:p>
            <a:r>
              <a:rPr lang="en-US" sz="1400" b="0" dirty="0"/>
              <a:t>Statement 1 is 'often true' rather than always. Real journals also invite papers, but a flattering mass e-mail from an unknown journal deserves the five-flag check.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(1:40-2:00). Full instructor guide: Course/Resources/appraisal_instructor_guide.md (model answers, prompts, key messages).</a:t>
            </a:r>
          </a:p>
          <a:p>
            <a:r>
              <a:rPr lang="en-US" sz="1400" b="0" dirty="0"/>
              <a:t>Structure: 2 minutes set-up, 10 minutes group work, 8 minutes plenary. Papers and grids were put on the tables during the break.</a:t>
            </a:r>
          </a:p>
          <a:p>
            <a:r>
              <a:rPr lang="en-US" sz="1400" b="0" dirty="0"/>
              <a:t>Why now: after the course each group reviews another group's FLUID-ICU draft with the SAME 10 questions. This is the rehearsal.</a:t>
            </a:r>
          </a:p>
          <a:p>
            <a:r>
              <a:rPr lang="en-US" sz="1400" b="0" dirty="0"/>
              <a:t>Reassure: 'Can't tell' is a perfectly good answer if the paper does not say.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set-up in one minute. Both papers address our running question (fluids in septic shock) with different designs. Groups 1-3 appraise Paper 1, the randomised trial (Boulet 2024, Critical Care). Groups 4-5 appraise Paper 2, the propensity-matched cohort (Hyun 2023, Annals of Intensive Care).</a:t>
            </a:r>
          </a:p>
          <a:p>
            <a:r>
              <a:rPr lang="en-US" sz="1400" b="0" dirty="0"/>
              <a:t>Each group answers the same 10 questions on the answer grid: Yes / No / Can't tell, plus the page where they found it.</a:t>
            </a:r>
          </a:p>
          <a:p>
            <a:r>
              <a:rPr lang="en-US" sz="1400" b="0" dirty="0"/>
              <a:t>Then the plenary: groups report, and we compare what each design is allowed to claim.</a:t>
            </a:r>
          </a:p>
          <a:p>
            <a:r>
              <a:rPr lang="en-US" sz="1400" b="0" dirty="0"/>
              <a:t>Tip: split the work inside the group: pairs take 3-4 questions each, then the group agrees.</a:t>
            </a:r>
          </a:p>
          <a:p>
            <a:r>
              <a:rPr lang="en-US" sz="1400" b="0" dirty="0"/>
              <a:t>Link to Session 4: the 10 questions are a simplified version of the formal risk-of-bias tools: RoB 2 for Paper 1, Newcastle-Ottawa (or the newer ROBINS-E) for Paper 2. We do not run the formal tools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1. Read each question aloud once. Do not explain the answers.</a:t>
            </a:r>
          </a:p>
          <a:p>
            <a:r>
              <a:rPr lang="en-US" sz="1400" b="0" dirty="0"/>
              <a:t>Q1-Q2 are about the question and the design (Sessions 1-4). Q3 is about who was studied, external validity: would your patients be in this study? Q4 is about whether the groups were comparable at baseline (look at Table 1). Q5 is about blinding.</a:t>
            </a:r>
          </a:p>
          <a:p>
            <a:r>
              <a:rPr lang="en-US" sz="1400" b="0" dirty="0"/>
              <a:t>Hint to give: for Q4 the two papers use different tools: randomisation versus propensity-score matching. Ask them to find the sentence that says which.</a:t>
            </a:r>
          </a:p>
          <a:p>
            <a:r>
              <a:rPr lang="en-US" sz="1400" b="0" dirty="0"/>
              <a:t>Answers are Yes / No /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2. Q6 and Q7 use what we learnt in Session 6: one primary outcome, an effect size with its 95% confidence interval.</a:t>
            </a:r>
          </a:p>
          <a:p>
            <a:r>
              <a:rPr lang="en-US" sz="1400" b="0" dirty="0"/>
              <a:t>Q8 is the heart of today's exercise: are the words in the title, abstract and discussion as strong as the design allows? 'Caused' or 'impact' needs randomisation; observational studies say 'associated'. And p = 0.42 is never a 'trend'.</a:t>
            </a:r>
          </a:p>
          <a:p>
            <a:r>
              <a:rPr lang="en-US" sz="1400" b="0" dirty="0"/>
              <a:t>Q9: the authors' own limitations section, plus one they missed. Each paper has a clear one (see the instructor guide).</a:t>
            </a:r>
          </a:p>
          <a:p>
            <a:r>
              <a:rPr lang="en-US" sz="1400" b="0" dirty="0"/>
              <a:t>Q10: their clinical judgement. There is no single right answer, but they must give a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 (1:42-1:52). Start a visible 10-minute timer.</a:t>
            </a:r>
          </a:p>
          <a:p>
            <a:r>
              <a:rPr lang="en-US" sz="1400" b="0" dirty="0"/>
              <a:t>Circulate between tables. The most useful prompts (more in the instructor guide): Paper 1 groups: 'Who was NOT blinded, and who decided how much fluid the patients got?' (clinicians were unblinded and they prescribe the fluids that make up the outcome); 'Find p = 0.42 in the Discussion. What word did the authors use?' (page 10, 'non-significant trend'). Paper 2 groups: 'Who decided which patients got more fluid?' (the doctors, and sicker patients receive more fluid: confounding by indication); 'Patients had to stay at least 3 days in the ICU. Who is missing?' (early deaths and early discharges: survivor bias).</a:t>
            </a:r>
          </a:p>
          <a:p>
            <a:r>
              <a:rPr lang="en-US" sz="1400" b="0" dirty="0"/>
              <a:t>Time calls: at minute 7 'agree your answers'; at minute 9 'choose your speaker and write your one-sentence verdict'.</a:t>
            </a:r>
          </a:p>
          <a:p>
            <a:r>
              <a:rPr lang="en-US" sz="1400" b="0" dirty="0"/>
              <a:t>If a group is stuck on statistics, tell them 'Can't tell' is allowed and move them to Q8 and Q9.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this slide at the START of the plenary, after the first group reports, to frame the comparison.</a:t>
            </a:r>
          </a:p>
          <a:p>
            <a:r>
              <a:rPr lang="en-US" sz="1400" b="0" dirty="0"/>
              <a:t>Paper 1: chance decided who got the restrictive strategy, so known AND unknown factors are balanced on average, so a randomised trial may make a causal claim. Its claim is negative: the strategy did not reduce day-5 fluid balance (difference 13.2 ml/kg, 95% CI -15.2 to 41.6, p = 0.42). But with 48 patients the CI is wide: this is 'no evidence of an effect', not 'evidence of no effect', and certainly not a 'trend'.</a:t>
            </a:r>
          </a:p>
          <a:p>
            <a:r>
              <a:rPr lang="en-US" sz="1400" b="0" dirty="0"/>
              <a:t>Paper 2: doctors decided how much fluid each patient got. Propensity matching balances only the factors that were measured; sicker patients receive more fluid (confounding by indication, Session 4) and some severity is never fully measured. So the paper may say a positive balance on day 2 'is associated with' higher 28-day mortality (HR 2.13, 95% CI 1.48 to 3.06), not that it 'impacts' or 'shows' anything causal, although its title says 'Impact'.</a:t>
            </a:r>
          </a:p>
          <a:p>
            <a:r>
              <a:rPr lang="en-US" sz="1400" b="0" dirty="0"/>
              <a:t>Ask: if you had to change ICU practice tomorrow, which paper is stronger evidence for causation, and which tells you more about real-world risk? Expected: the RCT for causation (but it is a small pilot); the cohort for a large, real-world association that needs a trial to confirm.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at the END of the plenary as the summary, after the groups have given their own answers, not before.</a:t>
            </a:r>
          </a:p>
          <a:p>
            <a:r>
              <a:rPr lang="en-US" sz="1400" b="0" dirty="0"/>
              <a:t>Row by row: how the groups were made comparable; who knew the allocation; the main effect with its CI; the limitation the authors missed (Paper 1: permuted blocks of 2 make the next allocation predictable when clinicians are unblinded, page 3; Paper 2: requiring at least 3 ICU days excludes patients who died or left early (survivor bias), page 2); the wording problem (Paper 1 page 10; Paper 2 title and page 4); and the claim each design supports.</a:t>
            </a:r>
          </a:p>
          <a:p>
            <a:r>
              <a:rPr lang="en-US" sz="1400" b="0" dirty="0"/>
              <a:t>Both papers are good, published papers in Q1 journals, and both have fixable flaws. That is the normal state of the literature, which is why appraisal is a clinical skill.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(1:52-2:00). Keep strict time: 1 minute per report. Use the design-claims slide first and the side-by-side table last.</a:t>
            </a:r>
          </a:p>
          <a:p>
            <a:r>
              <a:rPr lang="en-US" sz="1400" b="0" dirty="0"/>
              <a:t>Steer the comparison to Q4 (randomisation vs matching), Q5 (blinding) and Q8 (words vs design). Group 5 should answer Q9-Q10 for Paper 2 when Group 3 does it for Paper 1, if time allows.</a:t>
            </a:r>
          </a:p>
          <a:p>
            <a:r>
              <a:rPr lang="en-US" sz="1400" b="0" dirty="0"/>
              <a:t>The four key messages are on the side panel. Say each of them out loud before you close.</a:t>
            </a:r>
          </a:p>
          <a:p>
            <a:r>
              <a:rPr lang="en-US" sz="1400" b="0" dirty="0"/>
              <a:t>Model answers for all ten questions for both papers: Resources/appraisal_instructor_guide.md.</a:t>
            </a:r>
          </a:p>
          <a:p>
            <a:r>
              <a:rPr lang="en-US" sz="1400" b="0" dirty="0"/>
              <a:t>Transition: 'Now it is your turn to be reviewed.' Then announce the presentation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six terms with the room before the presentations. Ask someone to explain each in their own words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Take-home before the presentations (1 minute). Read the four cards; the closing block will come back to what the course built.</a:t>
            </a:r>
          </a:p>
          <a:p>
            <a:r>
              <a:rPr lang="en-US" sz="1400" b="0" dirty="0"/>
              <a:t>Transition: 'Now it is your turn to be reviewed.' Then announce the running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(2:00-2:45). Five groups x 8 minutes = 40 minutes, then 5 minutes for a one-sentence summary of each group's manuscript (or buffer). The timekeeper is essential.</a:t>
            </a:r>
          </a:p>
          <a:p>
            <a:r>
              <a:rPr lang="en-US" sz="1400" b="0" dirty="0"/>
              <a:t>Appoint a timekeeper from the audience (or the co-trainer) with the green, yellow and red cards.</a:t>
            </a:r>
          </a:p>
          <a:p>
            <a:r>
              <a:rPr lang="en-US" sz="1400" b="0" dirty="0"/>
              <a:t>Remind the room: the reviewing skills we just used now apply to our own proposals, but feedback is given the way you would like to receive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 the day we score the PRESENTATION only: criteria 12-16 of Course/Assignment/proposal_rubric.md, 6/4/2/0 points each, total out of 30. The written proposal and publication plan (criteria 1-11, out of 70) are marked after the course.</a:t>
            </a:r>
          </a:p>
          <a:p>
            <a:r>
              <a:rPr lang="en-US" sz="1400" b="0" dirty="0"/>
              <a:t>Who scores: the instructors score every group; one peer group (rotating: Group 2 on Group 1, Group 3 on Group 2 ... Group 1 on Group 5) fills the feedback form at the end of proposal_rubric.md.</a:t>
            </a:r>
          </a:p>
          <a:p>
            <a:r>
              <a:rPr lang="en-US" sz="1400" b="0" dirty="0"/>
              <a:t>Feedback in 2 minutes (Assignment/presentation_guide.md): peer group 45 s (two stars and a wish); instructor 60 s (one strength, the most important improvement, one question); presenting group 15 s ('thank you', no defending).</a:t>
            </a:r>
          </a:p>
          <a:p>
            <a:r>
              <a:rPr lang="en-US" sz="1400" b="0" dirty="0"/>
              <a:t>Presenting does. It is feedback to help the group polish the proposal for the ethics committee.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running order. Clock times are relative to the start of the session (2:00 = two hours in; with an 08:00 start this is 10:00-10:45). 2:40-2:45: each group gives its FLUID-ICU question and main result in one sentence, or the 5 minutes absorb any overrun.</a:t>
            </a:r>
          </a:p>
          <a:p>
            <a:r>
              <a:rPr lang="en-US" sz="1400" b="0" dirty="0"/>
              <a:t>The timekeeper shows GREEN at 4 minutes (2 minutes left), YELLOW at 5 minutes (1 minute left) and RED at 6 minutes (stop).</a:t>
            </a:r>
          </a:p>
          <a:p>
            <a:r>
              <a:rPr lang="en-US" sz="1400" b="0" dirty="0"/>
              <a:t>The next group walks to the front during the previous group's feedback. All slides are already on one laptop, so no USB changes.</a:t>
            </a:r>
          </a:p>
          <a:p>
            <a:r>
              <a:rPr lang="en-US" sz="1400" b="0" dirty="0"/>
              <a:t>If the session runs late, shorten the feedback, never the presentations of the last groups. It is unfair to the group that presents last.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this slide on screen during the presentations if groups present from their own file; otherwise switch to each group's slides.</a:t>
            </a:r>
          </a:p>
          <a:p>
            <a:r>
              <a:rPr lang="en-US" sz="1400" b="0" dirty="0"/>
              <a:t>Instructor feedback: start with a genuine strength; give the most important improvement for the written proposal or publication plan (usually design, outcome definition, feasibility or the choice of journal and guideline); one question if time allows.</a:t>
            </a:r>
          </a:p>
          <a:p>
            <a:r>
              <a:rPr lang="en-US" sz="1400" b="0" dirty="0"/>
              <a:t>Check slide 6 of each group: target journal + correct guideline (STROBE for a cohort, CONSORT for a trial), working title in calibrated words, CRediT roles, one line of the abstract skeleton.</a:t>
            </a:r>
          </a:p>
          <a:p>
            <a:r>
              <a:rPr lang="en-US" sz="1400" b="0" dirty="0"/>
              <a:t>Typical issues to watch for: outcome not measurable in routine data; a causal claim planned from an observational design (link back to the appraisal!); no plan for consent in sedated patients; unrealistic recruitment.</a:t>
            </a:r>
          </a:p>
          <a:p>
            <a:r>
              <a:rPr lang="en-US" sz="1400" b="0" dirty="0"/>
              <a:t>At 2:40 each group gives its manuscript in one sentence (question + main result, 1 minute each). At 2:45 collect the feedback forms and move straight to the closing: post-course quiz, evaluation and the peer-review swap (next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time allows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Optional 6-minute writing drill on the two papers (use if Manuscript workshop 2 finishes early or as homework). Worksheet: Practicals/s8_exercises.md, Part A (writing exercises).</a:t>
            </a:r>
          </a:p>
          <a:p>
            <a:r>
              <a:rPr lang="en-US" sz="1400" b="0" dirty="0"/>
              <a:t>Spin sentence (Paper 1, page 10): 'considering the non-significant trend in fluid balance reduction in the optimized group, our approach ... remains worth exploring in a larger randomized controlled trial'. Model rewrite: 'The point estimate favoured the restrictive strategy, but the 95% CI was wide (-15.2 to 41.6 ml/kg) and included no effect; a larger trial would be needed to detect a smaller difference.'</a:t>
            </a:r>
          </a:p>
          <a:p>
            <a:r>
              <a:rPr lang="en-US" sz="1400" b="0" dirty="0"/>
              <a:t>Title (Paper 2): 'Positive cumulative fluid balance during the first three ICU days and 28-day mortality in sepsis: a propensity score-matched cohort study'. Use 'association', not 'impact'.</a:t>
            </a:r>
          </a:p>
          <a:p>
            <a:r>
              <a:rPr lang="en-US" sz="1400" b="0" dirty="0"/>
              <a:t>Group title: check 10-16 words, design stated, no value words. Abstract skeleton: Results are EXPECTED results, so write the format, e.g. '28-day mortality, RR (95% CI)'.</a:t>
            </a:r>
          </a:p>
          <a:p>
            <a:r>
              <a:rPr lang="en-US" sz="1400" b="0" dirty="0"/>
              <a:t>Take 2 group titles aloud if there is time. Groups add the title and skeleton to their presentation during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rejection is part of publishing, not a verdict on you. Many good papers are rejected once or twice before acceptance.</a:t>
            </a:r>
          </a:p>
          <a:p>
            <a:r>
              <a:rPr lang="en-US" sz="1400" b="0" dirty="0"/>
              <a:t>Desk rejection: the editor declines without review, usually because the topic does not fit the journal or the reporting is poor. Re-target: choose a journal whose readers need your result.</a:t>
            </a:r>
          </a:p>
          <a:p>
            <a:r>
              <a:rPr lang="en-US" sz="1400" b="0" dirty="0"/>
              <a:t>After peer review: read the reviews, wait a day before reacting, then fix what they found. The same reviewers are often invited by the next journal in the same field; an unchanged manuscript annoys them.</a:t>
            </a:r>
          </a:p>
          <a:p>
            <a:r>
              <a:rPr lang="en-US" sz="1400" b="0" dirty="0"/>
              <a:t>Next journal: reformat to the new Guide for Authors; some publishers offer to transfer the manuscript and reviews to a sister journal, which can save months. Appeal only if there is a clear factual error in the decision.</a:t>
            </a:r>
          </a:p>
          <a:p>
            <a:r>
              <a:rPr lang="en-US" sz="1400" b="0" dirty="0"/>
              <a:t>Never submit to two journals at once (duplicate submission is misconduct).</a:t>
            </a:r>
          </a:p>
          <a:p>
            <a:r>
              <a:rPr lang="en-US" sz="1400" b="0" dirty="0"/>
              <a:t>Ask: what is the first thing you do after a rejection? Expected: read the reviews for things to fix, not for reasons to be angry.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conference abstract is often the first output of a study. It follows the same IMRaD logic as the paper's abstract, usually 250-300 words, with real numbers and confidence intervals. An abstract that says 'results will be presented' is usually rejected. Follow the conference template and deadline.</a:t>
            </a:r>
          </a:p>
          <a:p>
            <a:r>
              <a:rPr lang="en-US" sz="1400" b="0" dirty="0"/>
              <a:t>Poster: a billboard, not a paper on a wall. A short title that states the finding, a few words of background and methods (a flow chart), ONE big figure, a take-home message in one sentence, and a QR code linking to more detail. It should be readable from 2 metres.</a:t>
            </a:r>
          </a:p>
          <a:p>
            <a:r>
              <a:rPr lang="en-US" sz="1400" b="0" dirty="0"/>
              <a:t>Presenting an abstract does not normally prevent publication of the full paper, but check the journal's policy. Do write the full paper: many abstracts never become publications.</a:t>
            </a:r>
          </a:p>
          <a:p>
            <a:r>
              <a:rPr lang="en-US" sz="1400" b="0" dirty="0"/>
              <a:t>A conference abstract template is in Course/Templates/.</a:t>
            </a:r>
          </a:p>
          <a:p>
            <a:r>
              <a:rPr lang="en-US" sz="1400" b="0" dirty="0"/>
              <a:t>Ask: what would be the single figure on your group's poster? Expected: the primary outcome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Last 15 minutes of Session 8. Keep it brisk and positive.</a:t>
            </a:r>
          </a:p>
          <a:p>
            <a:r>
              <a:rPr lang="en-US" sz="1400" b="0" dirty="0"/>
              <a:t>Thank the groups for their presentations before starting the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 out the same quiz (online form or paper).</a:t>
            </a:r>
          </a:p>
          <a:p>
            <a:r>
              <a:rPr lang="en-US" sz="1400" b="0" dirty="0"/>
              <a:t>Later: compute the mean pre/post change with the table in pre_post_quiz_answer_key and report it to the department head in the course report.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Celebrate: each group has a proposal it could take to the ethics committee and a draft paper.</a:t>
            </a:r>
          </a:p>
          <a:p>
            <a:r>
              <a:rPr lang="en-US" sz="1400" b="0" dirty="0"/>
              <a:t>Ask each group to agree a next step before leaving: who polishes the proposal, target date for the ethics committee, who leads the manuscript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Short anonymous form (paper or online). The pace question matters. We planned the course to be slow, so tell us if it was right.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swap: group 1 reviews group 2, 2 reviews 3, ... 5 reviews 1.</a:t>
            </a:r>
          </a:p>
          <a:p>
            <a:r>
              <a:rPr lang="en-US" sz="1400" b="0" dirty="0"/>
              <a:t>Reviews follow Assignment/peer_review_instructions.md and the 10-question checklist. Authors reply with Templates/Response_to_Reviewers_Template.docx.</a:t>
            </a:r>
          </a:p>
          <a:p>
            <a:r>
              <a:rPr lang="en-US" sz="1400" b="0" dirty="0"/>
              <a:t>This is the last step of the whole research process, exactly what happens after a real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
            </a:r>
          </a:p>
          <a:p>
            <a:r>
              <a:rPr lang="en-US" sz="1400" b="0" dirty="0"/>
              <a:t>Level 2 (hands-on, for those who want to run analyses themselves): reproducible R projects, data management, linear and logistic regression in depth, missing data, publication-ready tables and figures. Prerequisite: this course plus the free Neudata course Clinical Data Analysis in R.</a:t>
            </a:r>
          </a:p>
          <a:p>
            <a:r>
              <a:rPr lang="en-US" sz="1400" b="0" dirty="0"/>
              <a:t>Level 3 (on request): advanced, specialised methods for complex data: meta-analysis, prediction and machine learning, diagnostic accuracy, advanced survival, longitudinal and multilevel models. See Course_Levels/.</a:t>
            </a:r>
          </a:p>
          <a:p>
            <a:r>
              <a:rPr lang="en-US" sz="1400" b="0" dirty="0"/>
              <a:t>Give the trainers' contact details for follow-up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department leadership, the organisers and the participants. Group photo.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6.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9.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1.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19.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8 · Publish: finish the paper,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8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(5 min)</a:t>
            </a:r>
          </a:p>
          <a:p>
            <a:pPr marL="274320" indent="-274320" algn="l">
              <a:spcBef>
                <a:spcPts val="440"/>
              </a:spcBef>
              <a:buFont typeface="Arial"/>
              <a:buChar char="•"/>
            </a:pPr>
            <a:r>
              <a:rPr lang="en-US" sz="1900" dirty="0">
                <a:solidFill>
                  <a:srgbClr val="000000"/>
                </a:solidFill>
                <a:latin typeface="Century Gothic"/>
                <a:cs typeface="Century Gothic"/>
              </a:rPr>
              <a:t>8.1  Writing the paper (II): Introduction, Discussion, Abstract, Title</a:t>
            </a:r>
          </a:p>
          <a:p>
            <a:pPr marL="274320" indent="-274320" algn="l">
              <a:spcBef>
                <a:spcPts val="440"/>
              </a:spcBef>
              <a:buFont typeface="Arial"/>
              <a:buChar char="•"/>
            </a:pPr>
            <a:r>
              <a:rPr lang="en-US" sz="1900" dirty="0">
                <a:solidFill>
                  <a:srgbClr val="000000"/>
                </a:solidFill>
                <a:latin typeface="Century Gothic"/>
                <a:cs typeface="Century Gothic"/>
              </a:rPr>
              <a:t>Manuscript workshop 2: complete the draft</a:t>
            </a:r>
          </a:p>
          <a:p>
            <a:pPr marL="274320" indent="-274320" algn="l">
              <a:spcBef>
                <a:spcPts val="440"/>
              </a:spcBef>
              <a:buFont typeface="Arial"/>
              <a:buChar char="•"/>
            </a:pPr>
            <a:r>
              <a:rPr lang="en-US" sz="1900" dirty="0">
                <a:solidFill>
                  <a:srgbClr val="000000"/>
                </a:solidFill>
                <a:latin typeface="Century Gothic"/>
                <a:cs typeface="Century Gothic"/>
              </a:rPr>
              <a:t>8.2  Getting published: from checklist to proofs</a:t>
            </a:r>
          </a:p>
          <a:p>
            <a:pPr marL="274320" indent="-274320" algn="l">
              <a:spcBef>
                <a:spcPts val="440"/>
              </a:spcBef>
              <a:buFont typeface="Arial"/>
              <a:buChar char="•"/>
            </a:pPr>
            <a:r>
              <a:rPr lang="en-US" sz="1900" dirty="0">
                <a:solidFill>
                  <a:srgbClr val="000000"/>
                </a:solidFill>
                <a:latin typeface="Century Gothic"/>
                <a:cs typeface="Century Gothic"/>
              </a:rPr>
              <a:t>8.3  Be the reviewer: appraise Papers 1 and 2</a:t>
            </a:r>
          </a:p>
          <a:p>
            <a:pPr marL="274320" indent="-274320" algn="l">
              <a:spcBef>
                <a:spcPts val="440"/>
              </a:spcBef>
              <a:buFont typeface="Arial"/>
              <a:buChar char="•"/>
            </a:pPr>
            <a:r>
              <a:rPr lang="en-US" sz="1900" dirty="0">
                <a:solidFill>
                  <a:srgbClr val="000000"/>
                </a:solidFill>
                <a:latin typeface="Century Gothic"/>
                <a:cs typeface="Century Gothic"/>
              </a:rPr>
              <a:t>Group presentations: proposal + publication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Who consents for a sedated patient in septic shock?</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Which STROBE item asks for crude AND adjusted estimates?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The legal representative (or deferred consent if approved)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Item 16 (main results)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Discussion,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8.1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Writing the paper (II)</a:t>
            </a:r>
          </a:p>
          <a:p>
            <a:pPr marL="0" indent="0" algn="ctr">
              <a:spcBef>
                <a:spcPts val="1200"/>
              </a:spcBef>
              <a:buNone/>
            </a:pPr>
            <a:r>
              <a:rPr lang="en-US" sz="1900" i="1" dirty="0">
                <a:solidFill>
                  <a:srgbClr val="595959"/>
                </a:solidFill>
                <a:latin typeface="Century Gothic"/>
                <a:cs typeface="Century Gothic"/>
              </a:rPr>
              <a:t>Introduction, Discussion, Abstract and Title,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Known, unknown, aim.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Known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Fluids save lives early in sepsis</a:t>
            </a:r>
          </a:p>
          <a:p>
            <a:pPr marL="0" indent="0" algn="l">
              <a:lnSpc>
                <a:spcPct val="104000"/>
              </a:lnSpc>
              <a:spcBef>
                <a:spcPts val="400"/>
              </a:spcBef>
              <a:buNone/>
            </a:pPr>
            <a:r>
              <a:rPr lang="en-US" sz="1750" dirty="0">
                <a:solidFill>
                  <a:srgbClr val="000000"/>
                </a:solidFill>
                <a:latin typeface="Century Gothic"/>
                <a:cs typeface="Century Gothic"/>
              </a:rPr>
              <a:t>Positive balance linked to death</a:t>
            </a:r>
          </a:p>
          <a:p>
            <a:pPr marL="0" indent="0" algn="l">
              <a:lnSpc>
                <a:spcPct val="104000"/>
              </a:lnSpc>
              <a:spcBef>
                <a:spcPts val="400"/>
              </a:spcBef>
              <a:buNone/>
            </a:pPr>
            <a:r>
              <a:rPr lang="en-US" sz="1750" dirty="0">
                <a:solidFill>
                  <a:srgbClr val="000000"/>
                </a:solidFill>
                <a:latin typeface="Century Gothic"/>
                <a:cs typeface="Century Gothic"/>
              </a:rPr>
              <a:t>(Paper 2; large cohorts)</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Not known</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Whether the link persists after</a:t>
            </a:r>
          </a:p>
          <a:p>
            <a:pPr marL="0" indent="0" algn="l">
              <a:lnSpc>
                <a:spcPct val="104000"/>
              </a:lnSpc>
              <a:spcBef>
                <a:spcPts val="400"/>
              </a:spcBef>
              <a:buNone/>
            </a:pPr>
            <a:r>
              <a:rPr lang="en-US" sz="1750" dirty="0">
                <a:solidFill>
                  <a:srgbClr val="000000"/>
                </a:solidFill>
                <a:latin typeface="Century Gothic"/>
                <a:cs typeface="Century Gothic"/>
              </a:rPr>
              <a:t>adjusting for severity</a:t>
            </a:r>
          </a:p>
          <a:p>
            <a:pPr marL="0" indent="0" algn="l">
              <a:lnSpc>
                <a:spcPct val="104000"/>
              </a:lnSpc>
              <a:spcBef>
                <a:spcPts val="400"/>
              </a:spcBef>
              <a:buNone/>
            </a:pPr>
            <a:r>
              <a:rPr lang="en-US" sz="1750" dirty="0">
                <a:solidFill>
                  <a:srgbClr val="000000"/>
                </a:solidFill>
                <a:latin typeface="Century Gothic"/>
                <a:cs typeface="Century Gothic"/>
              </a:rPr>
              <a:t>Sicker patients get more fluid</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Aim</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We examined whether a positive</a:t>
            </a:r>
          </a:p>
          <a:p>
            <a:pPr marL="0" indent="0" algn="l">
              <a:lnSpc>
                <a:spcPct val="104000"/>
              </a:lnSpc>
              <a:spcBef>
                <a:spcPts val="400"/>
              </a:spcBef>
              <a:buNone/>
            </a:pPr>
            <a:r>
              <a:rPr lang="en-US" sz="1750" dirty="0">
                <a:solidFill>
                  <a:srgbClr val="000000"/>
                </a:solidFill>
                <a:latin typeface="Century Gothic"/>
                <a:cs typeface="Century Gothic"/>
              </a:rPr>
              <a:t>balance by day 3 is associated</a:t>
            </a:r>
          </a:p>
          <a:p>
            <a:pPr marL="0" indent="0" algn="l">
              <a:lnSpc>
                <a:spcPct val="104000"/>
              </a:lnSpc>
              <a:spcBef>
                <a:spcPts val="400"/>
              </a:spcBef>
              <a:buNone/>
            </a:pPr>
            <a:r>
              <a:rPr lang="en-US" sz="1750" dirty="0">
                <a:solidFill>
                  <a:srgbClr val="000000"/>
                </a:solidFill>
                <a:latin typeface="Century Gothic"/>
                <a:cs typeface="Century Gothic"/>
              </a:rPr>
              <a:t>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Three paragraphs, about 350 words.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with the number, explain the crude-adjusted gap, end with the same verb.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FLUID-ICU Q1 (simulated)</a:t>
            </a:r>
          </a:p>
          <a:p>
            <a:pPr marL="274320" indent="-274320" algn="l">
              <a:spcBef>
                <a:spcPts val="440"/>
              </a:spcBef>
              <a:buFont typeface="Arial"/>
              <a:buChar char="•"/>
            </a:pPr>
            <a:r>
              <a:rPr lang="en-US" sz="1450" dirty="0">
                <a:solidFill>
                  <a:srgbClr val="000000"/>
                </a:solidFill>
                <a:latin typeface="Century Gothic"/>
                <a:cs typeface="Century Gothic"/>
              </a:rPr>
              <a:t>Crude OR 2.49 (1.70 to 3.70)</a:t>
            </a:r>
          </a:p>
          <a:p>
            <a:pPr marL="274320" indent="-274320" algn="l">
              <a:spcBef>
                <a:spcPts val="440"/>
              </a:spcBef>
              <a:buFont typeface="Arial"/>
              <a:buChar char="•"/>
            </a:pPr>
            <a:r>
              <a:rPr lang="en-US" sz="1450" dirty="0">
                <a:solidFill>
                  <a:srgbClr val="000000"/>
                </a:solidFill>
                <a:latin typeface="Century Gothic"/>
                <a:cs typeface="Century Gothic"/>
              </a:rPr>
              <a:t>Adjusted OR 1.62 (1.02 to 2.59)</a:t>
            </a:r>
          </a:p>
          <a:p>
            <a:pPr marL="274320" indent="-274320" algn="l">
              <a:spcBef>
                <a:spcPts val="440"/>
              </a:spcBef>
              <a:buFont typeface="Arial"/>
              <a:buChar char="•"/>
            </a:pPr>
            <a:r>
              <a:rPr lang="en-US" sz="1450" dirty="0">
                <a:solidFill>
                  <a:srgbClr val="000000"/>
                </a:solidFill>
                <a:latin typeface="Century Gothic"/>
                <a:cs typeface="Century Gothic"/>
              </a:rPr>
              <a:t>Imputed OR 1.70 (1.09 to 2.64)</a:t>
            </a:r>
          </a:p>
          <a:p>
            <a:pPr marL="274320" indent="-274320" algn="l">
              <a:spcBef>
                <a:spcPts val="440"/>
              </a:spcBef>
              <a:buFont typeface="Arial"/>
              <a:buChar char="•"/>
            </a:pPr>
            <a:r>
              <a:rPr lang="en-US" sz="1450" dirty="0">
                <a:solidFill>
                  <a:srgbClr val="000000"/>
                </a:solidFill>
                <a:latin typeface="Century Gothic"/>
                <a:cs typeface="Century Gothic"/>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positive balance caused higher mortality (OR 1.62).'</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'Fluid overload increases AKI (OR 1.27 per 10 ml/kg).'</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'There was a trend towards death (Cox HR 1.46, 95% CI 1.00 to 2.13).'</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'Lactate predicts death (OR 1.39 per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Better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 was associated with ...'</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 was associated with higher odds of AKI'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'HR 1.46 (1.00 to 2.13): CI reaches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OK for prediction; for cause: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result in the abstract has a number and a confidence interval.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Copy the numbers from your Results. The abstract must not contain new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title states the question and the design, with no sales 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References</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Use a reference manager</a:t>
            </a:r>
          </a:p>
          <a:p>
            <a:pPr marL="0" indent="0" algn="l">
              <a:lnSpc>
                <a:spcPct val="104000"/>
              </a:lnSpc>
              <a:spcBef>
                <a:spcPts val="400"/>
              </a:spcBef>
              <a:buNone/>
            </a:pPr>
            <a:r>
              <a:rPr lang="en-US" sz="1750" dirty="0">
                <a:solidFill>
                  <a:srgbClr val="000000"/>
                </a:solidFill>
                <a:latin typeface="Century Gothic"/>
                <a:cs typeface="Century Gothic"/>
              </a:rPr>
              <a:t>Check every citation</a:t>
            </a:r>
          </a:p>
          <a:p>
            <a:pPr marL="0" indent="0" algn="l">
              <a:lnSpc>
                <a:spcPct val="104000"/>
              </a:lnSpc>
              <a:spcBef>
                <a:spcPts val="400"/>
              </a:spcBef>
              <a:buNone/>
            </a:pPr>
            <a:r>
              <a:rPr lang="en-US" sz="1750" dirty="0">
                <a:solidFill>
                  <a:srgbClr val="000000"/>
                </a:solidFill>
                <a:latin typeface="Century Gothic"/>
                <a:cs typeface="Century Gothic"/>
              </a:rPr>
              <a:t>P2 cites the Sepsis-3 paper for its covariates</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Reporting checklist</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Fill it in while writing</a:t>
            </a:r>
          </a:p>
          <a:p>
            <a:pPr marL="0" indent="0" algn="l">
              <a:lnSpc>
                <a:spcPct val="104000"/>
              </a:lnSpc>
              <a:spcBef>
                <a:spcPts val="400"/>
              </a:spcBef>
              <a:buNone/>
            </a:pPr>
            <a:r>
              <a:rPr lang="en-US" sz="1750" dirty="0">
                <a:solidFill>
                  <a:srgbClr val="000000"/>
                </a:solidFill>
                <a:latin typeface="Century Gothic"/>
                <a:cs typeface="Century Gothic"/>
              </a:rPr>
              <a:t>Add page numbers</a:t>
            </a:r>
          </a:p>
          <a:p>
            <a:pPr marL="0" indent="0" algn="l">
              <a:lnSpc>
                <a:spcPct val="104000"/>
              </a:lnSpc>
              <a:spcBef>
                <a:spcPts val="400"/>
              </a:spcBef>
              <a:buNone/>
            </a:pPr>
            <a:r>
              <a:rPr lang="en-US" sz="1750" dirty="0">
                <a:solidFill>
                  <a:srgbClr val="000000"/>
                </a:solidFill>
                <a:latin typeface="Century Gothic"/>
                <a:cs typeface="Century Gothic"/>
              </a:rPr>
              <a:t>Neither paper names CONSORT or STROBE</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Final read</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Text = table, every number</a:t>
            </a:r>
          </a:p>
          <a:p>
            <a:pPr marL="0" indent="0" algn="l">
              <a:lnSpc>
                <a:spcPct val="104000"/>
              </a:lnSpc>
              <a:spcBef>
                <a:spcPts val="400"/>
              </a:spcBef>
              <a:buNone/>
            </a:pPr>
            <a:r>
              <a:rPr lang="en-US" sz="1750" dirty="0">
                <a:solidFill>
                  <a:srgbClr val="000000"/>
                </a:solidFill>
                <a:latin typeface="Century Gothic"/>
                <a:cs typeface="Century Gothic"/>
              </a:rPr>
              <a:t>Call-outs point to the right figure</a:t>
            </a:r>
          </a:p>
          <a:p>
            <a:pPr marL="0" indent="0" algn="l">
              <a:lnSpc>
                <a:spcPct val="104000"/>
              </a:lnSpc>
              <a:spcBef>
                <a:spcPts val="400"/>
              </a:spcBef>
              <a:buNone/>
            </a:pPr>
            <a:r>
              <a:rPr lang="en-US" sz="1750" dirty="0">
                <a:solidFill>
                  <a:srgbClr val="000000"/>
                </a:solidFill>
                <a:latin typeface="Century Gothic"/>
                <a:cs typeface="Century Gothic"/>
              </a:rPr>
              <a:t>A co-author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errors in these two papers needed no new data,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2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Complete your draft</a:t>
            </a:r>
          </a:p>
          <a:p>
            <a:pPr marL="0" indent="0" algn="ctr">
              <a:spcBef>
                <a:spcPts val="1200"/>
              </a:spcBef>
              <a:buNone/>
            </a:pPr>
            <a:r>
              <a:rPr lang="en-US" sz="1900" i="1" dirty="0">
                <a:solidFill>
                  <a:srgbClr val="595959"/>
                </a:solidFill>
                <a:latin typeface="Century Gothic"/>
                <a:cs typeface="Century Gothic"/>
              </a:rPr>
              <a:t>Introduction, Discussion,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Manuscript workshop 2: Introduction, Discussion, Abstract,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0-8: Introduction, three paragraphs (two people)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0-15: Discussion, six moves (three people)</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15-23: Abstract of 250 words, numbers from your Results</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23-27: Title (10-16 words, design stated) + keywords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27-30: verb check: every 'cause' or 'impact' → 'associated'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Introduction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Discussion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number + verb checker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All: Abstract and Title together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Complete draft (~2,000 words) saved for the peer-review swap after the course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Save and send your manuscript draft</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1-3: collect Paper 1 (RCT) and the answer grid</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Groups 4-5: collect Paper 2 (cohort) and the answer grid</a:t>
            </a:r>
          </a:p>
          <a:p>
            <a:pPr marL="380000" indent="-380000" algn="l">
              <a:lnSpc>
                <a:spcPct val="104000"/>
              </a:lnSpc>
              <a:spcBef>
                <a:spcPts val="450"/>
              </a:spcBef>
              <a:buNone/>
            </a:pPr>
            <a:r>
              <a:rPr lang="en-US" sz="1650" b="1" dirty="0">
                <a:solidFill>
                  <a:srgbClr val="8A99A3"/>
                </a:solidFill>
                <a:latin typeface="Century Gothic"/>
                <a:cs typeface="Century Gothic"/>
              </a:rPr>
              <a:t>4.  </a:t>
            </a:r>
            <a:r>
              <a:rPr lang="en-US" sz="1650" dirty="0">
                <a:solidFill>
                  <a:srgbClr val="000000"/>
                </a:solidFill>
                <a:latin typeface="Century Gothic"/>
                <a:cs typeface="Century Gothic"/>
              </a:rPr>
              <a:t>Presenters: check your slides open on the presentation laptop</a:t>
            </a:r>
          </a:p>
          <a:p>
            <a:pPr marL="380000" indent="-380000" algn="l">
              <a:lnSpc>
                <a:spcPct val="104000"/>
              </a:lnSpc>
              <a:spcBef>
                <a:spcPts val="450"/>
              </a:spcBef>
              <a:buNone/>
            </a:pPr>
            <a:r>
              <a:rPr lang="en-US" sz="1650" b="1" dirty="0">
                <a:solidFill>
                  <a:srgbClr val="8A99A3"/>
                </a:solidFill>
                <a:latin typeface="Century Gothic"/>
                <a:cs typeface="Century Gothic"/>
              </a:rPr>
              <a:t>5.  </a:t>
            </a:r>
            <a:r>
              <a:rPr lang="en-US" sz="1650" dirty="0">
                <a:solidFill>
                  <a:srgbClr val="000000"/>
                </a:solidFill>
                <a:latin typeface="Century Gothic"/>
                <a:cs typeface="Century Gothic"/>
              </a:rPr>
              <a:t>Back at 1:15 sharp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Getting published (25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Be the reviewer (20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Group presentations (45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8.2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Getting published</a:t>
            </a:r>
          </a:p>
          <a:p>
            <a:pPr marL="0" indent="0" algn="ctr">
              <a:spcBef>
                <a:spcPts val="1200"/>
              </a:spcBef>
              <a:buNone/>
            </a:pPr>
            <a:r>
              <a:rPr lang="en-US" sz="1900" i="1" dirty="0">
                <a:solidFill>
                  <a:srgbClr val="595959"/>
                </a:solidFill>
                <a:latin typeface="Century Gothic"/>
                <a:cs typeface="Century Gothic"/>
              </a:rPr>
              <a:t>From checklist to proofs,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 your guideline in Part 4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Decide the target journal before you write: it sets the rules.</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Fit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Who needs your result?</a:t>
            </a:r>
          </a:p>
          <a:p>
            <a:pPr marL="0" indent="0" algn="l">
              <a:lnSpc>
                <a:spcPct val="104000"/>
              </a:lnSpc>
              <a:spcBef>
                <a:spcPts val="400"/>
              </a:spcBef>
              <a:buNone/>
            </a:pPr>
            <a:r>
              <a:rPr lang="en-US" sz="1600" dirty="0">
                <a:solidFill>
                  <a:srgbClr val="000000"/>
                </a:solidFill>
                <a:latin typeface="Century Gothic"/>
                <a:cs typeface="Century Gothic"/>
              </a:rPr>
              <a:t>Read 3 recent issues</a:t>
            </a:r>
          </a:p>
          <a:p>
            <a:pPr marL="0" indent="0" algn="l">
              <a:lnSpc>
                <a:spcPct val="104000"/>
              </a:lnSpc>
              <a:spcBef>
                <a:spcPts val="400"/>
              </a:spcBef>
              <a:buNone/>
            </a:pPr>
            <a:r>
              <a:rPr lang="en-US" sz="1600" dirty="0">
                <a:solidFill>
                  <a:srgbClr val="000000"/>
                </a:solidFill>
                <a:latin typeface="Century Gothic"/>
                <a:cs typeface="Century Gothic"/>
              </a:rPr>
              <a:t>Similar designs published?</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Trust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Indexed: MEDLINE, DOAJ, Scopus or Web of Science</a:t>
            </a:r>
          </a:p>
          <a:p>
            <a:pPr marL="0" indent="0" algn="l">
              <a:lnSpc>
                <a:spcPct val="104000"/>
              </a:lnSpc>
              <a:spcBef>
                <a:spcPts val="400"/>
              </a:spcBef>
              <a:buNone/>
            </a:pPr>
            <a:r>
              <a:rPr lang="en-US" sz="1600" dirty="0">
                <a:solidFill>
                  <a:srgbClr val="000000"/>
                </a:solidFill>
                <a:latin typeface="Century Gothic"/>
                <a:cs typeface="Century Gothic"/>
              </a:rPr>
              <a:t>Clear peer-review policy</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Rules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Guide for Authors</a:t>
            </a:r>
          </a:p>
          <a:p>
            <a:pPr marL="0" indent="0" algn="l">
              <a:lnSpc>
                <a:spcPct val="104000"/>
              </a:lnSpc>
              <a:spcBef>
                <a:spcPts val="400"/>
              </a:spcBef>
              <a:buNone/>
            </a:pPr>
            <a:r>
              <a:rPr lang="en-US" sz="1600" dirty="0">
                <a:solidFill>
                  <a:srgbClr val="000000"/>
                </a:solidFill>
                <a:latin typeface="Century Gothic"/>
                <a:cs typeface="Century Gothic"/>
              </a:rPr>
              <a:t>Word limit, checklist</a:t>
            </a:r>
          </a:p>
          <a:p>
            <a:pPr marL="0" indent="0" algn="l">
              <a:lnSpc>
                <a:spcPct val="104000"/>
              </a:lnSpc>
              <a:spcBef>
                <a:spcPts val="400"/>
              </a:spcBef>
              <a:buNone/>
            </a:pPr>
            <a:r>
              <a:rPr lang="en-US" sz="1600" dirty="0">
                <a:solidFill>
                  <a:srgbClr val="000000"/>
                </a:solidFill>
                <a:latin typeface="Century Gothic"/>
                <a:cs typeface="Century Gothic"/>
              </a:rPr>
              <a:t>Registration required?</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Cost &amp; speed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Fee (APC) and waivers</a:t>
            </a:r>
          </a:p>
          <a:p>
            <a:pPr marL="0" indent="0" algn="l">
              <a:lnSpc>
                <a:spcPct val="104000"/>
              </a:lnSpc>
              <a:spcBef>
                <a:spcPts val="400"/>
              </a:spcBef>
              <a:buNone/>
            </a:pPr>
            <a:r>
              <a:rPr lang="en-US" sz="1600" dirty="0">
                <a:solidFill>
                  <a:srgbClr val="000000"/>
                </a:solidFill>
                <a:latin typeface="Century Gothic"/>
                <a:cs typeface="Century Gothic"/>
              </a:rPr>
              <a:t>Licence: CC BY or BY-NC-ND</a:t>
            </a:r>
          </a:p>
          <a:p>
            <a:pPr marL="0" indent="0" algn="l">
              <a:lnSpc>
                <a:spcPct val="104000"/>
              </a:lnSpc>
              <a:spcBef>
                <a:spcPts val="400"/>
              </a:spcBef>
              <a:buNone/>
            </a:pPr>
            <a:r>
              <a:rPr lang="en-US" sz="1600" dirty="0">
                <a:solidFill>
                  <a:srgbClr val="000000"/>
                </a:solidFill>
                <a:latin typeface="Century Gothic"/>
                <a:cs typeface="Century Gothic"/>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journal is one your readers read,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Posted before peer review (e.g. medRxiv)</a:t>
            </a:r>
          </a:p>
          <a:p>
            <a:pPr marL="0" indent="0" algn="l">
              <a:lnSpc>
                <a:spcPct val="104000"/>
              </a:lnSpc>
              <a:spcBef>
                <a:spcPts val="400"/>
              </a:spcBef>
              <a:buNone/>
            </a:pPr>
            <a:r>
              <a:rPr lang="en-US" sz="1750" dirty="0">
                <a:solidFill>
                  <a:srgbClr val="000000"/>
                </a:solidFill>
                <a:latin typeface="Century Gothic"/>
                <a:cs typeface="Century Gothic"/>
              </a:rPr>
              <a:t>Fast, timestamped, open feedback</a:t>
            </a:r>
          </a:p>
          <a:p>
            <a:pPr marL="0" indent="0" algn="l">
              <a:lnSpc>
                <a:spcPct val="104000"/>
              </a:lnSpc>
              <a:spcBef>
                <a:spcPts val="400"/>
              </a:spcBef>
              <a:buNone/>
            </a:pPr>
            <a:r>
              <a:rPr lang="en-US" sz="1750" dirty="0">
                <a:solidFill>
                  <a:srgbClr val="000000"/>
                </a:solidFill>
                <a:latin typeface="Century Gothic"/>
                <a:cs typeface="Century Gothic"/>
              </a:rPr>
              <a:t>NOT peer-reviewed: say so</a:t>
            </a:r>
          </a:p>
          <a:p>
            <a:pPr marL="0" indent="0" algn="l">
              <a:lnSpc>
                <a:spcPct val="104000"/>
              </a:lnSpc>
              <a:spcBef>
                <a:spcPts val="400"/>
              </a:spcBef>
              <a:buNone/>
            </a:pPr>
            <a:r>
              <a:rPr lang="en-US" sz="1750" dirty="0">
                <a:solidFill>
                  <a:srgbClr val="000000"/>
                </a:solidFill>
                <a:latin typeface="Century Gothic"/>
                <a:cs typeface="Century Gothic"/>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Free for everyone to read</a:t>
            </a:r>
          </a:p>
          <a:p>
            <a:pPr marL="0" indent="0" algn="l">
              <a:lnSpc>
                <a:spcPct val="104000"/>
              </a:lnSpc>
              <a:spcBef>
                <a:spcPts val="400"/>
              </a:spcBef>
              <a:buNone/>
            </a:pPr>
            <a:r>
              <a:rPr lang="en-US" sz="1750" dirty="0">
                <a:solidFill>
                  <a:srgbClr val="000000"/>
                </a:solidFill>
                <a:latin typeface="Century Gothic"/>
                <a:cs typeface="Century Gothic"/>
              </a:rPr>
              <a:t>Gold: journal charges a fee (APC)</a:t>
            </a:r>
          </a:p>
          <a:p>
            <a:pPr marL="0" indent="0" algn="l">
              <a:lnSpc>
                <a:spcPct val="104000"/>
              </a:lnSpc>
              <a:spcBef>
                <a:spcPts val="400"/>
              </a:spcBef>
              <a:buNone/>
            </a:pPr>
            <a:r>
              <a:rPr lang="en-US" sz="1750" dirty="0">
                <a:solidFill>
                  <a:srgbClr val="000000"/>
                </a:solidFill>
                <a:latin typeface="Century Gothic"/>
                <a:cs typeface="Century Gothic"/>
              </a:rPr>
              <a:t>Green: accepted version in a repository</a:t>
            </a:r>
          </a:p>
          <a:p>
            <a:pPr marL="0" indent="0" algn="l">
              <a:lnSpc>
                <a:spcPct val="104000"/>
              </a:lnSpc>
              <a:spcBef>
                <a:spcPts val="400"/>
              </a:spcBef>
              <a:buNone/>
            </a:pPr>
            <a:r>
              <a:rPr lang="en-US" sz="1750" dirty="0">
                <a:solidFill>
                  <a:srgbClr val="000000"/>
                </a:solidFill>
                <a:latin typeface="Century Gothic"/>
                <a:cs typeface="Century Gothic"/>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CC BY: re-use with credit (Paper 2)</a:t>
            </a:r>
          </a:p>
          <a:p>
            <a:pPr marL="0" indent="0" algn="l">
              <a:lnSpc>
                <a:spcPct val="104000"/>
              </a:lnSpc>
              <a:spcBef>
                <a:spcPts val="400"/>
              </a:spcBef>
              <a:buNone/>
            </a:pPr>
            <a:r>
              <a:rPr lang="en-US" sz="1750" dirty="0">
                <a:solidFill>
                  <a:srgbClr val="000000"/>
                </a:solidFill>
                <a:latin typeface="Century Gothic"/>
                <a:cs typeface="Century Gothic"/>
              </a:rPr>
              <a:t>CC BY-NC-ND: share, no changes (Paper 1)</a:t>
            </a:r>
          </a:p>
          <a:p>
            <a:pPr marL="0" indent="0" algn="l">
              <a:lnSpc>
                <a:spcPct val="104000"/>
              </a:lnSpc>
              <a:spcBef>
                <a:spcPts val="400"/>
              </a:spcBef>
              <a:buNone/>
            </a:pPr>
            <a:r>
              <a:rPr lang="en-US" sz="1750" dirty="0">
                <a:solidFill>
                  <a:srgbClr val="000000"/>
                </a:solidFill>
                <a:latin typeface="Century Gothic"/>
                <a:cs typeface="Century Gothic"/>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Know who can read, re-use and pay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the EQUATOR Network website and search 'CONSORT'</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Show the checklist and the flow diagram (Paper 1 has one)</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Find STROBE the same way (Paper 2)</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Check a journal: DOAJ and NLM Catalog search</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Where the checklist PDF is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to see if a journal is in MEDLINE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Each group checks the journal + guideline in its publication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Submit the whole package at once. Missing items mean delay.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papers are revised before acceptance.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Thank, answer every point, show what changed, and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proofs as carefully as the data.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journal that e-mails me first is probably predatory'</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'I can send my paper to two journals at once to save time'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'A preprint has been peer reviewed'</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'I must answer every reviewer comment, even if I disagree'</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Often: check it twice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False: duplicate submission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False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True: politely, with evidence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False: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8.3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 the reviewer</a:t>
            </a:r>
          </a:p>
          <a:p>
            <a:pPr marL="0" indent="0" algn="ctr">
              <a:spcBef>
                <a:spcPts val="1200"/>
              </a:spcBef>
              <a:buNone/>
            </a:pPr>
            <a:r>
              <a:rPr lang="en-US" sz="1900" i="1" dirty="0">
                <a:solidFill>
                  <a:srgbClr val="595959"/>
                </a:solidFill>
                <a:latin typeface="Century Gothic"/>
                <a:cs typeface="Century Gothic"/>
              </a:rPr>
              <a:t>Practice for the peer-review swap of your manuscripts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The jigsaw: three groups on the trial, two on the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clinical question, two designs.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Who was included, and who was left out?</a:t>
            </a:r>
          </a:p>
          <a:p>
            <a:pPr marL="0" indent="0" algn="l">
              <a:lnSpc>
                <a:spcPct val="104000"/>
              </a:lnSpc>
              <a:spcBef>
                <a:spcPts val="400"/>
              </a:spcBef>
              <a:buNone/>
            </a:pPr>
            <a:r>
              <a:rPr lang="en-US" sz="1400" dirty="0">
                <a:solidFill>
                  <a:srgbClr val="000000"/>
                </a:solidFill>
                <a:latin typeface="Century Gothic"/>
                <a:cs typeface="Century Gothic"/>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Were the groups similar at the start (Table 1)?</a:t>
            </a:r>
          </a:p>
          <a:p>
            <a:pPr marL="0" indent="0" algn="l">
              <a:lnSpc>
                <a:spcPct val="104000"/>
              </a:lnSpc>
              <a:spcBef>
                <a:spcPts val="400"/>
              </a:spcBef>
              <a:buNone/>
            </a:pPr>
            <a:r>
              <a:rPr lang="en-US" sz="1400" dirty="0">
                <a:solidFill>
                  <a:srgbClr val="000000"/>
                </a:solidFill>
                <a:latin typeface="Century Gothic"/>
                <a:cs typeface="Century Gothic"/>
              </a:rPr>
              <a:t>How was this achieved (randomisation / matching /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Who knew which group patients were in (blinding)?</a:t>
            </a:r>
          </a:p>
          <a:p>
            <a:pPr marL="0" indent="0" algn="l">
              <a:lnSpc>
                <a:spcPct val="104000"/>
              </a:lnSpc>
              <a:spcBef>
                <a:spcPts val="400"/>
              </a:spcBef>
              <a:buNone/>
            </a:pPr>
            <a:r>
              <a:rPr lang="en-US" sz="1400" dirty="0">
                <a:solidFill>
                  <a:srgbClr val="000000"/>
                </a:solidFill>
                <a:latin typeface="Century Gothic"/>
                <a:cs typeface="Century Gothic"/>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Was there ONE pre-specified primary outcome,</a:t>
            </a:r>
          </a:p>
          <a:p>
            <a:pPr marL="0" indent="0" algn="l">
              <a:lnSpc>
                <a:spcPct val="104000"/>
              </a:lnSpc>
              <a:spcBef>
                <a:spcPts val="400"/>
              </a:spcBef>
              <a:buNone/>
            </a:pPr>
            <a:r>
              <a:rPr lang="en-US" sz="1400" dirty="0">
                <a:solidFill>
                  <a:srgbClr val="000000"/>
                </a:solidFill>
                <a:latin typeface="Century Gothic"/>
                <a:cs typeface="Century Gothic"/>
              </a:rPr>
              <a:t>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What is the main result as an effect size with 95% CI?</a:t>
            </a:r>
          </a:p>
          <a:p>
            <a:pPr marL="0" indent="0" algn="l">
              <a:lnSpc>
                <a:spcPct val="104000"/>
              </a:lnSpc>
              <a:spcBef>
                <a:spcPts val="400"/>
              </a:spcBef>
              <a:buNone/>
            </a:pPr>
            <a:r>
              <a:rPr lang="en-US" sz="1400" dirty="0">
                <a:solidFill>
                  <a:srgbClr val="000000"/>
                </a:solidFill>
                <a:latin typeface="Century Gothic"/>
                <a:cs typeface="Century Gothic"/>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Do the conclusions match the design</a:t>
            </a:r>
          </a:p>
          <a:p>
            <a:pPr marL="0" indent="0" algn="l">
              <a:lnSpc>
                <a:spcPct val="104000"/>
              </a:lnSpc>
              <a:spcBef>
                <a:spcPts val="400"/>
              </a:spcBef>
              <a:buNone/>
            </a:pPr>
            <a:r>
              <a:rPr lang="en-US" sz="1400" dirty="0">
                <a:solidFill>
                  <a:srgbClr val="000000"/>
                </a:solidFill>
                <a:latin typeface="Century Gothic"/>
                <a:cs typeface="Century Gothic"/>
              </a:rPr>
              <a:t>('associated'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Are the main limitations stated honestly?</a:t>
            </a:r>
          </a:p>
          <a:p>
            <a:pPr marL="0" indent="0" algn="l">
              <a:lnSpc>
                <a:spcPct val="104000"/>
              </a:lnSpc>
              <a:spcBef>
                <a:spcPts val="400"/>
              </a:spcBef>
              <a:buNone/>
            </a:pPr>
            <a:r>
              <a:rPr lang="en-US" sz="1400" dirty="0">
                <a:solidFill>
                  <a:srgbClr val="000000"/>
                </a:solidFill>
                <a:latin typeface="Century Gothic"/>
                <a:cs typeface="Century Gothic"/>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Would this change practice in your unit?</a:t>
            </a:r>
          </a:p>
          <a:p>
            <a:pPr marL="0" indent="0" algn="l">
              <a:lnSpc>
                <a:spcPct val="104000"/>
              </a:lnSpc>
              <a:spcBef>
                <a:spcPts val="400"/>
              </a:spcBef>
              <a:buNone/>
            </a:pPr>
            <a:r>
              <a:rPr lang="en-US" sz="1400" dirty="0">
                <a:solidFill>
                  <a:srgbClr val="000000"/>
                </a:solidFill>
                <a:latin typeface="Century Gothic"/>
                <a:cs typeface="Century Gothic"/>
              </a:rPr>
              <a:t>Why /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Be the reviewer: appraise your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Pairs take questions 1-3, 4-6 and 7-10</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Read ONLY the pages listed on your answer grid</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Answer Yes / No / Can't tell + page number</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Minute 7: agree the group answers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Minute 9: choose a speaker; write your verdict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Where to look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Abstract: question and result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design, blinding, outcome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Table 1: groups similar?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Completed answer grid + one-sentence verdict per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Paper 1: RCT (Boulet 2024)</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Paper 2: cohort (Hyun 2023)</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Groups made similar by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Randomisation 1:1 (blocks of 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Propensity matching (measured factors only)</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Who knew the group</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Clinicians knew; patients, statistician blinded</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Everyone (observational)</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Main result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13.2 ml/kg (95% CI -15.2 to 41.6), p = 0.42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Day 2: HR 2.13 (1.48 to 3.06)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Missed limitation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Blocks of 2 with unblinded clinicians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Survivor bias (ICU stay of 3+ days)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Wording problem</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'Non-significant trend' (p = 0.42)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'Impact', 'did not impact', 'show'</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May claim</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Did not reduce day-5 balance (small pilot)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Positive balance associated with death</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Pages and details: 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Plenary: 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Groups 1 and 4 report Q1-Q4 (1 min each)</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Groups 2 and 5 report Q5-Q8 (1 min each)</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Group 3 reports Q9-Q10 for Paper 1</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Compare Q4, Q5 and Q8 across the two papers</a:t>
            </a:r>
          </a:p>
          <a:p>
            <a:pPr marL="380000" indent="-380000" algn="l">
              <a:lnSpc>
                <a:spcPct val="104000"/>
              </a:lnSpc>
              <a:spcBef>
                <a:spcPts val="450"/>
              </a:spcBef>
              <a:buNone/>
            </a:pPr>
            <a:r>
              <a:rPr lang="en-US" sz="1650" b="1" dirty="0">
                <a:solidFill>
                  <a:srgbClr val="1F5C7A"/>
                </a:solidFill>
                <a:latin typeface="Century Gothic"/>
                <a:cs typeface="Century Gothic"/>
              </a:rPr>
              <a:t>5.  </a:t>
            </a:r>
            <a:r>
              <a:rPr lang="en-US" sz="1650" dirty="0">
                <a:solidFill>
                  <a:srgbClr val="000000"/>
                </a:solidFill>
                <a:latin typeface="Century Gothic"/>
                <a:cs typeface="Century Gothic"/>
              </a:rPr>
              <a:t>Vote on Q10: would either paper change practice in our unit?</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Land these messages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Design sets the verb: caused vs associated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wide CI means 'we don't know yet'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Published is not the same as correct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Name the reporting guideline: CONSORT, STROBE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Each group states what its paper may and may not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Term</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plain words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Introduction funnel</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Known → not known → aim, in three paragraphs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Six moves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Answer, compare, explain, limitations, implications, conclusion</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Calibrated language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Verbs as strong as the design allows ('associated', not 'caused')</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Predatory journal</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Takes fees without real peer review or indexing</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Point-by-point response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 table answering every reviewer comment with the change made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Preprint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Public manuscript posted before peer review</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Full glossary (EN-VN):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Ethics, consent, registration</a:t>
            </a:r>
          </a:p>
          <a:p>
            <a:pPr marL="0" indent="0" algn="l">
              <a:lnSpc>
                <a:spcPct val="104000"/>
              </a:lnSpc>
              <a:spcBef>
                <a:spcPts val="400"/>
              </a:spcBef>
              <a:buNone/>
            </a:pPr>
            <a:r>
              <a:rPr lang="en-US" sz="1600" dirty="0">
                <a:solidFill>
                  <a:srgbClr val="000000"/>
                </a:solidFill>
                <a:latin typeface="Century Gothic"/>
                <a:cs typeface="Century Gothic"/>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IMRaD in the right order</a:t>
            </a:r>
          </a:p>
          <a:p>
            <a:pPr marL="0" indent="0" algn="l">
              <a:lnSpc>
                <a:spcPct val="104000"/>
              </a:lnSpc>
              <a:spcBef>
                <a:spcPts val="400"/>
              </a:spcBef>
              <a:buNone/>
            </a:pPr>
            <a:r>
              <a:rPr lang="en-US" sz="1600" dirty="0">
                <a:solidFill>
                  <a:srgbClr val="000000"/>
                </a:solidFill>
                <a:latin typeface="Century Gothic"/>
                <a:cs typeface="Century Gothic"/>
              </a:rPr>
              <a:t>Numbers with CIs</a:t>
            </a:r>
          </a:p>
          <a:p>
            <a:pPr marL="0" indent="0" algn="l">
              <a:lnSpc>
                <a:spcPct val="104000"/>
              </a:lnSpc>
              <a:spcBef>
                <a:spcPts val="400"/>
              </a:spcBef>
              <a:buNone/>
            </a:pPr>
            <a:r>
              <a:rPr lang="en-US" sz="1600" dirty="0">
                <a:solidFill>
                  <a:srgbClr val="000000"/>
                </a:solidFill>
                <a:latin typeface="Century Gothic"/>
                <a:cs typeface="Century Gothic"/>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Reporting checklist</a:t>
            </a:r>
          </a:p>
          <a:p>
            <a:pPr marL="0" indent="0" algn="l">
              <a:lnSpc>
                <a:spcPct val="104000"/>
              </a:lnSpc>
              <a:spcBef>
                <a:spcPts val="400"/>
              </a:spcBef>
              <a:buNone/>
            </a:pPr>
            <a:r>
              <a:rPr lang="en-US" sz="1600" dirty="0">
                <a:solidFill>
                  <a:srgbClr val="000000"/>
                </a:solidFill>
                <a:latin typeface="Century Gothic"/>
                <a:cs typeface="Century Gothic"/>
              </a:rPr>
              <a:t>Trusted journal</a:t>
            </a:r>
          </a:p>
          <a:p>
            <a:pPr marL="0" indent="0" algn="l">
              <a:lnSpc>
                <a:spcPct val="104000"/>
              </a:lnSpc>
              <a:spcBef>
                <a:spcPts val="400"/>
              </a:spcBef>
              <a:buNone/>
            </a:pPr>
            <a:r>
              <a:rPr lang="en-US" sz="1600" dirty="0">
                <a:solidFill>
                  <a:srgbClr val="000000"/>
                </a:solidFill>
                <a:latin typeface="Century Gothic"/>
                <a:cs typeface="Century Gothic"/>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10 questions</a:t>
            </a:r>
          </a:p>
          <a:p>
            <a:pPr marL="0" indent="0" algn="l">
              <a:lnSpc>
                <a:spcPct val="104000"/>
              </a:lnSpc>
              <a:spcBef>
                <a:spcPts val="400"/>
              </a:spcBef>
              <a:buNone/>
            </a:pPr>
            <a:r>
              <a:rPr lang="en-US" sz="1600" dirty="0">
                <a:solidFill>
                  <a:srgbClr val="000000"/>
                </a:solidFill>
                <a:latin typeface="Century Gothic"/>
                <a:cs typeface="Century Gothic"/>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Next: present your proposal and swap manuscripts for peer review.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Group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Your proposals and publication plans</a:t>
            </a:r>
          </a:p>
          <a:p>
            <a:pPr marL="0" indent="0" algn="ctr">
              <a:spcBef>
                <a:spcPts val="1200"/>
              </a:spcBef>
              <a:buNone/>
            </a:pPr>
            <a:r>
              <a:rPr lang="en-US" sz="1900" i="1" dirty="0">
                <a:solidFill>
                  <a:srgbClr val="595959"/>
                </a:solidFill>
                <a:latin typeface="Century Gothic"/>
                <a:cs typeface="Century Gothic"/>
              </a:rPr>
              <a:t>6 minutes to present, 2 minutes of feedback: be kind, be specific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Criterion</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What we look for</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Points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12  Structure &amp; content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 slides; key decisions incl. journal + guideline visible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13  Clarity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Every profession understands; one message per slide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14  Visual design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Readable from the back; pictures, not text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15  Timekeeping</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Finished between 5:00 and 6:00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16  Questions &amp; teamwork</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Honest answers; several members speak</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6 excellent, 4 good, 2 needs work, 0 missing = presentation /30.  Written proposal + publication plan /70 marked after the course.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Running order and timekeeping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When the red card goes up, finish your sentence and stop.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Group 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070C0"/>
                </a:solidFill>
                <a:latin typeface="Century Gothic"/>
                <a:cs typeface="Century Gothic"/>
              </a:rPr>
              <a:t>1.  </a:t>
            </a:r>
            <a:r>
              <a:rPr lang="en-US" sz="1650" dirty="0">
                <a:solidFill>
                  <a:srgbClr val="000000"/>
                </a:solidFill>
                <a:latin typeface="Century Gothic"/>
                <a:cs typeface="Century Gothic"/>
              </a:rPr>
              <a:t>6 minutes, 6 slides: question, design, data and analysis, ethics and feasibility, publication plan (title, journal, guideline, abstract)</a:t>
            </a:r>
          </a:p>
          <a:p>
            <a:pPr marL="380000" indent="-380000" algn="l">
              <a:lnSpc>
                <a:spcPct val="104000"/>
              </a:lnSpc>
              <a:spcBef>
                <a:spcPts val="450"/>
              </a:spcBef>
              <a:buNone/>
            </a:pPr>
            <a:r>
              <a:rPr lang="en-US" sz="1650" b="1" dirty="0">
                <a:solidFill>
                  <a:srgbClr val="0070C0"/>
                </a:solidFill>
                <a:latin typeface="Century Gothic"/>
                <a:cs typeface="Century Gothic"/>
              </a:rPr>
              <a:t>2.  </a:t>
            </a:r>
            <a:r>
              <a:rPr lang="en-US" sz="1650" dirty="0">
                <a:solidFill>
                  <a:srgbClr val="000000"/>
                </a:solidFill>
                <a:latin typeface="Century Gothic"/>
                <a:cs typeface="Century Gothic"/>
              </a:rPr>
              <a:t>Timekeeper: green at 4:00, yellow at 5:00, red at 6:00</a:t>
            </a:r>
          </a:p>
          <a:p>
            <a:pPr marL="380000" indent="-380000" algn="l">
              <a:lnSpc>
                <a:spcPct val="104000"/>
              </a:lnSpc>
              <a:spcBef>
                <a:spcPts val="450"/>
              </a:spcBef>
              <a:buNone/>
            </a:pPr>
            <a:r>
              <a:rPr lang="en-US" sz="1650" b="1" dirty="0">
                <a:solidFill>
                  <a:srgbClr val="0070C0"/>
                </a:solidFill>
                <a:latin typeface="Century Gothic"/>
                <a:cs typeface="Century Gothic"/>
              </a:rPr>
              <a:t>3.  </a:t>
            </a:r>
            <a:r>
              <a:rPr lang="en-US" sz="1650" dirty="0">
                <a:solidFill>
                  <a:srgbClr val="000000"/>
                </a:solidFill>
                <a:latin typeface="Century Gothic"/>
                <a:cs typeface="Century Gothic"/>
              </a:rPr>
              <a:t>Feedback 2 min: peer group (two stars and a wish), then instructor</a:t>
            </a:r>
          </a:p>
          <a:p>
            <a:pPr marL="380000" indent="-380000" algn="l">
              <a:lnSpc>
                <a:spcPct val="104000"/>
              </a:lnSpc>
              <a:spcBef>
                <a:spcPts val="450"/>
              </a:spcBef>
              <a:buNone/>
            </a:pPr>
            <a:r>
              <a:rPr lang="en-US" sz="1650" b="1" dirty="0">
                <a:solidFill>
                  <a:srgbClr val="0070C0"/>
                </a:solidFill>
                <a:latin typeface="Century Gothic"/>
                <a:cs typeface="Century Gothic"/>
              </a:rPr>
              <a:t>4.  </a:t>
            </a:r>
            <a:r>
              <a:rPr lang="en-US" sz="1650" dirty="0">
                <a:solidFill>
                  <a:srgbClr val="000000"/>
                </a:solidFill>
                <a:latin typeface="Century Gothic"/>
                <a:cs typeface="Century Gothic"/>
              </a:rPr>
              <a:t>Peer group and instructors fill the feedback form</a:t>
            </a:r>
          </a:p>
          <a:p>
            <a:pPr marL="380000" indent="-380000" algn="l">
              <a:lnSpc>
                <a:spcPct val="104000"/>
              </a:lnSpc>
              <a:spcBef>
                <a:spcPts val="450"/>
              </a:spcBef>
              <a:buNone/>
            </a:pPr>
            <a:r>
              <a:rPr lang="en-US" sz="1650" b="1" dirty="0">
                <a:solidFill>
                  <a:srgbClr val="0070C0"/>
                </a:solidFill>
                <a:latin typeface="Century Gothic"/>
                <a:cs typeface="Century Gothic"/>
              </a:rPr>
              <a:t>5.  </a:t>
            </a:r>
            <a:r>
              <a:rPr lang="en-US" sz="1650" dirty="0">
                <a:solidFill>
                  <a:srgbClr val="000000"/>
                </a:solidFill>
                <a:latin typeface="Century Gothic"/>
                <a:cs typeface="Century Gothic"/>
              </a:rPr>
              <a:t>Next group sets up during the feedback</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Century Gothic"/>
                <a:cs typeface="Century Gothic"/>
              </a:rPr>
              <a:t>Running order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2:00  Group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2:08  Group 2</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2:16  Group 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2:24  Group 4</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2:32  Group 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2:40  Manuscript summary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l">
              <a:buNone/>
            </a:pPr>
            <a:r>
              <a:rPr lang="en-US" sz="1300" b="1" dirty="0">
                <a:solidFill>
                  <a:srgbClr val="0070C0"/>
                </a:solidFill>
                <a:latin typeface="Century Gothic"/>
                <a:cs typeface="Century Gothic"/>
              </a:rPr>
              <a:t>OUTPUT   </a:t>
            </a:r>
            <a:r>
              <a:rPr lang="en-US" sz="1500" dirty="0">
                <a:solidFill>
                  <a:srgbClr val="000000"/>
                </a:solidFill>
                <a:latin typeface="Century Gothic"/>
                <a:cs typeface="Century Gothic"/>
              </a:rPr>
              <a:t>Five proposals and publication plans presented; feedback forms to the trainers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Session 8</a:t>
            </a:r>
          </a:p>
          <a:p>
            <a:pPr marL="0" indent="0" algn="ctr">
              <a:spcBef>
                <a:spcPts val="1200"/>
              </a:spcBef>
              <a:buNone/>
            </a:pPr>
            <a:r>
              <a:rPr lang="en-US" sz="1900" i="1" dirty="0">
                <a:solidFill>
                  <a:srgbClr val="595959"/>
                </a:solidFill>
                <a:latin typeface="Century Gothic"/>
                <a:cs typeface="Century Gothic"/>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Alone (2 min): rewrite Paper 1's 'non-significant trend' sentence honestly</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Alone: rewrite Paper 2's title with calibrated wording</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Group (4 min): draft your working title from your PICO</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Group: 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Publication plan (Part 4)</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Working title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Abstract skeleton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Authors + CRediT 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Target journal +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Working title + abstract skeleton to show in your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Rejected? Resubmit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Out of scope or poorly reported</a:t>
            </a:r>
          </a:p>
          <a:p>
            <a:pPr marL="0" indent="0" algn="l">
              <a:lnSpc>
                <a:spcPct val="104000"/>
              </a:lnSpc>
              <a:spcBef>
                <a:spcPts val="400"/>
              </a:spcBef>
              <a:buNone/>
            </a:pPr>
            <a:r>
              <a:rPr lang="en-US" sz="1750" dirty="0">
                <a:solidFill>
                  <a:srgbClr val="000000"/>
                </a:solidFill>
                <a:latin typeface="Century Gothic"/>
                <a:cs typeface="Century Gothic"/>
              </a:rPr>
              <a:t>Often within days</a:t>
            </a:r>
          </a:p>
          <a:p>
            <a:pPr marL="0" indent="0" algn="l">
              <a:lnSpc>
                <a:spcPct val="104000"/>
              </a:lnSpc>
              <a:spcBef>
                <a:spcPts val="400"/>
              </a:spcBef>
              <a:buNone/>
            </a:pPr>
            <a:r>
              <a:rPr lang="en-US" sz="1750" dirty="0">
                <a:solidFill>
                  <a:srgbClr val="000000"/>
                </a:solidFill>
                <a:latin typeface="Century Gothic"/>
                <a:cs typeface="Century Gothic"/>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Read the reviews, wait a day</a:t>
            </a:r>
          </a:p>
          <a:p>
            <a:pPr marL="0" indent="0" algn="l">
              <a:lnSpc>
                <a:spcPct val="104000"/>
              </a:lnSpc>
              <a:spcBef>
                <a:spcPts val="400"/>
              </a:spcBef>
              <a:buNone/>
            </a:pPr>
            <a:r>
              <a:rPr lang="en-US" sz="1750" dirty="0">
                <a:solidFill>
                  <a:srgbClr val="000000"/>
                </a:solidFill>
                <a:latin typeface="Century Gothic"/>
                <a:cs typeface="Century Gothic"/>
              </a:rPr>
              <a:t>Fix what they found</a:t>
            </a:r>
          </a:p>
          <a:p>
            <a:pPr marL="0" indent="0" algn="l">
              <a:lnSpc>
                <a:spcPct val="104000"/>
              </a:lnSpc>
              <a:spcBef>
                <a:spcPts val="400"/>
              </a:spcBef>
              <a:buNone/>
            </a:pPr>
            <a:r>
              <a:rPr lang="en-US" sz="1750" dirty="0">
                <a:solidFill>
                  <a:srgbClr val="000000"/>
                </a:solidFill>
                <a:latin typeface="Century Gothic"/>
                <a:cs typeface="Century Gothic"/>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Reformat to its Guide</a:t>
            </a:r>
          </a:p>
          <a:p>
            <a:pPr marL="0" indent="0" algn="l">
              <a:lnSpc>
                <a:spcPct val="104000"/>
              </a:lnSpc>
              <a:spcBef>
                <a:spcPts val="400"/>
              </a:spcBef>
              <a:buNone/>
            </a:pPr>
            <a:r>
              <a:rPr lang="en-US" sz="1750" dirty="0">
                <a:solidFill>
                  <a:srgbClr val="000000"/>
                </a:solidFill>
                <a:latin typeface="Century Gothic"/>
                <a:cs typeface="Century Gothic"/>
              </a:rPr>
              <a:t>Use transfer offers if given</a:t>
            </a:r>
          </a:p>
          <a:p>
            <a:pPr marL="0" indent="0" algn="l">
              <a:lnSpc>
                <a:spcPct val="104000"/>
              </a:lnSpc>
              <a:spcBef>
                <a:spcPts val="400"/>
              </a:spcBef>
              <a:buNone/>
            </a:pPr>
            <a:r>
              <a:rPr lang="en-US" sz="1750" dirty="0">
                <a:solidFill>
                  <a:srgbClr val="000000"/>
                </a:solidFill>
                <a:latin typeface="Century Gothic"/>
                <a:cs typeface="Century Gothic"/>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next reviewer may be the same person.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Post-course quiz (same 24 questions)</a:t>
            </a:r>
          </a:p>
          <a:p>
            <a:pPr marL="274320" indent="-274320" algn="l">
              <a:spcBef>
                <a:spcPts val="440"/>
              </a:spcBef>
              <a:buFont typeface="Arial"/>
              <a:buChar char="•"/>
            </a:pPr>
            <a:r>
              <a:rPr lang="en-US" sz="1900" dirty="0">
                <a:solidFill>
                  <a:srgbClr val="000000"/>
                </a:solidFill>
                <a:latin typeface="Century Gothic"/>
                <a:cs typeface="Century Gothic"/>
              </a:rPr>
              <a:t>What you built in eight sessions</a:t>
            </a:r>
          </a:p>
          <a:p>
            <a:pPr marL="274320" indent="-274320" algn="l">
              <a:spcBef>
                <a:spcPts val="440"/>
              </a:spcBef>
              <a:buFont typeface="Arial"/>
              <a:buChar char="•"/>
            </a:pPr>
            <a:r>
              <a:rPr lang="en-US" sz="1900" dirty="0">
                <a:solidFill>
                  <a:srgbClr val="000000"/>
                </a:solidFill>
                <a:latin typeface="Century Gothic"/>
                <a:cs typeface="Century Gothic"/>
              </a:rPr>
              <a:t>Course evaluation</a:t>
            </a:r>
          </a:p>
          <a:p>
            <a:pPr marL="274320" indent="-274320" algn="l">
              <a:spcBef>
                <a:spcPts val="440"/>
              </a:spcBef>
              <a:buFont typeface="Arial"/>
              <a:buChar char="•"/>
            </a:pPr>
            <a:r>
              <a:rPr lang="en-US" sz="1900" dirty="0">
                <a:solidFill>
                  <a:srgbClr val="000000"/>
                </a:solidFill>
                <a:latin typeface="Century Gothic"/>
                <a:cs typeface="Century Gothic"/>
              </a:rPr>
              <a:t>After the course: peer review of the manuscripts</a:t>
            </a:r>
          </a:p>
          <a:p>
            <a:pPr marL="274320" indent="-274320" algn="l">
              <a:spcBef>
                <a:spcPts val="440"/>
              </a:spcBef>
              <a:buFont typeface="Arial"/>
              <a:buChar char="•"/>
            </a:pPr>
            <a:r>
              <a:rPr lang="en-US" sz="1900" dirty="0">
                <a:solidFill>
                  <a:srgbClr val="000000"/>
                </a:solidFill>
                <a:latin typeface="Century Gothic"/>
                <a:cs typeface="Century Gothic"/>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Same 24 questions as in Session 1 (online form recommended)</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Individual, no discussion</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the same participant number as in Session 1</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The answer key is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Quiz handed in (participant number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ASK &amp; FIND</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PICO question</a:t>
            </a:r>
          </a:p>
          <a:p>
            <a:pPr marL="0" indent="0" algn="l">
              <a:lnSpc>
                <a:spcPct val="104000"/>
              </a:lnSpc>
              <a:spcBef>
                <a:spcPts val="200"/>
              </a:spcBef>
              <a:buNone/>
            </a:pPr>
            <a:r>
              <a:rPr lang="en-US" sz="1500" dirty="0">
                <a:solidFill>
                  <a:srgbClr val="000000"/>
                </a:solidFill>
                <a:latin typeface="Century Gothic"/>
                <a:cs typeface="Century Gothic"/>
              </a:rPr>
              <a:t>5 key references</a:t>
            </a:r>
          </a:p>
          <a:p>
            <a:pPr marL="0" indent="0" algn="l">
              <a:lnSpc>
                <a:spcPct val="104000"/>
              </a:lnSpc>
              <a:spcBef>
                <a:spcPts val="200"/>
              </a:spcBef>
              <a:buNone/>
            </a:pPr>
            <a:r>
              <a:rPr lang="en-US" sz="1500" dirty="0">
                <a:solidFill>
                  <a:srgbClr val="000000"/>
                </a:solidFill>
                <a:latin typeface="Century Gothic"/>
                <a:cs typeface="Century Gothic"/>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DESIGN</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justified design</a:t>
            </a:r>
          </a:p>
          <a:p>
            <a:pPr marL="0" indent="0" algn="l">
              <a:lnSpc>
                <a:spcPct val="104000"/>
              </a:lnSpc>
              <a:spcBef>
                <a:spcPts val="200"/>
              </a:spcBef>
              <a:buNone/>
            </a:pPr>
            <a:r>
              <a:rPr lang="en-US" sz="1500" dirty="0">
                <a:solidFill>
                  <a:srgbClr val="000000"/>
                </a:solidFill>
                <a:latin typeface="Century Gothic"/>
                <a:cs typeface="Century Gothic"/>
              </a:rPr>
              <a:t>Outcomes</a:t>
            </a:r>
          </a:p>
          <a:p>
            <a:pPr marL="0" indent="0" algn="l">
              <a:lnSpc>
                <a:spcPct val="104000"/>
              </a:lnSpc>
              <a:spcBef>
                <a:spcPts val="200"/>
              </a:spcBef>
              <a:buNone/>
            </a:pPr>
            <a:r>
              <a:rPr lang="en-US" sz="1500" dirty="0">
                <a:solidFill>
                  <a:srgbClr val="000000"/>
                </a:solidFill>
                <a:latin typeface="Century Gothic"/>
                <a:cs typeface="Century Gothic"/>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ANALYSE</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CRF and analysis plan</a:t>
            </a:r>
          </a:p>
          <a:p>
            <a:pPr marL="0" indent="0" algn="l">
              <a:lnSpc>
                <a:spcPct val="104000"/>
              </a:lnSpc>
              <a:spcBef>
                <a:spcPts val="200"/>
              </a:spcBef>
              <a:buNone/>
            </a:pPr>
            <a:r>
              <a:rPr lang="en-US" sz="1500" dirty="0">
                <a:solidFill>
                  <a:srgbClr val="000000"/>
                </a:solidFill>
                <a:latin typeface="Century Gothic"/>
                <a:cs typeface="Century Gothic"/>
              </a:rPr>
              <a:t>A real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WRITE</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Methods, Results</a:t>
            </a:r>
          </a:p>
          <a:p>
            <a:pPr marL="0" indent="0" algn="l">
              <a:lnSpc>
                <a:spcPct val="104000"/>
              </a:lnSpc>
              <a:spcBef>
                <a:spcPts val="200"/>
              </a:spcBef>
              <a:buNone/>
            </a:pPr>
            <a:r>
              <a:rPr lang="en-US" sz="1500" dirty="0">
                <a:solidFill>
                  <a:srgbClr val="000000"/>
                </a:solidFill>
                <a:latin typeface="Century Gothic"/>
                <a:cs typeface="Century Gothic"/>
              </a:rPr>
              <a:t>Introduction, Discussion,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PUBLISH</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presented proposal</a:t>
            </a:r>
          </a:p>
          <a:p>
            <a:pPr marL="0" indent="0" algn="l">
              <a:lnSpc>
                <a:spcPct val="104000"/>
              </a:lnSpc>
              <a:spcBef>
                <a:spcPts val="200"/>
              </a:spcBef>
              <a:buNone/>
            </a:pPr>
            <a:r>
              <a:rPr lang="en-US" sz="1500" dirty="0">
                <a:solidFill>
                  <a:srgbClr val="000000"/>
                </a:solidFill>
                <a:latin typeface="Century Gothic"/>
                <a:cs typeface="Century Gothic"/>
              </a:rPr>
              <a:t>A draft manuscript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Five proposals and five draft papers from this department.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Rate each session: content, pace, usefulness</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One thing to keep, one thing to change</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Interested in Level 2 (hands-on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Evaluation form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Week 1</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Polish your draft</a:t>
            </a:r>
          </a:p>
          <a:p>
            <a:pPr marL="0" indent="0" algn="l">
              <a:lnSpc>
                <a:spcPct val="104000"/>
              </a:lnSpc>
              <a:spcBef>
                <a:spcPts val="200"/>
              </a:spcBef>
              <a:buNone/>
            </a:pPr>
            <a:r>
              <a:rPr lang="en-US" sz="1500" dirty="0">
                <a:solidFill>
                  <a:srgbClr val="000000"/>
                </a:solidFill>
                <a:latin typeface="Century Gothic"/>
                <a:cs typeface="Century Gothic"/>
              </a:rPr>
              <a:t>Submit it to the trainers</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Swap</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Review another group's paper</a:t>
            </a:r>
          </a:p>
          <a:p>
            <a:pPr marL="0" indent="0" algn="l">
              <a:lnSpc>
                <a:spcPct val="104000"/>
              </a:lnSpc>
              <a:spcBef>
                <a:spcPts val="200"/>
              </a:spcBef>
              <a:buNone/>
            </a:pPr>
            <a:r>
              <a:rPr lang="en-US" sz="1500" dirty="0">
                <a:solidFill>
                  <a:srgbClr val="000000"/>
                </a:solidFill>
                <a:latin typeface="Century Gothic"/>
                <a:cs typeface="Century Gothic"/>
              </a:rPr>
              <a:t>10-question checklist + writing checks</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Respond</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Answer each comment</a:t>
            </a:r>
          </a:p>
          <a:p>
            <a:pPr marL="0" indent="0" algn="l">
              <a:lnSpc>
                <a:spcPct val="104000"/>
              </a:lnSpc>
              <a:spcBef>
                <a:spcPts val="200"/>
              </a:spcBef>
              <a:buNone/>
            </a:pPr>
            <a:r>
              <a:rPr lang="en-US" sz="1500" dirty="0">
                <a:solidFill>
                  <a:srgbClr val="000000"/>
                </a:solidFill>
                <a:latin typeface="Century Gothic"/>
                <a:cs typeface="Century Gothic"/>
              </a:rPr>
              <a:t>Response-to-reviewers template</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Week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Final draft + response letter</a:t>
            </a:r>
          </a:p>
          <a:p>
            <a:pPr marL="0" indent="0" algn="l">
              <a:lnSpc>
                <a:spcPct val="104000"/>
              </a:lnSpc>
              <a:spcBef>
                <a:spcPts val="200"/>
              </a:spcBef>
              <a:buNone/>
            </a:pPr>
            <a:r>
              <a:rPr lang="en-US" sz="1500" dirty="0">
                <a:solidFill>
                  <a:srgbClr val="000000"/>
                </a:solidFill>
                <a:latin typeface="Century Gothic"/>
                <a:cs typeface="Century Gothic"/>
              </a:rPr>
              <a:t>Trainer feedback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Due two weeks after Session 8 (see 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Completion</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At least 6 of 8 sessions</a:t>
            </a:r>
          </a:p>
          <a:p>
            <a:pPr marL="0" indent="0" algn="l">
              <a:lnSpc>
                <a:spcPct val="104000"/>
              </a:lnSpc>
              <a:spcBef>
                <a:spcPts val="400"/>
              </a:spcBef>
              <a:buNone/>
            </a:pPr>
            <a:r>
              <a:rPr lang="en-US" sz="1750" dirty="0">
                <a:solidFill>
                  <a:srgbClr val="000000"/>
                </a:solidFill>
                <a:latin typeface="Century Gothic"/>
                <a:cs typeface="Century Gothic"/>
              </a:rPr>
              <a:t>Proposal presented</a:t>
            </a:r>
          </a:p>
          <a:p>
            <a:pPr marL="0" indent="0" algn="l">
              <a:lnSpc>
                <a:spcPct val="104000"/>
              </a:lnSpc>
              <a:spcBef>
                <a:spcPts val="400"/>
              </a:spcBef>
              <a:buNone/>
            </a:pPr>
            <a:r>
              <a:rPr lang="en-US" sz="1750" dirty="0">
                <a:solidFill>
                  <a:srgbClr val="000000"/>
                </a:solidFill>
                <a:latin typeface="Century Gothic"/>
                <a:cs typeface="Century Gothic"/>
              </a:rPr>
              <a:t>Manuscript draft submitted</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Your toolkit</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Slides, handouts, glossary</a:t>
            </a:r>
          </a:p>
          <a:p>
            <a:pPr marL="0" indent="0" algn="l">
              <a:lnSpc>
                <a:spcPct val="104000"/>
              </a:lnSpc>
              <a:spcBef>
                <a:spcPts val="400"/>
              </a:spcBef>
              <a:buNone/>
            </a:pPr>
            <a:r>
              <a:rPr lang="en-US" sz="1750" dirty="0">
                <a:solidFill>
                  <a:srgbClr val="000000"/>
                </a:solidFill>
                <a:latin typeface="Century Gothic"/>
                <a:cs typeface="Century Gothic"/>
              </a:rPr>
              <a:t>Proposal, protocol, consent, CRF, SAP,</a:t>
            </a:r>
          </a:p>
          <a:p>
            <a:pPr marL="0" indent="0" algn="l">
              <a:lnSpc>
                <a:spcPct val="104000"/>
              </a:lnSpc>
              <a:spcBef>
                <a:spcPts val="400"/>
              </a:spcBef>
              <a:buNone/>
            </a:pPr>
            <a:r>
              <a:rPr lang="en-US" sz="1750" dirty="0">
                <a:solidFill>
                  <a:srgbClr val="000000"/>
                </a:solidFill>
                <a:latin typeface="Century Gothic"/>
                <a:cs typeface="Century Gothic"/>
              </a:rPr>
              <a:t>manuscript and reviewer templates</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Keep going</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Take your proposal to ethics</a:t>
            </a:r>
          </a:p>
          <a:p>
            <a:pPr marL="0" indent="0" algn="l">
              <a:lnSpc>
                <a:spcPct val="104000"/>
              </a:lnSpc>
              <a:spcBef>
                <a:spcPts val="400"/>
              </a:spcBef>
              <a:buNone/>
            </a:pPr>
            <a:r>
              <a:rPr lang="en-US" sz="1750" dirty="0">
                <a:solidFill>
                  <a:srgbClr val="000000"/>
                </a:solidFill>
                <a:latin typeface="Century Gothic"/>
                <a:cs typeface="Century Gothic"/>
              </a:rPr>
              <a:t>Level 2: hands-on analysis in R</a:t>
            </a:r>
          </a:p>
          <a:p>
            <a:pPr marL="0" indent="0" algn="l">
              <a:lnSpc>
                <a:spcPct val="104000"/>
              </a:lnSpc>
              <a:spcBef>
                <a:spcPts val="400"/>
              </a:spcBef>
              <a:buNone/>
            </a:pPr>
            <a:r>
              <a:rPr lang="en-US" sz="1750" dirty="0">
                <a:solidFill>
                  <a:srgbClr val="000000"/>
                </a:solidFill>
                <a:latin typeface="Century Gothic"/>
                <a:cs typeface="Century Gothic"/>
              </a:rPr>
              <a:t>Level 3: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Thank you!</a:t>
            </a:r>
          </a:p>
          <a:p>
            <a:pPr marL="0" indent="0" algn="ctr">
              <a:spcBef>
                <a:spcPts val="1200"/>
              </a:spcBef>
              <a:buNone/>
            </a:pPr>
            <a:r>
              <a:rPr lang="en-US" sz="1900" i="1" dirty="0">
                <a:solidFill>
                  <a:srgbClr val="595959"/>
                </a:solidFill>
                <a:latin typeface="Century Gothic"/>
                <a:cs typeface="Century Gothic"/>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