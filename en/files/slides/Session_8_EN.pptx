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(0:00). Weekend 4, Sunday - the last session. Today the FLUID-ICU manuscripts become complete drafts, we follow a paper from submission to publication, practise reviewing, and every group presents its own proposal.</a:t>
            </a:r>
          </a:p>
          <a:p>
            <a:r>
              <a:rPr lang="en-US" sz="1400" b="0" dirty="0"/>
              <a:t>The closing block (post-course quiz, evaluation, peer-review swap) is the last 15 minutes and has its own slides.</a:t>
            </a:r>
          </a:p>
          <a:p>
            <a:r>
              <a:rPr lang="en-US" sz="1400" b="0" dirty="0"/>
              <a:t>Before you start: all five presentations on ONE laptop; each group's workshop-1 draft open.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(0:00-0:05). Quick hands-up; reveal the answers.</a:t>
            </a:r>
          </a:p>
          <a:p>
            <a:r>
              <a:rPr lang="en-US" sz="1400" b="0" dirty="0"/>
              <a:t>Q3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(0:05-0:30). Eleven slides with three worked examples from FLUID-ICU Q1 and a 2-minute check.</a:t>
            </a:r>
          </a:p>
          <a:p>
            <a:r>
              <a:rPr lang="en-US" sz="1400" b="0" dirty="0"/>
              <a:t>Order follows the writing order from yesterday: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 the gap, ideally with conflicting evidence cited on both sides. Paragraph 3: 'We therefore aimed to ...' - one aim sentence that matches the primary outcome in the Methods.</a:t>
            </a:r>
          </a:p>
          <a:p>
            <a:r>
              <a:rPr lang="en-US" sz="1400" b="0" dirty="0"/>
              <a:t>Paper 1 is the model (annotations #10-#12): known (positive fluid balance is linked to death; hidden fluids are a large share of intake), unknown (earlier trials targeted resuscitation fluids only), aim (primary objective = fluid balance after 5 days) - under 500 words (pages 2-3).</a:t>
            </a:r>
          </a:p>
          <a:p>
            <a:r>
              <a:rPr lang="en-US" sz="1400" b="0" dirty="0"/>
              <a:t>Paper 2's paragraph 2 defines the gap by citing both sides of a conflict (annotation #9) - copy that; but its introduction runs to about 550 words and the aim repeats the causal word 'impact' (#3, #10).</a:t>
            </a:r>
          </a:p>
          <a:p>
            <a:r>
              <a:rPr lang="en-US" sz="1400" b="0" dirty="0"/>
              <a:t>Link to Sessions 1-2: your problem statement and PICO already give you this funnel - and for the FLUID-ICU paper the next slide shows a worked example.</a:t>
            </a:r>
          </a:p>
          <a:p>
            <a:r>
              <a:rPr lang="en-US" sz="1400" b="0" dirty="0"/>
              <a:t>Ask: in one sentence, what is NOT known in your group's topic?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groups use the references found in Sessions 1-2 plus Papers 1 and 2.</a:t>
            </a:r>
          </a:p>
          <a:p>
            <a:r>
              <a:rPr lang="en-US" sz="1400" b="0" dirty="0"/>
              <a:t>Point out: the confounding by indication from Session 4 IS the gap -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CLASSIC and POINCARE-2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Ask: which move do first-time writers usually skip? Expected: the limitations' direction -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a:t>
            </a:r>
          </a:p>
          <a:p>
            <a:r>
              <a:rPr lang="en-US" sz="1400" b="0" dirty="0"/>
              <a:t>1 Answer: adjusted OR 1.62 (95% CI 1.02 to 2.59). 2 Compare: Paper 2 found day-2 HR 2.13 (1.48 to 3.06). 3 Explain: the crude OR 2.49 fell to 1.62 after adjustment - confounding by indication. 4 Limitations: residual confounding, reverse causation (patients who are dying accumulate fluid), patients dying before day 3; the adjusted Cox HR 1.46 had a CI reaching 1.00. 5 Implications: no basis to restrict fluid - a trial like Paper 1 is needed. 6 Conclusion: 'associated with'.</a:t>
            </a:r>
          </a:p>
          <a:p>
            <a:r>
              <a:rPr lang="en-US" sz="1400" b="0" dirty="0"/>
              <a:t>Optional point for Q1 groups: the association looked stronger in heart failure (adjusted OR 4.39 vs 1.29, p for interaction 0.031, only 90 patients) -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 sicker patients received more fluid AND died more. The imputed estimate is close to the complete-case one, so missing lactate did not change the conclusion.</a:t>
            </a:r>
          </a:p>
          <a:p>
            <a:r>
              <a:rPr lang="en-US" sz="1400" b="0" dirty="0"/>
              <a:t>The adjusted CI starts at 1.02 - just above 1. Calibrated sentence: 'a modest association remained'.</a:t>
            </a:r>
          </a:p>
          <a:p>
            <a:r>
              <a:rPr lang="en-US" sz="1400" b="0" dirty="0"/>
              <a:t>Ask: what would you write if the adjusted CI had crossed 1? Expected: 'no clear evidence of an association after adjustment' -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 conclusions that go beyond the data -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Room votes 'fine' or 'fix'; ask one person for the fix.</a:t>
            </a:r>
          </a:p>
          <a:p>
            <a:r>
              <a:rPr lang="en-US" sz="1400" b="0" dirty="0"/>
              <a:t>Sentence 3: no 'trend' -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 Background, Methods, Results, Conclusions -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a:p>
            <a:r>
              <a:rPr lang="en-US" sz="1400" b="0" dirty="0"/>
              <a:t>Ask: what is the first thing you look for in an abstract's Results? Expected: the main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 matches an adjusted CI of 1.02 to 2.59.</a:t>
            </a:r>
          </a:p>
          <a:p>
            <a:r>
              <a:rPr lang="en-US" sz="1400" b="0" dirty="0"/>
              <a:t>Ask: which abstract sentence would change if the adjusted CI had been 0.95 to 2.40? Expected: Results and Conclusions -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 good - but it is over 25 words and uses value words. A shorter descriptive version is on the slide.</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terms that are NOT in the title, so the paper is found by more searches.</a:t>
            </a:r>
          </a:p>
          <a:p>
            <a:r>
              <a:rPr lang="en-US" sz="1400" b="0" dirty="0"/>
              <a:t>Ask: say your group's study in one line, starting with the design. That is the first draft of your working title - you will write it in the activity at the end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 the Sepsis-3 definitions paper - almost certainly the wrong number (annotation #22). Never cite a reference an AI tool suggested without reading it.</a:t>
            </a:r>
          </a:p>
          <a:p>
            <a:r>
              <a:rPr lang="en-US" sz="1400" b="0" dirty="0"/>
              <a:t>Reporting checklist: fill in CONSORT or STROBE while you write, with page numbers -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(0:30-1:00). Course dataset. Groups add the Introduction, Discussion, Abstract and Title to yesterday's Methods + Results.</a:t>
            </a:r>
          </a:p>
          <a:p>
            <a:r>
              <a:rPr lang="en-US" sz="1400" b="0" dirty="0"/>
              <a:t>Instructions: Practicals/s8_exercises.md, Part B. Model paragraphs for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 (0:30-1:00). Start a 30-minute timer; Introduction and Discussion are written in parallel.</a:t>
            </a:r>
          </a:p>
          <a:p>
            <a:r>
              <a:rPr lang="en-US" sz="1400" b="0" dirty="0"/>
              <a:t>Circulate. Prompts: 'Does your first Discussion sentence answer the question with the number?' 'Is there a limitation with its direction?' 'Does your conclusion use the same verb as your aim?' 'Is every number in the abstract identical to the Results?'</a:t>
            </a:r>
          </a:p>
          <a:p>
            <a:r>
              <a:rPr lang="en-US" sz="1400" b="0" dirty="0"/>
              <a:t>Q4 group: discuss why complete-case and imputed results differ (or not). Q5 group: survivors only - say who is missing.</a:t>
            </a:r>
          </a:p>
          <a:p>
            <a:r>
              <a:rPr lang="en-US" sz="1400" b="0" dirty="0"/>
              <a:t>At 0:58 ask groups to save; the draft goes to the peer-review swap (homework, 2 weeks, using the 10-question checklist from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(1:00-1:15).</a:t>
            </a:r>
          </a:p>
          <a:p>
            <a:r>
              <a:rPr lang="en-US" sz="1400" b="0" dirty="0"/>
              <a:t>During the break: put the papers and the student appraisal pack (Practicals/s8_exercises.md, Part D) on the tables - Paper 1 on tables 1-3, Paper 2 on tables 4-5. Use the ORIGINAL (unannotated) papers.</a:t>
            </a:r>
          </a:p>
          <a:p>
            <a:r>
              <a:rPr lang="en-US" sz="1400" b="0" dirty="0"/>
              <a:t>Load all five presentations on one laptop and test the projector.</a:t>
            </a:r>
          </a:p>
          <a:p>
            <a:r>
              <a:rPr lang="en-US" sz="1400" b="0" dirty="0"/>
              <a:t>Collect the five manuscript drafts (shared folder) - they are needed for the peer-review swap.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(1:15-1:40). Ten slides, the 3-minute EQUATOR demo and a 2-minute check.</a:t>
            </a:r>
          </a:p>
          <a:p>
            <a:r>
              <a:rPr lang="en-US" sz="1400" b="0" dirty="0"/>
              <a:t>Pace: about 2 minutes per slide - point to the picture, give one example, move on. The appraisal needs its full 20 minutes at 1:40.</a:t>
            </a:r>
          </a:p>
          <a:p>
            <a:r>
              <a:rPr lang="en-US" sz="1400" b="0" dirty="0"/>
              <a:t>Link to the manuscripts: the FLUID-ICU drafts would go through exactly this route - STROBE checklist, journal choice, submission package,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(equator-network.org).</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 CONSORT; Paper 2 is a cohort -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 but reading them BEFORE you start is the best design checklist you will find.</a:t>
            </a:r>
          </a:p>
          <a:p>
            <a:r>
              <a:rPr lang="en-US" sz="1400" b="0" dirty="0"/>
              <a:t>Ask each group: which guideline fits your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pharmacists? intensivists?) decide the journal. Trust: indexed in MEDLINE/PubMed, the Directory of Open Access Journals (DOAJ), Scopus or Web of Science, with a clear peer-review and retraction policy.</a:t>
            </a:r>
          </a:p>
          <a:p>
            <a:r>
              <a:rPr lang="en-US" sz="1400" b="0" dirty="0"/>
              <a:t>Cost &amp; speed: many open-access journals charge an article-processing charge (APC); ask about waivers and institutional agreements. Licence: Paper 1 is CC BY-NC-ND (share, but no adaptation or commercial use), Paper 2 is CC BY (re-use with attribution).</a:t>
            </a:r>
          </a:p>
          <a:p>
            <a:r>
              <a:rPr lang="en-US" sz="1400" b="0" dirty="0"/>
              <a:t>Speed: Paper 1 went from submission to acceptance in about 7 weeks (10 Sept - 31 Oct 2024); Paper 2 took about 7 months (15 Jan - 24 Aug 2023). Speed varies; it is not a sign of quality by itself.</a:t>
            </a:r>
          </a:p>
          <a:p>
            <a:r>
              <a:rPr lang="en-US" sz="1400" b="0" dirty="0"/>
              <a:t>Ask: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 check the journal's policy first, and update the preprint with the published reference.</a:t>
            </a:r>
          </a:p>
          <a:p>
            <a:r>
              <a:rPr lang="en-US" sz="1400" b="0" dirty="0"/>
              <a:t>Open access: gold OA means the journal makes the article free and usually charges an article-processing charge (APC) - both our papers are gold OA (annotations #2). Green OA means you deposit the accepted manuscript in a repository, often after an embargo. Ask about waivers and institutional agreements.</a:t>
            </a:r>
          </a:p>
          <a:p>
            <a:r>
              <a:rPr lang="en-US" sz="1400" b="0" dirty="0"/>
              <a:t>Licences: Paper 2 is CC BY (anyone may re-use and adapt with credit); Paper 1 is CC BY-NC-ND (share, but no adaptation or commercial use) - which also matters when you want to re-use a figure in teaching.</a:t>
            </a:r>
          </a:p>
          <a:p>
            <a:r>
              <a:rPr lang="en-US" sz="1400" b="0" dirty="0"/>
              <a:t>Ask: you want to put Paper 1's flow chart, redrawn, in your teaching slides. Allowed? Expected: adaptation is not covered by CC BY-NC-ND - ask permission or cite and link instead.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to see if a journal is really indexed in MEDLINE - and ask the hospital librarian.</a:t>
            </a:r>
          </a:p>
          <a:p>
            <a:r>
              <a:rPr lang="en-US" sz="1400" b="0" dirty="0"/>
              <a:t>Ask: how many of you received an e-mail like this in the last month? Usually many hands - every clinician who has published once receives them.</a:t>
            </a:r>
          </a:p>
          <a:p>
            <a:r>
              <a:rPr lang="en-US" sz="1400" b="0" dirty="0"/>
              <a:t>The s8 exercise sheet (Part C) has a short 'spot the predatory journal' exercise for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(1:24-1:27). Full script with offline fallback: Course/Demos/s8_demo.md.</a:t>
            </a:r>
          </a:p>
          <a:p>
            <a:r>
              <a:rPr lang="en-US" sz="1400" b="0" dirty="0"/>
              <a:t>Keep it to 3 minutes: EQUATOR home page - search box - CONSORT 2025 page - checklist and flow diagram; then STROBE. Then DOAJ search for a journal title, and the NLM Catalog with the filter 'currently indexed in MEDLINE'. End on the Think.Check.Submit checklist.</a:t>
            </a:r>
          </a:p>
          <a:p>
            <a:r>
              <a:rPr lang="en-US" sz="1400" b="0" dirty="0"/>
              <a:t>If the internet fails, use the screenshots described in the demo script.</a:t>
            </a:r>
          </a:p>
          <a:p>
            <a:r>
              <a:rPr lang="en-US" sz="1400" b="0" dirty="0"/>
              <a:t>Close: ask each group to check the target journal and guideline in its publication plan (Proposal builder 7) and on its FLUID-ICU draft (STROBE) - 30 seconds, then continue with the submission package.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 why this journal, what is new, that the work is not under consideration elsewhere, and any preprint. Title page: all authors, affiliations, ORCID iDs (a free, permanent researcher identifier - every participant can register at orcid.org), corresponding author, word count. Manuscript in the journal's format (blinded if the journal uses double-blind review). Tables and figures in the required files and resolution. The reporting checklist with page numbers. Declarations: ethics approval number, consent, competing interests, funding, data availability, author contributions (CRediT) and AI use. The registration number for trials and systematic reviews. Suggested reviewers: experts without conflicts, not recent co-authors - the editor decides whether to use them. Supplementary files.</a:t>
            </a:r>
          </a:p>
          <a:p>
            <a:r>
              <a:rPr lang="en-US" sz="1400" b="0" dirty="0"/>
              <a:t>Running example: Paper 1 has a complete declarations block - exactly what the submission system asks for, item by item (annotation #48). Graphical abstracts are a journal-specific requirement you only find in the Guide for Authors (#8).</a:t>
            </a:r>
          </a:p>
          <a:p>
            <a:r>
              <a:rPr lang="en-US" sz="1400" b="0" dirty="0"/>
              <a:t>Ask: who in your group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Submit (with cover letter, reporting checklist and declarations) - the editor screens, and many papers are rejected here without review ('desk rejection') because they do not fit or are poorly reported - two or three peer reviewers comment - the editor decides: accept, minor revision, major revision or reject - you revise and answer every comment point by point - accepted, then proofs (read them carefully!) and publication.</a:t>
            </a:r>
          </a:p>
          <a:p>
            <a:r>
              <a:rPr lang="en-US" sz="1400" b="0" dirty="0"/>
              <a:t>Running example: our annotators judged Paper 1 'minor revision' and Paper 2 'major revision' - both were published, and both still contain errors a careful reviewer would have caught (Paper 1 even prints the same 'Study protocol' paragraph twice - a proof-reading miss).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illustrative, built on what the annotators say a reviewer would have asked Paper 1: remove the 'non-significant trend' (accept); justify blocks of 2 (clarify and add a limitation); a request for an outcome that was never collected (polite rebuttal -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A template is in Course/Templates/ (response to reviewers).</a:t>
            </a:r>
          </a:p>
          <a:p>
            <a:r>
              <a:rPr lang="en-US" sz="1400" b="0" dirty="0"/>
              <a:t>Ask: a reviewer asks for an analysis you think is inappropriate. What do you write? Expected: thank, explain why with a reference, and offer an alternative if one exists.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 in the Methods (page 4) and again after the Conclusions (page 11) - a duplication that should have been caught at proof stage (annotation #45). Paper 2's affiliations have inconsistent capitalisation (#42).</a:t>
            </a:r>
          </a:p>
          <a:p>
            <a:r>
              <a:rPr lang="en-US" sz="1400" b="0" dirty="0"/>
              <a:t>Sharing: post the article as its licence and the journal's policy allow - institutional repository, a plain-language summary for patients and colleagues, a short talk in your department, social media. If the media call, keep to what the design allows (calibrated language again).</a:t>
            </a:r>
          </a:p>
          <a:p>
            <a:r>
              <a:rPr lang="en-US" sz="1400" b="0" dirty="0"/>
              <a:t>Corrections: if you find an error after publication, contact the journal - a correction is honest; a retraction is for serious errors or misconduct.</a:t>
            </a:r>
          </a:p>
          <a:p>
            <a:r>
              <a:rPr lang="en-US" sz="1400" b="0" dirty="0"/>
              <a:t>Ask: who will present your published results back to your unit? That is part of the dissemination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(1:38-1:40). Thumbs up (true) or down (false) for each; reveal.</a:t>
            </a:r>
          </a:p>
          <a:p>
            <a:r>
              <a:rPr lang="en-US" sz="1400" b="0" dirty="0"/>
              <a:t>Statement 1 is 'often true' rather than always - real journals also invite papers, but a flattering mass e-mail from an unknown journal deserves the five-flag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(1:40-2:00). Full instructor guide: Course/Resources/appraisal_instructor_guide.md (model answers, prompts, key messages).</a:t>
            </a:r>
          </a:p>
          <a:p>
            <a:r>
              <a:rPr lang="en-US" sz="1400" b="0" dirty="0"/>
              <a:t>Structure: 2 minutes set-up, 10 minutes group work, 8 minutes plenary. Papers and grids were put on the tables during the break.</a:t>
            </a:r>
          </a:p>
          <a:p>
            <a:r>
              <a:rPr lang="en-US" sz="1400" b="0" dirty="0"/>
              <a:t>Why now: after the course each group reviews another group's FLUID-ICU draft with the SAME 10 questions -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 fluids in septic shock - with different designs. Groups 1-3 appraise Paper 1, the randomised trial (Boulet 2024, Critical Care). Groups 4-5 appraise Paper 2, the propensity-matched cohort (Hyun 2023, Annals of Intensive Care).</a:t>
            </a:r>
          </a:p>
          <a:p>
            <a:r>
              <a:rPr lang="en-US" sz="1400" b="0" dirty="0"/>
              <a:t>Each group answers the same 10 questions on the answer grid: Yes / No / Can't tell, plus the page where they found it.</a:t>
            </a:r>
          </a:p>
          <a:p>
            <a:r>
              <a:rPr lang="en-US" sz="1400" b="0" dirty="0"/>
              <a:t>Then the plenary: groups report, and we compare what each design is allowed to claim.</a:t>
            </a:r>
          </a:p>
          <a:p>
            <a:r>
              <a:rPr lang="en-US" sz="1400" b="0" dirty="0"/>
              <a:t>Tip: split the work inside the group - pairs take 3-4 questions each, then the group agrees.</a:t>
            </a:r>
          </a:p>
          <a:p>
            <a:r>
              <a:rPr lang="en-US" sz="1400" b="0" dirty="0"/>
              <a:t>Link to Session 4: the 10 questions are a simplified version of the formal risk-of-bias tools -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 do not explain the answers.</a:t>
            </a:r>
          </a:p>
          <a:p>
            <a:r>
              <a:rPr lang="en-US" sz="1400" b="0" dirty="0"/>
              <a:t>Q1-Q2 are about the question and the design (Sessions 1-4). Q3 is about who was studied - external validity: would your patients be in this study? Q4 is about whether the groups were comparable at baseline - look at Table 1. Q5 is about blinding.</a:t>
            </a:r>
          </a:p>
          <a:p>
            <a:r>
              <a:rPr lang="en-US" sz="1400" b="0" dirty="0"/>
              <a:t>Hint to give: for Q4 the two papers use different tools - randomisation versus propensity-score matching. Ask them to find the sentence that says which.</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 each paper has a clear one (see the instructor guide).</a:t>
            </a:r>
          </a:p>
          <a:p>
            <a:r>
              <a:rPr lang="en-US" sz="1400" b="0" dirty="0"/>
              <a:t>Q10: their clinical judgement - there is no single right answer, but they must give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 (1:42-1:52). Start a visible 10-minute timer.</a:t>
            </a:r>
          </a:p>
          <a:p>
            <a:r>
              <a:rPr lang="en-US" sz="1400" b="0" dirty="0"/>
              <a:t>Circulate between tables. The most useful prompts (more in the instructor guide): Paper 1 groups - 'Who was NOT blinded, and who decided how much fluid the patients got?' (clinicians were unblinded and they prescribe the fluids that make up the outcome); 'Find p = 0.42 in the Discussion - what word did the authors use?' (page 10, 'non-significant trend'). Paper 2 groups - 'Who decided which patients got more fluid?' (the doctors - sicker patients receive more fluid: confounding by indication); 'Patients had to stay at least 3 days in the ICU - who is missing?' (early deaths and early discharges: survivor bias).</a:t>
            </a:r>
          </a:p>
          <a:p>
            <a:r>
              <a:rPr lang="en-US" sz="1400" b="0" dirty="0"/>
              <a:t>Time calls: at minute 7 'agree your answers'; at minute 9 'choose your speaker and write your one-sentence verdict'.</a:t>
            </a:r>
          </a:p>
          <a:p>
            <a:r>
              <a:rPr lang="en-US" sz="1400" b="0" dirty="0"/>
              <a:t>If a group is stuck on statistics, tell them 'Can't tell' is allowed and move them to Q8 and Q9.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at the START of the plenary, after the first group reports, to frame the comparison.</a:t>
            </a:r>
          </a:p>
          <a:p>
            <a:r>
              <a:rPr lang="en-US" sz="1400" b="0" dirty="0"/>
              <a:t>Paper 1: chance decided who got the restrictive strategy, so known AND unknown factors are balanced on average - a randomised trial may make a causal claim. Its claim is negative: the strategy did not reduce day-5 fluid balance (difference 13.2 ml/kg, 95% CI -15.2 to 41.6, p = 0.42). But with 48 patients the CI is wide: this is 'no evidence of an effect', not 'evidence of no effect' -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2.13, 95% CI 1.48 to 3.06) - not that it 'impacts' or 'shows' anything causal, although its title says 'Impact'.</a:t>
            </a:r>
          </a:p>
          <a:p>
            <a:r>
              <a:rPr lang="en-US" sz="1400" b="0" dirty="0"/>
              <a:t>Ask: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 after the groups have given their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 page 3; Paper 2: requiring at least 3 ICU days excludes patients who died or left early - survivor bias - page 2); the wording problem (Paper 1 page 10; Paper 2 title and page 4); and the claim each design supports.</a:t>
            </a:r>
          </a:p>
          <a:p>
            <a:r>
              <a:rPr lang="en-US" sz="1400" b="0" dirty="0"/>
              <a:t>Both papers are good, published papers in Q1 journals - and both have fixable flaws. That is the normal state of the literature, which is why appraisal is a clinical skill.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(1:52-2:00). Keep strict time: 1 minute per report. Use the design-claims slide first and the side-by-side table last.</a:t>
            </a:r>
          </a:p>
          <a:p>
            <a:r>
              <a:rPr lang="en-US" sz="1400" b="0" dirty="0"/>
              <a:t>Steer the comparison to Q4 (randomisation vs matching), Q5 (blinding) and Q8 (words vs design). Group 5 should answer Q9-Q10 for Paper 2 when Group 3 does it for Paper 1, if time allows.</a:t>
            </a:r>
          </a:p>
          <a:p>
            <a:r>
              <a:rPr lang="en-US" sz="1400" b="0" dirty="0"/>
              <a:t>The four key messages are on the side panel - say each of them out loud before you close.</a:t>
            </a:r>
          </a:p>
          <a:p>
            <a:r>
              <a:rPr lang="en-US" sz="1400" b="0" dirty="0"/>
              <a:t>Model answers for all ten questions for both papers: Resources/appraisal_instructor_guide.md.</a:t>
            </a:r>
          </a:p>
          <a:p>
            <a:r>
              <a:rPr lang="en-US" sz="1400" b="0" dirty="0"/>
              <a:t>Transition: 'Now it is your turn to be reviewed' - announce the presentation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before the presentations - ask someone to explain each in their own words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Take-home before the presentations (1 minute). Read the four cards; the closing block will come back to what the course built.</a:t>
            </a:r>
          </a:p>
          <a:p>
            <a:r>
              <a:rPr lang="en-US" sz="1400" b="0" dirty="0"/>
              <a:t>Transition: 'Now it is your turn to be reviewed' - announce the running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(2:00-2:45). Five groups x 8 minutes = 40 minutes, then 5 minutes for a one-sentence summary of each group's manuscript (or buffer). The timekeeper is essential.</a:t>
            </a:r>
          </a:p>
          <a:p>
            <a:r>
              <a:rPr lang="en-US" sz="1400" b="0" dirty="0"/>
              <a:t>Appoint a timekeeper from the audience (or the co-trainer) with the green, yellow and red cards.</a:t>
            </a:r>
          </a:p>
          <a:p>
            <a:r>
              <a:rPr lang="en-US" sz="1400" b="0" dirty="0"/>
              <a:t>Remind the room: the reviewing skills we just used now apply to our own proposals -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 the day we score the PRESENTATION only: criteria 12-16 of Course/Assignment/proposal_rubric.md, 6/4/2/0 points each, total out of 30. The written proposal and publication plan (criteria 1-11, out of 70) are marked after the course.</a:t>
            </a:r>
          </a:p>
          <a:p>
            <a:r>
              <a:rPr lang="en-US" sz="1400" b="0" dirty="0"/>
              <a:t>Who scores: the instructors score every group; one peer group (rotating: Group 2 on Group 1, Group 3 on Group 2 ... Group 1 on Group 5) fills the feedback form at the end of proposal_rubric.md.</a:t>
            </a:r>
          </a:p>
          <a:p>
            <a:r>
              <a:rPr lang="en-US" sz="1400" b="0" dirty="0"/>
              <a:t>Feedback in 2 minutes (Assignment/presentation_guide.md): peer group 45 s - two stars and a wish; instructor 60 s - one strength, the most important improvement, one question; presenting group 15 s - 'thank you', no defending.</a:t>
            </a:r>
          </a:p>
          <a:p>
            <a:r>
              <a:rPr lang="en-US" sz="1400" b="0" dirty="0"/>
              <a:t>It is feedback to help the group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running order. Clock times are relative to the start of the session (2:00 = two hours in; with an 08:00 start this is 10:00-10:45). 2:40-2:45: each group gives its FLUID-ICU question and main result in one sentence - or the 5 minutes absorb any overrun.</a:t>
            </a:r>
          </a:p>
          <a:p>
            <a:r>
              <a:rPr lang="en-US" sz="1400" b="0" dirty="0"/>
              <a:t>The timekeeper shows GREEN at 4 minutes (2 minutes left), YELLOW at 5 minutes (1 minute left) and RED at 6 minutes (stop).</a:t>
            </a:r>
          </a:p>
          <a:p>
            <a:r>
              <a:rPr lang="en-US" sz="1400" b="0" dirty="0"/>
              <a:t>The next group walks to the front during the previous group's feedback. All slides are already on one laptop - no USB changes.</a:t>
            </a:r>
          </a:p>
          <a:p>
            <a:r>
              <a:rPr lang="en-US" sz="1400" b="0" dirty="0"/>
              <a:t>If the session runs late, shorten the feedback, never the presentations of the last groups - it is unfair to the group that presents last.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this slide on screen during the presentations if groups present from their own file; otherwise switch to each group's slides.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group: target journal + correct guideline (STROBE for a cohort, CONSORT for a trial), working title in calibrated words, CRediT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At 2:40 each group gives its manuscript in one sentence (question + main result, 1 minute each). At 2:45 collect the feedback forms and move straight to the closing: post-course quiz, evaluation and the peer-review swap (next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if Manuscript workshop 2 finishes early or as homework). Worksheet: Practicals/s8_exercises.md, Part A (writing exercises).</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 'association', not 'impact'.</a:t>
            </a:r>
          </a:p>
          <a:p>
            <a:r>
              <a:rPr lang="en-US" sz="1400" b="0" dirty="0"/>
              <a:t>Group title: check 10-16 words, design stated, no value words. Abstract skeleton: Results are EXPECTED results - write the format, e.g. '28-day mortality, RR (95% CI)'.</a:t>
            </a:r>
          </a:p>
          <a:p>
            <a:r>
              <a:rPr lang="en-US" sz="1400" b="0" dirty="0"/>
              <a:t>Take 2 group titles aloud if there is time. Groups add the title and skeleton to their presentation during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 this can save months. Appeal only if there is a clear factual error in the decision.</a:t>
            </a:r>
          </a:p>
          <a:p>
            <a:r>
              <a:rPr lang="en-US" sz="1400" b="0" dirty="0"/>
              <a:t>Never submit to two journals at once (duplicate submission is misconduct).</a:t>
            </a:r>
          </a:p>
          <a:p>
            <a:r>
              <a:rPr lang="en-US" sz="1400" b="0" dirty="0"/>
              <a:t>Ask: what is the first thing you do after a rejection? Expected: read the reviews for things to fix, not for reasons to be angry.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 and do write the full paper: many abstracts never become publications.</a:t>
            </a:r>
          </a:p>
          <a:p>
            <a:r>
              <a:rPr lang="en-US" sz="1400" b="0" dirty="0"/>
              <a:t>A conference abstract template is in Course/Templates/.</a:t>
            </a:r>
          </a:p>
          <a:p>
            <a:r>
              <a:rPr lang="en-US" sz="1400" b="0" dirty="0"/>
              <a:t>Ask: what would be the single figure on your group's poster? Expected: the primary outcome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Last 15 minutes of Session 8. Keep it brisk and positive.</a:t>
            </a:r>
          </a:p>
          <a:p>
            <a:r>
              <a:rPr lang="en-US" sz="1400" b="0" dirty="0"/>
              <a:t>Thank the groups for their presentations before starting the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 out the same quiz (online form or paper).</a:t>
            </a:r>
          </a:p>
          <a:p>
            <a:r>
              <a:rPr lang="en-US" sz="1400" b="0" dirty="0"/>
              <a:t>Later: compute the mean pre/post change with the table in pre_post_quiz_answer_key - report it to the department head in the course report.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Celebrate: each group has a proposal it could take to the ethics committee and a draft paper.</a:t>
            </a:r>
          </a:p>
          <a:p>
            <a:r>
              <a:rPr lang="en-US" sz="1400" b="0" dirty="0"/>
              <a:t>Ask each group to agree a next step before leaving: who polishes the proposal, target date for the ethics committee, who leads the manuscript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Short anonymous form (paper or online). The pace question matters - we planned the course to be slow; tell us if it was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swap: group 1 reviews group 2, 2 reviews 3, ... 5 reviews 1.</a:t>
            </a:r>
          </a:p>
          <a:p>
            <a:r>
              <a:rPr lang="en-US" sz="1400" b="0" dirty="0"/>
              <a:t>Reviews follow Assignment/peer_review_instructions.md and the 10-question checklist; authors reply with Templates/Response_to_Reviewers_Template.docx.</a:t>
            </a:r>
          </a:p>
          <a:p>
            <a:r>
              <a:rPr lang="en-US" sz="1400" b="0" dirty="0"/>
              <a:t>This is the last step of the whole research process - exactly what happens after a real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Level 2 (hands-on, for those who want to run analyses themselves): reproducible R projects, data management, linear and logistic regression in depth, missing data, publication-ready tables and figures. Prerequisite: this course plus the free Neudata course Clinical Data Analysis in R.</a:t>
            </a:r>
          </a:p>
          <a:p>
            <a:r>
              <a:rPr lang="en-US" sz="1400" b="0" dirty="0"/>
              <a:t>Level 3 (on request): advanced, specialised methods for complex data - meta-analysis, prediction and machine learning, diagnostic accuracy, advanced survival, longitudinal and multilevel models. See Course_Levels/.</a:t>
            </a:r>
          </a:p>
          <a:p>
            <a:r>
              <a:rPr lang="en-US" sz="1400" b="0" dirty="0"/>
              <a:t>Give the trainers' contact details for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Group photo.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4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(5 min)</a:t>
            </a:r>
          </a:p>
          <a:p>
            <a:pPr marL="274320" indent="-274320" algn="l">
              <a:spcBef>
                <a:spcPts val="440"/>
              </a:spcBef>
              <a:buFont typeface="Arial"/>
              <a:buChar char="•"/>
            </a:pPr>
            <a:r>
              <a:rPr lang="en-US" sz="1900" dirty="0">
                <a:solidFill>
                  <a:srgbClr val="000000"/>
                </a:solidFill>
                <a:latin typeface="Century Gothic"/>
                <a:cs typeface="Century Gothic"/>
              </a:rPr>
              <a:t>8.1  Writing the paper (II): Introduction, Discussion, Abstract, Title</a:t>
            </a:r>
          </a:p>
          <a:p>
            <a:pPr marL="274320" indent="-274320" algn="l">
              <a:spcBef>
                <a:spcPts val="440"/>
              </a:spcBef>
              <a:buFont typeface="Arial"/>
              <a:buChar char="•"/>
            </a:pPr>
            <a:r>
              <a:rPr lang="en-US" sz="1900" dirty="0">
                <a:solidFill>
                  <a:srgbClr val="000000"/>
                </a:solidFill>
                <a:latin typeface="Century Gothic"/>
                <a:cs typeface="Century Gothic"/>
              </a:rPr>
              <a:t>Manuscript workshop 2: complete the draft</a:t>
            </a:r>
          </a:p>
          <a:p>
            <a:pPr marL="274320" indent="-274320" algn="l">
              <a:spcBef>
                <a:spcPts val="440"/>
              </a:spcBef>
              <a:buFont typeface="Arial"/>
              <a:buChar char="•"/>
            </a:pPr>
            <a:r>
              <a:rPr lang="en-US" sz="1900" dirty="0">
                <a:solidFill>
                  <a:srgbClr val="000000"/>
                </a:solidFill>
                <a:latin typeface="Century Gothic"/>
                <a:cs typeface="Century Gothic"/>
              </a:rPr>
              <a:t>8.2  Getting published: from checklist to proofs</a:t>
            </a:r>
          </a:p>
          <a:p>
            <a:pPr marL="274320" indent="-274320" algn="l">
              <a:spcBef>
                <a:spcPts val="440"/>
              </a:spcBef>
              <a:buFont typeface="Arial"/>
              <a:buChar char="•"/>
            </a:pPr>
            <a:r>
              <a:rPr lang="en-US" sz="1900" dirty="0">
                <a:solidFill>
                  <a:srgbClr val="000000"/>
                </a:solidFill>
                <a:latin typeface="Century Gothic"/>
                <a:cs typeface="Century Gothic"/>
              </a:rPr>
              <a:t>8.3  Be the reviewer: appraise Papers 1 and 2</a:t>
            </a:r>
          </a:p>
          <a:p>
            <a:pPr marL="274320" indent="-274320" algn="l">
              <a:spcBef>
                <a:spcPts val="440"/>
              </a:spcBef>
              <a:buFont typeface="Arial"/>
              <a:buChar char="•"/>
            </a:pPr>
            <a:r>
              <a:rPr lang="en-US" sz="1900" dirty="0">
                <a:solidFill>
                  <a:srgbClr val="000000"/>
                </a:solidFill>
                <a:latin typeface="Century Gothic"/>
                <a:cs typeface="Century Gothic"/>
              </a:rPr>
              <a:t>Group presentations: proposal +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Who consents for a sedated patient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STROBE item asks for crude AND adjusted estimates?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legal representative (or deferred consent if approved)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Item 16 (main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(II)</a:t>
            </a:r>
          </a:p>
          <a:p>
            <a:pPr marL="0" indent="0" algn="ctr">
              <a:spcBef>
                <a:spcPts val="1200"/>
              </a:spcBef>
              <a:buNone/>
            </a:pPr>
            <a:r>
              <a:rPr lang="en-US" sz="1900" i="1" dirty="0">
                <a:solidFill>
                  <a:srgbClr val="595959"/>
                </a:solidFill>
                <a:latin typeface="Century Gothic"/>
                <a:cs typeface="Century Gothic"/>
              </a:rPr>
              <a:t>Introduction, Discussion, Abstract and Title -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unknown, aim - and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Known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Fluids save lives early in sepsis</a:t>
            </a:r>
          </a:p>
          <a:p>
            <a:pPr marL="0" indent="0" algn="l">
              <a:lnSpc>
                <a:spcPct val="104000"/>
              </a:lnSpc>
              <a:spcBef>
                <a:spcPts val="400"/>
              </a:spcBef>
              <a:buNone/>
            </a:pPr>
            <a:r>
              <a:rPr lang="en-US" sz="1750" dirty="0">
                <a:solidFill>
                  <a:srgbClr val="000000"/>
                </a:solidFill>
                <a:latin typeface="Century Gothic"/>
                <a:cs typeface="Century Gothic"/>
              </a:rPr>
              <a:t>Positive balance linked to death</a:t>
            </a:r>
          </a:p>
          <a:p>
            <a:pPr marL="0" indent="0" algn="l">
              <a:lnSpc>
                <a:spcPct val="104000"/>
              </a:lnSpc>
              <a:spcBef>
                <a:spcPts val="400"/>
              </a:spcBef>
              <a:buNone/>
            </a:pPr>
            <a:r>
              <a:rPr lang="en-US" sz="1750" dirty="0">
                <a:solidFill>
                  <a:srgbClr val="000000"/>
                </a:solidFill>
                <a:latin typeface="Century Gothic"/>
                <a:cs typeface="Century Gothic"/>
              </a:rPr>
              <a:t>(Paper 2; large cohorts)</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Not known</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Whether the link persists after</a:t>
            </a:r>
          </a:p>
          <a:p>
            <a:pPr marL="0" indent="0" algn="l">
              <a:lnSpc>
                <a:spcPct val="104000"/>
              </a:lnSpc>
              <a:spcBef>
                <a:spcPts val="400"/>
              </a:spcBef>
              <a:buNone/>
            </a:pPr>
            <a:r>
              <a:rPr lang="en-US" sz="1750" dirty="0">
                <a:solidFill>
                  <a:srgbClr val="000000"/>
                </a:solidFill>
                <a:latin typeface="Century Gothic"/>
                <a:cs typeface="Century Gothic"/>
              </a:rPr>
              <a:t>adjusting for severity</a:t>
            </a:r>
          </a:p>
          <a:p>
            <a:pPr marL="0" indent="0" algn="l">
              <a:lnSpc>
                <a:spcPct val="104000"/>
              </a:lnSpc>
              <a:spcBef>
                <a:spcPts val="400"/>
              </a:spcBef>
              <a:buNone/>
            </a:pPr>
            <a:r>
              <a:rPr lang="en-US" sz="1750" dirty="0">
                <a:solidFill>
                  <a:srgbClr val="000000"/>
                </a:solidFill>
                <a:latin typeface="Century Gothic"/>
                <a:cs typeface="Century Gothic"/>
              </a:rPr>
              <a:t>Sicker patients get more fluid</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Aim</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We examined whether a positive</a:t>
            </a:r>
          </a:p>
          <a:p>
            <a:pPr marL="0" indent="0" algn="l">
              <a:lnSpc>
                <a:spcPct val="104000"/>
              </a:lnSpc>
              <a:spcBef>
                <a:spcPts val="400"/>
              </a:spcBef>
              <a:buNone/>
            </a:pPr>
            <a:r>
              <a:rPr lang="en-US" sz="1750" dirty="0">
                <a:solidFill>
                  <a:srgbClr val="000000"/>
                </a:solidFill>
                <a:latin typeface="Century Gothic"/>
                <a:cs typeface="Century Gothic"/>
              </a:rPr>
              <a:t>balance by day 3 is associated</a:t>
            </a:r>
          </a:p>
          <a:p>
            <a:pPr marL="0" indent="0" algn="l">
              <a:lnSpc>
                <a:spcPct val="104000"/>
              </a:lnSpc>
              <a:spcBef>
                <a:spcPts val="400"/>
              </a:spcBef>
              <a:buNone/>
            </a:pPr>
            <a:r>
              <a:rPr lang="en-US" sz="1750" dirty="0">
                <a:solidFill>
                  <a:srgbClr val="000000"/>
                </a:solidFill>
                <a:latin typeface="Century Gothic"/>
                <a:cs typeface="Century Gothic"/>
              </a:rPr>
              <a:t>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paragraphs, about 350 words - and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with the number, explain the crude-adjusted gap, end with the same verb.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FLUID-ICU Q1 (simulated)</a:t>
            </a:r>
          </a:p>
          <a:p>
            <a:pPr marL="274320" indent="-274320" algn="l">
              <a:spcBef>
                <a:spcPts val="440"/>
              </a:spcBef>
              <a:buFont typeface="Arial"/>
              <a:buChar char="•"/>
            </a:pPr>
            <a:r>
              <a:rPr lang="en-US" sz="1450" dirty="0">
                <a:solidFill>
                  <a:srgbClr val="000000"/>
                </a:solidFill>
                <a:latin typeface="Century Gothic"/>
                <a:cs typeface="Century Gothic"/>
              </a:rPr>
              <a:t>Crude OR 2.49 (1.70 to 3.70)</a:t>
            </a:r>
          </a:p>
          <a:p>
            <a:pPr marL="274320" indent="-274320" algn="l">
              <a:spcBef>
                <a:spcPts val="440"/>
              </a:spcBef>
              <a:buFont typeface="Arial"/>
              <a:buChar char="•"/>
            </a:pPr>
            <a:r>
              <a:rPr lang="en-US" sz="1450" dirty="0">
                <a:solidFill>
                  <a:srgbClr val="000000"/>
                </a:solidFill>
                <a:latin typeface="Century Gothic"/>
                <a:cs typeface="Century Gothic"/>
              </a:rPr>
              <a:t>Adjusted OR 1.62 (1.02 to 2.59)</a:t>
            </a:r>
          </a:p>
          <a:p>
            <a:pPr marL="274320" indent="-274320" algn="l">
              <a:spcBef>
                <a:spcPts val="440"/>
              </a:spcBef>
              <a:buFont typeface="Arial"/>
              <a:buChar char="•"/>
            </a:pPr>
            <a:r>
              <a:rPr lang="en-US" sz="1450" dirty="0">
                <a:solidFill>
                  <a:srgbClr val="000000"/>
                </a:solidFill>
                <a:latin typeface="Century Gothic"/>
                <a:cs typeface="Century Gothic"/>
              </a:rPr>
              <a:t>Imputed OR 1.70 (1.09 to 2.64)</a:t>
            </a:r>
          </a:p>
          <a:p>
            <a:pPr marL="274320" indent="-274320" algn="l">
              <a:spcBef>
                <a:spcPts val="440"/>
              </a:spcBef>
              <a:buFont typeface="Arial"/>
              <a:buChar char="•"/>
            </a:pPr>
            <a:r>
              <a:rPr lang="en-US" sz="1450" dirty="0">
                <a:solidFill>
                  <a:srgbClr val="000000"/>
                </a:solidFill>
                <a:latin typeface="Century Gothic"/>
                <a:cs typeface="Century Gothic"/>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positive balance caused higher mortality (OR 1.62).'</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'Fluid overload increases AKI (OR 1.27 per 10 ml/kg).'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'There was a trend towards death (Cox HR 1.46, 95% CI 1.00 to 2.13).'</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predicts death (OR 1.39 per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Better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 was associated with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 was associated with higher odds of AKI'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'HR 1.46 (1.00 to 2.13): CI reaches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OK for prediction; for cause: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result in the abstract has a number and a confidence interval.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Copy the numbers from your Results - the abstract must not contain new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title states the question and the design - no sales 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References</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Use a reference manager</a:t>
            </a:r>
          </a:p>
          <a:p>
            <a:pPr marL="0" indent="0" algn="l">
              <a:lnSpc>
                <a:spcPct val="104000"/>
              </a:lnSpc>
              <a:spcBef>
                <a:spcPts val="400"/>
              </a:spcBef>
              <a:buNone/>
            </a:pPr>
            <a:r>
              <a:rPr lang="en-US" sz="1750" dirty="0">
                <a:solidFill>
                  <a:srgbClr val="000000"/>
                </a:solidFill>
                <a:latin typeface="Century Gothic"/>
                <a:cs typeface="Century Gothic"/>
              </a:rPr>
              <a:t>Check every citation</a:t>
            </a:r>
          </a:p>
          <a:p>
            <a:pPr marL="0" indent="0" algn="l">
              <a:lnSpc>
                <a:spcPct val="104000"/>
              </a:lnSpc>
              <a:spcBef>
                <a:spcPts val="400"/>
              </a:spcBef>
              <a:buNone/>
            </a:pPr>
            <a:r>
              <a:rPr lang="en-US" sz="1750" dirty="0">
                <a:solidFill>
                  <a:srgbClr val="000000"/>
                </a:solidFill>
                <a:latin typeface="Century Gothic"/>
                <a:cs typeface="Century Gothic"/>
              </a:rPr>
              <a:t>P2 cites the Sepsis-3 paper for its covariates</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Reporting checklist</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Fill it in while writing</a:t>
            </a:r>
          </a:p>
          <a:p>
            <a:pPr marL="0" indent="0" algn="l">
              <a:lnSpc>
                <a:spcPct val="104000"/>
              </a:lnSpc>
              <a:spcBef>
                <a:spcPts val="400"/>
              </a:spcBef>
              <a:buNone/>
            </a:pPr>
            <a:r>
              <a:rPr lang="en-US" sz="1750" dirty="0">
                <a:solidFill>
                  <a:srgbClr val="000000"/>
                </a:solidFill>
                <a:latin typeface="Century Gothic"/>
                <a:cs typeface="Century Gothic"/>
              </a:rPr>
              <a:t>Add page numbers</a:t>
            </a:r>
          </a:p>
          <a:p>
            <a:pPr marL="0" indent="0" algn="l">
              <a:lnSpc>
                <a:spcPct val="104000"/>
              </a:lnSpc>
              <a:spcBef>
                <a:spcPts val="400"/>
              </a:spcBef>
              <a:buNone/>
            </a:pPr>
            <a:r>
              <a:rPr lang="en-US" sz="1750" dirty="0">
                <a:solidFill>
                  <a:srgbClr val="000000"/>
                </a:solidFill>
                <a:latin typeface="Century Gothic"/>
                <a:cs typeface="Century Gothic"/>
              </a:rPr>
              <a:t>Neither paper names CONSORT or STROBE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Final read</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Text = table, every number</a:t>
            </a:r>
          </a:p>
          <a:p>
            <a:pPr marL="0" indent="0" algn="l">
              <a:lnSpc>
                <a:spcPct val="104000"/>
              </a:lnSpc>
              <a:spcBef>
                <a:spcPts val="400"/>
              </a:spcBef>
              <a:buNone/>
            </a:pPr>
            <a:r>
              <a:rPr lang="en-US" sz="1750" dirty="0">
                <a:solidFill>
                  <a:srgbClr val="000000"/>
                </a:solidFill>
                <a:latin typeface="Century Gothic"/>
                <a:cs typeface="Century Gothic"/>
              </a:rPr>
              <a:t>Call-outs point to the right figure</a:t>
            </a:r>
          </a:p>
          <a:p>
            <a:pPr marL="0" indent="0" algn="l">
              <a:lnSpc>
                <a:spcPct val="104000"/>
              </a:lnSpc>
              <a:spcBef>
                <a:spcPts val="400"/>
              </a:spcBef>
              <a:buNone/>
            </a:pPr>
            <a:r>
              <a:rPr lang="en-US" sz="1750" dirty="0">
                <a:solidFill>
                  <a:srgbClr val="000000"/>
                </a:solidFill>
                <a:latin typeface="Century Gothic"/>
                <a:cs typeface="Century Gothic"/>
              </a:rPr>
              <a:t>A co-author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errors in these two papers needed no new data -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Complete your draft</a:t>
            </a:r>
          </a:p>
          <a:p>
            <a:pPr marL="0" indent="0" algn="ctr">
              <a:spcBef>
                <a:spcPts val="1200"/>
              </a:spcBef>
              <a:buNone/>
            </a:pPr>
            <a:r>
              <a:rPr lang="en-US" sz="1900" i="1" dirty="0">
                <a:solidFill>
                  <a:srgbClr val="595959"/>
                </a:solidFill>
                <a:latin typeface="Century Gothic"/>
                <a:cs typeface="Century Gothic"/>
              </a:rPr>
              <a:t>Introduction, Discussion,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Manuscript workshop 2: Introduction, Discussion, Abstract,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0-8: Introduction - three paragraphs (two people)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0-15: Discussion - six moves (three people)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15-23: Abstract - 250 words, numbers from your Results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23-27: Title (10-16 words, design stated) + keywords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27-30: verb check: every 'cause' or 'impact' -&gt; 'associated'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Introduction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number + verb checker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All: Abstract and Title together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 draft (~2,000 words) saved - peer-review swap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Save and send your manuscript draft</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1-3: collect Paper 1 (RCT)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Groups 4-5: collect Paper 2 (cohort)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Presenters: check your slides open on the presentation laptop</a:t>
            </a:r>
          </a:p>
          <a:p>
            <a:pPr marL="380000" indent="-380000" algn="l">
              <a:lnSpc>
                <a:spcPct val="104000"/>
              </a:lnSpc>
              <a:spcBef>
                <a:spcPts val="450"/>
              </a:spcBef>
              <a:buNone/>
            </a:pPr>
            <a:r>
              <a:rPr lang="en-US" sz="1650" b="1" dirty="0">
                <a:solidFill>
                  <a:srgbClr val="8A99A3"/>
                </a:solidFill>
                <a:latin typeface="Century Gothic"/>
                <a:cs typeface="Century Gothic"/>
              </a:rPr>
              <a:t>5.  </a:t>
            </a:r>
            <a:r>
              <a:rPr lang="en-US" sz="1650" dirty="0">
                <a:solidFill>
                  <a:srgbClr val="000000"/>
                </a:solidFill>
                <a:latin typeface="Century Gothic"/>
                <a:cs typeface="Century Gothic"/>
              </a:rPr>
              <a:t>Back at 1:15 sharp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 (25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Be the reviewer (20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Group presentations (45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Getting published</a:t>
            </a:r>
          </a:p>
          <a:p>
            <a:pPr marL="0" indent="0" algn="ctr">
              <a:spcBef>
                <a:spcPts val="1200"/>
              </a:spcBef>
              <a:buNone/>
            </a:pPr>
            <a:r>
              <a:rPr lang="en-US" sz="1900" i="1" dirty="0">
                <a:solidFill>
                  <a:srgbClr val="595959"/>
                </a:solidFill>
                <a:latin typeface="Century Gothic"/>
                <a:cs typeface="Century Gothic"/>
              </a:rPr>
              <a:t>From checklist to proofs -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your guideline in Part 4 -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Decide the target journal before you write - it sets the rules.</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Who needs your result?</a:t>
            </a:r>
          </a:p>
          <a:p>
            <a:pPr marL="0" indent="0" algn="l">
              <a:lnSpc>
                <a:spcPct val="104000"/>
              </a:lnSpc>
              <a:spcBef>
                <a:spcPts val="400"/>
              </a:spcBef>
              <a:buNone/>
            </a:pPr>
            <a:r>
              <a:rPr lang="en-US" sz="1600" dirty="0">
                <a:solidFill>
                  <a:srgbClr val="000000"/>
                </a:solidFill>
                <a:latin typeface="Century Gothic"/>
                <a:cs typeface="Century Gothic"/>
              </a:rPr>
              <a:t>Read 3 recent issues</a:t>
            </a:r>
          </a:p>
          <a:p>
            <a:pPr marL="0" indent="0" algn="l">
              <a:lnSpc>
                <a:spcPct val="104000"/>
              </a:lnSpc>
              <a:spcBef>
                <a:spcPts val="400"/>
              </a:spcBef>
              <a:buNone/>
            </a:pPr>
            <a:r>
              <a:rPr lang="en-US" sz="1600" dirty="0">
                <a:solidFill>
                  <a:srgbClr val="000000"/>
                </a:solidFill>
                <a:latin typeface="Century Gothic"/>
                <a:cs typeface="Century Gothic"/>
              </a:rPr>
              <a:t>Similar designs published?</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Trust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Indexed: MEDLINE, DOAJ, Scopus or Web of Science</a:t>
            </a:r>
          </a:p>
          <a:p>
            <a:pPr marL="0" indent="0" algn="l">
              <a:lnSpc>
                <a:spcPct val="104000"/>
              </a:lnSpc>
              <a:spcBef>
                <a:spcPts val="400"/>
              </a:spcBef>
              <a:buNone/>
            </a:pPr>
            <a:r>
              <a:rPr lang="en-US" sz="1600" dirty="0">
                <a:solidFill>
                  <a:srgbClr val="000000"/>
                </a:solidFill>
                <a:latin typeface="Century Gothic"/>
                <a:cs typeface="Century Gothic"/>
              </a:rPr>
              <a:t>Clear peer-review policy</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Rules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Guide for Authors</a:t>
            </a:r>
          </a:p>
          <a:p>
            <a:pPr marL="0" indent="0" algn="l">
              <a:lnSpc>
                <a:spcPct val="104000"/>
              </a:lnSpc>
              <a:spcBef>
                <a:spcPts val="400"/>
              </a:spcBef>
              <a:buNone/>
            </a:pPr>
            <a:r>
              <a:rPr lang="en-US" sz="1600" dirty="0">
                <a:solidFill>
                  <a:srgbClr val="000000"/>
                </a:solidFill>
                <a:latin typeface="Century Gothic"/>
                <a:cs typeface="Century Gothic"/>
              </a:rPr>
              <a:t>Word limit, checklist</a:t>
            </a:r>
          </a:p>
          <a:p>
            <a:pPr marL="0" indent="0" algn="l">
              <a:lnSpc>
                <a:spcPct val="104000"/>
              </a:lnSpc>
              <a:spcBef>
                <a:spcPts val="400"/>
              </a:spcBef>
              <a:buNone/>
            </a:pPr>
            <a:r>
              <a:rPr lang="en-US" sz="1600" dirty="0">
                <a:solidFill>
                  <a:srgbClr val="000000"/>
                </a:solidFill>
                <a:latin typeface="Century Gothic"/>
                <a:cs typeface="Century Gothic"/>
              </a:rPr>
              <a:t>Registration required?</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Cost &amp; speed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Fee (APC) and waivers</a:t>
            </a:r>
          </a:p>
          <a:p>
            <a:pPr marL="0" indent="0" algn="l">
              <a:lnSpc>
                <a:spcPct val="104000"/>
              </a:lnSpc>
              <a:spcBef>
                <a:spcPts val="400"/>
              </a:spcBef>
              <a:buNone/>
            </a:pPr>
            <a:r>
              <a:rPr lang="en-US" sz="1600" dirty="0">
                <a:solidFill>
                  <a:srgbClr val="000000"/>
                </a:solidFill>
                <a:latin typeface="Century Gothic"/>
                <a:cs typeface="Century Gothic"/>
              </a:rPr>
              <a:t>Licence: CC BY or BY-NC-ND</a:t>
            </a:r>
          </a:p>
          <a:p>
            <a:pPr marL="0" indent="0" algn="l">
              <a:lnSpc>
                <a:spcPct val="104000"/>
              </a:lnSpc>
              <a:spcBef>
                <a:spcPts val="400"/>
              </a:spcBef>
              <a:buNone/>
            </a:pPr>
            <a:r>
              <a:rPr lang="en-US" sz="1600" dirty="0">
                <a:solidFill>
                  <a:srgbClr val="000000"/>
                </a:solidFill>
                <a:latin typeface="Century Gothic"/>
                <a:cs typeface="Century Gothic"/>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journal is one your readers read -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Posted before peer review (e.g. medRxiv)</a:t>
            </a:r>
          </a:p>
          <a:p>
            <a:pPr marL="0" indent="0" algn="l">
              <a:lnSpc>
                <a:spcPct val="104000"/>
              </a:lnSpc>
              <a:spcBef>
                <a:spcPts val="400"/>
              </a:spcBef>
              <a:buNone/>
            </a:pPr>
            <a:r>
              <a:rPr lang="en-US" sz="1750" dirty="0">
                <a:solidFill>
                  <a:srgbClr val="000000"/>
                </a:solidFill>
                <a:latin typeface="Century Gothic"/>
                <a:cs typeface="Century Gothic"/>
              </a:rPr>
              <a:t>Fast, timestamped, open feedback</a:t>
            </a:r>
          </a:p>
          <a:p>
            <a:pPr marL="0" indent="0" algn="l">
              <a:lnSpc>
                <a:spcPct val="104000"/>
              </a:lnSpc>
              <a:spcBef>
                <a:spcPts val="400"/>
              </a:spcBef>
              <a:buNone/>
            </a:pPr>
            <a:r>
              <a:rPr lang="en-US" sz="1750" dirty="0">
                <a:solidFill>
                  <a:srgbClr val="000000"/>
                </a:solidFill>
                <a:latin typeface="Century Gothic"/>
                <a:cs typeface="Century Gothic"/>
              </a:rPr>
              <a:t>NOT peer-reviewed: say so</a:t>
            </a:r>
          </a:p>
          <a:p>
            <a:pPr marL="0" indent="0" algn="l">
              <a:lnSpc>
                <a:spcPct val="104000"/>
              </a:lnSpc>
              <a:spcBef>
                <a:spcPts val="400"/>
              </a:spcBef>
              <a:buNone/>
            </a:pPr>
            <a:r>
              <a:rPr lang="en-US" sz="1750" dirty="0">
                <a:solidFill>
                  <a:srgbClr val="000000"/>
                </a:solidFill>
                <a:latin typeface="Century Gothic"/>
                <a:cs typeface="Century Gothic"/>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Free for everyone to read</a:t>
            </a:r>
          </a:p>
          <a:p>
            <a:pPr marL="0" indent="0" algn="l">
              <a:lnSpc>
                <a:spcPct val="104000"/>
              </a:lnSpc>
              <a:spcBef>
                <a:spcPts val="400"/>
              </a:spcBef>
              <a:buNone/>
            </a:pPr>
            <a:r>
              <a:rPr lang="en-US" sz="1750" dirty="0">
                <a:solidFill>
                  <a:srgbClr val="000000"/>
                </a:solidFill>
                <a:latin typeface="Century Gothic"/>
                <a:cs typeface="Century Gothic"/>
              </a:rPr>
              <a:t>Gold: journal charges a fee (APC)</a:t>
            </a:r>
          </a:p>
          <a:p>
            <a:pPr marL="0" indent="0" algn="l">
              <a:lnSpc>
                <a:spcPct val="104000"/>
              </a:lnSpc>
              <a:spcBef>
                <a:spcPts val="400"/>
              </a:spcBef>
              <a:buNone/>
            </a:pPr>
            <a:r>
              <a:rPr lang="en-US" sz="1750" dirty="0">
                <a:solidFill>
                  <a:srgbClr val="000000"/>
                </a:solidFill>
                <a:latin typeface="Century Gothic"/>
                <a:cs typeface="Century Gothic"/>
              </a:rPr>
              <a:t>Green: accepted version in a repository</a:t>
            </a:r>
          </a:p>
          <a:p>
            <a:pPr marL="0" indent="0" algn="l">
              <a:lnSpc>
                <a:spcPct val="104000"/>
              </a:lnSpc>
              <a:spcBef>
                <a:spcPts val="400"/>
              </a:spcBef>
              <a:buNone/>
            </a:pPr>
            <a:r>
              <a:rPr lang="en-US" sz="1750" dirty="0">
                <a:solidFill>
                  <a:srgbClr val="000000"/>
                </a:solidFill>
                <a:latin typeface="Century Gothic"/>
                <a:cs typeface="Century Gothic"/>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CC BY: re-use with credit (Paper 2)</a:t>
            </a:r>
          </a:p>
          <a:p>
            <a:pPr marL="0" indent="0" algn="l">
              <a:lnSpc>
                <a:spcPct val="104000"/>
              </a:lnSpc>
              <a:spcBef>
                <a:spcPts val="400"/>
              </a:spcBef>
              <a:buNone/>
            </a:pPr>
            <a:r>
              <a:rPr lang="en-US" sz="1750" dirty="0">
                <a:solidFill>
                  <a:srgbClr val="000000"/>
                </a:solidFill>
                <a:latin typeface="Century Gothic"/>
                <a:cs typeface="Century Gothic"/>
              </a:rPr>
              <a:t>CC BY-NC-ND: share, no changes (Paper 1)</a:t>
            </a:r>
          </a:p>
          <a:p>
            <a:pPr marL="0" indent="0" algn="l">
              <a:lnSpc>
                <a:spcPct val="104000"/>
              </a:lnSpc>
              <a:spcBef>
                <a:spcPts val="400"/>
              </a:spcBef>
              <a:buNone/>
            </a:pPr>
            <a:r>
              <a:rPr lang="en-US" sz="1750" dirty="0">
                <a:solidFill>
                  <a:srgbClr val="000000"/>
                </a:solidFill>
                <a:latin typeface="Century Gothic"/>
                <a:cs typeface="Century Gothic"/>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 who can read, re-use and pay -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the EQUATOR Network website and search 'CONSORT'</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Show the checklist and the flow diagram (Paper 1 has one)</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Find STROBE the same way (Paper 2)</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Check a journal: DOAJ and NLM Catalog search</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Where the checklist PDF is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to see if a journal is in MEDLINE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Each group checks the journal + guideline in its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Submit the whole package at once - missing items mean delay.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papers are revised before acceptance -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Thank, answer every point, show exactly what changed -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proofs as carefully as the data -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journal that e-mails me first is probably predatory'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 can send my paper to two journals at once to save time'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preprint has been peer reviewed'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'I must answer every reviewer comment, even if I disagree'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Often - check it twice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False - duplicate submission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False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True - politely, with evidence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False -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8.3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 the reviewer</a:t>
            </a:r>
          </a:p>
          <a:p>
            <a:pPr marL="0" indent="0" algn="ctr">
              <a:spcBef>
                <a:spcPts val="1200"/>
              </a:spcBef>
              <a:buNone/>
            </a:pPr>
            <a:r>
              <a:rPr lang="en-US" sz="1900" i="1" dirty="0">
                <a:solidFill>
                  <a:srgbClr val="595959"/>
                </a:solidFill>
                <a:latin typeface="Century Gothic"/>
                <a:cs typeface="Century Gothic"/>
              </a:rPr>
              <a:t>Practice for the peer-review swap of your manuscripts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jigsaw: three groups on the trial, two on the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clinical question, two designs -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was included, and who was left out?</a:t>
            </a:r>
          </a:p>
          <a:p>
            <a:pPr marL="0" indent="0" algn="l">
              <a:lnSpc>
                <a:spcPct val="104000"/>
              </a:lnSpc>
              <a:spcBef>
                <a:spcPts val="400"/>
              </a:spcBef>
              <a:buNone/>
            </a:pPr>
            <a:r>
              <a:rPr lang="en-US" sz="1400" dirty="0">
                <a:solidFill>
                  <a:srgbClr val="000000"/>
                </a:solidFill>
                <a:latin typeface="Century Gothic"/>
                <a:cs typeface="Century Gothic"/>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Were the groups similar at the start (Table 1)?</a:t>
            </a:r>
          </a:p>
          <a:p>
            <a:pPr marL="0" indent="0" algn="l">
              <a:lnSpc>
                <a:spcPct val="104000"/>
              </a:lnSpc>
              <a:spcBef>
                <a:spcPts val="400"/>
              </a:spcBef>
              <a:buNone/>
            </a:pPr>
            <a:r>
              <a:rPr lang="en-US" sz="1400" dirty="0">
                <a:solidFill>
                  <a:srgbClr val="000000"/>
                </a:solidFill>
                <a:latin typeface="Century Gothic"/>
                <a:cs typeface="Century Gothic"/>
              </a:rPr>
              <a:t>How was this achieved (randomisation / matching /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knew which group patients were in (blinding)?</a:t>
            </a:r>
          </a:p>
          <a:p>
            <a:pPr marL="0" indent="0" algn="l">
              <a:lnSpc>
                <a:spcPct val="104000"/>
              </a:lnSpc>
              <a:spcBef>
                <a:spcPts val="400"/>
              </a:spcBef>
              <a:buNone/>
            </a:pPr>
            <a:r>
              <a:rPr lang="en-US" sz="1400" dirty="0">
                <a:solidFill>
                  <a:srgbClr val="000000"/>
                </a:solidFill>
                <a:latin typeface="Century Gothic"/>
                <a:cs typeface="Century Gothic"/>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Was there ONE pre-specified primary outcome,</a:t>
            </a:r>
          </a:p>
          <a:p>
            <a:pPr marL="0" indent="0" algn="l">
              <a:lnSpc>
                <a:spcPct val="104000"/>
              </a:lnSpc>
              <a:spcBef>
                <a:spcPts val="400"/>
              </a:spcBef>
              <a:buNone/>
            </a:pPr>
            <a:r>
              <a:rPr lang="en-US" sz="1400" dirty="0">
                <a:solidFill>
                  <a:srgbClr val="000000"/>
                </a:solidFill>
                <a:latin typeface="Century Gothic"/>
                <a:cs typeface="Century Gothic"/>
              </a:rPr>
              <a:t>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main result as an effect size with 95% CI?</a:t>
            </a:r>
          </a:p>
          <a:p>
            <a:pPr marL="0" indent="0" algn="l">
              <a:lnSpc>
                <a:spcPct val="104000"/>
              </a:lnSpc>
              <a:spcBef>
                <a:spcPts val="400"/>
              </a:spcBef>
              <a:buNone/>
            </a:pPr>
            <a:r>
              <a:rPr lang="en-US" sz="1400" dirty="0">
                <a:solidFill>
                  <a:srgbClr val="000000"/>
                </a:solidFill>
                <a:latin typeface="Century Gothic"/>
                <a:cs typeface="Century Gothic"/>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Do the conclusions match the design</a:t>
            </a:r>
          </a:p>
          <a:p>
            <a:pPr marL="0" indent="0" algn="l">
              <a:lnSpc>
                <a:spcPct val="104000"/>
              </a:lnSpc>
              <a:spcBef>
                <a:spcPts val="400"/>
              </a:spcBef>
              <a:buNone/>
            </a:pPr>
            <a:r>
              <a:rPr lang="en-US" sz="1400" dirty="0">
                <a:solidFill>
                  <a:srgbClr val="000000"/>
                </a:solidFill>
                <a:latin typeface="Century Gothic"/>
                <a:cs typeface="Century Gothic"/>
              </a:rPr>
              <a:t>('associated'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Are the main limitations stated honestly?</a:t>
            </a:r>
          </a:p>
          <a:p>
            <a:pPr marL="0" indent="0" algn="l">
              <a:lnSpc>
                <a:spcPct val="104000"/>
              </a:lnSpc>
              <a:spcBef>
                <a:spcPts val="400"/>
              </a:spcBef>
              <a:buNone/>
            </a:pPr>
            <a:r>
              <a:rPr lang="en-US" sz="1400" dirty="0">
                <a:solidFill>
                  <a:srgbClr val="000000"/>
                </a:solidFill>
                <a:latin typeface="Century Gothic"/>
                <a:cs typeface="Century Gothic"/>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Would this change practice in your unit?</a:t>
            </a:r>
          </a:p>
          <a:p>
            <a:pPr marL="0" indent="0" algn="l">
              <a:lnSpc>
                <a:spcPct val="104000"/>
              </a:lnSpc>
              <a:spcBef>
                <a:spcPts val="400"/>
              </a:spcBef>
              <a:buNone/>
            </a:pPr>
            <a:r>
              <a:rPr lang="en-US" sz="1400" dirty="0">
                <a:solidFill>
                  <a:srgbClr val="000000"/>
                </a:solidFill>
                <a:latin typeface="Century Gothic"/>
                <a:cs typeface="Century Gothic"/>
              </a:rPr>
              <a:t>Why /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 the reviewer: appraise your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Pairs take questions 1-3, 4-6 and 7-10</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Read ONLY the pages listed on your answer grid</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Answer Yes / No / Can't tell + page number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Minute 7: agree the group answers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Minute 9: choose a speaker; write your verdict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Where to look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question and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design, blinding,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 groups similar?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Completed answer grid + one-sentence verdict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1 - RCT (Boulet 2024)</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2 - cohort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Groups made similar by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Randomisation 1:1 (blocks of 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Propensity matching (measured factors only)</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Who knew the group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Clinicians knew; patients, statistician blinded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Everyone (observational)</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Main result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13.2 ml/kg (95% CI -15.2 to 41.6),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Day 2: HR 2.13 (1.48 to 3.06)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Missed limitation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Blocks of 2 with unblinded clinicians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Survivor bias (ICU stay of 3+ days)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Wording problem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'Non-significant trend'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May claim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Did not reduce day-5 balance (small pilot)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Positive balance associated with death</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Pages and details: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Plenary: 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Groups 1 and 4 report Q1-Q4 (1 min each)</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Groups 2 and 5 report Q5-Q8 (1 min each)</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Group 3 reports Q9-Q10 for Paper 1</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Compare Q4, Q5 and Q8 across the two papers</a:t>
            </a:r>
          </a:p>
          <a:p>
            <a:pPr marL="380000" indent="-380000" algn="l">
              <a:lnSpc>
                <a:spcPct val="104000"/>
              </a:lnSpc>
              <a:spcBef>
                <a:spcPts val="450"/>
              </a:spcBef>
              <a:buNone/>
            </a:pPr>
            <a:r>
              <a:rPr lang="en-US" sz="1650" b="1" dirty="0">
                <a:solidFill>
                  <a:srgbClr val="1F5C7A"/>
                </a:solidFill>
                <a:latin typeface="Century Gothic"/>
                <a:cs typeface="Century Gothic"/>
              </a:rPr>
              <a:t>5.  </a:t>
            </a:r>
            <a:r>
              <a:rPr lang="en-US" sz="1650" dirty="0">
                <a:solidFill>
                  <a:srgbClr val="000000"/>
                </a:solidFill>
                <a:latin typeface="Century Gothic"/>
                <a:cs typeface="Century Gothic"/>
              </a:rPr>
              <a:t>Vote on Q10: would either paper change practice in our unit?</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Land these messages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sets the verb: caused vs associated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wide CI means 'we don't know yet'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Published is not the same as correct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Name the reporting guideline: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Each group states what its paper may and may not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Introduction funnel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Known -&gt; not known -&gt; aim, in three paragraphs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Six moves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Answer, compare, explain, limitations, implications, conclusion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Calibrated language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Verbs as strong as the design allows ('associated', not 'caused')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Predatory journal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Takes fees without real peer review or indexing</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Point-by-point response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 table answering every reviewer comment with the change made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Preprint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manuscript posted before peer review</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consent, registration</a:t>
            </a:r>
          </a:p>
          <a:p>
            <a:pPr marL="0" indent="0" algn="l">
              <a:lnSpc>
                <a:spcPct val="104000"/>
              </a:lnSpc>
              <a:spcBef>
                <a:spcPts val="400"/>
              </a:spcBef>
              <a:buNone/>
            </a:pPr>
            <a:r>
              <a:rPr lang="en-US" sz="1600" dirty="0">
                <a:solidFill>
                  <a:srgbClr val="000000"/>
                </a:solidFill>
                <a:latin typeface="Century Gothic"/>
                <a:cs typeface="Century Gothic"/>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IMRaD in the right order</a:t>
            </a:r>
          </a:p>
          <a:p>
            <a:pPr marL="0" indent="0" algn="l">
              <a:lnSpc>
                <a:spcPct val="104000"/>
              </a:lnSpc>
              <a:spcBef>
                <a:spcPts val="400"/>
              </a:spcBef>
              <a:buNone/>
            </a:pPr>
            <a:r>
              <a:rPr lang="en-US" sz="1600" dirty="0">
                <a:solidFill>
                  <a:srgbClr val="000000"/>
                </a:solidFill>
                <a:latin typeface="Century Gothic"/>
                <a:cs typeface="Century Gothic"/>
              </a:rPr>
              <a:t>Numbers with CIs</a:t>
            </a:r>
          </a:p>
          <a:p>
            <a:pPr marL="0" indent="0" algn="l">
              <a:lnSpc>
                <a:spcPct val="104000"/>
              </a:lnSpc>
              <a:spcBef>
                <a:spcPts val="400"/>
              </a:spcBef>
              <a:buNone/>
            </a:pPr>
            <a:r>
              <a:rPr lang="en-US" sz="1600" dirty="0">
                <a:solidFill>
                  <a:srgbClr val="000000"/>
                </a:solidFill>
                <a:latin typeface="Century Gothic"/>
                <a:cs typeface="Century Gothic"/>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Reporting checklist</a:t>
            </a:r>
          </a:p>
          <a:p>
            <a:pPr marL="0" indent="0" algn="l">
              <a:lnSpc>
                <a:spcPct val="104000"/>
              </a:lnSpc>
              <a:spcBef>
                <a:spcPts val="400"/>
              </a:spcBef>
              <a:buNone/>
            </a:pPr>
            <a:r>
              <a:rPr lang="en-US" sz="1600" dirty="0">
                <a:solidFill>
                  <a:srgbClr val="000000"/>
                </a:solidFill>
                <a:latin typeface="Century Gothic"/>
                <a:cs typeface="Century Gothic"/>
              </a:rPr>
              <a:t>Trusted journal</a:t>
            </a:r>
          </a:p>
          <a:p>
            <a:pPr marL="0" indent="0" algn="l">
              <a:lnSpc>
                <a:spcPct val="104000"/>
              </a:lnSpc>
              <a:spcBef>
                <a:spcPts val="400"/>
              </a:spcBef>
              <a:buNone/>
            </a:pPr>
            <a:r>
              <a:rPr lang="en-US" sz="1600" dirty="0">
                <a:solidFill>
                  <a:srgbClr val="000000"/>
                </a:solidFill>
                <a:latin typeface="Century Gothic"/>
                <a:cs typeface="Century Gothic"/>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10 questions</a:t>
            </a:r>
          </a:p>
          <a:p>
            <a:pPr marL="0" indent="0" algn="l">
              <a:lnSpc>
                <a:spcPct val="104000"/>
              </a:lnSpc>
              <a:spcBef>
                <a:spcPts val="400"/>
              </a:spcBef>
              <a:buNone/>
            </a:pPr>
            <a:r>
              <a:rPr lang="en-US" sz="1600" dirty="0">
                <a:solidFill>
                  <a:srgbClr val="000000"/>
                </a:solidFill>
                <a:latin typeface="Century Gothic"/>
                <a:cs typeface="Century Gothic"/>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Next: present your proposal - and swap manuscripts for peer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Your proposals and publication plans</a:t>
            </a:r>
          </a:p>
          <a:p>
            <a:pPr marL="0" indent="0" algn="ctr">
              <a:spcBef>
                <a:spcPts val="1200"/>
              </a:spcBef>
              <a:buNone/>
            </a:pPr>
            <a:r>
              <a:rPr lang="en-US" sz="1900" i="1" dirty="0">
                <a:solidFill>
                  <a:srgbClr val="595959"/>
                </a:solidFill>
                <a:latin typeface="Century Gothic"/>
                <a:cs typeface="Century Gothic"/>
              </a:rPr>
              <a:t>6 minutes to present, 2 minutes of feedback - be kind, be specific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Criterion</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What we look for</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Points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12  Structure &amp; content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slides; key decisions incl. journal + guideline visible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13  Clarity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 profession understands; one message per slide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14  Visual design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Readable from the back; pictures, not text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15  Timekeeping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Finished between 5:00 and 6:00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16  Questions &amp; teamwork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Honest answers; several members speak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6 excellent, 4 good, 2 needs work, 0 missing = presentation /30.  Written proposal + publication plan /70 marked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Running order and timekeeping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the red card goes up, finish your sentence and stop.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Century Gothic"/>
                <a:cs typeface="Century Gothic"/>
              </a:rPr>
              <a:t>1.  </a:t>
            </a:r>
            <a:r>
              <a:rPr lang="en-US" sz="1650" dirty="0">
                <a:solidFill>
                  <a:srgbClr val="000000"/>
                </a:solidFill>
                <a:latin typeface="Century Gothic"/>
                <a:cs typeface="Century Gothic"/>
              </a:rPr>
              <a:t>6 minutes, 6 slides: question, design, data and analysis, ethics and feasibility, publication plan (title, journal, guideline, abstract)</a:t>
            </a:r>
          </a:p>
          <a:p>
            <a:pPr marL="380000" indent="-380000" algn="l">
              <a:lnSpc>
                <a:spcPct val="104000"/>
              </a:lnSpc>
              <a:spcBef>
                <a:spcPts val="450"/>
              </a:spcBef>
              <a:buNone/>
            </a:pPr>
            <a:r>
              <a:rPr lang="en-US" sz="1650" b="1" dirty="0">
                <a:solidFill>
                  <a:srgbClr val="0070C0"/>
                </a:solidFill>
                <a:latin typeface="Century Gothic"/>
                <a:cs typeface="Century Gothic"/>
              </a:rPr>
              <a:t>2.  </a:t>
            </a:r>
            <a:r>
              <a:rPr lang="en-US" sz="1650" dirty="0">
                <a:solidFill>
                  <a:srgbClr val="000000"/>
                </a:solidFill>
                <a:latin typeface="Century Gothic"/>
                <a:cs typeface="Century Gothic"/>
              </a:rPr>
              <a:t>Timekeeper: green at 4:00, yellow at 5:00, red at 6:00</a:t>
            </a:r>
          </a:p>
          <a:p>
            <a:pPr marL="380000" indent="-380000" algn="l">
              <a:lnSpc>
                <a:spcPct val="104000"/>
              </a:lnSpc>
              <a:spcBef>
                <a:spcPts val="450"/>
              </a:spcBef>
              <a:buNone/>
            </a:pPr>
            <a:r>
              <a:rPr lang="en-US" sz="1650" b="1" dirty="0">
                <a:solidFill>
                  <a:srgbClr val="0070C0"/>
                </a:solidFill>
                <a:latin typeface="Century Gothic"/>
                <a:cs typeface="Century Gothic"/>
              </a:rPr>
              <a:t>3.  </a:t>
            </a:r>
            <a:r>
              <a:rPr lang="en-US" sz="1650" dirty="0">
                <a:solidFill>
                  <a:srgbClr val="000000"/>
                </a:solidFill>
                <a:latin typeface="Century Gothic"/>
                <a:cs typeface="Century Gothic"/>
              </a:rPr>
              <a:t>Feedback 2 min: peer group (two stars and a wish), then instructor</a:t>
            </a:r>
          </a:p>
          <a:p>
            <a:pPr marL="380000" indent="-380000" algn="l">
              <a:lnSpc>
                <a:spcPct val="104000"/>
              </a:lnSpc>
              <a:spcBef>
                <a:spcPts val="450"/>
              </a:spcBef>
              <a:buNone/>
            </a:pPr>
            <a:r>
              <a:rPr lang="en-US" sz="1650" b="1" dirty="0">
                <a:solidFill>
                  <a:srgbClr val="0070C0"/>
                </a:solidFill>
                <a:latin typeface="Century Gothic"/>
                <a:cs typeface="Century Gothic"/>
              </a:rPr>
              <a:t>4.  </a:t>
            </a:r>
            <a:r>
              <a:rPr lang="en-US" sz="1650" dirty="0">
                <a:solidFill>
                  <a:srgbClr val="000000"/>
                </a:solidFill>
                <a:latin typeface="Century Gothic"/>
                <a:cs typeface="Century Gothic"/>
              </a:rPr>
              <a:t>Peer group and instructors fill the feedback form</a:t>
            </a:r>
          </a:p>
          <a:p>
            <a:pPr marL="380000" indent="-380000" algn="l">
              <a:lnSpc>
                <a:spcPct val="104000"/>
              </a:lnSpc>
              <a:spcBef>
                <a:spcPts val="450"/>
              </a:spcBef>
              <a:buNone/>
            </a:pPr>
            <a:r>
              <a:rPr lang="en-US" sz="1650" b="1" dirty="0">
                <a:solidFill>
                  <a:srgbClr val="0070C0"/>
                </a:solidFill>
                <a:latin typeface="Century Gothic"/>
                <a:cs typeface="Century Gothic"/>
              </a:rPr>
              <a:t>5.  </a:t>
            </a:r>
            <a:r>
              <a:rPr lang="en-US" sz="1650" dirty="0">
                <a:solidFill>
                  <a:srgbClr val="000000"/>
                </a:solidFill>
                <a:latin typeface="Century Gothic"/>
                <a:cs typeface="Century Gothic"/>
              </a:rPr>
              <a:t>Next group sets up during the feedback</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Century Gothic"/>
                <a:cs typeface="Century Gothic"/>
              </a:rPr>
              <a:t>Running order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2:00  Group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2:08  Group 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2:16  Group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2:24  Group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2:32  Group 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2:40  Manuscript summary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Century Gothic"/>
                <a:cs typeface="Century Gothic"/>
              </a:rPr>
              <a:t>OUTPUT   </a:t>
            </a:r>
            <a:r>
              <a:rPr lang="en-US" sz="1500" dirty="0">
                <a:solidFill>
                  <a:srgbClr val="000000"/>
                </a:solidFill>
                <a:latin typeface="Century Gothic"/>
                <a:cs typeface="Century Gothic"/>
              </a:rPr>
              <a:t>Five proposals and publication plans presented; feedback forms to the trainers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8</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Alone (2 min): rewrite Paper 1's 'non-significant trend' sentence honestly</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Alone: rewrite Paper 2's title with calibrated wording</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Group (4 min): draft your working title from your PICO</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Group: 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Publication plan (Part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Working title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skeleton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Authors + CRediT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Target journal +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Working title + abstract skeleton - show them in your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Rejected? Resubmit -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Out of scope or poorly reported</a:t>
            </a:r>
          </a:p>
          <a:p>
            <a:pPr marL="0" indent="0" algn="l">
              <a:lnSpc>
                <a:spcPct val="104000"/>
              </a:lnSpc>
              <a:spcBef>
                <a:spcPts val="400"/>
              </a:spcBef>
              <a:buNone/>
            </a:pPr>
            <a:r>
              <a:rPr lang="en-US" sz="1750" dirty="0">
                <a:solidFill>
                  <a:srgbClr val="000000"/>
                </a:solidFill>
                <a:latin typeface="Century Gothic"/>
                <a:cs typeface="Century Gothic"/>
              </a:rPr>
              <a:t>Often within days</a:t>
            </a:r>
          </a:p>
          <a:p>
            <a:pPr marL="0" indent="0" algn="l">
              <a:lnSpc>
                <a:spcPct val="104000"/>
              </a:lnSpc>
              <a:spcBef>
                <a:spcPts val="400"/>
              </a:spcBef>
              <a:buNone/>
            </a:pPr>
            <a:r>
              <a:rPr lang="en-US" sz="1750" dirty="0">
                <a:solidFill>
                  <a:srgbClr val="000000"/>
                </a:solidFill>
                <a:latin typeface="Century Gothic"/>
                <a:cs typeface="Century Gothic"/>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Read the reviews, wait a day</a:t>
            </a:r>
          </a:p>
          <a:p>
            <a:pPr marL="0" indent="0" algn="l">
              <a:lnSpc>
                <a:spcPct val="104000"/>
              </a:lnSpc>
              <a:spcBef>
                <a:spcPts val="400"/>
              </a:spcBef>
              <a:buNone/>
            </a:pPr>
            <a:r>
              <a:rPr lang="en-US" sz="1750" dirty="0">
                <a:solidFill>
                  <a:srgbClr val="000000"/>
                </a:solidFill>
                <a:latin typeface="Century Gothic"/>
                <a:cs typeface="Century Gothic"/>
              </a:rPr>
              <a:t>Fix what they found</a:t>
            </a:r>
          </a:p>
          <a:p>
            <a:pPr marL="0" indent="0" algn="l">
              <a:lnSpc>
                <a:spcPct val="104000"/>
              </a:lnSpc>
              <a:spcBef>
                <a:spcPts val="400"/>
              </a:spcBef>
              <a:buNone/>
            </a:pPr>
            <a:r>
              <a:rPr lang="en-US" sz="1750" dirty="0">
                <a:solidFill>
                  <a:srgbClr val="000000"/>
                </a:solidFill>
                <a:latin typeface="Century Gothic"/>
                <a:cs typeface="Century Gothic"/>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Reformat to its Guide</a:t>
            </a:r>
          </a:p>
          <a:p>
            <a:pPr marL="0" indent="0" algn="l">
              <a:lnSpc>
                <a:spcPct val="104000"/>
              </a:lnSpc>
              <a:spcBef>
                <a:spcPts val="400"/>
              </a:spcBef>
              <a:buNone/>
            </a:pPr>
            <a:r>
              <a:rPr lang="en-US" sz="1750" dirty="0">
                <a:solidFill>
                  <a:srgbClr val="000000"/>
                </a:solidFill>
                <a:latin typeface="Century Gothic"/>
                <a:cs typeface="Century Gothic"/>
              </a:rPr>
              <a:t>Use transfer offers if given</a:t>
            </a:r>
          </a:p>
          <a:p>
            <a:pPr marL="0" indent="0" algn="l">
              <a:lnSpc>
                <a:spcPct val="104000"/>
              </a:lnSpc>
              <a:spcBef>
                <a:spcPts val="400"/>
              </a:spcBef>
              <a:buNone/>
            </a:pPr>
            <a:r>
              <a:rPr lang="en-US" sz="1750" dirty="0">
                <a:solidFill>
                  <a:srgbClr val="000000"/>
                </a:solidFill>
                <a:latin typeface="Century Gothic"/>
                <a:cs typeface="Century Gothic"/>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next reviewer may be the same person -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Post-course quiz (same 24 questions)</a:t>
            </a:r>
          </a:p>
          <a:p>
            <a:pPr marL="274320" indent="-274320" algn="l">
              <a:spcBef>
                <a:spcPts val="440"/>
              </a:spcBef>
              <a:buFont typeface="Arial"/>
              <a:buChar char="•"/>
            </a:pPr>
            <a:r>
              <a:rPr lang="en-US" sz="1900" dirty="0">
                <a:solidFill>
                  <a:srgbClr val="000000"/>
                </a:solidFill>
                <a:latin typeface="Century Gothic"/>
                <a:cs typeface="Century Gothic"/>
              </a:rPr>
              <a:t>What you built in eight sessions</a:t>
            </a:r>
          </a:p>
          <a:p>
            <a:pPr marL="274320" indent="-274320" algn="l">
              <a:spcBef>
                <a:spcPts val="440"/>
              </a:spcBef>
              <a:buFont typeface="Arial"/>
              <a:buChar char="•"/>
            </a:pPr>
            <a:r>
              <a:rPr lang="en-US" sz="1900" dirty="0">
                <a:solidFill>
                  <a:srgbClr val="000000"/>
                </a:solidFill>
                <a:latin typeface="Century Gothic"/>
                <a:cs typeface="Century Gothic"/>
              </a:rPr>
              <a:t>Course evaluation</a:t>
            </a:r>
          </a:p>
          <a:p>
            <a:pPr marL="274320" indent="-274320" algn="l">
              <a:spcBef>
                <a:spcPts val="440"/>
              </a:spcBef>
              <a:buFont typeface="Arial"/>
              <a:buChar char="•"/>
            </a:pPr>
            <a:r>
              <a:rPr lang="en-US" sz="1900" dirty="0">
                <a:solidFill>
                  <a:srgbClr val="000000"/>
                </a:solidFill>
                <a:latin typeface="Century Gothic"/>
                <a:cs typeface="Century Gothic"/>
              </a:rPr>
              <a:t>After the course: peer review of the manuscripts</a:t>
            </a:r>
          </a:p>
          <a:p>
            <a:pPr marL="274320" indent="-274320" algn="l">
              <a:spcBef>
                <a:spcPts val="440"/>
              </a:spcBef>
              <a:buFont typeface="Arial"/>
              <a:buChar char="•"/>
            </a:pPr>
            <a:r>
              <a:rPr lang="en-US" sz="1900" dirty="0">
                <a:solidFill>
                  <a:srgbClr val="000000"/>
                </a:solidFill>
                <a:latin typeface="Century Gothic"/>
                <a:cs typeface="Century Gothic"/>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Same 24 questions as in Session 1 (online form recommended)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Individual, no discussion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same participant number as in Session 1</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The answer key is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ASK &amp; FIND</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PICO question</a:t>
            </a:r>
          </a:p>
          <a:p>
            <a:pPr marL="0" indent="0" algn="l">
              <a:lnSpc>
                <a:spcPct val="104000"/>
              </a:lnSpc>
              <a:spcBef>
                <a:spcPts val="200"/>
              </a:spcBef>
              <a:buNone/>
            </a:pPr>
            <a:r>
              <a:rPr lang="en-US" sz="1500" dirty="0">
                <a:solidFill>
                  <a:srgbClr val="000000"/>
                </a:solidFill>
                <a:latin typeface="Century Gothic"/>
                <a:cs typeface="Century Gothic"/>
              </a:rPr>
              <a:t>5 key references</a:t>
            </a:r>
          </a:p>
          <a:p>
            <a:pPr marL="0" indent="0" algn="l">
              <a:lnSpc>
                <a:spcPct val="104000"/>
              </a:lnSpc>
              <a:spcBef>
                <a:spcPts val="200"/>
              </a:spcBef>
              <a:buNone/>
            </a:pPr>
            <a:r>
              <a:rPr lang="en-US" sz="1500" dirty="0">
                <a:solidFill>
                  <a:srgbClr val="000000"/>
                </a:solidFill>
                <a:latin typeface="Century Gothic"/>
                <a:cs typeface="Century Gothic"/>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justified design</a:t>
            </a:r>
          </a:p>
          <a:p>
            <a:pPr marL="0" indent="0" algn="l">
              <a:lnSpc>
                <a:spcPct val="104000"/>
              </a:lnSpc>
              <a:spcBef>
                <a:spcPts val="200"/>
              </a:spcBef>
              <a:buNone/>
            </a:pPr>
            <a:r>
              <a:rPr lang="en-US" sz="1500" dirty="0">
                <a:solidFill>
                  <a:srgbClr val="000000"/>
                </a:solidFill>
                <a:latin typeface="Century Gothic"/>
                <a:cs typeface="Century Gothic"/>
              </a:rPr>
              <a:t>Outcomes</a:t>
            </a:r>
          </a:p>
          <a:p>
            <a:pPr marL="0" indent="0" algn="l">
              <a:lnSpc>
                <a:spcPct val="104000"/>
              </a:lnSpc>
              <a:spcBef>
                <a:spcPts val="200"/>
              </a:spcBef>
              <a:buNone/>
            </a:pPr>
            <a:r>
              <a:rPr lang="en-US" sz="1500" dirty="0">
                <a:solidFill>
                  <a:srgbClr val="000000"/>
                </a:solidFill>
                <a:latin typeface="Century Gothic"/>
                <a:cs typeface="Century Gothic"/>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ANALYSE</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CRF and analysis plan</a:t>
            </a:r>
          </a:p>
          <a:p>
            <a:pPr marL="0" indent="0" algn="l">
              <a:lnSpc>
                <a:spcPct val="104000"/>
              </a:lnSpc>
              <a:spcBef>
                <a:spcPts val="200"/>
              </a:spcBef>
              <a:buNone/>
            </a:pPr>
            <a:r>
              <a:rPr lang="en-US" sz="1500" dirty="0">
                <a:solidFill>
                  <a:srgbClr val="000000"/>
                </a:solidFill>
                <a:latin typeface="Century Gothic"/>
                <a:cs typeface="Century Gothic"/>
              </a:rPr>
              <a:t>A real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WRITE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Methods, Results</a:t>
            </a:r>
          </a:p>
          <a:p>
            <a:pPr marL="0" indent="0" algn="l">
              <a:lnSpc>
                <a:spcPct val="104000"/>
              </a:lnSpc>
              <a:spcBef>
                <a:spcPts val="200"/>
              </a:spcBef>
              <a:buNone/>
            </a:pPr>
            <a:r>
              <a:rPr lang="en-US" sz="1500" dirty="0">
                <a:solidFill>
                  <a:srgbClr val="000000"/>
                </a:solidFill>
                <a:latin typeface="Century Gothic"/>
                <a:cs typeface="Century Gothic"/>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PUBLISH</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presented proposal</a:t>
            </a:r>
          </a:p>
          <a:p>
            <a:pPr marL="0" indent="0" algn="l">
              <a:lnSpc>
                <a:spcPct val="104000"/>
              </a:lnSpc>
              <a:spcBef>
                <a:spcPts val="200"/>
              </a:spcBef>
              <a:buNone/>
            </a:pPr>
            <a:r>
              <a:rPr lang="en-US" sz="1500" dirty="0">
                <a:solidFill>
                  <a:srgbClr val="000000"/>
                </a:solidFill>
                <a:latin typeface="Century Gothic"/>
                <a:cs typeface="Century Gothic"/>
              </a:rPr>
              <a:t>A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Five proposals and five draft papers from this department.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Rate each weekend: content, pace, usefulness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One thing to keep, one thing to change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Interested in Level 2 (hands-on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Evaluation form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Polish your draft</a:t>
            </a:r>
          </a:p>
          <a:p>
            <a:pPr marL="0" indent="0" algn="l">
              <a:lnSpc>
                <a:spcPct val="104000"/>
              </a:lnSpc>
              <a:spcBef>
                <a:spcPts val="200"/>
              </a:spcBef>
              <a:buNone/>
            </a:pPr>
            <a:r>
              <a:rPr lang="en-US" sz="1500" dirty="0">
                <a:solidFill>
                  <a:srgbClr val="000000"/>
                </a:solidFill>
                <a:latin typeface="Century Gothic"/>
                <a:cs typeface="Century Gothic"/>
              </a:rPr>
              <a:t>Submit it to the trainers</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Swap</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Review another group's paper</a:t>
            </a:r>
          </a:p>
          <a:p>
            <a:pPr marL="0" indent="0" algn="l">
              <a:lnSpc>
                <a:spcPct val="104000"/>
              </a:lnSpc>
              <a:spcBef>
                <a:spcPts val="200"/>
              </a:spcBef>
              <a:buNone/>
            </a:pPr>
            <a:r>
              <a:rPr lang="en-US" sz="1500" dirty="0">
                <a:solidFill>
                  <a:srgbClr val="000000"/>
                </a:solidFill>
                <a:latin typeface="Century Gothic"/>
                <a:cs typeface="Century Gothic"/>
              </a:rPr>
              <a:t>10-question checklist + writing checks</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Respond</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Answer each comment</a:t>
            </a:r>
          </a:p>
          <a:p>
            <a:pPr marL="0" indent="0" algn="l">
              <a:lnSpc>
                <a:spcPct val="104000"/>
              </a:lnSpc>
              <a:spcBef>
                <a:spcPts val="200"/>
              </a:spcBef>
              <a:buNone/>
            </a:pPr>
            <a:r>
              <a:rPr lang="en-US" sz="1500" dirty="0">
                <a:solidFill>
                  <a:srgbClr val="000000"/>
                </a:solidFill>
                <a:latin typeface="Century Gothic"/>
                <a:cs typeface="Century Gothic"/>
              </a:rPr>
              <a:t>Response-to-reviewers template</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Final draft + response letter</a:t>
            </a:r>
          </a:p>
          <a:p>
            <a:pPr marL="0" indent="0" algn="l">
              <a:lnSpc>
                <a:spcPct val="104000"/>
              </a:lnSpc>
              <a:spcBef>
                <a:spcPts val="200"/>
              </a:spcBef>
              <a:buNone/>
            </a:pPr>
            <a:r>
              <a:rPr lang="en-US" sz="1500" dirty="0">
                <a:solidFill>
                  <a:srgbClr val="000000"/>
                </a:solidFill>
                <a:latin typeface="Century Gothic"/>
                <a:cs typeface="Century Gothic"/>
              </a:rPr>
              <a:t>Trainer feedback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Due two weeks after Session 8 - see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6 of 8 sessions</a:t>
            </a:r>
          </a:p>
          <a:p>
            <a:pPr marL="0" indent="0" algn="l">
              <a:lnSpc>
                <a:spcPct val="104000"/>
              </a:lnSpc>
              <a:spcBef>
                <a:spcPts val="400"/>
              </a:spcBef>
              <a:buNone/>
            </a:pPr>
            <a:r>
              <a:rPr lang="en-US" sz="1750" dirty="0">
                <a:solidFill>
                  <a:srgbClr val="000000"/>
                </a:solidFill>
                <a:latin typeface="Century Gothic"/>
                <a:cs typeface="Century Gothic"/>
              </a:rPr>
              <a:t>Proposal presented</a:t>
            </a:r>
          </a:p>
          <a:p>
            <a:pPr marL="0" indent="0" algn="l">
              <a:lnSpc>
                <a:spcPct val="104000"/>
              </a:lnSpc>
              <a:spcBef>
                <a:spcPts val="400"/>
              </a:spcBef>
              <a:buNone/>
            </a:pPr>
            <a:r>
              <a:rPr lang="en-US" sz="1750" dirty="0">
                <a:solidFill>
                  <a:srgbClr val="000000"/>
                </a:solidFill>
                <a:latin typeface="Century Gothic"/>
                <a:cs typeface="Century Gothic"/>
              </a:rPr>
              <a:t>Manuscript draft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Slides, handouts, glossary</a:t>
            </a:r>
          </a:p>
          <a:p>
            <a:pPr marL="0" indent="0" algn="l">
              <a:lnSpc>
                <a:spcPct val="104000"/>
              </a:lnSpc>
              <a:spcBef>
                <a:spcPts val="400"/>
              </a:spcBef>
              <a:buNone/>
            </a:pPr>
            <a:r>
              <a:rPr lang="en-US" sz="1750" dirty="0">
                <a:solidFill>
                  <a:srgbClr val="000000"/>
                </a:solidFill>
                <a:latin typeface="Century Gothic"/>
                <a:cs typeface="Century Gothic"/>
              </a:rPr>
              <a:t>Proposal, protocol, consent, CRF, SAP,</a:t>
            </a:r>
          </a:p>
          <a:p>
            <a:pPr marL="0" indent="0" algn="l">
              <a:lnSpc>
                <a:spcPct val="104000"/>
              </a:lnSpc>
              <a:spcBef>
                <a:spcPts val="400"/>
              </a:spcBef>
              <a:buNone/>
            </a:pPr>
            <a:r>
              <a:rPr lang="en-US" sz="1750" dirty="0">
                <a:solidFill>
                  <a:srgbClr val="000000"/>
                </a:solidFill>
                <a:latin typeface="Century Gothic"/>
                <a:cs typeface="Century Gothic"/>
              </a:rPr>
              <a:t>manuscript and reviewer templates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Take your proposal to ethics</a:t>
            </a:r>
          </a:p>
          <a:p>
            <a:pPr marL="0" indent="0" algn="l">
              <a:lnSpc>
                <a:spcPct val="104000"/>
              </a:lnSpc>
              <a:spcBef>
                <a:spcPts val="400"/>
              </a:spcBef>
              <a:buNone/>
            </a:pPr>
            <a:r>
              <a:rPr lang="en-US" sz="1750" dirty="0">
                <a:solidFill>
                  <a:srgbClr val="000000"/>
                </a:solidFill>
                <a:latin typeface="Century Gothic"/>
                <a:cs typeface="Century Gothic"/>
              </a:rPr>
              <a:t>Level 2: hands-on analysis in R</a:t>
            </a:r>
          </a:p>
          <a:p>
            <a:pPr marL="0" indent="0" algn="l">
              <a:lnSpc>
                <a:spcPct val="104000"/>
              </a:lnSpc>
              <a:spcBef>
                <a:spcPts val="400"/>
              </a:spcBef>
              <a:buNone/>
            </a:pPr>
            <a:r>
              <a:rPr lang="en-US" sz="1750" dirty="0">
                <a:solidFill>
                  <a:srgbClr val="000000"/>
                </a:solidFill>
                <a:latin typeface="Century Gothic"/>
                <a:cs typeface="Century Gothic"/>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Thank you!</a:t>
            </a:r>
          </a:p>
          <a:p>
            <a:pPr marL="0" indent="0" algn="ctr">
              <a:spcBef>
                <a:spcPts val="1200"/>
              </a:spcBef>
              <a:buNone/>
            </a:pPr>
            <a:r>
              <a:rPr lang="en-US" sz="1900" i="1" dirty="0">
                <a:solidFill>
                  <a:srgbClr val="595959"/>
                </a:solidFill>
                <a:latin typeface="Century Gothic"/>
                <a:cs typeface="Century Gothic"/>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