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TITLE SLIDE (0:00).</a:t>
            </a:r>
          </a:p>
          <a:p>
            <a:r>
              <a:rPr lang="en-US" sz="1400" b="0" dirty="0"/>
              <a:t>Welcome everyone. Introduce the trainers in one sentence each.</a:t>
            </a:r>
          </a:p>
          <a:p>
            <a:r>
              <a:rPr lang="en-US" sz="1400" b="0" dirty="0"/>
              <a:t>Key message: over eight Saturdays, one session a week, we walk the whole road of research together: from a question at the bedside to a paper ready to submit.</a:t>
            </a:r>
          </a:p>
          <a:p>
            <a:r>
              <a:rPr lang="en-US" sz="1400" b="0" dirty="0"/>
              <a:t>No statistics software, no formulas to memorise: pictures, examples from your own wards, and a lot of group work. We go slowly. Nobody is expected to know anything yet.</a:t>
            </a:r>
          </a:p>
          <a:p>
            <a:r>
              <a:rPr lang="en-US" sz="1400" b="0" dirty="0"/>
              <a:t>Facilitation: participants should already be sitting in their groups (name cards on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Open with a question to the room: 'Think of one thing in your unit where colleagues do it differently and nobody knows which way is best.'</a:t>
            </a:r>
          </a:p>
          <a:p>
            <a:r>
              <a:rPr lang="en-US" sz="1400" b="0" dirty="0"/>
              <a:t>Take 2-3 answers. Expected: fluids, sedation, mobilisation, wound dressings, line care.</a:t>
            </a:r>
          </a:p>
          <a:p>
            <a:r>
              <a:rPr lang="en-US" sz="1400" b="0" dirty="0"/>
              <a:t>Key teaching point: research starts from clinical uncertainty, not from statistics.</a:t>
            </a:r>
          </a:p>
          <a:p>
            <a:r>
              <a:rPr lang="en-US" sz="1400" b="0" dirty="0"/>
              <a:t>Write the examples on the flip chart. They are candidate topics for the group proposals.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along the road: Weeks 1-2 the question and the evidence; Weeks 3-4 design and bias; Weeks 5-6 data and analysis; Weeks 7-8 ethics, writing and publishing. One session every Saturday, with a full week between sessions for the homework.</a:t>
            </a:r>
          </a:p>
          <a:p>
            <a:r>
              <a:rPr lang="en-US" sz="1400" b="0" dirty="0"/>
              <a:t>This whole course is Level 1: it covers every step from question to publication. Weeks 1-4 build understanding and design skills. Weeks 5-8 apply them to data, writing and publishing.</a:t>
            </a:r>
          </a:p>
          <a:p>
            <a:r>
              <a:rPr lang="en-US" sz="1400" b="0" dirty="0"/>
              <a:t>One running example travels with us: fluids in septic shock. Non-ICU colleagues: every concept is also shown with ward examples (pressure injuries, hand hygiene, medication errors, delirium).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course (Level 1) takes you from a clinical question to a published paper. Level 2 is a hands-on course in R for those who want to run analyses themselves. Level 3 covers advanced, specialised methods.</a:t>
            </a:r>
          </a:p>
          <a:p>
            <a:r>
              <a:rPr lang="en-US" sz="1400" b="0" dirty="0"/>
              <a:t>Within Level 1 we use a realistic dataset of 620 ICU patients: we describe it, analyse it and write it up. The trainers run the software. You read and interpret the results.</a:t>
            </a:r>
          </a:p>
          <a:p>
            <a:r>
              <a:rPr lang="en-US" sz="1400" b="0" dirty="0"/>
              <a:t>Misconception to defuse: 'research is only for statisticians or professors'. Most good clinical questions come from nurses and doctors at the bedside.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Product 1: a research proposal on the group's own question, built one part every two weeks and presented in Session 8.</a:t>
            </a:r>
          </a:p>
          <a:p>
            <a:r>
              <a:rPr lang="en-US" sz="1400" b="0" dirty="0"/>
              <a:t>Product 2: a draft manuscript written from the course dataset (FLUID-ICU). Each group answers a different question on the same data. We analyse in Weeks 5-6, write in Weeks 7-8, and after the course groups review each other's drafts and reply like real authors.</a:t>
            </a:r>
          </a:p>
          <a:p>
            <a:r>
              <a:rPr lang="en-US" sz="1400" b="0" dirty="0"/>
              <a:t>Point to Assignment/proposal_brief and Assignment/manuscript_brief.</a:t>
            </a:r>
          </a:p>
          <a:p>
            <a:r>
              <a:rPr lang="en-US" sz="1400" b="0" dirty="0"/>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across the four cards, one per two-week block.</a:t>
            </a:r>
          </a:p>
          <a:p>
            <a:r>
              <a:rPr lang="en-US" sz="1400" b="0" dirty="0"/>
              <a:t>Key teaching point: the aim is understanding and interpretation, not computation. The trainers run the analyses. You learn to read them and write them up.</a:t>
            </a:r>
          </a:p>
          <a:p>
            <a:r>
              <a:rPr lang="en-US" sz="1400" b="0" dirty="0"/>
              <a:t>Audience question: which card worries you most? Expected: ANALYSE. Reassure: we go slowly, with pictures, and check understanding every 20 minutes.</a:t>
            </a:r>
          </a:p>
          <a:p>
            <a:r>
              <a:rPr lang="en-US" sz="1400" b="0" dirty="0"/>
              <a:t>Return to this slide in Session 8 to show progress.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Same rhythm every session: recap, two teaching blocks with checks and activities, a 15-minute break, and time to build the proposal or the paper.</a:t>
            </a:r>
          </a:p>
          <a:p>
            <a:r>
              <a:rPr lang="en-US" sz="1400" b="0" dirty="0"/>
              <a:t>Every 20 minutes we stop for a quick check of understanding. If the room is not with us, we slow down. Each session ends with 'extra slides' that we only use if there is time. You can read them at home.</a:t>
            </a:r>
          </a:p>
          <a:p>
            <a:r>
              <a:rPr lang="en-US" sz="1400" b="0" dirty="0"/>
              <a:t>Keep the break to 15 minutes and start again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Part 1 (Weeks 1-2): the question and the background. Part 2 (Weeks 3-4): the design. Part 3 (Weeks 5-6): the data and the analysis plan. Part 4 (Session 7): ethics, feasibility and a publication plan.</a:t>
            </a:r>
          </a:p>
          <a:p>
            <a:r>
              <a:rPr lang="en-US" sz="1400" b="0" dirty="0"/>
              <a:t>Each group presents its proposal in Session 8 (6 minutes + 2 minutes feedback).</a:t>
            </a:r>
          </a:p>
          <a:p>
            <a:r>
              <a:rPr lang="en-US" sz="1400" b="0" dirty="0"/>
              <a:t>Template: Templates/Research_Proposal_Template.docx.</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Groups should mix doctors, nurses and pharmacists. Different perspectives make better proposals.</a:t>
            </a:r>
          </a:p>
          <a:p>
            <a:r>
              <a:rPr lang="en-US" sz="1400" b="0" dirty="0"/>
              <a:t>Roles keep quieter members involved. Suggest rotating the scribe.</a:t>
            </a:r>
          </a:p>
          <a:p>
            <a:r>
              <a:rPr lang="en-US" sz="1400" b="0" dirty="0"/>
              <a:t>Trainers: walk round, note each group's candidate topics.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Set the climate: this is a safe place to say 'I do not understand'.</a:t>
            </a:r>
          </a:p>
          <a:p>
            <a:r>
              <a:rPr lang="en-US" sz="1400" b="0" dirty="0"/>
              <a:t>Language: discussions can be in Vietnamese or English, whatever helps the group think.</a:t>
            </a:r>
          </a:p>
          <a:p>
            <a:r>
              <a:rPr lang="en-US" sz="1400" b="0" dirty="0"/>
              <a:t>Patient confidentiality applies to examples: no names or identifiable details.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the online form (recommended) or paper copies of Assessment/pre_post_quiz.</a:t>
            </a:r>
          </a:p>
          <a:p>
            <a:r>
              <a:rPr lang="en-US" sz="1400" b="0" dirty="0"/>
              <a:t>Reassure: results are anonymous and used only to measure what the COURSE achieved.</a:t>
            </a:r>
          </a:p>
          <a:p>
            <a:r>
              <a:rPr lang="en-US" sz="1400" b="0" dirty="0"/>
              <a:t>Collect after 15 minutes. Do not give answers today. The same quiz is repeated at the end of Session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1 OPENING (0:35). The front matter (welcome, course map, groups, pre-course quiz) has just finished.</a:t>
            </a:r>
          </a:p>
          <a:p>
            <a:r>
              <a:rPr lang="en-US" sz="1400" b="0" dirty="0"/>
              <a:t>Teaching point: today has one job: every group leaves with ONE clear, answerable research question and an aim with objectives. Next Saturday (Session 2) we search and read the literature for it.</a:t>
            </a:r>
          </a:p>
          <a:p>
            <a:r>
              <a:rPr lang="en-US" sz="1400" b="0" dirty="0"/>
              <a:t>Pace: this audience has little or no research background. Go slowly, use the worked examples, and stop at every 'Check your understanding' slide. They are short on purpose.</a:t>
            </a:r>
          </a:p>
          <a:p>
            <a:r>
              <a:rPr lang="en-US" sz="1400" b="0" dirty="0"/>
              <a:t>Show the shape of the session: three short teaching blocks, a break, a pair task, a quick exercise, then 30 minutes of group work on the proposal.</a:t>
            </a:r>
          </a:p>
          <a:p>
            <a:r>
              <a:rPr lang="en-US" sz="1400" b="0" dirty="0"/>
              <a:t>Ask the room: 'Who has ever taken part in a research study, as a researcher, data collector or participant?' Count hands; it tells you where to pitch the session.</a:t>
            </a:r>
          </a:p>
          <a:p>
            <a:r>
              <a:rPr lang="en-US" sz="1400" b="0" dirty="0"/>
              <a:t>Timing: 1 minute. Do not read the agenda aloud; point at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1.1 (0:35-1:10).</a:t>
            </a:r>
          </a:p>
          <a:p>
            <a:r>
              <a:rPr lang="en-US" sz="1400" b="0" dirty="0"/>
              <a:t>Pause on the question and let the room answer before you click on. Take 2-3 answers.</a:t>
            </a:r>
          </a:p>
          <a:p>
            <a:r>
              <a:rPr lang="en-US" sz="1400" b="0" dirty="0"/>
              <a:t>Expected answers: experience is biased towards memorable cases; colleagues disagree; practice changes; we need to know whether what we do actually helps.</a:t>
            </a:r>
          </a:p>
          <a:p>
            <a:r>
              <a:rPr lang="en-US" sz="1400" b="0" dirty="0"/>
              <a:t>Teaching point: experience is valuable for generating questions, but it is a weak way of answering them.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one clinician, three patients, a vivid memory, no comparison group.</a:t>
            </a:r>
          </a:p>
          <a:p>
            <a:r>
              <a:rPr lang="en-US" sz="1400" b="0" dirty="0"/>
              <a:t>Right: 50 patients per group, every death counted, the same outcome measured in both arms.</a:t>
            </a:r>
          </a:p>
          <a:p>
            <a:r>
              <a:rPr lang="en-US" sz="1400" b="0" dirty="0"/>
              <a:t>The numbers are illustrative, but the pattern is real: the large CLASSIC trial (Meyhoff, NEJM 2022, 1,554 septic shock patients) found 90-day mortality of 42.3% with restrictive fluids vs 42.1% with standard care. The three 'success' patients would have done well either way.</a:t>
            </a:r>
          </a:p>
          <a:p>
            <a:r>
              <a:rPr lang="en-US" sz="1400" b="0" dirty="0"/>
              <a:t>Misconception: 'if it worked in my patients it works'. Without a comparison we cannot tell what would have happened anyway (natural recovery, regression to the mean, selective memory).</a:t>
            </a:r>
          </a:p>
          <a:p>
            <a:r>
              <a:rPr lang="en-US" sz="1400" b="0" dirty="0"/>
              <a:t>Ask the room: 'Why do we remember the three good outcomes?' Expected answer: recall bias. Dramatic and recent cases stick, and we forget the failures.</a:t>
            </a:r>
          </a:p>
          <a:p>
            <a:r>
              <a:rPr lang="en-US" sz="1400" b="0" dirty="0"/>
              <a:t>Timing: 4 minutes. Go slowly: this is the idea the whole course rests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picture is a simulation (fixed seed): imagine a disease where the TRUE risk of death is 40%.</a:t>
            </a:r>
          </a:p>
          <a:p>
            <a:r>
              <a:rPr lang="en-US" sz="1400" b="0" dirty="0"/>
              <a:t>Top row: 20 wards each see only 5 patients. By pure chance some see 0% deaths, others 80%. Each ward would 'learn' something different from its own experience.</a:t>
            </a:r>
          </a:p>
          <a:p>
            <a:r>
              <a:rPr lang="en-US" sz="1400" b="0" dirty="0"/>
              <a:t>Middle row: groups of 50, closer to the truth but still scattered. Bottom row: groups of 500 cluster tightly around 40%.</a:t>
            </a:r>
          </a:p>
          <a:p>
            <a:r>
              <a:rPr lang="en-US" sz="1400" b="0" dirty="0"/>
              <a:t>Teaching point: chance alone produces impressive-looking differences in small numbers. This is why research needs enough patients and a comparison group, and why 'my last three patients' can mislead.</a:t>
            </a:r>
          </a:p>
          <a:p>
            <a:r>
              <a:rPr lang="en-US" sz="1400" b="0" dirty="0"/>
              <a:t>Misconception: 'a big difference in a small group must be real'. A big difference in a small group is exactly what chance produces.</a:t>
            </a:r>
          </a:p>
          <a:p>
            <a:r>
              <a:rPr lang="en-US" sz="1400" b="0" dirty="0"/>
              <a:t>Ask the room: 'One ward lost 0 of 5 patients after a new protocol. Does the protocol work?' Expected answer: we cannot tell, because 0 of 5 happens often by chance even when the true risk is 40%.</a:t>
            </a:r>
          </a:p>
          <a:p>
            <a:r>
              <a:rPr lang="en-US" sz="1400" b="0" dirty="0"/>
              <a:t>Timing: 4 minutes. Sample size returns in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Build from the bottom: expert opinion and case reports, then case series and cross-sectional studies, case-control, cohort, randomised trials, and at the top systematic reviews and meta-analyses that combine several studies.</a:t>
            </a:r>
          </a:p>
          <a:p>
            <a:r>
              <a:rPr lang="en-US" sz="1400" b="0" dirty="0"/>
              <a:t>Teaching point: moving up, the design does more to protect against bias. That is why higher levels give more confidence for 'does treatment X work?' questions.</a:t>
            </a:r>
          </a:p>
          <a:p>
            <a:r>
              <a:rPr lang="en-US" sz="1400" b="0" dirty="0"/>
              <a:t>Misconception 1: 'an RCT is always right'. A small or badly run trial can mislead. Frameworks such as GRADE rate the certainty of a whole body of evidence, not the design label alone.</a:t>
            </a:r>
          </a:p>
          <a:p>
            <a:r>
              <a:rPr lang="en-US" sz="1400" b="0" dirty="0"/>
              <a:t>Misconception 2: 'only RCTs count'. For prevalence, harm and prognosis, observational designs are often the right (or only ethical) choice. Qualitative research sits outside this pyramid because it answers different questions.</a:t>
            </a:r>
          </a:p>
          <a:p>
            <a:r>
              <a:rPr lang="en-US" sz="1400" b="0" dirty="0"/>
              <a:t>Ask the room: 'Where would a systematic review of 10 poor-quality trials sit?' Expected answer: at the top by label, but its conclusions are only as strong as the trials inside it.</a:t>
            </a:r>
          </a:p>
          <a:p>
            <a:r>
              <a:rPr lang="en-US" sz="1400" b="0" dirty="0"/>
              <a:t>Timing: 4 minutes. Session 3 covers each design in detail, so do not teach designs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 A (expert opinion) &lt; B (cohort) &lt; C (RCT) &lt; D (systematic review / meta-analysis).</a:t>
            </a:r>
          </a:p>
          <a:p>
            <a:r>
              <a:rPr lang="en-US" sz="1400" b="0" dirty="0"/>
              <a:t>C is the real CLASSIC trial (NEJM 2022), which found no difference in 90-day mortality. B resembles Paper 2 (Hyun 2023): a positive fluid balance on days 2-3 was associated with higher 28-day mortality.</a:t>
            </a:r>
          </a:p>
          <a:p>
            <a:r>
              <a:rPr lang="en-US" sz="1400" b="0" dirty="0"/>
              <a:t>Why might a cohort find harm when a trial finds none? Expected answer: in a cohort, sicker patients get more fluid, so fluid looks harmful (confounding by indication). This is a preview of Session 4.</a:t>
            </a:r>
          </a:p>
          <a:p>
            <a:r>
              <a:rPr lang="en-US" sz="1400" b="0" dirty="0"/>
              <a:t>Facilitation: count down '1-2-3' so tables show fingers at the same time.</a:t>
            </a:r>
          </a:p>
          <a:p>
            <a:r>
              <a:rPr lang="en-US" sz="1400" b="0" dirty="0"/>
              <a:t>Timing: 3 minutes, strictly.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round the cycle quickly, one sentence per box.</a:t>
            </a:r>
          </a:p>
          <a:p>
            <a:r>
              <a:rPr lang="en-US" sz="1400" b="0" dirty="0"/>
              <a:t>Weeks 1-2 = clinical problem and research question (today), literature search (next Saturday). These are the three teal boxes top right.</a:t>
            </a:r>
          </a:p>
          <a:p>
            <a:r>
              <a:rPr lang="en-US" sz="1400" b="0" dirty="0"/>
              <a:t>Teaching point: published results change practice, which creates new uncertainties and new questions.</a:t>
            </a:r>
          </a:p>
          <a:p>
            <a:r>
              <a:rPr lang="en-US" sz="1400" b="0" dirty="0"/>
              <a:t>Misconception: 'research = collecting data'. Data collection comes AFTER the question, design, protocol and ethics approval.</a:t>
            </a:r>
          </a:p>
          <a:p>
            <a:r>
              <a:rPr lang="en-US" sz="1400" b="0" dirty="0"/>
              <a:t>Timing: 2 minutes. The next slide zooms into the same journey in detail.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Top row: what kind of data. Quantitative research counts and measures (mortality, fluid balance). Qualitative research collects words (interviews, focus groups, observation) to understand experiences, reasons and barriers. Mixed methods combine both in one study.</a:t>
            </a:r>
          </a:p>
          <a:p>
            <a:r>
              <a:rPr lang="en-US" sz="1400" b="0" dirty="0"/>
              <a:t>Bottom row: where the data come from. Primary research collects new data for this study (Paper 1, a new trial). Secondary research reuses data that already exist: medical records, registries (Paper 2 used a sepsis registry) or published studies (a systematic review).</a:t>
            </a:r>
          </a:p>
          <a:p>
            <a:r>
              <a:rPr lang="en-US" sz="1400" b="0" dirty="0"/>
              <a:t>Teaching point: the question decides the type. 'Does restriction reduce deaths?' is quantitative; 'why do nurses hesitate to stop fluids?' is qualitative.</a:t>
            </a:r>
          </a:p>
          <a:p>
            <a:r>
              <a:rPr lang="en-US" sz="1400" b="0" dirty="0"/>
              <a:t>Misconception: 'qualitative research is just opinion'. It has its own rigorous methods and reporting guideline (COREQ for interviews and focus groups); it is the right tool when numbers cannot explain behaviour.</a:t>
            </a:r>
          </a:p>
          <a:p>
            <a:r>
              <a:rPr lang="en-US" sz="1400" b="0" dirty="0"/>
              <a:t>Ask the room: 'Which type would show why a new fluid protocol is not being followed?' Expected answer: qualitative, or mixed methods with an audit.</a:t>
            </a:r>
          </a:p>
          <a:p>
            <a:r>
              <a:rPr lang="en-US" sz="1400" b="0" dirty="0"/>
              <a:t>Timing: 3 minutes. Qualitative designs return in Session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Quick check, not a test. Read each item and let the room shout the answer.</a:t>
            </a:r>
          </a:p>
          <a:p>
            <a:r>
              <a:rPr lang="en-US" sz="1400" b="0" dirty="0"/>
              <a:t>Answers (next slide): A quantitative, primary. B qualitative, primary. C quantitative, secondary (records already exist). D mixed methods, primary.</a:t>
            </a:r>
          </a:p>
          <a:p>
            <a:r>
              <a:rPr lang="en-US" sz="1400" b="0" dirty="0"/>
              <a:t>If people hesitate on C: the data were collected for care, not for this study, so reusing them is secondary research. It still needs ethics review.</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through the four cards quickly.</a:t>
            </a:r>
          </a:p>
          <a:p>
            <a:r>
              <a:rPr lang="en-US" sz="1400" b="0" dirty="0"/>
              <a:t>Teaching point: two simple questions classify almost any study: what kind of data (numbers or words) and where they come from (new or existing).</a:t>
            </a:r>
          </a:p>
          <a:p>
            <a:r>
              <a:rPr lang="en-US" sz="1400" b="0" dirty="0"/>
              <a:t>Secondary research is often the most feasible for a busy department, but data quality depends on how well the records were kept (Session 5).</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Research generates new, generalisable knowledge: which option is best? Audit compares our practice with an agreed standard. Quality improvement (QI) changes a local process step by step, usually in Plan-Do-Study-Act (PDSA) cycles.</a:t>
            </a:r>
          </a:p>
          <a:p>
            <a:r>
              <a:rPr lang="en-US" sz="1400" b="0" dirty="0"/>
              <a:t>Why it matters: research always needs ethics committee approval before it starts. Audit and QI usually need local approval only. But if a project randomises patients, adds a new intervention or risk, or collects data beyond routine care, it is research and needs ethics review.</a:t>
            </a:r>
          </a:p>
          <a:p>
            <a:r>
              <a:rPr lang="en-US" sz="1400" b="0" dirty="0"/>
              <a:t>Publishing does not change what a project was. Journals ask for ethics approval or a formal waiver, so decide (and ask) at the start, not after the data are collected.</a:t>
            </a:r>
          </a:p>
          <a:p>
            <a:r>
              <a:rPr lang="en-US" sz="1400" b="0" dirty="0"/>
              <a:t>Misconception: 'audit and QI are lesser research'. They answer different questions and are essential; many good research questions start from an audit result.</a:t>
            </a:r>
          </a:p>
          <a:p>
            <a:r>
              <a:rPr lang="en-US" sz="1400" b="0" dirty="0"/>
              <a:t>Ask the room: 'Checking whether fluid balance is recorded daily as our protocol says: research, audit or QI?' Expected answer: audit.</a:t>
            </a:r>
          </a:p>
          <a:p>
            <a:r>
              <a:rPr lang="en-US" sz="1400" b="0" dirty="0"/>
              <a:t>Note: rules differ between institutions. Tell participants to check the local policy and, if in doubt, ask the ethics committee.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item; the room shows 1, 2 or 3 fingers.</a:t>
            </a:r>
          </a:p>
          <a:p>
            <a:r>
              <a:rPr lang="en-US" sz="1400" b="0" dirty="0"/>
              <a:t>Answers (next slide): A audit; B research (ethics committee + registration); C quality improvement; D research (qualitative, ethics committee).</a:t>
            </a:r>
          </a:p>
          <a:p>
            <a:r>
              <a:rPr lang="en-US" sz="1400" b="0" dirty="0"/>
              <a:t>Teaching point: the ethics route depends on WHAT you do, not on whether you plan to publish.</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through the four rows.</a:t>
            </a:r>
          </a:p>
          <a:p>
            <a:r>
              <a:rPr lang="en-US" sz="1400" b="0" dirty="0"/>
              <a:t>Common confusion: D feels like 'just talking to colleagues', but systematic interviews with recordings and analysis are research and need consent and ethics approval.</a:t>
            </a:r>
          </a:p>
          <a:p>
            <a:r>
              <a:rPr lang="en-US" sz="1400" b="0" dirty="0"/>
              <a:t>Misconception: 'if we only publish it later, we can get approval later'. Journals ask for approval or a formal waiver, and retrospective approval is often refused.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Eleven stops from question to impact. The colours show which weeks of the course teach each stop.</a:t>
            </a:r>
          </a:p>
          <a:p>
            <a:r>
              <a:rPr lang="en-US" sz="1400" b="0" dirty="0"/>
              <a:t>Stops 1-6 are planning and doing: question, design and protocol, registration (trials must be registered BEFORE the first patient: Paper 1 was registered in July 2021 and recruitment began in September 2021), ethics approval, data collection, analysis.</a:t>
            </a:r>
          </a:p>
          <a:p>
            <a:r>
              <a:rPr lang="en-US" sz="1400" b="0" dirty="0"/>
              <a:t>Stops 7-11 are publishing: writing, submission, peer review, publication and impact on patients. The road usually takes one to three years; many good studies stall at stop 7.</a:t>
            </a:r>
          </a:p>
          <a:p>
            <a:r>
              <a:rPr lang="en-US" sz="1400" b="0" dirty="0"/>
              <a:t>Teaching point: every stop depends on stop 1. A vague question produces a weak protocol, an unanswerable analysis and a paper that is hard to publish.</a:t>
            </a:r>
          </a:p>
          <a:p>
            <a:r>
              <a:rPr lang="en-US" sz="1400" b="0" dirty="0"/>
              <a:t>Misconception: 'publication is the end'. The point is impact: a changed guideline, protocol or practice.</a:t>
            </a:r>
          </a:p>
          <a:p>
            <a:r>
              <a:rPr lang="en-US" sz="1400" b="0" dirty="0"/>
              <a:t>Ask the room: 'At which stop do you think most hospital studies get stuck?' Expected answers: ethics paperwork, data collection, or writing (stop 7). We will tackle each one.</a:t>
            </a:r>
          </a:p>
          <a:p>
            <a:r>
              <a:rPr lang="en-US" sz="1400" b="0" dirty="0"/>
              <a:t>Timing: 3 minutes. Segment 1.1 ends at 1:10, then the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(1:10-1:25).</a:t>
            </a:r>
          </a:p>
          <a:p>
            <a:r>
              <a:rPr lang="en-US" sz="1400" b="0" dirty="0"/>
              <a:t>During the break: put the Session 1 exercise sheets on the tables and write the pair-task scenarios on the flip chart.</a:t>
            </a:r>
          </a:p>
          <a:p>
            <a:r>
              <a:rPr lang="en-US" sz="1400" b="0" dirty="0"/>
              <a:t>Restart on time and say clearly what time you will begin again.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1.2 (1:25-2:05).</a:t>
            </a:r>
          </a:p>
          <a:p>
            <a:r>
              <a:rPr lang="en-US" sz="1400" b="0" dirty="0"/>
              <a:t>Teaching point: a vague clinical worry ('are fluids bad?') must be turned into a precise, answerable question before anything else can happen.</a:t>
            </a:r>
          </a:p>
          <a:p>
            <a:r>
              <a:rPr lang="en-US" sz="1400" b="0" dirty="0"/>
              <a:t>We will build PICO slowly with several examples (ICU and ward) before you practise in pairs.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Six common sources of good questions, all from daily work.</a:t>
            </a:r>
          </a:p>
          <a:p>
            <a:r>
              <a:rPr lang="en-US" sz="1400" b="0" dirty="0"/>
              <a:t>The orange box is the key decision: before calling something research, check whether the answer already exists. If it does, the job is implementation: a guideline, an audit or a QI project (segment 1.1).</a:t>
            </a:r>
          </a:p>
          <a:p>
            <a:r>
              <a:rPr lang="en-US" sz="1400" b="0" dirty="0"/>
              <a:t>Teaching point: 'how we find out' is the literature search, covered next Saturday in Session 2.</a:t>
            </a:r>
          </a:p>
          <a:p>
            <a:r>
              <a:rPr lang="en-US" sz="1400" b="0" dirty="0"/>
              <a:t>Ask the room: 'Name one thing in your unit that colleagues do differently.' Expected: sedation targets, fluid volumes, dressing changes, mobilisation timing. Write them on the flip chart. They are candidate topics for the proposals.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PICO = Population, Intervention, Comparison, Outcome. The T (Time) states when the outcome is measured.</a:t>
            </a:r>
          </a:p>
          <a:p>
            <a:r>
              <a:rPr lang="en-US" sz="1400" b="0" dirty="0"/>
              <a:t>Read the five boxes, then the full sentence at the bottom. This is the running example for the whole course.</a:t>
            </a:r>
          </a:p>
          <a:p>
            <a:r>
              <a:rPr lang="en-US" sz="1400" b="0" dirty="0"/>
              <a:t>Teaching point: each letter forces a decision. Which patients exactly? Restrictive how? Compared with what? Which outcome, measured when?</a:t>
            </a:r>
          </a:p>
          <a:p>
            <a:r>
              <a:rPr lang="en-US" sz="1400" b="0" dirty="0"/>
              <a:t>Variants: for observational questions I becomes E (exposure), e.g. 'a positive fluid balance' (PECO). Descriptive questions may only need P and O.</a:t>
            </a:r>
          </a:p>
          <a:p>
            <a:r>
              <a:rPr lang="en-US" sz="1400" b="0" dirty="0"/>
              <a:t>Misconception: 'the comparison is obvious'. Usual care varies between hospitals and over time, so it must be described.</a:t>
            </a:r>
          </a:p>
          <a:p>
            <a:r>
              <a:rPr lang="en-US" sz="1400" b="0" dirty="0"/>
              <a:t>Ask the room: 'Is 28-day mortality the only sensible outcome?' Expected: 90-day mortality, days alive without life support, kidney injury needing dialysis, fluid balance. The large trials used 90-day mortality.</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examples that are NOT about fluids, so every profession sees itself.</a:t>
            </a:r>
          </a:p>
          <a:p>
            <a:r>
              <a:rPr lang="en-US" sz="1400" b="0" dirty="0"/>
              <a:t>Row 1, treatment (PICO): ventilated adults; a twice-daily bed-head checklist vs usual care; ventilator-associated pneumonia by ICU day 28.</a:t>
            </a:r>
          </a:p>
          <a:p>
            <a:r>
              <a:rPr lang="en-US" sz="1400" b="0" dirty="0"/>
              <a:t>Row 2, risk factor (PECO): we cannot assign obesity, so I becomes E (exposure). Adults on the medical ward; obese vs not; new pressure injury during admission.</a:t>
            </a:r>
          </a:p>
          <a:p>
            <a:r>
              <a:rPr lang="en-US" sz="1400" b="0" dirty="0"/>
              <a:t>Row 3, how common? Only P and O (and T): adults 65 and over after hip-fracture surgery; delirium screened with the 4AT in the first 7 days.</a:t>
            </a:r>
          </a:p>
          <a:p>
            <a:r>
              <a:rPr lang="en-US" sz="1400" b="0" dirty="0"/>
              <a:t>Teaching point: the boxes you fill already tell you the type of question, and later the design.</a:t>
            </a:r>
          </a:p>
          <a:p>
            <a:r>
              <a:rPr lang="en-US" sz="1400" b="0" dirty="0"/>
              <a:t>Ask the room: 'Give me a PECO question from pharmacy.' Expected example: in ICU adults, is polypharmacy (10+ drugs) vs fewer associated with delirium?</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the room 2 minutes in silence, then 1 minute to compare.</a:t>
            </a:r>
          </a:p>
          <a:p>
            <a:r>
              <a:rPr lang="en-US" sz="1400" b="0" dirty="0"/>
              <a:t>Answer (next slide): P adults 65+ after hip-fracture surgery; I daily non-drug delirium bundle; C usual care; O delirium; T first 7 postoperative days.</a:t>
            </a:r>
          </a:p>
          <a:p>
            <a:r>
              <a:rPr lang="en-US" sz="1400" b="0" dirty="0"/>
              <a:t>Watch for people labelling 'hip fracture' as the outcome. It is part of the population.</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Reveal and ask how many got all five.</a:t>
            </a:r>
          </a:p>
          <a:p>
            <a:r>
              <a:rPr lang="en-US" sz="1400" b="0" dirty="0"/>
              <a:t>Teaching point: the outcome must be something that can happen AFTER the intervention starts. Hip fracture has already happened: it defines who is eligible.</a:t>
            </a:r>
          </a:p>
          <a:p>
            <a:r>
              <a:rPr lang="en-US" sz="1400" b="0" dirty="0"/>
              <a:t>Extra question for fast rooms: 'How would you measure delirium?' Expected: a validated screening tool (e.g. 4AT or CAM) at the same time each day.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Descriptive: what, how many, who. No comparison group is needed.</a:t>
            </a:r>
          </a:p>
          <a:p>
            <a:r>
              <a:rPr lang="en-US" sz="1400" b="0" dirty="0"/>
              <a:t>Analytical: is X linked to Y (observational: we watch), or does X cause Y (experimental: we assign X).</a:t>
            </a:r>
          </a:p>
          <a:p>
            <a:r>
              <a:rPr lang="en-US" sz="1400" b="0" dirty="0"/>
              <a:t>Teaching point: the verbs give it away. 'How many' is descriptive; 'is associated with' is observational; 'does it reduce' implies an experiment.</a:t>
            </a:r>
          </a:p>
          <a:p>
            <a:r>
              <a:rPr lang="en-US" sz="1400" b="0" dirty="0"/>
              <a:t>Misconception: 'descriptive studies are not real research'. They often come first and show that the problem exists.</a:t>
            </a:r>
          </a:p>
          <a:p>
            <a:r>
              <a:rPr lang="en-US" sz="1400" b="0" dirty="0"/>
              <a:t>Ask the room: 'Paper 2 (Hyun): which box?' Expected: analytical, observational (cohort).</a:t>
            </a:r>
          </a:p>
          <a:p>
            <a:r>
              <a:rPr lang="en-US" sz="1400" b="0" dirty="0"/>
              <a:t>Timing: 3 minutes. The full design menu is Session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the question we ask in the corridor: every word is undefined. Right: the same worry written with PICO(T).</a:t>
            </a:r>
          </a:p>
          <a:p>
            <a:r>
              <a:rPr lang="en-US" sz="1400" b="0" dirty="0"/>
              <a:t>Teaching point: a researchable question is specific, has one primary outcome, and implies the design.</a:t>
            </a:r>
          </a:p>
          <a:p>
            <a:r>
              <a:rPr lang="en-US" sz="1400" b="0" dirty="0"/>
              <a:t>Misconception: 'a broad question is more important'. Broad questions produce vague answers.</a:t>
            </a:r>
          </a:p>
          <a:p>
            <a:r>
              <a:rPr lang="en-US" sz="1400" b="0" dirty="0"/>
              <a:t>Ask the room: 'Make this answerable: Is hand hygiene good?' Expected direction: in ICU staff (P), does a feedback programme (I) vs no feedback (C) increase hand-hygiene compliance at 3 months (O, 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FINER comes from Hulley and colleagues, Designing Clinical Research.</a:t>
            </a:r>
          </a:p>
          <a:p>
            <a:r>
              <a:rPr lang="en-US" sz="1400" b="0" dirty="0"/>
              <a:t>Feasible fails most often in hospital research: not enough eligible patients, or an outcome that is too rare.</a:t>
            </a:r>
          </a:p>
          <a:p>
            <a:r>
              <a:rPr lang="en-US" sz="1400" b="0" dirty="0"/>
              <a:t>Novel does not mean 'never studied'. Repeating a study in a new setting, or with a better design, can be novel. That is why the literature search matters.</a:t>
            </a:r>
          </a:p>
          <a:p>
            <a:r>
              <a:rPr lang="en-US" sz="1400" b="0" dirty="0"/>
              <a:t>Ethical: is there genuine uncertainty (equipoise) about which option is better?</a:t>
            </a:r>
          </a:p>
          <a:p>
            <a:r>
              <a:rPr lang="en-US" sz="1400" b="0" dirty="0"/>
              <a:t>Ask the room: 'Which letter does our running example fail?' Let them guess. The next slide answers.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is red: to show a few percentage points difference in mortality you need well over a thousand patients. CLASSIC randomised 1,554; CLOVERS (NEJM 2023) 1,563. One ICU cannot do this.</a:t>
            </a:r>
          </a:p>
          <a:p>
            <a:r>
              <a:rPr lang="en-US" sz="1400" b="0" dirty="0"/>
              <a:t>N is amber: large trials already exist and neither found a mortality difference.</a:t>
            </a:r>
          </a:p>
          <a:p>
            <a:r>
              <a:rPr lang="en-US" sz="1400" b="0" dirty="0"/>
              <a:t>E is amber: both strategies are used in practice so equipoise exists, but consent in septic shock is difficult (Session 7).</a:t>
            </a:r>
          </a:p>
          <a:p>
            <a:r>
              <a:rPr lang="en-US" sz="1400" b="0" dirty="0"/>
              <a:t>How to rescue it: change the outcome (fluid balance at day 5, as Paper 1 did), make it a feasibility pilot, or ask a descriptive question about our own practice.</a:t>
            </a:r>
          </a:p>
          <a:p>
            <a:r>
              <a:rPr lang="en-US" sz="1400" b="0" dirty="0"/>
              <a:t>Misconception: 'a failed FINER check means a bad idea'. It means the idea needs reshaping, which is normal and expected.</a:t>
            </a:r>
          </a:p>
          <a:p>
            <a:r>
              <a:rPr lang="en-US" sz="1400" b="0" dirty="0"/>
              <a:t>Ask the room: 'Suggest a feasible version for our unit.' Expected: a descriptive audit-style question, or a pilot like Paper 1.</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Pairs: one person from each profession where possible.</a:t>
            </a:r>
          </a:p>
          <a:p>
            <a:r>
              <a:rPr lang="en-US" sz="1400" b="0" dirty="0"/>
              <a:t>Facilitation: circulate with the 'what good looks like' box from Course/Solutions/s1_solutions.md. Commonest problems: a missing comparison, an outcome without a time point, two outcomes squeezed into one question.</a:t>
            </a:r>
          </a:p>
          <a:p>
            <a:r>
              <a:rPr lang="en-US" sz="1400" b="0" dirty="0"/>
              <a:t>At 8 minutes call time. Take three pairs to read their question aloud; ask the room to name each PICO letter and 'which FINER letter worries you?'.</a:t>
            </a:r>
          </a:p>
          <a:p>
            <a:r>
              <a:rPr lang="en-US" sz="1400" b="0" dirty="0"/>
              <a:t>Pressure-injury pairs often discover their first question should be descriptive. Praise this explicitly.</a:t>
            </a:r>
          </a:p>
          <a:p>
            <a:r>
              <a:rPr lang="en-US" sz="1400" b="0" dirty="0"/>
              <a:t>Timing: 8 minutes work + 3 minutes debrief. Segment 1.3 starts at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1.3 (2:05-2:25).</a:t>
            </a:r>
          </a:p>
          <a:p>
            <a:r>
              <a:rPr lang="en-US" sz="1400" b="0" dirty="0"/>
              <a:t>Teaching point: the aim, objectives and hypothesis are the question written as a plan. Ethics committees and grant reviewers read them first.</a:t>
            </a:r>
          </a:p>
          <a:p>
            <a:r>
              <a:rPr lang="en-US" sz="1400" b="0" dirty="0"/>
              <a:t>Keep it concrete: every example uses the running example or the pair-task scenarios.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Aim = the broad purpose in one sentence ('To compare...', 'To describe...').</a:t>
            </a:r>
          </a:p>
          <a:p>
            <a:r>
              <a:rPr lang="en-US" sz="1400" b="0" dirty="0"/>
              <a:t>Objectives = specific, measurable steps. Use measurable verbs: compare, estimate, describe, determine. Avoid 'understand', 'explore', 'study'.</a:t>
            </a:r>
          </a:p>
          <a:p>
            <a:r>
              <a:rPr lang="en-US" sz="1400" b="0" dirty="0"/>
              <a:t>Mark the primary objective: it drives the sample size (Session 6).</a:t>
            </a:r>
          </a:p>
          <a:p>
            <a:r>
              <a:rPr lang="en-US" sz="1400" b="0" dirty="0"/>
              <a:t>Hypothesis = the predicted answer to the main analytical objective, stated so data can reject it.</a:t>
            </a:r>
          </a:p>
          <a:p>
            <a:r>
              <a:rPr lang="en-US" sz="1400" b="0" dirty="0"/>
              <a:t>Misconception: 'every study needs a hypothesis'. Purely descriptive studies estimate; they do not test a hypothesis.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verbs that describe a wish, not an action you can check. Right: verbs that point to something you can count or measure.</a:t>
            </a:r>
          </a:p>
          <a:p>
            <a:r>
              <a:rPr lang="en-US" sz="1400" b="0" dirty="0"/>
              <a:t>Bottom: the same idea rewritten. 'To understand fluid management' cannot be finished or checked; 'to compare cumulative fluid balance at day 5 between groups' tells us the outcome, the time and the comparison.</a:t>
            </a:r>
          </a:p>
          <a:p>
            <a:r>
              <a:rPr lang="en-US" sz="1400" b="0" dirty="0"/>
              <a:t>Teaching point: each objective should match one outcome and, later, one analysis (Session 6).</a:t>
            </a:r>
          </a:p>
          <a:p>
            <a:r>
              <a:rPr lang="en-US" sz="1400" b="0" dirty="0"/>
              <a:t>Misconception: 'more objectives make a stronger proposal'. Two or three focused objectives are better than eight vague ones.</a:t>
            </a:r>
          </a:p>
          <a:p>
            <a:r>
              <a:rPr lang="en-US" sz="1400" b="0" dirty="0"/>
              <a:t>Ask the room: 'Rewrite: to study delirium in our ward.' Expected: to estimate the proportion of patients aged 65+ who develop delirium in the first 7 days after hip-fracture surgery.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H0, the null hypothesis: no difference. H1, the alternative: a difference.</a:t>
            </a:r>
          </a:p>
          <a:p>
            <a:r>
              <a:rPr lang="en-US" sz="1400" b="0" dirty="0"/>
              <a:t>Analogy: a court assumes 'not guilty' (H0) until the evidence is strong enough. 'Not guilty' is not 'innocent', and 'no significant difference' is not 'no difference'.</a:t>
            </a:r>
          </a:p>
          <a:p>
            <a:r>
              <a:rPr lang="en-US" sz="1400" b="0" dirty="0"/>
              <a:t>H1 is usually two-sided, even when we expect benefit, because restriction could also harm.</a:t>
            </a:r>
          </a:p>
          <a:p>
            <a:r>
              <a:rPr lang="en-US" sz="1400" b="0" dirty="0"/>
              <a:t>Misconception: 'p &gt; 0.05 proves the treatments are equal'. Small studies like Paper 1 (48 patients) often cannot detect real differences. P-values are Session 6.</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Individual, 5 minutes writing + 2 minutes swapping.</a:t>
            </a:r>
          </a:p>
          <a:p>
            <a:r>
              <a:rPr lang="en-US" sz="1400" b="0" dirty="0"/>
              <a:t>Circulate and look for 'understand/know/study', objectives with no time point, and hypotheses about an outcome that is not in the objectives.</a:t>
            </a:r>
          </a:p>
          <a:p>
            <a:r>
              <a:rPr lang="en-US" sz="1400" b="0" dirty="0"/>
              <a:t>Model answers for the delirium example are on the next slide and in Course/Solutions/s1_solutions.md.</a:t>
            </a:r>
          </a:p>
          <a:p>
            <a:r>
              <a:rPr lang="en-US" sz="1400" b="0" dirty="0"/>
              <a:t>Timing: 7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cards.</a:t>
            </a:r>
          </a:p>
          <a:p>
            <a:r>
              <a:rPr lang="en-US" sz="1400" b="0" dirty="0"/>
              <a:t>Check the chain: the question's O (delirium in 7 days) = the primary objective = the outcome in H0/H1. If any of these differ, the proposal is inconsistent, and reviewers spot this immediately.</a:t>
            </a:r>
          </a:p>
          <a:p>
            <a:r>
              <a:rPr lang="en-US" sz="1400" b="0" dirty="0"/>
              <a:t>A descriptive version needs no hypothesis: 'To estimate the proportion of patients aged 65+ who develop delirium in the first 7 days after hip-fracture surgery.'</a:t>
            </a:r>
          </a:p>
          <a:p>
            <a:r>
              <a:rPr lang="en-US" sz="1400" b="0" dirty="0"/>
              <a:t>Timing: 3 minutes. Segment 1.3 ends at 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PROPOSAL BUILDER 1 (2:25-2:55).</a:t>
            </a:r>
          </a:p>
          <a:p>
            <a:r>
              <a:rPr lang="en-US" sz="1400" b="0" dirty="0"/>
              <a:t>Teaching point: everything taught today is now applied to the group's own topic. By 2:55 each group has a PICO question that passes FINER, an aim and 2-3 objectives in the proposal template.</a:t>
            </a:r>
          </a:p>
          <a:p>
            <a:r>
              <a:rPr lang="en-US" sz="1400" b="0" dirty="0"/>
              <a:t>Groups choose ONE problem. If a group cannot agree in 5 minutes, give them the running example or a secondary example (VAP, pressure injuries, hand hygiene, door-to-needle time, delirium, medication errors).</a:t>
            </a:r>
          </a:p>
          <a:p>
            <a:r>
              <a:rPr lang="en-US" sz="1400" b="0" dirty="0"/>
              <a:t>The search, the 5 references, the problem statement and the working title are next Saturday (Proposal builder 2).</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Groups of about 6, mixed professions. Suggested roles: chair, scribe (types into the template), timekeeper, and a 'devil's advocate' who checks FINER.</a:t>
            </a:r>
          </a:p>
          <a:p>
            <a:r>
              <a:rPr lang="en-US" sz="1400" b="0" dirty="0"/>
              <a:t>Trainers circulate. Spend the first 7 minutes making sure every group has ONE focused problem. This is where groups get stuck.</a:t>
            </a:r>
          </a:p>
          <a:p>
            <a:r>
              <a:rPr lang="en-US" sz="1400" b="0" dirty="0"/>
              <a:t>Check each group's question against PICO and FINER before they write objectives. A red F is the commonest problem. Help them shrink the outcome, shorten the time frame or turn it into a descriptive question or pilot.</a:t>
            </a:r>
          </a:p>
          <a:p>
            <a:r>
              <a:rPr lang="en-US" sz="1400" b="0" dirty="0"/>
              <a:t>Second visit: does the primary objective name the same outcome as the question? Is the approval route (research / audit / QI) written down?</a:t>
            </a:r>
          </a:p>
          <a:p>
            <a:r>
              <a:rPr lang="en-US" sz="1400" b="0" dirty="0"/>
              <a:t>At 2:50 (minute 25), stop the work; one group reads its question and aim aloud; invite one improvement from the room.</a:t>
            </a:r>
          </a:p>
          <a:p>
            <a:r>
              <a:rPr lang="en-US" sz="1400" b="0" dirty="0"/>
              <a:t>What good looks like: Course/Solutions/s1_solutions.md (Exercise 4).</a:t>
            </a:r>
          </a:p>
          <a:p>
            <a:r>
              <a:rPr lang="en-US" sz="1400" b="0" dirty="0"/>
              <a:t>Timing: 28 minutes. Wrap-up starts at 2:55.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WRAP-UP (2:55-3:00).</a:t>
            </a:r>
          </a:p>
          <a:p>
            <a:r>
              <a:rPr lang="en-US" sz="1400" b="0" dirty="0"/>
              <a:t>Read the six key words quickly; these are also in the course glossary (EN-VN).</a:t>
            </a:r>
          </a:p>
          <a:p>
            <a:r>
              <a:rPr lang="en-US" sz="1400" b="0" dirty="0"/>
              <a:t>Ask one participant to explain PICO in their own words.</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messages.</a:t>
            </a:r>
          </a:p>
          <a:p>
            <a:r>
              <a:rPr lang="en-US" sz="1400" b="0" dirty="0"/>
              <a:t>Link forward: next Saturday (Session 2) we search PubMed for each group's question, manage references, and learn to read a paper in 15 minutes.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Feasible: a mortality outcome needs well over a thousand patients. 2. For example, 'To estimate the incidence of new stage 2+ pressure injuries among adults on our ward over 6 months'.</a:t>
            </a:r>
          </a:p>
          <a:p>
            <a:r>
              <a:rPr lang="en-US" sz="1400" b="0" dirty="0"/>
              <a:t>Read the notes during the week. If many still use vague verbs, open Session 2 with one extra minute on objectives.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Keep it light: about 30 minutes during the week.</a:t>
            </a:r>
          </a:p>
          <a:p>
            <a:r>
              <a:rPr lang="en-US" sz="1400" b="0" dirty="0"/>
              <a:t>The synonym list makes next Saturday's PubMed search much faster, because PubMed searches in English.</a:t>
            </a:r>
          </a:p>
          <a:p>
            <a:r>
              <a:rPr lang="en-US" sz="1400" b="0" dirty="0"/>
              <a:t>The 'local number' becomes paragraph 3 of the problem statement next Saturday.</a:t>
            </a:r>
          </a:p>
          <a:p>
            <a:r>
              <a:rPr lang="en-US" sz="1400" b="0" dirty="0"/>
              <a:t>Close on time. Thank the room.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(Session 1).</a:t>
            </a:r>
          </a:p>
          <a:p>
            <a:r>
              <a:rPr lang="en-US" sz="1400" b="0" dirty="0"/>
              <a:t>Everything after this slide is optional. Use it if the room is fast, if a group asks, or point participants to it for self-study.</a:t>
            </a:r>
          </a:p>
          <a:p>
            <a:r>
              <a:rPr lang="en-US" sz="1400" b="0" dirty="0"/>
              <a:t>The core session is complete without these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diagnosis, prognosis and qualitative question frameworks.</a:t>
            </a:r>
          </a:p>
          <a:p>
            <a:r>
              <a:rPr lang="en-US" sz="1400" b="0" dirty="0"/>
              <a:t>Diagnostic questions: the index test is I, the reference standard is C, the outcome is accuracy (sensitivity and specificity, Session 4).</a:t>
            </a:r>
          </a:p>
          <a:p>
            <a:r>
              <a:rPr lang="en-US" sz="1400" b="0" dirty="0"/>
              <a:t>Prognosis: often PECO plus a time frame.</a:t>
            </a:r>
          </a:p>
          <a:p>
            <a:r>
              <a:rPr lang="en-US" sz="1400" b="0" dirty="0"/>
              <a:t>Qualitative questions often use SPIDER (Cooke and colleagues, 2012): Sample, Phenomenon of Interest, Design, Evaluation, Research type.</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one- vs two-sided hypotheses.</a:t>
            </a:r>
          </a:p>
          <a:p>
            <a:r>
              <a:rPr lang="en-US" sz="1400" b="0" dirty="0"/>
              <a:t>Two-sided hypotheses are the default in clinical research because a new intervention can harm as well as help.</a:t>
            </a:r>
          </a:p>
          <a:p>
            <a:r>
              <a:rPr lang="en-US" sz="1400" b="0" dirty="0"/>
              <a:t>One-sided tests must be pre-specified and justified; reviewers are suspicious of them.</a:t>
            </a:r>
          </a:p>
          <a:p>
            <a:r>
              <a:rPr lang="en-US" sz="1400" b="0" dirty="0"/>
              <a:t>Non-inferiority questions (is a cheaper or simpler option not much worse?) have their own design (Session 3).</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extra FINER practice.</a:t>
            </a:r>
          </a:p>
          <a:p>
            <a:r>
              <a:rPr lang="en-US" sz="1400" b="0" dirty="0"/>
              <a:t>Answers: 1 Feasible (huge, long, expensive; large vitamin D trials also exist, so Novel too). 2 Ethical (withholding antibiotics in septic shock causes harm, so there is no equipoise). 3 Novel (the answer is already measured: an audit question). 4 Relevant (no plausible mechanism, no impact on practice).</a:t>
            </a:r>
          </a:p>
          <a:p>
            <a:r>
              <a:rPr lang="en-US" sz="1400" b="0" dirty="0"/>
              <a:t>Also in Exercise 2 Part B of the participant sheet.</a:t>
            </a:r>
          </a:p>
          <a:p>
            <a:r>
              <a:rPr lang="en-US" sz="1400" b="0" dirty="0"/>
              <a:t>Timing: 4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more vague-to-answerable practice with a ward example.</a:t>
            </a:r>
          </a:p>
          <a:p>
            <a:r>
              <a:rPr lang="en-US" sz="1400" b="0" dirty="0"/>
              <a:t>Use this slide again with a ward example if the room needs more practice.</a:t>
            </a:r>
          </a:p>
          <a:p>
            <a:r>
              <a:rPr lang="en-US" sz="1400" b="0" dirty="0"/>
              <a:t>Ask: 'Make this answerable: Do night shifts cause medication errors?' Expected direction: in ward nurses (P), are night shifts (E) compared with day shifts (C) associated with more medication administration errors per 1,000 doses (O) over 6 months (T)?</a:t>
            </a:r>
          </a:p>
          <a:p>
            <a:r>
              <a:rPr lang="en-US" sz="1400" b="0" dirty="0"/>
              <a:t>Point out that this becomes a PECO (observational) question because we cannot randomise nurses to night shifts easily.</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3.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4.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7.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8.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9.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2.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7.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8.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9.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0.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1.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22.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18.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Foundations of Clinical Research</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Level 1: From Clinical Question to Publication</a:t>
            </a:r>
          </a:p>
          <a:p>
            <a:pPr marL="0" indent="0" algn="ctr">
              <a:spcBef>
                <a:spcPts val="440"/>
              </a:spcBef>
              <a:buNone/>
            </a:pPr>
            <a:r>
              <a:rPr lang="en-US" sz="2000" dirty="0">
                <a:solidFill>
                  <a:srgbClr val="000000"/>
                </a:solidFill>
                <a:latin typeface="Arial"/>
                <a:cs typeface="Arial"/>
              </a:rPr>
              <a:t>8 Saturdays, one session per week, 24 contact hours</a:t>
            </a:r>
          </a:p>
          <a:p>
            <a:pPr marL="0" indent="0" algn="ctr">
              <a:spcBef>
                <a:spcPts val="440"/>
              </a:spcBef>
              <a:buNone/>
            </a:pPr>
            <a:r>
              <a:rPr lang="en-US" sz="2000" dirty="0">
                <a:solidFill>
                  <a:srgbClr val="000000"/>
                </a:solidFill>
                <a:latin typeface="Arial"/>
                <a:cs typeface="Arial"/>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Date: [dd/mm/yyyy]</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Every day you make decisions that research could improve.</a:t>
            </a:r>
          </a:p>
          <a:p>
            <a:pPr marL="0" indent="0" algn="ctr">
              <a:spcBef>
                <a:spcPts val="1200"/>
              </a:spcBef>
              <a:buNone/>
            </a:pPr>
            <a:r>
              <a:rPr lang="en-US" sz="1900" i="1" dirty="0">
                <a:solidFill>
                  <a:srgbClr val="595959"/>
                </a:solidFill>
                <a:latin typeface="Arial"/>
                <a:cs typeface="Arial"/>
              </a:rPr>
              <a:t>This course helps you ask those questions properly, answer them and publish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Eight Saturdays,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This course is Level 1 of three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Level 1 is this course, Level 2 is hands-on analysis in R, Level 3 is advanced methods.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things your group will produce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By the end of the course you will be able to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ASK &amp; FIND</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Turn a problem into a PICO question</a:t>
            </a:r>
          </a:p>
          <a:p>
            <a:pPr marL="0" indent="0" algn="l">
              <a:lnSpc>
                <a:spcPct val="104000"/>
              </a:lnSpc>
              <a:spcBef>
                <a:spcPts val="400"/>
              </a:spcBef>
              <a:buNone/>
            </a:pPr>
            <a:r>
              <a:rPr lang="en-US" sz="1600" dirty="0">
                <a:solidFill>
                  <a:srgbClr val="000000"/>
                </a:solidFill>
                <a:latin typeface="Arial"/>
                <a:cs typeface="Arial"/>
              </a:rPr>
              <a:t>Search PubMed, manage references</a:t>
            </a:r>
          </a:p>
          <a:p>
            <a:pPr marL="0" indent="0" algn="l">
              <a:lnSpc>
                <a:spcPct val="104000"/>
              </a:lnSpc>
              <a:spcBef>
                <a:spcPts val="400"/>
              </a:spcBef>
              <a:buNone/>
            </a:pPr>
            <a:r>
              <a:rPr lang="en-US" sz="1600" dirty="0">
                <a:solidFill>
                  <a:srgbClr val="000000"/>
                </a:solidFill>
                <a:latin typeface="Arial"/>
                <a:cs typeface="Arial"/>
              </a:rPr>
              <a:t>Read a paper in 15 minutes</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DESIGN</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Pick the right study design</a:t>
            </a:r>
          </a:p>
          <a:p>
            <a:pPr marL="0" indent="0" algn="l">
              <a:lnSpc>
                <a:spcPct val="104000"/>
              </a:lnSpc>
              <a:spcBef>
                <a:spcPts val="400"/>
              </a:spcBef>
              <a:buNone/>
            </a:pPr>
            <a:r>
              <a:rPr lang="en-US" sz="1600" dirty="0">
                <a:solidFill>
                  <a:srgbClr val="000000"/>
                </a:solidFill>
                <a:latin typeface="Arial"/>
                <a:cs typeface="Arial"/>
              </a:rPr>
              <a:t>Recognise bias and confounding</a:t>
            </a:r>
          </a:p>
          <a:p>
            <a:pPr marL="0" indent="0" algn="l">
              <a:lnSpc>
                <a:spcPct val="104000"/>
              </a:lnSpc>
              <a:spcBef>
                <a:spcPts val="400"/>
              </a:spcBef>
              <a:buNone/>
            </a:pPr>
            <a:r>
              <a:rPr lang="en-US" sz="1600" dirty="0">
                <a:solidFill>
                  <a:srgbClr val="000000"/>
                </a:solidFill>
                <a:latin typeface="Arial"/>
                <a:cs typeface="Arial"/>
              </a:rPr>
              <a:t>Read RR, OR, NNT and forest plots</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ANALYSE</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Plan good data and a CRF</a:t>
            </a:r>
          </a:p>
          <a:p>
            <a:pPr marL="0" indent="0" algn="l">
              <a:lnSpc>
                <a:spcPct val="104000"/>
              </a:lnSpc>
              <a:spcBef>
                <a:spcPts val="400"/>
              </a:spcBef>
              <a:buNone/>
            </a:pPr>
            <a:r>
              <a:rPr lang="en-US" sz="1600" dirty="0">
                <a:solidFill>
                  <a:srgbClr val="000000"/>
                </a:solidFill>
                <a:latin typeface="Arial"/>
                <a:cs typeface="Arial"/>
              </a:rPr>
              <a:t>Read CIs, p-values, regression</a:t>
            </a:r>
          </a:p>
          <a:p>
            <a:pPr marL="0" indent="0" algn="l">
              <a:lnSpc>
                <a:spcPct val="104000"/>
              </a:lnSpc>
              <a:spcBef>
                <a:spcPts val="400"/>
              </a:spcBef>
              <a:buNone/>
            </a:pPr>
            <a:r>
              <a:rPr lang="en-US" sz="1600" dirty="0">
                <a:solidFill>
                  <a:srgbClr val="000000"/>
                </a:solidFill>
                <a:latin typeface="Arial"/>
                <a:cs typeface="Arial"/>
              </a:rPr>
              <a:t>Interpret a real dataset's results</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WRITE &amp; PUBLISH</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Plan ethics and registration</a:t>
            </a:r>
          </a:p>
          <a:p>
            <a:pPr marL="0" indent="0" algn="l">
              <a:lnSpc>
                <a:spcPct val="104000"/>
              </a:lnSpc>
              <a:spcBef>
                <a:spcPts val="400"/>
              </a:spcBef>
              <a:buNone/>
            </a:pPr>
            <a:r>
              <a:rPr lang="en-US" sz="1600" dirty="0">
                <a:solidFill>
                  <a:srgbClr val="000000"/>
                </a:solidFill>
                <a:latin typeface="Arial"/>
                <a:cs typeface="Arial"/>
              </a:rPr>
              <a:t>Write each section of a paper</a:t>
            </a:r>
          </a:p>
          <a:p>
            <a:pPr marL="0" indent="0" algn="l">
              <a:lnSpc>
                <a:spcPct val="104000"/>
              </a:lnSpc>
              <a:spcBef>
                <a:spcPts val="400"/>
              </a:spcBef>
              <a:buNone/>
            </a:pPr>
            <a:r>
              <a:rPr lang="en-US" sz="1600" dirty="0">
                <a:solidFill>
                  <a:srgbClr val="000000"/>
                </a:solidFill>
                <a:latin typeface="Arial"/>
                <a:cs typeface="Arial"/>
              </a:rPr>
              <a:t>Submit and answer reviewers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Understand and interpret: you will not be asked to calculate.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each session runs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3947159"/>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Build the proposal one part at a time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Same group, same template, one part every two weeks, presented in Session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Meet your group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GROUP WORK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Sit with your group (5 groups of about 6, mixed professions)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Introduce yourselves: name, unit, one question you wish research could answer</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Agree the roles below (they can rotate each week)</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Choose a group name</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Group roles</a:t>
            </a:r>
          </a:p>
          <a:p>
            <a:pPr marL="274320" indent="-274320" algn="l">
              <a:lnSpc>
                <a:spcPct val="104000"/>
              </a:lnSpc>
              <a:spcBef>
                <a:spcPts val="300"/>
              </a:spcBef>
              <a:buFont typeface="Arial"/>
              <a:buChar char="•"/>
            </a:pPr>
            <a:r>
              <a:rPr lang="en-US" sz="1500" dirty="0">
                <a:solidFill>
                  <a:srgbClr val="000000"/>
                </a:solidFill>
                <a:latin typeface="Arial"/>
                <a:cs typeface="Arial"/>
              </a:rPr>
              <a:t>Facilitator: keeps everyone talking</a:t>
            </a:r>
          </a:p>
          <a:p>
            <a:pPr marL="274320" indent="-274320" algn="l">
              <a:lnSpc>
                <a:spcPct val="104000"/>
              </a:lnSpc>
              <a:spcBef>
                <a:spcPts val="300"/>
              </a:spcBef>
              <a:buFont typeface="Arial"/>
              <a:buChar char="•"/>
            </a:pPr>
            <a:r>
              <a:rPr lang="en-US" sz="1500" dirty="0">
                <a:solidFill>
                  <a:srgbClr val="000000"/>
                </a:solidFill>
                <a:latin typeface="Arial"/>
                <a:cs typeface="Arial"/>
              </a:rPr>
              <a:t>Scribe: fills in the template</a:t>
            </a:r>
          </a:p>
          <a:p>
            <a:pPr marL="274320" indent="-274320" algn="l">
              <a:lnSpc>
                <a:spcPct val="104000"/>
              </a:lnSpc>
              <a:spcBef>
                <a:spcPts val="300"/>
              </a:spcBef>
              <a:buFont typeface="Arial"/>
              <a:buChar char="•"/>
            </a:pPr>
            <a:r>
              <a:rPr lang="en-US" sz="1500" dirty="0">
                <a:solidFill>
                  <a:srgbClr val="000000"/>
                </a:solidFill>
                <a:latin typeface="Arial"/>
                <a:cs typeface="Arial"/>
              </a:rPr>
              <a:t>Timekeeper</a:t>
            </a:r>
          </a:p>
          <a:p>
            <a:pPr marL="274320" indent="-274320" algn="l">
              <a:lnSpc>
                <a:spcPct val="104000"/>
              </a:lnSpc>
              <a:spcBef>
                <a:spcPts val="300"/>
              </a:spcBef>
              <a:buFont typeface="Arial"/>
              <a:buChar char="•"/>
            </a:pPr>
            <a:r>
              <a:rPr lang="en-US" sz="1500" dirty="0">
                <a:solidFill>
                  <a:srgbClr val="000000"/>
                </a:solidFill>
                <a:latin typeface="Arial"/>
                <a:cs typeface="Arial"/>
              </a:rPr>
              <a:t>Literature lead</a:t>
            </a:r>
          </a:p>
          <a:p>
            <a:pPr marL="274320" indent="-274320" algn="l">
              <a:lnSpc>
                <a:spcPct val="104000"/>
              </a:lnSpc>
              <a:spcBef>
                <a:spcPts val="300"/>
              </a:spcBef>
              <a:buFont typeface="Arial"/>
              <a:buChar char="•"/>
            </a:pPr>
            <a:r>
              <a:rPr lang="en-US" sz="1500" dirty="0">
                <a:solidFill>
                  <a:srgbClr val="000000"/>
                </a:solidFill>
                <a:latin typeface="Arial"/>
                <a:cs typeface="Arial"/>
              </a:rPr>
              <a:t>Methods &amp; data lead</a:t>
            </a:r>
          </a:p>
          <a:p>
            <a:pPr marL="274320" indent="-274320" algn="l">
              <a:lnSpc>
                <a:spcPct val="104000"/>
              </a:lnSpc>
              <a:spcBef>
                <a:spcPts val="300"/>
              </a:spcBef>
              <a:buFont typeface="Arial"/>
              <a:buChar char="•"/>
            </a:pPr>
            <a:r>
              <a:rPr lang="en-US" sz="1500" dirty="0">
                <a:solidFill>
                  <a:srgbClr val="000000"/>
                </a:solidFill>
                <a:latin typeface="Arial"/>
                <a:cs typeface="Arial"/>
              </a:rPr>
              <a:t>Presenter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OUTPUT   </a:t>
            </a:r>
            <a:r>
              <a:rPr lang="en-US" sz="1500" dirty="0">
                <a:solidFill>
                  <a:srgbClr val="000000"/>
                </a:solidFill>
                <a:latin typeface="Arial"/>
                <a:cs typeface="Arial"/>
              </a:rPr>
              <a:t>Group name + roles written on the group sheet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we learn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99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Ask anything</a:t>
            </a:r>
          </a:p>
        </p:txBody>
      </p:sp>
      <p:sp>
        <p:nvSpPr>
          <p:cNvPr id="71" name="CardBody"/>
          <p:cNvSpPr/>
          <p:nvPr/>
        </p:nvSpPr>
        <p:spPr>
          <a:xfrm>
            <a:off x="4572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There are no silly questions</a:t>
            </a:r>
          </a:p>
          <a:p>
            <a:pPr marL="0" indent="0" algn="l">
              <a:lnSpc>
                <a:spcPct val="104000"/>
              </a:lnSpc>
              <a:spcBef>
                <a:spcPts val="400"/>
              </a:spcBef>
              <a:buNone/>
            </a:pPr>
            <a:r>
              <a:rPr lang="en-US" sz="1600" dirty="0">
                <a:solidFill>
                  <a:srgbClr val="000000"/>
                </a:solidFill>
                <a:latin typeface="Arial"/>
                <a:cs typeface="Arial"/>
              </a:rPr>
              <a:t>If you are lost, others are too</a:t>
            </a:r>
          </a:p>
        </p:txBody>
      </p:sp>
      <p:sp>
        <p:nvSpPr>
          <p:cNvPr id="72" name="CardHead"/>
          <p:cNvSpPr/>
          <p:nvPr/>
        </p:nvSpPr>
        <p:spPr>
          <a:xfrm>
            <a:off x="3326600" y="2099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Go slow</a:t>
            </a:r>
          </a:p>
        </p:txBody>
      </p:sp>
      <p:sp>
        <p:nvSpPr>
          <p:cNvPr id="73" name="CardBody"/>
          <p:cNvSpPr/>
          <p:nvPr/>
        </p:nvSpPr>
        <p:spPr>
          <a:xfrm>
            <a:off x="33266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We check understanding often</a:t>
            </a:r>
          </a:p>
          <a:p>
            <a:pPr marL="0" indent="0" algn="l">
              <a:lnSpc>
                <a:spcPct val="104000"/>
              </a:lnSpc>
              <a:spcBef>
                <a:spcPts val="400"/>
              </a:spcBef>
              <a:buNone/>
            </a:pPr>
            <a:r>
              <a:rPr lang="en-US" sz="1600" dirty="0">
                <a:solidFill>
                  <a:srgbClr val="000000"/>
                </a:solidFill>
                <a:latin typeface="Arial"/>
                <a:cs typeface="Arial"/>
              </a:rPr>
              <a:t>Extra slides only if time allows</a:t>
            </a:r>
          </a:p>
        </p:txBody>
      </p:sp>
      <p:sp>
        <p:nvSpPr>
          <p:cNvPr id="74" name="CardHead"/>
          <p:cNvSpPr/>
          <p:nvPr/>
        </p:nvSpPr>
        <p:spPr>
          <a:xfrm>
            <a:off x="6196000" y="2099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Bring your ward</a:t>
            </a:r>
          </a:p>
        </p:txBody>
      </p:sp>
      <p:sp>
        <p:nvSpPr>
          <p:cNvPr id="75" name="CardBody"/>
          <p:cNvSpPr/>
          <p:nvPr/>
        </p:nvSpPr>
        <p:spPr>
          <a:xfrm>
            <a:off x="61960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Use examples from your own practice</a:t>
            </a:r>
          </a:p>
          <a:p>
            <a:pPr marL="0" indent="0" algn="l">
              <a:lnSpc>
                <a:spcPct val="104000"/>
              </a:lnSpc>
              <a:spcBef>
                <a:spcPts val="400"/>
              </a:spcBef>
              <a:buNone/>
            </a:pPr>
            <a:r>
              <a:rPr lang="en-US" sz="1600" dirty="0">
                <a:solidFill>
                  <a:srgbClr val="000000"/>
                </a:solidFill>
                <a:latin typeface="Arial"/>
                <a:cs typeface="Arial"/>
              </a:rPr>
              <a:t>Your experience is the raw material</a:t>
            </a:r>
          </a:p>
        </p:txBody>
      </p:sp>
      <p:sp>
        <p:nvSpPr>
          <p:cNvPr id="76" name="CardHead"/>
          <p:cNvSpPr/>
          <p:nvPr/>
        </p:nvSpPr>
        <p:spPr>
          <a:xfrm>
            <a:off x="9065400" y="2099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Respect time</a:t>
            </a:r>
          </a:p>
        </p:txBody>
      </p:sp>
      <p:sp>
        <p:nvSpPr>
          <p:cNvPr id="77" name="CardBody"/>
          <p:cNvSpPr/>
          <p:nvPr/>
        </p:nvSpPr>
        <p:spPr>
          <a:xfrm>
            <a:off x="90654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Start and finish on time</a:t>
            </a:r>
          </a:p>
          <a:p>
            <a:pPr marL="0" indent="0" algn="l">
              <a:lnSpc>
                <a:spcPct val="104000"/>
              </a:lnSpc>
              <a:spcBef>
                <a:spcPts val="400"/>
              </a:spcBef>
              <a:buNone/>
            </a:pPr>
            <a:r>
              <a:rPr lang="en-US" sz="1600" dirty="0">
                <a:solidFill>
                  <a:srgbClr val="000000"/>
                </a:solidFill>
                <a:latin typeface="Arial"/>
                <a:cs typeface="Arial"/>
              </a:rPr>
              <a:t>Phones silent, break at the break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Pre-course quiz</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Individual, no discussion, no phones (except for the online form)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24 multiple-choice questions, one answer each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Guess if you are not sure: this is not an exam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Write only your participant number, not your name</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Why a quiz now?</a:t>
            </a:r>
          </a:p>
          <a:p>
            <a:pPr marL="274320" indent="-274320" algn="l">
              <a:lnSpc>
                <a:spcPct val="104000"/>
              </a:lnSpc>
              <a:spcBef>
                <a:spcPts val="300"/>
              </a:spcBef>
              <a:buFont typeface="Arial"/>
              <a:buChar char="•"/>
            </a:pPr>
            <a:r>
              <a:rPr lang="en-US" sz="1500" dirty="0">
                <a:solidFill>
                  <a:srgbClr val="000000"/>
                </a:solidFill>
                <a:latin typeface="Arial"/>
                <a:cs typeface="Arial"/>
              </a:rPr>
              <a:t>Shows where the room starts</a:t>
            </a:r>
          </a:p>
          <a:p>
            <a:pPr marL="274320" indent="-274320" algn="l">
              <a:lnSpc>
                <a:spcPct val="104000"/>
              </a:lnSpc>
              <a:spcBef>
                <a:spcPts val="300"/>
              </a:spcBef>
              <a:buFont typeface="Arial"/>
              <a:buChar char="•"/>
            </a:pPr>
            <a:r>
              <a:rPr lang="en-US" sz="1500" dirty="0">
                <a:solidFill>
                  <a:srgbClr val="000000"/>
                </a:solidFill>
                <a:latin typeface="Arial"/>
                <a:cs typeface="Arial"/>
              </a:rPr>
              <a:t>Same quiz in Session 8</a:t>
            </a:r>
          </a:p>
          <a:p>
            <a:pPr marL="274320" indent="-274320" algn="l">
              <a:lnSpc>
                <a:spcPct val="104000"/>
              </a:lnSpc>
              <a:spcBef>
                <a:spcPts val="300"/>
              </a:spcBef>
              <a:buFont typeface="Arial"/>
              <a:buChar char="•"/>
            </a:pPr>
            <a:r>
              <a:rPr lang="en-US" sz="1500" dirty="0">
                <a:solidFill>
                  <a:srgbClr val="000000"/>
                </a:solidFill>
                <a:latin typeface="Arial"/>
                <a:cs typeface="Arial"/>
              </a:rPr>
              <a:t>We measure the course, not you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Quiz handed in (participant number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1 · Ask: from clinical problem to research question</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1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1.1  Why research? Evidence, types of research, research vs audit, the road to publication</a:t>
            </a:r>
          </a:p>
          <a:p>
            <a:pPr marL="274320" indent="-274320" algn="l">
              <a:spcBef>
                <a:spcPts val="440"/>
              </a:spcBef>
              <a:buFont typeface="Arial"/>
              <a:buChar char="•"/>
            </a:pPr>
            <a:r>
              <a:rPr lang="en-US" sz="1900" dirty="0">
                <a:solidFill>
                  <a:srgbClr val="000000"/>
                </a:solidFill>
                <a:latin typeface="Arial"/>
                <a:cs typeface="Arial"/>
              </a:rPr>
              <a:t>Break</a:t>
            </a:r>
          </a:p>
          <a:p>
            <a:pPr marL="274320" indent="-274320" algn="l">
              <a:spcBef>
                <a:spcPts val="440"/>
              </a:spcBef>
              <a:buFont typeface="Arial"/>
              <a:buChar char="•"/>
            </a:pPr>
            <a:r>
              <a:rPr lang="en-US" sz="1900" dirty="0">
                <a:solidFill>
                  <a:srgbClr val="000000"/>
                </a:solidFill>
                <a:latin typeface="Arial"/>
                <a:cs typeface="Arial"/>
              </a:rPr>
              <a:t>1.2  From problem to question: PICO(T) with worked examples, FINER (pair task)</a:t>
            </a:r>
          </a:p>
          <a:p>
            <a:pPr marL="274320" indent="-274320" algn="l">
              <a:spcBef>
                <a:spcPts val="440"/>
              </a:spcBef>
              <a:buFont typeface="Arial"/>
              <a:buChar char="•"/>
            </a:pPr>
            <a:r>
              <a:rPr lang="en-US" sz="1900" dirty="0">
                <a:solidFill>
                  <a:srgbClr val="000000"/>
                </a:solidFill>
                <a:latin typeface="Arial"/>
                <a:cs typeface="Arial"/>
              </a:rPr>
              <a:t>1.3  Aims, objectives and hypotheses (quick exercise)</a:t>
            </a:r>
          </a:p>
          <a:p>
            <a:pPr marL="274320" indent="-274320" algn="l">
              <a:spcBef>
                <a:spcPts val="440"/>
              </a:spcBef>
              <a:buFont typeface="Arial"/>
              <a:buChar char="•"/>
            </a:pPr>
            <a:r>
              <a:rPr lang="en-US" sz="1900" dirty="0">
                <a:solidFill>
                  <a:srgbClr val="000000"/>
                </a:solidFill>
                <a:latin typeface="Arial"/>
                <a:cs typeface="Arial"/>
              </a:rPr>
              <a:t>Proposal builder 1: topic, PICO, question, FINER, aim and objectives</a:t>
            </a:r>
          </a:p>
          <a:p>
            <a:pPr marL="274320" indent="-274320" algn="l">
              <a:spcBef>
                <a:spcPts val="440"/>
              </a:spcBef>
              <a:buFont typeface="Arial"/>
              <a:buChar char="•"/>
            </a:pPr>
            <a:r>
              <a:rPr lang="en-US" sz="1900" dirty="0">
                <a:solidFill>
                  <a:srgbClr val="000000"/>
                </a:solidFill>
                <a:latin typeface="Arial"/>
                <a:cs typeface="Arial"/>
              </a:rPr>
              <a:t>Wrap-up: key words, recap, homework for next Saturday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1.1  Why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Why do we need research when we already have experience?</a:t>
            </a:r>
          </a:p>
          <a:p>
            <a:pPr marL="0" indent="0" algn="ctr">
              <a:spcBef>
                <a:spcPts val="1200"/>
              </a:spcBef>
              <a:buNone/>
            </a:pPr>
            <a:r>
              <a:rPr lang="en-US" sz="1900" i="1" dirty="0">
                <a:solidFill>
                  <a:srgbClr val="595959"/>
                </a:solidFill>
                <a:latin typeface="Arial"/>
                <a:cs typeface="Arial"/>
              </a:rPr>
              <a:t>35 minutes: evidence, the pyramid, types of research, research vs audit, and the road to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Anecdote vs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Experience suggests questions. Fair comparisons in many patients answer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one ward's experience is not enough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Small numbers jump around by chance. Large, fair comparisons settle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Higher = less risk of bias for questions about treatment effects</a:t>
            </a:r>
          </a:p>
          <a:p>
            <a:pPr marL="274320" indent="-274320" algn="l">
              <a:spcBef>
                <a:spcPts val="440"/>
              </a:spcBef>
              <a:buFont typeface="Arial"/>
              <a:buChar char="•"/>
            </a:pPr>
            <a:r>
              <a:rPr lang="en-US" sz="1450" dirty="0">
                <a:solidFill>
                  <a:srgbClr val="000000"/>
                </a:solidFill>
                <a:latin typeface="Arial"/>
                <a:cs typeface="Arial"/>
              </a:rPr>
              <a:t>Paper 1 (Boulet) is an RCT; Paper 2 (Hyun) is a cohort</a:t>
            </a:r>
          </a:p>
          <a:p>
            <a:pPr marL="274320" indent="-274320" algn="l">
              <a:spcBef>
                <a:spcPts val="440"/>
              </a:spcBef>
              <a:buFont typeface="Arial"/>
              <a:buChar char="•"/>
            </a:pPr>
            <a:r>
              <a:rPr lang="en-US" sz="1450" dirty="0">
                <a:solidFill>
                  <a:srgbClr val="000000"/>
                </a:solidFill>
                <a:latin typeface="Arial"/>
                <a:cs typeface="Arial"/>
              </a:rPr>
              <a:t>A well-done cohort can beat a poorly done RCT</a:t>
            </a:r>
          </a:p>
          <a:p>
            <a:pPr marL="274320" indent="-274320" algn="l">
              <a:spcBef>
                <a:spcPts val="440"/>
              </a:spcBef>
              <a:buFont typeface="Arial"/>
              <a:buChar char="•"/>
            </a:pPr>
            <a:r>
              <a:rPr lang="en-US" sz="1450" dirty="0">
                <a:solidFill>
                  <a:srgbClr val="000000"/>
                </a:solidFill>
                <a:latin typeface="Arial"/>
                <a:cs typeface="Arial"/>
              </a:rPr>
              <a:t>Descriptive questions do not need an RCT</a:t>
            </a:r>
          </a:p>
        </p:txBody>
      </p:sp>
      <p:pic>
        <p:nvPicPr>
          <p:cNvPr id="25" name="Figure"/>
          <p:cNvPicPr>
            <a:picLocks noChangeAspect="1"/>
          </p:cNvPicPr>
          <p:nvPr/>
        </p:nvPicPr>
        <p:blipFill>
          <a:blip r:embed="rId4"/>
          <a:stretch>
            <a:fillRect/>
          </a:stretch>
        </p:blipFill>
        <p:spPr>
          <a:xfrm>
            <a:off x="4307200" y="1150000"/>
            <a:ext cx="671064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The pyramid ranks designs, not individual papers: quality still has to be checked.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Quick quiz: rank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Four sources answer: 'Do restrictive fluids reduce deaths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 senior colleague: 'In 20 years, my dry patients did better'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a registry cohort of thousands of ICU patients with sepsis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trial that randomised 1,554 patients with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a review that pools every trial of fluid restriction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Rank them from weakest to strongest, then show fingers on the count of 3</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Then discuss</a:t>
            </a:r>
          </a:p>
          <a:p>
            <a:pPr marL="274320" indent="-274320" algn="l">
              <a:lnSpc>
                <a:spcPct val="104000"/>
              </a:lnSpc>
              <a:spcBef>
                <a:spcPts val="300"/>
              </a:spcBef>
              <a:buFont typeface="Arial"/>
              <a:buChar char="•"/>
            </a:pPr>
            <a:r>
              <a:rPr lang="en-US" sz="1500" dirty="0">
                <a:solidFill>
                  <a:srgbClr val="000000"/>
                </a:solidFill>
                <a:latin typeface="Arial"/>
                <a:cs typeface="Arial"/>
              </a:rPr>
              <a:t>Which one would change your practice?</a:t>
            </a:r>
          </a:p>
          <a:p>
            <a:pPr marL="274320" indent="-274320" algn="l">
              <a:lnSpc>
                <a:spcPct val="104000"/>
              </a:lnSpc>
              <a:spcBef>
                <a:spcPts val="300"/>
              </a:spcBef>
              <a:buFont typeface="Arial"/>
              <a:buChar char="•"/>
            </a:pPr>
            <a:r>
              <a:rPr lang="en-US" sz="1500" dirty="0">
                <a:solidFill>
                  <a:srgbClr val="000000"/>
                </a:solidFill>
                <a:latin typeface="Arial"/>
                <a:cs typeface="Arial"/>
              </a:rPr>
              <a:t>What could make C weaker than B?</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One agreed ranking per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research cycle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Research is a cycle: published results change practice and raise new questions.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question decides the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Numbers answer how many and how much; words answer why and how.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counting how many ICU patients develop pressure injuries this year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interviewing families about visiting rules in the 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re-analysing 3 years of discharge records for readmissions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a survey of hand-hygiene practice plus focus groups with nurses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For each: quantitative, qualitative or mixed? Primary or secondary?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Shout out the answers. The next slide shows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Answers: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  Counting</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Quantitative</a:t>
            </a:r>
          </a:p>
          <a:p>
            <a:pPr marL="0" indent="0" algn="l">
              <a:lnSpc>
                <a:spcPct val="104000"/>
              </a:lnSpc>
              <a:spcBef>
                <a:spcPts val="400"/>
              </a:spcBef>
              <a:buNone/>
            </a:pPr>
            <a:r>
              <a:rPr lang="en-US" sz="1600" dirty="0">
                <a:solidFill>
                  <a:srgbClr val="000000"/>
                </a:solidFill>
                <a:latin typeface="Arial"/>
                <a:cs typeface="Arial"/>
              </a:rPr>
              <a:t>Primary</a:t>
            </a:r>
          </a:p>
          <a:p>
            <a:pPr marL="0" indent="0" algn="l">
              <a:lnSpc>
                <a:spcPct val="104000"/>
              </a:lnSpc>
              <a:spcBef>
                <a:spcPts val="400"/>
              </a:spcBef>
              <a:buNone/>
            </a:pPr>
            <a:r>
              <a:rPr lang="en-US" sz="1600" dirty="0">
                <a:solidFill>
                  <a:srgbClr val="000000"/>
                </a:solidFill>
                <a:latin typeface="Arial"/>
                <a:cs typeface="Arial"/>
              </a:rPr>
              <a:t>(new counts)</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  Interviews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Qualitative</a:t>
            </a:r>
          </a:p>
          <a:p>
            <a:pPr marL="0" indent="0" algn="l">
              <a:lnSpc>
                <a:spcPct val="104000"/>
              </a:lnSpc>
              <a:spcBef>
                <a:spcPts val="400"/>
              </a:spcBef>
              <a:buNone/>
            </a:pPr>
            <a:r>
              <a:rPr lang="en-US" sz="1600" dirty="0">
                <a:solidFill>
                  <a:srgbClr val="000000"/>
                </a:solidFill>
                <a:latin typeface="Arial"/>
                <a:cs typeface="Arial"/>
              </a:rPr>
              <a:t>Primary</a:t>
            </a:r>
          </a:p>
          <a:p>
            <a:pPr marL="0" indent="0" algn="l">
              <a:lnSpc>
                <a:spcPct val="104000"/>
              </a:lnSpc>
              <a:spcBef>
                <a:spcPts val="400"/>
              </a:spcBef>
              <a:buNone/>
            </a:pPr>
            <a:r>
              <a:rPr lang="en-US" sz="1600" dirty="0">
                <a:solidFill>
                  <a:srgbClr val="000000"/>
                </a:solidFill>
                <a:latin typeface="Arial"/>
                <a:cs typeface="Arial"/>
              </a:rPr>
              <a:t>(words, why)</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  Old records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Quantitative</a:t>
            </a:r>
          </a:p>
          <a:p>
            <a:pPr marL="0" indent="0" algn="l">
              <a:lnSpc>
                <a:spcPct val="104000"/>
              </a:lnSpc>
              <a:spcBef>
                <a:spcPts val="400"/>
              </a:spcBef>
              <a:buNone/>
            </a:pPr>
            <a:r>
              <a:rPr lang="en-US" sz="1600" dirty="0">
                <a:solidFill>
                  <a:srgbClr val="000000"/>
                </a:solidFill>
                <a:latin typeface="Arial"/>
                <a:cs typeface="Arial"/>
              </a:rPr>
              <a:t>Secondary</a:t>
            </a:r>
          </a:p>
          <a:p>
            <a:pPr marL="0" indent="0" algn="l">
              <a:lnSpc>
                <a:spcPct val="104000"/>
              </a:lnSpc>
              <a:spcBef>
                <a:spcPts val="400"/>
              </a:spcBef>
              <a:buNone/>
            </a:pPr>
            <a:r>
              <a:rPr lang="en-US" sz="1600" dirty="0">
                <a:solidFill>
                  <a:srgbClr val="000000"/>
                </a:solidFill>
                <a:latin typeface="Arial"/>
                <a:cs typeface="Arial"/>
              </a:rPr>
              <a:t>(data exist)</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  Survey + groups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Mixed methods</a:t>
            </a:r>
          </a:p>
          <a:p>
            <a:pPr marL="0" indent="0" algn="l">
              <a:lnSpc>
                <a:spcPct val="104000"/>
              </a:lnSpc>
              <a:spcBef>
                <a:spcPts val="400"/>
              </a:spcBef>
              <a:buNone/>
            </a:pPr>
            <a:r>
              <a:rPr lang="en-US" sz="1600" dirty="0">
                <a:solidFill>
                  <a:srgbClr val="000000"/>
                </a:solidFill>
                <a:latin typeface="Arial"/>
                <a:cs typeface="Arial"/>
              </a:rPr>
              <a:t>Primary</a:t>
            </a:r>
          </a:p>
          <a:p>
            <a:pPr marL="0" indent="0" algn="l">
              <a:lnSpc>
                <a:spcPct val="104000"/>
              </a:lnSpc>
              <a:spcBef>
                <a:spcPts val="400"/>
              </a:spcBef>
              <a:buNone/>
            </a:pPr>
            <a:r>
              <a:rPr lang="en-US" sz="1600" dirty="0">
                <a:solidFill>
                  <a:srgbClr val="000000"/>
                </a:solidFill>
                <a:latin typeface="Arial"/>
                <a:cs typeface="Arial"/>
              </a:rPr>
              <a:t>(numbers + words)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Ask two things: numbers or words? New data or existing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Research, audit or quality improvement?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Research asks what is best; audit asks if we do it; QI makes it better.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research, audit or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checking whether fluid balance is charted daily, as our protocol says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randomising patients to restrictive or usual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testing a new handover checklist in small PDSA cycles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interviewing nurses about why they hesitate to stop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For each: research, audit or QI? Who must approve it?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Show 1 finger for research, 2 for audit, 3 for QI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Answers: research, audit or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190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rPr>
                        <a:t>Project</a:t>
                      </a:r>
                    </a:p>
                  </a:txBody>
                  <a:tcPr marL="73152" marR="73152" marT="36576" marB="36576" anchor="ctr">
                    <a:solidFill>
                      <a:srgbClr val="0D7377"/>
                    </a:solidFill>
                  </a:tcPr>
                </a:tc>
                <a:tc>
                  <a:txBody>
                    <a:bodyPr/>
                    <a:lstStyle/>
                    <a:p>
                      <a:pPr algn="l"/>
                      <a:r>
                        <a:rPr lang="en-US" sz="1500" b="1" dirty="0">
                          <a:solidFill>
                            <a:srgbClr val="FFFFFF"/>
                          </a:solidFill>
                          <a:latin typeface="Arial"/>
                        </a:rPr>
                        <a:t>Type</a:t>
                      </a:r>
                    </a:p>
                  </a:txBody>
                  <a:tcPr marL="73152" marR="73152" marT="36576" marB="36576" anchor="ctr">
                    <a:solidFill>
                      <a:srgbClr val="0D7377"/>
                    </a:solidFill>
                  </a:tcPr>
                </a:tc>
                <a:tc>
                  <a:txBody>
                    <a:bodyPr/>
                    <a:lstStyle/>
                    <a:p>
                      <a:pPr algn="l"/>
                      <a:r>
                        <a:rPr lang="en-US" sz="1500" b="1" dirty="0">
                          <a:solidFill>
                            <a:srgbClr val="FFFFFF"/>
                          </a:solidFill>
                          <a:latin typeface="Arial"/>
                        </a:rPr>
                        <a:t>Approval before you start</a:t>
                      </a:r>
                    </a:p>
                  </a:txBody>
                  <a:tcPr marL="73152" marR="73152" marT="36576" marB="36576" anchor="ctr">
                    <a:solidFill>
                      <a:srgbClr val="0D7377"/>
                    </a:solidFill>
                  </a:tcPr>
                </a:tc>
              </a:tr>
              <a:tr h="380000">
                <a:tc>
                  <a:txBody>
                    <a:bodyPr/>
                    <a:lstStyle/>
                    <a:p>
                      <a:pPr algn="l"/>
                      <a:r>
                        <a:rPr lang="en-US" sz="1500" b="0" dirty="0">
                          <a:solidFill>
                            <a:srgbClr val="000000"/>
                          </a:solidFill>
                          <a:latin typeface="Arial"/>
                        </a:rPr>
                        <a:t>A  Fluid balance charted daily?</a:t>
                      </a:r>
                    </a:p>
                  </a:txBody>
                  <a:tcPr marL="73152" marR="73152" marT="36576" marB="36576" anchor="ctr">
                    <a:solidFill>
                      <a:srgbClr val="FFFFFF"/>
                    </a:solidFill>
                  </a:tcPr>
                </a:tc>
                <a:tc>
                  <a:txBody>
                    <a:bodyPr/>
                    <a:lstStyle/>
                    <a:p>
                      <a:pPr algn="l"/>
                      <a:r>
                        <a:rPr lang="en-US" sz="1500" b="0" dirty="0">
                          <a:solidFill>
                            <a:srgbClr val="000000"/>
                          </a:solidFill>
                          <a:latin typeface="Arial"/>
                        </a:rPr>
                        <a:t>Audit</a:t>
                      </a:r>
                    </a:p>
                  </a:txBody>
                  <a:tcPr marL="73152" marR="73152" marT="36576" marB="36576" anchor="ctr">
                    <a:solidFill>
                      <a:srgbClr val="FFFFFF"/>
                    </a:solidFill>
                  </a:tcPr>
                </a:tc>
                <a:tc>
                  <a:txBody>
                    <a:bodyPr/>
                    <a:lstStyle/>
                    <a:p>
                      <a:pPr algn="l"/>
                      <a:r>
                        <a:rPr lang="en-US" sz="1500" b="0" dirty="0">
                          <a:solidFill>
                            <a:srgbClr val="000000"/>
                          </a:solidFill>
                          <a:latin typeface="Arial"/>
                        </a:rPr>
                        <a:t>Local / clinical governance</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B  Randomise restrictive vs usual fluids</a:t>
                      </a:r>
                    </a:p>
                  </a:txBody>
                  <a:tcPr marL="73152" marR="73152" marT="36576" marB="36576" anchor="ctr">
                    <a:solidFill>
                      <a:srgbClr val="FFFFFF"/>
                    </a:solidFill>
                  </a:tcPr>
                </a:tc>
                <a:tc>
                  <a:txBody>
                    <a:bodyPr/>
                    <a:lstStyle/>
                    <a:p>
                      <a:pPr algn="l"/>
                      <a:r>
                        <a:rPr lang="en-US" sz="1500" b="0" dirty="0">
                          <a:solidFill>
                            <a:srgbClr val="000000"/>
                          </a:solidFill>
                          <a:latin typeface="Arial"/>
                        </a:rPr>
                        <a:t>Research</a:t>
                      </a:r>
                    </a:p>
                  </a:txBody>
                  <a:tcPr marL="73152" marR="73152" marT="36576" marB="36576" anchor="ctr">
                    <a:solidFill>
                      <a:srgbClr val="FFFFFF"/>
                    </a:solidFill>
                  </a:tcPr>
                </a:tc>
                <a:tc>
                  <a:txBody>
                    <a:bodyPr/>
                    <a:lstStyle/>
                    <a:p>
                      <a:pPr algn="l"/>
                      <a:r>
                        <a:rPr lang="en-US" sz="1500" b="0" dirty="0">
                          <a:solidFill>
                            <a:srgbClr val="000000"/>
                          </a:solidFill>
                          <a:latin typeface="Arial"/>
                        </a:rPr>
                        <a:t>Ethics committee + trial registration</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C  Handover checklist in PDSA cycles</a:t>
                      </a:r>
                    </a:p>
                  </a:txBody>
                  <a:tcPr marL="73152" marR="73152" marT="36576" marB="36576" anchor="ctr">
                    <a:solidFill>
                      <a:srgbClr val="FFFFFF"/>
                    </a:solidFill>
                  </a:tcPr>
                </a:tc>
                <a:tc>
                  <a:txBody>
                    <a:bodyPr/>
                    <a:lstStyle/>
                    <a:p>
                      <a:pPr algn="l"/>
                      <a:r>
                        <a:rPr lang="en-US" sz="1500" b="0" dirty="0">
                          <a:solidFill>
                            <a:srgbClr val="000000"/>
                          </a:solidFill>
                          <a:latin typeface="Arial"/>
                        </a:rPr>
                        <a:t>Quality improvement</a:t>
                      </a:r>
                    </a:p>
                  </a:txBody>
                  <a:tcPr marL="73152" marR="73152" marT="36576" marB="36576" anchor="ctr">
                    <a:solidFill>
                      <a:srgbClr val="FFFFFF"/>
                    </a:solidFill>
                  </a:tcPr>
                </a:tc>
                <a:tc>
                  <a:txBody>
                    <a:bodyPr/>
                    <a:lstStyle/>
                    <a:p>
                      <a:pPr algn="l"/>
                      <a:r>
                        <a:rPr lang="en-US" sz="1500" b="0" dirty="0">
                          <a:solidFill>
                            <a:srgbClr val="000000"/>
                          </a:solidFill>
                          <a:latin typeface="Arial"/>
                        </a:rPr>
                        <a:t>Local; ethics review if new risk</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D  Interview nurses about stopping fluids</a:t>
                      </a:r>
                    </a:p>
                  </a:txBody>
                  <a:tcPr marL="73152" marR="73152" marT="36576" marB="36576" anchor="ctr">
                    <a:solidFill>
                      <a:srgbClr val="FFFFFF"/>
                    </a:solidFill>
                  </a:tcPr>
                </a:tc>
                <a:tc>
                  <a:txBody>
                    <a:bodyPr/>
                    <a:lstStyle/>
                    <a:p>
                      <a:pPr algn="l"/>
                      <a:r>
                        <a:rPr lang="en-US" sz="1500" b="0" dirty="0">
                          <a:solidFill>
                            <a:srgbClr val="000000"/>
                          </a:solidFill>
                          <a:latin typeface="Arial"/>
                        </a:rPr>
                        <a:t>Research (qualitative)</a:t>
                      </a:r>
                    </a:p>
                  </a:txBody>
                  <a:tcPr marL="73152" marR="73152" marT="36576" marB="36576" anchor="ctr">
                    <a:solidFill>
                      <a:srgbClr val="FFFFFF"/>
                    </a:solidFill>
                  </a:tcPr>
                </a:tc>
                <a:tc>
                  <a:txBody>
                    <a:bodyPr/>
                    <a:lstStyle/>
                    <a:p>
                      <a:pPr algn="l"/>
                      <a:r>
                        <a:rPr lang="en-US" sz="1500" b="0" dirty="0">
                          <a:solidFill>
                            <a:srgbClr val="000000"/>
                          </a:solidFill>
                          <a:latin typeface="Arial"/>
                        </a:rPr>
                        <a:t>Ethics committee</a:t>
                      </a:r>
                    </a:p>
                  </a:txBody>
                  <a:tcPr marL="73152" marR="73152" marT="36576" marB="36576" anchor="ctr">
                    <a:solidFill>
                      <a:srgbClr val="FFFFFF"/>
                    </a:solidFill>
                  </a:tcPr>
                </a:tc>
              </a:tr>
            </a:tbl>
          </a:graphicData>
        </a:graphic>
      </p:graphicFrame>
      <p:sp>
        <p:nvSpPr>
          <p:cNvPr id="31" name="Caption"/>
          <p:cNvSpPr txBox="1"/>
          <p:nvPr/>
        </p:nvSpPr>
        <p:spPr>
          <a:xfrm>
            <a:off x="457200" y="359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Rules differ between institutions: check your local policy, and ask the ethics committee when in doubt.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whole road: from idea to publication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This course walks the whole road. Your group proposal covers stops 1 to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BREAK   |   15 min</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Stretch, coffee, talk to someone from another profession</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Think: which problem from your ward could your group work on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1.2  From problem to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 good question is half of the answer.</a:t>
            </a:r>
          </a:p>
          <a:p>
            <a:pPr marL="0" indent="0" algn="ctr">
              <a:spcBef>
                <a:spcPts val="1200"/>
              </a:spcBef>
              <a:buNone/>
            </a:pPr>
            <a:r>
              <a:rPr lang="en-US" sz="1900" i="1" dirty="0">
                <a:solidFill>
                  <a:srgbClr val="595959"/>
                </a:solidFill>
                <a:latin typeface="Arial"/>
                <a:cs typeface="Arial"/>
              </a:rPr>
              <a:t>40 minutes: where questions come from, PICO(T) with worked examples, question types and FINER, then a pair task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Where do research questions come from?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If the answer is known, apply it. If it is not, you have a research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PICO(T):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Every session we come back to this one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PICO(T) on the ward: three worked examples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Treatment questions use PICO, risk questions PECO, 'how many?' questions only P and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spot the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Read the question: 'In adults aged 65+ after hip-fracture surgery, does a daily non-drug bundle, compared with usual care, reduce delirium in the first 7 days?'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words are P? Which are I? C? O? 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Write the five letters on your sheet (Exercise 1, warm-up)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Compare with your neighbour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Five labelled pieces. The answer is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 spot the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a:t>
            </a:r>
          </a:p>
        </p:txBody>
      </p:sp>
      <p:sp>
        <p:nvSpPr>
          <p:cNvPr id="71" name="CardBody"/>
          <p:cNvSpPr/>
          <p:nvPr/>
        </p:nvSpPr>
        <p:spPr>
          <a:xfrm>
            <a:off x="45720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Adults 65+</a:t>
            </a:r>
          </a:p>
          <a:p>
            <a:pPr marL="0" indent="0" algn="l">
              <a:lnSpc>
                <a:spcPct val="104000"/>
              </a:lnSpc>
              <a:spcBef>
                <a:spcPts val="400"/>
              </a:spcBef>
              <a:buNone/>
            </a:pPr>
            <a:r>
              <a:rPr lang="en-US" sz="1450" dirty="0">
                <a:solidFill>
                  <a:srgbClr val="000000"/>
                </a:solidFill>
                <a:latin typeface="Arial"/>
                <a:cs typeface="Arial"/>
              </a:rPr>
              <a:t>after hip-fracture</a:t>
            </a:r>
          </a:p>
          <a:p>
            <a:pPr marL="0" indent="0" algn="l">
              <a:lnSpc>
                <a:spcPct val="104000"/>
              </a:lnSpc>
              <a:spcBef>
                <a:spcPts val="400"/>
              </a:spcBef>
              <a:buNone/>
            </a:pPr>
            <a:r>
              <a:rPr lang="en-US" sz="1450" dirty="0">
                <a:solidFill>
                  <a:srgbClr val="000000"/>
                </a:solidFill>
                <a:latin typeface="Arial"/>
                <a:cs typeface="Arial"/>
              </a:rPr>
              <a:t>surgery</a:t>
            </a:r>
          </a:p>
        </p:txBody>
      </p:sp>
      <p:sp>
        <p:nvSpPr>
          <p:cNvPr id="72" name="CardHead"/>
          <p:cNvSpPr/>
          <p:nvPr/>
        </p:nvSpPr>
        <p:spPr>
          <a:xfrm>
            <a:off x="2752720" y="191666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a:t>
            </a:r>
          </a:p>
        </p:txBody>
      </p:sp>
      <p:sp>
        <p:nvSpPr>
          <p:cNvPr id="73" name="CardBody"/>
          <p:cNvSpPr/>
          <p:nvPr/>
        </p:nvSpPr>
        <p:spPr>
          <a:xfrm>
            <a:off x="275272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Daily non-drug</a:t>
            </a:r>
          </a:p>
          <a:p>
            <a:pPr marL="0" indent="0" algn="l">
              <a:lnSpc>
                <a:spcPct val="104000"/>
              </a:lnSpc>
              <a:spcBef>
                <a:spcPts val="400"/>
              </a:spcBef>
              <a:buNone/>
            </a:pPr>
            <a:r>
              <a:rPr lang="en-US" sz="1450" dirty="0">
                <a:solidFill>
                  <a:srgbClr val="000000"/>
                </a:solidFill>
                <a:latin typeface="Arial"/>
                <a:cs typeface="Arial"/>
              </a:rPr>
              <a:t>delirium bundle</a:t>
            </a:r>
          </a:p>
        </p:txBody>
      </p:sp>
      <p:sp>
        <p:nvSpPr>
          <p:cNvPr id="74" name="CardHead"/>
          <p:cNvSpPr/>
          <p:nvPr/>
        </p:nvSpPr>
        <p:spPr>
          <a:xfrm>
            <a:off x="5048240" y="191666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a:t>
            </a:r>
          </a:p>
        </p:txBody>
      </p:sp>
      <p:sp>
        <p:nvSpPr>
          <p:cNvPr id="75" name="CardBody"/>
          <p:cNvSpPr/>
          <p:nvPr/>
        </p:nvSpPr>
        <p:spPr>
          <a:xfrm>
            <a:off x="504824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Usual care</a:t>
            </a:r>
          </a:p>
        </p:txBody>
      </p:sp>
      <p:sp>
        <p:nvSpPr>
          <p:cNvPr id="76" name="CardHead"/>
          <p:cNvSpPr/>
          <p:nvPr/>
        </p:nvSpPr>
        <p:spPr>
          <a:xfrm>
            <a:off x="7343760" y="191666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a:t>
            </a:r>
          </a:p>
        </p:txBody>
      </p:sp>
      <p:sp>
        <p:nvSpPr>
          <p:cNvPr id="77" name="CardBody"/>
          <p:cNvSpPr/>
          <p:nvPr/>
        </p:nvSpPr>
        <p:spPr>
          <a:xfrm>
            <a:off x="734376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Delirium</a:t>
            </a:r>
          </a:p>
          <a:p>
            <a:pPr marL="0" indent="0" algn="l">
              <a:lnSpc>
                <a:spcPct val="104000"/>
              </a:lnSpc>
              <a:spcBef>
                <a:spcPts val="400"/>
              </a:spcBef>
              <a:buNone/>
            </a:pPr>
            <a:r>
              <a:rPr lang="en-US" sz="1450" dirty="0">
                <a:solidFill>
                  <a:srgbClr val="000000"/>
                </a:solidFill>
                <a:latin typeface="Arial"/>
                <a:cs typeface="Arial"/>
              </a:rPr>
              <a:t>(screened daily)</a:t>
            </a:r>
          </a:p>
        </p:txBody>
      </p:sp>
      <p:sp>
        <p:nvSpPr>
          <p:cNvPr id="78" name="CardHead"/>
          <p:cNvSpPr/>
          <p:nvPr/>
        </p:nvSpPr>
        <p:spPr>
          <a:xfrm>
            <a:off x="9639280" y="191666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a:t>
            </a:r>
          </a:p>
        </p:txBody>
      </p:sp>
      <p:sp>
        <p:nvSpPr>
          <p:cNvPr id="79" name="CardBody"/>
          <p:cNvSpPr/>
          <p:nvPr/>
        </p:nvSpPr>
        <p:spPr>
          <a:xfrm>
            <a:off x="963928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First 7 days</a:t>
            </a:r>
          </a:p>
          <a:p>
            <a:pPr marL="0" indent="0" algn="l">
              <a:lnSpc>
                <a:spcPct val="104000"/>
              </a:lnSpc>
              <a:spcBef>
                <a:spcPts val="400"/>
              </a:spcBef>
              <a:buNone/>
            </a:pPr>
            <a:r>
              <a:rPr lang="en-US" sz="1450" dirty="0">
                <a:solidFill>
                  <a:srgbClr val="000000"/>
                </a:solidFill>
                <a:latin typeface="Arial"/>
                <a:cs typeface="Arial"/>
              </a:rPr>
              <a:t>after surgery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The diagnosis that brings patients in is part of P, not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families of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questions describe. Analytical questions compare or test a cause.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a vague worry to an answerable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If you cannot fill all four PICO boxes, the question is not ready yet.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is the question worth asking?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Check every question against five tests before you invest time in it.</a:t>
            </a:r>
          </a:p>
        </p:txBody>
      </p:sp>
      <p:sp>
        <p:nvSpPr>
          <p:cNvPr id="70" name="CardHead"/>
          <p:cNvSpPr/>
          <p:nvPr/>
        </p:nvSpPr>
        <p:spPr>
          <a:xfrm>
            <a:off x="457200" y="221000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Feasible</a:t>
            </a:r>
          </a:p>
        </p:txBody>
      </p:sp>
      <p:sp>
        <p:nvSpPr>
          <p:cNvPr id="71" name="CardBody"/>
          <p:cNvSpPr/>
          <p:nvPr/>
        </p:nvSpPr>
        <p:spPr>
          <a:xfrm>
            <a:off x="45720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Enough patients</a:t>
            </a:r>
          </a:p>
          <a:p>
            <a:pPr marL="0" indent="0" algn="l">
              <a:lnSpc>
                <a:spcPct val="104000"/>
              </a:lnSpc>
              <a:spcBef>
                <a:spcPts val="400"/>
              </a:spcBef>
              <a:buNone/>
            </a:pPr>
            <a:r>
              <a:rPr lang="en-US" sz="1450" dirty="0">
                <a:solidFill>
                  <a:srgbClr val="000000"/>
                </a:solidFill>
                <a:latin typeface="Arial"/>
                <a:cs typeface="Arial"/>
              </a:rPr>
              <a:t>Time, money, skills</a:t>
            </a:r>
          </a:p>
          <a:p>
            <a:pPr marL="0" indent="0" algn="l">
              <a:lnSpc>
                <a:spcPct val="104000"/>
              </a:lnSpc>
              <a:spcBef>
                <a:spcPts val="400"/>
              </a:spcBef>
              <a:buNone/>
            </a:pPr>
            <a:r>
              <a:rPr lang="en-US" sz="1450" dirty="0">
                <a:solidFill>
                  <a:srgbClr val="000000"/>
                </a:solidFill>
                <a:latin typeface="Arial"/>
                <a:cs typeface="Arial"/>
              </a:rPr>
              <a:t>Data available</a:t>
            </a:r>
          </a:p>
        </p:txBody>
      </p:sp>
      <p:sp>
        <p:nvSpPr>
          <p:cNvPr id="72" name="CardHead"/>
          <p:cNvSpPr/>
          <p:nvPr/>
        </p:nvSpPr>
        <p:spPr>
          <a:xfrm>
            <a:off x="2752720" y="221000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Interesting</a:t>
            </a:r>
          </a:p>
        </p:txBody>
      </p:sp>
      <p:sp>
        <p:nvSpPr>
          <p:cNvPr id="73" name="CardBody"/>
          <p:cNvSpPr/>
          <p:nvPr/>
        </p:nvSpPr>
        <p:spPr>
          <a:xfrm>
            <a:off x="275272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To you, your team</a:t>
            </a:r>
          </a:p>
          <a:p>
            <a:pPr marL="0" indent="0" algn="l">
              <a:lnSpc>
                <a:spcPct val="104000"/>
              </a:lnSpc>
              <a:spcBef>
                <a:spcPts val="400"/>
              </a:spcBef>
              <a:buNone/>
            </a:pPr>
            <a:r>
              <a:rPr lang="en-US" sz="1450" dirty="0">
                <a:solidFill>
                  <a:srgbClr val="000000"/>
                </a:solidFill>
                <a:latin typeface="Arial"/>
                <a:cs typeface="Arial"/>
              </a:rPr>
              <a:t>and to readers</a:t>
            </a:r>
          </a:p>
        </p:txBody>
      </p:sp>
      <p:sp>
        <p:nvSpPr>
          <p:cNvPr id="74" name="CardHead"/>
          <p:cNvSpPr/>
          <p:nvPr/>
        </p:nvSpPr>
        <p:spPr>
          <a:xfrm>
            <a:off x="5048240" y="221000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Novel</a:t>
            </a:r>
          </a:p>
        </p:txBody>
      </p:sp>
      <p:sp>
        <p:nvSpPr>
          <p:cNvPr id="75" name="CardBody"/>
          <p:cNvSpPr/>
          <p:nvPr/>
        </p:nvSpPr>
        <p:spPr>
          <a:xfrm>
            <a:off x="504824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Confirms, refutes</a:t>
            </a:r>
          </a:p>
          <a:p>
            <a:pPr marL="0" indent="0" algn="l">
              <a:lnSpc>
                <a:spcPct val="104000"/>
              </a:lnSpc>
              <a:spcBef>
                <a:spcPts val="400"/>
              </a:spcBef>
              <a:buNone/>
            </a:pPr>
            <a:r>
              <a:rPr lang="en-US" sz="1450" dirty="0">
                <a:solidFill>
                  <a:srgbClr val="000000"/>
                </a:solidFill>
                <a:latin typeface="Arial"/>
                <a:cs typeface="Arial"/>
              </a:rPr>
              <a:t>or extends what</a:t>
            </a:r>
          </a:p>
          <a:p>
            <a:pPr marL="0" indent="0" algn="l">
              <a:lnSpc>
                <a:spcPct val="104000"/>
              </a:lnSpc>
              <a:spcBef>
                <a:spcPts val="400"/>
              </a:spcBef>
              <a:buNone/>
            </a:pPr>
            <a:r>
              <a:rPr lang="en-US" sz="1450" dirty="0">
                <a:solidFill>
                  <a:srgbClr val="000000"/>
                </a:solidFill>
                <a:latin typeface="Arial"/>
                <a:cs typeface="Arial"/>
              </a:rPr>
              <a:t>is known</a:t>
            </a:r>
          </a:p>
        </p:txBody>
      </p:sp>
      <p:sp>
        <p:nvSpPr>
          <p:cNvPr id="76" name="CardHead"/>
          <p:cNvSpPr/>
          <p:nvPr/>
        </p:nvSpPr>
        <p:spPr>
          <a:xfrm>
            <a:off x="7343760" y="221000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Ethical</a:t>
            </a:r>
          </a:p>
        </p:txBody>
      </p:sp>
      <p:sp>
        <p:nvSpPr>
          <p:cNvPr id="77" name="CardBody"/>
          <p:cNvSpPr/>
          <p:nvPr/>
        </p:nvSpPr>
        <p:spPr>
          <a:xfrm>
            <a:off x="734376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Approvable by the</a:t>
            </a:r>
          </a:p>
          <a:p>
            <a:pPr marL="0" indent="0" algn="l">
              <a:lnSpc>
                <a:spcPct val="104000"/>
              </a:lnSpc>
              <a:spcBef>
                <a:spcPts val="400"/>
              </a:spcBef>
              <a:buNone/>
            </a:pPr>
            <a:r>
              <a:rPr lang="en-US" sz="1450" dirty="0">
                <a:solidFill>
                  <a:srgbClr val="000000"/>
                </a:solidFill>
                <a:latin typeface="Arial"/>
                <a:cs typeface="Arial"/>
              </a:rPr>
              <a:t>ethics committee</a:t>
            </a:r>
          </a:p>
        </p:txBody>
      </p:sp>
      <p:sp>
        <p:nvSpPr>
          <p:cNvPr id="78" name="CardHead"/>
          <p:cNvSpPr/>
          <p:nvPr/>
        </p:nvSpPr>
        <p:spPr>
          <a:xfrm>
            <a:off x="9639280" y="221000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Relevant</a:t>
            </a:r>
          </a:p>
        </p:txBody>
      </p:sp>
      <p:sp>
        <p:nvSpPr>
          <p:cNvPr id="79" name="CardBody"/>
          <p:cNvSpPr/>
          <p:nvPr/>
        </p:nvSpPr>
        <p:spPr>
          <a:xfrm>
            <a:off x="963928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Could change</a:t>
            </a:r>
          </a:p>
          <a:p>
            <a:pPr marL="0" indent="0" algn="l">
              <a:lnSpc>
                <a:spcPct val="104000"/>
              </a:lnSpc>
              <a:spcBef>
                <a:spcPts val="400"/>
              </a:spcBef>
              <a:buNone/>
            </a:pPr>
            <a:r>
              <a:rPr lang="en-US" sz="1450" dirty="0">
                <a:solidFill>
                  <a:srgbClr val="000000"/>
                </a:solidFill>
                <a:latin typeface="Arial"/>
                <a:cs typeface="Arial"/>
              </a:rPr>
              <a:t>practice, policy</a:t>
            </a:r>
          </a:p>
          <a:p>
            <a:pPr marL="0" indent="0" algn="l">
              <a:lnSpc>
                <a:spcPct val="104000"/>
              </a:lnSpc>
              <a:spcBef>
                <a:spcPts val="400"/>
              </a:spcBef>
              <a:buNone/>
            </a:pPr>
            <a:r>
              <a:rPr lang="en-US" sz="1450" dirty="0">
                <a:solidFill>
                  <a:srgbClr val="000000"/>
                </a:solidFill>
                <a:latin typeface="Arial"/>
                <a:cs typeface="Arial"/>
              </a:rPr>
              <a:t>or research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If the question fails one letter, rewrite it before going further.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check of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Our question is important but not feasible for one unit: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Pair task: from scenario to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GROUP WORK   |   11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Pick ONE scenario from Exercise 1 on your sheet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Fill the PICO(T) boxes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Write the question as one sentence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Give it a quick FINER traffic light (green / amber / red)</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Write H0 and H1 (or say why none is needed)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Scenarios</a:t>
            </a:r>
          </a:p>
          <a:p>
            <a:pPr marL="274320" indent="-274320" algn="l">
              <a:lnSpc>
                <a:spcPct val="104000"/>
              </a:lnSpc>
              <a:spcBef>
                <a:spcPts val="300"/>
              </a:spcBef>
              <a:buFont typeface="Arial"/>
              <a:buChar char="•"/>
            </a:pPr>
            <a:r>
              <a:rPr lang="en-US" sz="1500" dirty="0">
                <a:solidFill>
                  <a:srgbClr val="000000"/>
                </a:solidFill>
                <a:latin typeface="Arial"/>
                <a:cs typeface="Arial"/>
              </a:rPr>
              <a:t>Ventilator pneumonia</a:t>
            </a:r>
          </a:p>
          <a:p>
            <a:pPr marL="274320" indent="-274320" algn="l">
              <a:lnSpc>
                <a:spcPct val="104000"/>
              </a:lnSpc>
              <a:spcBef>
                <a:spcPts val="300"/>
              </a:spcBef>
              <a:buFont typeface="Arial"/>
              <a:buChar char="•"/>
            </a:pPr>
            <a:r>
              <a:rPr lang="en-US" sz="1500" dirty="0">
                <a:solidFill>
                  <a:srgbClr val="000000"/>
                </a:solidFill>
                <a:latin typeface="Arial"/>
                <a:cs typeface="Arial"/>
              </a:rPr>
              <a:t>Pressure injuries</a:t>
            </a:r>
          </a:p>
          <a:p>
            <a:pPr marL="274320" indent="-274320" algn="l">
              <a:lnSpc>
                <a:spcPct val="104000"/>
              </a:lnSpc>
              <a:spcBef>
                <a:spcPts val="300"/>
              </a:spcBef>
              <a:buFont typeface="Arial"/>
              <a:buChar char="•"/>
            </a:pPr>
            <a:r>
              <a:rPr lang="en-US" sz="1500" dirty="0">
                <a:solidFill>
                  <a:srgbClr val="000000"/>
                </a:solidFill>
                <a:latin typeface="Arial"/>
                <a:cs typeface="Arial"/>
              </a:rPr>
              <a:t>Delirium</a:t>
            </a:r>
          </a:p>
          <a:p>
            <a:pPr marL="274320" indent="-274320" algn="l">
              <a:lnSpc>
                <a:spcPct val="104000"/>
              </a:lnSpc>
              <a:spcBef>
                <a:spcPts val="300"/>
              </a:spcBef>
              <a:buFont typeface="Arial"/>
              <a:buChar char="•"/>
            </a:pPr>
            <a:r>
              <a:rPr lang="en-US" sz="1500" dirty="0">
                <a:solidFill>
                  <a:srgbClr val="000000"/>
                </a:solidFill>
                <a:latin typeface="Arial"/>
                <a:cs typeface="Arial"/>
              </a:rPr>
              <a:t>Stroke door-to-needle</a:t>
            </a:r>
          </a:p>
          <a:p>
            <a:pPr marL="274320" indent="-274320" algn="l">
              <a:lnSpc>
                <a:spcPct val="104000"/>
              </a:lnSpc>
              <a:spcBef>
                <a:spcPts val="300"/>
              </a:spcBef>
              <a:buFont typeface="Arial"/>
              <a:buChar char="•"/>
            </a:pPr>
            <a:r>
              <a:rPr lang="en-US" sz="1500" dirty="0">
                <a:solidFill>
                  <a:srgbClr val="000000"/>
                </a:solidFill>
                <a:latin typeface="Arial"/>
                <a:cs typeface="Arial"/>
              </a:rPr>
              <a:t>Medication errors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OUTPUT   </a:t>
            </a:r>
            <a:r>
              <a:rPr lang="en-US" sz="1500" dirty="0">
                <a:solidFill>
                  <a:srgbClr val="000000"/>
                </a:solidFill>
                <a:latin typeface="Arial"/>
                <a:cs typeface="Arial"/>
              </a:rPr>
              <a:t>One PICO question + FINER light + hypothesis, ready to read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1.3  Aims, objectives,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 question tells us what we want to know. Aims and objectives tell us what we will do.</a:t>
            </a:r>
          </a:p>
          <a:p>
            <a:pPr marL="0" indent="0" algn="ctr">
              <a:spcBef>
                <a:spcPts val="1200"/>
              </a:spcBef>
              <a:buNone/>
            </a:pPr>
            <a:r>
              <a:rPr lang="en-US" sz="1900" i="1" dirty="0">
                <a:solidFill>
                  <a:srgbClr val="595959"/>
                </a:solidFill>
                <a:latin typeface="Arial"/>
                <a:cs typeface="Arial"/>
              </a:rPr>
              <a:t>20 minutes: aim, objectives, null and alternative hypotheses, and a quick exercise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Aim, objectives, hypothesis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One aim, 2-3 measurable objectives, one testable hypothesis per main objective.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Objectives start with a measurable verb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If you cannot say how you will measure it, it is not yet an objective.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Null and alternative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We test H0. Data can reject it or fail to reject it, but never prove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Quick exercise: aim, objectives, hypothesis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Use the question from your pair task (or the delirium example)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ONE aim: 'To compare...' or 'To describe...'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TWO objectives with measurable verbs; mark the primary one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H0 and H1 for the primary objective (or 'descriptive: no hypothesis')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Swap with your neighbour: is every verb measurable?</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Verbs that work</a:t>
            </a:r>
          </a:p>
          <a:p>
            <a:pPr marL="274320" indent="-274320" algn="l">
              <a:lnSpc>
                <a:spcPct val="104000"/>
              </a:lnSpc>
              <a:spcBef>
                <a:spcPts val="300"/>
              </a:spcBef>
              <a:buFont typeface="Arial"/>
              <a:buChar char="•"/>
            </a:pPr>
            <a:r>
              <a:rPr lang="en-US" sz="1500" dirty="0">
                <a:solidFill>
                  <a:srgbClr val="000000"/>
                </a:solidFill>
                <a:latin typeface="Arial"/>
                <a:cs typeface="Arial"/>
              </a:rPr>
              <a:t>compare</a:t>
            </a:r>
          </a:p>
          <a:p>
            <a:pPr marL="274320" indent="-274320" algn="l">
              <a:lnSpc>
                <a:spcPct val="104000"/>
              </a:lnSpc>
              <a:spcBef>
                <a:spcPts val="300"/>
              </a:spcBef>
              <a:buFont typeface="Arial"/>
              <a:buChar char="•"/>
            </a:pPr>
            <a:r>
              <a:rPr lang="en-US" sz="1500" dirty="0">
                <a:solidFill>
                  <a:srgbClr val="000000"/>
                </a:solidFill>
                <a:latin typeface="Arial"/>
                <a:cs typeface="Arial"/>
              </a:rPr>
              <a:t>estimate</a:t>
            </a:r>
          </a:p>
          <a:p>
            <a:pPr marL="274320" indent="-274320" algn="l">
              <a:lnSpc>
                <a:spcPct val="104000"/>
              </a:lnSpc>
              <a:spcBef>
                <a:spcPts val="300"/>
              </a:spcBef>
              <a:buFont typeface="Arial"/>
              <a:buChar char="•"/>
            </a:pPr>
            <a:r>
              <a:rPr lang="en-US" sz="1500" dirty="0">
                <a:solidFill>
                  <a:srgbClr val="000000"/>
                </a:solidFill>
                <a:latin typeface="Arial"/>
                <a:cs typeface="Arial"/>
              </a:rPr>
              <a:t>describe</a:t>
            </a:r>
          </a:p>
          <a:p>
            <a:pPr marL="274320" indent="-274320" algn="l">
              <a:lnSpc>
                <a:spcPct val="104000"/>
              </a:lnSpc>
              <a:spcBef>
                <a:spcPts val="300"/>
              </a:spcBef>
              <a:buFont typeface="Arial"/>
              <a:buChar char="•"/>
            </a:pPr>
            <a:r>
              <a:rPr lang="en-US" sz="1500" dirty="0">
                <a:solidFill>
                  <a:srgbClr val="000000"/>
                </a:solidFill>
                <a:latin typeface="Arial"/>
                <a:cs typeface="Arial"/>
              </a:rPr>
              <a:t>determine</a:t>
            </a:r>
          </a:p>
          <a:p>
            <a:pPr marL="274320" indent="-274320" algn="l">
              <a:lnSpc>
                <a:spcPct val="104000"/>
              </a:lnSpc>
              <a:spcBef>
                <a:spcPts val="300"/>
              </a:spcBef>
              <a:buFont typeface="Arial"/>
              <a:buChar char="•"/>
            </a:pPr>
            <a:r>
              <a:rPr lang="en-US" sz="1500" dirty="0">
                <a:solidFill>
                  <a:srgbClr val="000000"/>
                </a:solidFill>
                <a:latin typeface="Arial"/>
                <a:cs typeface="Arial"/>
              </a:rPr>
              <a:t>measure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Arial"/>
                <a:cs typeface="Arial"/>
              </a:rPr>
              <a:t>OUTPUT   </a:t>
            </a:r>
            <a:r>
              <a:rPr lang="en-US" sz="1500" dirty="0">
                <a:solidFill>
                  <a:srgbClr val="000000"/>
                </a:solidFill>
                <a:latin typeface="Arial"/>
                <a:cs typeface="Arial"/>
              </a:rPr>
              <a:t>Exercise 3 on the sheet. Model answers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Model answer: the delirium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Aim</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To compare a daily</a:t>
            </a:r>
          </a:p>
          <a:p>
            <a:pPr marL="0" indent="0" algn="l">
              <a:lnSpc>
                <a:spcPct val="104000"/>
              </a:lnSpc>
              <a:spcBef>
                <a:spcPts val="400"/>
              </a:spcBef>
              <a:buNone/>
            </a:pPr>
            <a:r>
              <a:rPr lang="en-US" sz="1750" dirty="0">
                <a:solidFill>
                  <a:srgbClr val="000000"/>
                </a:solidFill>
                <a:latin typeface="Arial"/>
                <a:cs typeface="Arial"/>
              </a:rPr>
              <a:t>non-drug bundle with</a:t>
            </a:r>
          </a:p>
          <a:p>
            <a:pPr marL="0" indent="0" algn="l">
              <a:lnSpc>
                <a:spcPct val="104000"/>
              </a:lnSpc>
              <a:spcBef>
                <a:spcPts val="400"/>
              </a:spcBef>
              <a:buNone/>
            </a:pPr>
            <a:r>
              <a:rPr lang="en-US" sz="1750" dirty="0">
                <a:solidFill>
                  <a:srgbClr val="000000"/>
                </a:solidFill>
                <a:latin typeface="Arial"/>
                <a:cs typeface="Arial"/>
              </a:rPr>
              <a:t>usual care after</a:t>
            </a:r>
          </a:p>
          <a:p>
            <a:pPr marL="0" indent="0" algn="l">
              <a:lnSpc>
                <a:spcPct val="104000"/>
              </a:lnSpc>
              <a:spcBef>
                <a:spcPts val="400"/>
              </a:spcBef>
              <a:buNone/>
            </a:pPr>
            <a:r>
              <a:rPr lang="en-US" sz="1750" dirty="0">
                <a:solidFill>
                  <a:srgbClr val="000000"/>
                </a:solidFill>
                <a:latin typeface="Arial"/>
                <a:cs typeface="Arial"/>
              </a:rPr>
              <a:t>hip-fracture surgery</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Objectives</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(Primary) Compare</a:t>
            </a:r>
          </a:p>
          <a:p>
            <a:pPr marL="0" indent="0" algn="l">
              <a:lnSpc>
                <a:spcPct val="104000"/>
              </a:lnSpc>
              <a:spcBef>
                <a:spcPts val="400"/>
              </a:spcBef>
              <a:buNone/>
            </a:pPr>
            <a:r>
              <a:rPr lang="en-US" sz="1750" dirty="0">
                <a:solidFill>
                  <a:srgbClr val="000000"/>
                </a:solidFill>
                <a:latin typeface="Arial"/>
                <a:cs typeface="Arial"/>
              </a:rPr>
              <a:t>delirium in 7 days</a:t>
            </a:r>
          </a:p>
          <a:p>
            <a:pPr marL="0" indent="0" algn="l">
              <a:lnSpc>
                <a:spcPct val="104000"/>
              </a:lnSpc>
              <a:spcBef>
                <a:spcPts val="400"/>
              </a:spcBef>
              <a:buNone/>
            </a:pPr>
            <a:r>
              <a:rPr lang="en-US" sz="1750" dirty="0">
                <a:solidFill>
                  <a:srgbClr val="000000"/>
                </a:solidFill>
                <a:latin typeface="Arial"/>
                <a:cs typeface="Arial"/>
              </a:rPr>
              <a:t>Compare length</a:t>
            </a:r>
          </a:p>
          <a:p>
            <a:pPr marL="0" indent="0" algn="l">
              <a:lnSpc>
                <a:spcPct val="104000"/>
              </a:lnSpc>
              <a:spcBef>
                <a:spcPts val="400"/>
              </a:spcBef>
              <a:buNone/>
            </a:pPr>
            <a:r>
              <a:rPr lang="en-US" sz="1750" dirty="0">
                <a:solidFill>
                  <a:srgbClr val="000000"/>
                </a:solidFill>
                <a:latin typeface="Arial"/>
                <a:cs typeface="Arial"/>
              </a:rPr>
              <a:t>of stay</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Hypothesis</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H0: delirium is the</a:t>
            </a:r>
          </a:p>
          <a:p>
            <a:pPr marL="0" indent="0" algn="l">
              <a:lnSpc>
                <a:spcPct val="104000"/>
              </a:lnSpc>
              <a:spcBef>
                <a:spcPts val="400"/>
              </a:spcBef>
              <a:buNone/>
            </a:pPr>
            <a:r>
              <a:rPr lang="en-US" sz="1750" dirty="0">
                <a:solidFill>
                  <a:srgbClr val="000000"/>
                </a:solidFill>
                <a:latin typeface="Arial"/>
                <a:cs typeface="Arial"/>
              </a:rPr>
              <a:t>same in both groups</a:t>
            </a:r>
          </a:p>
          <a:p>
            <a:pPr marL="0" indent="0" algn="l">
              <a:lnSpc>
                <a:spcPct val="104000"/>
              </a:lnSpc>
              <a:spcBef>
                <a:spcPts val="400"/>
              </a:spcBef>
              <a:buNone/>
            </a:pPr>
            <a:r>
              <a:rPr lang="en-US" sz="1750" dirty="0">
                <a:solidFill>
                  <a:srgbClr val="000000"/>
                </a:solidFill>
                <a:latin typeface="Arial"/>
                <a:cs typeface="Arial"/>
              </a:rPr>
              <a:t>H1: it differs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Aim, primary objective and hypothesis all name the same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Now it is your group's turn: one topic, one question, one aim.</a:t>
            </a:r>
          </a:p>
          <a:p>
            <a:pPr marL="0" indent="0" algn="ctr">
              <a:spcBef>
                <a:spcPts val="1200"/>
              </a:spcBef>
              <a:buNone/>
            </a:pPr>
            <a:r>
              <a:rPr lang="en-US" sz="1900" i="1" dirty="0">
                <a:solidFill>
                  <a:srgbClr val="595959"/>
                </a:solidFill>
                <a:latin typeface="Arial"/>
                <a:cs typeface="Arial"/>
              </a:rPr>
              <a:t>30 minutes of group work: the start of your research proposal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1: your group's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28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Choose ONE problem from your unit (list 3 ideas, vote, pick one)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Fill the PICO(T) table and write the question in one sentence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FINER traffic light for each letter; rewrite if anything is red</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Research, audit or QI? Note the approval route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Aim + 2-3 objectives (mark the primary) + H0/H1</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One group reads its question aloud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Timing</a:t>
            </a:r>
          </a:p>
          <a:p>
            <a:pPr marL="0" indent="0" algn="l">
              <a:lnSpc>
                <a:spcPct val="104000"/>
              </a:lnSpc>
              <a:spcBef>
                <a:spcPts val="300"/>
              </a:spcBef>
              <a:buNone/>
            </a:pPr>
            <a:r>
              <a:rPr lang="en-US" sz="1500" dirty="0">
                <a:solidFill>
                  <a:srgbClr val="000000"/>
                </a:solidFill>
                <a:latin typeface="Arial"/>
                <a:cs typeface="Arial"/>
              </a:rPr>
              <a:t>0-7 min: choose the topic</a:t>
            </a:r>
          </a:p>
          <a:p>
            <a:pPr marL="0" indent="0" algn="l">
              <a:lnSpc>
                <a:spcPct val="104000"/>
              </a:lnSpc>
              <a:spcBef>
                <a:spcPts val="300"/>
              </a:spcBef>
              <a:buNone/>
            </a:pPr>
            <a:r>
              <a:rPr lang="en-US" sz="1500" dirty="0">
                <a:solidFill>
                  <a:srgbClr val="000000"/>
                </a:solidFill>
                <a:latin typeface="Arial"/>
                <a:cs typeface="Arial"/>
              </a:rPr>
              <a:t>7-14: PICO + question</a:t>
            </a:r>
          </a:p>
          <a:p>
            <a:pPr marL="0" indent="0" algn="l">
              <a:lnSpc>
                <a:spcPct val="104000"/>
              </a:lnSpc>
              <a:spcBef>
                <a:spcPts val="300"/>
              </a:spcBef>
              <a:buNone/>
            </a:pPr>
            <a:r>
              <a:rPr lang="en-US" sz="1500" dirty="0">
                <a:solidFill>
                  <a:srgbClr val="000000"/>
                </a:solidFill>
                <a:latin typeface="Arial"/>
                <a:cs typeface="Arial"/>
              </a:rPr>
              <a:t>14-19: FINER + rewrite</a:t>
            </a:r>
          </a:p>
          <a:p>
            <a:pPr marL="0" indent="0" algn="l">
              <a:lnSpc>
                <a:spcPct val="104000"/>
              </a:lnSpc>
              <a:spcBef>
                <a:spcPts val="300"/>
              </a:spcBef>
              <a:buNone/>
            </a:pPr>
            <a:r>
              <a:rPr lang="en-US" sz="1500" dirty="0">
                <a:solidFill>
                  <a:srgbClr val="000000"/>
                </a:solidFill>
                <a:latin typeface="Arial"/>
                <a:cs typeface="Arial"/>
              </a:rPr>
              <a:t>19-25: aim, objectives, H0/H1</a:t>
            </a:r>
          </a:p>
          <a:p>
            <a:pPr marL="0" indent="0" algn="l">
              <a:lnSpc>
                <a:spcPct val="104000"/>
              </a:lnSpc>
              <a:spcBef>
                <a:spcPts val="300"/>
              </a:spcBef>
              <a:buNone/>
            </a:pPr>
            <a:r>
              <a:rPr lang="en-US" sz="1500" dirty="0">
                <a:solidFill>
                  <a:srgbClr val="000000"/>
                </a:solidFill>
                <a:latin typeface="Arial"/>
                <a:cs typeface="Arial"/>
              </a:rPr>
              <a:t>25-28: 1 group reads aloud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Arial"/>
                <a:cs typeface="Arial"/>
              </a:rPr>
              <a:t>OUTPUT   </a:t>
            </a:r>
            <a:r>
              <a:rPr lang="en-US" sz="1500" dirty="0">
                <a:solidFill>
                  <a:srgbClr val="000000"/>
                </a:solidFill>
                <a:latin typeface="Arial"/>
                <a:cs typeface="Arial"/>
              </a:rPr>
              <a:t>Proposal Part 1 started: PICO, question, FINER, aim, objectives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rPr>
                        <a:t>Key word</a:t>
                      </a:r>
                    </a:p>
                  </a:txBody>
                  <a:tcPr marL="73152" marR="73152" marT="36576" marB="36576" anchor="ctr">
                    <a:solidFill>
                      <a:srgbClr val="0D7377"/>
                    </a:solidFill>
                  </a:tcPr>
                </a:tc>
                <a:tc>
                  <a:txBody>
                    <a:bodyPr/>
                    <a:lstStyle/>
                    <a:p>
                      <a:pPr algn="l"/>
                      <a:r>
                        <a:rPr lang="en-US" sz="1500" b="1" dirty="0">
                          <a:solidFill>
                            <a:srgbClr val="FFFFFF"/>
                          </a:solidFill>
                          <a:latin typeface="Arial"/>
                        </a:rPr>
                        <a:t>In one line</a:t>
                      </a:r>
                    </a:p>
                  </a:txBody>
                  <a:tcPr marL="73152" marR="73152" marT="36576" marB="36576" anchor="ctr">
                    <a:solidFill>
                      <a:srgbClr val="0D7377"/>
                    </a:solidFill>
                  </a:tcPr>
                </a:tc>
              </a:tr>
              <a:tr h="380000">
                <a:tc>
                  <a:txBody>
                    <a:bodyPr/>
                    <a:lstStyle/>
                    <a:p>
                      <a:pPr algn="l"/>
                      <a:r>
                        <a:rPr lang="en-US" sz="1500" b="0" dirty="0">
                          <a:solidFill>
                            <a:srgbClr val="000000"/>
                          </a:solidFill>
                          <a:latin typeface="Arial"/>
                        </a:rPr>
                        <a:t>Evidence pyramid</a:t>
                      </a:r>
                    </a:p>
                  </a:txBody>
                  <a:tcPr marL="73152" marR="73152" marT="36576" marB="36576" anchor="ctr">
                    <a:solidFill>
                      <a:srgbClr val="FFFFFF"/>
                    </a:solidFill>
                  </a:tcPr>
                </a:tc>
                <a:tc>
                  <a:txBody>
                    <a:bodyPr/>
                    <a:lstStyle/>
                    <a:p>
                      <a:pPr algn="l"/>
                      <a:r>
                        <a:rPr lang="en-US" sz="1500" b="0" dirty="0">
                          <a:solidFill>
                            <a:srgbClr val="000000"/>
                          </a:solidFill>
                          <a:latin typeface="Arial"/>
                        </a:rPr>
                        <a:t>Ranks designs by how well they protect against bias</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Research / audit / QI</a:t>
                      </a:r>
                    </a:p>
                  </a:txBody>
                  <a:tcPr marL="73152" marR="73152" marT="36576" marB="36576" anchor="ctr">
                    <a:solidFill>
                      <a:srgbClr val="FFFFFF"/>
                    </a:solidFill>
                  </a:tcPr>
                </a:tc>
                <a:tc>
                  <a:txBody>
                    <a:bodyPr/>
                    <a:lstStyle/>
                    <a:p>
                      <a:pPr algn="l"/>
                      <a:r>
                        <a:rPr lang="en-US" sz="1500" b="0" dirty="0">
                          <a:solidFill>
                            <a:srgbClr val="000000"/>
                          </a:solidFill>
                          <a:latin typeface="Arial"/>
                        </a:rPr>
                        <a:t>What is best? / Do we do it? / How do we improve it?</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PICO(T) / PECO</a:t>
                      </a:r>
                    </a:p>
                  </a:txBody>
                  <a:tcPr marL="73152" marR="73152" marT="36576" marB="36576" anchor="ctr">
                    <a:solidFill>
                      <a:srgbClr val="FFFFFF"/>
                    </a:solidFill>
                  </a:tcPr>
                </a:tc>
                <a:tc>
                  <a:txBody>
                    <a:bodyPr/>
                    <a:lstStyle/>
                    <a:p>
                      <a:pPr algn="l"/>
                      <a:r>
                        <a:rPr lang="en-US" sz="1500" b="0" dirty="0">
                          <a:solidFill>
                            <a:srgbClr val="000000"/>
                          </a:solidFill>
                          <a:latin typeface="Arial"/>
                        </a:rPr>
                        <a:t>Population, Intervention (or Exposure), Comparison, Outcome, Time</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FINER</a:t>
                      </a:r>
                    </a:p>
                  </a:txBody>
                  <a:tcPr marL="73152" marR="73152" marT="36576" marB="36576" anchor="ctr">
                    <a:solidFill>
                      <a:srgbClr val="FFFFFF"/>
                    </a:solidFill>
                  </a:tcPr>
                </a:tc>
                <a:tc>
                  <a:txBody>
                    <a:bodyPr/>
                    <a:lstStyle/>
                    <a:p>
                      <a:pPr algn="l"/>
                      <a:r>
                        <a:rPr lang="en-US" sz="1500" b="0" dirty="0">
                          <a:solidFill>
                            <a:srgbClr val="000000"/>
                          </a:solidFill>
                          <a:latin typeface="Arial"/>
                        </a:rPr>
                        <a:t>Feasible, Interesting, Novel, Ethical, Relevant</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Aim / objective</a:t>
                      </a:r>
                    </a:p>
                  </a:txBody>
                  <a:tcPr marL="73152" marR="73152" marT="36576" marB="36576" anchor="ctr">
                    <a:solidFill>
                      <a:srgbClr val="FFFFFF"/>
                    </a:solidFill>
                  </a:tcPr>
                </a:tc>
                <a:tc>
                  <a:txBody>
                    <a:bodyPr/>
                    <a:lstStyle/>
                    <a:p>
                      <a:pPr algn="l"/>
                      <a:r>
                        <a:rPr lang="en-US" sz="1500" b="0" dirty="0">
                          <a:solidFill>
                            <a:srgbClr val="000000"/>
                          </a:solidFill>
                          <a:latin typeface="Arial"/>
                        </a:rPr>
                        <a:t>The broad why / the specific, measurable what</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H0 / H1</a:t>
                      </a:r>
                    </a:p>
                  </a:txBody>
                  <a:tcPr marL="73152" marR="73152" marT="36576" marB="36576" anchor="ctr">
                    <a:solidFill>
                      <a:srgbClr val="FFFFFF"/>
                    </a:solidFill>
                  </a:tcPr>
                </a:tc>
                <a:tc>
                  <a:txBody>
                    <a:bodyPr/>
                    <a:lstStyle/>
                    <a:p>
                      <a:pPr algn="l"/>
                      <a:r>
                        <a:rPr lang="en-US" sz="1500" b="0" dirty="0">
                          <a:solidFill>
                            <a:srgbClr val="000000"/>
                          </a:solidFill>
                          <a:latin typeface="Arial"/>
                        </a:rPr>
                        <a:t>No difference / a difference (we test H0)</a:t>
                      </a:r>
                    </a:p>
                  </a:txBody>
                  <a:tcPr marL="73152" marR="73152" marT="36576" marB="36576"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1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Why research</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Experience asks;</a:t>
            </a:r>
          </a:p>
          <a:p>
            <a:pPr marL="0" indent="0" algn="l">
              <a:lnSpc>
                <a:spcPct val="104000"/>
              </a:lnSpc>
              <a:spcBef>
                <a:spcPts val="400"/>
              </a:spcBef>
              <a:buNone/>
            </a:pPr>
            <a:r>
              <a:rPr lang="en-US" sz="1750" dirty="0">
                <a:solidFill>
                  <a:srgbClr val="000000"/>
                </a:solidFill>
                <a:latin typeface="Arial"/>
                <a:cs typeface="Arial"/>
              </a:rPr>
              <a:t>fair comparisons</a:t>
            </a:r>
          </a:p>
          <a:p>
            <a:pPr marL="0" indent="0" algn="l">
              <a:lnSpc>
                <a:spcPct val="104000"/>
              </a:lnSpc>
              <a:spcBef>
                <a:spcPts val="400"/>
              </a:spcBef>
              <a:buNone/>
            </a:pPr>
            <a:r>
              <a:rPr lang="en-US" sz="1750" dirty="0">
                <a:solidFill>
                  <a:srgbClr val="000000"/>
                </a:solidFill>
                <a:latin typeface="Arial"/>
                <a:cs typeface="Arial"/>
              </a:rPr>
              <a:t>in enough patients answer</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Ask precisely</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PICO(T) question,</a:t>
            </a:r>
          </a:p>
          <a:p>
            <a:pPr marL="0" indent="0" algn="l">
              <a:lnSpc>
                <a:spcPct val="104000"/>
              </a:lnSpc>
              <a:spcBef>
                <a:spcPts val="400"/>
              </a:spcBef>
              <a:buNone/>
            </a:pPr>
            <a:r>
              <a:rPr lang="en-US" sz="1750" dirty="0">
                <a:solidFill>
                  <a:srgbClr val="000000"/>
                </a:solidFill>
                <a:latin typeface="Arial"/>
                <a:cs typeface="Arial"/>
              </a:rPr>
              <a:t>one primary outcome,</a:t>
            </a:r>
          </a:p>
          <a:p>
            <a:pPr marL="0" indent="0" algn="l">
              <a:lnSpc>
                <a:spcPct val="104000"/>
              </a:lnSpc>
              <a:spcBef>
                <a:spcPts val="400"/>
              </a:spcBef>
              <a:buNone/>
            </a:pPr>
            <a:r>
              <a:rPr lang="en-US" sz="1750" dirty="0">
                <a:solidFill>
                  <a:srgbClr val="000000"/>
                </a:solidFill>
                <a:latin typeface="Arial"/>
                <a:cs typeface="Arial"/>
              </a:rPr>
              <a:t>FINER before you start</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Plan it</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One aim, 2-3</a:t>
            </a:r>
          </a:p>
          <a:p>
            <a:pPr marL="0" indent="0" algn="l">
              <a:lnSpc>
                <a:spcPct val="104000"/>
              </a:lnSpc>
              <a:spcBef>
                <a:spcPts val="400"/>
              </a:spcBef>
              <a:buNone/>
            </a:pPr>
            <a:r>
              <a:rPr lang="en-US" sz="1750" dirty="0">
                <a:solidFill>
                  <a:srgbClr val="000000"/>
                </a:solidFill>
                <a:latin typeface="Arial"/>
                <a:cs typeface="Arial"/>
              </a:rPr>
              <a:t>measurable objectives,</a:t>
            </a:r>
          </a:p>
          <a:p>
            <a:pPr marL="0" indent="0" algn="l">
              <a:lnSpc>
                <a:spcPct val="104000"/>
              </a:lnSpc>
              <a:spcBef>
                <a:spcPts val="400"/>
              </a:spcBef>
              <a:buNone/>
            </a:pPr>
            <a:r>
              <a:rPr lang="en-US" sz="1750" dirty="0">
                <a:solidFill>
                  <a:srgbClr val="000000"/>
                </a:solidFill>
                <a:latin typeface="Arial"/>
                <a:cs typeface="Arial"/>
              </a:rPr>
              <a:t>a testable H0/H1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Next Saturday: find and read what is already known about your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Exit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FINER letter did our running example fail, and why?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Rewrite as an objective: 'To understand pressure injuries on our ward'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Write both answers on a sticky note (no names) and stick it on the door as you leave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One sticky note per person (we read them before next Saturday)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Homework for next Saturday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Group: finish the PICO, question, aim and objectives if not done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Everyone: for each PICO word, write 2-3 English synonyms (Exercise 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Everyone: think of one local number that shows the problem (an audit, a count)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Optional: install Zotero (free, zotero.org) on your laptop</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Bring next Saturday</a:t>
            </a:r>
          </a:p>
          <a:p>
            <a:pPr marL="274320" indent="-274320" algn="l">
              <a:lnSpc>
                <a:spcPct val="104000"/>
              </a:lnSpc>
              <a:spcBef>
                <a:spcPts val="300"/>
              </a:spcBef>
              <a:buFont typeface="Arial"/>
              <a:buChar char="•"/>
            </a:pPr>
            <a:r>
              <a:rPr lang="en-US" sz="1500" dirty="0">
                <a:solidFill>
                  <a:srgbClr val="000000"/>
                </a:solidFill>
                <a:latin typeface="Arial"/>
                <a:cs typeface="Arial"/>
              </a:rPr>
              <a:t>Your group's PICO question</a:t>
            </a:r>
          </a:p>
          <a:p>
            <a:pPr marL="274320" indent="-274320" algn="l">
              <a:lnSpc>
                <a:spcPct val="104000"/>
              </a:lnSpc>
              <a:spcBef>
                <a:spcPts val="300"/>
              </a:spcBef>
              <a:buFont typeface="Arial"/>
              <a:buChar char="•"/>
            </a:pPr>
            <a:r>
              <a:rPr lang="en-US" sz="1500" dirty="0">
                <a:solidFill>
                  <a:srgbClr val="000000"/>
                </a:solidFill>
                <a:latin typeface="Arial"/>
                <a:cs typeface="Arial"/>
              </a:rPr>
              <a:t>Your synonym list</a:t>
            </a:r>
          </a:p>
          <a:p>
            <a:pPr marL="274320" indent="-274320" algn="l">
              <a:lnSpc>
                <a:spcPct val="104000"/>
              </a:lnSpc>
              <a:spcBef>
                <a:spcPts val="300"/>
              </a:spcBef>
              <a:buFont typeface="Arial"/>
              <a:buChar char="•"/>
            </a:pPr>
            <a:r>
              <a:rPr lang="en-US" sz="1500" dirty="0">
                <a:solidFill>
                  <a:srgbClr val="000000"/>
                </a:solidFill>
                <a:latin typeface="Arial"/>
                <a:cs typeface="Arial"/>
              </a:rPr>
              <a:t>A laptop or phone per group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Arial"/>
                <a:cs typeface="Arial"/>
              </a:rPr>
              <a:t>OUTPUT   </a:t>
            </a:r>
            <a:r>
              <a:rPr lang="en-US" sz="1500" dirty="0">
                <a:solidFill>
                  <a:srgbClr val="000000"/>
                </a:solidFill>
                <a:latin typeface="Arial"/>
                <a:cs typeface="Arial"/>
              </a:rPr>
              <a:t>PICO question ready for next Saturday's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1</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 for other kinds of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Diagnosis</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 patients tested</a:t>
            </a:r>
          </a:p>
          <a:p>
            <a:pPr marL="0" indent="0" algn="l">
              <a:lnSpc>
                <a:spcPct val="104000"/>
              </a:lnSpc>
              <a:spcBef>
                <a:spcPts val="400"/>
              </a:spcBef>
              <a:buNone/>
            </a:pPr>
            <a:r>
              <a:rPr lang="en-US" sz="1750" dirty="0">
                <a:solidFill>
                  <a:srgbClr val="000000"/>
                </a:solidFill>
                <a:latin typeface="Arial"/>
                <a:cs typeface="Arial"/>
              </a:rPr>
              <a:t>I: new test</a:t>
            </a:r>
          </a:p>
          <a:p>
            <a:pPr marL="0" indent="0" algn="l">
              <a:lnSpc>
                <a:spcPct val="104000"/>
              </a:lnSpc>
              <a:spcBef>
                <a:spcPts val="400"/>
              </a:spcBef>
              <a:buNone/>
            </a:pPr>
            <a:r>
              <a:rPr lang="en-US" sz="1750" dirty="0">
                <a:solidFill>
                  <a:srgbClr val="000000"/>
                </a:solidFill>
                <a:latin typeface="Arial"/>
                <a:cs typeface="Arial"/>
              </a:rPr>
              <a:t>C: reference standard</a:t>
            </a:r>
          </a:p>
          <a:p>
            <a:pPr marL="0" indent="0" algn="l">
              <a:lnSpc>
                <a:spcPct val="104000"/>
              </a:lnSpc>
              <a:spcBef>
                <a:spcPts val="400"/>
              </a:spcBef>
              <a:buNone/>
            </a:pPr>
            <a:r>
              <a:rPr lang="en-US" sz="1750" dirty="0">
                <a:solidFill>
                  <a:srgbClr val="000000"/>
                </a:solidFill>
                <a:latin typeface="Arial"/>
                <a:cs typeface="Arial"/>
              </a:rPr>
              <a:t>O: accuracy</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Prognosis</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 patients with X</a:t>
            </a:r>
          </a:p>
          <a:p>
            <a:pPr marL="0" indent="0" algn="l">
              <a:lnSpc>
                <a:spcPct val="104000"/>
              </a:lnSpc>
              <a:spcBef>
                <a:spcPts val="400"/>
              </a:spcBef>
              <a:buNone/>
            </a:pPr>
            <a:r>
              <a:rPr lang="en-US" sz="1750" dirty="0">
                <a:solidFill>
                  <a:srgbClr val="000000"/>
                </a:solidFill>
                <a:latin typeface="Arial"/>
                <a:cs typeface="Arial"/>
              </a:rPr>
              <a:t>E: a risk factor</a:t>
            </a:r>
          </a:p>
          <a:p>
            <a:pPr marL="0" indent="0" algn="l">
              <a:lnSpc>
                <a:spcPct val="104000"/>
              </a:lnSpc>
              <a:spcBef>
                <a:spcPts val="400"/>
              </a:spcBef>
              <a:buNone/>
            </a:pPr>
            <a:r>
              <a:rPr lang="en-US" sz="1750" dirty="0">
                <a:solidFill>
                  <a:srgbClr val="000000"/>
                </a:solidFill>
                <a:latin typeface="Arial"/>
                <a:cs typeface="Arial"/>
              </a:rPr>
              <a:t>O: what happens</a:t>
            </a:r>
          </a:p>
          <a:p>
            <a:pPr marL="0" indent="0" algn="l">
              <a:lnSpc>
                <a:spcPct val="104000"/>
              </a:lnSpc>
              <a:spcBef>
                <a:spcPts val="400"/>
              </a:spcBef>
              <a:buNone/>
            </a:pPr>
            <a:r>
              <a:rPr lang="en-US" sz="1750" dirty="0">
                <a:solidFill>
                  <a:srgbClr val="000000"/>
                </a:solidFill>
                <a:latin typeface="Arial"/>
                <a:cs typeface="Arial"/>
              </a:rPr>
              <a:t>T: by when</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Qualitative (SPIDER)</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Sample, Phenomenon</a:t>
            </a:r>
          </a:p>
          <a:p>
            <a:pPr marL="0" indent="0" algn="l">
              <a:lnSpc>
                <a:spcPct val="104000"/>
              </a:lnSpc>
              <a:spcBef>
                <a:spcPts val="400"/>
              </a:spcBef>
              <a:buNone/>
            </a:pPr>
            <a:r>
              <a:rPr lang="en-US" sz="1750" dirty="0">
                <a:solidFill>
                  <a:srgbClr val="000000"/>
                </a:solidFill>
                <a:latin typeface="Arial"/>
                <a:cs typeface="Arial"/>
              </a:rPr>
              <a:t>of interest, Design,</a:t>
            </a:r>
          </a:p>
          <a:p>
            <a:pPr marL="0" indent="0" algn="l">
              <a:lnSpc>
                <a:spcPct val="104000"/>
              </a:lnSpc>
              <a:spcBef>
                <a:spcPts val="400"/>
              </a:spcBef>
              <a:buNone/>
            </a:pPr>
            <a:r>
              <a:rPr lang="en-US" sz="1750" dirty="0">
                <a:solidFill>
                  <a:srgbClr val="000000"/>
                </a:solidFill>
                <a:latin typeface="Arial"/>
                <a:cs typeface="Arial"/>
              </a:rPr>
              <a:t>Evaluation,</a:t>
            </a:r>
          </a:p>
          <a:p>
            <a:pPr marL="0" indent="0" algn="l">
              <a:lnSpc>
                <a:spcPct val="104000"/>
              </a:lnSpc>
              <a:spcBef>
                <a:spcPts val="400"/>
              </a:spcBef>
              <a:buNone/>
            </a:pPr>
            <a:r>
              <a:rPr lang="en-US" sz="1750" dirty="0">
                <a:solidFill>
                  <a:srgbClr val="000000"/>
                </a:solidFill>
                <a:latin typeface="Arial"/>
                <a:cs typeface="Arial"/>
              </a:rPr>
              <a:t>Research type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The letters change, but the idea stays the same: be explicit.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One-sided or two-sided H1?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Two-sided (usual)</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'Mortality differs'</a:t>
            </a:r>
          </a:p>
          <a:p>
            <a:pPr marL="0" indent="0" algn="l">
              <a:lnSpc>
                <a:spcPct val="104000"/>
              </a:lnSpc>
              <a:spcBef>
                <a:spcPts val="400"/>
              </a:spcBef>
              <a:buNone/>
            </a:pPr>
            <a:r>
              <a:rPr lang="en-US" sz="1750" dirty="0">
                <a:solidFill>
                  <a:srgbClr val="000000"/>
                </a:solidFill>
                <a:latin typeface="Arial"/>
                <a:cs typeface="Arial"/>
              </a:rPr>
              <a:t>Allows benefit</a:t>
            </a:r>
          </a:p>
          <a:p>
            <a:pPr marL="0" indent="0" algn="l">
              <a:lnSpc>
                <a:spcPct val="104000"/>
              </a:lnSpc>
              <a:spcBef>
                <a:spcPts val="400"/>
              </a:spcBef>
              <a:buNone/>
            </a:pPr>
            <a:r>
              <a:rPr lang="en-US" sz="1750" dirty="0">
                <a:solidFill>
                  <a:srgbClr val="000000"/>
                </a:solidFill>
                <a:latin typeface="Arial"/>
                <a:cs typeface="Arial"/>
              </a:rPr>
              <a:t>OR harm</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One-sided (rare)</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'Mortality is lower'</a:t>
            </a:r>
          </a:p>
          <a:p>
            <a:pPr marL="0" indent="0" algn="l">
              <a:lnSpc>
                <a:spcPct val="104000"/>
              </a:lnSpc>
              <a:spcBef>
                <a:spcPts val="400"/>
              </a:spcBef>
              <a:buNone/>
            </a:pPr>
            <a:r>
              <a:rPr lang="en-US" sz="1750" dirty="0">
                <a:solidFill>
                  <a:srgbClr val="000000"/>
                </a:solidFill>
                <a:latin typeface="Arial"/>
                <a:cs typeface="Arial"/>
              </a:rPr>
              <a:t>Ignores possible harm</a:t>
            </a:r>
          </a:p>
          <a:p>
            <a:pPr marL="0" indent="0" algn="l">
              <a:lnSpc>
                <a:spcPct val="104000"/>
              </a:lnSpc>
              <a:spcBef>
                <a:spcPts val="400"/>
              </a:spcBef>
              <a:buNone/>
            </a:pPr>
            <a:r>
              <a:rPr lang="en-US" sz="1750" dirty="0">
                <a:solidFill>
                  <a:srgbClr val="000000"/>
                </a:solidFill>
                <a:latin typeface="Arial"/>
                <a:cs typeface="Arial"/>
              </a:rPr>
              <a:t>Needs strong reason</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Non-inferiority</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'Not worse by more</a:t>
            </a:r>
          </a:p>
          <a:p>
            <a:pPr marL="0" indent="0" algn="l">
              <a:lnSpc>
                <a:spcPct val="104000"/>
              </a:lnSpc>
              <a:spcBef>
                <a:spcPts val="400"/>
              </a:spcBef>
              <a:buNone/>
            </a:pPr>
            <a:r>
              <a:rPr lang="en-US" sz="1750" dirty="0">
                <a:solidFill>
                  <a:srgbClr val="000000"/>
                </a:solidFill>
                <a:latin typeface="Arial"/>
                <a:cs typeface="Arial"/>
              </a:rPr>
              <a:t>than a set margin'</a:t>
            </a:r>
          </a:p>
          <a:p>
            <a:pPr marL="0" indent="0" algn="l">
              <a:lnSpc>
                <a:spcPct val="104000"/>
              </a:lnSpc>
              <a:spcBef>
                <a:spcPts val="400"/>
              </a:spcBef>
              <a:buNone/>
            </a:pPr>
            <a:r>
              <a:rPr lang="en-US" sz="1750" dirty="0">
                <a:solidFill>
                  <a:srgbClr val="000000"/>
                </a:solidFill>
                <a:latin typeface="Arial"/>
                <a:cs typeface="Arial"/>
              </a:rPr>
              <a:t>(Session 3)</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When in doubt, write a two-sided H1.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which FINER letter fails?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4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All hospitalised adults in the country: does vitamin D reduce mortality over 10 years?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Septic shock: does withholding antibiotics for 24 h reduce resistance?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Do our ICU nurses wash their hands? (already audited monthly for 5 years)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Pneumonia: does the colour of the drug chart affect 28-day mortality?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One letter per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Vague vs answerable: a ward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Practise on your own ward: take a corridor question and fill the PICO boxes.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