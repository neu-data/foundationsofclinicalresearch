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Each trainer introduces themselves in one sentence.</a:t>
            </a:r>
          </a:p>
          <a:p>
            <a:r>
              <a:rPr lang="en-US" sz="1400" b="0" dirty="0"/>
              <a:t>Ask everyone to show their full name and to find the chat, the poll and 'raise hand'.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Why do we need research? You treat patients every day, and each of your decisions can affect them. But the evidence is not always there, or strong enough, to support those decisions. That is when questions need answering, and that is when we need research. After the research, the decisions you make will, we hope, be better for your patients. This course will help you reach three main goals: ...</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3 minutes for typing. Then call on 4 or 5 people and point out shared themes (fluids, sedation, infection, mobilisation, medication safety).</a:t>
            </a:r>
          </a:p>
          <a:p>
            <a:r>
              <a:rPr lang="en-US" sz="1400" b="0" dirty="0"/>
              <a:t>The questions stay in the chat for Proposal builder 1.</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sessions per block, one week between sessions.</a:t>
            </a:r>
          </a:p>
          <a:p>
            <a:r>
              <a:rPr lang="en-US" sz="1400" b="0" dirty="0"/>
              <a:t>One running example throughout: fluids in septic shock and 28-day mortality. From Session 5 it continues in the course study, FLUID-ICU.</a:t>
            </a:r>
          </a:p>
          <a:p>
            <a:r>
              <a:rPr lang="en-US" sz="1400" b="0" dirty="0"/>
              <a:t>What is expected: Proposal_Brief, sent before Session 1 with Presentation_Guide and Proposal_Rubric. The manuscript brief is shared in Session 6.</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Level 1 the trainers run the software. You read and interpret the results.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about 5 volunteers present in Session 8 (6 minutes each). Everyone submits the proposal and 6 slides by email. Details: Proposal_Brief, sent by email before Session 1.</a:t>
            </a:r>
          </a:p>
          <a:p>
            <a:r>
              <a:rPr lang="en-US" sz="1400" b="0" dirty="0"/>
              <a:t>Results section: at the end of Session 6 each person chooses one FLUID-ICU question (Q1 to Q5) and writes its Results from the results pack. After Session 8 each person reviews one colleague's draft.</a:t>
            </a:r>
          </a:p>
          <a:p>
            <a:r>
              <a:rPr lang="en-US" sz="1400" b="0" dirty="0"/>
              <a:t>Write in English. Vietnamese is accepted if English is impossible.</a:t>
            </a:r>
          </a:p>
          <a:p>
            <a:r>
              <a:rPr lang="en-US" sz="1400" b="0" dirty="0"/>
              <a:t>Show the proposal brief we sent them.</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'Which card worries you most? Answer in the chat.' Usually analysis. Reassure: we go slowly and check often.</a:t>
            </a:r>
          </a:p>
          <a:p>
            <a:r>
              <a:rPr lang="en-US" sz="1400" b="0" dirty="0"/>
              <a:t>Registration statistics: almost 50% have a master’s degree, so most have done some research. This course goes back to the basics. Some concepts will be familiar, but revisiting them helps you master them. 30.4% want to write a scientific paper and 26.1% want to understand statistics better (p-values, confidence intervals).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rhythm every session. Extra slides at the end are used only if there is time.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each proposal builder the trainer first fills in the part for the running example on screen. Then everyone writes the same part for their own question.</a:t>
            </a:r>
          </a:p>
          <a:p>
            <a:r>
              <a:rPr lang="en-US" sz="1400" b="0" dirty="0"/>
              <a:t>Template: Research_Proposal_Template.docx (EN) or Research_Proposal_Template_VN.docx (VN), emailed with the proposal brief before Session 1.</a:t>
            </a:r>
          </a:p>
          <a:p>
            <a:r>
              <a:rPr lang="en-US" sz="1400" b="0" dirty="0"/>
              <a:t>Show them the research proposal template: 'This is a complete research proposal. If you write one like it before every study, it goes a long way to ensuring the quality of your research.'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Private chat messages to the trainer are fine. Chat in Vietnamese or English.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Paste the Google Form link in the chat. No scores or answers are shown. The answers are shared after Session 8.</a:t>
            </a:r>
          </a:p>
          <a:p>
            <a:r>
              <a:rPr lang="en-US" sz="1400" b="0" dirty="0"/>
              <a:t>Close the form after 15 minutes. Teaching starts at 20:05.</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at 20:05, right after the quiz. Goal: everyone leaves with a draft question, aim and objectives.</a:t>
            </a:r>
          </a:p>
          <a:p>
            <a:r>
              <a:rPr lang="en-US" sz="1400" b="0" dirty="0"/>
              <a:t>Point at the agenda, do not read it.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1.1 runs 20:05-20:40. Ask two or three people. Expected: we remember striking cases, colleagues disagree, practice changes.</a:t>
            </a:r>
          </a:p>
          <a:p>
            <a:r>
              <a:rPr lang="en-US" sz="1400" b="0" dirty="0"/>
              <a:t>Point: experience raises questions but cannot answer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numbers are illustrative. CLASSIC (NEJM 2022, 1,554 patients) found the same 90-day mortality with restrictive and standard fluids (42.3% vs 42.1%).</a:t>
            </a:r>
          </a:p>
          <a:p>
            <a:r>
              <a:rPr lang="en-US" sz="1400" b="0" dirty="0"/>
              <a:t>Ask: 'Why do we remember the three good outcomes?' Expected: recall bias.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True risk of death is 40%. Wards of 5 range from 0% to 80% by chance. Groups of 500 cluster around 40%.</a:t>
            </a:r>
          </a:p>
          <a:p>
            <a:r>
              <a:rPr lang="en-US" sz="1400" b="0" dirty="0"/>
              <a:t>Poll: 'One ward lost 0 of 5 after a new protocol. Does it work?' Answer: cannot tell.</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Higher designs protect better against bias for treatment questions, but a poor trial can still mislead.</a:t>
            </a:r>
          </a:p>
          <a:p>
            <a:r>
              <a:rPr lang="en-US" sz="1400" b="0" dirty="0"/>
              <a:t>Do not teach designs here (Session 3).</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B, C, D. C is the real CLASSIC trial.</a:t>
            </a:r>
          </a:p>
          <a:p>
            <a:r>
              <a:rPr lang="en-US" sz="1400" b="0" dirty="0"/>
              <a:t>What could make C weaker than B? Very small, many patients lost, or patients unlike ours.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 a pilot trial (a small trial that tests whether a larger one is possible). Paper 2: a matched cohort, like option B in the quiz.</a:t>
            </a:r>
          </a:p>
          <a:p>
            <a:r>
              <a:rPr lang="en-US" sz="1400" b="0" dirty="0"/>
              <a:t>Do not read them now. Session 2 reads Paper 1's abstract.</a:t>
            </a:r>
          </a:p>
          <a:p>
            <a:r>
              <a:rPr lang="en-US" sz="1400" b="0" dirty="0"/>
              <a:t>Email the two original PDFs with the Session 1 exercise sheet before Session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box. Weeks 1-2 cover the three teal boxes.</a:t>
            </a:r>
          </a:p>
          <a:p>
            <a:r>
              <a:rPr lang="en-US" sz="1400" b="0" dirty="0"/>
              <a:t>Point: data come after the question, the design and ethics approval.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qualitative research has its own rigorous methods.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two or three people. Answers are on the next slide.</a:t>
            </a:r>
          </a:p>
          <a:p>
            <a:r>
              <a:rPr lang="en-US" sz="1400" b="0" dirty="0"/>
              <a:t>If C causes doubt: the records were made for care, so using them is secondary research.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Secondary research is often the most feasible for a busy department, if the records are good.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Stops 1-6 plan and do the study. Stops 7-11 publish it.</a:t>
            </a:r>
          </a:p>
          <a:p>
            <a:r>
              <a:rPr lang="en-US" sz="1400" b="0" dirty="0"/>
              <a:t>Ask: 'At which stop do hospital studies get stuck?' Expected: ethics paperwork, data collection or writing.</a:t>
            </a:r>
          </a:p>
          <a:p>
            <a:r>
              <a:rPr lang="en-US" sz="1400" b="0" dirty="0"/>
              <a:t>Timing: 3 minutes + 3 minutes for questions. 1.1 ends at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Post the restart time and the link to the Session 1 exercise sheet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1.2 runs 20:55-21:35.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back to the questions typed in the chat at the start.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letter forces a decision.</a:t>
            </a:r>
          </a:p>
          <a:p>
            <a:r>
              <a:rPr lang="en-US" sz="1400" b="0" dirty="0"/>
              <a:t>Ask: 'Is 28-day mortality the only sensible outcome?' Expected: 90-day mortality, kidney injury needing dialysis,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Row 3 asks how common something is, so it needs only P and O (and T).</a:t>
            </a:r>
          </a:p>
          <a:p>
            <a:r>
              <a:rPr lang="en-US" sz="1400" b="0" dirty="0"/>
              <a:t>Ask: 'Make a PECO question about fluids.' Expected: in adults with sepsis, is a positive fluid balance by day 3, compared with a neutral or negative balance, associated with death by day 28? (Paper 2's question.)</a:t>
            </a:r>
          </a:p>
          <a:p>
            <a:r>
              <a:rPr lang="en-US" sz="1400" b="0" dirty="0"/>
              <a:t>To have participants write out the three research questions, use the backup slide 'Extra: the three examples as research questions' (extra slides).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question slowly. 1 minute for the poll. Answer: C. D is T, A is part of P, B is I.</a:t>
            </a:r>
          </a:p>
          <a:p>
            <a:r>
              <a:rPr lang="en-US" sz="1400" b="0" dirty="0"/>
              <a:t>Watch for 'septic shock' chosen as O: it defines who is eligible.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1's outcome is fluid balance, so it cannot answer our mortality question.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verbs give it away: 'how many', 'is associated with', 'does it reduce'.</a:t>
            </a:r>
          </a:p>
          <a:p>
            <a:r>
              <a:rPr lang="en-US" sz="1400" b="0" dirty="0"/>
              <a:t>Ask: 'Paper 2: which box?' Expected: analytical, observe (a cohort).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'Make this answerable: Is albumin better?' Expected: in adults with septic shock, does albumin plus crystalloid, compared with crystalloid alone, reduce 28-day mortality?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Feasible fails most often in hospital research. Novel can be a new setting or a better design.</a:t>
            </a:r>
          </a:p>
          <a:p>
            <a:r>
              <a:rPr lang="en-US" sz="1400" b="0" dirty="0"/>
              <a:t>Poll (F, I, N, E, R): 'Which letter does our running example fail?'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CLASSIC (2022) and CLOVERS (2023) each needed more than 1,500 patients.</a:t>
            </a:r>
          </a:p>
          <a:p>
            <a:r>
              <a:rPr lang="en-US" sz="1400" b="0" dirty="0"/>
              <a:t>To make it smaller: change the outcome, run a pilot, or ask a descriptive question.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Type the answers on a blank Exercise 1 as people give them, one person per letter.</a:t>
            </a:r>
          </a:p>
          <a:p>
            <a:r>
              <a:rPr lang="en-US" sz="1400" b="0" dirty="0"/>
              <a:t>If the vote is split, take A (the pilot Paper 1 ran, used again in 1.3). B is a PECO question and the main FLUID-ICU question.</a:t>
            </a:r>
          </a:p>
          <a:p>
            <a:r>
              <a:rPr lang="en-US" sz="1400" b="0" dirty="0"/>
              <a:t>Watch for: no comparison, no time point, two outcomes.</a:t>
            </a:r>
          </a:p>
          <a:p>
            <a:r>
              <a:rPr lang="en-US" sz="1400" b="0" dirty="0"/>
              <a:t>Key: s1_solutions, Exercise 1.</a:t>
            </a:r>
          </a:p>
          <a:p>
            <a:r>
              <a:rPr lang="en-US" sz="1400" b="0" dirty="0"/>
              <a:t>Timing: 8 minutes + 3 minutes summary. 1.3 starts at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1.3 runs 21:35-21:55.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primary objective decides the sample size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'Rewrite: to study fluid balance in our ICU.' Expected: to estimate the proportion of adults with septic shock in our ICU who have a positive fluid balance on day 3.</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Analogy: a court assumes 'not guilty' (H0) until the evidence is strong. 'Not guilty' is not 'innocent'.</a:t>
            </a:r>
          </a:p>
          <a:p>
            <a:r>
              <a:rPr lang="en-US" sz="1400" b="0" dirty="0"/>
              <a:t>Descriptive questions (version C) need no hypothesis.</a:t>
            </a:r>
          </a:p>
          <a:p>
            <a:r>
              <a:rPr lang="en-US" sz="1400" b="0" dirty="0"/>
              <a:t>Timing: 3 minutes. P-values are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minutes alone, then two or three people read their primary objective.</a:t>
            </a:r>
          </a:p>
          <a:p>
            <a:r>
              <a:rPr lang="en-US" sz="1400" b="0" dirty="0"/>
              <a:t>Watch for vague verbs, no time point, or a hypothesis about an outcome not in the objectives.</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the chain: the question's O = the primary objective = the outcome in H0 and H1.</a:t>
            </a:r>
          </a:p>
          <a:p>
            <a:r>
              <a:rPr lang="en-US" sz="1400" b="0" dirty="0"/>
              <a:t>Key: s1_solutions, Exercise 2.</a:t>
            </a:r>
          </a:p>
          <a:p>
            <a:r>
              <a:rPr lang="en-US" sz="1400" b="0" dirty="0"/>
              <a:t>Timing: 3 minutes. 1.3 ends at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1 runs 21:55-22:25. 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0-8: share Research_Proposal_Template.docx and fill Part 1 for version A, thinking aloud.</a:t>
            </a:r>
          </a:p>
          <a:p>
            <a:r>
              <a:rPr lang="en-US" sz="1400" b="0" dirty="0"/>
              <a:t>Minutes 8-25: everyone drafts alone. Answer questions in the chat. No topic yet? Use the welcome chat, or version A or C for now.</a:t>
            </a:r>
          </a:p>
          <a:p>
            <a:r>
              <a:rPr lang="en-US" sz="1400" b="0" dirty="0"/>
              <a:t>Minutes 25-30: two volunteers read their question and aim.</a:t>
            </a:r>
          </a:p>
          <a:p>
            <a:r>
              <a:rPr lang="en-US" sz="1400" b="0" dirty="0"/>
              <a:t>Timing: 30 minutes. Wrap-up at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key words quickly.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Feasible, mortality needs well over a thousand patients. Q2 e.g. 'To estimate the proportion of adults with septic shock in our ICU who have a positive fluid balance on day 3'.</a:t>
            </a:r>
          </a:p>
          <a:p>
            <a:r>
              <a:rPr lang="en-US" sz="1400" b="0" dirty="0"/>
              <a:t>Save the chat. If many still use vague verbs, start Session 2 with one minute on objectives.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45 minutes of work. PubMed works in English, so the synonyms speed up the search.</a:t>
            </a:r>
          </a:p>
          <a:p>
            <a:r>
              <a:rPr lang="en-US" sz="1400" b="0" dirty="0"/>
              <a:t>Anyone with Zotero problems emails the trainers before Friday.</a:t>
            </a:r>
          </a:p>
          <a:p>
            <a:r>
              <a:rPr lang="en-US" sz="1400" b="0" dirty="0"/>
              <a:t>Timing: 1 minute. Close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if someone asks whether their project needs ethics approval. If it randomises, adds risk or collects data beyond routine care, it is research. Check the local policy.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Backup for 'Three more examples'. People write one question per row in the chat, then show this slide.</a:t>
            </a:r>
          </a:p>
          <a:p>
            <a:r>
              <a:rPr lang="en-US" sz="1400" b="0" dirty="0"/>
              <a:t>Point: 'reduce' for the assigned checklist, 'associated with' for obesity, no comparison for 'how common'.</a:t>
            </a:r>
          </a:p>
          <a:p>
            <a:r>
              <a:rPr lang="en-US" sz="1400" b="0" dirty="0"/>
              <a:t>Timing: 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Diagnosis: new test = I, reference standard = C, outcome = accuracy. Qualitative questions often use SPIDER (Cooke 2012).</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Feasible. 2 Ethical. 3 Novel. 4 Relevant.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PECO question: nurses cannot easily be randomised to night shifts.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01/11/2026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introduce yourself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Type your name, department and profession in the chat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Add one question you wish research could answer in your department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the other messages: many are possible research topics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few of you then say your question with the microphone on</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Example message</a:t>
            </a:r>
          </a:p>
          <a:p>
            <a:pPr marL="0" indent="0" algn="ctr">
              <a:lnSpc>
                <a:spcPct val="104000"/>
              </a:lnSpc>
              <a:spcBef>
                <a:spcPts val="300"/>
              </a:spcBef>
              <a:buNone/>
            </a:pPr>
            <a:r>
              <a:rPr lang="en-US" sz="1500" dirty="0">
                <a:solidFill>
                  <a:srgbClr val="000000"/>
                </a:solidFill>
                <a:latin typeface="Arial"/>
                <a:cs typeface="Arial"/>
              </a:rPr>
              <a:t>Lan, ICU, nurse</a:t>
            </a:r>
          </a:p>
          <a:p>
            <a:pPr marL="0" indent="0" algn="ctr">
              <a:lnSpc>
                <a:spcPct val="104000"/>
              </a:lnSpc>
              <a:spcBef>
                <a:spcPts val="300"/>
              </a:spcBef>
              <a:buNone/>
            </a:pPr>
            <a:r>
              <a:rPr lang="en-US" sz="1500" dirty="0">
                <a:solidFill>
                  <a:srgbClr val="000000"/>
                </a:solidFill>
                <a:latin typeface="Arial"/>
                <a:cs typeface="Arial"/>
              </a:rPr>
              <a:t>'Do patients with septic shock need less fluid than we give?'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introduction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weeks,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Weeks 1-2</a:t>
            </a:r>
          </a:p>
          <a:p>
            <a:pPr marL="0" indent="0" algn="ctr">
              <a:lnSpc>
                <a:spcPct val="100000"/>
              </a:lnSpc>
              <a:spcBef>
                <a:spcPts val="300"/>
              </a:spcBef>
              <a:buNone/>
            </a:pPr>
            <a:r>
              <a:rPr lang="en-US" sz="1400" dirty="0">
                <a:solidFill>
                  <a:srgbClr val="595959"/>
                </a:solidFill>
                <a:latin typeface="Arial"/>
                <a:cs typeface="Arial"/>
              </a:rPr>
              <a:t>Question and evidence</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Weeks 3-4</a:t>
            </a:r>
          </a:p>
          <a:p>
            <a:pPr marL="0" indent="0" algn="ctr">
              <a:lnSpc>
                <a:spcPct val="100000"/>
              </a:lnSpc>
              <a:spcBef>
                <a:spcPts val="300"/>
              </a:spcBef>
              <a:buNone/>
            </a:pPr>
            <a:r>
              <a:rPr lang="en-US" sz="1400" dirty="0">
                <a:solidFill>
                  <a:srgbClr val="595959"/>
                </a:solidFill>
                <a:latin typeface="Arial"/>
                <a:cs typeface="Arial"/>
              </a:rPr>
              <a:t>Design and bias</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Weeks 5-6</a:t>
            </a:r>
          </a:p>
          <a:p>
            <a:pPr marL="0" indent="0" algn="ctr">
              <a:lnSpc>
                <a:spcPct val="100000"/>
              </a:lnSpc>
              <a:spcBef>
                <a:spcPts val="300"/>
              </a:spcBef>
              <a:buNone/>
            </a:pPr>
            <a:r>
              <a:rPr lang="en-US" sz="1400" dirty="0">
                <a:solidFill>
                  <a:srgbClr val="595959"/>
                </a:solidFill>
                <a:latin typeface="Arial"/>
                <a:cs typeface="Arial"/>
              </a:rPr>
              <a:t>Data and analysis</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Weeks 7-8</a:t>
            </a:r>
          </a:p>
          <a:p>
            <a:pPr marL="0" indent="0" algn="ctr">
              <a:lnSpc>
                <a:spcPct val="100000"/>
              </a:lnSpc>
              <a:spcBef>
                <a:spcPts val="300"/>
              </a:spcBef>
              <a:buNone/>
            </a:pPr>
            <a:r>
              <a:rPr lang="en-US" sz="1400" dirty="0">
                <a:solidFill>
                  <a:srgbClr val="595959"/>
                </a:solidFill>
                <a:latin typeface="Arial"/>
                <a:cs typeface="Arial"/>
              </a:rPr>
              <a:t>Ethics, writing, publishing</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Ask</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Find and read</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Design</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Bias and effect</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Data</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Analyse</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Protect and write</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Publish</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Proposal</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Results section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1  (this course)</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From question to publication</a:t>
            </a:r>
          </a:p>
          <a:p>
            <a:pPr marL="0" indent="0" algn="ctr">
              <a:lnSpc>
                <a:spcPct val="104000"/>
              </a:lnSpc>
              <a:spcBef>
                <a:spcPts val="400"/>
              </a:spcBef>
              <a:buNone/>
            </a:pPr>
            <a:r>
              <a:rPr lang="en-US" sz="1750" dirty="0">
                <a:solidFill>
                  <a:srgbClr val="000000"/>
                </a:solidFill>
                <a:latin typeface="Arial"/>
                <a:cs typeface="Arial"/>
              </a:rPr>
              <a:t>Ask, design, analyse, write and publish</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2  (hands-on)</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Statistical modelling in R</a:t>
            </a:r>
          </a:p>
          <a:p>
            <a:pPr marL="0" indent="0" algn="ctr">
              <a:lnSpc>
                <a:spcPct val="104000"/>
              </a:lnSpc>
              <a:spcBef>
                <a:spcPts val="400"/>
              </a:spcBef>
              <a:buNone/>
            </a:pPr>
            <a:r>
              <a:rPr lang="en-US" sz="1750" dirty="0">
                <a:solidFill>
                  <a:srgbClr val="000000"/>
                </a:solidFill>
                <a:latin typeface="Arial"/>
                <a:cs typeface="Arial"/>
              </a:rPr>
              <a:t>You run the analyses yourself</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3  (advanced)</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Advanced methods</a:t>
            </a:r>
          </a:p>
          <a:p>
            <a:pPr marL="0" indent="0" algn="ctr">
              <a:lnSpc>
                <a:spcPct val="104000"/>
              </a:lnSpc>
              <a:spcBef>
                <a:spcPts val="400"/>
              </a:spcBef>
              <a:buNone/>
            </a:pPr>
            <a:r>
              <a:rPr lang="en-US" sz="1750" dirty="0">
                <a:solidFill>
                  <a:srgbClr val="000000"/>
                </a:solidFill>
                <a:latin typeface="Arial"/>
                <a:cs typeface="Arial"/>
              </a:rPr>
              <a:t>Workshops on request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Levels 2 and 3 are for those who want to go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 will produce, each on your own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individual work. Each brief says what is expected and how it is assessed.</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research proposal</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 a question from your own department</a:t>
            </a:r>
          </a:p>
          <a:p>
            <a:pPr marL="0" indent="0" algn="ctr">
              <a:lnSpc>
                <a:spcPct val="104000"/>
              </a:lnSpc>
              <a:spcBef>
                <a:spcPts val="400"/>
              </a:spcBef>
              <a:buNone/>
            </a:pPr>
            <a:r>
              <a:rPr lang="en-US" sz="1750" dirty="0">
                <a:solidFill>
                  <a:srgbClr val="000000"/>
                </a:solidFill>
                <a:latin typeface="Arial"/>
                <a:cs typeface="Arial"/>
              </a:rPr>
              <a:t>Built part by part in Sessions 1 to 7</a:t>
            </a:r>
          </a:p>
          <a:p>
            <a:pPr marL="0" indent="0" algn="ctr">
              <a:lnSpc>
                <a:spcPct val="104000"/>
              </a:lnSpc>
              <a:spcBef>
                <a:spcPts val="400"/>
              </a:spcBef>
              <a:buNone/>
            </a:pPr>
            <a:r>
              <a:rPr lang="en-US" sz="1750" dirty="0">
                <a:solidFill>
                  <a:srgbClr val="000000"/>
                </a:solidFill>
                <a:latin typeface="Arial"/>
                <a:cs typeface="Arial"/>
              </a:rPr>
              <a:t>Submitted in Session 8 (about 5 volunteers present)</a:t>
            </a:r>
          </a:p>
          <a:p>
            <a:pPr marL="0" indent="0" algn="ctr">
              <a:lnSpc>
                <a:spcPct val="104000"/>
              </a:lnSpc>
              <a:spcBef>
                <a:spcPts val="400"/>
              </a:spcBef>
              <a:buNone/>
            </a:pPr>
            <a:r>
              <a:rPr lang="en-US" sz="1750" dirty="0">
                <a:solidFill>
                  <a:srgbClr val="000000"/>
                </a:solidFill>
                <a:latin typeface="Arial"/>
                <a:cs typeface="Arial"/>
              </a:rPr>
              <a:t>Proposal brief: sent before Session 1</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Results section, ready to submit</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For one FLUID-ICU question</a:t>
            </a:r>
          </a:p>
          <a:p>
            <a:pPr marL="0" indent="0" algn="ctr">
              <a:lnSpc>
                <a:spcPct val="104000"/>
              </a:lnSpc>
              <a:spcBef>
                <a:spcPts val="400"/>
              </a:spcBef>
              <a:buNone/>
            </a:pPr>
            <a:r>
              <a:rPr lang="en-US" sz="1750" dirty="0">
                <a:solidFill>
                  <a:srgbClr val="000000"/>
                </a:solidFill>
                <a:latin typeface="Arial"/>
                <a:cs typeface="Arial"/>
              </a:rPr>
              <a:t>Every section is taught. Only the Results must be submitted</a:t>
            </a:r>
          </a:p>
          <a:p>
            <a:pPr marL="0" indent="0" algn="ctr">
              <a:lnSpc>
                <a:spcPct val="104000"/>
              </a:lnSpc>
              <a:spcBef>
                <a:spcPts val="400"/>
              </a:spcBef>
              <a:buNone/>
            </a:pPr>
            <a:r>
              <a:rPr lang="en-US" sz="1750" dirty="0">
                <a:solidFill>
                  <a:srgbClr val="000000"/>
                </a:solidFill>
                <a:latin typeface="Arial"/>
                <a:cs typeface="Arial"/>
              </a:rPr>
              <a:t>Manuscript brief: shared in 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and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Turn a problem into a clear question</a:t>
            </a:r>
          </a:p>
          <a:p>
            <a:pPr marL="0" indent="0" algn="ctr">
              <a:lnSpc>
                <a:spcPct val="104000"/>
              </a:lnSpc>
              <a:spcBef>
                <a:spcPts val="400"/>
              </a:spcBef>
              <a:buNone/>
            </a:pPr>
            <a:r>
              <a:rPr lang="en-US" sz="1600" dirty="0">
                <a:solidFill>
                  <a:srgbClr val="000000"/>
                </a:solidFill>
                <a:latin typeface="Arial"/>
                <a:cs typeface="Arial"/>
              </a:rPr>
              <a:t>Search PubMed and manage references</a:t>
            </a:r>
          </a:p>
          <a:p>
            <a:pPr marL="0" indent="0" algn="ctr">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Choose a study design</a:t>
            </a:r>
          </a:p>
          <a:p>
            <a:pPr marL="0" indent="0" algn="ctr">
              <a:lnSpc>
                <a:spcPct val="104000"/>
              </a:lnSpc>
              <a:spcBef>
                <a:spcPts val="400"/>
              </a:spcBef>
              <a:buNone/>
            </a:pPr>
            <a:r>
              <a:rPr lang="en-US" sz="1600" dirty="0">
                <a:solidFill>
                  <a:srgbClr val="000000"/>
                </a:solidFill>
                <a:latin typeface="Arial"/>
                <a:cs typeface="Arial"/>
              </a:rPr>
              <a:t>Recognise bias</a:t>
            </a:r>
          </a:p>
          <a:p>
            <a:pPr marL="0" indent="0" algn="ctr">
              <a:lnSpc>
                <a:spcPct val="104000"/>
              </a:lnSpc>
              <a:spcBef>
                <a:spcPts val="400"/>
              </a:spcBef>
              <a:buNone/>
            </a:pPr>
            <a:r>
              <a:rPr lang="en-US" sz="1600" dirty="0">
                <a:solidFill>
                  <a:srgbClr val="000000"/>
                </a:solidFill>
                <a:latin typeface="Arial"/>
                <a:cs typeface="Arial"/>
              </a:rPr>
              <a:t>Read the main effect measures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the data you collect</a:t>
            </a:r>
          </a:p>
          <a:p>
            <a:pPr marL="0" indent="0" algn="ctr">
              <a:lnSpc>
                <a:spcPct val="104000"/>
              </a:lnSpc>
              <a:spcBef>
                <a:spcPts val="400"/>
              </a:spcBef>
              <a:buNone/>
            </a:pPr>
            <a:r>
              <a:rPr lang="en-US" sz="1600" dirty="0">
                <a:solidFill>
                  <a:srgbClr val="000000"/>
                </a:solidFill>
                <a:latin typeface="Arial"/>
                <a:cs typeface="Arial"/>
              </a:rPr>
              <a:t>Read the results of an analysis</a:t>
            </a:r>
          </a:p>
          <a:p>
            <a:pPr marL="0" indent="0" algn="ctr">
              <a:lnSpc>
                <a:spcPct val="104000"/>
              </a:lnSpc>
              <a:spcBef>
                <a:spcPts val="400"/>
              </a:spcBef>
              <a:buNone/>
            </a:pPr>
            <a:r>
              <a:rPr lang="en-US" sz="1600" dirty="0">
                <a:solidFill>
                  <a:srgbClr val="000000"/>
                </a:solidFill>
                <a:latin typeface="Arial"/>
                <a:cs typeface="Arial"/>
              </a:rPr>
              <a:t>Interpret a real dataset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and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ethics approval</a:t>
            </a:r>
          </a:p>
          <a:p>
            <a:pPr marL="0" indent="0" algn="ctr">
              <a:lnSpc>
                <a:spcPct val="104000"/>
              </a:lnSpc>
              <a:spcBef>
                <a:spcPts val="400"/>
              </a:spcBef>
              <a:buNone/>
            </a:pPr>
            <a:r>
              <a:rPr lang="en-US" sz="1600" dirty="0">
                <a:solidFill>
                  <a:srgbClr val="000000"/>
                </a:solidFill>
                <a:latin typeface="Arial"/>
                <a:cs typeface="Arial"/>
              </a:rPr>
              <a:t>Write each section of a paper</a:t>
            </a:r>
          </a:p>
          <a:p>
            <a:pPr marL="0" indent="0" algn="ctr">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Recap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Break</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Build your proposal or Results</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Wrap-up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check every 20 minutes. Extra slides only if time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your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1-2</a:t>
            </a:r>
          </a:p>
          <a:p>
            <a:pPr marL="0" indent="0" algn="ctr">
              <a:lnSpc>
                <a:spcPct val="104000"/>
              </a:lnSpc>
              <a:spcBef>
                <a:spcPts val="200"/>
              </a:spcBef>
              <a:buNone/>
            </a:pPr>
            <a:r>
              <a:rPr lang="en-US" sz="1700" dirty="0">
                <a:solidFill>
                  <a:srgbClr val="000000"/>
                </a:solidFill>
                <a:latin typeface="Arial"/>
                <a:cs typeface="Arial"/>
              </a:rPr>
              <a:t>Question, background, aims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3-4</a:t>
            </a:r>
          </a:p>
          <a:p>
            <a:pPr marL="0" indent="0" algn="ctr">
              <a:lnSpc>
                <a:spcPct val="104000"/>
              </a:lnSpc>
              <a:spcBef>
                <a:spcPts val="200"/>
              </a:spcBef>
              <a:buNone/>
            </a:pPr>
            <a:r>
              <a:rPr lang="en-US" sz="1700" dirty="0">
                <a:solidFill>
                  <a:srgbClr val="000000"/>
                </a:solidFill>
                <a:latin typeface="Arial"/>
                <a:cs typeface="Arial"/>
              </a:rPr>
              <a:t>Design and participants</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5-6</a:t>
            </a:r>
          </a:p>
          <a:p>
            <a:pPr marL="0" indent="0" algn="ctr">
              <a:lnSpc>
                <a:spcPct val="104000"/>
              </a:lnSpc>
              <a:spcBef>
                <a:spcPts val="200"/>
              </a:spcBef>
              <a:buNone/>
            </a:pPr>
            <a:r>
              <a:rPr lang="en-US" sz="1700" dirty="0">
                <a:solidFill>
                  <a:srgbClr val="000000"/>
                </a:solidFill>
                <a:latin typeface="Arial"/>
                <a:cs typeface="Arial"/>
              </a:rPr>
              <a:t>Data, sample size, analysis plan</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7</a:t>
            </a:r>
          </a:p>
          <a:p>
            <a:pPr marL="0" indent="0" algn="ctr">
              <a:lnSpc>
                <a:spcPct val="104000"/>
              </a:lnSpc>
              <a:spcBef>
                <a:spcPts val="200"/>
              </a:spcBef>
              <a:buNone/>
            </a:pPr>
            <a:r>
              <a:rPr lang="en-US" sz="1700" dirty="0">
                <a:solidFill>
                  <a:srgbClr val="000000"/>
                </a:solidFill>
                <a:latin typeface="Arial"/>
                <a:cs typeface="Arial"/>
              </a:rPr>
              <a:t>Ethics, feasibility, publication plan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8</a:t>
            </a:r>
          </a:p>
          <a:p>
            <a:pPr marL="0" indent="0" algn="ctr">
              <a:lnSpc>
                <a:spcPct val="104000"/>
              </a:lnSpc>
              <a:spcBef>
                <a:spcPts val="200"/>
              </a:spcBef>
              <a:buNone/>
            </a:pPr>
            <a:r>
              <a:rPr lang="en-US" sz="1700" dirty="0">
                <a:solidFill>
                  <a:srgbClr val="000000"/>
                </a:solidFill>
                <a:latin typeface="Arial"/>
                <a:cs typeface="Arial"/>
              </a:rPr>
              <a:t>Complete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own question, one template, one part every two weeks.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 online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There are no silly questions</a:t>
            </a:r>
          </a:p>
          <a:p>
            <a:pPr marL="0" indent="0" algn="ctr">
              <a:lnSpc>
                <a:spcPct val="104000"/>
              </a:lnSpc>
              <a:spcBef>
                <a:spcPts val="400"/>
              </a:spcBef>
              <a:buNone/>
            </a:pPr>
            <a:r>
              <a:rPr lang="en-US" sz="1600" dirty="0">
                <a:solidFill>
                  <a:srgbClr val="000000"/>
                </a:solidFill>
                <a:latin typeface="Arial"/>
                <a:cs typeface="Arial"/>
              </a:rPr>
              <a:t>Use the chat or 'raise hand'</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We check understanding often</a:t>
            </a:r>
          </a:p>
          <a:p>
            <a:pPr marL="0" indent="0" algn="ctr">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department</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examples from your own practice</a:t>
            </a:r>
          </a:p>
          <a:p>
            <a:pPr marL="0" indent="0" algn="ctr">
              <a:lnSpc>
                <a:spcPct val="104000"/>
              </a:lnSpc>
              <a:spcBef>
                <a:spcPts val="400"/>
              </a:spcBef>
              <a:buNone/>
            </a:pPr>
            <a:r>
              <a:rPr lang="en-US" sz="1600" dirty="0">
                <a:solidFill>
                  <a:srgbClr val="000000"/>
                </a:solidFill>
                <a:latin typeface="Arial"/>
                <a:cs typeface="Arial"/>
              </a:rPr>
              <a:t>No patient names or details</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Online habits</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Camera on when you can</a:t>
            </a:r>
          </a:p>
          <a:p>
            <a:pPr marL="0" indent="0" algn="ctr">
              <a:lnSpc>
                <a:spcPct val="104000"/>
              </a:lnSpc>
              <a:spcBef>
                <a:spcPts val="400"/>
              </a:spcBef>
              <a:buNone/>
            </a:pPr>
            <a:r>
              <a:rPr lang="en-US" sz="1600" dirty="0">
                <a:solidFill>
                  <a:srgbClr val="000000"/>
                </a:solidFill>
                <a:latin typeface="Arial"/>
                <a:cs typeface="Arial"/>
              </a:rPr>
              <a:t>Microphone off unless speaking</a:t>
            </a:r>
          </a:p>
          <a:p>
            <a:pPr marL="0" indent="0" algn="ctr">
              <a:lnSpc>
                <a:spcPct val="104000"/>
              </a:lnSpc>
              <a:spcBef>
                <a:spcPts val="400"/>
              </a:spcBef>
              <a:buNone/>
            </a:pPr>
            <a:r>
              <a:rPr lang="en-US" sz="1600" dirty="0">
                <a:solidFill>
                  <a:srgbClr val="000000"/>
                </a:solidFill>
                <a:latin typeface="Arial"/>
                <a:cs typeface="Arial"/>
              </a:rPr>
              <a:t>Back on time after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 (online form)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quiz form: the link is in the chat now</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 (as in your Teams sign-in)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 (about 12 minutes)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no notes and no colleagues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Why a quiz now?</a:t>
            </a:r>
          </a:p>
          <a:p>
            <a:pPr marL="0" indent="0" algn="ctr">
              <a:lnSpc>
                <a:spcPct val="104000"/>
              </a:lnSpc>
              <a:spcBef>
                <a:spcPts val="300"/>
              </a:spcBef>
              <a:buNone/>
            </a:pPr>
            <a:r>
              <a:rPr lang="en-US" sz="1500" dirty="0">
                <a:solidFill>
                  <a:srgbClr val="000000"/>
                </a:solidFill>
                <a:latin typeface="Arial"/>
                <a:cs typeface="Arial"/>
              </a:rPr>
              <a:t>The same quiz again in Session 8</a:t>
            </a:r>
          </a:p>
          <a:p>
            <a:pPr marL="0" indent="0" algn="ctr">
              <a:lnSpc>
                <a:spcPct val="104000"/>
              </a:lnSpc>
              <a:spcBef>
                <a:spcPts val="300"/>
              </a:spcBef>
              <a:buNone/>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Sunday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study designs, the two course papers</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PECO and FINER</a:t>
            </a:r>
          </a:p>
          <a:p>
            <a:pPr marL="274320" indent="-274320" algn="l">
              <a:spcBef>
                <a:spcPts val="440"/>
              </a:spcBef>
              <a:buFont typeface="Arial"/>
              <a:buChar char="•"/>
            </a:pPr>
            <a:r>
              <a:rPr lang="en-US" sz="1900" dirty="0">
                <a:solidFill>
                  <a:srgbClr val="000000"/>
                </a:solidFill>
                <a:latin typeface="Arial"/>
                <a:cs typeface="Arial"/>
              </a:rPr>
              <a:t>1.3  Aims, objectives and hypotheses</a:t>
            </a:r>
          </a:p>
          <a:p>
            <a:pPr marL="274320" indent="-274320" algn="l">
              <a:spcBef>
                <a:spcPts val="440"/>
              </a:spcBef>
              <a:buFont typeface="Arial"/>
              <a:buChar char="•"/>
            </a:pPr>
            <a:r>
              <a:rPr lang="en-US" sz="1900" dirty="0">
                <a:solidFill>
                  <a:srgbClr val="000000"/>
                </a:solidFill>
                <a:latin typeface="Arial"/>
                <a:cs typeface="Arial"/>
              </a:rPr>
              <a:t>Proposal builder 1: start your own question</a:t>
            </a:r>
          </a:p>
          <a:p>
            <a:pPr marL="274320" indent="-274320" algn="l">
              <a:spcBef>
                <a:spcPts val="440"/>
              </a:spcBef>
              <a:buFont typeface="Arial"/>
              <a:buChar char="•"/>
            </a:pPr>
            <a:r>
              <a:rPr lang="en-US" sz="1900" dirty="0">
                <a:solidFill>
                  <a:srgbClr val="000000"/>
                </a:solidFill>
                <a:latin typeface="Arial"/>
                <a:cs typeface="Arial"/>
              </a:rPr>
              <a:t>Wrap-up: key words, exit question,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study designs, the two course papers, types of research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Anecdote</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"I gave less fluid to 3 patients and they all did well!"</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Few patients, no comparison, the cases we remember</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Evidence</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Restrictive fluids</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Usual care</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Many patients, a fair comparison, every outcome counted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A good cohort can beat a poor trial</a:t>
            </a:r>
          </a:p>
          <a:p>
            <a:pPr marL="274320" indent="-274320" algn="l">
              <a:spcBef>
                <a:spcPts val="440"/>
              </a:spcBef>
              <a:buFont typeface="Arial"/>
              <a:buChar char="•"/>
            </a:pPr>
            <a:r>
              <a:rPr lang="en-US" sz="1450" dirty="0">
                <a:solidFill>
                  <a:srgbClr val="000000"/>
                </a:solidFill>
                <a:latin typeface="Arial"/>
                <a:cs typeface="Arial"/>
              </a:rPr>
              <a:t>Descriptive questions do not need a trial</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less bias, more confidence</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Expert opinion, case reports</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 series, cross-sectional</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Case-control studies</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Cohort studies</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Randomised controlled trials</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Systematic reviews and meta-analyses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question: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'In 20 years, my patients kept dry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registry that followed thousands of ICU patients (a cohort)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randomly assigned 1,554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systematic review of all trials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order runs from weakest to strongest?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result, then: what could make C weaker than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we read together in this course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open access. You receive the two PDFs by email before Session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trial</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A small pilot randomised controlled trial (RCT), 48 patients</a:t>
            </a:r>
          </a:p>
          <a:p>
            <a:pPr marL="0" indent="0" algn="ctr">
              <a:lnSpc>
                <a:spcPct val="104000"/>
              </a:lnSpc>
              <a:spcBef>
                <a:spcPts val="400"/>
              </a:spcBef>
              <a:buNone/>
            </a:pPr>
            <a:r>
              <a:rPr lang="en-US" sz="1500" dirty="0">
                <a:solidFill>
                  <a:srgbClr val="000000"/>
                </a:solidFill>
                <a:latin typeface="Arial"/>
                <a:cs typeface="Arial"/>
              </a:rPr>
              <a:t>Main outcome: fluid balance at day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a cohort</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A cohort study from the Korean sepsis registry</a:t>
            </a:r>
          </a:p>
          <a:p>
            <a:pPr marL="0" indent="0" algn="ctr">
              <a:lnSpc>
                <a:spcPct val="104000"/>
              </a:lnSpc>
              <a:spcBef>
                <a:spcPts val="400"/>
              </a:spcBef>
              <a:buNone/>
            </a:pPr>
            <a:r>
              <a:rPr lang="en-US" sz="1500" dirty="0">
                <a:solidFill>
                  <a:srgbClr val="000000"/>
                </a:solidFill>
                <a:latin typeface="Arial"/>
                <a:cs typeface="Arial"/>
              </a:rPr>
              <a:t>Main outcome: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1 is a trial, Paper 2 is a cohort. Both study fluids in sepsis.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Clinical problem</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Research question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Search the literature</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Design and protocol</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Ethics approval</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Collect data</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Analyse and interpret</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Publish and change practice</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Weeks 1-2</a:t>
            </a:r>
          </a:p>
          <a:p>
            <a:pPr marL="0" indent="0" algn="ctr">
              <a:lnSpc>
                <a:spcPct val="100000"/>
              </a:lnSpc>
              <a:spcBef>
                <a:spcPts val="300"/>
              </a:spcBef>
              <a:buNone/>
            </a:pPr>
            <a:r>
              <a:rPr lang="en-US" sz="1600" dirty="0">
                <a:solidFill>
                  <a:srgbClr val="1A1A1A"/>
                </a:solidFill>
                <a:latin typeface="Arial"/>
                <a:cs typeface="Arial"/>
              </a:rPr>
              <a:t>problem, question, 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Type of research</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What it gives</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Example</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Quantitative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how many? Does X change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28-day mortality with two fluid strategies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Qualitative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Words: why? How? What is it like?</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Interviews: why nurses hesitate to stop fluids</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Mixed methods</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 words in one study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Survey of fluid practice + focus groups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Primary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collect new data</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Paper 1: a new trial</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Secondary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reuse data that exist: records, registries</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Paper 2: a sepsis registry</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patients with septic shock are fluid-positive on day 3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ICU nurses about why they hesitate to stop IV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ICU records for fluid balance and death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fluid prescribing plus focus groups with doctors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numbers, words or both? New data or existing data?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Two or three people answer aloud, e.g. 'A: numbers, new'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Qualitative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Secondary</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Mixed methods</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Question</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Design and protocol</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Registration</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Ethics approval</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Data collection</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Analysis</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Writing</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Submission</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Peer review</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Publication</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Impact on patients</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1-2  Ask and find</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3-4  Design</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5-6  Measure</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7-8  Publish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PICO(T) and PECO, question types, FINER, then a whole-class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First check: is the answer already known? The literature search tells you (Session 2).</a:t>
            </a:r>
          </a:p>
        </p:txBody>
      </p:sp>
      <p:sp>
        <p:nvSpPr>
          <p:cNvPr id="70" name="CardHead"/>
          <p:cNvSpPr/>
          <p:nvPr/>
        </p:nvSpPr>
        <p:spPr>
          <a:xfrm>
            <a:off x="457200" y="185927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questions come from</a:t>
            </a:r>
          </a:p>
        </p:txBody>
      </p:sp>
      <p:sp>
        <p:nvSpPr>
          <p:cNvPr id="71" name="CardBody"/>
          <p:cNvSpPr/>
          <p:nvPr/>
        </p:nvSpPr>
        <p:spPr>
          <a:xfrm>
            <a:off x="457200" y="2499273"/>
            <a:ext cx="5438800" cy="235218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Bedside doubt: "Why do we do it this way?"</a:t>
            </a:r>
          </a:p>
          <a:p>
            <a:pPr marL="274320" indent="-274320" algn="l">
              <a:lnSpc>
                <a:spcPct val="104000"/>
              </a:lnSpc>
              <a:spcBef>
                <a:spcPts val="400"/>
              </a:spcBef>
              <a:buFont typeface="Arial"/>
              <a:buChar char="•"/>
            </a:pPr>
            <a:r>
              <a:rPr lang="en-US" sz="1800" dirty="0">
                <a:solidFill>
                  <a:srgbClr val="000000"/>
                </a:solidFill>
                <a:latin typeface="Arial"/>
                <a:cs typeface="Arial"/>
              </a:rPr>
              <a:t>Colleagues who do it differently</a:t>
            </a:r>
          </a:p>
          <a:p>
            <a:pPr marL="274320" indent="-274320" algn="l">
              <a:lnSpc>
                <a:spcPct val="104000"/>
              </a:lnSpc>
              <a:spcBef>
                <a:spcPts val="400"/>
              </a:spcBef>
              <a:buFont typeface="Arial"/>
              <a:buChar char="•"/>
            </a:pPr>
            <a:r>
              <a:rPr lang="en-US" sz="1800" dirty="0">
                <a:solidFill>
                  <a:srgbClr val="000000"/>
                </a:solidFill>
                <a:latin typeface="Arial"/>
                <a:cs typeface="Arial"/>
              </a:rPr>
              <a:t>Incident and registry data</a:t>
            </a:r>
          </a:p>
          <a:p>
            <a:pPr marL="274320" indent="-274320" algn="l">
              <a:lnSpc>
                <a:spcPct val="104000"/>
              </a:lnSpc>
              <a:spcBef>
                <a:spcPts val="400"/>
              </a:spcBef>
              <a:buFont typeface="Arial"/>
              <a:buChar char="•"/>
            </a:pPr>
            <a:r>
              <a:rPr lang="en-US" sz="1800" dirty="0">
                <a:solidFill>
                  <a:srgbClr val="000000"/>
                </a:solidFill>
                <a:latin typeface="Arial"/>
                <a:cs typeface="Arial"/>
              </a:rPr>
              <a:t>Guidelines with "low-certainty evidence"</a:t>
            </a:r>
          </a:p>
          <a:p>
            <a:pPr marL="274320" indent="-274320" algn="l">
              <a:lnSpc>
                <a:spcPct val="104000"/>
              </a:lnSpc>
              <a:spcBef>
                <a:spcPts val="400"/>
              </a:spcBef>
              <a:buFont typeface="Arial"/>
              <a:buChar char="•"/>
            </a:pPr>
            <a:r>
              <a:rPr lang="en-US" sz="1800" dirty="0">
                <a:solidFill>
                  <a:srgbClr val="000000"/>
                </a:solidFill>
                <a:latin typeface="Arial"/>
                <a:cs typeface="Arial"/>
              </a:rPr>
              <a:t>Papers that end "more research is needed"</a:t>
            </a:r>
          </a:p>
          <a:p>
            <a:pPr marL="274320" indent="-274320" algn="l">
              <a:lnSpc>
                <a:spcPct val="104000"/>
              </a:lnSpc>
              <a:spcBef>
                <a:spcPts val="400"/>
              </a:spcBef>
              <a:buFont typeface="Arial"/>
              <a:buChar char="•"/>
            </a:pPr>
            <a:r>
              <a:rPr lang="en-US" sz="1800" dirty="0">
                <a:solidFill>
                  <a:srgbClr val="000000"/>
                </a:solidFill>
                <a:latin typeface="Arial"/>
                <a:cs typeface="Arial"/>
              </a:rPr>
              <a:t>Questions from patients and families</a:t>
            </a:r>
          </a:p>
        </p:txBody>
      </p:sp>
      <p:sp>
        <p:nvSpPr>
          <p:cNvPr id="72" name="CardHead"/>
          <p:cNvSpPr/>
          <p:nvPr/>
        </p:nvSpPr>
        <p:spPr>
          <a:xfrm>
            <a:off x="6096000" y="185927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Known</a:t>
            </a:r>
          </a:p>
        </p:txBody>
      </p:sp>
      <p:sp>
        <p:nvSpPr>
          <p:cNvPr id="73" name="CardBody"/>
          <p:cNvSpPr/>
          <p:nvPr/>
        </p:nvSpPr>
        <p:spPr>
          <a:xfrm>
            <a:off x="60960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Apply it</a:t>
            </a:r>
          </a:p>
          <a:p>
            <a:pPr marL="0" indent="0" algn="ctr">
              <a:lnSpc>
                <a:spcPct val="104000"/>
              </a:lnSpc>
              <a:spcBef>
                <a:spcPts val="400"/>
              </a:spcBef>
              <a:buNone/>
            </a:pPr>
            <a:r>
              <a:rPr lang="en-US" sz="1800" dirty="0">
                <a:solidFill>
                  <a:srgbClr val="000000"/>
                </a:solidFill>
                <a:latin typeface="Arial"/>
                <a:cs typeface="Arial"/>
              </a:rPr>
              <a:t>Update the local guideline or protocol</a:t>
            </a:r>
          </a:p>
        </p:txBody>
      </p:sp>
      <p:sp>
        <p:nvSpPr>
          <p:cNvPr id="74" name="CardHead"/>
          <p:cNvSpPr/>
          <p:nvPr/>
        </p:nvSpPr>
        <p:spPr>
          <a:xfrm>
            <a:off x="9015400" y="185927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known</a:t>
            </a:r>
          </a:p>
        </p:txBody>
      </p:sp>
      <p:sp>
        <p:nvSpPr>
          <p:cNvPr id="75" name="CardBody"/>
          <p:cNvSpPr/>
          <p:nvPr/>
        </p:nvSpPr>
        <p:spPr>
          <a:xfrm>
            <a:off x="90154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Research question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in the ICU, does a restrictive fluid strategy, compared with usual care, reduce 28-day mortality?</a:t>
            </a:r>
          </a:p>
        </p:txBody>
      </p:sp>
      <p:sp>
        <p:nvSpPr>
          <p:cNvPr id="70" name="CardHead"/>
          <p:cNvSpPr/>
          <p:nvPr/>
        </p:nvSpPr>
        <p:spPr>
          <a:xfrm>
            <a:off x="457200" y="230786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Population</a:t>
            </a:r>
          </a:p>
        </p:txBody>
      </p:sp>
      <p:sp>
        <p:nvSpPr>
          <p:cNvPr id="71" name="CardBody"/>
          <p:cNvSpPr/>
          <p:nvPr/>
        </p:nvSpPr>
        <p:spPr>
          <a:xfrm>
            <a:off x="45720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Adults (18+) with septic shock in the ICU</a:t>
            </a:r>
          </a:p>
        </p:txBody>
      </p:sp>
      <p:sp>
        <p:nvSpPr>
          <p:cNvPr id="72" name="CardHead"/>
          <p:cNvSpPr/>
          <p:nvPr/>
        </p:nvSpPr>
        <p:spPr>
          <a:xfrm>
            <a:off x="2752720" y="230786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Intervention</a:t>
            </a:r>
          </a:p>
        </p:txBody>
      </p:sp>
      <p:sp>
        <p:nvSpPr>
          <p:cNvPr id="73" name="CardBody"/>
          <p:cNvSpPr/>
          <p:nvPr/>
        </p:nvSpPr>
        <p:spPr>
          <a:xfrm>
            <a:off x="275272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Restrictive fluid strategy</a:t>
            </a:r>
          </a:p>
        </p:txBody>
      </p:sp>
      <p:sp>
        <p:nvSpPr>
          <p:cNvPr id="74" name="CardHead"/>
          <p:cNvSpPr/>
          <p:nvPr/>
        </p:nvSpPr>
        <p:spPr>
          <a:xfrm>
            <a:off x="5048240" y="230786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Comparison</a:t>
            </a:r>
          </a:p>
        </p:txBody>
      </p:sp>
      <p:sp>
        <p:nvSpPr>
          <p:cNvPr id="75" name="CardBody"/>
          <p:cNvSpPr/>
          <p:nvPr/>
        </p:nvSpPr>
        <p:spPr>
          <a:xfrm>
            <a:off x="504824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Usual care (standard fluids)</a:t>
            </a:r>
          </a:p>
        </p:txBody>
      </p:sp>
      <p:sp>
        <p:nvSpPr>
          <p:cNvPr id="76" name="CardHead"/>
          <p:cNvSpPr/>
          <p:nvPr/>
        </p:nvSpPr>
        <p:spPr>
          <a:xfrm>
            <a:off x="7343760" y="230786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Outcome</a:t>
            </a:r>
          </a:p>
        </p:txBody>
      </p:sp>
      <p:sp>
        <p:nvSpPr>
          <p:cNvPr id="77" name="CardBody"/>
          <p:cNvSpPr/>
          <p:nvPr/>
        </p:nvSpPr>
        <p:spPr>
          <a:xfrm>
            <a:off x="734376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Death from any cause</a:t>
            </a:r>
          </a:p>
        </p:txBody>
      </p:sp>
      <p:sp>
        <p:nvSpPr>
          <p:cNvPr id="78" name="CardHead"/>
          <p:cNvSpPr/>
          <p:nvPr/>
        </p:nvSpPr>
        <p:spPr>
          <a:xfrm>
            <a:off x="9639280" y="2307864"/>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Time</a:t>
            </a:r>
          </a:p>
        </p:txBody>
      </p:sp>
      <p:sp>
        <p:nvSpPr>
          <p:cNvPr id="79" name="CardBody"/>
          <p:cNvSpPr/>
          <p:nvPr/>
        </p:nvSpPr>
        <p:spPr>
          <a:xfrm>
            <a:off x="963928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Within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Three more examples: PICO, PECO and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Treatment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Ventilated adults in the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Twice-daily bed-head checklist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Usual care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Ventilator-associated pneumonia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ICU day 28</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Risk factor (PECO)</a:t>
                      </a:r>
                    </a:p>
                    <a:p>
                      <a:pPr algn="l"/>
                      <a:r>
                        <a:rPr lang="en-US" sz="1800" b="1" dirty="0">
                          <a:solidFill>
                            <a:srgbClr val="000000"/>
                          </a:solidFill>
                          <a:latin typeface="Arial"/>
                          <a:cs typeface="Arial"/>
                        </a:rPr>
                        <a:t>E = Exposure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on the medical ward</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Obesity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under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New pressure injury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During admission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How common?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65+ after hip surgery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Delirium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First 7 days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PECO: E = Exposure, used when we cannot assign the factor (e.g. obesity).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Paper 1's question: 'In adults with septic shock in the first 24 hours of vasopressors, does restricting non-resuscitative fluids, compared with usual care, reduce cumulative fluid balance at day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words are the outcome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two or three people say the population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septic shock</a:t>
            </a:r>
          </a:p>
          <a:p>
            <a:pPr marL="0" indent="0" algn="ctr">
              <a:lnSpc>
                <a:spcPct val="104000"/>
              </a:lnSpc>
              <a:spcBef>
                <a:spcPts val="300"/>
              </a:spcBef>
              <a:buNone/>
            </a:pPr>
            <a:r>
              <a:rPr lang="en-US" sz="1500" dirty="0">
                <a:solidFill>
                  <a:srgbClr val="000000"/>
                </a:solidFill>
                <a:latin typeface="Arial"/>
                <a:cs typeface="Arial"/>
              </a:rPr>
              <a:t>B: restricting non-resuscitative fluids</a:t>
            </a:r>
          </a:p>
          <a:p>
            <a:pPr marL="0" indent="0" algn="ctr">
              <a:lnSpc>
                <a:spcPct val="104000"/>
              </a:lnSpc>
              <a:spcBef>
                <a:spcPts val="300"/>
              </a:spcBef>
              <a:buNone/>
            </a:pPr>
            <a:r>
              <a:rPr lang="en-US" sz="1500" dirty="0">
                <a:solidFill>
                  <a:srgbClr val="000000"/>
                </a:solidFill>
                <a:latin typeface="Arial"/>
                <a:cs typeface="Arial"/>
              </a:rPr>
              <a:t>C: cumulative fluid balance</a:t>
            </a:r>
          </a:p>
          <a:p>
            <a:pPr marL="0" indent="0" algn="ctr">
              <a:lnSpc>
                <a:spcPct val="104000"/>
              </a:lnSpc>
              <a:spcBef>
                <a:spcPts val="300"/>
              </a:spcBef>
              <a:buNone/>
            </a:pPr>
            <a:r>
              <a:rPr lang="en-US" sz="1500" dirty="0">
                <a:solidFill>
                  <a:srgbClr val="000000"/>
                </a:solidFill>
                <a:latin typeface="Arial"/>
                <a:cs typeface="Arial"/>
              </a:rPr>
              <a:t>D: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 then P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 in Paper 1's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Adults with septic shock</a:t>
            </a:r>
          </a:p>
          <a:p>
            <a:pPr marL="0" indent="0" algn="ctr">
              <a:lnSpc>
                <a:spcPct val="104000"/>
              </a:lnSpc>
              <a:spcBef>
                <a:spcPts val="400"/>
              </a:spcBef>
              <a:buNone/>
            </a:pPr>
            <a:r>
              <a:rPr lang="en-US" sz="1450" dirty="0">
                <a:solidFill>
                  <a:srgbClr val="000000"/>
                </a:solidFill>
                <a:latin typeface="Arial"/>
                <a:cs typeface="Arial"/>
              </a:rPr>
              <a:t>First 24 hours of vasopressors</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Restricting non-resuscitative fluids</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Cumulative fluid balance</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Day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condition that brings patients in (septic shock)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question decides the design (more in Session 3).</a:t>
            </a:r>
          </a:p>
        </p:txBody>
      </p:sp>
      <p:sp>
        <p:nvSpPr>
          <p:cNvPr id="70" name="CardHead"/>
          <p:cNvSpPr/>
          <p:nvPr/>
        </p:nvSpPr>
        <p:spPr>
          <a:xfrm>
            <a:off x="457200" y="201855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Descriptive</a:t>
            </a:r>
          </a:p>
        </p:txBody>
      </p:sp>
      <p:sp>
        <p:nvSpPr>
          <p:cNvPr id="71" name="CardBody"/>
          <p:cNvSpPr/>
          <p:nvPr/>
        </p:nvSpPr>
        <p:spPr>
          <a:xfrm>
            <a:off x="457200"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What? How many? Who?</a:t>
            </a:r>
          </a:p>
          <a:p>
            <a:pPr marL="0" indent="0" algn="ctr">
              <a:lnSpc>
                <a:spcPct val="104000"/>
              </a:lnSpc>
              <a:spcBef>
                <a:spcPts val="400"/>
              </a:spcBef>
              <a:buNone/>
            </a:pPr>
            <a:r>
              <a:rPr lang="en-US" sz="1750" dirty="0">
                <a:solidFill>
                  <a:srgbClr val="000000"/>
                </a:solidFill>
                <a:latin typeface="Arial"/>
                <a:cs typeface="Arial"/>
              </a:rPr>
              <a:t>"How many of our septic shock patients have a positive fluid balance on day 3?"</a:t>
            </a:r>
          </a:p>
          <a:p>
            <a:pPr marL="0" indent="0" algn="ctr">
              <a:lnSpc>
                <a:spcPct val="104000"/>
              </a:lnSpc>
              <a:spcBef>
                <a:spcPts val="400"/>
              </a:spcBef>
              <a:buNone/>
            </a:pPr>
            <a:r>
              <a:rPr lang="en-US" sz="1750" b="1" dirty="0">
                <a:solidFill>
                  <a:srgbClr val="000000"/>
                </a:solidFill>
                <a:latin typeface="Arial"/>
                <a:cs typeface="Arial"/>
              </a:rPr>
              <a:t>Case series, cross-sectional</a:t>
            </a:r>
          </a:p>
        </p:txBody>
      </p:sp>
      <p:sp>
        <p:nvSpPr>
          <p:cNvPr id="72" name="CardHead"/>
          <p:cNvSpPr/>
          <p:nvPr/>
        </p:nvSpPr>
        <p:spPr>
          <a:xfrm>
            <a:off x="4283066" y="201855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observe</a:t>
            </a:r>
          </a:p>
        </p:txBody>
      </p:sp>
      <p:sp>
        <p:nvSpPr>
          <p:cNvPr id="73" name="CardBody"/>
          <p:cNvSpPr/>
          <p:nvPr/>
        </p:nvSpPr>
        <p:spPr>
          <a:xfrm>
            <a:off x="4283066"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Is X linked to Y?</a:t>
            </a:r>
          </a:p>
          <a:p>
            <a:pPr marL="0" indent="0" algn="ctr">
              <a:lnSpc>
                <a:spcPct val="104000"/>
              </a:lnSpc>
              <a:spcBef>
                <a:spcPts val="400"/>
              </a:spcBef>
              <a:buNone/>
            </a:pPr>
            <a:r>
              <a:rPr lang="en-US" sz="1750" dirty="0">
                <a:solidFill>
                  <a:srgbClr val="000000"/>
                </a:solidFill>
                <a:latin typeface="Arial"/>
                <a:cs typeface="Arial"/>
              </a:rPr>
              <a:t>"Is a positive fluid balance associated with death?"</a:t>
            </a:r>
          </a:p>
          <a:p>
            <a:pPr marL="0" indent="0" algn="ctr">
              <a:lnSpc>
                <a:spcPct val="104000"/>
              </a:lnSpc>
              <a:spcBef>
                <a:spcPts val="400"/>
              </a:spcBef>
              <a:buNone/>
            </a:pPr>
            <a:r>
              <a:rPr lang="en-US" sz="1750" b="1" dirty="0">
                <a:solidFill>
                  <a:srgbClr val="000000"/>
                </a:solidFill>
                <a:latin typeface="Arial"/>
                <a:cs typeface="Arial"/>
              </a:rPr>
              <a:t>Cohort, case-control</a:t>
            </a:r>
          </a:p>
        </p:txBody>
      </p:sp>
      <p:sp>
        <p:nvSpPr>
          <p:cNvPr id="74" name="CardHead"/>
          <p:cNvSpPr/>
          <p:nvPr/>
        </p:nvSpPr>
        <p:spPr>
          <a:xfrm>
            <a:off x="8108932" y="2018553"/>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intervene</a:t>
            </a:r>
          </a:p>
        </p:txBody>
      </p:sp>
      <p:sp>
        <p:nvSpPr>
          <p:cNvPr id="75" name="CardBody"/>
          <p:cNvSpPr/>
          <p:nvPr/>
        </p:nvSpPr>
        <p:spPr>
          <a:xfrm>
            <a:off x="8108932"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Does X cause Y?</a:t>
            </a:r>
          </a:p>
          <a:p>
            <a:pPr marL="0" indent="0" algn="ctr">
              <a:lnSpc>
                <a:spcPct val="104000"/>
              </a:lnSpc>
              <a:spcBef>
                <a:spcPts val="400"/>
              </a:spcBef>
              <a:buNone/>
            </a:pPr>
            <a:r>
              <a:rPr lang="en-US" sz="1750" dirty="0">
                <a:solidFill>
                  <a:srgbClr val="000000"/>
                </a:solidFill>
                <a:latin typeface="Arial"/>
                <a:cs typeface="Arial"/>
              </a:rPr>
              <a:t>"Does restricting fluids reduce 28-day mortality?"</a:t>
            </a:r>
          </a:p>
          <a:p>
            <a:pPr marL="0" indent="0" algn="ctr">
              <a:lnSpc>
                <a:spcPct val="104000"/>
              </a:lnSpc>
              <a:spcBef>
                <a:spcPts val="400"/>
              </a:spcBef>
              <a:buNone/>
            </a:pPr>
            <a:r>
              <a:rPr lang="en-US" sz="1750" b="1" dirty="0">
                <a:solidFill>
                  <a:srgbClr val="000000"/>
                </a:solidFill>
                <a:latin typeface="Arial"/>
                <a:cs typeface="Arial"/>
              </a:rPr>
              <a:t>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"Are fluids bad for ICU patients?"</a:t>
            </a:r>
          </a:p>
          <a:p>
            <a:pPr marL="0" indent="0" algn="ctr">
              <a:lnSpc>
                <a:spcPct val="104000"/>
              </a:lnSpc>
              <a:spcBef>
                <a:spcPts val="400"/>
              </a:spcBef>
              <a:buNone/>
            </a:pPr>
            <a:r>
              <a:rPr lang="en-US" sz="1950" dirty="0">
                <a:solidFill>
                  <a:srgbClr val="000000"/>
                </a:solidFill>
                <a:latin typeface="Arial"/>
                <a:cs typeface="Arial"/>
              </a:rPr>
              <a:t>Which patients?</a:t>
            </a:r>
          </a:p>
          <a:p>
            <a:pPr marL="0" indent="0" algn="ctr">
              <a:lnSpc>
                <a:spcPct val="104000"/>
              </a:lnSpc>
              <a:spcBef>
                <a:spcPts val="400"/>
              </a:spcBef>
              <a:buNone/>
            </a:pPr>
            <a:r>
              <a:rPr lang="en-US" sz="1950" dirty="0">
                <a:solidFill>
                  <a:srgbClr val="000000"/>
                </a:solidFill>
                <a:latin typeface="Arial"/>
                <a:cs typeface="Arial"/>
              </a:rPr>
              <a:t>Which fluid, how much?</a:t>
            </a:r>
          </a:p>
          <a:p>
            <a:pPr marL="0" indent="0" algn="ctr">
              <a:lnSpc>
                <a:spcPct val="104000"/>
              </a:lnSpc>
              <a:spcBef>
                <a:spcPts val="400"/>
              </a:spcBef>
              <a:buNone/>
            </a:pPr>
            <a:r>
              <a:rPr lang="en-US" sz="1950" dirty="0">
                <a:solidFill>
                  <a:srgbClr val="000000"/>
                </a:solidFill>
                <a:latin typeface="Arial"/>
                <a:cs typeface="Arial"/>
              </a:rPr>
              <a:t>Bad compared with what?</a:t>
            </a:r>
          </a:p>
          <a:p>
            <a:pPr marL="0" indent="0" algn="ctr">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adults with septic shock in the ICU,</a:t>
            </a:r>
          </a:p>
          <a:p>
            <a:pPr marL="0" indent="0" algn="ctr">
              <a:lnSpc>
                <a:spcPct val="104000"/>
              </a:lnSpc>
              <a:spcBef>
                <a:spcPts val="400"/>
              </a:spcBef>
              <a:buNone/>
            </a:pPr>
            <a:r>
              <a:rPr lang="en-US" sz="1950" dirty="0">
                <a:solidFill>
                  <a:srgbClr val="000000"/>
                </a:solidFill>
                <a:latin typeface="Arial"/>
                <a:cs typeface="Arial"/>
              </a:rPr>
              <a:t>I: does a restrictive fluid strategy,</a:t>
            </a:r>
          </a:p>
          <a:p>
            <a:pPr marL="0" indent="0" algn="ctr">
              <a:lnSpc>
                <a:spcPct val="104000"/>
              </a:lnSpc>
              <a:spcBef>
                <a:spcPts val="400"/>
              </a:spcBef>
              <a:buNone/>
            </a:pPr>
            <a:r>
              <a:rPr lang="en-US" sz="1950" dirty="0">
                <a:solidFill>
                  <a:srgbClr val="000000"/>
                </a:solidFill>
                <a:latin typeface="Arial"/>
                <a:cs typeface="Arial"/>
              </a:rPr>
              <a:t>C: compared with usual care,</a:t>
            </a:r>
          </a:p>
          <a:p>
            <a:pPr marL="0" indent="0" algn="ctr">
              <a:lnSpc>
                <a:spcPct val="104000"/>
              </a:lnSpc>
              <a:spcBef>
                <a:spcPts val="400"/>
              </a:spcBef>
              <a:buNone/>
            </a:pPr>
            <a:r>
              <a:rPr lang="en-US" sz="1950" dirty="0">
                <a:solidFill>
                  <a:srgbClr val="000000"/>
                </a:solidFill>
                <a:latin typeface="Arial"/>
                <a:cs typeface="Arial"/>
              </a:rPr>
              <a:t>O: reduce mortality</a:t>
            </a:r>
          </a:p>
          <a:p>
            <a:pPr marL="0" indent="0" algn="ctr">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the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Enough patients</a:t>
            </a:r>
          </a:p>
          <a:p>
            <a:pPr marL="0" indent="0" algn="ctr">
              <a:lnSpc>
                <a:spcPct val="104000"/>
              </a:lnSpc>
              <a:spcBef>
                <a:spcPts val="400"/>
              </a:spcBef>
              <a:buNone/>
            </a:pPr>
            <a:r>
              <a:rPr lang="en-US" sz="1450" dirty="0">
                <a:solidFill>
                  <a:srgbClr val="000000"/>
                </a:solidFill>
                <a:latin typeface="Arial"/>
                <a:cs typeface="Arial"/>
              </a:rPr>
              <a:t>Time, money and skills</a:t>
            </a:r>
          </a:p>
          <a:p>
            <a:pPr marL="0" indent="0" algn="ctr">
              <a:lnSpc>
                <a:spcPct val="104000"/>
              </a:lnSpc>
              <a:spcBef>
                <a:spcPts val="400"/>
              </a:spcBef>
              <a:buNone/>
            </a:pPr>
            <a:r>
              <a:rPr lang="en-US" sz="1450" dirty="0">
                <a:solidFill>
                  <a:srgbClr val="000000"/>
                </a:solidFill>
                <a:latin typeface="Arial"/>
                <a:cs typeface="Arial"/>
              </a:rPr>
              <a:t>Data you can get</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To you and your team</a:t>
            </a:r>
          </a:p>
          <a:p>
            <a:pPr marL="0" indent="0" algn="ctr">
              <a:lnSpc>
                <a:spcPct val="104000"/>
              </a:lnSpc>
              <a:spcBef>
                <a:spcPts val="400"/>
              </a:spcBef>
              <a:buNone/>
            </a:pPr>
            <a:r>
              <a:rPr lang="en-US" sz="1450" dirty="0">
                <a:solidFill>
                  <a:srgbClr val="000000"/>
                </a:solidFill>
                <a:latin typeface="Arial"/>
                <a:cs typeface="Arial"/>
              </a:rPr>
              <a:t>To readers</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Confirms, refutes or extends what is known</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 ethics committee could approve it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Could change practice, policy 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Restrictive fluids vs usual care in septic shock: 28-day mortality, in your own ICU.</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Red</a:t>
            </a:r>
          </a:p>
          <a:p>
            <a:pPr marL="0" indent="0" algn="ctr">
              <a:lnSpc>
                <a:spcPct val="104000"/>
              </a:lnSpc>
              <a:spcBef>
                <a:spcPts val="400"/>
              </a:spcBef>
              <a:buNone/>
            </a:pPr>
            <a:r>
              <a:rPr lang="en-US" sz="1450" dirty="0">
                <a:solidFill>
                  <a:srgbClr val="000000"/>
                </a:solidFill>
                <a:latin typeface="Arial"/>
                <a:cs typeface="Arial"/>
              </a:rPr>
              <a:t>Mortality needs more than 1,000 patients</a:t>
            </a:r>
          </a:p>
          <a:p>
            <a:pPr marL="0" indent="0" algn="ctr">
              <a:lnSpc>
                <a:spcPct val="104000"/>
              </a:lnSpc>
              <a:spcBef>
                <a:spcPts val="400"/>
              </a:spcBef>
              <a:buNone/>
            </a:pPr>
            <a:r>
              <a:rPr lang="en-US" sz="1450" dirty="0">
                <a:solidFill>
                  <a:srgbClr val="000000"/>
                </a:solidFill>
                <a:latin typeface="Arial"/>
                <a:cs typeface="Arial"/>
              </a:rPr>
              <a:t>Too big for one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Fluids are debated on every ward round</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Large trials have already been done</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Both strategies are used today</a:t>
            </a:r>
          </a:p>
          <a:p>
            <a:pPr marL="0" indent="0" algn="ctr">
              <a:lnSpc>
                <a:spcPct val="104000"/>
              </a:lnSpc>
              <a:spcBef>
                <a:spcPts val="400"/>
              </a:spcBef>
              <a:buNone/>
            </a:pPr>
            <a:r>
              <a:rPr lang="en-US" sz="1450" dirty="0">
                <a:solidFill>
                  <a:srgbClr val="000000"/>
                </a:solidFill>
                <a:latin typeface="Arial"/>
                <a:cs typeface="Arial"/>
              </a:rPr>
              <a:t>Consent in the ICU needs care</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Every patient with septic shock gets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Important, but too big for one ICU. Next: make it smaller.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Whole-class task: rescue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Exercise 1 on the Session 1 exercise sheet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 gives three smaller versions of the question: A, B and C (right)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version could your ICU do within two years?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the chosen version, people called on give P, I or E, C, O and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name the question type and colour each FINER letter</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three versions</a:t>
            </a:r>
          </a:p>
          <a:p>
            <a:pPr marL="0" indent="0" algn="ctr">
              <a:lnSpc>
                <a:spcPct val="104000"/>
              </a:lnSpc>
              <a:spcBef>
                <a:spcPts val="300"/>
              </a:spcBef>
              <a:buNone/>
            </a:pPr>
            <a:r>
              <a:rPr lang="en-US" sz="1500" dirty="0">
                <a:solidFill>
                  <a:srgbClr val="000000"/>
                </a:solidFill>
                <a:latin typeface="Arial"/>
                <a:cs typeface="Arial"/>
              </a:rPr>
              <a:t>A: restrictive protocol vs usual care, fluid balance at day 5 (a pilot trial)</a:t>
            </a:r>
          </a:p>
          <a:p>
            <a:pPr marL="0" indent="0" algn="ctr">
              <a:lnSpc>
                <a:spcPct val="104000"/>
              </a:lnSpc>
              <a:spcBef>
                <a:spcPts val="300"/>
              </a:spcBef>
              <a:buNone/>
            </a:pPr>
            <a:r>
              <a:rPr lang="en-US" sz="1500" dirty="0">
                <a:solidFill>
                  <a:srgbClr val="000000"/>
                </a:solidFill>
                <a:latin typeface="Arial"/>
                <a:cs typeface="Arial"/>
              </a:rPr>
              <a:t>B: fluid-positive by day 3 or not, death by day 28 (a cohort)</a:t>
            </a:r>
          </a:p>
          <a:p>
            <a:pPr marL="0" indent="0" algn="ctr">
              <a:lnSpc>
                <a:spcPct val="104000"/>
              </a:lnSpc>
              <a:spcBef>
                <a:spcPts val="300"/>
              </a:spcBef>
              <a:buNone/>
            </a:pPr>
            <a:r>
              <a:rPr lang="en-US" sz="1500" dirty="0">
                <a:solidFill>
                  <a:srgbClr val="000000"/>
                </a:solidFill>
                <a:latin typeface="Arial"/>
                <a:cs typeface="Arial"/>
              </a:rPr>
              <a:t>C: how many of your patients are fluid-positive on day 3? (descriptive)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question with PICO(T) and FINER colours, typed on the shared screen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says what we want to know. Aims and objectives say what we will do.</a:t>
            </a:r>
          </a:p>
          <a:p>
            <a:pPr marL="0" indent="0" algn="ctr">
              <a:spcBef>
                <a:spcPts val="1200"/>
              </a:spcBef>
              <a:buNone/>
            </a:pPr>
            <a:r>
              <a:rPr lang="en-US" sz="1900" i="1" dirty="0">
                <a:solidFill>
                  <a:srgbClr val="595959"/>
                </a:solidFill>
                <a:latin typeface="Arial"/>
                <a:cs typeface="Arial"/>
              </a:rPr>
              <a:t>20 minutes: aim, objectives, hypotheses and one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and objectives: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broad why, in one sentence</a:t>
            </a:r>
          </a:p>
          <a:p>
            <a:pPr marL="0" indent="0" algn="ctr">
              <a:lnSpc>
                <a:spcPct val="104000"/>
              </a:lnSpc>
              <a:spcBef>
                <a:spcPts val="400"/>
              </a:spcBef>
              <a:buNone/>
            </a:pPr>
            <a:r>
              <a:rPr lang="en-US" sz="1900" dirty="0">
                <a:solidFill>
                  <a:srgbClr val="000000"/>
                </a:solidFill>
                <a:latin typeface="Arial"/>
                <a:cs typeface="Arial"/>
              </a:rPr>
              <a:t>To compare a restrictive fluid strategy with usual care in adults with septic shock in the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specific what, with measurable verbs</a:t>
            </a:r>
          </a:p>
          <a:p>
            <a:pPr marL="0" indent="0" algn="ctr">
              <a:lnSpc>
                <a:spcPct val="104000"/>
              </a:lnSpc>
              <a:spcBef>
                <a:spcPts val="400"/>
              </a:spcBef>
              <a:buNone/>
            </a:pPr>
            <a:r>
              <a:rPr lang="en-US" sz="1900" dirty="0">
                <a:solidFill>
                  <a:srgbClr val="000000"/>
                </a:solidFill>
                <a:latin typeface="Arial"/>
                <a:cs typeface="Arial"/>
              </a:rPr>
              <a:t>Primary: compare 28-day mortality</a:t>
            </a:r>
          </a:p>
          <a:p>
            <a:pPr marL="0" indent="0" algn="ctr">
              <a:lnSpc>
                <a:spcPct val="104000"/>
              </a:lnSpc>
              <a:spcBef>
                <a:spcPts val="400"/>
              </a:spcBef>
              <a:buNone/>
            </a:pPr>
            <a:r>
              <a:rPr lang="en-US" sz="1900" dirty="0">
                <a:solidFill>
                  <a:srgbClr val="000000"/>
                </a:solidFill>
                <a:latin typeface="Arial"/>
                <a:cs typeface="Arial"/>
              </a:rPr>
              <a:t>Compare fluid balance at day 5</a:t>
            </a:r>
          </a:p>
          <a:p>
            <a:pPr marL="0" indent="0" algn="ctr">
              <a:lnSpc>
                <a:spcPct val="104000"/>
              </a:lnSpc>
              <a:spcBef>
                <a:spcPts val="400"/>
              </a:spcBef>
              <a:buNone/>
            </a:pPr>
            <a:r>
              <a:rPr lang="en-US" sz="1900" dirty="0">
                <a:solidFill>
                  <a:srgbClr val="000000"/>
                </a:solidFill>
                <a:latin typeface="Arial"/>
                <a:cs typeface="Arial"/>
              </a:rPr>
              <a:t>Compare kidney injury needing dialysis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Mark the primary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 verbs</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understand, know, study, explore, look at</a:t>
            </a:r>
          </a:p>
          <a:p>
            <a:pPr marL="0" indent="0" algn="ctr">
              <a:lnSpc>
                <a:spcPct val="104000"/>
              </a:lnSpc>
              <a:spcBef>
                <a:spcPts val="400"/>
              </a:spcBef>
              <a:buNone/>
            </a:pPr>
            <a:r>
              <a:rPr lang="en-US" sz="2000" i="1" dirty="0">
                <a:solidFill>
                  <a:srgbClr val="000000"/>
                </a:solidFill>
                <a:latin typeface="Arial"/>
                <a:cs typeface="Arial"/>
              </a:rPr>
              <a:t>"To understand fluid management in our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Measurable verbs</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compare, estimate, describe, determine, measure</a:t>
            </a:r>
          </a:p>
          <a:p>
            <a:pPr marL="0" indent="0" algn="ctr">
              <a:lnSpc>
                <a:spcPct val="104000"/>
              </a:lnSpc>
              <a:spcBef>
                <a:spcPts val="400"/>
              </a:spcBef>
              <a:buNone/>
            </a:pPr>
            <a:r>
              <a:rPr lang="en-US" sz="2000" i="1" dirty="0">
                <a:solidFill>
                  <a:srgbClr val="000000"/>
                </a:solidFill>
                <a:latin typeface="Arial"/>
                <a:cs typeface="Arial"/>
              </a:rPr>
              <a:t>"To compare cumulative fluid balance at day 5 between the two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hypothesis predicts the answer to the primary objective: compare 28-day mortality.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null hypothesis</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the same</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alternative hypothesis</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different</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Quick exercise: aim, objectives and hypothesis for the pilot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 pilot question (version A): in adults with septic shock, does a restrictive fluid protocol, compared with usual care, reduce cumulative fluid balance at day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one aim: 'To compare...'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Verbs that work</a:t>
            </a:r>
          </a:p>
          <a:p>
            <a:pPr marL="0" indent="0" algn="ctr">
              <a:lnSpc>
                <a:spcPct val="104000"/>
              </a:lnSpc>
              <a:spcBef>
                <a:spcPts val="300"/>
              </a:spcBef>
              <a:buNone/>
            </a:pPr>
            <a:r>
              <a:rPr lang="en-US" sz="1500" dirty="0">
                <a:solidFill>
                  <a:srgbClr val="000000"/>
                </a:solidFill>
                <a:latin typeface="Arial"/>
                <a:cs typeface="Arial"/>
              </a:rPr>
              <a:t>compare</a:t>
            </a:r>
          </a:p>
          <a:p>
            <a:pPr marL="0" indent="0" algn="ctr">
              <a:lnSpc>
                <a:spcPct val="104000"/>
              </a:lnSpc>
              <a:spcBef>
                <a:spcPts val="300"/>
              </a:spcBef>
              <a:buNone/>
            </a:pPr>
            <a:r>
              <a:rPr lang="en-US" sz="1500" dirty="0">
                <a:solidFill>
                  <a:srgbClr val="000000"/>
                </a:solidFill>
                <a:latin typeface="Arial"/>
                <a:cs typeface="Arial"/>
              </a:rPr>
              <a:t>estimate</a:t>
            </a:r>
          </a:p>
          <a:p>
            <a:pPr marL="0" indent="0" algn="ctr">
              <a:lnSpc>
                <a:spcPct val="104000"/>
              </a:lnSpc>
              <a:spcBef>
                <a:spcPts val="300"/>
              </a:spcBef>
              <a:buNone/>
            </a:pPr>
            <a:r>
              <a:rPr lang="en-US" sz="1500" dirty="0">
                <a:solidFill>
                  <a:srgbClr val="000000"/>
                </a:solidFill>
                <a:latin typeface="Arial"/>
                <a:cs typeface="Arial"/>
              </a:rPr>
              <a:t>describe</a:t>
            </a:r>
          </a:p>
          <a:p>
            <a:pPr marL="0" indent="0" algn="ctr">
              <a:lnSpc>
                <a:spcPct val="104000"/>
              </a:lnSpc>
              <a:spcBef>
                <a:spcPts val="300"/>
              </a:spcBef>
              <a:buNone/>
            </a:pPr>
            <a:r>
              <a:rPr lang="en-US" sz="1500" dirty="0">
                <a:solidFill>
                  <a:srgbClr val="000000"/>
                </a:solidFill>
                <a:latin typeface="Arial"/>
                <a:cs typeface="Arial"/>
              </a:rPr>
              <a:t>determine</a:t>
            </a:r>
          </a:p>
          <a:p>
            <a:pPr marL="0" indent="0" algn="ctr">
              <a:lnSpc>
                <a:spcPct val="104000"/>
              </a:lnSpc>
              <a:spcBef>
                <a:spcPts val="300"/>
              </a:spcBef>
              <a:buNone/>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Exercise 2 on the exercise sheet. Two or three people read theirs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pilot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To compare a restrictive fluid protocol with usual care in adults with septic shock in your ICU</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to compare cumulative fluid balance (ml/kg) at day 5 between groups</a:t>
            </a:r>
          </a:p>
          <a:p>
            <a:pPr marL="0" indent="0" algn="ctr">
              <a:lnSpc>
                <a:spcPct val="104000"/>
              </a:lnSpc>
              <a:spcBef>
                <a:spcPts val="400"/>
              </a:spcBef>
              <a:buNone/>
            </a:pPr>
            <a:r>
              <a:rPr lang="en-US" sz="1750" dirty="0">
                <a:solidFill>
                  <a:srgbClr val="000000"/>
                </a:solidFill>
                <a:latin typeface="Arial"/>
                <a:cs typeface="Arial"/>
              </a:rPr>
              <a:t>Secondary: to estimate recruitment rate and protocol adherence (feasibility)</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cumulative fluid balance at day 5 is the same in both groups</a:t>
            </a:r>
          </a:p>
          <a:p>
            <a:pPr marL="0" indent="0" algn="ctr">
              <a:lnSpc>
                <a:spcPct val="104000"/>
              </a:lnSpc>
              <a:spcBef>
                <a:spcPts val="400"/>
              </a:spcBef>
              <a:buNone/>
            </a:pPr>
            <a:r>
              <a:rPr lang="en-US" sz="1750" dirty="0">
                <a:solidFill>
                  <a:srgbClr val="000000"/>
                </a:solidFill>
                <a:latin typeface="Arial"/>
                <a:cs typeface="Arial"/>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start your own proposal: one question, one aim.</a:t>
            </a:r>
          </a:p>
          <a:p>
            <a:pPr marL="0" indent="0" algn="ctr">
              <a:spcBef>
                <a:spcPts val="1200"/>
              </a:spcBef>
              <a:buNone/>
            </a:pPr>
            <a:r>
              <a:rPr lang="en-US" sz="1900" i="1" dirty="0">
                <a:solidFill>
                  <a:srgbClr val="595959"/>
                </a:solidFill>
                <a:latin typeface="Arial"/>
                <a:cs typeface="Arial"/>
              </a:rPr>
              <a:t>30 minutes: we model Part 1 on the running example, then you draft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we fill Part 1 of the template for the running example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Open your copy of the proposal template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own department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your PICO(T) question and check it with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Add one aim, 2-3 objectives (mark the primary) and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question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0-8 min: we model Part 1</a:t>
            </a:r>
          </a:p>
          <a:p>
            <a:pPr marL="0" indent="0" algn="ctr">
              <a:lnSpc>
                <a:spcPct val="104000"/>
              </a:lnSpc>
              <a:spcBef>
                <a:spcPts val="300"/>
              </a:spcBef>
              <a:buNone/>
            </a:pPr>
            <a:r>
              <a:rPr lang="en-US" sz="1500" dirty="0">
                <a:solidFill>
                  <a:srgbClr val="000000"/>
                </a:solidFill>
                <a:latin typeface="Arial"/>
                <a:cs typeface="Arial"/>
              </a:rPr>
              <a:t>8-25 min: you draft your own</a:t>
            </a:r>
          </a:p>
          <a:p>
            <a:pPr marL="0" indent="0" algn="ctr">
              <a:lnSpc>
                <a:spcPct val="104000"/>
              </a:lnSpc>
              <a:spcBef>
                <a:spcPts val="300"/>
              </a:spcBef>
              <a:buNone/>
            </a:pPr>
            <a:r>
              <a:rPr lang="en-US" sz="1500" dirty="0">
                <a:solidFill>
                  <a:srgbClr val="000000"/>
                </a:solidFill>
                <a:latin typeface="Arial"/>
                <a:cs typeface="Arial"/>
              </a:rPr>
              <a:t>25-30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started: question, FINER check, aim, objectives, hypothesis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Evidence pyramid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Ranks designs by how well they protect against bias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Population, Intervention, Comparison, Outcome, Time</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same, with E = Exposure, for factors we do not assign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Feasible, Interesting, Novel, Ethical, Relevant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Aim / objective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broad why / the specific, measurable what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 difference / a difference (we test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Experience suggests questions</a:t>
            </a:r>
          </a:p>
          <a:p>
            <a:pPr marL="0" indent="0" algn="ctr">
              <a:lnSpc>
                <a:spcPct val="104000"/>
              </a:lnSpc>
              <a:spcBef>
                <a:spcPts val="400"/>
              </a:spcBef>
              <a:buNone/>
            </a:pPr>
            <a:r>
              <a:rPr lang="en-US" sz="1750" dirty="0">
                <a:solidFill>
                  <a:srgbClr val="000000"/>
                </a:solidFill>
                <a:latin typeface="Arial"/>
                <a:cs typeface="Arial"/>
              </a:rPr>
              <a:t>Fair comparisons in enough patients answer them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PICO(T) question</a:t>
            </a:r>
          </a:p>
          <a:p>
            <a:pPr marL="0" indent="0" algn="ctr">
              <a:lnSpc>
                <a:spcPct val="104000"/>
              </a:lnSpc>
              <a:spcBef>
                <a:spcPts val="400"/>
              </a:spcBef>
              <a:buNone/>
            </a:pPr>
            <a:r>
              <a:rPr lang="en-US" sz="1750" dirty="0">
                <a:solidFill>
                  <a:srgbClr val="000000"/>
                </a:solidFill>
                <a:latin typeface="Arial"/>
                <a:cs typeface="Arial"/>
              </a:rPr>
              <a:t>One primary outcome</a:t>
            </a:r>
          </a:p>
          <a:p>
            <a:pPr marL="0" indent="0" algn="ctr">
              <a:lnSpc>
                <a:spcPct val="104000"/>
              </a:lnSpc>
              <a:spcBef>
                <a:spcPts val="400"/>
              </a:spcBef>
              <a:buNone/>
            </a:pPr>
            <a:r>
              <a:rPr lang="en-US" sz="1750" dirty="0">
                <a:solidFill>
                  <a:srgbClr val="000000"/>
                </a:solidFill>
                <a:latin typeface="Arial"/>
                <a:cs typeface="Arial"/>
              </a:rPr>
              <a:t>A FINER check before you start</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aim</a:t>
            </a:r>
          </a:p>
          <a:p>
            <a:pPr marL="0" indent="0" algn="ctr">
              <a:lnSpc>
                <a:spcPct val="104000"/>
              </a:lnSpc>
              <a:spcBef>
                <a:spcPts val="400"/>
              </a:spcBef>
              <a:buNone/>
            </a:pPr>
            <a:r>
              <a:rPr lang="en-US" sz="1750" dirty="0">
                <a:solidFill>
                  <a:srgbClr val="000000"/>
                </a:solidFill>
                <a:latin typeface="Arial"/>
                <a:cs typeface="Arial"/>
              </a:rPr>
              <a:t>2-3 measurable objectives</a:t>
            </a:r>
          </a:p>
          <a:p>
            <a:pPr marL="0" indent="0" algn="ctr">
              <a:lnSpc>
                <a:spcPct val="104000"/>
              </a:lnSpc>
              <a:spcBef>
                <a:spcPts val="400"/>
              </a:spcBef>
              <a:buNone/>
            </a:pPr>
            <a:r>
              <a:rPr lang="en-US" sz="1750" dirty="0">
                <a:solidFill>
                  <a:srgbClr val="000000"/>
                </a:solidFill>
                <a:latin typeface="Arial"/>
                <a:cs typeface="Arial"/>
              </a:rPr>
              <a:t>A testable H0 and 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rewrite as an objective: 'To understand fluid balance in our 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Proposal Part 1 draft: question, FINER check, aim, objectives,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4 on the exercise sheet: 2-3 English synonyms for each PICO word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Install Zotero (free, zotero.org) and its Word plug-in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PICO question</a:t>
            </a:r>
          </a:p>
          <a:p>
            <a:pPr marL="0" indent="0" algn="ctr">
              <a:lnSpc>
                <a:spcPct val="104000"/>
              </a:lnSpc>
              <a:spcBef>
                <a:spcPts val="300"/>
              </a:spcBef>
              <a:buNone/>
            </a:pPr>
            <a:r>
              <a:rPr lang="en-US" sz="1500" dirty="0">
                <a:solidFill>
                  <a:srgbClr val="000000"/>
                </a:solidFill>
                <a:latin typeface="Arial"/>
                <a:cs typeface="Arial"/>
              </a:rPr>
              <a:t>Your synonym list</a:t>
            </a:r>
          </a:p>
          <a:p>
            <a:pPr marL="0" indent="0" algn="ctr">
              <a:lnSpc>
                <a:spcPct val="104000"/>
              </a:lnSpc>
              <a:spcBef>
                <a:spcPts val="300"/>
              </a:spcBef>
              <a:buNone/>
            </a:pPr>
            <a:r>
              <a:rPr lang="en-US" sz="1500" dirty="0">
                <a:solidFill>
                  <a:srgbClr val="000000"/>
                </a:solidFill>
                <a:latin typeface="Arial"/>
                <a:cs typeface="Arial"/>
              </a:rPr>
              <a:t>A computer with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Question, synonym list and Zotero ready for the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Research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Clinical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Quality improvement</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Asks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What is the best practice?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Are we meeting the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How do we get better, step by step?</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Fluid example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Restrictive vs usual: which is better?</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Is fluid balance recorded daily?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daily checklist, tested in small cycles</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Results apply to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Patients elsewhere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Ethics</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Ethics committee approval: always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usually no committee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ethics review if new risk</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Not sure which it is? Ask the ethics committee before you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three examples as research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Backup for 'Three more examples': write the question for each row, then compare.</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Treatment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ventilated adults in the ICU, does a twice-daily bed-head checklist, compared with usual care, reduce ventilator-associated pneumonia by ICU day 28?</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factor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on the medical ward, is obesity (BMI 30 or more), compared with a BMI under 30, associated with new pressure injury during the admission?</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common?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aged 65 or over after hip surgery, how common is delirium in the first 7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question names the patients, the comparison (if any), the outcome and the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57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tested</a:t>
            </a:r>
          </a:p>
          <a:p>
            <a:pPr marL="0" indent="0" algn="ctr">
              <a:lnSpc>
                <a:spcPct val="104000"/>
              </a:lnSpc>
              <a:spcBef>
                <a:spcPts val="400"/>
              </a:spcBef>
              <a:buNone/>
            </a:pPr>
            <a:r>
              <a:rPr lang="en-US" sz="1400" dirty="0">
                <a:solidFill>
                  <a:srgbClr val="000000"/>
                </a:solidFill>
                <a:latin typeface="Arial"/>
                <a:cs typeface="Arial"/>
              </a:rPr>
              <a:t>I: the new test</a:t>
            </a:r>
          </a:p>
          <a:p>
            <a:pPr marL="0" indent="0" algn="ctr">
              <a:lnSpc>
                <a:spcPct val="104000"/>
              </a:lnSpc>
              <a:spcBef>
                <a:spcPts val="400"/>
              </a:spcBef>
              <a:buNone/>
            </a:pPr>
            <a:r>
              <a:rPr lang="en-US" sz="1400" dirty="0">
                <a:solidFill>
                  <a:srgbClr val="000000"/>
                </a:solidFill>
                <a:latin typeface="Arial"/>
                <a:cs typeface="Arial"/>
              </a:rPr>
              <a:t>C: the reference standard</a:t>
            </a:r>
          </a:p>
          <a:p>
            <a:pPr marL="0" indent="0" algn="ctr">
              <a:lnSpc>
                <a:spcPct val="104000"/>
              </a:lnSpc>
              <a:spcBef>
                <a:spcPts val="400"/>
              </a:spcBef>
              <a:buNone/>
            </a:pPr>
            <a:r>
              <a:rPr lang="en-US" sz="1400" dirty="0">
                <a:solidFill>
                  <a:srgbClr val="000000"/>
                </a:solidFill>
                <a:latin typeface="Arial"/>
                <a:cs typeface="Arial"/>
              </a:rPr>
              <a:t>O: accuracy</a:t>
            </a:r>
          </a:p>
          <a:p>
            <a:pPr marL="0" indent="0" algn="ctr">
              <a:lnSpc>
                <a:spcPct val="104000"/>
              </a:lnSpc>
              <a:spcBef>
                <a:spcPts val="400"/>
              </a:spcBef>
              <a:buNone/>
            </a:pPr>
            <a:r>
              <a:rPr lang="en-US" sz="1400" i="1" dirty="0">
                <a:solidFill>
                  <a:srgbClr val="000000"/>
                </a:solidFill>
                <a:latin typeface="Arial"/>
                <a:cs typeface="Arial"/>
              </a:rPr>
              <a:t>Example: in suspected sepsis in the emergency department, how accurate is qSOFA compared with Sepsis-3?</a:t>
            </a:r>
          </a:p>
        </p:txBody>
      </p:sp>
      <p:sp>
        <p:nvSpPr>
          <p:cNvPr id="72" name="CardHead"/>
          <p:cNvSpPr/>
          <p:nvPr/>
        </p:nvSpPr>
        <p:spPr>
          <a:xfrm>
            <a:off x="4283066" y="16357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with a condition</a:t>
            </a:r>
          </a:p>
          <a:p>
            <a:pPr marL="0" indent="0" algn="ctr">
              <a:lnSpc>
                <a:spcPct val="104000"/>
              </a:lnSpc>
              <a:spcBef>
                <a:spcPts val="400"/>
              </a:spcBef>
              <a:buNone/>
            </a:pPr>
            <a:r>
              <a:rPr lang="en-US" sz="1400" dirty="0">
                <a:solidFill>
                  <a:srgbClr val="000000"/>
                </a:solidFill>
                <a:latin typeface="Arial"/>
                <a:cs typeface="Arial"/>
              </a:rPr>
              <a:t>E: a risk factor</a:t>
            </a:r>
          </a:p>
          <a:p>
            <a:pPr marL="0" indent="0" algn="ctr">
              <a:lnSpc>
                <a:spcPct val="104000"/>
              </a:lnSpc>
              <a:spcBef>
                <a:spcPts val="400"/>
              </a:spcBef>
              <a:buNone/>
            </a:pPr>
            <a:r>
              <a:rPr lang="en-US" sz="1400" dirty="0">
                <a:solidFill>
                  <a:srgbClr val="000000"/>
                </a:solidFill>
                <a:latin typeface="Arial"/>
                <a:cs typeface="Arial"/>
              </a:rPr>
              <a:t>O: what happens</a:t>
            </a:r>
          </a:p>
          <a:p>
            <a:pPr marL="0" indent="0" algn="ctr">
              <a:lnSpc>
                <a:spcPct val="104000"/>
              </a:lnSpc>
              <a:spcBef>
                <a:spcPts val="400"/>
              </a:spcBef>
              <a:buNone/>
            </a:pPr>
            <a:r>
              <a:rPr lang="en-US" sz="1400" dirty="0">
                <a:solidFill>
                  <a:srgbClr val="000000"/>
                </a:solidFill>
                <a:latin typeface="Arial"/>
                <a:cs typeface="Arial"/>
              </a:rPr>
              <a:t>T: by when</a:t>
            </a:r>
          </a:p>
          <a:p>
            <a:pPr marL="0" indent="0" algn="ctr">
              <a:lnSpc>
                <a:spcPct val="104000"/>
              </a:lnSpc>
              <a:spcBef>
                <a:spcPts val="400"/>
              </a:spcBef>
              <a:buNone/>
            </a:pPr>
            <a:r>
              <a:rPr lang="en-US" sz="1400" i="1" dirty="0">
                <a:solidFill>
                  <a:srgbClr val="000000"/>
                </a:solidFill>
                <a:latin typeface="Arial"/>
                <a:cs typeface="Arial"/>
              </a:rPr>
              <a:t>Example: in septic shock, is a lactate above 4 mmol/L on admission linked to death by day 28?</a:t>
            </a:r>
          </a:p>
        </p:txBody>
      </p:sp>
      <p:sp>
        <p:nvSpPr>
          <p:cNvPr id="74" name="CardHead"/>
          <p:cNvSpPr/>
          <p:nvPr/>
        </p:nvSpPr>
        <p:spPr>
          <a:xfrm>
            <a:off x="8108932" y="16357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Sample</a:t>
            </a:r>
          </a:p>
          <a:p>
            <a:pPr marL="0" indent="0" algn="ctr">
              <a:lnSpc>
                <a:spcPct val="104000"/>
              </a:lnSpc>
              <a:spcBef>
                <a:spcPts val="400"/>
              </a:spcBef>
              <a:buNone/>
            </a:pPr>
            <a:r>
              <a:rPr lang="en-US" sz="1400" dirty="0">
                <a:solidFill>
                  <a:srgbClr val="000000"/>
                </a:solidFill>
                <a:latin typeface="Arial"/>
                <a:cs typeface="Arial"/>
              </a:rPr>
              <a:t>PI: Phenomenon of Interest</a:t>
            </a:r>
          </a:p>
          <a:p>
            <a:pPr marL="0" indent="0" algn="ctr">
              <a:lnSpc>
                <a:spcPct val="104000"/>
              </a:lnSpc>
              <a:spcBef>
                <a:spcPts val="400"/>
              </a:spcBef>
              <a:buNone/>
            </a:pPr>
            <a:r>
              <a:rPr lang="en-US" sz="1400" dirty="0">
                <a:solidFill>
                  <a:srgbClr val="000000"/>
                </a:solidFill>
                <a:latin typeface="Arial"/>
                <a:cs typeface="Arial"/>
              </a:rPr>
              <a:t>D: Design</a:t>
            </a:r>
          </a:p>
          <a:p>
            <a:pPr marL="0" indent="0" algn="ctr">
              <a:lnSpc>
                <a:spcPct val="104000"/>
              </a:lnSpc>
              <a:spcBef>
                <a:spcPts val="400"/>
              </a:spcBef>
              <a:buNone/>
            </a:pPr>
            <a:r>
              <a:rPr lang="en-US" sz="1400" dirty="0">
                <a:solidFill>
                  <a:srgbClr val="000000"/>
                </a:solidFill>
                <a:latin typeface="Arial"/>
                <a:cs typeface="Arial"/>
              </a:rPr>
              <a:t>E: Evaluation, R: Research type</a:t>
            </a:r>
          </a:p>
          <a:p>
            <a:pPr marL="0" indent="0" algn="ctr">
              <a:lnSpc>
                <a:spcPct val="104000"/>
              </a:lnSpc>
              <a:spcBef>
                <a:spcPts val="400"/>
              </a:spcBef>
              <a:buNone/>
            </a:pPr>
            <a:r>
              <a:rPr lang="en-US" sz="1400" i="1" dirty="0">
                <a:solidFill>
                  <a:srgbClr val="000000"/>
                </a:solidFill>
                <a:latin typeface="Arial"/>
                <a:cs typeface="Arial"/>
              </a:rPr>
              <a:t>Example: how do ICU nurses experience stopping IV fluids, in interviews?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 in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another example from the 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"Do night shifts cause medication errors?"</a:t>
            </a:r>
          </a:p>
          <a:p>
            <a:pPr marL="0" indent="0" algn="ctr">
              <a:lnSpc>
                <a:spcPct val="104000"/>
              </a:lnSpc>
              <a:spcBef>
                <a:spcPts val="400"/>
              </a:spcBef>
              <a:buNone/>
            </a:pPr>
            <a:r>
              <a:rPr lang="en-US" sz="1950" dirty="0">
                <a:solidFill>
                  <a:srgbClr val="000000"/>
                </a:solidFill>
                <a:latin typeface="Arial"/>
                <a:cs typeface="Arial"/>
              </a:rPr>
              <a:t>Which staff?</a:t>
            </a:r>
          </a:p>
          <a:p>
            <a:pPr marL="0" indent="0" algn="ctr">
              <a:lnSpc>
                <a:spcPct val="104000"/>
              </a:lnSpc>
              <a:spcBef>
                <a:spcPts val="400"/>
              </a:spcBef>
              <a:buNone/>
            </a:pPr>
            <a:r>
              <a:rPr lang="en-US" sz="1950" dirty="0">
                <a:solidFill>
                  <a:srgbClr val="000000"/>
                </a:solidFill>
                <a:latin typeface="Arial"/>
                <a:cs typeface="Arial"/>
              </a:rPr>
              <a:t>Compared with what?</a:t>
            </a:r>
          </a:p>
          <a:p>
            <a:pPr marL="0" indent="0" algn="ctr">
              <a:lnSpc>
                <a:spcPct val="104000"/>
              </a:lnSpc>
              <a:spcBef>
                <a:spcPts val="400"/>
              </a:spcBef>
              <a:buNone/>
            </a:pPr>
            <a:r>
              <a:rPr lang="en-US" sz="1950" dirty="0">
                <a:solidFill>
                  <a:srgbClr val="000000"/>
                </a:solidFill>
                <a:latin typeface="Arial"/>
                <a:cs typeface="Arial"/>
              </a:rPr>
              <a:t>Which errors, counted how?</a:t>
            </a:r>
          </a:p>
          <a:p>
            <a:pPr marL="0" indent="0" algn="ctr">
              <a:lnSpc>
                <a:spcPct val="104000"/>
              </a:lnSpc>
              <a:spcBef>
                <a:spcPts val="400"/>
              </a:spcBef>
              <a:buNone/>
            </a:pPr>
            <a:r>
              <a:rPr lang="en-US" sz="1950" dirty="0">
                <a:solidFill>
                  <a:srgbClr val="000000"/>
                </a:solidFill>
                <a:latin typeface="Arial"/>
                <a:cs typeface="Arial"/>
              </a:rPr>
              <a:t>Over what period?</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ward nurses,</a:t>
            </a:r>
          </a:p>
          <a:p>
            <a:pPr marL="0" indent="0" algn="ctr">
              <a:lnSpc>
                <a:spcPct val="104000"/>
              </a:lnSpc>
              <a:spcBef>
                <a:spcPts val="400"/>
              </a:spcBef>
              <a:buNone/>
            </a:pPr>
            <a:r>
              <a:rPr lang="en-US" sz="1950" dirty="0">
                <a:solidFill>
                  <a:srgbClr val="000000"/>
                </a:solidFill>
                <a:latin typeface="Arial"/>
                <a:cs typeface="Arial"/>
              </a:rPr>
              <a:t>E: are night shifts,</a:t>
            </a:r>
          </a:p>
          <a:p>
            <a:pPr marL="0" indent="0" algn="ctr">
              <a:lnSpc>
                <a:spcPct val="104000"/>
              </a:lnSpc>
              <a:spcBef>
                <a:spcPts val="400"/>
              </a:spcBef>
              <a:buNone/>
            </a:pPr>
            <a:r>
              <a:rPr lang="en-US" sz="1950" dirty="0">
                <a:solidFill>
                  <a:srgbClr val="000000"/>
                </a:solidFill>
                <a:latin typeface="Arial"/>
                <a:cs typeface="Arial"/>
              </a:rPr>
              <a:t>C: compared with day shifts,</a:t>
            </a:r>
          </a:p>
          <a:p>
            <a:pPr marL="0" indent="0" algn="ctr">
              <a:lnSpc>
                <a:spcPct val="104000"/>
              </a:lnSpc>
              <a:spcBef>
                <a:spcPts val="400"/>
              </a:spcBef>
              <a:buNone/>
            </a:pPr>
            <a:r>
              <a:rPr lang="en-US" sz="1950" dirty="0">
                <a:solidFill>
                  <a:srgbClr val="000000"/>
                </a:solidFill>
                <a:latin typeface="Arial"/>
                <a:cs typeface="Arial"/>
              </a:rPr>
              <a:t>O: linked to more errors per 1,000 doses</a:t>
            </a:r>
          </a:p>
          <a:p>
            <a:pPr marL="0" indent="0" algn="ctr">
              <a:lnSpc>
                <a:spcPct val="104000"/>
              </a:lnSpc>
              <a:spcBef>
                <a:spcPts val="400"/>
              </a:spcBef>
              <a:buNone/>
            </a:pPr>
            <a:r>
              <a:rPr lang="en-US" sz="1950" dirty="0">
                <a:solidFill>
                  <a:srgbClr val="000000"/>
                </a:solidFill>
                <a:latin typeface="Arial"/>
                <a:cs typeface="Arial"/>
              </a:rPr>
              <a:t>T: over 6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