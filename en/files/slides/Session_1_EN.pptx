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TITLE SLIDE (0:00).</a:t>
            </a:r>
          </a:p>
          <a:p>
            <a:r>
              <a:rPr lang="en-US" sz="1400" b="0" dirty="0"/>
              <a:t>Welcome everyone. Introduce the trainers in one sentence each.</a:t>
            </a:r>
          </a:p>
          <a:p>
            <a:r>
              <a:rPr lang="en-US" sz="1400" b="0" dirty="0"/>
              <a:t>Key message: over four weekends we walk the whole road of research together - from a question at the bedside to a paper ready to submit.</a:t>
            </a:r>
          </a:p>
          <a:p>
            <a:r>
              <a:rPr lang="en-US" sz="1400" b="0" dirty="0"/>
              <a:t>No statistics software, no formulas to memorise: pictures, examples from your own wards, and a lot of group work. We go slowly - nobody is expected to know anything yet.</a:t>
            </a:r>
          </a:p>
          <a:p>
            <a:r>
              <a:rPr lang="en-US" sz="1400" b="0" dirty="0"/>
              <a:t>Facilitation: participants should already be sitting in their groups (name cards on tables).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Open with a question to the room: 'Think of one thing in your unit where colleagues do it differently and nobody knows which way is best.'</a:t>
            </a:r>
          </a:p>
          <a:p>
            <a:r>
              <a:rPr lang="en-US" sz="1400" b="0" dirty="0"/>
              <a:t>Take 2-3 answers. Expected: fluids, sedation, mobilisation, wound dressings, line care.</a:t>
            </a:r>
          </a:p>
          <a:p>
            <a:r>
              <a:rPr lang="en-US" sz="1400" b="0" dirty="0"/>
              <a:t>Key teaching point: research starts from clinical uncertainty, not from statistics.</a:t>
            </a:r>
          </a:p>
          <a:p>
            <a:r>
              <a:rPr lang="en-US" sz="1400" b="0" dirty="0"/>
              <a:t>Write the examples on the flip chart - they are candidate topics for the group proposals.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along the road: Weekend 1 the question and the evidence; Weekend 2 design and bias; Weekend 3 data and analysis; Weekend 4 ethics, writing and publishing.</a:t>
            </a:r>
          </a:p>
          <a:p>
            <a:r>
              <a:rPr lang="en-US" sz="1400" b="0" dirty="0"/>
              <a:t>Weekends 1-2 are what we call Level 1 (understand and design); Weekends 3-4 are Level 2 (analyse and publish) - in one course.</a:t>
            </a:r>
          </a:p>
          <a:p>
            <a:r>
              <a:rPr lang="en-US" sz="1400" b="0" dirty="0"/>
              <a:t>One running example travels with us: fluids in septic shock. Non-ICU colleagues: every concept is also shown with ward examples (pressure injuries, hand hygiene, medication errors, delirium).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Level 1 concepts come first: reading papers critically, asking a good question, designing a sound study.</a:t>
            </a:r>
          </a:p>
          <a:p>
            <a:r>
              <a:rPr lang="en-US" sz="1400" b="0" dirty="0"/>
              <a:t>Level 2 uses those concepts on a realistic dataset of 600 ICU patients: we describe it, analyse it and write it up. The trainers run the software; you read and interpret the results.</a:t>
            </a:r>
          </a:p>
          <a:p>
            <a:r>
              <a:rPr lang="en-US" sz="1400" b="0" dirty="0"/>
              <a:t>Misconception to defuse: 'research is only for statisticians or professors'. Most good clinical questions come from nurses and doctors at the bedside.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Product 1: a research proposal on the group's own question, built one part per weekend and presented in Session 8.</a:t>
            </a:r>
          </a:p>
          <a:p>
            <a:r>
              <a:rPr lang="en-US" sz="1400" b="0" dirty="0"/>
              <a:t>Product 2: a draft manuscript written from the course dataset (FLUID-ICU). Each group answers a different question on the same data. We analyse in Weekend 3, write in Weekend 4, and after the course groups review each other's drafts and reply like real authors.</a:t>
            </a:r>
          </a:p>
          <a:p>
            <a:r>
              <a:rPr lang="en-US" sz="1400" b="0" dirty="0"/>
              <a:t>Point to Assignment/proposal_brief and Assignment/manuscript_brief.</a:t>
            </a:r>
          </a:p>
          <a:p>
            <a:r>
              <a:rPr lang="en-US" sz="1400" b="0" dirty="0"/>
              <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across the four cards - one per weekend.</a:t>
            </a:r>
          </a:p>
          <a:p>
            <a:r>
              <a:rPr lang="en-US" sz="1400" b="0" dirty="0"/>
              <a:t>Key teaching point: the aim is understanding and interpretation, not computation. The trainers run the analyses; you learn to read them and write them up.</a:t>
            </a:r>
          </a:p>
          <a:p>
            <a:r>
              <a:rPr lang="en-US" sz="1400" b="0" dirty="0"/>
              <a:t>Audience question: which card worries you most? Expected: ANALYSE. Reassure: we go slowly, with pictures, and check understanding every 20 minutes.</a:t>
            </a:r>
          </a:p>
          <a:p>
            <a:r>
              <a:rPr lang="en-US" sz="1400" b="0" dirty="0"/>
              <a:t>Return to this slide in Session 8 to show progress.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Same rhythm every session: recap, two teaching blocks with checks and activities, a 15-minute break, and time to build the proposal or the paper.</a:t>
            </a:r>
          </a:p>
          <a:p>
            <a:r>
              <a:rPr lang="en-US" sz="1400" b="0" dirty="0"/>
              <a:t>Every 20 minutes we stop for a quick check of understanding - if the room is not with us, we slow down. Each session ends with 'extra slides' that we only use if there is time; you can read them at home.</a:t>
            </a:r>
          </a:p>
          <a:p>
            <a:r>
              <a:rPr lang="en-US" sz="1400" b="0" dirty="0"/>
              <a:t>Keep the break to 15 minutes - start again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Part 1 (Weekend 1): the question and the background. Part 2 (Weekend 2): the design. Part 3 (Weekend 3): the data and the analysis plan. Part 4 (Session 7): ethics, feasibility and a publication plan.</a:t>
            </a:r>
          </a:p>
          <a:p>
            <a:r>
              <a:rPr lang="en-US" sz="1400" b="0" dirty="0"/>
              <a:t>Each group presents its proposal in Session 8 (6 minutes + 2 minutes feedback).</a:t>
            </a:r>
          </a:p>
          <a:p>
            <a:r>
              <a:rPr lang="en-US" sz="1400" b="0" dirty="0"/>
              <a:t>Template: Templates/Research_Proposal_Template.docx.</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Groups should mix doctors, nurses and pharmacists - different perspectives make better proposals.</a:t>
            </a:r>
          </a:p>
          <a:p>
            <a:r>
              <a:rPr lang="en-US" sz="1400" b="0" dirty="0"/>
              <a:t>Roles keep quieter members involved; suggest rotating the scribe.</a:t>
            </a:r>
          </a:p>
          <a:p>
            <a:r>
              <a:rPr lang="en-US" sz="1400" b="0" dirty="0"/>
              <a:t>Trainers: walk round, note each group's candidate topics.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Set the climate: this is a safe place to say 'I do not understand'.</a:t>
            </a:r>
          </a:p>
          <a:p>
            <a:r>
              <a:rPr lang="en-US" sz="1400" b="0" dirty="0"/>
              <a:t>Language: discussions can be in Vietnamese or English - whatever helps the group think.</a:t>
            </a:r>
          </a:p>
          <a:p>
            <a:r>
              <a:rPr lang="en-US" sz="1400" b="0" dirty="0"/>
              <a:t>Patient confidentiality applies to examples: no names or identifiable details.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the online form (recommended) or paper copies of Assessment/pre_post_quiz.</a:t>
            </a:r>
          </a:p>
          <a:p>
            <a:r>
              <a:rPr lang="en-US" sz="1400" b="0" dirty="0"/>
              <a:t>Reassure: results are anonymous and used only to measure what the COURSE achieved.</a:t>
            </a:r>
          </a:p>
          <a:p>
            <a:r>
              <a:rPr lang="en-US" sz="1400" b="0" dirty="0"/>
              <a:t>Collect after 15 minutes. Do not give answers today - the same quiz is repeated at the end of Session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1 OPENING (0:35). The front matter (welcome, course map, groups, pre-course quiz) has just finished.</a:t>
            </a:r>
          </a:p>
          <a:p>
            <a:r>
              <a:rPr lang="en-US" sz="1400" b="0" dirty="0"/>
              <a:t>Teaching point: today has one job - every group leaves with ONE clear, answerable research question and an aim with objectives. Tomorrow (Session 2) we search and read the literature for it.</a:t>
            </a:r>
          </a:p>
          <a:p>
            <a:r>
              <a:rPr lang="en-US" sz="1400" b="0" dirty="0"/>
              <a:t>Pace: this audience has little or no research background. Go slowly, use the worked examples, and stop at every 'Check your understanding' slide - they are short on purpose.</a:t>
            </a:r>
          </a:p>
          <a:p>
            <a:r>
              <a:rPr lang="en-US" sz="1400" b="0" dirty="0"/>
              <a:t>Show the shape of the session: three short teaching blocks, a break, a pair task, a quick exercise, then 30 minutes of group work on the proposal.</a:t>
            </a:r>
          </a:p>
          <a:p>
            <a:r>
              <a:rPr lang="en-US" sz="1400" b="0" dirty="0"/>
              <a:t>Ask the room: 'Who has ever taken part in a research study - as a researcher, data collector or participant?' Count hands; it tells you where to pitch the session.</a:t>
            </a:r>
          </a:p>
          <a:p>
            <a:r>
              <a:rPr lang="en-US" sz="1400" b="0" dirty="0"/>
              <a:t>Timing: 1 minute. Do not read the agenda aloud; point at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1.1 (0:35-1:10).</a:t>
            </a:r>
          </a:p>
          <a:p>
            <a:r>
              <a:rPr lang="en-US" sz="1400" b="0" dirty="0"/>
              <a:t>Pause on the question and let the room answer before you click on. Take 2-3 answers.</a:t>
            </a:r>
          </a:p>
          <a:p>
            <a:r>
              <a:rPr lang="en-US" sz="1400" b="0" dirty="0"/>
              <a:t>Expected answers: experience is biased towards memorable cases; colleagues disagree; practice changes; we need to know whether what we do actually helps.</a:t>
            </a:r>
          </a:p>
          <a:p>
            <a:r>
              <a:rPr lang="en-US" sz="1400" b="0" dirty="0"/>
              <a:t>Teaching point: experience is valuable for generating questions, but it is a weak way of answering them.</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one clinician, three patients, a vivid memory, no comparison group.</a:t>
            </a:r>
          </a:p>
          <a:p>
            <a:r>
              <a:rPr lang="en-US" sz="1400" b="0" dirty="0"/>
              <a:t>Right: 50 patients per group, every death counted, the same outcome measured in both arms.</a:t>
            </a:r>
          </a:p>
          <a:p>
            <a:r>
              <a:rPr lang="en-US" sz="1400" b="0" dirty="0"/>
              <a:t>The numbers are illustrative, but the pattern is real: the large CLASSIC trial (Meyhoff, NEJM 2022, 1,554 septic shock patients) found 90-day mortality of 42.3% with restrictive fluids vs 42.1% with standard care. The three 'success' patients would have done well either way.</a:t>
            </a:r>
          </a:p>
          <a:p>
            <a:r>
              <a:rPr lang="en-US" sz="1400" b="0" dirty="0"/>
              <a:t>Misconception: 'if it worked in my patients it works'. Without a comparison we cannot tell what would have happened anyway (natural recovery, regression to the mean, selective memory).</a:t>
            </a:r>
          </a:p>
          <a:p>
            <a:r>
              <a:rPr lang="en-US" sz="1400" b="0" dirty="0"/>
              <a:t>Ask the room: 'Why do we remember the three good outcomes?' Expected answer: recall bias - dramatic and recent cases stick; we forget the failures.</a:t>
            </a:r>
          </a:p>
          <a:p>
            <a:r>
              <a:rPr lang="en-US" sz="1400" b="0" dirty="0"/>
              <a:t>Timing: 4 minutes. Go slowly - this is the idea the whole course rests 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picture is a simulation (fixed seed): imagine a disease where the TRUE risk of death is 40%.</a:t>
            </a:r>
          </a:p>
          <a:p>
            <a:r>
              <a:rPr lang="en-US" sz="1400" b="0" dirty="0"/>
              <a:t>Top row: 20 wards each see only 5 patients. By pure chance some see 0% deaths, others 80%. Each ward would 'learn' something different from its own experience.</a:t>
            </a:r>
          </a:p>
          <a:p>
            <a:r>
              <a:rPr lang="en-US" sz="1400" b="0" dirty="0"/>
              <a:t>Middle row: groups of 50 - closer to the truth but still scattered. Bottom row: groups of 500 cluster tightly around 40%.</a:t>
            </a:r>
          </a:p>
          <a:p>
            <a:r>
              <a:rPr lang="en-US" sz="1400" b="0" dirty="0"/>
              <a:t>Teaching point: chance alone produces impressive-looking differences in small numbers. This is why research needs enough patients and a comparison group - and why 'my last three patients' can mislead.</a:t>
            </a:r>
          </a:p>
          <a:p>
            <a:r>
              <a:rPr lang="en-US" sz="1400" b="0" dirty="0"/>
              <a:t>Misconception: 'a big difference in a small group must be real'. A big difference in a small group is exactly what chance produces.</a:t>
            </a:r>
          </a:p>
          <a:p>
            <a:r>
              <a:rPr lang="en-US" sz="1400" b="0" dirty="0"/>
              <a:t>Ask the room: 'One ward lost 0 of 5 patients after a new protocol. Does the protocol work?' Expected answer: we cannot tell - 0 of 5 happens often by chance even when the true risk is 40%.</a:t>
            </a:r>
          </a:p>
          <a:p>
            <a:r>
              <a:rPr lang="en-US" sz="1400" b="0" dirty="0"/>
              <a:t>Timing: 4 minutes. Sample size returns in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Build from the bottom: expert opinion and case reports, then case series and cross-sectional studies, case-control, cohort, randomised trials, and at the top systematic reviews and meta-analyses that combine several studies.</a:t>
            </a:r>
          </a:p>
          <a:p>
            <a:r>
              <a:rPr lang="en-US" sz="1400" b="0" dirty="0"/>
              <a:t>Teaching point: moving up, the design does more to protect against bias. That is why higher levels give more confidence for 'does treatment X work?' questions.</a:t>
            </a:r>
          </a:p>
          <a:p>
            <a:r>
              <a:rPr lang="en-US" sz="1400" b="0" dirty="0"/>
              <a:t>Misconception 1: 'an RCT is always right'. A small or badly run trial can mislead. Frameworks such as GRADE rate the certainty of a whole body of evidence, not the design label alone.</a:t>
            </a:r>
          </a:p>
          <a:p>
            <a:r>
              <a:rPr lang="en-US" sz="1400" b="0" dirty="0"/>
              <a:t>Misconception 2: 'only RCTs count'. For prevalence, harm and prognosis, observational designs are often the right (or only ethical) choice. Qualitative research sits outside this pyramid - it answers different questions.</a:t>
            </a:r>
          </a:p>
          <a:p>
            <a:r>
              <a:rPr lang="en-US" sz="1400" b="0" dirty="0"/>
              <a:t>Ask the room: 'Where would a systematic review of 10 poor-quality trials sit?' Expected answer: at the top by label, but its conclusions are only as strong as the trials inside it.</a:t>
            </a:r>
          </a:p>
          <a:p>
            <a:r>
              <a:rPr lang="en-US" sz="1400" b="0" dirty="0"/>
              <a:t>Timing: 4 minutes. Session 3 covers each design in detail - do not teach designs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 A (expert opinion) &lt; B (cohort) &lt; C (RCT) &lt; D (systematic review / meta-analysis).</a:t>
            </a:r>
          </a:p>
          <a:p>
            <a:r>
              <a:rPr lang="en-US" sz="1400" b="0" dirty="0"/>
              <a:t>C is the real CLASSIC trial (NEJM 2022) - no difference in 90-day mortality. B resembles Paper 2 (Hyun 2023): a positive fluid balance on days 2-3 was associated with higher 28-day mortality.</a:t>
            </a:r>
          </a:p>
          <a:p>
            <a:r>
              <a:rPr lang="en-US" sz="1400" b="0" dirty="0"/>
              <a:t>Why might a cohort find harm when a trial finds none? Expected answer: in a cohort, sicker patients get more fluid, so fluid looks harmful (confounding by indication) - a preview of Session 4.</a:t>
            </a:r>
          </a:p>
          <a:p>
            <a:r>
              <a:rPr lang="en-US" sz="1400" b="0" dirty="0"/>
              <a:t>Facilitation: count down '1-2-3' so tables show fingers at the same time.</a:t>
            </a:r>
          </a:p>
          <a:p>
            <a:r>
              <a:rPr lang="en-US" sz="1400" b="0" dirty="0"/>
              <a:t>Timing: 3 minutes, strictly.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round the cycle quickly, one sentence per box.</a:t>
            </a:r>
          </a:p>
          <a:p>
            <a:r>
              <a:rPr lang="en-US" sz="1400" b="0" dirty="0"/>
              <a:t>This weekend = clinical problem and research question (today), literature search (tomorrow) - the three teal boxes top right.</a:t>
            </a:r>
          </a:p>
          <a:p>
            <a:r>
              <a:rPr lang="en-US" sz="1400" b="0" dirty="0"/>
              <a:t>Teaching point: published results change practice, which creates new uncertainties and new questions.</a:t>
            </a:r>
          </a:p>
          <a:p>
            <a:r>
              <a:rPr lang="en-US" sz="1400" b="0" dirty="0"/>
              <a:t>Misconception: 'research = collecting data'. Data collection comes AFTER the question, design, protocol and ethics approval.</a:t>
            </a:r>
          </a:p>
          <a:p>
            <a:r>
              <a:rPr lang="en-US" sz="1400" b="0" dirty="0"/>
              <a:t>Timing: 2 minutes. The next slide zooms into the same journey in detail.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Top row: what kind of data. Quantitative research counts and measures (mortality, fluid balance). Qualitative research collects words - interviews, focus groups, observation - to understand experiences, reasons and barriers. Mixed methods combine both in one study.</a:t>
            </a:r>
          </a:p>
          <a:p>
            <a:r>
              <a:rPr lang="en-US" sz="1400" b="0" dirty="0"/>
              <a:t>Bottom row: where the data come from. Primary research collects new data for this study (Paper 1, a new trial). Secondary research reuses data that already exist - medical records, registries (Paper 2 used a sepsis registry) or published studies (a systematic review).</a:t>
            </a:r>
          </a:p>
          <a:p>
            <a:r>
              <a:rPr lang="en-US" sz="1400" b="0" dirty="0"/>
              <a:t>Teaching point: the question decides the type. 'Does restriction reduce deaths?' is quantitative; 'why do nurses hesitate to stop fluids?' is qualitative.</a:t>
            </a:r>
          </a:p>
          <a:p>
            <a:r>
              <a:rPr lang="en-US" sz="1400" b="0" dirty="0"/>
              <a:t>Misconception: 'qualitative research is just opinion'. It has its own rigorous methods and reporting guideline (COREQ for interviews and focus groups); it is the right tool when numbers cannot explain behaviour.</a:t>
            </a:r>
          </a:p>
          <a:p>
            <a:r>
              <a:rPr lang="en-US" sz="1400" b="0" dirty="0"/>
              <a:t>Ask the room: 'Which type would show why a new fluid protocol is not being followed?' Expected answer: qualitative, or mixed methods with an audit.</a:t>
            </a:r>
          </a:p>
          <a:p>
            <a:r>
              <a:rPr lang="en-US" sz="1400" b="0" dirty="0"/>
              <a:t>Timing: 3 minutes. Qualitative designs return in Session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Quick check, not a test. Read each item and let the room shout the answer.</a:t>
            </a:r>
          </a:p>
          <a:p>
            <a:r>
              <a:rPr lang="en-US" sz="1400" b="0" dirty="0"/>
              <a:t>Answers (next slide): A quantitative, primary. B qualitative, primary. C quantitative, secondary (records already exist). D mixed methods, primary.</a:t>
            </a:r>
          </a:p>
          <a:p>
            <a:r>
              <a:rPr lang="en-US" sz="1400" b="0" dirty="0"/>
              <a:t>If people hesitate on C: the data were collected for care, not for this study - reusing them is secondary research. It still needs ethics review.</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through the four cards quickly.</a:t>
            </a:r>
          </a:p>
          <a:p>
            <a:r>
              <a:rPr lang="en-US" sz="1400" b="0" dirty="0"/>
              <a:t>Teaching point: two simple questions classify almost any study - what kind of data (numbers or words) and where they come from (new or existing).</a:t>
            </a:r>
          </a:p>
          <a:p>
            <a:r>
              <a:rPr lang="en-US" sz="1400" b="0" dirty="0"/>
              <a:t>Secondary research is often the most feasible for a busy department - but data quality depends on how well the records were kept (Session 5).</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Research generates new, generalisable knowledge - which option is best? Audit compares our practice with an agreed standard. Quality improvement (QI) changes a local process step by step, usually in Plan-Do-Study-Act (PDSA) cycles.</a:t>
            </a:r>
          </a:p>
          <a:p>
            <a:r>
              <a:rPr lang="en-US" sz="1400" b="0" dirty="0"/>
              <a:t>Why it matters: research always needs ethics committee approval before it starts. Audit and QI usually need local approval only - but if a project randomises patients, adds a new intervention or risk, or collects data beyond routine care, it is research and needs ethics review.</a:t>
            </a:r>
          </a:p>
          <a:p>
            <a:r>
              <a:rPr lang="en-US" sz="1400" b="0" dirty="0"/>
              <a:t>Publishing does not change what a project was. Journals ask for ethics approval or a formal waiver, so decide - and ask - at the start, not after the data are collected.</a:t>
            </a:r>
          </a:p>
          <a:p>
            <a:r>
              <a:rPr lang="en-US" sz="1400" b="0" dirty="0"/>
              <a:t>Misconception: 'audit and QI are lesser research'. They answer different questions and are essential; many good research questions start from an audit result.</a:t>
            </a:r>
          </a:p>
          <a:p>
            <a:r>
              <a:rPr lang="en-US" sz="1400" b="0" dirty="0"/>
              <a:t>Ask the room: 'Checking whether fluid balance is recorded daily as our protocol says - research, audit or QI?' Expected answer: audit.</a:t>
            </a:r>
          </a:p>
          <a:p>
            <a:r>
              <a:rPr lang="en-US" sz="1400" b="0" dirty="0"/>
              <a:t>Note: rules differ between institutions. Tell participants to check the local policy and, if in doubt, ask the ethics committee.</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each item; the room shows 1, 2 or 3 fingers.</a:t>
            </a:r>
          </a:p>
          <a:p>
            <a:r>
              <a:rPr lang="en-US" sz="1400" b="0" dirty="0"/>
              <a:t>Answers (next slide): A audit; B research (ethics committee + registration); C quality improvement; D research (qualitative - ethics committee).</a:t>
            </a:r>
          </a:p>
          <a:p>
            <a:r>
              <a:rPr lang="en-US" sz="1400" b="0" dirty="0"/>
              <a:t>Teaching point: the ethics route depends on WHAT you do, not on whether you plan to publish.</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through the four rows.</a:t>
            </a:r>
          </a:p>
          <a:p>
            <a:r>
              <a:rPr lang="en-US" sz="1400" b="0" dirty="0"/>
              <a:t>Common confusion: D feels like 'just talking to colleagues', but systematic interviews with recordings and analysis are research and need consent and ethics approval.</a:t>
            </a:r>
          </a:p>
          <a:p>
            <a:r>
              <a:rPr lang="en-US" sz="1400" b="0" dirty="0"/>
              <a:t>Misconception: 'if we only publish it later, we can get approval later'. Journals ask for approval or a formal waiver, and retrospective approval is often refused.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Eleven stops from question to impact. The colours show which weekend of the course teaches each stop.</a:t>
            </a:r>
          </a:p>
          <a:p>
            <a:r>
              <a:rPr lang="en-US" sz="1400" b="0" dirty="0"/>
              <a:t>Stops 1-6 are planning and doing: question, design and protocol, registration (trials must be registered BEFORE the first patient - Paper 1 was registered in July 2021, recruitment began in September 2021), ethics approval, data collection, analysis.</a:t>
            </a:r>
          </a:p>
          <a:p>
            <a:r>
              <a:rPr lang="en-US" sz="1400" b="0" dirty="0"/>
              <a:t>Stops 7-11 are publishing: writing, submission, peer review, publication and impact on patients. The road usually takes one to three years; many good studies stall at stop 7.</a:t>
            </a:r>
          </a:p>
          <a:p>
            <a:r>
              <a:rPr lang="en-US" sz="1400" b="0" dirty="0"/>
              <a:t>Teaching point: every stop depends on stop 1. A vague question produces a weak protocol, an unanswerable analysis and a paper that is hard to publish.</a:t>
            </a:r>
          </a:p>
          <a:p>
            <a:r>
              <a:rPr lang="en-US" sz="1400" b="0" dirty="0"/>
              <a:t>Misconception: 'publication is the end'. The point is impact - a changed guideline, protocol or practice.</a:t>
            </a:r>
          </a:p>
          <a:p>
            <a:r>
              <a:rPr lang="en-US" sz="1400" b="0" dirty="0"/>
              <a:t>Ask the room: 'At which stop do you think most hospital studies get stuck?' Expected answers: ethics paperwork, data collection, or writing (stop 7) - we will tackle each one.</a:t>
            </a:r>
          </a:p>
          <a:p>
            <a:r>
              <a:rPr lang="en-US" sz="1400" b="0" dirty="0"/>
              <a:t>Timing: 3 minutes. Segment 1.1 ends at 1:10 -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BREAK (1:10-1:25).</a:t>
            </a:r>
          </a:p>
          <a:p>
            <a:r>
              <a:rPr lang="en-US" sz="1400" b="0" dirty="0"/>
              <a:t>During the break: put the Session 1 exercise sheets on the tables and write the pair-task scenarios on the flip chart.</a:t>
            </a:r>
          </a:p>
          <a:p>
            <a:r>
              <a:rPr lang="en-US" sz="1400" b="0" dirty="0"/>
              <a:t>Restart on time - say clearly what time you will begin again.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1.2 (1:25-2:05).</a:t>
            </a:r>
          </a:p>
          <a:p>
            <a:r>
              <a:rPr lang="en-US" sz="1400" b="0" dirty="0"/>
              <a:t>Teaching point: a vague clinical worry ('are fluids bad?') must be turned into a precise, answerable question before anything else can happen.</a:t>
            </a:r>
          </a:p>
          <a:p>
            <a:r>
              <a:rPr lang="en-US" sz="1400" b="0" dirty="0"/>
              <a:t>We will build PICO slowly with several examples - ICU and ward - before you practise in pairs.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Six common sources of good questions, all from daily work.</a:t>
            </a:r>
          </a:p>
          <a:p>
            <a:r>
              <a:rPr lang="en-US" sz="1400" b="0" dirty="0"/>
              <a:t>The orange box is the key decision: before calling something research, check whether the answer already exists. If it does, the job is implementation - a guideline, an audit or a QI project (segment 1.1).</a:t>
            </a:r>
          </a:p>
          <a:p>
            <a:r>
              <a:rPr lang="en-US" sz="1400" b="0" dirty="0"/>
              <a:t>Teaching point: 'how we find out' is the literature search - that is tomorrow's Session 2.</a:t>
            </a:r>
          </a:p>
          <a:p>
            <a:r>
              <a:rPr lang="en-US" sz="1400" b="0" dirty="0"/>
              <a:t>Ask the room: 'Name one thing in your unit that colleagues do differently.' Expected: sedation targets, fluid volumes, dressing changes, mobilisation timing. Write them on the flip chart - they are candidate topics for the proposals.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PICO = Population, Intervention, Comparison, Outcome. The T (Time) states when the outcome is measured.</a:t>
            </a:r>
          </a:p>
          <a:p>
            <a:r>
              <a:rPr lang="en-US" sz="1400" b="0" dirty="0"/>
              <a:t>Read the five boxes, then the full sentence at the bottom. This is the running example for the whole course.</a:t>
            </a:r>
          </a:p>
          <a:p>
            <a:r>
              <a:rPr lang="en-US" sz="1400" b="0" dirty="0"/>
              <a:t>Teaching point: each letter forces a decision. Which patients exactly? Restrictive how? Compared with what? Which outcome, measured when?</a:t>
            </a:r>
          </a:p>
          <a:p>
            <a:r>
              <a:rPr lang="en-US" sz="1400" b="0" dirty="0"/>
              <a:t>Variants: for observational questions I becomes E (exposure), e.g. 'a positive fluid balance' - PECO. Descriptive questions may only need P and O.</a:t>
            </a:r>
          </a:p>
          <a:p>
            <a:r>
              <a:rPr lang="en-US" sz="1400" b="0" dirty="0"/>
              <a:t>Misconception: 'the comparison is obvious'. Usual care varies between hospitals and over time - it must be described.</a:t>
            </a:r>
          </a:p>
          <a:p>
            <a:r>
              <a:rPr lang="en-US" sz="1400" b="0" dirty="0"/>
              <a:t>Ask the room: 'Is 28-day mortality the only sensible outcome?' Expected: 90-day mortality, days alive without life support, kidney injury needing dialysis, fluid balance. The large trials used 90-day mortality.</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 examples that are NOT about fluids, so every profession sees itself.</a:t>
            </a:r>
          </a:p>
          <a:p>
            <a:r>
              <a:rPr lang="en-US" sz="1400" b="0" dirty="0"/>
              <a:t>Row 1 - treatment (PICO): ventilated adults; a twice-daily bed-head checklist vs usual care; ventilator-associated pneumonia by ICU day 28.</a:t>
            </a:r>
          </a:p>
          <a:p>
            <a:r>
              <a:rPr lang="en-US" sz="1400" b="0" dirty="0"/>
              <a:t>Row 2 - risk factor (PECO): we cannot assign obesity, so I becomes E (exposure). Adults on the medical ward; obese vs not; new pressure injury during admission.</a:t>
            </a:r>
          </a:p>
          <a:p>
            <a:r>
              <a:rPr lang="en-US" sz="1400" b="0" dirty="0"/>
              <a:t>Row 3 - how common? Only P and O (and T): adults 65 and over after hip-fracture surgery; delirium screened with the 4AT in the first 7 days.</a:t>
            </a:r>
          </a:p>
          <a:p>
            <a:r>
              <a:rPr lang="en-US" sz="1400" b="0" dirty="0"/>
              <a:t>Teaching point: the boxes you fill already tell you the type of question - and later the design.</a:t>
            </a:r>
          </a:p>
          <a:p>
            <a:r>
              <a:rPr lang="en-US" sz="1400" b="0" dirty="0"/>
              <a:t>Ask the room: 'Give me a PECO question from pharmacy.' Expected example: in ICU adults, is polypharmacy (10+ drugs) vs fewer associated with delirium?</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Give the room 2 minutes in silence, then 1 minute to compare.</a:t>
            </a:r>
          </a:p>
          <a:p>
            <a:r>
              <a:rPr lang="en-US" sz="1400" b="0" dirty="0"/>
              <a:t>Answer (next slide): P adults 65+ after hip-fracture surgery; I daily non-drug delirium bundle; C usual care; O delirium; T first 7 postoperative days.</a:t>
            </a:r>
          </a:p>
          <a:p>
            <a:r>
              <a:rPr lang="en-US" sz="1400" b="0" dirty="0"/>
              <a:t>Watch for people labelling 'hip fracture' as the outcome - it is part of the population.</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Reveal and ask how many got all five.</a:t>
            </a:r>
          </a:p>
          <a:p>
            <a:r>
              <a:rPr lang="en-US" sz="1400" b="0" dirty="0"/>
              <a:t>Teaching point: the outcome must be something that can happen AFTER the intervention starts. Hip fracture has already happened - it defines who is eligible.</a:t>
            </a:r>
          </a:p>
          <a:p>
            <a:r>
              <a:rPr lang="en-US" sz="1400" b="0" dirty="0"/>
              <a:t>Extra question for fast rooms: 'How would you measure delirium?' Expected: a validated screening tool (e.g. 4AT or CAM) at the same time each day.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Descriptive: what, how many, who - no comparison group needed.</a:t>
            </a:r>
          </a:p>
          <a:p>
            <a:r>
              <a:rPr lang="en-US" sz="1400" b="0" dirty="0"/>
              <a:t>Analytical: is X linked to Y (observational - we watch), or does X cause Y (experimental - we assign X).</a:t>
            </a:r>
          </a:p>
          <a:p>
            <a:r>
              <a:rPr lang="en-US" sz="1400" b="0" dirty="0"/>
              <a:t>Teaching point: the verbs give it away. 'How many' is descriptive; 'is associated with' is observational; 'does it reduce' implies an experiment.</a:t>
            </a:r>
          </a:p>
          <a:p>
            <a:r>
              <a:rPr lang="en-US" sz="1400" b="0" dirty="0"/>
              <a:t>Misconception: 'descriptive studies are not real research'. They often come first and show that the problem exists.</a:t>
            </a:r>
          </a:p>
          <a:p>
            <a:r>
              <a:rPr lang="en-US" sz="1400" b="0" dirty="0"/>
              <a:t>Ask the room: 'Paper 2 (Hyun) - which box?' Expected: analytical, observational (cohort).</a:t>
            </a:r>
          </a:p>
          <a:p>
            <a:r>
              <a:rPr lang="en-US" sz="1400" b="0" dirty="0"/>
              <a:t>Timing: 3 minutes. The full design menu is Session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the question we ask in the corridor - every word is undefined. Right: the same worry written with PICO(T).</a:t>
            </a:r>
          </a:p>
          <a:p>
            <a:r>
              <a:rPr lang="en-US" sz="1400" b="0" dirty="0"/>
              <a:t>Teaching point: a researchable question is specific, has one primary outcome, and implies the design.</a:t>
            </a:r>
          </a:p>
          <a:p>
            <a:r>
              <a:rPr lang="en-US" sz="1400" b="0" dirty="0"/>
              <a:t>Misconception: 'a broad question is more important'. Broad questions produce vague answers.</a:t>
            </a:r>
          </a:p>
          <a:p>
            <a:r>
              <a:rPr lang="en-US" sz="1400" b="0" dirty="0"/>
              <a:t>Ask the room: 'Make this answerable: Is hand hygiene good?' Expected direction: in ICU staff (P), does a feedback programme (I) vs no feedback (C) increase hand-hygiene compliance at 3 months (O, 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FINER comes from Hulley and colleagues, Designing Clinical Research.</a:t>
            </a:r>
          </a:p>
          <a:p>
            <a:r>
              <a:rPr lang="en-US" sz="1400" b="0" dirty="0"/>
              <a:t>Feasible fails most often in hospital research: not enough eligible patients, or an outcome that is too rare.</a:t>
            </a:r>
          </a:p>
          <a:p>
            <a:r>
              <a:rPr lang="en-US" sz="1400" b="0" dirty="0"/>
              <a:t>Novel does not mean 'never studied'. Repeating a study in a new setting, or with a better design, can be novel - which is why the literature search matters.</a:t>
            </a:r>
          </a:p>
          <a:p>
            <a:r>
              <a:rPr lang="en-US" sz="1400" b="0" dirty="0"/>
              <a:t>Ethical: is there genuine uncertainty (equipoise) about which option is better?</a:t>
            </a:r>
          </a:p>
          <a:p>
            <a:r>
              <a:rPr lang="en-US" sz="1400" b="0" dirty="0"/>
              <a:t>Ask the room: 'Which letter does our running example fail?' Let them guess - the next slide answers.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is red: to show a few percentage points difference in mortality you need well over a thousand patients. CLASSIC randomised 1,554; CLOVERS (NEJM 2023) 1,563. One ICU cannot do this.</a:t>
            </a:r>
          </a:p>
          <a:p>
            <a:r>
              <a:rPr lang="en-US" sz="1400" b="0" dirty="0"/>
              <a:t>N is amber: large trials already exist and neither found a mortality difference.</a:t>
            </a:r>
          </a:p>
          <a:p>
            <a:r>
              <a:rPr lang="en-US" sz="1400" b="0" dirty="0"/>
              <a:t>E is amber: both strategies are used in practice so equipoise exists, but consent in septic shock is difficult (Session 7).</a:t>
            </a:r>
          </a:p>
          <a:p>
            <a:r>
              <a:rPr lang="en-US" sz="1400" b="0" dirty="0"/>
              <a:t>How to rescue it: change the outcome (fluid balance at day 5, as Paper 1 did), make it a feasibility pilot, or ask a descriptive question about our own practice.</a:t>
            </a:r>
          </a:p>
          <a:p>
            <a:r>
              <a:rPr lang="en-US" sz="1400" b="0" dirty="0"/>
              <a:t>Misconception: 'a failed FINER check means a bad idea'. It means the idea needs reshaping - normal and expected.</a:t>
            </a:r>
          </a:p>
          <a:p>
            <a:r>
              <a:rPr lang="en-US" sz="1400" b="0" dirty="0"/>
              <a:t>Ask the room: 'Suggest a feasible version for our unit.' Expected: a descriptive audit-style question, or a pilot like Paper 1.</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Pairs: one person from each profession where possible.</a:t>
            </a:r>
          </a:p>
          <a:p>
            <a:r>
              <a:rPr lang="en-US" sz="1400" b="0" dirty="0"/>
              <a:t>Facilitation: circulate with the 'what good looks like' box from Course/Solutions/s1_solutions.md. Commonest problems: a missing comparison, an outcome without a time point, two outcomes squeezed into one question.</a:t>
            </a:r>
          </a:p>
          <a:p>
            <a:r>
              <a:rPr lang="en-US" sz="1400" b="0" dirty="0"/>
              <a:t>At 8 minutes call time. Take three pairs to read their question aloud; ask the room to name each PICO letter and 'which FINER letter worries you?'.</a:t>
            </a:r>
          </a:p>
          <a:p>
            <a:r>
              <a:rPr lang="en-US" sz="1400" b="0" dirty="0"/>
              <a:t>Pressure-injury pairs often discover their first question should be descriptive - praise this explicitly.</a:t>
            </a:r>
          </a:p>
          <a:p>
            <a:r>
              <a:rPr lang="en-US" sz="1400" b="0" dirty="0"/>
              <a:t>Timing: 8 minutes work + 3 minutes debrief. Segment 1.3 starts at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1.3 (2:05-2:25).</a:t>
            </a:r>
          </a:p>
          <a:p>
            <a:r>
              <a:rPr lang="en-US" sz="1400" b="0" dirty="0"/>
              <a:t>Teaching point: the aim, objectives and hypothesis are the question written as a plan. Ethics committees and grant reviewers read them first.</a:t>
            </a:r>
          </a:p>
          <a:p>
            <a:r>
              <a:rPr lang="en-US" sz="1400" b="0" dirty="0"/>
              <a:t>Keep it concrete: every example uses the running example or the pair-task scenarios.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Aim = the broad purpose in one sentence ('To compare...', 'To describe...').</a:t>
            </a:r>
          </a:p>
          <a:p>
            <a:r>
              <a:rPr lang="en-US" sz="1400" b="0" dirty="0"/>
              <a:t>Objectives = specific, measurable steps. Use measurable verbs: compare, estimate, describe, determine. Avoid 'understand', 'explore', 'study'.</a:t>
            </a:r>
          </a:p>
          <a:p>
            <a:r>
              <a:rPr lang="en-US" sz="1400" b="0" dirty="0"/>
              <a:t>Mark the primary objective - it drives the sample size (Session 6).</a:t>
            </a:r>
          </a:p>
          <a:p>
            <a:r>
              <a:rPr lang="en-US" sz="1400" b="0" dirty="0"/>
              <a:t>Hypothesis = the predicted answer to the main analytical objective, stated so data can reject it.</a:t>
            </a:r>
          </a:p>
          <a:p>
            <a:r>
              <a:rPr lang="en-US" sz="1400" b="0" dirty="0"/>
              <a:t>Misconception: 'every study needs a hypothesis'. Purely descriptive studies estimate; they do not test a hypothesis.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verbs that describe a wish, not an action you can check. Right: verbs that point to something you can count or measure.</a:t>
            </a:r>
          </a:p>
          <a:p>
            <a:r>
              <a:rPr lang="en-US" sz="1400" b="0" dirty="0"/>
              <a:t>Bottom: the same idea rewritten. 'To understand fluid management' cannot be finished or checked; 'to compare cumulative fluid balance at day 5 between groups' tells us the outcome, the time and the comparison.</a:t>
            </a:r>
          </a:p>
          <a:p>
            <a:r>
              <a:rPr lang="en-US" sz="1400" b="0" dirty="0"/>
              <a:t>Teaching point: each objective should match one outcome and, later, one analysis (Session 6).</a:t>
            </a:r>
          </a:p>
          <a:p>
            <a:r>
              <a:rPr lang="en-US" sz="1400" b="0" dirty="0"/>
              <a:t>Misconception: 'more objectives make a stronger proposal'. Two or three focused objectives are better than eight vague ones.</a:t>
            </a:r>
          </a:p>
          <a:p>
            <a:r>
              <a:rPr lang="en-US" sz="1400" b="0" dirty="0"/>
              <a:t>Ask the room: 'Rewrite: to study delirium in our ward.' Expected: to estimate the proportion of patients aged 65+ who develop delirium in the first 7 days after hip-fracture surgery.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H0, the null hypothesis: no difference. H1, the alternative: a difference.</a:t>
            </a:r>
          </a:p>
          <a:p>
            <a:r>
              <a:rPr lang="en-US" sz="1400" b="0" dirty="0"/>
              <a:t>Analogy: a court assumes 'not guilty' (H0) until the evidence is strong enough. 'Not guilty' is not 'innocent' - and 'no significant difference' is not 'no difference'.</a:t>
            </a:r>
          </a:p>
          <a:p>
            <a:r>
              <a:rPr lang="en-US" sz="1400" b="0" dirty="0"/>
              <a:t>H1 is usually two-sided, even when we expect benefit, because restriction could also harm.</a:t>
            </a:r>
          </a:p>
          <a:p>
            <a:r>
              <a:rPr lang="en-US" sz="1400" b="0" dirty="0"/>
              <a:t>Misconception: 'p &gt; 0.05 proves the treatments are equal'. Small studies like Paper 1 (48 patients) often cannot detect real differences. P-values are Session 6.</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Individual, 5 minutes writing + 2 minutes swapping.</a:t>
            </a:r>
          </a:p>
          <a:p>
            <a:r>
              <a:rPr lang="en-US" sz="1400" b="0" dirty="0"/>
              <a:t>Circulate and look for 'understand/know/study', objectives with no time point, and hypotheses about an outcome that is not in the objectives.</a:t>
            </a:r>
          </a:p>
          <a:p>
            <a:r>
              <a:rPr lang="en-US" sz="1400" b="0" dirty="0"/>
              <a:t>Model answers for the delirium example are on the next slide and in Course/Solutions/s1_solutions.md.</a:t>
            </a:r>
          </a:p>
          <a:p>
            <a:r>
              <a:rPr lang="en-US" sz="1400" b="0" dirty="0"/>
              <a:t>Timing: 7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three cards.</a:t>
            </a:r>
          </a:p>
          <a:p>
            <a:r>
              <a:rPr lang="en-US" sz="1400" b="0" dirty="0"/>
              <a:t>Check the chain: the question's O (delirium in 7 days) = the primary objective = the outcome in H0/H1. If any of these differ, the proposal is inconsistent - reviewers spot this immediately.</a:t>
            </a:r>
          </a:p>
          <a:p>
            <a:r>
              <a:rPr lang="en-US" sz="1400" b="0" dirty="0"/>
              <a:t>A descriptive version needs no hypothesis: 'To estimate the proportion of patients aged 65+ who develop delirium in the first 7 days after hip-fracture surgery.'</a:t>
            </a:r>
          </a:p>
          <a:p>
            <a:r>
              <a:rPr lang="en-US" sz="1400" b="0" dirty="0"/>
              <a:t>Timing: 3 minutes. Segment 1.3 ends at 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PROPOSAL BUILDER 1 (2:25-2:55).</a:t>
            </a:r>
          </a:p>
          <a:p>
            <a:r>
              <a:rPr lang="en-US" sz="1400" b="0" dirty="0"/>
              <a:t>Teaching point: everything taught today is now applied to the group's own topic. By 2:55 each group has a PICO question that passes FINER, an aim and 2-3 objectives in the proposal template.</a:t>
            </a:r>
          </a:p>
          <a:p>
            <a:r>
              <a:rPr lang="en-US" sz="1400" b="0" dirty="0"/>
              <a:t>Groups choose ONE problem. If a group cannot agree in 5 minutes, give them the running example or a secondary example (VAP, pressure injuries, hand hygiene, door-to-needle time, delirium, medication errors).</a:t>
            </a:r>
          </a:p>
          <a:p>
            <a:r>
              <a:rPr lang="en-US" sz="1400" b="0" dirty="0"/>
              <a:t>The search, the 5 references, the problem statement and the working title are tomorrow (Proposal builder 2).</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Groups of about 6, mixed professions. Suggested roles: chair, scribe (types into the template), timekeeper, and a 'devil's advocate' who checks FINER.</a:t>
            </a:r>
          </a:p>
          <a:p>
            <a:r>
              <a:rPr lang="en-US" sz="1400" b="0" dirty="0"/>
              <a:t>Trainers circulate. Spend the first 7 minutes making sure every group has ONE focused problem - this is where groups get stuck.</a:t>
            </a:r>
          </a:p>
          <a:p>
            <a:r>
              <a:rPr lang="en-US" sz="1400" b="0" dirty="0"/>
              <a:t>Check each group's question against PICO and FINER before they write objectives. A red F is the commonest problem - help them shrink the outcome, shorten the time frame or turn it into a descriptive question or pilot.</a:t>
            </a:r>
          </a:p>
          <a:p>
            <a:r>
              <a:rPr lang="en-US" sz="1400" b="0" dirty="0"/>
              <a:t>Second visit: does the primary objective name the same outcome as the question? Is the approval route (research / audit / QI) written down?</a:t>
            </a:r>
          </a:p>
          <a:p>
            <a:r>
              <a:rPr lang="en-US" sz="1400" b="0" dirty="0"/>
              <a:t>At 2:50 (minute 25), stop the work; one group reads its question and aim aloud; invite one improvement from the room.</a:t>
            </a:r>
          </a:p>
          <a:p>
            <a:r>
              <a:rPr lang="en-US" sz="1400" b="0" dirty="0"/>
              <a:t>What good looks like: Course/Solutions/s1_solutions.md (Exercise 4).</a:t>
            </a:r>
          </a:p>
          <a:p>
            <a:r>
              <a:rPr lang="en-US" sz="1400" b="0" dirty="0"/>
              <a:t>Timing: 28 minutes. Wrap-up starts at 2:55.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WRAP-UP (2:55-3:00).</a:t>
            </a:r>
          </a:p>
          <a:p>
            <a:r>
              <a:rPr lang="en-US" sz="1400" b="0" dirty="0"/>
              <a:t>Read the six key words quickly; these are also in the course glossary (EN-VN).</a:t>
            </a:r>
          </a:p>
          <a:p>
            <a:r>
              <a:rPr lang="en-US" sz="1400" b="0" dirty="0"/>
              <a:t>Ask one participant to explain PICO in their own words.</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three messages.</a:t>
            </a:r>
          </a:p>
          <a:p>
            <a:r>
              <a:rPr lang="en-US" sz="1400" b="0" dirty="0"/>
              <a:t>Link forward: tomorrow (Session 2) we search PubMed for each group's question, manage references, and learn to read a paper in 15 minutes.</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 Feasible: a mortality outcome needs well over a thousand patients. 2 - e.g. 'To estimate the incidence of new stage 2+ pressure injuries among adults on our ward over 6 months'.</a:t>
            </a:r>
          </a:p>
          <a:p>
            <a:r>
              <a:rPr lang="en-US" sz="1400" b="0" dirty="0"/>
              <a:t>Read the notes tonight. If many still use vague verbs, open Session 2 with one extra minute on objectives.</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Keep it light: about 30 minutes tonight.</a:t>
            </a:r>
          </a:p>
          <a:p>
            <a:r>
              <a:rPr lang="en-US" sz="1400" b="0" dirty="0"/>
              <a:t>The synonym list makes tomorrow's PubMed search much faster - PubMed searches in English.</a:t>
            </a:r>
          </a:p>
          <a:p>
            <a:r>
              <a:rPr lang="en-US" sz="1400" b="0" dirty="0"/>
              <a:t>The 'local number' becomes paragraph 3 of the problem statement tomorrow.</a:t>
            </a:r>
          </a:p>
          <a:p>
            <a:r>
              <a:rPr lang="en-US" sz="1400" b="0" dirty="0"/>
              <a:t>Close on time. Thank the room.</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(Session 1).</a:t>
            </a:r>
          </a:p>
          <a:p>
            <a:r>
              <a:rPr lang="en-US" sz="1400" b="0" dirty="0"/>
              <a:t>Everything after this slide is optional. Use it if the room is fast, if a group asks, or point participants to it for self-study.</a:t>
            </a:r>
          </a:p>
          <a:p>
            <a:r>
              <a:rPr lang="en-US" sz="1400" b="0" dirty="0"/>
              <a:t>The core session is complete without these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diagnosis, prognosis and qualitative question frameworks.</a:t>
            </a:r>
          </a:p>
          <a:p>
            <a:r>
              <a:rPr lang="en-US" sz="1400" b="0" dirty="0"/>
              <a:t>Diagnostic questions: the index test is I, the reference standard is C, the outcome is accuracy (sensitivity, specificity - Session 4).</a:t>
            </a:r>
          </a:p>
          <a:p>
            <a:r>
              <a:rPr lang="en-US" sz="1400" b="0" dirty="0"/>
              <a:t>Prognosis: often PECO plus a time frame.</a:t>
            </a:r>
          </a:p>
          <a:p>
            <a:r>
              <a:rPr lang="en-US" sz="1400" b="0" dirty="0"/>
              <a:t>Qualitative questions often use SPIDER (Cooke and colleagues, 2012): Sample, Phenomenon of Interest, Design, Evaluation, Research type.</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one- vs two-sided hypotheses.</a:t>
            </a:r>
          </a:p>
          <a:p>
            <a:r>
              <a:rPr lang="en-US" sz="1400" b="0" dirty="0"/>
              <a:t>Two-sided hypotheses are the default in clinical research because a new intervention can harm as well as help.</a:t>
            </a:r>
          </a:p>
          <a:p>
            <a:r>
              <a:rPr lang="en-US" sz="1400" b="0" dirty="0"/>
              <a:t>One-sided tests must be pre-specified and justified; reviewers are suspicious of them.</a:t>
            </a:r>
          </a:p>
          <a:p>
            <a:r>
              <a:rPr lang="en-US" sz="1400" b="0" dirty="0"/>
              <a:t>Non-inferiority questions (is a cheaper or simpler option not much worse?) have their own design - Session 3.</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extra FINER practice.</a:t>
            </a:r>
          </a:p>
          <a:p>
            <a:r>
              <a:rPr lang="en-US" sz="1400" b="0" dirty="0"/>
              <a:t>Answers: 1 Feasible (huge, long, expensive; large vitamin D trials also exist - Novel). 2 Ethical (withholding antibiotics in septic shock causes harm - no equipoise). 3 Novel (the answer is already measured: an audit question). 4 Relevant (no plausible mechanism, no impact on practice).</a:t>
            </a:r>
          </a:p>
          <a:p>
            <a:r>
              <a:rPr lang="en-US" sz="1400" b="0" dirty="0"/>
              <a:t>Also in Exercise 2 Part B of the participant sheet.</a:t>
            </a:r>
          </a:p>
          <a:p>
            <a:r>
              <a:rPr lang="en-US" sz="1400" b="0" dirty="0"/>
              <a:t>Timing: 4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more vague-to-answerable practice with a ward example.</a:t>
            </a:r>
          </a:p>
          <a:p>
            <a:r>
              <a:rPr lang="en-US" sz="1400" b="0" dirty="0"/>
              <a:t>Use this slide again with a ward example if the room needs more practice.</a:t>
            </a:r>
          </a:p>
          <a:p>
            <a:r>
              <a:rPr lang="en-US" sz="1400" b="0" dirty="0"/>
              <a:t>Ask: 'Make this answerable: Do night shifts cause medication errors?' Expected direction: in ward nurses (P), are night shifts (E) compared with day shifts (C) associated with more medication administration errors per 1,000 doses (O) over 6 months (T)?</a:t>
            </a:r>
          </a:p>
          <a:p>
            <a:r>
              <a:rPr lang="en-US" sz="1400" b="0" dirty="0"/>
              <a:t>Point out that this becomes a PECO (observational) question because we cannot randomise nurses to night shifts easily.</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3.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4.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5.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6.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7.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8.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9.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0.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1.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2.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7.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8.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9.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0.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1.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22.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 Id="rId4" Type="http://schemas.openxmlformats.org/officeDocument/2006/relationships/image" Target="../media/image18.pn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Century Gothic"/>
                <a:cs typeface="Century Gothic"/>
              </a:rPr>
              <a:t>Foundations of Clinical Research</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Segoe UI"/>
                <a:cs typeface="Segoe UI"/>
              </a:rPr>
              <a:t>From Clinical Question to Publication</a:t>
            </a:r>
          </a:p>
          <a:p>
            <a:pPr marL="0" indent="0" algn="ctr">
              <a:spcBef>
                <a:spcPts val="440"/>
              </a:spcBef>
              <a:buNone/>
            </a:pPr>
            <a:r>
              <a:rPr lang="en-US" sz="2000" dirty="0">
                <a:solidFill>
                  <a:srgbClr val="000000"/>
                </a:solidFill>
                <a:latin typeface="Segoe UI"/>
                <a:cs typeface="Segoe UI"/>
              </a:rPr>
              <a:t>8 sessions  -  4 weekends  -  24 contact hours</a:t>
            </a:r>
          </a:p>
          <a:p>
            <a:pPr marL="0" indent="0" algn="ctr">
              <a:spcBef>
                <a:spcPts val="440"/>
              </a:spcBef>
              <a:buNone/>
            </a:pPr>
            <a:r>
              <a:rPr lang="en-US" sz="2000" dirty="0">
                <a:solidFill>
                  <a:srgbClr val="000000"/>
                </a:solidFill>
                <a:latin typeface="Segoe UI"/>
                <a:cs typeface="Segoe UI"/>
              </a:rPr>
              <a:t>Trainers: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Segoe UI"/>
                <a:cs typeface="Segoe UI"/>
              </a:rPr>
              <a:t>Date: [dd/mm/yyyy]</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Every day you make decisions that research could improve.</a:t>
            </a:r>
          </a:p>
          <a:p>
            <a:pPr marL="0" indent="0" algn="ctr">
              <a:spcBef>
                <a:spcPts val="1200"/>
              </a:spcBef>
              <a:buNone/>
            </a:pPr>
            <a:r>
              <a:rPr lang="en-US" sz="1900" i="1" dirty="0">
                <a:solidFill>
                  <a:srgbClr val="595959"/>
                </a:solidFill>
                <a:latin typeface="Century Gothic"/>
                <a:cs typeface="Century Gothic"/>
              </a:rPr>
              <a:t>This course helps you ask those questions properly - answer them - and publish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Four weekends,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Where this course takes you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First understand and design research - then analyse a dataset and write the paper.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Two things your group will produce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By the end of the course you will be able to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ASK &amp; FIND</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Turn a problem into a PICO question</a:t>
            </a:r>
          </a:p>
          <a:p>
            <a:pPr marL="0" indent="0" algn="l">
              <a:lnSpc>
                <a:spcPct val="104000"/>
              </a:lnSpc>
              <a:spcBef>
                <a:spcPts val="400"/>
              </a:spcBef>
              <a:buNone/>
            </a:pPr>
            <a:r>
              <a:rPr lang="en-US" sz="1600" dirty="0">
                <a:solidFill>
                  <a:srgbClr val="000000"/>
                </a:solidFill>
                <a:latin typeface="Century Gothic"/>
                <a:cs typeface="Century Gothic"/>
              </a:rPr>
              <a:t>Search PubMed, manage references</a:t>
            </a:r>
          </a:p>
          <a:p>
            <a:pPr marL="0" indent="0" algn="l">
              <a:lnSpc>
                <a:spcPct val="104000"/>
              </a:lnSpc>
              <a:spcBef>
                <a:spcPts val="400"/>
              </a:spcBef>
              <a:buNone/>
            </a:pPr>
            <a:r>
              <a:rPr lang="en-US" sz="1600" dirty="0">
                <a:solidFill>
                  <a:srgbClr val="000000"/>
                </a:solidFill>
                <a:latin typeface="Century Gothic"/>
                <a:cs typeface="Century Gothic"/>
              </a:rPr>
              <a:t>Read a paper in 15 minutes</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DESIGN</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Pick the right study design</a:t>
            </a:r>
          </a:p>
          <a:p>
            <a:pPr marL="0" indent="0" algn="l">
              <a:lnSpc>
                <a:spcPct val="104000"/>
              </a:lnSpc>
              <a:spcBef>
                <a:spcPts val="400"/>
              </a:spcBef>
              <a:buNone/>
            </a:pPr>
            <a:r>
              <a:rPr lang="en-US" sz="1600" dirty="0">
                <a:solidFill>
                  <a:srgbClr val="000000"/>
                </a:solidFill>
                <a:latin typeface="Century Gothic"/>
                <a:cs typeface="Century Gothic"/>
              </a:rPr>
              <a:t>Recognise bias and confounding</a:t>
            </a:r>
          </a:p>
          <a:p>
            <a:pPr marL="0" indent="0" algn="l">
              <a:lnSpc>
                <a:spcPct val="104000"/>
              </a:lnSpc>
              <a:spcBef>
                <a:spcPts val="400"/>
              </a:spcBef>
              <a:buNone/>
            </a:pPr>
            <a:r>
              <a:rPr lang="en-US" sz="1600" dirty="0">
                <a:solidFill>
                  <a:srgbClr val="000000"/>
                </a:solidFill>
                <a:latin typeface="Century Gothic"/>
                <a:cs typeface="Century Gothic"/>
              </a:rPr>
              <a:t>Read RR, OR, NNT and forest plots</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ANALYSE</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Plan good data and a CRF</a:t>
            </a:r>
          </a:p>
          <a:p>
            <a:pPr marL="0" indent="0" algn="l">
              <a:lnSpc>
                <a:spcPct val="104000"/>
              </a:lnSpc>
              <a:spcBef>
                <a:spcPts val="400"/>
              </a:spcBef>
              <a:buNone/>
            </a:pPr>
            <a:r>
              <a:rPr lang="en-US" sz="1600" dirty="0">
                <a:solidFill>
                  <a:srgbClr val="000000"/>
                </a:solidFill>
                <a:latin typeface="Century Gothic"/>
                <a:cs typeface="Century Gothic"/>
              </a:rPr>
              <a:t>Read CIs, p-values, regression</a:t>
            </a:r>
          </a:p>
          <a:p>
            <a:pPr marL="0" indent="0" algn="l">
              <a:lnSpc>
                <a:spcPct val="104000"/>
              </a:lnSpc>
              <a:spcBef>
                <a:spcPts val="400"/>
              </a:spcBef>
              <a:buNone/>
            </a:pPr>
            <a:r>
              <a:rPr lang="en-US" sz="1600" dirty="0">
                <a:solidFill>
                  <a:srgbClr val="000000"/>
                </a:solidFill>
                <a:latin typeface="Century Gothic"/>
                <a:cs typeface="Century Gothic"/>
              </a:rPr>
              <a:t>Interpret a real dataset's results</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WRITE &amp; PUBLISH</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Plan ethics and registration</a:t>
            </a:r>
          </a:p>
          <a:p>
            <a:pPr marL="0" indent="0" algn="l">
              <a:lnSpc>
                <a:spcPct val="104000"/>
              </a:lnSpc>
              <a:spcBef>
                <a:spcPts val="400"/>
              </a:spcBef>
              <a:buNone/>
            </a:pPr>
            <a:r>
              <a:rPr lang="en-US" sz="1600" dirty="0">
                <a:solidFill>
                  <a:srgbClr val="000000"/>
                </a:solidFill>
                <a:latin typeface="Century Gothic"/>
                <a:cs typeface="Century Gothic"/>
              </a:rPr>
              <a:t>Write each section of a paper</a:t>
            </a:r>
          </a:p>
          <a:p>
            <a:pPr marL="0" indent="0" algn="l">
              <a:lnSpc>
                <a:spcPct val="104000"/>
              </a:lnSpc>
              <a:spcBef>
                <a:spcPts val="400"/>
              </a:spcBef>
              <a:buNone/>
            </a:pPr>
            <a:r>
              <a:rPr lang="en-US" sz="1600" dirty="0">
                <a:solidFill>
                  <a:srgbClr val="000000"/>
                </a:solidFill>
                <a:latin typeface="Century Gothic"/>
                <a:cs typeface="Century Gothic"/>
              </a:rPr>
              <a:t>Submit and answer reviewers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Understand and interpret - you will not be asked to calculate.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each session runs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3947159"/>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proposal builder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Same group, same template, one part per weekend, presented in Session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Meet your group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Sit with your group (5 groups of about 6, mixed professions)</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Introduce yourselves: name, unit, one question you wish research could answer</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Agree the roles below - they can rotate each weekend</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Choose a group name</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Group roles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Facilitator - keeps everyone talking</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Scribe - fills in the template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Timekeeper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Literature lead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Methods &amp; data lead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Presenter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Group name + roles written on the group sheet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we learn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998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Ask anything</a:t>
            </a:r>
          </a:p>
        </p:txBody>
      </p:sp>
      <p:sp>
        <p:nvSpPr>
          <p:cNvPr id="71" name="CardBody"/>
          <p:cNvSpPr/>
          <p:nvPr/>
        </p:nvSpPr>
        <p:spPr>
          <a:xfrm>
            <a:off x="4572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There are no silly questions</a:t>
            </a:r>
          </a:p>
          <a:p>
            <a:pPr marL="0" indent="0" algn="l">
              <a:lnSpc>
                <a:spcPct val="104000"/>
              </a:lnSpc>
              <a:spcBef>
                <a:spcPts val="400"/>
              </a:spcBef>
              <a:buNone/>
            </a:pPr>
            <a:r>
              <a:rPr lang="en-US" sz="1600" dirty="0">
                <a:solidFill>
                  <a:srgbClr val="000000"/>
                </a:solidFill>
                <a:latin typeface="Century Gothic"/>
                <a:cs typeface="Century Gothic"/>
              </a:rPr>
              <a:t>If you are lost, others are too</a:t>
            </a:r>
          </a:p>
        </p:txBody>
      </p:sp>
      <p:sp>
        <p:nvSpPr>
          <p:cNvPr id="72" name="CardHead"/>
          <p:cNvSpPr/>
          <p:nvPr/>
        </p:nvSpPr>
        <p:spPr>
          <a:xfrm>
            <a:off x="3326600" y="20998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Go slow</a:t>
            </a:r>
          </a:p>
        </p:txBody>
      </p:sp>
      <p:sp>
        <p:nvSpPr>
          <p:cNvPr id="73" name="CardBody"/>
          <p:cNvSpPr/>
          <p:nvPr/>
        </p:nvSpPr>
        <p:spPr>
          <a:xfrm>
            <a:off x="33266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We check understanding often</a:t>
            </a:r>
          </a:p>
          <a:p>
            <a:pPr marL="0" indent="0" algn="l">
              <a:lnSpc>
                <a:spcPct val="104000"/>
              </a:lnSpc>
              <a:spcBef>
                <a:spcPts val="400"/>
              </a:spcBef>
              <a:buNone/>
            </a:pPr>
            <a:r>
              <a:rPr lang="en-US" sz="1600" dirty="0">
                <a:solidFill>
                  <a:srgbClr val="000000"/>
                </a:solidFill>
                <a:latin typeface="Century Gothic"/>
                <a:cs typeface="Century Gothic"/>
              </a:rPr>
              <a:t>Extra slides only if time allows</a:t>
            </a:r>
          </a:p>
        </p:txBody>
      </p:sp>
      <p:sp>
        <p:nvSpPr>
          <p:cNvPr id="74" name="CardHead"/>
          <p:cNvSpPr/>
          <p:nvPr/>
        </p:nvSpPr>
        <p:spPr>
          <a:xfrm>
            <a:off x="6196000" y="20998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Bring your ward</a:t>
            </a:r>
          </a:p>
        </p:txBody>
      </p:sp>
      <p:sp>
        <p:nvSpPr>
          <p:cNvPr id="75" name="CardBody"/>
          <p:cNvSpPr/>
          <p:nvPr/>
        </p:nvSpPr>
        <p:spPr>
          <a:xfrm>
            <a:off x="61960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Use examples from your own practice</a:t>
            </a:r>
          </a:p>
          <a:p>
            <a:pPr marL="0" indent="0" algn="l">
              <a:lnSpc>
                <a:spcPct val="104000"/>
              </a:lnSpc>
              <a:spcBef>
                <a:spcPts val="400"/>
              </a:spcBef>
              <a:buNone/>
            </a:pPr>
            <a:r>
              <a:rPr lang="en-US" sz="1600" dirty="0">
                <a:solidFill>
                  <a:srgbClr val="000000"/>
                </a:solidFill>
                <a:latin typeface="Century Gothic"/>
                <a:cs typeface="Century Gothic"/>
              </a:rPr>
              <a:t>Your experience is the raw material</a:t>
            </a:r>
          </a:p>
        </p:txBody>
      </p:sp>
      <p:sp>
        <p:nvSpPr>
          <p:cNvPr id="76" name="CardHead"/>
          <p:cNvSpPr/>
          <p:nvPr/>
        </p:nvSpPr>
        <p:spPr>
          <a:xfrm>
            <a:off x="9065400" y="20998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Respect time</a:t>
            </a:r>
          </a:p>
        </p:txBody>
      </p:sp>
      <p:sp>
        <p:nvSpPr>
          <p:cNvPr id="77" name="CardBody"/>
          <p:cNvSpPr/>
          <p:nvPr/>
        </p:nvSpPr>
        <p:spPr>
          <a:xfrm>
            <a:off x="90654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Start and finish on time</a:t>
            </a:r>
          </a:p>
          <a:p>
            <a:pPr marL="0" indent="0" algn="l">
              <a:lnSpc>
                <a:spcPct val="104000"/>
              </a:lnSpc>
              <a:spcBef>
                <a:spcPts val="400"/>
              </a:spcBef>
              <a:buNone/>
            </a:pPr>
            <a:r>
              <a:rPr lang="en-US" sz="1600" dirty="0">
                <a:solidFill>
                  <a:srgbClr val="000000"/>
                </a:solidFill>
                <a:latin typeface="Century Gothic"/>
                <a:cs typeface="Century Gothic"/>
              </a:rPr>
              <a:t>Phones silent, break at the break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Pre-course quiz</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Individual, no discussion, no phones (except for the online form)</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24 multiple-choice questions - one answer each</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Guess if you are not sure: this is not an exam</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Write only your participant number, not your name</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Why a quiz now?</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Shows where the room starts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Same quiz in Session 8</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We measure the course, not you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Quiz handed in (participant number only)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Century Gothic"/>
                <a:cs typeface="Century Gothic"/>
              </a:rPr>
              <a:t>Session 1 · Ask: from clinical problem to research question</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Weekend 1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1.1  Why research? Evidence, types of research, research vs audit, the road to publication</a:t>
            </a:r>
          </a:p>
          <a:p>
            <a:pPr marL="274320" indent="-274320" algn="l">
              <a:spcBef>
                <a:spcPts val="440"/>
              </a:spcBef>
              <a:buFont typeface="Arial"/>
              <a:buChar char="•"/>
            </a:pPr>
            <a:r>
              <a:rPr lang="en-US" sz="1900" dirty="0">
                <a:solidFill>
                  <a:srgbClr val="000000"/>
                </a:solidFill>
                <a:latin typeface="Century Gothic"/>
                <a:cs typeface="Century Gothic"/>
              </a:rPr>
              <a:t>Break</a:t>
            </a:r>
          </a:p>
          <a:p>
            <a:pPr marL="274320" indent="-274320" algn="l">
              <a:spcBef>
                <a:spcPts val="440"/>
              </a:spcBef>
              <a:buFont typeface="Arial"/>
              <a:buChar char="•"/>
            </a:pPr>
            <a:r>
              <a:rPr lang="en-US" sz="1900" dirty="0">
                <a:solidFill>
                  <a:srgbClr val="000000"/>
                </a:solidFill>
                <a:latin typeface="Century Gothic"/>
                <a:cs typeface="Century Gothic"/>
              </a:rPr>
              <a:t>1.2  From problem to question: PICO(T) with worked examples, FINER (pair task)</a:t>
            </a:r>
          </a:p>
          <a:p>
            <a:pPr marL="274320" indent="-274320" algn="l">
              <a:spcBef>
                <a:spcPts val="440"/>
              </a:spcBef>
              <a:buFont typeface="Arial"/>
              <a:buChar char="•"/>
            </a:pPr>
            <a:r>
              <a:rPr lang="en-US" sz="1900" dirty="0">
                <a:solidFill>
                  <a:srgbClr val="000000"/>
                </a:solidFill>
                <a:latin typeface="Century Gothic"/>
                <a:cs typeface="Century Gothic"/>
              </a:rPr>
              <a:t>1.3  Aims, objectives and hypotheses (quick exercise)</a:t>
            </a:r>
          </a:p>
          <a:p>
            <a:pPr marL="274320" indent="-274320" algn="l">
              <a:spcBef>
                <a:spcPts val="440"/>
              </a:spcBef>
              <a:buFont typeface="Arial"/>
              <a:buChar char="•"/>
            </a:pPr>
            <a:r>
              <a:rPr lang="en-US" sz="1900" dirty="0">
                <a:solidFill>
                  <a:srgbClr val="000000"/>
                </a:solidFill>
                <a:latin typeface="Century Gothic"/>
                <a:cs typeface="Century Gothic"/>
              </a:rPr>
              <a:t>Proposal builder 1: topic, PICO, question, FINER, aim and objectives</a:t>
            </a:r>
          </a:p>
          <a:p>
            <a:pPr marL="274320" indent="-274320" algn="l">
              <a:spcBef>
                <a:spcPts val="440"/>
              </a:spcBef>
              <a:buFont typeface="Arial"/>
              <a:buChar char="•"/>
            </a:pPr>
            <a:r>
              <a:rPr lang="en-US" sz="1900" dirty="0">
                <a:solidFill>
                  <a:srgbClr val="000000"/>
                </a:solidFill>
                <a:latin typeface="Century Gothic"/>
                <a:cs typeface="Century Gothic"/>
              </a:rPr>
              <a:t>Wrap-up: key words, recap, homework for tomorrow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1.1  Why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Why do we need research when we already have experience?</a:t>
            </a:r>
          </a:p>
          <a:p>
            <a:pPr marL="0" indent="0" algn="ctr">
              <a:spcBef>
                <a:spcPts val="1200"/>
              </a:spcBef>
              <a:buNone/>
            </a:pPr>
            <a:r>
              <a:rPr lang="en-US" sz="1900" i="1" dirty="0">
                <a:solidFill>
                  <a:srgbClr val="595959"/>
                </a:solidFill>
                <a:latin typeface="Century Gothic"/>
                <a:cs typeface="Century Gothic"/>
              </a:rPr>
              <a:t>35 minutes: evidence, the pyramid, types of research, research vs audit, and the road to publication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Anecdote vs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Experience suggests questions. Fair comparisons in many patients answer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one ward's experience is not enough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Small numbers jump around by chance. Large, fair comparisons settle down.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evidence pyramid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Higher = less risk of bias for questions about treatment effects</a:t>
            </a:r>
          </a:p>
          <a:p>
            <a:pPr marL="274320" indent="-274320" algn="l">
              <a:spcBef>
                <a:spcPts val="440"/>
              </a:spcBef>
              <a:buFont typeface="Arial"/>
              <a:buChar char="•"/>
            </a:pPr>
            <a:r>
              <a:rPr lang="en-US" sz="1450" dirty="0">
                <a:solidFill>
                  <a:srgbClr val="000000"/>
                </a:solidFill>
                <a:latin typeface="Century Gothic"/>
                <a:cs typeface="Century Gothic"/>
              </a:rPr>
              <a:t>Paper 1 (Boulet) is an RCT; Paper 2 (Hyun) is a cohort</a:t>
            </a:r>
          </a:p>
          <a:p>
            <a:pPr marL="274320" indent="-274320" algn="l">
              <a:spcBef>
                <a:spcPts val="440"/>
              </a:spcBef>
              <a:buFont typeface="Arial"/>
              <a:buChar char="•"/>
            </a:pPr>
            <a:r>
              <a:rPr lang="en-US" sz="1450" dirty="0">
                <a:solidFill>
                  <a:srgbClr val="000000"/>
                </a:solidFill>
                <a:latin typeface="Century Gothic"/>
                <a:cs typeface="Century Gothic"/>
              </a:rPr>
              <a:t>A well-done cohort can beat a poorly done RCT</a:t>
            </a:r>
          </a:p>
          <a:p>
            <a:pPr marL="274320" indent="-274320" algn="l">
              <a:spcBef>
                <a:spcPts val="440"/>
              </a:spcBef>
              <a:buFont typeface="Arial"/>
              <a:buChar char="•"/>
            </a:pPr>
            <a:r>
              <a:rPr lang="en-US" sz="1450" dirty="0">
                <a:solidFill>
                  <a:srgbClr val="000000"/>
                </a:solidFill>
                <a:latin typeface="Century Gothic"/>
                <a:cs typeface="Century Gothic"/>
              </a:rPr>
              <a:t>Descriptive questions do not need an RCT</a:t>
            </a:r>
          </a:p>
        </p:txBody>
      </p:sp>
      <p:pic>
        <p:nvPicPr>
          <p:cNvPr id="25" name="Figure"/>
          <p:cNvPicPr>
            <a:picLocks noChangeAspect="1"/>
          </p:cNvPicPr>
          <p:nvPr/>
        </p:nvPicPr>
        <p:blipFill>
          <a:blip r:embed="rId4"/>
          <a:stretch>
            <a:fillRect/>
          </a:stretch>
        </p:blipFill>
        <p:spPr>
          <a:xfrm>
            <a:off x="4307200" y="1150000"/>
            <a:ext cx="671064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pyramid ranks designs, not individual papers: quality still has to be checked.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Quick quiz: rank the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Four sources answer: 'Do restrictive fluids reduce deaths in septic shock?'</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A: a senior colleague: 'In 20 years, my dry patients did better'</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B: a registry cohort of thousands of ICU patients with sepsis</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C: a trial that randomised 1,554 patients with septic shock</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D: a review that pools every trial of fluid restriction</a:t>
            </a:r>
          </a:p>
          <a:p>
            <a:pPr marL="380000" indent="-380000" algn="l">
              <a:lnSpc>
                <a:spcPct val="104000"/>
              </a:lnSpc>
              <a:spcBef>
                <a:spcPts val="450"/>
              </a:spcBef>
              <a:buNone/>
            </a:pPr>
            <a:r>
              <a:rPr lang="en-US" sz="1650" b="1" dirty="0">
                <a:solidFill>
                  <a:srgbClr val="6C3483"/>
                </a:solidFill>
                <a:latin typeface="Century Gothic"/>
                <a:cs typeface="Century Gothic"/>
              </a:rPr>
              <a:t>6.  </a:t>
            </a:r>
            <a:r>
              <a:rPr lang="en-US" sz="1650" dirty="0">
                <a:solidFill>
                  <a:srgbClr val="000000"/>
                </a:solidFill>
                <a:latin typeface="Century Gothic"/>
                <a:cs typeface="Century Gothic"/>
              </a:rPr>
              <a:t>Rank them from weakest to strongest - show fingers on the count of 3</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Then discuss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Which one would change your practice?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What could make C weaker than B?</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agreed ranking per 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research cycle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Research is a cycle: published results change practice and raise new questions.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Types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Numbers answer how many and how much; words answer why and how.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counting how many ICU patients develop pressure injuries this year</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B: interviewing families about visiting rules in the ICU</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C: re-analysing 3 years of discharge records for readmissions</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D: a survey of hand-hygiene practice plus focus groups with nurses</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For each: quantitative, qualitative or mixed? Primary or secondary?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Shout out the answers - the next slide shows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Answers: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  Counting</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Quantitative</a:t>
            </a:r>
          </a:p>
          <a:p>
            <a:pPr marL="0" indent="0" algn="l">
              <a:lnSpc>
                <a:spcPct val="104000"/>
              </a:lnSpc>
              <a:spcBef>
                <a:spcPts val="400"/>
              </a:spcBef>
              <a:buNone/>
            </a:pPr>
            <a:r>
              <a:rPr lang="en-US" sz="1600" dirty="0">
                <a:solidFill>
                  <a:srgbClr val="000000"/>
                </a:solidFill>
                <a:latin typeface="Century Gothic"/>
                <a:cs typeface="Century Gothic"/>
              </a:rPr>
              <a:t>Primary</a:t>
            </a:r>
          </a:p>
          <a:p>
            <a:pPr marL="0" indent="0" algn="l">
              <a:lnSpc>
                <a:spcPct val="104000"/>
              </a:lnSpc>
              <a:spcBef>
                <a:spcPts val="400"/>
              </a:spcBef>
              <a:buNone/>
            </a:pPr>
            <a:r>
              <a:rPr lang="en-US" sz="1600" dirty="0">
                <a:solidFill>
                  <a:srgbClr val="000000"/>
                </a:solidFill>
                <a:latin typeface="Century Gothic"/>
                <a:cs typeface="Century Gothic"/>
              </a:rPr>
              <a:t>(new counts)</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B  Interviews</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Qualitative</a:t>
            </a:r>
          </a:p>
          <a:p>
            <a:pPr marL="0" indent="0" algn="l">
              <a:lnSpc>
                <a:spcPct val="104000"/>
              </a:lnSpc>
              <a:spcBef>
                <a:spcPts val="400"/>
              </a:spcBef>
              <a:buNone/>
            </a:pPr>
            <a:r>
              <a:rPr lang="en-US" sz="1600" dirty="0">
                <a:solidFill>
                  <a:srgbClr val="000000"/>
                </a:solidFill>
                <a:latin typeface="Century Gothic"/>
                <a:cs typeface="Century Gothic"/>
              </a:rPr>
              <a:t>Primary</a:t>
            </a:r>
          </a:p>
          <a:p>
            <a:pPr marL="0" indent="0" algn="l">
              <a:lnSpc>
                <a:spcPct val="104000"/>
              </a:lnSpc>
              <a:spcBef>
                <a:spcPts val="400"/>
              </a:spcBef>
              <a:buNone/>
            </a:pPr>
            <a:r>
              <a:rPr lang="en-US" sz="1600" dirty="0">
                <a:solidFill>
                  <a:srgbClr val="000000"/>
                </a:solidFill>
                <a:latin typeface="Century Gothic"/>
                <a:cs typeface="Century Gothic"/>
              </a:rPr>
              <a:t>(words, why)</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  Old records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Quantitative</a:t>
            </a:r>
          </a:p>
          <a:p>
            <a:pPr marL="0" indent="0" algn="l">
              <a:lnSpc>
                <a:spcPct val="104000"/>
              </a:lnSpc>
              <a:spcBef>
                <a:spcPts val="400"/>
              </a:spcBef>
              <a:buNone/>
            </a:pPr>
            <a:r>
              <a:rPr lang="en-US" sz="1600" dirty="0">
                <a:solidFill>
                  <a:srgbClr val="000000"/>
                </a:solidFill>
                <a:latin typeface="Century Gothic"/>
                <a:cs typeface="Century Gothic"/>
              </a:rPr>
              <a:t>Secondary</a:t>
            </a:r>
          </a:p>
          <a:p>
            <a:pPr marL="0" indent="0" algn="l">
              <a:lnSpc>
                <a:spcPct val="104000"/>
              </a:lnSpc>
              <a:spcBef>
                <a:spcPts val="400"/>
              </a:spcBef>
              <a:buNone/>
            </a:pPr>
            <a:r>
              <a:rPr lang="en-US" sz="1600" dirty="0">
                <a:solidFill>
                  <a:srgbClr val="000000"/>
                </a:solidFill>
                <a:latin typeface="Century Gothic"/>
                <a:cs typeface="Century Gothic"/>
              </a:rPr>
              <a:t>(data exist)</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  Survey + groups</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Mixed methods</a:t>
            </a:r>
          </a:p>
          <a:p>
            <a:pPr marL="0" indent="0" algn="l">
              <a:lnSpc>
                <a:spcPct val="104000"/>
              </a:lnSpc>
              <a:spcBef>
                <a:spcPts val="400"/>
              </a:spcBef>
              <a:buNone/>
            </a:pPr>
            <a:r>
              <a:rPr lang="en-US" sz="1600" dirty="0">
                <a:solidFill>
                  <a:srgbClr val="000000"/>
                </a:solidFill>
                <a:latin typeface="Century Gothic"/>
                <a:cs typeface="Century Gothic"/>
              </a:rPr>
              <a:t>Primary</a:t>
            </a:r>
          </a:p>
          <a:p>
            <a:pPr marL="0" indent="0" algn="l">
              <a:lnSpc>
                <a:spcPct val="104000"/>
              </a:lnSpc>
              <a:spcBef>
                <a:spcPts val="400"/>
              </a:spcBef>
              <a:buNone/>
            </a:pPr>
            <a:r>
              <a:rPr lang="en-US" sz="1600" dirty="0">
                <a:solidFill>
                  <a:srgbClr val="000000"/>
                </a:solidFill>
                <a:latin typeface="Century Gothic"/>
                <a:cs typeface="Century Gothic"/>
              </a:rPr>
              <a:t>(numbers + words)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Ask two things: numbers or words? New data or existing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Research, audit or quality improvement?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Research asks what is best; audit asks if we do it; QI makes it better.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research, audit or QI?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checking whether fluid balance is charted daily, as our protocol says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B: randomising patients to restrictive or usual fluids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C: testing a new handover checklist in small PDSA cycles</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D: interviewing nurses about why they hesitate to stop fluids</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For each: research, audit or QI - and who must approve it?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Show 1 finger for research, 2 for audit, 3 for QI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Answers: research, audit or QI?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190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Century Gothic"/>
                        </a:rPr>
                        <a:t>Project</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Type</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Approval before you start</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A  Fluid balance charted daily?</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Audit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Local / clinical governance</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B  Randomise restrictive vs usual fluids</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Research</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Ethics committee + trial registration</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C  Handover checklist in PDSA cycles</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Quality improvement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Local; ethics review if new risk</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D  Interview nurses about stopping fluids</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Research (qualitative)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Ethics committee</a:t>
                      </a:r>
                    </a:p>
                  </a:txBody>
                  <a:tcPr marL="73152" marR="73152" marT="36576" marB="36576" anchor="ctr">
                    <a:solidFill>
                      <a:srgbClr val="FFFFFF"/>
                    </a:solidFill>
                  </a:tcPr>
                </a:tc>
              </a:tr>
            </a:tbl>
          </a:graphicData>
        </a:graphic>
      </p:graphicFrame>
      <p:sp>
        <p:nvSpPr>
          <p:cNvPr id="31" name="Caption"/>
          <p:cNvSpPr txBox="1"/>
          <p:nvPr/>
        </p:nvSpPr>
        <p:spPr>
          <a:xfrm>
            <a:off x="457200" y="359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Rules differ between institutions: check your local policy, and ask the ethics committee when in doubt.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whole road: from idea to publication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This course walks the whole road - your group proposal covers stops 1 to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talk to someone from another profession</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Think: which problem from your ward could your group work on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1.2  From problem to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A good question is half of the answer.</a:t>
            </a:r>
          </a:p>
          <a:p>
            <a:pPr marL="0" indent="0" algn="ctr">
              <a:spcBef>
                <a:spcPts val="1200"/>
              </a:spcBef>
              <a:buNone/>
            </a:pPr>
            <a:r>
              <a:rPr lang="en-US" sz="1900" i="1" dirty="0">
                <a:solidFill>
                  <a:srgbClr val="595959"/>
                </a:solidFill>
                <a:latin typeface="Century Gothic"/>
                <a:cs typeface="Century Gothic"/>
              </a:rPr>
              <a:t>40 minutes: where questions come from, PICO(T) with worked examples, question types, FINER - then a pair task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Where do research questions come from?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the answer is known, apply it. If it is not, you have a research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PICO(T):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session we come back to this one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PICO(T) on the ward: three worked examples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Treatment questions use PICO, risk questions PECO, 'how many?' questions only P and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spot the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Read the question: 'In adults aged 65+ after hip-fracture surgery, does a daily non-drug bundle, compared with usual care, reduce delirium in the first 7 days?'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Which words are P? Which are I? C? O? T?</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Write the five letters on your sheet (Exercise 1, warm-up)</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Compare with your neighbour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Five labelled pieces - the answer is on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Answer: spot the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P</a:t>
            </a:r>
          </a:p>
        </p:txBody>
      </p:sp>
      <p:sp>
        <p:nvSpPr>
          <p:cNvPr id="71" name="CardBody"/>
          <p:cNvSpPr/>
          <p:nvPr/>
        </p:nvSpPr>
        <p:spPr>
          <a:xfrm>
            <a:off x="45720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Adults 65+</a:t>
            </a:r>
          </a:p>
          <a:p>
            <a:pPr marL="0" indent="0" algn="l">
              <a:lnSpc>
                <a:spcPct val="104000"/>
              </a:lnSpc>
              <a:spcBef>
                <a:spcPts val="400"/>
              </a:spcBef>
              <a:buNone/>
            </a:pPr>
            <a:r>
              <a:rPr lang="en-US" sz="1450" dirty="0">
                <a:solidFill>
                  <a:srgbClr val="000000"/>
                </a:solidFill>
                <a:latin typeface="Century Gothic"/>
                <a:cs typeface="Century Gothic"/>
              </a:rPr>
              <a:t>after hip-fracture</a:t>
            </a:r>
          </a:p>
          <a:p>
            <a:pPr marL="0" indent="0" algn="l">
              <a:lnSpc>
                <a:spcPct val="104000"/>
              </a:lnSpc>
              <a:spcBef>
                <a:spcPts val="400"/>
              </a:spcBef>
              <a:buNone/>
            </a:pPr>
            <a:r>
              <a:rPr lang="en-US" sz="1450" dirty="0">
                <a:solidFill>
                  <a:srgbClr val="000000"/>
                </a:solidFill>
                <a:latin typeface="Century Gothic"/>
                <a:cs typeface="Century Gothic"/>
              </a:rPr>
              <a:t>surgery</a:t>
            </a:r>
          </a:p>
        </p:txBody>
      </p:sp>
      <p:sp>
        <p:nvSpPr>
          <p:cNvPr id="72" name="CardHead"/>
          <p:cNvSpPr/>
          <p:nvPr/>
        </p:nvSpPr>
        <p:spPr>
          <a:xfrm>
            <a:off x="2752720" y="191666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I</a:t>
            </a:r>
          </a:p>
        </p:txBody>
      </p:sp>
      <p:sp>
        <p:nvSpPr>
          <p:cNvPr id="73" name="CardBody"/>
          <p:cNvSpPr/>
          <p:nvPr/>
        </p:nvSpPr>
        <p:spPr>
          <a:xfrm>
            <a:off x="275272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Daily non-drug</a:t>
            </a:r>
          </a:p>
          <a:p>
            <a:pPr marL="0" indent="0" algn="l">
              <a:lnSpc>
                <a:spcPct val="104000"/>
              </a:lnSpc>
              <a:spcBef>
                <a:spcPts val="400"/>
              </a:spcBef>
              <a:buNone/>
            </a:pPr>
            <a:r>
              <a:rPr lang="en-US" sz="1450" dirty="0">
                <a:solidFill>
                  <a:srgbClr val="000000"/>
                </a:solidFill>
                <a:latin typeface="Century Gothic"/>
                <a:cs typeface="Century Gothic"/>
              </a:rPr>
              <a:t>delirium bundle</a:t>
            </a:r>
          </a:p>
        </p:txBody>
      </p:sp>
      <p:sp>
        <p:nvSpPr>
          <p:cNvPr id="74" name="CardHead"/>
          <p:cNvSpPr/>
          <p:nvPr/>
        </p:nvSpPr>
        <p:spPr>
          <a:xfrm>
            <a:off x="5048240" y="191666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C</a:t>
            </a:r>
          </a:p>
        </p:txBody>
      </p:sp>
      <p:sp>
        <p:nvSpPr>
          <p:cNvPr id="75" name="CardBody"/>
          <p:cNvSpPr/>
          <p:nvPr/>
        </p:nvSpPr>
        <p:spPr>
          <a:xfrm>
            <a:off x="504824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Usual care</a:t>
            </a:r>
          </a:p>
        </p:txBody>
      </p:sp>
      <p:sp>
        <p:nvSpPr>
          <p:cNvPr id="76" name="CardHead"/>
          <p:cNvSpPr/>
          <p:nvPr/>
        </p:nvSpPr>
        <p:spPr>
          <a:xfrm>
            <a:off x="7343760" y="191666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O</a:t>
            </a:r>
          </a:p>
        </p:txBody>
      </p:sp>
      <p:sp>
        <p:nvSpPr>
          <p:cNvPr id="77" name="CardBody"/>
          <p:cNvSpPr/>
          <p:nvPr/>
        </p:nvSpPr>
        <p:spPr>
          <a:xfrm>
            <a:off x="734376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Delirium</a:t>
            </a:r>
          </a:p>
          <a:p>
            <a:pPr marL="0" indent="0" algn="l">
              <a:lnSpc>
                <a:spcPct val="104000"/>
              </a:lnSpc>
              <a:spcBef>
                <a:spcPts val="400"/>
              </a:spcBef>
              <a:buNone/>
            </a:pPr>
            <a:r>
              <a:rPr lang="en-US" sz="1450" dirty="0">
                <a:solidFill>
                  <a:srgbClr val="000000"/>
                </a:solidFill>
                <a:latin typeface="Century Gothic"/>
                <a:cs typeface="Century Gothic"/>
              </a:rPr>
              <a:t>(screened daily)</a:t>
            </a:r>
          </a:p>
        </p:txBody>
      </p:sp>
      <p:sp>
        <p:nvSpPr>
          <p:cNvPr id="78" name="CardHead"/>
          <p:cNvSpPr/>
          <p:nvPr/>
        </p:nvSpPr>
        <p:spPr>
          <a:xfrm>
            <a:off x="9639280" y="191666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T</a:t>
            </a:r>
          </a:p>
        </p:txBody>
      </p:sp>
      <p:sp>
        <p:nvSpPr>
          <p:cNvPr id="79" name="CardBody"/>
          <p:cNvSpPr/>
          <p:nvPr/>
        </p:nvSpPr>
        <p:spPr>
          <a:xfrm>
            <a:off x="963928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First 7 days</a:t>
            </a:r>
          </a:p>
          <a:p>
            <a:pPr marL="0" indent="0" algn="l">
              <a:lnSpc>
                <a:spcPct val="104000"/>
              </a:lnSpc>
              <a:spcBef>
                <a:spcPts val="400"/>
              </a:spcBef>
              <a:buNone/>
            </a:pPr>
            <a:r>
              <a:rPr lang="en-US" sz="1450" dirty="0">
                <a:solidFill>
                  <a:srgbClr val="000000"/>
                </a:solidFill>
                <a:latin typeface="Century Gothic"/>
                <a:cs typeface="Century Gothic"/>
              </a:rPr>
              <a:t>after surgery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diagnosis that brings patients in is part of P, not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Two families of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Descriptive questions describe. Analytical questions compare or test a cause.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Vague vs answerable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you cannot fill all four PICO boxes, the question is not ready yet.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FINER: is the question worth asking?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Check every question against five tests before you invest time in it.</a:t>
            </a:r>
          </a:p>
        </p:txBody>
      </p:sp>
      <p:sp>
        <p:nvSpPr>
          <p:cNvPr id="70" name="CardHead"/>
          <p:cNvSpPr/>
          <p:nvPr/>
        </p:nvSpPr>
        <p:spPr>
          <a:xfrm>
            <a:off x="457200" y="221000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Feasible</a:t>
            </a:r>
          </a:p>
        </p:txBody>
      </p:sp>
      <p:sp>
        <p:nvSpPr>
          <p:cNvPr id="71" name="CardBody"/>
          <p:cNvSpPr/>
          <p:nvPr/>
        </p:nvSpPr>
        <p:spPr>
          <a:xfrm>
            <a:off x="45720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Enough patients</a:t>
            </a:r>
          </a:p>
          <a:p>
            <a:pPr marL="0" indent="0" algn="l">
              <a:lnSpc>
                <a:spcPct val="104000"/>
              </a:lnSpc>
              <a:spcBef>
                <a:spcPts val="400"/>
              </a:spcBef>
              <a:buNone/>
            </a:pPr>
            <a:r>
              <a:rPr lang="en-US" sz="1450" dirty="0">
                <a:solidFill>
                  <a:srgbClr val="000000"/>
                </a:solidFill>
                <a:latin typeface="Century Gothic"/>
                <a:cs typeface="Century Gothic"/>
              </a:rPr>
              <a:t>Time, money, skills</a:t>
            </a:r>
          </a:p>
          <a:p>
            <a:pPr marL="0" indent="0" algn="l">
              <a:lnSpc>
                <a:spcPct val="104000"/>
              </a:lnSpc>
              <a:spcBef>
                <a:spcPts val="400"/>
              </a:spcBef>
              <a:buNone/>
            </a:pPr>
            <a:r>
              <a:rPr lang="en-US" sz="1450" dirty="0">
                <a:solidFill>
                  <a:srgbClr val="000000"/>
                </a:solidFill>
                <a:latin typeface="Century Gothic"/>
                <a:cs typeface="Century Gothic"/>
              </a:rPr>
              <a:t>Data available</a:t>
            </a:r>
          </a:p>
        </p:txBody>
      </p:sp>
      <p:sp>
        <p:nvSpPr>
          <p:cNvPr id="72" name="CardHead"/>
          <p:cNvSpPr/>
          <p:nvPr/>
        </p:nvSpPr>
        <p:spPr>
          <a:xfrm>
            <a:off x="2752720" y="221000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Interesting</a:t>
            </a:r>
          </a:p>
        </p:txBody>
      </p:sp>
      <p:sp>
        <p:nvSpPr>
          <p:cNvPr id="73" name="CardBody"/>
          <p:cNvSpPr/>
          <p:nvPr/>
        </p:nvSpPr>
        <p:spPr>
          <a:xfrm>
            <a:off x="275272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To you, your team</a:t>
            </a:r>
          </a:p>
          <a:p>
            <a:pPr marL="0" indent="0" algn="l">
              <a:lnSpc>
                <a:spcPct val="104000"/>
              </a:lnSpc>
              <a:spcBef>
                <a:spcPts val="400"/>
              </a:spcBef>
              <a:buNone/>
            </a:pPr>
            <a:r>
              <a:rPr lang="en-US" sz="1450" dirty="0">
                <a:solidFill>
                  <a:srgbClr val="000000"/>
                </a:solidFill>
                <a:latin typeface="Century Gothic"/>
                <a:cs typeface="Century Gothic"/>
              </a:rPr>
              <a:t>and to readers</a:t>
            </a:r>
          </a:p>
        </p:txBody>
      </p:sp>
      <p:sp>
        <p:nvSpPr>
          <p:cNvPr id="74" name="CardHead"/>
          <p:cNvSpPr/>
          <p:nvPr/>
        </p:nvSpPr>
        <p:spPr>
          <a:xfrm>
            <a:off x="5048240" y="221000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Novel</a:t>
            </a:r>
          </a:p>
        </p:txBody>
      </p:sp>
      <p:sp>
        <p:nvSpPr>
          <p:cNvPr id="75" name="CardBody"/>
          <p:cNvSpPr/>
          <p:nvPr/>
        </p:nvSpPr>
        <p:spPr>
          <a:xfrm>
            <a:off x="504824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Confirms, refutes</a:t>
            </a:r>
          </a:p>
          <a:p>
            <a:pPr marL="0" indent="0" algn="l">
              <a:lnSpc>
                <a:spcPct val="104000"/>
              </a:lnSpc>
              <a:spcBef>
                <a:spcPts val="400"/>
              </a:spcBef>
              <a:buNone/>
            </a:pPr>
            <a:r>
              <a:rPr lang="en-US" sz="1450" dirty="0">
                <a:solidFill>
                  <a:srgbClr val="000000"/>
                </a:solidFill>
                <a:latin typeface="Century Gothic"/>
                <a:cs typeface="Century Gothic"/>
              </a:rPr>
              <a:t>or extends what</a:t>
            </a:r>
          </a:p>
          <a:p>
            <a:pPr marL="0" indent="0" algn="l">
              <a:lnSpc>
                <a:spcPct val="104000"/>
              </a:lnSpc>
              <a:spcBef>
                <a:spcPts val="400"/>
              </a:spcBef>
              <a:buNone/>
            </a:pPr>
            <a:r>
              <a:rPr lang="en-US" sz="1450" dirty="0">
                <a:solidFill>
                  <a:srgbClr val="000000"/>
                </a:solidFill>
                <a:latin typeface="Century Gothic"/>
                <a:cs typeface="Century Gothic"/>
              </a:rPr>
              <a:t>is known</a:t>
            </a:r>
          </a:p>
        </p:txBody>
      </p:sp>
      <p:sp>
        <p:nvSpPr>
          <p:cNvPr id="76" name="CardHead"/>
          <p:cNvSpPr/>
          <p:nvPr/>
        </p:nvSpPr>
        <p:spPr>
          <a:xfrm>
            <a:off x="7343760" y="221000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Ethical</a:t>
            </a:r>
          </a:p>
        </p:txBody>
      </p:sp>
      <p:sp>
        <p:nvSpPr>
          <p:cNvPr id="77" name="CardBody"/>
          <p:cNvSpPr/>
          <p:nvPr/>
        </p:nvSpPr>
        <p:spPr>
          <a:xfrm>
            <a:off x="734376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Approvable by the</a:t>
            </a:r>
          </a:p>
          <a:p>
            <a:pPr marL="0" indent="0" algn="l">
              <a:lnSpc>
                <a:spcPct val="104000"/>
              </a:lnSpc>
              <a:spcBef>
                <a:spcPts val="400"/>
              </a:spcBef>
              <a:buNone/>
            </a:pPr>
            <a:r>
              <a:rPr lang="en-US" sz="1450" dirty="0">
                <a:solidFill>
                  <a:srgbClr val="000000"/>
                </a:solidFill>
                <a:latin typeface="Century Gothic"/>
                <a:cs typeface="Century Gothic"/>
              </a:rPr>
              <a:t>ethics committee</a:t>
            </a:r>
          </a:p>
        </p:txBody>
      </p:sp>
      <p:sp>
        <p:nvSpPr>
          <p:cNvPr id="78" name="CardHead"/>
          <p:cNvSpPr/>
          <p:nvPr/>
        </p:nvSpPr>
        <p:spPr>
          <a:xfrm>
            <a:off x="9639280" y="221000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Relevant</a:t>
            </a:r>
          </a:p>
        </p:txBody>
      </p:sp>
      <p:sp>
        <p:nvSpPr>
          <p:cNvPr id="79" name="CardBody"/>
          <p:cNvSpPr/>
          <p:nvPr/>
        </p:nvSpPr>
        <p:spPr>
          <a:xfrm>
            <a:off x="963928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Could change</a:t>
            </a:r>
          </a:p>
          <a:p>
            <a:pPr marL="0" indent="0" algn="l">
              <a:lnSpc>
                <a:spcPct val="104000"/>
              </a:lnSpc>
              <a:spcBef>
                <a:spcPts val="400"/>
              </a:spcBef>
              <a:buNone/>
            </a:pPr>
            <a:r>
              <a:rPr lang="en-US" sz="1450" dirty="0">
                <a:solidFill>
                  <a:srgbClr val="000000"/>
                </a:solidFill>
                <a:latin typeface="Century Gothic"/>
                <a:cs typeface="Century Gothic"/>
              </a:rPr>
              <a:t>practice, policy</a:t>
            </a:r>
          </a:p>
          <a:p>
            <a:pPr marL="0" indent="0" algn="l">
              <a:lnSpc>
                <a:spcPct val="104000"/>
              </a:lnSpc>
              <a:spcBef>
                <a:spcPts val="400"/>
              </a:spcBef>
              <a:buNone/>
            </a:pPr>
            <a:r>
              <a:rPr lang="en-US" sz="1450" dirty="0">
                <a:solidFill>
                  <a:srgbClr val="000000"/>
                </a:solidFill>
                <a:latin typeface="Century Gothic"/>
                <a:cs typeface="Century Gothic"/>
              </a:rPr>
              <a:t>or research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the question fails one letter, rewrite it before going further.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FINER check of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Our question is important but not feasible for one unit: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Pair task: from scenario to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11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Pick ONE scenario from Exercise 1 on your sheet</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Fill the PICO(T) boxes</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Write the question as one sentence</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Give it a quick FINER traffic light (green / amber / red)</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Write H0 and H1 (or say why none is needed)</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Scenarios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Ventilator pneumonia</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Pressure injuries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Delirium</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Stroke door-to-needle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Medication errors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One PICO question + FINER light + hypothesis, ready to read aloud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1.3  Aims, objectives,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A question tells us what we want to know. Aims and objectives tell us what we will do.</a:t>
            </a:r>
          </a:p>
          <a:p>
            <a:pPr marL="0" indent="0" algn="ctr">
              <a:spcBef>
                <a:spcPts val="1200"/>
              </a:spcBef>
              <a:buNone/>
            </a:pPr>
            <a:r>
              <a:rPr lang="en-US" sz="1900" i="1" dirty="0">
                <a:solidFill>
                  <a:srgbClr val="595959"/>
                </a:solidFill>
                <a:latin typeface="Century Gothic"/>
                <a:cs typeface="Century Gothic"/>
              </a:rPr>
              <a:t>20 minutes: aim, objectives, null and alternative hypotheses - and a quick exercise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Aim, objectives, hypothesis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One aim, 2-3 measurable objectives, one testable hypothesis per main objective.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Objectives start with a measurable verb</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you cannot say how you will measure it, it is not yet an objective.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Null and alternative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We test H0. Data can reject it or fail to reject it - never prove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Quick exercise: aim, objectives, hypothesis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Use the question from your pair task (or the delirium example)</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Write ONE aim: 'To compare...' or 'To describe...'</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Write TWO objectives with measurable verbs; mark the primary one</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Write H0 and H1 for the primary objective - or 'descriptive: no hypothesis'</a:t>
            </a:r>
          </a:p>
          <a:p>
            <a:pPr marL="380000" indent="-380000" algn="l">
              <a:lnSpc>
                <a:spcPct val="104000"/>
              </a:lnSpc>
              <a:spcBef>
                <a:spcPts val="450"/>
              </a:spcBef>
              <a:buNone/>
            </a:pPr>
            <a:r>
              <a:rPr lang="en-US" sz="1650" b="1" dirty="0">
                <a:solidFill>
                  <a:srgbClr val="0B376C"/>
                </a:solidFill>
                <a:latin typeface="Century Gothic"/>
                <a:cs typeface="Century Gothic"/>
              </a:rPr>
              <a:t>5.  </a:t>
            </a:r>
            <a:r>
              <a:rPr lang="en-US" sz="1650" dirty="0">
                <a:solidFill>
                  <a:srgbClr val="000000"/>
                </a:solidFill>
                <a:latin typeface="Century Gothic"/>
                <a:cs typeface="Century Gothic"/>
              </a:rPr>
              <a:t>Swap with your neighbour: is every verb measurable?</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Century Gothic"/>
                <a:cs typeface="Century Gothic"/>
              </a:rPr>
              <a:t>Verbs that work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compare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estimate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describe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determine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measure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Exercise 3 on the sheet - model answers on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Model answer: the delirium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Aim</a:t>
            </a:r>
          </a:p>
        </p:txBody>
      </p:sp>
      <p:sp>
        <p:nvSpPr>
          <p:cNvPr id="71" name="CardBody"/>
          <p:cNvSpPr/>
          <p:nvPr/>
        </p:nvSpPr>
        <p:spPr>
          <a:xfrm>
            <a:off x="457200"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To compare a daily</a:t>
            </a:r>
          </a:p>
          <a:p>
            <a:pPr marL="0" indent="0" algn="l">
              <a:lnSpc>
                <a:spcPct val="104000"/>
              </a:lnSpc>
              <a:spcBef>
                <a:spcPts val="400"/>
              </a:spcBef>
              <a:buNone/>
            </a:pPr>
            <a:r>
              <a:rPr lang="en-US" sz="1750" dirty="0">
                <a:solidFill>
                  <a:srgbClr val="000000"/>
                </a:solidFill>
                <a:latin typeface="Century Gothic"/>
                <a:cs typeface="Century Gothic"/>
              </a:rPr>
              <a:t>non-drug bundle with</a:t>
            </a:r>
          </a:p>
          <a:p>
            <a:pPr marL="0" indent="0" algn="l">
              <a:lnSpc>
                <a:spcPct val="104000"/>
              </a:lnSpc>
              <a:spcBef>
                <a:spcPts val="400"/>
              </a:spcBef>
              <a:buNone/>
            </a:pPr>
            <a:r>
              <a:rPr lang="en-US" sz="1750" dirty="0">
                <a:solidFill>
                  <a:srgbClr val="000000"/>
                </a:solidFill>
                <a:latin typeface="Century Gothic"/>
                <a:cs typeface="Century Gothic"/>
              </a:rPr>
              <a:t>usual care after</a:t>
            </a:r>
          </a:p>
          <a:p>
            <a:pPr marL="0" indent="0" algn="l">
              <a:lnSpc>
                <a:spcPct val="104000"/>
              </a:lnSpc>
              <a:spcBef>
                <a:spcPts val="400"/>
              </a:spcBef>
              <a:buNone/>
            </a:pPr>
            <a:r>
              <a:rPr lang="en-US" sz="1750" dirty="0">
                <a:solidFill>
                  <a:srgbClr val="000000"/>
                </a:solidFill>
                <a:latin typeface="Century Gothic"/>
                <a:cs typeface="Century Gothic"/>
              </a:rPr>
              <a:t>hip-fracture surgery</a:t>
            </a:r>
          </a:p>
        </p:txBody>
      </p:sp>
      <p:sp>
        <p:nvSpPr>
          <p:cNvPr id="72" name="CardHead"/>
          <p:cNvSpPr/>
          <p:nvPr/>
        </p:nvSpPr>
        <p:spPr>
          <a:xfrm>
            <a:off x="4283066" y="18008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Objectives</a:t>
            </a:r>
          </a:p>
        </p:txBody>
      </p:sp>
      <p:sp>
        <p:nvSpPr>
          <p:cNvPr id="73" name="CardBody"/>
          <p:cNvSpPr/>
          <p:nvPr/>
        </p:nvSpPr>
        <p:spPr>
          <a:xfrm>
            <a:off x="4283066"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1. (Primary) Compare</a:t>
            </a:r>
          </a:p>
          <a:p>
            <a:pPr marL="0" indent="0" algn="l">
              <a:lnSpc>
                <a:spcPct val="104000"/>
              </a:lnSpc>
              <a:spcBef>
                <a:spcPts val="400"/>
              </a:spcBef>
              <a:buNone/>
            </a:pPr>
            <a:r>
              <a:rPr lang="en-US" sz="1750" dirty="0">
                <a:solidFill>
                  <a:srgbClr val="000000"/>
                </a:solidFill>
                <a:latin typeface="Century Gothic"/>
                <a:cs typeface="Century Gothic"/>
              </a:rPr>
              <a:t>delirium in 7 days</a:t>
            </a:r>
          </a:p>
          <a:p>
            <a:pPr marL="0" indent="0" algn="l">
              <a:lnSpc>
                <a:spcPct val="104000"/>
              </a:lnSpc>
              <a:spcBef>
                <a:spcPts val="400"/>
              </a:spcBef>
              <a:buNone/>
            </a:pPr>
            <a:r>
              <a:rPr lang="en-US" sz="1750" dirty="0">
                <a:solidFill>
                  <a:srgbClr val="000000"/>
                </a:solidFill>
                <a:latin typeface="Century Gothic"/>
                <a:cs typeface="Century Gothic"/>
              </a:rPr>
              <a:t>2. Compare length</a:t>
            </a:r>
          </a:p>
          <a:p>
            <a:pPr marL="0" indent="0" algn="l">
              <a:lnSpc>
                <a:spcPct val="104000"/>
              </a:lnSpc>
              <a:spcBef>
                <a:spcPts val="400"/>
              </a:spcBef>
              <a:buNone/>
            </a:pPr>
            <a:r>
              <a:rPr lang="en-US" sz="1750" dirty="0">
                <a:solidFill>
                  <a:srgbClr val="000000"/>
                </a:solidFill>
                <a:latin typeface="Century Gothic"/>
                <a:cs typeface="Century Gothic"/>
              </a:rPr>
              <a:t>of stay</a:t>
            </a:r>
          </a:p>
        </p:txBody>
      </p:sp>
      <p:sp>
        <p:nvSpPr>
          <p:cNvPr id="74" name="CardHead"/>
          <p:cNvSpPr/>
          <p:nvPr/>
        </p:nvSpPr>
        <p:spPr>
          <a:xfrm>
            <a:off x="8108932" y="18008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Hypothesis</a:t>
            </a:r>
          </a:p>
        </p:txBody>
      </p:sp>
      <p:sp>
        <p:nvSpPr>
          <p:cNvPr id="75" name="CardBody"/>
          <p:cNvSpPr/>
          <p:nvPr/>
        </p:nvSpPr>
        <p:spPr>
          <a:xfrm>
            <a:off x="8108932"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H0: delirium is the</a:t>
            </a:r>
          </a:p>
          <a:p>
            <a:pPr marL="0" indent="0" algn="l">
              <a:lnSpc>
                <a:spcPct val="104000"/>
              </a:lnSpc>
              <a:spcBef>
                <a:spcPts val="400"/>
              </a:spcBef>
              <a:buNone/>
            </a:pPr>
            <a:r>
              <a:rPr lang="en-US" sz="1750" dirty="0">
                <a:solidFill>
                  <a:srgbClr val="000000"/>
                </a:solidFill>
                <a:latin typeface="Century Gothic"/>
                <a:cs typeface="Century Gothic"/>
              </a:rPr>
              <a:t>same in both groups</a:t>
            </a:r>
          </a:p>
          <a:p>
            <a:pPr marL="0" indent="0" algn="l">
              <a:lnSpc>
                <a:spcPct val="104000"/>
              </a:lnSpc>
              <a:spcBef>
                <a:spcPts val="400"/>
              </a:spcBef>
              <a:buNone/>
            </a:pPr>
            <a:r>
              <a:rPr lang="en-US" sz="1750" dirty="0">
                <a:solidFill>
                  <a:srgbClr val="000000"/>
                </a:solidFill>
                <a:latin typeface="Century Gothic"/>
                <a:cs typeface="Century Gothic"/>
              </a:rPr>
              <a:t>H1: it differs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Aim, primary objective and hypothesis all name the same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Now it is your group's turn: one topic, one question, one aim.</a:t>
            </a:r>
          </a:p>
          <a:p>
            <a:pPr marL="0" indent="0" algn="ctr">
              <a:spcBef>
                <a:spcPts val="1200"/>
              </a:spcBef>
              <a:buNone/>
            </a:pPr>
            <a:r>
              <a:rPr lang="en-US" sz="1900" i="1" dirty="0">
                <a:solidFill>
                  <a:srgbClr val="595959"/>
                </a:solidFill>
                <a:latin typeface="Century Gothic"/>
                <a:cs typeface="Century Gothic"/>
              </a:rPr>
              <a:t>30 minutes of group work - the start of your research proposal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1: your group's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28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Choose ONE problem from your unit (list 3 ideas, vote, pick one)</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Fill the PICO(T) table and write the question in one sentence</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FINER traffic light for each letter; rewrite if anything is red</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Research, audit or QI? Note the approval route</a:t>
            </a:r>
          </a:p>
          <a:p>
            <a:pPr marL="380000" indent="-380000" algn="l">
              <a:lnSpc>
                <a:spcPct val="104000"/>
              </a:lnSpc>
              <a:spcBef>
                <a:spcPts val="450"/>
              </a:spcBef>
              <a:buNone/>
            </a:pPr>
            <a:r>
              <a:rPr lang="en-US" sz="1650" b="1" dirty="0">
                <a:solidFill>
                  <a:srgbClr val="055F56"/>
                </a:solidFill>
                <a:latin typeface="Century Gothic"/>
                <a:cs typeface="Century Gothic"/>
              </a:rPr>
              <a:t>5.  </a:t>
            </a:r>
            <a:r>
              <a:rPr lang="en-US" sz="1650" dirty="0">
                <a:solidFill>
                  <a:srgbClr val="000000"/>
                </a:solidFill>
                <a:latin typeface="Century Gothic"/>
                <a:cs typeface="Century Gothic"/>
              </a:rPr>
              <a:t>Aim + 2-3 objectives (mark the primary) + H0/H1</a:t>
            </a:r>
          </a:p>
          <a:p>
            <a:pPr marL="380000" indent="-380000" algn="l">
              <a:lnSpc>
                <a:spcPct val="104000"/>
              </a:lnSpc>
              <a:spcBef>
                <a:spcPts val="450"/>
              </a:spcBef>
              <a:buNone/>
            </a:pPr>
            <a:r>
              <a:rPr lang="en-US" sz="1650" b="1" dirty="0">
                <a:solidFill>
                  <a:srgbClr val="055F56"/>
                </a:solidFill>
                <a:latin typeface="Century Gothic"/>
                <a:cs typeface="Century Gothic"/>
              </a:rPr>
              <a:t>6.  </a:t>
            </a:r>
            <a:r>
              <a:rPr lang="en-US" sz="1650" dirty="0">
                <a:solidFill>
                  <a:srgbClr val="000000"/>
                </a:solidFill>
                <a:latin typeface="Century Gothic"/>
                <a:cs typeface="Century Gothic"/>
              </a:rPr>
              <a:t>One group reads its question aloud</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Timing</a:t>
            </a:r>
          </a:p>
          <a:p>
            <a:pPr marL="0" indent="0" algn="l">
              <a:lnSpc>
                <a:spcPct val="104000"/>
              </a:lnSpc>
              <a:spcBef>
                <a:spcPts val="300"/>
              </a:spcBef>
              <a:buNone/>
            </a:pPr>
            <a:r>
              <a:rPr lang="en-US" sz="1500" dirty="0">
                <a:solidFill>
                  <a:srgbClr val="000000"/>
                </a:solidFill>
                <a:latin typeface="Century Gothic"/>
                <a:cs typeface="Century Gothic"/>
              </a:rPr>
              <a:t>0-7 min: choose the topic</a:t>
            </a:r>
          </a:p>
          <a:p>
            <a:pPr marL="0" indent="0" algn="l">
              <a:lnSpc>
                <a:spcPct val="104000"/>
              </a:lnSpc>
              <a:spcBef>
                <a:spcPts val="300"/>
              </a:spcBef>
              <a:buNone/>
            </a:pPr>
            <a:r>
              <a:rPr lang="en-US" sz="1500" dirty="0">
                <a:solidFill>
                  <a:srgbClr val="000000"/>
                </a:solidFill>
                <a:latin typeface="Century Gothic"/>
                <a:cs typeface="Century Gothic"/>
              </a:rPr>
              <a:t>7-14: PICO + question</a:t>
            </a:r>
          </a:p>
          <a:p>
            <a:pPr marL="0" indent="0" algn="l">
              <a:lnSpc>
                <a:spcPct val="104000"/>
              </a:lnSpc>
              <a:spcBef>
                <a:spcPts val="300"/>
              </a:spcBef>
              <a:buNone/>
            </a:pPr>
            <a:r>
              <a:rPr lang="en-US" sz="1500" dirty="0">
                <a:solidFill>
                  <a:srgbClr val="000000"/>
                </a:solidFill>
                <a:latin typeface="Century Gothic"/>
                <a:cs typeface="Century Gothic"/>
              </a:rPr>
              <a:t>14-19: FINER + rewrite</a:t>
            </a:r>
          </a:p>
          <a:p>
            <a:pPr marL="0" indent="0" algn="l">
              <a:lnSpc>
                <a:spcPct val="104000"/>
              </a:lnSpc>
              <a:spcBef>
                <a:spcPts val="300"/>
              </a:spcBef>
              <a:buNone/>
            </a:pPr>
            <a:r>
              <a:rPr lang="en-US" sz="1500" dirty="0">
                <a:solidFill>
                  <a:srgbClr val="000000"/>
                </a:solidFill>
                <a:latin typeface="Century Gothic"/>
                <a:cs typeface="Century Gothic"/>
              </a:rPr>
              <a:t>19-25: aim, objectives, H0/H1</a:t>
            </a:r>
          </a:p>
          <a:p>
            <a:pPr marL="0" indent="0" algn="l">
              <a:lnSpc>
                <a:spcPct val="104000"/>
              </a:lnSpc>
              <a:spcBef>
                <a:spcPts val="300"/>
              </a:spcBef>
              <a:buNone/>
            </a:pPr>
            <a:r>
              <a:rPr lang="en-US" sz="1500" dirty="0">
                <a:solidFill>
                  <a:srgbClr val="000000"/>
                </a:solidFill>
                <a:latin typeface="Century Gothic"/>
                <a:cs typeface="Century Gothic"/>
              </a:rPr>
              <a:t>25-28: 1 group reads aloud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1 started: PICO, question, FINER, aim, objectives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Century Gothic"/>
                        </a:rPr>
                        <a:t>Key word</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In one line</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Evidence pyramid</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Ranks designs by how well they protect against bias</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Research / audit / QI</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What is best? / Do we do it? / How do we improve it?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PICO(T) / PECO</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Population, Intervention (or Exposure), Comparison, Outcome, Time</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FINER</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Feasible, Interesting, Novel, Ethical, Relevant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Aim / objective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The broad why / the specific, measurable what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H0 / H1</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No difference / a difference - we test H0</a:t>
                      </a:r>
                    </a:p>
                  </a:txBody>
                  <a:tcPr marL="73152" marR="73152" marT="36576" marB="36576"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1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1. Why research</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Experience asks;</a:t>
            </a:r>
          </a:p>
          <a:p>
            <a:pPr marL="0" indent="0" algn="l">
              <a:lnSpc>
                <a:spcPct val="104000"/>
              </a:lnSpc>
              <a:spcBef>
                <a:spcPts val="400"/>
              </a:spcBef>
              <a:buNone/>
            </a:pPr>
            <a:r>
              <a:rPr lang="en-US" sz="1750" dirty="0">
                <a:solidFill>
                  <a:srgbClr val="000000"/>
                </a:solidFill>
                <a:latin typeface="Century Gothic"/>
                <a:cs typeface="Century Gothic"/>
              </a:rPr>
              <a:t>fair comparisons</a:t>
            </a:r>
          </a:p>
          <a:p>
            <a:pPr marL="0" indent="0" algn="l">
              <a:lnSpc>
                <a:spcPct val="104000"/>
              </a:lnSpc>
              <a:spcBef>
                <a:spcPts val="400"/>
              </a:spcBef>
              <a:buNone/>
            </a:pPr>
            <a:r>
              <a:rPr lang="en-US" sz="1750" dirty="0">
                <a:solidFill>
                  <a:srgbClr val="000000"/>
                </a:solidFill>
                <a:latin typeface="Century Gothic"/>
                <a:cs typeface="Century Gothic"/>
              </a:rPr>
              <a:t>in enough patients answer</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2. Ask precisely</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PICO(T) question,</a:t>
            </a:r>
          </a:p>
          <a:p>
            <a:pPr marL="0" indent="0" algn="l">
              <a:lnSpc>
                <a:spcPct val="104000"/>
              </a:lnSpc>
              <a:spcBef>
                <a:spcPts val="400"/>
              </a:spcBef>
              <a:buNone/>
            </a:pPr>
            <a:r>
              <a:rPr lang="en-US" sz="1750" dirty="0">
                <a:solidFill>
                  <a:srgbClr val="000000"/>
                </a:solidFill>
                <a:latin typeface="Century Gothic"/>
                <a:cs typeface="Century Gothic"/>
              </a:rPr>
              <a:t>one primary outcome,</a:t>
            </a:r>
          </a:p>
          <a:p>
            <a:pPr marL="0" indent="0" algn="l">
              <a:lnSpc>
                <a:spcPct val="104000"/>
              </a:lnSpc>
              <a:spcBef>
                <a:spcPts val="400"/>
              </a:spcBef>
              <a:buNone/>
            </a:pPr>
            <a:r>
              <a:rPr lang="en-US" sz="1750" dirty="0">
                <a:solidFill>
                  <a:srgbClr val="000000"/>
                </a:solidFill>
                <a:latin typeface="Century Gothic"/>
                <a:cs typeface="Century Gothic"/>
              </a:rPr>
              <a:t>FINER before you start</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 Plan it</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One aim, 2-3</a:t>
            </a:r>
          </a:p>
          <a:p>
            <a:pPr marL="0" indent="0" algn="l">
              <a:lnSpc>
                <a:spcPct val="104000"/>
              </a:lnSpc>
              <a:spcBef>
                <a:spcPts val="400"/>
              </a:spcBef>
              <a:buNone/>
            </a:pPr>
            <a:r>
              <a:rPr lang="en-US" sz="1750" dirty="0">
                <a:solidFill>
                  <a:srgbClr val="000000"/>
                </a:solidFill>
                <a:latin typeface="Century Gothic"/>
                <a:cs typeface="Century Gothic"/>
              </a:rPr>
              <a:t>measurable objectives,</a:t>
            </a:r>
          </a:p>
          <a:p>
            <a:pPr marL="0" indent="0" algn="l">
              <a:lnSpc>
                <a:spcPct val="104000"/>
              </a:lnSpc>
              <a:spcBef>
                <a:spcPts val="400"/>
              </a:spcBef>
              <a:buNone/>
            </a:pPr>
            <a:r>
              <a:rPr lang="en-US" sz="1750" dirty="0">
                <a:solidFill>
                  <a:srgbClr val="000000"/>
                </a:solidFill>
                <a:latin typeface="Century Gothic"/>
                <a:cs typeface="Century Gothic"/>
              </a:rPr>
              <a:t>a testable H0/H1</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Tomorrow: find and read what is already known about your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Exit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Which FINER letter did our running example fail, and why?</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Rewrite as an objective: 'To understand pressure injuries on our ward'</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Write both answers on a sticky note (no names) and stick it on the door as you leave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sticky note per person (we read them before tomorrow)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Homework for tomorrow (Session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Group: finish the PICO, question, aim and objectives if not done</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Everyone: for each PICO word, write 2-3 English synonyms (Exercise 5)</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Everyone: think of one local number that shows the problem (an audit, a count)</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Optional: install Zotero (free, zotero.org) on your laptop</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Century Gothic"/>
                <a:cs typeface="Century Gothic"/>
              </a:rPr>
              <a:t>Bring tomorrow</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group's PICO question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synonym list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 laptop or phone per group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PICO question ready for tomorrow's 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 Session 1</a:t>
            </a:r>
          </a:p>
          <a:p>
            <a:pPr marL="0" indent="0" algn="ctr">
              <a:spcBef>
                <a:spcPts val="1200"/>
              </a:spcBef>
              <a:buNone/>
            </a:pPr>
            <a:r>
              <a:rPr lang="en-US" sz="1900" i="1" dirty="0">
                <a:solidFill>
                  <a:srgbClr val="595959"/>
                </a:solidFill>
                <a:latin typeface="Century Gothic"/>
                <a:cs typeface="Century Gothic"/>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PICO for other kinds of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Diagnosis</a:t>
            </a:r>
          </a:p>
        </p:txBody>
      </p:sp>
      <p:sp>
        <p:nvSpPr>
          <p:cNvPr id="71" name="CardBody"/>
          <p:cNvSpPr/>
          <p:nvPr/>
        </p:nvSpPr>
        <p:spPr>
          <a:xfrm>
            <a:off x="457200"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 patients tested</a:t>
            </a:r>
          </a:p>
          <a:p>
            <a:pPr marL="0" indent="0" algn="l">
              <a:lnSpc>
                <a:spcPct val="104000"/>
              </a:lnSpc>
              <a:spcBef>
                <a:spcPts val="400"/>
              </a:spcBef>
              <a:buNone/>
            </a:pPr>
            <a:r>
              <a:rPr lang="en-US" sz="1750" dirty="0">
                <a:solidFill>
                  <a:srgbClr val="000000"/>
                </a:solidFill>
                <a:latin typeface="Century Gothic"/>
                <a:cs typeface="Century Gothic"/>
              </a:rPr>
              <a:t>I: new test</a:t>
            </a:r>
          </a:p>
          <a:p>
            <a:pPr marL="0" indent="0" algn="l">
              <a:lnSpc>
                <a:spcPct val="104000"/>
              </a:lnSpc>
              <a:spcBef>
                <a:spcPts val="400"/>
              </a:spcBef>
              <a:buNone/>
            </a:pPr>
            <a:r>
              <a:rPr lang="en-US" sz="1750" dirty="0">
                <a:solidFill>
                  <a:srgbClr val="000000"/>
                </a:solidFill>
                <a:latin typeface="Century Gothic"/>
                <a:cs typeface="Century Gothic"/>
              </a:rPr>
              <a:t>C: reference standard</a:t>
            </a:r>
          </a:p>
          <a:p>
            <a:pPr marL="0" indent="0" algn="l">
              <a:lnSpc>
                <a:spcPct val="104000"/>
              </a:lnSpc>
              <a:spcBef>
                <a:spcPts val="400"/>
              </a:spcBef>
              <a:buNone/>
            </a:pPr>
            <a:r>
              <a:rPr lang="en-US" sz="1750" dirty="0">
                <a:solidFill>
                  <a:srgbClr val="000000"/>
                </a:solidFill>
                <a:latin typeface="Century Gothic"/>
                <a:cs typeface="Century Gothic"/>
              </a:rPr>
              <a:t>O: accuracy</a:t>
            </a:r>
          </a:p>
        </p:txBody>
      </p:sp>
      <p:sp>
        <p:nvSpPr>
          <p:cNvPr id="72" name="CardHead"/>
          <p:cNvSpPr/>
          <p:nvPr/>
        </p:nvSpPr>
        <p:spPr>
          <a:xfrm>
            <a:off x="4283066" y="18008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Prognosis</a:t>
            </a:r>
          </a:p>
        </p:txBody>
      </p:sp>
      <p:sp>
        <p:nvSpPr>
          <p:cNvPr id="73" name="CardBody"/>
          <p:cNvSpPr/>
          <p:nvPr/>
        </p:nvSpPr>
        <p:spPr>
          <a:xfrm>
            <a:off x="4283066"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 patients with X</a:t>
            </a:r>
          </a:p>
          <a:p>
            <a:pPr marL="0" indent="0" algn="l">
              <a:lnSpc>
                <a:spcPct val="104000"/>
              </a:lnSpc>
              <a:spcBef>
                <a:spcPts val="400"/>
              </a:spcBef>
              <a:buNone/>
            </a:pPr>
            <a:r>
              <a:rPr lang="en-US" sz="1750" dirty="0">
                <a:solidFill>
                  <a:srgbClr val="000000"/>
                </a:solidFill>
                <a:latin typeface="Century Gothic"/>
                <a:cs typeface="Century Gothic"/>
              </a:rPr>
              <a:t>E: a risk factor</a:t>
            </a:r>
          </a:p>
          <a:p>
            <a:pPr marL="0" indent="0" algn="l">
              <a:lnSpc>
                <a:spcPct val="104000"/>
              </a:lnSpc>
              <a:spcBef>
                <a:spcPts val="400"/>
              </a:spcBef>
              <a:buNone/>
            </a:pPr>
            <a:r>
              <a:rPr lang="en-US" sz="1750" dirty="0">
                <a:solidFill>
                  <a:srgbClr val="000000"/>
                </a:solidFill>
                <a:latin typeface="Century Gothic"/>
                <a:cs typeface="Century Gothic"/>
              </a:rPr>
              <a:t>O: what happens</a:t>
            </a:r>
          </a:p>
          <a:p>
            <a:pPr marL="0" indent="0" algn="l">
              <a:lnSpc>
                <a:spcPct val="104000"/>
              </a:lnSpc>
              <a:spcBef>
                <a:spcPts val="400"/>
              </a:spcBef>
              <a:buNone/>
            </a:pPr>
            <a:r>
              <a:rPr lang="en-US" sz="1750" dirty="0">
                <a:solidFill>
                  <a:srgbClr val="000000"/>
                </a:solidFill>
                <a:latin typeface="Century Gothic"/>
                <a:cs typeface="Century Gothic"/>
              </a:rPr>
              <a:t>T: by when</a:t>
            </a:r>
          </a:p>
        </p:txBody>
      </p:sp>
      <p:sp>
        <p:nvSpPr>
          <p:cNvPr id="74" name="CardHead"/>
          <p:cNvSpPr/>
          <p:nvPr/>
        </p:nvSpPr>
        <p:spPr>
          <a:xfrm>
            <a:off x="8108932" y="18008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Qualitative (SPIDER)</a:t>
            </a:r>
          </a:p>
        </p:txBody>
      </p:sp>
      <p:sp>
        <p:nvSpPr>
          <p:cNvPr id="75" name="CardBody"/>
          <p:cNvSpPr/>
          <p:nvPr/>
        </p:nvSpPr>
        <p:spPr>
          <a:xfrm>
            <a:off x="8108932"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Sample, Phenomenon</a:t>
            </a:r>
          </a:p>
          <a:p>
            <a:pPr marL="0" indent="0" algn="l">
              <a:lnSpc>
                <a:spcPct val="104000"/>
              </a:lnSpc>
              <a:spcBef>
                <a:spcPts val="400"/>
              </a:spcBef>
              <a:buNone/>
            </a:pPr>
            <a:r>
              <a:rPr lang="en-US" sz="1750" dirty="0">
                <a:solidFill>
                  <a:srgbClr val="000000"/>
                </a:solidFill>
                <a:latin typeface="Century Gothic"/>
                <a:cs typeface="Century Gothic"/>
              </a:rPr>
              <a:t>of interest, Design,</a:t>
            </a:r>
          </a:p>
          <a:p>
            <a:pPr marL="0" indent="0" algn="l">
              <a:lnSpc>
                <a:spcPct val="104000"/>
              </a:lnSpc>
              <a:spcBef>
                <a:spcPts val="400"/>
              </a:spcBef>
              <a:buNone/>
            </a:pPr>
            <a:r>
              <a:rPr lang="en-US" sz="1750" dirty="0">
                <a:solidFill>
                  <a:srgbClr val="000000"/>
                </a:solidFill>
                <a:latin typeface="Century Gothic"/>
                <a:cs typeface="Century Gothic"/>
              </a:rPr>
              <a:t>Evaluation,</a:t>
            </a:r>
          </a:p>
          <a:p>
            <a:pPr marL="0" indent="0" algn="l">
              <a:lnSpc>
                <a:spcPct val="104000"/>
              </a:lnSpc>
              <a:spcBef>
                <a:spcPts val="400"/>
              </a:spcBef>
              <a:buNone/>
            </a:pPr>
            <a:r>
              <a:rPr lang="en-US" sz="1750" dirty="0">
                <a:solidFill>
                  <a:srgbClr val="000000"/>
                </a:solidFill>
                <a:latin typeface="Century Gothic"/>
                <a:cs typeface="Century Gothic"/>
              </a:rPr>
              <a:t>Research type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letters change; the idea - be explicit - stays the same.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One-sided or two-sided H1?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Two-sided (usual)</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'Mortality differs'</a:t>
            </a:r>
          </a:p>
          <a:p>
            <a:pPr marL="0" indent="0" algn="l">
              <a:lnSpc>
                <a:spcPct val="104000"/>
              </a:lnSpc>
              <a:spcBef>
                <a:spcPts val="400"/>
              </a:spcBef>
              <a:buNone/>
            </a:pPr>
            <a:r>
              <a:rPr lang="en-US" sz="1750" dirty="0">
                <a:solidFill>
                  <a:srgbClr val="000000"/>
                </a:solidFill>
                <a:latin typeface="Century Gothic"/>
                <a:cs typeface="Century Gothic"/>
              </a:rPr>
              <a:t>Allows benefit</a:t>
            </a:r>
          </a:p>
          <a:p>
            <a:pPr marL="0" indent="0" algn="l">
              <a:lnSpc>
                <a:spcPct val="104000"/>
              </a:lnSpc>
              <a:spcBef>
                <a:spcPts val="400"/>
              </a:spcBef>
              <a:buNone/>
            </a:pPr>
            <a:r>
              <a:rPr lang="en-US" sz="1750" dirty="0">
                <a:solidFill>
                  <a:srgbClr val="000000"/>
                </a:solidFill>
                <a:latin typeface="Century Gothic"/>
                <a:cs typeface="Century Gothic"/>
              </a:rPr>
              <a:t>OR harm</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One-sided (rare)</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'Mortality is lower'</a:t>
            </a:r>
          </a:p>
          <a:p>
            <a:pPr marL="0" indent="0" algn="l">
              <a:lnSpc>
                <a:spcPct val="104000"/>
              </a:lnSpc>
              <a:spcBef>
                <a:spcPts val="400"/>
              </a:spcBef>
              <a:buNone/>
            </a:pPr>
            <a:r>
              <a:rPr lang="en-US" sz="1750" dirty="0">
                <a:solidFill>
                  <a:srgbClr val="000000"/>
                </a:solidFill>
                <a:latin typeface="Century Gothic"/>
                <a:cs typeface="Century Gothic"/>
              </a:rPr>
              <a:t>Ignores possible harm</a:t>
            </a:r>
          </a:p>
          <a:p>
            <a:pPr marL="0" indent="0" algn="l">
              <a:lnSpc>
                <a:spcPct val="104000"/>
              </a:lnSpc>
              <a:spcBef>
                <a:spcPts val="400"/>
              </a:spcBef>
              <a:buNone/>
            </a:pPr>
            <a:r>
              <a:rPr lang="en-US" sz="1750" dirty="0">
                <a:solidFill>
                  <a:srgbClr val="000000"/>
                </a:solidFill>
                <a:latin typeface="Century Gothic"/>
                <a:cs typeface="Century Gothic"/>
              </a:rPr>
              <a:t>Needs strong reason</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Non-inferiority</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'Not worse by more</a:t>
            </a:r>
          </a:p>
          <a:p>
            <a:pPr marL="0" indent="0" algn="l">
              <a:lnSpc>
                <a:spcPct val="104000"/>
              </a:lnSpc>
              <a:spcBef>
                <a:spcPts val="400"/>
              </a:spcBef>
              <a:buNone/>
            </a:pPr>
            <a:r>
              <a:rPr lang="en-US" sz="1750" dirty="0">
                <a:solidFill>
                  <a:srgbClr val="000000"/>
                </a:solidFill>
                <a:latin typeface="Century Gothic"/>
                <a:cs typeface="Century Gothic"/>
              </a:rPr>
              <a:t>than a set margin'</a:t>
            </a:r>
          </a:p>
          <a:p>
            <a:pPr marL="0" indent="0" algn="l">
              <a:lnSpc>
                <a:spcPct val="104000"/>
              </a:lnSpc>
              <a:spcBef>
                <a:spcPts val="400"/>
              </a:spcBef>
              <a:buNone/>
            </a:pPr>
            <a:r>
              <a:rPr lang="en-US" sz="1750" dirty="0">
                <a:solidFill>
                  <a:srgbClr val="000000"/>
                </a:solidFill>
                <a:latin typeface="Century Gothic"/>
                <a:cs typeface="Century Gothic"/>
              </a:rPr>
              <a:t>(Session 3)</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When in doubt, write a two-sided H1.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More practice: which FINER letter fails?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4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All hospitalised adults in the country: does vitamin D reduce mortality over 10 years?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Septic shock: does withholding antibiotics for 24 h reduce resistance?</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Do our ICU nurses wash their hands? (already audited monthly for 5 years)</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Pneumonia: does the colour of the drug chart affect 28-day mortality?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letter per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Vague vs answerable: a ward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Practise on your own ward: take a corridor question and fill the PICO boxes.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