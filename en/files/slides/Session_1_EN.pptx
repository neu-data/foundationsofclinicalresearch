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Title slide (0:00, 19:30). Welcome everyone and introduce the trainers in one sentence each.</a:t>
            </a:r>
          </a:p>
          <a:p>
            <a:r>
              <a:rPr lang="en-US" sz="1400" b="0" dirty="0"/>
              <a:t>Over eight Saturdays we walk the whole road from a bedside question to a paper ready to submit. No software and no formulas: pictures, examples and short tasks done together.</a:t>
            </a:r>
          </a:p>
          <a:p>
            <a:r>
              <a:rPr lang="en-US" sz="1400" b="0" dirty="0"/>
              <a:t>Ask everyone to rename themselves with their full name and to find the chat, the poll and 'raise hand'.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'Think of one thing in your department that colleagues do differently, where nobody knows which way is best. Type it in the chat.' Read two or three answers aloud.</a:t>
            </a:r>
          </a:p>
          <a:p>
            <a:r>
              <a:rPr lang="en-US" sz="1400" b="0" dirty="0"/>
              <a:t>Point: research starts from clinical uncertainty, not from statistics.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Weeks 1-2: the question and the evidence. Weeks 3-4: design and bias. Weeks 5-6: data and analysis. Weeks 7-8: ethics, writing and publishing. One session every Saturday, with a week between sessions for homework.</a:t>
            </a:r>
          </a:p>
          <a:p>
            <a:r>
              <a:rPr lang="en-US" sz="1400" b="0" dirty="0"/>
              <a:t>One running example travels with us: fluids in septic shock and 28-day mortality. From Session 5 it continues in the course study, FLUID-ICU.</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Level 1 takes you from a clinical question to a paper. In it the trainers run the software and you read and interpret the results. Level 2 teaches statistical modelling in R. Level 3 covers advanced methods on request.</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built one part at a time in class, submitted in Session 8. A few volunteers also present theirs (6 minutes each).</a:t>
            </a:r>
          </a:p>
          <a:p>
            <a:r>
              <a:rPr lang="en-US" sz="1400" b="0" dirty="0"/>
              <a:t>Manuscript: FLUID-ICU is a course study of 620 ICU patients with sepsis, with five questions (Q1 to Q5). Each person chooses one, receives its tables and figures, and writes the paper. After Session 8 each person reviews one colleague's draft.</a:t>
            </a:r>
          </a:p>
          <a:p>
            <a:r>
              <a:rPr lang="en-US" sz="1400" b="0" dirty="0"/>
              <a:t>Both are written in English. Vietnamese is accepted if English is impossible.</a:t>
            </a:r>
          </a:p>
          <a:p>
            <a:r>
              <a:rPr lang="en-US" sz="1400" b="0" dirty="0"/>
              <a:t>Briefs: Course/Assignment/proposal_brief and manuscript_brief.</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card per two-week block. The aim is understanding and interpretation, not calculation.</a:t>
            </a:r>
          </a:p>
          <a:p>
            <a:r>
              <a:rPr lang="en-US" sz="1400" b="0" dirty="0"/>
              <a:t>Ask: 'Which card worries you most? Answer in the chat.' Usually: analyse. Reassure: we go slowly and check understanding often.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rhythm every Saturday: recap, two teaching blocks with checks and short tasks, a 15-minute break, then time to build your proposal or paper.</a:t>
            </a:r>
          </a:p>
          <a:p>
            <a:r>
              <a:rPr lang="en-US" sz="1400" b="0" dirty="0"/>
              <a:t>Each session ends with extra slides that we use only if there is time. You can read them at home.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each proposal-builder slot the trainer first fills in the part for the running example on a shared screen. Then you write the same part for your own question.</a:t>
            </a:r>
          </a:p>
          <a:p>
            <a:r>
              <a:rPr lang="en-US" sz="1400" b="0" dirty="0"/>
              <a:t>Template: Course/Templates/Research_Proposal_Template.docx (sent by email before Session 1).</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30 doctors and nurses join from home. We work as one class: no groups.</a:t>
            </a:r>
          </a:p>
          <a:p>
            <a:r>
              <a:rPr lang="en-US" sz="1400" b="0" dirty="0"/>
              <a:t>Give 3 minutes for typing. Then call on 4-5 people to say their question, and point out shared themes (fluids, sedation, infection, mobilisation, medication safety).</a:t>
            </a:r>
          </a:p>
          <a:p>
            <a:r>
              <a:rPr lang="en-US" sz="1400" b="0" dirty="0"/>
              <a:t>The questions stay in the chat. In Proposal builder 1 people can scroll back to them.</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a safe place to say 'I do not understand'. A private chat message to the trainer is fine.</a:t>
            </a:r>
          </a:p>
          <a:p>
            <a:r>
              <a:rPr lang="en-US" sz="1400" b="0" dirty="0"/>
              <a:t>Chat in Vietnamese or English, whichever helps you think. No patient names or identifiable details.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Paste the Google Form link in the chat. The form asks for the full name, so the Session 1 and Session 8 answers can be matched.</a:t>
            </a:r>
          </a:p>
          <a:p>
            <a:r>
              <a:rPr lang="en-US" sz="1400" b="0" dirty="0"/>
              <a:t>Participants see no score or answers after submitting. The trainers see the results at once in the form's Responses tab and the linked results sheet.</a:t>
            </a:r>
          </a:p>
          <a:p>
            <a:r>
              <a:rPr lang="en-US" sz="1400" b="0" dirty="0"/>
              <a:t>Close the form after 15 minutes. Do not give the answers today: they are shared after the second attempt in Session 8.</a:t>
            </a:r>
          </a:p>
          <a:p>
            <a:r>
              <a:rPr lang="en-US" sz="1400" b="0" dirty="0"/>
              <a:t>Timing: 15 minutes. Session 1 teaching starts at 0:35 (20:05).</a:t>
            </a:r>
          </a:p>
          <a:p>
            <a:r>
              <a:rPr lang="en-US" sz="1400" b="0" dirty="0"/>
              <a:t>The form is created once from Course/Assessment/google_form (steps in its README).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20:05), right after the pre-course quiz.</a:t>
            </a:r>
          </a:p>
          <a:p>
            <a:r>
              <a:rPr lang="en-US" sz="1400" b="0" dirty="0"/>
              <a:t>Today's goal: everyone leaves with the start of their own research question, aim and objectives.</a:t>
            </a:r>
          </a:p>
          <a:p>
            <a:r>
              <a:rPr lang="en-US" sz="1400" b="0" dirty="0"/>
              <a:t>The class has little research background and it is evening after work: go slowly and stop at every check.</a:t>
            </a:r>
          </a:p>
          <a:p>
            <a:r>
              <a:rPr lang="en-US" sz="1400" b="0" dirty="0"/>
              <a:t>Timing: 1 minute. Point at the agenda, do not read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1.1 (0:35-1:10, 20:05-20:40).</a:t>
            </a:r>
          </a:p>
          <a:p>
            <a:r>
              <a:rPr lang="en-US" sz="1400" b="0" dirty="0"/>
              <a:t>Ask two or three people to answer, microphone on. Expected: experience favours memorable cases, colleagues disagree, practice changes.</a:t>
            </a:r>
          </a:p>
          <a:p>
            <a:r>
              <a:rPr lang="en-US" sz="1400" b="0" dirty="0"/>
              <a:t>Point: experience is good for raising questions, weak for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no comparison group. Right: 50 patients per group, every death counted.</a:t>
            </a:r>
          </a:p>
          <a:p>
            <a:r>
              <a:rPr lang="en-US" sz="1400" b="0" dirty="0"/>
              <a:t>The numbers are illustrative, but the pattern is real: the large CLASSIC trial (NEJM 2022, 1,554 patients) found the same 90-day mortality with restrictive and standard fluids (42.3% vs 42.1%).</a:t>
            </a:r>
          </a:p>
          <a:p>
            <a:r>
              <a:rPr lang="en-US" sz="1400" b="0" dirty="0"/>
              <a:t>Ask: 'Why do we remember the three good outcomes?' Expected: recall bias. Dramatic cases stick, failures are forgotten.</a:t>
            </a:r>
          </a:p>
          <a:p>
            <a:r>
              <a:rPr lang="en-US" sz="1400" b="0" dirty="0"/>
              <a:t>Timing: 4 minutes. The whole course rests on this idea.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simulation: the true risk of death is 40%. Top row: 20 wards with 5 patients each, from 0% to 80% deaths by chance alone. Groups of 500 cluster around 40%.</a:t>
            </a:r>
          </a:p>
          <a:p>
            <a:r>
              <a:rPr lang="en-US" sz="1400" b="0" dirty="0"/>
              <a:t>Poll (yes / no / cannot tell): 'One ward lost 0 of 5 patients after a new protocol. Does it work?' Answer: cannot tell. 0 of 5 happens often by chance.</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case series, case-control, cohort, randomised trials, and systematic reviews that combine studies.</a:t>
            </a:r>
          </a:p>
          <a:p>
            <a:r>
              <a:rPr lang="en-US" sz="1400" b="0" dirty="0"/>
              <a:t>Higher designs protect better against bias for 'does treatment X work?' questions. A small or badly run trial can still mislead.</a:t>
            </a:r>
          </a:p>
          <a:p>
            <a:r>
              <a:rPr lang="en-US" sz="1400" b="0" dirty="0"/>
              <a:t>For how common, harm and prognosis questions, observational designs are often the right choice.</a:t>
            </a:r>
          </a:p>
          <a:p>
            <a:r>
              <a:rPr lang="en-US" sz="1400" b="0" dirty="0"/>
              <a:t>Timing: 4 minutes. Session 3 covers each design: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1 minute, then share the results. Answer: A, B, C, D.</a:t>
            </a:r>
          </a:p>
          <a:p>
            <a:r>
              <a:rPr lang="en-US" sz="1400" b="0" dirty="0"/>
              <a:t>C is the real CLASSIC trial, which found no difference in 90-day mortality.</a:t>
            </a:r>
          </a:p>
          <a:p>
            <a:r>
              <a:rPr lang="en-US" sz="1400" b="0" dirty="0"/>
              <a:t>What could make C weaker than B? Very small, many patients lost, or patients unlike ours.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 refer to these two papers in every session.</a:t>
            </a:r>
          </a:p>
          <a:p>
            <a:r>
              <a:rPr lang="en-US" sz="1400" b="0" dirty="0"/>
              <a:t>Paper 1: a pilot trial in three French ICUs. A pilot is a small trial that tests whether a larger one is possible. It restricted 'non-resuscitative' fluids (maintenance fluids and fluids used to dilute drugs).</a:t>
            </a:r>
          </a:p>
          <a:p>
            <a:r>
              <a:rPr lang="en-US" sz="1400" b="0" dirty="0"/>
              <a:t>Paper 2: a matched cohort from the Korean Sepsis Alliance registry, like option B in the quiz.</a:t>
            </a:r>
          </a:p>
          <a:p>
            <a:r>
              <a:rPr lang="en-US" sz="1400" b="0" dirty="0"/>
              <a:t>Do not read them now. In Session 2 we read Paper 1's abstract together.</a:t>
            </a:r>
          </a:p>
          <a:p>
            <a:r>
              <a:rPr lang="en-US" sz="1400" b="0" dirty="0"/>
              <a:t>Timing: 2 minutes.</a:t>
            </a:r>
          </a:p>
          <a:p>
            <a:r>
              <a:rPr lang="en-US" sz="1400" b="0" dirty="0"/>
              <a:t>Before Session 1, email the two original PDFs (Course/Papers, files named 'original') with the Session 1 exercise 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box. Weeks 1-2 cover the three teal boxes: problem, question, search.</a:t>
            </a:r>
          </a:p>
          <a:p>
            <a:r>
              <a:rPr lang="en-US" sz="1400" b="0" dirty="0"/>
              <a:t>Misconception: 'research = collecting data'. Data come after the question, design and ethics approval.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First three rows: what kind of data. Last two rows: where the data come from.</a:t>
            </a:r>
          </a:p>
          <a:p>
            <a:r>
              <a:rPr lang="en-US" sz="1400" b="0" dirty="0"/>
              <a:t>Misconception: 'qualitative research is just opinion'. It has its own rigorous methods.</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two or three people for short answers. The answers are on the next slide.</a:t>
            </a:r>
          </a:p>
          <a:p>
            <a:r>
              <a:rPr lang="en-US" sz="1400" b="0" dirty="0"/>
              <a:t>If people hesitate on C: the records were made for care, not for this study, so using them is secondary research.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questions classify almost any study: what kind of data, and where they come from.</a:t>
            </a:r>
          </a:p>
          <a:p>
            <a:r>
              <a:rPr lang="en-US" sz="1400" b="0" dirty="0"/>
              <a:t>Secondary research is often the most feasible for a busy department, if the records are good (Session 5).</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The colours show the weeks that teach each stop.</a:t>
            </a:r>
          </a:p>
          <a:p>
            <a:r>
              <a:rPr lang="en-US" sz="1400" b="0" dirty="0"/>
              <a:t>Stops 1-6 plan and do the study. Stops 7-11 publish it. Trials are registered before the first patient is enrolled. The road often takes one to three years, and many studies stall at stop 7.</a:t>
            </a:r>
          </a:p>
          <a:p>
            <a:r>
              <a:rPr lang="en-US" sz="1400" b="0" dirty="0"/>
              <a:t>Ask: 'At which stop do hospital studies get stuck?' Expected: ethics paperwork, data collection or writing.</a:t>
            </a:r>
          </a:p>
          <a:p>
            <a:r>
              <a:rPr lang="en-US" sz="1400" b="0" dirty="0"/>
              <a:t>Timing: 3 minutes, then 3 minutes for questions. Segment 1.1 ends at 1:10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(1:10-1:25, 20:40-20:55). Post the restart time in the chat, and the link to the Session 1 exercise sheet: Exercise 1 is used after the break. 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1.2 (1:25-2:05, 20:55-21:35).</a:t>
            </a:r>
          </a:p>
          <a:p>
            <a:r>
              <a:rPr lang="en-US" sz="1400" b="0" dirty="0"/>
              <a:t>A vague worry ('are fluids bad?') must become a precise question before anything else can happen.</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questions, all from daily work.</a:t>
            </a:r>
          </a:p>
          <a:p>
            <a:r>
              <a:rPr lang="en-US" sz="1400" b="0" dirty="0"/>
              <a:t>Before calling something research, check whether the answer already exists. If it does, the job is to apply it.</a:t>
            </a:r>
          </a:p>
          <a:p>
            <a:r>
              <a:rPr lang="en-US" sz="1400" b="0" dirty="0"/>
              <a:t>Point back to the questions the class typed in the chat at the start.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 (Time) says when the outcome is measured.</a:t>
            </a:r>
          </a:p>
          <a:p>
            <a:r>
              <a:rPr lang="en-US" sz="1400" b="0" dirty="0"/>
              <a:t>Each letter forces a decision: which patients, restrictive how, compared with what, which outcome and when?</a:t>
            </a:r>
          </a:p>
          <a:p>
            <a:r>
              <a:rPr lang="en-US" sz="1400" b="0" dirty="0"/>
              <a:t>Ask: 'Is 28-day mortality the only sensible outcome?' Expected: 90-day mortality, kidney injury needing dialysis,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examples from other wards. PECO is PICO with E (Exposure) in place of I: something patients have that the researcher does not assign, such as obesity or a positive fluid balance.</a:t>
            </a:r>
          </a:p>
          <a:p>
            <a:r>
              <a:rPr lang="en-US" sz="1400" b="0" dirty="0"/>
              <a:t>Row 3 only needs P and O (and T): it asks how common something is.</a:t>
            </a:r>
          </a:p>
          <a:p>
            <a:r>
              <a:rPr lang="en-US" sz="1400" b="0" dirty="0"/>
              <a:t>Ask: 'Make a PECO question about fluids.' Expected: in adults with sepsis, is a positive fluid balance by day 3, compared with a neutral or negative balance, associated with death by day 28? This is Paper 2's question.</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question slowly. Give 1 minute for the poll. Answer: C. D is the time (T), A is part of P, B is I.</a:t>
            </a:r>
          </a:p>
          <a:p>
            <a:r>
              <a:rPr lang="en-US" sz="1400" b="0" dirty="0"/>
              <a:t>Watch for 'septic shock' chosen as the outcome: it has already happened, so it defines who is eligible.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outcome must be something that can happen after the intervention starts.</a:t>
            </a:r>
          </a:p>
          <a:p>
            <a:r>
              <a:rPr lang="en-US" sz="1400" b="0" dirty="0"/>
              <a:t>Paper 1's outcome is fluid balance, not death, so it cannot answer our 28-day mortality question.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verbs give it away: 'how many' is descriptive, 'is associated with' is observational, 'does it reduce' implies a trial.</a:t>
            </a:r>
          </a:p>
          <a:p>
            <a:r>
              <a:rPr lang="en-US" sz="1400" b="0" dirty="0"/>
              <a:t>Ask: 'Paper 2: which box?' Expected: analytical, observe (a cohort).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corridor question, every word undefined. Right: the same worry written with PICO(T).</a:t>
            </a:r>
          </a:p>
          <a:p>
            <a:r>
              <a:rPr lang="en-US" sz="1400" b="0" dirty="0"/>
              <a:t>Ask: 'Make this answerable: Is albumin better?' Expected: in adults with septic shock, does albumin plus crystalloid, compared with crystalloid alone, reduce 28-day mortality?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 Feasible, Interesting, Novel, Ethical, Relevant (Hulley, Designing Clinical Research).</a:t>
            </a:r>
          </a:p>
          <a:p>
            <a:r>
              <a:rPr lang="en-US" sz="1400" b="0" dirty="0"/>
              <a:t>Feasible fails most often in hospital research: too few patients, or an outcome that is too rare.</a:t>
            </a:r>
          </a:p>
          <a:p>
            <a:r>
              <a:rPr lang="en-US" sz="1400" b="0" dirty="0"/>
              <a:t>Novel does not mean 'never studied': a new setting or a better design can be novel.</a:t>
            </a:r>
          </a:p>
          <a:p>
            <a:r>
              <a:rPr lang="en-US" sz="1400" b="0" dirty="0"/>
              <a:t>Poll (F, I, N, E, R): 'Which letter does our running example fail?'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a difference of a few percentage points in mortality needs well over a thousand patients. The CLASSIC (2022) and CLOVERS (2023) trials each randomised more than 1,500.</a:t>
            </a:r>
          </a:p>
          <a:p>
            <a:r>
              <a:rPr lang="en-US" sz="1400" b="0" dirty="0"/>
              <a:t>N is amber: those large trials found no difference in mortality. E is amber: consent in septic shock is hard (Session 7).</a:t>
            </a:r>
          </a:p>
          <a:p>
            <a:r>
              <a:rPr lang="en-US" sz="1400" b="0" dirty="0"/>
              <a:t>To make it smaller: change the outcome, run a pilot trial as Paper 1 did, or ask a descriptive question. The next slide does exactly this.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Share a blank Exercise 1 and type the answers as people give them, one person per letter.</a:t>
            </a:r>
          </a:p>
          <a:p>
            <a:r>
              <a:rPr lang="en-US" sz="1400" b="0" dirty="0"/>
              <a:t>Most classes choose A or C. If the vote is split, take A: it is the pilot that Paper 1 ran, and the quick exercise in 1.3 uses it.</a:t>
            </a:r>
          </a:p>
          <a:p>
            <a:r>
              <a:rPr lang="en-US" sz="1400" b="0" dirty="0"/>
              <a:t>Version B is a PECO question (fluid balance is an exposure). It is the main question of the FLUID-ICU course study.</a:t>
            </a:r>
          </a:p>
          <a:p>
            <a:r>
              <a:rPr lang="en-US" sz="1400" b="0" dirty="0"/>
              <a:t>Common problems: no comparison, an outcome without a time point, two outcomes in one question.</a:t>
            </a:r>
          </a:p>
          <a:p>
            <a:r>
              <a:rPr lang="en-US" sz="1400" b="0" dirty="0"/>
              <a:t>Model answers: Course/Solutions/s1_solutions.md, Exercise 1.</a:t>
            </a:r>
          </a:p>
          <a:p>
            <a:r>
              <a:rPr lang="en-US" sz="1400" b="0" dirty="0"/>
              <a:t>Timing: 8 minutes work + 3 minutes summary. Segment 1.3 starts at 2:05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Segment 1.3 (2:05-2:25, 21:35-21:55).</a:t>
            </a:r>
          </a:p>
          <a:p>
            <a:r>
              <a:rPr lang="en-US" sz="1400" b="0" dirty="0"/>
              <a:t>The aim, objectives and hypothesis are the question written as a plan. Ethics committees read them first.</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aim is the broad purpose ('To compare...', 'To describe...'). The objectives are specific, measurable steps.</a:t>
            </a:r>
          </a:p>
          <a:p>
            <a:r>
              <a:rPr lang="en-US" sz="1400" b="0" dirty="0"/>
              <a:t>Mark the primary objective: it decides the sample size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 understand' can never be finished or checked. 'To compare fluid balance at day 5' names the outcome, the time and the comparison.</a:t>
            </a:r>
          </a:p>
          <a:p>
            <a:r>
              <a:rPr lang="en-US" sz="1400" b="0" dirty="0"/>
              <a:t>Ask: 'Rewrite: to study fluid balance in our ICU.' Expected: to estimate the proportion of adults with septic shock in our ICU who have a positive fluid balance on day 3.</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 in either direction.</a:t>
            </a:r>
          </a:p>
          <a:p>
            <a:r>
              <a:rPr lang="en-US" sz="1400" b="0" dirty="0"/>
              <a:t>Analogy: a court assumes 'not guilty' (H0) until the evidence is strong enough. 'Not guilty' is not 'innocent'.</a:t>
            </a:r>
          </a:p>
          <a:p>
            <a:r>
              <a:rPr lang="en-US" sz="1400" b="0" dirty="0"/>
              <a:t>Purely descriptive questions (version C) estimate a number and need no hypothesis.</a:t>
            </a:r>
          </a:p>
          <a:p>
            <a:r>
              <a:rPr lang="en-US" sz="1400" b="0" dirty="0"/>
              <a:t>Timing: 3 minutes. P-values are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minutes writing alone, then 2 minutes for two or three people to read their primary objective.</a:t>
            </a:r>
          </a:p>
          <a:p>
            <a:r>
              <a:rPr lang="en-US" sz="1400" b="0" dirty="0"/>
              <a:t>Look for vague verbs, no time point, or a hypothesis about an outcome that is not in the objectives.</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the chain: the question's O = the primary objective = the outcome in H0 and H1. Reviewers spot a break at once.</a:t>
            </a:r>
          </a:p>
          <a:p>
            <a:r>
              <a:rPr lang="en-US" sz="1400" b="0" dirty="0"/>
              <a:t>Model answers: Course/Solutions/s1_solutions.md (Exercise 2).</a:t>
            </a:r>
          </a:p>
          <a:p>
            <a:r>
              <a:rPr lang="en-US" sz="1400" b="0" dirty="0"/>
              <a:t>Timing: 3 minutes. Segment 1.3 ends at 2:25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1 (2:25-2:55, 21:55-22:25). Everyone writes their own proposal.</a:t>
            </a:r>
          </a:p>
          <a:p>
            <a:r>
              <a:rPr lang="en-US" sz="1400" b="0" dirty="0"/>
              <a:t>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0-8: share Course/Templates/Research_Proposal_Template.docx and fill Part 1 for version A, thinking aloud.</a:t>
            </a:r>
          </a:p>
          <a:p>
            <a:r>
              <a:rPr lang="en-US" sz="1400" b="0" dirty="0"/>
              <a:t>Minutes 8-25: everyone drafts alone. Cameras may go off. Answer questions in the chat.</a:t>
            </a:r>
          </a:p>
          <a:p>
            <a:r>
              <a:rPr lang="en-US" sz="1400" b="0" dirty="0"/>
              <a:t>No topic yet? Look back at the questions in the welcome chat, or use version A or C for now.</a:t>
            </a:r>
          </a:p>
          <a:p>
            <a:r>
              <a:rPr lang="en-US" sz="1400" b="0" dirty="0"/>
              <a:t>Minutes 25-30: two volunteers read their question and aim. Others suggest one improvement each.</a:t>
            </a:r>
          </a:p>
          <a:p>
            <a:r>
              <a:rPr lang="en-US" sz="1400" b="0" dirty="0"/>
              <a:t>Timing: 30 minutes. Wrap-up starts at 2:55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(2:55-3:00, 22:25-22:30). Read the six key words quickly. They are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Next Saturday (Session 2) we search PubMed live, manage references in Zotero and read a paper in 15 minutes.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marked. Answers: Q1 Feasible: mortality needs well over a thousand patients. Q2 e.g. 'To estimate the proportion of adults with septic shock in our ICU who have a positive fluid balance on day 3'.</a:t>
            </a:r>
          </a:p>
          <a:p>
            <a:r>
              <a:rPr lang="en-US" sz="1400" b="0" dirty="0"/>
              <a:t>Save the chat and read the answers during the week. If many still use vague verbs, start Session 2 with one minute on objectives.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45 minutes during the week. The synonyms speed up next Saturday's search, because PubMed works in English.</a:t>
            </a:r>
          </a:p>
          <a:p>
            <a:r>
              <a:rPr lang="en-US" sz="1400" b="0" dirty="0"/>
              <a:t>Zotero is needed in Session 2: Zotero desktop, the browser Connector and the Word plug-in (zotero.org/download). Anyone with problems emails the trainers before Friday.</a:t>
            </a:r>
          </a:p>
          <a:p>
            <a:r>
              <a:rPr lang="en-US" sz="1400" b="0" dirty="0"/>
              <a:t>Close on time.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 Optional: use them if the class is fast,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when someone asks whether their project needs ethics approval.</a:t>
            </a:r>
          </a:p>
          <a:p>
            <a:r>
              <a:rPr lang="en-US" sz="1400" b="0" dirty="0"/>
              <a:t>Audit compares practice with an agreed standard. Quality improvement (QI) changes a local process in small Plan-Do-Study-Act cycles. If a project randomises, adds a new risk or collects data beyond routine care, it is research.</a:t>
            </a:r>
          </a:p>
          <a:p>
            <a:r>
              <a:rPr lang="en-US" sz="1400" b="0" dirty="0"/>
              <a:t>Rules differ between institutions: check the local policy. Ethics approval is Session 7.</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Backup slide for 'Three more examples: PICO, PECO and P + O' (reviewer request).</a:t>
            </a:r>
          </a:p>
          <a:p>
            <a:r>
              <a:rPr lang="en-US" sz="1400" b="0" dirty="0"/>
              <a:t>Use it as a short exercise: participants write one question per row in the chat, or you call on two or three people (microphone on). Then show this slide.</a:t>
            </a:r>
          </a:p>
          <a:p>
            <a:r>
              <a:rPr lang="en-US" sz="1400" b="0" dirty="0"/>
              <a:t>Point out: the treatment question says 'reduce' because the checklist is assigned. The PECO question says 'associated with' because obesity is not assigned. The 'how common' question has no comparison.</a:t>
            </a:r>
          </a:p>
          <a:p>
            <a:r>
              <a:rPr lang="en-US" sz="1400" b="0" dirty="0"/>
              <a:t>Timing: 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the new test is I, the reference standard is C, the outcome is accuracy (Session 4).</a:t>
            </a:r>
          </a:p>
          <a:p>
            <a:r>
              <a:rPr lang="en-US" sz="1400" b="0" dirty="0"/>
              <a:t>Prognosis: PECO plus a time frame. Qualitative questions often use SPIDER (Cooke and colleagues, 2012).</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Answers: 1 Feasible (huge and long). 2 Ethical (withholding antibiotics causes harm). 3 Novel (already measured every month). 4 Relevant (no plausible effect on practice).</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This is a PECO (observational) question: nurses cannot easily be randomised to night shifts.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Saturday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Every day you make decisions that research could improve.</a:t>
            </a:r>
          </a:p>
          <a:p>
            <a:pPr marL="0" indent="0" algn="ctr">
              <a:spcBef>
                <a:spcPts val="1200"/>
              </a:spcBef>
              <a:buNone/>
            </a:pPr>
            <a:r>
              <a:rPr lang="en-US" sz="1900" i="1" dirty="0">
                <a:solidFill>
                  <a:srgbClr val="595959"/>
                </a:solidFill>
                <a:latin typeface="Arial"/>
                <a:cs typeface="Arial"/>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Weeks 1-2</a:t>
            </a:r>
          </a:p>
          <a:p>
            <a:pPr marL="0" indent="0" algn="ctr">
              <a:lnSpc>
                <a:spcPct val="100000"/>
              </a:lnSpc>
              <a:spcBef>
                <a:spcPts val="300"/>
              </a:spcBef>
              <a:buNone/>
            </a:pPr>
            <a:r>
              <a:rPr lang="en-US" sz="1400" dirty="0">
                <a:solidFill>
                  <a:srgbClr val="595959"/>
                </a:solidFill>
                <a:latin typeface="Arial"/>
                <a:cs typeface="Arial"/>
              </a:rPr>
              <a:t>Question and evidence</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Weeks 3-4</a:t>
            </a:r>
          </a:p>
          <a:p>
            <a:pPr marL="0" indent="0" algn="ctr">
              <a:lnSpc>
                <a:spcPct val="100000"/>
              </a:lnSpc>
              <a:spcBef>
                <a:spcPts val="300"/>
              </a:spcBef>
              <a:buNone/>
            </a:pPr>
            <a:r>
              <a:rPr lang="en-US" sz="1400" dirty="0">
                <a:solidFill>
                  <a:srgbClr val="595959"/>
                </a:solidFill>
                <a:latin typeface="Arial"/>
                <a:cs typeface="Arial"/>
              </a:rPr>
              <a:t>Design and bias</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Weeks 5-6</a:t>
            </a:r>
          </a:p>
          <a:p>
            <a:pPr marL="0" indent="0" algn="ctr">
              <a:lnSpc>
                <a:spcPct val="100000"/>
              </a:lnSpc>
              <a:spcBef>
                <a:spcPts val="300"/>
              </a:spcBef>
              <a:buNone/>
            </a:pPr>
            <a:r>
              <a:rPr lang="en-US" sz="1400" dirty="0">
                <a:solidFill>
                  <a:srgbClr val="595959"/>
                </a:solidFill>
                <a:latin typeface="Arial"/>
                <a:cs typeface="Arial"/>
              </a:rPr>
              <a:t>Data and analysis</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Weeks 7-8</a:t>
            </a:r>
          </a:p>
          <a:p>
            <a:pPr marL="0" indent="0" algn="ctr">
              <a:lnSpc>
                <a:spcPct val="100000"/>
              </a:lnSpc>
              <a:spcBef>
                <a:spcPts val="300"/>
              </a:spcBef>
              <a:buNone/>
            </a:pPr>
            <a:r>
              <a:rPr lang="en-US" sz="1400" dirty="0">
                <a:solidFill>
                  <a:srgbClr val="595959"/>
                </a:solidFill>
                <a:latin typeface="Arial"/>
                <a:cs typeface="Arial"/>
              </a:rPr>
              <a:t>Ethics, writing, publishing</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Ask</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Find and read</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Design</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Bias and effect</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Data</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Analyse</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Protect and write</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Publish</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Proposal</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manuscript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1  (this course)</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From question to publication</a:t>
            </a:r>
          </a:p>
          <a:p>
            <a:pPr marL="0" indent="0" algn="ctr">
              <a:lnSpc>
                <a:spcPct val="104000"/>
              </a:lnSpc>
              <a:spcBef>
                <a:spcPts val="400"/>
              </a:spcBef>
              <a:buNone/>
            </a:pPr>
            <a:r>
              <a:rPr lang="en-US" sz="1750" dirty="0">
                <a:solidFill>
                  <a:srgbClr val="000000"/>
                </a:solidFill>
                <a:latin typeface="Arial"/>
                <a:cs typeface="Arial"/>
              </a:rPr>
              <a:t>Ask, design, analyse, write and publish</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2  (hands-on)</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Statistical modelling in R</a:t>
            </a:r>
          </a:p>
          <a:p>
            <a:pPr marL="0" indent="0" algn="ctr">
              <a:lnSpc>
                <a:spcPct val="104000"/>
              </a:lnSpc>
              <a:spcBef>
                <a:spcPts val="400"/>
              </a:spcBef>
              <a:buNone/>
            </a:pPr>
            <a:r>
              <a:rPr lang="en-US" sz="1750" dirty="0">
                <a:solidFill>
                  <a:srgbClr val="000000"/>
                </a:solidFill>
                <a:latin typeface="Arial"/>
                <a:cs typeface="Arial"/>
              </a:rPr>
              <a:t>You run the analyses yourself</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3  (advanced)</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Advanced methods</a:t>
            </a:r>
          </a:p>
          <a:p>
            <a:pPr marL="0" indent="0" algn="ctr">
              <a:lnSpc>
                <a:spcPct val="104000"/>
              </a:lnSpc>
              <a:spcBef>
                <a:spcPts val="400"/>
              </a:spcBef>
              <a:buNone/>
            </a:pPr>
            <a:r>
              <a:rPr lang="en-US" sz="1750" dirty="0">
                <a:solidFill>
                  <a:srgbClr val="000000"/>
                </a:solidFill>
                <a:latin typeface="Arial"/>
                <a:cs typeface="Arial"/>
              </a:rPr>
              <a:t>Workshops on request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Level 1 is this course. Levels 2 and 3 are for those who want to go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things you will produce, each on your own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individual work. We guide every step in class.</a:t>
            </a:r>
          </a:p>
        </p:txBody>
      </p:sp>
      <p:sp>
        <p:nvSpPr>
          <p:cNvPr id="70" name="CardHead"/>
          <p:cNvSpPr/>
          <p:nvPr/>
        </p:nvSpPr>
        <p:spPr>
          <a:xfrm>
            <a:off x="457200" y="220376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research proposal</a:t>
            </a:r>
          </a:p>
        </p:txBody>
      </p:sp>
      <p:sp>
        <p:nvSpPr>
          <p:cNvPr id="71" name="CardBody"/>
          <p:cNvSpPr/>
          <p:nvPr/>
        </p:nvSpPr>
        <p:spPr>
          <a:xfrm>
            <a:off x="457200" y="2843761"/>
            <a:ext cx="5538800"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 a question from your own department</a:t>
            </a:r>
          </a:p>
          <a:p>
            <a:pPr marL="0" indent="0" algn="ctr">
              <a:lnSpc>
                <a:spcPct val="104000"/>
              </a:lnSpc>
              <a:spcBef>
                <a:spcPts val="400"/>
              </a:spcBef>
              <a:buNone/>
            </a:pPr>
            <a:r>
              <a:rPr lang="en-US" sz="1750" dirty="0">
                <a:solidFill>
                  <a:srgbClr val="000000"/>
                </a:solidFill>
                <a:latin typeface="Arial"/>
                <a:cs typeface="Arial"/>
              </a:rPr>
              <a:t>Built one part at a time, Sessions 1 to 7</a:t>
            </a:r>
          </a:p>
          <a:p>
            <a:pPr marL="0" indent="0" algn="ctr">
              <a:lnSpc>
                <a:spcPct val="104000"/>
              </a:lnSpc>
              <a:spcBef>
                <a:spcPts val="400"/>
              </a:spcBef>
              <a:buNone/>
            </a:pPr>
            <a:r>
              <a:rPr lang="en-US" sz="1750" dirty="0">
                <a:solidFill>
                  <a:srgbClr val="000000"/>
                </a:solidFill>
                <a:latin typeface="Arial"/>
                <a:cs typeface="Arial"/>
              </a:rPr>
              <a:t>Submitted in Session 8</a:t>
            </a:r>
          </a:p>
        </p:txBody>
      </p:sp>
      <p:sp>
        <p:nvSpPr>
          <p:cNvPr id="72" name="CardHead"/>
          <p:cNvSpPr/>
          <p:nvPr/>
        </p:nvSpPr>
        <p:spPr>
          <a:xfrm>
            <a:off x="6196000" y="220376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draft manuscript</a:t>
            </a:r>
          </a:p>
        </p:txBody>
      </p:sp>
      <p:sp>
        <p:nvSpPr>
          <p:cNvPr id="73" name="CardBody"/>
          <p:cNvSpPr/>
          <p:nvPr/>
        </p:nvSpPr>
        <p:spPr>
          <a:xfrm>
            <a:off x="6196000" y="2843761"/>
            <a:ext cx="5538800"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Based on the course study, FLUID-ICU</a:t>
            </a:r>
          </a:p>
          <a:p>
            <a:pPr marL="0" indent="0" algn="ctr">
              <a:lnSpc>
                <a:spcPct val="104000"/>
              </a:lnSpc>
              <a:spcBef>
                <a:spcPts val="400"/>
              </a:spcBef>
              <a:buNone/>
            </a:pPr>
            <a:r>
              <a:rPr lang="en-US" sz="1750" dirty="0">
                <a:solidFill>
                  <a:srgbClr val="000000"/>
                </a:solidFill>
                <a:latin typeface="Arial"/>
                <a:cs typeface="Arial"/>
              </a:rPr>
              <a:t>We give you the results. You write the paper</a:t>
            </a:r>
          </a:p>
          <a:p>
            <a:pPr marL="0" indent="0" algn="ctr">
              <a:lnSpc>
                <a:spcPct val="104000"/>
              </a:lnSpc>
              <a:spcBef>
                <a:spcPts val="400"/>
              </a:spcBef>
              <a:buNone/>
            </a:pPr>
            <a:r>
              <a:rPr lang="en-US" sz="1750" dirty="0">
                <a:solidFill>
                  <a:srgbClr val="000000"/>
                </a:solidFill>
                <a:latin typeface="Arial"/>
                <a:cs typeface="Arial"/>
              </a:rPr>
              <a:t>Then you review one colleague's draft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and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Turn a problem into a clear question</a:t>
            </a:r>
          </a:p>
          <a:p>
            <a:pPr marL="0" indent="0" algn="ctr">
              <a:lnSpc>
                <a:spcPct val="104000"/>
              </a:lnSpc>
              <a:spcBef>
                <a:spcPts val="400"/>
              </a:spcBef>
              <a:buNone/>
            </a:pPr>
            <a:r>
              <a:rPr lang="en-US" sz="1600" dirty="0">
                <a:solidFill>
                  <a:srgbClr val="000000"/>
                </a:solidFill>
                <a:latin typeface="Arial"/>
                <a:cs typeface="Arial"/>
              </a:rPr>
              <a:t>Search PubMed and manage references</a:t>
            </a:r>
          </a:p>
          <a:p>
            <a:pPr marL="0" indent="0" algn="ctr">
              <a:lnSpc>
                <a:spcPct val="104000"/>
              </a:lnSpc>
              <a:spcBef>
                <a:spcPts val="400"/>
              </a:spcBef>
              <a:buNone/>
            </a:pPr>
            <a:r>
              <a:rPr lang="en-US" sz="1600" dirty="0">
                <a:solidFill>
                  <a:srgbClr val="000000"/>
                </a:solidFill>
                <a:latin typeface="Arial"/>
                <a:cs typeface="Arial"/>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Choose a study design</a:t>
            </a:r>
          </a:p>
          <a:p>
            <a:pPr marL="0" indent="0" algn="ctr">
              <a:lnSpc>
                <a:spcPct val="104000"/>
              </a:lnSpc>
              <a:spcBef>
                <a:spcPts val="400"/>
              </a:spcBef>
              <a:buNone/>
            </a:pPr>
            <a:r>
              <a:rPr lang="en-US" sz="1600" dirty="0">
                <a:solidFill>
                  <a:srgbClr val="000000"/>
                </a:solidFill>
                <a:latin typeface="Arial"/>
                <a:cs typeface="Arial"/>
              </a:rPr>
              <a:t>Recognise bias</a:t>
            </a:r>
          </a:p>
          <a:p>
            <a:pPr marL="0" indent="0" algn="ctr">
              <a:lnSpc>
                <a:spcPct val="104000"/>
              </a:lnSpc>
              <a:spcBef>
                <a:spcPts val="400"/>
              </a:spcBef>
              <a:buNone/>
            </a:pPr>
            <a:r>
              <a:rPr lang="en-US" sz="1600" dirty="0">
                <a:solidFill>
                  <a:srgbClr val="000000"/>
                </a:solidFill>
                <a:latin typeface="Arial"/>
                <a:cs typeface="Arial"/>
              </a:rPr>
              <a:t>Read the main effect measures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the data you collect</a:t>
            </a:r>
          </a:p>
          <a:p>
            <a:pPr marL="0" indent="0" algn="ctr">
              <a:lnSpc>
                <a:spcPct val="104000"/>
              </a:lnSpc>
              <a:spcBef>
                <a:spcPts val="400"/>
              </a:spcBef>
              <a:buNone/>
            </a:pPr>
            <a:r>
              <a:rPr lang="en-US" sz="1600" dirty="0">
                <a:solidFill>
                  <a:srgbClr val="000000"/>
                </a:solidFill>
                <a:latin typeface="Arial"/>
                <a:cs typeface="Arial"/>
              </a:rPr>
              <a:t>Read the results of an analysis</a:t>
            </a:r>
          </a:p>
          <a:p>
            <a:pPr marL="0" indent="0" algn="ctr">
              <a:lnSpc>
                <a:spcPct val="104000"/>
              </a:lnSpc>
              <a:spcBef>
                <a:spcPts val="400"/>
              </a:spcBef>
              <a:buNone/>
            </a:pPr>
            <a:r>
              <a:rPr lang="en-US" sz="1600" dirty="0">
                <a:solidFill>
                  <a:srgbClr val="000000"/>
                </a:solidFill>
                <a:latin typeface="Arial"/>
                <a:cs typeface="Arial"/>
              </a:rPr>
              <a:t>Interpret a real dataset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 and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ethics approval</a:t>
            </a:r>
          </a:p>
          <a:p>
            <a:pPr marL="0" indent="0" algn="ctr">
              <a:lnSpc>
                <a:spcPct val="104000"/>
              </a:lnSpc>
              <a:spcBef>
                <a:spcPts val="400"/>
              </a:spcBef>
              <a:buNone/>
            </a:pPr>
            <a:r>
              <a:rPr lang="en-US" sz="1600" dirty="0">
                <a:solidFill>
                  <a:srgbClr val="000000"/>
                </a:solidFill>
                <a:latin typeface="Arial"/>
                <a:cs typeface="Arial"/>
              </a:rPr>
              <a:t>Write each section of a paper</a:t>
            </a:r>
          </a:p>
          <a:p>
            <a:pPr marL="0" indent="0" algn="ctr">
              <a:lnSpc>
                <a:spcPct val="104000"/>
              </a:lnSpc>
              <a:spcBef>
                <a:spcPts val="400"/>
              </a:spcBef>
              <a:buNone/>
            </a:pPr>
            <a:r>
              <a:rPr lang="en-US" sz="1600" dirty="0">
                <a:solidFill>
                  <a:srgbClr val="000000"/>
                </a:solidFill>
                <a:latin typeface="Arial"/>
                <a:cs typeface="Arial"/>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Recap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Break</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Build your proposal or paper</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Wrap-up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check every 20 minutes. Extra slides only if time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Build your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1-2</a:t>
            </a:r>
          </a:p>
          <a:p>
            <a:pPr marL="0" indent="0" algn="ctr">
              <a:lnSpc>
                <a:spcPct val="104000"/>
              </a:lnSpc>
              <a:spcBef>
                <a:spcPts val="200"/>
              </a:spcBef>
              <a:buNone/>
            </a:pPr>
            <a:r>
              <a:rPr lang="en-US" sz="1700" dirty="0">
                <a:solidFill>
                  <a:srgbClr val="000000"/>
                </a:solidFill>
                <a:latin typeface="Arial"/>
                <a:cs typeface="Arial"/>
              </a:rPr>
              <a:t>Question, background, aims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3-4</a:t>
            </a:r>
          </a:p>
          <a:p>
            <a:pPr marL="0" indent="0" algn="ctr">
              <a:lnSpc>
                <a:spcPct val="104000"/>
              </a:lnSpc>
              <a:spcBef>
                <a:spcPts val="200"/>
              </a:spcBef>
              <a:buNone/>
            </a:pPr>
            <a:r>
              <a:rPr lang="en-US" sz="1700" dirty="0">
                <a:solidFill>
                  <a:srgbClr val="000000"/>
                </a:solidFill>
                <a:latin typeface="Arial"/>
                <a:cs typeface="Arial"/>
              </a:rPr>
              <a:t>Design and participants</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5-6</a:t>
            </a:r>
          </a:p>
          <a:p>
            <a:pPr marL="0" indent="0" algn="ctr">
              <a:lnSpc>
                <a:spcPct val="104000"/>
              </a:lnSpc>
              <a:spcBef>
                <a:spcPts val="200"/>
              </a:spcBef>
              <a:buNone/>
            </a:pPr>
            <a:r>
              <a:rPr lang="en-US" sz="1700" dirty="0">
                <a:solidFill>
                  <a:srgbClr val="000000"/>
                </a:solidFill>
                <a:latin typeface="Arial"/>
                <a:cs typeface="Arial"/>
              </a:rPr>
              <a:t>Data, sample size, analysis plan</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7</a:t>
            </a:r>
          </a:p>
          <a:p>
            <a:pPr marL="0" indent="0" algn="ctr">
              <a:lnSpc>
                <a:spcPct val="104000"/>
              </a:lnSpc>
              <a:spcBef>
                <a:spcPts val="200"/>
              </a:spcBef>
              <a:buNone/>
            </a:pPr>
            <a:r>
              <a:rPr lang="en-US" sz="1700" dirty="0">
                <a:solidFill>
                  <a:srgbClr val="000000"/>
                </a:solidFill>
                <a:latin typeface="Arial"/>
                <a:cs typeface="Arial"/>
              </a:rPr>
              <a:t>Ethics, feasibility, publication plan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8</a:t>
            </a:r>
          </a:p>
          <a:p>
            <a:pPr marL="0" indent="0" algn="ctr">
              <a:lnSpc>
                <a:spcPct val="104000"/>
              </a:lnSpc>
              <a:spcBef>
                <a:spcPts val="200"/>
              </a:spcBef>
              <a:buNone/>
            </a:pPr>
            <a:r>
              <a:rPr lang="en-US" sz="1700" dirty="0">
                <a:solidFill>
                  <a:srgbClr val="000000"/>
                </a:solidFill>
                <a:latin typeface="Arial"/>
                <a:cs typeface="Arial"/>
              </a:rPr>
              <a:t>Complete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own question, one template, one part every two weeks.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Welcome: introduce yourself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Type your name, department and profession in the chat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Add one question you wish research could answer in your department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the other messages: many are possible research topics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few of you then say your question with the microphone on</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Example message</a:t>
            </a:r>
          </a:p>
          <a:p>
            <a:pPr marL="0" indent="0" algn="ctr">
              <a:lnSpc>
                <a:spcPct val="104000"/>
              </a:lnSpc>
              <a:spcBef>
                <a:spcPts val="300"/>
              </a:spcBef>
              <a:buNone/>
            </a:pPr>
            <a:r>
              <a:rPr lang="en-US" sz="1500" dirty="0">
                <a:solidFill>
                  <a:srgbClr val="000000"/>
                </a:solidFill>
                <a:latin typeface="Arial"/>
                <a:cs typeface="Arial"/>
              </a:rPr>
              <a:t>Lan, ICU, nurse</a:t>
            </a:r>
          </a:p>
          <a:p>
            <a:pPr marL="0" indent="0" algn="ctr">
              <a:lnSpc>
                <a:spcPct val="104000"/>
              </a:lnSpc>
              <a:spcBef>
                <a:spcPts val="300"/>
              </a:spcBef>
              <a:buNone/>
            </a:pPr>
            <a:r>
              <a:rPr lang="en-US" sz="1500" dirty="0">
                <a:solidFill>
                  <a:srgbClr val="000000"/>
                </a:solidFill>
                <a:latin typeface="Arial"/>
                <a:cs typeface="Arial"/>
              </a:rPr>
              <a:t>'Do patients with septic shock need less fluid than we give?'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introduction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we learn together online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anything</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There are no silly questions</a:t>
            </a:r>
          </a:p>
          <a:p>
            <a:pPr marL="0" indent="0" algn="ctr">
              <a:lnSpc>
                <a:spcPct val="104000"/>
              </a:lnSpc>
              <a:spcBef>
                <a:spcPts val="400"/>
              </a:spcBef>
              <a:buNone/>
            </a:pPr>
            <a:r>
              <a:rPr lang="en-US" sz="1600" dirty="0">
                <a:solidFill>
                  <a:srgbClr val="000000"/>
                </a:solidFill>
                <a:latin typeface="Arial"/>
                <a:cs typeface="Arial"/>
              </a:rPr>
              <a:t>Use the chat or 'raise hand'</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Go slow</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We check understanding often</a:t>
            </a:r>
          </a:p>
          <a:p>
            <a:pPr marL="0" indent="0" algn="ctr">
              <a:lnSpc>
                <a:spcPct val="104000"/>
              </a:lnSpc>
              <a:spcBef>
                <a:spcPts val="400"/>
              </a:spcBef>
              <a:buNone/>
            </a:pPr>
            <a:r>
              <a:rPr lang="en-US" sz="1600" dirty="0">
                <a:solidFill>
                  <a:srgbClr val="000000"/>
                </a:solidFill>
                <a:latin typeface="Arial"/>
                <a:cs typeface="Arial"/>
              </a:rPr>
              <a:t>Extra slides only if time allows</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Bring your department</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examples from your own practice</a:t>
            </a:r>
          </a:p>
          <a:p>
            <a:pPr marL="0" indent="0" algn="ctr">
              <a:lnSpc>
                <a:spcPct val="104000"/>
              </a:lnSpc>
              <a:spcBef>
                <a:spcPts val="400"/>
              </a:spcBef>
              <a:buNone/>
            </a:pPr>
            <a:r>
              <a:rPr lang="en-US" sz="1600" dirty="0">
                <a:solidFill>
                  <a:srgbClr val="000000"/>
                </a:solidFill>
                <a:latin typeface="Arial"/>
                <a:cs typeface="Arial"/>
              </a:rPr>
              <a:t>No patient names or details</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Online habits</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Camera on when you can</a:t>
            </a:r>
          </a:p>
          <a:p>
            <a:pPr marL="0" indent="0" algn="ctr">
              <a:lnSpc>
                <a:spcPct val="104000"/>
              </a:lnSpc>
              <a:spcBef>
                <a:spcPts val="400"/>
              </a:spcBef>
              <a:buNone/>
            </a:pPr>
            <a:r>
              <a:rPr lang="en-US" sz="1600" dirty="0">
                <a:solidFill>
                  <a:srgbClr val="000000"/>
                </a:solidFill>
                <a:latin typeface="Arial"/>
                <a:cs typeface="Arial"/>
              </a:rPr>
              <a:t>Microphone off unless speaking</a:t>
            </a:r>
          </a:p>
          <a:p>
            <a:pPr marL="0" indent="0" algn="ctr">
              <a:lnSpc>
                <a:spcPct val="104000"/>
              </a:lnSpc>
              <a:spcBef>
                <a:spcPts val="400"/>
              </a:spcBef>
              <a:buNone/>
            </a:pPr>
            <a:r>
              <a:rPr lang="en-US" sz="1600" dirty="0">
                <a:solidFill>
                  <a:srgbClr val="000000"/>
                </a:solidFill>
                <a:latin typeface="Arial"/>
                <a:cs typeface="Arial"/>
              </a:rPr>
              <a:t>Back on time after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Pre-course quiz (online form)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quiz form: the link is in the chat now</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multiple-choice questions, one answer each (about 12 minutes)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no notes and no colleagues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Guess if you are not sure: this is not an exam</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Why a quiz now?</a:t>
            </a:r>
          </a:p>
          <a:p>
            <a:pPr marL="0" indent="0" algn="ctr">
              <a:lnSpc>
                <a:spcPct val="104000"/>
              </a:lnSpc>
              <a:spcBef>
                <a:spcPts val="300"/>
              </a:spcBef>
              <a:buNone/>
            </a:pPr>
            <a:r>
              <a:rPr lang="en-US" sz="1500" dirty="0">
                <a:solidFill>
                  <a:srgbClr val="000000"/>
                </a:solidFill>
                <a:latin typeface="Arial"/>
                <a:cs typeface="Arial"/>
              </a:rPr>
              <a:t>The same quiz again in Session 8</a:t>
            </a:r>
          </a:p>
          <a:p>
            <a:pPr marL="0" indent="0" algn="ctr">
              <a:lnSpc>
                <a:spcPct val="104000"/>
              </a:lnSpc>
              <a:spcBef>
                <a:spcPts val="300"/>
              </a:spcBef>
              <a:buNone/>
            </a:pPr>
            <a:r>
              <a:rPr lang="en-US" sz="1500" dirty="0">
                <a:solidFill>
                  <a:srgbClr val="000000"/>
                </a:solidFill>
                <a:latin typeface="Arial"/>
                <a:cs typeface="Arial"/>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1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Why research? Evidence, study designs, the two course papers</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1.2  From problem to question: PICO(T), PECO and FINER</a:t>
            </a:r>
          </a:p>
          <a:p>
            <a:pPr marL="274320" indent="-274320" algn="l">
              <a:spcBef>
                <a:spcPts val="440"/>
              </a:spcBef>
              <a:buFont typeface="Arial"/>
              <a:buChar char="•"/>
            </a:pPr>
            <a:r>
              <a:rPr lang="en-US" sz="1900" dirty="0">
                <a:solidFill>
                  <a:srgbClr val="000000"/>
                </a:solidFill>
                <a:latin typeface="Arial"/>
                <a:cs typeface="Arial"/>
              </a:rPr>
              <a:t>1.3  Aims, objectives and hypotheses</a:t>
            </a:r>
          </a:p>
          <a:p>
            <a:pPr marL="274320" indent="-274320" algn="l">
              <a:spcBef>
                <a:spcPts val="440"/>
              </a:spcBef>
              <a:buFont typeface="Arial"/>
              <a:buChar char="•"/>
            </a:pPr>
            <a:r>
              <a:rPr lang="en-US" sz="1900" dirty="0">
                <a:solidFill>
                  <a:srgbClr val="000000"/>
                </a:solidFill>
                <a:latin typeface="Arial"/>
                <a:cs typeface="Arial"/>
              </a:rPr>
              <a:t>Proposal builder 1: start your own question</a:t>
            </a:r>
          </a:p>
          <a:p>
            <a:pPr marL="274320" indent="-274320" algn="l">
              <a:spcBef>
                <a:spcPts val="440"/>
              </a:spcBef>
              <a:buFont typeface="Arial"/>
              <a:buChar char="•"/>
            </a:pPr>
            <a:r>
              <a:rPr lang="en-US" sz="1900" dirty="0">
                <a:solidFill>
                  <a:srgbClr val="000000"/>
                </a:solidFill>
                <a:latin typeface="Arial"/>
                <a:cs typeface="Arial"/>
              </a:rPr>
              <a:t>Wrap-up: key words, exit question,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Why do we need research when we already have experience?</a:t>
            </a:r>
          </a:p>
          <a:p>
            <a:pPr marL="0" indent="0" algn="ctr">
              <a:spcBef>
                <a:spcPts val="1200"/>
              </a:spcBef>
              <a:buNone/>
            </a:pPr>
            <a:r>
              <a:rPr lang="en-US" sz="1900" i="1" dirty="0">
                <a:solidFill>
                  <a:srgbClr val="595959"/>
                </a:solidFill>
                <a:latin typeface="Arial"/>
                <a:cs typeface="Arial"/>
              </a:rPr>
              <a:t>35 minutes: evidence, study designs, the two course papers, types of research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Anecdote</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"I gave less fluid to 3 patients and they all did well!"</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Few patients, no comparison, the cases we remember</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Evidence</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Restrictive fluids</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Usual care</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Many patients, a fair comparison, every outcome counted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Higher = less risk of bias, for questions about treatment effects</a:t>
            </a:r>
          </a:p>
          <a:p>
            <a:pPr marL="274320" indent="-274320" algn="l">
              <a:spcBef>
                <a:spcPts val="440"/>
              </a:spcBef>
              <a:buFont typeface="Arial"/>
              <a:buChar char="•"/>
            </a:pPr>
            <a:r>
              <a:rPr lang="en-US" sz="1450" dirty="0">
                <a:solidFill>
                  <a:srgbClr val="000000"/>
                </a:solidFill>
                <a:latin typeface="Arial"/>
                <a:cs typeface="Arial"/>
              </a:rPr>
              <a:t>A good cohort can beat a poor trial</a:t>
            </a:r>
          </a:p>
          <a:p>
            <a:pPr marL="274320" indent="-274320" algn="l">
              <a:spcBef>
                <a:spcPts val="440"/>
              </a:spcBef>
              <a:buFont typeface="Arial"/>
              <a:buChar char="•"/>
            </a:pPr>
            <a:r>
              <a:rPr lang="en-US" sz="1450" dirty="0">
                <a:solidFill>
                  <a:srgbClr val="000000"/>
                </a:solidFill>
                <a:latin typeface="Arial"/>
                <a:cs typeface="Arial"/>
              </a:rPr>
              <a:t>Descriptive questions do not need a trial</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less bias, more confidence</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Expert opinion, case reports</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 series, cross-sectional</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Case-control studies</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Cohort studies</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Randomised controlled trials</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Systematic reviews and meta-analyses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question: do restrictive fluids reduce deaths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senior colleague: 'In 20 years, my patients kept dry did better'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registry that followed thousands of ICU patients (a cohort)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trial that randomly assigned 1,554 patients to restrictive or usual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systematic review of all trials of fluid restriction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order runs from weakest to strongest?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result, then: what could make C weaker than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we read together in this course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open access. You receive the two PDFs by email before Session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trial</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A small pilot randomised controlled trial (RCT), 48 patients</a:t>
            </a:r>
          </a:p>
          <a:p>
            <a:pPr marL="0" indent="0" algn="ctr">
              <a:lnSpc>
                <a:spcPct val="104000"/>
              </a:lnSpc>
              <a:spcBef>
                <a:spcPts val="400"/>
              </a:spcBef>
              <a:buNone/>
            </a:pPr>
            <a:r>
              <a:rPr lang="en-US" sz="1500" dirty="0">
                <a:solidFill>
                  <a:srgbClr val="000000"/>
                </a:solidFill>
                <a:latin typeface="Arial"/>
                <a:cs typeface="Arial"/>
              </a:rPr>
              <a:t>Main outcome: fluid balance at day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a cohort</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A cohort study from the Korean sepsis registry</a:t>
            </a:r>
          </a:p>
          <a:p>
            <a:pPr marL="0" indent="0" algn="ctr">
              <a:lnSpc>
                <a:spcPct val="104000"/>
              </a:lnSpc>
              <a:spcBef>
                <a:spcPts val="400"/>
              </a:spcBef>
              <a:buNone/>
            </a:pPr>
            <a:r>
              <a:rPr lang="en-US" sz="1500" dirty="0">
                <a:solidFill>
                  <a:srgbClr val="000000"/>
                </a:solidFill>
                <a:latin typeface="Arial"/>
                <a:cs typeface="Arial"/>
              </a:rPr>
              <a:t>Main outcome: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1 is a trial, Paper 2 is a cohort. Both study fluids in sepsis.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Clinical problem</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Research question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Search the literature</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Design and protocol</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Ethics approval</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Collect data</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Analyse and interpret</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Publish and change practice</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Weeks 1-2</a:t>
            </a:r>
          </a:p>
          <a:p>
            <a:pPr marL="0" indent="0" algn="ctr">
              <a:lnSpc>
                <a:spcPct val="100000"/>
              </a:lnSpc>
              <a:spcBef>
                <a:spcPts val="300"/>
              </a:spcBef>
              <a:buNone/>
            </a:pPr>
            <a:r>
              <a:rPr lang="en-US" sz="1600" dirty="0">
                <a:solidFill>
                  <a:srgbClr val="1A1A1A"/>
                </a:solidFill>
                <a:latin typeface="Arial"/>
                <a:cs typeface="Arial"/>
              </a:rPr>
              <a:t>problem, question, 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Type of research</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What it gives</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Example</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Quantitative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how many? Does X change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28-day mortality with two fluid strategies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Qualitative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Words: why? How? What is it like?</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Interviews: why nurses hesitate to stop fluids</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Mixed methods</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 words in one study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Survey of fluid practice + focus groups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Primary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collect new data</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Paper 1: a new trial</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Secondary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reuse data that exist: records, registries</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Paper 2: a sepsis registry</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counting how many patients with septic shock are fluid-positive on day 3 this year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interviewing ICU nurses about why they hesitate to stop IV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re-analysing 3 years of ICU records for fluid balance and death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survey of fluid prescribing plus focus groups with doctors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numbers, words or both? New data or existing data?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Two or three people answer aloud, e.g. 'A: numbers, new'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Qualitative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Secondary</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Mixed methods</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Question</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Design and protocol</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Registration</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Ethics approval</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Data collection</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Analysis</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Writing</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Submission</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Peer review</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Publication</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Impact on patients</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1-2  Ask and find</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3-4  Design</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5-6  Measure</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7-8  Publish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This course walks the whole road. Your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good question is half of the answer.</a:t>
            </a:r>
          </a:p>
          <a:p>
            <a:pPr marL="0" indent="0" algn="ctr">
              <a:spcBef>
                <a:spcPts val="1200"/>
              </a:spcBef>
              <a:buNone/>
            </a:pPr>
            <a:r>
              <a:rPr lang="en-US" sz="1900" i="1" dirty="0">
                <a:solidFill>
                  <a:srgbClr val="595959"/>
                </a:solidFill>
                <a:latin typeface="Arial"/>
                <a:cs typeface="Arial"/>
              </a:rPr>
              <a:t>40 minutes: PICO(T) and PECO, question types, FINER, then a whole-class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First check: is the answer already known? The literature search tells you (Session 2).</a:t>
            </a:r>
          </a:p>
        </p:txBody>
      </p:sp>
      <p:sp>
        <p:nvSpPr>
          <p:cNvPr id="70" name="CardHead"/>
          <p:cNvSpPr/>
          <p:nvPr/>
        </p:nvSpPr>
        <p:spPr>
          <a:xfrm>
            <a:off x="457200" y="185927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questions come from</a:t>
            </a:r>
          </a:p>
        </p:txBody>
      </p:sp>
      <p:sp>
        <p:nvSpPr>
          <p:cNvPr id="71" name="CardBody"/>
          <p:cNvSpPr/>
          <p:nvPr/>
        </p:nvSpPr>
        <p:spPr>
          <a:xfrm>
            <a:off x="457200" y="2499273"/>
            <a:ext cx="5438800" cy="235218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Bedside doubt: "Why do we do it this way?"</a:t>
            </a:r>
          </a:p>
          <a:p>
            <a:pPr marL="274320" indent="-274320" algn="l">
              <a:lnSpc>
                <a:spcPct val="104000"/>
              </a:lnSpc>
              <a:spcBef>
                <a:spcPts val="400"/>
              </a:spcBef>
              <a:buFont typeface="Arial"/>
              <a:buChar char="•"/>
            </a:pPr>
            <a:r>
              <a:rPr lang="en-US" sz="1800" dirty="0">
                <a:solidFill>
                  <a:srgbClr val="000000"/>
                </a:solidFill>
                <a:latin typeface="Arial"/>
                <a:cs typeface="Arial"/>
              </a:rPr>
              <a:t>Colleagues who do it differently</a:t>
            </a:r>
          </a:p>
          <a:p>
            <a:pPr marL="274320" indent="-274320" algn="l">
              <a:lnSpc>
                <a:spcPct val="104000"/>
              </a:lnSpc>
              <a:spcBef>
                <a:spcPts val="400"/>
              </a:spcBef>
              <a:buFont typeface="Arial"/>
              <a:buChar char="•"/>
            </a:pPr>
            <a:r>
              <a:rPr lang="en-US" sz="1800" dirty="0">
                <a:solidFill>
                  <a:srgbClr val="000000"/>
                </a:solidFill>
                <a:latin typeface="Arial"/>
                <a:cs typeface="Arial"/>
              </a:rPr>
              <a:t>Incident and registry data</a:t>
            </a:r>
          </a:p>
          <a:p>
            <a:pPr marL="274320" indent="-274320" algn="l">
              <a:lnSpc>
                <a:spcPct val="104000"/>
              </a:lnSpc>
              <a:spcBef>
                <a:spcPts val="400"/>
              </a:spcBef>
              <a:buFont typeface="Arial"/>
              <a:buChar char="•"/>
            </a:pPr>
            <a:r>
              <a:rPr lang="en-US" sz="1800" dirty="0">
                <a:solidFill>
                  <a:srgbClr val="000000"/>
                </a:solidFill>
                <a:latin typeface="Arial"/>
                <a:cs typeface="Arial"/>
              </a:rPr>
              <a:t>Guidelines with "low-certainty evidence"</a:t>
            </a:r>
          </a:p>
          <a:p>
            <a:pPr marL="274320" indent="-274320" algn="l">
              <a:lnSpc>
                <a:spcPct val="104000"/>
              </a:lnSpc>
              <a:spcBef>
                <a:spcPts val="400"/>
              </a:spcBef>
              <a:buFont typeface="Arial"/>
              <a:buChar char="•"/>
            </a:pPr>
            <a:r>
              <a:rPr lang="en-US" sz="1800" dirty="0">
                <a:solidFill>
                  <a:srgbClr val="000000"/>
                </a:solidFill>
                <a:latin typeface="Arial"/>
                <a:cs typeface="Arial"/>
              </a:rPr>
              <a:t>Papers that end "more research is needed"</a:t>
            </a:r>
          </a:p>
          <a:p>
            <a:pPr marL="274320" indent="-274320" algn="l">
              <a:lnSpc>
                <a:spcPct val="104000"/>
              </a:lnSpc>
              <a:spcBef>
                <a:spcPts val="400"/>
              </a:spcBef>
              <a:buFont typeface="Arial"/>
              <a:buChar char="•"/>
            </a:pPr>
            <a:r>
              <a:rPr lang="en-US" sz="1800" dirty="0">
                <a:solidFill>
                  <a:srgbClr val="000000"/>
                </a:solidFill>
                <a:latin typeface="Arial"/>
                <a:cs typeface="Arial"/>
              </a:rPr>
              <a:t>Questions from patients and families</a:t>
            </a:r>
          </a:p>
        </p:txBody>
      </p:sp>
      <p:sp>
        <p:nvSpPr>
          <p:cNvPr id="72" name="CardHead"/>
          <p:cNvSpPr/>
          <p:nvPr/>
        </p:nvSpPr>
        <p:spPr>
          <a:xfrm>
            <a:off x="6096000" y="185927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Known</a:t>
            </a:r>
          </a:p>
        </p:txBody>
      </p:sp>
      <p:sp>
        <p:nvSpPr>
          <p:cNvPr id="73" name="CardBody"/>
          <p:cNvSpPr/>
          <p:nvPr/>
        </p:nvSpPr>
        <p:spPr>
          <a:xfrm>
            <a:off x="60960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Apply it</a:t>
            </a:r>
          </a:p>
          <a:p>
            <a:pPr marL="0" indent="0" algn="ctr">
              <a:lnSpc>
                <a:spcPct val="104000"/>
              </a:lnSpc>
              <a:spcBef>
                <a:spcPts val="400"/>
              </a:spcBef>
              <a:buNone/>
            </a:pPr>
            <a:r>
              <a:rPr lang="en-US" sz="1800" dirty="0">
                <a:solidFill>
                  <a:srgbClr val="000000"/>
                </a:solidFill>
                <a:latin typeface="Arial"/>
                <a:cs typeface="Arial"/>
              </a:rPr>
              <a:t>Update the local guideline or protocol</a:t>
            </a:r>
          </a:p>
        </p:txBody>
      </p:sp>
      <p:sp>
        <p:nvSpPr>
          <p:cNvPr id="74" name="CardHead"/>
          <p:cNvSpPr/>
          <p:nvPr/>
        </p:nvSpPr>
        <p:spPr>
          <a:xfrm>
            <a:off x="9015400" y="185927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known</a:t>
            </a:r>
          </a:p>
        </p:txBody>
      </p:sp>
      <p:sp>
        <p:nvSpPr>
          <p:cNvPr id="75" name="CardBody"/>
          <p:cNvSpPr/>
          <p:nvPr/>
        </p:nvSpPr>
        <p:spPr>
          <a:xfrm>
            <a:off x="90154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Research question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in the ICU, does a restrictive fluid strategy, compared with usual care, reduce 28-day mortality?</a:t>
            </a:r>
          </a:p>
        </p:txBody>
      </p:sp>
      <p:sp>
        <p:nvSpPr>
          <p:cNvPr id="70" name="CardHead"/>
          <p:cNvSpPr/>
          <p:nvPr/>
        </p:nvSpPr>
        <p:spPr>
          <a:xfrm>
            <a:off x="457200" y="230786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Population</a:t>
            </a:r>
          </a:p>
        </p:txBody>
      </p:sp>
      <p:sp>
        <p:nvSpPr>
          <p:cNvPr id="71" name="CardBody"/>
          <p:cNvSpPr/>
          <p:nvPr/>
        </p:nvSpPr>
        <p:spPr>
          <a:xfrm>
            <a:off x="45720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Adults (18+) with septic shock in the ICU</a:t>
            </a:r>
          </a:p>
        </p:txBody>
      </p:sp>
      <p:sp>
        <p:nvSpPr>
          <p:cNvPr id="72" name="CardHead"/>
          <p:cNvSpPr/>
          <p:nvPr/>
        </p:nvSpPr>
        <p:spPr>
          <a:xfrm>
            <a:off x="2752720" y="230786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Intervention</a:t>
            </a:r>
          </a:p>
        </p:txBody>
      </p:sp>
      <p:sp>
        <p:nvSpPr>
          <p:cNvPr id="73" name="CardBody"/>
          <p:cNvSpPr/>
          <p:nvPr/>
        </p:nvSpPr>
        <p:spPr>
          <a:xfrm>
            <a:off x="275272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Restrictive fluid strategy</a:t>
            </a:r>
          </a:p>
        </p:txBody>
      </p:sp>
      <p:sp>
        <p:nvSpPr>
          <p:cNvPr id="74" name="CardHead"/>
          <p:cNvSpPr/>
          <p:nvPr/>
        </p:nvSpPr>
        <p:spPr>
          <a:xfrm>
            <a:off x="5048240" y="230786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Comparison</a:t>
            </a:r>
          </a:p>
        </p:txBody>
      </p:sp>
      <p:sp>
        <p:nvSpPr>
          <p:cNvPr id="75" name="CardBody"/>
          <p:cNvSpPr/>
          <p:nvPr/>
        </p:nvSpPr>
        <p:spPr>
          <a:xfrm>
            <a:off x="504824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Usual care (standard fluids)</a:t>
            </a:r>
          </a:p>
        </p:txBody>
      </p:sp>
      <p:sp>
        <p:nvSpPr>
          <p:cNvPr id="76" name="CardHead"/>
          <p:cNvSpPr/>
          <p:nvPr/>
        </p:nvSpPr>
        <p:spPr>
          <a:xfrm>
            <a:off x="7343760" y="230786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Outcome</a:t>
            </a:r>
          </a:p>
        </p:txBody>
      </p:sp>
      <p:sp>
        <p:nvSpPr>
          <p:cNvPr id="77" name="CardBody"/>
          <p:cNvSpPr/>
          <p:nvPr/>
        </p:nvSpPr>
        <p:spPr>
          <a:xfrm>
            <a:off x="734376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Death from any cause</a:t>
            </a:r>
          </a:p>
        </p:txBody>
      </p:sp>
      <p:sp>
        <p:nvSpPr>
          <p:cNvPr id="78" name="CardHead"/>
          <p:cNvSpPr/>
          <p:nvPr/>
        </p:nvSpPr>
        <p:spPr>
          <a:xfrm>
            <a:off x="9639280" y="2307864"/>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Time</a:t>
            </a:r>
          </a:p>
        </p:txBody>
      </p:sp>
      <p:sp>
        <p:nvSpPr>
          <p:cNvPr id="79" name="CardBody"/>
          <p:cNvSpPr/>
          <p:nvPr/>
        </p:nvSpPr>
        <p:spPr>
          <a:xfrm>
            <a:off x="963928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Within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Three more examples: PICO, PECO and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Treatment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Ventilated adults in the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Twice-daily bed-head checklist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Usual care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Ventilator-associated pneumonia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ICU day 28</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Risk factor (PECO)</a:t>
                      </a:r>
                    </a:p>
                    <a:p>
                      <a:pPr algn="l"/>
                      <a:r>
                        <a:rPr lang="en-US" sz="1800" b="1" dirty="0">
                          <a:solidFill>
                            <a:srgbClr val="000000"/>
                          </a:solidFill>
                          <a:latin typeface="Arial"/>
                          <a:cs typeface="Arial"/>
                        </a:rPr>
                        <a:t>E = Exposure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on the medical ward</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Obesity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under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New pressure injury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During admission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How common?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65+ after hip surgery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Delirium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First 7 days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PECO: E = Exposure, used when we cannot assign the factor (e.g. obesity).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Paper 1's question: 'In adults with septic shock in the first 24 hours of vasopressors, does restricting non-resuscitative fluids, compared with usual care, reduce cumulative fluid balance at day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words are the outcome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two or three people say the population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septic shock</a:t>
            </a:r>
          </a:p>
          <a:p>
            <a:pPr marL="0" indent="0" algn="ctr">
              <a:lnSpc>
                <a:spcPct val="104000"/>
              </a:lnSpc>
              <a:spcBef>
                <a:spcPts val="300"/>
              </a:spcBef>
              <a:buNone/>
            </a:pPr>
            <a:r>
              <a:rPr lang="en-US" sz="1500" dirty="0">
                <a:solidFill>
                  <a:srgbClr val="000000"/>
                </a:solidFill>
                <a:latin typeface="Arial"/>
                <a:cs typeface="Arial"/>
              </a:rPr>
              <a:t>B: restricting non-resuscitative fluids</a:t>
            </a:r>
          </a:p>
          <a:p>
            <a:pPr marL="0" indent="0" algn="ctr">
              <a:lnSpc>
                <a:spcPct val="104000"/>
              </a:lnSpc>
              <a:spcBef>
                <a:spcPts val="300"/>
              </a:spcBef>
              <a:buNone/>
            </a:pPr>
            <a:r>
              <a:rPr lang="en-US" sz="1500" dirty="0">
                <a:solidFill>
                  <a:srgbClr val="000000"/>
                </a:solidFill>
                <a:latin typeface="Arial"/>
                <a:cs typeface="Arial"/>
              </a:rPr>
              <a:t>C: cumulative fluid balance</a:t>
            </a:r>
          </a:p>
          <a:p>
            <a:pPr marL="0" indent="0" algn="ctr">
              <a:lnSpc>
                <a:spcPct val="104000"/>
              </a:lnSpc>
              <a:spcBef>
                <a:spcPts val="300"/>
              </a:spcBef>
              <a:buNone/>
            </a:pPr>
            <a:r>
              <a:rPr lang="en-US" sz="1500" dirty="0">
                <a:solidFill>
                  <a:srgbClr val="000000"/>
                </a:solidFill>
                <a:latin typeface="Arial"/>
                <a:cs typeface="Arial"/>
              </a:rPr>
              <a:t>D: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 then P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 spot the PICO in Paper 1's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Adults with septic shock</a:t>
            </a:r>
          </a:p>
          <a:p>
            <a:pPr marL="0" indent="0" algn="ctr">
              <a:lnSpc>
                <a:spcPct val="104000"/>
              </a:lnSpc>
              <a:spcBef>
                <a:spcPts val="400"/>
              </a:spcBef>
              <a:buNone/>
            </a:pPr>
            <a:r>
              <a:rPr lang="en-US" sz="1450" dirty="0">
                <a:solidFill>
                  <a:srgbClr val="000000"/>
                </a:solidFill>
                <a:latin typeface="Arial"/>
                <a:cs typeface="Arial"/>
              </a:rPr>
              <a:t>First 24 hours of vasopressors</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Restricting non-resuscitative fluids</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Usual care</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Cumulative fluid balance</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Day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condition that brings patients in (septic shock)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question decides the design (more in Session 3).</a:t>
            </a:r>
          </a:p>
        </p:txBody>
      </p:sp>
      <p:sp>
        <p:nvSpPr>
          <p:cNvPr id="70" name="CardHead"/>
          <p:cNvSpPr/>
          <p:nvPr/>
        </p:nvSpPr>
        <p:spPr>
          <a:xfrm>
            <a:off x="457200" y="201855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Descriptive</a:t>
            </a:r>
          </a:p>
        </p:txBody>
      </p:sp>
      <p:sp>
        <p:nvSpPr>
          <p:cNvPr id="71" name="CardBody"/>
          <p:cNvSpPr/>
          <p:nvPr/>
        </p:nvSpPr>
        <p:spPr>
          <a:xfrm>
            <a:off x="457200"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What? How many? Who?</a:t>
            </a:r>
          </a:p>
          <a:p>
            <a:pPr marL="0" indent="0" algn="ctr">
              <a:lnSpc>
                <a:spcPct val="104000"/>
              </a:lnSpc>
              <a:spcBef>
                <a:spcPts val="400"/>
              </a:spcBef>
              <a:buNone/>
            </a:pPr>
            <a:r>
              <a:rPr lang="en-US" sz="1750" dirty="0">
                <a:solidFill>
                  <a:srgbClr val="000000"/>
                </a:solidFill>
                <a:latin typeface="Arial"/>
                <a:cs typeface="Arial"/>
              </a:rPr>
              <a:t>"How many of our septic shock patients have a positive fluid balance on day 3?"</a:t>
            </a:r>
          </a:p>
          <a:p>
            <a:pPr marL="0" indent="0" algn="ctr">
              <a:lnSpc>
                <a:spcPct val="104000"/>
              </a:lnSpc>
              <a:spcBef>
                <a:spcPts val="400"/>
              </a:spcBef>
              <a:buNone/>
            </a:pPr>
            <a:r>
              <a:rPr lang="en-US" sz="1750" b="1" dirty="0">
                <a:solidFill>
                  <a:srgbClr val="000000"/>
                </a:solidFill>
                <a:latin typeface="Arial"/>
                <a:cs typeface="Arial"/>
              </a:rPr>
              <a:t>Case series, cross-sectional</a:t>
            </a:r>
          </a:p>
        </p:txBody>
      </p:sp>
      <p:sp>
        <p:nvSpPr>
          <p:cNvPr id="72" name="CardHead"/>
          <p:cNvSpPr/>
          <p:nvPr/>
        </p:nvSpPr>
        <p:spPr>
          <a:xfrm>
            <a:off x="4283066" y="201855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observe</a:t>
            </a:r>
          </a:p>
        </p:txBody>
      </p:sp>
      <p:sp>
        <p:nvSpPr>
          <p:cNvPr id="73" name="CardBody"/>
          <p:cNvSpPr/>
          <p:nvPr/>
        </p:nvSpPr>
        <p:spPr>
          <a:xfrm>
            <a:off x="4283066"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Is X linked to Y?</a:t>
            </a:r>
          </a:p>
          <a:p>
            <a:pPr marL="0" indent="0" algn="ctr">
              <a:lnSpc>
                <a:spcPct val="104000"/>
              </a:lnSpc>
              <a:spcBef>
                <a:spcPts val="400"/>
              </a:spcBef>
              <a:buNone/>
            </a:pPr>
            <a:r>
              <a:rPr lang="en-US" sz="1750" dirty="0">
                <a:solidFill>
                  <a:srgbClr val="000000"/>
                </a:solidFill>
                <a:latin typeface="Arial"/>
                <a:cs typeface="Arial"/>
              </a:rPr>
              <a:t>"Is a positive fluid balance associated with death?"</a:t>
            </a:r>
          </a:p>
          <a:p>
            <a:pPr marL="0" indent="0" algn="ctr">
              <a:lnSpc>
                <a:spcPct val="104000"/>
              </a:lnSpc>
              <a:spcBef>
                <a:spcPts val="400"/>
              </a:spcBef>
              <a:buNone/>
            </a:pPr>
            <a:r>
              <a:rPr lang="en-US" sz="1750" b="1" dirty="0">
                <a:solidFill>
                  <a:srgbClr val="000000"/>
                </a:solidFill>
                <a:latin typeface="Arial"/>
                <a:cs typeface="Arial"/>
              </a:rPr>
              <a:t>Cohort, case-control</a:t>
            </a:r>
          </a:p>
        </p:txBody>
      </p:sp>
      <p:sp>
        <p:nvSpPr>
          <p:cNvPr id="74" name="CardHead"/>
          <p:cNvSpPr/>
          <p:nvPr/>
        </p:nvSpPr>
        <p:spPr>
          <a:xfrm>
            <a:off x="8108932" y="2018553"/>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intervene</a:t>
            </a:r>
          </a:p>
        </p:txBody>
      </p:sp>
      <p:sp>
        <p:nvSpPr>
          <p:cNvPr id="75" name="CardBody"/>
          <p:cNvSpPr/>
          <p:nvPr/>
        </p:nvSpPr>
        <p:spPr>
          <a:xfrm>
            <a:off x="8108932"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Does X cause Y?</a:t>
            </a:r>
          </a:p>
          <a:p>
            <a:pPr marL="0" indent="0" algn="ctr">
              <a:lnSpc>
                <a:spcPct val="104000"/>
              </a:lnSpc>
              <a:spcBef>
                <a:spcPts val="400"/>
              </a:spcBef>
              <a:buNone/>
            </a:pPr>
            <a:r>
              <a:rPr lang="en-US" sz="1750" dirty="0">
                <a:solidFill>
                  <a:srgbClr val="000000"/>
                </a:solidFill>
                <a:latin typeface="Arial"/>
                <a:cs typeface="Arial"/>
              </a:rPr>
              <a:t>"Does restricting fluids reduce 28-day mortality?"</a:t>
            </a:r>
          </a:p>
          <a:p>
            <a:pPr marL="0" indent="0" algn="ctr">
              <a:lnSpc>
                <a:spcPct val="104000"/>
              </a:lnSpc>
              <a:spcBef>
                <a:spcPts val="400"/>
              </a:spcBef>
              <a:buNone/>
            </a:pPr>
            <a:r>
              <a:rPr lang="en-US" sz="1750" b="1" dirty="0">
                <a:solidFill>
                  <a:srgbClr val="000000"/>
                </a:solidFill>
                <a:latin typeface="Arial"/>
                <a:cs typeface="Arial"/>
              </a:rPr>
              <a:t>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"Are fluids bad for ICU patients?"</a:t>
            </a:r>
          </a:p>
          <a:p>
            <a:pPr marL="0" indent="0" algn="ctr">
              <a:lnSpc>
                <a:spcPct val="104000"/>
              </a:lnSpc>
              <a:spcBef>
                <a:spcPts val="400"/>
              </a:spcBef>
              <a:buNone/>
            </a:pPr>
            <a:r>
              <a:rPr lang="en-US" sz="1950" dirty="0">
                <a:solidFill>
                  <a:srgbClr val="000000"/>
                </a:solidFill>
                <a:latin typeface="Arial"/>
                <a:cs typeface="Arial"/>
              </a:rPr>
              <a:t>Which patients?</a:t>
            </a:r>
          </a:p>
          <a:p>
            <a:pPr marL="0" indent="0" algn="ctr">
              <a:lnSpc>
                <a:spcPct val="104000"/>
              </a:lnSpc>
              <a:spcBef>
                <a:spcPts val="400"/>
              </a:spcBef>
              <a:buNone/>
            </a:pPr>
            <a:r>
              <a:rPr lang="en-US" sz="1950" dirty="0">
                <a:solidFill>
                  <a:srgbClr val="000000"/>
                </a:solidFill>
                <a:latin typeface="Arial"/>
                <a:cs typeface="Arial"/>
              </a:rPr>
              <a:t>Which fluid, how much?</a:t>
            </a:r>
          </a:p>
          <a:p>
            <a:pPr marL="0" indent="0" algn="ctr">
              <a:lnSpc>
                <a:spcPct val="104000"/>
              </a:lnSpc>
              <a:spcBef>
                <a:spcPts val="400"/>
              </a:spcBef>
              <a:buNone/>
            </a:pPr>
            <a:r>
              <a:rPr lang="en-US" sz="1950" dirty="0">
                <a:solidFill>
                  <a:srgbClr val="000000"/>
                </a:solidFill>
                <a:latin typeface="Arial"/>
                <a:cs typeface="Arial"/>
              </a:rPr>
              <a:t>Bad compared with what?</a:t>
            </a:r>
          </a:p>
          <a:p>
            <a:pPr marL="0" indent="0" algn="ctr">
              <a:lnSpc>
                <a:spcPct val="104000"/>
              </a:lnSpc>
              <a:spcBef>
                <a:spcPts val="400"/>
              </a:spcBef>
              <a:buNone/>
            </a:pPr>
            <a:r>
              <a:rPr lang="en-US" sz="1950" dirty="0">
                <a:solidFill>
                  <a:srgbClr val="000000"/>
                </a:solidFill>
                <a:latin typeface="Arial"/>
                <a:cs typeface="Arial"/>
              </a:rPr>
              <a:t>Bad how? By when?</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adults with septic shock in the ICU,</a:t>
            </a:r>
          </a:p>
          <a:p>
            <a:pPr marL="0" indent="0" algn="ctr">
              <a:lnSpc>
                <a:spcPct val="104000"/>
              </a:lnSpc>
              <a:spcBef>
                <a:spcPts val="400"/>
              </a:spcBef>
              <a:buNone/>
            </a:pPr>
            <a:r>
              <a:rPr lang="en-US" sz="1950" dirty="0">
                <a:solidFill>
                  <a:srgbClr val="000000"/>
                </a:solidFill>
                <a:latin typeface="Arial"/>
                <a:cs typeface="Arial"/>
              </a:rPr>
              <a:t>I: does a restrictive fluid strategy,</a:t>
            </a:r>
          </a:p>
          <a:p>
            <a:pPr marL="0" indent="0" algn="ctr">
              <a:lnSpc>
                <a:spcPct val="104000"/>
              </a:lnSpc>
              <a:spcBef>
                <a:spcPts val="400"/>
              </a:spcBef>
              <a:buNone/>
            </a:pPr>
            <a:r>
              <a:rPr lang="en-US" sz="1950" dirty="0">
                <a:solidFill>
                  <a:srgbClr val="000000"/>
                </a:solidFill>
                <a:latin typeface="Arial"/>
                <a:cs typeface="Arial"/>
              </a:rPr>
              <a:t>C: compared with usual care,</a:t>
            </a:r>
          </a:p>
          <a:p>
            <a:pPr marL="0" indent="0" algn="ctr">
              <a:lnSpc>
                <a:spcPct val="104000"/>
              </a:lnSpc>
              <a:spcBef>
                <a:spcPts val="400"/>
              </a:spcBef>
              <a:buNone/>
            </a:pPr>
            <a:r>
              <a:rPr lang="en-US" sz="1950" dirty="0">
                <a:solidFill>
                  <a:srgbClr val="000000"/>
                </a:solidFill>
                <a:latin typeface="Arial"/>
                <a:cs typeface="Arial"/>
              </a:rPr>
              <a:t>O: reduce mortality</a:t>
            </a:r>
          </a:p>
          <a:p>
            <a:pPr marL="0" indent="0" algn="ctr">
              <a:lnSpc>
                <a:spcPct val="104000"/>
              </a:lnSpc>
              <a:spcBef>
                <a:spcPts val="400"/>
              </a:spcBef>
              <a:buNone/>
            </a:pPr>
            <a:r>
              <a:rPr lang="en-US" sz="1950" dirty="0">
                <a:solidFill>
                  <a:srgbClr val="000000"/>
                </a:solidFill>
                <a:latin typeface="Arial"/>
                <a:cs typeface="Arial"/>
              </a:rPr>
              <a:t>T: at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fill all the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Check every question against five tests before you invest time in it.</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Enough patients</a:t>
            </a:r>
          </a:p>
          <a:p>
            <a:pPr marL="0" indent="0" algn="ctr">
              <a:lnSpc>
                <a:spcPct val="104000"/>
              </a:lnSpc>
              <a:spcBef>
                <a:spcPts val="400"/>
              </a:spcBef>
              <a:buNone/>
            </a:pPr>
            <a:r>
              <a:rPr lang="en-US" sz="1450" dirty="0">
                <a:solidFill>
                  <a:srgbClr val="000000"/>
                </a:solidFill>
                <a:latin typeface="Arial"/>
                <a:cs typeface="Arial"/>
              </a:rPr>
              <a:t>Time, money and skills</a:t>
            </a:r>
          </a:p>
          <a:p>
            <a:pPr marL="0" indent="0" algn="ctr">
              <a:lnSpc>
                <a:spcPct val="104000"/>
              </a:lnSpc>
              <a:spcBef>
                <a:spcPts val="400"/>
              </a:spcBef>
              <a:buNone/>
            </a:pPr>
            <a:r>
              <a:rPr lang="en-US" sz="1450" dirty="0">
                <a:solidFill>
                  <a:srgbClr val="000000"/>
                </a:solidFill>
                <a:latin typeface="Arial"/>
                <a:cs typeface="Arial"/>
              </a:rPr>
              <a:t>Data you can get</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To you and your team</a:t>
            </a:r>
          </a:p>
          <a:p>
            <a:pPr marL="0" indent="0" algn="ctr">
              <a:lnSpc>
                <a:spcPct val="104000"/>
              </a:lnSpc>
              <a:spcBef>
                <a:spcPts val="400"/>
              </a:spcBef>
              <a:buNone/>
            </a:pPr>
            <a:r>
              <a:rPr lang="en-US" sz="1450" dirty="0">
                <a:solidFill>
                  <a:srgbClr val="000000"/>
                </a:solidFill>
                <a:latin typeface="Arial"/>
                <a:cs typeface="Arial"/>
              </a:rPr>
              <a:t>To readers</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Confirms, refutes or extends what is known</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 ethics committee could approve it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Could change practice, policy 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Restrictive fluids vs usual care in septic shock: 28-day mortality, in your own ICU.</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Red</a:t>
            </a:r>
          </a:p>
          <a:p>
            <a:pPr marL="0" indent="0" algn="ctr">
              <a:lnSpc>
                <a:spcPct val="104000"/>
              </a:lnSpc>
              <a:spcBef>
                <a:spcPts val="400"/>
              </a:spcBef>
              <a:buNone/>
            </a:pPr>
            <a:r>
              <a:rPr lang="en-US" sz="1450" dirty="0">
                <a:solidFill>
                  <a:srgbClr val="000000"/>
                </a:solidFill>
                <a:latin typeface="Arial"/>
                <a:cs typeface="Arial"/>
              </a:rPr>
              <a:t>Mortality needs more than 1,000 patients</a:t>
            </a:r>
          </a:p>
          <a:p>
            <a:pPr marL="0" indent="0" algn="ctr">
              <a:lnSpc>
                <a:spcPct val="104000"/>
              </a:lnSpc>
              <a:spcBef>
                <a:spcPts val="400"/>
              </a:spcBef>
              <a:buNone/>
            </a:pPr>
            <a:r>
              <a:rPr lang="en-US" sz="1450" dirty="0">
                <a:solidFill>
                  <a:srgbClr val="000000"/>
                </a:solidFill>
                <a:latin typeface="Arial"/>
                <a:cs typeface="Arial"/>
              </a:rPr>
              <a:t>Too big for one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Fluids are debated on every ward round</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Large trials have already been done</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Both strategies are used today</a:t>
            </a:r>
          </a:p>
          <a:p>
            <a:pPr marL="0" indent="0" algn="ctr">
              <a:lnSpc>
                <a:spcPct val="104000"/>
              </a:lnSpc>
              <a:spcBef>
                <a:spcPts val="400"/>
              </a:spcBef>
              <a:buNone/>
            </a:pPr>
            <a:r>
              <a:rPr lang="en-US" sz="1450" dirty="0">
                <a:solidFill>
                  <a:srgbClr val="000000"/>
                </a:solidFill>
                <a:latin typeface="Arial"/>
                <a:cs typeface="Arial"/>
              </a:rPr>
              <a:t>Consent in the ICU needs care</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Every patient with septic shock gets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Important, but too big for one ICU. Next: make it smaller.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Whole-class task: rescue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Exercise 1 on the Session 1 exercise sheet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 gives three smaller versions of the question: A, B and C (right)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version could your ICU do within two years?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the chosen version, people called on give P, I or E, C, O and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name the question type and colour each FINER letter</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three versions</a:t>
            </a:r>
          </a:p>
          <a:p>
            <a:pPr marL="0" indent="0" algn="ctr">
              <a:lnSpc>
                <a:spcPct val="104000"/>
              </a:lnSpc>
              <a:spcBef>
                <a:spcPts val="300"/>
              </a:spcBef>
              <a:buNone/>
            </a:pPr>
            <a:r>
              <a:rPr lang="en-US" sz="1500" dirty="0">
                <a:solidFill>
                  <a:srgbClr val="000000"/>
                </a:solidFill>
                <a:latin typeface="Arial"/>
                <a:cs typeface="Arial"/>
              </a:rPr>
              <a:t>A: restrictive protocol vs usual care, fluid balance at day 5 (a pilot trial)</a:t>
            </a:r>
          </a:p>
          <a:p>
            <a:pPr marL="0" indent="0" algn="ctr">
              <a:lnSpc>
                <a:spcPct val="104000"/>
              </a:lnSpc>
              <a:spcBef>
                <a:spcPts val="300"/>
              </a:spcBef>
              <a:buNone/>
            </a:pPr>
            <a:r>
              <a:rPr lang="en-US" sz="1500" dirty="0">
                <a:solidFill>
                  <a:srgbClr val="000000"/>
                </a:solidFill>
                <a:latin typeface="Arial"/>
                <a:cs typeface="Arial"/>
              </a:rPr>
              <a:t>B: fluid-positive by day 3 or not, death by day 28 (a cohort)</a:t>
            </a:r>
          </a:p>
          <a:p>
            <a:pPr marL="0" indent="0" algn="ctr">
              <a:lnSpc>
                <a:spcPct val="104000"/>
              </a:lnSpc>
              <a:spcBef>
                <a:spcPts val="300"/>
              </a:spcBef>
              <a:buNone/>
            </a:pPr>
            <a:r>
              <a:rPr lang="en-US" sz="1500" dirty="0">
                <a:solidFill>
                  <a:srgbClr val="000000"/>
                </a:solidFill>
                <a:latin typeface="Arial"/>
                <a:cs typeface="Arial"/>
              </a:rPr>
              <a:t>C: how many of your patients are fluid-positive on day 3? (descriptive)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question with PICO(T) and FINER colours, typed on the shared screen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question says what we want to know. Aims and objectives say what we will do.</a:t>
            </a:r>
          </a:p>
          <a:p>
            <a:pPr marL="0" indent="0" algn="ctr">
              <a:spcBef>
                <a:spcPts val="1200"/>
              </a:spcBef>
              <a:buNone/>
            </a:pPr>
            <a:r>
              <a:rPr lang="en-US" sz="1900" i="1" dirty="0">
                <a:solidFill>
                  <a:srgbClr val="595959"/>
                </a:solidFill>
                <a:latin typeface="Arial"/>
                <a:cs typeface="Arial"/>
              </a:rPr>
              <a:t>20 minutes: aim, objectives, hypotheses and one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Aim and objectives: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broad why, in one sentence</a:t>
            </a:r>
          </a:p>
          <a:p>
            <a:pPr marL="0" indent="0" algn="ctr">
              <a:lnSpc>
                <a:spcPct val="104000"/>
              </a:lnSpc>
              <a:spcBef>
                <a:spcPts val="400"/>
              </a:spcBef>
              <a:buNone/>
            </a:pPr>
            <a:r>
              <a:rPr lang="en-US" sz="1900" dirty="0">
                <a:solidFill>
                  <a:srgbClr val="000000"/>
                </a:solidFill>
                <a:latin typeface="Arial"/>
                <a:cs typeface="Arial"/>
              </a:rPr>
              <a:t>To compare a restrictive fluid strategy with usual care in adults with septic shock in the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specific what, with measurable verbs</a:t>
            </a:r>
          </a:p>
          <a:p>
            <a:pPr marL="0" indent="0" algn="ctr">
              <a:lnSpc>
                <a:spcPct val="104000"/>
              </a:lnSpc>
              <a:spcBef>
                <a:spcPts val="400"/>
              </a:spcBef>
              <a:buNone/>
            </a:pPr>
            <a:r>
              <a:rPr lang="en-US" sz="1900" dirty="0">
                <a:solidFill>
                  <a:srgbClr val="000000"/>
                </a:solidFill>
                <a:latin typeface="Arial"/>
                <a:cs typeface="Arial"/>
              </a:rPr>
              <a:t>Primary: compare 28-day mortality</a:t>
            </a:r>
          </a:p>
          <a:p>
            <a:pPr marL="0" indent="0" algn="ctr">
              <a:lnSpc>
                <a:spcPct val="104000"/>
              </a:lnSpc>
              <a:spcBef>
                <a:spcPts val="400"/>
              </a:spcBef>
              <a:buNone/>
            </a:pPr>
            <a:r>
              <a:rPr lang="en-US" sz="1900" dirty="0">
                <a:solidFill>
                  <a:srgbClr val="000000"/>
                </a:solidFill>
                <a:latin typeface="Arial"/>
                <a:cs typeface="Arial"/>
              </a:rPr>
              <a:t>Compare fluid balance at day 5</a:t>
            </a:r>
          </a:p>
          <a:p>
            <a:pPr marL="0" indent="0" algn="ctr">
              <a:lnSpc>
                <a:spcPct val="104000"/>
              </a:lnSpc>
              <a:spcBef>
                <a:spcPts val="400"/>
              </a:spcBef>
              <a:buNone/>
            </a:pPr>
            <a:r>
              <a:rPr lang="en-US" sz="1900" dirty="0">
                <a:solidFill>
                  <a:srgbClr val="000000"/>
                </a:solidFill>
                <a:latin typeface="Arial"/>
                <a:cs typeface="Arial"/>
              </a:rPr>
              <a:t>Compare kidney injury needing dialysis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aim, 2-3 measurable objectives. Mark the primary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 verbs</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understand, know, study, explore, look at</a:t>
            </a:r>
          </a:p>
          <a:p>
            <a:pPr marL="0" indent="0" algn="ctr">
              <a:lnSpc>
                <a:spcPct val="104000"/>
              </a:lnSpc>
              <a:spcBef>
                <a:spcPts val="400"/>
              </a:spcBef>
              <a:buNone/>
            </a:pPr>
            <a:r>
              <a:rPr lang="en-US" sz="2000" i="1" dirty="0">
                <a:solidFill>
                  <a:srgbClr val="000000"/>
                </a:solidFill>
                <a:latin typeface="Arial"/>
                <a:cs typeface="Arial"/>
              </a:rPr>
              <a:t>"To understand fluid management in our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Measurable verbs</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compare, estimate, describe, determine, measure</a:t>
            </a:r>
          </a:p>
          <a:p>
            <a:pPr marL="0" indent="0" algn="ctr">
              <a:lnSpc>
                <a:spcPct val="104000"/>
              </a:lnSpc>
              <a:spcBef>
                <a:spcPts val="400"/>
              </a:spcBef>
              <a:buNone/>
            </a:pPr>
            <a:r>
              <a:rPr lang="en-US" sz="2000" i="1" dirty="0">
                <a:solidFill>
                  <a:srgbClr val="000000"/>
                </a:solidFill>
                <a:latin typeface="Arial"/>
                <a:cs typeface="Arial"/>
              </a:rPr>
              <a:t>"To compare cumulative fluid balance at day 5 between the two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hypothesis predicts the answer to the primary objective: compare 28-day mortality.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null hypothesis</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the same</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alternative hypothesis</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different</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Quick exercise: aim, objectives and hypothesis for the pilot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 pilot question (version A): in adults with septic shock, does a restrictive fluid protocol, compared with usual care, reduce cumulative fluid balance at day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one aim: 'To compare...'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two objectives with measurable verbs. Mark the primary 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H0 and H1 for the primary objective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Verbs that work</a:t>
            </a:r>
          </a:p>
          <a:p>
            <a:pPr marL="0" indent="0" algn="ctr">
              <a:lnSpc>
                <a:spcPct val="104000"/>
              </a:lnSpc>
              <a:spcBef>
                <a:spcPts val="300"/>
              </a:spcBef>
              <a:buNone/>
            </a:pPr>
            <a:r>
              <a:rPr lang="en-US" sz="1500" dirty="0">
                <a:solidFill>
                  <a:srgbClr val="000000"/>
                </a:solidFill>
                <a:latin typeface="Arial"/>
                <a:cs typeface="Arial"/>
              </a:rPr>
              <a:t>compare</a:t>
            </a:r>
          </a:p>
          <a:p>
            <a:pPr marL="0" indent="0" algn="ctr">
              <a:lnSpc>
                <a:spcPct val="104000"/>
              </a:lnSpc>
              <a:spcBef>
                <a:spcPts val="300"/>
              </a:spcBef>
              <a:buNone/>
            </a:pPr>
            <a:r>
              <a:rPr lang="en-US" sz="1500" dirty="0">
                <a:solidFill>
                  <a:srgbClr val="000000"/>
                </a:solidFill>
                <a:latin typeface="Arial"/>
                <a:cs typeface="Arial"/>
              </a:rPr>
              <a:t>estimate</a:t>
            </a:r>
          </a:p>
          <a:p>
            <a:pPr marL="0" indent="0" algn="ctr">
              <a:lnSpc>
                <a:spcPct val="104000"/>
              </a:lnSpc>
              <a:spcBef>
                <a:spcPts val="300"/>
              </a:spcBef>
              <a:buNone/>
            </a:pPr>
            <a:r>
              <a:rPr lang="en-US" sz="1500" dirty="0">
                <a:solidFill>
                  <a:srgbClr val="000000"/>
                </a:solidFill>
                <a:latin typeface="Arial"/>
                <a:cs typeface="Arial"/>
              </a:rPr>
              <a:t>describe</a:t>
            </a:r>
          </a:p>
          <a:p>
            <a:pPr marL="0" indent="0" algn="ctr">
              <a:lnSpc>
                <a:spcPct val="104000"/>
              </a:lnSpc>
              <a:spcBef>
                <a:spcPts val="300"/>
              </a:spcBef>
              <a:buNone/>
            </a:pPr>
            <a:r>
              <a:rPr lang="en-US" sz="1500" dirty="0">
                <a:solidFill>
                  <a:srgbClr val="000000"/>
                </a:solidFill>
                <a:latin typeface="Arial"/>
                <a:cs typeface="Arial"/>
              </a:rPr>
              <a:t>determine</a:t>
            </a:r>
          </a:p>
          <a:p>
            <a:pPr marL="0" indent="0" algn="ctr">
              <a:lnSpc>
                <a:spcPct val="104000"/>
              </a:lnSpc>
              <a:spcBef>
                <a:spcPts val="300"/>
              </a:spcBef>
              <a:buNone/>
            </a:pPr>
            <a:r>
              <a:rPr lang="en-US" sz="1500" dirty="0">
                <a:solidFill>
                  <a:srgbClr val="000000"/>
                </a:solidFill>
                <a:latin typeface="Arial"/>
                <a:cs typeface="Arial"/>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Exercise 2 on the exercise sheet. Two or three people read theirs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answer: the pilot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To compare a restrictive fluid protocol with usual care in adults with septic shock in your ICU</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to compare cumulative fluid balance at day 5 between groups</a:t>
            </a:r>
          </a:p>
          <a:p>
            <a:pPr marL="0" indent="0" algn="ctr">
              <a:lnSpc>
                <a:spcPct val="104000"/>
              </a:lnSpc>
              <a:spcBef>
                <a:spcPts val="400"/>
              </a:spcBef>
              <a:buNone/>
            </a:pPr>
            <a:r>
              <a:rPr lang="en-US" sz="1750" dirty="0">
                <a:solidFill>
                  <a:srgbClr val="000000"/>
                </a:solidFill>
                <a:latin typeface="Arial"/>
                <a:cs typeface="Arial"/>
              </a:rPr>
              <a:t>Secondary: to estimate the recruitment rate and protocol adherence</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fluid balance at day 5 is the same in both groups</a:t>
            </a:r>
          </a:p>
          <a:p>
            <a:pPr marL="0" indent="0" algn="ctr">
              <a:lnSpc>
                <a:spcPct val="104000"/>
              </a:lnSpc>
              <a:spcBef>
                <a:spcPts val="400"/>
              </a:spcBef>
              <a:buNone/>
            </a:pPr>
            <a:r>
              <a:rPr lang="en-US" sz="1750" dirty="0">
                <a:solidFill>
                  <a:srgbClr val="000000"/>
                </a:solidFill>
                <a:latin typeface="Arial"/>
                <a:cs typeface="Arial"/>
              </a:rPr>
              <a:t>H1: it differs between the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start your own proposal: one question, one aim.</a:t>
            </a:r>
          </a:p>
          <a:p>
            <a:pPr marL="0" indent="0" algn="ctr">
              <a:spcBef>
                <a:spcPts val="1200"/>
              </a:spcBef>
              <a:buNone/>
            </a:pPr>
            <a:r>
              <a:rPr lang="en-US" sz="1900" i="1" dirty="0">
                <a:solidFill>
                  <a:srgbClr val="595959"/>
                </a:solidFill>
                <a:latin typeface="Arial"/>
                <a:cs typeface="Arial"/>
              </a:rPr>
              <a:t>30 minutes: we model Part 1 on the running example, then you draft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we fill Part 1 of the template for the running example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Open your copy of the proposal template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one problem from your own department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Write your PICO(T) question and check it with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Add one aim, 2-3 objectives (mark the primary) and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question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0-8 min: we model Part 1</a:t>
            </a:r>
          </a:p>
          <a:p>
            <a:pPr marL="0" indent="0" algn="ctr">
              <a:lnSpc>
                <a:spcPct val="104000"/>
              </a:lnSpc>
              <a:spcBef>
                <a:spcPts val="300"/>
              </a:spcBef>
              <a:buNone/>
            </a:pPr>
            <a:r>
              <a:rPr lang="en-US" sz="1500" dirty="0">
                <a:solidFill>
                  <a:srgbClr val="000000"/>
                </a:solidFill>
                <a:latin typeface="Arial"/>
                <a:cs typeface="Arial"/>
              </a:rPr>
              <a:t>8-25 min: you draft your own</a:t>
            </a:r>
          </a:p>
          <a:p>
            <a:pPr marL="0" indent="0" algn="ctr">
              <a:lnSpc>
                <a:spcPct val="104000"/>
              </a:lnSpc>
              <a:spcBef>
                <a:spcPts val="300"/>
              </a:spcBef>
              <a:buNone/>
            </a:pPr>
            <a:r>
              <a:rPr lang="en-US" sz="1500" dirty="0">
                <a:solidFill>
                  <a:srgbClr val="000000"/>
                </a:solidFill>
                <a:latin typeface="Arial"/>
                <a:cs typeface="Arial"/>
              </a:rPr>
              <a:t>25-30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1 started: question, FINER check, aim, objectives, hypothesis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Evidence pyramid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Ranks designs by how well they protect against bias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Population, Intervention, Comparison, Outcome, Time</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same, with E = Exposure, for factors we do not assign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Feasible, Interesting, Novel, Ethical, Relevant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Aim / objective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broad why / the specific, measurable what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 difference / a difference (we test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Why research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Experience suggests questions</a:t>
            </a:r>
          </a:p>
          <a:p>
            <a:pPr marL="0" indent="0" algn="ctr">
              <a:lnSpc>
                <a:spcPct val="104000"/>
              </a:lnSpc>
              <a:spcBef>
                <a:spcPts val="400"/>
              </a:spcBef>
              <a:buNone/>
            </a:pPr>
            <a:r>
              <a:rPr lang="en-US" sz="1750" dirty="0">
                <a:solidFill>
                  <a:srgbClr val="000000"/>
                </a:solidFill>
                <a:latin typeface="Arial"/>
                <a:cs typeface="Arial"/>
              </a:rPr>
              <a:t>Fair comparisons in enough patients answer them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Ask precisely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PICO(T) question</a:t>
            </a:r>
          </a:p>
          <a:p>
            <a:pPr marL="0" indent="0" algn="ctr">
              <a:lnSpc>
                <a:spcPct val="104000"/>
              </a:lnSpc>
              <a:spcBef>
                <a:spcPts val="400"/>
              </a:spcBef>
              <a:buNone/>
            </a:pPr>
            <a:r>
              <a:rPr lang="en-US" sz="1750" dirty="0">
                <a:solidFill>
                  <a:srgbClr val="000000"/>
                </a:solidFill>
                <a:latin typeface="Arial"/>
                <a:cs typeface="Arial"/>
              </a:rPr>
              <a:t>One primary outcome</a:t>
            </a:r>
          </a:p>
          <a:p>
            <a:pPr marL="0" indent="0" algn="ctr">
              <a:lnSpc>
                <a:spcPct val="104000"/>
              </a:lnSpc>
              <a:spcBef>
                <a:spcPts val="400"/>
              </a:spcBef>
              <a:buNone/>
            </a:pPr>
            <a:r>
              <a:rPr lang="en-US" sz="1750" dirty="0">
                <a:solidFill>
                  <a:srgbClr val="000000"/>
                </a:solidFill>
                <a:latin typeface="Arial"/>
                <a:cs typeface="Arial"/>
              </a:rPr>
              <a:t>A FINER check before you start</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it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aim</a:t>
            </a:r>
          </a:p>
          <a:p>
            <a:pPr marL="0" indent="0" algn="ctr">
              <a:lnSpc>
                <a:spcPct val="104000"/>
              </a:lnSpc>
              <a:spcBef>
                <a:spcPts val="400"/>
              </a:spcBef>
              <a:buNone/>
            </a:pPr>
            <a:r>
              <a:rPr lang="en-US" sz="1750" dirty="0">
                <a:solidFill>
                  <a:srgbClr val="000000"/>
                </a:solidFill>
                <a:latin typeface="Arial"/>
                <a:cs typeface="Arial"/>
              </a:rPr>
              <a:t>2-3 measurable objectives</a:t>
            </a:r>
          </a:p>
          <a:p>
            <a:pPr marL="0" indent="0" algn="ctr">
              <a:lnSpc>
                <a:spcPct val="104000"/>
              </a:lnSpc>
              <a:spcBef>
                <a:spcPts val="400"/>
              </a:spcBef>
              <a:buNone/>
            </a:pPr>
            <a:r>
              <a:rPr lang="en-US" sz="1750" dirty="0">
                <a:solidFill>
                  <a:srgbClr val="000000"/>
                </a:solidFill>
                <a:latin typeface="Arial"/>
                <a:cs typeface="Arial"/>
              </a:rPr>
              <a:t>A testable H0 and 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FINER letter did our running example fail, and why?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rewrite as an objective: 'To understand fluid balance in our 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Proposal Part 1 draft: question, FINER check, aim, objectives,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4 on the exercise sheet: 2-3 English synonyms for each PICO word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Install Zotero (free, zotero.org) and its Word plug-in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PICO question</a:t>
            </a:r>
          </a:p>
          <a:p>
            <a:pPr marL="0" indent="0" algn="ctr">
              <a:lnSpc>
                <a:spcPct val="104000"/>
              </a:lnSpc>
              <a:spcBef>
                <a:spcPts val="300"/>
              </a:spcBef>
              <a:buNone/>
            </a:pPr>
            <a:r>
              <a:rPr lang="en-US" sz="1500" dirty="0">
                <a:solidFill>
                  <a:srgbClr val="000000"/>
                </a:solidFill>
                <a:latin typeface="Arial"/>
                <a:cs typeface="Arial"/>
              </a:rPr>
              <a:t>Your synonym list</a:t>
            </a:r>
          </a:p>
          <a:p>
            <a:pPr marL="0" indent="0" algn="ctr">
              <a:lnSpc>
                <a:spcPct val="104000"/>
              </a:lnSpc>
              <a:spcBef>
                <a:spcPts val="300"/>
              </a:spcBef>
              <a:buNone/>
            </a:pPr>
            <a:r>
              <a:rPr lang="en-US" sz="1500" dirty="0">
                <a:solidFill>
                  <a:srgbClr val="000000"/>
                </a:solidFill>
                <a:latin typeface="Arial"/>
                <a:cs typeface="Arial"/>
              </a:rPr>
              <a:t>A computer with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Question, synonym list and Zotero ready for the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1</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Research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Clinical audit</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Quality improvement</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Asks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What is the best practice?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Are we meeting the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How do we get better, step by step?</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Fluid example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Restrictive vs usual: which is better?</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Is fluid balance recorded daily?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A daily checklist, tested in small cycles</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Results apply to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Patients elsewhere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Ethics</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Ethics committee approval: always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usually no committee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ethics review if new risk</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Not sure which it is? Ask the ethics committee before you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three examples as research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Backup for 'Three more examples': write the question for each row, then compare.</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Treatment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ventilated adults in the ICU, does a twice-daily bed-head checklist, compared with usual care, reduce ventilator-associated pneumonia by ICU day 28?</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factor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on the medical ward, is obesity (BMI 30 or more), compared with a BMI under 30, associated with new pressure injury during the admission?</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common?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aged 65 or over after hip surgery, how common is delirium in the first 7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question names the patients, the comparison (if any), the outcome and the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57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Diagnosis</a:t>
            </a:r>
          </a:p>
        </p:txBody>
      </p:sp>
      <p:sp>
        <p:nvSpPr>
          <p:cNvPr id="71" name="CardBody"/>
          <p:cNvSpPr/>
          <p:nvPr/>
        </p:nvSpPr>
        <p:spPr>
          <a:xfrm>
            <a:off x="457200"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tested</a:t>
            </a:r>
          </a:p>
          <a:p>
            <a:pPr marL="0" indent="0" algn="ctr">
              <a:lnSpc>
                <a:spcPct val="104000"/>
              </a:lnSpc>
              <a:spcBef>
                <a:spcPts val="400"/>
              </a:spcBef>
              <a:buNone/>
            </a:pPr>
            <a:r>
              <a:rPr lang="en-US" sz="1400" dirty="0">
                <a:solidFill>
                  <a:srgbClr val="000000"/>
                </a:solidFill>
                <a:latin typeface="Arial"/>
                <a:cs typeface="Arial"/>
              </a:rPr>
              <a:t>I: the new test</a:t>
            </a:r>
          </a:p>
          <a:p>
            <a:pPr marL="0" indent="0" algn="ctr">
              <a:lnSpc>
                <a:spcPct val="104000"/>
              </a:lnSpc>
              <a:spcBef>
                <a:spcPts val="400"/>
              </a:spcBef>
              <a:buNone/>
            </a:pPr>
            <a:r>
              <a:rPr lang="en-US" sz="1400" dirty="0">
                <a:solidFill>
                  <a:srgbClr val="000000"/>
                </a:solidFill>
                <a:latin typeface="Arial"/>
                <a:cs typeface="Arial"/>
              </a:rPr>
              <a:t>C: the reference standard</a:t>
            </a:r>
          </a:p>
          <a:p>
            <a:pPr marL="0" indent="0" algn="ctr">
              <a:lnSpc>
                <a:spcPct val="104000"/>
              </a:lnSpc>
              <a:spcBef>
                <a:spcPts val="400"/>
              </a:spcBef>
              <a:buNone/>
            </a:pPr>
            <a:r>
              <a:rPr lang="en-US" sz="1400" dirty="0">
                <a:solidFill>
                  <a:srgbClr val="000000"/>
                </a:solidFill>
                <a:latin typeface="Arial"/>
                <a:cs typeface="Arial"/>
              </a:rPr>
              <a:t>O: accuracy</a:t>
            </a:r>
          </a:p>
          <a:p>
            <a:pPr marL="0" indent="0" algn="ctr">
              <a:lnSpc>
                <a:spcPct val="104000"/>
              </a:lnSpc>
              <a:spcBef>
                <a:spcPts val="400"/>
              </a:spcBef>
              <a:buNone/>
            </a:pPr>
            <a:r>
              <a:rPr lang="en-US" sz="1400" i="1" dirty="0">
                <a:solidFill>
                  <a:srgbClr val="000000"/>
                </a:solidFill>
                <a:latin typeface="Arial"/>
                <a:cs typeface="Arial"/>
              </a:rPr>
              <a:t>Example: in suspected sepsis in the emergency department, how accurate is qSOFA compared with Sepsis-3?</a:t>
            </a:r>
          </a:p>
        </p:txBody>
      </p:sp>
      <p:sp>
        <p:nvSpPr>
          <p:cNvPr id="72" name="CardHead"/>
          <p:cNvSpPr/>
          <p:nvPr/>
        </p:nvSpPr>
        <p:spPr>
          <a:xfrm>
            <a:off x="4283066" y="16357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Prognosis</a:t>
            </a:r>
          </a:p>
        </p:txBody>
      </p:sp>
      <p:sp>
        <p:nvSpPr>
          <p:cNvPr id="73" name="CardBody"/>
          <p:cNvSpPr/>
          <p:nvPr/>
        </p:nvSpPr>
        <p:spPr>
          <a:xfrm>
            <a:off x="4283066"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with a condition</a:t>
            </a:r>
          </a:p>
          <a:p>
            <a:pPr marL="0" indent="0" algn="ctr">
              <a:lnSpc>
                <a:spcPct val="104000"/>
              </a:lnSpc>
              <a:spcBef>
                <a:spcPts val="400"/>
              </a:spcBef>
              <a:buNone/>
            </a:pPr>
            <a:r>
              <a:rPr lang="en-US" sz="1400" dirty="0">
                <a:solidFill>
                  <a:srgbClr val="000000"/>
                </a:solidFill>
                <a:latin typeface="Arial"/>
                <a:cs typeface="Arial"/>
              </a:rPr>
              <a:t>E: a risk factor</a:t>
            </a:r>
          </a:p>
          <a:p>
            <a:pPr marL="0" indent="0" algn="ctr">
              <a:lnSpc>
                <a:spcPct val="104000"/>
              </a:lnSpc>
              <a:spcBef>
                <a:spcPts val="400"/>
              </a:spcBef>
              <a:buNone/>
            </a:pPr>
            <a:r>
              <a:rPr lang="en-US" sz="1400" dirty="0">
                <a:solidFill>
                  <a:srgbClr val="000000"/>
                </a:solidFill>
                <a:latin typeface="Arial"/>
                <a:cs typeface="Arial"/>
              </a:rPr>
              <a:t>O: what happens</a:t>
            </a:r>
          </a:p>
          <a:p>
            <a:pPr marL="0" indent="0" algn="ctr">
              <a:lnSpc>
                <a:spcPct val="104000"/>
              </a:lnSpc>
              <a:spcBef>
                <a:spcPts val="400"/>
              </a:spcBef>
              <a:buNone/>
            </a:pPr>
            <a:r>
              <a:rPr lang="en-US" sz="1400" dirty="0">
                <a:solidFill>
                  <a:srgbClr val="000000"/>
                </a:solidFill>
                <a:latin typeface="Arial"/>
                <a:cs typeface="Arial"/>
              </a:rPr>
              <a:t>T: by when</a:t>
            </a:r>
          </a:p>
          <a:p>
            <a:pPr marL="0" indent="0" algn="ctr">
              <a:lnSpc>
                <a:spcPct val="104000"/>
              </a:lnSpc>
              <a:spcBef>
                <a:spcPts val="400"/>
              </a:spcBef>
              <a:buNone/>
            </a:pPr>
            <a:r>
              <a:rPr lang="en-US" sz="1400" i="1" dirty="0">
                <a:solidFill>
                  <a:srgbClr val="000000"/>
                </a:solidFill>
                <a:latin typeface="Arial"/>
                <a:cs typeface="Arial"/>
              </a:rPr>
              <a:t>Example: in septic shock, is a lactate above 4 mmol/L on admission linked to death by day 28?</a:t>
            </a:r>
          </a:p>
        </p:txBody>
      </p:sp>
      <p:sp>
        <p:nvSpPr>
          <p:cNvPr id="74" name="CardHead"/>
          <p:cNvSpPr/>
          <p:nvPr/>
        </p:nvSpPr>
        <p:spPr>
          <a:xfrm>
            <a:off x="8108932" y="16357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Qualitative (SPIDER)</a:t>
            </a:r>
          </a:p>
        </p:txBody>
      </p:sp>
      <p:sp>
        <p:nvSpPr>
          <p:cNvPr id="75" name="CardBody"/>
          <p:cNvSpPr/>
          <p:nvPr/>
        </p:nvSpPr>
        <p:spPr>
          <a:xfrm>
            <a:off x="8108932"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Sample</a:t>
            </a:r>
          </a:p>
          <a:p>
            <a:pPr marL="0" indent="0" algn="ctr">
              <a:lnSpc>
                <a:spcPct val="104000"/>
              </a:lnSpc>
              <a:spcBef>
                <a:spcPts val="400"/>
              </a:spcBef>
              <a:buNone/>
            </a:pPr>
            <a:r>
              <a:rPr lang="en-US" sz="1400" dirty="0">
                <a:solidFill>
                  <a:srgbClr val="000000"/>
                </a:solidFill>
                <a:latin typeface="Arial"/>
                <a:cs typeface="Arial"/>
              </a:rPr>
              <a:t>PI: Phenomenon of Interest</a:t>
            </a:r>
          </a:p>
          <a:p>
            <a:pPr marL="0" indent="0" algn="ctr">
              <a:lnSpc>
                <a:spcPct val="104000"/>
              </a:lnSpc>
              <a:spcBef>
                <a:spcPts val="400"/>
              </a:spcBef>
              <a:buNone/>
            </a:pPr>
            <a:r>
              <a:rPr lang="en-US" sz="1400" dirty="0">
                <a:solidFill>
                  <a:srgbClr val="000000"/>
                </a:solidFill>
                <a:latin typeface="Arial"/>
                <a:cs typeface="Arial"/>
              </a:rPr>
              <a:t>D: Design</a:t>
            </a:r>
          </a:p>
          <a:p>
            <a:pPr marL="0" indent="0" algn="ctr">
              <a:lnSpc>
                <a:spcPct val="104000"/>
              </a:lnSpc>
              <a:spcBef>
                <a:spcPts val="400"/>
              </a:spcBef>
              <a:buNone/>
            </a:pPr>
            <a:r>
              <a:rPr lang="en-US" sz="1400" dirty="0">
                <a:solidFill>
                  <a:srgbClr val="000000"/>
                </a:solidFill>
                <a:latin typeface="Arial"/>
                <a:cs typeface="Arial"/>
              </a:rPr>
              <a:t>E: Evaluation, R: Research type</a:t>
            </a:r>
          </a:p>
          <a:p>
            <a:pPr marL="0" indent="0" algn="ctr">
              <a:lnSpc>
                <a:spcPct val="104000"/>
              </a:lnSpc>
              <a:spcBef>
                <a:spcPts val="400"/>
              </a:spcBef>
              <a:buNone/>
            </a:pPr>
            <a:r>
              <a:rPr lang="en-US" sz="1400" i="1" dirty="0">
                <a:solidFill>
                  <a:srgbClr val="000000"/>
                </a:solidFill>
                <a:latin typeface="Arial"/>
                <a:cs typeface="Arial"/>
              </a:rPr>
              <a:t>Example: how do ICU nurses experience stopping IV fluids, in interviews?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All hospitalised adults in the country: does vitamin D reduce mortality over 10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Septic shock: does withholding antibiotics for 24 h reduce resistance?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Do our ICU nurses wash their hands? (audited monthly for 5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letter per question, in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Vague vs answerable: another example from the 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"Do night shifts cause medication errors?"</a:t>
            </a:r>
          </a:p>
          <a:p>
            <a:pPr marL="0" indent="0" algn="ctr">
              <a:lnSpc>
                <a:spcPct val="104000"/>
              </a:lnSpc>
              <a:spcBef>
                <a:spcPts val="400"/>
              </a:spcBef>
              <a:buNone/>
            </a:pPr>
            <a:r>
              <a:rPr lang="en-US" sz="1950" dirty="0">
                <a:solidFill>
                  <a:srgbClr val="000000"/>
                </a:solidFill>
                <a:latin typeface="Arial"/>
                <a:cs typeface="Arial"/>
              </a:rPr>
              <a:t>Which staff?</a:t>
            </a:r>
          </a:p>
          <a:p>
            <a:pPr marL="0" indent="0" algn="ctr">
              <a:lnSpc>
                <a:spcPct val="104000"/>
              </a:lnSpc>
              <a:spcBef>
                <a:spcPts val="400"/>
              </a:spcBef>
              <a:buNone/>
            </a:pPr>
            <a:r>
              <a:rPr lang="en-US" sz="1950" dirty="0">
                <a:solidFill>
                  <a:srgbClr val="000000"/>
                </a:solidFill>
                <a:latin typeface="Arial"/>
                <a:cs typeface="Arial"/>
              </a:rPr>
              <a:t>Compared with what?</a:t>
            </a:r>
          </a:p>
          <a:p>
            <a:pPr marL="0" indent="0" algn="ctr">
              <a:lnSpc>
                <a:spcPct val="104000"/>
              </a:lnSpc>
              <a:spcBef>
                <a:spcPts val="400"/>
              </a:spcBef>
              <a:buNone/>
            </a:pPr>
            <a:r>
              <a:rPr lang="en-US" sz="1950" dirty="0">
                <a:solidFill>
                  <a:srgbClr val="000000"/>
                </a:solidFill>
                <a:latin typeface="Arial"/>
                <a:cs typeface="Arial"/>
              </a:rPr>
              <a:t>Which errors, counted how?</a:t>
            </a:r>
          </a:p>
          <a:p>
            <a:pPr marL="0" indent="0" algn="ctr">
              <a:lnSpc>
                <a:spcPct val="104000"/>
              </a:lnSpc>
              <a:spcBef>
                <a:spcPts val="400"/>
              </a:spcBef>
              <a:buNone/>
            </a:pPr>
            <a:r>
              <a:rPr lang="en-US" sz="1950" dirty="0">
                <a:solidFill>
                  <a:srgbClr val="000000"/>
                </a:solidFill>
                <a:latin typeface="Arial"/>
                <a:cs typeface="Arial"/>
              </a:rPr>
              <a:t>Over what period?</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ward nurses,</a:t>
            </a:r>
          </a:p>
          <a:p>
            <a:pPr marL="0" indent="0" algn="ctr">
              <a:lnSpc>
                <a:spcPct val="104000"/>
              </a:lnSpc>
              <a:spcBef>
                <a:spcPts val="400"/>
              </a:spcBef>
              <a:buNone/>
            </a:pPr>
            <a:r>
              <a:rPr lang="en-US" sz="1950" dirty="0">
                <a:solidFill>
                  <a:srgbClr val="000000"/>
                </a:solidFill>
                <a:latin typeface="Arial"/>
                <a:cs typeface="Arial"/>
              </a:rPr>
              <a:t>E: are night shifts,</a:t>
            </a:r>
          </a:p>
          <a:p>
            <a:pPr marL="0" indent="0" algn="ctr">
              <a:lnSpc>
                <a:spcPct val="104000"/>
              </a:lnSpc>
              <a:spcBef>
                <a:spcPts val="400"/>
              </a:spcBef>
              <a:buNone/>
            </a:pPr>
            <a:r>
              <a:rPr lang="en-US" sz="1950" dirty="0">
                <a:solidFill>
                  <a:srgbClr val="000000"/>
                </a:solidFill>
                <a:latin typeface="Arial"/>
                <a:cs typeface="Arial"/>
              </a:rPr>
              <a:t>C: compared with day shifts,</a:t>
            </a:r>
          </a:p>
          <a:p>
            <a:pPr marL="0" indent="0" algn="ctr">
              <a:lnSpc>
                <a:spcPct val="104000"/>
              </a:lnSpc>
              <a:spcBef>
                <a:spcPts val="400"/>
              </a:spcBef>
              <a:buNone/>
            </a:pPr>
            <a:r>
              <a:rPr lang="en-US" sz="1950" dirty="0">
                <a:solidFill>
                  <a:srgbClr val="000000"/>
                </a:solidFill>
                <a:latin typeface="Arial"/>
                <a:cs typeface="Arial"/>
              </a:rPr>
              <a:t>O: linked to more errors per 1,000 doses</a:t>
            </a:r>
          </a:p>
          <a:p>
            <a:pPr marL="0" indent="0" algn="ctr">
              <a:lnSpc>
                <a:spcPct val="104000"/>
              </a:lnSpc>
              <a:spcBef>
                <a:spcPts val="400"/>
              </a:spcBef>
              <a:buNone/>
            </a:pPr>
            <a:r>
              <a:rPr lang="en-US" sz="1950" dirty="0">
                <a:solidFill>
                  <a:srgbClr val="000000"/>
                </a:solidFill>
                <a:latin typeface="Arial"/>
                <a:cs typeface="Arial"/>
              </a:rPr>
              <a:t>T: over 6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Practise on your own ward: take a corridor question and fill the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