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 (0:00).</a:t>
            </a:r>
          </a:p>
          <a:p>
            <a:r>
              <a:rPr lang="en-US" sz="1400" b="0" dirty="0"/>
              <a:t>Welcome everyone. Introduce the trainers in one sentence each.</a:t>
            </a:r>
          </a:p>
          <a:p>
            <a:r>
              <a:rPr lang="en-US" sz="1400" b="0" dirty="0"/>
              <a:t>Key message: over eight Saturdays, one session a week, we walk the whole road of research together: from a question at the bedside to a paper ready to submit.</a:t>
            </a:r>
          </a:p>
          <a:p>
            <a:r>
              <a:rPr lang="en-US" sz="1400" b="0" dirty="0"/>
              <a:t>No statistics software, no formulas to memorise: pictures, examples from your own wards, and a lot of group work. We go slowly. Nobody is expected to know anything yet.</a:t>
            </a:r>
          </a:p>
          <a:p>
            <a:r>
              <a:rPr lang="en-US" sz="1400" b="0" dirty="0"/>
              <a:t>Facilitation: participants should already be sitting in their groups (name cards on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Open with a question to the room: 'Think of one thing in your unit where colleagues do it differently and nobody knows which way is best.'</a:t>
            </a:r>
          </a:p>
          <a:p>
            <a:r>
              <a:rPr lang="en-US" sz="1400" b="0" dirty="0"/>
              <a:t>Take 2-3 answers. Expected: fluids, sedation, mobilisation, wound dressings, line care.</a:t>
            </a:r>
          </a:p>
          <a:p>
            <a:r>
              <a:rPr lang="en-US" sz="1400" b="0" dirty="0"/>
              <a:t>Key teaching point: research starts from clinical uncertainty, not from statistics.</a:t>
            </a:r>
          </a:p>
          <a:p>
            <a:r>
              <a:rPr lang="en-US" sz="1400" b="0" dirty="0"/>
              <a:t>Write the examples on the flip chart. They are candidate topics for the group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road: Weeks 1-2 the question and the evidence; Weeks 3-4 design and bias; Weeks 5-6 data and analysis; Weeks 7-8 ethics, writing and publishing. One session every Saturday, with a full week between sessions for the homework.</a:t>
            </a:r>
          </a:p>
          <a:p>
            <a:r>
              <a:rPr lang="en-US" sz="1400" b="0" dirty="0"/>
              <a:t>This whole course is Level 1: it covers every step from question to publication. Weeks 1-4 build understanding and design skills. Weeks 5-8 apply them to data, writing and publishing.</a:t>
            </a:r>
          </a:p>
          <a:p>
            <a:r>
              <a:rPr lang="en-US" sz="1400" b="0" dirty="0"/>
              <a:t>One running example travels with us: fluids in septic shock. Non-ICU colleagues: every concept is also shown with ward examples (pressure injuries, hand hygiene, medication errors, delirium).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course (Level 1) takes you from a clinical question to a published paper. Level 2 is a hands-on course in R for those who want to run analyses themselves. Level 3 covers advanced, specialised methods.</a:t>
            </a:r>
          </a:p>
          <a:p>
            <a:r>
              <a:rPr lang="en-US" sz="1400" b="0" dirty="0"/>
              <a:t>Within Level 1 we use a realistic dataset of 620 ICU patients: we describe it, analyse it and write it up. The trainers run the software. You read and interpret the results.</a:t>
            </a:r>
          </a:p>
          <a:p>
            <a:r>
              <a:rPr lang="en-US" sz="1400" b="0" dirty="0"/>
              <a:t>Misconception to defuse: 'research is only for statisticians or professors'. Most good clinical questions come from nurses and doctors at the bedside.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1: a research proposal on the group's own question, built one part every two weeks and presented in Session 8.</a:t>
            </a:r>
          </a:p>
          <a:p>
            <a:r>
              <a:rPr lang="en-US" sz="1400" b="0" dirty="0"/>
              <a:t>Product 2: a draft manuscript written from the course dataset (FLUID-ICU). Each group answers a different question on the same data. We analyse in Weeks 5-6, write in Weeks 7-8, and after the course groups review each other's drafts and reply like real authors.</a:t>
            </a:r>
          </a:p>
          <a:p>
            <a:r>
              <a:rPr lang="en-US" sz="1400" b="0" dirty="0"/>
              <a:t>Point to Assignment/proposal_brief and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across the four cards, one per two-week block.</a:t>
            </a:r>
          </a:p>
          <a:p>
            <a:r>
              <a:rPr lang="en-US" sz="1400" b="0" dirty="0"/>
              <a:t>Key teaching point: the aim is understanding and interpretation, not computation. The trainers run the analyses. You learn to read them and write them up.</a:t>
            </a:r>
          </a:p>
          <a:p>
            <a:r>
              <a:rPr lang="en-US" sz="1400" b="0" dirty="0"/>
              <a:t>Audience question: which card worries you most? Expected: ANALYSE. Reassure: we go slowly, with pictures, and check understanding every 20 minutes.</a:t>
            </a:r>
          </a:p>
          <a:p>
            <a:r>
              <a:rPr lang="en-US" sz="1400" b="0" dirty="0"/>
              <a:t>Return to this slide in Session 8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rhythm every session: recap, two teaching blocks with checks and activities, a 15-minute break, and time to build the proposal or the paper.</a:t>
            </a:r>
          </a:p>
          <a:p>
            <a:r>
              <a:rPr lang="en-US" sz="1400" b="0" dirty="0"/>
              <a:t>Every 20 minutes we stop for a quick check of understanding. If the room is not with us, we slow down. Each session ends with 'extra slides' that we only use if there is time. You can read them at home.</a:t>
            </a:r>
          </a:p>
          <a:p>
            <a:r>
              <a:rPr lang="en-US" sz="1400" b="0" dirty="0"/>
              <a:t>Keep the break to 15 minutes and start again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 1 (Weeks 1-2): the question and the background. Part 2 (Weeks 3-4): the design. Part 3 (Weeks 5-6): the data and the analysis plan. Part 4 (Session 7): ethics, feasibility and a publication plan.</a:t>
            </a:r>
          </a:p>
          <a:p>
            <a:r>
              <a:rPr lang="en-US" sz="1400" b="0" dirty="0"/>
              <a:t>Each group presents its proposal in Session 8 (6 minutes + 2 minutes feedback).</a:t>
            </a:r>
          </a:p>
          <a:p>
            <a:r>
              <a:rPr lang="en-US" sz="1400" b="0" dirty="0"/>
              <a:t>Template: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should mix doctors, nurses and pharmacists. Different perspectives make better proposals.</a:t>
            </a:r>
          </a:p>
          <a:p>
            <a:r>
              <a:rPr lang="en-US" sz="1400" b="0" dirty="0"/>
              <a:t>Roles keep quieter members involved. Suggest rotating the scribe.</a:t>
            </a:r>
          </a:p>
          <a:p>
            <a:r>
              <a:rPr lang="en-US" sz="1400" b="0" dirty="0"/>
              <a:t>Trainers: walk round, note each group's candidate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climate: this is a safe place to say 'I do not understand'.</a:t>
            </a:r>
          </a:p>
          <a:p>
            <a:r>
              <a:rPr lang="en-US" sz="1400" b="0" dirty="0"/>
              <a:t>Language: discussions can be in Vietnamese or English, whatever helps the group think.</a:t>
            </a:r>
          </a:p>
          <a:p>
            <a:r>
              <a:rPr lang="en-US" sz="1400" b="0" dirty="0"/>
              <a:t>Patient confidentiality applies to examples: no names or identifiable details.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online form (recommended) or paper copies of Assessment/pre_post_quiz.</a:t>
            </a:r>
          </a:p>
          <a:p>
            <a:r>
              <a:rPr lang="en-US" sz="1400" b="0" dirty="0"/>
              <a:t>Reassure: results are anonymous and used only to measure what the COURSE achieved.</a:t>
            </a:r>
          </a:p>
          <a:p>
            <a:r>
              <a:rPr lang="en-US" sz="1400" b="0" dirty="0"/>
              <a:t>Collect after 15 minutes. Do not give answers today. The same quiz is repeated at the end of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The front matter (welcome, course map, groups, pre-course quiz) has just finished.</a:t>
            </a:r>
          </a:p>
          <a:p>
            <a:r>
              <a:rPr lang="en-US" sz="1400" b="0" dirty="0"/>
              <a:t>Teaching point: today has one job: every group leaves with ONE clear, answerable research question and an aim with objectives. Next Saturday (Session 2) we search and read the literature for it.</a:t>
            </a:r>
          </a:p>
          <a:p>
            <a:r>
              <a:rPr lang="en-US" sz="1400" b="0" dirty="0"/>
              <a:t>Pace: this audience has little or no research background. Go slowly, use the worked examples, and stop at every 'Check your understanding' slide. They are short on purpose.</a:t>
            </a:r>
          </a:p>
          <a:p>
            <a:r>
              <a:rPr lang="en-US" sz="1400" b="0" dirty="0"/>
              <a:t>Show the shape of the session: three short teaching blocks, a break, a pair task, a quick exercise, then 30 minutes of group work on the proposal.</a:t>
            </a:r>
          </a:p>
          <a:p>
            <a:r>
              <a:rPr lang="en-US" sz="1400" b="0" dirty="0"/>
              <a:t>Ask the room: 'Who has ever taken part in a research study, as a researcher, data collector or participant?' Count hands; it tells you where to pitch the session.</a:t>
            </a:r>
          </a:p>
          <a:p>
            <a:r>
              <a:rPr lang="en-US" sz="1400" b="0" dirty="0"/>
              <a:t>Timing: 1 minute. Do not read the agenda aloud; point at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1.1 (0:35-1:10).</a:t>
            </a:r>
          </a:p>
          <a:p>
            <a:r>
              <a:rPr lang="en-US" sz="1400" b="0" dirty="0"/>
              <a:t>Pause on the question and let the room answer before you click on. Take 2-3 answers.</a:t>
            </a:r>
          </a:p>
          <a:p>
            <a:r>
              <a:rPr lang="en-US" sz="1400" b="0" dirty="0"/>
              <a:t>Expected answers: experience is biased towards memorable cases; colleagues disagree; practice changes; we need to know whether what we do actually helps.</a:t>
            </a:r>
          </a:p>
          <a:p>
            <a:r>
              <a:rPr lang="en-US" sz="1400" b="0" dirty="0"/>
              <a:t>Teaching point: experience is valuable for generating questions, but it is a weak way of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a vivid memory, no comparison group.</a:t>
            </a:r>
          </a:p>
          <a:p>
            <a:r>
              <a:rPr lang="en-US" sz="1400" b="0" dirty="0"/>
              <a:t>Right: 50 patients per group, every death counted, the same outcome measured in both arms.</a:t>
            </a:r>
          </a:p>
          <a:p>
            <a:r>
              <a:rPr lang="en-US" sz="1400" b="0" dirty="0"/>
              <a:t>The numbers are illustrative, but the pattern is real: the large CLASSIC trial (Meyhoff, NEJM 2022, 1,554 septic shock patients) found 90-day mortality of 42.3% with restrictive fluids vs 42.1% with standard care. The three 'success' patients would have done well either way.</a:t>
            </a:r>
          </a:p>
          <a:p>
            <a:r>
              <a:rPr lang="en-US" sz="1400" b="0" dirty="0"/>
              <a:t>Misconception: 'if it worked in my patients it works'. Without a comparison we cannot tell what would have happened anyway (natural recovery, regression to the mean, selective memory).</a:t>
            </a:r>
          </a:p>
          <a:p>
            <a:r>
              <a:rPr lang="en-US" sz="1400" b="0" dirty="0"/>
              <a:t>Ask the room: 'Why do we remember the three good outcomes?' Expected answer: recall bias. Dramatic and recent cases stick, and we forget the failures.</a:t>
            </a:r>
          </a:p>
          <a:p>
            <a:r>
              <a:rPr lang="en-US" sz="1400" b="0" dirty="0"/>
              <a:t>Timing: 4 minutes. Go slowly: this is the idea the whole course rests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picture is a simulation (fixed seed): imagine a disease where the TRUE risk of death is 40%.</a:t>
            </a:r>
          </a:p>
          <a:p>
            <a:r>
              <a:rPr lang="en-US" sz="1400" b="0" dirty="0"/>
              <a:t>Top row: 20 wards each see only 5 patients. By pure chance some see 0% deaths, others 80%. Each ward would 'learn' something different from its own experience.</a:t>
            </a:r>
          </a:p>
          <a:p>
            <a:r>
              <a:rPr lang="en-US" sz="1400" b="0" dirty="0"/>
              <a:t>Middle row: groups of 50, closer to the truth but still scattered. Bottom row: groups of 500 cluster tightly around 40%.</a:t>
            </a:r>
          </a:p>
          <a:p>
            <a:r>
              <a:rPr lang="en-US" sz="1400" b="0" dirty="0"/>
              <a:t>Teaching point: chance alone produces impressive-looking differences in small numbers. This is why research needs enough patients and a comparison group, and why 'my last three patients' can mislead.</a:t>
            </a:r>
          </a:p>
          <a:p>
            <a:r>
              <a:rPr lang="en-US" sz="1400" b="0" dirty="0"/>
              <a:t>Misconception: 'a big difference in a small group must be real'. A big difference in a small group is exactly what chance produces.</a:t>
            </a:r>
          </a:p>
          <a:p>
            <a:r>
              <a:rPr lang="en-US" sz="1400" b="0" dirty="0"/>
              <a:t>Ask the room: 'One ward lost 0 of 5 patients after a new protocol. Does the protocol work?' Expected answer: we cannot tell, because 0 of 5 happens often by chance even when the true risk is 40%.</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and case reports, then case series and cross-sectional studies, case-control, cohort, randomised trials, and at the top systematic reviews and meta-analyses that combine several studies.</a:t>
            </a:r>
          </a:p>
          <a:p>
            <a:r>
              <a:rPr lang="en-US" sz="1400" b="0" dirty="0"/>
              <a:t>Teaching point: moving up, the design does more to protect against bias. That is why higher levels give more confidence for 'does treatment X work?' questions.</a:t>
            </a:r>
          </a:p>
          <a:p>
            <a:r>
              <a:rPr lang="en-US" sz="1400" b="0" dirty="0"/>
              <a:t>Misconception 1: 'an RCT is always right'. A small or badly run trial can mislead. Frameworks such as GRADE rate the certainty of a whole body of evidence, not the design label alone.</a:t>
            </a:r>
          </a:p>
          <a:p>
            <a:r>
              <a:rPr lang="en-US" sz="1400" b="0" dirty="0"/>
              <a:t>Misconception 2: 'only RCTs count'. For prevalence, harm and prognosis, observational designs are often the right (or only ethical) choice. Qualitative research sits outside this pyramid because it answers different questions.</a:t>
            </a:r>
          </a:p>
          <a:p>
            <a:r>
              <a:rPr lang="en-US" sz="1400" b="0" dirty="0"/>
              <a:t>Ask the room: 'Where would a systematic review of 10 poor-quality trials sit?' Expected answer: at the top by label, but its conclusions are only as strong as the trials inside it.</a:t>
            </a:r>
          </a:p>
          <a:p>
            <a:r>
              <a:rPr lang="en-US" sz="1400" b="0" dirty="0"/>
              <a:t>Timing: 4 minutes. Session 3 covers each design in detail, so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(expert opinion) &lt; B (cohort) &lt; C (RCT) &lt; D (systematic review / meta-analysis).</a:t>
            </a:r>
          </a:p>
          <a:p>
            <a:r>
              <a:rPr lang="en-US" sz="1400" b="0" dirty="0"/>
              <a:t>C is the real CLASSIC trial (NEJM 2022), which found no difference in 90-day mortality. B resembles Paper 2 (Hyun 2023): a positive fluid balance on days 2-3 was associated with higher 28-day mortality.</a:t>
            </a:r>
          </a:p>
          <a:p>
            <a:r>
              <a:rPr lang="en-US" sz="1400" b="0" dirty="0"/>
              <a:t>Why might a cohort find harm when a trial finds none? Expected answer: in a cohort, sicker patients get more fluid, so fluid looks harmful (confounding by indication). This is a preview of Session 4.</a:t>
            </a:r>
          </a:p>
          <a:p>
            <a:r>
              <a:rPr lang="en-US" sz="1400" b="0" dirty="0"/>
              <a:t>Facilitation: count down '1-2-3' so tables show fingers at the same time.</a:t>
            </a:r>
          </a:p>
          <a:p>
            <a:r>
              <a:rPr lang="en-US" sz="1400" b="0" dirty="0"/>
              <a:t>Timing: 3 minutes, strictly.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round the cycle quickly, one sentence per box.</a:t>
            </a:r>
          </a:p>
          <a:p>
            <a:r>
              <a:rPr lang="en-US" sz="1400" b="0" dirty="0"/>
              <a:t>Weeks 1-2 = clinical problem and research question (today), literature search (next Saturday). These are the three teal boxes top right.</a:t>
            </a:r>
          </a:p>
          <a:p>
            <a:r>
              <a:rPr lang="en-US" sz="1400" b="0" dirty="0"/>
              <a:t>Teaching point: published results change practice, which creates new uncertainties and new questions.</a:t>
            </a:r>
          </a:p>
          <a:p>
            <a:r>
              <a:rPr lang="en-US" sz="1400" b="0" dirty="0"/>
              <a:t>Misconception: 'research = collecting data'. Data collection comes AFTER the question, design, protocol and ethics approval.</a:t>
            </a:r>
          </a:p>
          <a:p>
            <a:r>
              <a:rPr lang="en-US" sz="1400" b="0" dirty="0"/>
              <a:t>Timing: 2 minutes. The next slide zooms into the same journey in detail.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row: what kind of data. Quantitative research counts and measures (mortality, fluid balance). Qualitative research collects words (interviews, focus groups, observation) to understand experiences, reasons and barriers. Mixed methods combine both in one study.</a:t>
            </a:r>
          </a:p>
          <a:p>
            <a:r>
              <a:rPr lang="en-US" sz="1400" b="0" dirty="0"/>
              <a:t>Bottom row: where the data come from. Primary research collects new data for this study (Paper 1, a new trial). Secondary research reuses data that already exist: medical records, registries (Paper 2 used a sepsis registry) or published studies (a systematic review).</a:t>
            </a:r>
          </a:p>
          <a:p>
            <a:r>
              <a:rPr lang="en-US" sz="1400" b="0" dirty="0"/>
              <a:t>Teaching point: the question decides the type. 'Does restriction reduce deaths?' is quantitative; 'why do nurses hesitate to stop fluids?' is qualitative.</a:t>
            </a:r>
          </a:p>
          <a:p>
            <a:r>
              <a:rPr lang="en-US" sz="1400" b="0" dirty="0"/>
              <a:t>Misconception: 'qualitative research is just opinion'. It has its own rigorous methods and reporting guideline (COREQ for interviews and focus groups); it is the right tool when numbers cannot explain behaviour.</a:t>
            </a:r>
          </a:p>
          <a:p>
            <a:r>
              <a:rPr lang="en-US" sz="1400" b="0" dirty="0"/>
              <a:t>Ask the room: 'Which type would show why a new fluid protocol is not being followed?' Expected answer: qualitative, or mixed methods with an audit.</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Quick check, not a test. Read each item and let the room shout the answer.</a:t>
            </a:r>
          </a:p>
          <a:p>
            <a:r>
              <a:rPr lang="en-US" sz="1400" b="0" dirty="0"/>
              <a:t>Answers (next slide): A quantitative, primary. B qualitative, primary. C quantitative, secondary (records already exist). D mixed methods, primary.</a:t>
            </a:r>
          </a:p>
          <a:p>
            <a:r>
              <a:rPr lang="en-US" sz="1400" b="0" dirty="0"/>
              <a:t>If people hesitate on C: the data were collected for care, not for this study, so reusing them is secondary research. It still needs ethics review.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four cards quickly.</a:t>
            </a:r>
          </a:p>
          <a:p>
            <a:r>
              <a:rPr lang="en-US" sz="1400" b="0" dirty="0"/>
              <a:t>Teaching point: two simple questions classify almost any study: what kind of data (numbers or words) and where they come from (new or existing).</a:t>
            </a:r>
          </a:p>
          <a:p>
            <a:r>
              <a:rPr lang="en-US" sz="1400" b="0" dirty="0"/>
              <a:t>Secondary research is often the most feasible for a busy department, but data quality depends on how well the records were kept (Session 5).</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Research generates new, generalisable knowledge: which option is best? Audit compares our practice with an agreed standard. Quality improvement (QI) changes a local process step by step, usually in Plan-Do-Study-Act (PDSA) cycles.</a:t>
            </a:r>
          </a:p>
          <a:p>
            <a:r>
              <a:rPr lang="en-US" sz="1400" b="0" dirty="0"/>
              <a:t>Why it matters: research always needs ethics committee approval before it starts. Audit and QI usually need local approval only. But if a project randomises patients, adds a new intervention or risk, or collects data beyond routine care, it is research and needs ethics review.</a:t>
            </a:r>
          </a:p>
          <a:p>
            <a:r>
              <a:rPr lang="en-US" sz="1400" b="0" dirty="0"/>
              <a:t>Publishing does not change what a project was. Journals ask for ethics approval or a formal waiver, so decide (and ask) at the start, not after the data are collected.</a:t>
            </a:r>
          </a:p>
          <a:p>
            <a:r>
              <a:rPr lang="en-US" sz="1400" b="0" dirty="0"/>
              <a:t>Misconception: 'audit and QI are lesser research'. They answer different questions and are essential; many good research questions start from an audit result.</a:t>
            </a:r>
          </a:p>
          <a:p>
            <a:r>
              <a:rPr lang="en-US" sz="1400" b="0" dirty="0"/>
              <a:t>Ask the room: 'Checking whether fluid balance is recorded daily as our protocol says: research, audit or QI?' Expected answer: audit.</a:t>
            </a:r>
          </a:p>
          <a:p>
            <a:r>
              <a:rPr lang="en-US" sz="1400" b="0" dirty="0"/>
              <a:t>Note: rules differ between institutions. Tell participants to check the local policy and, if in doubt, ask the ethics committee.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item; the room shows 1, 2 or 3 fingers.</a:t>
            </a:r>
          </a:p>
          <a:p>
            <a:r>
              <a:rPr lang="en-US" sz="1400" b="0" dirty="0"/>
              <a:t>Answers (next slide): A audit; B research (ethics committee + registration); C quality improvement; D research (qualitative, ethics committee).</a:t>
            </a:r>
          </a:p>
          <a:p>
            <a:r>
              <a:rPr lang="en-US" sz="1400" b="0" dirty="0"/>
              <a:t>Teaching point: the ethics route depends on WHAT you do, not on whether you plan to publish.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the four rows.</a:t>
            </a:r>
          </a:p>
          <a:p>
            <a:r>
              <a:rPr lang="en-US" sz="1400" b="0" dirty="0"/>
              <a:t>Common confusion: D feels like 'just talking to colleagues', but systematic interviews with recordings and analysis are research and need consent and ethics approval.</a:t>
            </a:r>
          </a:p>
          <a:p>
            <a:r>
              <a:rPr lang="en-US" sz="1400" b="0" dirty="0"/>
              <a:t>Misconception: 'if we only publish it later, we can get approval later'. Journals ask for approval or a formal waiver, and retrospective approval is often refused.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from question to impact. The colours show which weeks of the course teach each stop.</a:t>
            </a:r>
          </a:p>
          <a:p>
            <a:r>
              <a:rPr lang="en-US" sz="1400" b="0" dirty="0"/>
              <a:t>Stops 1-6 are planning and doing: question, design and protocol, registration (trials must be registered BEFORE the first patient: Paper 1 was registered in July 2021 and recruitment began in September 2021), ethics approval, data collection, analysis.</a:t>
            </a:r>
          </a:p>
          <a:p>
            <a:r>
              <a:rPr lang="en-US" sz="1400" b="0" dirty="0"/>
              <a:t>Stops 7-11 are publishing: writing, submission, peer review, publication and impact on patients. The road usually takes one to three years; many good studies stall at stop 7.</a:t>
            </a:r>
          </a:p>
          <a:p>
            <a:r>
              <a:rPr lang="en-US" sz="1400" b="0" dirty="0"/>
              <a:t>Teaching point: every stop depends on stop 1. A vague question produces a weak protocol, an unanswerable analysis and a paper that is hard to publish.</a:t>
            </a:r>
          </a:p>
          <a:p>
            <a:r>
              <a:rPr lang="en-US" sz="1400" b="0" dirty="0"/>
              <a:t>Misconception: 'publication is the end'. The point is impact: a changed guideline, protocol or practice.</a:t>
            </a:r>
          </a:p>
          <a:p>
            <a:r>
              <a:rPr lang="en-US" sz="1400" b="0" dirty="0"/>
              <a:t>Ask the room: 'At which stop do you think most hospital studies get stuck?' Expected answers: ethics paperwork, data collection, or writing (stop 7). We will tackle each one.</a:t>
            </a:r>
          </a:p>
          <a:p>
            <a:r>
              <a:rPr lang="en-US" sz="1400" b="0" dirty="0"/>
              <a:t>Timing: 3 minutes. Segment 1.1 ends at 1:10,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the Session 1 exercise sheets on the tables and write the pair-task scenarios on the flip chart.</a:t>
            </a:r>
          </a:p>
          <a:p>
            <a:r>
              <a:rPr lang="en-US" sz="1400" b="0" dirty="0"/>
              <a:t>Restart on time and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1.2 (1:25-2:05).</a:t>
            </a:r>
          </a:p>
          <a:p>
            <a:r>
              <a:rPr lang="en-US" sz="1400" b="0" dirty="0"/>
              <a:t>Teaching point: a vague clinical worry ('are fluids bad?') must be turned into a precise, answerable question before anything else can happen.</a:t>
            </a:r>
          </a:p>
          <a:p>
            <a:r>
              <a:rPr lang="en-US" sz="1400" b="0" dirty="0"/>
              <a:t>We will build PICO slowly with several examples (ICU and ward) before you practise in pairs.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good questions, all from daily work.</a:t>
            </a:r>
          </a:p>
          <a:p>
            <a:r>
              <a:rPr lang="en-US" sz="1400" b="0" dirty="0"/>
              <a:t>The orange box is the key decision: before calling something research, check whether the answer already exists. If it does, the job is implementation: a guideline, an audit or a QI project (segment 1.1).</a:t>
            </a:r>
          </a:p>
          <a:p>
            <a:r>
              <a:rPr lang="en-US" sz="1400" b="0" dirty="0"/>
              <a:t>Teaching point: 'how we find out' is the literature search, covered next Saturday in Session 2.</a:t>
            </a:r>
          </a:p>
          <a:p>
            <a:r>
              <a:rPr lang="en-US" sz="1400" b="0" dirty="0"/>
              <a:t>Ask the room: 'Name one thing in your unit that colleagues do differently.' Expected: sedation targets, fluid volumes, dressing changes, mobilisation timing. Write them on the flip chart. They are candidate topics for the proposals.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The T (Time) states when the outcome is measured.</a:t>
            </a:r>
          </a:p>
          <a:p>
            <a:r>
              <a:rPr lang="en-US" sz="1400" b="0" dirty="0"/>
              <a:t>Read the five boxes, then the full sentence at the bottom. This is the running example for the whole course.</a:t>
            </a:r>
          </a:p>
          <a:p>
            <a:r>
              <a:rPr lang="en-US" sz="1400" b="0" dirty="0"/>
              <a:t>Teaching point: each letter forces a decision. Which patients exactly? Restrictive how? Compared with what? Which outcome, measured when?</a:t>
            </a:r>
          </a:p>
          <a:p>
            <a:r>
              <a:rPr lang="en-US" sz="1400" b="0" dirty="0"/>
              <a:t>Variants: for observational questions I becomes E (exposure), e.g. 'a positive fluid balance' (PECO). Descriptive questions may only need P and O.</a:t>
            </a:r>
          </a:p>
          <a:p>
            <a:r>
              <a:rPr lang="en-US" sz="1400" b="0" dirty="0"/>
              <a:t>Misconception: 'the comparison is obvious'. Usual care varies between hospitals and over time, so it must be described.</a:t>
            </a:r>
          </a:p>
          <a:p>
            <a:r>
              <a:rPr lang="en-US" sz="1400" b="0" dirty="0"/>
              <a:t>Ask the room: 'Is 28-day mortality the only sensible outcome?' Expected: 90-day mortality, days alive without life support, kidney injury needing dialysis, fluid balance. The large trials used 90-day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that are NOT about fluids, so every profession sees itself.</a:t>
            </a:r>
          </a:p>
          <a:p>
            <a:r>
              <a:rPr lang="en-US" sz="1400" b="0" dirty="0"/>
              <a:t>Row 1, treatment (PICO): ventilated adults; a twice-daily bed-head checklist vs usual care; ventilator-associated pneumonia by ICU day 28.</a:t>
            </a:r>
          </a:p>
          <a:p>
            <a:r>
              <a:rPr lang="en-US" sz="1400" b="0" dirty="0"/>
              <a:t>Row 2, risk factor (PECO): we cannot assign obesity, so I becomes E (exposure). Adults on the medical ward; obese vs not; new pressure injury during admission.</a:t>
            </a:r>
          </a:p>
          <a:p>
            <a:r>
              <a:rPr lang="en-US" sz="1400" b="0" dirty="0"/>
              <a:t>Row 3, how common? Only P and O (and T): adults 65 and over after hip-fracture surgery; delirium screened with the 4AT in the first 7 days.</a:t>
            </a:r>
          </a:p>
          <a:p>
            <a:r>
              <a:rPr lang="en-US" sz="1400" b="0" dirty="0"/>
              <a:t>Teaching point: the boxes you fill already tell you the type of question, and later the design.</a:t>
            </a:r>
          </a:p>
          <a:p>
            <a:r>
              <a:rPr lang="en-US" sz="1400" b="0" dirty="0"/>
              <a:t>Ask the room: 'Give me a PECO question from pharmacy.' Expected example: in ICU adults, is polypharmacy (10+ drugs) vs fewer associated with delirium?</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room 2 minutes in silence, then 1 minute to compare.</a:t>
            </a:r>
          </a:p>
          <a:p>
            <a:r>
              <a:rPr lang="en-US" sz="1400" b="0" dirty="0"/>
              <a:t>Answer (next slide): P adults 65+ after hip-fracture surgery; I daily non-drug delirium bundle; C usual care; O delirium; T first 7 postoperative days.</a:t>
            </a:r>
          </a:p>
          <a:p>
            <a:r>
              <a:rPr lang="en-US" sz="1400" b="0" dirty="0"/>
              <a:t>Watch for people labelling 'hip fracture' as the outcome. It is part of the population.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and ask how many got all five.</a:t>
            </a:r>
          </a:p>
          <a:p>
            <a:r>
              <a:rPr lang="en-US" sz="1400" b="0" dirty="0"/>
              <a:t>Teaching point: the outcome must be something that can happen AFTER the intervention starts. Hip fracture has already happened: it defines who is eligible.</a:t>
            </a:r>
          </a:p>
          <a:p>
            <a:r>
              <a:rPr lang="en-US" sz="1400" b="0" dirty="0"/>
              <a:t>Extra question for fast rooms: 'How would you measure delirium?' Expected: a validated screening tool (e.g. 4AT or CAM) at the same time each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Descriptive: what, how many, who. No comparison group is needed.</a:t>
            </a:r>
          </a:p>
          <a:p>
            <a:r>
              <a:rPr lang="en-US" sz="1400" b="0" dirty="0"/>
              <a:t>Analytical: is X linked to Y (observational: we watch), or does X cause Y (experimental: we assign X).</a:t>
            </a:r>
          </a:p>
          <a:p>
            <a:r>
              <a:rPr lang="en-US" sz="1400" b="0" dirty="0"/>
              <a:t>Teaching point: the verbs give it away. 'How many' is descriptive; 'is associated with' is observational; 'does it reduce' implies an experiment.</a:t>
            </a:r>
          </a:p>
          <a:p>
            <a:r>
              <a:rPr lang="en-US" sz="1400" b="0" dirty="0"/>
              <a:t>Misconception: 'descriptive studies are not real research'. They often come first and show that the problem exists.</a:t>
            </a:r>
          </a:p>
          <a:p>
            <a:r>
              <a:rPr lang="en-US" sz="1400" b="0" dirty="0"/>
              <a:t>Ask the room: 'Paper 2 (Hyun): which box?' Expected: analytical, observational (cohort).</a:t>
            </a:r>
          </a:p>
          <a:p>
            <a:r>
              <a:rPr lang="en-US" sz="1400" b="0" dirty="0"/>
              <a:t>Timing: 3 minutes. The full design menu is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question we ask in the corridor: every word is undefined. Right: the same worry written with PICO(T).</a:t>
            </a:r>
          </a:p>
          <a:p>
            <a:r>
              <a:rPr lang="en-US" sz="1400" b="0" dirty="0"/>
              <a:t>Teaching point: a researchable question is specific, has one primary outcome, and implies the design.</a:t>
            </a:r>
          </a:p>
          <a:p>
            <a:r>
              <a:rPr lang="en-US" sz="1400" b="0" dirty="0"/>
              <a:t>Misconception: 'a broad question is more important'. Broad questions produce vague answers.</a:t>
            </a:r>
          </a:p>
          <a:p>
            <a:r>
              <a:rPr lang="en-US" sz="1400" b="0" dirty="0"/>
              <a:t>Ask the room: 'Make this answerable: Is hand hygiene good?' Expected direction: in ICU staff (P), does a feedback programme (I) vs no feedback (C) increase hand-hygiene compliance at 3 months (O, 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comes from Hulley and colleagues, Designing Clinical Research.</a:t>
            </a:r>
          </a:p>
          <a:p>
            <a:r>
              <a:rPr lang="en-US" sz="1400" b="0" dirty="0"/>
              <a:t>Feasible fails most often in hospital research: not enough eligible patients, or an outcome that is too rare.</a:t>
            </a:r>
          </a:p>
          <a:p>
            <a:r>
              <a:rPr lang="en-US" sz="1400" b="0" dirty="0"/>
              <a:t>Novel does not mean 'never studied'. Repeating a study in a new setting, or with a better design, can be novel. That is why the literature search matters.</a:t>
            </a:r>
          </a:p>
          <a:p>
            <a:r>
              <a:rPr lang="en-US" sz="1400" b="0" dirty="0"/>
              <a:t>Ethical: is there genuine uncertainty (equipoise) about which option is better?</a:t>
            </a:r>
          </a:p>
          <a:p>
            <a:r>
              <a:rPr lang="en-US" sz="1400" b="0" dirty="0"/>
              <a:t>Ask the room: 'Which letter does our running example fail?' Let them guess. The next slide answers.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to show a few percentage points difference in mortality you need well over a thousand patients. CLASSIC randomised 1,554; CLOVERS (NEJM 2023) 1,563. One ICU cannot do this.</a:t>
            </a:r>
          </a:p>
          <a:p>
            <a:r>
              <a:rPr lang="en-US" sz="1400" b="0" dirty="0"/>
              <a:t>N is amber: large trials already exist and neither found a mortality difference.</a:t>
            </a:r>
          </a:p>
          <a:p>
            <a:r>
              <a:rPr lang="en-US" sz="1400" b="0" dirty="0"/>
              <a:t>E is amber: both strategies are used in practice so equipoise exists, but consent in septic shock is difficult (Session 7).</a:t>
            </a:r>
          </a:p>
          <a:p>
            <a:r>
              <a:rPr lang="en-US" sz="1400" b="0" dirty="0"/>
              <a:t>How to rescue it: change the outcome (fluid balance at day 5, as Paper 1 did), make it a feasibility pilot, or ask a descriptive question about our own practice.</a:t>
            </a:r>
          </a:p>
          <a:p>
            <a:r>
              <a:rPr lang="en-US" sz="1400" b="0" dirty="0"/>
              <a:t>Misconception: 'a failed FINER check means a bad idea'. It means the idea needs reshaping, which is normal and expected.</a:t>
            </a:r>
          </a:p>
          <a:p>
            <a:r>
              <a:rPr lang="en-US" sz="1400" b="0" dirty="0"/>
              <a:t>Ask the room: 'Suggest a feasible version for our unit.' Expected: a descriptive audit-style question, or a pilot like Paper 1.</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Pairs: one person from each profession where possible.</a:t>
            </a:r>
          </a:p>
          <a:p>
            <a:r>
              <a:rPr lang="en-US" sz="1400" b="0" dirty="0"/>
              <a:t>Facilitation: circulate with the 'what good looks like' box from Course/Solutions/s1_solutions.md. Commonest problems: a missing comparison, an outcome without a time point, two outcomes squeezed into one question.</a:t>
            </a:r>
          </a:p>
          <a:p>
            <a:r>
              <a:rPr lang="en-US" sz="1400" b="0" dirty="0"/>
              <a:t>At 8 minutes call time. Take three pairs to read their question aloud; ask the room to name each PICO letter and 'which FINER letter worries you?'.</a:t>
            </a:r>
          </a:p>
          <a:p>
            <a:r>
              <a:rPr lang="en-US" sz="1400" b="0" dirty="0"/>
              <a:t>Pressure-injury pairs often discover their first question should be descriptive. Praise this explicitly.</a:t>
            </a:r>
          </a:p>
          <a:p>
            <a:r>
              <a:rPr lang="en-US" sz="1400" b="0" dirty="0"/>
              <a:t>Timing: 8 minutes work + 3 minutes debrief. Segment 1.3 starts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1.3 (2:05-2:25).</a:t>
            </a:r>
          </a:p>
          <a:p>
            <a:r>
              <a:rPr lang="en-US" sz="1400" b="0" dirty="0"/>
              <a:t>Teaching point: the aim, objectives and hypothesis are the question written as a plan. Ethics committees and grant reviewers read them first.</a:t>
            </a:r>
          </a:p>
          <a:p>
            <a:r>
              <a:rPr lang="en-US" sz="1400" b="0" dirty="0"/>
              <a:t>Keep it concrete: every example uses the running example or the pair-task scenarios.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Aim = the broad purpose in one sentence ('To compare...', 'To describe...').</a:t>
            </a:r>
          </a:p>
          <a:p>
            <a:r>
              <a:rPr lang="en-US" sz="1400" b="0" dirty="0"/>
              <a:t>Objectives = specific, measurable steps. Use measurable verbs: compare, estimate, describe, determine. Avoid 'understand', 'explore', 'study'.</a:t>
            </a:r>
          </a:p>
          <a:p>
            <a:r>
              <a:rPr lang="en-US" sz="1400" b="0" dirty="0"/>
              <a:t>Mark the primary objective: it drives the sample size (Session 6).</a:t>
            </a:r>
          </a:p>
          <a:p>
            <a:r>
              <a:rPr lang="en-US" sz="1400" b="0" dirty="0"/>
              <a:t>Hypothesis = the predicted answer to the main analytical objective, stated so data can reject it.</a:t>
            </a:r>
          </a:p>
          <a:p>
            <a:r>
              <a:rPr lang="en-US" sz="1400" b="0" dirty="0"/>
              <a:t>Misconception: 'every study needs a hypothesis'. Purely descriptive studies estimate; they do not test a hypothesis.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verbs that describe a wish, not an action you can check. Right: verbs that point to something you can count or measure.</a:t>
            </a:r>
          </a:p>
          <a:p>
            <a:r>
              <a:rPr lang="en-US" sz="1400" b="0" dirty="0"/>
              <a:t>Bottom: the same idea rewritten. 'To understand fluid management' cannot be finished or checked; 'to compare cumulative fluid balance at day 5 between groups' tells us the outcome, the time and the comparison.</a:t>
            </a:r>
          </a:p>
          <a:p>
            <a:r>
              <a:rPr lang="en-US" sz="1400" b="0" dirty="0"/>
              <a:t>Teaching point: each objective should match one outcome and, later, one analysis (Session 6).</a:t>
            </a:r>
          </a:p>
          <a:p>
            <a:r>
              <a:rPr lang="en-US" sz="1400" b="0" dirty="0"/>
              <a:t>Misconception: 'more objectives make a stronger proposal'. Two or three focused objectives are better than eight vague ones.</a:t>
            </a:r>
          </a:p>
          <a:p>
            <a:r>
              <a:rPr lang="en-US" sz="1400" b="0" dirty="0"/>
              <a:t>Ask the room: 'Rewrite: to study delirium in our ward.' Expected: to estimate the proportion of patients aged 65+ who develop delirium in the first 7 days after hip-fracture surgery.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a:t>
            </a:r>
          </a:p>
          <a:p>
            <a:r>
              <a:rPr lang="en-US" sz="1400" b="0" dirty="0"/>
              <a:t>Analogy: a court assumes 'not guilty' (H0) until the evidence is strong enough. 'Not guilty' is not 'innocent', and 'no significant difference' is not 'no difference'.</a:t>
            </a:r>
          </a:p>
          <a:p>
            <a:r>
              <a:rPr lang="en-US" sz="1400" b="0" dirty="0"/>
              <a:t>H1 is usually two-sided, even when we expect benefit, because restriction could also harm.</a:t>
            </a:r>
          </a:p>
          <a:p>
            <a:r>
              <a:rPr lang="en-US" sz="1400" b="0" dirty="0"/>
              <a:t>Misconception: 'p &gt; 0.05 proves the treatments are equal'. Small studies like Paper 1 (48 patients) often cannot detect real differences. P-values are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5 minutes writing + 2 minutes swapping.</a:t>
            </a:r>
          </a:p>
          <a:p>
            <a:r>
              <a:rPr lang="en-US" sz="1400" b="0" dirty="0"/>
              <a:t>Circulate and look for 'understand/know/study', objectives with no time point, and hypotheses about an outcome that is not in the objectives.</a:t>
            </a:r>
          </a:p>
          <a:p>
            <a:r>
              <a:rPr lang="en-US" sz="1400" b="0" dirty="0"/>
              <a:t>Model answers for the delirium example are on the next slide and in Course/Solutions/s1_solutions.md.</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a:t>
            </a:r>
          </a:p>
          <a:p>
            <a:r>
              <a:rPr lang="en-US" sz="1400" b="0" dirty="0"/>
              <a:t>Check the chain: the question's O (delirium in 7 days) = the primary objective = the outcome in H0/H1. If any of these differ, the proposal is inconsistent, and reviewers spot this immediately.</a:t>
            </a:r>
          </a:p>
          <a:p>
            <a:r>
              <a:rPr lang="en-US" sz="1400" b="0" dirty="0"/>
              <a:t>A descriptive version needs no hypothesis: 'To estimate the proportion of patients aged 65+ who develop delirium in the first 7 days after hip-fracture surgery.'</a:t>
            </a:r>
          </a:p>
          <a:p>
            <a:r>
              <a:rPr lang="en-US" sz="1400" b="0" dirty="0"/>
              <a:t>Timing: 3 minutes. Segment 1.3 ends at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1 (2:25-2:55).</a:t>
            </a:r>
          </a:p>
          <a:p>
            <a:r>
              <a:rPr lang="en-US" sz="1400" b="0" dirty="0"/>
              <a:t>Teaching point: everything taught today is now applied to the group's own topic. By 2:55 each group has a PICO question that passes FINER, an aim and 2-3 objectives in the proposal template.</a:t>
            </a:r>
          </a:p>
          <a:p>
            <a:r>
              <a:rPr lang="en-US" sz="1400" b="0" dirty="0"/>
              <a:t>Groups choose ONE problem. If a group cannot agree in 5 minutes, give them the running example or a secondary example (VAP, pressure injuries, hand hygiene, door-to-needle time, delirium, medication errors).</a:t>
            </a:r>
          </a:p>
          <a:p>
            <a:r>
              <a:rPr lang="en-US" sz="1400" b="0" dirty="0"/>
              <a:t>The search, the 5 references, the problem statement and the working title are next Saturday (Proposal builder 2).</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about 6, mixed professions. Suggested roles: chair, scribe (types into the template), timekeeper, and a 'devil's advocate' who checks FINER.</a:t>
            </a:r>
          </a:p>
          <a:p>
            <a:r>
              <a:rPr lang="en-US" sz="1400" b="0" dirty="0"/>
              <a:t>Trainers circulate. Spend the first 7 minutes making sure every group has ONE focused problem. This is where groups get stuck.</a:t>
            </a:r>
          </a:p>
          <a:p>
            <a:r>
              <a:rPr lang="en-US" sz="1400" b="0" dirty="0"/>
              <a:t>Check each group's question against PICO and FINER before they write objectives. A red F is the commonest problem. Help them shrink the outcome, shorten the time frame or turn it into a descriptive question or pilot.</a:t>
            </a:r>
          </a:p>
          <a:p>
            <a:r>
              <a:rPr lang="en-US" sz="1400" b="0" dirty="0"/>
              <a:t>Second visit: does the primary objective name the same outcome as the question? Is the approval route (research / audit / QI) written down?</a:t>
            </a:r>
          </a:p>
          <a:p>
            <a:r>
              <a:rPr lang="en-US" sz="1400" b="0" dirty="0"/>
              <a:t>At 2:50 (minute 25), stop the work; one group reads its question and aim aloud; invite one improvement from the room.</a:t>
            </a:r>
          </a:p>
          <a:p>
            <a:r>
              <a:rPr lang="en-US" sz="1400" b="0" dirty="0"/>
              <a:t>What good looks like: Course/Solutions/s1_solutions.md (Exercise 4).</a:t>
            </a:r>
          </a:p>
          <a:p>
            <a:r>
              <a:rPr lang="en-US" sz="1400" b="0" dirty="0"/>
              <a:t>Timing: 28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these are also in the course glossary (EN-VN).</a:t>
            </a:r>
          </a:p>
          <a:p>
            <a:r>
              <a:rPr lang="en-US" sz="1400" b="0" dirty="0"/>
              <a:t>Ask one participant to explain PICO in their own words.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a:t>
            </a:r>
          </a:p>
          <a:p>
            <a:r>
              <a:rPr lang="en-US" sz="1400" b="0" dirty="0"/>
              <a:t>Link forward: next Saturday (Session 2) we search PubMed for each group's question, manage references, and learn to read a paper in 15 minutes.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Feasible: a mortality outcome needs well over a thousand patients. 2. For example, 'To estimate the incidence of new stage 2+ pressure injuries among adults on our ward over 6 months'.</a:t>
            </a:r>
          </a:p>
          <a:p>
            <a:r>
              <a:rPr lang="en-US" sz="1400" b="0" dirty="0"/>
              <a:t>Read the notes during the week. If many still use vague verbs, open Session 2 with one extra minute on objectives.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it light: about 30 minutes during the week.</a:t>
            </a:r>
          </a:p>
          <a:p>
            <a:r>
              <a:rPr lang="en-US" sz="1400" b="0" dirty="0"/>
              <a:t>The synonym list makes next Saturday's PubMed search much faster, because PubMed searches in English.</a:t>
            </a:r>
          </a:p>
          <a:p>
            <a:r>
              <a:rPr lang="en-US" sz="1400" b="0" dirty="0"/>
              <a:t>The 'local number' becomes paragraph 3 of the problem statement next Saturday.</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prognosis and qualitative question frameworks.</a:t>
            </a:r>
          </a:p>
          <a:p>
            <a:r>
              <a:rPr lang="en-US" sz="1400" b="0" dirty="0"/>
              <a:t>Diagnostic questions: the index test is I, the reference standard is C, the outcome is accuracy (sensitivity and specificity, Session 4).</a:t>
            </a:r>
          </a:p>
          <a:p>
            <a:r>
              <a:rPr lang="en-US" sz="1400" b="0" dirty="0"/>
              <a:t>Prognosis: often PECO plus a time frame.</a:t>
            </a:r>
          </a:p>
          <a:p>
            <a:r>
              <a:rPr lang="en-US" sz="1400" b="0" dirty="0"/>
              <a:t>Qualitative questions often use SPIDER (Cooke and colleagues, 2012): Sample, Phenomenon of Interest, Design, Evaluation, Research type.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 vs two-sided hypotheses.</a:t>
            </a:r>
          </a:p>
          <a:p>
            <a:r>
              <a:rPr lang="en-US" sz="1400" b="0" dirty="0"/>
              <a:t>Two-sided hypotheses are the default in clinical research because a new intervention can harm as well as help.</a:t>
            </a:r>
          </a:p>
          <a:p>
            <a:r>
              <a:rPr lang="en-US" sz="1400" b="0" dirty="0"/>
              <a:t>One-sided tests must be pre-specified and justified; reviewers are suspicious of them.</a:t>
            </a:r>
          </a:p>
          <a:p>
            <a:r>
              <a:rPr lang="en-US" sz="1400" b="0" dirty="0"/>
              <a:t>Non-inferiority questions (is a cheaper or simpler option not much worse?) have their own design (Session 3).</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extra FINER practice.</a:t>
            </a:r>
          </a:p>
          <a:p>
            <a:r>
              <a:rPr lang="en-US" sz="1400" b="0" dirty="0"/>
              <a:t>Answers: 1 Feasible (huge, long, expensive; large vitamin D trials also exist, so Novel too). 2 Ethical (withholding antibiotics in septic shock causes harm, so there is no equipoise). 3 Novel (the answer is already measured: an audit question). 4 Relevant (no plausible mechanism, no impact on practice).</a:t>
            </a:r>
          </a:p>
          <a:p>
            <a:r>
              <a:rPr lang="en-US" sz="1400" b="0" dirty="0"/>
              <a:t>Also in Exercise 2 Part B of the participant sheet.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vague-to-answerable practice with a ward example.</a:t>
            </a:r>
          </a:p>
          <a:p>
            <a:r>
              <a:rPr lang="en-US" sz="1400" b="0" dirty="0"/>
              <a:t>Use this slide again with a ward example if the room needs more practice.</a:t>
            </a:r>
          </a:p>
          <a:p>
            <a:r>
              <a:rPr lang="en-US" sz="1400" b="0" dirty="0"/>
              <a:t>Ask: 'Make this answerable: Do night shifts cause medication errors?' Expected direction: in ward nurses (P), are night shifts (E) compared with day shifts (C) associated with more medication administration errors per 1,000 doses (O) over 6 months (T)?</a:t>
            </a:r>
          </a:p>
          <a:p>
            <a:r>
              <a:rPr lang="en-US" sz="1400" b="0" dirty="0"/>
              <a:t>Point out that this becomes a PECO (observational) question because we cannot randomise nurses to night shifts easily.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Century Gothic"/>
                <a:cs typeface="Century Gothic"/>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Level 1: From Clinical Question to Publication</a:t>
            </a:r>
          </a:p>
          <a:p>
            <a:pPr marL="0" indent="0" algn="ctr">
              <a:spcBef>
                <a:spcPts val="440"/>
              </a:spcBef>
              <a:buNone/>
            </a:pPr>
            <a:r>
              <a:rPr lang="en-US" sz="2000" dirty="0">
                <a:solidFill>
                  <a:srgbClr val="000000"/>
                </a:solidFill>
                <a:latin typeface="Segoe UI"/>
                <a:cs typeface="Segoe UI"/>
              </a:rPr>
              <a:t>8 Saturdays, one session per week, 24 contact hours</a:t>
            </a:r>
          </a:p>
          <a:p>
            <a:pPr marL="0" indent="0" algn="ctr">
              <a:spcBef>
                <a:spcPts val="440"/>
              </a:spcBef>
              <a:buNone/>
            </a:pPr>
            <a:r>
              <a:rPr lang="en-US" sz="2000" dirty="0">
                <a:solidFill>
                  <a:srgbClr val="000000"/>
                </a:solidFill>
                <a:latin typeface="Segoe UI"/>
                <a:cs typeface="Segoe UI"/>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Every day you make decisions that research could improve.</a:t>
            </a:r>
          </a:p>
          <a:p>
            <a:pPr marL="0" indent="0" algn="ctr">
              <a:spcBef>
                <a:spcPts val="1200"/>
              </a:spcBef>
              <a:buNone/>
            </a:pPr>
            <a:r>
              <a:rPr lang="en-US" sz="1900" i="1" dirty="0">
                <a:solidFill>
                  <a:srgbClr val="595959"/>
                </a:solidFill>
                <a:latin typeface="Century Gothic"/>
                <a:cs typeface="Century Gothic"/>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Level 1 is this course, Level 2 is hands-on analysis in R, Level 3 is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things your group will produce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&amp;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Turn a problem into a PICO question</a:t>
            </a:r>
          </a:p>
          <a:p>
            <a:pPr marL="0" indent="0" algn="l">
              <a:lnSpc>
                <a:spcPct val="104000"/>
              </a:lnSpc>
              <a:spcBef>
                <a:spcPts val="400"/>
              </a:spcBef>
              <a:buNone/>
            </a:pPr>
            <a:r>
              <a:rPr lang="en-US" sz="1600" dirty="0">
                <a:solidFill>
                  <a:srgbClr val="000000"/>
                </a:solidFill>
                <a:latin typeface="Century Gothic"/>
                <a:cs typeface="Century Gothic"/>
              </a:rPr>
              <a:t>Search PubMed, manage references</a:t>
            </a:r>
          </a:p>
          <a:p>
            <a:pPr marL="0" indent="0" algn="l">
              <a:lnSpc>
                <a:spcPct val="104000"/>
              </a:lnSpc>
              <a:spcBef>
                <a:spcPts val="400"/>
              </a:spcBef>
              <a:buNone/>
            </a:pPr>
            <a:r>
              <a:rPr lang="en-US" sz="1600" dirty="0">
                <a:solidFill>
                  <a:srgbClr val="000000"/>
                </a:solidFill>
                <a:latin typeface="Century Gothic"/>
                <a:cs typeface="Century Gothic"/>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Pick the right study design</a:t>
            </a:r>
          </a:p>
          <a:p>
            <a:pPr marL="0" indent="0" algn="l">
              <a:lnSpc>
                <a:spcPct val="104000"/>
              </a:lnSpc>
              <a:spcBef>
                <a:spcPts val="400"/>
              </a:spcBef>
              <a:buNone/>
            </a:pPr>
            <a:r>
              <a:rPr lang="en-US" sz="1600" dirty="0">
                <a:solidFill>
                  <a:srgbClr val="000000"/>
                </a:solidFill>
                <a:latin typeface="Century Gothic"/>
                <a:cs typeface="Century Gothic"/>
              </a:rPr>
              <a:t>Recognise bias and confounding</a:t>
            </a:r>
          </a:p>
          <a:p>
            <a:pPr marL="0" indent="0" algn="l">
              <a:lnSpc>
                <a:spcPct val="104000"/>
              </a:lnSpc>
              <a:spcBef>
                <a:spcPts val="400"/>
              </a:spcBef>
              <a:buNone/>
            </a:pPr>
            <a:r>
              <a:rPr lang="en-US" sz="1600" dirty="0">
                <a:solidFill>
                  <a:srgbClr val="000000"/>
                </a:solidFill>
                <a:latin typeface="Century Gothic"/>
                <a:cs typeface="Century Gothic"/>
              </a:rPr>
              <a:t>Read RR, OR, NNT and forest plots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good data and a CRF</a:t>
            </a:r>
          </a:p>
          <a:p>
            <a:pPr marL="0" indent="0" algn="l">
              <a:lnSpc>
                <a:spcPct val="104000"/>
              </a:lnSpc>
              <a:spcBef>
                <a:spcPts val="400"/>
              </a:spcBef>
              <a:buNone/>
            </a:pPr>
            <a:r>
              <a:rPr lang="en-US" sz="1600" dirty="0">
                <a:solidFill>
                  <a:srgbClr val="000000"/>
                </a:solidFill>
                <a:latin typeface="Century Gothic"/>
                <a:cs typeface="Century Gothic"/>
              </a:rPr>
              <a:t>Read CIs, p-values, regression</a:t>
            </a:r>
          </a:p>
          <a:p>
            <a:pPr marL="0" indent="0" algn="l">
              <a:lnSpc>
                <a:spcPct val="104000"/>
              </a:lnSpc>
              <a:spcBef>
                <a:spcPts val="400"/>
              </a:spcBef>
              <a:buNone/>
            </a:pPr>
            <a:r>
              <a:rPr lang="en-US" sz="1600" dirty="0">
                <a:solidFill>
                  <a:srgbClr val="000000"/>
                </a:solidFill>
                <a:latin typeface="Century Gothic"/>
                <a:cs typeface="Century Gothic"/>
              </a:rPr>
              <a:t>Interpret a real dataset's results</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 &amp;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ethics and registration</a:t>
            </a:r>
          </a:p>
          <a:p>
            <a:pPr marL="0" indent="0" algn="l">
              <a:lnSpc>
                <a:spcPct val="104000"/>
              </a:lnSpc>
              <a:spcBef>
                <a:spcPts val="400"/>
              </a:spcBef>
              <a:buNone/>
            </a:pPr>
            <a:r>
              <a:rPr lang="en-US" sz="1600" dirty="0">
                <a:solidFill>
                  <a:srgbClr val="000000"/>
                </a:solidFill>
                <a:latin typeface="Century Gothic"/>
                <a:cs typeface="Century Gothic"/>
              </a:rPr>
              <a:t>Write each section of a paper</a:t>
            </a:r>
          </a:p>
          <a:p>
            <a:pPr marL="0" indent="0" algn="l">
              <a:lnSpc>
                <a:spcPct val="104000"/>
              </a:lnSpc>
              <a:spcBef>
                <a:spcPts val="400"/>
              </a:spcBef>
              <a:buNone/>
            </a:pPr>
            <a:r>
              <a:rPr lang="en-US" sz="1600" dirty="0">
                <a:solidFill>
                  <a:srgbClr val="000000"/>
                </a:solidFill>
                <a:latin typeface="Century Gothic"/>
                <a:cs typeface="Century Gothic"/>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Build the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group, same template, one part every two weeks, presented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Meet your group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Sit with your group (5 groups of about 6, mixed professions)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Introduce yourselves: name, unit, one question you wish research could answer</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Agree the roles below (they can rotate each week)</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Choose a group name</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Group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Facilitator: keeps everyone talking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Scribe: fills in the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Timekeeper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Literature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&amp; data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Group name + roles written on the group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we learn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anything</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There are no silly questions</a:t>
            </a:r>
          </a:p>
          <a:p>
            <a:pPr marL="0" indent="0" algn="l">
              <a:lnSpc>
                <a:spcPct val="104000"/>
              </a:lnSpc>
              <a:spcBef>
                <a:spcPts val="400"/>
              </a:spcBef>
              <a:buNone/>
            </a:pPr>
            <a:r>
              <a:rPr lang="en-US" sz="1600" dirty="0">
                <a:solidFill>
                  <a:srgbClr val="000000"/>
                </a:solidFill>
                <a:latin typeface="Century Gothic"/>
                <a:cs typeface="Century Gothic"/>
              </a:rPr>
              <a:t>If you are lost, others are too</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Go slow</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We check understanding often</a:t>
            </a:r>
          </a:p>
          <a:p>
            <a:pPr marL="0" indent="0" algn="l">
              <a:lnSpc>
                <a:spcPct val="104000"/>
              </a:lnSpc>
              <a:spcBef>
                <a:spcPts val="400"/>
              </a:spcBef>
              <a:buNone/>
            </a:pPr>
            <a:r>
              <a:rPr lang="en-US" sz="1600" dirty="0">
                <a:solidFill>
                  <a:srgbClr val="000000"/>
                </a:solidFill>
                <a:latin typeface="Century Gothic"/>
                <a:cs typeface="Century Gothic"/>
              </a:rPr>
              <a:t>Extra slides only if time allows</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Bring your ward</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Use examples from your own practice</a:t>
            </a:r>
          </a:p>
          <a:p>
            <a:pPr marL="0" indent="0" algn="l">
              <a:lnSpc>
                <a:spcPct val="104000"/>
              </a:lnSpc>
              <a:spcBef>
                <a:spcPts val="400"/>
              </a:spcBef>
              <a:buNone/>
            </a:pPr>
            <a:r>
              <a:rPr lang="en-US" sz="1600" dirty="0">
                <a:solidFill>
                  <a:srgbClr val="000000"/>
                </a:solidFill>
                <a:latin typeface="Century Gothic"/>
                <a:cs typeface="Century Gothic"/>
              </a:rPr>
              <a:t>Your experience is the raw material</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Respect time</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Start and finish on time</a:t>
            </a:r>
          </a:p>
          <a:p>
            <a:pPr marL="0" indent="0" algn="l">
              <a:lnSpc>
                <a:spcPct val="104000"/>
              </a:lnSpc>
              <a:spcBef>
                <a:spcPts val="400"/>
              </a:spcBef>
              <a:buNone/>
            </a:pPr>
            <a:r>
              <a:rPr lang="en-US" sz="1600" dirty="0">
                <a:solidFill>
                  <a:srgbClr val="000000"/>
                </a:solidFill>
                <a:latin typeface="Century Gothic"/>
                <a:cs typeface="Century Gothic"/>
              </a:rPr>
              <a:t>Phones silent, break at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Individual, no discussion, no phones (except for the online form)</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24 multiple-choice questions, one answer each</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Guess if you are not sure: this is not an exam</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Write only your participant number, not your name</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Why a quiz 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Shows where the room starts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quiz in Session 8</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1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1.1  Why research? Evidence, types of research, research vs audit, the road to publication</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1.2  From problem to question: PICO(T) with worked examples, FINER (pair task)</a:t>
            </a:r>
          </a:p>
          <a:p>
            <a:pPr marL="274320" indent="-274320" algn="l">
              <a:spcBef>
                <a:spcPts val="440"/>
              </a:spcBef>
              <a:buFont typeface="Arial"/>
              <a:buChar char="•"/>
            </a:pPr>
            <a:r>
              <a:rPr lang="en-US" sz="1900" dirty="0">
                <a:solidFill>
                  <a:srgbClr val="000000"/>
                </a:solidFill>
                <a:latin typeface="Century Gothic"/>
                <a:cs typeface="Century Gothic"/>
              </a:rPr>
              <a:t>1.3  Aims, objectives and hypotheses (quick exercise)</a:t>
            </a:r>
          </a:p>
          <a:p>
            <a:pPr marL="274320" indent="-274320" algn="l">
              <a:spcBef>
                <a:spcPts val="440"/>
              </a:spcBef>
              <a:buFont typeface="Arial"/>
              <a:buChar char="•"/>
            </a:pPr>
            <a:r>
              <a:rPr lang="en-US" sz="1900" dirty="0">
                <a:solidFill>
                  <a:srgbClr val="000000"/>
                </a:solidFill>
                <a:latin typeface="Century Gothic"/>
                <a:cs typeface="Century Gothic"/>
              </a:rPr>
              <a:t>Proposal builder 1: topic, PICO, question, FINER, aim and objectives</a:t>
            </a:r>
          </a:p>
          <a:p>
            <a:pPr marL="274320" indent="-274320" algn="l">
              <a:spcBef>
                <a:spcPts val="440"/>
              </a:spcBef>
              <a:buFont typeface="Arial"/>
              <a:buChar char="•"/>
            </a:pPr>
            <a:r>
              <a:rPr lang="en-US" sz="1900" dirty="0">
                <a:solidFill>
                  <a:srgbClr val="000000"/>
                </a:solidFill>
                <a:latin typeface="Century Gothic"/>
                <a:cs typeface="Century Gothic"/>
              </a:rPr>
              <a:t>Wrap-up: key words, recap, homework for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Why do we need research when we already have experience?</a:t>
            </a:r>
          </a:p>
          <a:p>
            <a:pPr marL="0" indent="0" algn="ctr">
              <a:spcBef>
                <a:spcPts val="1200"/>
              </a:spcBef>
              <a:buNone/>
            </a:pPr>
            <a:r>
              <a:rPr lang="en-US" sz="1900" i="1" dirty="0">
                <a:solidFill>
                  <a:srgbClr val="595959"/>
                </a:solidFill>
                <a:latin typeface="Century Gothic"/>
                <a:cs typeface="Century Gothic"/>
              </a:rPr>
              <a:t>35 minutes: evidence, the pyramid, types of research, research vs audit, and the road to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Higher = less risk of bias for questions about treatment effects</a:t>
            </a:r>
          </a:p>
          <a:p>
            <a:pPr marL="274320" indent="-274320" algn="l">
              <a:spcBef>
                <a:spcPts val="440"/>
              </a:spcBef>
              <a:buFont typeface="Arial"/>
              <a:buChar char="•"/>
            </a:pPr>
            <a:r>
              <a:rPr lang="en-US" sz="1450" dirty="0">
                <a:solidFill>
                  <a:srgbClr val="000000"/>
                </a:solidFill>
                <a:latin typeface="Century Gothic"/>
                <a:cs typeface="Century Gothic"/>
              </a:rPr>
              <a:t>Paper 1 (Boulet) is an RCT; Paper 2 (Hyun) is a cohort</a:t>
            </a:r>
          </a:p>
          <a:p>
            <a:pPr marL="274320" indent="-274320" algn="l">
              <a:spcBef>
                <a:spcPts val="440"/>
              </a:spcBef>
              <a:buFont typeface="Arial"/>
              <a:buChar char="•"/>
            </a:pPr>
            <a:r>
              <a:rPr lang="en-US" sz="1450" dirty="0">
                <a:solidFill>
                  <a:srgbClr val="000000"/>
                </a:solidFill>
                <a:latin typeface="Century Gothic"/>
                <a:cs typeface="Century Gothic"/>
              </a:rPr>
              <a:t>A well-done cohort can beat a poorly done RCT</a:t>
            </a:r>
          </a:p>
          <a:p>
            <a:pPr marL="274320" indent="-274320" algn="l">
              <a:spcBef>
                <a:spcPts val="440"/>
              </a:spcBef>
              <a:buFont typeface="Arial"/>
              <a:buChar char="•"/>
            </a:pPr>
            <a:r>
              <a:rPr lang="en-US" sz="1450" dirty="0">
                <a:solidFill>
                  <a:srgbClr val="000000"/>
                </a:solidFill>
                <a:latin typeface="Century Gothic"/>
                <a:cs typeface="Century Gothic"/>
              </a:rPr>
              <a:t>Descriptive questions do not need an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Four sources answer: 'Do restrictive fluids reduce deaths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a senior colleague: 'In 20 years, my dry patients did better'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 a registry cohort of thousands of ICU patients with sepsis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 a trial that randomised 1,554 patients with septic shock</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D: a review that pools every trial of fluid restriction</a:t>
            </a:r>
          </a:p>
          <a:p>
            <a:pPr marL="380000" indent="-380000" algn="l">
              <a:lnSpc>
                <a:spcPct val="104000"/>
              </a:lnSpc>
              <a:spcBef>
                <a:spcPts val="450"/>
              </a:spcBef>
              <a:buNone/>
            </a:pPr>
            <a:r>
              <a:rPr lang="en-US" sz="1650" b="1" dirty="0">
                <a:solidFill>
                  <a:srgbClr val="6C3483"/>
                </a:solidFill>
                <a:latin typeface="Century Gothic"/>
                <a:cs typeface="Century Gothic"/>
              </a:rPr>
              <a:t>6.  </a:t>
            </a:r>
            <a:r>
              <a:rPr lang="en-US" sz="1650" dirty="0">
                <a:solidFill>
                  <a:srgbClr val="000000"/>
                </a:solidFill>
                <a:latin typeface="Century Gothic"/>
                <a:cs typeface="Century Gothic"/>
              </a:rPr>
              <a:t>Rank them from weakest to strongest, then show fingers on the count of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Then discuss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one would change your practice?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could make C weaker than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agreed ranking per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counting how many ICU patients develop pressure injuries this year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interviewing families about visiting rules in the ICU</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re-analysing 3 years of discharge records for readmissions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a survey of hand-hygiene practice plus focus groups with nurses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quantitative, qualitative or mixed? Primary or secondary?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Shout out the answers. The next slide shows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(new counts)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Qualitative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(words, why)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Secondary</a:t>
            </a:r>
          </a:p>
          <a:p>
            <a:pPr marL="0" indent="0" algn="l">
              <a:lnSpc>
                <a:spcPct val="104000"/>
              </a:lnSpc>
              <a:spcBef>
                <a:spcPts val="400"/>
              </a:spcBef>
              <a:buNone/>
            </a:pPr>
            <a:r>
              <a:rPr lang="en-US" sz="1600" dirty="0">
                <a:solidFill>
                  <a:srgbClr val="000000"/>
                </a:solidFill>
                <a:latin typeface="Century Gothic"/>
                <a:cs typeface="Century Gothic"/>
              </a:rPr>
              <a:t>(data exist)</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Mixed methods</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(numbers +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checking whether fluid balance is charted daily, as our protocol says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randomising patients to restrictive or usual fluids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testing a new handover checklist in small PDSA cycles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interviewing nurses about why they hesitate to stop fluids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research, audit or QI? Who must approve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Show 1 finger for research, 2 for audit, 3 for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Project</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Type</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Approval before you start</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  Fluid balance charted daily?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Audit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 clinical governance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B  Randomise restrictive vs usual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 + trial registration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  Handover checklist in PDSA cycles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Quality improvement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ethics review if new risk</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D  Interview nurses about stopping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 (qualitative)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Rules differ between institutions: check your local policy, and ask the ethics committee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This course walks the whole road. Your group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good question is half of the answer.</a:t>
            </a:r>
          </a:p>
          <a:p>
            <a:pPr marL="0" indent="0" algn="ctr">
              <a:spcBef>
                <a:spcPts val="1200"/>
              </a:spcBef>
              <a:buNone/>
            </a:pPr>
            <a:r>
              <a:rPr lang="en-US" sz="1900" i="1" dirty="0">
                <a:solidFill>
                  <a:srgbClr val="595959"/>
                </a:solidFill>
                <a:latin typeface="Century Gothic"/>
                <a:cs typeface="Century Gothic"/>
              </a:rPr>
              <a:t>40 minutes: where questions come from, PICO(T) with worked examples, question types and FINER, then a pair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on the ward: three worked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Treatment questions use PICO, risk questions PECO, 'how many?' questions only P and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question: 'In adults aged 65+ after hip-fracture surgery, does a daily non-drug bundle, compared with usual care, reduce delirium in the first 7 days?'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words are P? Which are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five letters on your sheet (Exercise 1, warm-up)</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Compare with your neighbour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Five labelled pieces. The answer is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Adults 65+</a:t>
            </a:r>
          </a:p>
          <a:p>
            <a:pPr marL="0" indent="0" algn="l">
              <a:lnSpc>
                <a:spcPct val="104000"/>
              </a:lnSpc>
              <a:spcBef>
                <a:spcPts val="400"/>
              </a:spcBef>
              <a:buNone/>
            </a:pPr>
            <a:r>
              <a:rPr lang="en-US" sz="1450" dirty="0">
                <a:solidFill>
                  <a:srgbClr val="000000"/>
                </a:solidFill>
                <a:latin typeface="Century Gothic"/>
                <a:cs typeface="Century Gothic"/>
              </a:rPr>
              <a:t>after hip-fracture</a:t>
            </a:r>
          </a:p>
          <a:p>
            <a:pPr marL="0" indent="0" algn="l">
              <a:lnSpc>
                <a:spcPct val="104000"/>
              </a:lnSpc>
              <a:spcBef>
                <a:spcPts val="400"/>
              </a:spcBef>
              <a:buNone/>
            </a:pPr>
            <a:r>
              <a:rPr lang="en-US" sz="1450" dirty="0">
                <a:solidFill>
                  <a:srgbClr val="000000"/>
                </a:solidFill>
                <a:latin typeface="Century Gothic"/>
                <a:cs typeface="Century Gothic"/>
              </a:rPr>
              <a:t>surgery</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Daily non-drug</a:t>
            </a:r>
          </a:p>
          <a:p>
            <a:pPr marL="0" indent="0" algn="l">
              <a:lnSpc>
                <a:spcPct val="104000"/>
              </a:lnSpc>
              <a:spcBef>
                <a:spcPts val="400"/>
              </a:spcBef>
              <a:buNone/>
            </a:pPr>
            <a:r>
              <a:rPr lang="en-US" sz="1450" dirty="0">
                <a:solidFill>
                  <a:srgbClr val="000000"/>
                </a:solidFill>
                <a:latin typeface="Century Gothic"/>
                <a:cs typeface="Century Gothic"/>
              </a:rPr>
              <a:t>delirium bundle</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Delirium</a:t>
            </a:r>
          </a:p>
          <a:p>
            <a:pPr marL="0" indent="0" algn="l">
              <a:lnSpc>
                <a:spcPct val="104000"/>
              </a:lnSpc>
              <a:spcBef>
                <a:spcPts val="400"/>
              </a:spcBef>
              <a:buNone/>
            </a:pPr>
            <a:r>
              <a:rPr lang="en-US" sz="1450" dirty="0">
                <a:solidFill>
                  <a:srgbClr val="000000"/>
                </a:solidFill>
                <a:latin typeface="Century Gothic"/>
                <a:cs typeface="Century Gothic"/>
              </a:rPr>
              <a:t>(screened daily)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First 7 days</a:t>
            </a:r>
          </a:p>
          <a:p>
            <a:pPr marL="0" indent="0" algn="l">
              <a:lnSpc>
                <a:spcPct val="104000"/>
              </a:lnSpc>
              <a:spcBef>
                <a:spcPts val="400"/>
              </a:spcBef>
              <a:buNone/>
            </a:pPr>
            <a:r>
              <a:rPr lang="en-US" sz="1450" dirty="0">
                <a:solidFill>
                  <a:srgbClr val="000000"/>
                </a:solidFill>
                <a:latin typeface="Century Gothic"/>
                <a:cs typeface="Century Gothic"/>
              </a:rPr>
              <a:t>after surgery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diagnosis that brings patients in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fill all four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Check every question against five tests before you invest time in it.</a:t>
            </a:r>
          </a:p>
        </p:txBody>
      </p:sp>
      <p:sp>
        <p:nvSpPr>
          <p:cNvPr id="70" name="CardHead"/>
          <p:cNvSpPr/>
          <p:nvPr/>
        </p:nvSpPr>
        <p:spPr>
          <a:xfrm>
            <a:off x="457200" y="221000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Feasible</a:t>
            </a:r>
          </a:p>
        </p:txBody>
      </p:sp>
      <p:sp>
        <p:nvSpPr>
          <p:cNvPr id="71" name="CardBody"/>
          <p:cNvSpPr/>
          <p:nvPr/>
        </p:nvSpPr>
        <p:spPr>
          <a:xfrm>
            <a:off x="45720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Enough patients</a:t>
            </a:r>
          </a:p>
          <a:p>
            <a:pPr marL="0" indent="0" algn="l">
              <a:lnSpc>
                <a:spcPct val="104000"/>
              </a:lnSpc>
              <a:spcBef>
                <a:spcPts val="400"/>
              </a:spcBef>
              <a:buNone/>
            </a:pPr>
            <a:r>
              <a:rPr lang="en-US" sz="1450" dirty="0">
                <a:solidFill>
                  <a:srgbClr val="000000"/>
                </a:solidFill>
                <a:latin typeface="Century Gothic"/>
                <a:cs typeface="Century Gothic"/>
              </a:rPr>
              <a:t>Time, money, skills</a:t>
            </a:r>
          </a:p>
          <a:p>
            <a:pPr marL="0" indent="0" algn="l">
              <a:lnSpc>
                <a:spcPct val="104000"/>
              </a:lnSpc>
              <a:spcBef>
                <a:spcPts val="400"/>
              </a:spcBef>
              <a:buNone/>
            </a:pPr>
            <a:r>
              <a:rPr lang="en-US" sz="1450" dirty="0">
                <a:solidFill>
                  <a:srgbClr val="000000"/>
                </a:solidFill>
                <a:latin typeface="Century Gothic"/>
                <a:cs typeface="Century Gothic"/>
              </a:rPr>
              <a:t>Data available</a:t>
            </a:r>
          </a:p>
        </p:txBody>
      </p:sp>
      <p:sp>
        <p:nvSpPr>
          <p:cNvPr id="72" name="CardHead"/>
          <p:cNvSpPr/>
          <p:nvPr/>
        </p:nvSpPr>
        <p:spPr>
          <a:xfrm>
            <a:off x="2752720" y="221000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Interesting</a:t>
            </a:r>
          </a:p>
        </p:txBody>
      </p:sp>
      <p:sp>
        <p:nvSpPr>
          <p:cNvPr id="73" name="CardBody"/>
          <p:cNvSpPr/>
          <p:nvPr/>
        </p:nvSpPr>
        <p:spPr>
          <a:xfrm>
            <a:off x="275272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To you, your team</a:t>
            </a:r>
          </a:p>
          <a:p>
            <a:pPr marL="0" indent="0" algn="l">
              <a:lnSpc>
                <a:spcPct val="104000"/>
              </a:lnSpc>
              <a:spcBef>
                <a:spcPts val="400"/>
              </a:spcBef>
              <a:buNone/>
            </a:pPr>
            <a:r>
              <a:rPr lang="en-US" sz="1450" dirty="0">
                <a:solidFill>
                  <a:srgbClr val="000000"/>
                </a:solidFill>
                <a:latin typeface="Century Gothic"/>
                <a:cs typeface="Century Gothic"/>
              </a:rPr>
              <a:t>and to readers</a:t>
            </a:r>
          </a:p>
        </p:txBody>
      </p:sp>
      <p:sp>
        <p:nvSpPr>
          <p:cNvPr id="74" name="CardHead"/>
          <p:cNvSpPr/>
          <p:nvPr/>
        </p:nvSpPr>
        <p:spPr>
          <a:xfrm>
            <a:off x="5048240" y="221000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Novel</a:t>
            </a:r>
          </a:p>
        </p:txBody>
      </p:sp>
      <p:sp>
        <p:nvSpPr>
          <p:cNvPr id="75" name="CardBody"/>
          <p:cNvSpPr/>
          <p:nvPr/>
        </p:nvSpPr>
        <p:spPr>
          <a:xfrm>
            <a:off x="504824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Confirms, refutes</a:t>
            </a:r>
          </a:p>
          <a:p>
            <a:pPr marL="0" indent="0" algn="l">
              <a:lnSpc>
                <a:spcPct val="104000"/>
              </a:lnSpc>
              <a:spcBef>
                <a:spcPts val="400"/>
              </a:spcBef>
              <a:buNone/>
            </a:pPr>
            <a:r>
              <a:rPr lang="en-US" sz="1450" dirty="0">
                <a:solidFill>
                  <a:srgbClr val="000000"/>
                </a:solidFill>
                <a:latin typeface="Century Gothic"/>
                <a:cs typeface="Century Gothic"/>
              </a:rPr>
              <a:t>or extends what</a:t>
            </a:r>
          </a:p>
          <a:p>
            <a:pPr marL="0" indent="0" algn="l">
              <a:lnSpc>
                <a:spcPct val="104000"/>
              </a:lnSpc>
              <a:spcBef>
                <a:spcPts val="400"/>
              </a:spcBef>
              <a:buNone/>
            </a:pPr>
            <a:r>
              <a:rPr lang="en-US" sz="1450" dirty="0">
                <a:solidFill>
                  <a:srgbClr val="000000"/>
                </a:solidFill>
                <a:latin typeface="Century Gothic"/>
                <a:cs typeface="Century Gothic"/>
              </a:rPr>
              <a:t>is known</a:t>
            </a:r>
          </a:p>
        </p:txBody>
      </p:sp>
      <p:sp>
        <p:nvSpPr>
          <p:cNvPr id="76" name="CardHead"/>
          <p:cNvSpPr/>
          <p:nvPr/>
        </p:nvSpPr>
        <p:spPr>
          <a:xfrm>
            <a:off x="7343760" y="221000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Ethical</a:t>
            </a:r>
          </a:p>
        </p:txBody>
      </p:sp>
      <p:sp>
        <p:nvSpPr>
          <p:cNvPr id="77" name="CardBody"/>
          <p:cNvSpPr/>
          <p:nvPr/>
        </p:nvSpPr>
        <p:spPr>
          <a:xfrm>
            <a:off x="734376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Approvable by the</a:t>
            </a:r>
          </a:p>
          <a:p>
            <a:pPr marL="0" indent="0" algn="l">
              <a:lnSpc>
                <a:spcPct val="104000"/>
              </a:lnSpc>
              <a:spcBef>
                <a:spcPts val="400"/>
              </a:spcBef>
              <a:buNone/>
            </a:pPr>
            <a:r>
              <a:rPr lang="en-US" sz="1450" dirty="0">
                <a:solidFill>
                  <a:srgbClr val="000000"/>
                </a:solidFill>
                <a:latin typeface="Century Gothic"/>
                <a:cs typeface="Century Gothic"/>
              </a:rPr>
              <a:t>ethics committee</a:t>
            </a:r>
          </a:p>
        </p:txBody>
      </p:sp>
      <p:sp>
        <p:nvSpPr>
          <p:cNvPr id="78" name="CardHead"/>
          <p:cNvSpPr/>
          <p:nvPr/>
        </p:nvSpPr>
        <p:spPr>
          <a:xfrm>
            <a:off x="9639280" y="221000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Relevant</a:t>
            </a:r>
          </a:p>
        </p:txBody>
      </p:sp>
      <p:sp>
        <p:nvSpPr>
          <p:cNvPr id="79" name="CardBody"/>
          <p:cNvSpPr/>
          <p:nvPr/>
        </p:nvSpPr>
        <p:spPr>
          <a:xfrm>
            <a:off x="963928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Could change</a:t>
            </a:r>
          </a:p>
          <a:p>
            <a:pPr marL="0" indent="0" algn="l">
              <a:lnSpc>
                <a:spcPct val="104000"/>
              </a:lnSpc>
              <a:spcBef>
                <a:spcPts val="400"/>
              </a:spcBef>
              <a:buNone/>
            </a:pPr>
            <a:r>
              <a:rPr lang="en-US" sz="1450" dirty="0">
                <a:solidFill>
                  <a:srgbClr val="000000"/>
                </a:solidFill>
                <a:latin typeface="Century Gothic"/>
                <a:cs typeface="Century Gothic"/>
              </a:rPr>
              <a:t>practice, policy</a:t>
            </a:r>
          </a:p>
          <a:p>
            <a:pPr marL="0" indent="0" algn="l">
              <a:lnSpc>
                <a:spcPct val="104000"/>
              </a:lnSpc>
              <a:spcBef>
                <a:spcPts val="400"/>
              </a:spcBef>
              <a:buNone/>
            </a:pPr>
            <a:r>
              <a:rPr lang="en-US" sz="1450" dirty="0">
                <a:solidFill>
                  <a:srgbClr val="000000"/>
                </a:solidFill>
                <a:latin typeface="Century Gothic"/>
                <a:cs typeface="Century Gothic"/>
              </a:rPr>
              <a:t>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Our question is important but not feasible for one unit: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from scenario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Pick ONE scenario from Exercise 1 on your sheet</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Fill the PICO(T) boxes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question as one sentence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Give it a quick FINER traffic light (green / amber / red)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H0 and H1 (or say why none is needed)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Scenarios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Ventilator pneumonia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Pressure injuries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Delirium</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Stroke door-to-needle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Medication errors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PICO question + FINER light + hypothesis, ready to read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question tells us what we want to know. Aims and objectives tell us what we will do.</a:t>
            </a:r>
          </a:p>
          <a:p>
            <a:pPr marL="0" indent="0" algn="ctr">
              <a:spcBef>
                <a:spcPts val="1200"/>
              </a:spcBef>
              <a:buNone/>
            </a:pPr>
            <a:r>
              <a:rPr lang="en-US" sz="1900" i="1" dirty="0">
                <a:solidFill>
                  <a:srgbClr val="595959"/>
                </a:solidFill>
                <a:latin typeface="Century Gothic"/>
                <a:cs typeface="Century Gothic"/>
              </a:rPr>
              <a:t>20 minutes: aim, objectives, null and alternative hypotheses, and a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aim, 2-3 measurable objectives, one testable hypothesis per main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exercise: 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Use the question from your pair task (or the delirium example)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Write ONE aim: 'To compare...' or 'To describe...'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Write TWO objectives with measurable verbs; mark the primary one</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Write H0 and H1 for the primary objective (or 'descriptive: no hypothesis')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is every verb measurable?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Verbs that work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estimate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describe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determine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Exercise 3 on the sheet. Model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Model answer: the delirium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Aim</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To compare a daily</a:t>
            </a:r>
          </a:p>
          <a:p>
            <a:pPr marL="0" indent="0" algn="l">
              <a:lnSpc>
                <a:spcPct val="104000"/>
              </a:lnSpc>
              <a:spcBef>
                <a:spcPts val="400"/>
              </a:spcBef>
              <a:buNone/>
            </a:pPr>
            <a:r>
              <a:rPr lang="en-US" sz="1750" dirty="0">
                <a:solidFill>
                  <a:srgbClr val="000000"/>
                </a:solidFill>
                <a:latin typeface="Century Gothic"/>
                <a:cs typeface="Century Gothic"/>
              </a:rPr>
              <a:t>non-drug bundle with</a:t>
            </a:r>
          </a:p>
          <a:p>
            <a:pPr marL="0" indent="0" algn="l">
              <a:lnSpc>
                <a:spcPct val="104000"/>
              </a:lnSpc>
              <a:spcBef>
                <a:spcPts val="400"/>
              </a:spcBef>
              <a:buNone/>
            </a:pPr>
            <a:r>
              <a:rPr lang="en-US" sz="1750" dirty="0">
                <a:solidFill>
                  <a:srgbClr val="000000"/>
                </a:solidFill>
                <a:latin typeface="Century Gothic"/>
                <a:cs typeface="Century Gothic"/>
              </a:rPr>
              <a:t>usual care after</a:t>
            </a:r>
          </a:p>
          <a:p>
            <a:pPr marL="0" indent="0" algn="l">
              <a:lnSpc>
                <a:spcPct val="104000"/>
              </a:lnSpc>
              <a:spcBef>
                <a:spcPts val="400"/>
              </a:spcBef>
              <a:buNone/>
            </a:pPr>
            <a:r>
              <a:rPr lang="en-US" sz="1750" dirty="0">
                <a:solidFill>
                  <a:srgbClr val="000000"/>
                </a:solidFill>
                <a:latin typeface="Century Gothic"/>
                <a:cs typeface="Century Gothic"/>
              </a:rPr>
              <a:t>hip-fracture surgery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Objectives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(Primary) Compare</a:t>
            </a:r>
          </a:p>
          <a:p>
            <a:pPr marL="0" indent="0" algn="l">
              <a:lnSpc>
                <a:spcPct val="104000"/>
              </a:lnSpc>
              <a:spcBef>
                <a:spcPts val="400"/>
              </a:spcBef>
              <a:buNone/>
            </a:pPr>
            <a:r>
              <a:rPr lang="en-US" sz="1750" dirty="0">
                <a:solidFill>
                  <a:srgbClr val="000000"/>
                </a:solidFill>
                <a:latin typeface="Century Gothic"/>
                <a:cs typeface="Century Gothic"/>
              </a:rPr>
              <a:t>delirium in 7 days</a:t>
            </a:r>
          </a:p>
          <a:p>
            <a:pPr marL="0" indent="0" algn="l">
              <a:lnSpc>
                <a:spcPct val="104000"/>
              </a:lnSpc>
              <a:spcBef>
                <a:spcPts val="400"/>
              </a:spcBef>
              <a:buNone/>
            </a:pPr>
            <a:r>
              <a:rPr lang="en-US" sz="1750" dirty="0">
                <a:solidFill>
                  <a:srgbClr val="000000"/>
                </a:solidFill>
                <a:latin typeface="Century Gothic"/>
                <a:cs typeface="Century Gothic"/>
              </a:rPr>
              <a:t>2. Compare length</a:t>
            </a:r>
          </a:p>
          <a:p>
            <a:pPr marL="0" indent="0" algn="l">
              <a:lnSpc>
                <a:spcPct val="104000"/>
              </a:lnSpc>
              <a:spcBef>
                <a:spcPts val="400"/>
              </a:spcBef>
              <a:buNone/>
            </a:pPr>
            <a:r>
              <a:rPr lang="en-US" sz="1750" dirty="0">
                <a:solidFill>
                  <a:srgbClr val="000000"/>
                </a:solidFill>
                <a:latin typeface="Century Gothic"/>
                <a:cs typeface="Century Gothic"/>
              </a:rPr>
              <a:t>of stay</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Hypothesis</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H0: delirium is the</a:t>
            </a:r>
          </a:p>
          <a:p>
            <a:pPr marL="0" indent="0" algn="l">
              <a:lnSpc>
                <a:spcPct val="104000"/>
              </a:lnSpc>
              <a:spcBef>
                <a:spcPts val="400"/>
              </a:spcBef>
              <a:buNone/>
            </a:pPr>
            <a:r>
              <a:rPr lang="en-US" sz="1750" dirty="0">
                <a:solidFill>
                  <a:srgbClr val="000000"/>
                </a:solidFill>
                <a:latin typeface="Century Gothic"/>
                <a:cs typeface="Century Gothic"/>
              </a:rPr>
              <a:t>same in both groups</a:t>
            </a:r>
          </a:p>
          <a:p>
            <a:pPr marL="0" indent="0" algn="l">
              <a:lnSpc>
                <a:spcPct val="104000"/>
              </a:lnSpc>
              <a:spcBef>
                <a:spcPts val="400"/>
              </a:spcBef>
              <a:buNone/>
            </a:pPr>
            <a:r>
              <a:rPr lang="en-US" sz="1750" dirty="0">
                <a:solidFill>
                  <a:srgbClr val="000000"/>
                </a:solidFill>
                <a:latin typeface="Century Gothic"/>
                <a:cs typeface="Century Gothic"/>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it is your group's turn: one topic, one question, one aim.</a:t>
            </a:r>
          </a:p>
          <a:p>
            <a:pPr marL="0" indent="0" algn="ctr">
              <a:spcBef>
                <a:spcPts val="1200"/>
              </a:spcBef>
              <a:buNone/>
            </a:pPr>
            <a:r>
              <a:rPr lang="en-US" sz="1900" i="1" dirty="0">
                <a:solidFill>
                  <a:srgbClr val="595959"/>
                </a:solidFill>
                <a:latin typeface="Century Gothic"/>
                <a:cs typeface="Century Gothic"/>
              </a:rPr>
              <a:t>30 minutes of group work: the start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 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28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Choose ONE problem from your unit (list 3 ideas, vote, pick one)</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Fill the PICO(T) table and write the question in one sentence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FINER traffic light for each letter; rewrite if anything is red</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Research, audit or QI? Note the approval route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Aim + 2-3 objectives (mark the primary) + H0/H1</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question aloud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0-7 min: choose the topic</a:t>
            </a:r>
          </a:p>
          <a:p>
            <a:pPr marL="0" indent="0" algn="l">
              <a:lnSpc>
                <a:spcPct val="104000"/>
              </a:lnSpc>
              <a:spcBef>
                <a:spcPts val="300"/>
              </a:spcBef>
              <a:buNone/>
            </a:pPr>
            <a:r>
              <a:rPr lang="en-US" sz="1500" dirty="0">
                <a:solidFill>
                  <a:srgbClr val="000000"/>
                </a:solidFill>
                <a:latin typeface="Century Gothic"/>
                <a:cs typeface="Century Gothic"/>
              </a:rPr>
              <a:t>7-14: PICO + question</a:t>
            </a:r>
          </a:p>
          <a:p>
            <a:pPr marL="0" indent="0" algn="l">
              <a:lnSpc>
                <a:spcPct val="104000"/>
              </a:lnSpc>
              <a:spcBef>
                <a:spcPts val="300"/>
              </a:spcBef>
              <a:buNone/>
            </a:pPr>
            <a:r>
              <a:rPr lang="en-US" sz="1500" dirty="0">
                <a:solidFill>
                  <a:srgbClr val="000000"/>
                </a:solidFill>
                <a:latin typeface="Century Gothic"/>
                <a:cs typeface="Century Gothic"/>
              </a:rPr>
              <a:t>14-19: FINER + rewrite</a:t>
            </a:r>
          </a:p>
          <a:p>
            <a:pPr marL="0" indent="0" algn="l">
              <a:lnSpc>
                <a:spcPct val="104000"/>
              </a:lnSpc>
              <a:spcBef>
                <a:spcPts val="300"/>
              </a:spcBef>
              <a:buNone/>
            </a:pPr>
            <a:r>
              <a:rPr lang="en-US" sz="1500" dirty="0">
                <a:solidFill>
                  <a:srgbClr val="000000"/>
                </a:solidFill>
                <a:latin typeface="Century Gothic"/>
                <a:cs typeface="Century Gothic"/>
              </a:rPr>
              <a:t>19-25: aim, objectives, H0/H1</a:t>
            </a:r>
          </a:p>
          <a:p>
            <a:pPr marL="0" indent="0" algn="l">
              <a:lnSpc>
                <a:spcPct val="104000"/>
              </a:lnSpc>
              <a:spcBef>
                <a:spcPts val="300"/>
              </a:spcBef>
              <a:buNone/>
            </a:pPr>
            <a:r>
              <a:rPr lang="en-US" sz="1500" dirty="0">
                <a:solidFill>
                  <a:srgbClr val="000000"/>
                </a:solidFill>
                <a:latin typeface="Century Gothic"/>
                <a:cs typeface="Century Gothic"/>
              </a:rPr>
              <a:t>25-28: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started: PICO, question, FINER, aim,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Evidence pyramid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Ranks designs by how well they protect against bias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Research / audit / QI</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What is best? / Do we do it? / How do we improve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PICO(T) / PECO</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Population, Intervention (or Exposure), Comparison, Outcome, Time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FINER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Feasible, Interesting, Novel, Ethical, Relevant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Aim / objective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broad why / the specific, measurable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H0 / H1</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 difference / a difference (we test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Why research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Experience asks;</a:t>
            </a:r>
          </a:p>
          <a:p>
            <a:pPr marL="0" indent="0" algn="l">
              <a:lnSpc>
                <a:spcPct val="104000"/>
              </a:lnSpc>
              <a:spcBef>
                <a:spcPts val="400"/>
              </a:spcBef>
              <a:buNone/>
            </a:pPr>
            <a:r>
              <a:rPr lang="en-US" sz="1750" dirty="0">
                <a:solidFill>
                  <a:srgbClr val="000000"/>
                </a:solidFill>
                <a:latin typeface="Century Gothic"/>
                <a:cs typeface="Century Gothic"/>
              </a:rPr>
              <a:t>fair comparisons</a:t>
            </a:r>
          </a:p>
          <a:p>
            <a:pPr marL="0" indent="0" algn="l">
              <a:lnSpc>
                <a:spcPct val="104000"/>
              </a:lnSpc>
              <a:spcBef>
                <a:spcPts val="400"/>
              </a:spcBef>
              <a:buNone/>
            </a:pPr>
            <a:r>
              <a:rPr lang="en-US" sz="1750" dirty="0">
                <a:solidFill>
                  <a:srgbClr val="000000"/>
                </a:solidFill>
                <a:latin typeface="Century Gothic"/>
                <a:cs typeface="Century Gothic"/>
              </a:rPr>
              <a:t>in enough patients answer</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Ask precisely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PICO(T) question,</a:t>
            </a:r>
          </a:p>
          <a:p>
            <a:pPr marL="0" indent="0" algn="l">
              <a:lnSpc>
                <a:spcPct val="104000"/>
              </a:lnSpc>
              <a:spcBef>
                <a:spcPts val="400"/>
              </a:spcBef>
              <a:buNone/>
            </a:pPr>
            <a:r>
              <a:rPr lang="en-US" sz="1750" dirty="0">
                <a:solidFill>
                  <a:srgbClr val="000000"/>
                </a:solidFill>
                <a:latin typeface="Century Gothic"/>
                <a:cs typeface="Century Gothic"/>
              </a:rPr>
              <a:t>one primary outcome,</a:t>
            </a:r>
          </a:p>
          <a:p>
            <a:pPr marL="0" indent="0" algn="l">
              <a:lnSpc>
                <a:spcPct val="104000"/>
              </a:lnSpc>
              <a:spcBef>
                <a:spcPts val="400"/>
              </a:spcBef>
              <a:buNone/>
            </a:pPr>
            <a:r>
              <a:rPr lang="en-US" sz="1750" dirty="0">
                <a:solidFill>
                  <a:srgbClr val="000000"/>
                </a:solidFill>
                <a:latin typeface="Century Gothic"/>
                <a:cs typeface="Century Gothic"/>
              </a:rPr>
              <a:t>FINER before you start</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it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aim, 2-3</a:t>
            </a:r>
          </a:p>
          <a:p>
            <a:pPr marL="0" indent="0" algn="l">
              <a:lnSpc>
                <a:spcPct val="104000"/>
              </a:lnSpc>
              <a:spcBef>
                <a:spcPts val="400"/>
              </a:spcBef>
              <a:buNone/>
            </a:pPr>
            <a:r>
              <a:rPr lang="en-US" sz="1750" dirty="0">
                <a:solidFill>
                  <a:srgbClr val="000000"/>
                </a:solidFill>
                <a:latin typeface="Century Gothic"/>
                <a:cs typeface="Century Gothic"/>
              </a:rPr>
              <a:t>measurable objectives,</a:t>
            </a:r>
          </a:p>
          <a:p>
            <a:pPr marL="0" indent="0" algn="l">
              <a:lnSpc>
                <a:spcPct val="104000"/>
              </a:lnSpc>
              <a:spcBef>
                <a:spcPts val="400"/>
              </a:spcBef>
              <a:buNone/>
            </a:pPr>
            <a:r>
              <a:rPr lang="en-US" sz="1750" dirty="0">
                <a:solidFill>
                  <a:srgbClr val="000000"/>
                </a:solidFill>
                <a:latin typeface="Century Gothic"/>
                <a:cs typeface="Century Gothic"/>
              </a:rPr>
              <a:t>a testable H0/H1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FINER letter did our running example fail, and why?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Rewrite as an objective: 'To understand pressure injuries on our ward'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PICO, question, aim and objectives if not done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Everyone: for each PICO word, write 2-3 English synonyms (Exercise 5)</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think of one local number that shows the problem (an audit, a count)</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Optional: install Zotero (free, zotero.org) on your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next Saturday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group's PICO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synonym list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laptop or phone per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PICO question ready for next Saturday's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Session 1</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Diagnosis</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tested</a:t>
            </a:r>
          </a:p>
          <a:p>
            <a:pPr marL="0" indent="0" algn="l">
              <a:lnSpc>
                <a:spcPct val="104000"/>
              </a:lnSpc>
              <a:spcBef>
                <a:spcPts val="400"/>
              </a:spcBef>
              <a:buNone/>
            </a:pPr>
            <a:r>
              <a:rPr lang="en-US" sz="1750" dirty="0">
                <a:solidFill>
                  <a:srgbClr val="000000"/>
                </a:solidFill>
                <a:latin typeface="Century Gothic"/>
                <a:cs typeface="Century Gothic"/>
              </a:rPr>
              <a:t>I: new test</a:t>
            </a:r>
          </a:p>
          <a:p>
            <a:pPr marL="0" indent="0" algn="l">
              <a:lnSpc>
                <a:spcPct val="104000"/>
              </a:lnSpc>
              <a:spcBef>
                <a:spcPts val="400"/>
              </a:spcBef>
              <a:buNone/>
            </a:pPr>
            <a:r>
              <a:rPr lang="en-US" sz="1750" dirty="0">
                <a:solidFill>
                  <a:srgbClr val="000000"/>
                </a:solidFill>
                <a:latin typeface="Century Gothic"/>
                <a:cs typeface="Century Gothic"/>
              </a:rPr>
              <a:t>C: reference standard</a:t>
            </a:r>
          </a:p>
          <a:p>
            <a:pPr marL="0" indent="0" algn="l">
              <a:lnSpc>
                <a:spcPct val="104000"/>
              </a:lnSpc>
              <a:spcBef>
                <a:spcPts val="400"/>
              </a:spcBef>
              <a:buNone/>
            </a:pPr>
            <a:r>
              <a:rPr lang="en-US" sz="1750" dirty="0">
                <a:solidFill>
                  <a:srgbClr val="000000"/>
                </a:solidFill>
                <a:latin typeface="Century Gothic"/>
                <a:cs typeface="Century Gothic"/>
              </a:rPr>
              <a:t>O: accuracy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Prognosis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with X</a:t>
            </a:r>
          </a:p>
          <a:p>
            <a:pPr marL="0" indent="0" algn="l">
              <a:lnSpc>
                <a:spcPct val="104000"/>
              </a:lnSpc>
              <a:spcBef>
                <a:spcPts val="400"/>
              </a:spcBef>
              <a:buNone/>
            </a:pPr>
            <a:r>
              <a:rPr lang="en-US" sz="1750" dirty="0">
                <a:solidFill>
                  <a:srgbClr val="000000"/>
                </a:solidFill>
                <a:latin typeface="Century Gothic"/>
                <a:cs typeface="Century Gothic"/>
              </a:rPr>
              <a:t>E: a risk factor</a:t>
            </a:r>
          </a:p>
          <a:p>
            <a:pPr marL="0" indent="0" algn="l">
              <a:lnSpc>
                <a:spcPct val="104000"/>
              </a:lnSpc>
              <a:spcBef>
                <a:spcPts val="400"/>
              </a:spcBef>
              <a:buNone/>
            </a:pPr>
            <a:r>
              <a:rPr lang="en-US" sz="1750" dirty="0">
                <a:solidFill>
                  <a:srgbClr val="000000"/>
                </a:solidFill>
                <a:latin typeface="Century Gothic"/>
                <a:cs typeface="Century Gothic"/>
              </a:rPr>
              <a:t>O: what happens</a:t>
            </a:r>
          </a:p>
          <a:p>
            <a:pPr marL="0" indent="0" algn="l">
              <a:lnSpc>
                <a:spcPct val="104000"/>
              </a:lnSpc>
              <a:spcBef>
                <a:spcPts val="400"/>
              </a:spcBef>
              <a:buNone/>
            </a:pPr>
            <a:r>
              <a:rPr lang="en-US" sz="1750" dirty="0">
                <a:solidFill>
                  <a:srgbClr val="000000"/>
                </a:solidFill>
                <a:latin typeface="Century Gothic"/>
                <a:cs typeface="Century Gothic"/>
              </a:rPr>
              <a:t>T: by when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Qualitative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Sample, Phenomenon</a:t>
            </a:r>
          </a:p>
          <a:p>
            <a:pPr marL="0" indent="0" algn="l">
              <a:lnSpc>
                <a:spcPct val="104000"/>
              </a:lnSpc>
              <a:spcBef>
                <a:spcPts val="400"/>
              </a:spcBef>
              <a:buNone/>
            </a:pPr>
            <a:r>
              <a:rPr lang="en-US" sz="1750" dirty="0">
                <a:solidFill>
                  <a:srgbClr val="000000"/>
                </a:solidFill>
                <a:latin typeface="Century Gothic"/>
                <a:cs typeface="Century Gothic"/>
              </a:rPr>
              <a:t>of interest, Design,</a:t>
            </a:r>
          </a:p>
          <a:p>
            <a:pPr marL="0" indent="0" algn="l">
              <a:lnSpc>
                <a:spcPct val="104000"/>
              </a:lnSpc>
              <a:spcBef>
                <a:spcPts val="400"/>
              </a:spcBef>
              <a:buNone/>
            </a:pPr>
            <a:r>
              <a:rPr lang="en-US" sz="1750" dirty="0">
                <a:solidFill>
                  <a:srgbClr val="000000"/>
                </a:solidFill>
                <a:latin typeface="Century Gothic"/>
                <a:cs typeface="Century Gothic"/>
              </a:rPr>
              <a:t>Evaluation,</a:t>
            </a:r>
          </a:p>
          <a:p>
            <a:pPr marL="0" indent="0" algn="l">
              <a:lnSpc>
                <a:spcPct val="104000"/>
              </a:lnSpc>
              <a:spcBef>
                <a:spcPts val="400"/>
              </a:spcBef>
              <a:buNone/>
            </a:pPr>
            <a:r>
              <a:rPr lang="en-US" sz="1750" dirty="0">
                <a:solidFill>
                  <a:srgbClr val="000000"/>
                </a:solidFill>
                <a:latin typeface="Century Gothic"/>
                <a:cs typeface="Century Gothic"/>
              </a:rPr>
              <a:t>Research type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One-sided or two-sided H1?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Two-sided (usual)</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differs'</a:t>
            </a:r>
          </a:p>
          <a:p>
            <a:pPr marL="0" indent="0" algn="l">
              <a:lnSpc>
                <a:spcPct val="104000"/>
              </a:lnSpc>
              <a:spcBef>
                <a:spcPts val="400"/>
              </a:spcBef>
              <a:buNone/>
            </a:pPr>
            <a:r>
              <a:rPr lang="en-US" sz="1750" dirty="0">
                <a:solidFill>
                  <a:srgbClr val="000000"/>
                </a:solidFill>
                <a:latin typeface="Century Gothic"/>
                <a:cs typeface="Century Gothic"/>
              </a:rPr>
              <a:t>Allows benefit</a:t>
            </a:r>
          </a:p>
          <a:p>
            <a:pPr marL="0" indent="0" algn="l">
              <a:lnSpc>
                <a:spcPct val="104000"/>
              </a:lnSpc>
              <a:spcBef>
                <a:spcPts val="400"/>
              </a:spcBef>
              <a:buNone/>
            </a:pPr>
            <a:r>
              <a:rPr lang="en-US" sz="1750" dirty="0">
                <a:solidFill>
                  <a:srgbClr val="000000"/>
                </a:solidFill>
                <a:latin typeface="Century Gothic"/>
                <a:cs typeface="Century Gothic"/>
              </a:rPr>
              <a:t>OR harm</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One-sided (rare)</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is lower'</a:t>
            </a:r>
          </a:p>
          <a:p>
            <a:pPr marL="0" indent="0" algn="l">
              <a:lnSpc>
                <a:spcPct val="104000"/>
              </a:lnSpc>
              <a:spcBef>
                <a:spcPts val="400"/>
              </a:spcBef>
              <a:buNone/>
            </a:pPr>
            <a:r>
              <a:rPr lang="en-US" sz="1750" dirty="0">
                <a:solidFill>
                  <a:srgbClr val="000000"/>
                </a:solidFill>
                <a:latin typeface="Century Gothic"/>
                <a:cs typeface="Century Gothic"/>
              </a:rPr>
              <a:t>Ignores possible harm</a:t>
            </a:r>
          </a:p>
          <a:p>
            <a:pPr marL="0" indent="0" algn="l">
              <a:lnSpc>
                <a:spcPct val="104000"/>
              </a:lnSpc>
              <a:spcBef>
                <a:spcPts val="400"/>
              </a:spcBef>
              <a:buNone/>
            </a:pPr>
            <a:r>
              <a:rPr lang="en-US" sz="1750" dirty="0">
                <a:solidFill>
                  <a:srgbClr val="000000"/>
                </a:solidFill>
                <a:latin typeface="Century Gothic"/>
                <a:cs typeface="Century Gothic"/>
              </a:rPr>
              <a:t>Needs strong reason</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'Not worse by more</a:t>
            </a:r>
          </a:p>
          <a:p>
            <a:pPr marL="0" indent="0" algn="l">
              <a:lnSpc>
                <a:spcPct val="104000"/>
              </a:lnSpc>
              <a:spcBef>
                <a:spcPts val="400"/>
              </a:spcBef>
              <a:buNone/>
            </a:pPr>
            <a:r>
              <a:rPr lang="en-US" sz="1750" dirty="0">
                <a:solidFill>
                  <a:srgbClr val="000000"/>
                </a:solidFill>
                <a:latin typeface="Century Gothic"/>
                <a:cs typeface="Century Gothic"/>
              </a:rPr>
              <a:t>than a set margin'</a:t>
            </a:r>
          </a:p>
          <a:p>
            <a:pPr marL="0" indent="0" algn="l">
              <a:lnSpc>
                <a:spcPct val="104000"/>
              </a:lnSpc>
              <a:spcBef>
                <a:spcPts val="400"/>
              </a:spcBef>
              <a:buNone/>
            </a:pPr>
            <a:r>
              <a:rPr lang="en-US" sz="1750" dirty="0">
                <a:solidFill>
                  <a:srgbClr val="000000"/>
                </a:solidFill>
                <a:latin typeface="Century Gothic"/>
                <a:cs typeface="Century Gothic"/>
              </a:rPr>
              <a:t>(Session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in doubt, write a two-sided H1.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All hospitalised adults in the country: does vitamin D reduce mortality over 10 years?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Septic shock: does withholding antibiotics for 24 h reduce resistance?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Do our ICU nurses wash their hands? (already audited monthly for 5 years)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letter per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 a ward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Practise on your own ward: take a corridor question and fill the PICO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