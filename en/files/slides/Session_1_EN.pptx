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 id="307" r:id="rId151"/>
    <p:sldId id="308" r:id="rId152"/>
    <p:sldId id="309" r:id="rId1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 Id="rId151" Type="http://schemas.openxmlformats.org/officeDocument/2006/relationships/slide" Target="slides/slide52.xml"/><Relationship Id="rId152" Type="http://schemas.openxmlformats.org/officeDocument/2006/relationships/slide" Target="slides/slide53.xml"/><Relationship Id="rId153" Type="http://schemas.openxmlformats.org/officeDocument/2006/relationships/slide" Target="slides/slide54.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Title slide (0:00, 19:30). Welcome everyone and introduce the trainers in one sentence each.</a:t>
            </a:r>
          </a:p>
          <a:p>
            <a:r>
              <a:rPr lang="en-US" sz="1400" b="0" dirty="0"/>
              <a:t>Over eight Saturdays we walk the whole road from a bedside question to a paper ready to submit. No software and no formulas: pictures, examples and short tasks done together.</a:t>
            </a:r>
          </a:p>
          <a:p>
            <a:r>
              <a:rPr lang="en-US" sz="1400" b="0" dirty="0"/>
              <a:t>Ask everyone to rename themselves with their full name and to find the chat, the poll and 'raise hand'.</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Ask: 'Think of one thing in your department that colleagues do differently, where nobody knows which way is best. Type it in the chat.' Read two or three answers aloud.</a:t>
            </a:r>
          </a:p>
          <a:p>
            <a:r>
              <a:rPr lang="en-US" sz="1400" b="0" dirty="0"/>
              <a:t>Point: research starts from clinical uncertainty, not from statistics.</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Weeks 1-2: the question and the evidence. Weeks 3-4: design and bias. Weeks 5-6: data and analysis. Weeks 7-8: ethics, writing and publishing. One session every Saturday, with a week between sessions for homework.</a:t>
            </a:r>
          </a:p>
          <a:p>
            <a:r>
              <a:rPr lang="en-US" sz="1400" b="0" dirty="0"/>
              <a:t>One running example travels with us: fluids in septic shock and 28-day mortality. From Session 5 it continues in the course study, FLUID-ICU.</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Level 1 takes you from a clinical question to a paper. In it the trainers run the software and you read and interpret the results. Level 2 teaches statistical modelling in R. Level 3 covers advanced methods on request.</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Proposal: built one part at a time in class, submitted in Session 8. A few volunteers also present theirs (6 minutes each).</a:t>
            </a:r>
          </a:p>
          <a:p>
            <a:r>
              <a:rPr lang="en-US" sz="1400" b="0" dirty="0"/>
              <a:t>Manuscript: FLUID-ICU is a course study of 620 ICU patients with sepsis, with five questions (Q1 to Q5). Each person chooses one, receives its tables and figures, and writes the paper. After Session 8 each person reviews one colleague's draft.</a:t>
            </a:r>
          </a:p>
          <a:p>
            <a:r>
              <a:rPr lang="en-US" sz="1400" b="0" dirty="0"/>
              <a:t>Both are written in English. Vietnamese is accepted if English is impossible.</a:t>
            </a:r>
          </a:p>
          <a:p>
            <a:r>
              <a:rPr lang="en-US" sz="1400" b="0" dirty="0"/>
              <a:t>Briefs: Course/Assignment/proposal_brief and manuscript_brief.</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One card per two-week block. The aim is understanding and interpretation, not calculation.</a:t>
            </a:r>
          </a:p>
          <a:p>
            <a:r>
              <a:rPr lang="en-US" sz="1400" b="0" dirty="0"/>
              <a:t>Ask: 'Which card worries you most? Answer in the chat.' Usually: analyse. Reassure: we go slowly and check understanding often.</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same rhythm every Saturday: recap, two teaching blocks with checks and short tasks, a 15-minute break, then time to build your proposal or paper.</a:t>
            </a:r>
          </a:p>
          <a:p>
            <a:r>
              <a:rPr lang="en-US" sz="1400" b="0" dirty="0"/>
              <a:t>Each session ends with extra slides that we use only if there is time. You can read them at home.</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In each proposal-builder slot the trainer first fills in the part for the running example on a shared screen. Then you write the same part for your own question.</a:t>
            </a:r>
          </a:p>
          <a:p>
            <a:r>
              <a:rPr lang="en-US" sz="1400" b="0" dirty="0"/>
              <a:t>Template: Course/Templates/Research_Proposal_Template.docx (sent by email before Session 1).</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About 30 doctors and nurses join from home. We work as one class: no groups.</a:t>
            </a:r>
          </a:p>
          <a:p>
            <a:r>
              <a:rPr lang="en-US" sz="1400" b="0" dirty="0"/>
              <a:t>Give 3 minutes for typing. Then call on 4-5 people to say their question, and point out shared themes (fluids, sedation, infection, mobilisation, medication safety).</a:t>
            </a:r>
          </a:p>
          <a:p>
            <a:r>
              <a:rPr lang="en-US" sz="1400" b="0" dirty="0"/>
              <a:t>The questions stay in the chat. In Proposal builder 1 people can scroll back to them.</a:t>
            </a:r>
          </a:p>
          <a:p>
            <a:r>
              <a:rPr lang="en-US" sz="1400" b="0" dirty="0"/>
              <a:t>Timing: 6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a safe place to say 'I do not understand'. A private chat message to the trainer is fine.</a:t>
            </a:r>
          </a:p>
          <a:p>
            <a:r>
              <a:rPr lang="en-US" sz="1400" b="0" dirty="0"/>
              <a:t>Chat in Vietnamese or English, whichever helps you think. No patient names or identifiable details.</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Paste the Google Form link in the chat. The form asks for the full name, so the Session 1 and Session 8 answers can be matched.</a:t>
            </a:r>
          </a:p>
          <a:p>
            <a:r>
              <a:rPr lang="en-US" sz="1400" b="0" dirty="0"/>
              <a:t>Participants see no score or answers after submitting. The trainers see the results at once in the form's Responses tab and the linked results sheet.</a:t>
            </a:r>
          </a:p>
          <a:p>
            <a:r>
              <a:rPr lang="en-US" sz="1400" b="0" dirty="0"/>
              <a:t>Close the form after 15 minutes. Do not give the answers today: they are shared after the second attempt in Session 8.</a:t>
            </a:r>
          </a:p>
          <a:p>
            <a:r>
              <a:rPr lang="en-US" sz="1400" b="0" dirty="0"/>
              <a:t>Timing: 15 minutes. Session 1 teaching starts at 0:35 (20:05).</a:t>
            </a:r>
          </a:p>
          <a:p>
            <a:r>
              <a:rPr lang="en-US" sz="1400" b="0" dirty="0"/>
              <a:t>The form is created once from Course/Assessment/google_form (steps in its README).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Session 1 opening (0:35, 20:05), right after the pre-course quiz.</a:t>
            </a:r>
          </a:p>
          <a:p>
            <a:r>
              <a:rPr lang="en-US" sz="1400" b="0" dirty="0"/>
              <a:t>Today's goal: everyone leaves with the start of their own research question, aim and objectives.</a:t>
            </a:r>
          </a:p>
          <a:p>
            <a:r>
              <a:rPr lang="en-US" sz="1400" b="0" dirty="0"/>
              <a:t>The class has little research background and it is evening after work: go slowly and stop at every check.</a:t>
            </a:r>
          </a:p>
          <a:p>
            <a:r>
              <a:rPr lang="en-US" sz="1400" b="0" dirty="0"/>
              <a:t>Timing: 1 minute. Point at the agenda, do not read 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Segment 1.1 (0:35-1:10, 20:05-20:40).</a:t>
            </a:r>
          </a:p>
          <a:p>
            <a:r>
              <a:rPr lang="en-US" sz="1400" b="0" dirty="0"/>
              <a:t>Ask two or three people to answer, microphone on. Expected: experience favours memorable cases, colleagues disagree, practice changes.</a:t>
            </a:r>
          </a:p>
          <a:p>
            <a:r>
              <a:rPr lang="en-US" sz="1400" b="0" dirty="0"/>
              <a:t>Point: experience is good for raising questions, weak for answering them.</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Left: one clinician, three patients, no comparison group. Right: 50 patients per group, every death counted.</a:t>
            </a:r>
          </a:p>
          <a:p>
            <a:r>
              <a:rPr lang="en-US" sz="1400" b="0" dirty="0"/>
              <a:t>The numbers are illustrative, but the pattern is real: the large CLASSIC trial (NEJM 2022, 1,554 patients) found the same 90-day mortality with restrictive and standard fluids (42.3% vs 42.1%).</a:t>
            </a:r>
          </a:p>
          <a:p>
            <a:r>
              <a:rPr lang="en-US" sz="1400" b="0" dirty="0"/>
              <a:t>Ask: 'Why do we remember the three good outcomes?' Expected: recall bias. Dramatic cases stick, failures are forgotten.</a:t>
            </a:r>
          </a:p>
          <a:p>
            <a:r>
              <a:rPr lang="en-US" sz="1400" b="0" dirty="0"/>
              <a:t>Timing: 4 minutes. The whole course rests on this idea.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 simulation: the true risk of death is 40%. Top row: 20 wards with 5 patients each, from 0% to 80% deaths by chance alone. Groups of 500 cluster around 40%.</a:t>
            </a:r>
          </a:p>
          <a:p>
            <a:r>
              <a:rPr lang="en-US" sz="1400" b="0" dirty="0"/>
              <a:t>Poll (yes / no / cannot tell): 'One ward lost 0 of 5 patients after a new protocol. Does it work?' Answer: cannot tell. 0 of 5 happens often by chance.</a:t>
            </a:r>
          </a:p>
          <a:p>
            <a:r>
              <a:rPr lang="en-US" sz="1400" b="0" dirty="0"/>
              <a:t>Timing: 4 minutes. Sample size returns in Session 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Build from the bottom: expert opinion, case series, case-control, cohort, randomised trials, and systematic reviews that combine studies.</a:t>
            </a:r>
          </a:p>
          <a:p>
            <a:r>
              <a:rPr lang="en-US" sz="1400" b="0" dirty="0"/>
              <a:t>Higher designs protect better against bias for 'does treatment X work?' questions. A small or badly run trial can still mislead.</a:t>
            </a:r>
          </a:p>
          <a:p>
            <a:r>
              <a:rPr lang="en-US" sz="1400" b="0" dirty="0"/>
              <a:t>For how common, harm and prognosis questions, observational designs are often the right choice.</a:t>
            </a:r>
          </a:p>
          <a:p>
            <a:r>
              <a:rPr lang="en-US" sz="1400" b="0" dirty="0"/>
              <a:t>Timing: 4 minutes. Session 3 covers each design: do not teach designs here.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Give 1 minute, then share the results. Answer: A, B, C, D.</a:t>
            </a:r>
          </a:p>
          <a:p>
            <a:r>
              <a:rPr lang="en-US" sz="1400" b="0" dirty="0"/>
              <a:t>C is the real CLASSIC trial, which found no difference in 90-day mortality.</a:t>
            </a:r>
          </a:p>
          <a:p>
            <a:r>
              <a:rPr lang="en-US" sz="1400" b="0" dirty="0"/>
              <a:t>What could make C weaker than B? Very small, many patients lost, or patients unlike ours.</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 refer to these two papers in every session.</a:t>
            </a:r>
          </a:p>
          <a:p>
            <a:r>
              <a:rPr lang="en-US" sz="1400" b="0" dirty="0"/>
              <a:t>Paper 1: a pilot trial in three French ICUs. A pilot is a small trial that tests whether a larger one is possible. It restricted 'non-resuscitative' fluids (maintenance fluids and fluids used to dilute drugs).</a:t>
            </a:r>
          </a:p>
          <a:p>
            <a:r>
              <a:rPr lang="en-US" sz="1400" b="0" dirty="0"/>
              <a:t>Paper 2: a matched cohort from the Korean Sepsis Alliance registry, like option B in the quiz.</a:t>
            </a:r>
          </a:p>
          <a:p>
            <a:r>
              <a:rPr lang="en-US" sz="1400" b="0" dirty="0"/>
              <a:t>Do not read them now. In Session 2 we read Paper 1's abstract together.</a:t>
            </a:r>
          </a:p>
          <a:p>
            <a:r>
              <a:rPr lang="en-US" sz="1400" b="0" dirty="0"/>
              <a:t>Timing: 2 minutes.</a:t>
            </a:r>
          </a:p>
          <a:p>
            <a:r>
              <a:rPr lang="en-US" sz="1400" b="0" dirty="0"/>
              <a:t>Before Session 1, email the two original PDFs (Course/Papers, files named 'original') with the Session 1 exercise sheet.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One sentence per box. Weeks 1-2 cover the three teal boxes: problem, question, search.</a:t>
            </a:r>
          </a:p>
          <a:p>
            <a:r>
              <a:rPr lang="en-US" sz="1400" b="0" dirty="0"/>
              <a:t>Misconception: 'research = collecting data'. Data come after the question, design and ethics approval.</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First three rows: what kind of data. Last two rows: where the data come from.</a:t>
            </a:r>
          </a:p>
          <a:p>
            <a:r>
              <a:rPr lang="en-US" sz="1400" b="0" dirty="0"/>
              <a:t>Misconception: 'qualitative research is just opinion'. It has its own rigorous methods.</a:t>
            </a:r>
          </a:p>
          <a:p>
            <a:r>
              <a:rPr lang="en-US" sz="1400" b="0" dirty="0"/>
              <a:t>Timing: 3 minutes. Qualitative designs return in Session 3.</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Call on two or three people for short answers. The answers are on the next slide.</a:t>
            </a:r>
          </a:p>
          <a:p>
            <a:r>
              <a:rPr lang="en-US" sz="1400" b="0" dirty="0"/>
              <a:t>If people hesitate on C: the records were made for care, not for this study, so using them is secondary research.</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Two questions classify almost any study: what kind of data, and where they come from.</a:t>
            </a:r>
          </a:p>
          <a:p>
            <a:r>
              <a:rPr lang="en-US" sz="1400" b="0" dirty="0"/>
              <a:t>Secondary research is often the most feasible for a busy department, if the records are good (Session 5).</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Eleven stops. The colours show the weeks that teach each stop.</a:t>
            </a:r>
          </a:p>
          <a:p>
            <a:r>
              <a:rPr lang="en-US" sz="1400" b="0" dirty="0"/>
              <a:t>Stops 1-6 plan and do the study. Stops 7-11 publish it. Trials are registered before the first patient is enrolled. The road often takes one to three years, and many studies stall at stop 7.</a:t>
            </a:r>
          </a:p>
          <a:p>
            <a:r>
              <a:rPr lang="en-US" sz="1400" b="0" dirty="0"/>
              <a:t>Ask: 'At which stop do hospital studies get stuck?' Expected: ethics paperwork, data collection or writing.</a:t>
            </a:r>
          </a:p>
          <a:p>
            <a:r>
              <a:rPr lang="en-US" sz="1400" b="0" dirty="0"/>
              <a:t>Timing: 3 minutes, then 3 minutes for questions. Segment 1.1 ends at 1:10 (20:40).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Break (1:10-1:25, 20:40-20:55). Post the restart time in the chat, and the link to the Session 1 exercise sheet: Exercise 1 is used after the break. Restart on time.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Segment 1.2 (1:25-2:05, 20:55-21:35).</a:t>
            </a:r>
          </a:p>
          <a:p>
            <a:r>
              <a:rPr lang="en-US" sz="1400" b="0" dirty="0"/>
              <a:t>A vague worry ('are fluids bad?') must become a precise question before anything else can happen.</a:t>
            </a:r>
          </a:p>
          <a:p>
            <a:r>
              <a:rPr lang="en-US" sz="1400" b="0" dirty="0"/>
              <a:t>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Six common sources of questions, all from daily work.</a:t>
            </a:r>
          </a:p>
          <a:p>
            <a:r>
              <a:rPr lang="en-US" sz="1400" b="0" dirty="0"/>
              <a:t>Before calling something research, check whether the answer already exists. If it does, the job is to apply it.</a:t>
            </a:r>
          </a:p>
          <a:p>
            <a:r>
              <a:rPr lang="en-US" sz="1400" b="0" dirty="0"/>
              <a:t>Point back to the questions the class typed in the chat at the start.</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PICO = Population, Intervention, Comparison, Outcome. T (Time) says when the outcome is measured.</a:t>
            </a:r>
          </a:p>
          <a:p>
            <a:r>
              <a:rPr lang="en-US" sz="1400" b="0" dirty="0"/>
              <a:t>Each letter forces a decision: which patients, restrictive how, compared with what, which outcome and when?</a:t>
            </a:r>
          </a:p>
          <a:p>
            <a:r>
              <a:rPr lang="en-US" sz="1400" b="0" dirty="0"/>
              <a:t>Ask: 'Is 28-day mortality the only sensible outcome?' Expected: 90-day mortality, kidney injury needing dialysis, fluid balance.</a:t>
            </a:r>
          </a:p>
          <a:p>
            <a:r>
              <a:rPr lang="en-US" sz="1400" b="0" dirty="0"/>
              <a:t>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Three examples from other wards. PECO is PICO with E (Exposure) in place of I: something patients have that the researcher does not assign, such as obesity or a positive fluid balance.</a:t>
            </a:r>
          </a:p>
          <a:p>
            <a:r>
              <a:rPr lang="en-US" sz="1400" b="0" dirty="0"/>
              <a:t>Row 3 only needs P and O (and T): it asks how common something is.</a:t>
            </a:r>
          </a:p>
          <a:p>
            <a:r>
              <a:rPr lang="en-US" sz="1400" b="0" dirty="0"/>
              <a:t>Ask: 'Make a PECO question about fluids.' Expected: in adults with sepsis, is a positive fluid balance by day 3, compared with a neutral or negative balance, associated with death by day 28? This is Paper 2's question.</a:t>
            </a:r>
          </a:p>
          <a:p>
            <a:r>
              <a:rPr lang="en-US" sz="1400" b="0" dirty="0"/>
              <a:t>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Read the question slowly. Give 1 minute for the poll. Answer: C. D is the time (T), A is part of P, B is I.</a:t>
            </a:r>
          </a:p>
          <a:p>
            <a:r>
              <a:rPr lang="en-US" sz="1400" b="0" dirty="0"/>
              <a:t>Watch for 'septic shock' chosen as the outcome: it has already happened, so it defines who is eligible.</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outcome must be something that can happen after the intervention starts.</a:t>
            </a:r>
          </a:p>
          <a:p>
            <a:r>
              <a:rPr lang="en-US" sz="1400" b="0" dirty="0"/>
              <a:t>Paper 1's outcome is fluid balance, not death, so it cannot answer our 28-day mortality question.</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verbs give it away: 'how many' is descriptive, 'is associated with' is observational, 'does it reduce' implies a trial.</a:t>
            </a:r>
          </a:p>
          <a:p>
            <a:r>
              <a:rPr lang="en-US" sz="1400" b="0" dirty="0"/>
              <a:t>Ask: 'Paper 2: which box?' Expected: analytical, observe (a cohort).</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Left: the corridor question, every word undefined. Right: the same worry written with PICO(T).</a:t>
            </a:r>
          </a:p>
          <a:p>
            <a:r>
              <a:rPr lang="en-US" sz="1400" b="0" dirty="0"/>
              <a:t>Ask: 'Make this answerable: Is albumin better?' Expected: in adults with septic shock, does albumin plus crystalloid, compared with crystalloid alone, reduce 28-day mortality?</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FINER = Feasible, Interesting, Novel, Ethical, Relevant (Hulley, Designing Clinical Research).</a:t>
            </a:r>
          </a:p>
          <a:p>
            <a:r>
              <a:rPr lang="en-US" sz="1400" b="0" dirty="0"/>
              <a:t>Feasible fails most often in hospital research: too few patients, or an outcome that is too rare.</a:t>
            </a:r>
          </a:p>
          <a:p>
            <a:r>
              <a:rPr lang="en-US" sz="1400" b="0" dirty="0"/>
              <a:t>Novel does not mean 'never studied': a new setting or a better design can be novel.</a:t>
            </a:r>
          </a:p>
          <a:p>
            <a:r>
              <a:rPr lang="en-US" sz="1400" b="0" dirty="0"/>
              <a:t>Poll (F, I, N, E, R): 'Which letter does our running example fail?'</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F is red: a difference of a few percentage points in mortality needs well over a thousand patients. The CLASSIC (2022) and CLOVERS (2023) trials each randomised more than 1,500.</a:t>
            </a:r>
          </a:p>
          <a:p>
            <a:r>
              <a:rPr lang="en-US" sz="1400" b="0" dirty="0"/>
              <a:t>N is amber: those large trials found no difference in mortality. E is amber: consent in septic shock is hard (Session 7).</a:t>
            </a:r>
          </a:p>
          <a:p>
            <a:r>
              <a:rPr lang="en-US" sz="1400" b="0" dirty="0"/>
              <a:t>To make it smaller: change the outcome, run a pilot trial as Paper 1 did, or ask a descriptive question. The next slide does exactly this.</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Share a blank Exercise 1 and type the answers as people give them, one person per letter.</a:t>
            </a:r>
          </a:p>
          <a:p>
            <a:r>
              <a:rPr lang="en-US" sz="1400" b="0" dirty="0"/>
              <a:t>Most classes choose A or C. If the vote is split, take A: it is the pilot that Paper 1 ran, and the quick exercise in 1.3 uses it.</a:t>
            </a:r>
          </a:p>
          <a:p>
            <a:r>
              <a:rPr lang="en-US" sz="1400" b="0" dirty="0"/>
              <a:t>Version B is a PECO question (fluid balance is an exposure). It is the main question of the FLUID-ICU course study.</a:t>
            </a:r>
          </a:p>
          <a:p>
            <a:r>
              <a:rPr lang="en-US" sz="1400" b="0" dirty="0"/>
              <a:t>Common problems: no comparison, an outcome without a time point, two outcomes in one question.</a:t>
            </a:r>
          </a:p>
          <a:p>
            <a:r>
              <a:rPr lang="en-US" sz="1400" b="0" dirty="0"/>
              <a:t>Model answers: Course/Solutions/s1_solutions.md, Exercise 1.</a:t>
            </a:r>
          </a:p>
          <a:p>
            <a:r>
              <a:rPr lang="en-US" sz="1400" b="0" dirty="0"/>
              <a:t>Timing: 8 minutes work + 3 minutes summary. Segment 1.3 starts at 2:05 (21:35).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Segment 1.3 (2:05-2:25, 21:35-21:55).</a:t>
            </a:r>
          </a:p>
          <a:p>
            <a:r>
              <a:rPr lang="en-US" sz="1400" b="0" dirty="0"/>
              <a:t>The aim, objectives and hypothesis are the question written as a plan. Ethics committees read them first.</a:t>
            </a:r>
          </a:p>
          <a:p>
            <a:r>
              <a:rPr lang="en-US" sz="1400" b="0" dirty="0"/>
              <a:t>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aim is the broad purpose ('To compare...', 'To describe...'). The objectives are specific, measurable steps.</a:t>
            </a:r>
          </a:p>
          <a:p>
            <a:r>
              <a:rPr lang="en-US" sz="1400" b="0" dirty="0"/>
              <a:t>Mark the primary objective: it decides the sample size (Session 6).</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'To understand' can never be finished or checked. 'To compare fluid balance at day 5' names the outcome, the time and the comparison.</a:t>
            </a:r>
          </a:p>
          <a:p>
            <a:r>
              <a:rPr lang="en-US" sz="1400" b="0" dirty="0"/>
              <a:t>Ask: 'Rewrite: to study fluid balance in our ICU.' Expected: to estimate the proportion of adults with septic shock in our ICU who have a positive fluid balance on day 3.</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H0, the null hypothesis: no difference. H1, the alternative: a difference, in either direction.</a:t>
            </a:r>
          </a:p>
          <a:p>
            <a:r>
              <a:rPr lang="en-US" sz="1400" b="0" dirty="0"/>
              <a:t>Analogy: a court assumes 'not guilty' (H0) until the evidence is strong enough. 'Not guilty' is not 'innocent'.</a:t>
            </a:r>
          </a:p>
          <a:p>
            <a:r>
              <a:rPr lang="en-US" sz="1400" b="0" dirty="0"/>
              <a:t>Purely descriptive questions (version C) estimate a number and need no hypothesis.</a:t>
            </a:r>
          </a:p>
          <a:p>
            <a:r>
              <a:rPr lang="en-US" sz="1400" b="0" dirty="0"/>
              <a:t>Timing: 3 minutes. P-values are Session 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5 minutes writing alone, then 2 minutes for two or three people to read their primary objective.</a:t>
            </a:r>
          </a:p>
          <a:p>
            <a:r>
              <a:rPr lang="en-US" sz="1400" b="0" dirty="0"/>
              <a:t>Look for vague verbs, no time point, or a hypothesis about an outcome that is not in the objectives.</a:t>
            </a:r>
          </a:p>
          <a:p>
            <a:r>
              <a:rPr lang="en-US" sz="1400" b="0" dirty="0"/>
              <a:t>Timing: 7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the chain: the question's O = the primary objective = the outcome in H0 and H1. Reviewers spot a break at once.</a:t>
            </a:r>
          </a:p>
          <a:p>
            <a:r>
              <a:rPr lang="en-US" sz="1400" b="0" dirty="0"/>
              <a:t>Model answers: Course/Solutions/s1_solutions.md (Exercise 2).</a:t>
            </a:r>
          </a:p>
          <a:p>
            <a:r>
              <a:rPr lang="en-US" sz="1400" b="0" dirty="0"/>
              <a:t>Timing: 3 minutes. Segment 1.3 ends at 2:25 (21:55).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Proposal builder 1 (2:25-2:55, 21:55-22:25). Everyone writes their own proposal.</a:t>
            </a:r>
          </a:p>
          <a:p>
            <a:r>
              <a:rPr lang="en-US" sz="1400" b="0" dirty="0"/>
              <a:t>Move straight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Minutes 0-8: share Course/Templates/Research_Proposal_Template.docx and fill Part 1 for version A, thinking aloud.</a:t>
            </a:r>
          </a:p>
          <a:p>
            <a:r>
              <a:rPr lang="en-US" sz="1400" b="0" dirty="0"/>
              <a:t>Minutes 8-25: everyone drafts alone. Cameras may go off. Answer questions in the chat.</a:t>
            </a:r>
          </a:p>
          <a:p>
            <a:r>
              <a:rPr lang="en-US" sz="1400" b="0" dirty="0"/>
              <a:t>No topic yet? Look back at the questions in the welcome chat, or use version A or C for now.</a:t>
            </a:r>
          </a:p>
          <a:p>
            <a:r>
              <a:rPr lang="en-US" sz="1400" b="0" dirty="0"/>
              <a:t>Minutes 25-30: two volunteers read their question and aim. Others suggest one improvement each.</a:t>
            </a:r>
          </a:p>
          <a:p>
            <a:r>
              <a:rPr lang="en-US" sz="1400" b="0" dirty="0"/>
              <a:t>Timing: 30 minutes. Wrap-up starts at 2:55 (22:25).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Wrap-up (2:55-3:00, 22:25-22:30). Read the six key words quickly. They are in the course glossary (EN-VN).</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Next Saturday (Session 2) we search PubMed live, manage references in Zotero and read a paper in 15 minutes.</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Not marked. Answers: Q1 Feasible: mortality needs well over a thousand patients. Q2 e.g. 'To estimate the proportion of adults with septic shock in our ICU who have a positive fluid balance on day 3'.</a:t>
            </a:r>
          </a:p>
          <a:p>
            <a:r>
              <a:rPr lang="en-US" sz="1400" b="0" dirty="0"/>
              <a:t>Save the chat and read the answers during the week. If many still use vague verbs, start Session 2 with one minute on objectives.</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About 45 minutes during the week. The synonyms speed up next Saturday's search, because PubMed works in English.</a:t>
            </a:r>
          </a:p>
          <a:p>
            <a:r>
              <a:rPr lang="en-US" sz="1400" b="0" dirty="0"/>
              <a:t>Zotero is needed in Session 2: Zotero desktop, the browser Connector and the Word plug-in (zotero.org/download). Anyone with problems emails the trainers before Friday.</a:t>
            </a:r>
          </a:p>
          <a:p>
            <a:r>
              <a:rPr lang="en-US" sz="1400" b="0" dirty="0"/>
              <a:t>Close on time.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slides (Session 1). Optional: use them if the class is fast, or point participants to them for self-study.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for when someone asks whether their project needs ethics approval.</a:t>
            </a:r>
          </a:p>
          <a:p>
            <a:r>
              <a:rPr lang="en-US" sz="1400" b="0" dirty="0"/>
              <a:t>Audit compares practice with an agreed standard. Quality improvement (QI) changes a local process in small Plan-Do-Study-Act cycles. If a project randomises, adds a new risk or collects data beyond routine care, it is research.</a:t>
            </a:r>
          </a:p>
          <a:p>
            <a:r>
              <a:rPr lang="en-US" sz="1400" b="0" dirty="0"/>
              <a:t>Rules differ between institutions: check the local policy. Ethics approval is Session 7.</a:t>
            </a:r>
          </a:p>
          <a:p>
            <a:r>
              <a:rPr lang="en-US" sz="1400" b="0" dirty="0"/>
              <a:t>Timing: 3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Backup slide for 'Three more examples: PICO, PECO and P + O' (reviewer request).</a:t>
            </a:r>
          </a:p>
          <a:p>
            <a:r>
              <a:rPr lang="en-US" sz="1400" b="0" dirty="0"/>
              <a:t>Use it as a short exercise: participants write one question per row in the chat, or you call on two or three people (microphone on). Then show this slide.</a:t>
            </a:r>
          </a:p>
          <a:p>
            <a:r>
              <a:rPr lang="en-US" sz="1400" b="0" dirty="0"/>
              <a:t>Point out: the treatment question says 'reduce' because the checklist is assigned. The PECO question says 'associated with' because obesity is not assigned. The 'how common' question has no comparison.</a:t>
            </a:r>
          </a:p>
          <a:p>
            <a:r>
              <a:rPr lang="en-US" sz="1400" b="0" dirty="0"/>
              <a:t>Timing: 5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Diagnosis: the new test is I, the reference standard is C, the outcome is accuracy (Session 4).</a:t>
            </a:r>
          </a:p>
          <a:p>
            <a:r>
              <a:rPr lang="en-US" sz="1400" b="0" dirty="0"/>
              <a:t>Prognosis: PECO plus a time frame. Qualitative questions often use SPIDER (Cooke and colleagues, 2012).</a:t>
            </a:r>
          </a:p>
          <a:p>
            <a:r>
              <a:rPr lang="en-US" sz="1400" b="0" dirty="0"/>
              <a:t>Timing: 2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Answers: 1 Feasible (huge and long). 2 Ethical (withholding antibiotics causes harm). 3 Novel (already measured every month). 4 Relevant (no plausible effect on practice).</a:t>
            </a:r>
          </a:p>
          <a:p>
            <a:r>
              <a:rPr lang="en-US" sz="1400" b="0" dirty="0"/>
              <a:t>Timing: 4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This is a PECO (observational) question: nurses cannot easily be randomised to night shifts.</a:t>
            </a:r>
          </a:p>
          <a:p>
            <a:r>
              <a:rPr lang="en-US" sz="1400" b="0" dirty="0"/>
              <a:t>Timing: 3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Copyright slide. Leave it on screen while participants leave the meeting.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 Id="rId4" Type="http://schemas.openxmlformats.org/officeDocument/2006/relationships/image" Target="../media/image2.pn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 Id="rId3" Type="http://schemas.openxmlformats.org/officeDocument/2006/relationships/image" Target="../media/image1.jpg"/>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 Id="rId3" Type="http://schemas.openxmlformats.org/officeDocument/2006/relationships/image" Target="../media/image1.jpg"/>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768613" y="4410394"/>
            <a:ext cx="2566257" cy="2447606"/>
          </a:xfrm>
          <a:prstGeom prst="rect">
            <a:avLst/>
          </a:prstGeom>
        </p:spPr>
      </p:pic>
      <p:sp>
        <p:nvSpPr>
          <p:cNvPr id="3" name="Title"/>
          <p:cNvSpPr txBox="1"/>
          <p:nvPr/>
        </p:nvSpPr>
        <p:spPr>
          <a:xfrm>
            <a:off x="0" y="1500000"/>
            <a:ext cx="12192000" cy="1700000"/>
          </a:xfrm>
          <a:prstGeom prst="rect">
            <a:avLst/>
          </a:prstGeom>
          <a:noFill/>
          <a:ln>
            <a:noFill/>
          </a:ln>
        </p:spPr>
        <p:txBody>
          <a:bodyPr wrap="square" lIns="457200" tIns="0" rIns="457200" bIns="0" rtlCol="0" anchor="ctr"/>
          <a:lstStyle/>
          <a:p>
            <a:pPr marL="0" indent="0" algn="ctr">
              <a:buNone/>
            </a:pPr>
            <a:r>
              <a:rPr lang="en-US" sz="4000" b="1" dirty="0">
                <a:solidFill>
                  <a:srgbClr val="006666"/>
                </a:solidFill>
                <a:latin typeface="Arial"/>
                <a:cs typeface="Arial"/>
              </a:rPr>
              <a:t>Foundations of Clinical Research</a:t>
            </a:r>
          </a:p>
        </p:txBody>
      </p:sp>
      <p:sp>
        <p:nvSpPr>
          <p:cNvPr id="5" name="Subtitle"/>
          <p:cNvSpPr txBox="1"/>
          <p:nvPr/>
        </p:nvSpPr>
        <p:spPr>
          <a:xfrm>
            <a:off x="0" y="3250000"/>
            <a:ext cx="12192000" cy="1000000"/>
          </a:xfrm>
          <a:prstGeom prst="rect">
            <a:avLst/>
          </a:prstGeom>
          <a:noFill/>
          <a:ln>
            <a:noFill/>
          </a:ln>
        </p:spPr>
        <p:txBody>
          <a:bodyPr wrap="square" lIns="457200" tIns="45720" rIns="457200" bIns="45720" rtlCol="0" anchor="t"/>
          <a:lstStyle/>
          <a:p>
            <a:pPr marL="0" indent="0" algn="ctr">
              <a:spcBef>
                <a:spcPts val="440"/>
              </a:spcBef>
              <a:buNone/>
            </a:pPr>
            <a:r>
              <a:rPr lang="en-US" sz="2000" dirty="0">
                <a:solidFill>
                  <a:srgbClr val="000000"/>
                </a:solidFill>
                <a:latin typeface="Arial"/>
                <a:cs typeface="Arial"/>
              </a:rPr>
              <a:t>Level 1: From Clinical Question to Publication</a:t>
            </a:r>
          </a:p>
          <a:p>
            <a:pPr marL="0" indent="0" algn="ctr">
              <a:spcBef>
                <a:spcPts val="440"/>
              </a:spcBef>
              <a:buNone/>
            </a:pPr>
            <a:r>
              <a:rPr lang="en-US" sz="2000" dirty="0">
                <a:solidFill>
                  <a:srgbClr val="000000"/>
                </a:solidFill>
                <a:latin typeface="Arial"/>
                <a:cs typeface="Arial"/>
              </a:rPr>
              <a:t>8 Saturday evenings online, 19:30 to 22:30, 24 contact hours</a:t>
            </a:r>
          </a:p>
          <a:p>
            <a:pPr marL="0" indent="0" algn="ctr">
              <a:spcBef>
                <a:spcPts val="440"/>
              </a:spcBef>
              <a:buNone/>
            </a:pPr>
            <a:r>
              <a:rPr lang="en-US" sz="2000" dirty="0">
                <a:solidFill>
                  <a:srgbClr val="000000"/>
                </a:solidFill>
                <a:latin typeface="Arial"/>
                <a:cs typeface="Arial"/>
              </a:rPr>
              <a:t>Trainers: Vương Mỹ Lượng &amp; Bernard Osang'ir</a:t>
            </a:r>
          </a:p>
        </p:txBody>
      </p:sp>
      <p:sp>
        <p:nvSpPr>
          <p:cNvPr id="6" name="Date"/>
          <p:cNvSpPr txBox="1"/>
          <p:nvPr/>
        </p:nvSpPr>
        <p:spPr>
          <a:xfrm>
            <a:off x="7902094" y="5833766"/>
            <a:ext cx="3465009" cy="326571"/>
          </a:xfrm>
          <a:prstGeom prst="rect">
            <a:avLst/>
          </a:prstGeom>
          <a:noFill/>
          <a:ln>
            <a:noFill/>
          </a:ln>
        </p:spPr>
        <p:txBody>
          <a:bodyPr wrap="square" lIns="0" tIns="0" rIns="0" bIns="0" rtlCol="0" anchor="b"/>
          <a:lstStyle/>
          <a:p>
            <a:pPr marL="0" indent="0" algn="r">
              <a:buNone/>
            </a:pPr>
            <a:r>
              <a:rPr lang="en-US" sz="1400" b="1" dirty="0">
                <a:solidFill>
                  <a:srgbClr val="000000"/>
                </a:solidFill>
                <a:latin typeface="Arial"/>
                <a:cs typeface="Arial"/>
              </a:rPr>
              <a:t>Date: 31/10/2026</a:t>
            </a:r>
          </a:p>
        </p:txBody>
      </p:sp>
      <p:sp>
        <p:nvSpPr>
          <p:cNvPr id="7"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Every day you make decisions that research could improve.</a:t>
            </a:r>
          </a:p>
          <a:p>
            <a:pPr marL="0" indent="0" algn="ctr">
              <a:spcBef>
                <a:spcPts val="1200"/>
              </a:spcBef>
              <a:buNone/>
            </a:pPr>
            <a:r>
              <a:rPr lang="en-US" sz="1900" i="1" dirty="0">
                <a:solidFill>
                  <a:srgbClr val="595959"/>
                </a:solidFill>
                <a:latin typeface="Arial"/>
                <a:cs typeface="Arial"/>
              </a:rPr>
              <a:t>This course helps you ask those questions properly, answer them and publish the answer.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Eight Saturdays, eight sessions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cxnSp>
        <p:nvCxnSpPr>
          <p:cNvPr id="100" name="Line"/>
          <p:cNvCxnSpPr/>
          <p:nvPr/>
        </p:nvCxnSpPr>
        <p:spPr>
          <a:xfrm>
            <a:off x="1203960" y="3509280"/>
            <a:ext cx="9144000" cy="0"/>
          </a:xfrm>
          <a:prstGeom prst="straightConnector1">
            <a:avLst/>
          </a:prstGeom>
          <a:ln w="127000" cap="rnd">
            <a:solidFill>
              <a:srgbClr val="D5DDE1"/>
            </a:solidFill>
            <a:round/>
          </a:ln>
        </p:spPr>
      </p:cxnSp>
      <p:sp>
        <p:nvSpPr>
          <p:cNvPr id="101" name="Text"/>
          <p:cNvSpPr/>
          <p:nvPr/>
        </p:nvSpPr>
        <p:spPr>
          <a:xfrm>
            <a:off x="655320" y="1909080"/>
            <a:ext cx="228600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D7377"/>
                </a:solidFill>
                <a:latin typeface="Arial"/>
                <a:cs typeface="Arial"/>
              </a:rPr>
              <a:t>Weeks 1-2</a:t>
            </a:r>
          </a:p>
          <a:p>
            <a:pPr marL="0" indent="0" algn="ctr">
              <a:lnSpc>
                <a:spcPct val="100000"/>
              </a:lnSpc>
              <a:spcBef>
                <a:spcPts val="300"/>
              </a:spcBef>
              <a:buNone/>
            </a:pPr>
            <a:r>
              <a:rPr lang="en-US" sz="1400" dirty="0">
                <a:solidFill>
                  <a:srgbClr val="595959"/>
                </a:solidFill>
                <a:latin typeface="Arial"/>
                <a:cs typeface="Arial"/>
              </a:rPr>
              <a:t>Question and evidence</a:t>
            </a:r>
          </a:p>
        </p:txBody>
      </p:sp>
      <p:sp>
        <p:nvSpPr>
          <p:cNvPr id="102" name="Box"/>
          <p:cNvSpPr/>
          <p:nvPr/>
        </p:nvSpPr>
        <p:spPr>
          <a:xfrm>
            <a:off x="701040" y="2695464"/>
            <a:ext cx="2194560" cy="64008"/>
          </a:xfrm>
          <a:prstGeom prst="roundRect">
            <a:avLst>
              <a:gd name="adj" fmla="val 50000"/>
            </a:avLst>
          </a:prstGeom>
          <a:solidFill>
            <a:srgbClr val="0D7377"/>
          </a:solidFill>
          <a:ln>
            <a:noFill/>
          </a:ln>
        </p:spPr>
        <p:txBody>
          <a:bodyPr wrap="square" lIns="54864" tIns="54864" rIns="54864" bIns="54864" rtlCol="0" anchor="ctr">
            <a:noAutofit/>
          </a:bodyPr>
          <a:lstStyle/>
          <a:p>
            <a:endParaRPr lang="en-US"/>
          </a:p>
        </p:txBody>
      </p:sp>
      <p:sp>
        <p:nvSpPr>
          <p:cNvPr id="103" name="Text"/>
          <p:cNvSpPr/>
          <p:nvPr/>
        </p:nvSpPr>
        <p:spPr>
          <a:xfrm>
            <a:off x="3032760" y="1909080"/>
            <a:ext cx="228600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B376C"/>
                </a:solidFill>
                <a:latin typeface="Arial"/>
                <a:cs typeface="Arial"/>
              </a:rPr>
              <a:t>Weeks 3-4</a:t>
            </a:r>
          </a:p>
          <a:p>
            <a:pPr marL="0" indent="0" algn="ctr">
              <a:lnSpc>
                <a:spcPct val="100000"/>
              </a:lnSpc>
              <a:spcBef>
                <a:spcPts val="300"/>
              </a:spcBef>
              <a:buNone/>
            </a:pPr>
            <a:r>
              <a:rPr lang="en-US" sz="1400" dirty="0">
                <a:solidFill>
                  <a:srgbClr val="595959"/>
                </a:solidFill>
                <a:latin typeface="Arial"/>
                <a:cs typeface="Arial"/>
              </a:rPr>
              <a:t>Design and bias</a:t>
            </a:r>
          </a:p>
        </p:txBody>
      </p:sp>
      <p:sp>
        <p:nvSpPr>
          <p:cNvPr id="104" name="Box"/>
          <p:cNvSpPr/>
          <p:nvPr/>
        </p:nvSpPr>
        <p:spPr>
          <a:xfrm>
            <a:off x="3078480" y="2695464"/>
            <a:ext cx="2194560" cy="64008"/>
          </a:xfrm>
          <a:prstGeom prst="roundRect">
            <a:avLst>
              <a:gd name="adj" fmla="val 50000"/>
            </a:avLst>
          </a:prstGeom>
          <a:solidFill>
            <a:srgbClr val="0B376C"/>
          </a:solidFill>
          <a:ln>
            <a:noFill/>
          </a:ln>
        </p:spPr>
        <p:txBody>
          <a:bodyPr wrap="square" lIns="54864" tIns="54864" rIns="54864" bIns="54864" rtlCol="0" anchor="ctr">
            <a:noAutofit/>
          </a:bodyPr>
          <a:lstStyle/>
          <a:p>
            <a:endParaRPr lang="en-US"/>
          </a:p>
        </p:txBody>
      </p:sp>
      <p:sp>
        <p:nvSpPr>
          <p:cNvPr id="105" name="Text"/>
          <p:cNvSpPr/>
          <p:nvPr/>
        </p:nvSpPr>
        <p:spPr>
          <a:xfrm>
            <a:off x="5410200" y="1909080"/>
            <a:ext cx="228600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5FA39B"/>
                </a:solidFill>
                <a:latin typeface="Arial"/>
                <a:cs typeface="Arial"/>
              </a:rPr>
              <a:t>Weeks 5-6</a:t>
            </a:r>
          </a:p>
          <a:p>
            <a:pPr marL="0" indent="0" algn="ctr">
              <a:lnSpc>
                <a:spcPct val="100000"/>
              </a:lnSpc>
              <a:spcBef>
                <a:spcPts val="300"/>
              </a:spcBef>
              <a:buNone/>
            </a:pPr>
            <a:r>
              <a:rPr lang="en-US" sz="1400" dirty="0">
                <a:solidFill>
                  <a:srgbClr val="595959"/>
                </a:solidFill>
                <a:latin typeface="Arial"/>
                <a:cs typeface="Arial"/>
              </a:rPr>
              <a:t>Data and analysis</a:t>
            </a:r>
          </a:p>
        </p:txBody>
      </p:sp>
      <p:sp>
        <p:nvSpPr>
          <p:cNvPr id="106" name="Box"/>
          <p:cNvSpPr/>
          <p:nvPr/>
        </p:nvSpPr>
        <p:spPr>
          <a:xfrm>
            <a:off x="5455920" y="2695464"/>
            <a:ext cx="2194560" cy="64008"/>
          </a:xfrm>
          <a:prstGeom prst="roundRect">
            <a:avLst>
              <a:gd name="adj" fmla="val 50000"/>
            </a:avLst>
          </a:prstGeom>
          <a:solidFill>
            <a:srgbClr val="5FA39B"/>
          </a:solidFill>
          <a:ln>
            <a:noFill/>
          </a:ln>
        </p:spPr>
        <p:txBody>
          <a:bodyPr wrap="square" lIns="54864" tIns="54864" rIns="54864" bIns="54864" rtlCol="0" anchor="ctr">
            <a:noAutofit/>
          </a:bodyPr>
          <a:lstStyle/>
          <a:p>
            <a:endParaRPr lang="en-US"/>
          </a:p>
        </p:txBody>
      </p:sp>
      <p:sp>
        <p:nvSpPr>
          <p:cNvPr id="107" name="Text"/>
          <p:cNvSpPr/>
          <p:nvPr/>
        </p:nvSpPr>
        <p:spPr>
          <a:xfrm>
            <a:off x="7787640" y="1909080"/>
            <a:ext cx="228600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070C0"/>
                </a:solidFill>
                <a:latin typeface="Arial"/>
                <a:cs typeface="Arial"/>
              </a:rPr>
              <a:t>Weeks 7-8</a:t>
            </a:r>
          </a:p>
          <a:p>
            <a:pPr marL="0" indent="0" algn="ctr">
              <a:lnSpc>
                <a:spcPct val="100000"/>
              </a:lnSpc>
              <a:spcBef>
                <a:spcPts val="300"/>
              </a:spcBef>
              <a:buNone/>
            </a:pPr>
            <a:r>
              <a:rPr lang="en-US" sz="1400" dirty="0">
                <a:solidFill>
                  <a:srgbClr val="595959"/>
                </a:solidFill>
                <a:latin typeface="Arial"/>
                <a:cs typeface="Arial"/>
              </a:rPr>
              <a:t>Ethics, writing, publishing</a:t>
            </a:r>
          </a:p>
        </p:txBody>
      </p:sp>
      <p:sp>
        <p:nvSpPr>
          <p:cNvPr id="108" name="Box"/>
          <p:cNvSpPr/>
          <p:nvPr/>
        </p:nvSpPr>
        <p:spPr>
          <a:xfrm>
            <a:off x="7833360" y="2695464"/>
            <a:ext cx="2194560" cy="64008"/>
          </a:xfrm>
          <a:prstGeom prst="roundRect">
            <a:avLst>
              <a:gd name="adj" fmla="val 50000"/>
            </a:avLst>
          </a:prstGeom>
          <a:solidFill>
            <a:srgbClr val="0070C0"/>
          </a:solidFill>
          <a:ln>
            <a:noFill/>
          </a:ln>
        </p:spPr>
        <p:txBody>
          <a:bodyPr wrap="square" lIns="54864" tIns="54864" rIns="54864" bIns="54864" rtlCol="0" anchor="ctr">
            <a:noAutofit/>
          </a:bodyPr>
          <a:lstStyle/>
          <a:p>
            <a:endParaRPr lang="en-US"/>
          </a:p>
        </p:txBody>
      </p:sp>
      <p:sp>
        <p:nvSpPr>
          <p:cNvPr id="109" name="Ellipse"/>
          <p:cNvSpPr/>
          <p:nvPr/>
        </p:nvSpPr>
        <p:spPr>
          <a:xfrm>
            <a:off x="746760" y="3052080"/>
            <a:ext cx="914400" cy="914400"/>
          </a:xfrm>
          <a:prstGeom prst="ellipse">
            <a:avLst/>
          </a:prstGeom>
          <a:solidFill>
            <a:srgbClr val="0D7377"/>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1</a:t>
            </a:r>
          </a:p>
        </p:txBody>
      </p:sp>
      <p:sp>
        <p:nvSpPr>
          <p:cNvPr id="110" name="Text"/>
          <p:cNvSpPr/>
          <p:nvPr/>
        </p:nvSpPr>
        <p:spPr>
          <a:xfrm>
            <a:off x="60960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D7377"/>
                </a:solidFill>
                <a:latin typeface="Arial"/>
                <a:cs typeface="Arial"/>
              </a:rPr>
              <a:t>Ask</a:t>
            </a:r>
          </a:p>
        </p:txBody>
      </p:sp>
      <p:sp>
        <p:nvSpPr>
          <p:cNvPr id="111" name="Ellipse"/>
          <p:cNvSpPr/>
          <p:nvPr/>
        </p:nvSpPr>
        <p:spPr>
          <a:xfrm>
            <a:off x="1935480" y="3052080"/>
            <a:ext cx="914400" cy="914400"/>
          </a:xfrm>
          <a:prstGeom prst="ellipse">
            <a:avLst/>
          </a:prstGeom>
          <a:solidFill>
            <a:srgbClr val="0D7377"/>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2</a:t>
            </a:r>
          </a:p>
        </p:txBody>
      </p:sp>
      <p:sp>
        <p:nvSpPr>
          <p:cNvPr id="112" name="Text"/>
          <p:cNvSpPr/>
          <p:nvPr/>
        </p:nvSpPr>
        <p:spPr>
          <a:xfrm>
            <a:off x="179832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D7377"/>
                </a:solidFill>
                <a:latin typeface="Arial"/>
                <a:cs typeface="Arial"/>
              </a:rPr>
              <a:t>Find and read</a:t>
            </a:r>
          </a:p>
        </p:txBody>
      </p:sp>
      <p:sp>
        <p:nvSpPr>
          <p:cNvPr id="113" name="Ellipse"/>
          <p:cNvSpPr/>
          <p:nvPr/>
        </p:nvSpPr>
        <p:spPr>
          <a:xfrm>
            <a:off x="3124200" y="3052080"/>
            <a:ext cx="914400" cy="914400"/>
          </a:xfrm>
          <a:prstGeom prst="ellipse">
            <a:avLst/>
          </a:prstGeom>
          <a:solidFill>
            <a:srgbClr val="0B376C"/>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3</a:t>
            </a:r>
          </a:p>
        </p:txBody>
      </p:sp>
      <p:sp>
        <p:nvSpPr>
          <p:cNvPr id="114" name="Text"/>
          <p:cNvSpPr/>
          <p:nvPr/>
        </p:nvSpPr>
        <p:spPr>
          <a:xfrm>
            <a:off x="298704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B376C"/>
                </a:solidFill>
                <a:latin typeface="Arial"/>
                <a:cs typeface="Arial"/>
              </a:rPr>
              <a:t>Design</a:t>
            </a:r>
          </a:p>
        </p:txBody>
      </p:sp>
      <p:sp>
        <p:nvSpPr>
          <p:cNvPr id="115" name="Ellipse"/>
          <p:cNvSpPr/>
          <p:nvPr/>
        </p:nvSpPr>
        <p:spPr>
          <a:xfrm>
            <a:off x="4312920" y="3052080"/>
            <a:ext cx="914400" cy="914400"/>
          </a:xfrm>
          <a:prstGeom prst="ellipse">
            <a:avLst/>
          </a:prstGeom>
          <a:solidFill>
            <a:srgbClr val="0B376C"/>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4</a:t>
            </a:r>
          </a:p>
        </p:txBody>
      </p:sp>
      <p:sp>
        <p:nvSpPr>
          <p:cNvPr id="116" name="Text"/>
          <p:cNvSpPr/>
          <p:nvPr/>
        </p:nvSpPr>
        <p:spPr>
          <a:xfrm>
            <a:off x="417576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B376C"/>
                </a:solidFill>
                <a:latin typeface="Arial"/>
                <a:cs typeface="Arial"/>
              </a:rPr>
              <a:t>Bias and effect</a:t>
            </a:r>
          </a:p>
        </p:txBody>
      </p:sp>
      <p:sp>
        <p:nvSpPr>
          <p:cNvPr id="117" name="Ellipse"/>
          <p:cNvSpPr/>
          <p:nvPr/>
        </p:nvSpPr>
        <p:spPr>
          <a:xfrm>
            <a:off x="5501640" y="3052080"/>
            <a:ext cx="914400" cy="914400"/>
          </a:xfrm>
          <a:prstGeom prst="ellipse">
            <a:avLst/>
          </a:prstGeom>
          <a:solidFill>
            <a:srgbClr val="5FA39B"/>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5</a:t>
            </a:r>
          </a:p>
        </p:txBody>
      </p:sp>
      <p:sp>
        <p:nvSpPr>
          <p:cNvPr id="118" name="Text"/>
          <p:cNvSpPr/>
          <p:nvPr/>
        </p:nvSpPr>
        <p:spPr>
          <a:xfrm>
            <a:off x="536448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5FA39B"/>
                </a:solidFill>
                <a:latin typeface="Arial"/>
                <a:cs typeface="Arial"/>
              </a:rPr>
              <a:t>Data</a:t>
            </a:r>
          </a:p>
        </p:txBody>
      </p:sp>
      <p:sp>
        <p:nvSpPr>
          <p:cNvPr id="119" name="Ellipse"/>
          <p:cNvSpPr/>
          <p:nvPr/>
        </p:nvSpPr>
        <p:spPr>
          <a:xfrm>
            <a:off x="6690360" y="3052080"/>
            <a:ext cx="914400" cy="914400"/>
          </a:xfrm>
          <a:prstGeom prst="ellipse">
            <a:avLst/>
          </a:prstGeom>
          <a:solidFill>
            <a:srgbClr val="5FA39B"/>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6</a:t>
            </a:r>
          </a:p>
        </p:txBody>
      </p:sp>
      <p:sp>
        <p:nvSpPr>
          <p:cNvPr id="120" name="Text"/>
          <p:cNvSpPr/>
          <p:nvPr/>
        </p:nvSpPr>
        <p:spPr>
          <a:xfrm>
            <a:off x="655320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5FA39B"/>
                </a:solidFill>
                <a:latin typeface="Arial"/>
                <a:cs typeface="Arial"/>
              </a:rPr>
              <a:t>Analyse</a:t>
            </a:r>
          </a:p>
        </p:txBody>
      </p:sp>
      <p:sp>
        <p:nvSpPr>
          <p:cNvPr id="121" name="Ellipse"/>
          <p:cNvSpPr/>
          <p:nvPr/>
        </p:nvSpPr>
        <p:spPr>
          <a:xfrm>
            <a:off x="7879080" y="3052080"/>
            <a:ext cx="914400" cy="914400"/>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7</a:t>
            </a:r>
          </a:p>
        </p:txBody>
      </p:sp>
      <p:sp>
        <p:nvSpPr>
          <p:cNvPr id="122" name="Text"/>
          <p:cNvSpPr/>
          <p:nvPr/>
        </p:nvSpPr>
        <p:spPr>
          <a:xfrm>
            <a:off x="774192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070C0"/>
                </a:solidFill>
                <a:latin typeface="Arial"/>
                <a:cs typeface="Arial"/>
              </a:rPr>
              <a:t>Protect and write</a:t>
            </a:r>
          </a:p>
        </p:txBody>
      </p:sp>
      <p:sp>
        <p:nvSpPr>
          <p:cNvPr id="123" name="Ellipse"/>
          <p:cNvSpPr/>
          <p:nvPr/>
        </p:nvSpPr>
        <p:spPr>
          <a:xfrm>
            <a:off x="9067800" y="3052080"/>
            <a:ext cx="914400" cy="914400"/>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600" b="1" dirty="0">
                <a:solidFill>
                  <a:srgbClr val="FFFFFF"/>
                </a:solidFill>
                <a:latin typeface="Arial"/>
                <a:cs typeface="Arial"/>
              </a:rPr>
              <a:t>8</a:t>
            </a:r>
          </a:p>
        </p:txBody>
      </p:sp>
      <p:sp>
        <p:nvSpPr>
          <p:cNvPr id="124" name="Text"/>
          <p:cNvSpPr/>
          <p:nvPr/>
        </p:nvSpPr>
        <p:spPr>
          <a:xfrm>
            <a:off x="8930640" y="4057920"/>
            <a:ext cx="118872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0070C0"/>
                </a:solidFill>
                <a:latin typeface="Arial"/>
                <a:cs typeface="Arial"/>
              </a:rPr>
              <a:t>Publish</a:t>
            </a:r>
          </a:p>
        </p:txBody>
      </p:sp>
      <p:sp>
        <p:nvSpPr>
          <p:cNvPr id="125" name="Box"/>
          <p:cNvSpPr/>
          <p:nvPr/>
        </p:nvSpPr>
        <p:spPr>
          <a:xfrm>
            <a:off x="10302240" y="2777760"/>
            <a:ext cx="1371600" cy="1463040"/>
          </a:xfrm>
          <a:prstGeom prst="roundRect">
            <a:avLst>
              <a:gd name="adj" fmla="val 12000"/>
            </a:avLst>
          </a:prstGeom>
          <a:solidFill>
            <a:srgbClr val="055F56"/>
          </a:solidFill>
          <a:ln>
            <a:noFill/>
          </a:ln>
        </p:spPr>
        <p:txBody>
          <a:bodyPr wrap="square" lIns="54864" tIns="54864" rIns="54864" bIns="54864" rtlCol="0" anchor="ctr">
            <a:noAutofit/>
          </a:bodyPr>
          <a:lstStyle/>
          <a:p>
            <a:pPr marL="0" indent="0" algn="ctr">
              <a:lnSpc>
                <a:spcPct val="100000"/>
              </a:lnSpc>
              <a:buNone/>
            </a:pPr>
            <a:r>
              <a:rPr lang="en-US" sz="1500" b="1" dirty="0">
                <a:solidFill>
                  <a:srgbClr val="FFFFFF"/>
                </a:solidFill>
                <a:latin typeface="Arial"/>
                <a:cs typeface="Arial"/>
              </a:rPr>
              <a:t>Proposal</a:t>
            </a:r>
          </a:p>
          <a:p>
            <a:pPr marL="0" indent="0" algn="ctr">
              <a:lnSpc>
                <a:spcPct val="100000"/>
              </a:lnSpc>
              <a:spcBef>
                <a:spcPts val="100"/>
              </a:spcBef>
              <a:buNone/>
            </a:pPr>
            <a:r>
              <a:rPr lang="en-US" sz="1500" b="1" dirty="0">
                <a:solidFill>
                  <a:srgbClr val="FFFFFF"/>
                </a:solidFill>
                <a:latin typeface="Arial"/>
                <a:cs typeface="Arial"/>
              </a:rPr>
              <a:t>+</a:t>
            </a:r>
          </a:p>
          <a:p>
            <a:pPr marL="0" indent="0" algn="ctr">
              <a:lnSpc>
                <a:spcPct val="100000"/>
              </a:lnSpc>
              <a:spcBef>
                <a:spcPts val="100"/>
              </a:spcBef>
              <a:buNone/>
            </a:pPr>
            <a:r>
              <a:rPr lang="en-US" sz="1500" b="1" dirty="0">
                <a:solidFill>
                  <a:srgbClr val="FFFFFF"/>
                </a:solidFill>
                <a:latin typeface="Arial"/>
                <a:cs typeface="Arial"/>
              </a:rPr>
              <a:t>manuscript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This course is Level 1 of three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16666"/>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Level 1  (this course)</a:t>
            </a:r>
          </a:p>
        </p:txBody>
      </p:sp>
      <p:sp>
        <p:nvSpPr>
          <p:cNvPr id="71" name="CardBody"/>
          <p:cNvSpPr/>
          <p:nvPr/>
        </p:nvSpPr>
        <p:spPr>
          <a:xfrm>
            <a:off x="457200" y="2556666"/>
            <a:ext cx="3625866"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000000"/>
                </a:solidFill>
                <a:latin typeface="Arial"/>
                <a:cs typeface="Arial"/>
              </a:rPr>
              <a:t>From question to publication</a:t>
            </a:r>
          </a:p>
          <a:p>
            <a:pPr marL="0" indent="0" algn="ctr">
              <a:lnSpc>
                <a:spcPct val="104000"/>
              </a:lnSpc>
              <a:spcBef>
                <a:spcPts val="400"/>
              </a:spcBef>
              <a:buNone/>
            </a:pPr>
            <a:r>
              <a:rPr lang="en-US" sz="1750" dirty="0">
                <a:solidFill>
                  <a:srgbClr val="000000"/>
                </a:solidFill>
                <a:latin typeface="Arial"/>
                <a:cs typeface="Arial"/>
              </a:rPr>
              <a:t>Ask, design, analyse, write and publish</a:t>
            </a:r>
          </a:p>
        </p:txBody>
      </p:sp>
      <p:sp>
        <p:nvSpPr>
          <p:cNvPr id="72" name="CardHead"/>
          <p:cNvSpPr/>
          <p:nvPr/>
        </p:nvSpPr>
        <p:spPr>
          <a:xfrm>
            <a:off x="4283066" y="1916666"/>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Level 2  (hands-on)</a:t>
            </a:r>
          </a:p>
        </p:txBody>
      </p:sp>
      <p:sp>
        <p:nvSpPr>
          <p:cNvPr id="73" name="CardBody"/>
          <p:cNvSpPr/>
          <p:nvPr/>
        </p:nvSpPr>
        <p:spPr>
          <a:xfrm>
            <a:off x="4283066" y="2556666"/>
            <a:ext cx="3625866"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000000"/>
                </a:solidFill>
                <a:latin typeface="Arial"/>
                <a:cs typeface="Arial"/>
              </a:rPr>
              <a:t>Statistical modelling in R</a:t>
            </a:r>
          </a:p>
          <a:p>
            <a:pPr marL="0" indent="0" algn="ctr">
              <a:lnSpc>
                <a:spcPct val="104000"/>
              </a:lnSpc>
              <a:spcBef>
                <a:spcPts val="400"/>
              </a:spcBef>
              <a:buNone/>
            </a:pPr>
            <a:r>
              <a:rPr lang="en-US" sz="1750" dirty="0">
                <a:solidFill>
                  <a:srgbClr val="000000"/>
                </a:solidFill>
                <a:latin typeface="Arial"/>
                <a:cs typeface="Arial"/>
              </a:rPr>
              <a:t>You run the analyses yourself</a:t>
            </a:r>
          </a:p>
        </p:txBody>
      </p:sp>
      <p:sp>
        <p:nvSpPr>
          <p:cNvPr id="74" name="CardHead"/>
          <p:cNvSpPr/>
          <p:nvPr/>
        </p:nvSpPr>
        <p:spPr>
          <a:xfrm>
            <a:off x="8108932" y="1916666"/>
            <a:ext cx="3625866" cy="640000"/>
          </a:xfrm>
          <a:prstGeom prst="rect">
            <a:avLst/>
          </a:prstGeom>
          <a:solidFill>
            <a:srgbClr val="04242F"/>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Level 3  (advanced)</a:t>
            </a:r>
          </a:p>
        </p:txBody>
      </p:sp>
      <p:sp>
        <p:nvSpPr>
          <p:cNvPr id="75" name="CardBody"/>
          <p:cNvSpPr/>
          <p:nvPr/>
        </p:nvSpPr>
        <p:spPr>
          <a:xfrm>
            <a:off x="8108932" y="2556666"/>
            <a:ext cx="3625866"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000000"/>
                </a:solidFill>
                <a:latin typeface="Arial"/>
                <a:cs typeface="Arial"/>
              </a:rPr>
              <a:t>Advanced methods</a:t>
            </a:r>
          </a:p>
          <a:p>
            <a:pPr marL="0" indent="0" algn="ctr">
              <a:lnSpc>
                <a:spcPct val="104000"/>
              </a:lnSpc>
              <a:spcBef>
                <a:spcPts val="400"/>
              </a:spcBef>
              <a:buNone/>
            </a:pPr>
            <a:r>
              <a:rPr lang="en-US" sz="1750" dirty="0">
                <a:solidFill>
                  <a:srgbClr val="000000"/>
                </a:solidFill>
                <a:latin typeface="Arial"/>
                <a:cs typeface="Arial"/>
              </a:rPr>
              <a:t>Workshops on request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Level 1 is this course. Levels 2 and 3 are for those who want to go further.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Two things you will produce, each on your own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Both are individual work. We guide every step in class.</a:t>
            </a:r>
          </a:p>
        </p:txBody>
      </p:sp>
      <p:sp>
        <p:nvSpPr>
          <p:cNvPr id="70" name="CardHead"/>
          <p:cNvSpPr/>
          <p:nvPr/>
        </p:nvSpPr>
        <p:spPr>
          <a:xfrm>
            <a:off x="457200" y="2203761"/>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Your research proposal</a:t>
            </a:r>
          </a:p>
        </p:txBody>
      </p:sp>
      <p:sp>
        <p:nvSpPr>
          <p:cNvPr id="71" name="CardBody"/>
          <p:cNvSpPr/>
          <p:nvPr/>
        </p:nvSpPr>
        <p:spPr>
          <a:xfrm>
            <a:off x="457200" y="2843761"/>
            <a:ext cx="5538800"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On a question from your own department</a:t>
            </a:r>
          </a:p>
          <a:p>
            <a:pPr marL="0" indent="0" algn="ctr">
              <a:lnSpc>
                <a:spcPct val="104000"/>
              </a:lnSpc>
              <a:spcBef>
                <a:spcPts val="400"/>
              </a:spcBef>
              <a:buNone/>
            </a:pPr>
            <a:r>
              <a:rPr lang="en-US" sz="1750" dirty="0">
                <a:solidFill>
                  <a:srgbClr val="000000"/>
                </a:solidFill>
                <a:latin typeface="Arial"/>
                <a:cs typeface="Arial"/>
              </a:rPr>
              <a:t>Built one part at a time, Sessions 1 to 7</a:t>
            </a:r>
          </a:p>
          <a:p>
            <a:pPr marL="0" indent="0" algn="ctr">
              <a:lnSpc>
                <a:spcPct val="104000"/>
              </a:lnSpc>
              <a:spcBef>
                <a:spcPts val="400"/>
              </a:spcBef>
              <a:buNone/>
            </a:pPr>
            <a:r>
              <a:rPr lang="en-US" sz="1750" dirty="0">
                <a:solidFill>
                  <a:srgbClr val="000000"/>
                </a:solidFill>
                <a:latin typeface="Arial"/>
                <a:cs typeface="Arial"/>
              </a:rPr>
              <a:t>Submitted in Session 8</a:t>
            </a:r>
          </a:p>
        </p:txBody>
      </p:sp>
      <p:sp>
        <p:nvSpPr>
          <p:cNvPr id="72" name="CardHead"/>
          <p:cNvSpPr/>
          <p:nvPr/>
        </p:nvSpPr>
        <p:spPr>
          <a:xfrm>
            <a:off x="6196000" y="2203761"/>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 draft manuscript</a:t>
            </a:r>
          </a:p>
        </p:txBody>
      </p:sp>
      <p:sp>
        <p:nvSpPr>
          <p:cNvPr id="73" name="CardBody"/>
          <p:cNvSpPr/>
          <p:nvPr/>
        </p:nvSpPr>
        <p:spPr>
          <a:xfrm>
            <a:off x="6196000" y="2843761"/>
            <a:ext cx="5538800"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Based on the course study, FLUID-ICU</a:t>
            </a:r>
          </a:p>
          <a:p>
            <a:pPr marL="0" indent="0" algn="ctr">
              <a:lnSpc>
                <a:spcPct val="104000"/>
              </a:lnSpc>
              <a:spcBef>
                <a:spcPts val="400"/>
              </a:spcBef>
              <a:buNone/>
            </a:pPr>
            <a:r>
              <a:rPr lang="en-US" sz="1750" dirty="0">
                <a:solidFill>
                  <a:srgbClr val="000000"/>
                </a:solidFill>
                <a:latin typeface="Arial"/>
                <a:cs typeface="Arial"/>
              </a:rPr>
              <a:t>We give you the results. You write the paper</a:t>
            </a:r>
          </a:p>
          <a:p>
            <a:pPr marL="0" indent="0" algn="ctr">
              <a:lnSpc>
                <a:spcPct val="104000"/>
              </a:lnSpc>
              <a:spcBef>
                <a:spcPts val="400"/>
              </a:spcBef>
              <a:buNone/>
            </a:pPr>
            <a:r>
              <a:rPr lang="en-US" sz="1750" dirty="0">
                <a:solidFill>
                  <a:srgbClr val="000000"/>
                </a:solidFill>
                <a:latin typeface="Arial"/>
                <a:cs typeface="Arial"/>
              </a:rPr>
              <a:t>Then you review one colleague's draft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By the end of the course you will be able to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80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Ask and find</a:t>
            </a:r>
          </a:p>
        </p:txBody>
      </p:sp>
      <p:sp>
        <p:nvSpPr>
          <p:cNvPr id="71" name="CardBody"/>
          <p:cNvSpPr/>
          <p:nvPr/>
        </p:nvSpPr>
        <p:spPr>
          <a:xfrm>
            <a:off x="4572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Turn a problem into a clear question</a:t>
            </a:r>
          </a:p>
          <a:p>
            <a:pPr marL="0" indent="0" algn="ctr">
              <a:lnSpc>
                <a:spcPct val="104000"/>
              </a:lnSpc>
              <a:spcBef>
                <a:spcPts val="400"/>
              </a:spcBef>
              <a:buNone/>
            </a:pPr>
            <a:r>
              <a:rPr lang="en-US" sz="1600" dirty="0">
                <a:solidFill>
                  <a:srgbClr val="000000"/>
                </a:solidFill>
                <a:latin typeface="Arial"/>
                <a:cs typeface="Arial"/>
              </a:rPr>
              <a:t>Search PubMed and manage references</a:t>
            </a:r>
          </a:p>
          <a:p>
            <a:pPr marL="0" indent="0" algn="ctr">
              <a:lnSpc>
                <a:spcPct val="104000"/>
              </a:lnSpc>
              <a:spcBef>
                <a:spcPts val="400"/>
              </a:spcBef>
              <a:buNone/>
            </a:pPr>
            <a:r>
              <a:rPr lang="en-US" sz="1600" dirty="0">
                <a:solidFill>
                  <a:srgbClr val="000000"/>
                </a:solidFill>
                <a:latin typeface="Arial"/>
                <a:cs typeface="Arial"/>
              </a:rPr>
              <a:t>Read a paper in 15 minutes</a:t>
            </a:r>
          </a:p>
        </p:txBody>
      </p:sp>
      <p:sp>
        <p:nvSpPr>
          <p:cNvPr id="72" name="CardHead"/>
          <p:cNvSpPr/>
          <p:nvPr/>
        </p:nvSpPr>
        <p:spPr>
          <a:xfrm>
            <a:off x="3326600" y="1680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Design</a:t>
            </a:r>
          </a:p>
        </p:txBody>
      </p:sp>
      <p:sp>
        <p:nvSpPr>
          <p:cNvPr id="73" name="CardBody"/>
          <p:cNvSpPr/>
          <p:nvPr/>
        </p:nvSpPr>
        <p:spPr>
          <a:xfrm>
            <a:off x="33266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Choose a study design</a:t>
            </a:r>
          </a:p>
          <a:p>
            <a:pPr marL="0" indent="0" algn="ctr">
              <a:lnSpc>
                <a:spcPct val="104000"/>
              </a:lnSpc>
              <a:spcBef>
                <a:spcPts val="400"/>
              </a:spcBef>
              <a:buNone/>
            </a:pPr>
            <a:r>
              <a:rPr lang="en-US" sz="1600" dirty="0">
                <a:solidFill>
                  <a:srgbClr val="000000"/>
                </a:solidFill>
                <a:latin typeface="Arial"/>
                <a:cs typeface="Arial"/>
              </a:rPr>
              <a:t>Recognise bias</a:t>
            </a:r>
          </a:p>
          <a:p>
            <a:pPr marL="0" indent="0" algn="ctr">
              <a:lnSpc>
                <a:spcPct val="104000"/>
              </a:lnSpc>
              <a:spcBef>
                <a:spcPts val="400"/>
              </a:spcBef>
              <a:buNone/>
            </a:pPr>
            <a:r>
              <a:rPr lang="en-US" sz="1600" dirty="0">
                <a:solidFill>
                  <a:srgbClr val="000000"/>
                </a:solidFill>
                <a:latin typeface="Arial"/>
                <a:cs typeface="Arial"/>
              </a:rPr>
              <a:t>Read the main effect measures</a:t>
            </a:r>
          </a:p>
        </p:txBody>
      </p:sp>
      <p:sp>
        <p:nvSpPr>
          <p:cNvPr id="74" name="CardHead"/>
          <p:cNvSpPr/>
          <p:nvPr/>
        </p:nvSpPr>
        <p:spPr>
          <a:xfrm>
            <a:off x="6196000" y="1680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Analyse</a:t>
            </a:r>
          </a:p>
        </p:txBody>
      </p:sp>
      <p:sp>
        <p:nvSpPr>
          <p:cNvPr id="75" name="CardBody"/>
          <p:cNvSpPr/>
          <p:nvPr/>
        </p:nvSpPr>
        <p:spPr>
          <a:xfrm>
            <a:off x="61960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Plan the data you collect</a:t>
            </a:r>
          </a:p>
          <a:p>
            <a:pPr marL="0" indent="0" algn="ctr">
              <a:lnSpc>
                <a:spcPct val="104000"/>
              </a:lnSpc>
              <a:spcBef>
                <a:spcPts val="400"/>
              </a:spcBef>
              <a:buNone/>
            </a:pPr>
            <a:r>
              <a:rPr lang="en-US" sz="1600" dirty="0">
                <a:solidFill>
                  <a:srgbClr val="000000"/>
                </a:solidFill>
                <a:latin typeface="Arial"/>
                <a:cs typeface="Arial"/>
              </a:rPr>
              <a:t>Read the results of an analysis</a:t>
            </a:r>
          </a:p>
          <a:p>
            <a:pPr marL="0" indent="0" algn="ctr">
              <a:lnSpc>
                <a:spcPct val="104000"/>
              </a:lnSpc>
              <a:spcBef>
                <a:spcPts val="400"/>
              </a:spcBef>
              <a:buNone/>
            </a:pPr>
            <a:r>
              <a:rPr lang="en-US" sz="1600" dirty="0">
                <a:solidFill>
                  <a:srgbClr val="000000"/>
                </a:solidFill>
                <a:latin typeface="Arial"/>
                <a:cs typeface="Arial"/>
              </a:rPr>
              <a:t>Interpret a real dataset</a:t>
            </a:r>
          </a:p>
        </p:txBody>
      </p:sp>
      <p:sp>
        <p:nvSpPr>
          <p:cNvPr id="76" name="CardHead"/>
          <p:cNvSpPr/>
          <p:nvPr/>
        </p:nvSpPr>
        <p:spPr>
          <a:xfrm>
            <a:off x="9065400" y="1680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Write and publish</a:t>
            </a:r>
          </a:p>
        </p:txBody>
      </p:sp>
      <p:sp>
        <p:nvSpPr>
          <p:cNvPr id="77" name="CardBody"/>
          <p:cNvSpPr/>
          <p:nvPr/>
        </p:nvSpPr>
        <p:spPr>
          <a:xfrm>
            <a:off x="90654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Plan ethics approval</a:t>
            </a:r>
          </a:p>
          <a:p>
            <a:pPr marL="0" indent="0" algn="ctr">
              <a:lnSpc>
                <a:spcPct val="104000"/>
              </a:lnSpc>
              <a:spcBef>
                <a:spcPts val="400"/>
              </a:spcBef>
              <a:buNone/>
            </a:pPr>
            <a:r>
              <a:rPr lang="en-US" sz="1600" dirty="0">
                <a:solidFill>
                  <a:srgbClr val="000000"/>
                </a:solidFill>
                <a:latin typeface="Arial"/>
                <a:cs typeface="Arial"/>
              </a:rPr>
              <a:t>Write each section of a paper</a:t>
            </a:r>
          </a:p>
          <a:p>
            <a:pPr marL="0" indent="0" algn="ctr">
              <a:lnSpc>
                <a:spcPct val="104000"/>
              </a:lnSpc>
              <a:spcBef>
                <a:spcPts val="400"/>
              </a:spcBef>
              <a:buNone/>
            </a:pPr>
            <a:r>
              <a:rPr lang="en-US" sz="1600" dirty="0">
                <a:solidFill>
                  <a:srgbClr val="000000"/>
                </a:solidFill>
                <a:latin typeface="Arial"/>
                <a:cs typeface="Arial"/>
              </a:rPr>
              <a:t>Submit and answer reviewers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Understand and interpret: you will not be asked to calculate.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How each session runs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563880" y="2336320"/>
            <a:ext cx="578104" cy="1554480"/>
          </a:xfrm>
          <a:prstGeom prst="rect">
            <a:avLst/>
          </a:prstGeom>
          <a:solidFill>
            <a:srgbClr val="8A99A3"/>
          </a:solidFill>
          <a:ln>
            <a:noFill/>
          </a:ln>
        </p:spPr>
        <p:txBody>
          <a:bodyPr wrap="square" lIns="27432" tIns="27432" rIns="27432" bIns="27432" rtlCol="0" anchor="ctr">
            <a:noAutofit/>
          </a:bodyPr>
          <a:lstStyle/>
          <a:p>
            <a:pPr marL="0" indent="0" algn="ctr">
              <a:lnSpc>
                <a:spcPct val="100000"/>
              </a:lnSpc>
              <a:buNone/>
            </a:pPr>
            <a:r>
              <a:rPr lang="en-US" sz="1300" b="1" dirty="0">
                <a:solidFill>
                  <a:srgbClr val="FFFFFF"/>
                </a:solidFill>
                <a:latin typeface="Arial"/>
                <a:cs typeface="Arial"/>
              </a:rPr>
              <a:t>Recap</a:t>
            </a:r>
          </a:p>
        </p:txBody>
      </p:sp>
      <p:sp>
        <p:nvSpPr>
          <p:cNvPr id="101" name="Text"/>
          <p:cNvSpPr/>
          <p:nvPr/>
        </p:nvSpPr>
        <p:spPr>
          <a:xfrm>
            <a:off x="19812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0:00</a:t>
            </a:r>
          </a:p>
        </p:txBody>
      </p:sp>
      <p:sp>
        <p:nvSpPr>
          <p:cNvPr id="102" name="Box"/>
          <p:cNvSpPr/>
          <p:nvPr/>
        </p:nvSpPr>
        <p:spPr>
          <a:xfrm>
            <a:off x="1178560" y="2336320"/>
            <a:ext cx="3651504" cy="1554480"/>
          </a:xfrm>
          <a:prstGeom prst="rect">
            <a:avLst/>
          </a:prstGeom>
          <a:solidFill>
            <a:srgbClr val="0D7377"/>
          </a:solidFill>
          <a:ln>
            <a:noFill/>
          </a:ln>
        </p:spPr>
        <p:txBody>
          <a:bodyPr wrap="square" lIns="27432" tIns="27432" rIns="27432" bIns="27432" rtlCol="0" anchor="ctr">
            <a:noAutofit/>
          </a:bodyPr>
          <a:lstStyle/>
          <a:p>
            <a:pPr marL="0" indent="0" algn="ctr">
              <a:lnSpc>
                <a:spcPct val="100000"/>
              </a:lnSpc>
              <a:buNone/>
            </a:pPr>
            <a:r>
              <a:rPr lang="en-US" sz="1800" b="1" dirty="0">
                <a:solidFill>
                  <a:srgbClr val="FFFFFF"/>
                </a:solidFill>
                <a:latin typeface="Arial"/>
                <a:cs typeface="Arial"/>
              </a:rPr>
              <a:t>Teach, check, practise (A)</a:t>
            </a:r>
          </a:p>
        </p:txBody>
      </p:sp>
      <p:sp>
        <p:nvSpPr>
          <p:cNvPr id="103" name="Text"/>
          <p:cNvSpPr/>
          <p:nvPr/>
        </p:nvSpPr>
        <p:spPr>
          <a:xfrm>
            <a:off x="81280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0:10</a:t>
            </a:r>
          </a:p>
        </p:txBody>
      </p:sp>
      <p:sp>
        <p:nvSpPr>
          <p:cNvPr id="104" name="Box"/>
          <p:cNvSpPr/>
          <p:nvPr/>
        </p:nvSpPr>
        <p:spPr>
          <a:xfrm>
            <a:off x="4866640" y="2336320"/>
            <a:ext cx="885444" cy="1554480"/>
          </a:xfrm>
          <a:prstGeom prst="rect">
            <a:avLst/>
          </a:prstGeom>
          <a:solidFill>
            <a:srgbClr val="D5DDE1"/>
          </a:solidFill>
          <a:ln>
            <a:noFill/>
          </a:ln>
        </p:spPr>
        <p:txBody>
          <a:bodyPr wrap="square" lIns="27432" tIns="27432" rIns="27432" bIns="27432" rtlCol="0" anchor="ctr">
            <a:noAutofit/>
          </a:bodyPr>
          <a:lstStyle/>
          <a:p>
            <a:pPr marL="0" indent="0" algn="ctr">
              <a:lnSpc>
                <a:spcPct val="100000"/>
              </a:lnSpc>
              <a:buNone/>
            </a:pPr>
            <a:r>
              <a:rPr lang="en-US" sz="1300" b="1" dirty="0">
                <a:solidFill>
                  <a:srgbClr val="000000"/>
                </a:solidFill>
                <a:latin typeface="Arial"/>
                <a:cs typeface="Arial"/>
              </a:rPr>
              <a:t>Break</a:t>
            </a:r>
          </a:p>
        </p:txBody>
      </p:sp>
      <p:sp>
        <p:nvSpPr>
          <p:cNvPr id="105" name="Text"/>
          <p:cNvSpPr/>
          <p:nvPr/>
        </p:nvSpPr>
        <p:spPr>
          <a:xfrm>
            <a:off x="450088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1:10</a:t>
            </a:r>
          </a:p>
        </p:txBody>
      </p:sp>
      <p:sp>
        <p:nvSpPr>
          <p:cNvPr id="106" name="Box"/>
          <p:cNvSpPr/>
          <p:nvPr/>
        </p:nvSpPr>
        <p:spPr>
          <a:xfrm>
            <a:off x="5788660" y="2336320"/>
            <a:ext cx="3651504" cy="1554480"/>
          </a:xfrm>
          <a:prstGeom prst="rect">
            <a:avLst/>
          </a:prstGeom>
          <a:solidFill>
            <a:srgbClr val="0B376C"/>
          </a:solidFill>
          <a:ln>
            <a:noFill/>
          </a:ln>
        </p:spPr>
        <p:txBody>
          <a:bodyPr wrap="square" lIns="27432" tIns="27432" rIns="27432" bIns="27432" rtlCol="0" anchor="ctr">
            <a:noAutofit/>
          </a:bodyPr>
          <a:lstStyle/>
          <a:p>
            <a:pPr marL="0" indent="0" algn="ctr">
              <a:lnSpc>
                <a:spcPct val="100000"/>
              </a:lnSpc>
              <a:buNone/>
            </a:pPr>
            <a:r>
              <a:rPr lang="en-US" sz="1800" b="1" dirty="0">
                <a:solidFill>
                  <a:srgbClr val="FFFFFF"/>
                </a:solidFill>
                <a:latin typeface="Arial"/>
                <a:cs typeface="Arial"/>
              </a:rPr>
              <a:t>Teach, check, practise (B)</a:t>
            </a:r>
          </a:p>
        </p:txBody>
      </p:sp>
      <p:sp>
        <p:nvSpPr>
          <p:cNvPr id="107" name="Text"/>
          <p:cNvSpPr/>
          <p:nvPr/>
        </p:nvSpPr>
        <p:spPr>
          <a:xfrm>
            <a:off x="542290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1:25</a:t>
            </a:r>
          </a:p>
        </p:txBody>
      </p:sp>
      <p:sp>
        <p:nvSpPr>
          <p:cNvPr id="108" name="Box"/>
          <p:cNvSpPr/>
          <p:nvPr/>
        </p:nvSpPr>
        <p:spPr>
          <a:xfrm>
            <a:off x="9476740" y="2336320"/>
            <a:ext cx="1807464" cy="1554480"/>
          </a:xfrm>
          <a:prstGeom prst="rect">
            <a:avLst/>
          </a:prstGeom>
          <a:solidFill>
            <a:srgbClr val="055F56"/>
          </a:solidFill>
          <a:ln>
            <a:noFill/>
          </a:ln>
        </p:spPr>
        <p:txBody>
          <a:bodyPr wrap="square" lIns="27432" tIns="27432" rIns="27432" bIns="27432" rtlCol="0" anchor="ctr">
            <a:noAutofit/>
          </a:bodyPr>
          <a:lstStyle/>
          <a:p>
            <a:pPr marL="0" indent="0" algn="ctr">
              <a:lnSpc>
                <a:spcPct val="100000"/>
              </a:lnSpc>
              <a:buNone/>
            </a:pPr>
            <a:r>
              <a:rPr lang="en-US" sz="1800" b="1" dirty="0">
                <a:solidFill>
                  <a:srgbClr val="FFFFFF"/>
                </a:solidFill>
                <a:latin typeface="Arial"/>
                <a:cs typeface="Arial"/>
              </a:rPr>
              <a:t>Build your proposal or paper</a:t>
            </a:r>
          </a:p>
        </p:txBody>
      </p:sp>
      <p:sp>
        <p:nvSpPr>
          <p:cNvPr id="109" name="Text"/>
          <p:cNvSpPr/>
          <p:nvPr/>
        </p:nvSpPr>
        <p:spPr>
          <a:xfrm>
            <a:off x="911098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2:25</a:t>
            </a:r>
          </a:p>
        </p:txBody>
      </p:sp>
      <p:sp>
        <p:nvSpPr>
          <p:cNvPr id="110" name="Box"/>
          <p:cNvSpPr/>
          <p:nvPr/>
        </p:nvSpPr>
        <p:spPr>
          <a:xfrm>
            <a:off x="11320780" y="2336320"/>
            <a:ext cx="270764" cy="1554480"/>
          </a:xfrm>
          <a:prstGeom prst="rect">
            <a:avLst/>
          </a:prstGeom>
          <a:solidFill>
            <a:srgbClr val="8A99A3"/>
          </a:solidFill>
          <a:ln>
            <a:noFill/>
          </a:ln>
        </p:spPr>
        <p:txBody>
          <a:bodyPr wrap="square" lIns="27432" tIns="27432" rIns="27432" bIns="27432" rtlCol="0" anchor="ctr">
            <a:noAutofit/>
          </a:bodyPr>
          <a:lstStyle/>
          <a:p>
            <a:endParaRPr lang="en-US"/>
          </a:p>
        </p:txBody>
      </p:sp>
      <p:sp>
        <p:nvSpPr>
          <p:cNvPr id="111" name="Text"/>
          <p:cNvSpPr/>
          <p:nvPr/>
        </p:nvSpPr>
        <p:spPr>
          <a:xfrm>
            <a:off x="11216640" y="3982240"/>
            <a:ext cx="7315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dirty="0">
                <a:solidFill>
                  <a:srgbClr val="8A99A3"/>
                </a:solidFill>
                <a:latin typeface="Arial"/>
                <a:cs typeface="Arial"/>
              </a:rPr>
              <a:t>3:00</a:t>
            </a:r>
          </a:p>
        </p:txBody>
      </p:sp>
      <p:sp>
        <p:nvSpPr>
          <p:cNvPr id="112" name="Text"/>
          <p:cNvSpPr/>
          <p:nvPr/>
        </p:nvSpPr>
        <p:spPr>
          <a:xfrm>
            <a:off x="10165080" y="1879120"/>
            <a:ext cx="1463040" cy="365760"/>
          </a:xfrm>
          <a:prstGeom prst="rect">
            <a:avLst/>
          </a:prstGeom>
          <a:noFill/>
          <a:ln>
            <a:noFill/>
          </a:ln>
        </p:spPr>
        <p:txBody>
          <a:bodyPr wrap="square" lIns="54864" tIns="54864" rIns="54864" bIns="54864" rtlCol="0" anchor="ctr">
            <a:noAutofit/>
          </a:bodyPr>
          <a:lstStyle/>
          <a:p>
            <a:pPr marL="0" indent="0" algn="r">
              <a:lnSpc>
                <a:spcPct val="100000"/>
              </a:lnSpc>
              <a:buNone/>
            </a:pPr>
            <a:r>
              <a:rPr lang="en-US" sz="1400" dirty="0">
                <a:solidFill>
                  <a:srgbClr val="8A99A3"/>
                </a:solidFill>
                <a:latin typeface="Arial"/>
                <a:cs typeface="Arial"/>
              </a:rPr>
              <a:t>Wrap-up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check every 20 minutes. Extra slides only if time allows.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Build your proposal one part at a time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Part 1</a:t>
            </a:r>
          </a:p>
        </p:txBody>
      </p:sp>
      <p:sp>
        <p:nvSpPr>
          <p:cNvPr id="81" name="StepText"/>
          <p:cNvSpPr/>
          <p:nvPr/>
        </p:nvSpPr>
        <p:spPr>
          <a:xfrm>
            <a:off x="49720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Sessions 1-2</a:t>
            </a:r>
          </a:p>
          <a:p>
            <a:pPr marL="0" indent="0" algn="ctr">
              <a:lnSpc>
                <a:spcPct val="104000"/>
              </a:lnSpc>
              <a:spcBef>
                <a:spcPts val="200"/>
              </a:spcBef>
              <a:buNone/>
            </a:pPr>
            <a:r>
              <a:rPr lang="en-US" sz="1700" dirty="0">
                <a:solidFill>
                  <a:srgbClr val="000000"/>
                </a:solidFill>
                <a:latin typeface="Arial"/>
                <a:cs typeface="Arial"/>
              </a:rPr>
              <a:t>Question, background, aims</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Part 2</a:t>
            </a:r>
          </a:p>
        </p:txBody>
      </p:sp>
      <p:sp>
        <p:nvSpPr>
          <p:cNvPr id="83" name="StepText"/>
          <p:cNvSpPr/>
          <p:nvPr/>
        </p:nvSpPr>
        <p:spPr>
          <a:xfrm>
            <a:off x="274072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Sessions 3-4</a:t>
            </a:r>
          </a:p>
          <a:p>
            <a:pPr marL="0" indent="0" algn="ctr">
              <a:lnSpc>
                <a:spcPct val="104000"/>
              </a:lnSpc>
              <a:spcBef>
                <a:spcPts val="200"/>
              </a:spcBef>
              <a:buNone/>
            </a:pPr>
            <a:r>
              <a:rPr lang="en-US" sz="1700" dirty="0">
                <a:solidFill>
                  <a:srgbClr val="000000"/>
                </a:solidFill>
                <a:latin typeface="Arial"/>
                <a:cs typeface="Arial"/>
              </a:rPr>
              <a:t>Design and participants</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Part 3</a:t>
            </a:r>
          </a:p>
        </p:txBody>
      </p:sp>
      <p:sp>
        <p:nvSpPr>
          <p:cNvPr id="85" name="StepText"/>
          <p:cNvSpPr/>
          <p:nvPr/>
        </p:nvSpPr>
        <p:spPr>
          <a:xfrm>
            <a:off x="498424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Sessions 5-6</a:t>
            </a:r>
          </a:p>
          <a:p>
            <a:pPr marL="0" indent="0" algn="ctr">
              <a:lnSpc>
                <a:spcPct val="104000"/>
              </a:lnSpc>
              <a:spcBef>
                <a:spcPts val="200"/>
              </a:spcBef>
              <a:buNone/>
            </a:pPr>
            <a:r>
              <a:rPr lang="en-US" sz="1700" dirty="0">
                <a:solidFill>
                  <a:srgbClr val="000000"/>
                </a:solidFill>
                <a:latin typeface="Arial"/>
                <a:cs typeface="Arial"/>
              </a:rPr>
              <a:t>Data, sample size, analysis plan</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Part 4</a:t>
            </a:r>
          </a:p>
        </p:txBody>
      </p:sp>
      <p:sp>
        <p:nvSpPr>
          <p:cNvPr id="87" name="StepText"/>
          <p:cNvSpPr/>
          <p:nvPr/>
        </p:nvSpPr>
        <p:spPr>
          <a:xfrm>
            <a:off x="722776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Session 7</a:t>
            </a:r>
          </a:p>
          <a:p>
            <a:pPr marL="0" indent="0" algn="ctr">
              <a:lnSpc>
                <a:spcPct val="104000"/>
              </a:lnSpc>
              <a:spcBef>
                <a:spcPts val="200"/>
              </a:spcBef>
              <a:buNone/>
            </a:pPr>
            <a:r>
              <a:rPr lang="en-US" sz="1700" dirty="0">
                <a:solidFill>
                  <a:srgbClr val="000000"/>
                </a:solidFill>
                <a:latin typeface="Arial"/>
                <a:cs typeface="Arial"/>
              </a:rPr>
              <a:t>Ethics, feasibility, publication plan</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Submit</a:t>
            </a:r>
          </a:p>
        </p:txBody>
      </p:sp>
      <p:sp>
        <p:nvSpPr>
          <p:cNvPr id="89" name="StepText"/>
          <p:cNvSpPr/>
          <p:nvPr/>
        </p:nvSpPr>
        <p:spPr>
          <a:xfrm>
            <a:off x="9471280" y="2140000"/>
            <a:ext cx="2163520" cy="1463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700" b="1" dirty="0">
                <a:solidFill>
                  <a:srgbClr val="000000"/>
                </a:solidFill>
                <a:latin typeface="Arial"/>
                <a:cs typeface="Arial"/>
              </a:rPr>
              <a:t>Session 8</a:t>
            </a:r>
          </a:p>
          <a:p>
            <a:pPr marL="0" indent="0" algn="ctr">
              <a:lnSpc>
                <a:spcPct val="104000"/>
              </a:lnSpc>
              <a:spcBef>
                <a:spcPts val="200"/>
              </a:spcBef>
              <a:buNone/>
            </a:pPr>
            <a:r>
              <a:rPr lang="en-US" sz="1700" dirty="0">
                <a:solidFill>
                  <a:srgbClr val="000000"/>
                </a:solidFill>
                <a:latin typeface="Arial"/>
                <a:cs typeface="Arial"/>
              </a:rPr>
              <a:t>Complete proposal</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Your own question, one template, one part every two weeks.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Welcome: introduce yourself</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6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Type your name, department and profession in the chat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Add one question you wish research could answer in your department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Read the other messages: many are possible research topics</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A few of you then say your question with the microphone on</a:t>
            </a:r>
          </a:p>
        </p:txBody>
      </p:sp>
      <p:sp>
        <p:nvSpPr>
          <p:cNvPr id="52" name="Side"/>
          <p:cNvSpPr/>
          <p:nvPr/>
        </p:nvSpPr>
        <p:spPr>
          <a:xfrm>
            <a:off x="7423760" y="1720000"/>
            <a:ext cx="4311040" cy="14155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Example message</a:t>
            </a:r>
          </a:p>
          <a:p>
            <a:pPr marL="0" indent="0" algn="ctr">
              <a:lnSpc>
                <a:spcPct val="104000"/>
              </a:lnSpc>
              <a:spcBef>
                <a:spcPts val="300"/>
              </a:spcBef>
              <a:buNone/>
            </a:pPr>
            <a:r>
              <a:rPr lang="en-US" sz="1500" dirty="0">
                <a:solidFill>
                  <a:srgbClr val="000000"/>
                </a:solidFill>
                <a:latin typeface="Arial"/>
                <a:cs typeface="Arial"/>
              </a:rPr>
              <a:t>Lan, ICU, nurse</a:t>
            </a:r>
          </a:p>
          <a:p>
            <a:pPr marL="0" indent="0" algn="ctr">
              <a:lnSpc>
                <a:spcPct val="104000"/>
              </a:lnSpc>
              <a:spcBef>
                <a:spcPts val="300"/>
              </a:spcBef>
              <a:buNone/>
            </a:pPr>
            <a:r>
              <a:rPr lang="en-US" sz="1500" dirty="0">
                <a:solidFill>
                  <a:srgbClr val="000000"/>
                </a:solidFill>
                <a:latin typeface="Arial"/>
                <a:cs typeface="Arial"/>
              </a:rPr>
              <a:t>'Do patients with septic shock need less fluid than we give?'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One introduction per person in the chat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How we learn together online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9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Ask anything</a:t>
            </a:r>
          </a:p>
        </p:txBody>
      </p:sp>
      <p:sp>
        <p:nvSpPr>
          <p:cNvPr id="71" name="CardBody"/>
          <p:cNvSpPr/>
          <p:nvPr/>
        </p:nvSpPr>
        <p:spPr>
          <a:xfrm>
            <a:off x="457200" y="263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There are no silly questions</a:t>
            </a:r>
          </a:p>
          <a:p>
            <a:pPr marL="0" indent="0" algn="ctr">
              <a:lnSpc>
                <a:spcPct val="104000"/>
              </a:lnSpc>
              <a:spcBef>
                <a:spcPts val="400"/>
              </a:spcBef>
              <a:buNone/>
            </a:pPr>
            <a:r>
              <a:rPr lang="en-US" sz="1600" dirty="0">
                <a:solidFill>
                  <a:srgbClr val="000000"/>
                </a:solidFill>
                <a:latin typeface="Arial"/>
                <a:cs typeface="Arial"/>
              </a:rPr>
              <a:t>Use the chat or 'raise hand'</a:t>
            </a:r>
          </a:p>
        </p:txBody>
      </p:sp>
      <p:sp>
        <p:nvSpPr>
          <p:cNvPr id="72" name="CardHead"/>
          <p:cNvSpPr/>
          <p:nvPr/>
        </p:nvSpPr>
        <p:spPr>
          <a:xfrm>
            <a:off x="3326600" y="199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Go slow</a:t>
            </a:r>
          </a:p>
        </p:txBody>
      </p:sp>
      <p:sp>
        <p:nvSpPr>
          <p:cNvPr id="73" name="CardBody"/>
          <p:cNvSpPr/>
          <p:nvPr/>
        </p:nvSpPr>
        <p:spPr>
          <a:xfrm>
            <a:off x="3326600" y="263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We check understanding often</a:t>
            </a:r>
          </a:p>
          <a:p>
            <a:pPr marL="0" indent="0" algn="ctr">
              <a:lnSpc>
                <a:spcPct val="104000"/>
              </a:lnSpc>
              <a:spcBef>
                <a:spcPts val="400"/>
              </a:spcBef>
              <a:buNone/>
            </a:pPr>
            <a:r>
              <a:rPr lang="en-US" sz="1600" dirty="0">
                <a:solidFill>
                  <a:srgbClr val="000000"/>
                </a:solidFill>
                <a:latin typeface="Arial"/>
                <a:cs typeface="Arial"/>
              </a:rPr>
              <a:t>Extra slides only if time allows</a:t>
            </a:r>
          </a:p>
        </p:txBody>
      </p:sp>
      <p:sp>
        <p:nvSpPr>
          <p:cNvPr id="74" name="CardHead"/>
          <p:cNvSpPr/>
          <p:nvPr/>
        </p:nvSpPr>
        <p:spPr>
          <a:xfrm>
            <a:off x="6196000" y="199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Bring your department</a:t>
            </a:r>
          </a:p>
        </p:txBody>
      </p:sp>
      <p:sp>
        <p:nvSpPr>
          <p:cNvPr id="75" name="CardBody"/>
          <p:cNvSpPr/>
          <p:nvPr/>
        </p:nvSpPr>
        <p:spPr>
          <a:xfrm>
            <a:off x="6196000" y="263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Use examples from your own practice</a:t>
            </a:r>
          </a:p>
          <a:p>
            <a:pPr marL="0" indent="0" algn="ctr">
              <a:lnSpc>
                <a:spcPct val="104000"/>
              </a:lnSpc>
              <a:spcBef>
                <a:spcPts val="400"/>
              </a:spcBef>
              <a:buNone/>
            </a:pPr>
            <a:r>
              <a:rPr lang="en-US" sz="1600" dirty="0">
                <a:solidFill>
                  <a:srgbClr val="000000"/>
                </a:solidFill>
                <a:latin typeface="Arial"/>
                <a:cs typeface="Arial"/>
              </a:rPr>
              <a:t>No patient names or details</a:t>
            </a:r>
          </a:p>
        </p:txBody>
      </p:sp>
      <p:sp>
        <p:nvSpPr>
          <p:cNvPr id="76" name="CardHead"/>
          <p:cNvSpPr/>
          <p:nvPr/>
        </p:nvSpPr>
        <p:spPr>
          <a:xfrm>
            <a:off x="9065400" y="199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Online habits</a:t>
            </a:r>
          </a:p>
        </p:txBody>
      </p:sp>
      <p:sp>
        <p:nvSpPr>
          <p:cNvPr id="77" name="CardBody"/>
          <p:cNvSpPr/>
          <p:nvPr/>
        </p:nvSpPr>
        <p:spPr>
          <a:xfrm>
            <a:off x="9065400" y="263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Camera on when you can</a:t>
            </a:r>
          </a:p>
          <a:p>
            <a:pPr marL="0" indent="0" algn="ctr">
              <a:lnSpc>
                <a:spcPct val="104000"/>
              </a:lnSpc>
              <a:spcBef>
                <a:spcPts val="400"/>
              </a:spcBef>
              <a:buNone/>
            </a:pPr>
            <a:r>
              <a:rPr lang="en-US" sz="1600" dirty="0">
                <a:solidFill>
                  <a:srgbClr val="000000"/>
                </a:solidFill>
                <a:latin typeface="Arial"/>
                <a:cs typeface="Arial"/>
              </a:rPr>
              <a:t>Microphone off unless speaking</a:t>
            </a:r>
          </a:p>
          <a:p>
            <a:pPr marL="0" indent="0" algn="ctr">
              <a:lnSpc>
                <a:spcPct val="104000"/>
              </a:lnSpc>
              <a:spcBef>
                <a:spcPts val="400"/>
              </a:spcBef>
              <a:buNone/>
            </a:pPr>
            <a:r>
              <a:rPr lang="en-US" sz="1600" dirty="0">
                <a:solidFill>
                  <a:srgbClr val="000000"/>
                </a:solidFill>
                <a:latin typeface="Arial"/>
                <a:cs typeface="Arial"/>
              </a:rPr>
              <a:t>Back on time after the break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Pre-course quiz (online form)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15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Open the quiz form: the link is in the chat now</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Enter your full name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24 multiple-choice questions, one answer each (about 12 minutes)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Work alone: no notes and no colleagues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Guess if you are not sure: this is not an exam</a:t>
            </a:r>
          </a:p>
        </p:txBody>
      </p:sp>
      <p:sp>
        <p:nvSpPr>
          <p:cNvPr id="52" name="Side"/>
          <p:cNvSpPr/>
          <p:nvPr/>
        </p:nvSpPr>
        <p:spPr>
          <a:xfrm>
            <a:off x="7423760" y="1720000"/>
            <a:ext cx="4311040" cy="120000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Why a quiz now?</a:t>
            </a:r>
          </a:p>
          <a:p>
            <a:pPr marL="0" indent="0" algn="ctr">
              <a:lnSpc>
                <a:spcPct val="104000"/>
              </a:lnSpc>
              <a:spcBef>
                <a:spcPts val="300"/>
              </a:spcBef>
              <a:buNone/>
            </a:pPr>
            <a:r>
              <a:rPr lang="en-US" sz="1500" dirty="0">
                <a:solidFill>
                  <a:srgbClr val="000000"/>
                </a:solidFill>
                <a:latin typeface="Arial"/>
                <a:cs typeface="Arial"/>
              </a:rPr>
              <a:t>The same quiz again in Session 8</a:t>
            </a:r>
          </a:p>
          <a:p>
            <a:pPr marL="0" indent="0" algn="ctr">
              <a:lnSpc>
                <a:spcPct val="104000"/>
              </a:lnSpc>
              <a:spcBef>
                <a:spcPts val="300"/>
              </a:spcBef>
              <a:buNone/>
            </a:pPr>
            <a:r>
              <a:rPr lang="en-US" sz="1500" dirty="0">
                <a:solidFill>
                  <a:srgbClr val="000000"/>
                </a:solidFill>
                <a:latin typeface="Arial"/>
                <a:cs typeface="Arial"/>
              </a:rPr>
              <a:t>We measure the course, not you</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Form submitted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2600" b="1" dirty="0">
                <a:solidFill>
                  <a:srgbClr val="0D7377"/>
                </a:solidFill>
                <a:latin typeface="Arial"/>
                <a:cs typeface="Arial"/>
              </a:rPr>
              <a:t>Session 1 · Ask: from clinical problem to research question</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Week 1 · Saturday</a:t>
            </a:r>
          </a:p>
          <a:p>
            <a:pPr>
              <a:buNone/>
            </a:pPr>
            <a:endParaRPr sz="800"/>
          </a:p>
          <a:p>
            <a:pPr marL="274320" indent="-274320" algn="l">
              <a:spcBef>
                <a:spcPts val="440"/>
              </a:spcBef>
              <a:buFont typeface="Arial"/>
              <a:buChar char="•"/>
            </a:pPr>
            <a:r>
              <a:rPr lang="en-US" sz="1900" dirty="0">
                <a:solidFill>
                  <a:srgbClr val="000000"/>
                </a:solidFill>
                <a:latin typeface="Arial"/>
                <a:cs typeface="Arial"/>
              </a:rPr>
              <a:t>1.1  Why research? Evidence, study designs, the two course papers</a:t>
            </a:r>
          </a:p>
          <a:p>
            <a:pPr marL="274320" indent="-274320" algn="l">
              <a:spcBef>
                <a:spcPts val="440"/>
              </a:spcBef>
              <a:buFont typeface="Arial"/>
              <a:buChar char="•"/>
            </a:pPr>
            <a:r>
              <a:rPr lang="en-US" sz="1900" dirty="0">
                <a:solidFill>
                  <a:srgbClr val="000000"/>
                </a:solidFill>
                <a:latin typeface="Arial"/>
                <a:cs typeface="Arial"/>
              </a:rPr>
              <a:t>Break</a:t>
            </a:r>
          </a:p>
          <a:p>
            <a:pPr marL="274320" indent="-274320" algn="l">
              <a:spcBef>
                <a:spcPts val="440"/>
              </a:spcBef>
              <a:buFont typeface="Arial"/>
              <a:buChar char="•"/>
            </a:pPr>
            <a:r>
              <a:rPr lang="en-US" sz="1900" dirty="0">
                <a:solidFill>
                  <a:srgbClr val="000000"/>
                </a:solidFill>
                <a:latin typeface="Arial"/>
                <a:cs typeface="Arial"/>
              </a:rPr>
              <a:t>1.2  From problem to question: PICO(T), PECO and FINER</a:t>
            </a:r>
          </a:p>
          <a:p>
            <a:pPr marL="274320" indent="-274320" algn="l">
              <a:spcBef>
                <a:spcPts val="440"/>
              </a:spcBef>
              <a:buFont typeface="Arial"/>
              <a:buChar char="•"/>
            </a:pPr>
            <a:r>
              <a:rPr lang="en-US" sz="1900" dirty="0">
                <a:solidFill>
                  <a:srgbClr val="000000"/>
                </a:solidFill>
                <a:latin typeface="Arial"/>
                <a:cs typeface="Arial"/>
              </a:rPr>
              <a:t>1.3  Aims, objectives and hypotheses</a:t>
            </a:r>
          </a:p>
          <a:p>
            <a:pPr marL="274320" indent="-274320" algn="l">
              <a:spcBef>
                <a:spcPts val="440"/>
              </a:spcBef>
              <a:buFont typeface="Arial"/>
              <a:buChar char="•"/>
            </a:pPr>
            <a:r>
              <a:rPr lang="en-US" sz="1900" dirty="0">
                <a:solidFill>
                  <a:srgbClr val="000000"/>
                </a:solidFill>
                <a:latin typeface="Arial"/>
                <a:cs typeface="Arial"/>
              </a:rPr>
              <a:t>Proposal builder 1: start your own question</a:t>
            </a:r>
          </a:p>
          <a:p>
            <a:pPr marL="274320" indent="-274320" algn="l">
              <a:spcBef>
                <a:spcPts val="440"/>
              </a:spcBef>
              <a:buFont typeface="Arial"/>
              <a:buChar char="•"/>
            </a:pPr>
            <a:r>
              <a:rPr lang="en-US" sz="1900" dirty="0">
                <a:solidFill>
                  <a:srgbClr val="000000"/>
                </a:solidFill>
                <a:latin typeface="Arial"/>
                <a:cs typeface="Arial"/>
              </a:rPr>
              <a:t>Wrap-up: key words, exit question, homework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1.1  Why research?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Why do we need research when we already have experience?</a:t>
            </a:r>
          </a:p>
          <a:p>
            <a:pPr marL="0" indent="0" algn="ctr">
              <a:spcBef>
                <a:spcPts val="1200"/>
              </a:spcBef>
              <a:buNone/>
            </a:pPr>
            <a:r>
              <a:rPr lang="en-US" sz="1900" i="1" dirty="0">
                <a:solidFill>
                  <a:srgbClr val="595959"/>
                </a:solidFill>
                <a:latin typeface="Arial"/>
                <a:cs typeface="Arial"/>
              </a:rPr>
              <a:t>35 minutes: evidence, study designs, the two course papers, types of research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Anecdote vs evidence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72440" y="1239040"/>
            <a:ext cx="4572000" cy="3931920"/>
          </a:xfrm>
          <a:prstGeom prst="roundRect">
            <a:avLst>
              <a:gd name="adj" fmla="val 5000"/>
            </a:avLst>
          </a:prstGeom>
          <a:noFill/>
          <a:ln w="31750">
            <a:solidFill>
              <a:srgbClr val="D9822B"/>
            </a:solidFill>
          </a:ln>
        </p:spPr>
        <p:txBody>
          <a:bodyPr wrap="square" lIns="54864" tIns="54864" rIns="54864" bIns="54864" rtlCol="0" anchor="ctr">
            <a:noAutofit/>
          </a:bodyPr>
          <a:lstStyle/>
          <a:p>
            <a:endParaRPr lang="en-US"/>
          </a:p>
        </p:txBody>
      </p:sp>
      <p:sp>
        <p:nvSpPr>
          <p:cNvPr id="101" name="Text"/>
          <p:cNvSpPr/>
          <p:nvPr/>
        </p:nvSpPr>
        <p:spPr>
          <a:xfrm>
            <a:off x="472440" y="1330480"/>
            <a:ext cx="4572000" cy="5029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200" b="1" dirty="0">
                <a:solidFill>
                  <a:srgbClr val="D9822B"/>
                </a:solidFill>
                <a:latin typeface="Arial"/>
                <a:cs typeface="Arial"/>
              </a:rPr>
              <a:t>Anecdote</a:t>
            </a:r>
          </a:p>
        </p:txBody>
      </p:sp>
      <p:sp>
        <p:nvSpPr>
          <p:cNvPr id="102" name="PersonHead"/>
          <p:cNvSpPr/>
          <p:nvPr/>
        </p:nvSpPr>
        <p:spPr>
          <a:xfrm>
            <a:off x="934212" y="2199160"/>
            <a:ext cx="510235" cy="510235"/>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103" name="PersonBody"/>
          <p:cNvSpPr/>
          <p:nvPr/>
        </p:nvSpPr>
        <p:spPr>
          <a:xfrm>
            <a:off x="792480" y="2794434"/>
            <a:ext cx="793699" cy="822046"/>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104" name="Box"/>
          <p:cNvSpPr/>
          <p:nvPr/>
        </p:nvSpPr>
        <p:spPr>
          <a:xfrm>
            <a:off x="1798320" y="1924840"/>
            <a:ext cx="3017520" cy="1143000"/>
          </a:xfrm>
          <a:prstGeom prst="wedgeRoundRectCallout">
            <a:avLst>
              <a:gd name="adj1" fmla="val -64000"/>
              <a:gd name="adj2" fmla="val 4000"/>
              <a:gd name="adj3" fmla="val 16667"/>
            </a:avLst>
          </a:prstGeom>
          <a:solidFill>
            <a:srgbClr val="EAF2F5"/>
          </a:solidFill>
          <a:ln>
            <a:noFill/>
          </a:ln>
        </p:spPr>
        <p:txBody>
          <a:bodyPr wrap="square" lIns="109728" tIns="109728" rIns="109728" bIns="109728" rtlCol="0" anchor="ctr">
            <a:noAutofit/>
          </a:bodyPr>
          <a:lstStyle/>
          <a:p>
            <a:pPr marL="0" indent="0" algn="ctr">
              <a:lnSpc>
                <a:spcPct val="100000"/>
              </a:lnSpc>
              <a:buNone/>
            </a:pPr>
            <a:r>
              <a:rPr lang="en-US" sz="1600" dirty="0">
                <a:solidFill>
                  <a:srgbClr val="1A1A1A"/>
                </a:solidFill>
                <a:latin typeface="Arial"/>
                <a:cs typeface="Arial"/>
              </a:rPr>
              <a:t>"I gave less fluid to 3 patients and they all did well!"</a:t>
            </a:r>
          </a:p>
        </p:txBody>
      </p:sp>
      <p:sp>
        <p:nvSpPr>
          <p:cNvPr id="105" name="PersonHead"/>
          <p:cNvSpPr/>
          <p:nvPr/>
        </p:nvSpPr>
        <p:spPr>
          <a:xfrm>
            <a:off x="2346960" y="3250720"/>
            <a:ext cx="329184" cy="329184"/>
          </a:xfrm>
          <a:prstGeom prst="ellipse">
            <a:avLst/>
          </a:prstGeom>
          <a:solidFill>
            <a:srgbClr val="2E8B57"/>
          </a:solidFill>
          <a:ln>
            <a:noFill/>
          </a:ln>
        </p:spPr>
        <p:txBody>
          <a:bodyPr wrap="square" lIns="54864" tIns="54864" rIns="54864" bIns="54864" rtlCol="0" anchor="ctr">
            <a:noAutofit/>
          </a:bodyPr>
          <a:lstStyle/>
          <a:p>
            <a:endParaRPr lang="en-US"/>
          </a:p>
        </p:txBody>
      </p:sp>
      <p:sp>
        <p:nvSpPr>
          <p:cNvPr id="106" name="PersonBody"/>
          <p:cNvSpPr/>
          <p:nvPr/>
        </p:nvSpPr>
        <p:spPr>
          <a:xfrm>
            <a:off x="2255520" y="3634768"/>
            <a:ext cx="512064" cy="530352"/>
          </a:xfrm>
          <a:prstGeom prst="roundRect">
            <a:avLst>
              <a:gd name="adj" fmla="val 22000"/>
            </a:avLst>
          </a:prstGeom>
          <a:solidFill>
            <a:srgbClr val="2E8B57"/>
          </a:solidFill>
          <a:ln>
            <a:noFill/>
          </a:ln>
        </p:spPr>
        <p:txBody>
          <a:bodyPr wrap="square" lIns="54864" tIns="54864" rIns="54864" bIns="54864" rtlCol="0" anchor="ctr">
            <a:noAutofit/>
          </a:bodyPr>
          <a:lstStyle/>
          <a:p>
            <a:endParaRPr lang="en-US"/>
          </a:p>
        </p:txBody>
      </p:sp>
      <p:sp>
        <p:nvSpPr>
          <p:cNvPr id="107" name="PersonHead"/>
          <p:cNvSpPr/>
          <p:nvPr/>
        </p:nvSpPr>
        <p:spPr>
          <a:xfrm>
            <a:off x="3169920" y="3250720"/>
            <a:ext cx="329184" cy="329184"/>
          </a:xfrm>
          <a:prstGeom prst="ellipse">
            <a:avLst/>
          </a:prstGeom>
          <a:solidFill>
            <a:srgbClr val="2E8B57"/>
          </a:solidFill>
          <a:ln>
            <a:noFill/>
          </a:ln>
        </p:spPr>
        <p:txBody>
          <a:bodyPr wrap="square" lIns="54864" tIns="54864" rIns="54864" bIns="54864" rtlCol="0" anchor="ctr">
            <a:noAutofit/>
          </a:bodyPr>
          <a:lstStyle/>
          <a:p>
            <a:endParaRPr lang="en-US"/>
          </a:p>
        </p:txBody>
      </p:sp>
      <p:sp>
        <p:nvSpPr>
          <p:cNvPr id="108" name="PersonBody"/>
          <p:cNvSpPr/>
          <p:nvPr/>
        </p:nvSpPr>
        <p:spPr>
          <a:xfrm>
            <a:off x="3078480" y="3634768"/>
            <a:ext cx="512064" cy="530352"/>
          </a:xfrm>
          <a:prstGeom prst="roundRect">
            <a:avLst>
              <a:gd name="adj" fmla="val 22000"/>
            </a:avLst>
          </a:prstGeom>
          <a:solidFill>
            <a:srgbClr val="2E8B57"/>
          </a:solidFill>
          <a:ln>
            <a:noFill/>
          </a:ln>
        </p:spPr>
        <p:txBody>
          <a:bodyPr wrap="square" lIns="54864" tIns="54864" rIns="54864" bIns="54864" rtlCol="0" anchor="ctr">
            <a:noAutofit/>
          </a:bodyPr>
          <a:lstStyle/>
          <a:p>
            <a:endParaRPr lang="en-US"/>
          </a:p>
        </p:txBody>
      </p:sp>
      <p:sp>
        <p:nvSpPr>
          <p:cNvPr id="109" name="PersonHead"/>
          <p:cNvSpPr/>
          <p:nvPr/>
        </p:nvSpPr>
        <p:spPr>
          <a:xfrm>
            <a:off x="3992880" y="3250720"/>
            <a:ext cx="329184" cy="329184"/>
          </a:xfrm>
          <a:prstGeom prst="ellipse">
            <a:avLst/>
          </a:prstGeom>
          <a:solidFill>
            <a:srgbClr val="2E8B57"/>
          </a:solidFill>
          <a:ln>
            <a:noFill/>
          </a:ln>
        </p:spPr>
        <p:txBody>
          <a:bodyPr wrap="square" lIns="54864" tIns="54864" rIns="54864" bIns="54864" rtlCol="0" anchor="ctr">
            <a:noAutofit/>
          </a:bodyPr>
          <a:lstStyle/>
          <a:p>
            <a:endParaRPr lang="en-US"/>
          </a:p>
        </p:txBody>
      </p:sp>
      <p:sp>
        <p:nvSpPr>
          <p:cNvPr id="110" name="PersonBody"/>
          <p:cNvSpPr/>
          <p:nvPr/>
        </p:nvSpPr>
        <p:spPr>
          <a:xfrm>
            <a:off x="3901440" y="3634768"/>
            <a:ext cx="512064" cy="530352"/>
          </a:xfrm>
          <a:prstGeom prst="roundRect">
            <a:avLst>
              <a:gd name="adj" fmla="val 22000"/>
            </a:avLst>
          </a:prstGeom>
          <a:solidFill>
            <a:srgbClr val="2E8B57"/>
          </a:solidFill>
          <a:ln>
            <a:noFill/>
          </a:ln>
        </p:spPr>
        <p:txBody>
          <a:bodyPr wrap="square" lIns="54864" tIns="54864" rIns="54864" bIns="54864" rtlCol="0" anchor="ctr">
            <a:noAutofit/>
          </a:bodyPr>
          <a:lstStyle/>
          <a:p>
            <a:endParaRPr lang="en-US"/>
          </a:p>
        </p:txBody>
      </p:sp>
      <p:sp>
        <p:nvSpPr>
          <p:cNvPr id="111" name="Text"/>
          <p:cNvSpPr/>
          <p:nvPr/>
        </p:nvSpPr>
        <p:spPr>
          <a:xfrm>
            <a:off x="655320" y="4302280"/>
            <a:ext cx="42062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Few patients, no comparison, the cases we remember</a:t>
            </a:r>
          </a:p>
        </p:txBody>
      </p:sp>
      <p:sp>
        <p:nvSpPr>
          <p:cNvPr id="112" name="Text"/>
          <p:cNvSpPr/>
          <p:nvPr/>
        </p:nvSpPr>
        <p:spPr>
          <a:xfrm>
            <a:off x="5044440" y="2930680"/>
            <a:ext cx="731520" cy="54864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400" b="1" dirty="0">
                <a:solidFill>
                  <a:srgbClr val="8A99A3"/>
                </a:solidFill>
                <a:latin typeface="Arial"/>
                <a:cs typeface="Arial"/>
              </a:rPr>
              <a:t>vs</a:t>
            </a:r>
          </a:p>
        </p:txBody>
      </p:sp>
      <p:sp>
        <p:nvSpPr>
          <p:cNvPr id="113" name="Box"/>
          <p:cNvSpPr/>
          <p:nvPr/>
        </p:nvSpPr>
        <p:spPr>
          <a:xfrm>
            <a:off x="5775960" y="1239040"/>
            <a:ext cx="5943600" cy="3931920"/>
          </a:xfrm>
          <a:prstGeom prst="roundRect">
            <a:avLst>
              <a:gd name="adj" fmla="val 5000"/>
            </a:avLst>
          </a:prstGeom>
          <a:noFill/>
          <a:ln w="31750">
            <a:solidFill>
              <a:srgbClr val="0D7377"/>
            </a:solidFill>
          </a:ln>
        </p:spPr>
        <p:txBody>
          <a:bodyPr wrap="square" lIns="54864" tIns="54864" rIns="54864" bIns="54864" rtlCol="0" anchor="ctr">
            <a:noAutofit/>
          </a:bodyPr>
          <a:lstStyle/>
          <a:p>
            <a:endParaRPr lang="en-US"/>
          </a:p>
        </p:txBody>
      </p:sp>
      <p:sp>
        <p:nvSpPr>
          <p:cNvPr id="114" name="Text"/>
          <p:cNvSpPr/>
          <p:nvPr/>
        </p:nvSpPr>
        <p:spPr>
          <a:xfrm>
            <a:off x="5775960" y="1330480"/>
            <a:ext cx="5943600" cy="5029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200" b="1" dirty="0">
                <a:solidFill>
                  <a:srgbClr val="0D7377"/>
                </a:solidFill>
                <a:latin typeface="Arial"/>
                <a:cs typeface="Arial"/>
              </a:rPr>
              <a:t>Evidence</a:t>
            </a:r>
          </a:p>
        </p:txBody>
      </p:sp>
      <p:sp>
        <p:nvSpPr>
          <p:cNvPr id="115" name="Text"/>
          <p:cNvSpPr/>
          <p:nvPr/>
        </p:nvSpPr>
        <p:spPr>
          <a:xfrm>
            <a:off x="5913120" y="1805968"/>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D7377"/>
                </a:solidFill>
                <a:latin typeface="Arial"/>
                <a:cs typeface="Arial"/>
              </a:rPr>
              <a:t>Restrictive fluids</a:t>
            </a:r>
          </a:p>
        </p:txBody>
      </p:sp>
      <p:sp>
        <p:nvSpPr>
          <p:cNvPr id="116" name="Text"/>
          <p:cNvSpPr/>
          <p:nvPr/>
        </p:nvSpPr>
        <p:spPr>
          <a:xfrm>
            <a:off x="8839200" y="1805968"/>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B376C"/>
                </a:solidFill>
                <a:latin typeface="Arial"/>
                <a:cs typeface="Arial"/>
              </a:rPr>
              <a:t>Usual care</a:t>
            </a:r>
          </a:p>
        </p:txBody>
      </p:sp>
      <p:sp>
        <p:nvSpPr>
          <p:cNvPr id="117" name="PersonHead"/>
          <p:cNvSpPr/>
          <p:nvPr/>
        </p:nvSpPr>
        <p:spPr>
          <a:xfrm>
            <a:off x="6154522"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18" name="PersonBody"/>
          <p:cNvSpPr/>
          <p:nvPr/>
        </p:nvSpPr>
        <p:spPr>
          <a:xfrm>
            <a:off x="6123432"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19" name="PersonHead"/>
          <p:cNvSpPr/>
          <p:nvPr/>
        </p:nvSpPr>
        <p:spPr>
          <a:xfrm>
            <a:off x="6401410"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0" name="PersonBody"/>
          <p:cNvSpPr/>
          <p:nvPr/>
        </p:nvSpPr>
        <p:spPr>
          <a:xfrm>
            <a:off x="6370320"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1" name="PersonHead"/>
          <p:cNvSpPr/>
          <p:nvPr/>
        </p:nvSpPr>
        <p:spPr>
          <a:xfrm>
            <a:off x="6648298"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2" name="PersonBody"/>
          <p:cNvSpPr/>
          <p:nvPr/>
        </p:nvSpPr>
        <p:spPr>
          <a:xfrm>
            <a:off x="6617208"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3" name="PersonHead"/>
          <p:cNvSpPr/>
          <p:nvPr/>
        </p:nvSpPr>
        <p:spPr>
          <a:xfrm>
            <a:off x="6895186"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4" name="PersonBody"/>
          <p:cNvSpPr/>
          <p:nvPr/>
        </p:nvSpPr>
        <p:spPr>
          <a:xfrm>
            <a:off x="6864096"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5" name="PersonHead"/>
          <p:cNvSpPr/>
          <p:nvPr/>
        </p:nvSpPr>
        <p:spPr>
          <a:xfrm>
            <a:off x="7142074"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6" name="PersonBody"/>
          <p:cNvSpPr/>
          <p:nvPr/>
        </p:nvSpPr>
        <p:spPr>
          <a:xfrm>
            <a:off x="7110984"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7" name="PersonHead"/>
          <p:cNvSpPr/>
          <p:nvPr/>
        </p:nvSpPr>
        <p:spPr>
          <a:xfrm>
            <a:off x="7388962"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28" name="PersonBody"/>
          <p:cNvSpPr/>
          <p:nvPr/>
        </p:nvSpPr>
        <p:spPr>
          <a:xfrm>
            <a:off x="7357872"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29" name="PersonHead"/>
          <p:cNvSpPr/>
          <p:nvPr/>
        </p:nvSpPr>
        <p:spPr>
          <a:xfrm>
            <a:off x="7635850"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0" name="PersonBody"/>
          <p:cNvSpPr/>
          <p:nvPr/>
        </p:nvSpPr>
        <p:spPr>
          <a:xfrm>
            <a:off x="7604760"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1" name="PersonHead"/>
          <p:cNvSpPr/>
          <p:nvPr/>
        </p:nvSpPr>
        <p:spPr>
          <a:xfrm>
            <a:off x="7882738"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2" name="PersonBody"/>
          <p:cNvSpPr/>
          <p:nvPr/>
        </p:nvSpPr>
        <p:spPr>
          <a:xfrm>
            <a:off x="7851648"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3" name="PersonHead"/>
          <p:cNvSpPr/>
          <p:nvPr/>
        </p:nvSpPr>
        <p:spPr>
          <a:xfrm>
            <a:off x="8129626"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4" name="PersonBody"/>
          <p:cNvSpPr/>
          <p:nvPr/>
        </p:nvSpPr>
        <p:spPr>
          <a:xfrm>
            <a:off x="8098536"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5" name="PersonHead"/>
          <p:cNvSpPr/>
          <p:nvPr/>
        </p:nvSpPr>
        <p:spPr>
          <a:xfrm>
            <a:off x="8376514"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6" name="PersonBody"/>
          <p:cNvSpPr/>
          <p:nvPr/>
        </p:nvSpPr>
        <p:spPr>
          <a:xfrm>
            <a:off x="8345424"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7" name="PersonHead"/>
          <p:cNvSpPr/>
          <p:nvPr/>
        </p:nvSpPr>
        <p:spPr>
          <a:xfrm>
            <a:off x="6154522"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38" name="PersonBody"/>
          <p:cNvSpPr/>
          <p:nvPr/>
        </p:nvSpPr>
        <p:spPr>
          <a:xfrm>
            <a:off x="6123432"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39" name="PersonHead"/>
          <p:cNvSpPr/>
          <p:nvPr/>
        </p:nvSpPr>
        <p:spPr>
          <a:xfrm>
            <a:off x="6401410"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0" name="PersonBody"/>
          <p:cNvSpPr/>
          <p:nvPr/>
        </p:nvSpPr>
        <p:spPr>
          <a:xfrm>
            <a:off x="6370320"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1" name="PersonHead"/>
          <p:cNvSpPr/>
          <p:nvPr/>
        </p:nvSpPr>
        <p:spPr>
          <a:xfrm>
            <a:off x="6648298"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2" name="PersonBody"/>
          <p:cNvSpPr/>
          <p:nvPr/>
        </p:nvSpPr>
        <p:spPr>
          <a:xfrm>
            <a:off x="6617208"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3" name="PersonHead"/>
          <p:cNvSpPr/>
          <p:nvPr/>
        </p:nvSpPr>
        <p:spPr>
          <a:xfrm>
            <a:off x="6895186"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4" name="PersonBody"/>
          <p:cNvSpPr/>
          <p:nvPr/>
        </p:nvSpPr>
        <p:spPr>
          <a:xfrm>
            <a:off x="6864096"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5" name="PersonHead"/>
          <p:cNvSpPr/>
          <p:nvPr/>
        </p:nvSpPr>
        <p:spPr>
          <a:xfrm>
            <a:off x="7142074"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6" name="PersonBody"/>
          <p:cNvSpPr/>
          <p:nvPr/>
        </p:nvSpPr>
        <p:spPr>
          <a:xfrm>
            <a:off x="7110984"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7" name="PersonHead"/>
          <p:cNvSpPr/>
          <p:nvPr/>
        </p:nvSpPr>
        <p:spPr>
          <a:xfrm>
            <a:off x="7388962"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48" name="PersonBody"/>
          <p:cNvSpPr/>
          <p:nvPr/>
        </p:nvSpPr>
        <p:spPr>
          <a:xfrm>
            <a:off x="7357872"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49" name="PersonHead"/>
          <p:cNvSpPr/>
          <p:nvPr/>
        </p:nvSpPr>
        <p:spPr>
          <a:xfrm>
            <a:off x="7635850"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0" name="PersonBody"/>
          <p:cNvSpPr/>
          <p:nvPr/>
        </p:nvSpPr>
        <p:spPr>
          <a:xfrm>
            <a:off x="7604760"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1" name="PersonHead"/>
          <p:cNvSpPr/>
          <p:nvPr/>
        </p:nvSpPr>
        <p:spPr>
          <a:xfrm>
            <a:off x="7882738"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2" name="PersonBody"/>
          <p:cNvSpPr/>
          <p:nvPr/>
        </p:nvSpPr>
        <p:spPr>
          <a:xfrm>
            <a:off x="7851648"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3" name="PersonHead"/>
          <p:cNvSpPr/>
          <p:nvPr/>
        </p:nvSpPr>
        <p:spPr>
          <a:xfrm>
            <a:off x="8129626"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4" name="PersonBody"/>
          <p:cNvSpPr/>
          <p:nvPr/>
        </p:nvSpPr>
        <p:spPr>
          <a:xfrm>
            <a:off x="8098536"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5" name="PersonHead"/>
          <p:cNvSpPr/>
          <p:nvPr/>
        </p:nvSpPr>
        <p:spPr>
          <a:xfrm>
            <a:off x="8376514"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6" name="PersonBody"/>
          <p:cNvSpPr/>
          <p:nvPr/>
        </p:nvSpPr>
        <p:spPr>
          <a:xfrm>
            <a:off x="8345424"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7" name="PersonHead"/>
          <p:cNvSpPr/>
          <p:nvPr/>
        </p:nvSpPr>
        <p:spPr>
          <a:xfrm>
            <a:off x="6154522" y="2994688"/>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158" name="PersonBody"/>
          <p:cNvSpPr/>
          <p:nvPr/>
        </p:nvSpPr>
        <p:spPr>
          <a:xfrm>
            <a:off x="6123432" y="3125264"/>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159" name="PersonHead"/>
          <p:cNvSpPr/>
          <p:nvPr/>
        </p:nvSpPr>
        <p:spPr>
          <a:xfrm>
            <a:off x="6401410"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0" name="PersonBody"/>
          <p:cNvSpPr/>
          <p:nvPr/>
        </p:nvSpPr>
        <p:spPr>
          <a:xfrm>
            <a:off x="6370320"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1" name="PersonHead"/>
          <p:cNvSpPr/>
          <p:nvPr/>
        </p:nvSpPr>
        <p:spPr>
          <a:xfrm>
            <a:off x="6648298"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2" name="PersonBody"/>
          <p:cNvSpPr/>
          <p:nvPr/>
        </p:nvSpPr>
        <p:spPr>
          <a:xfrm>
            <a:off x="6617208"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3" name="PersonHead"/>
          <p:cNvSpPr/>
          <p:nvPr/>
        </p:nvSpPr>
        <p:spPr>
          <a:xfrm>
            <a:off x="6895186"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4" name="PersonBody"/>
          <p:cNvSpPr/>
          <p:nvPr/>
        </p:nvSpPr>
        <p:spPr>
          <a:xfrm>
            <a:off x="6864096"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5" name="PersonHead"/>
          <p:cNvSpPr/>
          <p:nvPr/>
        </p:nvSpPr>
        <p:spPr>
          <a:xfrm>
            <a:off x="7142074"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6" name="PersonBody"/>
          <p:cNvSpPr/>
          <p:nvPr/>
        </p:nvSpPr>
        <p:spPr>
          <a:xfrm>
            <a:off x="7110984"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7" name="PersonHead"/>
          <p:cNvSpPr/>
          <p:nvPr/>
        </p:nvSpPr>
        <p:spPr>
          <a:xfrm>
            <a:off x="7388962"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68" name="PersonBody"/>
          <p:cNvSpPr/>
          <p:nvPr/>
        </p:nvSpPr>
        <p:spPr>
          <a:xfrm>
            <a:off x="7357872"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69" name="PersonHead"/>
          <p:cNvSpPr/>
          <p:nvPr/>
        </p:nvSpPr>
        <p:spPr>
          <a:xfrm>
            <a:off x="7635850"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0" name="PersonBody"/>
          <p:cNvSpPr/>
          <p:nvPr/>
        </p:nvSpPr>
        <p:spPr>
          <a:xfrm>
            <a:off x="7604760"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1" name="PersonHead"/>
          <p:cNvSpPr/>
          <p:nvPr/>
        </p:nvSpPr>
        <p:spPr>
          <a:xfrm>
            <a:off x="7882738"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2" name="PersonBody"/>
          <p:cNvSpPr/>
          <p:nvPr/>
        </p:nvSpPr>
        <p:spPr>
          <a:xfrm>
            <a:off x="7851648"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3" name="PersonHead"/>
          <p:cNvSpPr/>
          <p:nvPr/>
        </p:nvSpPr>
        <p:spPr>
          <a:xfrm>
            <a:off x="8129626"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4" name="PersonBody"/>
          <p:cNvSpPr/>
          <p:nvPr/>
        </p:nvSpPr>
        <p:spPr>
          <a:xfrm>
            <a:off x="8098536"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5" name="PersonHead"/>
          <p:cNvSpPr/>
          <p:nvPr/>
        </p:nvSpPr>
        <p:spPr>
          <a:xfrm>
            <a:off x="8376514" y="2994688"/>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6" name="PersonBody"/>
          <p:cNvSpPr/>
          <p:nvPr/>
        </p:nvSpPr>
        <p:spPr>
          <a:xfrm>
            <a:off x="8345424" y="3125264"/>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7" name="PersonHead"/>
          <p:cNvSpPr/>
          <p:nvPr/>
        </p:nvSpPr>
        <p:spPr>
          <a:xfrm>
            <a:off x="6154522"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78" name="PersonBody"/>
          <p:cNvSpPr/>
          <p:nvPr/>
        </p:nvSpPr>
        <p:spPr>
          <a:xfrm>
            <a:off x="6123432"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79" name="PersonHead"/>
          <p:cNvSpPr/>
          <p:nvPr/>
        </p:nvSpPr>
        <p:spPr>
          <a:xfrm>
            <a:off x="6401410"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0" name="PersonBody"/>
          <p:cNvSpPr/>
          <p:nvPr/>
        </p:nvSpPr>
        <p:spPr>
          <a:xfrm>
            <a:off x="6370320"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1" name="PersonHead"/>
          <p:cNvSpPr/>
          <p:nvPr/>
        </p:nvSpPr>
        <p:spPr>
          <a:xfrm>
            <a:off x="6648298"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2" name="PersonBody"/>
          <p:cNvSpPr/>
          <p:nvPr/>
        </p:nvSpPr>
        <p:spPr>
          <a:xfrm>
            <a:off x="6617208"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3" name="PersonHead"/>
          <p:cNvSpPr/>
          <p:nvPr/>
        </p:nvSpPr>
        <p:spPr>
          <a:xfrm>
            <a:off x="6895186"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4" name="PersonBody"/>
          <p:cNvSpPr/>
          <p:nvPr/>
        </p:nvSpPr>
        <p:spPr>
          <a:xfrm>
            <a:off x="6864096"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5" name="PersonHead"/>
          <p:cNvSpPr/>
          <p:nvPr/>
        </p:nvSpPr>
        <p:spPr>
          <a:xfrm>
            <a:off x="7142074"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6" name="PersonBody"/>
          <p:cNvSpPr/>
          <p:nvPr/>
        </p:nvSpPr>
        <p:spPr>
          <a:xfrm>
            <a:off x="7110984"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7" name="PersonHead"/>
          <p:cNvSpPr/>
          <p:nvPr/>
        </p:nvSpPr>
        <p:spPr>
          <a:xfrm>
            <a:off x="7388962"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88" name="PersonBody"/>
          <p:cNvSpPr/>
          <p:nvPr/>
        </p:nvSpPr>
        <p:spPr>
          <a:xfrm>
            <a:off x="7357872"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89" name="PersonHead"/>
          <p:cNvSpPr/>
          <p:nvPr/>
        </p:nvSpPr>
        <p:spPr>
          <a:xfrm>
            <a:off x="7635850"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0" name="PersonBody"/>
          <p:cNvSpPr/>
          <p:nvPr/>
        </p:nvSpPr>
        <p:spPr>
          <a:xfrm>
            <a:off x="7604760"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1" name="PersonHead"/>
          <p:cNvSpPr/>
          <p:nvPr/>
        </p:nvSpPr>
        <p:spPr>
          <a:xfrm>
            <a:off x="7882738"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2" name="PersonBody"/>
          <p:cNvSpPr/>
          <p:nvPr/>
        </p:nvSpPr>
        <p:spPr>
          <a:xfrm>
            <a:off x="7851648"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3" name="PersonHead"/>
          <p:cNvSpPr/>
          <p:nvPr/>
        </p:nvSpPr>
        <p:spPr>
          <a:xfrm>
            <a:off x="8129626"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4" name="PersonBody"/>
          <p:cNvSpPr/>
          <p:nvPr/>
        </p:nvSpPr>
        <p:spPr>
          <a:xfrm>
            <a:off x="8098536"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5" name="PersonHead"/>
          <p:cNvSpPr/>
          <p:nvPr/>
        </p:nvSpPr>
        <p:spPr>
          <a:xfrm>
            <a:off x="8376514" y="3369592"/>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6" name="PersonBody"/>
          <p:cNvSpPr/>
          <p:nvPr/>
        </p:nvSpPr>
        <p:spPr>
          <a:xfrm>
            <a:off x="8345424" y="3500168"/>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7" name="PersonHead"/>
          <p:cNvSpPr/>
          <p:nvPr/>
        </p:nvSpPr>
        <p:spPr>
          <a:xfrm>
            <a:off x="6154522"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98" name="PersonBody"/>
          <p:cNvSpPr/>
          <p:nvPr/>
        </p:nvSpPr>
        <p:spPr>
          <a:xfrm>
            <a:off x="6123432"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199" name="PersonHead"/>
          <p:cNvSpPr/>
          <p:nvPr/>
        </p:nvSpPr>
        <p:spPr>
          <a:xfrm>
            <a:off x="6401410"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0" name="PersonBody"/>
          <p:cNvSpPr/>
          <p:nvPr/>
        </p:nvSpPr>
        <p:spPr>
          <a:xfrm>
            <a:off x="6370320"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1" name="PersonHead"/>
          <p:cNvSpPr/>
          <p:nvPr/>
        </p:nvSpPr>
        <p:spPr>
          <a:xfrm>
            <a:off x="6648298"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2" name="PersonBody"/>
          <p:cNvSpPr/>
          <p:nvPr/>
        </p:nvSpPr>
        <p:spPr>
          <a:xfrm>
            <a:off x="6617208"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3" name="PersonHead"/>
          <p:cNvSpPr/>
          <p:nvPr/>
        </p:nvSpPr>
        <p:spPr>
          <a:xfrm>
            <a:off x="6895186"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4" name="PersonBody"/>
          <p:cNvSpPr/>
          <p:nvPr/>
        </p:nvSpPr>
        <p:spPr>
          <a:xfrm>
            <a:off x="6864096"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5" name="PersonHead"/>
          <p:cNvSpPr/>
          <p:nvPr/>
        </p:nvSpPr>
        <p:spPr>
          <a:xfrm>
            <a:off x="7142074"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6" name="PersonBody"/>
          <p:cNvSpPr/>
          <p:nvPr/>
        </p:nvSpPr>
        <p:spPr>
          <a:xfrm>
            <a:off x="7110984"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7" name="PersonHead"/>
          <p:cNvSpPr/>
          <p:nvPr/>
        </p:nvSpPr>
        <p:spPr>
          <a:xfrm>
            <a:off x="7388962"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08" name="PersonBody"/>
          <p:cNvSpPr/>
          <p:nvPr/>
        </p:nvSpPr>
        <p:spPr>
          <a:xfrm>
            <a:off x="7357872"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09" name="PersonHead"/>
          <p:cNvSpPr/>
          <p:nvPr/>
        </p:nvSpPr>
        <p:spPr>
          <a:xfrm>
            <a:off x="7635850"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10" name="PersonBody"/>
          <p:cNvSpPr/>
          <p:nvPr/>
        </p:nvSpPr>
        <p:spPr>
          <a:xfrm>
            <a:off x="7604760"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11" name="PersonHead"/>
          <p:cNvSpPr/>
          <p:nvPr/>
        </p:nvSpPr>
        <p:spPr>
          <a:xfrm>
            <a:off x="7882738"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12" name="PersonBody"/>
          <p:cNvSpPr/>
          <p:nvPr/>
        </p:nvSpPr>
        <p:spPr>
          <a:xfrm>
            <a:off x="7851648"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13" name="PersonHead"/>
          <p:cNvSpPr/>
          <p:nvPr/>
        </p:nvSpPr>
        <p:spPr>
          <a:xfrm>
            <a:off x="8129626"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14" name="PersonBody"/>
          <p:cNvSpPr/>
          <p:nvPr/>
        </p:nvSpPr>
        <p:spPr>
          <a:xfrm>
            <a:off x="8098536"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15" name="PersonHead"/>
          <p:cNvSpPr/>
          <p:nvPr/>
        </p:nvSpPr>
        <p:spPr>
          <a:xfrm>
            <a:off x="8376514" y="3744496"/>
            <a:ext cx="111923" cy="111923"/>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216" name="PersonBody"/>
          <p:cNvSpPr/>
          <p:nvPr/>
        </p:nvSpPr>
        <p:spPr>
          <a:xfrm>
            <a:off x="8345424" y="3875072"/>
            <a:ext cx="174102" cy="180320"/>
          </a:xfrm>
          <a:prstGeom prst="roundRect">
            <a:avLst>
              <a:gd name="adj" fmla="val 22000"/>
            </a:avLst>
          </a:prstGeom>
          <a:solidFill>
            <a:srgbClr val="0D7377"/>
          </a:solidFill>
          <a:ln>
            <a:noFill/>
          </a:ln>
        </p:spPr>
        <p:txBody>
          <a:bodyPr wrap="square" lIns="54864" tIns="54864" rIns="54864" bIns="54864" rtlCol="0" anchor="ctr">
            <a:noAutofit/>
          </a:bodyPr>
          <a:lstStyle/>
          <a:p>
            <a:endParaRPr lang="en-US"/>
          </a:p>
        </p:txBody>
      </p:sp>
      <p:sp>
        <p:nvSpPr>
          <p:cNvPr id="217" name="PersonHead"/>
          <p:cNvSpPr/>
          <p:nvPr/>
        </p:nvSpPr>
        <p:spPr>
          <a:xfrm>
            <a:off x="9080602"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18" name="PersonBody"/>
          <p:cNvSpPr/>
          <p:nvPr/>
        </p:nvSpPr>
        <p:spPr>
          <a:xfrm>
            <a:off x="9049512"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19" name="PersonHead"/>
          <p:cNvSpPr/>
          <p:nvPr/>
        </p:nvSpPr>
        <p:spPr>
          <a:xfrm>
            <a:off x="9327490"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0" name="PersonBody"/>
          <p:cNvSpPr/>
          <p:nvPr/>
        </p:nvSpPr>
        <p:spPr>
          <a:xfrm>
            <a:off x="9296400"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1" name="PersonHead"/>
          <p:cNvSpPr/>
          <p:nvPr/>
        </p:nvSpPr>
        <p:spPr>
          <a:xfrm>
            <a:off x="9574378"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2" name="PersonBody"/>
          <p:cNvSpPr/>
          <p:nvPr/>
        </p:nvSpPr>
        <p:spPr>
          <a:xfrm>
            <a:off x="9543288"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3" name="PersonHead"/>
          <p:cNvSpPr/>
          <p:nvPr/>
        </p:nvSpPr>
        <p:spPr>
          <a:xfrm>
            <a:off x="9821266"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4" name="PersonBody"/>
          <p:cNvSpPr/>
          <p:nvPr/>
        </p:nvSpPr>
        <p:spPr>
          <a:xfrm>
            <a:off x="9790176"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5" name="PersonHead"/>
          <p:cNvSpPr/>
          <p:nvPr/>
        </p:nvSpPr>
        <p:spPr>
          <a:xfrm>
            <a:off x="10068154"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6" name="PersonBody"/>
          <p:cNvSpPr/>
          <p:nvPr/>
        </p:nvSpPr>
        <p:spPr>
          <a:xfrm>
            <a:off x="10037064"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7" name="PersonHead"/>
          <p:cNvSpPr/>
          <p:nvPr/>
        </p:nvSpPr>
        <p:spPr>
          <a:xfrm>
            <a:off x="10315042"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28" name="PersonBody"/>
          <p:cNvSpPr/>
          <p:nvPr/>
        </p:nvSpPr>
        <p:spPr>
          <a:xfrm>
            <a:off x="10283952"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29" name="PersonHead"/>
          <p:cNvSpPr/>
          <p:nvPr/>
        </p:nvSpPr>
        <p:spPr>
          <a:xfrm>
            <a:off x="10561930"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0" name="PersonBody"/>
          <p:cNvSpPr/>
          <p:nvPr/>
        </p:nvSpPr>
        <p:spPr>
          <a:xfrm>
            <a:off x="10530840"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1" name="PersonHead"/>
          <p:cNvSpPr/>
          <p:nvPr/>
        </p:nvSpPr>
        <p:spPr>
          <a:xfrm>
            <a:off x="10808818"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2" name="PersonBody"/>
          <p:cNvSpPr/>
          <p:nvPr/>
        </p:nvSpPr>
        <p:spPr>
          <a:xfrm>
            <a:off x="10777728"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3" name="PersonHead"/>
          <p:cNvSpPr/>
          <p:nvPr/>
        </p:nvSpPr>
        <p:spPr>
          <a:xfrm>
            <a:off x="11055706"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4" name="PersonBody"/>
          <p:cNvSpPr/>
          <p:nvPr/>
        </p:nvSpPr>
        <p:spPr>
          <a:xfrm>
            <a:off x="11024616"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5" name="PersonHead"/>
          <p:cNvSpPr/>
          <p:nvPr/>
        </p:nvSpPr>
        <p:spPr>
          <a:xfrm>
            <a:off x="11302594" y="2244880"/>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6" name="PersonBody"/>
          <p:cNvSpPr/>
          <p:nvPr/>
        </p:nvSpPr>
        <p:spPr>
          <a:xfrm>
            <a:off x="11271504" y="2375456"/>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7" name="PersonHead"/>
          <p:cNvSpPr/>
          <p:nvPr/>
        </p:nvSpPr>
        <p:spPr>
          <a:xfrm>
            <a:off x="9080602"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38" name="PersonBody"/>
          <p:cNvSpPr/>
          <p:nvPr/>
        </p:nvSpPr>
        <p:spPr>
          <a:xfrm>
            <a:off x="9049512"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39" name="PersonHead"/>
          <p:cNvSpPr/>
          <p:nvPr/>
        </p:nvSpPr>
        <p:spPr>
          <a:xfrm>
            <a:off x="9327490"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0" name="PersonBody"/>
          <p:cNvSpPr/>
          <p:nvPr/>
        </p:nvSpPr>
        <p:spPr>
          <a:xfrm>
            <a:off x="9296400"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1" name="PersonHead"/>
          <p:cNvSpPr/>
          <p:nvPr/>
        </p:nvSpPr>
        <p:spPr>
          <a:xfrm>
            <a:off x="9574378"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2" name="PersonBody"/>
          <p:cNvSpPr/>
          <p:nvPr/>
        </p:nvSpPr>
        <p:spPr>
          <a:xfrm>
            <a:off x="9543288"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3" name="PersonHead"/>
          <p:cNvSpPr/>
          <p:nvPr/>
        </p:nvSpPr>
        <p:spPr>
          <a:xfrm>
            <a:off x="9821266"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4" name="PersonBody"/>
          <p:cNvSpPr/>
          <p:nvPr/>
        </p:nvSpPr>
        <p:spPr>
          <a:xfrm>
            <a:off x="9790176"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5" name="PersonHead"/>
          <p:cNvSpPr/>
          <p:nvPr/>
        </p:nvSpPr>
        <p:spPr>
          <a:xfrm>
            <a:off x="10068154"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6" name="PersonBody"/>
          <p:cNvSpPr/>
          <p:nvPr/>
        </p:nvSpPr>
        <p:spPr>
          <a:xfrm>
            <a:off x="10037064"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7" name="PersonHead"/>
          <p:cNvSpPr/>
          <p:nvPr/>
        </p:nvSpPr>
        <p:spPr>
          <a:xfrm>
            <a:off x="10315042"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48" name="PersonBody"/>
          <p:cNvSpPr/>
          <p:nvPr/>
        </p:nvSpPr>
        <p:spPr>
          <a:xfrm>
            <a:off x="10283952"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49" name="PersonHead"/>
          <p:cNvSpPr/>
          <p:nvPr/>
        </p:nvSpPr>
        <p:spPr>
          <a:xfrm>
            <a:off x="10561930"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0" name="PersonBody"/>
          <p:cNvSpPr/>
          <p:nvPr/>
        </p:nvSpPr>
        <p:spPr>
          <a:xfrm>
            <a:off x="10530840"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1" name="PersonHead"/>
          <p:cNvSpPr/>
          <p:nvPr/>
        </p:nvSpPr>
        <p:spPr>
          <a:xfrm>
            <a:off x="10808818"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2" name="PersonBody"/>
          <p:cNvSpPr/>
          <p:nvPr/>
        </p:nvSpPr>
        <p:spPr>
          <a:xfrm>
            <a:off x="10777728"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3" name="PersonHead"/>
          <p:cNvSpPr/>
          <p:nvPr/>
        </p:nvSpPr>
        <p:spPr>
          <a:xfrm>
            <a:off x="11055706"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4" name="PersonBody"/>
          <p:cNvSpPr/>
          <p:nvPr/>
        </p:nvSpPr>
        <p:spPr>
          <a:xfrm>
            <a:off x="11024616"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5" name="PersonHead"/>
          <p:cNvSpPr/>
          <p:nvPr/>
        </p:nvSpPr>
        <p:spPr>
          <a:xfrm>
            <a:off x="11302594" y="2619784"/>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6" name="PersonBody"/>
          <p:cNvSpPr/>
          <p:nvPr/>
        </p:nvSpPr>
        <p:spPr>
          <a:xfrm>
            <a:off x="11271504" y="2750360"/>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7" name="PersonHead"/>
          <p:cNvSpPr/>
          <p:nvPr/>
        </p:nvSpPr>
        <p:spPr>
          <a:xfrm>
            <a:off x="9080602" y="2994688"/>
            <a:ext cx="111923" cy="111923"/>
          </a:xfrm>
          <a:prstGeom prst="ellipse">
            <a:avLst/>
          </a:prstGeom>
          <a:solidFill>
            <a:srgbClr val="B23B2E"/>
          </a:solidFill>
          <a:ln>
            <a:noFill/>
          </a:ln>
        </p:spPr>
        <p:txBody>
          <a:bodyPr wrap="square" lIns="54864" tIns="54864" rIns="54864" bIns="54864" rtlCol="0" anchor="ctr">
            <a:noAutofit/>
          </a:bodyPr>
          <a:lstStyle/>
          <a:p>
            <a:endParaRPr lang="en-US"/>
          </a:p>
        </p:txBody>
      </p:sp>
      <p:sp>
        <p:nvSpPr>
          <p:cNvPr id="258" name="PersonBody"/>
          <p:cNvSpPr/>
          <p:nvPr/>
        </p:nvSpPr>
        <p:spPr>
          <a:xfrm>
            <a:off x="9049512" y="3125264"/>
            <a:ext cx="174102" cy="180320"/>
          </a:xfrm>
          <a:prstGeom prst="roundRect">
            <a:avLst>
              <a:gd name="adj" fmla="val 22000"/>
            </a:avLst>
          </a:prstGeom>
          <a:solidFill>
            <a:srgbClr val="B23B2E"/>
          </a:solidFill>
          <a:ln>
            <a:noFill/>
          </a:ln>
        </p:spPr>
        <p:txBody>
          <a:bodyPr wrap="square" lIns="54864" tIns="54864" rIns="54864" bIns="54864" rtlCol="0" anchor="ctr">
            <a:noAutofit/>
          </a:bodyPr>
          <a:lstStyle/>
          <a:p>
            <a:endParaRPr lang="en-US"/>
          </a:p>
        </p:txBody>
      </p:sp>
      <p:sp>
        <p:nvSpPr>
          <p:cNvPr id="259" name="PersonHead"/>
          <p:cNvSpPr/>
          <p:nvPr/>
        </p:nvSpPr>
        <p:spPr>
          <a:xfrm>
            <a:off x="9327490"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0" name="PersonBody"/>
          <p:cNvSpPr/>
          <p:nvPr/>
        </p:nvSpPr>
        <p:spPr>
          <a:xfrm>
            <a:off x="9296400"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1" name="PersonHead"/>
          <p:cNvSpPr/>
          <p:nvPr/>
        </p:nvSpPr>
        <p:spPr>
          <a:xfrm>
            <a:off x="9574378"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2" name="PersonBody"/>
          <p:cNvSpPr/>
          <p:nvPr/>
        </p:nvSpPr>
        <p:spPr>
          <a:xfrm>
            <a:off x="9543288"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3" name="PersonHead"/>
          <p:cNvSpPr/>
          <p:nvPr/>
        </p:nvSpPr>
        <p:spPr>
          <a:xfrm>
            <a:off x="9821266"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4" name="PersonBody"/>
          <p:cNvSpPr/>
          <p:nvPr/>
        </p:nvSpPr>
        <p:spPr>
          <a:xfrm>
            <a:off x="9790176"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5" name="PersonHead"/>
          <p:cNvSpPr/>
          <p:nvPr/>
        </p:nvSpPr>
        <p:spPr>
          <a:xfrm>
            <a:off x="10068154"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6" name="PersonBody"/>
          <p:cNvSpPr/>
          <p:nvPr/>
        </p:nvSpPr>
        <p:spPr>
          <a:xfrm>
            <a:off x="10037064"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7" name="PersonHead"/>
          <p:cNvSpPr/>
          <p:nvPr/>
        </p:nvSpPr>
        <p:spPr>
          <a:xfrm>
            <a:off x="10315042"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68" name="PersonBody"/>
          <p:cNvSpPr/>
          <p:nvPr/>
        </p:nvSpPr>
        <p:spPr>
          <a:xfrm>
            <a:off x="10283952"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69" name="PersonHead"/>
          <p:cNvSpPr/>
          <p:nvPr/>
        </p:nvSpPr>
        <p:spPr>
          <a:xfrm>
            <a:off x="10561930"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0" name="PersonBody"/>
          <p:cNvSpPr/>
          <p:nvPr/>
        </p:nvSpPr>
        <p:spPr>
          <a:xfrm>
            <a:off x="10530840"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1" name="PersonHead"/>
          <p:cNvSpPr/>
          <p:nvPr/>
        </p:nvSpPr>
        <p:spPr>
          <a:xfrm>
            <a:off x="10808818"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2" name="PersonBody"/>
          <p:cNvSpPr/>
          <p:nvPr/>
        </p:nvSpPr>
        <p:spPr>
          <a:xfrm>
            <a:off x="10777728"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3" name="PersonHead"/>
          <p:cNvSpPr/>
          <p:nvPr/>
        </p:nvSpPr>
        <p:spPr>
          <a:xfrm>
            <a:off x="11055706"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4" name="PersonBody"/>
          <p:cNvSpPr/>
          <p:nvPr/>
        </p:nvSpPr>
        <p:spPr>
          <a:xfrm>
            <a:off x="11024616"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5" name="PersonHead"/>
          <p:cNvSpPr/>
          <p:nvPr/>
        </p:nvSpPr>
        <p:spPr>
          <a:xfrm>
            <a:off x="11302594" y="2994688"/>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6" name="PersonBody"/>
          <p:cNvSpPr/>
          <p:nvPr/>
        </p:nvSpPr>
        <p:spPr>
          <a:xfrm>
            <a:off x="11271504" y="3125264"/>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7" name="PersonHead"/>
          <p:cNvSpPr/>
          <p:nvPr/>
        </p:nvSpPr>
        <p:spPr>
          <a:xfrm>
            <a:off x="9080602"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78" name="PersonBody"/>
          <p:cNvSpPr/>
          <p:nvPr/>
        </p:nvSpPr>
        <p:spPr>
          <a:xfrm>
            <a:off x="9049512"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79" name="PersonHead"/>
          <p:cNvSpPr/>
          <p:nvPr/>
        </p:nvSpPr>
        <p:spPr>
          <a:xfrm>
            <a:off x="9327490"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0" name="PersonBody"/>
          <p:cNvSpPr/>
          <p:nvPr/>
        </p:nvSpPr>
        <p:spPr>
          <a:xfrm>
            <a:off x="9296400"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1" name="PersonHead"/>
          <p:cNvSpPr/>
          <p:nvPr/>
        </p:nvSpPr>
        <p:spPr>
          <a:xfrm>
            <a:off x="9574378"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2" name="PersonBody"/>
          <p:cNvSpPr/>
          <p:nvPr/>
        </p:nvSpPr>
        <p:spPr>
          <a:xfrm>
            <a:off x="9543288"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3" name="PersonHead"/>
          <p:cNvSpPr/>
          <p:nvPr/>
        </p:nvSpPr>
        <p:spPr>
          <a:xfrm>
            <a:off x="9821266"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4" name="PersonBody"/>
          <p:cNvSpPr/>
          <p:nvPr/>
        </p:nvSpPr>
        <p:spPr>
          <a:xfrm>
            <a:off x="9790176"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5" name="PersonHead"/>
          <p:cNvSpPr/>
          <p:nvPr/>
        </p:nvSpPr>
        <p:spPr>
          <a:xfrm>
            <a:off x="10068154"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6" name="PersonBody"/>
          <p:cNvSpPr/>
          <p:nvPr/>
        </p:nvSpPr>
        <p:spPr>
          <a:xfrm>
            <a:off x="10037064"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7" name="PersonHead"/>
          <p:cNvSpPr/>
          <p:nvPr/>
        </p:nvSpPr>
        <p:spPr>
          <a:xfrm>
            <a:off x="10315042"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88" name="PersonBody"/>
          <p:cNvSpPr/>
          <p:nvPr/>
        </p:nvSpPr>
        <p:spPr>
          <a:xfrm>
            <a:off x="10283952"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89" name="PersonHead"/>
          <p:cNvSpPr/>
          <p:nvPr/>
        </p:nvSpPr>
        <p:spPr>
          <a:xfrm>
            <a:off x="10561930"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0" name="PersonBody"/>
          <p:cNvSpPr/>
          <p:nvPr/>
        </p:nvSpPr>
        <p:spPr>
          <a:xfrm>
            <a:off x="10530840"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1" name="PersonHead"/>
          <p:cNvSpPr/>
          <p:nvPr/>
        </p:nvSpPr>
        <p:spPr>
          <a:xfrm>
            <a:off x="10808818"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2" name="PersonBody"/>
          <p:cNvSpPr/>
          <p:nvPr/>
        </p:nvSpPr>
        <p:spPr>
          <a:xfrm>
            <a:off x="10777728"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3" name="PersonHead"/>
          <p:cNvSpPr/>
          <p:nvPr/>
        </p:nvSpPr>
        <p:spPr>
          <a:xfrm>
            <a:off x="11055706"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4" name="PersonBody"/>
          <p:cNvSpPr/>
          <p:nvPr/>
        </p:nvSpPr>
        <p:spPr>
          <a:xfrm>
            <a:off x="11024616"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5" name="PersonHead"/>
          <p:cNvSpPr/>
          <p:nvPr/>
        </p:nvSpPr>
        <p:spPr>
          <a:xfrm>
            <a:off x="11302594" y="3369592"/>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6" name="PersonBody"/>
          <p:cNvSpPr/>
          <p:nvPr/>
        </p:nvSpPr>
        <p:spPr>
          <a:xfrm>
            <a:off x="11271504" y="3500168"/>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7" name="PersonHead"/>
          <p:cNvSpPr/>
          <p:nvPr/>
        </p:nvSpPr>
        <p:spPr>
          <a:xfrm>
            <a:off x="9080602"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298" name="PersonBody"/>
          <p:cNvSpPr/>
          <p:nvPr/>
        </p:nvSpPr>
        <p:spPr>
          <a:xfrm>
            <a:off x="9049512"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299" name="PersonHead"/>
          <p:cNvSpPr/>
          <p:nvPr/>
        </p:nvSpPr>
        <p:spPr>
          <a:xfrm>
            <a:off x="9327490"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0" name="PersonBody"/>
          <p:cNvSpPr/>
          <p:nvPr/>
        </p:nvSpPr>
        <p:spPr>
          <a:xfrm>
            <a:off x="9296400"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1" name="PersonHead"/>
          <p:cNvSpPr/>
          <p:nvPr/>
        </p:nvSpPr>
        <p:spPr>
          <a:xfrm>
            <a:off x="9574378"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2" name="PersonBody"/>
          <p:cNvSpPr/>
          <p:nvPr/>
        </p:nvSpPr>
        <p:spPr>
          <a:xfrm>
            <a:off x="9543288"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3" name="PersonHead"/>
          <p:cNvSpPr/>
          <p:nvPr/>
        </p:nvSpPr>
        <p:spPr>
          <a:xfrm>
            <a:off x="9821266"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4" name="PersonBody"/>
          <p:cNvSpPr/>
          <p:nvPr/>
        </p:nvSpPr>
        <p:spPr>
          <a:xfrm>
            <a:off x="9790176"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5" name="PersonHead"/>
          <p:cNvSpPr/>
          <p:nvPr/>
        </p:nvSpPr>
        <p:spPr>
          <a:xfrm>
            <a:off x="10068154"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6" name="PersonBody"/>
          <p:cNvSpPr/>
          <p:nvPr/>
        </p:nvSpPr>
        <p:spPr>
          <a:xfrm>
            <a:off x="10037064"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7" name="PersonHead"/>
          <p:cNvSpPr/>
          <p:nvPr/>
        </p:nvSpPr>
        <p:spPr>
          <a:xfrm>
            <a:off x="10315042"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08" name="PersonBody"/>
          <p:cNvSpPr/>
          <p:nvPr/>
        </p:nvSpPr>
        <p:spPr>
          <a:xfrm>
            <a:off x="10283952"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09" name="PersonHead"/>
          <p:cNvSpPr/>
          <p:nvPr/>
        </p:nvSpPr>
        <p:spPr>
          <a:xfrm>
            <a:off x="10561930"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10" name="PersonBody"/>
          <p:cNvSpPr/>
          <p:nvPr/>
        </p:nvSpPr>
        <p:spPr>
          <a:xfrm>
            <a:off x="10530840"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11" name="PersonHead"/>
          <p:cNvSpPr/>
          <p:nvPr/>
        </p:nvSpPr>
        <p:spPr>
          <a:xfrm>
            <a:off x="10808818"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12" name="PersonBody"/>
          <p:cNvSpPr/>
          <p:nvPr/>
        </p:nvSpPr>
        <p:spPr>
          <a:xfrm>
            <a:off x="10777728"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13" name="PersonHead"/>
          <p:cNvSpPr/>
          <p:nvPr/>
        </p:nvSpPr>
        <p:spPr>
          <a:xfrm>
            <a:off x="11055706"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14" name="PersonBody"/>
          <p:cNvSpPr/>
          <p:nvPr/>
        </p:nvSpPr>
        <p:spPr>
          <a:xfrm>
            <a:off x="11024616"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15" name="PersonHead"/>
          <p:cNvSpPr/>
          <p:nvPr/>
        </p:nvSpPr>
        <p:spPr>
          <a:xfrm>
            <a:off x="11302594" y="3744496"/>
            <a:ext cx="111923" cy="111923"/>
          </a:xfrm>
          <a:prstGeom prst="ellipse">
            <a:avLst/>
          </a:prstGeom>
          <a:solidFill>
            <a:srgbClr val="0B376C"/>
          </a:solidFill>
          <a:ln>
            <a:noFill/>
          </a:ln>
        </p:spPr>
        <p:txBody>
          <a:bodyPr wrap="square" lIns="54864" tIns="54864" rIns="54864" bIns="54864" rtlCol="0" anchor="ctr">
            <a:noAutofit/>
          </a:bodyPr>
          <a:lstStyle/>
          <a:p>
            <a:endParaRPr lang="en-US"/>
          </a:p>
        </p:txBody>
      </p:sp>
      <p:sp>
        <p:nvSpPr>
          <p:cNvPr id="316" name="PersonBody"/>
          <p:cNvSpPr/>
          <p:nvPr/>
        </p:nvSpPr>
        <p:spPr>
          <a:xfrm>
            <a:off x="11271504" y="3875072"/>
            <a:ext cx="174102" cy="180320"/>
          </a:xfrm>
          <a:prstGeom prst="roundRect">
            <a:avLst>
              <a:gd name="adj" fmla="val 22000"/>
            </a:avLst>
          </a:prstGeom>
          <a:solidFill>
            <a:srgbClr val="0B376C"/>
          </a:solidFill>
          <a:ln>
            <a:noFill/>
          </a:ln>
        </p:spPr>
        <p:txBody>
          <a:bodyPr wrap="square" lIns="54864" tIns="54864" rIns="54864" bIns="54864" rtlCol="0" anchor="ctr">
            <a:noAutofit/>
          </a:bodyPr>
          <a:lstStyle/>
          <a:p>
            <a:endParaRPr lang="en-US"/>
          </a:p>
        </p:txBody>
      </p:sp>
      <p:sp>
        <p:nvSpPr>
          <p:cNvPr id="317" name="Text"/>
          <p:cNvSpPr/>
          <p:nvPr/>
        </p:nvSpPr>
        <p:spPr>
          <a:xfrm>
            <a:off x="5913120" y="4073680"/>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B23B2E"/>
                </a:solidFill>
                <a:latin typeface="Arial"/>
                <a:cs typeface="Arial"/>
              </a:rPr>
              <a:t>21 of 50 died</a:t>
            </a:r>
          </a:p>
        </p:txBody>
      </p:sp>
      <p:sp>
        <p:nvSpPr>
          <p:cNvPr id="318" name="Text"/>
          <p:cNvSpPr/>
          <p:nvPr/>
        </p:nvSpPr>
        <p:spPr>
          <a:xfrm>
            <a:off x="8839200" y="4073680"/>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B23B2E"/>
                </a:solidFill>
                <a:latin typeface="Arial"/>
                <a:cs typeface="Arial"/>
              </a:rPr>
              <a:t>21 of 50 died</a:t>
            </a:r>
          </a:p>
        </p:txBody>
      </p:sp>
      <p:sp>
        <p:nvSpPr>
          <p:cNvPr id="319" name="Text"/>
          <p:cNvSpPr/>
          <p:nvPr/>
        </p:nvSpPr>
        <p:spPr>
          <a:xfrm>
            <a:off x="5867400" y="4485160"/>
            <a:ext cx="5760720" cy="54864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Many patients, a fair comparison, every outcome counted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Experience suggests questions. Fair comparisons in many patients answer them.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Why one ward's experience is not enough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Small numbers jump around by chance. Large, fair comparisons settle down.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evidence pyramid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220000"/>
            <a:ext cx="3600000" cy="4030000"/>
          </a:xfrm>
          <a:prstGeom prst="rect">
            <a:avLst/>
          </a:prstGeom>
          <a:noFill/>
          <a:ln>
            <a:noFill/>
          </a:ln>
        </p:spPr>
        <p:txBody>
          <a:bodyPr wrap="square" lIns="91440" tIns="45720" rIns="91440" bIns="45720" rtlCol="0" anchor="ctr"/>
          <a:lstStyle/>
          <a:p>
            <a:pPr marL="0" indent="0" algn="l">
              <a:buNone/>
            </a:pPr>
            <a:r>
              <a:rPr lang="en-US" sz="1700" b="1" dirty="0">
                <a:solidFill>
                  <a:srgbClr val="0D7377"/>
                </a:solidFill>
                <a:latin typeface="Arial"/>
                <a:cs typeface="Arial"/>
              </a:rPr>
              <a:t>How to read it</a:t>
            </a:r>
          </a:p>
          <a:p>
            <a:pPr marL="274320" indent="-274320" algn="l">
              <a:spcBef>
                <a:spcPts val="440"/>
              </a:spcBef>
              <a:buFont typeface="Arial"/>
              <a:buChar char="•"/>
            </a:pPr>
            <a:r>
              <a:rPr lang="en-US" sz="1450" dirty="0">
                <a:solidFill>
                  <a:srgbClr val="000000"/>
                </a:solidFill>
                <a:latin typeface="Arial"/>
                <a:cs typeface="Arial"/>
              </a:rPr>
              <a:t>Higher = less risk of bias, for questions about treatment effects</a:t>
            </a:r>
          </a:p>
          <a:p>
            <a:pPr marL="274320" indent="-274320" algn="l">
              <a:spcBef>
                <a:spcPts val="440"/>
              </a:spcBef>
              <a:buFont typeface="Arial"/>
              <a:buChar char="•"/>
            </a:pPr>
            <a:r>
              <a:rPr lang="en-US" sz="1450" dirty="0">
                <a:solidFill>
                  <a:srgbClr val="000000"/>
                </a:solidFill>
                <a:latin typeface="Arial"/>
                <a:cs typeface="Arial"/>
              </a:rPr>
              <a:t>A good cohort can beat a poor trial</a:t>
            </a:r>
          </a:p>
          <a:p>
            <a:pPr marL="274320" indent="-274320" algn="l">
              <a:spcBef>
                <a:spcPts val="440"/>
              </a:spcBef>
              <a:buFont typeface="Arial"/>
              <a:buChar char="•"/>
            </a:pPr>
            <a:r>
              <a:rPr lang="en-US" sz="1450" dirty="0">
                <a:solidFill>
                  <a:srgbClr val="000000"/>
                </a:solidFill>
                <a:latin typeface="Arial"/>
                <a:cs typeface="Arial"/>
              </a:rPr>
              <a:t>Descriptive questions do not need a trial</a:t>
            </a:r>
          </a:p>
        </p:txBody>
      </p:sp>
      <p:cxnSp>
        <p:nvCxnSpPr>
          <p:cNvPr id="100" name="Arrow"/>
          <p:cNvCxnSpPr/>
          <p:nvPr/>
        </p:nvCxnSpPr>
        <p:spPr>
          <a:xfrm flipV="1">
            <a:off x="4637720" y="1348768"/>
            <a:ext cx="0" cy="3730752"/>
          </a:xfrm>
          <a:prstGeom prst="straightConnector1">
            <a:avLst/>
          </a:prstGeom>
          <a:ln w="50800" cap="rnd">
            <a:solidFill>
              <a:srgbClr val="0D7377"/>
            </a:solidFill>
            <a:round/>
            <a:tailEnd type="triangle" w="med" len="med"/>
          </a:ln>
        </p:spPr>
      </p:cxnSp>
      <p:sp>
        <p:nvSpPr>
          <p:cNvPr id="101" name="Text"/>
          <p:cNvSpPr/>
          <p:nvPr/>
        </p:nvSpPr>
        <p:spPr>
          <a:xfrm>
            <a:off x="4774880" y="1513360"/>
            <a:ext cx="457200" cy="3474720"/>
          </a:xfrm>
          <a:prstGeom prst="rect">
            <a:avLst/>
          </a:prstGeom>
          <a:noFill/>
          <a:ln>
            <a:noFill/>
          </a:ln>
        </p:spPr>
        <p:txBody>
          <a:bodyPr wrap="square" lIns="54864" tIns="54864" rIns="54864" bIns="54864" rtlCol="0" anchor="ctr" vert="vert270">
            <a:noAutofit/>
          </a:bodyPr>
          <a:lstStyle/>
          <a:p>
            <a:pPr marL="0" indent="0" algn="ctr">
              <a:lnSpc>
                <a:spcPct val="100000"/>
              </a:lnSpc>
              <a:buNone/>
            </a:pPr>
            <a:r>
              <a:rPr lang="en-US" sz="1500" b="1" dirty="0">
                <a:solidFill>
                  <a:srgbClr val="0D7377"/>
                </a:solidFill>
                <a:latin typeface="Arial"/>
                <a:cs typeface="Arial"/>
              </a:rPr>
              <a:t>less bias, more confidence</a:t>
            </a:r>
          </a:p>
        </p:txBody>
      </p:sp>
      <p:sp>
        <p:nvSpPr>
          <p:cNvPr id="102" name="Box"/>
          <p:cNvSpPr/>
          <p:nvPr/>
        </p:nvSpPr>
        <p:spPr>
          <a:xfrm>
            <a:off x="5369240" y="4549168"/>
            <a:ext cx="6309360" cy="603504"/>
          </a:xfrm>
          <a:prstGeom prst="trapezoid">
            <a:avLst>
              <a:gd name="adj" fmla="val 50000"/>
            </a:avLst>
          </a:prstGeom>
          <a:solidFill>
            <a:srgbClr val="8A99A3"/>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Expert opinion, case reports</a:t>
            </a:r>
          </a:p>
        </p:txBody>
      </p:sp>
      <p:sp>
        <p:nvSpPr>
          <p:cNvPr id="103" name="Box"/>
          <p:cNvSpPr/>
          <p:nvPr/>
        </p:nvSpPr>
        <p:spPr>
          <a:xfrm>
            <a:off x="5698424" y="3890800"/>
            <a:ext cx="5650992" cy="603504"/>
          </a:xfrm>
          <a:prstGeom prst="trapezoid">
            <a:avLst>
              <a:gd name="adj" fmla="val 50000"/>
            </a:avLst>
          </a:prstGeom>
          <a:solidFill>
            <a:srgbClr val="5FA39B"/>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Case series, cross-sectional</a:t>
            </a:r>
          </a:p>
        </p:txBody>
      </p:sp>
      <p:sp>
        <p:nvSpPr>
          <p:cNvPr id="104" name="Box"/>
          <p:cNvSpPr/>
          <p:nvPr/>
        </p:nvSpPr>
        <p:spPr>
          <a:xfrm>
            <a:off x="6027608" y="3232432"/>
            <a:ext cx="4992624" cy="603504"/>
          </a:xfrm>
          <a:prstGeom prst="trapezoid">
            <a:avLst>
              <a:gd name="adj" fmla="val 50000"/>
            </a:avLst>
          </a:prstGeom>
          <a:solidFill>
            <a:srgbClr val="0070C0"/>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Case-control studies</a:t>
            </a:r>
          </a:p>
        </p:txBody>
      </p:sp>
      <p:sp>
        <p:nvSpPr>
          <p:cNvPr id="105" name="Box"/>
          <p:cNvSpPr/>
          <p:nvPr/>
        </p:nvSpPr>
        <p:spPr>
          <a:xfrm>
            <a:off x="6356792" y="2574064"/>
            <a:ext cx="4334256" cy="603504"/>
          </a:xfrm>
          <a:prstGeom prst="trapezoid">
            <a:avLst>
              <a:gd name="adj" fmla="val 50000"/>
            </a:avLst>
          </a:prstGeom>
          <a:solidFill>
            <a:srgbClr val="0B376C"/>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Cohort studies</a:t>
            </a:r>
          </a:p>
        </p:txBody>
      </p:sp>
      <p:sp>
        <p:nvSpPr>
          <p:cNvPr id="106" name="Box"/>
          <p:cNvSpPr/>
          <p:nvPr/>
        </p:nvSpPr>
        <p:spPr>
          <a:xfrm>
            <a:off x="6685976" y="1915696"/>
            <a:ext cx="3675888" cy="603504"/>
          </a:xfrm>
          <a:prstGeom prst="trapezoid">
            <a:avLst>
              <a:gd name="adj" fmla="val 50000"/>
            </a:avLst>
          </a:prstGeom>
          <a:solidFill>
            <a:srgbClr val="0D7377"/>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Randomised controlled trials</a:t>
            </a:r>
          </a:p>
        </p:txBody>
      </p:sp>
      <p:sp>
        <p:nvSpPr>
          <p:cNvPr id="107" name="Box"/>
          <p:cNvSpPr/>
          <p:nvPr/>
        </p:nvSpPr>
        <p:spPr>
          <a:xfrm>
            <a:off x="7015160" y="1257328"/>
            <a:ext cx="3017520" cy="603504"/>
          </a:xfrm>
          <a:prstGeom prst="trapezoid">
            <a:avLst>
              <a:gd name="adj" fmla="val 50000"/>
            </a:avLst>
          </a:prstGeom>
          <a:solidFill>
            <a:srgbClr val="055F56"/>
          </a:solidFill>
          <a:ln>
            <a:noFill/>
          </a:ln>
        </p:spPr>
        <p:txBody>
          <a:bodyPr wrap="square" lIns="36576" tIns="36576" rIns="36576" bIns="36576" rtlCol="0" anchor="ctr">
            <a:noAutofit/>
          </a:bodyPr>
          <a:lstStyle/>
          <a:p>
            <a:pPr marL="0" indent="0" algn="ctr">
              <a:lnSpc>
                <a:spcPct val="100000"/>
              </a:lnSpc>
              <a:buNone/>
            </a:pPr>
            <a:r>
              <a:rPr lang="en-US" sz="1500" b="1" dirty="0">
                <a:solidFill>
                  <a:srgbClr val="FFFFFF"/>
                </a:solidFill>
                <a:latin typeface="Arial"/>
                <a:cs typeface="Arial"/>
              </a:rPr>
              <a:t>Systematic reviews and meta-analyses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pyramid ranks designs, not individual papers: quality still has to be checked.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Quick quiz: rank the evidence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The question: do restrictive fluids reduce deaths in septic shock?</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a senior colleague: 'In 20 years, my patients kept dry did better'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a registry that followed thousands of ICU patients (a cohort)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a trial that randomly assigned 1,554 patients to restrictive or usual fluids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D: a systematic review of all trials of fluid restriction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Poll: which order runs from weakest to strongest?</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Poll options</a:t>
            </a:r>
          </a:p>
          <a:p>
            <a:pPr marL="0" indent="0" algn="ctr">
              <a:lnSpc>
                <a:spcPct val="104000"/>
              </a:lnSpc>
              <a:spcBef>
                <a:spcPts val="300"/>
              </a:spcBef>
              <a:buNone/>
            </a:pPr>
            <a:r>
              <a:rPr lang="en-US" sz="1500" dirty="0">
                <a:solidFill>
                  <a:srgbClr val="000000"/>
                </a:solidFill>
                <a:latin typeface="Arial"/>
                <a:cs typeface="Arial"/>
              </a:rPr>
              <a:t>A, B, C, D</a:t>
            </a:r>
          </a:p>
          <a:p>
            <a:pPr marL="0" indent="0" algn="ctr">
              <a:lnSpc>
                <a:spcPct val="104000"/>
              </a:lnSpc>
              <a:spcBef>
                <a:spcPts val="300"/>
              </a:spcBef>
              <a:buNone/>
            </a:pPr>
            <a:r>
              <a:rPr lang="en-US" sz="1500" dirty="0">
                <a:solidFill>
                  <a:srgbClr val="000000"/>
                </a:solidFill>
                <a:latin typeface="Arial"/>
                <a:cs typeface="Arial"/>
              </a:rPr>
              <a:t>B, A, C, D</a:t>
            </a:r>
          </a:p>
          <a:p>
            <a:pPr marL="0" indent="0" algn="ctr">
              <a:lnSpc>
                <a:spcPct val="104000"/>
              </a:lnSpc>
              <a:spcBef>
                <a:spcPts val="300"/>
              </a:spcBef>
              <a:buNone/>
            </a:pPr>
            <a:r>
              <a:rPr lang="en-US" sz="1500" dirty="0">
                <a:solidFill>
                  <a:srgbClr val="000000"/>
                </a:solidFill>
                <a:latin typeface="Arial"/>
                <a:cs typeface="Arial"/>
              </a:rPr>
              <a:t>A, C, B, D</a:t>
            </a:r>
          </a:p>
          <a:p>
            <a:pPr marL="0" indent="0" algn="ctr">
              <a:lnSpc>
                <a:spcPct val="104000"/>
              </a:lnSpc>
              <a:spcBef>
                <a:spcPts val="300"/>
              </a:spcBef>
              <a:buNone/>
            </a:pPr>
            <a:r>
              <a:rPr lang="en-US" sz="1500" dirty="0">
                <a:solidFill>
                  <a:srgbClr val="000000"/>
                </a:solidFill>
                <a:latin typeface="Arial"/>
                <a:cs typeface="Arial"/>
              </a:rPr>
              <a:t>D, C, B, A</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Poll result, then: what could make C weaker than B?</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two papers we read together in this course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Both are open access. You receive the two PDFs by email before Session 1.</a:t>
            </a:r>
          </a:p>
        </p:txBody>
      </p:sp>
      <p:sp>
        <p:nvSpPr>
          <p:cNvPr id="70" name="CardHead"/>
          <p:cNvSpPr/>
          <p:nvPr/>
        </p:nvSpPr>
        <p:spPr>
          <a:xfrm>
            <a:off x="457200" y="1909015"/>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1: Boulet 2024, a trial</a:t>
            </a:r>
          </a:p>
        </p:txBody>
      </p:sp>
      <p:sp>
        <p:nvSpPr>
          <p:cNvPr id="71" name="CardBody"/>
          <p:cNvSpPr/>
          <p:nvPr/>
        </p:nvSpPr>
        <p:spPr>
          <a:xfrm>
            <a:off x="457200" y="2549015"/>
            <a:ext cx="5538800" cy="22029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500" b="1" dirty="0">
                <a:solidFill>
                  <a:srgbClr val="000000"/>
                </a:solidFill>
                <a:latin typeface="Arial"/>
                <a:cs typeface="Arial"/>
              </a:rPr>
              <a:t>Boulet N, et al. Crit Care 2024;28:429</a:t>
            </a:r>
          </a:p>
          <a:p>
            <a:pPr marL="0" indent="0" algn="ctr">
              <a:lnSpc>
                <a:spcPct val="104000"/>
              </a:lnSpc>
              <a:spcBef>
                <a:spcPts val="400"/>
              </a:spcBef>
              <a:buNone/>
            </a:pPr>
            <a:r>
              <a:rPr lang="en-US" sz="1500" i="1" dirty="0">
                <a:solidFill>
                  <a:srgbClr val="000000"/>
                </a:solidFill>
                <a:latin typeface="Arial"/>
                <a:cs typeface="Arial"/>
              </a:rPr>
              <a:t>Impact on fluid balance of an optimized restrictive strategy targeting non-resuscitative fluids in intensive care patients with septic shock</a:t>
            </a:r>
          </a:p>
          <a:p>
            <a:pPr marL="0" indent="0" algn="ctr">
              <a:lnSpc>
                <a:spcPct val="104000"/>
              </a:lnSpc>
              <a:spcBef>
                <a:spcPts val="400"/>
              </a:spcBef>
              <a:buNone/>
            </a:pPr>
            <a:r>
              <a:rPr lang="en-US" sz="1500" dirty="0">
                <a:solidFill>
                  <a:srgbClr val="000000"/>
                </a:solidFill>
                <a:latin typeface="Arial"/>
                <a:cs typeface="Arial"/>
              </a:rPr>
              <a:t>A small pilot randomised controlled trial (RCT), 48 patients</a:t>
            </a:r>
          </a:p>
          <a:p>
            <a:pPr marL="0" indent="0" algn="ctr">
              <a:lnSpc>
                <a:spcPct val="104000"/>
              </a:lnSpc>
              <a:spcBef>
                <a:spcPts val="400"/>
              </a:spcBef>
              <a:buNone/>
            </a:pPr>
            <a:r>
              <a:rPr lang="en-US" sz="1500" dirty="0">
                <a:solidFill>
                  <a:srgbClr val="000000"/>
                </a:solidFill>
                <a:latin typeface="Arial"/>
                <a:cs typeface="Arial"/>
              </a:rPr>
              <a:t>Main outcome: fluid balance at day 5</a:t>
            </a:r>
          </a:p>
        </p:txBody>
      </p:sp>
      <p:sp>
        <p:nvSpPr>
          <p:cNvPr id="72" name="CardHead"/>
          <p:cNvSpPr/>
          <p:nvPr/>
        </p:nvSpPr>
        <p:spPr>
          <a:xfrm>
            <a:off x="6196000" y="1909015"/>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2: Hyun 2023, a cohort</a:t>
            </a:r>
          </a:p>
        </p:txBody>
      </p:sp>
      <p:sp>
        <p:nvSpPr>
          <p:cNvPr id="73" name="CardBody"/>
          <p:cNvSpPr/>
          <p:nvPr/>
        </p:nvSpPr>
        <p:spPr>
          <a:xfrm>
            <a:off x="6196000" y="2549015"/>
            <a:ext cx="5538800" cy="22029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500" b="1" dirty="0">
                <a:solidFill>
                  <a:srgbClr val="000000"/>
                </a:solidFill>
                <a:latin typeface="Arial"/>
                <a:cs typeface="Arial"/>
              </a:rPr>
              <a:t>Hyun DG, et al. Ann Intensive Care 2023;13:105</a:t>
            </a:r>
          </a:p>
          <a:p>
            <a:pPr marL="0" indent="0" algn="ctr">
              <a:lnSpc>
                <a:spcPct val="104000"/>
              </a:lnSpc>
              <a:spcBef>
                <a:spcPts val="400"/>
              </a:spcBef>
              <a:buNone/>
            </a:pPr>
            <a:r>
              <a:rPr lang="en-US" sz="1500" i="1" dirty="0">
                <a:solidFill>
                  <a:srgbClr val="000000"/>
                </a:solidFill>
                <a:latin typeface="Arial"/>
                <a:cs typeface="Arial"/>
              </a:rPr>
              <a:t>Impact of a cumulative positive fluid balance during the first three ICU days in patients with sepsis</a:t>
            </a:r>
          </a:p>
          <a:p>
            <a:pPr marL="0" indent="0" algn="ctr">
              <a:lnSpc>
                <a:spcPct val="104000"/>
              </a:lnSpc>
              <a:spcBef>
                <a:spcPts val="400"/>
              </a:spcBef>
              <a:buNone/>
            </a:pPr>
            <a:r>
              <a:rPr lang="en-US" sz="1500" dirty="0">
                <a:solidFill>
                  <a:srgbClr val="000000"/>
                </a:solidFill>
                <a:latin typeface="Arial"/>
                <a:cs typeface="Arial"/>
              </a:rPr>
              <a:t>A cohort study from the Korean sepsis registry</a:t>
            </a:r>
          </a:p>
          <a:p>
            <a:pPr marL="0" indent="0" algn="ctr">
              <a:lnSpc>
                <a:spcPct val="104000"/>
              </a:lnSpc>
              <a:spcBef>
                <a:spcPts val="400"/>
              </a:spcBef>
              <a:buNone/>
            </a:pPr>
            <a:r>
              <a:rPr lang="en-US" sz="1500" dirty="0">
                <a:solidFill>
                  <a:srgbClr val="000000"/>
                </a:solidFill>
                <a:latin typeface="Arial"/>
                <a:cs typeface="Arial"/>
              </a:rPr>
              <a:t>Main outcome: death by day 28</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Paper 1 is a trial, Paper 2 is a cohort. Both study fluids in sepsis.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research cycle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998720" y="1257328"/>
            <a:ext cx="2194560" cy="749808"/>
          </a:xfrm>
          <a:prstGeom prst="roundRect">
            <a:avLst>
              <a:gd name="adj" fmla="val 1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Clinical problem</a:t>
            </a:r>
          </a:p>
        </p:txBody>
      </p:sp>
      <p:sp>
        <p:nvSpPr>
          <p:cNvPr id="101" name="Box"/>
          <p:cNvSpPr/>
          <p:nvPr/>
        </p:nvSpPr>
        <p:spPr>
          <a:xfrm>
            <a:off x="8069968" y="1717981"/>
            <a:ext cx="2194560" cy="749808"/>
          </a:xfrm>
          <a:prstGeom prst="roundRect">
            <a:avLst>
              <a:gd name="adj" fmla="val 1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Research question (PICO)</a:t>
            </a:r>
          </a:p>
        </p:txBody>
      </p:sp>
      <p:sp>
        <p:nvSpPr>
          <p:cNvPr id="102" name="Box"/>
          <p:cNvSpPr/>
          <p:nvPr/>
        </p:nvSpPr>
        <p:spPr>
          <a:xfrm>
            <a:off x="9342120" y="2830096"/>
            <a:ext cx="2194560" cy="749808"/>
          </a:xfrm>
          <a:prstGeom prst="roundRect">
            <a:avLst>
              <a:gd name="adj" fmla="val 1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Search the literature</a:t>
            </a:r>
          </a:p>
        </p:txBody>
      </p:sp>
      <p:sp>
        <p:nvSpPr>
          <p:cNvPr id="103" name="Box"/>
          <p:cNvSpPr/>
          <p:nvPr/>
        </p:nvSpPr>
        <p:spPr>
          <a:xfrm>
            <a:off x="8069968" y="3942211"/>
            <a:ext cx="2194560" cy="749808"/>
          </a:xfrm>
          <a:prstGeom prst="roundRect">
            <a:avLst>
              <a:gd name="adj" fmla="val 18000"/>
            </a:avLst>
          </a:prstGeom>
          <a:solidFill>
            <a:srgbClr val="0B376C"/>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Design and protocol</a:t>
            </a:r>
          </a:p>
        </p:txBody>
      </p:sp>
      <p:sp>
        <p:nvSpPr>
          <p:cNvPr id="104" name="Box"/>
          <p:cNvSpPr/>
          <p:nvPr/>
        </p:nvSpPr>
        <p:spPr>
          <a:xfrm>
            <a:off x="4998720" y="4402864"/>
            <a:ext cx="2194560" cy="749808"/>
          </a:xfrm>
          <a:prstGeom prst="roundRect">
            <a:avLst>
              <a:gd name="adj" fmla="val 18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Ethics approval</a:t>
            </a:r>
          </a:p>
        </p:txBody>
      </p:sp>
      <p:sp>
        <p:nvSpPr>
          <p:cNvPr id="105" name="Box"/>
          <p:cNvSpPr/>
          <p:nvPr/>
        </p:nvSpPr>
        <p:spPr>
          <a:xfrm>
            <a:off x="1927472" y="3942211"/>
            <a:ext cx="2194560" cy="749808"/>
          </a:xfrm>
          <a:prstGeom prst="roundRect">
            <a:avLst>
              <a:gd name="adj" fmla="val 18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Collect data</a:t>
            </a:r>
          </a:p>
        </p:txBody>
      </p:sp>
      <p:sp>
        <p:nvSpPr>
          <p:cNvPr id="106" name="Box"/>
          <p:cNvSpPr/>
          <p:nvPr/>
        </p:nvSpPr>
        <p:spPr>
          <a:xfrm>
            <a:off x="655320" y="2830096"/>
            <a:ext cx="2194560" cy="749808"/>
          </a:xfrm>
          <a:prstGeom prst="roundRect">
            <a:avLst>
              <a:gd name="adj" fmla="val 18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Analyse and interpret</a:t>
            </a:r>
          </a:p>
        </p:txBody>
      </p:sp>
      <p:sp>
        <p:nvSpPr>
          <p:cNvPr id="107" name="Box"/>
          <p:cNvSpPr/>
          <p:nvPr/>
        </p:nvSpPr>
        <p:spPr>
          <a:xfrm>
            <a:off x="1927472" y="1717981"/>
            <a:ext cx="2194560" cy="749808"/>
          </a:xfrm>
          <a:prstGeom prst="roundRect">
            <a:avLst>
              <a:gd name="adj" fmla="val 18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Publish and change practice</a:t>
            </a:r>
          </a:p>
        </p:txBody>
      </p:sp>
      <p:cxnSp>
        <p:nvCxnSpPr>
          <p:cNvPr id="108" name="Arrow"/>
          <p:cNvCxnSpPr/>
          <p:nvPr/>
        </p:nvCxnSpPr>
        <p:spPr>
          <a:xfrm>
            <a:off x="7265623" y="1807662"/>
            <a:ext cx="732002" cy="109792"/>
          </a:xfrm>
          <a:prstGeom prst="straightConnector1">
            <a:avLst/>
          </a:prstGeom>
          <a:ln w="31750" cap="rnd">
            <a:solidFill>
              <a:srgbClr val="8A99A3"/>
            </a:solidFill>
            <a:round/>
            <a:tailEnd type="triangle" w="med" len="med"/>
          </a:ln>
        </p:spPr>
      </p:cxnSp>
      <p:cxnSp>
        <p:nvCxnSpPr>
          <p:cNvPr id="109" name="Arrow"/>
          <p:cNvCxnSpPr/>
          <p:nvPr/>
        </p:nvCxnSpPr>
        <p:spPr>
          <a:xfrm>
            <a:off x="9651176" y="2515935"/>
            <a:ext cx="304296" cy="266015"/>
          </a:xfrm>
          <a:prstGeom prst="straightConnector1">
            <a:avLst/>
          </a:prstGeom>
          <a:ln w="31750" cap="rnd">
            <a:solidFill>
              <a:srgbClr val="8A99A3"/>
            </a:solidFill>
            <a:round/>
            <a:tailEnd type="triangle" w="med" len="med"/>
          </a:ln>
        </p:spPr>
      </p:cxnSp>
      <p:cxnSp>
        <p:nvCxnSpPr>
          <p:cNvPr id="110" name="Arrow"/>
          <p:cNvCxnSpPr/>
          <p:nvPr/>
        </p:nvCxnSpPr>
        <p:spPr>
          <a:xfrm flipH="1">
            <a:off x="9651176" y="3628050"/>
            <a:ext cx="304296" cy="266015"/>
          </a:xfrm>
          <a:prstGeom prst="straightConnector1">
            <a:avLst/>
          </a:prstGeom>
          <a:ln w="31750" cap="rnd">
            <a:solidFill>
              <a:srgbClr val="8A99A3"/>
            </a:solidFill>
            <a:round/>
            <a:tailEnd type="triangle" w="med" len="med"/>
          </a:ln>
        </p:spPr>
      </p:cxnSp>
      <p:cxnSp>
        <p:nvCxnSpPr>
          <p:cNvPr id="111" name="Arrow"/>
          <p:cNvCxnSpPr/>
          <p:nvPr/>
        </p:nvCxnSpPr>
        <p:spPr>
          <a:xfrm flipH="1">
            <a:off x="7265623" y="4492545"/>
            <a:ext cx="732002" cy="109792"/>
          </a:xfrm>
          <a:prstGeom prst="straightConnector1">
            <a:avLst/>
          </a:prstGeom>
          <a:ln w="31750" cap="rnd">
            <a:solidFill>
              <a:srgbClr val="8A99A3"/>
            </a:solidFill>
            <a:round/>
            <a:tailEnd type="triangle" w="med" len="med"/>
          </a:ln>
        </p:spPr>
      </p:cxnSp>
      <p:cxnSp>
        <p:nvCxnSpPr>
          <p:cNvPr id="112" name="Arrow"/>
          <p:cNvCxnSpPr/>
          <p:nvPr/>
        </p:nvCxnSpPr>
        <p:spPr>
          <a:xfrm flipH="1" flipV="1">
            <a:off x="4194375" y="4492545"/>
            <a:ext cx="732002" cy="109792"/>
          </a:xfrm>
          <a:prstGeom prst="straightConnector1">
            <a:avLst/>
          </a:prstGeom>
          <a:ln w="31750" cap="rnd">
            <a:solidFill>
              <a:srgbClr val="8A99A3"/>
            </a:solidFill>
            <a:round/>
            <a:tailEnd type="triangle" w="med" len="med"/>
          </a:ln>
        </p:spPr>
      </p:cxnSp>
      <p:cxnSp>
        <p:nvCxnSpPr>
          <p:cNvPr id="113" name="Arrow"/>
          <p:cNvCxnSpPr/>
          <p:nvPr/>
        </p:nvCxnSpPr>
        <p:spPr>
          <a:xfrm flipH="1" flipV="1">
            <a:off x="2236528" y="3628050"/>
            <a:ext cx="304296" cy="266015"/>
          </a:xfrm>
          <a:prstGeom prst="straightConnector1">
            <a:avLst/>
          </a:prstGeom>
          <a:ln w="31750" cap="rnd">
            <a:solidFill>
              <a:srgbClr val="8A99A3"/>
            </a:solidFill>
            <a:round/>
            <a:tailEnd type="triangle" w="med" len="med"/>
          </a:ln>
        </p:spPr>
      </p:cxnSp>
      <p:cxnSp>
        <p:nvCxnSpPr>
          <p:cNvPr id="114" name="Arrow"/>
          <p:cNvCxnSpPr/>
          <p:nvPr/>
        </p:nvCxnSpPr>
        <p:spPr>
          <a:xfrm flipV="1">
            <a:off x="2236528" y="2515935"/>
            <a:ext cx="304296" cy="266015"/>
          </a:xfrm>
          <a:prstGeom prst="straightConnector1">
            <a:avLst/>
          </a:prstGeom>
          <a:ln w="31750" cap="rnd">
            <a:solidFill>
              <a:srgbClr val="8A99A3"/>
            </a:solidFill>
            <a:round/>
            <a:tailEnd type="triangle" w="med" len="med"/>
          </a:ln>
        </p:spPr>
      </p:cxnSp>
      <p:cxnSp>
        <p:nvCxnSpPr>
          <p:cNvPr id="115" name="Arrow"/>
          <p:cNvCxnSpPr/>
          <p:nvPr/>
        </p:nvCxnSpPr>
        <p:spPr>
          <a:xfrm flipV="1">
            <a:off x="4194375" y="1807662"/>
            <a:ext cx="732002" cy="109792"/>
          </a:xfrm>
          <a:prstGeom prst="straightConnector1">
            <a:avLst/>
          </a:prstGeom>
          <a:ln w="31750" cap="rnd">
            <a:solidFill>
              <a:srgbClr val="8A99A3"/>
            </a:solidFill>
            <a:round/>
            <a:tailEnd type="triangle" w="med" len="med"/>
          </a:ln>
        </p:spPr>
      </p:cxnSp>
      <p:sp>
        <p:nvSpPr>
          <p:cNvPr id="116" name="Text"/>
          <p:cNvSpPr/>
          <p:nvPr/>
        </p:nvSpPr>
        <p:spPr>
          <a:xfrm>
            <a:off x="4358640" y="2564920"/>
            <a:ext cx="3474720" cy="12801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000" b="1" dirty="0">
                <a:solidFill>
                  <a:srgbClr val="0D7377"/>
                </a:solidFill>
                <a:latin typeface="Arial"/>
                <a:cs typeface="Arial"/>
              </a:rPr>
              <a:t>Weeks 1-2</a:t>
            </a:r>
          </a:p>
          <a:p>
            <a:pPr marL="0" indent="0" algn="ctr">
              <a:lnSpc>
                <a:spcPct val="100000"/>
              </a:lnSpc>
              <a:spcBef>
                <a:spcPts val="300"/>
              </a:spcBef>
              <a:buNone/>
            </a:pPr>
            <a:r>
              <a:rPr lang="en-US" sz="1600" dirty="0">
                <a:solidFill>
                  <a:srgbClr val="1A1A1A"/>
                </a:solidFill>
                <a:latin typeface="Arial"/>
                <a:cs typeface="Arial"/>
              </a:rPr>
              <a:t>problem, question, search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Research is a cycle: published results change practice and raise new questions.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question decides the type of research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76186"/>
          <a:ext cx="11277600" cy="4021440"/>
        </p:xfrm>
        <a:graphic>
          <a:graphicData uri="http://schemas.openxmlformats.org/drawingml/2006/table">
            <a:tbl>
              <a:tblPr firstRow="1" bandRow="1">
                <a:tableStyleId>{5C22544A-7EE6-4342-B048-85BDC9FD1C3A}</a:tableStyleId>
              </a:tblPr>
              <a:tblGrid>
                <a:gridCol w="2631440"/>
                <a:gridCol w="4636346"/>
                <a:gridCol w="4009814"/>
              </a:tblGrid>
              <a:tr h="416240">
                <a:tc>
                  <a:txBody>
                    <a:bodyPr/>
                    <a:lstStyle/>
                    <a:p>
                      <a:pPr algn="l"/>
                      <a:r>
                        <a:rPr lang="en-US" sz="2000" b="1" dirty="0">
                          <a:solidFill>
                            <a:srgbClr val="FFFFFF"/>
                          </a:solidFill>
                          <a:latin typeface="Arial"/>
                          <a:cs typeface="Arial"/>
                        </a:rPr>
                        <a:t>Type of research</a:t>
                      </a:r>
                    </a:p>
                  </a:txBody>
                  <a:tcPr marL="73152" marR="73152" marT="45720" marB="45720" anchor="ctr">
                    <a:solidFill>
                      <a:srgbClr val="0D7377"/>
                    </a:solidFill>
                  </a:tcPr>
                </a:tc>
                <a:tc>
                  <a:txBody>
                    <a:bodyPr/>
                    <a:lstStyle/>
                    <a:p>
                      <a:pPr algn="l"/>
                      <a:r>
                        <a:rPr lang="en-US" sz="2000" b="1" dirty="0">
                          <a:solidFill>
                            <a:srgbClr val="FFFFFF"/>
                          </a:solidFill>
                          <a:latin typeface="Arial"/>
                          <a:cs typeface="Arial"/>
                        </a:rPr>
                        <a:t>What it gives</a:t>
                      </a:r>
                    </a:p>
                  </a:txBody>
                  <a:tcPr marL="73152" marR="73152" marT="45720" marB="45720" anchor="ctr">
                    <a:solidFill>
                      <a:srgbClr val="0D7377"/>
                    </a:solidFill>
                  </a:tcPr>
                </a:tc>
                <a:tc>
                  <a:txBody>
                    <a:bodyPr/>
                    <a:lstStyle/>
                    <a:p>
                      <a:pPr algn="l"/>
                      <a:r>
                        <a:rPr lang="en-US" sz="2000" b="1" dirty="0">
                          <a:solidFill>
                            <a:srgbClr val="FFFFFF"/>
                          </a:solidFill>
                          <a:latin typeface="Arial"/>
                          <a:cs typeface="Arial"/>
                        </a:rPr>
                        <a:t>Example</a:t>
                      </a:r>
                    </a:p>
                  </a:txBody>
                  <a:tcPr marL="73152" marR="73152" marT="45720" marB="45720" anchor="ctr">
                    <a:solidFill>
                      <a:srgbClr val="0D7377"/>
                    </a:solidFill>
                  </a:tcPr>
                </a:tc>
              </a:tr>
              <a:tr h="721040">
                <a:tc>
                  <a:txBody>
                    <a:bodyPr/>
                    <a:lstStyle/>
                    <a:p>
                      <a:pPr algn="l"/>
                      <a:r>
                        <a:rPr lang="en-US" sz="2000" b="1" dirty="0">
                          <a:solidFill>
                            <a:srgbClr val="000000"/>
                          </a:solidFill>
                          <a:latin typeface="Arial"/>
                          <a:cs typeface="Arial"/>
                        </a:rPr>
                        <a:t>Quantitative</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Numbers: how many? Does X change Y?</a:t>
                      </a:r>
                    </a:p>
                  </a:txBody>
                  <a:tcPr marL="73152" marR="73152" marT="45720" marB="45720" anchor="ctr">
                    <a:solidFill>
                      <a:srgbClr val="FFFFFF"/>
                    </a:solidFill>
                  </a:tcPr>
                </a:tc>
                <a:tc>
                  <a:txBody>
                    <a:bodyPr/>
                    <a:lstStyle/>
                    <a:p>
                      <a:pPr algn="l"/>
                      <a:r>
                        <a:rPr lang="en-US" sz="2000" dirty="0">
                          <a:solidFill>
                            <a:srgbClr val="000000"/>
                          </a:solidFill>
                          <a:latin typeface="Arial"/>
                          <a:cs typeface="Arial"/>
                        </a:rPr>
                        <a:t>28-day mortality with two fluid strategies</a:t>
                      </a:r>
                    </a:p>
                  </a:txBody>
                  <a:tcPr marL="73152" marR="73152" marT="45720" marB="45720" anchor="ctr">
                    <a:solidFill>
                      <a:srgbClr val="FFFFFF"/>
                    </a:solidFill>
                  </a:tcPr>
                </a:tc>
              </a:tr>
              <a:tr h="721040">
                <a:tc>
                  <a:txBody>
                    <a:bodyPr/>
                    <a:lstStyle/>
                    <a:p>
                      <a:pPr algn="l"/>
                      <a:r>
                        <a:rPr lang="en-US" sz="2000" b="1" dirty="0">
                          <a:solidFill>
                            <a:srgbClr val="000000"/>
                          </a:solidFill>
                          <a:latin typeface="Arial"/>
                          <a:cs typeface="Arial"/>
                        </a:rPr>
                        <a:t>Qualitative</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Words: why? How? What is it like?</a:t>
                      </a:r>
                    </a:p>
                  </a:txBody>
                  <a:tcPr marL="73152" marR="73152" marT="45720" marB="45720" anchor="ctr">
                    <a:solidFill>
                      <a:srgbClr val="F5F9FA"/>
                    </a:solidFill>
                  </a:tcPr>
                </a:tc>
                <a:tc>
                  <a:txBody>
                    <a:bodyPr/>
                    <a:lstStyle/>
                    <a:p>
                      <a:pPr algn="l"/>
                      <a:r>
                        <a:rPr lang="en-US" sz="2000" dirty="0">
                          <a:solidFill>
                            <a:srgbClr val="000000"/>
                          </a:solidFill>
                          <a:latin typeface="Arial"/>
                          <a:cs typeface="Arial"/>
                        </a:rPr>
                        <a:t>Interviews: why nurses hesitate to stop fluids</a:t>
                      </a:r>
                    </a:p>
                  </a:txBody>
                  <a:tcPr marL="73152" marR="73152" marT="45720" marB="45720" anchor="ctr">
                    <a:solidFill>
                      <a:srgbClr val="F5F9FA"/>
                    </a:solidFill>
                  </a:tcPr>
                </a:tc>
              </a:tr>
              <a:tr h="721040">
                <a:tc>
                  <a:txBody>
                    <a:bodyPr/>
                    <a:lstStyle/>
                    <a:p>
                      <a:pPr algn="l"/>
                      <a:r>
                        <a:rPr lang="en-US" sz="2000" b="1" dirty="0">
                          <a:solidFill>
                            <a:srgbClr val="000000"/>
                          </a:solidFill>
                          <a:latin typeface="Arial"/>
                          <a:cs typeface="Arial"/>
                        </a:rPr>
                        <a:t>Mixed methods</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Numbers + words in one study</a:t>
                      </a:r>
                    </a:p>
                  </a:txBody>
                  <a:tcPr marL="73152" marR="73152" marT="45720" marB="45720" anchor="ctr">
                    <a:solidFill>
                      <a:srgbClr val="FFFFFF"/>
                    </a:solidFill>
                  </a:tcPr>
                </a:tc>
                <a:tc>
                  <a:txBody>
                    <a:bodyPr/>
                    <a:lstStyle/>
                    <a:p>
                      <a:pPr algn="l"/>
                      <a:r>
                        <a:rPr lang="en-US" sz="2000" dirty="0">
                          <a:solidFill>
                            <a:srgbClr val="000000"/>
                          </a:solidFill>
                          <a:latin typeface="Arial"/>
                          <a:cs typeface="Arial"/>
                        </a:rPr>
                        <a:t>Survey of fluid practice + focus groups</a:t>
                      </a:r>
                    </a:p>
                  </a:txBody>
                  <a:tcPr marL="73152" marR="73152" marT="45720" marB="45720" anchor="ctr">
                    <a:solidFill>
                      <a:srgbClr val="FFFFFF"/>
                    </a:solidFill>
                  </a:tcPr>
                </a:tc>
              </a:tr>
              <a:tr h="721040">
                <a:tc>
                  <a:txBody>
                    <a:bodyPr/>
                    <a:lstStyle/>
                    <a:p>
                      <a:pPr algn="l"/>
                      <a:r>
                        <a:rPr lang="en-US" sz="2000" b="1" dirty="0">
                          <a:solidFill>
                            <a:srgbClr val="000000"/>
                          </a:solidFill>
                          <a:latin typeface="Arial"/>
                          <a:cs typeface="Arial"/>
                        </a:rPr>
                        <a:t>Primary research</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You collect new data</a:t>
                      </a:r>
                    </a:p>
                  </a:txBody>
                  <a:tcPr marL="73152" marR="73152" marT="45720" marB="45720" anchor="ctr">
                    <a:solidFill>
                      <a:srgbClr val="F5F9FA"/>
                    </a:solidFill>
                  </a:tcPr>
                </a:tc>
                <a:tc>
                  <a:txBody>
                    <a:bodyPr/>
                    <a:lstStyle/>
                    <a:p>
                      <a:pPr algn="l"/>
                      <a:r>
                        <a:rPr lang="en-US" sz="2000" dirty="0">
                          <a:solidFill>
                            <a:srgbClr val="000000"/>
                          </a:solidFill>
                          <a:latin typeface="Arial"/>
                          <a:cs typeface="Arial"/>
                        </a:rPr>
                        <a:t>Paper 1: a new trial</a:t>
                      </a:r>
                    </a:p>
                  </a:txBody>
                  <a:tcPr marL="73152" marR="73152" marT="45720" marB="45720" anchor="ctr">
                    <a:solidFill>
                      <a:srgbClr val="F5F9FA"/>
                    </a:solidFill>
                  </a:tcPr>
                </a:tc>
              </a:tr>
              <a:tr h="721040">
                <a:tc>
                  <a:txBody>
                    <a:bodyPr/>
                    <a:lstStyle/>
                    <a:p>
                      <a:pPr algn="l"/>
                      <a:r>
                        <a:rPr lang="en-US" sz="2000" b="1" dirty="0">
                          <a:solidFill>
                            <a:srgbClr val="000000"/>
                          </a:solidFill>
                          <a:latin typeface="Arial"/>
                          <a:cs typeface="Arial"/>
                        </a:rPr>
                        <a:t>Secondary research</a:t>
                      </a:r>
                    </a:p>
                  </a:txBody>
                  <a:tcPr marL="73152" marR="73152" marT="45720" marB="45720" anchor="ctr">
                    <a:solidFill>
                      <a:srgbClr val="EAF2F5"/>
                    </a:solidFill>
                  </a:tcPr>
                </a:tc>
                <a:tc>
                  <a:txBody>
                    <a:bodyPr/>
                    <a:lstStyle/>
                    <a:p>
                      <a:pPr algn="l"/>
                      <a:r>
                        <a:rPr lang="en-US" sz="2000" dirty="0">
                          <a:solidFill>
                            <a:srgbClr val="000000"/>
                          </a:solidFill>
                          <a:latin typeface="Arial"/>
                          <a:cs typeface="Arial"/>
                        </a:rPr>
                        <a:t>You reuse data that exist: records, registries</a:t>
                      </a:r>
                    </a:p>
                  </a:txBody>
                  <a:tcPr marL="73152" marR="73152" marT="45720" marB="45720" anchor="ctr">
                    <a:solidFill>
                      <a:srgbClr val="FFFFFF"/>
                    </a:solidFill>
                  </a:tcPr>
                </a:tc>
                <a:tc>
                  <a:txBody>
                    <a:bodyPr/>
                    <a:lstStyle/>
                    <a:p>
                      <a:pPr algn="l"/>
                      <a:r>
                        <a:rPr lang="en-US" sz="2000" dirty="0">
                          <a:solidFill>
                            <a:srgbClr val="000000"/>
                          </a:solidFill>
                          <a:latin typeface="Arial"/>
                          <a:cs typeface="Arial"/>
                        </a:rPr>
                        <a:t>Paper 2: a sepsis registry</a:t>
                      </a:r>
                    </a:p>
                  </a:txBody>
                  <a:tcPr marL="73152" marR="73152" marT="45720" marB="45720" anchor="ctr">
                    <a:solidFill>
                      <a:srgbClr val="FFFFFF"/>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Numbers answer how many and how much. Words answer why and how.</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which type of research?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counting how many patients with septic shock are fluid-positive on day 3 this year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interviewing ICU nurses about why they hesitate to stop IV fluids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re-analysing 3 years of ICU records for fluid balance and death</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D: a survey of fluid prescribing plus focus groups with doctors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For each: numbers, words or both? New data or existing data?</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Two or three people answer aloud, e.g. 'A: numbers, new'</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Answers: which type of research?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1666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  Counting</a:t>
            </a:r>
          </a:p>
        </p:txBody>
      </p:sp>
      <p:sp>
        <p:nvSpPr>
          <p:cNvPr id="71" name="CardBody"/>
          <p:cNvSpPr/>
          <p:nvPr/>
        </p:nvSpPr>
        <p:spPr>
          <a:xfrm>
            <a:off x="4572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Quantitative</a:t>
            </a:r>
          </a:p>
          <a:p>
            <a:pPr marL="0" indent="0" algn="ctr">
              <a:lnSpc>
                <a:spcPct val="104000"/>
              </a:lnSpc>
              <a:spcBef>
                <a:spcPts val="400"/>
              </a:spcBef>
              <a:buNone/>
            </a:pPr>
            <a:r>
              <a:rPr lang="en-US" sz="1600" dirty="0">
                <a:solidFill>
                  <a:srgbClr val="000000"/>
                </a:solidFill>
                <a:latin typeface="Arial"/>
                <a:cs typeface="Arial"/>
              </a:rPr>
              <a:t>Primary</a:t>
            </a:r>
          </a:p>
        </p:txBody>
      </p:sp>
      <p:sp>
        <p:nvSpPr>
          <p:cNvPr id="72" name="CardHead"/>
          <p:cNvSpPr/>
          <p:nvPr/>
        </p:nvSpPr>
        <p:spPr>
          <a:xfrm>
            <a:off x="3326600" y="191666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  Interviews</a:t>
            </a:r>
          </a:p>
        </p:txBody>
      </p:sp>
      <p:sp>
        <p:nvSpPr>
          <p:cNvPr id="73" name="CardBody"/>
          <p:cNvSpPr/>
          <p:nvPr/>
        </p:nvSpPr>
        <p:spPr>
          <a:xfrm>
            <a:off x="33266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Qualitative</a:t>
            </a:r>
          </a:p>
          <a:p>
            <a:pPr marL="0" indent="0" algn="ctr">
              <a:lnSpc>
                <a:spcPct val="104000"/>
              </a:lnSpc>
              <a:spcBef>
                <a:spcPts val="400"/>
              </a:spcBef>
              <a:buNone/>
            </a:pPr>
            <a:r>
              <a:rPr lang="en-US" sz="1600" dirty="0">
                <a:solidFill>
                  <a:srgbClr val="000000"/>
                </a:solidFill>
                <a:latin typeface="Arial"/>
                <a:cs typeface="Arial"/>
              </a:rPr>
              <a:t>Primary</a:t>
            </a:r>
          </a:p>
        </p:txBody>
      </p:sp>
      <p:sp>
        <p:nvSpPr>
          <p:cNvPr id="74" name="CardHead"/>
          <p:cNvSpPr/>
          <p:nvPr/>
        </p:nvSpPr>
        <p:spPr>
          <a:xfrm>
            <a:off x="6196000" y="191666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  Old records</a:t>
            </a:r>
          </a:p>
        </p:txBody>
      </p:sp>
      <p:sp>
        <p:nvSpPr>
          <p:cNvPr id="75" name="CardBody"/>
          <p:cNvSpPr/>
          <p:nvPr/>
        </p:nvSpPr>
        <p:spPr>
          <a:xfrm>
            <a:off x="61960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Quantitative</a:t>
            </a:r>
          </a:p>
          <a:p>
            <a:pPr marL="0" indent="0" algn="ctr">
              <a:lnSpc>
                <a:spcPct val="104000"/>
              </a:lnSpc>
              <a:spcBef>
                <a:spcPts val="400"/>
              </a:spcBef>
              <a:buNone/>
            </a:pPr>
            <a:r>
              <a:rPr lang="en-US" sz="1600" dirty="0">
                <a:solidFill>
                  <a:srgbClr val="000000"/>
                </a:solidFill>
                <a:latin typeface="Arial"/>
                <a:cs typeface="Arial"/>
              </a:rPr>
              <a:t>Secondary</a:t>
            </a:r>
          </a:p>
        </p:txBody>
      </p:sp>
      <p:sp>
        <p:nvSpPr>
          <p:cNvPr id="76" name="CardHead"/>
          <p:cNvSpPr/>
          <p:nvPr/>
        </p:nvSpPr>
        <p:spPr>
          <a:xfrm>
            <a:off x="9065400" y="191666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  Survey + groups</a:t>
            </a:r>
          </a:p>
        </p:txBody>
      </p:sp>
      <p:sp>
        <p:nvSpPr>
          <p:cNvPr id="77" name="CardBody"/>
          <p:cNvSpPr/>
          <p:nvPr/>
        </p:nvSpPr>
        <p:spPr>
          <a:xfrm>
            <a:off x="90654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Mixed methods</a:t>
            </a:r>
          </a:p>
          <a:p>
            <a:pPr marL="0" indent="0" algn="ctr">
              <a:lnSpc>
                <a:spcPct val="104000"/>
              </a:lnSpc>
              <a:spcBef>
                <a:spcPts val="400"/>
              </a:spcBef>
              <a:buNone/>
            </a:pPr>
            <a:r>
              <a:rPr lang="en-US" sz="1600" dirty="0">
                <a:solidFill>
                  <a:srgbClr val="000000"/>
                </a:solidFill>
                <a:latin typeface="Arial"/>
                <a:cs typeface="Arial"/>
              </a:rPr>
              <a:t>Primary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Ask two things: numbers or words? New data or existing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whole road: from idea to publication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cxnSp>
        <p:nvCxnSpPr>
          <p:cNvPr id="100" name="Line"/>
          <p:cNvCxnSpPr/>
          <p:nvPr/>
        </p:nvCxnSpPr>
        <p:spPr>
          <a:xfrm>
            <a:off x="1295400" y="2382040"/>
            <a:ext cx="9144000" cy="0"/>
          </a:xfrm>
          <a:prstGeom prst="straightConnector1">
            <a:avLst/>
          </a:prstGeom>
          <a:ln w="177800" cap="rnd">
            <a:solidFill>
              <a:srgbClr val="D5DDE1"/>
            </a:solidFill>
            <a:round/>
          </a:ln>
        </p:spPr>
      </p:cxnSp>
      <p:sp>
        <p:nvSpPr>
          <p:cNvPr id="101" name="Arc"/>
          <p:cNvSpPr/>
          <p:nvPr/>
        </p:nvSpPr>
        <p:spPr>
          <a:xfrm>
            <a:off x="9525000" y="2382040"/>
            <a:ext cx="1828800" cy="1828800"/>
          </a:xfrm>
          <a:prstGeom prst="arc">
            <a:avLst>
              <a:gd name="adj1" fmla="val 16200000"/>
              <a:gd name="adj2" fmla="val 5400000"/>
            </a:avLst>
          </a:prstGeom>
          <a:noFill/>
          <a:ln w="177800" cap="rnd">
            <a:solidFill>
              <a:srgbClr val="D5DDE1"/>
            </a:solidFill>
            <a:round/>
          </a:ln>
        </p:spPr>
      </p:sp>
      <p:cxnSp>
        <p:nvCxnSpPr>
          <p:cNvPr id="102" name="Line"/>
          <p:cNvCxnSpPr/>
          <p:nvPr/>
        </p:nvCxnSpPr>
        <p:spPr>
          <a:xfrm flipH="1">
            <a:off x="2209800" y="4210840"/>
            <a:ext cx="8229600" cy="0"/>
          </a:xfrm>
          <a:prstGeom prst="straightConnector1">
            <a:avLst/>
          </a:prstGeom>
          <a:ln w="177800" cap="rnd">
            <a:solidFill>
              <a:srgbClr val="D5DDE1"/>
            </a:solidFill>
            <a:round/>
          </a:ln>
        </p:spPr>
      </p:cxnSp>
      <p:sp>
        <p:nvSpPr>
          <p:cNvPr id="103" name="Ellipse"/>
          <p:cNvSpPr/>
          <p:nvPr/>
        </p:nvSpPr>
        <p:spPr>
          <a:xfrm>
            <a:off x="993648" y="2080288"/>
            <a:ext cx="603504" cy="603504"/>
          </a:xfrm>
          <a:prstGeom prst="ellipse">
            <a:avLst/>
          </a:prstGeom>
          <a:solidFill>
            <a:srgbClr val="0D7377"/>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1</a:t>
            </a:r>
          </a:p>
        </p:txBody>
      </p:sp>
      <p:sp>
        <p:nvSpPr>
          <p:cNvPr id="104" name="Text"/>
          <p:cNvSpPr/>
          <p:nvPr/>
        </p:nvSpPr>
        <p:spPr>
          <a:xfrm>
            <a:off x="3810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Question</a:t>
            </a:r>
          </a:p>
        </p:txBody>
      </p:sp>
      <p:sp>
        <p:nvSpPr>
          <p:cNvPr id="105" name="Ellipse"/>
          <p:cNvSpPr/>
          <p:nvPr/>
        </p:nvSpPr>
        <p:spPr>
          <a:xfrm>
            <a:off x="2822448" y="2080288"/>
            <a:ext cx="603504" cy="603504"/>
          </a:xfrm>
          <a:prstGeom prst="ellipse">
            <a:avLst/>
          </a:prstGeom>
          <a:solidFill>
            <a:srgbClr val="0B376C"/>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2</a:t>
            </a:r>
          </a:p>
        </p:txBody>
      </p:sp>
      <p:sp>
        <p:nvSpPr>
          <p:cNvPr id="106" name="Text"/>
          <p:cNvSpPr/>
          <p:nvPr/>
        </p:nvSpPr>
        <p:spPr>
          <a:xfrm>
            <a:off x="22098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Design and protocol</a:t>
            </a:r>
          </a:p>
        </p:txBody>
      </p:sp>
      <p:sp>
        <p:nvSpPr>
          <p:cNvPr id="107" name="Ellipse"/>
          <p:cNvSpPr/>
          <p:nvPr/>
        </p:nvSpPr>
        <p:spPr>
          <a:xfrm>
            <a:off x="4651248" y="20802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3</a:t>
            </a:r>
          </a:p>
        </p:txBody>
      </p:sp>
      <p:sp>
        <p:nvSpPr>
          <p:cNvPr id="108" name="Text"/>
          <p:cNvSpPr/>
          <p:nvPr/>
        </p:nvSpPr>
        <p:spPr>
          <a:xfrm>
            <a:off x="40386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Registration</a:t>
            </a:r>
          </a:p>
        </p:txBody>
      </p:sp>
      <p:sp>
        <p:nvSpPr>
          <p:cNvPr id="109" name="Ellipse"/>
          <p:cNvSpPr/>
          <p:nvPr/>
        </p:nvSpPr>
        <p:spPr>
          <a:xfrm>
            <a:off x="6480048" y="20802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4</a:t>
            </a:r>
          </a:p>
        </p:txBody>
      </p:sp>
      <p:sp>
        <p:nvSpPr>
          <p:cNvPr id="110" name="Text"/>
          <p:cNvSpPr/>
          <p:nvPr/>
        </p:nvSpPr>
        <p:spPr>
          <a:xfrm>
            <a:off x="58674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Ethics approval</a:t>
            </a:r>
          </a:p>
        </p:txBody>
      </p:sp>
      <p:sp>
        <p:nvSpPr>
          <p:cNvPr id="111" name="Ellipse"/>
          <p:cNvSpPr/>
          <p:nvPr/>
        </p:nvSpPr>
        <p:spPr>
          <a:xfrm>
            <a:off x="8308848" y="2080288"/>
            <a:ext cx="603504" cy="603504"/>
          </a:xfrm>
          <a:prstGeom prst="ellipse">
            <a:avLst/>
          </a:prstGeom>
          <a:solidFill>
            <a:srgbClr val="5FA39B"/>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5</a:t>
            </a:r>
          </a:p>
        </p:txBody>
      </p:sp>
      <p:sp>
        <p:nvSpPr>
          <p:cNvPr id="112" name="Text"/>
          <p:cNvSpPr/>
          <p:nvPr/>
        </p:nvSpPr>
        <p:spPr>
          <a:xfrm>
            <a:off x="76962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Data collection</a:t>
            </a:r>
          </a:p>
        </p:txBody>
      </p:sp>
      <p:sp>
        <p:nvSpPr>
          <p:cNvPr id="113" name="Ellipse"/>
          <p:cNvSpPr/>
          <p:nvPr/>
        </p:nvSpPr>
        <p:spPr>
          <a:xfrm>
            <a:off x="10137648" y="2080288"/>
            <a:ext cx="603504" cy="603504"/>
          </a:xfrm>
          <a:prstGeom prst="ellipse">
            <a:avLst/>
          </a:prstGeom>
          <a:solidFill>
            <a:srgbClr val="5FA39B"/>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6</a:t>
            </a:r>
          </a:p>
        </p:txBody>
      </p:sp>
      <p:sp>
        <p:nvSpPr>
          <p:cNvPr id="114" name="Text"/>
          <p:cNvSpPr/>
          <p:nvPr/>
        </p:nvSpPr>
        <p:spPr>
          <a:xfrm>
            <a:off x="9525000" y="1284760"/>
            <a:ext cx="1828800" cy="731520"/>
          </a:xfrm>
          <a:prstGeom prst="rect">
            <a:avLst/>
          </a:prstGeom>
          <a:noFill/>
          <a:ln>
            <a:noFill/>
          </a:ln>
        </p:spPr>
        <p:txBody>
          <a:bodyPr wrap="square" lIns="54864" tIns="54864" rIns="54864" bIns="54864" rtlCol="0" anchor="b">
            <a:noAutofit/>
          </a:bodyPr>
          <a:lstStyle/>
          <a:p>
            <a:pPr marL="0" indent="0" algn="ctr">
              <a:lnSpc>
                <a:spcPct val="100000"/>
              </a:lnSpc>
              <a:buNone/>
            </a:pPr>
            <a:r>
              <a:rPr lang="en-US" sz="1500" b="1" dirty="0">
                <a:solidFill>
                  <a:srgbClr val="1A1A1A"/>
                </a:solidFill>
                <a:latin typeface="Arial"/>
                <a:cs typeface="Arial"/>
              </a:rPr>
              <a:t>Analysis</a:t>
            </a:r>
          </a:p>
        </p:txBody>
      </p:sp>
      <p:sp>
        <p:nvSpPr>
          <p:cNvPr id="115" name="Ellipse"/>
          <p:cNvSpPr/>
          <p:nvPr/>
        </p:nvSpPr>
        <p:spPr>
          <a:xfrm>
            <a:off x="10137648" y="39090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7</a:t>
            </a:r>
          </a:p>
        </p:txBody>
      </p:sp>
      <p:sp>
        <p:nvSpPr>
          <p:cNvPr id="116" name="Text"/>
          <p:cNvSpPr/>
          <p:nvPr/>
        </p:nvSpPr>
        <p:spPr>
          <a:xfrm>
            <a:off x="94335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Writing</a:t>
            </a:r>
          </a:p>
        </p:txBody>
      </p:sp>
      <p:sp>
        <p:nvSpPr>
          <p:cNvPr id="117" name="Ellipse"/>
          <p:cNvSpPr/>
          <p:nvPr/>
        </p:nvSpPr>
        <p:spPr>
          <a:xfrm>
            <a:off x="8080248" y="39090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8</a:t>
            </a:r>
          </a:p>
        </p:txBody>
      </p:sp>
      <p:sp>
        <p:nvSpPr>
          <p:cNvPr id="118" name="Text"/>
          <p:cNvSpPr/>
          <p:nvPr/>
        </p:nvSpPr>
        <p:spPr>
          <a:xfrm>
            <a:off x="73761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Submission</a:t>
            </a:r>
          </a:p>
        </p:txBody>
      </p:sp>
      <p:sp>
        <p:nvSpPr>
          <p:cNvPr id="119" name="Ellipse"/>
          <p:cNvSpPr/>
          <p:nvPr/>
        </p:nvSpPr>
        <p:spPr>
          <a:xfrm>
            <a:off x="6022848" y="39090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9</a:t>
            </a:r>
          </a:p>
        </p:txBody>
      </p:sp>
      <p:sp>
        <p:nvSpPr>
          <p:cNvPr id="120" name="Text"/>
          <p:cNvSpPr/>
          <p:nvPr/>
        </p:nvSpPr>
        <p:spPr>
          <a:xfrm>
            <a:off x="53187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Peer review</a:t>
            </a:r>
          </a:p>
        </p:txBody>
      </p:sp>
      <p:sp>
        <p:nvSpPr>
          <p:cNvPr id="121" name="Ellipse"/>
          <p:cNvSpPr/>
          <p:nvPr/>
        </p:nvSpPr>
        <p:spPr>
          <a:xfrm>
            <a:off x="3965448" y="3909088"/>
            <a:ext cx="603504" cy="603504"/>
          </a:xfrm>
          <a:prstGeom prst="ellipse">
            <a:avLst/>
          </a:prstGeom>
          <a:solidFill>
            <a:srgbClr val="0070C0"/>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10</a:t>
            </a:r>
          </a:p>
        </p:txBody>
      </p:sp>
      <p:sp>
        <p:nvSpPr>
          <p:cNvPr id="122" name="Text"/>
          <p:cNvSpPr/>
          <p:nvPr/>
        </p:nvSpPr>
        <p:spPr>
          <a:xfrm>
            <a:off x="32613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Publication</a:t>
            </a:r>
          </a:p>
        </p:txBody>
      </p:sp>
      <p:sp>
        <p:nvSpPr>
          <p:cNvPr id="123" name="Ellipse"/>
          <p:cNvSpPr/>
          <p:nvPr/>
        </p:nvSpPr>
        <p:spPr>
          <a:xfrm>
            <a:off x="1908048" y="3909088"/>
            <a:ext cx="603504" cy="603504"/>
          </a:xfrm>
          <a:prstGeom prst="ellipse">
            <a:avLst/>
          </a:prstGeom>
          <a:solidFill>
            <a:srgbClr val="055F56"/>
          </a:solidFill>
          <a:ln w="31750">
            <a:solidFill>
              <a:srgbClr val="FFFFFF"/>
            </a:solidFill>
          </a:ln>
        </p:spPr>
        <p:txBody>
          <a:bodyPr wrap="square" lIns="54864" tIns="54864" rIns="54864" bIns="54864" rtlCol="0" anchor="ctr">
            <a:noAutofit/>
          </a:bodyPr>
          <a:lstStyle/>
          <a:p>
            <a:pPr marL="0" indent="0" algn="ctr">
              <a:lnSpc>
                <a:spcPct val="100000"/>
              </a:lnSpc>
              <a:buNone/>
            </a:pPr>
            <a:r>
              <a:rPr lang="en-US" sz="2000" b="1" dirty="0">
                <a:solidFill>
                  <a:srgbClr val="FFFFFF"/>
                </a:solidFill>
                <a:latin typeface="Arial"/>
                <a:cs typeface="Arial"/>
              </a:rPr>
              <a:t>11</a:t>
            </a:r>
          </a:p>
        </p:txBody>
      </p:sp>
      <p:sp>
        <p:nvSpPr>
          <p:cNvPr id="124" name="Text"/>
          <p:cNvSpPr/>
          <p:nvPr/>
        </p:nvSpPr>
        <p:spPr>
          <a:xfrm>
            <a:off x="1203960" y="4594888"/>
            <a:ext cx="2011680" cy="73152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b="1" dirty="0">
                <a:solidFill>
                  <a:srgbClr val="1A1A1A"/>
                </a:solidFill>
                <a:latin typeface="Arial"/>
                <a:cs typeface="Arial"/>
              </a:rPr>
              <a:t>Impact on patients</a:t>
            </a:r>
          </a:p>
        </p:txBody>
      </p:sp>
      <p:sp>
        <p:nvSpPr>
          <p:cNvPr id="125" name="Box"/>
          <p:cNvSpPr/>
          <p:nvPr/>
        </p:nvSpPr>
        <p:spPr>
          <a:xfrm>
            <a:off x="1158240" y="3122704"/>
            <a:ext cx="2103120" cy="347472"/>
          </a:xfrm>
          <a:prstGeom prst="roundRect">
            <a:avLst>
              <a:gd name="adj" fmla="val 50000"/>
            </a:avLst>
          </a:prstGeom>
          <a:solidFill>
            <a:srgbClr val="0D7377"/>
          </a:solidFill>
          <a:ln>
            <a:noFill/>
          </a:ln>
        </p:spPr>
        <p:txBody>
          <a:bodyPr wrap="square" lIns="18288" tIns="18288" rIns="18288" bIns="18288" rtlCol="0" anchor="ctr">
            <a:noAutofit/>
          </a:bodyPr>
          <a:lstStyle/>
          <a:p>
            <a:pPr marL="0" indent="0" algn="ctr">
              <a:lnSpc>
                <a:spcPct val="100000"/>
              </a:lnSpc>
              <a:buNone/>
            </a:pPr>
            <a:r>
              <a:rPr lang="en-US" sz="1300" b="1" dirty="0">
                <a:solidFill>
                  <a:srgbClr val="FFFFFF"/>
                </a:solidFill>
                <a:latin typeface="Arial"/>
                <a:cs typeface="Arial"/>
              </a:rPr>
              <a:t>Weeks 1-2  Ask and find</a:t>
            </a:r>
          </a:p>
        </p:txBody>
      </p:sp>
      <p:sp>
        <p:nvSpPr>
          <p:cNvPr id="126" name="Box"/>
          <p:cNvSpPr/>
          <p:nvPr/>
        </p:nvSpPr>
        <p:spPr>
          <a:xfrm>
            <a:off x="3352800" y="3122704"/>
            <a:ext cx="2103120" cy="347472"/>
          </a:xfrm>
          <a:prstGeom prst="roundRect">
            <a:avLst>
              <a:gd name="adj" fmla="val 50000"/>
            </a:avLst>
          </a:prstGeom>
          <a:solidFill>
            <a:srgbClr val="0B376C"/>
          </a:solidFill>
          <a:ln>
            <a:noFill/>
          </a:ln>
        </p:spPr>
        <p:txBody>
          <a:bodyPr wrap="square" lIns="18288" tIns="18288" rIns="18288" bIns="18288" rtlCol="0" anchor="ctr">
            <a:noAutofit/>
          </a:bodyPr>
          <a:lstStyle/>
          <a:p>
            <a:pPr marL="0" indent="0" algn="ctr">
              <a:lnSpc>
                <a:spcPct val="100000"/>
              </a:lnSpc>
              <a:buNone/>
            </a:pPr>
            <a:r>
              <a:rPr lang="en-US" sz="1300" b="1" dirty="0">
                <a:solidFill>
                  <a:srgbClr val="FFFFFF"/>
                </a:solidFill>
                <a:latin typeface="Arial"/>
                <a:cs typeface="Arial"/>
              </a:rPr>
              <a:t>Weeks 3-4  Design</a:t>
            </a:r>
          </a:p>
        </p:txBody>
      </p:sp>
      <p:sp>
        <p:nvSpPr>
          <p:cNvPr id="127" name="Box"/>
          <p:cNvSpPr/>
          <p:nvPr/>
        </p:nvSpPr>
        <p:spPr>
          <a:xfrm>
            <a:off x="5547360" y="3122704"/>
            <a:ext cx="2103120" cy="347472"/>
          </a:xfrm>
          <a:prstGeom prst="roundRect">
            <a:avLst>
              <a:gd name="adj" fmla="val 50000"/>
            </a:avLst>
          </a:prstGeom>
          <a:solidFill>
            <a:srgbClr val="5FA39B"/>
          </a:solidFill>
          <a:ln>
            <a:noFill/>
          </a:ln>
        </p:spPr>
        <p:txBody>
          <a:bodyPr wrap="square" lIns="18288" tIns="18288" rIns="18288" bIns="18288" rtlCol="0" anchor="ctr">
            <a:noAutofit/>
          </a:bodyPr>
          <a:lstStyle/>
          <a:p>
            <a:pPr marL="0" indent="0" algn="ctr">
              <a:lnSpc>
                <a:spcPct val="100000"/>
              </a:lnSpc>
              <a:buNone/>
            </a:pPr>
            <a:r>
              <a:rPr lang="en-US" sz="1300" b="1" dirty="0">
                <a:solidFill>
                  <a:srgbClr val="FFFFFF"/>
                </a:solidFill>
                <a:latin typeface="Arial"/>
                <a:cs typeface="Arial"/>
              </a:rPr>
              <a:t>Weeks 5-6  Measure</a:t>
            </a:r>
          </a:p>
        </p:txBody>
      </p:sp>
      <p:sp>
        <p:nvSpPr>
          <p:cNvPr id="128" name="Box"/>
          <p:cNvSpPr/>
          <p:nvPr/>
        </p:nvSpPr>
        <p:spPr>
          <a:xfrm>
            <a:off x="7741920" y="3122704"/>
            <a:ext cx="2103120" cy="347472"/>
          </a:xfrm>
          <a:prstGeom prst="roundRect">
            <a:avLst>
              <a:gd name="adj" fmla="val 50000"/>
            </a:avLst>
          </a:prstGeom>
          <a:solidFill>
            <a:srgbClr val="0070C0"/>
          </a:solidFill>
          <a:ln>
            <a:noFill/>
          </a:ln>
        </p:spPr>
        <p:txBody>
          <a:bodyPr wrap="square" lIns="18288" tIns="18288" rIns="18288" bIns="18288" rtlCol="0" anchor="ctr">
            <a:noAutofit/>
          </a:bodyPr>
          <a:lstStyle/>
          <a:p>
            <a:pPr marL="0" indent="0" algn="ctr">
              <a:lnSpc>
                <a:spcPct val="100000"/>
              </a:lnSpc>
              <a:buNone/>
            </a:pPr>
            <a:r>
              <a:rPr lang="en-US" sz="1300" b="1" dirty="0">
                <a:solidFill>
                  <a:srgbClr val="FFFFFF"/>
                </a:solidFill>
                <a:latin typeface="Arial"/>
                <a:cs typeface="Arial"/>
              </a:rPr>
              <a:t>Weeks 7-8  Publish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This course walks the whole road. Your proposal covers stops 1 to 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Break</a:t>
            </a:r>
          </a:p>
          <a:p>
            <a:pPr marL="0" indent="0" algn="ctr">
              <a:spcBef>
                <a:spcPts val="600"/>
              </a:spcBef>
              <a:buNone/>
            </a:pPr>
            <a:r>
              <a:rPr lang="en-US" sz="2400" dirty="0">
                <a:solidFill>
                  <a:srgbClr val="595959"/>
                </a:solidFill>
                <a:latin typeface="Arial"/>
                <a:cs typeface="Arial"/>
              </a:rPr>
              <a:t>15 min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1.2  From problem to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A good question is half of the answer.</a:t>
            </a:r>
          </a:p>
          <a:p>
            <a:pPr marL="0" indent="0" algn="ctr">
              <a:spcBef>
                <a:spcPts val="1200"/>
              </a:spcBef>
              <a:buNone/>
            </a:pPr>
            <a:r>
              <a:rPr lang="en-US" sz="1900" i="1" dirty="0">
                <a:solidFill>
                  <a:srgbClr val="595959"/>
                </a:solidFill>
                <a:latin typeface="Arial"/>
                <a:cs typeface="Arial"/>
              </a:rPr>
              <a:t>40 minutes: PICO(T) and PECO, question types, FINER, then a whole-class task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Where do research questions come from?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First check: is the answer already known? The literature search tells you (Session 2).</a:t>
            </a:r>
          </a:p>
        </p:txBody>
      </p:sp>
      <p:sp>
        <p:nvSpPr>
          <p:cNvPr id="70" name="CardHead"/>
          <p:cNvSpPr/>
          <p:nvPr/>
        </p:nvSpPr>
        <p:spPr>
          <a:xfrm>
            <a:off x="457200" y="1859273"/>
            <a:ext cx="54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Where questions come from</a:t>
            </a:r>
          </a:p>
        </p:txBody>
      </p:sp>
      <p:sp>
        <p:nvSpPr>
          <p:cNvPr id="71" name="CardBody"/>
          <p:cNvSpPr/>
          <p:nvPr/>
        </p:nvSpPr>
        <p:spPr>
          <a:xfrm>
            <a:off x="457200" y="2499273"/>
            <a:ext cx="5438800" cy="2352180"/>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800" dirty="0">
                <a:solidFill>
                  <a:srgbClr val="000000"/>
                </a:solidFill>
                <a:latin typeface="Arial"/>
                <a:cs typeface="Arial"/>
              </a:rPr>
              <a:t>Bedside doubt: "Why do we do it this way?"</a:t>
            </a:r>
          </a:p>
          <a:p>
            <a:pPr marL="274320" indent="-274320" algn="l">
              <a:lnSpc>
                <a:spcPct val="104000"/>
              </a:lnSpc>
              <a:spcBef>
                <a:spcPts val="400"/>
              </a:spcBef>
              <a:buFont typeface="Arial"/>
              <a:buChar char="•"/>
            </a:pPr>
            <a:r>
              <a:rPr lang="en-US" sz="1800" dirty="0">
                <a:solidFill>
                  <a:srgbClr val="000000"/>
                </a:solidFill>
                <a:latin typeface="Arial"/>
                <a:cs typeface="Arial"/>
              </a:rPr>
              <a:t>Colleagues who do it differently</a:t>
            </a:r>
          </a:p>
          <a:p>
            <a:pPr marL="274320" indent="-274320" algn="l">
              <a:lnSpc>
                <a:spcPct val="104000"/>
              </a:lnSpc>
              <a:spcBef>
                <a:spcPts val="400"/>
              </a:spcBef>
              <a:buFont typeface="Arial"/>
              <a:buChar char="•"/>
            </a:pPr>
            <a:r>
              <a:rPr lang="en-US" sz="1800" dirty="0">
                <a:solidFill>
                  <a:srgbClr val="000000"/>
                </a:solidFill>
                <a:latin typeface="Arial"/>
                <a:cs typeface="Arial"/>
              </a:rPr>
              <a:t>Incident and registry data</a:t>
            </a:r>
          </a:p>
          <a:p>
            <a:pPr marL="274320" indent="-274320" algn="l">
              <a:lnSpc>
                <a:spcPct val="104000"/>
              </a:lnSpc>
              <a:spcBef>
                <a:spcPts val="400"/>
              </a:spcBef>
              <a:buFont typeface="Arial"/>
              <a:buChar char="•"/>
            </a:pPr>
            <a:r>
              <a:rPr lang="en-US" sz="1800" dirty="0">
                <a:solidFill>
                  <a:srgbClr val="000000"/>
                </a:solidFill>
                <a:latin typeface="Arial"/>
                <a:cs typeface="Arial"/>
              </a:rPr>
              <a:t>Guidelines with "low-certainty evidence"</a:t>
            </a:r>
          </a:p>
          <a:p>
            <a:pPr marL="274320" indent="-274320" algn="l">
              <a:lnSpc>
                <a:spcPct val="104000"/>
              </a:lnSpc>
              <a:spcBef>
                <a:spcPts val="400"/>
              </a:spcBef>
              <a:buFont typeface="Arial"/>
              <a:buChar char="•"/>
            </a:pPr>
            <a:r>
              <a:rPr lang="en-US" sz="1800" dirty="0">
                <a:solidFill>
                  <a:srgbClr val="000000"/>
                </a:solidFill>
                <a:latin typeface="Arial"/>
                <a:cs typeface="Arial"/>
              </a:rPr>
              <a:t>Papers that end "more research is needed"</a:t>
            </a:r>
          </a:p>
          <a:p>
            <a:pPr marL="274320" indent="-274320" algn="l">
              <a:lnSpc>
                <a:spcPct val="104000"/>
              </a:lnSpc>
              <a:spcBef>
                <a:spcPts val="400"/>
              </a:spcBef>
              <a:buFont typeface="Arial"/>
              <a:buChar char="•"/>
            </a:pPr>
            <a:r>
              <a:rPr lang="en-US" sz="1800" dirty="0">
                <a:solidFill>
                  <a:srgbClr val="000000"/>
                </a:solidFill>
                <a:latin typeface="Arial"/>
                <a:cs typeface="Arial"/>
              </a:rPr>
              <a:t>Questions from patients and families</a:t>
            </a:r>
          </a:p>
        </p:txBody>
      </p:sp>
      <p:sp>
        <p:nvSpPr>
          <p:cNvPr id="72" name="CardHead"/>
          <p:cNvSpPr/>
          <p:nvPr/>
        </p:nvSpPr>
        <p:spPr>
          <a:xfrm>
            <a:off x="6096000" y="1859273"/>
            <a:ext cx="271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Known</a:t>
            </a:r>
          </a:p>
        </p:txBody>
      </p:sp>
      <p:sp>
        <p:nvSpPr>
          <p:cNvPr id="73" name="CardBody"/>
          <p:cNvSpPr/>
          <p:nvPr/>
        </p:nvSpPr>
        <p:spPr>
          <a:xfrm>
            <a:off x="6096000" y="2499273"/>
            <a:ext cx="2719400" cy="23521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b="1" dirty="0">
                <a:solidFill>
                  <a:srgbClr val="000000"/>
                </a:solidFill>
                <a:latin typeface="Arial"/>
                <a:cs typeface="Arial"/>
              </a:rPr>
              <a:t>Apply it</a:t>
            </a:r>
          </a:p>
          <a:p>
            <a:pPr marL="0" indent="0" algn="ctr">
              <a:lnSpc>
                <a:spcPct val="104000"/>
              </a:lnSpc>
              <a:spcBef>
                <a:spcPts val="400"/>
              </a:spcBef>
              <a:buNone/>
            </a:pPr>
            <a:r>
              <a:rPr lang="en-US" sz="1800" dirty="0">
                <a:solidFill>
                  <a:srgbClr val="000000"/>
                </a:solidFill>
                <a:latin typeface="Arial"/>
                <a:cs typeface="Arial"/>
              </a:rPr>
              <a:t>Update the local guideline or protocol</a:t>
            </a:r>
          </a:p>
        </p:txBody>
      </p:sp>
      <p:sp>
        <p:nvSpPr>
          <p:cNvPr id="74" name="CardHead"/>
          <p:cNvSpPr/>
          <p:nvPr/>
        </p:nvSpPr>
        <p:spPr>
          <a:xfrm>
            <a:off x="9015400" y="1859273"/>
            <a:ext cx="271940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Not known</a:t>
            </a:r>
          </a:p>
        </p:txBody>
      </p:sp>
      <p:sp>
        <p:nvSpPr>
          <p:cNvPr id="75" name="CardBody"/>
          <p:cNvSpPr/>
          <p:nvPr/>
        </p:nvSpPr>
        <p:spPr>
          <a:xfrm>
            <a:off x="9015400" y="2499273"/>
            <a:ext cx="2719400" cy="23521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b="1" dirty="0">
                <a:solidFill>
                  <a:srgbClr val="000000"/>
                </a:solidFill>
                <a:latin typeface="Arial"/>
                <a:cs typeface="Arial"/>
              </a:rPr>
              <a:t>Research question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the answer is known, apply it. If it is not, you have a research question.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PICO(T): our running example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In adults with septic shock in the ICU, does a restrictive fluid strategy, compared with usual care, reduce 28-day mortality?</a:t>
            </a:r>
          </a:p>
        </p:txBody>
      </p:sp>
      <p:sp>
        <p:nvSpPr>
          <p:cNvPr id="70" name="CardHead"/>
          <p:cNvSpPr/>
          <p:nvPr/>
        </p:nvSpPr>
        <p:spPr>
          <a:xfrm>
            <a:off x="457200" y="2307864"/>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P  Population</a:t>
            </a:r>
          </a:p>
        </p:txBody>
      </p:sp>
      <p:sp>
        <p:nvSpPr>
          <p:cNvPr id="71" name="CardBody"/>
          <p:cNvSpPr/>
          <p:nvPr/>
        </p:nvSpPr>
        <p:spPr>
          <a:xfrm>
            <a:off x="457200" y="2947864"/>
            <a:ext cx="209552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Adults (18+) with septic shock in the ICU</a:t>
            </a:r>
          </a:p>
        </p:txBody>
      </p:sp>
      <p:sp>
        <p:nvSpPr>
          <p:cNvPr id="72" name="CardHead"/>
          <p:cNvSpPr/>
          <p:nvPr/>
        </p:nvSpPr>
        <p:spPr>
          <a:xfrm>
            <a:off x="2752720" y="2307864"/>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I  Intervention</a:t>
            </a:r>
          </a:p>
        </p:txBody>
      </p:sp>
      <p:sp>
        <p:nvSpPr>
          <p:cNvPr id="73" name="CardBody"/>
          <p:cNvSpPr/>
          <p:nvPr/>
        </p:nvSpPr>
        <p:spPr>
          <a:xfrm>
            <a:off x="2752720" y="2947864"/>
            <a:ext cx="209552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Restrictive fluid strategy</a:t>
            </a:r>
          </a:p>
        </p:txBody>
      </p:sp>
      <p:sp>
        <p:nvSpPr>
          <p:cNvPr id="74" name="CardHead"/>
          <p:cNvSpPr/>
          <p:nvPr/>
        </p:nvSpPr>
        <p:spPr>
          <a:xfrm>
            <a:off x="5048240" y="2307864"/>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  Comparison</a:t>
            </a:r>
          </a:p>
        </p:txBody>
      </p:sp>
      <p:sp>
        <p:nvSpPr>
          <p:cNvPr id="75" name="CardBody"/>
          <p:cNvSpPr/>
          <p:nvPr/>
        </p:nvSpPr>
        <p:spPr>
          <a:xfrm>
            <a:off x="5048240" y="2947864"/>
            <a:ext cx="209552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Usual care (standard fluids)</a:t>
            </a:r>
          </a:p>
        </p:txBody>
      </p:sp>
      <p:sp>
        <p:nvSpPr>
          <p:cNvPr id="76" name="CardHead"/>
          <p:cNvSpPr/>
          <p:nvPr/>
        </p:nvSpPr>
        <p:spPr>
          <a:xfrm>
            <a:off x="7343760" y="2307864"/>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O  Outcome</a:t>
            </a:r>
          </a:p>
        </p:txBody>
      </p:sp>
      <p:sp>
        <p:nvSpPr>
          <p:cNvPr id="77" name="CardBody"/>
          <p:cNvSpPr/>
          <p:nvPr/>
        </p:nvSpPr>
        <p:spPr>
          <a:xfrm>
            <a:off x="7343760" y="2947864"/>
            <a:ext cx="209552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Death from any cause</a:t>
            </a:r>
          </a:p>
        </p:txBody>
      </p:sp>
      <p:sp>
        <p:nvSpPr>
          <p:cNvPr id="78" name="CardHead"/>
          <p:cNvSpPr/>
          <p:nvPr/>
        </p:nvSpPr>
        <p:spPr>
          <a:xfrm>
            <a:off x="9639280" y="2307864"/>
            <a:ext cx="2095520" cy="640000"/>
          </a:xfrm>
          <a:prstGeom prst="rect">
            <a:avLst/>
          </a:prstGeom>
          <a:solidFill>
            <a:srgbClr val="8A99A3"/>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  Time</a:t>
            </a:r>
          </a:p>
        </p:txBody>
      </p:sp>
      <p:sp>
        <p:nvSpPr>
          <p:cNvPr id="79" name="CardBody"/>
          <p:cNvSpPr/>
          <p:nvPr/>
        </p:nvSpPr>
        <p:spPr>
          <a:xfrm>
            <a:off x="9639280" y="2947864"/>
            <a:ext cx="209552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Within 28 days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Every session we come back to this one question.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Three more examples: PICO, PECO and P + 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53680"/>
          <a:ext cx="11277600" cy="3188960"/>
        </p:xfrm>
        <a:graphic>
          <a:graphicData uri="http://schemas.openxmlformats.org/drawingml/2006/table">
            <a:tbl>
              <a:tblPr firstRow="1" bandRow="1">
                <a:tableStyleId>{5C22544A-7EE6-4342-B048-85BDC9FD1C3A}</a:tableStyleId>
              </a:tblPr>
              <a:tblGrid>
                <a:gridCol w="2182761"/>
                <a:gridCol w="2037243"/>
                <a:gridCol w="2037243"/>
                <a:gridCol w="1527932"/>
                <a:gridCol w="2037243"/>
                <a:gridCol w="1455178"/>
              </a:tblGrid>
              <a:tr h="385760">
                <a:tc>
                  <a:txBody>
                    <a:bodyPr/>
                    <a:lstStyle/>
                    <a:p>
                      <a:pPr algn="l"/>
                      <a:r>
                        <a:rPr lang="en-US" sz="18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800" b="1" dirty="0">
                          <a:solidFill>
                            <a:srgbClr val="FFFFFF"/>
                          </a:solidFill>
                          <a:latin typeface="Arial"/>
                          <a:cs typeface="Arial"/>
                        </a:rPr>
                        <a:t>P</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I / E</a:t>
                      </a:r>
                    </a:p>
                  </a:txBody>
                  <a:tcPr marL="73152" marR="73152" marT="45720" marB="45720" anchor="ctr">
                    <a:solidFill>
                      <a:srgbClr val="0B376C"/>
                    </a:solidFill>
                  </a:tcPr>
                </a:tc>
                <a:tc>
                  <a:txBody>
                    <a:bodyPr/>
                    <a:lstStyle/>
                    <a:p>
                      <a:pPr algn="l"/>
                      <a:r>
                        <a:rPr lang="en-US" sz="1800" b="1" dirty="0">
                          <a:solidFill>
                            <a:srgbClr val="FFFFFF"/>
                          </a:solidFill>
                          <a:latin typeface="Arial"/>
                          <a:cs typeface="Arial"/>
                        </a:rPr>
                        <a:t>C</a:t>
                      </a:r>
                    </a:p>
                  </a:txBody>
                  <a:tcPr marL="73152" marR="73152" marT="45720" marB="45720" anchor="ctr">
                    <a:solidFill>
                      <a:srgbClr val="5FA39B"/>
                    </a:solidFill>
                  </a:tcPr>
                </a:tc>
                <a:tc>
                  <a:txBody>
                    <a:bodyPr/>
                    <a:lstStyle/>
                    <a:p>
                      <a:pPr algn="l"/>
                      <a:r>
                        <a:rPr lang="en-US" sz="1800" b="1" dirty="0">
                          <a:solidFill>
                            <a:srgbClr val="FFFFFF"/>
                          </a:solidFill>
                          <a:latin typeface="Arial"/>
                          <a:cs typeface="Arial"/>
                        </a:rPr>
                        <a:t>O</a:t>
                      </a:r>
                    </a:p>
                  </a:txBody>
                  <a:tcPr marL="73152" marR="73152" marT="45720" marB="45720" anchor="ctr">
                    <a:solidFill>
                      <a:srgbClr val="0070C0"/>
                    </a:solidFill>
                  </a:tcPr>
                </a:tc>
                <a:tc>
                  <a:txBody>
                    <a:bodyPr/>
                    <a:lstStyle/>
                    <a:p>
                      <a:pPr algn="l"/>
                      <a:r>
                        <a:rPr lang="en-US" sz="1800" b="1" dirty="0">
                          <a:solidFill>
                            <a:srgbClr val="FFFFFF"/>
                          </a:solidFill>
                          <a:latin typeface="Arial"/>
                          <a:cs typeface="Arial"/>
                        </a:rPr>
                        <a:t>T</a:t>
                      </a:r>
                    </a:p>
                  </a:txBody>
                  <a:tcPr marL="73152" marR="73152" marT="45720" marB="45720" anchor="ctr">
                    <a:solidFill>
                      <a:srgbClr val="8A99A3"/>
                    </a:solidFill>
                  </a:tcPr>
                </a:tc>
              </a:tr>
              <a:tr h="934400">
                <a:tc>
                  <a:txBody>
                    <a:bodyPr/>
                    <a:lstStyle/>
                    <a:p>
                      <a:pPr algn="l"/>
                      <a:r>
                        <a:rPr lang="en-US" sz="1800" b="1" dirty="0">
                          <a:solidFill>
                            <a:srgbClr val="000000"/>
                          </a:solidFill>
                          <a:latin typeface="Arial"/>
                          <a:cs typeface="Arial"/>
                        </a:rPr>
                        <a:t>Treatment (PICO)</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Ventilated adults in the ICU</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Twice-daily bed-head checklist</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Usual care</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Ventilator-associated pneumonia</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ICU day 28</a:t>
                      </a:r>
                    </a:p>
                  </a:txBody>
                  <a:tcPr marL="73152" marR="73152" marT="45720" marB="45720" anchor="ctr">
                    <a:solidFill>
                      <a:srgbClr val="FFFFFF"/>
                    </a:solidFill>
                  </a:tcPr>
                </a:tc>
              </a:tr>
              <a:tr h="934400">
                <a:tc>
                  <a:txBody>
                    <a:bodyPr/>
                    <a:lstStyle/>
                    <a:p>
                      <a:pPr algn="l"/>
                      <a:r>
                        <a:rPr lang="en-US" sz="1800" b="1" dirty="0">
                          <a:solidFill>
                            <a:srgbClr val="000000"/>
                          </a:solidFill>
                          <a:latin typeface="Arial"/>
                          <a:cs typeface="Arial"/>
                        </a:rPr>
                        <a:t>Risk factor (PECO)</a:t>
                      </a:r>
                    </a:p>
                    <a:p>
                      <a:pPr algn="l"/>
                      <a:r>
                        <a:rPr lang="en-US" sz="1800" b="1" dirty="0">
                          <a:solidFill>
                            <a:srgbClr val="000000"/>
                          </a:solidFill>
                          <a:latin typeface="Arial"/>
                          <a:cs typeface="Arial"/>
                        </a:rPr>
                        <a:t>E = Exposure</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Adults on the medical ward</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Obesity (BMI 30+)</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BMI under 30</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New pressure injury</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During admission</a:t>
                      </a:r>
                    </a:p>
                  </a:txBody>
                  <a:tcPr marL="73152" marR="73152" marT="45720" marB="45720" anchor="ctr">
                    <a:solidFill>
                      <a:srgbClr val="F5F9FA"/>
                    </a:solidFill>
                  </a:tcPr>
                </a:tc>
              </a:tr>
              <a:tr h="934400">
                <a:tc>
                  <a:txBody>
                    <a:bodyPr/>
                    <a:lstStyle/>
                    <a:p>
                      <a:pPr algn="l"/>
                      <a:r>
                        <a:rPr lang="en-US" sz="1800" b="1" dirty="0">
                          <a:solidFill>
                            <a:srgbClr val="000000"/>
                          </a:solidFill>
                          <a:latin typeface="Arial"/>
                          <a:cs typeface="Arial"/>
                        </a:rPr>
                        <a:t>How common? (P + O)</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Adults 65+ after hip surgery</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Delirium</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First 7 days</a:t>
                      </a:r>
                    </a:p>
                  </a:txBody>
                  <a:tcPr marL="73152" marR="73152" marT="45720" marB="45720" anchor="ctr">
                    <a:solidFill>
                      <a:srgbClr val="FFFFFF"/>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PECO: E = Exposure, used when we cannot assign the factor (e.g. obesity).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spot the PICO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Paper 1's question: 'In adults with septic shock in the first 24 hours of vasopressors, does restricting non-resuscitative fluids, compared with usual care, reduce cumulative fluid balance at day 5?'</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Poll: which words are the outcome (O)?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Then two or three people say the population (P)</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Poll options</a:t>
            </a:r>
          </a:p>
          <a:p>
            <a:pPr marL="0" indent="0" algn="ctr">
              <a:lnSpc>
                <a:spcPct val="104000"/>
              </a:lnSpc>
              <a:spcBef>
                <a:spcPts val="300"/>
              </a:spcBef>
              <a:buNone/>
            </a:pPr>
            <a:r>
              <a:rPr lang="en-US" sz="1500" dirty="0">
                <a:solidFill>
                  <a:srgbClr val="000000"/>
                </a:solidFill>
                <a:latin typeface="Arial"/>
                <a:cs typeface="Arial"/>
              </a:rPr>
              <a:t>A: septic shock</a:t>
            </a:r>
          </a:p>
          <a:p>
            <a:pPr marL="0" indent="0" algn="ctr">
              <a:lnSpc>
                <a:spcPct val="104000"/>
              </a:lnSpc>
              <a:spcBef>
                <a:spcPts val="300"/>
              </a:spcBef>
              <a:buNone/>
            </a:pPr>
            <a:r>
              <a:rPr lang="en-US" sz="1500" dirty="0">
                <a:solidFill>
                  <a:srgbClr val="000000"/>
                </a:solidFill>
                <a:latin typeface="Arial"/>
                <a:cs typeface="Arial"/>
              </a:rPr>
              <a:t>B: restricting non-resuscitative fluids</a:t>
            </a:r>
          </a:p>
          <a:p>
            <a:pPr marL="0" indent="0" algn="ctr">
              <a:lnSpc>
                <a:spcPct val="104000"/>
              </a:lnSpc>
              <a:spcBef>
                <a:spcPts val="300"/>
              </a:spcBef>
              <a:buNone/>
            </a:pPr>
            <a:r>
              <a:rPr lang="en-US" sz="1500" dirty="0">
                <a:solidFill>
                  <a:srgbClr val="000000"/>
                </a:solidFill>
                <a:latin typeface="Arial"/>
                <a:cs typeface="Arial"/>
              </a:rPr>
              <a:t>C: cumulative fluid balance</a:t>
            </a:r>
          </a:p>
          <a:p>
            <a:pPr marL="0" indent="0" algn="ctr">
              <a:lnSpc>
                <a:spcPct val="104000"/>
              </a:lnSpc>
              <a:spcBef>
                <a:spcPts val="300"/>
              </a:spcBef>
              <a:buNone/>
            </a:pPr>
            <a:r>
              <a:rPr lang="en-US" sz="1500" dirty="0">
                <a:solidFill>
                  <a:srgbClr val="000000"/>
                </a:solidFill>
                <a:latin typeface="Arial"/>
                <a:cs typeface="Arial"/>
              </a:rPr>
              <a:t>D: day 5</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Poll answer, then P said aloud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Answer: spot the PICO in Paper 1's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98256"/>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P</a:t>
            </a:r>
          </a:p>
        </p:txBody>
      </p:sp>
      <p:sp>
        <p:nvSpPr>
          <p:cNvPr id="71" name="CardBody"/>
          <p:cNvSpPr/>
          <p:nvPr/>
        </p:nvSpPr>
        <p:spPr>
          <a:xfrm>
            <a:off x="45720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Adults with septic shock</a:t>
            </a:r>
          </a:p>
          <a:p>
            <a:pPr marL="0" indent="0" algn="ctr">
              <a:lnSpc>
                <a:spcPct val="104000"/>
              </a:lnSpc>
              <a:spcBef>
                <a:spcPts val="400"/>
              </a:spcBef>
              <a:buNone/>
            </a:pPr>
            <a:r>
              <a:rPr lang="en-US" sz="1450" dirty="0">
                <a:solidFill>
                  <a:srgbClr val="000000"/>
                </a:solidFill>
                <a:latin typeface="Arial"/>
                <a:cs typeface="Arial"/>
              </a:rPr>
              <a:t>First 24 hours of vasopressors</a:t>
            </a:r>
          </a:p>
        </p:txBody>
      </p:sp>
      <p:sp>
        <p:nvSpPr>
          <p:cNvPr id="72" name="CardHead"/>
          <p:cNvSpPr/>
          <p:nvPr/>
        </p:nvSpPr>
        <p:spPr>
          <a:xfrm>
            <a:off x="2752720" y="1898256"/>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I</a:t>
            </a:r>
          </a:p>
        </p:txBody>
      </p:sp>
      <p:sp>
        <p:nvSpPr>
          <p:cNvPr id="73" name="CardBody"/>
          <p:cNvSpPr/>
          <p:nvPr/>
        </p:nvSpPr>
        <p:spPr>
          <a:xfrm>
            <a:off x="275272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Restricting non-resuscitative fluids</a:t>
            </a:r>
          </a:p>
        </p:txBody>
      </p:sp>
      <p:sp>
        <p:nvSpPr>
          <p:cNvPr id="74" name="CardHead"/>
          <p:cNvSpPr/>
          <p:nvPr/>
        </p:nvSpPr>
        <p:spPr>
          <a:xfrm>
            <a:off x="5048240" y="1898256"/>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a:t>
            </a:r>
          </a:p>
        </p:txBody>
      </p:sp>
      <p:sp>
        <p:nvSpPr>
          <p:cNvPr id="75" name="CardBody"/>
          <p:cNvSpPr/>
          <p:nvPr/>
        </p:nvSpPr>
        <p:spPr>
          <a:xfrm>
            <a:off x="504824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Usual care</a:t>
            </a:r>
          </a:p>
        </p:txBody>
      </p:sp>
      <p:sp>
        <p:nvSpPr>
          <p:cNvPr id="76" name="CardHead"/>
          <p:cNvSpPr/>
          <p:nvPr/>
        </p:nvSpPr>
        <p:spPr>
          <a:xfrm>
            <a:off x="7343760" y="1898256"/>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O</a:t>
            </a:r>
          </a:p>
        </p:txBody>
      </p:sp>
      <p:sp>
        <p:nvSpPr>
          <p:cNvPr id="77" name="CardBody"/>
          <p:cNvSpPr/>
          <p:nvPr/>
        </p:nvSpPr>
        <p:spPr>
          <a:xfrm>
            <a:off x="734376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Cumulative fluid balance</a:t>
            </a:r>
          </a:p>
        </p:txBody>
      </p:sp>
      <p:sp>
        <p:nvSpPr>
          <p:cNvPr id="78" name="CardHead"/>
          <p:cNvSpPr/>
          <p:nvPr/>
        </p:nvSpPr>
        <p:spPr>
          <a:xfrm>
            <a:off x="9639280" y="1898256"/>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a:t>
            </a:r>
          </a:p>
        </p:txBody>
      </p:sp>
      <p:sp>
        <p:nvSpPr>
          <p:cNvPr id="79" name="CardBody"/>
          <p:cNvSpPr/>
          <p:nvPr/>
        </p:nvSpPr>
        <p:spPr>
          <a:xfrm>
            <a:off x="9639280" y="2538256"/>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Day 5</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condition that brings patients in (septic shock) is part of P, not 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Two families of questions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The question decides the design (more in Session 3).</a:t>
            </a:r>
          </a:p>
        </p:txBody>
      </p:sp>
      <p:sp>
        <p:nvSpPr>
          <p:cNvPr id="70" name="CardHead"/>
          <p:cNvSpPr/>
          <p:nvPr/>
        </p:nvSpPr>
        <p:spPr>
          <a:xfrm>
            <a:off x="457200" y="2018553"/>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Descriptive</a:t>
            </a:r>
          </a:p>
        </p:txBody>
      </p:sp>
      <p:sp>
        <p:nvSpPr>
          <p:cNvPr id="71" name="CardBody"/>
          <p:cNvSpPr/>
          <p:nvPr/>
        </p:nvSpPr>
        <p:spPr>
          <a:xfrm>
            <a:off x="457200" y="2658553"/>
            <a:ext cx="3625866" cy="187434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What? How many? Who?</a:t>
            </a:r>
          </a:p>
          <a:p>
            <a:pPr marL="0" indent="0" algn="ctr">
              <a:lnSpc>
                <a:spcPct val="104000"/>
              </a:lnSpc>
              <a:spcBef>
                <a:spcPts val="400"/>
              </a:spcBef>
              <a:buNone/>
            </a:pPr>
            <a:r>
              <a:rPr lang="en-US" sz="1750" dirty="0">
                <a:solidFill>
                  <a:srgbClr val="000000"/>
                </a:solidFill>
                <a:latin typeface="Arial"/>
                <a:cs typeface="Arial"/>
              </a:rPr>
              <a:t>"How many of our septic shock patients have a positive fluid balance on day 3?"</a:t>
            </a:r>
          </a:p>
          <a:p>
            <a:pPr marL="0" indent="0" algn="ctr">
              <a:lnSpc>
                <a:spcPct val="104000"/>
              </a:lnSpc>
              <a:spcBef>
                <a:spcPts val="400"/>
              </a:spcBef>
              <a:buNone/>
            </a:pPr>
            <a:r>
              <a:rPr lang="en-US" sz="1750" b="1" dirty="0">
                <a:solidFill>
                  <a:srgbClr val="000000"/>
                </a:solidFill>
                <a:latin typeface="Arial"/>
                <a:cs typeface="Arial"/>
              </a:rPr>
              <a:t>Case series, cross-sectional</a:t>
            </a:r>
          </a:p>
        </p:txBody>
      </p:sp>
      <p:sp>
        <p:nvSpPr>
          <p:cNvPr id="72" name="CardHead"/>
          <p:cNvSpPr/>
          <p:nvPr/>
        </p:nvSpPr>
        <p:spPr>
          <a:xfrm>
            <a:off x="4283066" y="2018553"/>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Analytical: observe</a:t>
            </a:r>
          </a:p>
        </p:txBody>
      </p:sp>
      <p:sp>
        <p:nvSpPr>
          <p:cNvPr id="73" name="CardBody"/>
          <p:cNvSpPr/>
          <p:nvPr/>
        </p:nvSpPr>
        <p:spPr>
          <a:xfrm>
            <a:off x="4283066" y="2658553"/>
            <a:ext cx="3625866" cy="187434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Is X linked to Y?</a:t>
            </a:r>
          </a:p>
          <a:p>
            <a:pPr marL="0" indent="0" algn="ctr">
              <a:lnSpc>
                <a:spcPct val="104000"/>
              </a:lnSpc>
              <a:spcBef>
                <a:spcPts val="400"/>
              </a:spcBef>
              <a:buNone/>
            </a:pPr>
            <a:r>
              <a:rPr lang="en-US" sz="1750" dirty="0">
                <a:solidFill>
                  <a:srgbClr val="000000"/>
                </a:solidFill>
                <a:latin typeface="Arial"/>
                <a:cs typeface="Arial"/>
              </a:rPr>
              <a:t>"Is a positive fluid balance associated with death?"</a:t>
            </a:r>
          </a:p>
          <a:p>
            <a:pPr marL="0" indent="0" algn="ctr">
              <a:lnSpc>
                <a:spcPct val="104000"/>
              </a:lnSpc>
              <a:spcBef>
                <a:spcPts val="400"/>
              </a:spcBef>
              <a:buNone/>
            </a:pPr>
            <a:r>
              <a:rPr lang="en-US" sz="1750" b="1" dirty="0">
                <a:solidFill>
                  <a:srgbClr val="000000"/>
                </a:solidFill>
                <a:latin typeface="Arial"/>
                <a:cs typeface="Arial"/>
              </a:rPr>
              <a:t>Cohort, case-control</a:t>
            </a:r>
          </a:p>
        </p:txBody>
      </p:sp>
      <p:sp>
        <p:nvSpPr>
          <p:cNvPr id="74" name="CardHead"/>
          <p:cNvSpPr/>
          <p:nvPr/>
        </p:nvSpPr>
        <p:spPr>
          <a:xfrm>
            <a:off x="8108932" y="2018553"/>
            <a:ext cx="3625866"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Analytical: intervene</a:t>
            </a:r>
          </a:p>
        </p:txBody>
      </p:sp>
      <p:sp>
        <p:nvSpPr>
          <p:cNvPr id="75" name="CardBody"/>
          <p:cNvSpPr/>
          <p:nvPr/>
        </p:nvSpPr>
        <p:spPr>
          <a:xfrm>
            <a:off x="8108932" y="2658553"/>
            <a:ext cx="3625866" cy="187434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Does X cause Y?</a:t>
            </a:r>
          </a:p>
          <a:p>
            <a:pPr marL="0" indent="0" algn="ctr">
              <a:lnSpc>
                <a:spcPct val="104000"/>
              </a:lnSpc>
              <a:spcBef>
                <a:spcPts val="400"/>
              </a:spcBef>
              <a:buNone/>
            </a:pPr>
            <a:r>
              <a:rPr lang="en-US" sz="1750" dirty="0">
                <a:solidFill>
                  <a:srgbClr val="000000"/>
                </a:solidFill>
                <a:latin typeface="Arial"/>
                <a:cs typeface="Arial"/>
              </a:rPr>
              <a:t>"Does restricting fluids reduce 28-day mortality?"</a:t>
            </a:r>
          </a:p>
          <a:p>
            <a:pPr marL="0" indent="0" algn="ctr">
              <a:lnSpc>
                <a:spcPct val="104000"/>
              </a:lnSpc>
              <a:spcBef>
                <a:spcPts val="400"/>
              </a:spcBef>
              <a:buNone/>
            </a:pPr>
            <a:r>
              <a:rPr lang="en-US" sz="1750" b="1" dirty="0">
                <a:solidFill>
                  <a:srgbClr val="000000"/>
                </a:solidFill>
                <a:latin typeface="Arial"/>
                <a:cs typeface="Arial"/>
              </a:rPr>
              <a:t>Randomised controlled trial</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Descriptive questions describe. Analytical questions compare or test a cause.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From a vague worry to an answerable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35249"/>
            <a:ext cx="55388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Vague</a:t>
            </a:r>
          </a:p>
        </p:txBody>
      </p:sp>
      <p:sp>
        <p:nvSpPr>
          <p:cNvPr id="71" name="CardBody"/>
          <p:cNvSpPr/>
          <p:nvPr/>
        </p:nvSpPr>
        <p:spPr>
          <a:xfrm>
            <a:off x="457200" y="2175249"/>
            <a:ext cx="5538800" cy="2444253"/>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50" b="1" dirty="0">
                <a:solidFill>
                  <a:srgbClr val="000000"/>
                </a:solidFill>
                <a:latin typeface="Arial"/>
                <a:cs typeface="Arial"/>
              </a:rPr>
              <a:t>"Are fluids bad for ICU patients?"</a:t>
            </a:r>
          </a:p>
          <a:p>
            <a:pPr marL="0" indent="0" algn="ctr">
              <a:lnSpc>
                <a:spcPct val="104000"/>
              </a:lnSpc>
              <a:spcBef>
                <a:spcPts val="400"/>
              </a:spcBef>
              <a:buNone/>
            </a:pPr>
            <a:r>
              <a:rPr lang="en-US" sz="1950" dirty="0">
                <a:solidFill>
                  <a:srgbClr val="000000"/>
                </a:solidFill>
                <a:latin typeface="Arial"/>
                <a:cs typeface="Arial"/>
              </a:rPr>
              <a:t>Which patients?</a:t>
            </a:r>
          </a:p>
          <a:p>
            <a:pPr marL="0" indent="0" algn="ctr">
              <a:lnSpc>
                <a:spcPct val="104000"/>
              </a:lnSpc>
              <a:spcBef>
                <a:spcPts val="400"/>
              </a:spcBef>
              <a:buNone/>
            </a:pPr>
            <a:r>
              <a:rPr lang="en-US" sz="1950" dirty="0">
                <a:solidFill>
                  <a:srgbClr val="000000"/>
                </a:solidFill>
                <a:latin typeface="Arial"/>
                <a:cs typeface="Arial"/>
              </a:rPr>
              <a:t>Which fluid, how much?</a:t>
            </a:r>
          </a:p>
          <a:p>
            <a:pPr marL="0" indent="0" algn="ctr">
              <a:lnSpc>
                <a:spcPct val="104000"/>
              </a:lnSpc>
              <a:spcBef>
                <a:spcPts val="400"/>
              </a:spcBef>
              <a:buNone/>
            </a:pPr>
            <a:r>
              <a:rPr lang="en-US" sz="1950" dirty="0">
                <a:solidFill>
                  <a:srgbClr val="000000"/>
                </a:solidFill>
                <a:latin typeface="Arial"/>
                <a:cs typeface="Arial"/>
              </a:rPr>
              <a:t>Bad compared with what?</a:t>
            </a:r>
          </a:p>
          <a:p>
            <a:pPr marL="0" indent="0" algn="ctr">
              <a:lnSpc>
                <a:spcPct val="104000"/>
              </a:lnSpc>
              <a:spcBef>
                <a:spcPts val="400"/>
              </a:spcBef>
              <a:buNone/>
            </a:pPr>
            <a:r>
              <a:rPr lang="en-US" sz="1950" dirty="0">
                <a:solidFill>
                  <a:srgbClr val="000000"/>
                </a:solidFill>
                <a:latin typeface="Arial"/>
                <a:cs typeface="Arial"/>
              </a:rPr>
              <a:t>Bad how? By when?</a:t>
            </a:r>
          </a:p>
        </p:txBody>
      </p:sp>
      <p:sp>
        <p:nvSpPr>
          <p:cNvPr id="72" name="CardHead"/>
          <p:cNvSpPr/>
          <p:nvPr/>
        </p:nvSpPr>
        <p:spPr>
          <a:xfrm>
            <a:off x="6196000" y="1535249"/>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Answerable, with PICO</a:t>
            </a:r>
          </a:p>
        </p:txBody>
      </p:sp>
      <p:sp>
        <p:nvSpPr>
          <p:cNvPr id="73" name="CardBody"/>
          <p:cNvSpPr/>
          <p:nvPr/>
        </p:nvSpPr>
        <p:spPr>
          <a:xfrm>
            <a:off x="6196000" y="2175249"/>
            <a:ext cx="5538800" cy="2444253"/>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50" dirty="0">
                <a:solidFill>
                  <a:srgbClr val="000000"/>
                </a:solidFill>
                <a:latin typeface="Arial"/>
                <a:cs typeface="Arial"/>
              </a:rPr>
              <a:t>P: In adults with septic shock in the ICU,</a:t>
            </a:r>
          </a:p>
          <a:p>
            <a:pPr marL="0" indent="0" algn="ctr">
              <a:lnSpc>
                <a:spcPct val="104000"/>
              </a:lnSpc>
              <a:spcBef>
                <a:spcPts val="400"/>
              </a:spcBef>
              <a:buNone/>
            </a:pPr>
            <a:r>
              <a:rPr lang="en-US" sz="1950" dirty="0">
                <a:solidFill>
                  <a:srgbClr val="000000"/>
                </a:solidFill>
                <a:latin typeface="Arial"/>
                <a:cs typeface="Arial"/>
              </a:rPr>
              <a:t>I: does a restrictive fluid strategy,</a:t>
            </a:r>
          </a:p>
          <a:p>
            <a:pPr marL="0" indent="0" algn="ctr">
              <a:lnSpc>
                <a:spcPct val="104000"/>
              </a:lnSpc>
              <a:spcBef>
                <a:spcPts val="400"/>
              </a:spcBef>
              <a:buNone/>
            </a:pPr>
            <a:r>
              <a:rPr lang="en-US" sz="1950" dirty="0">
                <a:solidFill>
                  <a:srgbClr val="000000"/>
                </a:solidFill>
                <a:latin typeface="Arial"/>
                <a:cs typeface="Arial"/>
              </a:rPr>
              <a:t>C: compared with usual care,</a:t>
            </a:r>
          </a:p>
          <a:p>
            <a:pPr marL="0" indent="0" algn="ctr">
              <a:lnSpc>
                <a:spcPct val="104000"/>
              </a:lnSpc>
              <a:spcBef>
                <a:spcPts val="400"/>
              </a:spcBef>
              <a:buNone/>
            </a:pPr>
            <a:r>
              <a:rPr lang="en-US" sz="1950" dirty="0">
                <a:solidFill>
                  <a:srgbClr val="000000"/>
                </a:solidFill>
                <a:latin typeface="Arial"/>
                <a:cs typeface="Arial"/>
              </a:rPr>
              <a:t>O: reduce mortality</a:t>
            </a:r>
          </a:p>
          <a:p>
            <a:pPr marL="0" indent="0" algn="ctr">
              <a:lnSpc>
                <a:spcPct val="104000"/>
              </a:lnSpc>
              <a:spcBef>
                <a:spcPts val="400"/>
              </a:spcBef>
              <a:buNone/>
            </a:pPr>
            <a:r>
              <a:rPr lang="en-US" sz="1950" dirty="0">
                <a:solidFill>
                  <a:srgbClr val="000000"/>
                </a:solidFill>
                <a:latin typeface="Arial"/>
                <a:cs typeface="Arial"/>
              </a:rPr>
              <a:t>T: at 28 days?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you cannot fill all the PICO boxes, the question is not ready yet.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FINER: is the question worth asking?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Check every question against five tests before you invest time in it.</a:t>
            </a:r>
          </a:p>
        </p:txBody>
      </p:sp>
      <p:sp>
        <p:nvSpPr>
          <p:cNvPr id="70" name="CardHead"/>
          <p:cNvSpPr/>
          <p:nvPr/>
        </p:nvSpPr>
        <p:spPr>
          <a:xfrm>
            <a:off x="457200" y="2174657"/>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F  Feasible</a:t>
            </a:r>
          </a:p>
        </p:txBody>
      </p:sp>
      <p:sp>
        <p:nvSpPr>
          <p:cNvPr id="71" name="CardBody"/>
          <p:cNvSpPr/>
          <p:nvPr/>
        </p:nvSpPr>
        <p:spPr>
          <a:xfrm>
            <a:off x="457200" y="2814657"/>
            <a:ext cx="2095520" cy="14060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Enough patients</a:t>
            </a:r>
          </a:p>
          <a:p>
            <a:pPr marL="0" indent="0" algn="ctr">
              <a:lnSpc>
                <a:spcPct val="104000"/>
              </a:lnSpc>
              <a:spcBef>
                <a:spcPts val="400"/>
              </a:spcBef>
              <a:buNone/>
            </a:pPr>
            <a:r>
              <a:rPr lang="en-US" sz="1450" dirty="0">
                <a:solidFill>
                  <a:srgbClr val="000000"/>
                </a:solidFill>
                <a:latin typeface="Arial"/>
                <a:cs typeface="Arial"/>
              </a:rPr>
              <a:t>Time, money and skills</a:t>
            </a:r>
          </a:p>
          <a:p>
            <a:pPr marL="0" indent="0" algn="ctr">
              <a:lnSpc>
                <a:spcPct val="104000"/>
              </a:lnSpc>
              <a:spcBef>
                <a:spcPts val="400"/>
              </a:spcBef>
              <a:buNone/>
            </a:pPr>
            <a:r>
              <a:rPr lang="en-US" sz="1450" dirty="0">
                <a:solidFill>
                  <a:srgbClr val="000000"/>
                </a:solidFill>
                <a:latin typeface="Arial"/>
                <a:cs typeface="Arial"/>
              </a:rPr>
              <a:t>Data you can get</a:t>
            </a:r>
          </a:p>
        </p:txBody>
      </p:sp>
      <p:sp>
        <p:nvSpPr>
          <p:cNvPr id="72" name="CardHead"/>
          <p:cNvSpPr/>
          <p:nvPr/>
        </p:nvSpPr>
        <p:spPr>
          <a:xfrm>
            <a:off x="2752720" y="2174657"/>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I  Interesting</a:t>
            </a:r>
          </a:p>
        </p:txBody>
      </p:sp>
      <p:sp>
        <p:nvSpPr>
          <p:cNvPr id="73" name="CardBody"/>
          <p:cNvSpPr/>
          <p:nvPr/>
        </p:nvSpPr>
        <p:spPr>
          <a:xfrm>
            <a:off x="2752720" y="2814657"/>
            <a:ext cx="2095520" cy="14060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To you and your team</a:t>
            </a:r>
          </a:p>
          <a:p>
            <a:pPr marL="0" indent="0" algn="ctr">
              <a:lnSpc>
                <a:spcPct val="104000"/>
              </a:lnSpc>
              <a:spcBef>
                <a:spcPts val="400"/>
              </a:spcBef>
              <a:buNone/>
            </a:pPr>
            <a:r>
              <a:rPr lang="en-US" sz="1450" dirty="0">
                <a:solidFill>
                  <a:srgbClr val="000000"/>
                </a:solidFill>
                <a:latin typeface="Arial"/>
                <a:cs typeface="Arial"/>
              </a:rPr>
              <a:t>To readers</a:t>
            </a:r>
          </a:p>
        </p:txBody>
      </p:sp>
      <p:sp>
        <p:nvSpPr>
          <p:cNvPr id="74" name="CardHead"/>
          <p:cNvSpPr/>
          <p:nvPr/>
        </p:nvSpPr>
        <p:spPr>
          <a:xfrm>
            <a:off x="5048240" y="2174657"/>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N  Novel</a:t>
            </a:r>
          </a:p>
        </p:txBody>
      </p:sp>
      <p:sp>
        <p:nvSpPr>
          <p:cNvPr id="75" name="CardBody"/>
          <p:cNvSpPr/>
          <p:nvPr/>
        </p:nvSpPr>
        <p:spPr>
          <a:xfrm>
            <a:off x="5048240" y="2814657"/>
            <a:ext cx="2095520" cy="14060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Confirms, refutes or extends what is known</a:t>
            </a:r>
          </a:p>
        </p:txBody>
      </p:sp>
      <p:sp>
        <p:nvSpPr>
          <p:cNvPr id="76" name="CardHead"/>
          <p:cNvSpPr/>
          <p:nvPr/>
        </p:nvSpPr>
        <p:spPr>
          <a:xfrm>
            <a:off x="7343760" y="2174657"/>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E  Ethical</a:t>
            </a:r>
          </a:p>
        </p:txBody>
      </p:sp>
      <p:sp>
        <p:nvSpPr>
          <p:cNvPr id="77" name="CardBody"/>
          <p:cNvSpPr/>
          <p:nvPr/>
        </p:nvSpPr>
        <p:spPr>
          <a:xfrm>
            <a:off x="7343760" y="2814657"/>
            <a:ext cx="2095520" cy="14060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An ethics committee could approve it</a:t>
            </a:r>
          </a:p>
        </p:txBody>
      </p:sp>
      <p:sp>
        <p:nvSpPr>
          <p:cNvPr id="78" name="CardHead"/>
          <p:cNvSpPr/>
          <p:nvPr/>
        </p:nvSpPr>
        <p:spPr>
          <a:xfrm>
            <a:off x="9639280" y="2174657"/>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R  Relevant</a:t>
            </a:r>
          </a:p>
        </p:txBody>
      </p:sp>
      <p:sp>
        <p:nvSpPr>
          <p:cNvPr id="79" name="CardBody"/>
          <p:cNvSpPr/>
          <p:nvPr/>
        </p:nvSpPr>
        <p:spPr>
          <a:xfrm>
            <a:off x="9639280" y="2814657"/>
            <a:ext cx="2095520" cy="14060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Could change practice, policy or research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the question fails one letter, rewrite it before going further.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FINER check of our running example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Restrictive fluids vs usual care in septic shock: 28-day mortality, in your own ICU.</a:t>
            </a:r>
          </a:p>
        </p:txBody>
      </p:sp>
      <p:sp>
        <p:nvSpPr>
          <p:cNvPr id="70" name="CardHead"/>
          <p:cNvSpPr/>
          <p:nvPr/>
        </p:nvSpPr>
        <p:spPr>
          <a:xfrm>
            <a:off x="457200" y="2097927"/>
            <a:ext cx="209552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F  Feasible</a:t>
            </a:r>
          </a:p>
        </p:txBody>
      </p:sp>
      <p:sp>
        <p:nvSpPr>
          <p:cNvPr id="71" name="CardBody"/>
          <p:cNvSpPr/>
          <p:nvPr/>
        </p:nvSpPr>
        <p:spPr>
          <a:xfrm>
            <a:off x="45720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B23B2E"/>
                </a:solidFill>
                <a:latin typeface="Arial"/>
                <a:cs typeface="Arial"/>
              </a:rPr>
              <a:t>Red</a:t>
            </a:r>
          </a:p>
          <a:p>
            <a:pPr marL="0" indent="0" algn="ctr">
              <a:lnSpc>
                <a:spcPct val="104000"/>
              </a:lnSpc>
              <a:spcBef>
                <a:spcPts val="400"/>
              </a:spcBef>
              <a:buNone/>
            </a:pPr>
            <a:r>
              <a:rPr lang="en-US" sz="1450" dirty="0">
                <a:solidFill>
                  <a:srgbClr val="000000"/>
                </a:solidFill>
                <a:latin typeface="Arial"/>
                <a:cs typeface="Arial"/>
              </a:rPr>
              <a:t>Mortality needs more than 1,000 patients</a:t>
            </a:r>
          </a:p>
          <a:p>
            <a:pPr marL="0" indent="0" algn="ctr">
              <a:lnSpc>
                <a:spcPct val="104000"/>
              </a:lnSpc>
              <a:spcBef>
                <a:spcPts val="400"/>
              </a:spcBef>
              <a:buNone/>
            </a:pPr>
            <a:r>
              <a:rPr lang="en-US" sz="1450" dirty="0">
                <a:solidFill>
                  <a:srgbClr val="000000"/>
                </a:solidFill>
                <a:latin typeface="Arial"/>
                <a:cs typeface="Arial"/>
              </a:rPr>
              <a:t>Too big for one ICU</a:t>
            </a:r>
          </a:p>
        </p:txBody>
      </p:sp>
      <p:sp>
        <p:nvSpPr>
          <p:cNvPr id="72" name="CardHead"/>
          <p:cNvSpPr/>
          <p:nvPr/>
        </p:nvSpPr>
        <p:spPr>
          <a:xfrm>
            <a:off x="2752720" y="2097927"/>
            <a:ext cx="209552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I  Interesting</a:t>
            </a:r>
          </a:p>
        </p:txBody>
      </p:sp>
      <p:sp>
        <p:nvSpPr>
          <p:cNvPr id="73" name="CardBody"/>
          <p:cNvSpPr/>
          <p:nvPr/>
        </p:nvSpPr>
        <p:spPr>
          <a:xfrm>
            <a:off x="275272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2E8B57"/>
                </a:solidFill>
                <a:latin typeface="Arial"/>
                <a:cs typeface="Arial"/>
              </a:rPr>
              <a:t>Green</a:t>
            </a:r>
          </a:p>
          <a:p>
            <a:pPr marL="0" indent="0" algn="ctr">
              <a:lnSpc>
                <a:spcPct val="104000"/>
              </a:lnSpc>
              <a:spcBef>
                <a:spcPts val="400"/>
              </a:spcBef>
              <a:buNone/>
            </a:pPr>
            <a:r>
              <a:rPr lang="en-US" sz="1450" dirty="0">
                <a:solidFill>
                  <a:srgbClr val="000000"/>
                </a:solidFill>
                <a:latin typeface="Arial"/>
                <a:cs typeface="Arial"/>
              </a:rPr>
              <a:t>Fluids are debated on every ward round</a:t>
            </a:r>
          </a:p>
        </p:txBody>
      </p:sp>
      <p:sp>
        <p:nvSpPr>
          <p:cNvPr id="74" name="CardHead"/>
          <p:cNvSpPr/>
          <p:nvPr/>
        </p:nvSpPr>
        <p:spPr>
          <a:xfrm>
            <a:off x="5048240" y="2097927"/>
            <a:ext cx="2095520" cy="640000"/>
          </a:xfrm>
          <a:prstGeom prst="rect">
            <a:avLst/>
          </a:prstGeom>
          <a:solidFill>
            <a:srgbClr val="D9822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N  Novel</a:t>
            </a:r>
          </a:p>
        </p:txBody>
      </p:sp>
      <p:sp>
        <p:nvSpPr>
          <p:cNvPr id="75" name="CardBody"/>
          <p:cNvSpPr/>
          <p:nvPr/>
        </p:nvSpPr>
        <p:spPr>
          <a:xfrm>
            <a:off x="504824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D9822B"/>
                </a:solidFill>
                <a:latin typeface="Arial"/>
                <a:cs typeface="Arial"/>
              </a:rPr>
              <a:t>Amber</a:t>
            </a:r>
          </a:p>
          <a:p>
            <a:pPr marL="0" indent="0" algn="ctr">
              <a:lnSpc>
                <a:spcPct val="104000"/>
              </a:lnSpc>
              <a:spcBef>
                <a:spcPts val="400"/>
              </a:spcBef>
              <a:buNone/>
            </a:pPr>
            <a:r>
              <a:rPr lang="en-US" sz="1450" dirty="0">
                <a:solidFill>
                  <a:srgbClr val="000000"/>
                </a:solidFill>
                <a:latin typeface="Arial"/>
                <a:cs typeface="Arial"/>
              </a:rPr>
              <a:t>Large trials have already been done</a:t>
            </a:r>
          </a:p>
        </p:txBody>
      </p:sp>
      <p:sp>
        <p:nvSpPr>
          <p:cNvPr id="76" name="CardHead"/>
          <p:cNvSpPr/>
          <p:nvPr/>
        </p:nvSpPr>
        <p:spPr>
          <a:xfrm>
            <a:off x="7343760" y="2097927"/>
            <a:ext cx="2095520" cy="640000"/>
          </a:xfrm>
          <a:prstGeom prst="rect">
            <a:avLst/>
          </a:prstGeom>
          <a:solidFill>
            <a:srgbClr val="D9822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E  Ethical</a:t>
            </a:r>
          </a:p>
        </p:txBody>
      </p:sp>
      <p:sp>
        <p:nvSpPr>
          <p:cNvPr id="77" name="CardBody"/>
          <p:cNvSpPr/>
          <p:nvPr/>
        </p:nvSpPr>
        <p:spPr>
          <a:xfrm>
            <a:off x="734376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D9822B"/>
                </a:solidFill>
                <a:latin typeface="Arial"/>
                <a:cs typeface="Arial"/>
              </a:rPr>
              <a:t>Amber</a:t>
            </a:r>
          </a:p>
          <a:p>
            <a:pPr marL="0" indent="0" algn="ctr">
              <a:lnSpc>
                <a:spcPct val="104000"/>
              </a:lnSpc>
              <a:spcBef>
                <a:spcPts val="400"/>
              </a:spcBef>
              <a:buNone/>
            </a:pPr>
            <a:r>
              <a:rPr lang="en-US" sz="1450" dirty="0">
                <a:solidFill>
                  <a:srgbClr val="000000"/>
                </a:solidFill>
                <a:latin typeface="Arial"/>
                <a:cs typeface="Arial"/>
              </a:rPr>
              <a:t>Both strategies are used today</a:t>
            </a:r>
          </a:p>
          <a:p>
            <a:pPr marL="0" indent="0" algn="ctr">
              <a:lnSpc>
                <a:spcPct val="104000"/>
              </a:lnSpc>
              <a:spcBef>
                <a:spcPts val="400"/>
              </a:spcBef>
              <a:buNone/>
            </a:pPr>
            <a:r>
              <a:rPr lang="en-US" sz="1450" dirty="0">
                <a:solidFill>
                  <a:srgbClr val="000000"/>
                </a:solidFill>
                <a:latin typeface="Arial"/>
                <a:cs typeface="Arial"/>
              </a:rPr>
              <a:t>Consent in the ICU needs care</a:t>
            </a:r>
          </a:p>
        </p:txBody>
      </p:sp>
      <p:sp>
        <p:nvSpPr>
          <p:cNvPr id="78" name="CardHead"/>
          <p:cNvSpPr/>
          <p:nvPr/>
        </p:nvSpPr>
        <p:spPr>
          <a:xfrm>
            <a:off x="9639280" y="2097927"/>
            <a:ext cx="209552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R  Relevant</a:t>
            </a:r>
          </a:p>
        </p:txBody>
      </p:sp>
      <p:sp>
        <p:nvSpPr>
          <p:cNvPr id="79" name="CardBody"/>
          <p:cNvSpPr/>
          <p:nvPr/>
        </p:nvSpPr>
        <p:spPr>
          <a:xfrm>
            <a:off x="9639280" y="2737927"/>
            <a:ext cx="2095520" cy="163621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b="1" dirty="0">
                <a:solidFill>
                  <a:srgbClr val="2E8B57"/>
                </a:solidFill>
                <a:latin typeface="Arial"/>
                <a:cs typeface="Arial"/>
              </a:rPr>
              <a:t>Green</a:t>
            </a:r>
          </a:p>
          <a:p>
            <a:pPr marL="0" indent="0" algn="ctr">
              <a:lnSpc>
                <a:spcPct val="104000"/>
              </a:lnSpc>
              <a:spcBef>
                <a:spcPts val="400"/>
              </a:spcBef>
              <a:buNone/>
            </a:pPr>
            <a:r>
              <a:rPr lang="en-US" sz="1450" dirty="0">
                <a:solidFill>
                  <a:srgbClr val="000000"/>
                </a:solidFill>
                <a:latin typeface="Arial"/>
                <a:cs typeface="Arial"/>
              </a:rPr>
              <a:t>Every patient with septic shock gets fluid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Important, but too big for one ICU. Next: make it smaller.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Whole-class task: rescue our running example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11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Open Exercise 1 on the Session 1 exercise sheet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It gives three smaller versions of the question: A, B and C (right)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Poll: which version could your ICU do within two years?</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For the chosen version, people called on give P, I or E, C, O and 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Together: name the question type and colour each FINER letter</a:t>
            </a:r>
          </a:p>
        </p:txBody>
      </p:sp>
      <p:sp>
        <p:nvSpPr>
          <p:cNvPr id="52" name="Side"/>
          <p:cNvSpPr/>
          <p:nvPr/>
        </p:nvSpPr>
        <p:spPr>
          <a:xfrm>
            <a:off x="7423760" y="1720000"/>
            <a:ext cx="4311040" cy="21680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The three versions</a:t>
            </a:r>
          </a:p>
          <a:p>
            <a:pPr marL="0" indent="0" algn="ctr">
              <a:lnSpc>
                <a:spcPct val="104000"/>
              </a:lnSpc>
              <a:spcBef>
                <a:spcPts val="300"/>
              </a:spcBef>
              <a:buNone/>
            </a:pPr>
            <a:r>
              <a:rPr lang="en-US" sz="1500" dirty="0">
                <a:solidFill>
                  <a:srgbClr val="000000"/>
                </a:solidFill>
                <a:latin typeface="Arial"/>
                <a:cs typeface="Arial"/>
              </a:rPr>
              <a:t>A: restrictive protocol vs usual care, fluid balance at day 5 (a pilot trial)</a:t>
            </a:r>
          </a:p>
          <a:p>
            <a:pPr marL="0" indent="0" algn="ctr">
              <a:lnSpc>
                <a:spcPct val="104000"/>
              </a:lnSpc>
              <a:spcBef>
                <a:spcPts val="300"/>
              </a:spcBef>
              <a:buNone/>
            </a:pPr>
            <a:r>
              <a:rPr lang="en-US" sz="1500" dirty="0">
                <a:solidFill>
                  <a:srgbClr val="000000"/>
                </a:solidFill>
                <a:latin typeface="Arial"/>
                <a:cs typeface="Arial"/>
              </a:rPr>
              <a:t>B: fluid-positive by day 3 or not, death by day 28 (a cohort)</a:t>
            </a:r>
          </a:p>
          <a:p>
            <a:pPr marL="0" indent="0" algn="ctr">
              <a:lnSpc>
                <a:spcPct val="104000"/>
              </a:lnSpc>
              <a:spcBef>
                <a:spcPts val="300"/>
              </a:spcBef>
              <a:buNone/>
            </a:pPr>
            <a:r>
              <a:rPr lang="en-US" sz="1500" dirty="0">
                <a:solidFill>
                  <a:srgbClr val="000000"/>
                </a:solidFill>
                <a:latin typeface="Arial"/>
                <a:cs typeface="Arial"/>
              </a:rPr>
              <a:t>C: how many of your patients are fluid-positive on day 3? (descriptive)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One class question with PICO(T) and FINER colours, typed on the shared screen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1.3  Aims, objectives, hypotheses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A question says what we want to know. Aims and objectives say what we will do.</a:t>
            </a:r>
          </a:p>
          <a:p>
            <a:pPr marL="0" indent="0" algn="ctr">
              <a:spcBef>
                <a:spcPts val="1200"/>
              </a:spcBef>
              <a:buNone/>
            </a:pPr>
            <a:r>
              <a:rPr lang="en-US" sz="1900" i="1" dirty="0">
                <a:solidFill>
                  <a:srgbClr val="595959"/>
                </a:solidFill>
                <a:latin typeface="Arial"/>
                <a:cs typeface="Arial"/>
              </a:rPr>
              <a:t>20 minutes: aim, objectives, hypotheses and one quick exercise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Aim and objectives: our running example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69140"/>
            <a:ext cx="553880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Aim</a:t>
            </a:r>
          </a:p>
        </p:txBody>
      </p:sp>
      <p:sp>
        <p:nvSpPr>
          <p:cNvPr id="71" name="CardBody"/>
          <p:cNvSpPr/>
          <p:nvPr/>
        </p:nvSpPr>
        <p:spPr>
          <a:xfrm>
            <a:off x="457200" y="2409140"/>
            <a:ext cx="5538800" cy="1742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00" b="1" dirty="0">
                <a:solidFill>
                  <a:srgbClr val="000000"/>
                </a:solidFill>
                <a:latin typeface="Arial"/>
                <a:cs typeface="Arial"/>
              </a:rPr>
              <a:t>The broad why, in one sentence</a:t>
            </a:r>
          </a:p>
          <a:p>
            <a:pPr marL="0" indent="0" algn="ctr">
              <a:lnSpc>
                <a:spcPct val="104000"/>
              </a:lnSpc>
              <a:spcBef>
                <a:spcPts val="400"/>
              </a:spcBef>
              <a:buNone/>
            </a:pPr>
            <a:r>
              <a:rPr lang="en-US" sz="1900" dirty="0">
                <a:solidFill>
                  <a:srgbClr val="000000"/>
                </a:solidFill>
                <a:latin typeface="Arial"/>
                <a:cs typeface="Arial"/>
              </a:rPr>
              <a:t>To compare a restrictive fluid strategy with usual care in adults with septic shock in the ICU</a:t>
            </a:r>
          </a:p>
        </p:txBody>
      </p:sp>
      <p:sp>
        <p:nvSpPr>
          <p:cNvPr id="72" name="CardHead"/>
          <p:cNvSpPr/>
          <p:nvPr/>
        </p:nvSpPr>
        <p:spPr>
          <a:xfrm>
            <a:off x="6196000" y="1769140"/>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Objectives</a:t>
            </a:r>
          </a:p>
        </p:txBody>
      </p:sp>
      <p:sp>
        <p:nvSpPr>
          <p:cNvPr id="73" name="CardBody"/>
          <p:cNvSpPr/>
          <p:nvPr/>
        </p:nvSpPr>
        <p:spPr>
          <a:xfrm>
            <a:off x="6196000" y="2409140"/>
            <a:ext cx="5538800" cy="1742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00" b="1" dirty="0">
                <a:solidFill>
                  <a:srgbClr val="000000"/>
                </a:solidFill>
                <a:latin typeface="Arial"/>
                <a:cs typeface="Arial"/>
              </a:rPr>
              <a:t>The specific what, with measurable verbs</a:t>
            </a:r>
          </a:p>
          <a:p>
            <a:pPr marL="0" indent="0" algn="ctr">
              <a:lnSpc>
                <a:spcPct val="104000"/>
              </a:lnSpc>
              <a:spcBef>
                <a:spcPts val="400"/>
              </a:spcBef>
              <a:buNone/>
            </a:pPr>
            <a:r>
              <a:rPr lang="en-US" sz="1900" dirty="0">
                <a:solidFill>
                  <a:srgbClr val="000000"/>
                </a:solidFill>
                <a:latin typeface="Arial"/>
                <a:cs typeface="Arial"/>
              </a:rPr>
              <a:t>Primary: compare 28-day mortality</a:t>
            </a:r>
          </a:p>
          <a:p>
            <a:pPr marL="0" indent="0" algn="ctr">
              <a:lnSpc>
                <a:spcPct val="104000"/>
              </a:lnSpc>
              <a:spcBef>
                <a:spcPts val="400"/>
              </a:spcBef>
              <a:buNone/>
            </a:pPr>
            <a:r>
              <a:rPr lang="en-US" sz="1900" dirty="0">
                <a:solidFill>
                  <a:srgbClr val="000000"/>
                </a:solidFill>
                <a:latin typeface="Arial"/>
                <a:cs typeface="Arial"/>
              </a:rPr>
              <a:t>Compare fluid balance at day 5</a:t>
            </a:r>
          </a:p>
          <a:p>
            <a:pPr marL="0" indent="0" algn="ctr">
              <a:lnSpc>
                <a:spcPct val="104000"/>
              </a:lnSpc>
              <a:spcBef>
                <a:spcPts val="400"/>
              </a:spcBef>
              <a:buNone/>
            </a:pPr>
            <a:r>
              <a:rPr lang="en-US" sz="1900" dirty="0">
                <a:solidFill>
                  <a:srgbClr val="000000"/>
                </a:solidFill>
                <a:latin typeface="Arial"/>
                <a:cs typeface="Arial"/>
              </a:rPr>
              <a:t>Compare kidney injury needing dialysis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One aim, 2-3 measurable objectives. Mark the primary one.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Objectives start with a measurable verb</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81840"/>
            <a:ext cx="55388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Vague verbs</a:t>
            </a:r>
          </a:p>
        </p:txBody>
      </p:sp>
      <p:sp>
        <p:nvSpPr>
          <p:cNvPr id="71" name="CardBody"/>
          <p:cNvSpPr/>
          <p:nvPr/>
        </p:nvSpPr>
        <p:spPr>
          <a:xfrm>
            <a:off x="457200" y="2421840"/>
            <a:ext cx="5538800" cy="1704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2000" dirty="0">
                <a:solidFill>
                  <a:srgbClr val="000000"/>
                </a:solidFill>
                <a:latin typeface="Arial"/>
                <a:cs typeface="Arial"/>
              </a:rPr>
              <a:t>understand, know, study, explore, look at</a:t>
            </a:r>
          </a:p>
          <a:p>
            <a:pPr marL="0" indent="0" algn="ctr">
              <a:lnSpc>
                <a:spcPct val="104000"/>
              </a:lnSpc>
              <a:spcBef>
                <a:spcPts val="400"/>
              </a:spcBef>
              <a:buNone/>
            </a:pPr>
            <a:r>
              <a:rPr lang="en-US" sz="2000" i="1" dirty="0">
                <a:solidFill>
                  <a:srgbClr val="000000"/>
                </a:solidFill>
                <a:latin typeface="Arial"/>
                <a:cs typeface="Arial"/>
              </a:rPr>
              <a:t>"To understand fluid management in our ICU"</a:t>
            </a:r>
          </a:p>
        </p:txBody>
      </p:sp>
      <p:sp>
        <p:nvSpPr>
          <p:cNvPr id="72" name="CardHead"/>
          <p:cNvSpPr/>
          <p:nvPr/>
        </p:nvSpPr>
        <p:spPr>
          <a:xfrm>
            <a:off x="6196000" y="1781840"/>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Measurable verbs</a:t>
            </a:r>
          </a:p>
        </p:txBody>
      </p:sp>
      <p:sp>
        <p:nvSpPr>
          <p:cNvPr id="73" name="CardBody"/>
          <p:cNvSpPr/>
          <p:nvPr/>
        </p:nvSpPr>
        <p:spPr>
          <a:xfrm>
            <a:off x="6196000" y="2421840"/>
            <a:ext cx="5538800" cy="1704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2000" dirty="0">
                <a:solidFill>
                  <a:srgbClr val="000000"/>
                </a:solidFill>
                <a:latin typeface="Arial"/>
                <a:cs typeface="Arial"/>
              </a:rPr>
              <a:t>compare, estimate, describe, determine, measure</a:t>
            </a:r>
          </a:p>
          <a:p>
            <a:pPr marL="0" indent="0" algn="ctr">
              <a:lnSpc>
                <a:spcPct val="104000"/>
              </a:lnSpc>
              <a:spcBef>
                <a:spcPts val="400"/>
              </a:spcBef>
              <a:buNone/>
            </a:pPr>
            <a:r>
              <a:rPr lang="en-US" sz="2000" i="1" dirty="0">
                <a:solidFill>
                  <a:srgbClr val="000000"/>
                </a:solidFill>
                <a:latin typeface="Arial"/>
                <a:cs typeface="Arial"/>
              </a:rPr>
              <a:t>"To compare cumulative fluid balance at day 5 between the two groups"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you cannot say how you will measure it, it is not yet an objective.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Null and alternative hypotheses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A hypothesis predicts the answer to the primary objective: compare 28-day mortality.</a:t>
            </a:r>
          </a:p>
        </p:txBody>
      </p:sp>
      <p:sp>
        <p:nvSpPr>
          <p:cNvPr id="100" name="Box"/>
          <p:cNvSpPr/>
          <p:nvPr/>
        </p:nvSpPr>
        <p:spPr>
          <a:xfrm>
            <a:off x="472440" y="1733360"/>
            <a:ext cx="5486400" cy="3383280"/>
          </a:xfrm>
          <a:prstGeom prst="roundRect">
            <a:avLst>
              <a:gd name="adj" fmla="val 5000"/>
            </a:avLst>
          </a:prstGeom>
          <a:noFill/>
          <a:ln w="31750">
            <a:solidFill>
              <a:srgbClr val="8A99A3"/>
            </a:solidFill>
          </a:ln>
        </p:spPr>
        <p:txBody>
          <a:bodyPr wrap="square" lIns="54864" tIns="54864" rIns="54864" bIns="54864" rtlCol="0" anchor="ctr">
            <a:noAutofit/>
          </a:bodyPr>
          <a:lstStyle/>
          <a:p>
            <a:endParaRPr lang="en-US"/>
          </a:p>
        </p:txBody>
      </p:sp>
      <p:sp>
        <p:nvSpPr>
          <p:cNvPr id="101" name="Text"/>
          <p:cNvSpPr/>
          <p:nvPr/>
        </p:nvSpPr>
        <p:spPr>
          <a:xfrm>
            <a:off x="472440" y="1806512"/>
            <a:ext cx="548640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000" b="1" dirty="0">
                <a:solidFill>
                  <a:srgbClr val="595959"/>
                </a:solidFill>
                <a:latin typeface="Arial"/>
                <a:cs typeface="Arial"/>
              </a:rPr>
              <a:t>H0  null hypothesis</a:t>
            </a:r>
          </a:p>
        </p:txBody>
      </p:sp>
      <p:sp>
        <p:nvSpPr>
          <p:cNvPr id="102" name="Text"/>
          <p:cNvSpPr/>
          <p:nvPr/>
        </p:nvSpPr>
        <p:spPr>
          <a:xfrm>
            <a:off x="472440" y="2236280"/>
            <a:ext cx="54864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28-day mortality is the same</a:t>
            </a:r>
          </a:p>
        </p:txBody>
      </p:sp>
      <p:cxnSp>
        <p:nvCxnSpPr>
          <p:cNvPr id="103" name="Line"/>
          <p:cNvCxnSpPr/>
          <p:nvPr/>
        </p:nvCxnSpPr>
        <p:spPr>
          <a:xfrm>
            <a:off x="838200" y="4476560"/>
            <a:ext cx="4754880" cy="0"/>
          </a:xfrm>
          <a:prstGeom prst="straightConnector1">
            <a:avLst/>
          </a:prstGeom>
          <a:ln w="19050" cap="rnd">
            <a:solidFill>
              <a:srgbClr val="8A99A3"/>
            </a:solidFill>
            <a:round/>
          </a:ln>
        </p:spPr>
      </p:cxnSp>
      <p:sp>
        <p:nvSpPr>
          <p:cNvPr id="104" name="Box"/>
          <p:cNvSpPr/>
          <p:nvPr/>
        </p:nvSpPr>
        <p:spPr>
          <a:xfrm>
            <a:off x="1249680" y="3104960"/>
            <a:ext cx="1280160" cy="1371600"/>
          </a:xfrm>
          <a:prstGeom prst="rect">
            <a:avLst/>
          </a:prstGeom>
          <a:solidFill>
            <a:srgbClr val="0D7377"/>
          </a:solidFill>
          <a:ln>
            <a:noFill/>
          </a:ln>
        </p:spPr>
        <p:txBody>
          <a:bodyPr wrap="square" lIns="54864" tIns="54864" rIns="54864" bIns="54864" rtlCol="0" anchor="ctr">
            <a:noAutofit/>
          </a:bodyPr>
          <a:lstStyle/>
          <a:p>
            <a:endParaRPr lang="en-US"/>
          </a:p>
        </p:txBody>
      </p:sp>
      <p:sp>
        <p:nvSpPr>
          <p:cNvPr id="105" name="Text"/>
          <p:cNvSpPr/>
          <p:nvPr/>
        </p:nvSpPr>
        <p:spPr>
          <a:xfrm>
            <a:off x="1066800" y="2720912"/>
            <a:ext cx="16459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D7377"/>
                </a:solidFill>
                <a:latin typeface="Arial"/>
                <a:cs typeface="Arial"/>
              </a:rPr>
              <a:t>?%</a:t>
            </a:r>
          </a:p>
        </p:txBody>
      </p:sp>
      <p:sp>
        <p:nvSpPr>
          <p:cNvPr id="106" name="Text"/>
          <p:cNvSpPr/>
          <p:nvPr/>
        </p:nvSpPr>
        <p:spPr>
          <a:xfrm>
            <a:off x="792480" y="4540568"/>
            <a:ext cx="219456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Restrictive</a:t>
            </a:r>
          </a:p>
        </p:txBody>
      </p:sp>
      <p:sp>
        <p:nvSpPr>
          <p:cNvPr id="107" name="Box"/>
          <p:cNvSpPr/>
          <p:nvPr/>
        </p:nvSpPr>
        <p:spPr>
          <a:xfrm>
            <a:off x="3901440" y="3104960"/>
            <a:ext cx="1280160" cy="1371600"/>
          </a:xfrm>
          <a:prstGeom prst="rect">
            <a:avLst/>
          </a:prstGeom>
          <a:solidFill>
            <a:srgbClr val="0B376C"/>
          </a:solidFill>
          <a:ln>
            <a:noFill/>
          </a:ln>
        </p:spPr>
        <p:txBody>
          <a:bodyPr wrap="square" lIns="54864" tIns="54864" rIns="54864" bIns="54864" rtlCol="0" anchor="ctr">
            <a:noAutofit/>
          </a:bodyPr>
          <a:lstStyle/>
          <a:p>
            <a:endParaRPr lang="en-US"/>
          </a:p>
        </p:txBody>
      </p:sp>
      <p:sp>
        <p:nvSpPr>
          <p:cNvPr id="108" name="Text"/>
          <p:cNvSpPr/>
          <p:nvPr/>
        </p:nvSpPr>
        <p:spPr>
          <a:xfrm>
            <a:off x="3718560" y="2720912"/>
            <a:ext cx="16459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B376C"/>
                </a:solidFill>
                <a:latin typeface="Arial"/>
                <a:cs typeface="Arial"/>
              </a:rPr>
              <a:t>?%</a:t>
            </a:r>
          </a:p>
        </p:txBody>
      </p:sp>
      <p:sp>
        <p:nvSpPr>
          <p:cNvPr id="109" name="Text"/>
          <p:cNvSpPr/>
          <p:nvPr/>
        </p:nvSpPr>
        <p:spPr>
          <a:xfrm>
            <a:off x="3444240" y="4540568"/>
            <a:ext cx="219456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Usual care</a:t>
            </a:r>
          </a:p>
        </p:txBody>
      </p:sp>
      <p:sp>
        <p:nvSpPr>
          <p:cNvPr id="110" name="Text"/>
          <p:cNvSpPr/>
          <p:nvPr/>
        </p:nvSpPr>
        <p:spPr>
          <a:xfrm>
            <a:off x="2667000" y="3379280"/>
            <a:ext cx="109728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3600" b="1" dirty="0">
                <a:solidFill>
                  <a:srgbClr val="595959"/>
                </a:solidFill>
                <a:latin typeface="Arial"/>
                <a:cs typeface="Arial"/>
              </a:rPr>
              <a:t>=</a:t>
            </a:r>
          </a:p>
        </p:txBody>
      </p:sp>
      <p:sp>
        <p:nvSpPr>
          <p:cNvPr id="111" name="Box"/>
          <p:cNvSpPr/>
          <p:nvPr/>
        </p:nvSpPr>
        <p:spPr>
          <a:xfrm>
            <a:off x="6233160" y="1733360"/>
            <a:ext cx="5486400" cy="3383280"/>
          </a:xfrm>
          <a:prstGeom prst="roundRect">
            <a:avLst>
              <a:gd name="adj" fmla="val 5000"/>
            </a:avLst>
          </a:prstGeom>
          <a:noFill/>
          <a:ln w="31750">
            <a:solidFill>
              <a:srgbClr val="0D7377"/>
            </a:solidFill>
          </a:ln>
        </p:spPr>
        <p:txBody>
          <a:bodyPr wrap="square" lIns="54864" tIns="54864" rIns="54864" bIns="54864" rtlCol="0" anchor="ctr">
            <a:noAutofit/>
          </a:bodyPr>
          <a:lstStyle/>
          <a:p>
            <a:endParaRPr lang="en-US"/>
          </a:p>
        </p:txBody>
      </p:sp>
      <p:sp>
        <p:nvSpPr>
          <p:cNvPr id="112" name="Text"/>
          <p:cNvSpPr/>
          <p:nvPr/>
        </p:nvSpPr>
        <p:spPr>
          <a:xfrm>
            <a:off x="6233160" y="1806512"/>
            <a:ext cx="548640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000" b="1" dirty="0">
                <a:solidFill>
                  <a:srgbClr val="0D7377"/>
                </a:solidFill>
                <a:latin typeface="Arial"/>
                <a:cs typeface="Arial"/>
              </a:rPr>
              <a:t>H1  alternative hypothesis</a:t>
            </a:r>
          </a:p>
        </p:txBody>
      </p:sp>
      <p:sp>
        <p:nvSpPr>
          <p:cNvPr id="113" name="Text"/>
          <p:cNvSpPr/>
          <p:nvPr/>
        </p:nvSpPr>
        <p:spPr>
          <a:xfrm>
            <a:off x="6233160" y="2236280"/>
            <a:ext cx="54864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28-day mortality is different</a:t>
            </a:r>
          </a:p>
        </p:txBody>
      </p:sp>
      <p:cxnSp>
        <p:nvCxnSpPr>
          <p:cNvPr id="114" name="Line"/>
          <p:cNvCxnSpPr/>
          <p:nvPr/>
        </p:nvCxnSpPr>
        <p:spPr>
          <a:xfrm>
            <a:off x="6598920" y="4476560"/>
            <a:ext cx="4754880" cy="0"/>
          </a:xfrm>
          <a:prstGeom prst="straightConnector1">
            <a:avLst/>
          </a:prstGeom>
          <a:ln w="19050" cap="rnd">
            <a:solidFill>
              <a:srgbClr val="8A99A3"/>
            </a:solidFill>
            <a:round/>
          </a:ln>
        </p:spPr>
      </p:cxnSp>
      <p:sp>
        <p:nvSpPr>
          <p:cNvPr id="115" name="Box"/>
          <p:cNvSpPr/>
          <p:nvPr/>
        </p:nvSpPr>
        <p:spPr>
          <a:xfrm>
            <a:off x="7010400" y="3470720"/>
            <a:ext cx="1280160" cy="1005840"/>
          </a:xfrm>
          <a:prstGeom prst="rect">
            <a:avLst/>
          </a:prstGeom>
          <a:solidFill>
            <a:srgbClr val="0D7377"/>
          </a:solidFill>
          <a:ln>
            <a:noFill/>
          </a:ln>
        </p:spPr>
        <p:txBody>
          <a:bodyPr wrap="square" lIns="54864" tIns="54864" rIns="54864" bIns="54864" rtlCol="0" anchor="ctr">
            <a:noAutofit/>
          </a:bodyPr>
          <a:lstStyle/>
          <a:p>
            <a:endParaRPr lang="en-US"/>
          </a:p>
        </p:txBody>
      </p:sp>
      <p:sp>
        <p:nvSpPr>
          <p:cNvPr id="116" name="Text"/>
          <p:cNvSpPr/>
          <p:nvPr/>
        </p:nvSpPr>
        <p:spPr>
          <a:xfrm>
            <a:off x="6827520" y="3086672"/>
            <a:ext cx="16459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D7377"/>
                </a:solidFill>
                <a:latin typeface="Arial"/>
                <a:cs typeface="Arial"/>
              </a:rPr>
              <a:t>?%</a:t>
            </a:r>
          </a:p>
        </p:txBody>
      </p:sp>
      <p:sp>
        <p:nvSpPr>
          <p:cNvPr id="117" name="Text"/>
          <p:cNvSpPr/>
          <p:nvPr/>
        </p:nvSpPr>
        <p:spPr>
          <a:xfrm>
            <a:off x="6553200" y="4540568"/>
            <a:ext cx="219456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Restrictive</a:t>
            </a:r>
          </a:p>
        </p:txBody>
      </p:sp>
      <p:sp>
        <p:nvSpPr>
          <p:cNvPr id="118" name="Box"/>
          <p:cNvSpPr/>
          <p:nvPr/>
        </p:nvSpPr>
        <p:spPr>
          <a:xfrm>
            <a:off x="9662160" y="2967800"/>
            <a:ext cx="1280160" cy="1508760"/>
          </a:xfrm>
          <a:prstGeom prst="rect">
            <a:avLst/>
          </a:prstGeom>
          <a:solidFill>
            <a:srgbClr val="0B376C"/>
          </a:solidFill>
          <a:ln>
            <a:noFill/>
          </a:ln>
        </p:spPr>
        <p:txBody>
          <a:bodyPr wrap="square" lIns="54864" tIns="54864" rIns="54864" bIns="54864" rtlCol="0" anchor="ctr">
            <a:noAutofit/>
          </a:bodyPr>
          <a:lstStyle/>
          <a:p>
            <a:endParaRPr lang="en-US"/>
          </a:p>
        </p:txBody>
      </p:sp>
      <p:sp>
        <p:nvSpPr>
          <p:cNvPr id="119" name="Text"/>
          <p:cNvSpPr/>
          <p:nvPr/>
        </p:nvSpPr>
        <p:spPr>
          <a:xfrm>
            <a:off x="9479280" y="2583752"/>
            <a:ext cx="164592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B376C"/>
                </a:solidFill>
                <a:latin typeface="Arial"/>
                <a:cs typeface="Arial"/>
              </a:rPr>
              <a:t>?%</a:t>
            </a:r>
          </a:p>
        </p:txBody>
      </p:sp>
      <p:sp>
        <p:nvSpPr>
          <p:cNvPr id="120" name="Text"/>
          <p:cNvSpPr/>
          <p:nvPr/>
        </p:nvSpPr>
        <p:spPr>
          <a:xfrm>
            <a:off x="9204960" y="4540568"/>
            <a:ext cx="219456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dirty="0">
                <a:solidFill>
                  <a:srgbClr val="1A1A1A"/>
                </a:solidFill>
                <a:latin typeface="Arial"/>
                <a:cs typeface="Arial"/>
              </a:rPr>
              <a:t>Usual care</a:t>
            </a:r>
          </a:p>
        </p:txBody>
      </p:sp>
      <p:sp>
        <p:nvSpPr>
          <p:cNvPr id="121" name="Text"/>
          <p:cNvSpPr/>
          <p:nvPr/>
        </p:nvSpPr>
        <p:spPr>
          <a:xfrm>
            <a:off x="8427720" y="3379280"/>
            <a:ext cx="109728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3600" b="1" dirty="0">
                <a:solidFill>
                  <a:srgbClr val="0D7377"/>
                </a:solidFill>
                <a:latin typeface="Arial"/>
                <a:cs typeface="Arial"/>
              </a:rPr>
              <a: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We test H0. Data can reject it or fail to reject it, but never prove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Quick exercise: aim, objectives and hypothesis for the pilot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INDIVIDUAL TASK   |   7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The pilot question (version A): in adults with septic shock, does a restrictive fluid protocol, compared with usual care, reduce cumulative fluid balance at day 5?</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Write one aim: 'To compare...'</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Write two objectives with measurable verbs. Mark the primary one</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Write H0 and H1 for the primary objective</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Verbs that work</a:t>
            </a:r>
          </a:p>
          <a:p>
            <a:pPr marL="0" indent="0" algn="ctr">
              <a:lnSpc>
                <a:spcPct val="104000"/>
              </a:lnSpc>
              <a:spcBef>
                <a:spcPts val="300"/>
              </a:spcBef>
              <a:buNone/>
            </a:pPr>
            <a:r>
              <a:rPr lang="en-US" sz="1500" dirty="0">
                <a:solidFill>
                  <a:srgbClr val="000000"/>
                </a:solidFill>
                <a:latin typeface="Arial"/>
                <a:cs typeface="Arial"/>
              </a:rPr>
              <a:t>compare</a:t>
            </a:r>
          </a:p>
          <a:p>
            <a:pPr marL="0" indent="0" algn="ctr">
              <a:lnSpc>
                <a:spcPct val="104000"/>
              </a:lnSpc>
              <a:spcBef>
                <a:spcPts val="300"/>
              </a:spcBef>
              <a:buNone/>
            </a:pPr>
            <a:r>
              <a:rPr lang="en-US" sz="1500" dirty="0">
                <a:solidFill>
                  <a:srgbClr val="000000"/>
                </a:solidFill>
                <a:latin typeface="Arial"/>
                <a:cs typeface="Arial"/>
              </a:rPr>
              <a:t>estimate</a:t>
            </a:r>
          </a:p>
          <a:p>
            <a:pPr marL="0" indent="0" algn="ctr">
              <a:lnSpc>
                <a:spcPct val="104000"/>
              </a:lnSpc>
              <a:spcBef>
                <a:spcPts val="300"/>
              </a:spcBef>
              <a:buNone/>
            </a:pPr>
            <a:r>
              <a:rPr lang="en-US" sz="1500" dirty="0">
                <a:solidFill>
                  <a:srgbClr val="000000"/>
                </a:solidFill>
                <a:latin typeface="Arial"/>
                <a:cs typeface="Arial"/>
              </a:rPr>
              <a:t>describe</a:t>
            </a:r>
          </a:p>
          <a:p>
            <a:pPr marL="0" indent="0" algn="ctr">
              <a:lnSpc>
                <a:spcPct val="104000"/>
              </a:lnSpc>
              <a:spcBef>
                <a:spcPts val="300"/>
              </a:spcBef>
              <a:buNone/>
            </a:pPr>
            <a:r>
              <a:rPr lang="en-US" sz="1500" dirty="0">
                <a:solidFill>
                  <a:srgbClr val="000000"/>
                </a:solidFill>
                <a:latin typeface="Arial"/>
                <a:cs typeface="Arial"/>
              </a:rPr>
              <a:t>determine</a:t>
            </a:r>
          </a:p>
          <a:p>
            <a:pPr marL="0" indent="0" algn="ctr">
              <a:lnSpc>
                <a:spcPct val="104000"/>
              </a:lnSpc>
              <a:spcBef>
                <a:spcPts val="300"/>
              </a:spcBef>
              <a:buNone/>
            </a:pPr>
            <a:r>
              <a:rPr lang="en-US" sz="1500" dirty="0">
                <a:solidFill>
                  <a:srgbClr val="000000"/>
                </a:solidFill>
                <a:latin typeface="Arial"/>
                <a:cs typeface="Arial"/>
              </a:rPr>
              <a:t>measure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OUTPUT   </a:t>
            </a:r>
            <a:r>
              <a:rPr lang="en-US" sz="1500" dirty="0">
                <a:solidFill>
                  <a:srgbClr val="000000"/>
                </a:solidFill>
                <a:latin typeface="Arial"/>
                <a:cs typeface="Arial"/>
              </a:rPr>
              <a:t>Exercise 2 on the exercise sheet. Two or three people read theirs aloud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Model answer: the pilot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495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Aim</a:t>
            </a:r>
          </a:p>
        </p:txBody>
      </p:sp>
      <p:sp>
        <p:nvSpPr>
          <p:cNvPr id="71" name="CardBody"/>
          <p:cNvSpPr/>
          <p:nvPr/>
        </p:nvSpPr>
        <p:spPr>
          <a:xfrm>
            <a:off x="457200" y="2289548"/>
            <a:ext cx="3625866" cy="21013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To compare a restrictive fluid protocol with usual care in adults with septic shock in your ICU</a:t>
            </a:r>
          </a:p>
        </p:txBody>
      </p:sp>
      <p:sp>
        <p:nvSpPr>
          <p:cNvPr id="72" name="CardHead"/>
          <p:cNvSpPr/>
          <p:nvPr/>
        </p:nvSpPr>
        <p:spPr>
          <a:xfrm>
            <a:off x="4283066" y="16495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Objectives</a:t>
            </a:r>
          </a:p>
        </p:txBody>
      </p:sp>
      <p:sp>
        <p:nvSpPr>
          <p:cNvPr id="73" name="CardBody"/>
          <p:cNvSpPr/>
          <p:nvPr/>
        </p:nvSpPr>
        <p:spPr>
          <a:xfrm>
            <a:off x="4283066" y="2289548"/>
            <a:ext cx="3625866" cy="21013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Primary: to compare cumulative fluid balance at day 5 between groups</a:t>
            </a:r>
          </a:p>
          <a:p>
            <a:pPr marL="0" indent="0" algn="ctr">
              <a:lnSpc>
                <a:spcPct val="104000"/>
              </a:lnSpc>
              <a:spcBef>
                <a:spcPts val="400"/>
              </a:spcBef>
              <a:buNone/>
            </a:pPr>
            <a:r>
              <a:rPr lang="en-US" sz="1750" dirty="0">
                <a:solidFill>
                  <a:srgbClr val="000000"/>
                </a:solidFill>
                <a:latin typeface="Arial"/>
                <a:cs typeface="Arial"/>
              </a:rPr>
              <a:t>Secondary: to estimate the recruitment rate and protocol adherence</a:t>
            </a:r>
          </a:p>
        </p:txBody>
      </p:sp>
      <p:sp>
        <p:nvSpPr>
          <p:cNvPr id="74" name="CardHead"/>
          <p:cNvSpPr/>
          <p:nvPr/>
        </p:nvSpPr>
        <p:spPr>
          <a:xfrm>
            <a:off x="8108932" y="164954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Hypothesis</a:t>
            </a:r>
          </a:p>
        </p:txBody>
      </p:sp>
      <p:sp>
        <p:nvSpPr>
          <p:cNvPr id="75" name="CardBody"/>
          <p:cNvSpPr/>
          <p:nvPr/>
        </p:nvSpPr>
        <p:spPr>
          <a:xfrm>
            <a:off x="8108932" y="2289548"/>
            <a:ext cx="3625866" cy="21013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H0: fluid balance at day 5 is the same in both groups</a:t>
            </a:r>
          </a:p>
          <a:p>
            <a:pPr marL="0" indent="0" algn="ctr">
              <a:lnSpc>
                <a:spcPct val="104000"/>
              </a:lnSpc>
              <a:spcBef>
                <a:spcPts val="400"/>
              </a:spcBef>
              <a:buNone/>
            </a:pPr>
            <a:r>
              <a:rPr lang="en-US" sz="1750" dirty="0">
                <a:solidFill>
                  <a:srgbClr val="000000"/>
                </a:solidFill>
                <a:latin typeface="Arial"/>
                <a:cs typeface="Arial"/>
              </a:rPr>
              <a:t>H1: it differs between the groups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Aim, primary objective and hypothesis all name the same outcome.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builder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Now start your own proposal: one question, one aim.</a:t>
            </a:r>
          </a:p>
          <a:p>
            <a:pPr marL="0" indent="0" algn="ctr">
              <a:spcBef>
                <a:spcPts val="1200"/>
              </a:spcBef>
              <a:buNone/>
            </a:pPr>
            <a:r>
              <a:rPr lang="en-US" sz="1900" i="1" dirty="0">
                <a:solidFill>
                  <a:srgbClr val="595959"/>
                </a:solidFill>
                <a:latin typeface="Arial"/>
                <a:cs typeface="Arial"/>
              </a:rPr>
              <a:t>30 minutes: we model Part 1 on the running example, then you draft your own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builder 1: your own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PROPOSAL BUILDER   |   30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Watch: we fill Part 1 of the template for the running example</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Open your copy of the proposal template</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Choose one problem from your own department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Write your PICO(T) question and check it with FINER</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Add one aim, 2-3 objectives (mark the primary) and H0/H1</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Two volunteers read their question aloud</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Timing</a:t>
            </a:r>
          </a:p>
          <a:p>
            <a:pPr marL="0" indent="0" algn="ctr">
              <a:lnSpc>
                <a:spcPct val="104000"/>
              </a:lnSpc>
              <a:spcBef>
                <a:spcPts val="300"/>
              </a:spcBef>
              <a:buNone/>
            </a:pPr>
            <a:r>
              <a:rPr lang="en-US" sz="1500" dirty="0">
                <a:solidFill>
                  <a:srgbClr val="000000"/>
                </a:solidFill>
                <a:latin typeface="Arial"/>
                <a:cs typeface="Arial"/>
              </a:rPr>
              <a:t>0-8 min: we model Part 1</a:t>
            </a:r>
          </a:p>
          <a:p>
            <a:pPr marL="0" indent="0" algn="ctr">
              <a:lnSpc>
                <a:spcPct val="104000"/>
              </a:lnSpc>
              <a:spcBef>
                <a:spcPts val="300"/>
              </a:spcBef>
              <a:buNone/>
            </a:pPr>
            <a:r>
              <a:rPr lang="en-US" sz="1500" dirty="0">
                <a:solidFill>
                  <a:srgbClr val="000000"/>
                </a:solidFill>
                <a:latin typeface="Arial"/>
                <a:cs typeface="Arial"/>
              </a:rPr>
              <a:t>8-25 min: you draft your own</a:t>
            </a:r>
          </a:p>
          <a:p>
            <a:pPr marL="0" indent="0" algn="ctr">
              <a:lnSpc>
                <a:spcPct val="104000"/>
              </a:lnSpc>
              <a:spcBef>
                <a:spcPts val="300"/>
              </a:spcBef>
              <a:buNone/>
            </a:pPr>
            <a:r>
              <a:rPr lang="en-US" sz="1500" dirty="0">
                <a:solidFill>
                  <a:srgbClr val="000000"/>
                </a:solidFill>
                <a:latin typeface="Arial"/>
                <a:cs typeface="Arial"/>
              </a:rPr>
              <a:t>25-30 min: two volunteers share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OUTPUT   </a:t>
            </a:r>
            <a:r>
              <a:rPr lang="en-US" sz="1500" dirty="0">
                <a:solidFill>
                  <a:srgbClr val="000000"/>
                </a:solidFill>
                <a:latin typeface="Arial"/>
                <a:cs typeface="Arial"/>
              </a:rPr>
              <a:t>Proposal Part 1 started: question, FINER check, aim, objectives, hypothesis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Key words of the 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86053"/>
          <a:ext cx="11277600" cy="379184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500" b="1" dirty="0">
                          <a:solidFill>
                            <a:srgbClr val="FFFFFF"/>
                          </a:solidFill>
                          <a:latin typeface="Arial"/>
                          <a:cs typeface="Arial"/>
                        </a:rPr>
                        <a:t>Key word</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In one line</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Evidence pyramid</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Ranks designs by how well they protect against bias</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PICO(T)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Population, Intervention, Comparison, Outcome, Time</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PECO</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The same, with E = Exposure, for factors we do not assign</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FINER</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Feasible, Interesting, Novel, Ethical, Relevant</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Aim / objective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The broad why / the specific, measurable what</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H0 / H1</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No difference / a difference (we test H0)</a:t>
                      </a:r>
                    </a:p>
                  </a:txBody>
                  <a:tcPr marL="73152" marR="73152" marT="45720" marB="45720" anchor="ctr">
                    <a:solidFill>
                      <a:srgbClr val="F5F9FA"/>
                    </a:solidFill>
                  </a:tcPr>
                </a:tc>
              </a:tr>
            </a:tbl>
          </a:graphicData>
        </a:graphic>
      </p:graphicFrame>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Session 1 recap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17823"/>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Why research</a:t>
            </a:r>
          </a:p>
        </p:txBody>
      </p:sp>
      <p:sp>
        <p:nvSpPr>
          <p:cNvPr id="71" name="CardBody"/>
          <p:cNvSpPr/>
          <p:nvPr/>
        </p:nvSpPr>
        <p:spPr>
          <a:xfrm>
            <a:off x="457200"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Experience suggests questions</a:t>
            </a:r>
          </a:p>
          <a:p>
            <a:pPr marL="0" indent="0" algn="ctr">
              <a:lnSpc>
                <a:spcPct val="104000"/>
              </a:lnSpc>
              <a:spcBef>
                <a:spcPts val="400"/>
              </a:spcBef>
              <a:buNone/>
            </a:pPr>
            <a:r>
              <a:rPr lang="en-US" sz="1750" dirty="0">
                <a:solidFill>
                  <a:srgbClr val="000000"/>
                </a:solidFill>
                <a:latin typeface="Arial"/>
                <a:cs typeface="Arial"/>
              </a:rPr>
              <a:t>Fair comparisons in enough patients answer them</a:t>
            </a:r>
          </a:p>
        </p:txBody>
      </p:sp>
      <p:sp>
        <p:nvSpPr>
          <p:cNvPr id="72" name="CardHead"/>
          <p:cNvSpPr/>
          <p:nvPr/>
        </p:nvSpPr>
        <p:spPr>
          <a:xfrm>
            <a:off x="4283066" y="1817823"/>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Ask precisely</a:t>
            </a:r>
          </a:p>
        </p:txBody>
      </p:sp>
      <p:sp>
        <p:nvSpPr>
          <p:cNvPr id="73" name="CardBody"/>
          <p:cNvSpPr/>
          <p:nvPr/>
        </p:nvSpPr>
        <p:spPr>
          <a:xfrm>
            <a:off x="4283066"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 PICO(T) question</a:t>
            </a:r>
          </a:p>
          <a:p>
            <a:pPr marL="0" indent="0" algn="ctr">
              <a:lnSpc>
                <a:spcPct val="104000"/>
              </a:lnSpc>
              <a:spcBef>
                <a:spcPts val="400"/>
              </a:spcBef>
              <a:buNone/>
            </a:pPr>
            <a:r>
              <a:rPr lang="en-US" sz="1750" dirty="0">
                <a:solidFill>
                  <a:srgbClr val="000000"/>
                </a:solidFill>
                <a:latin typeface="Arial"/>
                <a:cs typeface="Arial"/>
              </a:rPr>
              <a:t>One primary outcome</a:t>
            </a:r>
          </a:p>
          <a:p>
            <a:pPr marL="0" indent="0" algn="ctr">
              <a:lnSpc>
                <a:spcPct val="104000"/>
              </a:lnSpc>
              <a:spcBef>
                <a:spcPts val="400"/>
              </a:spcBef>
              <a:buNone/>
            </a:pPr>
            <a:r>
              <a:rPr lang="en-US" sz="1750" dirty="0">
                <a:solidFill>
                  <a:srgbClr val="000000"/>
                </a:solidFill>
                <a:latin typeface="Arial"/>
                <a:cs typeface="Arial"/>
              </a:rPr>
              <a:t>A FINER check before you start</a:t>
            </a:r>
          </a:p>
        </p:txBody>
      </p:sp>
      <p:sp>
        <p:nvSpPr>
          <p:cNvPr id="74" name="CardHead"/>
          <p:cNvSpPr/>
          <p:nvPr/>
        </p:nvSpPr>
        <p:spPr>
          <a:xfrm>
            <a:off x="8108932" y="1817823"/>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Plan it</a:t>
            </a:r>
          </a:p>
        </p:txBody>
      </p:sp>
      <p:sp>
        <p:nvSpPr>
          <p:cNvPr id="75" name="CardBody"/>
          <p:cNvSpPr/>
          <p:nvPr/>
        </p:nvSpPr>
        <p:spPr>
          <a:xfrm>
            <a:off x="8108932"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One aim</a:t>
            </a:r>
          </a:p>
          <a:p>
            <a:pPr marL="0" indent="0" algn="ctr">
              <a:lnSpc>
                <a:spcPct val="104000"/>
              </a:lnSpc>
              <a:spcBef>
                <a:spcPts val="400"/>
              </a:spcBef>
              <a:buNone/>
            </a:pPr>
            <a:r>
              <a:rPr lang="en-US" sz="1750" dirty="0">
                <a:solidFill>
                  <a:srgbClr val="000000"/>
                </a:solidFill>
                <a:latin typeface="Arial"/>
                <a:cs typeface="Arial"/>
              </a:rPr>
              <a:t>2-3 measurable objectives</a:t>
            </a:r>
          </a:p>
          <a:p>
            <a:pPr marL="0" indent="0" algn="ctr">
              <a:lnSpc>
                <a:spcPct val="104000"/>
              </a:lnSpc>
              <a:spcBef>
                <a:spcPts val="400"/>
              </a:spcBef>
              <a:buNone/>
            </a:pPr>
            <a:r>
              <a:rPr lang="en-US" sz="1750" dirty="0">
                <a:solidFill>
                  <a:srgbClr val="000000"/>
                </a:solidFill>
                <a:latin typeface="Arial"/>
                <a:cs typeface="Arial"/>
              </a:rPr>
              <a:t>A testable H0 and H1</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Next Saturday: find and read what is already known about your question.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Exit question (in the chat)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Answer in the chat before you leave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Q1: which FINER letter did our running example fail, and why?</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Q2: rewrite as an objective: 'To understand fluid balance in our ICU'</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One short answer per person in the chat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Homework for next Saturday (Session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INDIVIDUAL TASK</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Finish your Proposal Part 1 draft: question, FINER check, aim, objectives, H0/H1</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Exercise 4 on the exercise sheet: 2-3 English synonyms for each PICO word</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Install Zotero (free, zotero.org) and its Word plug-in</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Ready for next Saturday</a:t>
            </a:r>
          </a:p>
          <a:p>
            <a:pPr marL="0" indent="0" algn="ctr">
              <a:lnSpc>
                <a:spcPct val="104000"/>
              </a:lnSpc>
              <a:spcBef>
                <a:spcPts val="300"/>
              </a:spcBef>
              <a:buNone/>
            </a:pPr>
            <a:r>
              <a:rPr lang="en-US" sz="1500" dirty="0">
                <a:solidFill>
                  <a:srgbClr val="000000"/>
                </a:solidFill>
                <a:latin typeface="Arial"/>
                <a:cs typeface="Arial"/>
              </a:rPr>
              <a:t>Your PICO question</a:t>
            </a:r>
          </a:p>
          <a:p>
            <a:pPr marL="0" indent="0" algn="ctr">
              <a:lnSpc>
                <a:spcPct val="104000"/>
              </a:lnSpc>
              <a:spcBef>
                <a:spcPts val="300"/>
              </a:spcBef>
              <a:buNone/>
            </a:pPr>
            <a:r>
              <a:rPr lang="en-US" sz="1500" dirty="0">
                <a:solidFill>
                  <a:srgbClr val="000000"/>
                </a:solidFill>
                <a:latin typeface="Arial"/>
                <a:cs typeface="Arial"/>
              </a:rPr>
              <a:t>Your synonym list</a:t>
            </a:r>
          </a:p>
          <a:p>
            <a:pPr marL="0" indent="0" algn="ctr">
              <a:lnSpc>
                <a:spcPct val="104000"/>
              </a:lnSpc>
              <a:spcBef>
                <a:spcPts val="300"/>
              </a:spcBef>
              <a:buNone/>
            </a:pPr>
            <a:r>
              <a:rPr lang="en-US" sz="1500" dirty="0">
                <a:solidFill>
                  <a:srgbClr val="000000"/>
                </a:solidFill>
                <a:latin typeface="Arial"/>
                <a:cs typeface="Arial"/>
              </a:rPr>
              <a:t>A computer with Zotero</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OUTPUT   </a:t>
            </a:r>
            <a:r>
              <a:rPr lang="en-US" sz="1500" dirty="0">
                <a:solidFill>
                  <a:srgbClr val="000000"/>
                </a:solidFill>
                <a:latin typeface="Arial"/>
                <a:cs typeface="Arial"/>
              </a:rPr>
              <a:t>Question, synonym list and Zotero ready for the search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Extra slides: Session 1</a:t>
            </a:r>
          </a:p>
          <a:p>
            <a:pPr marL="0" indent="0" algn="ctr">
              <a:spcBef>
                <a:spcPts val="1200"/>
              </a:spcBef>
              <a:buNone/>
            </a:pPr>
            <a:r>
              <a:rPr lang="en-US" sz="1900" i="1" dirty="0">
                <a:solidFill>
                  <a:srgbClr val="595959"/>
                </a:solidFill>
                <a:latin typeface="Arial"/>
                <a:cs typeface="Arial"/>
              </a:rPr>
              <a:t>Use if time allows, or for self-study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Research, audit or quality improvement?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31744"/>
          <a:ext cx="11277600" cy="2898392"/>
        </p:xfrm>
        <a:graphic>
          <a:graphicData uri="http://schemas.openxmlformats.org/drawingml/2006/table">
            <a:tbl>
              <a:tblPr firstRow="1" bandRow="1">
                <a:tableStyleId>{5C22544A-7EE6-4342-B048-85BDC9FD1C3A}</a:tableStyleId>
              </a:tblPr>
              <a:tblGrid>
                <a:gridCol w="2200507"/>
                <a:gridCol w="3025697"/>
                <a:gridCol w="3025697"/>
                <a:gridCol w="3025699"/>
              </a:tblGrid>
              <a:tr h="380000">
                <a:tc>
                  <a:txBody>
                    <a:bodyPr/>
                    <a:lstStyle/>
                    <a:p>
                      <a:pPr algn="l"/>
                      <a:r>
                        <a:rPr lang="en-US" sz="17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700" b="1" dirty="0">
                          <a:solidFill>
                            <a:srgbClr val="FFFFFF"/>
                          </a:solidFill>
                          <a:latin typeface="Arial"/>
                          <a:cs typeface="Arial"/>
                        </a:rPr>
                        <a:t>Research</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Clinical audit</a:t>
                      </a:r>
                    </a:p>
                  </a:txBody>
                  <a:tcPr marL="73152" marR="73152" marT="45720" marB="45720" anchor="ctr">
                    <a:solidFill>
                      <a:srgbClr val="0B376C"/>
                    </a:solidFill>
                  </a:tcPr>
                </a:tc>
                <a:tc>
                  <a:txBody>
                    <a:bodyPr/>
                    <a:lstStyle/>
                    <a:p>
                      <a:pPr algn="l"/>
                      <a:r>
                        <a:rPr lang="en-US" sz="1700" b="1" dirty="0">
                          <a:solidFill>
                            <a:srgbClr val="FFFFFF"/>
                          </a:solidFill>
                          <a:latin typeface="Arial"/>
                          <a:cs typeface="Arial"/>
                        </a:rPr>
                        <a:t>Quality improvement</a:t>
                      </a:r>
                    </a:p>
                  </a:txBody>
                  <a:tcPr marL="73152" marR="73152" marT="45720" marB="45720" anchor="ctr">
                    <a:solidFill>
                      <a:srgbClr val="5FA39B"/>
                    </a:solidFill>
                  </a:tcPr>
                </a:tc>
              </a:tr>
              <a:tr h="629598">
                <a:tc>
                  <a:txBody>
                    <a:bodyPr/>
                    <a:lstStyle/>
                    <a:p>
                      <a:pPr algn="l"/>
                      <a:r>
                        <a:rPr lang="en-US" sz="1700" b="1" dirty="0">
                          <a:solidFill>
                            <a:srgbClr val="000000"/>
                          </a:solidFill>
                          <a:latin typeface="Arial"/>
                          <a:cs typeface="Arial"/>
                        </a:rPr>
                        <a:t>Asks</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What is the best practice?</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Are we meeting the standard?</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How do we get better, step by step?</a:t>
                      </a:r>
                    </a:p>
                  </a:txBody>
                  <a:tcPr marL="73152" marR="73152" marT="45720" marB="45720" anchor="ctr">
                    <a:solidFill>
                      <a:srgbClr val="FFFFFF"/>
                    </a:solidFill>
                  </a:tcPr>
                </a:tc>
              </a:tr>
              <a:tr h="629598">
                <a:tc>
                  <a:txBody>
                    <a:bodyPr/>
                    <a:lstStyle/>
                    <a:p>
                      <a:pPr algn="l"/>
                      <a:r>
                        <a:rPr lang="en-US" sz="1700" b="1" dirty="0">
                          <a:solidFill>
                            <a:srgbClr val="000000"/>
                          </a:solidFill>
                          <a:latin typeface="Arial"/>
                          <a:cs typeface="Arial"/>
                        </a:rPr>
                        <a:t>Fluid example</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Restrictive vs usual: which is better?</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Is fluid balance recorded daily?</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A daily checklist, tested in small cycles</a:t>
                      </a:r>
                    </a:p>
                  </a:txBody>
                  <a:tcPr marL="73152" marR="73152" marT="45720" marB="45720" anchor="ctr">
                    <a:solidFill>
                      <a:srgbClr val="F5F9FA"/>
                    </a:solidFill>
                  </a:tcPr>
                </a:tc>
              </a:tr>
              <a:tr h="629598">
                <a:tc>
                  <a:txBody>
                    <a:bodyPr/>
                    <a:lstStyle/>
                    <a:p>
                      <a:pPr algn="l"/>
                      <a:r>
                        <a:rPr lang="en-US" sz="1700" b="1" dirty="0">
                          <a:solidFill>
                            <a:srgbClr val="000000"/>
                          </a:solidFill>
                          <a:latin typeface="Arial"/>
                          <a:cs typeface="Arial"/>
                        </a:rPr>
                        <a:t>Results apply to</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Patients elsewhere</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Our unit</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Our unit</a:t>
                      </a:r>
                    </a:p>
                  </a:txBody>
                  <a:tcPr marL="73152" marR="73152" marT="45720" marB="45720" anchor="ctr">
                    <a:solidFill>
                      <a:srgbClr val="FFFFFF"/>
                    </a:solidFill>
                  </a:tcPr>
                </a:tc>
              </a:tr>
              <a:tr h="629598">
                <a:tc>
                  <a:txBody>
                    <a:bodyPr/>
                    <a:lstStyle/>
                    <a:p>
                      <a:pPr algn="l"/>
                      <a:r>
                        <a:rPr lang="en-US" sz="1700" b="1" dirty="0">
                          <a:solidFill>
                            <a:srgbClr val="000000"/>
                          </a:solidFill>
                          <a:latin typeface="Arial"/>
                          <a:cs typeface="Arial"/>
                        </a:rPr>
                        <a:t>Ethics</a:t>
                      </a:r>
                    </a:p>
                  </a:txBody>
                  <a:tcPr marL="73152" marR="73152" marT="45720" marB="45720" anchor="ctr">
                    <a:solidFill>
                      <a:srgbClr val="EAF2F5"/>
                    </a:solidFill>
                  </a:tcPr>
                </a:tc>
                <a:tc>
                  <a:txBody>
                    <a:bodyPr/>
                    <a:lstStyle/>
                    <a:p>
                      <a:pPr algn="l"/>
                      <a:r>
                        <a:rPr lang="en-US" sz="1700" b="1" dirty="0">
                          <a:solidFill>
                            <a:srgbClr val="B23B2E"/>
                          </a:solidFill>
                          <a:latin typeface="Arial"/>
                          <a:cs typeface="Arial"/>
                        </a:rPr>
                        <a:t>Ethics committee approval: always</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Local approval, usually no committee</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Local approval, ethics review if new risk</a:t>
                      </a:r>
                    </a:p>
                  </a:txBody>
                  <a:tcPr marL="73152" marR="73152" marT="45720" marB="45720" anchor="ctr">
                    <a:solidFill>
                      <a:srgbClr val="F5F9FA"/>
                    </a:solidFill>
                  </a:tcPr>
                </a:tc>
              </a:tr>
            </a:tbl>
          </a:graphicData>
        </a:graphic>
      </p:graphicFrame>
      <p:sp>
        <p:nvSpPr>
          <p:cNvPr id="31" name="Caption"/>
          <p:cNvSpPr txBox="1"/>
          <p:nvPr/>
        </p:nvSpPr>
        <p:spPr>
          <a:xfrm>
            <a:off x="457200" y="4420136"/>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Not sure which it is? Ask the ethics committee before you start.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Research asks what is best. Audit asks if we do it. QI makes it better.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the three examples as research questions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Backup for 'Three more examples': write the question for each row, then compare.</a:t>
            </a:r>
          </a:p>
        </p:txBody>
      </p:sp>
      <p:sp>
        <p:nvSpPr>
          <p:cNvPr id="70" name="CardHead"/>
          <p:cNvSpPr/>
          <p:nvPr/>
        </p:nvSpPr>
        <p:spPr>
          <a:xfrm>
            <a:off x="457200" y="195981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Treatment (PICO)</a:t>
            </a:r>
          </a:p>
        </p:txBody>
      </p:sp>
      <p:sp>
        <p:nvSpPr>
          <p:cNvPr id="71" name="CardBody"/>
          <p:cNvSpPr/>
          <p:nvPr/>
        </p:nvSpPr>
        <p:spPr>
          <a:xfrm>
            <a:off x="457200" y="2599815"/>
            <a:ext cx="3625866" cy="20505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In ventilated adults in the ICU, does a twice-daily bed-head checklist, compared with usual care, reduce ventilator-associated pneumonia by ICU day 28?</a:t>
            </a:r>
          </a:p>
        </p:txBody>
      </p:sp>
      <p:sp>
        <p:nvSpPr>
          <p:cNvPr id="72" name="CardHead"/>
          <p:cNvSpPr/>
          <p:nvPr/>
        </p:nvSpPr>
        <p:spPr>
          <a:xfrm>
            <a:off x="4283066" y="195981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Risk factor (PECO)</a:t>
            </a:r>
          </a:p>
        </p:txBody>
      </p:sp>
      <p:sp>
        <p:nvSpPr>
          <p:cNvPr id="73" name="CardBody"/>
          <p:cNvSpPr/>
          <p:nvPr/>
        </p:nvSpPr>
        <p:spPr>
          <a:xfrm>
            <a:off x="4283066" y="2599815"/>
            <a:ext cx="3625866" cy="20505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In adults on the medical ward, is obesity (BMI 30 or more), compared with a BMI under 30, associated with new pressure injury during the admission?</a:t>
            </a:r>
          </a:p>
        </p:txBody>
      </p:sp>
      <p:sp>
        <p:nvSpPr>
          <p:cNvPr id="74" name="CardHead"/>
          <p:cNvSpPr/>
          <p:nvPr/>
        </p:nvSpPr>
        <p:spPr>
          <a:xfrm>
            <a:off x="8108932" y="1959815"/>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How common? (P + O)</a:t>
            </a:r>
          </a:p>
        </p:txBody>
      </p:sp>
      <p:sp>
        <p:nvSpPr>
          <p:cNvPr id="75" name="CardBody"/>
          <p:cNvSpPr/>
          <p:nvPr/>
        </p:nvSpPr>
        <p:spPr>
          <a:xfrm>
            <a:off x="8108932" y="2599815"/>
            <a:ext cx="3625866" cy="20505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In adults aged 65 or over after hip surgery, how common is delirium in the first 7 days?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Each question names the patients, the comparison (if any), the outcome and the time.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PICO for other kinds of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35790"/>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Diagnosis</a:t>
            </a:r>
          </a:p>
        </p:txBody>
      </p:sp>
      <p:sp>
        <p:nvSpPr>
          <p:cNvPr id="71" name="CardBody"/>
          <p:cNvSpPr/>
          <p:nvPr/>
        </p:nvSpPr>
        <p:spPr>
          <a:xfrm>
            <a:off x="457200" y="2275790"/>
            <a:ext cx="3625866" cy="21426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P: patients tested</a:t>
            </a:r>
          </a:p>
          <a:p>
            <a:pPr marL="0" indent="0" algn="ctr">
              <a:lnSpc>
                <a:spcPct val="104000"/>
              </a:lnSpc>
              <a:spcBef>
                <a:spcPts val="400"/>
              </a:spcBef>
              <a:buNone/>
            </a:pPr>
            <a:r>
              <a:rPr lang="en-US" sz="1400" dirty="0">
                <a:solidFill>
                  <a:srgbClr val="000000"/>
                </a:solidFill>
                <a:latin typeface="Arial"/>
                <a:cs typeface="Arial"/>
              </a:rPr>
              <a:t>I: the new test</a:t>
            </a:r>
          </a:p>
          <a:p>
            <a:pPr marL="0" indent="0" algn="ctr">
              <a:lnSpc>
                <a:spcPct val="104000"/>
              </a:lnSpc>
              <a:spcBef>
                <a:spcPts val="400"/>
              </a:spcBef>
              <a:buNone/>
            </a:pPr>
            <a:r>
              <a:rPr lang="en-US" sz="1400" dirty="0">
                <a:solidFill>
                  <a:srgbClr val="000000"/>
                </a:solidFill>
                <a:latin typeface="Arial"/>
                <a:cs typeface="Arial"/>
              </a:rPr>
              <a:t>C: the reference standard</a:t>
            </a:r>
          </a:p>
          <a:p>
            <a:pPr marL="0" indent="0" algn="ctr">
              <a:lnSpc>
                <a:spcPct val="104000"/>
              </a:lnSpc>
              <a:spcBef>
                <a:spcPts val="400"/>
              </a:spcBef>
              <a:buNone/>
            </a:pPr>
            <a:r>
              <a:rPr lang="en-US" sz="1400" dirty="0">
                <a:solidFill>
                  <a:srgbClr val="000000"/>
                </a:solidFill>
                <a:latin typeface="Arial"/>
                <a:cs typeface="Arial"/>
              </a:rPr>
              <a:t>O: accuracy</a:t>
            </a:r>
          </a:p>
          <a:p>
            <a:pPr marL="0" indent="0" algn="ctr">
              <a:lnSpc>
                <a:spcPct val="104000"/>
              </a:lnSpc>
              <a:spcBef>
                <a:spcPts val="400"/>
              </a:spcBef>
              <a:buNone/>
            </a:pPr>
            <a:r>
              <a:rPr lang="en-US" sz="1400" i="1" dirty="0">
                <a:solidFill>
                  <a:srgbClr val="000000"/>
                </a:solidFill>
                <a:latin typeface="Arial"/>
                <a:cs typeface="Arial"/>
              </a:rPr>
              <a:t>Example: in suspected sepsis in the emergency department, how accurate is qSOFA compared with Sepsis-3?</a:t>
            </a:r>
          </a:p>
        </p:txBody>
      </p:sp>
      <p:sp>
        <p:nvSpPr>
          <p:cNvPr id="72" name="CardHead"/>
          <p:cNvSpPr/>
          <p:nvPr/>
        </p:nvSpPr>
        <p:spPr>
          <a:xfrm>
            <a:off x="4283066" y="1635790"/>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Prognosis</a:t>
            </a:r>
          </a:p>
        </p:txBody>
      </p:sp>
      <p:sp>
        <p:nvSpPr>
          <p:cNvPr id="73" name="CardBody"/>
          <p:cNvSpPr/>
          <p:nvPr/>
        </p:nvSpPr>
        <p:spPr>
          <a:xfrm>
            <a:off x="4283066" y="2275790"/>
            <a:ext cx="3625866" cy="21426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P: patients with a condition</a:t>
            </a:r>
          </a:p>
          <a:p>
            <a:pPr marL="0" indent="0" algn="ctr">
              <a:lnSpc>
                <a:spcPct val="104000"/>
              </a:lnSpc>
              <a:spcBef>
                <a:spcPts val="400"/>
              </a:spcBef>
              <a:buNone/>
            </a:pPr>
            <a:r>
              <a:rPr lang="en-US" sz="1400" dirty="0">
                <a:solidFill>
                  <a:srgbClr val="000000"/>
                </a:solidFill>
                <a:latin typeface="Arial"/>
                <a:cs typeface="Arial"/>
              </a:rPr>
              <a:t>E: a risk factor</a:t>
            </a:r>
          </a:p>
          <a:p>
            <a:pPr marL="0" indent="0" algn="ctr">
              <a:lnSpc>
                <a:spcPct val="104000"/>
              </a:lnSpc>
              <a:spcBef>
                <a:spcPts val="400"/>
              </a:spcBef>
              <a:buNone/>
            </a:pPr>
            <a:r>
              <a:rPr lang="en-US" sz="1400" dirty="0">
                <a:solidFill>
                  <a:srgbClr val="000000"/>
                </a:solidFill>
                <a:latin typeface="Arial"/>
                <a:cs typeface="Arial"/>
              </a:rPr>
              <a:t>O: what happens</a:t>
            </a:r>
          </a:p>
          <a:p>
            <a:pPr marL="0" indent="0" algn="ctr">
              <a:lnSpc>
                <a:spcPct val="104000"/>
              </a:lnSpc>
              <a:spcBef>
                <a:spcPts val="400"/>
              </a:spcBef>
              <a:buNone/>
            </a:pPr>
            <a:r>
              <a:rPr lang="en-US" sz="1400" dirty="0">
                <a:solidFill>
                  <a:srgbClr val="000000"/>
                </a:solidFill>
                <a:latin typeface="Arial"/>
                <a:cs typeface="Arial"/>
              </a:rPr>
              <a:t>T: by when</a:t>
            </a:r>
          </a:p>
          <a:p>
            <a:pPr marL="0" indent="0" algn="ctr">
              <a:lnSpc>
                <a:spcPct val="104000"/>
              </a:lnSpc>
              <a:spcBef>
                <a:spcPts val="400"/>
              </a:spcBef>
              <a:buNone/>
            </a:pPr>
            <a:r>
              <a:rPr lang="en-US" sz="1400" i="1" dirty="0">
                <a:solidFill>
                  <a:srgbClr val="000000"/>
                </a:solidFill>
                <a:latin typeface="Arial"/>
                <a:cs typeface="Arial"/>
              </a:rPr>
              <a:t>Example: in septic shock, is a lactate above 4 mmol/L on admission linked to death by day 28?</a:t>
            </a:r>
          </a:p>
        </p:txBody>
      </p:sp>
      <p:sp>
        <p:nvSpPr>
          <p:cNvPr id="74" name="CardHead"/>
          <p:cNvSpPr/>
          <p:nvPr/>
        </p:nvSpPr>
        <p:spPr>
          <a:xfrm>
            <a:off x="8108932" y="1635790"/>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Qualitative (SPIDER)</a:t>
            </a:r>
          </a:p>
        </p:txBody>
      </p:sp>
      <p:sp>
        <p:nvSpPr>
          <p:cNvPr id="75" name="CardBody"/>
          <p:cNvSpPr/>
          <p:nvPr/>
        </p:nvSpPr>
        <p:spPr>
          <a:xfrm>
            <a:off x="8108932" y="2275790"/>
            <a:ext cx="3625866" cy="21426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S: Sample</a:t>
            </a:r>
          </a:p>
          <a:p>
            <a:pPr marL="0" indent="0" algn="ctr">
              <a:lnSpc>
                <a:spcPct val="104000"/>
              </a:lnSpc>
              <a:spcBef>
                <a:spcPts val="400"/>
              </a:spcBef>
              <a:buNone/>
            </a:pPr>
            <a:r>
              <a:rPr lang="en-US" sz="1400" dirty="0">
                <a:solidFill>
                  <a:srgbClr val="000000"/>
                </a:solidFill>
                <a:latin typeface="Arial"/>
                <a:cs typeface="Arial"/>
              </a:rPr>
              <a:t>PI: Phenomenon of Interest</a:t>
            </a:r>
          </a:p>
          <a:p>
            <a:pPr marL="0" indent="0" algn="ctr">
              <a:lnSpc>
                <a:spcPct val="104000"/>
              </a:lnSpc>
              <a:spcBef>
                <a:spcPts val="400"/>
              </a:spcBef>
              <a:buNone/>
            </a:pPr>
            <a:r>
              <a:rPr lang="en-US" sz="1400" dirty="0">
                <a:solidFill>
                  <a:srgbClr val="000000"/>
                </a:solidFill>
                <a:latin typeface="Arial"/>
                <a:cs typeface="Arial"/>
              </a:rPr>
              <a:t>D: Design</a:t>
            </a:r>
          </a:p>
          <a:p>
            <a:pPr marL="0" indent="0" algn="ctr">
              <a:lnSpc>
                <a:spcPct val="104000"/>
              </a:lnSpc>
              <a:spcBef>
                <a:spcPts val="400"/>
              </a:spcBef>
              <a:buNone/>
            </a:pPr>
            <a:r>
              <a:rPr lang="en-US" sz="1400" dirty="0">
                <a:solidFill>
                  <a:srgbClr val="000000"/>
                </a:solidFill>
                <a:latin typeface="Arial"/>
                <a:cs typeface="Arial"/>
              </a:rPr>
              <a:t>E: Evaluation, R: Research type</a:t>
            </a:r>
          </a:p>
          <a:p>
            <a:pPr marL="0" indent="0" algn="ctr">
              <a:lnSpc>
                <a:spcPct val="104000"/>
              </a:lnSpc>
              <a:spcBef>
                <a:spcPts val="400"/>
              </a:spcBef>
              <a:buNone/>
            </a:pPr>
            <a:r>
              <a:rPr lang="en-US" sz="1400" i="1" dirty="0">
                <a:solidFill>
                  <a:srgbClr val="000000"/>
                </a:solidFill>
                <a:latin typeface="Arial"/>
                <a:cs typeface="Arial"/>
              </a:rPr>
              <a:t>Example: how do ICU nurses experience stopping IV fluids, in interviews?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letters change, but the idea stays the same: be explicit.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More practice: which FINER letter fails?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4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All hospitalised adults in the country: does vitamin D reduce mortality over 10 years?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Septic shock: does withholding antibiotics for 24 h reduce resistance?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Do our ICU nurses wash their hands? (audited monthly for 5 years)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Pneumonia: does the colour of the drug chart affect 28-day mortality?</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One letter per question, in the poll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Vague vs answerable: another example from the ward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35249"/>
            <a:ext cx="55388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Vague</a:t>
            </a:r>
          </a:p>
        </p:txBody>
      </p:sp>
      <p:sp>
        <p:nvSpPr>
          <p:cNvPr id="71" name="CardBody"/>
          <p:cNvSpPr/>
          <p:nvPr/>
        </p:nvSpPr>
        <p:spPr>
          <a:xfrm>
            <a:off x="457200" y="2175249"/>
            <a:ext cx="5538800" cy="2444253"/>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50" b="1" dirty="0">
                <a:solidFill>
                  <a:srgbClr val="000000"/>
                </a:solidFill>
                <a:latin typeface="Arial"/>
                <a:cs typeface="Arial"/>
              </a:rPr>
              <a:t>"Do night shifts cause medication errors?"</a:t>
            </a:r>
          </a:p>
          <a:p>
            <a:pPr marL="0" indent="0" algn="ctr">
              <a:lnSpc>
                <a:spcPct val="104000"/>
              </a:lnSpc>
              <a:spcBef>
                <a:spcPts val="400"/>
              </a:spcBef>
              <a:buNone/>
            </a:pPr>
            <a:r>
              <a:rPr lang="en-US" sz="1950" dirty="0">
                <a:solidFill>
                  <a:srgbClr val="000000"/>
                </a:solidFill>
                <a:latin typeface="Arial"/>
                <a:cs typeface="Arial"/>
              </a:rPr>
              <a:t>Which staff?</a:t>
            </a:r>
          </a:p>
          <a:p>
            <a:pPr marL="0" indent="0" algn="ctr">
              <a:lnSpc>
                <a:spcPct val="104000"/>
              </a:lnSpc>
              <a:spcBef>
                <a:spcPts val="400"/>
              </a:spcBef>
              <a:buNone/>
            </a:pPr>
            <a:r>
              <a:rPr lang="en-US" sz="1950" dirty="0">
                <a:solidFill>
                  <a:srgbClr val="000000"/>
                </a:solidFill>
                <a:latin typeface="Arial"/>
                <a:cs typeface="Arial"/>
              </a:rPr>
              <a:t>Compared with what?</a:t>
            </a:r>
          </a:p>
          <a:p>
            <a:pPr marL="0" indent="0" algn="ctr">
              <a:lnSpc>
                <a:spcPct val="104000"/>
              </a:lnSpc>
              <a:spcBef>
                <a:spcPts val="400"/>
              </a:spcBef>
              <a:buNone/>
            </a:pPr>
            <a:r>
              <a:rPr lang="en-US" sz="1950" dirty="0">
                <a:solidFill>
                  <a:srgbClr val="000000"/>
                </a:solidFill>
                <a:latin typeface="Arial"/>
                <a:cs typeface="Arial"/>
              </a:rPr>
              <a:t>Which errors, counted how?</a:t>
            </a:r>
          </a:p>
          <a:p>
            <a:pPr marL="0" indent="0" algn="ctr">
              <a:lnSpc>
                <a:spcPct val="104000"/>
              </a:lnSpc>
              <a:spcBef>
                <a:spcPts val="400"/>
              </a:spcBef>
              <a:buNone/>
            </a:pPr>
            <a:r>
              <a:rPr lang="en-US" sz="1950" dirty="0">
                <a:solidFill>
                  <a:srgbClr val="000000"/>
                </a:solidFill>
                <a:latin typeface="Arial"/>
                <a:cs typeface="Arial"/>
              </a:rPr>
              <a:t>Over what period?</a:t>
            </a:r>
          </a:p>
        </p:txBody>
      </p:sp>
      <p:sp>
        <p:nvSpPr>
          <p:cNvPr id="72" name="CardHead"/>
          <p:cNvSpPr/>
          <p:nvPr/>
        </p:nvSpPr>
        <p:spPr>
          <a:xfrm>
            <a:off x="6196000" y="1535249"/>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Answerable, with PECO</a:t>
            </a:r>
          </a:p>
        </p:txBody>
      </p:sp>
      <p:sp>
        <p:nvSpPr>
          <p:cNvPr id="73" name="CardBody"/>
          <p:cNvSpPr/>
          <p:nvPr/>
        </p:nvSpPr>
        <p:spPr>
          <a:xfrm>
            <a:off x="6196000" y="2175249"/>
            <a:ext cx="5538800" cy="2444253"/>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950" dirty="0">
                <a:solidFill>
                  <a:srgbClr val="000000"/>
                </a:solidFill>
                <a:latin typeface="Arial"/>
                <a:cs typeface="Arial"/>
              </a:rPr>
              <a:t>P: In ward nurses,</a:t>
            </a:r>
          </a:p>
          <a:p>
            <a:pPr marL="0" indent="0" algn="ctr">
              <a:lnSpc>
                <a:spcPct val="104000"/>
              </a:lnSpc>
              <a:spcBef>
                <a:spcPts val="400"/>
              </a:spcBef>
              <a:buNone/>
            </a:pPr>
            <a:r>
              <a:rPr lang="en-US" sz="1950" dirty="0">
                <a:solidFill>
                  <a:srgbClr val="000000"/>
                </a:solidFill>
                <a:latin typeface="Arial"/>
                <a:cs typeface="Arial"/>
              </a:rPr>
              <a:t>E: are night shifts,</a:t>
            </a:r>
          </a:p>
          <a:p>
            <a:pPr marL="0" indent="0" algn="ctr">
              <a:lnSpc>
                <a:spcPct val="104000"/>
              </a:lnSpc>
              <a:spcBef>
                <a:spcPts val="400"/>
              </a:spcBef>
              <a:buNone/>
            </a:pPr>
            <a:r>
              <a:rPr lang="en-US" sz="1950" dirty="0">
                <a:solidFill>
                  <a:srgbClr val="000000"/>
                </a:solidFill>
                <a:latin typeface="Arial"/>
                <a:cs typeface="Arial"/>
              </a:rPr>
              <a:t>C: compared with day shifts,</a:t>
            </a:r>
          </a:p>
          <a:p>
            <a:pPr marL="0" indent="0" algn="ctr">
              <a:lnSpc>
                <a:spcPct val="104000"/>
              </a:lnSpc>
              <a:spcBef>
                <a:spcPts val="400"/>
              </a:spcBef>
              <a:buNone/>
            </a:pPr>
            <a:r>
              <a:rPr lang="en-US" sz="1950" dirty="0">
                <a:solidFill>
                  <a:srgbClr val="000000"/>
                </a:solidFill>
                <a:latin typeface="Arial"/>
                <a:cs typeface="Arial"/>
              </a:rPr>
              <a:t>O: linked to more errors per 1,000 doses</a:t>
            </a:r>
          </a:p>
          <a:p>
            <a:pPr marL="0" indent="0" algn="ctr">
              <a:lnSpc>
                <a:spcPct val="104000"/>
              </a:lnSpc>
              <a:spcBef>
                <a:spcPts val="400"/>
              </a:spcBef>
              <a:buNone/>
            </a:pPr>
            <a:r>
              <a:rPr lang="en-US" sz="1950" dirty="0">
                <a:solidFill>
                  <a:srgbClr val="000000"/>
                </a:solidFill>
                <a:latin typeface="Arial"/>
                <a:cs typeface="Arial"/>
              </a:rPr>
              <a:t>T: over 6 months?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Practise on your own ward: take a corridor question and fill the boxes.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