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Default Extension="png" ContentType="image/png"/>
</Types>
</file>

<file path=_rels/.rels><?xml version="1.0" encoding="utf-8"?>
<Relationships xmlns="http://schemas.openxmlformats.org/package/2006/relationships">
  <Relationship Id="rId3" Type="http://schemas.openxmlformats.org/package/2006/relationships/metadata/core-properties" Target="docProps/core.xml"/>
  <Relationship Id="rId2" Type="http://schemas.openxmlformats.org/package/2006/relationships/metadata/thumbnail" Target="docProps/thumbnail.jpeg"/>
  <Relationship Id="rId1" Type="http://schemas.openxmlformats.org/officeDocument/2006/relationships/officeDocument" Target="ppt/presentation.xml"/>
  <Relationship Id="rId5" Type="http://schemas.openxmlformats.org/officeDocument/2006/relationships/custom-properties" Target="docProps/custom.xml"/>
  <Relationship Id="rId4" Type="http://schemas.openxmlformats.org/officeDocument/2006/relationships/extended-properties" Target="docProps/app.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9"/>
  </p:notesMasterIdLst>
  <p:handoutMasterIdLst>
    <p:handoutMasterId r:id="rId10"/>
  </p:handoutMasterIdLst>
  <p:sldIdLst>
    <p:sldId id="256" r:id="rId100"/>
    <p:sldId id="257" r:id="rId101"/>
    <p:sldId id="258" r:id="rId102"/>
    <p:sldId id="259" r:id="rId103"/>
    <p:sldId id="260" r:id="rId104"/>
    <p:sldId id="261" r:id="rId105"/>
    <p:sldId id="262" r:id="rId106"/>
    <p:sldId id="263" r:id="rId107"/>
    <p:sldId id="264" r:id="rId108"/>
    <p:sldId id="265" r:id="rId109"/>
    <p:sldId id="266" r:id="rId110"/>
    <p:sldId id="267" r:id="rId111"/>
    <p:sldId id="268" r:id="rId112"/>
    <p:sldId id="269" r:id="rId113"/>
    <p:sldId id="270" r:id="rId114"/>
    <p:sldId id="271" r:id="rId115"/>
    <p:sldId id="272" r:id="rId116"/>
    <p:sldId id="273" r:id="rId117"/>
    <p:sldId id="274" r:id="rId118"/>
    <p:sldId id="275" r:id="rId119"/>
    <p:sldId id="276" r:id="rId120"/>
    <p:sldId id="277" r:id="rId121"/>
    <p:sldId id="278" r:id="rId122"/>
    <p:sldId id="279" r:id="rId123"/>
    <p:sldId id="280" r:id="rId124"/>
    <p:sldId id="281" r:id="rId125"/>
    <p:sldId id="282" r:id="rId126"/>
    <p:sldId id="283" r:id="rId127"/>
    <p:sldId id="284" r:id="rId128"/>
    <p:sldId id="285" r:id="rId129"/>
    <p:sldId id="286" r:id="rId130"/>
    <p:sldId id="287" r:id="rId131"/>
    <p:sldId id="288" r:id="rId132"/>
    <p:sldId id="289" r:id="rId133"/>
    <p:sldId id="290" r:id="rId134"/>
    <p:sldId id="291" r:id="rId135"/>
    <p:sldId id="292" r:id="rId136"/>
    <p:sldId id="293" r:id="rId137"/>
    <p:sldId id="294" r:id="rId138"/>
    <p:sldId id="295" r:id="rId139"/>
    <p:sldId id="296" r:id="rId140"/>
    <p:sldId id="297" r:id="rId141"/>
    <p:sldId id="298" r:id="rId142"/>
    <p:sldId id="299" r:id="rId143"/>
    <p:sldId id="300" r:id="rId144"/>
    <p:sldId id="301" r:id="rId145"/>
    <p:sldId id="302" r:id="rId146"/>
    <p:sldId id="303" r:id="rId147"/>
    <p:sldId id="304" r:id="rId148"/>
    <p:sldId id="305" r:id="rId149"/>
    <p:sldId id="306" r:id="rId150"/>
    <p:sldId id="307" r:id="rId151"/>
    <p:sldId id="308" r:id="rId152"/>
    <p:sldId id="309" r:id="rId153"/>
    <p:sldId id="310" r:id="rId154"/>
    <p:sldId id="311" r:id="rId15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31859C"/>
    <a:srgbClr val="23815D"/>
    <a:srgbClr val="27C0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6362" autoAdjust="0"/>
  </p:normalViewPr>
  <p:slideViewPr>
    <p:cSldViewPr snapToGrid="0" snapToObjects="1">
      <p:cViewPr varScale="1">
        <p:scale>
          <a:sx n="111" d="100"/>
          <a:sy n="111" d="100"/>
        </p:scale>
        <p:origin x="558" y="96"/>
      </p:cViewPr>
      <p:guideLst>
        <p:guide orient="horz" pos="2160"/>
        <p:guide pos="384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3" Type="http://schemas.openxmlformats.org/officeDocument/2006/relationships/theme" Target="theme/theme1.xml"/><Relationship Id="rId3" Type="http://schemas.openxmlformats.org/officeDocument/2006/relationships/customXml" Target="../customXml/item3.xml"/><Relationship Id="rId12" Type="http://schemas.openxmlformats.org/officeDocument/2006/relationships/viewProps" Target="viewProps.xml"/><Relationship Id="rId2" Type="http://schemas.openxmlformats.org/officeDocument/2006/relationships/customXml" Target="../customXml/item2.xml"/><Relationship Id="rId1" Type="http://schemas.openxmlformats.org/officeDocument/2006/relationships/customXml" Target="../customXml/item1.xml"/><Relationship Id="rId11" Type="http://schemas.openxmlformats.org/officeDocument/2006/relationships/presProps" Target="presProps.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 Id="rId100" Type="http://schemas.openxmlformats.org/officeDocument/2006/relationships/slide" Target="slides/slide1.xml"/><Relationship Id="rId101" Type="http://schemas.openxmlformats.org/officeDocument/2006/relationships/slide" Target="slides/slide2.xml"/><Relationship Id="rId102" Type="http://schemas.openxmlformats.org/officeDocument/2006/relationships/slide" Target="slides/slide3.xml"/><Relationship Id="rId103" Type="http://schemas.openxmlformats.org/officeDocument/2006/relationships/slide" Target="slides/slide4.xml"/><Relationship Id="rId104" Type="http://schemas.openxmlformats.org/officeDocument/2006/relationships/slide" Target="slides/slide5.xml"/><Relationship Id="rId105" Type="http://schemas.openxmlformats.org/officeDocument/2006/relationships/slide" Target="slides/slide6.xml"/><Relationship Id="rId106" Type="http://schemas.openxmlformats.org/officeDocument/2006/relationships/slide" Target="slides/slide7.xml"/><Relationship Id="rId107" Type="http://schemas.openxmlformats.org/officeDocument/2006/relationships/slide" Target="slides/slide8.xml"/><Relationship Id="rId108" Type="http://schemas.openxmlformats.org/officeDocument/2006/relationships/slide" Target="slides/slide9.xml"/><Relationship Id="rId109" Type="http://schemas.openxmlformats.org/officeDocument/2006/relationships/slide" Target="slides/slide10.xml"/><Relationship Id="rId110" Type="http://schemas.openxmlformats.org/officeDocument/2006/relationships/slide" Target="slides/slide11.xml"/><Relationship Id="rId111" Type="http://schemas.openxmlformats.org/officeDocument/2006/relationships/slide" Target="slides/slide12.xml"/><Relationship Id="rId112" Type="http://schemas.openxmlformats.org/officeDocument/2006/relationships/slide" Target="slides/slide13.xml"/><Relationship Id="rId113" Type="http://schemas.openxmlformats.org/officeDocument/2006/relationships/slide" Target="slides/slide14.xml"/><Relationship Id="rId114" Type="http://schemas.openxmlformats.org/officeDocument/2006/relationships/slide" Target="slides/slide15.xml"/><Relationship Id="rId115" Type="http://schemas.openxmlformats.org/officeDocument/2006/relationships/slide" Target="slides/slide16.xml"/><Relationship Id="rId116" Type="http://schemas.openxmlformats.org/officeDocument/2006/relationships/slide" Target="slides/slide17.xml"/><Relationship Id="rId117" Type="http://schemas.openxmlformats.org/officeDocument/2006/relationships/slide" Target="slides/slide18.xml"/><Relationship Id="rId118" Type="http://schemas.openxmlformats.org/officeDocument/2006/relationships/slide" Target="slides/slide19.xml"/><Relationship Id="rId119" Type="http://schemas.openxmlformats.org/officeDocument/2006/relationships/slide" Target="slides/slide20.xml"/><Relationship Id="rId120" Type="http://schemas.openxmlformats.org/officeDocument/2006/relationships/slide" Target="slides/slide21.xml"/><Relationship Id="rId121" Type="http://schemas.openxmlformats.org/officeDocument/2006/relationships/slide" Target="slides/slide22.xml"/><Relationship Id="rId122" Type="http://schemas.openxmlformats.org/officeDocument/2006/relationships/slide" Target="slides/slide23.xml"/><Relationship Id="rId123" Type="http://schemas.openxmlformats.org/officeDocument/2006/relationships/slide" Target="slides/slide24.xml"/><Relationship Id="rId124" Type="http://schemas.openxmlformats.org/officeDocument/2006/relationships/slide" Target="slides/slide25.xml"/><Relationship Id="rId125" Type="http://schemas.openxmlformats.org/officeDocument/2006/relationships/slide" Target="slides/slide26.xml"/><Relationship Id="rId126" Type="http://schemas.openxmlformats.org/officeDocument/2006/relationships/slide" Target="slides/slide27.xml"/><Relationship Id="rId127" Type="http://schemas.openxmlformats.org/officeDocument/2006/relationships/slide" Target="slides/slide28.xml"/><Relationship Id="rId128" Type="http://schemas.openxmlformats.org/officeDocument/2006/relationships/slide" Target="slides/slide29.xml"/><Relationship Id="rId129" Type="http://schemas.openxmlformats.org/officeDocument/2006/relationships/slide" Target="slides/slide30.xml"/><Relationship Id="rId130" Type="http://schemas.openxmlformats.org/officeDocument/2006/relationships/slide" Target="slides/slide31.xml"/><Relationship Id="rId131" Type="http://schemas.openxmlformats.org/officeDocument/2006/relationships/slide" Target="slides/slide32.xml"/><Relationship Id="rId132" Type="http://schemas.openxmlformats.org/officeDocument/2006/relationships/slide" Target="slides/slide33.xml"/><Relationship Id="rId133" Type="http://schemas.openxmlformats.org/officeDocument/2006/relationships/slide" Target="slides/slide34.xml"/><Relationship Id="rId134" Type="http://schemas.openxmlformats.org/officeDocument/2006/relationships/slide" Target="slides/slide35.xml"/><Relationship Id="rId135" Type="http://schemas.openxmlformats.org/officeDocument/2006/relationships/slide" Target="slides/slide36.xml"/><Relationship Id="rId136" Type="http://schemas.openxmlformats.org/officeDocument/2006/relationships/slide" Target="slides/slide37.xml"/><Relationship Id="rId137" Type="http://schemas.openxmlformats.org/officeDocument/2006/relationships/slide" Target="slides/slide38.xml"/><Relationship Id="rId138" Type="http://schemas.openxmlformats.org/officeDocument/2006/relationships/slide" Target="slides/slide39.xml"/><Relationship Id="rId139" Type="http://schemas.openxmlformats.org/officeDocument/2006/relationships/slide" Target="slides/slide40.xml"/><Relationship Id="rId140" Type="http://schemas.openxmlformats.org/officeDocument/2006/relationships/slide" Target="slides/slide41.xml"/><Relationship Id="rId141" Type="http://schemas.openxmlformats.org/officeDocument/2006/relationships/slide" Target="slides/slide42.xml"/><Relationship Id="rId142" Type="http://schemas.openxmlformats.org/officeDocument/2006/relationships/slide" Target="slides/slide43.xml"/><Relationship Id="rId143" Type="http://schemas.openxmlformats.org/officeDocument/2006/relationships/slide" Target="slides/slide44.xml"/><Relationship Id="rId144" Type="http://schemas.openxmlformats.org/officeDocument/2006/relationships/slide" Target="slides/slide45.xml"/><Relationship Id="rId145" Type="http://schemas.openxmlformats.org/officeDocument/2006/relationships/slide" Target="slides/slide46.xml"/><Relationship Id="rId146" Type="http://schemas.openxmlformats.org/officeDocument/2006/relationships/slide" Target="slides/slide47.xml"/><Relationship Id="rId147" Type="http://schemas.openxmlformats.org/officeDocument/2006/relationships/slide" Target="slides/slide48.xml"/><Relationship Id="rId148" Type="http://schemas.openxmlformats.org/officeDocument/2006/relationships/slide" Target="slides/slide49.xml"/><Relationship Id="rId149" Type="http://schemas.openxmlformats.org/officeDocument/2006/relationships/slide" Target="slides/slide50.xml"/><Relationship Id="rId150" Type="http://schemas.openxmlformats.org/officeDocument/2006/relationships/slide" Target="slides/slide51.xml"/><Relationship Id="rId151" Type="http://schemas.openxmlformats.org/officeDocument/2006/relationships/slide" Target="slides/slide52.xml"/><Relationship Id="rId152" Type="http://schemas.openxmlformats.org/officeDocument/2006/relationships/slide" Target="slides/slide53.xml"/><Relationship Id="rId153" Type="http://schemas.openxmlformats.org/officeDocument/2006/relationships/slide" Target="slides/slide54.xml"/><Relationship Id="rId154" Type="http://schemas.openxmlformats.org/officeDocument/2006/relationships/slide" Target="slides/slide55.xml"/><Relationship Id="rId155" Type="http://schemas.openxmlformats.org/officeDocument/2006/relationships/slide" Target="slides/slide56.xml"/></Relationships>
</file>

<file path=ppt/handoutMasters/_rels/handoutMaster1.xml.rels><?xml version="1.0" encoding="utf-8"?>
<Relationships xmlns="http://schemas.openxmlformats.org/package/2006/relationships">
  <Relationship Id="rId1" Type="http://schemas.openxmlformats.org/officeDocument/2006/relationships/theme" Target="../theme/theme3.xml"/>
</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3B5D52A-429B-4F3B-9065-09BE3B66FFEC}" type="datetimeFigureOut">
              <a:rPr lang="en-US" smtClean="0"/>
              <a:t>6/28/2026</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B2EE22F7-24BD-4EBD-8854-47F4E943AAF7}" type="slidenum">
              <a:rPr lang="en-US" smtClean="0"/>
              <a:t>‹#›</a:t>
            </a:fld>
            <a:endParaRPr lang="en-US"/>
          </a:p>
        </p:txBody>
      </p:sp>
    </p:spTree>
    <p:extLst>
      <p:ext uri="{BB962C8B-B14F-4D97-AF65-F5344CB8AC3E}">
        <p14:creationId xmlns:p14="http://schemas.microsoft.com/office/powerpoint/2010/main" val="458501032"/>
      </p:ext>
    </p:extLst>
  </p:cSld>
  <p:clrMap bg1="lt1" tx1="dk1" bg2="lt2" tx2="dk2" accent1="accent1" accent2="accent2" accent3="accent3" accent4="accent4" accent5="accent5" accent6="accent6" hlink="hlink" folHlink="folHlink"/>
</p:handoutMaster>
</file>

<file path=ppt/notesMasters/_rels/notesMaster1.xml.rels><?xml version="1.0" encoding="utf-8"?>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7C3607-6095-4CD0-92A0-FFEF984E53C8}" type="datetimeFigureOut">
              <a:rPr lang="en-US" smtClean="0"/>
              <a:t>6/28/2026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F32F38D-C8BB-4D18-A518-262BC2556B91}" type="slidenum">
              <a:rPr lang="en-US" smtClean="0"/>
              <a:t>‹#›</a:t>
            </a:fld>
            <a:endParaRPr lang="en-US"/>
          </a:p>
        </p:txBody>
      </p:sp>
    </p:spTree>
    <p:extLst>
      <p:ext uri="{BB962C8B-B14F-4D97-AF65-F5344CB8AC3E}">
        <p14:creationId xmlns:p14="http://schemas.microsoft.com/office/powerpoint/2010/main" val="77608959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Chào mừng cả lớp quay lại Buổi 8. Chiếu slide này khi mọi người vào lớp: kiểm tra âm thanh, chat và bình chọn.</a:t>
            </a:r>
          </a:p>
          <a:p>
            <a:r>
              <a:rPr lang="en-US" sz="1400" b="0" dirty="0"/>
              <a:t>Thời gian: trước 19:30, không tính vào giờ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Buổi 8 (19:30-22:30, giải lao 20:50-21:05). Buổi cuối cùng.</a:t>
            </a:r>
          </a:p>
          <a:p>
            <a:r>
              <a:rPr lang="en-US" sz="1400" b="0" dirty="0"/>
              <a:t>Hôm nay: Đặt vấn đề, Bàn luận, Tóm tắt và tên bài, hoàn thiện bản nháp phần Kết quả, công bố, phản biện, và khoảng năm phần trình bày đề cương. Phần bế mạc (22:15) có slide riêng.</a:t>
            </a:r>
          </a:p>
          <a:p>
            <a:r>
              <a:rPr lang="en-US" sz="1400" b="0" dirty="0"/>
              <a:t>Trước buổi học: gửi email phiếu bài tập, hai bài báo gốc và phần Kết quả Q1 của lớp từ Buổi 7. Thu và mở sẵn slide của người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Ôn tập (19:30-19:35). Câu 1 là câu hỏi cuối Buổi 7: đọc hai hoặc ba câu trả lời. Câu 2 và 3 là thăm dò nhanh.</a:t>
            </a:r>
          </a:p>
          <a:p>
            <a:r>
              <a:rPr lang="en-US" sz="1400" b="0" dirty="0"/>
              <a:t>Câu 3 dẫn vào 8.1: Bàn luận là nơi để diễn giải.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8.1 (19:35-20:05). Khoảng 2 phút mỗi slide và ba bài kiểm tra 2 phút.</a:t>
            </a:r>
          </a:p>
          <a:p>
            <a:r>
              <a:rPr lang="en-US" sz="1400" b="0" dirty="0"/>
              <a:t>Cả bốn phần đều là nội dung chính. Với bài tập, tên bài là bắt buộc cùng phần Kết quả. Đặt vấn đề, Bàn luận và Tóm tắt không bắt buộc nộp. Đi chậm ở ví dụ Bàn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Đặt vấn đề là hình phễu: đã biết, chưa biết, mục tiêu. Mục tiêu khớp với kết cục chính.</a:t>
            </a:r>
          </a:p>
          <a:p>
            <a:r>
              <a:rPr lang="en-US" sz="1400" b="0" dirty="0"/>
              <a:t>Bài 1 làm điều này trong chưa đến 500 từ. Bài 2 dẫn cả hai phía của một mâu thuẫn ở đoạn 2.</a:t>
            </a:r>
          </a:p>
          <a:p>
            <a:r>
              <a:rPr lang="en-US" sz="1400" b="0" dirty="0"/>
              <a:t>Hỏi: trong một câu, điều gì chưa biết về câu hỏi của bạn? Đó là đoạn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1" dirty="0"/>
              <a:t>Ví dụ mẫu cho Q1. Câu mẫu (điều chỉnh, không chép):</a:t>
            </a:r>
          </a:p>
          <a:p>
            <a:r>
              <a:rPr lang="en-US" sz="1400" b="0" dirty="0"/>
              <a:t>Đoạn 2: 'Vì người bệnh nặng hơn được truyền nhiều dịch hơn, vẫn chưa rõ mối liên quan này còn tồn tại sau khi hiệu chỉnh theo mức độ nặng hay không.'</a:t>
            </a:r>
          </a:p>
          <a:p>
            <a:r>
              <a:rPr lang="en-US" sz="1400" b="0" dirty="0"/>
              <a:t>Đoạn 3: 'Do đó, chúng tôi đánh giá liệu cân bằng dịch dương đến ngày 3 có liên quan với tử vong 28 ngày hay không.'</a:t>
            </a:r>
          </a:p>
          <a:p>
            <a:r>
              <a:rPr lang="en-US" sz="1400" b="0" dirty="0"/>
              <a:t>Khoảng trống chính là nhiễu do chỉ định ở Buổi 4.</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Mỗi câu một thăm dò: đã biết, chưa biết, mục tiêu, hay không thuộc Đặt vấn đề.</a:t>
            </a:r>
          </a:p>
          <a:p>
            <a:r>
              <a:rPr lang="en-US" sz="1400" b="0" dirty="0"/>
              <a:t>Câu 4 là câu bẫy: không bao giờ đưa kết quả của chính mình vào Đặt vấn đề.</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bước theo thứ tự: trả lời, so sánh, giải thích, hạn chế kèm chiều hướng ảnh hưởng, ý nghĩa, kết luận.</a:t>
            </a:r>
          </a:p>
          <a:p>
            <a:r>
              <a:rPr lang="en-US" sz="1400" b="0" dirty="0"/>
              <a:t>Bài 1 trả lời ngay câu đầu. Bài 2 bỏ sót sai lệch người sống sót trong phần hạn chế.</a:t>
            </a:r>
          </a:p>
          <a:p>
            <a:r>
              <a:rPr lang="en-US" sz="1400" b="0" dirty="0"/>
              <a:t>Thăm dò: người mới viết hay bỏ bước nào? Kỳ vọng: chiều hướng ảnh hưởng của từng hạn chế.</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Sáu bước, mỗi bước một câu, số liệu từ gói kết quả Q1 (mô phỏng).</a:t>
            </a:r>
          </a:p>
          <a:p>
            <a:r>
              <a:rPr lang="en-US" sz="1400" b="0" dirty="0"/>
              <a:t>Tương tác với suy tim (OR 4.39 so với 1.29) là giả thuyết, không phải phát hiện.</a:t>
            </a:r>
          </a:p>
          <a:p>
            <a:r>
              <a:rPr lang="en-US" sz="1400" b="0" dirty="0"/>
              <a:t>Kết luận dùng cùng động từ với mục tiêu và tên bài: 'có liên quan với'.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Thô 2.49, hiệu chỉnh 1.62, quy gán 1.70. Mức giảm là bài học của Buổi 4 hiện ra trước mắt.</a:t>
            </a:r>
          </a:p>
          <a:p>
            <a:r>
              <a:rPr lang="en-US" sz="1400" b="0" dirty="0"/>
              <a:t>KTC đã hiệu chỉnh bắt đầu từ 1.02: 'vẫn còn một mối liên quan vừa phải'.</a:t>
            </a:r>
          </a:p>
          <a:p>
            <a:r>
              <a:rPr lang="en-US" sz="1400" b="0" dirty="0"/>
              <a:t>Hỏi: nếu KTC đã hiệu chỉnh cắt qua 1 thì sao? Kỳ vọng: 'không có bằng chứng rõ về mối liên quan sau hiệu chỉnh', không phải 'không có tác động'.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Độ mạnh của động từ là một khẳng định. Đọc thang từ dưới lên.</a:t>
            </a:r>
          </a:p>
          <a:p>
            <a:r>
              <a:rPr lang="en-US" sz="1400" b="0" dirty="0"/>
              <a:t>Không bao giờ: 'xu hướng' cho p = 0.42 (Bài 1), 'tác động' trong thuần tập (Bài 2), 'đầu tiên' hay 'mới' khi chưa kiểm tra.</a:t>
            </a:r>
          </a:p>
          <a:p>
            <a:r>
              <a:rPr lang="en-US" sz="1400" b="0" dirty="0"/>
              <a:t>Các từ này cũng quan trọng trong phần Kết quả.</a:t>
            </a:r>
          </a:p>
          <a:p>
            <a:r>
              <a:rPr lang="en-US" sz="1400" b="0" dirty="0"/>
              <a:t>Hỏi: viết lại câu 'cân bằng dịch dương làm tăng tử vong' cho Bài 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Mỗi câu một thăm dò: 'được' hay 'sửa'. Mời một người nêu cách sửa.</a:t>
            </a:r>
          </a:p>
          <a:p>
            <a:r>
              <a:rPr lang="en-US" sz="1400" b="0" dirty="0"/>
              <a:t>Câu 3: không dùng 'xu hướng', nêu ước lượng và nói KTC chạm 1. Câu 4: 'dự báo' dùng được khi nói về dự báo.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Tóm tắt có cấu trúc, 250-300 từ, phải tự đứng được.</a:t>
            </a:r>
          </a:p>
          <a:p>
            <a:r>
              <a:rPr lang="en-US" sz="1400" b="0" dirty="0"/>
              <a:t>Bài 2 nêu mọi kết quả dạng HR kèm KTC. Bài 1 nêu thẳng kết quả âm tính.</a:t>
            </a:r>
          </a:p>
          <a:p>
            <a:r>
              <a:rPr lang="en-US" sz="1400" b="0" dirty="0"/>
              <a:t>Viết sau cùng và kiểm tra mọi con số khớp với văn bản và bảng.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Ví dụ mẫu (mô phỏng). Tên bài là bắt buộc với mọi người. Tóm tắt không bắt buộc nộp, nhưng ai cũng cần biết cách viết.</a:t>
            </a:r>
          </a:p>
          <a:p>
            <a:r>
              <a:rPr lang="en-US" sz="1400" b="0" dirty="0"/>
              <a:t>Kết luận: 'có liên quan ở mức vừa phải', khớp với KTC 1.02 đến 2.59.</a:t>
            </a:r>
          </a:p>
          <a:p>
            <a:r>
              <a:rPr lang="en-US" sz="1400" b="0" dirty="0"/>
              <a:t>Hỏi: câu nào thay đổi nếu KTC là 0.95 đến 2.40? Kỳ vọng: Kết quả và Kết luận.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 phút). Mời một người sửa mỗi câu.</a:t>
            </a:r>
          </a:p>
          <a:p>
            <a:r>
              <a:rPr lang="en-US" sz="1400" b="0" dirty="0"/>
              <a:t>Mọi con số trong tóm tắt phải khớp với phần Kết quả.</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Đặt tên bài từ PICO: thiết kế, phơi nhiễm, đối tượng, kết cục, 10-16 từ. Không dùng 'tác động', 'mới', 'đầu tiên'.</a:t>
            </a:r>
          </a:p>
          <a:p>
            <a:r>
              <a:rPr lang="en-US" sz="1400" b="0" dirty="0"/>
              <a:t>'Impact' của Bài 2 là cách nói nhân quả cho một thuần tập.</a:t>
            </a:r>
          </a:p>
          <a:p>
            <a:r>
              <a:rPr lang="en-US" sz="1400" b="0" dirty="0"/>
              <a:t>Từ khóa: 3-6 thuật ngữ MeSH chưa có trong tên bài.</a:t>
            </a:r>
          </a:p>
          <a:p>
            <a:r>
              <a:rPr lang="en-US" sz="1400" b="0" dirty="0"/>
              <a:t>Mỗi người viết tên bài dự kiến của mình trong phần thực hành tiếp theo.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Tài liệu tham khảo: dùng phần mềm quản lý và kiểm tra từng trích dẫn. Không bao giờ trích một tài liệu AI gợi ý mà chưa đọc.</a:t>
            </a:r>
          </a:p>
          <a:p>
            <a:r>
              <a:rPr lang="en-US" sz="1400" b="0" dirty="0"/>
              <a:t>Bảng kiểm: điền trong khi viết.</a:t>
            </a:r>
          </a:p>
          <a:p>
            <a:r>
              <a:rPr lang="en-US" sz="1400" b="0" dirty="0"/>
              <a:t>Đọc lần cuối: đối chiếu mọi con số trong văn bản với bảng. Phần lớn lỗi ở hai bài chỉ cần một đồng tác giả cẩn thận.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bản thảo 2 (20:05-20:30).</a:t>
            </a:r>
          </a:p>
          <a:p>
            <a:r>
              <a:rPr lang="en-US" sz="1400" b="0" dirty="0"/>
              <a:t>Phần 1: hoàn thiện trực tiếp phần Kết quả Q1 của lớp từ tuần trước, dùng bảng kiểm bình duyệt. Phần 2: mỗi học viên kiểm tra bản nháp của mình và viết tên bài dự kiến.</a:t>
            </a:r>
          </a:p>
          <a:p>
            <a:r>
              <a:rPr lang="en-US" sz="1400" b="0" dirty="0"/>
              <a:t>Hướng dẫn: s8_exercises_VN Phần B. Văn bản mẫu: s8_solutions_VN Phần B.</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1 (20:05-20:22). Mở bản nháp của lớp từ tuần trước và gõ trực tiếp. Báo từng bước.</a:t>
            </a:r>
          </a:p>
          <a:p>
            <a:r>
              <a:rPr lang="en-US" sz="1400" b="0" dirty="0"/>
              <a:t>Câu gợi ý: 'Mọi tỷ lệ phần trăm đã có mẫu số chưa?' 'Đọc Bảng 1 mà không cần văn bản được không?' 'Có câu nào đang giải thích thay vì báo cáo?'</a:t>
            </a:r>
          </a:p>
          <a:p>
            <a:r>
              <a:rPr lang="en-US" sz="1400" b="0" dirty="0"/>
              <a:t>Gửi bản đã hoàn thiện dạng PDF sau buổi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Thực hành phần 2 (20:22-20:30). Cá nhân.</a:t>
            </a:r>
          </a:p>
          <a:p>
            <a:r>
              <a:rPr lang="en-US" sz="1400" b="0" dirty="0"/>
              <a:t>Đăng trong khung chat: Q2, AKI cũng có thể gây tích dịch. Q3, số ngày không thở máy tính tử vong là 0. Q4, nêu cả ước lượng trường hợp đầy đủ và quy gán. Q5, chỉ người sống sót.</a:t>
            </a:r>
          </a:p>
          <a:p>
            <a:r>
              <a:rPr lang="en-US" sz="1400" b="0" dirty="0"/>
              <a:t>Nhắc: gửi email bản nháp cho người bình duyệt và giảng viên Vương Mỹ Lượng (myluong1710@gmail.com) trước 23:59 ngày mai, Chủ nhật 20/12.</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8.2 (20:30-20:50). Khoảng 2 phút mỗi slide, 3 phút trình diễn và 2 phút kiểm tra.</a:t>
            </a:r>
          </a:p>
          <a:p>
            <a:r>
              <a:rPr lang="en-US" sz="1400" b="0" dirty="0"/>
              <a:t>Bản tiền in, giấy phép, sau khi được nhận và bị từ chối nằm ở slide bổ sung.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thiết kế một hướng dẫn báo cáo, đều miễn phí trên EQUATOR Network. Nhiều tạp chí yêu cầu bảng kiểm kèm số trang.</a:t>
            </a:r>
          </a:p>
          <a:p>
            <a:r>
              <a:rPr lang="en-US" sz="1400" b="0" dirty="0"/>
              <a:t>Cả hai bài đều không nêu tên hướng dẫn của mình.</a:t>
            </a:r>
          </a:p>
          <a:p>
            <a:r>
              <a:rPr lang="en-US" sz="1400" b="0" dirty="0"/>
              <a:t>Thăm dò: hướng dẫn nào hợp với đề cương của bạn? Kỳ vọng: phần lớn là STROBE.</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Chọn tạp chí trước: Hướng dẫn cho tác giả đặt ra luật chơi.</a:t>
            </a:r>
          </a:p>
          <a:p>
            <a:r>
              <a:rPr lang="en-US" sz="1400" b="0" dirty="0"/>
              <a:t>Đáng tin: có trong MEDLINE, DOAJ, Scopus hoặc Web of Science. Chi phí: phí xuất bản và miễn giảm.</a:t>
            </a:r>
          </a:p>
          <a:p>
            <a:r>
              <a:rPr lang="en-US" sz="1400" b="0" dirty="0"/>
              <a:t>Bài 1 mất 7 tuần để được nhận, Bài 2 mất 7 tháng.</a:t>
            </a:r>
          </a:p>
          <a:p>
            <a:r>
              <a:rPr lang="en-US" sz="1400" b="0" dirty="0"/>
              <a:t>Hỏi: kể tên một tạp chí khoa bạn hay đọc.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Tạp chí săn mồi thu phí mà không có phản biện hay chỉ mục thật.</a:t>
            </a:r>
          </a:p>
          <a:p>
            <a:r>
              <a:rPr lang="en-US" sz="1400" b="0" dirty="0"/>
              <a:t>Đi qua năm dấu hiệu trên email tưởng tượng. Kiểm tra: Think.Check.Submit, DOAJ, NLM Catalog, thủ thư bệnh viện.</a:t>
            </a:r>
          </a:p>
          <a:p>
            <a:r>
              <a:rPr lang="en-US" sz="1400" b="0" dirty="0"/>
              <a:t>Thăm dò: tháng trước bạn có nhận email như thế này không?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diễn (20:36-20:39). Kịch bản và phương án ngoại tuyến: s8_demo_VN.md.</a:t>
            </a:r>
          </a:p>
          <a:p>
            <a:r>
              <a:rPr lang="en-US" sz="1400" b="0" dirty="0"/>
              <a:t>EQUATOR: CONSORT, rồi STROBE. DOAJ, rồi NLM Catalog ('currently indexed in MEDLINE'). Kết thúc với Think.Check.Submit. Dán bốn địa chỉ vào khung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Tạp chí kiểm tra bộ hồ sơ trước khi phản biện khoa học. Thiếu mục nào thì bài bị trả lại.</a:t>
            </a:r>
          </a:p>
          <a:p>
            <a:r>
              <a:rPr lang="en-US" sz="1400" b="0" dirty="0"/>
              <a:t>ORCID iD: miễn phí, đăng ký tại orcid.org.</a:t>
            </a:r>
          </a:p>
          <a:p>
            <a:r>
              <a:rPr lang="en-US" sz="1400" b="0" dirty="0"/>
              <a:t>Bài 1 có phần khai báo đầy đủ. Mẫu: Cover_Letter_Template_VN.</a:t>
            </a:r>
          </a:p>
          <a:p>
            <a:r>
              <a:rPr lang="en-US" sz="1400" b="0" dirty="0"/>
              <a:t>Hỏi: ai đã có ORCID iD?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Nộp, biên tập viên sàng lọc (từ chối ngay từ đầu là thường gặp), 2 hoặc 3 người phản biện, quyết định, sửa bài, được nhận.</a:t>
            </a:r>
          </a:p>
          <a:p>
            <a:r>
              <a:rPr lang="en-US" sz="1400" b="0" dirty="0"/>
              <a:t>Mỗi lần chỉ gửi một tạp chí. Bị từ chối thì sửa bài rồi gửi nơi khác.</a:t>
            </a:r>
          </a:p>
          <a:p>
            <a:r>
              <a:rPr lang="en-US" sz="1400" b="0" dirty="0"/>
              <a:t>Hỏi: người phản biện sai. Bạn làm gì? Kỳ vọng: cảm ơn, giải thích có bằng chứng, làm rõ văn bản.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Thư phản hồi là một bảng: nhận xét, phản hồi, và bài đã sửa ở đâu.</a:t>
            </a:r>
          </a:p>
          <a:p>
            <a:r>
              <a:rPr lang="en-US" sz="1400" b="0" dirty="0"/>
              <a:t>Ba dòng ví dụ: đồng ý, làm rõ, và phản bác lịch sự với dữ liệu chưa từng thu thập.</a:t>
            </a:r>
          </a:p>
          <a:p>
            <a:r>
              <a:rPr lang="en-US" sz="1400" b="0" dirty="0"/>
              <a:t>Lỗi thường gặp: 'đã sửa' không nói rõ, sửa mà không ghi vị trí.</a:t>
            </a:r>
          </a:p>
          <a:p>
            <a:r>
              <a:rPr lang="en-US" sz="1400" b="0" dirty="0"/>
              <a:t>Học viên dùng Response_to_Reviewers_Template_VN sau khi nhận bản bình duyệt.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Kiểm tra (20:48-20:50). Mỗi câu một thăm dò đúng/sai.</a:t>
            </a:r>
          </a:p>
          <a:p>
            <a:r>
              <a:rPr lang="en-US" sz="1400" b="0" dirty="0"/>
              <a:t>Câu 1 là 'thường đúng'. Câu 3: bản tiền in được đăng trước khi phản biện.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Giải lao (20:50-21:05). Nói: 21:05 bắt đầu lại với 8.3, rồi trình bày và bế mạc. Mở Bài 1, Bài 2 và Phần D của phiếu bài tập.</a:t>
            </a:r>
          </a:p>
          <a:p>
            <a:r>
              <a:rPr lang="en-US" sz="1400" b="0" dirty="0"/>
              <a:t>Kiểm tra bạn chia sẻ được slide của từng người trình bày.</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Phần 8.3 (21:05-21:30). Hướng dẫn có đáp án mẫu: appraisal_instructor_guide.md.</a:t>
            </a:r>
          </a:p>
          <a:p>
            <a:r>
              <a:rPr lang="en-US" sz="1400" b="0" dirty="0"/>
              <a:t>3 phút giới thiệu, 15 phút thẩm định có thăm dò, 7 phút về những gì mỗi thiết kế được kết luận.</a:t>
            </a:r>
          </a:p>
          <a:p>
            <a:r>
              <a:rPr lang="en-US" sz="1400" b="0" dirty="0"/>
              <a:t>Kỹ năng phản biện này dùng lại khi bình duyệt phần Kết quả, với bảng kiểm trong Peer_Review_Instructions_VN.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Giới thiệu (1 phút): cùng câu hỏi lâm sàng, hai thiết kế, cùng 10 câu hỏi.</a:t>
            </a:r>
          </a:p>
          <a:p>
            <a:r>
              <a:rPr lang="en-US" sz="1400" b="0" dirty="0"/>
              <a:t>Mỗi học viên điền bảng trả lời của mình (Phần D): Có, Không hoặc Không rõ, kèm trang.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Đọc mỗi câu một lần. Không nêu đáp án.</a:t>
            </a:r>
          </a:p>
          <a:p>
            <a:r>
              <a:rPr lang="en-US" sz="1400" b="0" dirty="0"/>
              <a:t>Câu 3 là giá trị ngoại suy: người bệnh của bạn có được đưa vào nghiên cứu này không? Câu 4: nhìn Bảng 1.</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Câu 6 và 7 dùng kiến thức Buổi 6. Câu 8 là trọng tâm hôm nay: từ ngữ có mạnh hơn thiết kế cho phép không? Câu 9: một hạn chế tác giả bỏ sót. Câu 10: cần nêu lý do.</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Thẩm định (21:08-21:23), khoảng 1.5 phút mỗi câu: đọc, chiếu trang, thăm dò, một người nêu bằng chứng.</a:t>
            </a:r>
          </a:p>
          <a:p>
            <a:r>
              <a:rPr lang="en-US" sz="1400" b="0" dirty="0"/>
              <a:t>Câu gợi ý chính: Bài 1, ai không bị làm mù và ai kê dịch? Bài 2, ai bị thiếu khi người bệnh phải nằm đủ 3 ngày?</a:t>
            </a:r>
          </a:p>
          <a:p>
            <a:r>
              <a:rPr lang="en-US" sz="1400" b="0" dirty="0"/>
              <a:t>Câu 1-3, 6 và 10 làm ở nhà.</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Thảo luận chung (21:23-21:30).</a:t>
            </a:r>
          </a:p>
          <a:p>
            <a:r>
              <a:rPr lang="en-US" sz="1400" b="0" dirty="0"/>
              <a:t>Bài 1: ngẫu nhiên, được nói 'không làm giảm', nhưng chỉ 48 người: không có bằng chứng có tác động, không phải bằng chứng không có tác động, và không 'xu hướng'.</a:t>
            </a:r>
          </a:p>
          <a:p>
            <a:r>
              <a:rPr lang="en-US" sz="1400" b="0" dirty="0"/>
              <a:t>Bài 2: bác sĩ quyết định lượng dịch, nên 'có liên quan với', không phải 'tác động'.</a:t>
            </a:r>
          </a:p>
          <a:p>
            <a:r>
              <a:rPr lang="en-US" sz="1400" b="0" dirty="0"/>
              <a:t>Thăm dò: bài nào mạnh hơn về nhân quả, bài nào về nguy cơ ngoài đời thực?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Chỉ mở bảng này sau khi lớp đã trả lời.</a:t>
            </a:r>
          </a:p>
          <a:p>
            <a:r>
              <a:rPr lang="en-US" sz="1400" b="0" dirty="0"/>
              <a:t>Bốn thông điệp: thiết kế quyết định động từ, KTC rộng nghĩa là 'chưa biết', đã công bố không có nghĩa là đúng, nêu tên hướng dẫn báo cáo.</a:t>
            </a:r>
          </a:p>
          <a:p>
            <a:r>
              <a:rPr lang="en-US" sz="1400" b="0" dirty="0"/>
              <a:t>Chuyển ý: 'Giờ đến một số đề cương của các bạn.'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Trình bày (21:30-22:15): khoảng năm người tình nguyện, 6 phút cộng 2 phút nhận xét, rồi 5 phút tổng kết.</a:t>
            </a:r>
          </a:p>
          <a:p>
            <a:r>
              <a:rPr lang="en-US" sz="1400" b="0" dirty="0"/>
              <a:t>Mọi người gửi slide và đề cương qua email cho giảng viên Vương Mỹ Lượng (myluong1710@gmail.com) trước 19:30 hôm nay.</a:t>
            </a:r>
          </a:p>
          <a:p>
            <a:r>
              <a:rPr lang="en-US" sz="1400" b="0" dirty="0"/>
              <a:t>Trợ giảng ghi '2 phút', '1 phút' và 'Hết giờ' trong khung chat. Dừng phần trình bày ở 6:30.</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Đề cương viết được chấm cho mọi người sau khóa học. Tiêu chí 12-16 chấm phần trình bày, chỉ cho người trình bày. Trình bày không làm giảm điểm.</a:t>
            </a:r>
          </a:p>
          <a:p>
            <a:r>
              <a:rPr lang="en-US" sz="1400" b="0" dirty="0"/>
              <a:t>Nhận xét trong 2 phút: hai người nêu hai điểm làm tốt và một góp ý, rồi giảng viên, rồi người trình bày nói cảm ơn.</a:t>
            </a:r>
          </a:p>
          <a:p>
            <a:r>
              <a:rPr lang="en-US" sz="1400" b="0" dirty="0"/>
              <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Chia sẻ slide của từng người. Để slide này giữa các phần trình bày.</a:t>
            </a:r>
          </a:p>
          <a:p>
            <a:r>
              <a:rPr lang="en-US" sz="1400" b="0" dirty="0"/>
              <a:t>Nhận xét: một điểm mạnh thật sự, điều cần cải thiện nhất, một câu hỏi nếu còn thời gian. Kiểm tra slide 6: tạp chí, hướng dẫn báo cáo, tên bài chừng mực, vai trò tác giả.</a:t>
            </a:r>
          </a:p>
          <a:p>
            <a:r>
              <a:rPr lang="en-US" sz="1400" b="0" dirty="0"/>
              <a:t>Nếu trễ, rút ngắn phần tổng kết, không cắt người trình bày cuối. 22:15 chuyển sang bế mạc.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Slide bổ sung: không bắt buộc, dùng khi lớp đi nhanh hoặc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từ khóa của Buổi 8, để tự học và cho bài kiểm tra cuối khóa.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Bài luyện viết bổ sung (làm ở nhà). Phiếu: s8_exercises_VN Phần A.</a:t>
            </a:r>
          </a:p>
          <a:p>
            <a:r>
              <a:rPr lang="en-US" sz="1400" b="0" dirty="0"/>
              <a:t>Viết lại câu 'xu hướng' của Bài 1: 'Ước lượng điểm nghiêng về chiến lược hạn chế, nhưng KTC 95% rộng (-15.2 đến 41.6 ml/kg) và chứa giá trị không tác động.'</a:t>
            </a:r>
          </a:p>
          <a:p>
            <a:r>
              <a:rPr lang="en-US" sz="1400" b="0" dirty="0"/>
              <a:t>Tên bài của Bài 2: 'mối liên quan', không phải 'tác động'.</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Bản tiền in được đăng trước khi phản biện: phải nói rõ. Truy cập mở vàng thường có phí, xanh là bản lưu ở kho. Bài 2 là CC BY, Bài 1 là CC BY-NC-ND.</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Đọc bản in thử cẩn thận như đọc dữ liệu: Bài 1 in đoạn đề cương hai lần. Chia sẻ theo giấy phép cho phép. Sửa lỗi công khai.</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Bị từ chối là bình thường. Từ chối ngay từ đầu: đổi tạp chí. Sau phản biện: sửa những gì người phản biện chỉ ra trước khi gửi lại. Không bao giờ gửi hai tạp chí cùng lúc.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Tóm tắt hội nghị có số liệu thật kèm KTC, không bao giờ ghi 'kết quả sẽ được trình bày'. Poster là bảng quảng cáo: một thông điệp, một hình, đọc được từ 2 mét. Mẫu: Conference_Abstract_Template_VN.</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Bổ sung: tóm tắt Buổi 7-8 trong một slide để tự học.</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Bế mạc 22:15-22:30. Giữ nhịp nhanh. Cảm ơn người trình bày và mọi người đã nộp bài.</a:t>
            </a:r>
          </a:p>
          <a:p>
            <a:r>
              <a:rPr lang="en-US" sz="1400" b="0" dirty="0"/>
              <a:t>Dán link bài kiểm tra cuối khóa và phiếu đánh giá vào chat.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Cùng Google Form như Buổi 1. Họ và tên dùng để ghép hai lần làm bài. Học viên không thấy điểm.</a:t>
            </a:r>
          </a:p>
          <a:p>
            <a:r>
              <a:rPr lang="en-US" sz="1400" b="0" dirty="0"/>
              <a:t>Thời gian: 8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Hỏi hai ba người: bước tiếp theo với đề cương của bạn là gì?</a:t>
            </a:r>
          </a:p>
          <a:p>
            <a:r>
              <a:rPr lang="en-US" sz="1400" b="0" dirty="0"/>
              <a:t>Thời gian: 1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Phiếu ẩn danh, link trong chat. Câu hỏi về tốc độ học là quan trọng nhất.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Mỗi bản nháp được bình duyệt một lần. Người bình duyệt được phân công ngẫu nhiên và công bố ở Buổi 7.</a:t>
            </a:r>
          </a:p>
          <a:p>
            <a:r>
              <a:rPr lang="en-US" sz="1400" b="0" dirty="0"/>
              <a:t>Nộp bài qua email tới myluong1710@gmail.com. Bản nháp phần Kết quả nộp trước 23:59 Chủ nhật 20/12 (giờ Việt Nam). Báo cáo bình duyệt nộp thứ Tư 30/12. Bản sửa phần Kết quả và thư phản hồi nộp thứ Bảy 9/1/2027.</a:t>
            </a:r>
          </a:p>
          <a:p>
            <a:r>
              <a:rPr lang="en-US" sz="1400" b="0" dirty="0"/>
              <a:t>Tài liệu: Peer_Review_Instructions_VN và Response_to_Reviewers_Template_VN.</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Không bắt buộc phải trình bày.</a:t>
            </a:r>
          </a:p>
          <a:p>
            <a:r>
              <a:rPr lang="en-US" sz="1400" b="0" dirty="0"/>
              <a:t>Gửi thông tin liên hệ của giảng viên vào chat.</a:t>
            </a:r>
          </a:p>
          <a:p>
            <a:r>
              <a:rPr lang="en-US" sz="1400" b="0" dirty="0"/>
              <a:t>Thời gian: 2 phút.</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Cảm ơn lãnh đạo, ban tổ chức và học viên. Nếu mọi người đồng ý, chụp ảnh màn hình cả lớp khi bật camera.</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400" b="0" dirty="0"/>
              <a:t>Để trên màn hình khi học viên rời phòng họp.</a:t>
            </a:r>
          </a:p>
        </p:txBody>
      </p:sp>
      <p:sp>
        <p:nvSpPr>
          <p:cNvPr id="4" name="Slide Number Placeholder 3"/>
          <p:cNvSpPr>
            <a:spLocks noGrp="1"/>
          </p:cNvSpPr>
          <p:nvPr>
            <p:ph type="sldNum" sz="quarter" idx="10"/>
          </p:nvPr>
        </p:nvSpPr>
        <p:spPr/>
        <p:txBody>
          <a:bodyPr/>
          <a:lstStyle/>
          <a:p>
            <a:fld id="{F7021451-1387-4CA6-816F-3879F97B5CBC}" type="slidenum">
              <a:rPr lang="en-US"/>
              <a:t>1</a:t>
            </a:fld>
          </a:p>
        </p:txBody>
      </p:sp>
    </p:spTree>
  </p:cSld>
  <p:clrMapOvr>
    <a:masterClrMapping/>
  </p:clrMapOvr>
</p:notes>
</file>

<file path=ppt/slideLayouts/_rels/slideLayout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
  <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
  <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7C0F2BA9-42D1-4ED5-B1D2-E4A50A5F0753}"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CF940BF-D3F9-479A-9977-6B0839AFA768}"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948E316-8D90-42F5-B2CD-A793817016DE}"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6786190-3C0E-4636-AA92-C1C96D008DF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D42A8B4C-ED02-4998-BF4B-E26731DF30D2}" type="datetime1">
              <a:rPr lang="en-US" smtClean="0"/>
              <a:t>6/28/2026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6B30C45-864B-4802-800E-706DB8F3BA86}" type="datetime1">
              <a:rPr lang="en-US" smtClean="0"/>
              <a:t>6/28/2026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E01F87F1-2F12-4DB8-BE2A-E0E247940BB4}" type="datetime1">
              <a:rPr lang="en-US" smtClean="0"/>
              <a:t>6/28/2026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D9085BB-45C3-45DA-B16E-2D995DEAF320}"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3740DB59-3B43-45FA-9DFE-69ED499597CF}" type="datetime1">
              <a:rPr lang="en-US" smtClean="0"/>
              <a:t>6/28/2026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7974E953-E3F2-4058-BC22-456AC7704CCA}"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3278D7E0-3175-45B9-A51E-0AA8F8EB260B}" type="datetime1">
              <a:rPr lang="en-US" smtClean="0"/>
              <a:t>6/28/2026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184180"/>
      </p:ext>
    </p:extLst>
  </p:cSld>
  <p:clrMapOvr>
    <a:masterClrMapping/>
  </p:clrMapOvr>
</p:sldLayout>
</file>

<file path=ppt/slideMasters/_rels/slideMaster1.xml.rels><?xml version="1.0" encoding="utf-8"?>
<Relationships xmlns="http://schemas.openxmlformats.org/package/2006/relationships">
  <Relationship Id="rId8" Type="http://schemas.openxmlformats.org/officeDocument/2006/relationships/slideLayout" Target="../slideLayouts/slideLayout8.xml"/>
  <Relationship Id="rId13" Type="http://schemas.openxmlformats.org/officeDocument/2006/relationships/theme" Target="../theme/theme1.xml"/>
  <Relationship Id="rId3" Type="http://schemas.openxmlformats.org/officeDocument/2006/relationships/slideLayout" Target="../slideLayouts/slideLayout3.xml"/>
  <Relationship Id="rId7" Type="http://schemas.openxmlformats.org/officeDocument/2006/relationships/slideLayout" Target="../slideLayouts/slideLayout7.xml"/>
  <Relationship Id="rId12" Type="http://schemas.openxmlformats.org/officeDocument/2006/relationships/slideLayout" Target="../slideLayouts/slideLayout12.xml"/>
  <Relationship Id="rId2" Type="http://schemas.openxmlformats.org/officeDocument/2006/relationships/slideLayout" Target="../slideLayouts/slideLayout2.xml"/>
  <Relationship Id="rId1" Type="http://schemas.openxmlformats.org/officeDocument/2006/relationships/slideLayout" Target="../slideLayouts/slideLayout1.xml"/>
  <Relationship Id="rId6" Type="http://schemas.openxmlformats.org/officeDocument/2006/relationships/slideLayout" Target="../slideLayouts/slideLayout6.xml"/>
  <Relationship Id="rId11" Type="http://schemas.openxmlformats.org/officeDocument/2006/relationships/slideLayout" Target="../slideLayouts/slideLayout11.xml"/>
  <Relationship Id="rId5" Type="http://schemas.openxmlformats.org/officeDocument/2006/relationships/slideLayout" Target="../slideLayouts/slideLayout5.xml"/>
  <Relationship Id="rId10" Type="http://schemas.openxmlformats.org/officeDocument/2006/relationships/slideLayout" Target="../slideLayouts/slideLayout10.xml"/>
  <Relationship Id="rId4" Type="http://schemas.openxmlformats.org/officeDocument/2006/relationships/slideLayout" Target="../slideLayouts/slideLayout4.xml"/>
  <Relationship Id="rId9" Type="http://schemas.openxmlformats.org/officeDocument/2006/relationships/slideLayout" Target="../slideLayouts/slideLayout9.xml"/>
</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9DC2E5FA-FF3B-4CBF-AFC6-FF14AE95D537}" type="datetime1">
              <a:rPr lang="en-US" smtClean="0"/>
              <a:t>6/28/2026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ftr="0" dt="0"/>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 Id="rId3" Type="http://schemas.openxmlformats.org/officeDocument/2006/relationships/image" Target="../media/image1.jpg"/>
</Relationships>
</file>

<file path=ppt/slides/_rels/slide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 Id="rId3" Type="http://schemas.openxmlformats.org/officeDocument/2006/relationships/image" Target="../media/image1.jpg"/>
</Relationships>
</file>

<file path=ppt/slides/_rels/slide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xml"/>
<Relationship Id="rId3" Type="http://schemas.openxmlformats.org/officeDocument/2006/relationships/image" Target="../media/image1.jpg"/>
</Relationships>
</file>

<file path=ppt/slides/_rels/slide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 Id="rId3" Type="http://schemas.openxmlformats.org/officeDocument/2006/relationships/image" Target="../media/image1.jpg"/>
</Relationships>
</file>

<file path=ppt/slides/_rels/slide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 Id="rId3" Type="http://schemas.openxmlformats.org/officeDocument/2006/relationships/image" Target="../media/image1.jpg"/>
<Relationship Id="rId4" Type="http://schemas.openxmlformats.org/officeDocument/2006/relationships/image" Target="../media/image2.png"/>
</Relationships>
</file>

<file path=ppt/slides/_rels/slide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6.xml"/>
<Relationship Id="rId3" Type="http://schemas.openxmlformats.org/officeDocument/2006/relationships/image" Target="../media/image1.jpg"/>
</Relationships>
</file>

<file path=ppt/slides/_rels/slide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7.xml"/>
<Relationship Id="rId3" Type="http://schemas.openxmlformats.org/officeDocument/2006/relationships/image" Target="../media/image1.jpg"/>
</Relationships>
</file>

<file path=ppt/slides/_rels/slide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8.xml"/>
<Relationship Id="rId3" Type="http://schemas.openxmlformats.org/officeDocument/2006/relationships/image" Target="../media/image1.jpg"/>
</Relationships>
</file>

<file path=ppt/slides/_rels/slide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9.xml"/>
<Relationship Id="rId3" Type="http://schemas.openxmlformats.org/officeDocument/2006/relationships/image" Target="../media/image1.jpg"/>
</Relationships>
</file>

<file path=ppt/slides/_rels/slide1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0.xml"/>
<Relationship Id="rId3" Type="http://schemas.openxmlformats.org/officeDocument/2006/relationships/image" Target="../media/image1.jpg"/>
<Relationship Id="rId4" Type="http://schemas.openxmlformats.org/officeDocument/2006/relationships/image" Target="../media/image3.png"/>
</Relationships>
</file>

<file path=ppt/slides/_rels/slide1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1.xml"/>
<Relationship Id="rId3" Type="http://schemas.openxmlformats.org/officeDocument/2006/relationships/image" Target="../media/image1.jpg"/>
</Relationships>
</file>

<file path=ppt/slides/_rels/slide1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 Id="rId3" Type="http://schemas.openxmlformats.org/officeDocument/2006/relationships/image" Target="../media/image1.jpg"/>
</Relationships>
</file>

<file path=ppt/slides/_rels/slide1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 Id="rId3" Type="http://schemas.openxmlformats.org/officeDocument/2006/relationships/image" Target="../media/image1.jpg"/>
</Relationships>
</file>

<file path=ppt/slides/_rels/slide1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 Id="rId3" Type="http://schemas.openxmlformats.org/officeDocument/2006/relationships/image" Target="../media/image1.jpg"/>
</Relationships>
</file>

<file path=ppt/slides/_rels/slide1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 Id="rId3" Type="http://schemas.openxmlformats.org/officeDocument/2006/relationships/image" Target="../media/image1.jpg"/>
</Relationships>
</file>

<file path=ppt/slides/_rels/slide1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 Id="rId3" Type="http://schemas.openxmlformats.org/officeDocument/2006/relationships/image" Target="../media/image1.jpg"/>
</Relationships>
</file>

<file path=ppt/slides/_rels/slide1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7.xml"/>
<Relationship Id="rId3" Type="http://schemas.openxmlformats.org/officeDocument/2006/relationships/image" Target="../media/image1.jpg"/>
</Relationships>
</file>

<file path=ppt/slides/_rels/slide1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8.xml"/>
<Relationship Id="rId3" Type="http://schemas.openxmlformats.org/officeDocument/2006/relationships/image" Target="../media/image1.jpg"/>
</Relationships>
</file>

<file path=ppt/slides/_rels/slide1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9.xml"/>
<Relationship Id="rId3" Type="http://schemas.openxmlformats.org/officeDocument/2006/relationships/image" Target="../media/image1.jpg"/>
</Relationships>
</file>

<file path=ppt/slides/_rels/slide2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0.xml"/>
<Relationship Id="rId3" Type="http://schemas.openxmlformats.org/officeDocument/2006/relationships/image" Target="../media/image1.jpg"/>
</Relationships>
</file>

<file path=ppt/slides/_rels/slide2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1.xml"/>
<Relationship Id="rId3" Type="http://schemas.openxmlformats.org/officeDocument/2006/relationships/image" Target="../media/image1.jpg"/>
</Relationships>
</file>

<file path=ppt/slides/_rels/slide2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2.xml"/>
<Relationship Id="rId3" Type="http://schemas.openxmlformats.org/officeDocument/2006/relationships/image" Target="../media/image1.jpg"/>
</Relationships>
</file>

<file path=ppt/slides/_rels/slide2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3.xml"/>
<Relationship Id="rId3" Type="http://schemas.openxmlformats.org/officeDocument/2006/relationships/image" Target="../media/image1.jpg"/>
</Relationships>
</file>

<file path=ppt/slides/_rels/slide2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4.xml"/>
<Relationship Id="rId3" Type="http://schemas.openxmlformats.org/officeDocument/2006/relationships/image" Target="../media/image1.jpg"/>
<Relationship Id="rId4" Type="http://schemas.openxmlformats.org/officeDocument/2006/relationships/image" Target="../media/image4.png"/>
</Relationships>
</file>

<file path=ppt/slides/_rels/slide2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5.xml"/>
<Relationship Id="rId3" Type="http://schemas.openxmlformats.org/officeDocument/2006/relationships/image" Target="../media/image1.jpg"/>
</Relationships>
</file>

<file path=ppt/slides/_rels/slide2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6.xml"/>
<Relationship Id="rId3" Type="http://schemas.openxmlformats.org/officeDocument/2006/relationships/image" Target="../media/image1.jpg"/>
</Relationships>
</file>

<file path=ppt/slides/_rels/slide2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2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2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9.xml"/>
<Relationship Id="rId3" Type="http://schemas.openxmlformats.org/officeDocument/2006/relationships/image" Target="../media/image1.jpg"/>
</Relationships>
</file>

<file path=ppt/slides/_rels/slide3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0.xml"/>
<Relationship Id="rId3" Type="http://schemas.openxmlformats.org/officeDocument/2006/relationships/image" Target="../media/image1.jpg"/>
</Relationships>
</file>

<file path=ppt/slides/_rels/slide3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1.xml"/>
<Relationship Id="rId3" Type="http://schemas.openxmlformats.org/officeDocument/2006/relationships/image" Target="../media/image1.jpg"/>
</Relationships>
</file>

<file path=ppt/slides/_rels/slide3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2.xml"/>
<Relationship Id="rId3" Type="http://schemas.openxmlformats.org/officeDocument/2006/relationships/image" Target="../media/image1.jpg"/>
</Relationships>
</file>

<file path=ppt/slides/_rels/slide3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3.xml"/>
<Relationship Id="rId3" Type="http://schemas.openxmlformats.org/officeDocument/2006/relationships/image" Target="../media/image1.jpg"/>
</Relationships>
</file>

<file path=ppt/slides/_rels/slide3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4.xml"/>
<Relationship Id="rId3" Type="http://schemas.openxmlformats.org/officeDocument/2006/relationships/image" Target="../media/image1.jpg"/>
</Relationships>
</file>

<file path=ppt/slides/_rels/slide3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5.xml"/>
<Relationship Id="rId3" Type="http://schemas.openxmlformats.org/officeDocument/2006/relationships/image" Target="../media/image1.jpg"/>
</Relationships>
</file>

<file path=ppt/slides/_rels/slide3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6.xml"/>
<Relationship Id="rId3" Type="http://schemas.openxmlformats.org/officeDocument/2006/relationships/image" Target="../media/image1.jpg"/>
</Relationships>
</file>

<file path=ppt/slides/_rels/slide3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7.xml"/>
<Relationship Id="rId3" Type="http://schemas.openxmlformats.org/officeDocument/2006/relationships/image" Target="../media/image1.jpg"/>
</Relationships>
</file>

<file path=ppt/slides/_rels/slide3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8.xml"/>
<Relationship Id="rId3" Type="http://schemas.openxmlformats.org/officeDocument/2006/relationships/image" Target="../media/image1.jpg"/>
</Relationships>
</file>

<file path=ppt/slides/_rels/slide3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39.xml"/>
<Relationship Id="rId3" Type="http://schemas.openxmlformats.org/officeDocument/2006/relationships/image" Target="../media/image1.jpg"/>
</Relationships>
</file>

<file path=ppt/slides/_rels/slide4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0.xml"/>
<Relationship Id="rId3" Type="http://schemas.openxmlformats.org/officeDocument/2006/relationships/image" Target="../media/image1.jpg"/>
</Relationships>
</file>

<file path=ppt/slides/_rels/slide4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1.xml"/>
<Relationship Id="rId3" Type="http://schemas.openxmlformats.org/officeDocument/2006/relationships/image" Target="../media/image1.jpg"/>
</Relationships>
</file>

<file path=ppt/slides/_rels/slide4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2.xml"/>
<Relationship Id="rId3" Type="http://schemas.openxmlformats.org/officeDocument/2006/relationships/image" Target="../media/image1.jpg"/>
</Relationships>
</file>

<file path=ppt/slides/_rels/slide4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3.xml"/>
<Relationship Id="rId3" Type="http://schemas.openxmlformats.org/officeDocument/2006/relationships/image" Target="../media/image1.jpg"/>
</Relationships>
</file>

<file path=ppt/slides/_rels/slide4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4.xml"/>
<Relationship Id="rId3" Type="http://schemas.openxmlformats.org/officeDocument/2006/relationships/image" Target="../media/image1.jpg"/>
</Relationships>
</file>

<file path=ppt/slides/_rels/slide4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5.xml"/>
<Relationship Id="rId3" Type="http://schemas.openxmlformats.org/officeDocument/2006/relationships/image" Target="../media/image1.jpg"/>
</Relationships>
</file>

<file path=ppt/slides/_rels/slide4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6.xml"/>
<Relationship Id="rId3" Type="http://schemas.openxmlformats.org/officeDocument/2006/relationships/image" Target="../media/image1.jpg"/>
</Relationships>
</file>

<file path=ppt/slides/_rels/slide47.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7.xml"/>
<Relationship Id="rId3" Type="http://schemas.openxmlformats.org/officeDocument/2006/relationships/image" Target="../media/image1.jpg"/>
<Relationship Id="rId4" Type="http://schemas.openxmlformats.org/officeDocument/2006/relationships/image" Target="../media/image5.png"/>
</Relationships>
</file>

<file path=ppt/slides/_rels/slide48.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8.xml"/>
<Relationship Id="rId3" Type="http://schemas.openxmlformats.org/officeDocument/2006/relationships/image" Target="../media/image1.jpg"/>
</Relationships>
</file>

<file path=ppt/slides/_rels/slide49.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9.xml"/>
<Relationship Id="rId3" Type="http://schemas.openxmlformats.org/officeDocument/2006/relationships/image" Target="../media/image1.jpg"/>
</Relationships>
</file>

<file path=ppt/slides/_rels/slide50.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0.xml"/>
<Relationship Id="rId3" Type="http://schemas.openxmlformats.org/officeDocument/2006/relationships/image" Target="../media/image1.jpg"/>
</Relationships>
</file>

<file path=ppt/slides/_rels/slide51.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1.xml"/>
<Relationship Id="rId3" Type="http://schemas.openxmlformats.org/officeDocument/2006/relationships/image" Target="../media/image1.jpg"/>
</Relationships>
</file>

<file path=ppt/slides/_rels/slide52.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2.xml"/>
<Relationship Id="rId3" Type="http://schemas.openxmlformats.org/officeDocument/2006/relationships/image" Target="../media/image1.jpg"/>
</Relationships>
</file>

<file path=ppt/slides/_rels/slide53.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3.xml"/>
<Relationship Id="rId3" Type="http://schemas.openxmlformats.org/officeDocument/2006/relationships/image" Target="../media/image1.jpg"/>
</Relationships>
</file>

<file path=ppt/slides/_rels/slide54.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4.xml"/>
<Relationship Id="rId3" Type="http://schemas.openxmlformats.org/officeDocument/2006/relationships/image" Target="../media/image1.jpg"/>
</Relationships>
</file>

<file path=ppt/slides/_rels/slide55.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5.xml"/>
<Relationship Id="rId3" Type="http://schemas.openxmlformats.org/officeDocument/2006/relationships/image" Target="../media/image1.jpg"/>
</Relationships>
</file>

<file path=ppt/slides/_rels/slide56.xml.rels><?xml version="1.0" encoding="utf-8"?>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6.xml"/>
<Relationship Id="rId3" Type="http://schemas.openxmlformats.org/officeDocument/2006/relationships/image" Target="../media/image1.jpg"/>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768613" y="4410394"/>
            <a:ext cx="2566257" cy="2447606"/>
          </a:xfrm>
          <a:prstGeom prst="rect">
            <a:avLst/>
          </a:prstGeom>
        </p:spPr>
      </p:pic>
      <p:sp>
        <p:nvSpPr>
          <p:cNvPr id="3" name="Title"/>
          <p:cNvSpPr txBox="1"/>
          <p:nvPr/>
        </p:nvSpPr>
        <p:spPr>
          <a:xfrm>
            <a:off x="0" y="1500000"/>
            <a:ext cx="12192000" cy="1700000"/>
          </a:xfrm>
          <a:prstGeom prst="rect">
            <a:avLst/>
          </a:prstGeom>
          <a:noFill/>
          <a:ln>
            <a:noFill/>
          </a:ln>
        </p:spPr>
        <p:txBody>
          <a:bodyPr wrap="square" lIns="457200" tIns="0" rIns="457200" bIns="0" rtlCol="0" anchor="ctr"/>
          <a:lstStyle/>
          <a:p>
            <a:pPr marL="0" indent="0" algn="ctr">
              <a:buNone/>
            </a:pPr>
            <a:r>
              <a:rPr lang="en-US" sz="4000" b="1" dirty="0">
                <a:solidFill>
                  <a:srgbClr val="006666"/>
                </a:solidFill>
                <a:latin typeface="Arial"/>
                <a:cs typeface="Arial"/>
              </a:rPr>
              <a:t>Nền tảng Nghiên cứu Lâm sàng</a:t>
            </a:r>
          </a:p>
        </p:txBody>
      </p:sp>
      <p:sp>
        <p:nvSpPr>
          <p:cNvPr id="5" name="Subtitle"/>
          <p:cNvSpPr txBox="1"/>
          <p:nvPr/>
        </p:nvSpPr>
        <p:spPr>
          <a:xfrm>
            <a:off x="0" y="3250000"/>
            <a:ext cx="12192000" cy="1000000"/>
          </a:xfrm>
          <a:prstGeom prst="rect">
            <a:avLst/>
          </a:prstGeom>
          <a:noFill/>
          <a:ln>
            <a:noFill/>
          </a:ln>
        </p:spPr>
        <p:txBody>
          <a:bodyPr wrap="square" lIns="457200" tIns="45720" rIns="457200" bIns="45720" rtlCol="0" anchor="t"/>
          <a:lstStyle/>
          <a:p>
            <a:pPr marL="0" indent="0" algn="ctr">
              <a:spcBef>
                <a:spcPts val="440"/>
              </a:spcBef>
              <a:buNone/>
            </a:pPr>
            <a:r>
              <a:rPr lang="en-US" sz="2000" dirty="0">
                <a:solidFill>
                  <a:srgbClr val="000000"/>
                </a:solidFill>
                <a:latin typeface="Arial"/>
                <a:cs typeface="Arial"/>
              </a:rPr>
              <a:t>Cấp độ 1: Từ câu hỏi lâm sàng đến công bố</a:t>
            </a:r>
          </a:p>
          <a:p>
            <a:pPr marL="0" indent="0" algn="ctr">
              <a:spcBef>
                <a:spcPts val="440"/>
              </a:spcBef>
              <a:buNone/>
            </a:pPr>
            <a:r>
              <a:rPr lang="en-US" sz="2000" dirty="0">
                <a:solidFill>
                  <a:srgbClr val="000000"/>
                </a:solidFill>
                <a:latin typeface="Arial"/>
                <a:cs typeface="Arial"/>
              </a:rPr>
              <a:t>8 buổi tối trực tuyến, 19:30 đến 22:30, 24 giờ học</a:t>
            </a:r>
          </a:p>
          <a:p>
            <a:pPr marL="0" indent="0" algn="ctr">
              <a:spcBef>
                <a:spcPts val="440"/>
              </a:spcBef>
              <a:buNone/>
            </a:pPr>
            <a:r>
              <a:rPr lang="en-US" sz="2000" dirty="0">
                <a:solidFill>
                  <a:srgbClr val="000000"/>
                </a:solidFill>
                <a:latin typeface="Arial"/>
                <a:cs typeface="Arial"/>
              </a:rPr>
              <a:t>Giảng viên: Vương Mỹ Lượng &amp; Bernard Osang'ir</a:t>
            </a:r>
          </a:p>
        </p:txBody>
      </p:sp>
      <p:sp>
        <p:nvSpPr>
          <p:cNvPr id="6" name="Date"/>
          <p:cNvSpPr txBox="1"/>
          <p:nvPr/>
        </p:nvSpPr>
        <p:spPr>
          <a:xfrm>
            <a:off x="7902094" y="5833766"/>
            <a:ext cx="3465009" cy="326571"/>
          </a:xfrm>
          <a:prstGeom prst="rect">
            <a:avLst/>
          </a:prstGeom>
          <a:noFill/>
          <a:ln>
            <a:noFill/>
          </a:ln>
        </p:spPr>
        <p:txBody>
          <a:bodyPr wrap="square" lIns="0" tIns="0" rIns="0" bIns="0" rtlCol="0" anchor="b"/>
          <a:lstStyle/>
          <a:p>
            <a:pPr marL="0" indent="0" algn="r">
              <a:buNone/>
            </a:pPr>
            <a:r>
              <a:rPr lang="en-US" sz="1400" b="1" dirty="0">
                <a:solidFill>
                  <a:srgbClr val="000000"/>
                </a:solidFill>
                <a:latin typeface="Arial"/>
                <a:cs typeface="Arial"/>
              </a:rPr>
              <a:t>Ngày: 19/12/2026</a:t>
            </a:r>
          </a:p>
        </p:txBody>
      </p:sp>
      <p:sp>
        <p:nvSpPr>
          <p:cNvPr id="7"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2600" b="1" dirty="0">
                <a:solidFill>
                  <a:srgbClr val="0D7377"/>
                </a:solidFill>
                <a:latin typeface="Arial"/>
                <a:cs typeface="Arial"/>
              </a:rPr>
              <a:t>Buổi 8 · Công bố: hoàn thiện phần Kết quả, gửi đăng, trình bày</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Tuần 8 · Thứ Bảy, 19:30-22:30 (trực tuyến)</a:t>
            </a:r>
          </a:p>
          <a:p>
            <a:pPr>
              <a:buNone/>
            </a:pPr>
            <a:endParaRPr sz="800"/>
          </a:p>
          <a:p>
            <a:pPr marL="274320" indent="-274320" algn="l">
              <a:spcBef>
                <a:spcPts val="440"/>
              </a:spcBef>
              <a:buFont typeface="Arial"/>
              <a:buChar char="•"/>
            </a:pPr>
            <a:r>
              <a:rPr lang="en-US" sz="1900" dirty="0">
                <a:solidFill>
                  <a:srgbClr val="000000"/>
                </a:solidFill>
                <a:latin typeface="Arial"/>
                <a:cs typeface="Arial"/>
              </a:rPr>
              <a:t>19:30  Ôn tập: Buổi 7</a:t>
            </a:r>
          </a:p>
          <a:p>
            <a:pPr marL="274320" indent="-274320" algn="l">
              <a:spcBef>
                <a:spcPts val="440"/>
              </a:spcBef>
              <a:buFont typeface="Arial"/>
              <a:buChar char="•"/>
            </a:pPr>
            <a:r>
              <a:rPr lang="en-US" sz="1900" dirty="0">
                <a:solidFill>
                  <a:srgbClr val="000000"/>
                </a:solidFill>
                <a:latin typeface="Arial"/>
                <a:cs typeface="Arial"/>
              </a:rPr>
              <a:t>19:35  8.1  Viết bài báo (II): Đặt vấn đề, Bàn luận, Tóm tắt, tên bài</a:t>
            </a:r>
          </a:p>
          <a:p>
            <a:pPr marL="274320" indent="-274320" algn="l">
              <a:spcBef>
                <a:spcPts val="440"/>
              </a:spcBef>
              <a:buFont typeface="Arial"/>
              <a:buChar char="•"/>
            </a:pPr>
            <a:r>
              <a:rPr lang="en-US" sz="1900" dirty="0">
                <a:solidFill>
                  <a:srgbClr val="000000"/>
                </a:solidFill>
                <a:latin typeface="Arial"/>
                <a:cs typeface="Arial"/>
              </a:rPr>
              <a:t>20:05  Thực hành bản thảo 2: hoàn thiện phần Kết quả</a:t>
            </a:r>
          </a:p>
          <a:p>
            <a:pPr marL="274320" indent="-274320" algn="l">
              <a:spcBef>
                <a:spcPts val="440"/>
              </a:spcBef>
              <a:buFont typeface="Arial"/>
              <a:buChar char="•"/>
            </a:pPr>
            <a:r>
              <a:rPr lang="en-US" sz="1900" dirty="0">
                <a:solidFill>
                  <a:srgbClr val="000000"/>
                </a:solidFill>
                <a:latin typeface="Arial"/>
                <a:cs typeface="Arial"/>
              </a:rPr>
              <a:t>20:30  8.2  Công bố: từ bảng kiểm đến người phản biện</a:t>
            </a:r>
          </a:p>
          <a:p>
            <a:pPr marL="274320" indent="-274320" algn="l">
              <a:spcBef>
                <a:spcPts val="440"/>
              </a:spcBef>
              <a:buFont typeface="Arial"/>
              <a:buChar char="•"/>
            </a:pPr>
            <a:r>
              <a:rPr lang="en-US" sz="1900" dirty="0">
                <a:solidFill>
                  <a:srgbClr val="000000"/>
                </a:solidFill>
                <a:latin typeface="Arial"/>
                <a:cs typeface="Arial"/>
              </a:rPr>
              <a:t>21:05  8.3  Làm người phản biện: Bài 1 và Bài 2, cả lớp cùng làm</a:t>
            </a:r>
          </a:p>
          <a:p>
            <a:pPr marL="274320" indent="-274320" algn="l">
              <a:spcBef>
                <a:spcPts val="440"/>
              </a:spcBef>
              <a:buFont typeface="Arial"/>
              <a:buChar char="•"/>
            </a:pPr>
            <a:r>
              <a:rPr lang="en-US" sz="1900" dirty="0">
                <a:solidFill>
                  <a:srgbClr val="000000"/>
                </a:solidFill>
                <a:latin typeface="Arial"/>
                <a:cs typeface="Arial"/>
              </a:rPr>
              <a:t>21:30  Trình bày đề cương (khoảng 5 người tình nguyện), 22:15 bế mạc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Ôn tập: ba câu hỏi từ Buổi 7</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Ai đồng ý cho người bệnh sốc nhiễm khuẩn đang an thần?</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Mục STROBE nào yêu cầu ước lượng thô và hiệu chỉnh?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Câu 'có thể do người bệnh nặng hơn được truyền nhiều dịch hơn' thuộc phần nào?</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Người đại diện hợp pháp (hoặc đồng ý trì hoãn, nếu hội đồng đã duyệt)</a:t>
            </a:r>
          </a:p>
          <a:p>
            <a:pPr marL="0" indent="0" algn="ctr">
              <a:lnSpc>
                <a:spcPct val="104000"/>
              </a:lnSpc>
              <a:spcBef>
                <a:spcPts val="300"/>
              </a:spcBef>
              <a:buNone/>
            </a:pPr>
            <a:r>
              <a:rPr lang="en-US" sz="1500" dirty="0">
                <a:solidFill>
                  <a:srgbClr val="000000"/>
                </a:solidFill>
                <a:latin typeface="Arial"/>
                <a:cs typeface="Arial"/>
              </a:rPr>
              <a:t>Mục 16 (kết quả chính)</a:t>
            </a:r>
          </a:p>
          <a:p>
            <a:pPr marL="0" indent="0" algn="ctr">
              <a:lnSpc>
                <a:spcPct val="104000"/>
              </a:lnSpc>
              <a:spcBef>
                <a:spcPts val="300"/>
              </a:spcBef>
              <a:buNone/>
            </a:pPr>
            <a:r>
              <a:rPr lang="en-US" sz="1500" dirty="0">
                <a:solidFill>
                  <a:srgbClr val="000000"/>
                </a:solidFill>
                <a:latin typeface="Arial"/>
                <a:cs typeface="Arial"/>
              </a:rPr>
              <a:t>Bàn luận, không phải Kết quả</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Mọi người sẵn sàng viết tiếp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8.1  |  30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Viết bài báo (II): Đặt vấn đề, Bàn luận, Tóm tắt và tên bài</a:t>
            </a:r>
          </a:p>
          <a:p>
            <a:pPr marL="0" indent="0" algn="ctr">
              <a:spcBef>
                <a:spcPts val="1200"/>
              </a:spcBef>
              <a:buNone/>
            </a:pPr>
            <a:r>
              <a:rPr lang="en-US" sz="1900" i="1" dirty="0">
                <a:solidFill>
                  <a:srgbClr val="595959"/>
                </a:solidFill>
                <a:latin typeface="Arial"/>
                <a:cs typeface="Arial"/>
              </a:rPr>
              <a:t>Mỗi phần để làm gì, một ví dụ mẫu trên Q1, một bài kiểm tra ngắn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Đặt vấn đề: hình phễu trong ba đoạn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677066" y="1150000"/>
            <a:ext cx="10837867"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Đã biết, chưa biết, mục tiêu. Mục tiêu khớp với kết cục chính.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phễu Đặt vấn đề cho FLUID-ICU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42152"/>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1  Đã biết</a:t>
            </a:r>
          </a:p>
        </p:txBody>
      </p:sp>
      <p:sp>
        <p:nvSpPr>
          <p:cNvPr id="71" name="CardBody"/>
          <p:cNvSpPr/>
          <p:nvPr/>
        </p:nvSpPr>
        <p:spPr>
          <a:xfrm>
            <a:off x="457200"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Dịch truyền cứu sống ở giai đoạn sớm của nhiễm khuẩn huyết</a:t>
            </a:r>
          </a:p>
          <a:p>
            <a:pPr marL="0" indent="0" algn="ctr">
              <a:lnSpc>
                <a:spcPct val="104000"/>
              </a:lnSpc>
              <a:spcBef>
                <a:spcPts val="400"/>
              </a:spcBef>
              <a:buNone/>
            </a:pPr>
            <a:r>
              <a:rPr lang="en-US" sz="1750" dirty="0">
                <a:solidFill>
                  <a:srgbClr val="000000"/>
                </a:solidFill>
                <a:latin typeface="Arial"/>
                <a:cs typeface="Arial"/>
              </a:rPr>
              <a:t>Cân bằng dương liên quan với tử vong (Bài 2 và các nghiên cứu thuần tập khác)</a:t>
            </a:r>
          </a:p>
        </p:txBody>
      </p:sp>
      <p:sp>
        <p:nvSpPr>
          <p:cNvPr id="72" name="CardHead"/>
          <p:cNvSpPr/>
          <p:nvPr/>
        </p:nvSpPr>
        <p:spPr>
          <a:xfrm>
            <a:off x="4283066" y="1742152"/>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2  Chưa biết</a:t>
            </a:r>
          </a:p>
        </p:txBody>
      </p:sp>
      <p:sp>
        <p:nvSpPr>
          <p:cNvPr id="73" name="CardBody"/>
          <p:cNvSpPr/>
          <p:nvPr/>
        </p:nvSpPr>
        <p:spPr>
          <a:xfrm>
            <a:off x="4283066"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Người bệnh nặng hơn được truyền nhiều dịch hơn</a:t>
            </a:r>
          </a:p>
          <a:p>
            <a:pPr marL="0" indent="0" algn="ctr">
              <a:lnSpc>
                <a:spcPct val="104000"/>
              </a:lnSpc>
              <a:spcBef>
                <a:spcPts val="400"/>
              </a:spcBef>
              <a:buNone/>
            </a:pPr>
            <a:r>
              <a:rPr lang="en-US" sz="1750" dirty="0">
                <a:solidFill>
                  <a:srgbClr val="000000"/>
                </a:solidFill>
                <a:latin typeface="Arial"/>
                <a:cs typeface="Arial"/>
              </a:rPr>
              <a:t>Chưa rõ mối liên quan còn không sau khi hiệu chỉnh theo mức độ nặng</a:t>
            </a:r>
          </a:p>
        </p:txBody>
      </p:sp>
      <p:sp>
        <p:nvSpPr>
          <p:cNvPr id="74" name="CardHead"/>
          <p:cNvSpPr/>
          <p:nvPr/>
        </p:nvSpPr>
        <p:spPr>
          <a:xfrm>
            <a:off x="8108932" y="1742152"/>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3  Mục tiêu</a:t>
            </a:r>
          </a:p>
        </p:txBody>
      </p:sp>
      <p:sp>
        <p:nvSpPr>
          <p:cNvPr id="75" name="CardBody"/>
          <p:cNvSpPr/>
          <p:nvPr/>
        </p:nvSpPr>
        <p:spPr>
          <a:xfrm>
            <a:off x="8108932" y="2382152"/>
            <a:ext cx="3625866" cy="18235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Chúng tôi đánh giá liệu cân bằng dương đến ngày 3 có liên quan với tử vong 28 ngày hay không, sau khi hiệu chỉnh</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Ba đoạn, khoảng 350 từ. Câu mục tiêu dùng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điều đã biết, điều chưa biết hay mục tiêu?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'Truyền dịch sớm là phần cốt lõi trong điều trị nhiễm khuẩn huyết.'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'Người bệnh nặng hơn được truyền nhiều dịch hơn, nên chưa rõ mối liên quan với tử vong có còn sau khi hiệu chỉnh hay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'Chúng tôi đánh giá liệu cân bằng dịch dương đến ngày 3 có liên quan với tử vong 28 ngày hay không.'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'Trong nghiên cứu của chúng tôi, 35.9% người bệnh cân bằng dương đã tử vong.'</a:t>
            </a:r>
          </a:p>
        </p:txBody>
      </p:sp>
      <p:sp>
        <p:nvSpPr>
          <p:cNvPr id="52" name="Side"/>
          <p:cNvSpPr/>
          <p:nvPr/>
        </p:nvSpPr>
        <p:spPr>
          <a:xfrm>
            <a:off x="7423760" y="1720000"/>
            <a:ext cx="4311040" cy="19680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Đoạn 1: điều đã biết</a:t>
            </a:r>
          </a:p>
          <a:p>
            <a:pPr marL="0" indent="0" algn="ctr">
              <a:lnSpc>
                <a:spcPct val="104000"/>
              </a:lnSpc>
              <a:spcBef>
                <a:spcPts val="300"/>
              </a:spcBef>
              <a:buNone/>
            </a:pPr>
            <a:r>
              <a:rPr lang="en-US" sz="1500" dirty="0">
                <a:solidFill>
                  <a:srgbClr val="000000"/>
                </a:solidFill>
                <a:latin typeface="Arial"/>
                <a:cs typeface="Arial"/>
              </a:rPr>
              <a:t>Đoạn 2: điều chưa biết</a:t>
            </a:r>
          </a:p>
          <a:p>
            <a:pPr marL="0" indent="0" algn="ctr">
              <a:lnSpc>
                <a:spcPct val="104000"/>
              </a:lnSpc>
              <a:spcBef>
                <a:spcPts val="300"/>
              </a:spcBef>
              <a:buNone/>
            </a:pPr>
            <a:r>
              <a:rPr lang="en-US" sz="1500" dirty="0">
                <a:solidFill>
                  <a:srgbClr val="000000"/>
                </a:solidFill>
                <a:latin typeface="Arial"/>
                <a:cs typeface="Arial"/>
              </a:rPr>
              <a:t>Đoạn 3: mục tiêu</a:t>
            </a:r>
          </a:p>
          <a:p>
            <a:pPr marL="0" indent="0" algn="ctr">
              <a:lnSpc>
                <a:spcPct val="104000"/>
              </a:lnSpc>
              <a:spcBef>
                <a:spcPts val="300"/>
              </a:spcBef>
              <a:buNone/>
            </a:pPr>
            <a:r>
              <a:rPr lang="en-US" sz="1500" dirty="0">
                <a:solidFill>
                  <a:srgbClr val="000000"/>
                </a:solidFill>
                <a:latin typeface="Arial"/>
                <a:cs typeface="Arial"/>
              </a:rPr>
              <a:t>Không thuộc Đặt vấn đề: kết quả của bạn nằm ở phần Kết quả</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Bàn luận: sáu bước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1 Trả lời</a:t>
            </a:r>
          </a:p>
        </p:txBody>
      </p:sp>
      <p:sp>
        <p:nvSpPr>
          <p:cNvPr id="81" name="StepText"/>
          <p:cNvSpPr/>
          <p:nvPr/>
        </p:nvSpPr>
        <p:spPr>
          <a:xfrm>
            <a:off x="4972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Câu đầu tiên trả lời câu hỏi</a:t>
            </a:r>
          </a:p>
          <a:p>
            <a:pPr marL="0" indent="0" algn="ctr">
              <a:lnSpc>
                <a:spcPct val="104000"/>
              </a:lnSpc>
              <a:spcBef>
                <a:spcPts val="200"/>
              </a:spcBef>
              <a:buNone/>
            </a:pPr>
            <a:r>
              <a:rPr lang="en-US" sz="1300" dirty="0">
                <a:solidFill>
                  <a:srgbClr val="000000"/>
                </a:solidFill>
                <a:latin typeface="Arial"/>
                <a:cs typeface="Arial"/>
              </a:rPr>
              <a:t>Bài 1, tr.8</a:t>
            </a:r>
          </a:p>
        </p:txBody>
      </p:sp>
      <p:sp>
        <p:nvSpPr>
          <p:cNvPr id="82" name="Step"/>
          <p:cNvSpPr/>
          <p:nvPr/>
        </p:nvSpPr>
        <p:spPr>
          <a:xfrm>
            <a:off x="2326800" y="122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2 So sánh</a:t>
            </a:r>
          </a:p>
        </p:txBody>
      </p:sp>
      <p:sp>
        <p:nvSpPr>
          <p:cNvPr id="83" name="StepText"/>
          <p:cNvSpPr/>
          <p:nvPr/>
        </p:nvSpPr>
        <p:spPr>
          <a:xfrm>
            <a:off x="23668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Với nghiên cứu khác, và vì sao khác</a:t>
            </a:r>
          </a:p>
          <a:p>
            <a:pPr marL="0" indent="0" algn="ctr">
              <a:lnSpc>
                <a:spcPct val="104000"/>
              </a:lnSpc>
              <a:spcBef>
                <a:spcPts val="200"/>
              </a:spcBef>
              <a:buNone/>
            </a:pPr>
            <a:r>
              <a:rPr lang="en-US" sz="1300" dirty="0">
                <a:solidFill>
                  <a:srgbClr val="000000"/>
                </a:solidFill>
                <a:latin typeface="Arial"/>
                <a:cs typeface="Arial"/>
              </a:rPr>
              <a:t>Bài 1: so với CLASSIC, POINCARE-2</a:t>
            </a:r>
          </a:p>
        </p:txBody>
      </p:sp>
      <p:sp>
        <p:nvSpPr>
          <p:cNvPr id="84" name="Step"/>
          <p:cNvSpPr/>
          <p:nvPr/>
        </p:nvSpPr>
        <p:spPr>
          <a:xfrm>
            <a:off x="4196400" y="122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3 Giải thích</a:t>
            </a:r>
          </a:p>
        </p:txBody>
      </p:sp>
      <p:sp>
        <p:nvSpPr>
          <p:cNvPr id="85" name="StepText"/>
          <p:cNvSpPr/>
          <p:nvPr/>
        </p:nvSpPr>
        <p:spPr>
          <a:xfrm>
            <a:off x="42364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Cơ chế, ngắn gọn</a:t>
            </a:r>
          </a:p>
          <a:p>
            <a:pPr marL="0" indent="0" algn="ctr">
              <a:lnSpc>
                <a:spcPct val="104000"/>
              </a:lnSpc>
              <a:spcBef>
                <a:spcPts val="200"/>
              </a:spcBef>
              <a:buNone/>
            </a:pPr>
            <a:r>
              <a:rPr lang="en-US" sz="1300" dirty="0">
                <a:solidFill>
                  <a:srgbClr val="000000"/>
                </a:solidFill>
                <a:latin typeface="Arial"/>
                <a:cs typeface="Arial"/>
              </a:rPr>
              <a:t>Bài 2: mô hình dịch bốn giai đoạn</a:t>
            </a:r>
          </a:p>
        </p:txBody>
      </p:sp>
      <p:sp>
        <p:nvSpPr>
          <p:cNvPr id="86" name="Step"/>
          <p:cNvSpPr/>
          <p:nvPr/>
        </p:nvSpPr>
        <p:spPr>
          <a:xfrm>
            <a:off x="6066000" y="122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4 Hạn chế</a:t>
            </a:r>
          </a:p>
        </p:txBody>
      </p:sp>
      <p:sp>
        <p:nvSpPr>
          <p:cNvPr id="87" name="StepText"/>
          <p:cNvSpPr/>
          <p:nvPr/>
        </p:nvSpPr>
        <p:spPr>
          <a:xfrm>
            <a:off x="61060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Cụ thể: cơ chế, hướng sai lệch, cách sửa</a:t>
            </a:r>
          </a:p>
          <a:p>
            <a:pPr marL="0" indent="0" algn="ctr">
              <a:lnSpc>
                <a:spcPct val="104000"/>
              </a:lnSpc>
              <a:spcBef>
                <a:spcPts val="200"/>
              </a:spcBef>
              <a:buNone/>
            </a:pPr>
            <a:r>
              <a:rPr lang="en-US" sz="1300" dirty="0">
                <a:solidFill>
                  <a:srgbClr val="000000"/>
                </a:solidFill>
                <a:latin typeface="Arial"/>
                <a:cs typeface="Arial"/>
              </a:rPr>
              <a:t>Bài 1: nhiễm chéo nhóm chứng</a:t>
            </a:r>
          </a:p>
        </p:txBody>
      </p:sp>
      <p:sp>
        <p:nvSpPr>
          <p:cNvPr id="88" name="Step"/>
          <p:cNvSpPr/>
          <p:nvPr/>
        </p:nvSpPr>
        <p:spPr>
          <a:xfrm>
            <a:off x="7935600" y="122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5 Hàm ý</a:t>
            </a:r>
          </a:p>
        </p:txBody>
      </p:sp>
      <p:sp>
        <p:nvSpPr>
          <p:cNvPr id="89" name="StepText"/>
          <p:cNvSpPr/>
          <p:nvPr/>
        </p:nvSpPr>
        <p:spPr>
          <a:xfrm>
            <a:off x="79756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Cho thực hành và nghiên cứu, ghi rõ</a:t>
            </a:r>
          </a:p>
          <a:p>
            <a:pPr marL="0" indent="0" algn="ctr">
              <a:lnSpc>
                <a:spcPct val="104000"/>
              </a:lnSpc>
              <a:spcBef>
                <a:spcPts val="200"/>
              </a:spcBef>
              <a:buNone/>
            </a:pPr>
            <a:r>
              <a:rPr lang="en-US" sz="1300" dirty="0">
                <a:solidFill>
                  <a:srgbClr val="000000"/>
                </a:solidFill>
                <a:latin typeface="Arial"/>
                <a:cs typeface="Arial"/>
              </a:rPr>
              <a:t>Bài 1: 'có lẽ sẽ có lợi' là suy đoán</a:t>
            </a:r>
          </a:p>
        </p:txBody>
      </p:sp>
      <p:sp>
        <p:nvSpPr>
          <p:cNvPr id="90" name="Step"/>
          <p:cNvSpPr/>
          <p:nvPr/>
        </p:nvSpPr>
        <p:spPr>
          <a:xfrm>
            <a:off x="9805200" y="122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6 Kết luận</a:t>
            </a:r>
          </a:p>
        </p:txBody>
      </p:sp>
      <p:sp>
        <p:nvSpPr>
          <p:cNvPr id="91" name="StepText"/>
          <p:cNvSpPr/>
          <p:nvPr/>
        </p:nvSpPr>
        <p:spPr>
          <a:xfrm>
            <a:off x="9845200" y="2140000"/>
            <a:ext cx="1789600" cy="162193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300" dirty="0">
                <a:solidFill>
                  <a:srgbClr val="000000"/>
                </a:solidFill>
                <a:latin typeface="Arial"/>
                <a:cs typeface="Arial"/>
              </a:rPr>
              <a:t>Cùng thông điệp với tóm tắt và tiêu đề</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Trả lời trước. Hạn chế kèm hướng sai lệch. Kết luận = tóm tắt =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Bàn luận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Sáu bước, mỗi bước một câu (dữ liệu mô phỏng).</a:t>
            </a:r>
          </a:p>
          <a:p>
            <a:pPr>
              <a:buNone/>
            </a:pPr>
            <a:endParaRPr sz="950"/>
          </a:p>
          <a:p>
            <a:pPr marL="274320" indent="-274320" algn="l">
              <a:lnSpc>
                <a:spcPct val="106000"/>
              </a:lnSpc>
              <a:spcBef>
                <a:spcPts val="560"/>
              </a:spcBef>
              <a:buFont typeface="Arial"/>
              <a:buChar char="•"/>
            </a:pPr>
            <a:r>
              <a:rPr lang="en-US" sz="1700" dirty="0">
                <a:solidFill>
                  <a:srgbClr val="000000"/>
                </a:solidFill>
                <a:latin typeface="Arial"/>
                <a:cs typeface="Arial"/>
              </a:rPr>
              <a:t>1 Trả lời: Cân bằng dương đến ngày 3 có liên quan với tử vong 28 ngày cao hơn (OR hiệu chỉnh 1.62, KTC 95% 1.02 đến 2.59).</a:t>
            </a:r>
          </a:p>
          <a:p>
            <a:pPr marL="274320" indent="-274320" algn="l">
              <a:lnSpc>
                <a:spcPct val="106000"/>
              </a:lnSpc>
              <a:spcBef>
                <a:spcPts val="560"/>
              </a:spcBef>
              <a:buFont typeface="Arial"/>
              <a:buChar char="•"/>
            </a:pPr>
            <a:r>
              <a:rPr lang="en-US" sz="1700" dirty="0">
                <a:solidFill>
                  <a:srgbClr val="000000"/>
                </a:solidFill>
                <a:latin typeface="Arial"/>
                <a:cs typeface="Arial"/>
              </a:rPr>
              <a:t>2 So sánh: Phù hợp với Bài 2 (HR ngày 2 là 2.13), dù ước lượng hiệu chỉnh của chúng tôi nhỏ hơn.</a:t>
            </a:r>
          </a:p>
          <a:p>
            <a:pPr marL="274320" indent="-274320" algn="l">
              <a:lnSpc>
                <a:spcPct val="106000"/>
              </a:lnSpc>
              <a:spcBef>
                <a:spcPts val="560"/>
              </a:spcBef>
              <a:buFont typeface="Arial"/>
              <a:buChar char="•"/>
            </a:pPr>
            <a:r>
              <a:rPr lang="en-US" sz="1700" dirty="0">
                <a:solidFill>
                  <a:srgbClr val="000000"/>
                </a:solidFill>
                <a:latin typeface="Arial"/>
                <a:cs typeface="Arial"/>
              </a:rPr>
              <a:t>3 Giải thích: Phần lớn liên quan thô (OR 2.49) phản ánh nhiễu do chỉ định: người bệnh nặng hơn được truyền nhiều dịch hơn.</a:t>
            </a:r>
          </a:p>
          <a:p>
            <a:pPr marL="274320" indent="-274320" algn="l">
              <a:lnSpc>
                <a:spcPct val="106000"/>
              </a:lnSpc>
              <a:spcBef>
                <a:spcPts val="560"/>
              </a:spcBef>
              <a:buFont typeface="Arial"/>
              <a:buChar char="•"/>
            </a:pPr>
            <a:r>
              <a:rPr lang="en-US" sz="1700" dirty="0">
                <a:solidFill>
                  <a:srgbClr val="000000"/>
                </a:solidFill>
                <a:latin typeface="Arial"/>
                <a:cs typeface="Arial"/>
              </a:rPr>
              <a:t>4 Hạn chế: Nhiễu còn sót và quan hệ nhân quả ngược có thể phóng đại mối liên quan. KTC của HR Cox hiệu chỉnh chạm 1.00.</a:t>
            </a:r>
          </a:p>
          <a:p>
            <a:pPr marL="274320" indent="-274320" algn="l">
              <a:lnSpc>
                <a:spcPct val="106000"/>
              </a:lnSpc>
              <a:spcBef>
                <a:spcPts val="560"/>
              </a:spcBef>
              <a:buFont typeface="Arial"/>
              <a:buChar char="•"/>
            </a:pPr>
            <a:r>
              <a:rPr lang="en-US" sz="1700" dirty="0">
                <a:solidFill>
                  <a:srgbClr val="000000"/>
                </a:solidFill>
                <a:latin typeface="Arial"/>
                <a:cs typeface="Arial"/>
              </a:rPr>
              <a:t>5 Hàm ý: Dữ liệu này không đủ để khuyến cáo hạn chế dịch. Cần một thử nghiệm ngẫu nhiên (như Bài 1).</a:t>
            </a:r>
          </a:p>
          <a:p>
            <a:pPr marL="274320" indent="-274320" algn="l">
              <a:lnSpc>
                <a:spcPct val="106000"/>
              </a:lnSpc>
              <a:spcBef>
                <a:spcPts val="560"/>
              </a:spcBef>
              <a:buFont typeface="Arial"/>
              <a:buChar char="•"/>
            </a:pPr>
            <a:r>
              <a:rPr lang="en-US" sz="1700" dirty="0">
                <a:solidFill>
                  <a:srgbClr val="000000"/>
                </a:solidFill>
                <a:latin typeface="Arial"/>
                <a:cs typeface="Arial"/>
              </a:rPr>
              <a:t>6 Kết luận: 'có liên quan với', cùng động từ với mục tiêu, tóm tắt và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Vì sao OR giảm: giải thích trong Bàn luận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Notes"/>
          <p:cNvSpPr txBox="1"/>
          <p:nvPr/>
        </p:nvSpPr>
        <p:spPr>
          <a:xfrm>
            <a:off x="457200" y="1150000"/>
            <a:ext cx="3600000" cy="5000000"/>
          </a:xfrm>
          <a:prstGeom prst="rect">
            <a:avLst/>
          </a:prstGeom>
          <a:noFill/>
          <a:ln>
            <a:noFill/>
          </a:ln>
        </p:spPr>
        <p:txBody>
          <a:bodyPr wrap="square" lIns="91440" tIns="45720" rIns="91440" bIns="45720" rtlCol="0" anchor="t"/>
          <a:lstStyle/>
          <a:p>
            <a:pPr marL="0" indent="0" algn="l">
              <a:buNone/>
            </a:pPr>
            <a:r>
              <a:rPr lang="en-US" sz="1700" b="1" dirty="0">
                <a:solidFill>
                  <a:srgbClr val="0D7377"/>
                </a:solidFill>
                <a:latin typeface="Arial"/>
                <a:cs typeface="Arial"/>
              </a:rPr>
              <a:t>FLUID-ICU Q1 (mô phỏng)</a:t>
            </a:r>
          </a:p>
          <a:p>
            <a:pPr marL="274320" indent="-274320" algn="l">
              <a:spcBef>
                <a:spcPts val="440"/>
              </a:spcBef>
              <a:buFont typeface="Arial"/>
              <a:buChar char="•"/>
            </a:pPr>
            <a:r>
              <a:rPr lang="en-US" sz="1450" dirty="0">
                <a:solidFill>
                  <a:srgbClr val="000000"/>
                </a:solidFill>
                <a:latin typeface="Arial"/>
                <a:cs typeface="Arial"/>
              </a:rPr>
              <a:t>OR thô 2.49 (1.70 đến 3.70)</a:t>
            </a:r>
          </a:p>
          <a:p>
            <a:pPr marL="274320" indent="-274320" algn="l">
              <a:spcBef>
                <a:spcPts val="440"/>
              </a:spcBef>
              <a:buFont typeface="Arial"/>
              <a:buChar char="•"/>
            </a:pPr>
            <a:r>
              <a:rPr lang="en-US" sz="1450" dirty="0">
                <a:solidFill>
                  <a:srgbClr val="000000"/>
                </a:solidFill>
                <a:latin typeface="Arial"/>
                <a:cs typeface="Arial"/>
              </a:rPr>
              <a:t>OR hiệu chỉnh 1.62 (1.02 đến 2.59)</a:t>
            </a:r>
          </a:p>
          <a:p>
            <a:pPr marL="274320" indent="-274320" algn="l">
              <a:spcBef>
                <a:spcPts val="440"/>
              </a:spcBef>
              <a:buFont typeface="Arial"/>
              <a:buChar char="•"/>
            </a:pPr>
            <a:r>
              <a:rPr lang="en-US" sz="1450" dirty="0">
                <a:solidFill>
                  <a:srgbClr val="000000"/>
                </a:solidFill>
                <a:latin typeface="Arial"/>
                <a:cs typeface="Arial"/>
              </a:rPr>
              <a:t>OR quy gán 1.70 (1.09 đến 2.64)</a:t>
            </a:r>
          </a:p>
          <a:p>
            <a:pPr marL="274320" indent="-274320" algn="l">
              <a:spcBef>
                <a:spcPts val="440"/>
              </a:spcBef>
              <a:buFont typeface="Arial"/>
              <a:buChar char="•"/>
            </a:pPr>
            <a:r>
              <a:rPr lang="en-US" sz="1450" dirty="0">
                <a:solidFill>
                  <a:srgbClr val="000000"/>
                </a:solidFill>
                <a:latin typeface="Arial"/>
                <a:cs typeface="Arial"/>
              </a:rPr>
              <a:t>Chênh lệch = nhiễu do chỉ định</a:t>
            </a:r>
          </a:p>
        </p:txBody>
      </p:sp>
      <p:pic>
        <p:nvPicPr>
          <p:cNvPr id="25" name="Figure"/>
          <p:cNvPicPr>
            <a:picLocks noChangeAspect="1"/>
          </p:cNvPicPr>
          <p:nvPr/>
        </p:nvPicPr>
        <p:blipFill>
          <a:blip r:embed="rId4"/>
          <a:stretch>
            <a:fillRect/>
          </a:stretch>
        </p:blipFill>
        <p:spPr>
          <a:xfrm>
            <a:off x="4307200" y="1150000"/>
            <a:ext cx="6773668"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Báo cáo cả hai. Giải thích chênh lệch. Giữ động từ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Ngôn ngữ chừng mực: chọn động từ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Khẳng định mạnh hơn = cần thiết kế mạnh hơn</a:t>
            </a:r>
          </a:p>
        </p:txBody>
      </p:sp>
      <p:graphicFrame>
        <p:nvGraphicFramePr>
          <p:cNvPr id="30" name="Table"/>
          <p:cNvGraphicFramePr/>
          <p:nvPr/>
        </p:nvGraphicFramePr>
        <p:xfrm>
          <a:off x="457200" y="1897563"/>
          <a:ext cx="11277600" cy="2314560"/>
        </p:xfrm>
        <a:graphic>
          <a:graphicData uri="http://schemas.openxmlformats.org/drawingml/2006/table">
            <a:tbl>
              <a:tblPr firstRow="1" bandRow="1">
                <a:tableStyleId>{5C22544A-7EE6-4342-B048-85BDC9FD1C3A}</a:tableStyleId>
              </a:tblPr>
              <a:tblGrid>
                <a:gridCol w="6265333"/>
                <a:gridCol w="5012267"/>
              </a:tblGrid>
              <a:tr h="385760">
                <a:tc>
                  <a:txBody>
                    <a:bodyPr/>
                    <a:lstStyle/>
                    <a:p>
                      <a:pPr algn="l"/>
                      <a:r>
                        <a:rPr lang="en-US" sz="1800" b="1" dirty="0">
                          <a:solidFill>
                            <a:srgbClr val="FFFFFF"/>
                          </a:solidFill>
                          <a:latin typeface="Arial"/>
                          <a:cs typeface="Arial"/>
                        </a:rPr>
                        <a:t>Động từ (mạnh nhất ở trên)</a:t>
                      </a:r>
                    </a:p>
                  </a:txBody>
                  <a:tcPr marL="73152" marR="73152" marT="45720" marB="45720" anchor="ctr">
                    <a:solidFill>
                      <a:srgbClr val="0D7377"/>
                    </a:solidFill>
                  </a:tcPr>
                </a:tc>
                <a:tc>
                  <a:txBody>
                    <a:bodyPr/>
                    <a:lstStyle/>
                    <a:p>
                      <a:pPr algn="l"/>
                      <a:r>
                        <a:rPr lang="en-US" sz="1800" b="1" dirty="0">
                          <a:solidFill>
                            <a:srgbClr val="FFFFFF"/>
                          </a:solidFill>
                          <a:latin typeface="Arial"/>
                          <a:cs typeface="Arial"/>
                        </a:rPr>
                        <a:t>Cần ít nhất</a:t>
                      </a:r>
                    </a:p>
                  </a:txBody>
                  <a:tcPr marL="73152" marR="73152" marT="45720" marB="45720" anchor="ctr">
                    <a:solidFill>
                      <a:srgbClr val="0D7377"/>
                    </a:solidFill>
                  </a:tcPr>
                </a:tc>
              </a:tr>
              <a:tr h="385760">
                <a:tc>
                  <a:txBody>
                    <a:bodyPr/>
                    <a:lstStyle/>
                    <a:p>
                      <a:pPr algn="l"/>
                      <a:r>
                        <a:rPr lang="en-US" sz="1800" b="1" dirty="0">
                          <a:solidFill>
                            <a:srgbClr val="FFFFFF"/>
                          </a:solidFill>
                          <a:latin typeface="Arial"/>
                          <a:cs typeface="Arial"/>
                        </a:rPr>
                        <a:t>'gây ra', 'phòng ngừa', 'chứng minh'</a:t>
                      </a:r>
                    </a:p>
                  </a:txBody>
                  <a:tcPr marL="73152" marR="73152" marT="45720" marB="45720" anchor="ctr">
                    <a:solidFill>
                      <a:srgbClr val="04242F"/>
                    </a:solidFill>
                  </a:tcPr>
                </a:tc>
                <a:tc>
                  <a:txBody>
                    <a:bodyPr/>
                    <a:lstStyle/>
                    <a:p>
                      <a:pPr algn="l"/>
                      <a:r>
                        <a:rPr lang="en-US" sz="1800" dirty="0">
                          <a:solidFill>
                            <a:srgbClr val="000000"/>
                          </a:solidFill>
                          <a:latin typeface="Arial"/>
                          <a:cs typeface="Arial"/>
                        </a:rPr>
                        <a:t>Nhiều RCT lớn thống nhất</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'làm giảm', 'làm tăng', 'không làm giảm'</a:t>
                      </a:r>
                    </a:p>
                  </a:txBody>
                  <a:tcPr marL="73152" marR="73152" marT="45720" marB="45720" anchor="ctr">
                    <a:solidFill>
                      <a:srgbClr val="0B376C"/>
                    </a:solidFill>
                  </a:tcPr>
                </a:tc>
                <a:tc>
                  <a:txBody>
                    <a:bodyPr/>
                    <a:lstStyle/>
                    <a:p>
                      <a:pPr algn="l"/>
                      <a:r>
                        <a:rPr lang="en-US" sz="1800" dirty="0">
                          <a:solidFill>
                            <a:srgbClr val="000000"/>
                          </a:solidFill>
                          <a:latin typeface="Arial"/>
                          <a:cs typeface="Arial"/>
                        </a:rPr>
                        <a:t>Một thử nghiệm ngẫu nhiên (Bài 1)</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'có thể góp phần', 'phù hợp với'</a:t>
                      </a:r>
                    </a:p>
                  </a:txBody>
                  <a:tcPr marL="73152" marR="73152" marT="45720" marB="45720" anchor="ctr">
                    <a:solidFill>
                      <a:srgbClr val="0070C0"/>
                    </a:solidFill>
                  </a:tcPr>
                </a:tc>
                <a:tc>
                  <a:txBody>
                    <a:bodyPr/>
                    <a:lstStyle/>
                    <a:p>
                      <a:pPr algn="l"/>
                      <a:r>
                        <a:rPr lang="en-US" sz="1800" dirty="0">
                          <a:solidFill>
                            <a:srgbClr val="000000"/>
                          </a:solidFill>
                          <a:latin typeface="Arial"/>
                          <a:cs typeface="Arial"/>
                        </a:rPr>
                        <a:t>Quan sát + lập luận nhân quả</a:t>
                      </a:r>
                    </a:p>
                  </a:txBody>
                  <a:tcPr marL="73152" marR="73152" marT="45720" marB="45720" anchor="ctr">
                    <a:solidFill>
                      <a:srgbClr val="FFFFFF"/>
                    </a:solidFill>
                  </a:tcPr>
                </a:tc>
              </a:tr>
              <a:tr h="385760">
                <a:tc>
                  <a:txBody>
                    <a:bodyPr/>
                    <a:lstStyle/>
                    <a:p>
                      <a:pPr algn="l"/>
                      <a:r>
                        <a:rPr lang="en-US" sz="1800" b="1" dirty="0">
                          <a:solidFill>
                            <a:srgbClr val="FFFFFF"/>
                          </a:solidFill>
                          <a:latin typeface="Arial"/>
                          <a:cs typeface="Arial"/>
                        </a:rPr>
                        <a:t>'có liên quan với', 'dự báo'</a:t>
                      </a:r>
                    </a:p>
                  </a:txBody>
                  <a:tcPr marL="73152" marR="73152" marT="45720" marB="45720" anchor="ctr">
                    <a:solidFill>
                      <a:srgbClr val="0D7377"/>
                    </a:solidFill>
                  </a:tcPr>
                </a:tc>
                <a:tc>
                  <a:txBody>
                    <a:bodyPr/>
                    <a:lstStyle/>
                    <a:p>
                      <a:pPr algn="l"/>
                      <a:r>
                        <a:rPr lang="en-US" sz="1800" dirty="0">
                          <a:solidFill>
                            <a:srgbClr val="000000"/>
                          </a:solidFill>
                          <a:latin typeface="Arial"/>
                          <a:cs typeface="Arial"/>
                        </a:rPr>
                        <a:t>Thuần tập, bệnh–chứng (Bài 2)</a:t>
                      </a:r>
                    </a:p>
                  </a:txBody>
                  <a:tcPr marL="73152" marR="73152" marT="45720" marB="45720" anchor="ctr">
                    <a:solidFill>
                      <a:srgbClr val="F5F9FA"/>
                    </a:solidFill>
                  </a:tcPr>
                </a:tc>
              </a:tr>
              <a:tr h="385760">
                <a:tc>
                  <a:txBody>
                    <a:bodyPr/>
                    <a:lstStyle/>
                    <a:p>
                      <a:pPr algn="l"/>
                      <a:r>
                        <a:rPr lang="en-US" sz="1800" b="1" dirty="0">
                          <a:solidFill>
                            <a:srgbClr val="FFFFFF"/>
                          </a:solidFill>
                          <a:latin typeface="Arial"/>
                          <a:cs typeface="Arial"/>
                        </a:rPr>
                        <a:t>'được ghi nhận ở', 'thường gặp'</a:t>
                      </a:r>
                    </a:p>
                  </a:txBody>
                  <a:tcPr marL="73152" marR="73152" marT="45720" marB="45720" anchor="ctr">
                    <a:solidFill>
                      <a:srgbClr val="5FA39B"/>
                    </a:solidFill>
                  </a:tcPr>
                </a:tc>
                <a:tc>
                  <a:txBody>
                    <a:bodyPr/>
                    <a:lstStyle/>
                    <a:p>
                      <a:pPr algn="l"/>
                      <a:r>
                        <a:rPr lang="en-US" sz="1800" dirty="0">
                          <a:solidFill>
                            <a:srgbClr val="000000"/>
                          </a:solidFill>
                          <a:latin typeface="Arial"/>
                          <a:cs typeface="Arial"/>
                        </a:rPr>
                        <a:t>Mô tả, loạt ca</a:t>
                      </a:r>
                    </a:p>
                  </a:txBody>
                  <a:tcPr marL="73152" marR="73152" marT="45720" marB="45720" anchor="ctr">
                    <a:solidFill>
                      <a:srgbClr val="FFFFFF"/>
                    </a:solidFill>
                  </a:tcPr>
                </a:tc>
              </a:tr>
            </a:tbl>
          </a:graphicData>
        </a:graphic>
      </p:graphicFrame>
      <p:sp>
        <p:nvSpPr>
          <p:cNvPr id="31" name="Caption"/>
          <p:cNvSpPr txBox="1"/>
          <p:nvPr/>
        </p:nvSpPr>
        <p:spPr>
          <a:xfrm>
            <a:off x="457200" y="430212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Không bao giờ: 'xu hướng' với p = 0.42. 'Không khác biệt' (hãy nói 'không có bằng chứng khác biệt'). 'Đầu tiên', 'chưa từng', 'mới' khi chưa kiểm chứng. 'Tác động' trong nghiên cứu quan sát.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Chỉ dùng động từ mạnh đến mức thiết kế của bạn cho phép.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sửa động từ (FLUID-ICU, mô phỏng)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'Cân bằng dương gây ra tử vong cao hơn (OR 1.62).'</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'Quá tải dịch làm tăng AKI (tổn thương thận cấp) (OR 1.27 mỗi 10 ml/kg).'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'Có xu hướng tử vong (HR Cox 1.46, KTC 95% 1.00 đến 2.13).'</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'Lactat dự báo tử vong (OR 1.39 mỗi mmol/L).'</a:t>
            </a:r>
          </a:p>
        </p:txBody>
      </p:sp>
      <p:sp>
        <p:nvSpPr>
          <p:cNvPr id="52" name="Side"/>
          <p:cNvSpPr/>
          <p:nvPr/>
        </p:nvSpPr>
        <p:spPr>
          <a:xfrm>
            <a:off x="7423760" y="1720000"/>
            <a:ext cx="4311040" cy="22061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Tốt hơn</a:t>
            </a:r>
          </a:p>
          <a:p>
            <a:pPr marL="0" indent="0" algn="ctr">
              <a:lnSpc>
                <a:spcPct val="104000"/>
              </a:lnSpc>
              <a:spcBef>
                <a:spcPts val="300"/>
              </a:spcBef>
              <a:buNone/>
            </a:pPr>
            <a:r>
              <a:rPr lang="en-US" sz="1500" dirty="0">
                <a:solidFill>
                  <a:srgbClr val="000000"/>
                </a:solidFill>
                <a:latin typeface="Arial"/>
                <a:cs typeface="Arial"/>
              </a:rPr>
              <a:t>'... có liên quan với ...'</a:t>
            </a:r>
          </a:p>
          <a:p>
            <a:pPr marL="0" indent="0" algn="ctr">
              <a:lnSpc>
                <a:spcPct val="104000"/>
              </a:lnSpc>
              <a:spcBef>
                <a:spcPts val="300"/>
              </a:spcBef>
              <a:buNone/>
            </a:pPr>
            <a:r>
              <a:rPr lang="en-US" sz="1500" dirty="0">
                <a:solidFill>
                  <a:srgbClr val="000000"/>
                </a:solidFill>
                <a:latin typeface="Arial"/>
                <a:cs typeface="Arial"/>
              </a:rPr>
              <a:t>'... có liên quan với khả năng AKI cao hơn'</a:t>
            </a:r>
          </a:p>
          <a:p>
            <a:pPr marL="0" indent="0" algn="ctr">
              <a:lnSpc>
                <a:spcPct val="104000"/>
              </a:lnSpc>
              <a:spcBef>
                <a:spcPts val="300"/>
              </a:spcBef>
              <a:buNone/>
            </a:pPr>
            <a:r>
              <a:rPr lang="en-US" sz="1500" dirty="0">
                <a:solidFill>
                  <a:srgbClr val="000000"/>
                </a:solidFill>
                <a:latin typeface="Arial"/>
                <a:cs typeface="Arial"/>
              </a:rPr>
              <a:t>'HR 1.46 (1.00 đến 2.13): KTC chạm 1'</a:t>
            </a:r>
          </a:p>
          <a:p>
            <a:pPr marL="0" indent="0" algn="ctr">
              <a:lnSpc>
                <a:spcPct val="104000"/>
              </a:lnSpc>
              <a:spcBef>
                <a:spcPts val="300"/>
              </a:spcBef>
              <a:buNone/>
            </a:pPr>
            <a:r>
              <a:rPr lang="en-US" sz="1500" dirty="0">
                <a:solidFill>
                  <a:srgbClr val="000000"/>
                </a:solidFill>
                <a:latin typeface="Arial"/>
                <a:cs typeface="Arial"/>
              </a:rPr>
              <a:t>Được nếu là dự báo. Nếu nói nhân quả, dùng 'có liên quan với'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có cấu trúc: phần được đọc đầu tiên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758843"/>
          <a:ext cx="11277600" cy="241072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Phần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Phải nêu gì</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Ví dụ tốt</a:t>
                      </a:r>
                    </a:p>
                  </a:txBody>
                  <a:tcPr marL="73152" marR="73152" marT="45720" marB="45720" anchor="ctr">
                    <a:solidFill>
                      <a:srgbClr val="0D7377"/>
                    </a:solidFill>
                  </a:tcPr>
                </a:tc>
              </a:tr>
              <a:tr h="507680">
                <a:tc>
                  <a:txBody>
                    <a:bodyPr/>
                    <a:lstStyle/>
                    <a:p>
                      <a:pPr algn="l"/>
                      <a:r>
                        <a:rPr lang="en-US" sz="1300" dirty="0">
                          <a:solidFill>
                            <a:srgbClr val="000000"/>
                          </a:solidFill>
                          <a:latin typeface="Arial"/>
                          <a:cs typeface="Arial"/>
                        </a:rPr>
                        <a:t>Đặt vấn đề</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Vấn đề, khoảng trống và mục tiêu trong 1-2 câu</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 </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Phương pháp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Thiết kế, bối cảnh, đối tượng, phơi nhiễm, kết cục chính, phân tích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Bài 2: quần thể, bối cảnh và cỡ mẫu</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Kết quả</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Số được phân tích. Tác động chính kèm KTC 95%. Kết quả phụ chính</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Bài 2: mọi kết quả dạng HR (KTC 95%)</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Kết luận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Trả lời mục tiêu bằng lời văn mà thiết kế cho phép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Bài 1: kết quả âm tính nêu thẳng thắn</a:t>
                      </a:r>
                    </a:p>
                  </a:txBody>
                  <a:tcPr marL="73152" marR="73152" marT="45720" marB="45720" anchor="ctr">
                    <a:solidFill>
                      <a:srgbClr val="F5F9FA"/>
                    </a:solidFill>
                  </a:tcPr>
                </a:tc>
              </a:tr>
            </a:tbl>
          </a:graphicData>
        </a:graphic>
      </p:graphicFrame>
      <p:sp>
        <p:nvSpPr>
          <p:cNvPr id="31" name="Caption"/>
          <p:cNvSpPr txBox="1"/>
          <p:nvPr/>
        </p:nvSpPr>
        <p:spPr>
          <a:xfrm>
            <a:off x="457200" y="4259563"/>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250-300 từ, cộng số đăng ký với thử nghiệm. Cần sửa ở Bài 1: báo cáo trung vị nhưng ước lượng lại gọi là 'chênh lệch trung bình'.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Ví dụ mẫu: tóm tắt và tiêu đề cho FLUID-ICU câu hỏi 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Body"/>
          <p:cNvSpPr txBox="1"/>
          <p:nvPr/>
        </p:nvSpPr>
        <p:spPr>
          <a:xfrm>
            <a:off x="457200" y="1080000"/>
            <a:ext cx="11277600" cy="4780000"/>
          </a:xfrm>
          <a:prstGeom prst="rect">
            <a:avLst/>
          </a:prstGeom>
          <a:noFill/>
          <a:ln>
            <a:noFill/>
          </a:ln>
        </p:spPr>
        <p:txBody>
          <a:bodyPr wrap="square" lIns="91440" tIns="45720" rIns="91440" bIns="45720" rtlCol="0" anchor="ctr"/>
          <a:lstStyle/>
          <a:p>
            <a:pPr marL="0" indent="0" algn="l">
              <a:lnSpc>
                <a:spcPct val="108000"/>
              </a:lnSpc>
              <a:buNone/>
            </a:pPr>
            <a:r>
              <a:rPr lang="en-US" sz="1900" i="1" dirty="0">
                <a:solidFill>
                  <a:srgbClr val="595959"/>
                </a:solidFill>
                <a:latin typeface="Arial"/>
                <a:cs typeface="Arial"/>
              </a:rPr>
              <a:t>Chép số liệu từ phần Kết quả của bạn (dữ liệu mô phỏng, khoảng 120 từ).</a:t>
            </a:r>
          </a:p>
          <a:p>
            <a:pPr>
              <a:buNone/>
            </a:pPr>
            <a:endParaRPr sz="950"/>
          </a:p>
          <a:p>
            <a:pPr marL="274320" indent="-274320" algn="l">
              <a:lnSpc>
                <a:spcPct val="106000"/>
              </a:lnSpc>
              <a:spcBef>
                <a:spcPts val="560"/>
              </a:spcBef>
              <a:buFont typeface="Arial"/>
              <a:buChar char="•"/>
            </a:pPr>
            <a:r>
              <a:rPr lang="en-US" sz="1600" b="1" dirty="0">
                <a:solidFill>
                  <a:srgbClr val="000000"/>
                </a:solidFill>
                <a:latin typeface="Arial"/>
                <a:cs typeface="Arial"/>
              </a:rPr>
              <a:t>Tiêu đề: Cân bằng dịch dương đến ngày 3 và tử vong 28 ngày ở người bệnh nhiễm khuẩn huyết: nghiên cứu thuần tập đa trung tâm</a:t>
            </a:r>
          </a:p>
          <a:p>
            <a:pPr marL="274320" indent="-274320" algn="l">
              <a:lnSpc>
                <a:spcPct val="106000"/>
              </a:lnSpc>
              <a:spcBef>
                <a:spcPts val="560"/>
              </a:spcBef>
              <a:buFont typeface="Arial"/>
              <a:buChar char="•"/>
            </a:pPr>
            <a:r>
              <a:rPr lang="en-US" sz="1600" dirty="0">
                <a:solidFill>
                  <a:srgbClr val="000000"/>
                </a:solidFill>
                <a:latin typeface="Arial"/>
                <a:cs typeface="Arial"/>
              </a:rPr>
              <a:t>Đặt vấn đề: Cân bằng dịch dương liên quan với tử vong trong nhiễm khuẩn huyết, nhưng người bệnh nặng hơn được truyền nhiều dịch hơn. Chúng tôi đánh giá mối liên quan sau khi hiệu chỉnh theo mức độ nặng.</a:t>
            </a:r>
          </a:p>
          <a:p>
            <a:pPr marL="274320" indent="-274320" algn="l">
              <a:lnSpc>
                <a:spcPct val="106000"/>
              </a:lnSpc>
              <a:spcBef>
                <a:spcPts val="560"/>
              </a:spcBef>
              <a:buFont typeface="Arial"/>
              <a:buChar char="•"/>
            </a:pPr>
            <a:r>
              <a:rPr lang="en-US" sz="1600" dirty="0">
                <a:solidFill>
                  <a:srgbClr val="000000"/>
                </a:solidFill>
                <a:latin typeface="Arial"/>
                <a:cs typeface="Arial"/>
              </a:rPr>
              <a:t>Phương pháp: Nghiên cứu thuần tập tiến cứu (dữ liệu giảng dạy mô phỏng), 620 người lớn, 4 ICU, 2023-2024. Phơi nhiễm: cân bằng dương đến ngày 3. Kết cục: tử vong 28 ngày. Hồi quy logistic và Cox hiệu chỉnh theo mức độ nặng.</a:t>
            </a:r>
          </a:p>
          <a:p>
            <a:pPr marL="274320" indent="-274320" algn="l">
              <a:lnSpc>
                <a:spcPct val="106000"/>
              </a:lnSpc>
              <a:spcBef>
                <a:spcPts val="560"/>
              </a:spcBef>
              <a:buFont typeface="Arial"/>
              <a:buChar char="•"/>
            </a:pPr>
            <a:r>
              <a:rPr lang="en-US" sz="1600" dirty="0">
                <a:solidFill>
                  <a:srgbClr val="000000"/>
                </a:solidFill>
                <a:latin typeface="Arial"/>
                <a:cs typeface="Arial"/>
              </a:rPr>
              <a:t>Kết quả: Trong 618 người bệnh, 373 (60.4%) có cân bằng dương. Tử vong 35.9% so với 18.4%. OR thô 2.49 (1.70 đến 3.70). OR hiệu chỉnh 1.62 (KTC 95% 1.02 đến 2.59).</a:t>
            </a:r>
          </a:p>
          <a:p>
            <a:pPr marL="274320" indent="-274320" algn="l">
              <a:lnSpc>
                <a:spcPct val="106000"/>
              </a:lnSpc>
              <a:spcBef>
                <a:spcPts val="560"/>
              </a:spcBef>
              <a:buFont typeface="Arial"/>
              <a:buChar char="•"/>
            </a:pPr>
            <a:r>
              <a:rPr lang="en-US" sz="1600" dirty="0">
                <a:solidFill>
                  <a:srgbClr val="000000"/>
                </a:solidFill>
                <a:latin typeface="Arial"/>
                <a:cs typeface="Arial"/>
              </a:rPr>
              <a:t>Kết luận: Cân bằng dương có liên quan ở mức vừa phải với tử vong 28 ngày. Phần lớn mối liên quan thô phản ánh mức độ nặng. Cần một thử nghiệm ngẫu nhiên.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sửa các câu trong tóm tắt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Phương pháp: 'Chúng tôi nghiên cứu cân bằng dịch ở người bệnh ICU.'</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quả: 'Tử vong cao hơn có ý nghĩa ở nhóm cân bằng dương.'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luận: 'Cân bằng dương làm tăng tử vong.'</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Kết quả: 'Kết quả được trình bày trong bài.'</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Tốt hơn</a:t>
            </a:r>
          </a:p>
          <a:p>
            <a:pPr marL="0" indent="0" algn="ctr">
              <a:lnSpc>
                <a:spcPct val="104000"/>
              </a:lnSpc>
              <a:spcBef>
                <a:spcPts val="300"/>
              </a:spcBef>
              <a:buNone/>
            </a:pPr>
            <a:r>
              <a:rPr lang="en-US" sz="1500" dirty="0">
                <a:solidFill>
                  <a:srgbClr val="000000"/>
                </a:solidFill>
                <a:latin typeface="Arial"/>
                <a:cs typeface="Arial"/>
              </a:rPr>
              <a:t>Thêm thiết kế, bối cảnh, đối tượng, phơi nhiễm, kết cục</a:t>
            </a:r>
          </a:p>
          <a:p>
            <a:pPr marL="0" indent="0" algn="ctr">
              <a:lnSpc>
                <a:spcPct val="104000"/>
              </a:lnSpc>
              <a:spcBef>
                <a:spcPts val="300"/>
              </a:spcBef>
              <a:buNone/>
            </a:pPr>
            <a:r>
              <a:rPr lang="en-US" sz="1500" dirty="0">
                <a:solidFill>
                  <a:srgbClr val="000000"/>
                </a:solidFill>
                <a:latin typeface="Arial"/>
                <a:cs typeface="Arial"/>
              </a:rPr>
              <a:t>Nêu n, %, và OR kèm KTC 95%</a:t>
            </a:r>
          </a:p>
          <a:p>
            <a:pPr marL="0" indent="0" algn="ctr">
              <a:lnSpc>
                <a:spcPct val="104000"/>
              </a:lnSpc>
              <a:spcBef>
                <a:spcPts val="300"/>
              </a:spcBef>
              <a:buNone/>
            </a:pPr>
            <a:r>
              <a:rPr lang="en-US" sz="1500" dirty="0">
                <a:solidFill>
                  <a:srgbClr val="000000"/>
                </a:solidFill>
                <a:latin typeface="Arial"/>
                <a:cs typeface="Arial"/>
              </a:rPr>
              <a:t>'có liên quan với': đây là nghiên cứu thuần tập</a:t>
            </a:r>
          </a:p>
          <a:p>
            <a:pPr marL="0" indent="0" algn="ctr">
              <a:lnSpc>
                <a:spcPct val="104000"/>
              </a:lnSpc>
              <a:spcBef>
                <a:spcPts val="300"/>
              </a:spcBef>
              <a:buNone/>
            </a:pPr>
            <a:r>
              <a:rPr lang="en-US" sz="1500" dirty="0">
                <a:solidFill>
                  <a:srgbClr val="000000"/>
                </a:solidFill>
                <a:latin typeface="Arial"/>
                <a:cs typeface="Arial"/>
              </a:rPr>
              <a:t>Nêu các con số chính: tóm tắt phải đọc hiểu được khi tách riêng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Tiêu đề và từ khóa: PICO của bạn trong một dòng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Công thức từ PICO: thiết kế, I so với C, ở P, lên O. 10-16 từ. Không 'tác động', 'mới', 'đầu tiên'.</a:t>
            </a:r>
          </a:p>
        </p:txBody>
      </p:sp>
      <p:sp>
        <p:nvSpPr>
          <p:cNvPr id="70" name="CardHead"/>
          <p:cNvSpPr/>
          <p:nvPr/>
        </p:nvSpPr>
        <p:spPr>
          <a:xfrm>
            <a:off x="457200" y="1965604"/>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a:t>
            </a:r>
          </a:p>
        </p:txBody>
      </p:sp>
      <p:sp>
        <p:nvSpPr>
          <p:cNvPr id="71" name="CardBody"/>
          <p:cNvSpPr/>
          <p:nvPr/>
        </p:nvSpPr>
        <p:spPr>
          <a:xfrm>
            <a:off x="457200" y="2605604"/>
            <a:ext cx="5538800" cy="232677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Đã đăng: 'Impact on fluid balance of an optimized restrictive strategy targeting non-resuscitative fluids in ... septic shock: a single-blind, ... pilot study'</a:t>
            </a:r>
          </a:p>
          <a:p>
            <a:pPr marL="0" indent="0" algn="ctr">
              <a:lnSpc>
                <a:spcPct val="104000"/>
              </a:lnSpc>
              <a:spcBef>
                <a:spcPts val="400"/>
              </a:spcBef>
              <a:buNone/>
            </a:pPr>
            <a:r>
              <a:rPr lang="en-US" sz="1450" dirty="0">
                <a:solidFill>
                  <a:srgbClr val="C0392B"/>
                </a:solidFill>
                <a:latin typeface="Arial"/>
                <a:cs typeface="Arial"/>
              </a:rPr>
              <a:t>Vấn đề: hơn 25 từ. Có từ ngữ đánh giá</a:t>
            </a:r>
          </a:p>
          <a:p>
            <a:pPr marL="0" indent="0" algn="ctr">
              <a:lnSpc>
                <a:spcPct val="104000"/>
              </a:lnSpc>
              <a:spcBef>
                <a:spcPts val="400"/>
              </a:spcBef>
              <a:buNone/>
            </a:pPr>
            <a:r>
              <a:rPr lang="en-US" sz="1450" b="1" dirty="0">
                <a:solidFill>
                  <a:srgbClr val="2E8B57"/>
                </a:solidFill>
                <a:latin typeface="Arial"/>
                <a:cs typeface="Arial"/>
              </a:rPr>
              <a:t>Tốt hơn: Hạn chế dịch không hồi sức trong sốc nhiễm khuẩn: thử nghiệm ngẫu nhiên thí điểm đa trung tâm</a:t>
            </a:r>
          </a:p>
        </p:txBody>
      </p:sp>
      <p:sp>
        <p:nvSpPr>
          <p:cNvPr id="72" name="CardHead"/>
          <p:cNvSpPr/>
          <p:nvPr/>
        </p:nvSpPr>
        <p:spPr>
          <a:xfrm>
            <a:off x="6196000" y="1965604"/>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(nghiên cứu thuần tập)</a:t>
            </a:r>
          </a:p>
        </p:txBody>
      </p:sp>
      <p:sp>
        <p:nvSpPr>
          <p:cNvPr id="73" name="CardBody"/>
          <p:cNvSpPr/>
          <p:nvPr/>
        </p:nvSpPr>
        <p:spPr>
          <a:xfrm>
            <a:off x="6196000" y="2605604"/>
            <a:ext cx="5538800" cy="2326779"/>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i="1" dirty="0">
                <a:solidFill>
                  <a:srgbClr val="000000"/>
                </a:solidFill>
                <a:latin typeface="Arial"/>
                <a:cs typeface="Arial"/>
              </a:rPr>
              <a:t>Đã đăng: 'Impact of a cumulative positive fluid balance during the first three ICU days in patients with sepsis: a propensity score-matched cohort study'</a:t>
            </a:r>
          </a:p>
          <a:p>
            <a:pPr marL="0" indent="0" algn="ctr">
              <a:lnSpc>
                <a:spcPct val="104000"/>
              </a:lnSpc>
              <a:spcBef>
                <a:spcPts val="400"/>
              </a:spcBef>
              <a:buNone/>
            </a:pPr>
            <a:r>
              <a:rPr lang="en-US" sz="1450" dirty="0">
                <a:solidFill>
                  <a:srgbClr val="C0392B"/>
                </a:solidFill>
                <a:latin typeface="Arial"/>
                <a:cs typeface="Arial"/>
              </a:rPr>
              <a:t>Vấn đề: 'impact' là từ nhân quả, không hợp với nghiên cứu thuần tập</a:t>
            </a:r>
          </a:p>
          <a:p>
            <a:pPr marL="0" indent="0" algn="ctr">
              <a:lnSpc>
                <a:spcPct val="104000"/>
              </a:lnSpc>
              <a:spcBef>
                <a:spcPts val="400"/>
              </a:spcBef>
              <a:buNone/>
            </a:pPr>
            <a:r>
              <a:rPr lang="en-US" sz="1450" b="1" dirty="0">
                <a:solidFill>
                  <a:srgbClr val="2E8B57"/>
                </a:solidFill>
                <a:latin typeface="Arial"/>
                <a:cs typeface="Arial"/>
              </a:rPr>
              <a:t>Tốt hơn: Cân bằng dịch dương trong 3 ngày đầu ở ICU và tử vong 28 ngày ở nhiễm khuẩn huyết: nghiên cứu thuần tập ghép cặp theo điểm xu hướng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Từ khóa: 3-6 thuật ngữ MeSH (đề mục chủ đề của PubMed) chưa có trong tiêu đề.</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Trước khi nộp: tài liệu tham khảo, bảng kiểm, đọc lần cuối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72521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Tài liệu tham khảo</a:t>
            </a:r>
          </a:p>
        </p:txBody>
      </p:sp>
      <p:sp>
        <p:nvSpPr>
          <p:cNvPr id="71" name="CardBody"/>
          <p:cNvSpPr/>
          <p:nvPr/>
        </p:nvSpPr>
        <p:spPr>
          <a:xfrm>
            <a:off x="457200"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Dùng phần mềm quản lý tài liệu</a:t>
            </a:r>
          </a:p>
          <a:p>
            <a:pPr marL="0" indent="0" algn="ctr">
              <a:lnSpc>
                <a:spcPct val="104000"/>
              </a:lnSpc>
              <a:spcBef>
                <a:spcPts val="400"/>
              </a:spcBef>
              <a:buNone/>
            </a:pPr>
            <a:r>
              <a:rPr lang="en-US" sz="1750" dirty="0">
                <a:solidFill>
                  <a:srgbClr val="000000"/>
                </a:solidFill>
                <a:latin typeface="Arial"/>
                <a:cs typeface="Arial"/>
              </a:rPr>
              <a:t>Kiểm tra từng trích dẫn</a:t>
            </a:r>
          </a:p>
          <a:p>
            <a:pPr marL="0" indent="0" algn="ctr">
              <a:lnSpc>
                <a:spcPct val="104000"/>
              </a:lnSpc>
              <a:spcBef>
                <a:spcPts val="400"/>
              </a:spcBef>
              <a:buNone/>
            </a:pPr>
            <a:r>
              <a:rPr lang="en-US" sz="1750" dirty="0">
                <a:solidFill>
                  <a:srgbClr val="000000"/>
                </a:solidFill>
                <a:latin typeface="Arial"/>
                <a:cs typeface="Arial"/>
              </a:rPr>
              <a:t>Bài 2 dẫn sai tài liệu cho các biến hiệu chỉnh</a:t>
            </a:r>
          </a:p>
        </p:txBody>
      </p:sp>
      <p:sp>
        <p:nvSpPr>
          <p:cNvPr id="72" name="CardHead"/>
          <p:cNvSpPr/>
          <p:nvPr/>
        </p:nvSpPr>
        <p:spPr>
          <a:xfrm>
            <a:off x="4283066" y="172521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Bảng kiểm báo cáo</a:t>
            </a:r>
          </a:p>
        </p:txBody>
      </p:sp>
      <p:sp>
        <p:nvSpPr>
          <p:cNvPr id="73" name="CardBody"/>
          <p:cNvSpPr/>
          <p:nvPr/>
        </p:nvSpPr>
        <p:spPr>
          <a:xfrm>
            <a:off x="4283066"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Điền ngay trong lúc viết</a:t>
            </a:r>
          </a:p>
          <a:p>
            <a:pPr marL="0" indent="0" algn="ctr">
              <a:lnSpc>
                <a:spcPct val="104000"/>
              </a:lnSpc>
              <a:spcBef>
                <a:spcPts val="400"/>
              </a:spcBef>
              <a:buNone/>
            </a:pPr>
            <a:r>
              <a:rPr lang="en-US" sz="1750" dirty="0">
                <a:solidFill>
                  <a:srgbClr val="000000"/>
                </a:solidFill>
                <a:latin typeface="Arial"/>
                <a:cs typeface="Arial"/>
              </a:rPr>
              <a:t>Ghi số trang</a:t>
            </a:r>
          </a:p>
          <a:p>
            <a:pPr marL="0" indent="0" algn="ctr">
              <a:lnSpc>
                <a:spcPct val="104000"/>
              </a:lnSpc>
              <a:spcBef>
                <a:spcPts val="400"/>
              </a:spcBef>
              <a:buNone/>
            </a:pPr>
            <a:r>
              <a:rPr lang="en-US" sz="1750" dirty="0">
                <a:solidFill>
                  <a:srgbClr val="000000"/>
                </a:solidFill>
                <a:latin typeface="Arial"/>
                <a:cs typeface="Arial"/>
              </a:rPr>
              <a:t>Cả hai bài không nêu CONSORT hay STROBE</a:t>
            </a:r>
          </a:p>
        </p:txBody>
      </p:sp>
      <p:sp>
        <p:nvSpPr>
          <p:cNvPr id="74" name="CardHead"/>
          <p:cNvSpPr/>
          <p:nvPr/>
        </p:nvSpPr>
        <p:spPr>
          <a:xfrm>
            <a:off x="8108932" y="172521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Đọc lần cuối</a:t>
            </a:r>
          </a:p>
        </p:txBody>
      </p:sp>
      <p:sp>
        <p:nvSpPr>
          <p:cNvPr id="75" name="CardBody"/>
          <p:cNvSpPr/>
          <p:nvPr/>
        </p:nvSpPr>
        <p:spPr>
          <a:xfrm>
            <a:off x="8108932" y="2365219"/>
            <a:ext cx="3625866" cy="187434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Văn bản khớp với bảng, từng con số</a:t>
            </a:r>
          </a:p>
          <a:p>
            <a:pPr marL="0" indent="0" algn="ctr">
              <a:lnSpc>
                <a:spcPct val="104000"/>
              </a:lnSpc>
              <a:spcBef>
                <a:spcPts val="400"/>
              </a:spcBef>
              <a:buNone/>
            </a:pPr>
            <a:r>
              <a:rPr lang="en-US" sz="1750" dirty="0">
                <a:solidFill>
                  <a:srgbClr val="000000"/>
                </a:solidFill>
                <a:latin typeface="Arial"/>
                <a:cs typeface="Arial"/>
              </a:rPr>
              <a:t>Dẫn đúng số hình</a:t>
            </a:r>
          </a:p>
          <a:p>
            <a:pPr marL="0" indent="0" algn="ctr">
              <a:lnSpc>
                <a:spcPct val="104000"/>
              </a:lnSpc>
              <a:spcBef>
                <a:spcPts val="400"/>
              </a:spcBef>
              <a:buNone/>
            </a:pPr>
            <a:r>
              <a:rPr lang="en-US" sz="1750" dirty="0">
                <a:solidFill>
                  <a:srgbClr val="000000"/>
                </a:solidFill>
                <a:latin typeface="Arial"/>
                <a:cs typeface="Arial"/>
              </a:rPr>
              <a:t>Một đồng nghiệp đọc các bảng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Phần lớn lỗi của hai bài không cần dữ liệu mới, chỉ cần một đồng tác giả cẩn thận.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Thực hành bản thảo 2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Hoàn thiện phần Kết quả: cả lớp cùng làm, rồi mỗi người tự làm</a:t>
            </a:r>
          </a:p>
          <a:p>
            <a:pPr marL="0" indent="0" algn="ctr">
              <a:spcBef>
                <a:spcPts val="1200"/>
              </a:spcBef>
              <a:buNone/>
            </a:pPr>
            <a:r>
              <a:rPr lang="en-US" sz="1900" i="1" dirty="0">
                <a:solidFill>
                  <a:srgbClr val="595959"/>
                </a:solidFill>
                <a:latin typeface="Arial"/>
                <a:cs typeface="Arial"/>
              </a:rPr>
              <a:t>17 phút cho bản nháp Q1 của lớp, rồi 8 phút cho bản nháp và tên bài của riêng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Thực hành bản thảo 2, phần 1: cả lớp hoàn thiện phần Kết quả Q1</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17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Kiểm số (5 phút): đối chiếu mọi con số với gói kết quả Q1</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Bảng và hình (4 phút): có tự đọc hiểu được không?</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Từ ngữ (5 phút): không bình luận, không 'xu hướng', không động từ nhân quả</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Tên bài dự kiến (3 phút): nêu thiết kế, dùng 'có liên quan'</a:t>
            </a:r>
          </a:p>
        </p:txBody>
      </p:sp>
      <p:sp>
        <p:nvSpPr>
          <p:cNvPr id="52" name="Side"/>
          <p:cNvSpPr/>
          <p:nvPr/>
        </p:nvSpPr>
        <p:spPr>
          <a:xfrm>
            <a:off x="7423760" y="1720000"/>
            <a:ext cx="4311040" cy="16917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Dùng</a:t>
            </a:r>
          </a:p>
          <a:p>
            <a:pPr marL="0" indent="0" algn="ctr">
              <a:lnSpc>
                <a:spcPct val="104000"/>
              </a:lnSpc>
              <a:spcBef>
                <a:spcPts val="300"/>
              </a:spcBef>
              <a:buNone/>
            </a:pPr>
            <a:r>
              <a:rPr lang="en-US" sz="1500" dirty="0">
                <a:solidFill>
                  <a:srgbClr val="000000"/>
                </a:solidFill>
                <a:latin typeface="Arial"/>
                <a:cs typeface="Arial"/>
              </a:rPr>
              <a:t>Phần Kết quả Q1 của lớp từ Buổi 7 (PDF)</a:t>
            </a:r>
          </a:p>
          <a:p>
            <a:pPr marL="0" indent="0" algn="ctr">
              <a:lnSpc>
                <a:spcPct val="104000"/>
              </a:lnSpc>
              <a:spcBef>
                <a:spcPts val="300"/>
              </a:spcBef>
              <a:buNone/>
            </a:pPr>
            <a:r>
              <a:rPr lang="en-US" sz="1500" dirty="0">
                <a:solidFill>
                  <a:srgbClr val="000000"/>
                </a:solidFill>
                <a:latin typeface="Arial"/>
                <a:cs typeface="Arial"/>
              </a:rPr>
              <a:t>Gói kết quả Q1</a:t>
            </a:r>
          </a:p>
          <a:p>
            <a:pPr marL="0" indent="0" algn="ctr">
              <a:lnSpc>
                <a:spcPct val="104000"/>
              </a:lnSpc>
              <a:spcBef>
                <a:spcPts val="300"/>
              </a:spcBef>
              <a:buNone/>
            </a:pPr>
            <a:r>
              <a:rPr lang="en-US" sz="1500" dirty="0">
                <a:solidFill>
                  <a:srgbClr val="000000"/>
                </a:solidFill>
                <a:latin typeface="Arial"/>
                <a:cs typeface="Arial"/>
              </a:rPr>
              <a:t>Bảng kiểm trong Peer_Review_Instructions_VN</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Phần Kết quả Q1 của lớp đã hoàn thiện, gửi dạng PDF sau buổi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400" b="1" dirty="0">
                <a:solidFill>
                  <a:srgbClr val="0D7377"/>
                </a:solidFill>
                <a:latin typeface="Arial"/>
                <a:cs typeface="Arial"/>
              </a:rPr>
              <a:t>Thực hành bản thảo 2, phần 2: phần Kết quả và tên bài của bạn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8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Áp dụng các bước kiểm tra trên cho bản nháp phần Kết quả của bạn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tên bài dự kiến: nêu thiết kế, 10-16 từ, dùng 'có liên quan'</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Hai bạn tình nguyện đọc to tên bài. Giảng viên nhận xét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Trước 23:59 Chủ nhật 20/12: kiểm tra lần cuối, rồi gửi email</a:t>
            </a:r>
          </a:p>
        </p:txBody>
      </p:sp>
      <p:sp>
        <p:nvSpPr>
          <p:cNvPr id="52" name="Side"/>
          <p:cNvSpPr/>
          <p:nvPr/>
        </p:nvSpPr>
        <p:spPr>
          <a:xfrm>
            <a:off x="7423760" y="1720000"/>
            <a:ext cx="4311040" cy="24442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Nộp bài</a:t>
            </a:r>
          </a:p>
          <a:p>
            <a:pPr marL="0" indent="0" algn="ctr">
              <a:lnSpc>
                <a:spcPct val="104000"/>
              </a:lnSpc>
              <a:spcBef>
                <a:spcPts val="300"/>
              </a:spcBef>
              <a:buNone/>
            </a:pPr>
            <a:r>
              <a:rPr lang="en-US" sz="1500" dirty="0">
                <a:solidFill>
                  <a:srgbClr val="000000"/>
                </a:solidFill>
                <a:latin typeface="Arial"/>
                <a:cs typeface="Arial"/>
              </a:rPr>
              <a:t>Phần Kết quả, tên bài dự kiến, Bảng 1, một bảng hoặc hình chính</a:t>
            </a:r>
          </a:p>
          <a:p>
            <a:pPr marL="0" indent="0" algn="ctr">
              <a:lnSpc>
                <a:spcPct val="104000"/>
              </a:lnSpc>
              <a:spcBef>
                <a:spcPts val="300"/>
              </a:spcBef>
              <a:buNone/>
            </a:pPr>
            <a:r>
              <a:rPr lang="en-US" sz="1500" dirty="0">
                <a:solidFill>
                  <a:srgbClr val="000000"/>
                </a:solidFill>
                <a:latin typeface="Arial"/>
                <a:cs typeface="Arial"/>
              </a:rPr>
              <a:t>Trước 23:59 Chủ nhật 20/12</a:t>
            </a:r>
          </a:p>
          <a:p>
            <a:pPr marL="0" indent="0" algn="ctr">
              <a:lnSpc>
                <a:spcPct val="104000"/>
              </a:lnSpc>
              <a:spcBef>
                <a:spcPts val="300"/>
              </a:spcBef>
              <a:buNone/>
            </a:pPr>
            <a:r>
              <a:rPr lang="en-US" sz="1500" dirty="0">
                <a:solidFill>
                  <a:srgbClr val="000000"/>
                </a:solidFill>
                <a:latin typeface="Arial"/>
                <a:cs typeface="Arial"/>
              </a:rPr>
              <a:t>Gửi email cho người bình duyệt và giảng viên</a:t>
            </a:r>
          </a:p>
          <a:p>
            <a:pPr marL="0" indent="0" algn="ctr">
              <a:lnSpc>
                <a:spcPct val="104000"/>
              </a:lnSpc>
              <a:spcBef>
                <a:spcPts val="300"/>
              </a:spcBef>
              <a:buNone/>
            </a:pPr>
            <a:r>
              <a:rPr lang="en-US" sz="1500" dirty="0">
                <a:solidFill>
                  <a:srgbClr val="000000"/>
                </a:solidFill>
                <a:latin typeface="Arial"/>
                <a:cs typeface="Arial"/>
              </a:rPr>
              <a:t>Các phần khác (không bắt buộc) trong cùng tệp</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Tên bài dự kiến của bạn. Phần Kết quả gửi email trước 23:59 Chủ nhật 20/12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8.2  |  20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Công bố bài báo</a:t>
            </a:r>
          </a:p>
          <a:p>
            <a:pPr marL="0" indent="0" algn="ctr">
              <a:spcBef>
                <a:spcPts val="1200"/>
              </a:spcBef>
              <a:buNone/>
            </a:pPr>
            <a:r>
              <a:rPr lang="en-US" sz="1900" i="1" dirty="0">
                <a:solidFill>
                  <a:srgbClr val="595959"/>
                </a:solidFill>
                <a:latin typeface="Arial"/>
                <a:cs typeface="Arial"/>
              </a:rPr>
              <a:t>Từ bảng kiểm đến người phản biện, và những điều cần tránh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Hướng dẫn báo cáo: chọn theo thiết kế</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98470"/>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Thiết kế nghiên cứu</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Hướng dẫn báo cáo</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Ví dụ trong khóa học</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Thử nghiệm ngẫu nhiên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CONSORT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Bài 1</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Thuần tập, bệnh–chứng, cắt ngang</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STROBE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Bài 2, FLUID-ICU</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Nghiên cứu độ chính xác chẩn đoán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STARD</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Tổng quan hệ thống hoặc phân tích gộp</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PRISMA</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Đề cương thử nghiệm</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SPIRIT</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Báo cáo ca bệnh</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CARE</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 </a:t>
                      </a:r>
                    </a:p>
                  </a:txBody>
                  <a:tcPr marL="73152" marR="73152" marT="45720" marB="45720" anchor="ctr">
                    <a:solidFill>
                      <a:srgbClr val="F5F9FA"/>
                    </a:solidFill>
                  </a:tcPr>
                </a:tc>
              </a:tr>
            </a:tbl>
          </a:graphicData>
        </a:graphic>
      </p:graphicFrame>
      <p:sp>
        <p:nvSpPr>
          <p:cNvPr id="31" name="Caption"/>
          <p:cNvSpPr txBox="1"/>
          <p:nvPr/>
        </p:nvSpPr>
        <p:spPr>
          <a:xfrm>
            <a:off x="457200" y="5180310"/>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Mọi bảng kiểm đều miễn phí trên Mạng lưới EQUATOR (equator-network.org). Ghi tên hướng dẫn trong Đề cương Phần 4 và dùng nó làm bảng kiểm khi viết.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Chọn tạp chí: bốn điều cần kiểm tra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Chọn tạp chí trước khi viết: quy định của tạp chí chi phối cách viết.</a:t>
            </a:r>
          </a:p>
        </p:txBody>
      </p:sp>
      <p:sp>
        <p:nvSpPr>
          <p:cNvPr id="70" name="CardHead"/>
          <p:cNvSpPr/>
          <p:nvPr/>
        </p:nvSpPr>
        <p:spPr>
          <a:xfrm>
            <a:off x="457200" y="1973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Phù hợp</a:t>
            </a:r>
          </a:p>
        </p:txBody>
      </p:sp>
      <p:sp>
        <p:nvSpPr>
          <p:cNvPr id="71" name="CardBody"/>
          <p:cNvSpPr/>
          <p:nvPr/>
        </p:nvSpPr>
        <p:spPr>
          <a:xfrm>
            <a:off x="4572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Ai cần kết quả của bạn?</a:t>
            </a:r>
          </a:p>
          <a:p>
            <a:pPr marL="0" indent="0" algn="ctr">
              <a:lnSpc>
                <a:spcPct val="104000"/>
              </a:lnSpc>
              <a:spcBef>
                <a:spcPts val="400"/>
              </a:spcBef>
              <a:buNone/>
            </a:pPr>
            <a:r>
              <a:rPr lang="en-US" sz="1600" dirty="0">
                <a:solidFill>
                  <a:srgbClr val="000000"/>
                </a:solidFill>
                <a:latin typeface="Arial"/>
                <a:cs typeface="Arial"/>
              </a:rPr>
              <a:t>Đọc 3 số gần đây</a:t>
            </a:r>
          </a:p>
          <a:p>
            <a:pPr marL="0" indent="0" algn="ctr">
              <a:lnSpc>
                <a:spcPct val="104000"/>
              </a:lnSpc>
              <a:spcBef>
                <a:spcPts val="400"/>
              </a:spcBef>
              <a:buNone/>
            </a:pPr>
            <a:r>
              <a:rPr lang="en-US" sz="1600" dirty="0">
                <a:solidFill>
                  <a:srgbClr val="000000"/>
                </a:solidFill>
                <a:latin typeface="Arial"/>
                <a:cs typeface="Arial"/>
              </a:rPr>
              <a:t>Có đăng thiết kế tương tự?</a:t>
            </a:r>
          </a:p>
        </p:txBody>
      </p:sp>
      <p:sp>
        <p:nvSpPr>
          <p:cNvPr id="72" name="CardHead"/>
          <p:cNvSpPr/>
          <p:nvPr/>
        </p:nvSpPr>
        <p:spPr>
          <a:xfrm>
            <a:off x="3326600" y="1973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Tin cậy</a:t>
            </a:r>
          </a:p>
        </p:txBody>
      </p:sp>
      <p:sp>
        <p:nvSpPr>
          <p:cNvPr id="73" name="CardBody"/>
          <p:cNvSpPr/>
          <p:nvPr/>
        </p:nvSpPr>
        <p:spPr>
          <a:xfrm>
            <a:off x="33266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Có trong MEDLINE, DOAJ, Scopus hoặc Web of Science</a:t>
            </a:r>
          </a:p>
          <a:p>
            <a:pPr marL="0" indent="0" algn="ctr">
              <a:lnSpc>
                <a:spcPct val="104000"/>
              </a:lnSpc>
              <a:spcBef>
                <a:spcPts val="400"/>
              </a:spcBef>
              <a:buNone/>
            </a:pPr>
            <a:r>
              <a:rPr lang="en-US" sz="1600" dirty="0">
                <a:solidFill>
                  <a:srgbClr val="000000"/>
                </a:solidFill>
                <a:latin typeface="Arial"/>
                <a:cs typeface="Arial"/>
              </a:rPr>
              <a:t>Chính sách bình duyệt rõ ràng</a:t>
            </a:r>
          </a:p>
        </p:txBody>
      </p:sp>
      <p:sp>
        <p:nvSpPr>
          <p:cNvPr id="74" name="CardHead"/>
          <p:cNvSpPr/>
          <p:nvPr/>
        </p:nvSpPr>
        <p:spPr>
          <a:xfrm>
            <a:off x="6196000" y="1973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Quy định</a:t>
            </a:r>
          </a:p>
        </p:txBody>
      </p:sp>
      <p:sp>
        <p:nvSpPr>
          <p:cNvPr id="75" name="CardBody"/>
          <p:cNvSpPr/>
          <p:nvPr/>
        </p:nvSpPr>
        <p:spPr>
          <a:xfrm>
            <a:off x="61960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Hướng dẫn tác giả</a:t>
            </a:r>
          </a:p>
          <a:p>
            <a:pPr marL="0" indent="0" algn="ctr">
              <a:lnSpc>
                <a:spcPct val="104000"/>
              </a:lnSpc>
              <a:spcBef>
                <a:spcPts val="400"/>
              </a:spcBef>
              <a:buNone/>
            </a:pPr>
            <a:r>
              <a:rPr lang="en-US" sz="1600" dirty="0">
                <a:solidFill>
                  <a:srgbClr val="000000"/>
                </a:solidFill>
                <a:latin typeface="Arial"/>
                <a:cs typeface="Arial"/>
              </a:rPr>
              <a:t>Giới hạn số chữ, bảng kiểm</a:t>
            </a:r>
          </a:p>
          <a:p>
            <a:pPr marL="0" indent="0" algn="ctr">
              <a:lnSpc>
                <a:spcPct val="104000"/>
              </a:lnSpc>
              <a:spcBef>
                <a:spcPts val="400"/>
              </a:spcBef>
              <a:buNone/>
            </a:pPr>
            <a:r>
              <a:rPr lang="en-US" sz="1600" dirty="0">
                <a:solidFill>
                  <a:srgbClr val="000000"/>
                </a:solidFill>
                <a:latin typeface="Arial"/>
                <a:cs typeface="Arial"/>
              </a:rPr>
              <a:t>Có yêu cầu đăng ký?</a:t>
            </a:r>
          </a:p>
        </p:txBody>
      </p:sp>
      <p:sp>
        <p:nvSpPr>
          <p:cNvPr id="76" name="CardHead"/>
          <p:cNvSpPr/>
          <p:nvPr/>
        </p:nvSpPr>
        <p:spPr>
          <a:xfrm>
            <a:off x="9065400" y="1973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Chi phí và tốc độ</a:t>
            </a:r>
          </a:p>
        </p:txBody>
      </p:sp>
      <p:sp>
        <p:nvSpPr>
          <p:cNvPr id="77" name="CardBody"/>
          <p:cNvSpPr/>
          <p:nvPr/>
        </p:nvSpPr>
        <p:spPr>
          <a:xfrm>
            <a:off x="9065400" y="2613573"/>
            <a:ext cx="2669400" cy="2009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Phí xử lý bài báo (APC) và miễn giảm</a:t>
            </a:r>
          </a:p>
          <a:p>
            <a:pPr marL="0" indent="0" algn="ctr">
              <a:lnSpc>
                <a:spcPct val="104000"/>
              </a:lnSpc>
              <a:spcBef>
                <a:spcPts val="400"/>
              </a:spcBef>
              <a:buNone/>
            </a:pPr>
            <a:r>
              <a:rPr lang="en-US" sz="1600" dirty="0">
                <a:solidFill>
                  <a:srgbClr val="000000"/>
                </a:solidFill>
                <a:latin typeface="Arial"/>
                <a:cs typeface="Arial"/>
              </a:rPr>
              <a:t>Giấy phép: ai được dùng lại bài</a:t>
            </a:r>
          </a:p>
          <a:p>
            <a:pPr marL="0" indent="0" algn="ctr">
              <a:lnSpc>
                <a:spcPct val="104000"/>
              </a:lnSpc>
              <a:spcBef>
                <a:spcPts val="400"/>
              </a:spcBef>
              <a:buNone/>
            </a:pPr>
            <a:r>
              <a:rPr lang="en-US" sz="1600" dirty="0">
                <a:solidFill>
                  <a:srgbClr val="000000"/>
                </a:solidFill>
                <a:latin typeface="Arial"/>
                <a:cs typeface="Arial"/>
              </a:rPr>
              <a:t>Bài 1: 7 tuần. Bài 2: 7 tháng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Tạp chí tốt là nơi người đọc của bạn đọc, và được vận hành trung thực.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Nhận diện tạp chí săn mồi (predatory journal)</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Nếu tạp chí tìm đến bạn bằng email tâng bốc, hãy kiểm tra kỹ.</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diễn: tìm bảng kiểm và kiểm tra tạp chí</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B5651D"/>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DIỄN TRỰC TIẾP   |   3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trang Mạng lưới EQUATOR và tìm 'CONSORT'</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Xem bảng kiểm và sơ đồ dòng người tham gia (Bài 1 có sơ đồ này)</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Tìm STROBE theo cách tương tự (Bài 2 và FLUID-ICU)</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Kiểm tra một tạp chí trên DOAJ và NLM Catalog</a:t>
            </a:r>
          </a:p>
          <a:p>
            <a:pPr marL="380000" indent="-380000" algn="l">
              <a:lnSpc>
                <a:spcPct val="104000"/>
              </a:lnSpc>
              <a:spcBef>
                <a:spcPts val="450"/>
              </a:spcBef>
              <a:buClr>
                <a:srgbClr val="B5651D"/>
              </a:buClr>
              <a:buFont typeface="Arial"/>
              <a:buChar char="•"/>
            </a:pPr>
            <a:r>
              <a:rPr lang="en-US" sz="1650" dirty="0">
                <a:solidFill>
                  <a:srgbClr val="000000"/>
                </a:solidFill>
                <a:latin typeface="Arial"/>
                <a:cs typeface="Arial"/>
              </a:rPr>
              <a:t>Mở bảng kiểm Think.Check.Submit</a:t>
            </a:r>
          </a:p>
        </p:txBody>
      </p:sp>
      <p:sp>
        <p:nvSpPr>
          <p:cNvPr id="52" name="Side"/>
          <p:cNvSpPr/>
          <p:nvPr/>
        </p:nvSpPr>
        <p:spPr>
          <a:xfrm>
            <a:off x="7423760" y="1720000"/>
            <a:ext cx="4311040" cy="145365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B5651D"/>
                </a:solidFill>
                <a:latin typeface="Arial"/>
                <a:cs typeface="Arial"/>
              </a:rPr>
              <a:t>Chú ý</a:t>
            </a:r>
          </a:p>
          <a:p>
            <a:pPr marL="0" indent="0" algn="ctr">
              <a:lnSpc>
                <a:spcPct val="104000"/>
              </a:lnSpc>
              <a:spcBef>
                <a:spcPts val="300"/>
              </a:spcBef>
              <a:buNone/>
            </a:pPr>
            <a:r>
              <a:rPr lang="en-US" sz="1500" dirty="0">
                <a:solidFill>
                  <a:srgbClr val="000000"/>
                </a:solidFill>
                <a:latin typeface="Arial"/>
                <a:cs typeface="Arial"/>
              </a:rPr>
              <a:t>Tệp PDF bảng kiểm ở đâu</a:t>
            </a:r>
          </a:p>
          <a:p>
            <a:pPr marL="0" indent="0" algn="ctr">
              <a:lnSpc>
                <a:spcPct val="104000"/>
              </a:lnSpc>
              <a:spcBef>
                <a:spcPts val="300"/>
              </a:spcBef>
              <a:buNone/>
            </a:pPr>
            <a:r>
              <a:rPr lang="en-US" sz="1500" dirty="0">
                <a:solidFill>
                  <a:srgbClr val="000000"/>
                </a:solidFill>
                <a:latin typeface="Arial"/>
                <a:cs typeface="Arial"/>
              </a:rPr>
              <a:t>Cách xem tạp chí có trong MEDLINE</a:t>
            </a:r>
          </a:p>
          <a:p>
            <a:pPr marL="0" indent="0" algn="ctr">
              <a:lnSpc>
                <a:spcPct val="104000"/>
              </a:lnSpc>
              <a:spcBef>
                <a:spcPts val="300"/>
              </a:spcBef>
              <a:buNone/>
            </a:pPr>
            <a:r>
              <a:rPr lang="en-US" sz="1500" dirty="0">
                <a:solidFill>
                  <a:srgbClr val="000000"/>
                </a:solidFill>
                <a:latin typeface="Arial"/>
                <a:cs typeface="Arial"/>
              </a:rPr>
              <a:t>Ba câu hỏi cho mọi tạp chí</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B5651D"/>
            </a:solidFill>
          </a:ln>
        </p:spPr>
        <p:txBody>
          <a:bodyPr wrap="square" lIns="182880" tIns="45720" rIns="182880" bIns="45720" rtlCol="0" anchor="ctr">
            <a:normAutofit/>
          </a:bodyPr>
          <a:lstStyle/>
          <a:p>
            <a:pPr marL="0" indent="0" algn="ctr">
              <a:buNone/>
            </a:pPr>
            <a:r>
              <a:rPr lang="en-US" sz="1300" b="1" dirty="0">
                <a:solidFill>
                  <a:srgbClr val="B5651D"/>
                </a:solidFill>
                <a:latin typeface="Arial"/>
                <a:cs typeface="Arial"/>
              </a:rPr>
              <a:t>SẢN PHẨM   </a:t>
            </a:r>
            <a:r>
              <a:rPr lang="en-US" sz="1500" dirty="0">
                <a:solidFill>
                  <a:srgbClr val="000000"/>
                </a:solidFill>
                <a:latin typeface="Arial"/>
                <a:cs typeface="Arial"/>
              </a:rPr>
              <a:t>Mỗi người kiểm tra tạp chí và hướng dẫn báo cáo trong kế hoạch công bố của mình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Bộ hồ sơ nộp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46426"/>
          <a:ext cx="11277600" cy="421072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300" b="1" dirty="0">
                          <a:solidFill>
                            <a:srgbClr val="FFFFFF"/>
                          </a:solidFill>
                          <a:latin typeface="Arial"/>
                          <a:cs typeface="Arial"/>
                        </a:rPr>
                        <a:t>Thành phần</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Nội dung</a:t>
                      </a:r>
                    </a:p>
                  </a:txBody>
                  <a:tcPr marL="73152" marR="73152" marT="45720" marB="45720" anchor="ctr">
                    <a:solidFill>
                      <a:srgbClr val="0D7377"/>
                    </a:solidFill>
                  </a:tcPr>
                </a:tc>
              </a:tr>
              <a:tr h="360000">
                <a:tc>
                  <a:txBody>
                    <a:bodyPr/>
                    <a:lstStyle/>
                    <a:p>
                      <a:pPr algn="l"/>
                      <a:r>
                        <a:rPr lang="en-US" sz="1300" dirty="0">
                          <a:solidFill>
                            <a:srgbClr val="000000"/>
                          </a:solidFill>
                          <a:latin typeface="Arial"/>
                          <a:cs typeface="Arial"/>
                        </a:rPr>
                        <a:t>Thư gửi ban biên tập</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Vì sao chọn tạp chí này, điểm mới. Chưa nộp nơi khác</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Trang tiêu đề</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Tác giả, đơn vị, mã ORCID (mã định danh nhà nghiên cứu miễn phí), tác giả liên hệ, số từ</a:t>
                      </a:r>
                    </a:p>
                  </a:txBody>
                  <a:tcPr marL="73152" marR="73152" marT="45720" marB="45720" anchor="ctr">
                    <a:solidFill>
                      <a:srgbClr val="F5F9FA"/>
                    </a:solidFill>
                  </a:tcPr>
                </a:tc>
              </a:tr>
              <a:tr h="507680">
                <a:tc>
                  <a:txBody>
                    <a:bodyPr/>
                    <a:lstStyle/>
                    <a:p>
                      <a:pPr algn="l"/>
                      <a:r>
                        <a:rPr lang="en-US" sz="1300" dirty="0">
                          <a:solidFill>
                            <a:srgbClr val="000000"/>
                          </a:solidFill>
                          <a:latin typeface="Arial"/>
                          <a:cs typeface="Arial"/>
                        </a:rPr>
                        <a:t>Bản thảo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IMRaD, định dạng theo Hướng dẫn tác giả (ẩn danh nếu được yêu cầu)</a:t>
                      </a:r>
                    </a:p>
                  </a:txBody>
                  <a:tcPr marL="73152" marR="73152" marT="45720" marB="45720" anchor="ctr">
                    <a:solidFill>
                      <a:srgbClr val="FFFFFF"/>
                    </a:solidFill>
                  </a:tcPr>
                </a:tc>
              </a:tr>
              <a:tr h="360000">
                <a:tc>
                  <a:txBody>
                    <a:bodyPr/>
                    <a:lstStyle/>
                    <a:p>
                      <a:pPr algn="l"/>
                      <a:r>
                        <a:rPr lang="en-US" sz="1300" dirty="0">
                          <a:solidFill>
                            <a:srgbClr val="000000"/>
                          </a:solidFill>
                          <a:latin typeface="Arial"/>
                          <a:cs typeface="Arial"/>
                        </a:rPr>
                        <a:t>Bảng và hình</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Tệp riêng, đúng định dạng và độ phân giải</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Bảng kiểm báo cáo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CONSORT, STROBE ..., kèm số trang</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Các cam kết</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Số phê duyệt đạo đức, sự đồng ý, xung đột lợi ích, tài trợ, chia sẻ dữ liệu, vai trò tác giả, việc dùng AI</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Số đăng ký</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Thử nghiệm và tổng quan hệ thống</a:t>
                      </a:r>
                    </a:p>
                  </a:txBody>
                  <a:tcPr marL="73152" marR="73152" marT="45720" marB="45720" anchor="ctr">
                    <a:solidFill>
                      <a:srgbClr val="FFFFFF"/>
                    </a:solidFill>
                  </a:tcPr>
                </a:tc>
              </a:tr>
              <a:tr h="507680">
                <a:tc>
                  <a:txBody>
                    <a:bodyPr/>
                    <a:lstStyle/>
                    <a:p>
                      <a:pPr algn="l"/>
                      <a:r>
                        <a:rPr lang="en-US" sz="1300" dirty="0">
                          <a:solidFill>
                            <a:srgbClr val="000000"/>
                          </a:solidFill>
                          <a:latin typeface="Arial"/>
                          <a:cs typeface="Arial"/>
                        </a:rPr>
                        <a:t>Gợi ý người phản biện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Chuyên gia không xung đột lợi ích. Không là đồng tác giả gần đây</a:t>
                      </a:r>
                    </a:p>
                  </a:txBody>
                  <a:tcPr marL="73152" marR="73152" marT="45720" marB="45720" anchor="ctr">
                    <a:solidFill>
                      <a:srgbClr val="F5F9FA"/>
                    </a:solidFill>
                  </a:tcPr>
                </a:tc>
              </a:tr>
              <a:tr h="360000">
                <a:tc>
                  <a:txBody>
                    <a:bodyPr/>
                    <a:lstStyle/>
                    <a:p>
                      <a:pPr algn="l"/>
                      <a:r>
                        <a:rPr lang="en-US" sz="1300" dirty="0">
                          <a:solidFill>
                            <a:srgbClr val="000000"/>
                          </a:solidFill>
                          <a:latin typeface="Arial"/>
                          <a:cs typeface="Arial"/>
                        </a:rPr>
                        <a:t>Tài liệu bổ sung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Đề cương, bảng phụ, sơ đồ dài</a:t>
                      </a:r>
                    </a:p>
                  </a:txBody>
                  <a:tcPr marL="73152" marR="73152" marT="45720" marB="45720" anchor="ctr">
                    <a:solidFill>
                      <a:srgbClr val="FFFFFF"/>
                    </a:solidFill>
                  </a:tcPr>
                </a:tc>
              </a:tr>
            </a:tbl>
          </a:graphicData>
        </a:graphic>
      </p:graphicFrame>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Hành trình bình duyệt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Sửa bài, rồi gửi tạp chí khác. Không bao giờ gửi hai nơi cùng lúc.</a:t>
            </a:r>
          </a:p>
        </p:txBody>
      </p:sp>
      <p:sp>
        <p:nvSpPr>
          <p:cNvPr id="80" name="Step"/>
          <p:cNvSpPr/>
          <p:nvPr/>
        </p:nvSpPr>
        <p:spPr>
          <a:xfrm>
            <a:off x="457200" y="1660000"/>
            <a:ext cx="19296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Nộp bài</a:t>
            </a:r>
          </a:p>
        </p:txBody>
      </p:sp>
      <p:sp>
        <p:nvSpPr>
          <p:cNvPr id="81" name="StepText"/>
          <p:cNvSpPr/>
          <p:nvPr/>
        </p:nvSpPr>
        <p:spPr>
          <a:xfrm>
            <a:off x="4972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thảo, thư gửi ban biên tập, bảng kiểm</a:t>
            </a:r>
          </a:p>
        </p:txBody>
      </p:sp>
      <p:sp>
        <p:nvSpPr>
          <p:cNvPr id="82" name="Step"/>
          <p:cNvSpPr/>
          <p:nvPr/>
        </p:nvSpPr>
        <p:spPr>
          <a:xfrm>
            <a:off x="2326800" y="1660000"/>
            <a:ext cx="19296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Biên tập</a:t>
            </a:r>
          </a:p>
        </p:txBody>
      </p:sp>
      <p:sp>
        <p:nvSpPr>
          <p:cNvPr id="83" name="StepText"/>
          <p:cNvSpPr/>
          <p:nvPr/>
        </p:nvSpPr>
        <p:spPr>
          <a:xfrm>
            <a:off x="23668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Sàng lọc bài</a:t>
            </a:r>
          </a:p>
          <a:p>
            <a:pPr marL="0" indent="0" algn="ctr">
              <a:lnSpc>
                <a:spcPct val="104000"/>
              </a:lnSpc>
              <a:spcBef>
                <a:spcPts val="200"/>
              </a:spcBef>
              <a:buNone/>
            </a:pPr>
            <a:r>
              <a:rPr lang="en-US" sz="1500" dirty="0">
                <a:solidFill>
                  <a:srgbClr val="000000"/>
                </a:solidFill>
                <a:latin typeface="Arial"/>
                <a:cs typeface="Arial"/>
              </a:rPr>
              <a:t>Từ chối ngay là chuyện thường</a:t>
            </a:r>
          </a:p>
        </p:txBody>
      </p:sp>
      <p:sp>
        <p:nvSpPr>
          <p:cNvPr id="84" name="Step"/>
          <p:cNvSpPr/>
          <p:nvPr/>
        </p:nvSpPr>
        <p:spPr>
          <a:xfrm>
            <a:off x="4196400" y="1660000"/>
            <a:ext cx="19296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Phản biện</a:t>
            </a:r>
          </a:p>
        </p:txBody>
      </p:sp>
      <p:sp>
        <p:nvSpPr>
          <p:cNvPr id="85" name="StepText"/>
          <p:cNvSpPr/>
          <p:nvPr/>
        </p:nvSpPr>
        <p:spPr>
          <a:xfrm>
            <a:off x="42364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2 hoặc 3 người phản biện nhận xét</a:t>
            </a:r>
          </a:p>
        </p:txBody>
      </p:sp>
      <p:sp>
        <p:nvSpPr>
          <p:cNvPr id="86" name="Step"/>
          <p:cNvSpPr/>
          <p:nvPr/>
        </p:nvSpPr>
        <p:spPr>
          <a:xfrm>
            <a:off x="6066000" y="1660000"/>
            <a:ext cx="19296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Quyết định</a:t>
            </a:r>
          </a:p>
        </p:txBody>
      </p:sp>
      <p:sp>
        <p:nvSpPr>
          <p:cNvPr id="87" name="StepText"/>
          <p:cNvSpPr/>
          <p:nvPr/>
        </p:nvSpPr>
        <p:spPr>
          <a:xfrm>
            <a:off x="61060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Chấp nhận, sửa chữa nhỏ hoặc lớn, hoặc từ chối</a:t>
            </a:r>
          </a:p>
        </p:txBody>
      </p:sp>
      <p:sp>
        <p:nvSpPr>
          <p:cNvPr id="88" name="Step"/>
          <p:cNvSpPr/>
          <p:nvPr/>
        </p:nvSpPr>
        <p:spPr>
          <a:xfrm>
            <a:off x="7935600" y="1660000"/>
            <a:ext cx="192960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Sửa bài</a:t>
            </a:r>
          </a:p>
        </p:txBody>
      </p:sp>
      <p:sp>
        <p:nvSpPr>
          <p:cNvPr id="89" name="StepText"/>
          <p:cNvSpPr/>
          <p:nvPr/>
        </p:nvSpPr>
        <p:spPr>
          <a:xfrm>
            <a:off x="79756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Sửa bản thảo</a:t>
            </a:r>
          </a:p>
          <a:p>
            <a:pPr marL="0" indent="0" algn="ctr">
              <a:lnSpc>
                <a:spcPct val="104000"/>
              </a:lnSpc>
              <a:spcBef>
                <a:spcPts val="200"/>
              </a:spcBef>
              <a:buNone/>
            </a:pPr>
            <a:r>
              <a:rPr lang="en-US" sz="1500" dirty="0">
                <a:solidFill>
                  <a:srgbClr val="000000"/>
                </a:solidFill>
                <a:latin typeface="Arial"/>
                <a:cs typeface="Arial"/>
              </a:rPr>
              <a:t>Phản hồi theo từng ý</a:t>
            </a:r>
          </a:p>
        </p:txBody>
      </p:sp>
      <p:sp>
        <p:nvSpPr>
          <p:cNvPr id="90" name="Step"/>
          <p:cNvSpPr/>
          <p:nvPr/>
        </p:nvSpPr>
        <p:spPr>
          <a:xfrm>
            <a:off x="9805200" y="1660000"/>
            <a:ext cx="1929600" cy="760000"/>
          </a:xfrm>
          <a:prstGeom prst="chevron">
            <a:avLst>
              <a:gd name="adj" fmla="val 28000"/>
            </a:avLst>
          </a:prstGeom>
          <a:solidFill>
            <a:srgbClr val="8A99A3"/>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Được nhận</a:t>
            </a:r>
          </a:p>
        </p:txBody>
      </p:sp>
      <p:sp>
        <p:nvSpPr>
          <p:cNvPr id="91" name="StepText"/>
          <p:cNvSpPr/>
          <p:nvPr/>
        </p:nvSpPr>
        <p:spPr>
          <a:xfrm>
            <a:off x="9845200" y="2580000"/>
            <a:ext cx="1789600" cy="13107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in thử, rồi xuất bản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Hầu hết bài báo phải sửa trước khi được nhận. Hãy trả lời lịch sự từng ý.</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Thư phản hồi ý kiến phản biện: phản hồi theo từng ý</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Nhận xét, câu trả lời, và chính xác chỗ đã sửa. Ví dụ minh họa dựa trên Bài 1 có chú giải.</a:t>
            </a:r>
          </a:p>
        </p:txBody>
      </p:sp>
      <p:sp>
        <p:nvSpPr>
          <p:cNvPr id="70" name="CardHead"/>
          <p:cNvSpPr/>
          <p:nvPr/>
        </p:nvSpPr>
        <p:spPr>
          <a:xfrm>
            <a:off x="457200" y="1944469"/>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R1.1</a:t>
            </a:r>
          </a:p>
        </p:txBody>
      </p:sp>
      <p:sp>
        <p:nvSpPr>
          <p:cNvPr id="71" name="CardBody"/>
          <p:cNvSpPr/>
          <p:nvPr/>
        </p:nvSpPr>
        <p:spPr>
          <a:xfrm>
            <a:off x="457200"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đề nghị không gọi p = 0.42 là 'xu hướng không có ý nghĩa'.</a:t>
            </a:r>
          </a:p>
          <a:p>
            <a:pPr marL="0" indent="0" algn="ctr">
              <a:lnSpc>
                <a:spcPct val="104000"/>
              </a:lnSpc>
              <a:spcBef>
                <a:spcPts val="400"/>
              </a:spcBef>
              <a:buNone/>
            </a:pPr>
            <a:r>
              <a:rPr lang="en-US" sz="1450" dirty="0">
                <a:solidFill>
                  <a:srgbClr val="2E8B57"/>
                </a:solidFill>
                <a:latin typeface="Arial"/>
                <a:cs typeface="Arial"/>
              </a:rPr>
              <a:t>Chấp nhận: cảm ơn, chúng tôi đồng ý. Đã báo cáo ước lượng kèm KTC 95% và bỏ chữ 'xu hướng'.</a:t>
            </a:r>
          </a:p>
          <a:p>
            <a:pPr marL="0" indent="0" algn="ctr">
              <a:lnSpc>
                <a:spcPct val="104000"/>
              </a:lnSpc>
              <a:spcBef>
                <a:spcPts val="400"/>
              </a:spcBef>
              <a:buNone/>
            </a:pPr>
            <a:r>
              <a:rPr lang="en-US" sz="1450" i="1" dirty="0">
                <a:solidFill>
                  <a:srgbClr val="000000"/>
                </a:solidFill>
                <a:latin typeface="Arial"/>
                <a:cs typeface="Arial"/>
              </a:rPr>
              <a:t>Thay đổi: Bàn luận, tr.10, dòng 4-6</a:t>
            </a:r>
          </a:p>
        </p:txBody>
      </p:sp>
      <p:sp>
        <p:nvSpPr>
          <p:cNvPr id="72" name="CardHead"/>
          <p:cNvSpPr/>
          <p:nvPr/>
        </p:nvSpPr>
        <p:spPr>
          <a:xfrm>
            <a:off x="4283066" y="1944469"/>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R1.2</a:t>
            </a:r>
          </a:p>
        </p:txBody>
      </p:sp>
      <p:sp>
        <p:nvSpPr>
          <p:cNvPr id="73" name="CardBody"/>
          <p:cNvSpPr/>
          <p:nvPr/>
        </p:nvSpPr>
        <p:spPr>
          <a:xfrm>
            <a:off x="4283066"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che giấu phân nhóm thế nào khi dùng khối cỡ 2?</a:t>
            </a:r>
          </a:p>
          <a:p>
            <a:pPr marL="0" indent="0" algn="ctr">
              <a:lnSpc>
                <a:spcPct val="104000"/>
              </a:lnSpc>
              <a:spcBef>
                <a:spcPts val="400"/>
              </a:spcBef>
              <a:buNone/>
            </a:pPr>
            <a:r>
              <a:rPr lang="en-US" sz="1450" dirty="0">
                <a:solidFill>
                  <a:srgbClr val="0B376C"/>
                </a:solidFill>
                <a:latin typeface="Arial"/>
                <a:cs typeface="Arial"/>
              </a:rPr>
              <a:t>Làm rõ: phân nhóm tập trung bằng máy tính. Đã thêm cỡ khối vào phần hạn chế.</a:t>
            </a:r>
          </a:p>
          <a:p>
            <a:pPr marL="0" indent="0" algn="ctr">
              <a:lnSpc>
                <a:spcPct val="104000"/>
              </a:lnSpc>
              <a:spcBef>
                <a:spcPts val="400"/>
              </a:spcBef>
              <a:buNone/>
            </a:pPr>
            <a:r>
              <a:rPr lang="en-US" sz="1450" i="1" dirty="0">
                <a:solidFill>
                  <a:srgbClr val="000000"/>
                </a:solidFill>
                <a:latin typeface="Arial"/>
                <a:cs typeface="Arial"/>
              </a:rPr>
              <a:t>Thay đổi: Phương pháp tr.3, hạn chế tr.10</a:t>
            </a:r>
          </a:p>
        </p:txBody>
      </p:sp>
      <p:sp>
        <p:nvSpPr>
          <p:cNvPr id="74" name="CardHead"/>
          <p:cNvSpPr/>
          <p:nvPr/>
        </p:nvSpPr>
        <p:spPr>
          <a:xfrm>
            <a:off x="8108932" y="1944469"/>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R2.1</a:t>
            </a:r>
          </a:p>
        </p:txBody>
      </p:sp>
      <p:sp>
        <p:nvSpPr>
          <p:cNvPr id="75" name="CardBody"/>
          <p:cNvSpPr/>
          <p:nvPr/>
        </p:nvSpPr>
        <p:spPr>
          <a:xfrm>
            <a:off x="8108932" y="2584469"/>
            <a:ext cx="3625866" cy="2096592"/>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50" dirty="0">
                <a:solidFill>
                  <a:srgbClr val="000000"/>
                </a:solidFill>
                <a:latin typeface="Arial"/>
                <a:cs typeface="Arial"/>
              </a:rPr>
              <a:t>Nhận xét: đề nghị bổ sung tử vong 90 ngày.</a:t>
            </a:r>
          </a:p>
          <a:p>
            <a:pPr marL="0" indent="0" algn="ctr">
              <a:lnSpc>
                <a:spcPct val="104000"/>
              </a:lnSpc>
              <a:spcBef>
                <a:spcPts val="400"/>
              </a:spcBef>
              <a:buNone/>
            </a:pPr>
            <a:r>
              <a:rPr lang="en-US" sz="1450" dirty="0">
                <a:solidFill>
                  <a:srgbClr val="D9822B"/>
                </a:solidFill>
                <a:latin typeface="Arial"/>
                <a:cs typeface="Arial"/>
              </a:rPr>
              <a:t>Phản hồi, lịch sự: tử vong 90 ngày không phải kết cục định trước và không được thu thập.</a:t>
            </a:r>
          </a:p>
          <a:p>
            <a:pPr marL="0" indent="0" algn="ctr">
              <a:lnSpc>
                <a:spcPct val="104000"/>
              </a:lnSpc>
              <a:spcBef>
                <a:spcPts val="400"/>
              </a:spcBef>
              <a:buNone/>
            </a:pPr>
            <a:r>
              <a:rPr lang="en-US" sz="1450" i="1" dirty="0">
                <a:solidFill>
                  <a:srgbClr val="000000"/>
                </a:solidFill>
                <a:latin typeface="Arial"/>
                <a:cs typeface="Arial"/>
              </a:rPr>
              <a:t>Thay đổi: nêu thành hạn chế, tr.10</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Cảm ơn, trả lời mọi ý, chỉ rõ chỗ đã sửa, và phản hồi lịch sự, có bằng chứng.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Kiểm tra: đúng hay sai?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2 phút</a:t>
            </a:r>
          </a:p>
        </p:txBody>
      </p:sp>
      <p:sp>
        <p:nvSpPr>
          <p:cNvPr id="51" name="Steps"/>
          <p:cNvSpPr txBox="1"/>
          <p:nvPr/>
        </p:nvSpPr>
        <p:spPr>
          <a:xfrm>
            <a:off x="457200" y="1720000"/>
            <a:ext cx="6766560" cy="423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'Tạp chí gửi email mời trước thường là tạp chí săn mồi'</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có thể gửi bài cho hai tạp chí cùng lúc cho nhanh'</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'Bản tiền ấn phẩm đã được bình duyệt'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'Tôi phải trả lời mọi nhận xét của người phản biện, kể cả khi không đồng ý'</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'Bài báo FLUID-ICU nên theo CONSORT'</a:t>
            </a:r>
          </a:p>
        </p:txBody>
      </p:sp>
      <p:sp>
        <p:nvSpPr>
          <p:cNvPr id="52" name="Side"/>
          <p:cNvSpPr/>
          <p:nvPr/>
        </p:nvSpPr>
        <p:spPr>
          <a:xfrm>
            <a:off x="7423760" y="1720000"/>
            <a:ext cx="4311040" cy="2006105"/>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6C3483"/>
                </a:solidFill>
                <a:latin typeface="Arial"/>
                <a:cs typeface="Arial"/>
              </a:rPr>
              <a:t>Đáp án</a:t>
            </a:r>
          </a:p>
          <a:p>
            <a:pPr marL="0" indent="0" algn="ctr">
              <a:lnSpc>
                <a:spcPct val="104000"/>
              </a:lnSpc>
              <a:spcBef>
                <a:spcPts val="300"/>
              </a:spcBef>
              <a:buNone/>
            </a:pPr>
            <a:r>
              <a:rPr lang="en-US" sz="1500" dirty="0">
                <a:solidFill>
                  <a:srgbClr val="000000"/>
                </a:solidFill>
                <a:latin typeface="Arial"/>
                <a:cs typeface="Arial"/>
              </a:rPr>
              <a:t>Thường đúng: kiểm tra kỹ</a:t>
            </a:r>
          </a:p>
          <a:p>
            <a:pPr marL="0" indent="0" algn="ctr">
              <a:lnSpc>
                <a:spcPct val="104000"/>
              </a:lnSpc>
              <a:spcBef>
                <a:spcPts val="300"/>
              </a:spcBef>
              <a:buNone/>
            </a:pPr>
            <a:r>
              <a:rPr lang="en-US" sz="1500" dirty="0">
                <a:solidFill>
                  <a:srgbClr val="000000"/>
                </a:solidFill>
                <a:latin typeface="Arial"/>
                <a:cs typeface="Arial"/>
              </a:rPr>
              <a:t>Sai: nộp trùng lặp</a:t>
            </a:r>
          </a:p>
          <a:p>
            <a:pPr marL="0" indent="0" algn="ctr">
              <a:lnSpc>
                <a:spcPct val="104000"/>
              </a:lnSpc>
              <a:spcBef>
                <a:spcPts val="300"/>
              </a:spcBef>
              <a:buNone/>
            </a:pPr>
            <a:r>
              <a:rPr lang="en-US" sz="1500" dirty="0">
                <a:solidFill>
                  <a:srgbClr val="000000"/>
                </a:solidFill>
                <a:latin typeface="Arial"/>
                <a:cs typeface="Arial"/>
              </a:rPr>
              <a:t>Sai: đăng trước khi bình duyệt</a:t>
            </a:r>
          </a:p>
          <a:p>
            <a:pPr marL="0" indent="0" algn="ctr">
              <a:lnSpc>
                <a:spcPct val="104000"/>
              </a:lnSpc>
              <a:spcBef>
                <a:spcPts val="300"/>
              </a:spcBef>
              <a:buNone/>
            </a:pPr>
            <a:r>
              <a:rPr lang="en-US" sz="1500" dirty="0">
                <a:solidFill>
                  <a:srgbClr val="000000"/>
                </a:solidFill>
                <a:latin typeface="Arial"/>
                <a:cs typeface="Arial"/>
              </a:rPr>
              <a:t>Đúng: lịch sự, có bằng chứng</a:t>
            </a:r>
          </a:p>
          <a:p>
            <a:pPr marL="0" indent="0" algn="ctr">
              <a:lnSpc>
                <a:spcPct val="104000"/>
              </a:lnSpc>
              <a:spcBef>
                <a:spcPts val="300"/>
              </a:spcBef>
              <a:buNone/>
            </a:pPr>
            <a:r>
              <a:rPr lang="en-US" sz="1500" dirty="0">
                <a:solidFill>
                  <a:srgbClr val="000000"/>
                </a:solidFill>
                <a:latin typeface="Arial"/>
                <a:cs typeface="Arial"/>
              </a:rPr>
              <a:t>Sai: STROBE (nghiên cứu thuần tập)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0" name="BreakCup"/>
          <p:cNvSpPr/>
          <p:nvPr/>
        </p:nvSpPr>
        <p:spPr>
          <a:xfrm>
            <a:off x="4976000" y="3180000"/>
            <a:ext cx="2408000" cy="308000"/>
          </a:xfrm>
          <a:prstGeom prst="ellipse">
            <a:avLst/>
          </a:prstGeom>
          <a:solidFill>
            <a:srgbClr val="D5DDE1"/>
          </a:solidFill>
          <a:ln>
            <a:noFill/>
          </a:ln>
        </p:spPr>
      </p:sp>
      <p:sp>
        <p:nvSpPr>
          <p:cNvPr id="31" name="BreakCup"/>
          <p:cNvSpPr/>
          <p:nvPr/>
        </p:nvSpPr>
        <p:spPr>
          <a:xfrm>
            <a:off x="4780000" y="800000"/>
            <a:ext cx="2800000" cy="2800000"/>
          </a:xfrm>
          <a:custGeom>
            <a:avLst/>
            <a:gdLst/>
            <a:ahLst/>
            <a:cxnLst/>
            <a:rect l="0" t="0" r="r" b="b"/>
            <a:pathLst>
              <a:path w="1000" h="1000" fill="none">
                <a:moveTo>
                  <a:pt x="735" y="500"/>
                </a:moveTo>
                <a:cubicBezTo>
                  <a:pt x="930" y="450"/>
                  <a:pt x="940" y="740"/>
                  <a:pt x="700" y="760"/>
                </a:cubicBezTo>
              </a:path>
            </a:pathLst>
          </a:custGeom>
          <a:noFill/>
          <a:ln w="168000" cap="rnd">
            <a:solidFill>
              <a:srgbClr val="0D7377"/>
            </a:solidFill>
            <a:round/>
          </a:ln>
        </p:spPr>
      </p:sp>
      <p:sp>
        <p:nvSpPr>
          <p:cNvPr id="32" name="BreakCup"/>
          <p:cNvSpPr/>
          <p:nvPr/>
        </p:nvSpPr>
        <p:spPr>
          <a:xfrm>
            <a:off x="4780000" y="800000"/>
            <a:ext cx="2800000" cy="2800000"/>
          </a:xfrm>
          <a:custGeom>
            <a:avLst/>
            <a:gdLst/>
            <a:ahLst/>
            <a:cxnLst/>
            <a:rect l="0" t="0" r="r" b="b"/>
            <a:pathLst>
              <a:path w="1000" h="1000">
                <a:moveTo>
                  <a:pt x="170" y="420"/>
                </a:moveTo>
                <a:lnTo>
                  <a:pt x="790" y="420"/>
                </a:lnTo>
                <a:cubicBezTo>
                  <a:pt x="790" y="700"/>
                  <a:pt x="690" y="885"/>
                  <a:pt x="480" y="885"/>
                </a:cubicBezTo>
                <a:cubicBezTo>
                  <a:pt x="270" y="885"/>
                  <a:pt x="170" y="700"/>
                  <a:pt x="170" y="420"/>
                </a:cubicBezTo>
                <a:close/>
              </a:path>
            </a:pathLst>
          </a:custGeom>
          <a:solidFill>
            <a:srgbClr val="0D7377"/>
          </a:solidFill>
          <a:ln>
            <a:noFill/>
          </a:ln>
        </p:spPr>
      </p:sp>
      <p:sp>
        <p:nvSpPr>
          <p:cNvPr id="33" name="BreakCup"/>
          <p:cNvSpPr/>
          <p:nvPr/>
        </p:nvSpPr>
        <p:spPr>
          <a:xfrm>
            <a:off x="5256000" y="1864000"/>
            <a:ext cx="1736000" cy="224000"/>
          </a:xfrm>
          <a:prstGeom prst="ellipse">
            <a:avLst/>
          </a:prstGeom>
          <a:solidFill>
            <a:srgbClr val="5FA39B"/>
          </a:solidFill>
          <a:ln>
            <a:noFill/>
          </a:ln>
        </p:spPr>
      </p:sp>
      <p:sp>
        <p:nvSpPr>
          <p:cNvPr id="34" name="BreakCup"/>
          <p:cNvSpPr/>
          <p:nvPr/>
        </p:nvSpPr>
        <p:spPr>
          <a:xfrm>
            <a:off x="5354000" y="1900400"/>
            <a:ext cx="1540000" cy="151200"/>
          </a:xfrm>
          <a:prstGeom prst="ellipse">
            <a:avLst/>
          </a:prstGeom>
          <a:solidFill>
            <a:srgbClr val="5B4032"/>
          </a:solidFill>
          <a:ln>
            <a:noFill/>
          </a:ln>
        </p:spPr>
      </p:sp>
      <p:sp>
        <p:nvSpPr>
          <p:cNvPr id="35" name="BreakCup"/>
          <p:cNvSpPr/>
          <p:nvPr/>
        </p:nvSpPr>
        <p:spPr>
          <a:xfrm>
            <a:off x="4780000" y="800000"/>
            <a:ext cx="2800000" cy="2800000"/>
          </a:xfrm>
          <a:custGeom>
            <a:avLst/>
            <a:gdLst/>
            <a:ahLst/>
            <a:cxnLst/>
            <a:rect l="0" t="0" r="r" b="b"/>
            <a:pathLst>
              <a:path w="1000" h="1000" fill="none">
                <a:moveTo>
                  <a:pt x="370" y="330"/>
                </a:moveTo>
                <a:cubicBezTo>
                  <a:pt x="325" y="280"/>
                  <a:pt x="415" y="230"/>
                  <a:pt x="370" y="180"/>
                </a:cubicBezTo>
                <a:cubicBezTo>
                  <a:pt x="325" y="130"/>
                  <a:pt x="405" y="90"/>
                  <a:pt x="370" y="50"/>
                </a:cubicBezTo>
              </a:path>
            </a:pathLst>
          </a:custGeom>
          <a:noFill/>
          <a:ln w="61600" cap="rnd">
            <a:solidFill>
              <a:srgbClr val="8A99A3"/>
            </a:solidFill>
            <a:round/>
          </a:ln>
        </p:spPr>
      </p:sp>
      <p:sp>
        <p:nvSpPr>
          <p:cNvPr id="36" name="BreakCup"/>
          <p:cNvSpPr/>
          <p:nvPr/>
        </p:nvSpPr>
        <p:spPr>
          <a:xfrm>
            <a:off x="4780000" y="800000"/>
            <a:ext cx="2800000" cy="2800000"/>
          </a:xfrm>
          <a:custGeom>
            <a:avLst/>
            <a:gdLst/>
            <a:ahLst/>
            <a:cxnLst/>
            <a:rect l="0" t="0" r="r" b="b"/>
            <a:pathLst>
              <a:path w="1000" h="1000" fill="none">
                <a:moveTo>
                  <a:pt x="480" y="330"/>
                </a:moveTo>
                <a:cubicBezTo>
                  <a:pt x="435" y="280"/>
                  <a:pt x="525" y="230"/>
                  <a:pt x="480" y="180"/>
                </a:cubicBezTo>
                <a:cubicBezTo>
                  <a:pt x="435" y="130"/>
                  <a:pt x="515" y="90"/>
                  <a:pt x="480" y="50"/>
                </a:cubicBezTo>
              </a:path>
            </a:pathLst>
          </a:custGeom>
          <a:noFill/>
          <a:ln w="61600" cap="rnd">
            <a:solidFill>
              <a:srgbClr val="8A99A3"/>
            </a:solidFill>
            <a:round/>
          </a:ln>
        </p:spPr>
      </p:sp>
      <p:sp>
        <p:nvSpPr>
          <p:cNvPr id="37" name="BreakCup"/>
          <p:cNvSpPr/>
          <p:nvPr/>
        </p:nvSpPr>
        <p:spPr>
          <a:xfrm>
            <a:off x="4780000" y="800000"/>
            <a:ext cx="2800000" cy="2800000"/>
          </a:xfrm>
          <a:custGeom>
            <a:avLst/>
            <a:gdLst/>
            <a:ahLst/>
            <a:cxnLst/>
            <a:rect l="0" t="0" r="r" b="b"/>
            <a:pathLst>
              <a:path w="1000" h="1000" fill="none">
                <a:moveTo>
                  <a:pt x="590" y="330"/>
                </a:moveTo>
                <a:cubicBezTo>
                  <a:pt x="545" y="280"/>
                  <a:pt x="635" y="230"/>
                  <a:pt x="590" y="180"/>
                </a:cubicBezTo>
                <a:cubicBezTo>
                  <a:pt x="545" y="130"/>
                  <a:pt x="625" y="90"/>
                  <a:pt x="590" y="50"/>
                </a:cubicBezTo>
              </a:path>
            </a:pathLst>
          </a:custGeom>
          <a:noFill/>
          <a:ln w="61600" cap="rnd">
            <a:solidFill>
              <a:srgbClr val="8A99A3"/>
            </a:solidFill>
            <a:round/>
          </a:ln>
        </p:spPr>
      </p:sp>
      <p:sp>
        <p:nvSpPr>
          <p:cNvPr id="45" name="BreakLabel"/>
          <p:cNvSpPr txBox="1"/>
          <p:nvPr/>
        </p:nvSpPr>
        <p:spPr>
          <a:xfrm>
            <a:off x="457200" y="3720000"/>
            <a:ext cx="11277600" cy="1250000"/>
          </a:xfrm>
          <a:prstGeom prst="rect">
            <a:avLst/>
          </a:prstGeom>
          <a:noFill/>
          <a:ln>
            <a:noFill/>
          </a:ln>
        </p:spPr>
        <p:txBody>
          <a:bodyPr wrap="square" lIns="91440" tIns="45720" rIns="91440" bIns="45720" rtlCol="0" anchor="t"/>
          <a:lstStyle/>
          <a:p>
            <a:pPr marL="0" indent="0" algn="ctr">
              <a:buNone/>
            </a:pPr>
            <a:r>
              <a:rPr lang="en-US" sz="4400" b="1" dirty="0">
                <a:solidFill>
                  <a:srgbClr val="0D7377"/>
                </a:solidFill>
                <a:latin typeface="Arial"/>
                <a:cs typeface="Arial"/>
              </a:rPr>
              <a:t>Giải lao</a:t>
            </a:r>
          </a:p>
          <a:p>
            <a:pPr marL="0" indent="0" algn="ctr">
              <a:spcBef>
                <a:spcPts val="600"/>
              </a:spcBef>
              <a:buNone/>
            </a:pPr>
            <a:r>
              <a:rPr lang="en-US" sz="2400" dirty="0">
                <a:solidFill>
                  <a:srgbClr val="595959"/>
                </a:solidFill>
                <a:latin typeface="Arial"/>
                <a:cs typeface="Arial"/>
              </a:rPr>
              <a:t>15 phút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8.3  |  25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Làm người phản biện</a:t>
            </a:r>
          </a:p>
          <a:p>
            <a:pPr marL="0" indent="0" algn="ctr">
              <a:spcBef>
                <a:spcPts val="1200"/>
              </a:spcBef>
              <a:buNone/>
            </a:pPr>
            <a:r>
              <a:rPr lang="en-US" sz="1900" i="1" dirty="0">
                <a:solidFill>
                  <a:srgbClr val="595959"/>
                </a:solidFill>
                <a:latin typeface="Arial"/>
                <a:cs typeface="Arial"/>
              </a:rPr>
              <a:t>Cả lớp cùng thẩm định Bài 1 và Bài 2</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một câu hỏi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626796"/>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Cùng câu hỏi lâm sàng (dịch truyền trong sốc nhiễm khuẩn), hai thiết kế. Cả hai tệp PDF đã được gửi qua email.</a:t>
            </a:r>
          </a:p>
        </p:txBody>
      </p:sp>
      <p:sp>
        <p:nvSpPr>
          <p:cNvPr id="70" name="CardHead"/>
          <p:cNvSpPr/>
          <p:nvPr/>
        </p:nvSpPr>
        <p:spPr>
          <a:xfrm>
            <a:off x="457200" y="2099483"/>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 ngẫu nhiên</a:t>
            </a:r>
          </a:p>
        </p:txBody>
      </p:sp>
      <p:sp>
        <p:nvSpPr>
          <p:cNvPr id="71" name="CardBody"/>
          <p:cNvSpPr/>
          <p:nvPr/>
        </p:nvSpPr>
        <p:spPr>
          <a:xfrm>
            <a:off x="4572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Boulet 2024, Critical Care</a:t>
            </a:r>
          </a:p>
          <a:p>
            <a:pPr marL="0" indent="0" algn="ctr">
              <a:lnSpc>
                <a:spcPct val="104000"/>
              </a:lnSpc>
              <a:spcBef>
                <a:spcPts val="400"/>
              </a:spcBef>
              <a:buNone/>
            </a:pPr>
            <a:r>
              <a:rPr lang="en-US" sz="1750" dirty="0">
                <a:solidFill>
                  <a:srgbClr val="000000"/>
                </a:solidFill>
                <a:latin typeface="Arial"/>
                <a:cs typeface="Arial"/>
              </a:rPr>
              <a:t>Thử nghiệm thí điểm, phân tích 48 người bệnh</a:t>
            </a:r>
          </a:p>
          <a:p>
            <a:pPr marL="0" indent="0" algn="ctr">
              <a:lnSpc>
                <a:spcPct val="104000"/>
              </a:lnSpc>
              <a:spcBef>
                <a:spcPts val="400"/>
              </a:spcBef>
              <a:buNone/>
            </a:pPr>
            <a:r>
              <a:rPr lang="en-US" sz="1750" dirty="0">
                <a:solidFill>
                  <a:srgbClr val="000000"/>
                </a:solidFill>
                <a:latin typeface="Arial"/>
                <a:cs typeface="Arial"/>
              </a:rPr>
              <a:t>Hạn chế dịch so với dịch thông thường trong sốc nhiễm khuẩn</a:t>
            </a:r>
          </a:p>
          <a:p>
            <a:pPr marL="0" indent="0" algn="ctr">
              <a:lnSpc>
                <a:spcPct val="104000"/>
              </a:lnSpc>
              <a:spcBef>
                <a:spcPts val="400"/>
              </a:spcBef>
              <a:buNone/>
            </a:pPr>
            <a:r>
              <a:rPr lang="en-US" sz="1750" dirty="0">
                <a:solidFill>
                  <a:srgbClr val="000000"/>
                </a:solidFill>
                <a:latin typeface="Arial"/>
                <a:cs typeface="Arial"/>
              </a:rPr>
              <a:t>Kết cục chính: cân bằng dịch ngày 5</a:t>
            </a:r>
          </a:p>
        </p:txBody>
      </p:sp>
      <p:sp>
        <p:nvSpPr>
          <p:cNvPr id="72" name="CardHead"/>
          <p:cNvSpPr/>
          <p:nvPr/>
        </p:nvSpPr>
        <p:spPr>
          <a:xfrm>
            <a:off x="6196000" y="2099483"/>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nghiên cứu thuần tập</a:t>
            </a:r>
          </a:p>
        </p:txBody>
      </p:sp>
      <p:sp>
        <p:nvSpPr>
          <p:cNvPr id="73" name="CardBody"/>
          <p:cNvSpPr/>
          <p:nvPr/>
        </p:nvSpPr>
        <p:spPr>
          <a:xfrm>
            <a:off x="6196000" y="2739483"/>
            <a:ext cx="5538800" cy="1925141"/>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Hyun 2023, Annals of Intensive Care</a:t>
            </a:r>
          </a:p>
          <a:p>
            <a:pPr marL="0" indent="0" algn="ctr">
              <a:lnSpc>
                <a:spcPct val="104000"/>
              </a:lnSpc>
              <a:spcBef>
                <a:spcPts val="400"/>
              </a:spcBef>
              <a:buNone/>
            </a:pPr>
            <a:r>
              <a:rPr lang="en-US" sz="1750" dirty="0">
                <a:solidFill>
                  <a:srgbClr val="000000"/>
                </a:solidFill>
                <a:latin typeface="Arial"/>
                <a:cs typeface="Arial"/>
              </a:rPr>
              <a:t>Thuần tập ghép cặp theo điểm xu hướng, 2516 người bệnh</a:t>
            </a:r>
          </a:p>
          <a:p>
            <a:pPr marL="0" indent="0" algn="ctr">
              <a:lnSpc>
                <a:spcPct val="104000"/>
              </a:lnSpc>
              <a:spcBef>
                <a:spcPts val="400"/>
              </a:spcBef>
              <a:buNone/>
            </a:pPr>
            <a:r>
              <a:rPr lang="en-US" sz="1750" dirty="0">
                <a:solidFill>
                  <a:srgbClr val="000000"/>
                </a:solidFill>
                <a:latin typeface="Arial"/>
                <a:cs typeface="Arial"/>
              </a:rPr>
              <a:t>Cân bằng dịch dương trong nhiễm khuẩn huyết</a:t>
            </a:r>
          </a:p>
          <a:p>
            <a:pPr marL="0" indent="0" algn="ctr">
              <a:lnSpc>
                <a:spcPct val="104000"/>
              </a:lnSpc>
              <a:spcBef>
                <a:spcPts val="400"/>
              </a:spcBef>
              <a:buNone/>
            </a:pPr>
            <a:r>
              <a:rPr lang="en-US" sz="1750" dirty="0">
                <a:solidFill>
                  <a:srgbClr val="000000"/>
                </a:solidFill>
                <a:latin typeface="Arial"/>
                <a:cs typeface="Arial"/>
              </a:rPr>
              <a:t>Kết cục: tử vong 28 ngày</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Cùng câu hỏi, hai thiết kế: so sánh mỗi bài được kết luận gì.</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(1-5)</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79923"/>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  Câu hỏi</a:t>
            </a:r>
          </a:p>
        </p:txBody>
      </p:sp>
      <p:sp>
        <p:nvSpPr>
          <p:cNvPr id="71" name="CardBody"/>
          <p:cNvSpPr/>
          <p:nvPr/>
        </p:nvSpPr>
        <p:spPr>
          <a:xfrm>
            <a:off x="45720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Bạn có viết được PICO của nghiên cứu trong một dòng không?</a:t>
            </a:r>
          </a:p>
        </p:txBody>
      </p:sp>
      <p:sp>
        <p:nvSpPr>
          <p:cNvPr id="72" name="CardHead"/>
          <p:cNvSpPr/>
          <p:nvPr/>
        </p:nvSpPr>
        <p:spPr>
          <a:xfrm>
            <a:off x="2752720" y="1879923"/>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2  Thiết kế</a:t>
            </a:r>
          </a:p>
        </p:txBody>
      </p:sp>
      <p:sp>
        <p:nvSpPr>
          <p:cNvPr id="73" name="CardBody"/>
          <p:cNvSpPr/>
          <p:nvPr/>
        </p:nvSpPr>
        <p:spPr>
          <a:xfrm>
            <a:off x="275272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Thiết kế là gì, và có phù hợp với câu hỏi không?</a:t>
            </a:r>
          </a:p>
        </p:txBody>
      </p:sp>
      <p:sp>
        <p:nvSpPr>
          <p:cNvPr id="74" name="CardHead"/>
          <p:cNvSpPr/>
          <p:nvPr/>
        </p:nvSpPr>
        <p:spPr>
          <a:xfrm>
            <a:off x="5048240" y="1879923"/>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3  Đối tượng</a:t>
            </a:r>
          </a:p>
        </p:txBody>
      </p:sp>
      <p:sp>
        <p:nvSpPr>
          <p:cNvPr id="75" name="CardBody"/>
          <p:cNvSpPr/>
          <p:nvPr/>
        </p:nvSpPr>
        <p:spPr>
          <a:xfrm>
            <a:off x="504824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Ai được đưa vào, ai bị loại ra?</a:t>
            </a:r>
          </a:p>
          <a:p>
            <a:pPr marL="0" indent="0" algn="ctr">
              <a:lnSpc>
                <a:spcPct val="104000"/>
              </a:lnSpc>
              <a:spcBef>
                <a:spcPts val="400"/>
              </a:spcBef>
              <a:buNone/>
            </a:pPr>
            <a:r>
              <a:rPr lang="en-US" sz="1400" dirty="0">
                <a:solidFill>
                  <a:srgbClr val="000000"/>
                </a:solidFill>
                <a:latin typeface="Arial"/>
                <a:cs typeface="Arial"/>
              </a:rPr>
              <a:t>Người bệnh của bạn có được đưa vào không?</a:t>
            </a:r>
          </a:p>
        </p:txBody>
      </p:sp>
      <p:sp>
        <p:nvSpPr>
          <p:cNvPr id="76" name="CardHead"/>
          <p:cNvSpPr/>
          <p:nvPr/>
        </p:nvSpPr>
        <p:spPr>
          <a:xfrm>
            <a:off x="7343760" y="1879923"/>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4  Nhóm so sánh</a:t>
            </a:r>
          </a:p>
        </p:txBody>
      </p:sp>
      <p:sp>
        <p:nvSpPr>
          <p:cNvPr id="77" name="CardBody"/>
          <p:cNvSpPr/>
          <p:nvPr/>
        </p:nvSpPr>
        <p:spPr>
          <a:xfrm>
            <a:off x="734376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Các nhóm có tương đồng lúc ban đầu không (Bảng 1)?</a:t>
            </a:r>
          </a:p>
          <a:p>
            <a:pPr marL="0" indent="0" algn="ctr">
              <a:lnSpc>
                <a:spcPct val="104000"/>
              </a:lnSpc>
              <a:spcBef>
                <a:spcPts val="400"/>
              </a:spcBef>
              <a:buNone/>
            </a:pPr>
            <a:r>
              <a:rPr lang="en-US" sz="1400" dirty="0">
                <a:solidFill>
                  <a:srgbClr val="000000"/>
                </a:solidFill>
                <a:latin typeface="Arial"/>
                <a:cs typeface="Arial"/>
              </a:rPr>
              <a:t>Đạt được bằng cách nào: ngẫu nhiên, ghép cặp hay hiệu chỉnh?</a:t>
            </a:r>
          </a:p>
        </p:txBody>
      </p:sp>
      <p:sp>
        <p:nvSpPr>
          <p:cNvPr id="78" name="CardHead"/>
          <p:cNvSpPr/>
          <p:nvPr/>
        </p:nvSpPr>
        <p:spPr>
          <a:xfrm>
            <a:off x="9639280" y="1879923"/>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5  Sai lệch</a:t>
            </a:r>
          </a:p>
        </p:txBody>
      </p:sp>
      <p:sp>
        <p:nvSpPr>
          <p:cNvPr id="79" name="CardBody"/>
          <p:cNvSpPr/>
          <p:nvPr/>
        </p:nvSpPr>
        <p:spPr>
          <a:xfrm>
            <a:off x="9639280" y="2639923"/>
            <a:ext cx="2095520" cy="199023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Ai biết người bệnh thuộc nhóm nào (làm mù)?</a:t>
            </a:r>
          </a:p>
          <a:p>
            <a:pPr marL="0" indent="0" algn="ctr">
              <a:lnSpc>
                <a:spcPct val="104000"/>
              </a:lnSpc>
              <a:spcBef>
                <a:spcPts val="400"/>
              </a:spcBef>
              <a:buNone/>
            </a:pPr>
            <a:r>
              <a:rPr lang="en-US" sz="1400" dirty="0">
                <a:solidFill>
                  <a:srgbClr val="000000"/>
                </a:solidFill>
                <a:latin typeface="Arial"/>
                <a:cs typeface="Arial"/>
              </a:rPr>
              <a:t>Điều đó có thể thay đổi kết cục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Bảng kiểm 10 câu hỏi (6-10)</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970940"/>
            <a:ext cx="2095520" cy="76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6  Kết cục</a:t>
            </a:r>
          </a:p>
        </p:txBody>
      </p:sp>
      <p:sp>
        <p:nvSpPr>
          <p:cNvPr id="71" name="CardBody"/>
          <p:cNvSpPr/>
          <p:nvPr/>
        </p:nvSpPr>
        <p:spPr>
          <a:xfrm>
            <a:off x="45720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Có một kết cục chính định trước, đo cùng một cách ở cả hai nhóm không?</a:t>
            </a:r>
          </a:p>
        </p:txBody>
      </p:sp>
      <p:sp>
        <p:nvSpPr>
          <p:cNvPr id="72" name="CardHead"/>
          <p:cNvSpPr/>
          <p:nvPr/>
        </p:nvSpPr>
        <p:spPr>
          <a:xfrm>
            <a:off x="2752720" y="1970940"/>
            <a:ext cx="2095520" cy="76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7  Con số</a:t>
            </a:r>
          </a:p>
        </p:txBody>
      </p:sp>
      <p:sp>
        <p:nvSpPr>
          <p:cNvPr id="73" name="CardBody"/>
          <p:cNvSpPr/>
          <p:nvPr/>
        </p:nvSpPr>
        <p:spPr>
          <a:xfrm>
            <a:off x="275272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Kết quả chính là số đo tác động nào, kèm KTC 95%?</a:t>
            </a:r>
          </a:p>
          <a:p>
            <a:pPr marL="0" indent="0" algn="ctr">
              <a:lnSpc>
                <a:spcPct val="104000"/>
              </a:lnSpc>
              <a:spcBef>
                <a:spcPts val="400"/>
              </a:spcBef>
              <a:buNone/>
            </a:pPr>
            <a:r>
              <a:rPr lang="en-US" sz="1400" dirty="0">
                <a:solidFill>
                  <a:srgbClr val="000000"/>
                </a:solidFill>
                <a:latin typeface="Arial"/>
                <a:cs typeface="Arial"/>
              </a:rPr>
              <a:t>KTC hẹp hay rộng?</a:t>
            </a:r>
          </a:p>
        </p:txBody>
      </p:sp>
      <p:sp>
        <p:nvSpPr>
          <p:cNvPr id="74" name="CardHead"/>
          <p:cNvSpPr/>
          <p:nvPr/>
        </p:nvSpPr>
        <p:spPr>
          <a:xfrm>
            <a:off x="5048240" y="1970940"/>
            <a:ext cx="2095520" cy="76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8  Lời văn và thiết kế</a:t>
            </a:r>
          </a:p>
        </p:txBody>
      </p:sp>
      <p:sp>
        <p:nvSpPr>
          <p:cNvPr id="75" name="CardBody"/>
          <p:cNvSpPr/>
          <p:nvPr/>
        </p:nvSpPr>
        <p:spPr>
          <a:xfrm>
            <a:off x="504824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Kết luận có tương xứng với thiết kế không ('liên quan' hay 'gây ra', không 'xu hướng' với p = 0.42)?</a:t>
            </a:r>
          </a:p>
        </p:txBody>
      </p:sp>
      <p:sp>
        <p:nvSpPr>
          <p:cNvPr id="76" name="CardHead"/>
          <p:cNvSpPr/>
          <p:nvPr/>
        </p:nvSpPr>
        <p:spPr>
          <a:xfrm>
            <a:off x="7343760" y="1970940"/>
            <a:ext cx="2095520" cy="76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9  Hạn chế</a:t>
            </a:r>
          </a:p>
        </p:txBody>
      </p:sp>
      <p:sp>
        <p:nvSpPr>
          <p:cNvPr id="77" name="CardBody"/>
          <p:cNvSpPr/>
          <p:nvPr/>
        </p:nvSpPr>
        <p:spPr>
          <a:xfrm>
            <a:off x="734376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Các hạn chế chính có được nêu trung thực không?</a:t>
            </a:r>
          </a:p>
          <a:p>
            <a:pPr marL="0" indent="0" algn="ctr">
              <a:lnSpc>
                <a:spcPct val="104000"/>
              </a:lnSpc>
              <a:spcBef>
                <a:spcPts val="400"/>
              </a:spcBef>
              <a:buNone/>
            </a:pPr>
            <a:r>
              <a:rPr lang="en-US" sz="1400" dirty="0">
                <a:solidFill>
                  <a:srgbClr val="000000"/>
                </a:solidFill>
                <a:latin typeface="Arial"/>
                <a:cs typeface="Arial"/>
              </a:rPr>
              <a:t>Kể một hạn chế tác giả bỏ sót.</a:t>
            </a:r>
          </a:p>
        </p:txBody>
      </p:sp>
      <p:sp>
        <p:nvSpPr>
          <p:cNvPr id="78" name="CardHead"/>
          <p:cNvSpPr/>
          <p:nvPr/>
        </p:nvSpPr>
        <p:spPr>
          <a:xfrm>
            <a:off x="9639280" y="1970940"/>
            <a:ext cx="2095520" cy="760000"/>
          </a:xfrm>
          <a:prstGeom prst="rect">
            <a:avLst/>
          </a:prstGeom>
          <a:solidFill>
            <a:srgbClr val="055F56"/>
          </a:solidFill>
          <a:ln>
            <a:noFill/>
          </a:ln>
        </p:spPr>
        <p:txBody>
          <a:bodyPr wrap="square" lIns="91440" tIns="45720" rIns="91440" bIns="45720" rtlCol="0" anchor="ctr">
            <a:normAutofit/>
          </a:bodyPr>
          <a:lstStyle/>
          <a:p>
            <a:pPr marL="0" indent="0" algn="ctr">
              <a:buNone/>
            </a:pPr>
            <a:r>
              <a:rPr lang="en-US" sz="1500" b="1" dirty="0">
                <a:solidFill>
                  <a:srgbClr val="FFFFFF"/>
                </a:solidFill>
                <a:latin typeface="Arial"/>
                <a:cs typeface="Arial"/>
              </a:rPr>
              <a:t>10  Ứng dụng</a:t>
            </a:r>
          </a:p>
        </p:txBody>
      </p:sp>
      <p:sp>
        <p:nvSpPr>
          <p:cNvPr id="79" name="CardBody"/>
          <p:cNvSpPr/>
          <p:nvPr/>
        </p:nvSpPr>
        <p:spPr>
          <a:xfrm>
            <a:off x="9639280" y="2730940"/>
            <a:ext cx="2095520" cy="17171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400" dirty="0">
                <a:solidFill>
                  <a:srgbClr val="000000"/>
                </a:solidFill>
                <a:latin typeface="Arial"/>
                <a:cs typeface="Arial"/>
              </a:rPr>
              <a:t>Bài này có thay đổi thực hành ở khoa bạn không?</a:t>
            </a:r>
          </a:p>
          <a:p>
            <a:pPr marL="0" indent="0" algn="ctr">
              <a:lnSpc>
                <a:spcPct val="104000"/>
              </a:lnSpc>
              <a:spcBef>
                <a:spcPts val="400"/>
              </a:spcBef>
              <a:buNone/>
            </a:pPr>
            <a:r>
              <a:rPr lang="en-US" sz="1400" dirty="0">
                <a:solidFill>
                  <a:srgbClr val="000000"/>
                </a:solidFill>
                <a:latin typeface="Arial"/>
                <a:cs typeface="Arial"/>
              </a:rPr>
              <a:t>Vì sao, hoặc vì sao không?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Làm người phản biện: cả lớp thẩm định hai bài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D7377"/>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CẢ LỚP CÙNG LÀM   |   15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Giảng viên chiếu đúng trang của từng bài trên màn hình chia sẻ</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1: câu 4, 5, 7, 8 và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Bài 2: câu 4, 5, 8 và 9</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Mỗi câu, bình chọn: Có, Không hoặc Không rõ</a:t>
            </a:r>
          </a:p>
          <a:p>
            <a:pPr marL="380000" indent="-380000" algn="l">
              <a:lnSpc>
                <a:spcPct val="104000"/>
              </a:lnSpc>
              <a:spcBef>
                <a:spcPts val="450"/>
              </a:spcBef>
              <a:buClr>
                <a:srgbClr val="0D7377"/>
              </a:buClr>
              <a:buFont typeface="Arial"/>
              <a:buChar char="•"/>
            </a:pPr>
            <a:r>
              <a:rPr lang="en-US" sz="1650" dirty="0">
                <a:solidFill>
                  <a:srgbClr val="000000"/>
                </a:solidFill>
                <a:latin typeface="Arial"/>
                <a:cs typeface="Arial"/>
              </a:rPr>
              <a:t>Một học viên nêu số trang và câu văn, bật micro</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D7377"/>
                </a:solidFill>
                <a:latin typeface="Arial"/>
                <a:cs typeface="Arial"/>
              </a:rPr>
              <a:t>Tìm ở đâu</a:t>
            </a:r>
          </a:p>
          <a:p>
            <a:pPr marL="0" indent="0" algn="ctr">
              <a:lnSpc>
                <a:spcPct val="104000"/>
              </a:lnSpc>
              <a:spcBef>
                <a:spcPts val="300"/>
              </a:spcBef>
              <a:buNone/>
            </a:pPr>
            <a:r>
              <a:rPr lang="en-US" sz="1500" dirty="0">
                <a:solidFill>
                  <a:srgbClr val="000000"/>
                </a:solidFill>
                <a:latin typeface="Arial"/>
                <a:cs typeface="Arial"/>
              </a:rPr>
              <a:t>Tóm tắt: câu hỏi và kết quả</a:t>
            </a:r>
          </a:p>
          <a:p>
            <a:pPr marL="0" indent="0" algn="ctr">
              <a:lnSpc>
                <a:spcPct val="104000"/>
              </a:lnSpc>
              <a:spcBef>
                <a:spcPts val="300"/>
              </a:spcBef>
              <a:buNone/>
            </a:pPr>
            <a:r>
              <a:rPr lang="en-US" sz="1500" dirty="0">
                <a:solidFill>
                  <a:srgbClr val="000000"/>
                </a:solidFill>
                <a:latin typeface="Arial"/>
                <a:cs typeface="Arial"/>
              </a:rPr>
              <a:t>Phương pháp: thiết kế, làm mù, kết cục</a:t>
            </a:r>
          </a:p>
          <a:p>
            <a:pPr marL="0" indent="0" algn="ctr">
              <a:lnSpc>
                <a:spcPct val="104000"/>
              </a:lnSpc>
              <a:spcBef>
                <a:spcPts val="300"/>
              </a:spcBef>
              <a:buNone/>
            </a:pPr>
            <a:r>
              <a:rPr lang="en-US" sz="1500" dirty="0">
                <a:solidFill>
                  <a:srgbClr val="000000"/>
                </a:solidFill>
                <a:latin typeface="Arial"/>
                <a:cs typeface="Arial"/>
              </a:rPr>
              <a:t>Bảng 1: các nhóm tương đồng?</a:t>
            </a:r>
          </a:p>
          <a:p>
            <a:pPr marL="0" indent="0" algn="ctr">
              <a:lnSpc>
                <a:spcPct val="104000"/>
              </a:lnSpc>
              <a:spcBef>
                <a:spcPts val="300"/>
              </a:spcBef>
              <a:buNone/>
            </a:pPr>
            <a:r>
              <a:rPr lang="en-US" sz="1500" dirty="0">
                <a:solidFill>
                  <a:srgbClr val="000000"/>
                </a:solidFill>
                <a:latin typeface="Arial"/>
                <a:cs typeface="Arial"/>
              </a:rPr>
              <a:t>Bàn luận: lời văn và hạn chế</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D7377"/>
            </a:solidFill>
          </a:ln>
        </p:spPr>
        <p:txBody>
          <a:bodyPr wrap="square" lIns="182880" tIns="45720" rIns="182880" bIns="45720" rtlCol="0" anchor="ctr">
            <a:normAutofit/>
          </a:bodyPr>
          <a:lstStyle/>
          <a:p>
            <a:pPr marL="0" indent="0" algn="ctr">
              <a:buNone/>
            </a:pPr>
            <a:r>
              <a:rPr lang="en-US" sz="1300" b="1" dirty="0">
                <a:solidFill>
                  <a:srgbClr val="0D7377"/>
                </a:solidFill>
                <a:latin typeface="Arial"/>
                <a:cs typeface="Arial"/>
              </a:rPr>
              <a:t>SẢN PHẨM   </a:t>
            </a:r>
            <a:r>
              <a:rPr lang="en-US" sz="1500" dirty="0">
                <a:solidFill>
                  <a:srgbClr val="000000"/>
                </a:solidFill>
                <a:latin typeface="Arial"/>
                <a:cs typeface="Arial"/>
              </a:rPr>
              <a:t>Phiếu trả lời của lớp cho cả hai bài, gửi dạng PDF. Các câu còn lại làm ở nhà</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Mỗi thiết kế được phép kết luận gì?</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55388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1: thử nghiệm ngẫu nhiên (n = 48)</a:t>
            </a:r>
          </a:p>
        </p:txBody>
      </p:sp>
      <p:sp>
        <p:nvSpPr>
          <p:cNvPr id="71" name="CardBody"/>
          <p:cNvSpPr/>
          <p:nvPr/>
        </p:nvSpPr>
        <p:spPr>
          <a:xfrm>
            <a:off x="4572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Ngẫu nhiên quyết định nhóm: yếu tố đã biết và chưa biết đều cân bằng</a:t>
            </a:r>
          </a:p>
          <a:p>
            <a:pPr marL="0" indent="0" algn="ctr">
              <a:lnSpc>
                <a:spcPct val="104000"/>
              </a:lnSpc>
              <a:spcBef>
                <a:spcPts val="400"/>
              </a:spcBef>
              <a:buNone/>
            </a:pPr>
            <a:r>
              <a:rPr lang="en-US" sz="1750" dirty="0">
                <a:solidFill>
                  <a:srgbClr val="000000"/>
                </a:solidFill>
                <a:latin typeface="Arial"/>
                <a:cs typeface="Arial"/>
              </a:rPr>
              <a:t>Cân bằng dịch ngày 5: chênh 13.2 ml/kg (KTC 95% -15.2 đến 41.6), p = 0.42</a:t>
            </a:r>
          </a:p>
          <a:p>
            <a:pPr marL="0" indent="0" algn="ctr">
              <a:lnSpc>
                <a:spcPct val="104000"/>
              </a:lnSpc>
              <a:spcBef>
                <a:spcPts val="400"/>
              </a:spcBef>
              <a:buNone/>
            </a:pPr>
            <a:r>
              <a:rPr lang="en-US" sz="1750" b="1" dirty="0">
                <a:solidFill>
                  <a:srgbClr val="2E8B57"/>
                </a:solidFill>
                <a:latin typeface="Arial"/>
                <a:cs typeface="Arial"/>
              </a:rPr>
              <a:t>Được nói: 'không làm giảm'</a:t>
            </a:r>
          </a:p>
          <a:p>
            <a:pPr marL="0" indent="0" algn="ctr">
              <a:lnSpc>
                <a:spcPct val="104000"/>
              </a:lnSpc>
              <a:spcBef>
                <a:spcPts val="400"/>
              </a:spcBef>
              <a:buNone/>
            </a:pPr>
            <a:r>
              <a:rPr lang="en-US" sz="1750" dirty="0">
                <a:solidFill>
                  <a:srgbClr val="C0392B"/>
                </a:solidFill>
                <a:latin typeface="Arial"/>
                <a:cs typeface="Arial"/>
              </a:rPr>
              <a:t>Nhưng quá nhỏ để chắc chắn: không có 'xu hướng'</a:t>
            </a:r>
          </a:p>
        </p:txBody>
      </p:sp>
      <p:sp>
        <p:nvSpPr>
          <p:cNvPr id="72" name="CardHead"/>
          <p:cNvSpPr/>
          <p:nvPr/>
        </p:nvSpPr>
        <p:spPr>
          <a:xfrm>
            <a:off x="6196000" y="1523077"/>
            <a:ext cx="55388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Bài 2: thuần tập ghép cặp (n = 2516)</a:t>
            </a:r>
          </a:p>
        </p:txBody>
      </p:sp>
      <p:sp>
        <p:nvSpPr>
          <p:cNvPr id="73" name="CardBody"/>
          <p:cNvSpPr/>
          <p:nvPr/>
        </p:nvSpPr>
        <p:spPr>
          <a:xfrm>
            <a:off x="6196000" y="2163077"/>
            <a:ext cx="5538800"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Bác sĩ quyết định dịch truyền: chỉ yếu tố đo được mới cân bằng</a:t>
            </a:r>
          </a:p>
          <a:p>
            <a:pPr marL="0" indent="0" algn="ctr">
              <a:lnSpc>
                <a:spcPct val="104000"/>
              </a:lnSpc>
              <a:spcBef>
                <a:spcPts val="400"/>
              </a:spcBef>
              <a:buNone/>
            </a:pPr>
            <a:r>
              <a:rPr lang="en-US" sz="1750" dirty="0">
                <a:solidFill>
                  <a:srgbClr val="000000"/>
                </a:solidFill>
                <a:latin typeface="Arial"/>
                <a:cs typeface="Arial"/>
              </a:rPr>
              <a:t>Cân bằng dương ngày 2 và tử vong 28 ngày: HR 2.13 (KTC 95% 1.48 đến 3.06)</a:t>
            </a:r>
          </a:p>
          <a:p>
            <a:pPr marL="0" indent="0" algn="ctr">
              <a:lnSpc>
                <a:spcPct val="104000"/>
              </a:lnSpc>
              <a:spcBef>
                <a:spcPts val="400"/>
              </a:spcBef>
              <a:buNone/>
            </a:pPr>
            <a:r>
              <a:rPr lang="en-US" sz="1750" b="1" dirty="0">
                <a:solidFill>
                  <a:srgbClr val="2E8B57"/>
                </a:solidFill>
                <a:latin typeface="Arial"/>
                <a:cs typeface="Arial"/>
              </a:rPr>
              <a:t>Được nói: 'có liên quan với'</a:t>
            </a:r>
          </a:p>
          <a:p>
            <a:pPr marL="0" indent="0" algn="ctr">
              <a:lnSpc>
                <a:spcPct val="104000"/>
              </a:lnSpc>
              <a:spcBef>
                <a:spcPts val="400"/>
              </a:spcBef>
              <a:buNone/>
            </a:pPr>
            <a:r>
              <a:rPr lang="en-US" sz="1750" dirty="0">
                <a:solidFill>
                  <a:srgbClr val="C0392B"/>
                </a:solidFill>
                <a:latin typeface="Arial"/>
                <a:cs typeface="Arial"/>
              </a:rPr>
              <a:t>Không nói 'tác động' hay 'chứng tỏ': người bệnh nặng hơn được truyền nhiều hơn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Phân nhóm ngẫu nhiên mới được nói 'gây ra'. Quan sát chỉ được nói 'có liên quan'.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Hai bài báo đặt cạnh nhau</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500" b="1" dirty="0">
                          <a:solidFill>
                            <a:srgbClr val="FFFFFF"/>
                          </a:solidFill>
                          <a:latin typeface="Arial"/>
                          <a:cs typeface="Arial"/>
                        </a:rPr>
                        <a:t> </a:t>
                      </a:r>
                    </a:p>
                  </a:txBody>
                  <a:tcPr marL="73152" marR="73152" marT="45720" marB="45720" anchor="ctr">
                    <a:solidFill>
                      <a:srgbClr val="FFFFFF"/>
                    </a:solidFill>
                  </a:tcPr>
                </a:tc>
                <a:tc>
                  <a:txBody>
                    <a:bodyPr/>
                    <a:lstStyle/>
                    <a:p>
                      <a:pPr algn="l"/>
                      <a:r>
                        <a:rPr lang="en-US" sz="1500" b="1" dirty="0">
                          <a:solidFill>
                            <a:srgbClr val="FFFFFF"/>
                          </a:solidFill>
                          <a:latin typeface="Arial"/>
                          <a:cs typeface="Arial"/>
                        </a:rPr>
                        <a:t>Bài 1: RCT (Boulet 2024)</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Bài 2: thuần tập (Hyun 2023)</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Các nhóm tương đồng nhờ</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Phân nhóm ngẫu nhiên 1:1 (khối 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Ghép cặp theo điểm xu hướng (chỉ yếu tố đã đo)</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Ai biết nhóm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Bác sĩ biết. Người bệnh, người phân tích thống kê được làm mù</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Tất cả (quan sát)</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Kết quả chính</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13.2 ml/kg (KTC 95% -15.2 đến 41.6),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Ngày 2: HR 2.13 (1.48 đến 3.06)</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Hạn chế bị bỏ sót</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Khối 2 với bác sĩ không bị làm mù</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Sai lệch người sống sót (nằm ICU từ 3 ngày)</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Lỗi lời văn</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'Xu hướng không có ý nghĩa' (p = 0.42)</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'Impact', 'did not impact', 'show'</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Được kết luận</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Không giảm cân bằng dịch ngày 5 (thí điểm nhỏ)</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Cân bằng dương liên quan với tử vong</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RCT = thử nghiệm ngẫu nhiên có đối chứng. Số trang và chi tiết: hướng dẫn thẩm định của giảng viên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bày đề cương  |  45 phút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Đề cương và kế hoạch công bố của các bạn</a:t>
            </a:r>
          </a:p>
          <a:p>
            <a:pPr marL="0" indent="0" algn="ctr">
              <a:spcBef>
                <a:spcPts val="1200"/>
              </a:spcBef>
              <a:buNone/>
            </a:pPr>
            <a:r>
              <a:rPr lang="en-US" sz="1900" i="1" dirty="0">
                <a:solidFill>
                  <a:srgbClr val="595959"/>
                </a:solidFill>
                <a:latin typeface="Arial"/>
                <a:cs typeface="Arial"/>
              </a:rPr>
              <a:t>Khoảng 5 người tình nguyện, mỗi người 6 phút, rồi 2 phút góp ý. Mọi người đều nộp slide.</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Cách chấm đề cương và phần trình bày</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259416"/>
          <a:ext cx="11277600" cy="3909000"/>
        </p:xfrm>
        <a:graphic>
          <a:graphicData uri="http://schemas.openxmlformats.org/drawingml/2006/table">
            <a:tbl>
              <a:tblPr firstRow="1" bandRow="1">
                <a:tableStyleId>{5C22544A-7EE6-4342-B048-85BDC9FD1C3A}</a:tableStyleId>
              </a:tblPr>
              <a:tblGrid>
                <a:gridCol w="3759200"/>
                <a:gridCol w="3759200"/>
                <a:gridCol w="3759200"/>
              </a:tblGrid>
              <a:tr h="380000">
                <a:tc>
                  <a:txBody>
                    <a:bodyPr/>
                    <a:lstStyle/>
                    <a:p>
                      <a:pPr algn="l"/>
                      <a:r>
                        <a:rPr lang="en-US" sz="1300" b="1" dirty="0">
                          <a:solidFill>
                            <a:srgbClr val="FFFFFF"/>
                          </a:solidFill>
                          <a:latin typeface="Arial"/>
                          <a:cs typeface="Arial"/>
                        </a:rPr>
                        <a:t>Tiêu chí</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Điều chúng tôi tìm</a:t>
                      </a:r>
                    </a:p>
                  </a:txBody>
                  <a:tcPr marL="73152" marR="73152" marT="45720" marB="45720" anchor="ctr">
                    <a:solidFill>
                      <a:srgbClr val="0D7377"/>
                    </a:solidFill>
                  </a:tcPr>
                </a:tc>
                <a:tc>
                  <a:txBody>
                    <a:bodyPr/>
                    <a:lstStyle/>
                    <a:p>
                      <a:pPr algn="l"/>
                      <a:r>
                        <a:rPr lang="en-US" sz="1300" b="1" dirty="0">
                          <a:solidFill>
                            <a:srgbClr val="FFFFFF"/>
                          </a:solidFill>
                          <a:latin typeface="Arial"/>
                          <a:cs typeface="Arial"/>
                        </a:rPr>
                        <a:t>Điểm</a:t>
                      </a:r>
                    </a:p>
                  </a:txBody>
                  <a:tcPr marL="73152" marR="73152" marT="45720" marB="45720" anchor="ctr">
                    <a:solidFill>
                      <a:srgbClr val="0D7377"/>
                    </a:solidFill>
                  </a:tcPr>
                </a:tc>
              </a:tr>
              <a:tr h="705800">
                <a:tc>
                  <a:txBody>
                    <a:bodyPr/>
                    <a:lstStyle/>
                    <a:p>
                      <a:pPr algn="l"/>
                      <a:r>
                        <a:rPr lang="en-US" sz="1300" dirty="0">
                          <a:solidFill>
                            <a:srgbClr val="000000"/>
                          </a:solidFill>
                          <a:latin typeface="Arial"/>
                          <a:cs typeface="Arial"/>
                        </a:rPr>
                        <a:t>12  Cấu trúc và nội dung</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Đủ 6 slide. Thấy rõ câu hỏi, thiết kế, kết cục, cỡ mẫu, đạo đức, tạp chí và hướng dẫn báo cáo</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13  Rõ ràng</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Mọi người trong lớp đều hiểu. Mỗi slide một thông điệp</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14  Hình thức slide</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Đọc được trên màn hình chia sẻ. Hình ảnh thay cho khối chữ</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r h="705800">
                <a:tc>
                  <a:txBody>
                    <a:bodyPr/>
                    <a:lstStyle/>
                    <a:p>
                      <a:pPr algn="l"/>
                      <a:r>
                        <a:rPr lang="en-US" sz="1300" dirty="0">
                          <a:solidFill>
                            <a:srgbClr val="000000"/>
                          </a:solidFill>
                          <a:latin typeface="Arial"/>
                          <a:cs typeface="Arial"/>
                        </a:rPr>
                        <a:t>15  Thời gian</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Kết thúc trong khoảng 5:00 đến 6:00</a:t>
                      </a:r>
                    </a:p>
                  </a:txBody>
                  <a:tcPr marL="73152" marR="73152" marT="45720" marB="45720" anchor="ctr">
                    <a:solidFill>
                      <a:srgbClr val="F5F9FA"/>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5F9FA"/>
                    </a:solidFill>
                  </a:tcPr>
                </a:tc>
              </a:tr>
              <a:tr h="705800">
                <a:tc>
                  <a:txBody>
                    <a:bodyPr/>
                    <a:lstStyle/>
                    <a:p>
                      <a:pPr algn="l"/>
                      <a:r>
                        <a:rPr lang="en-US" sz="1300" dirty="0">
                          <a:solidFill>
                            <a:srgbClr val="000000"/>
                          </a:solidFill>
                          <a:latin typeface="Arial"/>
                          <a:cs typeface="Arial"/>
                        </a:rPr>
                        <a:t>16  Câu hỏi và thảo luận</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Trả lời thẳng, trung thực. Nêu được hạn chế</a:t>
                      </a:r>
                    </a:p>
                  </a:txBody>
                  <a:tcPr marL="73152" marR="73152" marT="45720" marB="45720" anchor="ctr">
                    <a:solidFill>
                      <a:srgbClr val="FFFFFF"/>
                    </a:solidFill>
                  </a:tcPr>
                </a:tc>
                <a:tc>
                  <a:txBody>
                    <a:bodyPr/>
                    <a:lstStyle/>
                    <a:p>
                      <a:pPr algn="l"/>
                      <a:r>
                        <a:rPr lang="en-US" sz="1300" dirty="0">
                          <a:solidFill>
                            <a:srgbClr val="000000"/>
                          </a:solidFill>
                          <a:latin typeface="Arial"/>
                          <a:cs typeface="Arial"/>
                        </a:rPr>
                        <a:t>0-6</a:t>
                      </a:r>
                    </a:p>
                  </a:txBody>
                  <a:tcPr marL="73152" marR="73152" marT="45720" marB="45720" anchor="ctr">
                    <a:solidFill>
                      <a:srgbClr val="FFFFFF"/>
                    </a:solidFill>
                  </a:tcPr>
                </a:tc>
              </a:tr>
            </a:tbl>
          </a:graphicData>
        </a:graphic>
      </p:graphicFrame>
      <p:sp>
        <p:nvSpPr>
          <p:cNvPr id="31" name="Caption"/>
          <p:cNvSpPr txBox="1"/>
          <p:nvPr/>
        </p:nvSpPr>
        <p:spPr>
          <a:xfrm>
            <a:off x="457200" y="5258416"/>
            <a:ext cx="11277600" cy="562750"/>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Đề cương viết (tiêu chí 1-11, /70): mọi người. Tiêu chí 12-16 (/30): chỉ người trình bày. Thang chấm: Proposal_Rubric_VN (gửi qua email cùng hướng dẫn đề cương)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Trình bày đề cương</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070C0"/>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TRÌNH BÀY   |   45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Khoảng 5 người tình nguyện trình bày đề cương của mình: 6 phút, 6 slide</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Slide: tiêu đề, vấn đề và PICO, thiết kế, dữ liệu và phân tích, đạo đức và khả thi, kế hoạch công bố</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Tín hiệu giờ trong khung chat: '2 phút' lúc 4:00, '1 phút' lúc 5:00, 'Hết giờ' lúc 6:00</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Góp ý 2 phút: hai người nói hai điểm mạnh và một đề xuất cải thiện (bật micro), rồi giảng viên</a:t>
            </a:r>
          </a:p>
          <a:p>
            <a:pPr marL="380000" indent="-380000" algn="l">
              <a:lnSpc>
                <a:spcPct val="104000"/>
              </a:lnSpc>
              <a:spcBef>
                <a:spcPts val="450"/>
              </a:spcBef>
              <a:buClr>
                <a:srgbClr val="0070C0"/>
              </a:buClr>
              <a:buFont typeface="Arial"/>
              <a:buChar char="•"/>
            </a:pPr>
            <a:r>
              <a:rPr lang="en-US" sz="1650" dirty="0">
                <a:solidFill>
                  <a:srgbClr val="000000"/>
                </a:solidFill>
                <a:latin typeface="Arial"/>
                <a:cs typeface="Arial"/>
              </a:rPr>
              <a:t>Mọi người đều nộp slide và đề cương viết</a:t>
            </a:r>
          </a:p>
        </p:txBody>
      </p:sp>
      <p:sp>
        <p:nvSpPr>
          <p:cNvPr id="52" name="Side"/>
          <p:cNvSpPr/>
          <p:nvPr/>
        </p:nvSpPr>
        <p:spPr>
          <a:xfrm>
            <a:off x="7423760" y="1720000"/>
            <a:ext cx="4311040" cy="228233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070C0"/>
                </a:solidFill>
                <a:latin typeface="Arial"/>
                <a:cs typeface="Arial"/>
              </a:rPr>
              <a:t>Thứ tự trình bày</a:t>
            </a:r>
          </a:p>
          <a:p>
            <a:pPr marL="0" indent="0" algn="ctr">
              <a:lnSpc>
                <a:spcPct val="104000"/>
              </a:lnSpc>
              <a:spcBef>
                <a:spcPts val="300"/>
              </a:spcBef>
              <a:buNone/>
            </a:pPr>
            <a:r>
              <a:rPr lang="en-US" sz="1500" dirty="0">
                <a:solidFill>
                  <a:srgbClr val="000000"/>
                </a:solidFill>
                <a:latin typeface="Arial"/>
                <a:cs typeface="Arial"/>
              </a:rPr>
              <a:t>21:30  Người trình bày 1</a:t>
            </a:r>
          </a:p>
          <a:p>
            <a:pPr marL="0" indent="0" algn="ctr">
              <a:lnSpc>
                <a:spcPct val="104000"/>
              </a:lnSpc>
              <a:spcBef>
                <a:spcPts val="300"/>
              </a:spcBef>
              <a:buNone/>
            </a:pPr>
            <a:r>
              <a:rPr lang="en-US" sz="1500" dirty="0">
                <a:solidFill>
                  <a:srgbClr val="000000"/>
                </a:solidFill>
                <a:latin typeface="Arial"/>
                <a:cs typeface="Arial"/>
              </a:rPr>
              <a:t>21:38  Người trình bày 2</a:t>
            </a:r>
          </a:p>
          <a:p>
            <a:pPr marL="0" indent="0" algn="ctr">
              <a:lnSpc>
                <a:spcPct val="104000"/>
              </a:lnSpc>
              <a:spcBef>
                <a:spcPts val="300"/>
              </a:spcBef>
              <a:buNone/>
            </a:pPr>
            <a:r>
              <a:rPr lang="en-US" sz="1500" dirty="0">
                <a:solidFill>
                  <a:srgbClr val="000000"/>
                </a:solidFill>
                <a:latin typeface="Arial"/>
                <a:cs typeface="Arial"/>
              </a:rPr>
              <a:t>21:46  Người trình bày 3</a:t>
            </a:r>
          </a:p>
          <a:p>
            <a:pPr marL="0" indent="0" algn="ctr">
              <a:lnSpc>
                <a:spcPct val="104000"/>
              </a:lnSpc>
              <a:spcBef>
                <a:spcPts val="300"/>
              </a:spcBef>
              <a:buNone/>
            </a:pPr>
            <a:r>
              <a:rPr lang="en-US" sz="1500" dirty="0">
                <a:solidFill>
                  <a:srgbClr val="000000"/>
                </a:solidFill>
                <a:latin typeface="Arial"/>
                <a:cs typeface="Arial"/>
              </a:rPr>
              <a:t>21:54  Người trình bày 4</a:t>
            </a:r>
          </a:p>
          <a:p>
            <a:pPr marL="0" indent="0" algn="ctr">
              <a:lnSpc>
                <a:spcPct val="104000"/>
              </a:lnSpc>
              <a:spcBef>
                <a:spcPts val="300"/>
              </a:spcBef>
              <a:buNone/>
            </a:pPr>
            <a:r>
              <a:rPr lang="en-US" sz="1500" dirty="0">
                <a:solidFill>
                  <a:srgbClr val="000000"/>
                </a:solidFill>
                <a:latin typeface="Arial"/>
                <a:cs typeface="Arial"/>
              </a:rPr>
              <a:t>22:02  Người trình bày 5</a:t>
            </a:r>
          </a:p>
          <a:p>
            <a:pPr marL="0" indent="0" algn="ctr">
              <a:lnSpc>
                <a:spcPct val="104000"/>
              </a:lnSpc>
              <a:spcBef>
                <a:spcPts val="300"/>
              </a:spcBef>
              <a:buNone/>
            </a:pPr>
            <a:r>
              <a:rPr lang="en-US" sz="1500" dirty="0">
                <a:solidFill>
                  <a:srgbClr val="000000"/>
                </a:solidFill>
                <a:latin typeface="Arial"/>
                <a:cs typeface="Arial"/>
              </a:rPr>
              <a:t>22:10  Tổng kết (5 phút)</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070C0"/>
            </a:solidFill>
          </a:ln>
        </p:spPr>
        <p:txBody>
          <a:bodyPr wrap="square" lIns="182880" tIns="45720" rIns="182880" bIns="45720" rtlCol="0" anchor="ctr">
            <a:normAutofit/>
          </a:bodyPr>
          <a:lstStyle/>
          <a:p>
            <a:pPr marL="0" indent="0" algn="ctr">
              <a:buNone/>
            </a:pPr>
            <a:r>
              <a:rPr lang="en-US" sz="1300" b="1" dirty="0">
                <a:solidFill>
                  <a:srgbClr val="0070C0"/>
                </a:solidFill>
                <a:latin typeface="Arial"/>
                <a:cs typeface="Arial"/>
              </a:rPr>
              <a:t>SẢN PHẨM   </a:t>
            </a:r>
            <a:r>
              <a:rPr lang="en-US" sz="1500" dirty="0">
                <a:solidFill>
                  <a:srgbClr val="000000"/>
                </a:solidFill>
                <a:latin typeface="Arial"/>
                <a:cs typeface="Arial"/>
              </a:rPr>
              <a:t>Khoảng năm đề cương được trình bày. Mọi đề cương và slide đều được nộp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Slide bổ sung  |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Slide bổ sung: Buổi 8</a:t>
            </a:r>
          </a:p>
          <a:p>
            <a:pPr marL="0" indent="0" algn="ctr">
              <a:spcBef>
                <a:spcPts val="1200"/>
              </a:spcBef>
              <a:buNone/>
            </a:pPr>
            <a:r>
              <a:rPr lang="en-US" sz="1900" i="1" dirty="0">
                <a:solidFill>
                  <a:srgbClr val="595959"/>
                </a:solidFill>
                <a:latin typeface="Arial"/>
                <a:cs typeface="Arial"/>
              </a:rPr>
              <a:t>Chỉ dùng khi còn thời gian, hoặc để tự học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khóa của Buổi 8</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graphicFrame>
        <p:nvGraphicFramePr>
          <p:cNvPr id="30" name="Table"/>
          <p:cNvGraphicFramePr/>
          <p:nvPr/>
        </p:nvGraphicFramePr>
        <p:xfrm>
          <a:off x="457200" y="1367261"/>
          <a:ext cx="11277600" cy="3791840"/>
        </p:xfrm>
        <a:graphic>
          <a:graphicData uri="http://schemas.openxmlformats.org/drawingml/2006/table">
            <a:tbl>
              <a:tblPr firstRow="1" bandRow="1">
                <a:tableStyleId>{5C22544A-7EE6-4342-B048-85BDC9FD1C3A}</a:tableStyleId>
              </a:tblPr>
              <a:tblGrid>
                <a:gridCol w="5638800"/>
                <a:gridCol w="5638800"/>
              </a:tblGrid>
              <a:tr h="380000">
                <a:tc>
                  <a:txBody>
                    <a:bodyPr/>
                    <a:lstStyle/>
                    <a:p>
                      <a:pPr algn="l"/>
                      <a:r>
                        <a:rPr lang="en-US" sz="1500" b="1" dirty="0">
                          <a:solidFill>
                            <a:srgbClr val="FFFFFF"/>
                          </a:solidFill>
                          <a:latin typeface="Arial"/>
                          <a:cs typeface="Arial"/>
                        </a:rPr>
                        <a:t>Thuật ngữ</a:t>
                      </a:r>
                    </a:p>
                  </a:txBody>
                  <a:tcPr marL="73152" marR="73152" marT="45720" marB="45720" anchor="ctr">
                    <a:solidFill>
                      <a:srgbClr val="0D7377"/>
                    </a:solidFill>
                  </a:tcPr>
                </a:tc>
                <a:tc>
                  <a:txBody>
                    <a:bodyPr/>
                    <a:lstStyle/>
                    <a:p>
                      <a:pPr algn="l"/>
                      <a:r>
                        <a:rPr lang="en-US" sz="1500" b="1" dirty="0">
                          <a:solidFill>
                            <a:srgbClr val="FFFFFF"/>
                          </a:solidFill>
                          <a:latin typeface="Arial"/>
                          <a:cs typeface="Arial"/>
                        </a:rPr>
                        <a:t>Nói đơn giản</a:t>
                      </a:r>
                    </a:p>
                  </a:txBody>
                  <a:tcPr marL="73152" marR="73152" marT="45720" marB="45720" anchor="ctr">
                    <a:solidFill>
                      <a:srgbClr val="0D7377"/>
                    </a:solidFill>
                  </a:tcPr>
                </a:tc>
              </a:tr>
              <a:tr h="568640">
                <a:tc>
                  <a:txBody>
                    <a:bodyPr/>
                    <a:lstStyle/>
                    <a:p>
                      <a:pPr algn="l"/>
                      <a:r>
                        <a:rPr lang="en-US" sz="1500" dirty="0">
                          <a:solidFill>
                            <a:srgbClr val="000000"/>
                          </a:solidFill>
                          <a:latin typeface="Arial"/>
                          <a:cs typeface="Arial"/>
                        </a:rPr>
                        <a:t>Phễu Đặt vấn đề</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Đã biết, chưa biết, mục tiêu: ba đoạn</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Sáu bước</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Trả lời, so sánh, giải thích, hạn chế, hàm ý, kết luận</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Ngôn ngữ chừng mực</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Động từ mạnh đúng mức thiết kế cho phép ('có liên quan', không 'gây ra')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Tạp chí săn mồi</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Thu phí mà không bình duyệt hay chỉ mục thực sự</a:t>
                      </a:r>
                    </a:p>
                  </a:txBody>
                  <a:tcPr marL="73152" marR="73152" marT="45720" marB="45720" anchor="ctr">
                    <a:solidFill>
                      <a:srgbClr val="F5F9FA"/>
                    </a:solidFill>
                  </a:tcPr>
                </a:tc>
              </a:tr>
              <a:tr h="568640">
                <a:tc>
                  <a:txBody>
                    <a:bodyPr/>
                    <a:lstStyle/>
                    <a:p>
                      <a:pPr algn="l"/>
                      <a:r>
                        <a:rPr lang="en-US" sz="1500" dirty="0">
                          <a:solidFill>
                            <a:srgbClr val="000000"/>
                          </a:solidFill>
                          <a:latin typeface="Arial"/>
                          <a:cs typeface="Arial"/>
                        </a:rPr>
                        <a:t>Phản hồi theo từng ý</a:t>
                      </a:r>
                    </a:p>
                  </a:txBody>
                  <a:tcPr marL="73152" marR="73152" marT="45720" marB="45720" anchor="ctr">
                    <a:solidFill>
                      <a:srgbClr val="FFFFFF"/>
                    </a:solidFill>
                  </a:tcPr>
                </a:tc>
                <a:tc>
                  <a:txBody>
                    <a:bodyPr/>
                    <a:lstStyle/>
                    <a:p>
                      <a:pPr algn="l"/>
                      <a:r>
                        <a:rPr lang="en-US" sz="1500" dirty="0">
                          <a:solidFill>
                            <a:srgbClr val="000000"/>
                          </a:solidFill>
                          <a:latin typeface="Arial"/>
                          <a:cs typeface="Arial"/>
                        </a:rPr>
                        <a:t>Bảng trả lời mọi nhận xét phản biện kèm chỗ đã sửa</a:t>
                      </a:r>
                    </a:p>
                  </a:txBody>
                  <a:tcPr marL="73152" marR="73152" marT="45720" marB="45720" anchor="ctr">
                    <a:solidFill>
                      <a:srgbClr val="FFFFFF"/>
                    </a:solidFill>
                  </a:tcPr>
                </a:tc>
              </a:tr>
              <a:tr h="568640">
                <a:tc>
                  <a:txBody>
                    <a:bodyPr/>
                    <a:lstStyle/>
                    <a:p>
                      <a:pPr algn="l"/>
                      <a:r>
                        <a:rPr lang="en-US" sz="1500" dirty="0">
                          <a:solidFill>
                            <a:srgbClr val="000000"/>
                          </a:solidFill>
                          <a:latin typeface="Arial"/>
                          <a:cs typeface="Arial"/>
                        </a:rPr>
                        <a:t>Bản tiền ấn phẩm</a:t>
                      </a:r>
                    </a:p>
                  </a:txBody>
                  <a:tcPr marL="73152" marR="73152" marT="45720" marB="45720" anchor="ctr">
                    <a:solidFill>
                      <a:srgbClr val="F5F9FA"/>
                    </a:solidFill>
                  </a:tcPr>
                </a:tc>
                <a:tc>
                  <a:txBody>
                    <a:bodyPr/>
                    <a:lstStyle/>
                    <a:p>
                      <a:pPr algn="l"/>
                      <a:r>
                        <a:rPr lang="en-US" sz="1500" dirty="0">
                          <a:solidFill>
                            <a:srgbClr val="000000"/>
                          </a:solidFill>
                          <a:latin typeface="Arial"/>
                          <a:cs typeface="Arial"/>
                        </a:rPr>
                        <a:t>Bản thảo đăng công khai trước khi bình duyệt</a:t>
                      </a:r>
                    </a:p>
                  </a:txBody>
                  <a:tcPr marL="73152" marR="73152" marT="45720" marB="45720" anchor="ctr">
                    <a:solidFill>
                      <a:srgbClr val="F5F9FA"/>
                    </a:solidFill>
                  </a:tcPr>
                </a:tc>
              </a:tr>
            </a:tbl>
          </a:graphicData>
        </a:graphic>
      </p:graphicFrame>
      <p:sp>
        <p:nvSpPr>
          <p:cNvPr id="31" name="Caption"/>
          <p:cNvSpPr txBox="1"/>
          <p:nvPr/>
        </p:nvSpPr>
        <p:spPr>
          <a:xfrm>
            <a:off x="457200" y="5249101"/>
            <a:ext cx="11277600" cy="356375"/>
          </a:xfrm>
          <a:prstGeom prst="rect">
            <a:avLst/>
          </a:prstGeom>
          <a:noFill/>
          <a:ln>
            <a:noFill/>
          </a:ln>
        </p:spPr>
        <p:txBody>
          <a:bodyPr wrap="square" lIns="91440" tIns="45720" rIns="91440" bIns="45720" rtlCol="0" anchor="t"/>
          <a:lstStyle/>
          <a:p>
            <a:pPr marL="0" indent="0" algn="l">
              <a:buNone/>
            </a:pPr>
            <a:r>
              <a:rPr lang="en-US" sz="1300" i="1" dirty="0">
                <a:solidFill>
                  <a:srgbClr val="595959"/>
                </a:solidFill>
                <a:latin typeface="Arial"/>
                <a:cs typeface="Arial"/>
              </a:rPr>
              <a:t>Bảng thuật ngữ đầy đủ (Anh-Việt): tệp PDF gửi qua email</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Viết cho đúng: sửa câu 'tô vẽ', rồi soạn tiêu đề</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6 phút</a:t>
            </a:r>
          </a:p>
        </p:txBody>
      </p:sp>
      <p:sp>
        <p:nvSpPr>
          <p:cNvPr id="51" name="Steps"/>
          <p:cNvSpPr txBox="1"/>
          <p:nvPr/>
        </p:nvSpPr>
        <p:spPr>
          <a:xfrm>
            <a:off x="457200" y="1720000"/>
            <a:ext cx="676656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lại trung thực câu 'xu hướng không có ý nghĩa' của Bài 1 (2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Viết lại tiêu đề Bài 2 với ngôn ngữ chừng mực</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Soạn tiêu đề tạm cho đề cương của bạn từ PICO (4 phút)</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Mỗi phần một dòng: Đặt vấn đề, Phương pháp, Kết quả dự kiến, Kết luận</a:t>
            </a:r>
          </a:p>
        </p:txBody>
      </p:sp>
      <p:sp>
        <p:nvSpPr>
          <p:cNvPr id="52" name="Side"/>
          <p:cNvSpPr/>
          <p:nvPr/>
        </p:nvSpPr>
        <p:spPr>
          <a:xfrm>
            <a:off x="7423760" y="1720000"/>
            <a:ext cx="4311040" cy="1729880"/>
          </a:xfrm>
          <a:prstGeom prst="roundRect">
            <a:avLst>
              <a:gd name="adj" fmla="val 5000"/>
            </a:avLst>
          </a:prstGeom>
          <a:solidFill>
            <a:srgbClr val="EAF2F5"/>
          </a:solidFill>
          <a:ln>
            <a:noFill/>
          </a:ln>
        </p:spPr>
        <p:txBody>
          <a:bodyPr wrap="square" lIns="137160" tIns="91440" rIns="137160" bIns="91440" rtlCol="0" anchor="ctr">
            <a:normAutofit/>
          </a:bodyPr>
          <a:lstStyle/>
          <a:p>
            <a:pPr marL="0" indent="0" algn="ctr">
              <a:buNone/>
            </a:pPr>
            <a:r>
              <a:rPr lang="en-US" sz="1600" b="1" dirty="0">
                <a:solidFill>
                  <a:srgbClr val="0B376C"/>
                </a:solidFill>
                <a:latin typeface="Arial"/>
                <a:cs typeface="Arial"/>
              </a:rPr>
              <a:t>Kế hoạch công bố (Phần 4)</a:t>
            </a:r>
          </a:p>
          <a:p>
            <a:pPr marL="0" indent="0" algn="ctr">
              <a:lnSpc>
                <a:spcPct val="104000"/>
              </a:lnSpc>
              <a:spcBef>
                <a:spcPts val="300"/>
              </a:spcBef>
              <a:buNone/>
            </a:pPr>
            <a:r>
              <a:rPr lang="en-US" sz="1500" dirty="0">
                <a:solidFill>
                  <a:srgbClr val="000000"/>
                </a:solidFill>
                <a:latin typeface="Arial"/>
                <a:cs typeface="Arial"/>
              </a:rPr>
              <a:t>Tiêu đề tạm</a:t>
            </a:r>
          </a:p>
          <a:p>
            <a:pPr marL="0" indent="0" algn="ctr">
              <a:lnSpc>
                <a:spcPct val="104000"/>
              </a:lnSpc>
              <a:spcBef>
                <a:spcPts val="300"/>
              </a:spcBef>
              <a:buNone/>
            </a:pPr>
            <a:r>
              <a:rPr lang="en-US" sz="1500" dirty="0">
                <a:solidFill>
                  <a:srgbClr val="000000"/>
                </a:solidFill>
                <a:latin typeface="Arial"/>
                <a:cs typeface="Arial"/>
              </a:rPr>
              <a:t>Khung tóm tắt</a:t>
            </a:r>
          </a:p>
          <a:p>
            <a:pPr marL="0" indent="0" algn="ctr">
              <a:lnSpc>
                <a:spcPct val="104000"/>
              </a:lnSpc>
              <a:spcBef>
                <a:spcPts val="300"/>
              </a:spcBef>
              <a:buNone/>
            </a:pPr>
            <a:r>
              <a:rPr lang="en-US" sz="1500" dirty="0">
                <a:solidFill>
                  <a:srgbClr val="000000"/>
                </a:solidFill>
                <a:latin typeface="Arial"/>
                <a:cs typeface="Arial"/>
              </a:rPr>
              <a:t>Tác giả và vai trò</a:t>
            </a:r>
          </a:p>
          <a:p>
            <a:pPr marL="0" indent="0" algn="ctr">
              <a:lnSpc>
                <a:spcPct val="104000"/>
              </a:lnSpc>
              <a:spcBef>
                <a:spcPts val="300"/>
              </a:spcBef>
              <a:buNone/>
            </a:pPr>
            <a:r>
              <a:rPr lang="en-US" sz="1500" dirty="0">
                <a:solidFill>
                  <a:srgbClr val="000000"/>
                </a:solidFill>
                <a:latin typeface="Arial"/>
                <a:cs typeface="Arial"/>
              </a:rPr>
              <a:t>Tạp chí và hướng dẫn báo cáo (8.2)</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Tiêu đề tạm và khung tóm tắt cho bài trình bày của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Bản tiền ấn phẩm, truy cập mở và giấy phép</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523077"/>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Bản tiền ấn phẩm</a:t>
            </a:r>
          </a:p>
        </p:txBody>
      </p:sp>
      <p:sp>
        <p:nvSpPr>
          <p:cNvPr id="71" name="CardBody"/>
          <p:cNvSpPr/>
          <p:nvPr/>
        </p:nvSpPr>
        <p:spPr>
          <a:xfrm>
            <a:off x="457200"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Đăng trước khi bình duyệt (VD: medRxiv)</a:t>
            </a:r>
          </a:p>
          <a:p>
            <a:pPr marL="0" indent="0" algn="ctr">
              <a:lnSpc>
                <a:spcPct val="104000"/>
              </a:lnSpc>
              <a:spcBef>
                <a:spcPts val="400"/>
              </a:spcBef>
              <a:buNone/>
            </a:pPr>
            <a:r>
              <a:rPr lang="en-US" sz="1750" dirty="0">
                <a:solidFill>
                  <a:srgbClr val="000000"/>
                </a:solidFill>
                <a:latin typeface="Arial"/>
                <a:cs typeface="Arial"/>
              </a:rPr>
              <a:t>Nhanh, có dấu thời gian, góp ý mở</a:t>
            </a:r>
          </a:p>
          <a:p>
            <a:pPr marL="0" indent="0" algn="ctr">
              <a:lnSpc>
                <a:spcPct val="104000"/>
              </a:lnSpc>
              <a:spcBef>
                <a:spcPts val="400"/>
              </a:spcBef>
              <a:buNone/>
            </a:pPr>
            <a:r>
              <a:rPr lang="en-US" sz="1750" dirty="0">
                <a:solidFill>
                  <a:srgbClr val="000000"/>
                </a:solidFill>
                <a:latin typeface="Arial"/>
                <a:cs typeface="Arial"/>
              </a:rPr>
              <a:t>Chưa qua bình duyệt: phải nói rõ</a:t>
            </a:r>
          </a:p>
          <a:p>
            <a:pPr marL="0" indent="0" algn="ctr">
              <a:lnSpc>
                <a:spcPct val="104000"/>
              </a:lnSpc>
              <a:spcBef>
                <a:spcPts val="400"/>
              </a:spcBef>
              <a:buNone/>
            </a:pPr>
            <a:r>
              <a:rPr lang="en-US" sz="1750" dirty="0">
                <a:solidFill>
                  <a:srgbClr val="000000"/>
                </a:solidFill>
                <a:latin typeface="Arial"/>
                <a:cs typeface="Arial"/>
              </a:rPr>
              <a:t>Xem chính sách của tạp chí</a:t>
            </a:r>
          </a:p>
        </p:txBody>
      </p:sp>
      <p:sp>
        <p:nvSpPr>
          <p:cNvPr id="72" name="CardHead"/>
          <p:cNvSpPr/>
          <p:nvPr/>
        </p:nvSpPr>
        <p:spPr>
          <a:xfrm>
            <a:off x="4283066" y="1523077"/>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Truy cập mở</a:t>
            </a:r>
          </a:p>
        </p:txBody>
      </p:sp>
      <p:sp>
        <p:nvSpPr>
          <p:cNvPr id="73" name="CardBody"/>
          <p:cNvSpPr/>
          <p:nvPr/>
        </p:nvSpPr>
        <p:spPr>
          <a:xfrm>
            <a:off x="4283066"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Ai cũng đọc miễn phí</a:t>
            </a:r>
          </a:p>
          <a:p>
            <a:pPr marL="0" indent="0" algn="ctr">
              <a:lnSpc>
                <a:spcPct val="104000"/>
              </a:lnSpc>
              <a:spcBef>
                <a:spcPts val="400"/>
              </a:spcBef>
              <a:buNone/>
            </a:pPr>
            <a:r>
              <a:rPr lang="en-US" sz="1750" dirty="0">
                <a:solidFill>
                  <a:srgbClr val="000000"/>
                </a:solidFill>
                <a:latin typeface="Arial"/>
                <a:cs typeface="Arial"/>
              </a:rPr>
              <a:t>Gold: tạp chí thu phí (APC)</a:t>
            </a:r>
          </a:p>
          <a:p>
            <a:pPr marL="0" indent="0" algn="ctr">
              <a:lnSpc>
                <a:spcPct val="104000"/>
              </a:lnSpc>
              <a:spcBef>
                <a:spcPts val="400"/>
              </a:spcBef>
              <a:buNone/>
            </a:pPr>
            <a:r>
              <a:rPr lang="en-US" sz="1750" dirty="0">
                <a:solidFill>
                  <a:srgbClr val="000000"/>
                </a:solidFill>
                <a:latin typeface="Arial"/>
                <a:cs typeface="Arial"/>
              </a:rPr>
              <a:t>Green: bản được chấp nhận lưu ở kho lưu trữ</a:t>
            </a:r>
          </a:p>
          <a:p>
            <a:pPr marL="0" indent="0" algn="ctr">
              <a:lnSpc>
                <a:spcPct val="104000"/>
              </a:lnSpc>
              <a:spcBef>
                <a:spcPts val="400"/>
              </a:spcBef>
              <a:buNone/>
            </a:pPr>
            <a:r>
              <a:rPr lang="en-US" sz="1750" dirty="0">
                <a:solidFill>
                  <a:srgbClr val="000000"/>
                </a:solidFill>
                <a:latin typeface="Arial"/>
                <a:cs typeface="Arial"/>
              </a:rPr>
              <a:t>Hỏi về miễn giảm phí</a:t>
            </a:r>
          </a:p>
        </p:txBody>
      </p:sp>
      <p:sp>
        <p:nvSpPr>
          <p:cNvPr id="74" name="CardHead"/>
          <p:cNvSpPr/>
          <p:nvPr/>
        </p:nvSpPr>
        <p:spPr>
          <a:xfrm>
            <a:off x="8108932" y="1523077"/>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Giấy phép</a:t>
            </a:r>
          </a:p>
        </p:txBody>
      </p:sp>
      <p:sp>
        <p:nvSpPr>
          <p:cNvPr id="75" name="CardBody"/>
          <p:cNvSpPr/>
          <p:nvPr/>
        </p:nvSpPr>
        <p:spPr>
          <a:xfrm>
            <a:off x="8108932" y="2163077"/>
            <a:ext cx="3625866" cy="2480767"/>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CC BY: tái sử dụng, ghi nguồn (Bài 2)</a:t>
            </a:r>
          </a:p>
          <a:p>
            <a:pPr marL="0" indent="0" algn="ctr">
              <a:lnSpc>
                <a:spcPct val="104000"/>
              </a:lnSpc>
              <a:spcBef>
                <a:spcPts val="400"/>
              </a:spcBef>
              <a:buNone/>
            </a:pPr>
            <a:r>
              <a:rPr lang="en-US" sz="1750" dirty="0">
                <a:solidFill>
                  <a:srgbClr val="000000"/>
                </a:solidFill>
                <a:latin typeface="Arial"/>
                <a:cs typeface="Arial"/>
              </a:rPr>
              <a:t>CC BY-NC-ND: chia sẻ, không chỉnh sửa (Bài 1)</a:t>
            </a:r>
          </a:p>
          <a:p>
            <a:pPr marL="0" indent="0" algn="ctr">
              <a:lnSpc>
                <a:spcPct val="104000"/>
              </a:lnSpc>
              <a:spcBef>
                <a:spcPts val="400"/>
              </a:spcBef>
              <a:buNone/>
            </a:pPr>
            <a:r>
              <a:rPr lang="en-US" sz="1750" dirty="0">
                <a:solidFill>
                  <a:srgbClr val="000000"/>
                </a:solidFill>
                <a:latin typeface="Arial"/>
                <a:cs typeface="Arial"/>
              </a:rPr>
              <a:t>Đọc kỹ trước khi ký</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Biết ai được đọc, ai được tái sử dụng và ai trả phí trước khi nộp bài.</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khi được chấp nhận: bản in thử, chia sẻ, đính chính</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Được nhận</a:t>
            </a:r>
          </a:p>
        </p:txBody>
      </p:sp>
      <p:sp>
        <p:nvSpPr>
          <p:cNvPr id="81" name="StepText"/>
          <p:cNvSpPr/>
          <p:nvPr/>
        </p:nvSpPr>
        <p:spPr>
          <a:xfrm>
            <a:off x="49720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Chúc mừng</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Bản in thử</a:t>
            </a:r>
          </a:p>
        </p:txBody>
      </p:sp>
      <p:sp>
        <p:nvSpPr>
          <p:cNvPr id="83" name="StepText"/>
          <p:cNvSpPr/>
          <p:nvPr/>
        </p:nvSpPr>
        <p:spPr>
          <a:xfrm>
            <a:off x="274072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Kiểm tra từng con số, tên và bảng</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Xuất bản</a:t>
            </a:r>
          </a:p>
        </p:txBody>
      </p:sp>
      <p:sp>
        <p:nvSpPr>
          <p:cNvPr id="85" name="StepText"/>
          <p:cNvSpPr/>
          <p:nvPr/>
        </p:nvSpPr>
        <p:spPr>
          <a:xfrm>
            <a:off x="498424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Trực tuyến, có mã DOI</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Chia sẻ</a:t>
            </a:r>
          </a:p>
        </p:txBody>
      </p:sp>
      <p:sp>
        <p:nvSpPr>
          <p:cNvPr id="87" name="StepText"/>
          <p:cNvSpPr/>
          <p:nvPr/>
        </p:nvSpPr>
        <p:spPr>
          <a:xfrm>
            <a:off x="722776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Kho lưu trữ, tóm tắt dễ hiểu, khoa của bạn</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Đính chính</a:t>
            </a:r>
          </a:p>
        </p:txBody>
      </p:sp>
      <p:sp>
        <p:nvSpPr>
          <p:cNvPr id="89" name="StepText"/>
          <p:cNvSpPr/>
          <p:nvPr/>
        </p:nvSpPr>
        <p:spPr>
          <a:xfrm>
            <a:off x="9471280" y="2140000"/>
            <a:ext cx="2163520" cy="110000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Công khai, nếu phát hiện lỗi</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Đọc bản in thử kỹ như đọc dữ liệu. Lỗi sẽ thành vĩnh viễn.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Bị từ chối? Nộp lại thông minh hơn</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19" name="Intro"/>
          <p:cNvSpPr txBox="1"/>
          <p:nvPr/>
        </p:nvSpPr>
        <p:spPr>
          <a:xfrm>
            <a:off x="457200" y="1100000"/>
            <a:ext cx="11277600" cy="480000"/>
          </a:xfrm>
          <a:prstGeom prst="rect">
            <a:avLst/>
          </a:prstGeom>
          <a:noFill/>
          <a:ln>
            <a:noFill/>
          </a:ln>
        </p:spPr>
        <p:txBody>
          <a:bodyPr wrap="square" lIns="91440" tIns="45720" rIns="91440" bIns="45720" rtlCol="0" anchor="t"/>
          <a:lstStyle/>
          <a:p>
            <a:pPr marL="0" indent="0" algn="l">
              <a:buNone/>
            </a:pPr>
            <a:r>
              <a:rPr lang="en-US" sz="1700" i="1" dirty="0">
                <a:solidFill>
                  <a:srgbClr val="595959"/>
                </a:solidFill>
                <a:latin typeface="Arial"/>
                <a:cs typeface="Arial"/>
              </a:rPr>
              <a:t>Bị từ chối là bình thường: đa số bài báo bị từ chối ít nhất một lần.</a:t>
            </a:r>
          </a:p>
        </p:txBody>
      </p:sp>
      <p:sp>
        <p:nvSpPr>
          <p:cNvPr id="70" name="CardHead"/>
          <p:cNvSpPr/>
          <p:nvPr/>
        </p:nvSpPr>
        <p:spPr>
          <a:xfrm>
            <a:off x="457200" y="1925948"/>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Từ chối ngay</a:t>
            </a:r>
          </a:p>
        </p:txBody>
      </p:sp>
      <p:sp>
        <p:nvSpPr>
          <p:cNvPr id="71" name="CardBody"/>
          <p:cNvSpPr/>
          <p:nvPr/>
        </p:nvSpPr>
        <p:spPr>
          <a:xfrm>
            <a:off x="457200"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Ngoài phạm vi hoặc báo cáo kém</a:t>
            </a:r>
          </a:p>
          <a:p>
            <a:pPr marL="0" indent="0" algn="ctr">
              <a:lnSpc>
                <a:spcPct val="104000"/>
              </a:lnSpc>
              <a:spcBef>
                <a:spcPts val="400"/>
              </a:spcBef>
              <a:buNone/>
            </a:pPr>
            <a:r>
              <a:rPr lang="en-US" sz="1750" dirty="0">
                <a:solidFill>
                  <a:srgbClr val="000000"/>
                </a:solidFill>
                <a:latin typeface="Arial"/>
                <a:cs typeface="Arial"/>
              </a:rPr>
              <a:t>Thường trong vài ngày</a:t>
            </a:r>
          </a:p>
          <a:p>
            <a:pPr marL="0" indent="0" algn="ctr">
              <a:lnSpc>
                <a:spcPct val="104000"/>
              </a:lnSpc>
              <a:spcBef>
                <a:spcPts val="400"/>
              </a:spcBef>
              <a:buNone/>
            </a:pPr>
            <a:r>
              <a:rPr lang="en-US" sz="1750" dirty="0">
                <a:solidFill>
                  <a:srgbClr val="000000"/>
                </a:solidFill>
                <a:latin typeface="Arial"/>
                <a:cs typeface="Arial"/>
              </a:rPr>
              <a:t>Chọn lại tạp chí</a:t>
            </a:r>
          </a:p>
        </p:txBody>
      </p:sp>
      <p:sp>
        <p:nvSpPr>
          <p:cNvPr id="72" name="CardHead"/>
          <p:cNvSpPr/>
          <p:nvPr/>
        </p:nvSpPr>
        <p:spPr>
          <a:xfrm>
            <a:off x="4283066" y="1925948"/>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Sau bình duyệt</a:t>
            </a:r>
          </a:p>
        </p:txBody>
      </p:sp>
      <p:sp>
        <p:nvSpPr>
          <p:cNvPr id="73" name="CardBody"/>
          <p:cNvSpPr/>
          <p:nvPr/>
        </p:nvSpPr>
        <p:spPr>
          <a:xfrm>
            <a:off x="4283066"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Đọc nhận xét, chờ một ngày</a:t>
            </a:r>
          </a:p>
          <a:p>
            <a:pPr marL="0" indent="0" algn="ctr">
              <a:lnSpc>
                <a:spcPct val="104000"/>
              </a:lnSpc>
              <a:spcBef>
                <a:spcPts val="400"/>
              </a:spcBef>
              <a:buNone/>
            </a:pPr>
            <a:r>
              <a:rPr lang="en-US" sz="1750" dirty="0">
                <a:solidFill>
                  <a:srgbClr val="000000"/>
                </a:solidFill>
                <a:latin typeface="Arial"/>
                <a:cs typeface="Arial"/>
              </a:rPr>
              <a:t>Sửa những gì họ phát hiện</a:t>
            </a:r>
          </a:p>
          <a:p>
            <a:pPr marL="0" indent="0" algn="ctr">
              <a:lnSpc>
                <a:spcPct val="104000"/>
              </a:lnSpc>
              <a:spcBef>
                <a:spcPts val="400"/>
              </a:spcBef>
              <a:buNone/>
            </a:pPr>
            <a:r>
              <a:rPr lang="en-US" sz="1750" dirty="0">
                <a:solidFill>
                  <a:srgbClr val="000000"/>
                </a:solidFill>
                <a:latin typeface="Arial"/>
                <a:cs typeface="Arial"/>
              </a:rPr>
              <a:t>Không nộp lại nguyên bản</a:t>
            </a:r>
          </a:p>
        </p:txBody>
      </p:sp>
      <p:sp>
        <p:nvSpPr>
          <p:cNvPr id="74" name="CardHead"/>
          <p:cNvSpPr/>
          <p:nvPr/>
        </p:nvSpPr>
        <p:spPr>
          <a:xfrm>
            <a:off x="8108932" y="1925948"/>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Tạp chí tiếp theo</a:t>
            </a:r>
          </a:p>
        </p:txBody>
      </p:sp>
      <p:sp>
        <p:nvSpPr>
          <p:cNvPr id="75" name="CardBody"/>
          <p:cNvSpPr/>
          <p:nvPr/>
        </p:nvSpPr>
        <p:spPr>
          <a:xfrm>
            <a:off x="8108932" y="2565948"/>
            <a:ext cx="3625866" cy="2152155"/>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Định dạng theo Hướng dẫn tác giả mới</a:t>
            </a:r>
          </a:p>
          <a:p>
            <a:pPr marL="0" indent="0" algn="ctr">
              <a:lnSpc>
                <a:spcPct val="104000"/>
              </a:lnSpc>
              <a:spcBef>
                <a:spcPts val="400"/>
              </a:spcBef>
              <a:buNone/>
            </a:pPr>
            <a:r>
              <a:rPr lang="en-US" sz="1750" dirty="0">
                <a:solidFill>
                  <a:srgbClr val="000000"/>
                </a:solidFill>
                <a:latin typeface="Arial"/>
                <a:cs typeface="Arial"/>
              </a:rPr>
              <a:t>Dùng đề nghị chuyển bài nếu có</a:t>
            </a:r>
          </a:p>
          <a:p>
            <a:pPr marL="0" indent="0" algn="ctr">
              <a:lnSpc>
                <a:spcPct val="104000"/>
              </a:lnSpc>
              <a:spcBef>
                <a:spcPts val="400"/>
              </a:spcBef>
              <a:buNone/>
            </a:pPr>
            <a:r>
              <a:rPr lang="en-US" sz="1750" dirty="0">
                <a:solidFill>
                  <a:srgbClr val="000000"/>
                </a:solidFill>
                <a:latin typeface="Arial"/>
                <a:cs typeface="Arial"/>
              </a:rPr>
              <a:t>Chỉ khiếu nại khi có lỗi rõ ràng</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Người phản biện tiếp theo có thể vẫn là người cũ. Hãy sửa lỗi trước.</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Tóm tắt hội nghị và poster</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pic>
        <p:nvPicPr>
          <p:cNvPr id="25" name="Figure"/>
          <p:cNvPicPr>
            <a:picLocks noChangeAspect="1"/>
          </p:cNvPicPr>
          <p:nvPr/>
        </p:nvPicPr>
        <p:blipFill>
          <a:blip r:embed="rId4"/>
          <a:stretch>
            <a:fillRect/>
          </a:stretch>
        </p:blipFill>
        <p:spPr>
          <a:xfrm>
            <a:off x="908500" y="1150000"/>
            <a:ext cx="10375000" cy="4150000"/>
          </a:xfrm>
          <a:prstGeom prst="rect">
            <a:avLst/>
          </a:prstGeom>
        </p:spPr>
      </p:pic>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Poster: một thông điệp, một hình, đọc được từ 2 mét.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Từ câu hỏi đến công bố: những gì bạn làm được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573"/>
            <a:ext cx="2669400"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Bảo vệ</a:t>
            </a:r>
          </a:p>
        </p:txBody>
      </p:sp>
      <p:sp>
        <p:nvSpPr>
          <p:cNvPr id="71" name="CardBody"/>
          <p:cNvSpPr/>
          <p:nvPr/>
        </p:nvSpPr>
        <p:spPr>
          <a:xfrm>
            <a:off x="4572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Đạo đức, sự đồng ý, đăng ký</a:t>
            </a:r>
          </a:p>
          <a:p>
            <a:pPr marL="0" indent="0" algn="ctr">
              <a:lnSpc>
                <a:spcPct val="104000"/>
              </a:lnSpc>
              <a:spcBef>
                <a:spcPts val="400"/>
              </a:spcBef>
              <a:buNone/>
            </a:pPr>
            <a:r>
              <a:rPr lang="en-US" sz="1600" dirty="0">
                <a:solidFill>
                  <a:srgbClr val="000000"/>
                </a:solidFill>
                <a:latin typeface="Arial"/>
                <a:cs typeface="Arial"/>
              </a:rPr>
              <a:t>Dữ liệu và tác giả trung thực</a:t>
            </a:r>
          </a:p>
        </p:txBody>
      </p:sp>
      <p:sp>
        <p:nvSpPr>
          <p:cNvPr id="72" name="CardHead"/>
          <p:cNvSpPr/>
          <p:nvPr/>
        </p:nvSpPr>
        <p:spPr>
          <a:xfrm>
            <a:off x="3326600" y="1849573"/>
            <a:ext cx="2669400"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Viết</a:t>
            </a:r>
          </a:p>
        </p:txBody>
      </p:sp>
      <p:sp>
        <p:nvSpPr>
          <p:cNvPr id="73" name="CardBody"/>
          <p:cNvSpPr/>
          <p:nvPr/>
        </p:nvSpPr>
        <p:spPr>
          <a:xfrm>
            <a:off x="33266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IMRaD đúng thứ tự</a:t>
            </a:r>
          </a:p>
          <a:p>
            <a:pPr marL="0" indent="0" algn="ctr">
              <a:lnSpc>
                <a:spcPct val="104000"/>
              </a:lnSpc>
              <a:spcBef>
                <a:spcPts val="400"/>
              </a:spcBef>
              <a:buNone/>
            </a:pPr>
            <a:r>
              <a:rPr lang="en-US" sz="1600" dirty="0">
                <a:solidFill>
                  <a:srgbClr val="000000"/>
                </a:solidFill>
                <a:latin typeface="Arial"/>
                <a:cs typeface="Arial"/>
              </a:rPr>
              <a:t>Con số kèm KTC</a:t>
            </a:r>
          </a:p>
          <a:p>
            <a:pPr marL="0" indent="0" algn="ctr">
              <a:lnSpc>
                <a:spcPct val="104000"/>
              </a:lnSpc>
              <a:spcBef>
                <a:spcPts val="400"/>
              </a:spcBef>
              <a:buNone/>
            </a:pPr>
            <a:r>
              <a:rPr lang="en-US" sz="1600" dirty="0">
                <a:solidFill>
                  <a:srgbClr val="000000"/>
                </a:solidFill>
                <a:latin typeface="Arial"/>
                <a:cs typeface="Arial"/>
              </a:rPr>
              <a:t>Động từ đúng thiết kế</a:t>
            </a:r>
          </a:p>
        </p:txBody>
      </p:sp>
      <p:sp>
        <p:nvSpPr>
          <p:cNvPr id="74" name="CardHead"/>
          <p:cNvSpPr/>
          <p:nvPr/>
        </p:nvSpPr>
        <p:spPr>
          <a:xfrm>
            <a:off x="6196000" y="1849573"/>
            <a:ext cx="2669400"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Công bố</a:t>
            </a:r>
          </a:p>
        </p:txBody>
      </p:sp>
      <p:sp>
        <p:nvSpPr>
          <p:cNvPr id="75" name="CardBody"/>
          <p:cNvSpPr/>
          <p:nvPr/>
        </p:nvSpPr>
        <p:spPr>
          <a:xfrm>
            <a:off x="61960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Bảng kiểm báo cáo</a:t>
            </a:r>
          </a:p>
          <a:p>
            <a:pPr marL="0" indent="0" algn="ctr">
              <a:lnSpc>
                <a:spcPct val="104000"/>
              </a:lnSpc>
              <a:spcBef>
                <a:spcPts val="400"/>
              </a:spcBef>
              <a:buNone/>
            </a:pPr>
            <a:r>
              <a:rPr lang="en-US" sz="1600" dirty="0">
                <a:solidFill>
                  <a:srgbClr val="000000"/>
                </a:solidFill>
                <a:latin typeface="Arial"/>
                <a:cs typeface="Arial"/>
              </a:rPr>
              <a:t>Tạp chí đáng tin</a:t>
            </a:r>
          </a:p>
          <a:p>
            <a:pPr marL="0" indent="0" algn="ctr">
              <a:lnSpc>
                <a:spcPct val="104000"/>
              </a:lnSpc>
              <a:spcBef>
                <a:spcPts val="400"/>
              </a:spcBef>
              <a:buNone/>
            </a:pPr>
            <a:r>
              <a:rPr lang="en-US" sz="1600" dirty="0">
                <a:solidFill>
                  <a:srgbClr val="000000"/>
                </a:solidFill>
                <a:latin typeface="Arial"/>
                <a:cs typeface="Arial"/>
              </a:rPr>
              <a:t>Trả lời lịch sự, đầy đủ</a:t>
            </a:r>
          </a:p>
        </p:txBody>
      </p:sp>
      <p:sp>
        <p:nvSpPr>
          <p:cNvPr id="76" name="CardHead"/>
          <p:cNvSpPr/>
          <p:nvPr/>
        </p:nvSpPr>
        <p:spPr>
          <a:xfrm>
            <a:off x="9065400" y="1849573"/>
            <a:ext cx="2669400" cy="640000"/>
          </a:xfrm>
          <a:prstGeom prst="rect">
            <a:avLst/>
          </a:prstGeom>
          <a:solidFill>
            <a:srgbClr val="0070C0"/>
          </a:solidFill>
          <a:ln>
            <a:noFill/>
          </a:ln>
        </p:spPr>
        <p:txBody>
          <a:bodyPr wrap="square" lIns="91440" tIns="45720" rIns="91440" bIns="45720" rtlCol="0" anchor="ctr">
            <a:normAutofit/>
          </a:bodyPr>
          <a:lstStyle/>
          <a:p>
            <a:pPr marL="0" indent="0" algn="ctr">
              <a:buNone/>
            </a:pPr>
            <a:r>
              <a:rPr lang="en-US" sz="1700" b="1" dirty="0">
                <a:solidFill>
                  <a:srgbClr val="FFFFFF"/>
                </a:solidFill>
                <a:latin typeface="Arial"/>
                <a:cs typeface="Arial"/>
              </a:rPr>
              <a:t>Phản biện</a:t>
            </a:r>
          </a:p>
        </p:txBody>
      </p:sp>
      <p:sp>
        <p:nvSpPr>
          <p:cNvPr id="77" name="CardBody"/>
          <p:cNvSpPr/>
          <p:nvPr/>
        </p:nvSpPr>
        <p:spPr>
          <a:xfrm>
            <a:off x="9065400" y="2489573"/>
            <a:ext cx="2669400" cy="1501280"/>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600" dirty="0">
                <a:solidFill>
                  <a:srgbClr val="000000"/>
                </a:solidFill>
                <a:latin typeface="Arial"/>
                <a:cs typeface="Arial"/>
              </a:rPr>
              <a:t>10 câu hỏi</a:t>
            </a:r>
          </a:p>
          <a:p>
            <a:pPr marL="0" indent="0" algn="ctr">
              <a:lnSpc>
                <a:spcPct val="104000"/>
              </a:lnSpc>
              <a:spcBef>
                <a:spcPts val="400"/>
              </a:spcBef>
              <a:buNone/>
            </a:pPr>
            <a:r>
              <a:rPr lang="en-US" sz="1600" dirty="0">
                <a:solidFill>
                  <a:srgbClr val="000000"/>
                </a:solidFill>
                <a:latin typeface="Arial"/>
                <a:cs typeface="Arial"/>
              </a:rPr>
              <a:t>Mỗi thiết kế được kết luận gì</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Tiếp theo: nộp đề cương và phần Kết quả, rồi bình duyệt bản nháp của một bạn.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 name="DayTitle"/>
          <p:cNvSpPr txBox="1"/>
          <p:nvPr/>
        </p:nvSpPr>
        <p:spPr>
          <a:xfrm>
            <a:off x="457200" y="548640"/>
            <a:ext cx="11430000" cy="700000"/>
          </a:xfrm>
          <a:prstGeom prst="rect">
            <a:avLst/>
          </a:prstGeom>
          <a:noFill/>
          <a:ln>
            <a:noFill/>
          </a:ln>
        </p:spPr>
        <p:txBody>
          <a:bodyPr wrap="square" lIns="91440" tIns="45720" rIns="91440" bIns="45720" rtlCol="0" anchor="t"/>
          <a:lstStyle/>
          <a:p>
            <a:pPr marL="0" indent="0" algn="l">
              <a:buNone/>
            </a:pPr>
            <a:r>
              <a:rPr lang="en-US" sz="3200" b="1" dirty="0">
                <a:solidFill>
                  <a:srgbClr val="0D7377"/>
                </a:solidFill>
                <a:latin typeface="Arial"/>
                <a:cs typeface="Arial"/>
              </a:rPr>
              <a:t>Bế mạc: những gì bạn đã xây dựng và bước tiếp theo</a:t>
            </a:r>
          </a:p>
        </p:txBody>
      </p:sp>
      <p:sp>
        <p:nvSpPr>
          <p:cNvPr id="7" name="Rule"/>
          <p:cNvSpPr/>
          <p:nvPr/>
        </p:nvSpPr>
        <p:spPr>
          <a:xfrm>
            <a:off x="457200" y="1325880"/>
            <a:ext cx="11277600" cy="19050"/>
          </a:xfrm>
          <a:prstGeom prst="rect">
            <a:avLst/>
          </a:prstGeom>
          <a:solidFill>
            <a:srgbClr val="0D7377"/>
          </a:solidFill>
          <a:ln>
            <a:noFill/>
          </a:ln>
        </p:spPr>
        <p:txBody>
          <a:bodyPr/>
          <a:lstStyle/>
          <a:p>
            <a:endParaRPr/>
          </a:p>
        </p:txBody>
      </p:sp>
      <p:sp>
        <p:nvSpPr>
          <p:cNvPr id="8" name="Agenda"/>
          <p:cNvSpPr txBox="1"/>
          <p:nvPr/>
        </p:nvSpPr>
        <p:spPr>
          <a:xfrm>
            <a:off x="457200" y="1600000"/>
            <a:ext cx="11277600" cy="4400000"/>
          </a:xfrm>
          <a:prstGeom prst="rect">
            <a:avLst/>
          </a:prstGeom>
          <a:noFill/>
          <a:ln>
            <a:noFill/>
          </a:ln>
        </p:spPr>
        <p:txBody>
          <a:bodyPr wrap="square" lIns="91440" tIns="45720" rIns="91440" bIns="45720" rtlCol="0" anchor="t"/>
          <a:lstStyle/>
          <a:p>
            <a:pPr marL="0" indent="0" algn="l">
              <a:buNone/>
            </a:pPr>
            <a:r>
              <a:rPr lang="en-US" sz="2800" dirty="0">
                <a:solidFill>
                  <a:srgbClr val="0070C0"/>
                </a:solidFill>
                <a:latin typeface="Arial"/>
                <a:cs typeface="Arial"/>
              </a:rPr>
              <a:t>Buổi 8 · 22:15-22:30</a:t>
            </a:r>
          </a:p>
          <a:p>
            <a:pPr>
              <a:buNone/>
            </a:pPr>
            <a:endParaRPr sz="800"/>
          </a:p>
          <a:p>
            <a:pPr marL="274320" indent="-274320" algn="l">
              <a:spcBef>
                <a:spcPts val="440"/>
              </a:spcBef>
              <a:buFont typeface="Arial"/>
              <a:buChar char="•"/>
            </a:pPr>
            <a:r>
              <a:rPr lang="en-US" sz="1900" dirty="0">
                <a:solidFill>
                  <a:srgbClr val="000000"/>
                </a:solidFill>
                <a:latin typeface="Arial"/>
                <a:cs typeface="Arial"/>
              </a:rPr>
              <a:t>Bài kiểm tra cuối khóa (cùng 24 câu)</a:t>
            </a:r>
          </a:p>
          <a:p>
            <a:pPr marL="274320" indent="-274320" algn="l">
              <a:spcBef>
                <a:spcPts val="440"/>
              </a:spcBef>
              <a:buFont typeface="Arial"/>
              <a:buChar char="•"/>
            </a:pPr>
            <a:r>
              <a:rPr lang="en-US" sz="1900" dirty="0">
                <a:solidFill>
                  <a:srgbClr val="000000"/>
                </a:solidFill>
                <a:latin typeface="Arial"/>
                <a:cs typeface="Arial"/>
              </a:rPr>
              <a:t>Những gì bạn đã xây dựng trong tám buổi</a:t>
            </a:r>
          </a:p>
          <a:p>
            <a:pPr marL="274320" indent="-274320" algn="l">
              <a:spcBef>
                <a:spcPts val="440"/>
              </a:spcBef>
              <a:buFont typeface="Arial"/>
              <a:buChar char="•"/>
            </a:pPr>
            <a:r>
              <a:rPr lang="en-US" sz="1900" dirty="0">
                <a:solidFill>
                  <a:srgbClr val="000000"/>
                </a:solidFill>
                <a:latin typeface="Arial"/>
                <a:cs typeface="Arial"/>
              </a:rPr>
              <a:t>Đánh giá khóa học</a:t>
            </a:r>
          </a:p>
          <a:p>
            <a:pPr marL="274320" indent="-274320" algn="l">
              <a:spcBef>
                <a:spcPts val="440"/>
              </a:spcBef>
              <a:buFont typeface="Arial"/>
              <a:buChar char="•"/>
            </a:pPr>
            <a:r>
              <a:rPr lang="en-US" sz="1900" dirty="0">
                <a:solidFill>
                  <a:srgbClr val="000000"/>
                </a:solidFill>
                <a:latin typeface="Arial"/>
                <a:cs typeface="Arial"/>
              </a:rPr>
              <a:t>Sau khóa học: nộp bài, rồi bình duyệt phần Kết quả của một bạn</a:t>
            </a:r>
          </a:p>
          <a:p>
            <a:pPr marL="274320" indent="-274320" algn="l">
              <a:spcBef>
                <a:spcPts val="440"/>
              </a:spcBef>
              <a:buFont typeface="Arial"/>
              <a:buChar char="•"/>
            </a:pPr>
            <a:r>
              <a:rPr lang="en-US" sz="1900" dirty="0">
                <a:solidFill>
                  <a:srgbClr val="000000"/>
                </a:solidFill>
                <a:latin typeface="Arial"/>
                <a:cs typeface="Arial"/>
              </a:rPr>
              <a:t>Bước tiếp theo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Bài kiểm tra cuối khóa</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6C3483"/>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CÂU HỎI NHANH   |   8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Mở biểu mẫu: đường link có trong chat</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Nhập họ và tên của bạn, như ở Buổi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Cùng 24 câu hỏi như Buổi 1</a:t>
            </a:r>
          </a:p>
          <a:p>
            <a:pPr marL="380000" indent="-380000" algn="l">
              <a:lnSpc>
                <a:spcPct val="104000"/>
              </a:lnSpc>
              <a:spcBef>
                <a:spcPts val="450"/>
              </a:spcBef>
              <a:buClr>
                <a:srgbClr val="6C3483"/>
              </a:buClr>
              <a:buFont typeface="Arial"/>
              <a:buChar char="•"/>
            </a:pPr>
            <a:r>
              <a:rPr lang="en-US" sz="1650" dirty="0">
                <a:solidFill>
                  <a:srgbClr val="000000"/>
                </a:solidFill>
                <a:latin typeface="Arial"/>
                <a:cs typeface="Arial"/>
              </a:rPr>
              <a:t>Làm một mình. Đáp án được gửi sau khóa học</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6C3483"/>
            </a:solidFill>
          </a:ln>
        </p:spPr>
        <p:txBody>
          <a:bodyPr wrap="square" lIns="182880" tIns="45720" rIns="182880" bIns="45720" rtlCol="0" anchor="ctr">
            <a:normAutofit/>
          </a:bodyPr>
          <a:lstStyle/>
          <a:p>
            <a:pPr marL="0" indent="0" algn="ctr">
              <a:buNone/>
            </a:pPr>
            <a:r>
              <a:rPr lang="en-US" sz="1300" b="1" dirty="0">
                <a:solidFill>
                  <a:srgbClr val="6C3483"/>
                </a:solidFill>
                <a:latin typeface="Arial"/>
                <a:cs typeface="Arial"/>
              </a:rPr>
              <a:t>SẢN PHẨM   </a:t>
            </a:r>
            <a:r>
              <a:rPr lang="en-US" sz="1500" dirty="0">
                <a:solidFill>
                  <a:srgbClr val="000000"/>
                </a:solidFill>
                <a:latin typeface="Arial"/>
                <a:cs typeface="Arial"/>
              </a:rPr>
              <a:t>Đã gửi biểu mẫu</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Những gì bạn đã xây dựng trong tám buổi</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30352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Hỏi &amp; tìm</a:t>
            </a:r>
          </a:p>
        </p:txBody>
      </p:sp>
      <p:sp>
        <p:nvSpPr>
          <p:cNvPr id="81" name="StepText"/>
          <p:cNvSpPr/>
          <p:nvPr/>
        </p:nvSpPr>
        <p:spPr>
          <a:xfrm>
            <a:off x="49720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Một câu hỏi PICO</a:t>
            </a:r>
          </a:p>
          <a:p>
            <a:pPr marL="0" indent="0" algn="ctr">
              <a:lnSpc>
                <a:spcPct val="104000"/>
              </a:lnSpc>
              <a:spcBef>
                <a:spcPts val="200"/>
              </a:spcBef>
              <a:buNone/>
            </a:pPr>
            <a:r>
              <a:rPr lang="en-US" sz="1500" dirty="0">
                <a:solidFill>
                  <a:srgbClr val="000000"/>
                </a:solidFill>
                <a:latin typeface="Arial"/>
                <a:cs typeface="Arial"/>
              </a:rPr>
              <a:t>5 tài liệu chính</a:t>
            </a:r>
          </a:p>
          <a:p>
            <a:pPr marL="0" indent="0" algn="ctr">
              <a:lnSpc>
                <a:spcPct val="104000"/>
              </a:lnSpc>
              <a:spcBef>
                <a:spcPts val="200"/>
              </a:spcBef>
              <a:buNone/>
            </a:pPr>
            <a:r>
              <a:rPr lang="en-US" sz="1500" dirty="0">
                <a:solidFill>
                  <a:srgbClr val="000000"/>
                </a:solidFill>
                <a:latin typeface="Arial"/>
                <a:cs typeface="Arial"/>
              </a:rPr>
              <a:t>Tên đề tài dự kiến</a:t>
            </a:r>
          </a:p>
        </p:txBody>
      </p:sp>
      <p:sp>
        <p:nvSpPr>
          <p:cNvPr id="82" name="Step"/>
          <p:cNvSpPr/>
          <p:nvPr/>
        </p:nvSpPr>
        <p:spPr>
          <a:xfrm>
            <a:off x="2700720" y="1220000"/>
            <a:ext cx="230352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Thiết kế</a:t>
            </a:r>
          </a:p>
        </p:txBody>
      </p:sp>
      <p:sp>
        <p:nvSpPr>
          <p:cNvPr id="83" name="StepText"/>
          <p:cNvSpPr/>
          <p:nvPr/>
        </p:nvSpPr>
        <p:spPr>
          <a:xfrm>
            <a:off x="274072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Thiết kế có lý giải</a:t>
            </a:r>
          </a:p>
          <a:p>
            <a:pPr marL="0" indent="0" algn="ctr">
              <a:lnSpc>
                <a:spcPct val="104000"/>
              </a:lnSpc>
              <a:spcBef>
                <a:spcPts val="200"/>
              </a:spcBef>
              <a:buNone/>
            </a:pPr>
            <a:r>
              <a:rPr lang="en-US" sz="1500" dirty="0">
                <a:solidFill>
                  <a:srgbClr val="000000"/>
                </a:solidFill>
                <a:latin typeface="Arial"/>
                <a:cs typeface="Arial"/>
              </a:rPr>
              <a:t>Kết cục</a:t>
            </a:r>
          </a:p>
          <a:p>
            <a:pPr marL="0" indent="0" algn="ctr">
              <a:lnSpc>
                <a:spcPct val="104000"/>
              </a:lnSpc>
              <a:spcBef>
                <a:spcPts val="200"/>
              </a:spcBef>
              <a:buNone/>
            </a:pPr>
            <a:r>
              <a:rPr lang="en-US" sz="1500" dirty="0">
                <a:solidFill>
                  <a:srgbClr val="000000"/>
                </a:solidFill>
                <a:latin typeface="Arial"/>
                <a:cs typeface="Arial"/>
              </a:rPr>
              <a:t>Kế hoạch giảm sai lệch</a:t>
            </a:r>
          </a:p>
        </p:txBody>
      </p:sp>
      <p:sp>
        <p:nvSpPr>
          <p:cNvPr id="84" name="Step"/>
          <p:cNvSpPr/>
          <p:nvPr/>
        </p:nvSpPr>
        <p:spPr>
          <a:xfrm>
            <a:off x="4944240" y="1220000"/>
            <a:ext cx="230352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Phân tích</a:t>
            </a:r>
          </a:p>
        </p:txBody>
      </p:sp>
      <p:sp>
        <p:nvSpPr>
          <p:cNvPr id="85" name="StepText"/>
          <p:cNvSpPr/>
          <p:nvPr/>
        </p:nvSpPr>
        <p:spPr>
          <a:xfrm>
            <a:off x="498424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CRF và kế hoạch phân tích</a:t>
            </a:r>
          </a:p>
          <a:p>
            <a:pPr marL="0" indent="0" algn="ctr">
              <a:lnSpc>
                <a:spcPct val="104000"/>
              </a:lnSpc>
              <a:spcBef>
                <a:spcPts val="200"/>
              </a:spcBef>
              <a:buNone/>
            </a:pPr>
            <a:r>
              <a:rPr lang="en-US" sz="1500" dirty="0">
                <a:solidFill>
                  <a:srgbClr val="000000"/>
                </a:solidFill>
                <a:latin typeface="Arial"/>
                <a:cs typeface="Arial"/>
              </a:rPr>
              <a:t>Đọc và diễn giải bộ dữ liệu của khóa học</a:t>
            </a:r>
          </a:p>
        </p:txBody>
      </p:sp>
      <p:sp>
        <p:nvSpPr>
          <p:cNvPr id="86" name="Step"/>
          <p:cNvSpPr/>
          <p:nvPr/>
        </p:nvSpPr>
        <p:spPr>
          <a:xfrm>
            <a:off x="7187760" y="1220000"/>
            <a:ext cx="230352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Viết</a:t>
            </a:r>
          </a:p>
        </p:txBody>
      </p:sp>
      <p:sp>
        <p:nvSpPr>
          <p:cNvPr id="87" name="StepText"/>
          <p:cNvSpPr/>
          <p:nvPr/>
        </p:nvSpPr>
        <p:spPr>
          <a:xfrm>
            <a:off x="722776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Phần Kết quả</a:t>
            </a:r>
          </a:p>
          <a:p>
            <a:pPr marL="0" indent="0" algn="ctr">
              <a:lnSpc>
                <a:spcPct val="104000"/>
              </a:lnSpc>
              <a:spcBef>
                <a:spcPts val="200"/>
              </a:spcBef>
              <a:buNone/>
            </a:pPr>
            <a:r>
              <a:rPr lang="en-US" sz="1500" dirty="0">
                <a:solidFill>
                  <a:srgbClr val="000000"/>
                </a:solidFill>
                <a:latin typeface="Arial"/>
                <a:cs typeface="Arial"/>
              </a:rPr>
              <a:t>Cách viết mọi phần và phần Tóm tắt</a:t>
            </a:r>
          </a:p>
        </p:txBody>
      </p:sp>
      <p:sp>
        <p:nvSpPr>
          <p:cNvPr id="88" name="Step"/>
          <p:cNvSpPr/>
          <p:nvPr/>
        </p:nvSpPr>
        <p:spPr>
          <a:xfrm>
            <a:off x="9431280" y="1220000"/>
            <a:ext cx="2303520" cy="760000"/>
          </a:xfrm>
          <a:prstGeom prst="chevron">
            <a:avLst>
              <a:gd name="adj" fmla="val 28000"/>
            </a:avLst>
          </a:prstGeom>
          <a:solidFill>
            <a:srgbClr val="055F56"/>
          </a:solidFill>
          <a:ln>
            <a:noFill/>
          </a:ln>
        </p:spPr>
        <p:txBody>
          <a:bodyPr wrap="square" lIns="200000" tIns="45720" rIns="200000" bIns="45720" rtlCol="0" anchor="ctr">
            <a:normAutofit/>
          </a:bodyPr>
          <a:lstStyle/>
          <a:p>
            <a:pPr marL="0" indent="0" algn="ctr">
              <a:buNone/>
            </a:pPr>
            <a:r>
              <a:rPr lang="en-US" sz="1400" b="1" dirty="0">
                <a:solidFill>
                  <a:srgbClr val="FFFFFF"/>
                </a:solidFill>
                <a:latin typeface="Arial"/>
                <a:cs typeface="Arial"/>
              </a:rPr>
              <a:t>Công bố</a:t>
            </a:r>
          </a:p>
        </p:txBody>
      </p:sp>
      <p:sp>
        <p:nvSpPr>
          <p:cNvPr id="89" name="StepText"/>
          <p:cNvSpPr/>
          <p:nvPr/>
        </p:nvSpPr>
        <p:spPr>
          <a:xfrm>
            <a:off x="9471280" y="2140000"/>
            <a:ext cx="2163520" cy="1574305"/>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Đề cương của chính bạn</a:t>
            </a:r>
          </a:p>
          <a:p>
            <a:pPr marL="0" indent="0" algn="ctr">
              <a:lnSpc>
                <a:spcPct val="104000"/>
              </a:lnSpc>
              <a:spcBef>
                <a:spcPts val="200"/>
              </a:spcBef>
              <a:buNone/>
            </a:pPr>
            <a:r>
              <a:rPr lang="en-US" sz="1500" dirty="0">
                <a:solidFill>
                  <a:srgbClr val="000000"/>
                </a:solidFill>
                <a:latin typeface="Arial"/>
                <a:cs typeface="Arial"/>
              </a:rPr>
              <a:t>Phần Kết quả của chính bạn</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bạn ra về với một đề cương nghiên cứu và một phần Kết quả sẵn sàng để nộp.</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Đánh giá khóa học</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50" name="Banner"/>
          <p:cNvSpPr/>
          <p:nvPr/>
        </p:nvSpPr>
        <p:spPr>
          <a:xfrm>
            <a:off x="457200" y="1120000"/>
            <a:ext cx="11277600" cy="470000"/>
          </a:xfrm>
          <a:prstGeom prst="rect">
            <a:avLst/>
          </a:prstGeom>
          <a:solidFill>
            <a:srgbClr val="0B376C"/>
          </a:solidFill>
          <a:ln>
            <a:noFill/>
          </a:ln>
        </p:spPr>
        <p:txBody>
          <a:bodyPr wrap="square" lIns="182880" tIns="45720" rIns="182880" bIns="45720" rtlCol="0" anchor="ctr">
            <a:normAutofit/>
          </a:bodyPr>
          <a:lstStyle/>
          <a:p>
            <a:pPr marL="0" indent="0" algn="l">
              <a:buNone/>
            </a:pPr>
            <a:r>
              <a:rPr lang="en-US" sz="1500" b="1" dirty="0">
                <a:solidFill>
                  <a:srgbClr val="FFFFFF"/>
                </a:solidFill>
                <a:latin typeface="Arial"/>
                <a:cs typeface="Arial"/>
              </a:rPr>
              <a:t>BÀI TẬP CÁ NHÂN   |   2 phút</a:t>
            </a:r>
          </a:p>
        </p:txBody>
      </p:sp>
      <p:sp>
        <p:nvSpPr>
          <p:cNvPr id="51" name="Steps"/>
          <p:cNvSpPr txBox="1"/>
          <p:nvPr/>
        </p:nvSpPr>
        <p:spPr>
          <a:xfrm>
            <a:off x="457200" y="1720000"/>
            <a:ext cx="11277600" cy="3510000"/>
          </a:xfrm>
          <a:prstGeom prst="rect">
            <a:avLst/>
          </a:prstGeom>
          <a:noFill/>
          <a:ln>
            <a:noFill/>
          </a:ln>
        </p:spPr>
        <p:txBody>
          <a:bodyPr wrap="square" lIns="91440" tIns="45720" rIns="91440" bIns="45720" rtlCol="0" anchor="t"/>
          <a:lstStyle/>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Chấm điểm từng buổi: nội dung, tốc độ, mức hữu ích</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Một điều nên giữ, một điều nên thay đổi</a:t>
            </a:r>
          </a:p>
          <a:p>
            <a:pPr marL="380000" indent="-380000" algn="l">
              <a:lnSpc>
                <a:spcPct val="104000"/>
              </a:lnSpc>
              <a:spcBef>
                <a:spcPts val="450"/>
              </a:spcBef>
              <a:buClr>
                <a:srgbClr val="0B376C"/>
              </a:buClr>
              <a:buFont typeface="Arial"/>
              <a:buChar char="•"/>
            </a:pPr>
            <a:r>
              <a:rPr lang="en-US" sz="1650" dirty="0">
                <a:solidFill>
                  <a:srgbClr val="000000"/>
                </a:solidFill>
                <a:latin typeface="Arial"/>
                <a:cs typeface="Arial"/>
              </a:rPr>
              <a:t>Bạn có quan tâm đến Cấp độ 2 (mô hình thống kê bằng R)?</a:t>
            </a:r>
          </a:p>
        </p:txBody>
      </p:sp>
      <p:sp>
        <p:nvSpPr>
          <p:cNvPr id="53" name="Deliverable"/>
          <p:cNvSpPr/>
          <p:nvPr/>
        </p:nvSpPr>
        <p:spPr>
          <a:xfrm>
            <a:off x="457200" y="5350000"/>
            <a:ext cx="11277600" cy="600000"/>
          </a:xfrm>
          <a:prstGeom prst="roundRect">
            <a:avLst>
              <a:gd name="adj" fmla="val 12000"/>
            </a:avLst>
          </a:prstGeom>
          <a:solidFill>
            <a:srgbClr val="FFFFFF"/>
          </a:solidFill>
          <a:ln w="15875">
            <a:solidFill>
              <a:srgbClr val="0B376C"/>
            </a:solidFill>
          </a:ln>
        </p:spPr>
        <p:txBody>
          <a:bodyPr wrap="square" lIns="182880" tIns="45720" rIns="182880" bIns="45720" rtlCol="0" anchor="ctr">
            <a:normAutofit/>
          </a:bodyPr>
          <a:lstStyle/>
          <a:p>
            <a:pPr marL="0" indent="0" algn="ctr">
              <a:buNone/>
            </a:pPr>
            <a:r>
              <a:rPr lang="en-US" sz="1300" b="1" dirty="0">
                <a:solidFill>
                  <a:srgbClr val="0B376C"/>
                </a:solidFill>
                <a:latin typeface="Arial"/>
                <a:cs typeface="Arial"/>
              </a:rPr>
              <a:t>SẢN PHẨM   </a:t>
            </a:r>
            <a:r>
              <a:rPr lang="en-US" sz="1500" dirty="0">
                <a:solidFill>
                  <a:srgbClr val="000000"/>
                </a:solidFill>
                <a:latin typeface="Arial"/>
                <a:cs typeface="Arial"/>
              </a:rPr>
              <a:t>Đã nộp phiếu đánh giá (ẩn danh)</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Sau khóa học: bình duyệt như tác giả thật</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80" name="Step"/>
          <p:cNvSpPr/>
          <p:nvPr/>
        </p:nvSpPr>
        <p:spPr>
          <a:xfrm>
            <a:off x="457200" y="1220000"/>
            <a:ext cx="2864400" cy="760000"/>
          </a:xfrm>
          <a:prstGeom prst="homePlate">
            <a:avLst>
              <a:gd name="adj" fmla="val 28000"/>
            </a:avLst>
          </a:prstGeom>
          <a:solidFill>
            <a:srgbClr val="0D7377"/>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Buổi 7</a:t>
            </a:r>
          </a:p>
        </p:txBody>
      </p:sp>
      <p:sp>
        <p:nvSpPr>
          <p:cNvPr id="81" name="StepText"/>
          <p:cNvSpPr/>
          <p:nvPr/>
        </p:nvSpPr>
        <p:spPr>
          <a:xfrm>
            <a:off x="4972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Người bình duyệt được phân ngẫu nhiên</a:t>
            </a:r>
          </a:p>
        </p:txBody>
      </p:sp>
      <p:sp>
        <p:nvSpPr>
          <p:cNvPr id="82" name="Step"/>
          <p:cNvSpPr/>
          <p:nvPr/>
        </p:nvSpPr>
        <p:spPr>
          <a:xfrm>
            <a:off x="3261600" y="1220000"/>
            <a:ext cx="2864400" cy="760000"/>
          </a:xfrm>
          <a:prstGeom prst="chevron">
            <a:avLst>
              <a:gd name="adj" fmla="val 28000"/>
            </a:avLst>
          </a:prstGeom>
          <a:solidFill>
            <a:srgbClr val="0B376C"/>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CN 20/12</a:t>
            </a:r>
          </a:p>
        </p:txBody>
      </p:sp>
      <p:sp>
        <p:nvSpPr>
          <p:cNvPr id="83" name="StepText"/>
          <p:cNvSpPr/>
          <p:nvPr/>
        </p:nvSpPr>
        <p:spPr>
          <a:xfrm>
            <a:off x="33016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Email bản nháp phần Kết quả trước 23:59</a:t>
            </a:r>
          </a:p>
          <a:p>
            <a:pPr marL="0" indent="0" algn="ctr">
              <a:lnSpc>
                <a:spcPct val="104000"/>
              </a:lnSpc>
              <a:spcBef>
                <a:spcPts val="200"/>
              </a:spcBef>
              <a:buNone/>
            </a:pPr>
            <a:r>
              <a:rPr lang="en-US" sz="1500" dirty="0">
                <a:solidFill>
                  <a:srgbClr val="000000"/>
                </a:solidFill>
                <a:latin typeface="Arial"/>
                <a:cs typeface="Arial"/>
              </a:rPr>
              <a:t>Gửi người bình duyệt và giảng viên</a:t>
            </a:r>
          </a:p>
        </p:txBody>
      </p:sp>
      <p:sp>
        <p:nvSpPr>
          <p:cNvPr id="84" name="Step"/>
          <p:cNvSpPr/>
          <p:nvPr/>
        </p:nvSpPr>
        <p:spPr>
          <a:xfrm>
            <a:off x="6066000" y="1220000"/>
            <a:ext cx="2864400" cy="760000"/>
          </a:xfrm>
          <a:prstGeom prst="chevron">
            <a:avLst>
              <a:gd name="adj" fmla="val 28000"/>
            </a:avLst>
          </a:prstGeom>
          <a:solidFill>
            <a:srgbClr val="5FA39B"/>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Thứ Tư 30/12</a:t>
            </a:r>
          </a:p>
        </p:txBody>
      </p:sp>
      <p:sp>
        <p:nvSpPr>
          <p:cNvPr id="85" name="StepText"/>
          <p:cNvSpPr/>
          <p:nvPr/>
        </p:nvSpPr>
        <p:spPr>
          <a:xfrm>
            <a:off x="61060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Gửi báo cáo bình duyệt</a:t>
            </a:r>
          </a:p>
          <a:p>
            <a:pPr marL="0" indent="0" algn="ctr">
              <a:lnSpc>
                <a:spcPct val="104000"/>
              </a:lnSpc>
              <a:spcBef>
                <a:spcPts val="200"/>
              </a:spcBef>
              <a:buNone/>
            </a:pPr>
            <a:r>
              <a:rPr lang="en-US" sz="1500" dirty="0">
                <a:solidFill>
                  <a:srgbClr val="000000"/>
                </a:solidFill>
                <a:latin typeface="Arial"/>
                <a:cs typeface="Arial"/>
              </a:rPr>
              <a:t>Dùng bảng kiểm phần Kết quả</a:t>
            </a:r>
          </a:p>
        </p:txBody>
      </p:sp>
      <p:sp>
        <p:nvSpPr>
          <p:cNvPr id="86" name="Step"/>
          <p:cNvSpPr/>
          <p:nvPr/>
        </p:nvSpPr>
        <p:spPr>
          <a:xfrm>
            <a:off x="8870400" y="1220000"/>
            <a:ext cx="2864400" cy="760000"/>
          </a:xfrm>
          <a:prstGeom prst="chevron">
            <a:avLst>
              <a:gd name="adj" fmla="val 28000"/>
            </a:avLst>
          </a:prstGeom>
          <a:solidFill>
            <a:srgbClr val="0070C0"/>
          </a:solidFill>
          <a:ln>
            <a:noFill/>
          </a:ln>
        </p:spPr>
        <p:txBody>
          <a:bodyPr wrap="square" lIns="200000" tIns="45720" rIns="200000" bIns="45720" rtlCol="0" anchor="ctr">
            <a:normAutofit/>
          </a:bodyPr>
          <a:lstStyle/>
          <a:p>
            <a:pPr marL="0" indent="0" algn="ctr">
              <a:buNone/>
            </a:pPr>
            <a:r>
              <a:rPr lang="en-US" sz="1600" b="1" dirty="0">
                <a:solidFill>
                  <a:srgbClr val="FFFFFF"/>
                </a:solidFill>
                <a:latin typeface="Arial"/>
                <a:cs typeface="Arial"/>
              </a:rPr>
              <a:t>Thứ Bảy 9/1</a:t>
            </a:r>
          </a:p>
        </p:txBody>
      </p:sp>
      <p:sp>
        <p:nvSpPr>
          <p:cNvPr id="87" name="StepText"/>
          <p:cNvSpPr/>
          <p:nvPr/>
        </p:nvSpPr>
        <p:spPr>
          <a:xfrm>
            <a:off x="8910400" y="2140000"/>
            <a:ext cx="2724400" cy="1336180"/>
          </a:xfrm>
          <a:prstGeom prst="rect">
            <a:avLst/>
          </a:prstGeom>
          <a:solidFill>
            <a:srgbClr val="EAF2F5"/>
          </a:solidFill>
          <a:ln>
            <a:noFill/>
          </a:ln>
        </p:spPr>
        <p:txBody>
          <a:bodyPr wrap="square" lIns="110000" tIns="91440" rIns="110000" bIns="91440" rtlCol="0" anchor="ctr">
            <a:normAutofit/>
          </a:bodyPr>
          <a:lstStyle/>
          <a:p>
            <a:pPr marL="0" indent="0" algn="ctr">
              <a:lnSpc>
                <a:spcPct val="104000"/>
              </a:lnSpc>
              <a:spcBef>
                <a:spcPts val="200"/>
              </a:spcBef>
              <a:buNone/>
            </a:pPr>
            <a:r>
              <a:rPr lang="en-US" sz="1500" dirty="0">
                <a:solidFill>
                  <a:srgbClr val="000000"/>
                </a:solidFill>
                <a:latin typeface="Arial"/>
                <a:cs typeface="Arial"/>
              </a:rPr>
              <a:t>Bản sửa phần Kết quả</a:t>
            </a:r>
          </a:p>
          <a:p>
            <a:pPr marL="0" indent="0" algn="ctr">
              <a:lnSpc>
                <a:spcPct val="104000"/>
              </a:lnSpc>
              <a:spcBef>
                <a:spcPts val="200"/>
              </a:spcBef>
              <a:buNone/>
            </a:pPr>
            <a:r>
              <a:rPr lang="en-US" sz="1500" dirty="0">
                <a:solidFill>
                  <a:srgbClr val="000000"/>
                </a:solidFill>
                <a:latin typeface="Arial"/>
                <a:cs typeface="Arial"/>
              </a:rPr>
              <a:t>Thư phản hồi ý kiến bình duyệt</a:t>
            </a:r>
          </a:p>
        </p:txBody>
      </p:sp>
      <p:sp>
        <p:nvSpPr>
          <p:cNvPr id="60" name="Takeaway"/>
          <p:cNvSpPr/>
          <p:nvPr/>
        </p:nvSpPr>
        <p:spPr>
          <a:xfrm>
            <a:off x="457200" y="5390000"/>
            <a:ext cx="11277600" cy="560000"/>
          </a:xfrm>
          <a:prstGeom prst="roundRect">
            <a:avLst>
              <a:gd name="adj" fmla="val 12000"/>
            </a:avLst>
          </a:prstGeom>
          <a:solidFill>
            <a:srgbClr val="0D7377"/>
          </a:solidFill>
          <a:ln>
            <a:noFill/>
          </a:ln>
        </p:spPr>
        <p:txBody>
          <a:bodyPr wrap="square" lIns="182880" tIns="45720" rIns="182880" bIns="45720" rtlCol="0" anchor="ctr">
            <a:normAutofit/>
          </a:bodyPr>
          <a:lstStyle/>
          <a:p>
            <a:pPr marL="0" indent="0" algn="ctr">
              <a:buNone/>
            </a:pPr>
            <a:r>
              <a:rPr lang="en-US" sz="1300" b="1" dirty="0">
                <a:solidFill>
                  <a:srgbClr val="FFFFFF"/>
                </a:solidFill>
                <a:latin typeface="Arial"/>
                <a:cs typeface="Arial"/>
              </a:rPr>
              <a:t>THÔNG ĐIỆP CHÍNH   </a:t>
            </a:r>
            <a:r>
              <a:rPr lang="en-US" sz="1550" dirty="0">
                <a:solidFill>
                  <a:srgbClr val="FFFFFF"/>
                </a:solidFill>
                <a:latin typeface="Arial"/>
                <a:cs typeface="Arial"/>
              </a:rPr>
              <a:t>Mỗi người bình duyệt một bản nháp phần Kết quả và nhận một bản bình duyệt.</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Title"/>
          <p:cNvSpPr txBox="1"/>
          <p:nvPr/>
        </p:nvSpPr>
        <p:spPr>
          <a:xfrm>
            <a:off x="457200" y="160000"/>
            <a:ext cx="11277600" cy="750000"/>
          </a:xfrm>
          <a:prstGeom prst="rect">
            <a:avLst/>
          </a:prstGeom>
          <a:noFill/>
          <a:ln>
            <a:noFill/>
          </a:ln>
        </p:spPr>
        <p:txBody>
          <a:bodyPr wrap="square" lIns="91440" tIns="45720" rIns="91440" bIns="45720" rtlCol="0" anchor="ctr"/>
          <a:lstStyle/>
          <a:p>
            <a:pPr marL="0" indent="0" algn="l">
              <a:buNone/>
            </a:pPr>
            <a:r>
              <a:rPr lang="en-US" sz="2800" b="1" dirty="0">
                <a:solidFill>
                  <a:srgbClr val="0D7377"/>
                </a:solidFill>
                <a:latin typeface="Arial"/>
                <a:cs typeface="Arial"/>
              </a:rPr>
              <a:t>Bước tiếp theo</a:t>
            </a:r>
          </a:p>
        </p:txBody>
      </p:sp>
      <p:sp>
        <p:nvSpPr>
          <p:cNvPr id="11" name="Rule"/>
          <p:cNvSpPr/>
          <p:nvPr/>
        </p:nvSpPr>
        <p:spPr>
          <a:xfrm>
            <a:off x="457200" y="940000"/>
            <a:ext cx="11277600" cy="0"/>
          </a:xfrm>
          <a:prstGeom prst="line">
            <a:avLst/>
          </a:prstGeom>
          <a:ln w="19050">
            <a:solidFill>
              <a:srgbClr val="0D7377"/>
            </a:solidFill>
          </a:ln>
        </p:spPr>
        <p:txBody>
          <a:bodyPr/>
          <a:lstStyle/>
          <a:p>
            <a:endParaRPr/>
          </a:p>
        </p:txBody>
      </p:sp>
      <p:sp>
        <p:nvSpPr>
          <p:cNvPr id="70" name="CardHead"/>
          <p:cNvSpPr/>
          <p:nvPr/>
        </p:nvSpPr>
        <p:spPr>
          <a:xfrm>
            <a:off x="457200" y="1849015"/>
            <a:ext cx="3625866" cy="640000"/>
          </a:xfrm>
          <a:prstGeom prst="rect">
            <a:avLst/>
          </a:prstGeom>
          <a:solidFill>
            <a:srgbClr val="0D7377"/>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Hoàn thành</a:t>
            </a:r>
          </a:p>
        </p:txBody>
      </p:sp>
      <p:sp>
        <p:nvSpPr>
          <p:cNvPr id="71" name="CardBody"/>
          <p:cNvSpPr/>
          <p:nvPr/>
        </p:nvSpPr>
        <p:spPr>
          <a:xfrm>
            <a:off x="457200" y="248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Tham dự 6 trên 8 buổi</a:t>
            </a:r>
          </a:p>
          <a:p>
            <a:pPr marL="0" indent="0" algn="ctr">
              <a:lnSpc>
                <a:spcPct val="104000"/>
              </a:lnSpc>
              <a:spcBef>
                <a:spcPts val="400"/>
              </a:spcBef>
              <a:buNone/>
            </a:pPr>
            <a:r>
              <a:rPr lang="en-US" sz="1750" dirty="0">
                <a:solidFill>
                  <a:srgbClr val="000000"/>
                </a:solidFill>
                <a:latin typeface="Arial"/>
                <a:cs typeface="Arial"/>
              </a:rPr>
              <a:t>Đã nộp đề cương</a:t>
            </a:r>
          </a:p>
          <a:p>
            <a:pPr marL="0" indent="0" algn="ctr">
              <a:lnSpc>
                <a:spcPct val="104000"/>
              </a:lnSpc>
              <a:spcBef>
                <a:spcPts val="400"/>
              </a:spcBef>
              <a:buNone/>
            </a:pPr>
            <a:r>
              <a:rPr lang="en-US" sz="1750" dirty="0">
                <a:solidFill>
                  <a:srgbClr val="000000"/>
                </a:solidFill>
                <a:latin typeface="Arial"/>
                <a:cs typeface="Arial"/>
              </a:rPr>
              <a:t>Nộp bản nháp phần Kết quả trước 23:59 Chủ nhật 20/12</a:t>
            </a:r>
          </a:p>
          <a:p>
            <a:pPr marL="0" indent="0" algn="ctr">
              <a:lnSpc>
                <a:spcPct val="104000"/>
              </a:lnSpc>
              <a:spcBef>
                <a:spcPts val="400"/>
              </a:spcBef>
              <a:buNone/>
            </a:pPr>
            <a:r>
              <a:rPr lang="en-US" sz="1750" dirty="0">
                <a:solidFill>
                  <a:srgbClr val="000000"/>
                </a:solidFill>
                <a:latin typeface="Arial"/>
                <a:cs typeface="Arial"/>
              </a:rPr>
              <a:t>Bình duyệt trước 30/12, bản sửa trước 9/1</a:t>
            </a:r>
          </a:p>
        </p:txBody>
      </p:sp>
      <p:sp>
        <p:nvSpPr>
          <p:cNvPr id="72" name="CardHead"/>
          <p:cNvSpPr/>
          <p:nvPr/>
        </p:nvSpPr>
        <p:spPr>
          <a:xfrm>
            <a:off x="4283066" y="1849015"/>
            <a:ext cx="3625866" cy="640000"/>
          </a:xfrm>
          <a:prstGeom prst="rect">
            <a:avLst/>
          </a:prstGeom>
          <a:solidFill>
            <a:srgbClr val="0B376C"/>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Bộ công cụ của bạn</a:t>
            </a:r>
          </a:p>
        </p:txBody>
      </p:sp>
      <p:sp>
        <p:nvSpPr>
          <p:cNvPr id="73" name="CardBody"/>
          <p:cNvSpPr/>
          <p:nvPr/>
        </p:nvSpPr>
        <p:spPr>
          <a:xfrm>
            <a:off x="4283066" y="248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Slide, tài liệu, bảng thuật ngữ</a:t>
            </a:r>
          </a:p>
          <a:p>
            <a:pPr marL="0" indent="0" algn="ctr">
              <a:lnSpc>
                <a:spcPct val="104000"/>
              </a:lnSpc>
              <a:spcBef>
                <a:spcPts val="400"/>
              </a:spcBef>
              <a:buNone/>
            </a:pPr>
            <a:r>
              <a:rPr lang="en-US" sz="1750" dirty="0">
                <a:solidFill>
                  <a:srgbClr val="000000"/>
                </a:solidFill>
                <a:latin typeface="Arial"/>
                <a:cs typeface="Arial"/>
              </a:rPr>
              <a:t>Mẫu cho mọi bước, từ đề cương đến thư trả lời phản biện</a:t>
            </a:r>
          </a:p>
        </p:txBody>
      </p:sp>
      <p:sp>
        <p:nvSpPr>
          <p:cNvPr id="74" name="CardHead"/>
          <p:cNvSpPr/>
          <p:nvPr/>
        </p:nvSpPr>
        <p:spPr>
          <a:xfrm>
            <a:off x="8108932" y="1849015"/>
            <a:ext cx="3625866" cy="640000"/>
          </a:xfrm>
          <a:prstGeom prst="rect">
            <a:avLst/>
          </a:prstGeom>
          <a:solidFill>
            <a:srgbClr val="5FA39B"/>
          </a:solidFill>
          <a:ln>
            <a:noFill/>
          </a:ln>
        </p:spPr>
        <p:txBody>
          <a:bodyPr wrap="square" lIns="91440" tIns="45720" rIns="91440" bIns="45720" rtlCol="0" anchor="ctr">
            <a:normAutofit/>
          </a:bodyPr>
          <a:lstStyle/>
          <a:p>
            <a:pPr marL="0" indent="0" algn="ctr">
              <a:buNone/>
            </a:pPr>
            <a:r>
              <a:rPr lang="en-US" sz="1900" b="1" dirty="0">
                <a:solidFill>
                  <a:srgbClr val="FFFFFF"/>
                </a:solidFill>
                <a:latin typeface="Arial"/>
                <a:cs typeface="Arial"/>
              </a:rPr>
              <a:t>Tiếp tục</a:t>
            </a:r>
          </a:p>
        </p:txBody>
      </p:sp>
      <p:sp>
        <p:nvSpPr>
          <p:cNvPr id="75" name="CardBody"/>
          <p:cNvSpPr/>
          <p:nvPr/>
        </p:nvSpPr>
        <p:spPr>
          <a:xfrm>
            <a:off x="8108932" y="2489015"/>
            <a:ext cx="3625866" cy="2202954"/>
          </a:xfrm>
          <a:prstGeom prst="rect">
            <a:avLst/>
          </a:prstGeom>
          <a:solidFill>
            <a:srgbClr val="EAF2F5"/>
          </a:solidFill>
          <a:ln>
            <a:noFill/>
          </a:ln>
        </p:spPr>
        <p:txBody>
          <a:bodyPr wrap="square" lIns="137160" tIns="91440" rIns="137160" bIns="91440" rtlCol="0" anchor="ctr">
            <a:normAutofit/>
          </a:bodyPr>
          <a:lstStyle/>
          <a:p>
            <a:pPr marL="0" indent="0" algn="ctr">
              <a:lnSpc>
                <a:spcPct val="104000"/>
              </a:lnSpc>
              <a:spcBef>
                <a:spcPts val="400"/>
              </a:spcBef>
              <a:buNone/>
            </a:pPr>
            <a:r>
              <a:rPr lang="en-US" sz="1750" dirty="0">
                <a:solidFill>
                  <a:srgbClr val="000000"/>
                </a:solidFill>
                <a:latin typeface="Arial"/>
                <a:cs typeface="Arial"/>
              </a:rPr>
              <a:t>Đưa đề cương đến hội đồng đạo đức</a:t>
            </a:r>
          </a:p>
          <a:p>
            <a:pPr marL="0" indent="0" algn="ctr">
              <a:lnSpc>
                <a:spcPct val="104000"/>
              </a:lnSpc>
              <a:spcBef>
                <a:spcPts val="400"/>
              </a:spcBef>
              <a:buNone/>
            </a:pPr>
            <a:r>
              <a:rPr lang="en-US" sz="1750" dirty="0">
                <a:solidFill>
                  <a:srgbClr val="000000"/>
                </a:solidFill>
                <a:latin typeface="Arial"/>
                <a:cs typeface="Arial"/>
              </a:rPr>
              <a:t>Cấp độ 2: thống kê với R</a:t>
            </a:r>
          </a:p>
          <a:p>
            <a:pPr marL="0" indent="0" algn="ctr">
              <a:lnSpc>
                <a:spcPct val="104000"/>
              </a:lnSpc>
              <a:spcBef>
                <a:spcPts val="400"/>
              </a:spcBef>
              <a:buNone/>
            </a:pPr>
            <a:r>
              <a:rPr lang="en-US" sz="1750" dirty="0">
                <a:solidFill>
                  <a:srgbClr val="000000"/>
                </a:solidFill>
                <a:latin typeface="Arial"/>
                <a:cs typeface="Arial"/>
              </a:rPr>
              <a:t>Cấp độ 3: phương pháp nâng cao</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Statement"/>
          <p:cNvSpPr txBox="1"/>
          <p:nvPr/>
        </p:nvSpPr>
        <p:spPr>
          <a:xfrm>
            <a:off x="1057200" y="1280000"/>
            <a:ext cx="10077600" cy="4470000"/>
          </a:xfrm>
          <a:prstGeom prst="rect">
            <a:avLst/>
          </a:prstGeom>
          <a:noFill/>
          <a:ln>
            <a:noFill/>
          </a:ln>
        </p:spPr>
        <p:txBody>
          <a:bodyPr wrap="square" lIns="91440" tIns="45720" rIns="91440" bIns="45720" rtlCol="0" anchor="ctr"/>
          <a:lstStyle/>
          <a:p>
            <a:pPr marL="0" indent="0" algn="ctr">
              <a:lnSpc>
                <a:spcPct val="110000"/>
              </a:lnSpc>
              <a:buNone/>
            </a:pPr>
            <a:r>
              <a:rPr lang="en-US" sz="3200" b="1" dirty="0">
                <a:solidFill>
                  <a:srgbClr val="0D7377"/>
                </a:solidFill>
                <a:latin typeface="Arial"/>
                <a:cs typeface="Arial"/>
              </a:rPr>
              <a:t>Xin cảm ơn!</a:t>
            </a:r>
          </a:p>
          <a:p>
            <a:pPr marL="0" indent="0" algn="ctr">
              <a:spcBef>
                <a:spcPts val="1200"/>
              </a:spcBef>
              <a:buNone/>
            </a:pPr>
            <a:r>
              <a:rPr lang="en-US" sz="1900" i="1" dirty="0">
                <a:solidFill>
                  <a:srgbClr val="595959"/>
                </a:solidFill>
                <a:latin typeface="Arial"/>
                <a:cs typeface="Arial"/>
              </a:rPr>
              <a:t>Câu hỏi tốt. Thiết kế chặt chẽ. Phân tích trung thực. Viết rõ ràng.</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pic>
        <p:nvPicPr>
          <p:cNvPr id="902" name="Logo"/>
          <p:cNvPicPr>
            <a:picLocks noChangeAspect="1"/>
          </p:cNvPicPr>
          <p:nvPr/>
        </p:nvPicPr>
        <p:blipFill>
          <a:blip r:embed="rId3"/>
          <a:stretch>
            <a:fillRect/>
          </a:stretch>
        </p:blipFill>
        <p:spPr>
          <a:xfrm>
            <a:off x="138853" y="6122125"/>
            <a:ext cx="716763" cy="683623"/>
          </a:xfrm>
          <a:prstGeom prst="rect">
            <a:avLst/>
          </a:prstGeom>
        </p:spPr>
      </p:pic>
      <p:sp>
        <p:nvSpPr>
          <p:cNvPr id="903"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2</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2" name="Logo"/>
          <p:cNvPicPr>
            <a:picLocks noChangeAspect="1"/>
          </p:cNvPicPr>
          <p:nvPr/>
        </p:nvPicPr>
        <p:blipFill>
          <a:blip r:embed="rId3"/>
          <a:stretch>
            <a:fillRect/>
          </a:stretch>
        </p:blipFill>
        <p:spPr>
          <a:xfrm>
            <a:off x="4438553" y="723719"/>
            <a:ext cx="3314894" cy="2906250"/>
          </a:xfrm>
          <a:prstGeom prst="rect">
            <a:avLst/>
          </a:prstGeom>
        </p:spPr>
      </p:pic>
      <p:sp>
        <p:nvSpPr>
          <p:cNvPr id="3" name="CopyHead"/>
          <p:cNvSpPr txBox="1"/>
          <p:nvPr/>
        </p:nvSpPr>
        <p:spPr>
          <a:xfrm>
            <a:off x="1100000" y="3650000"/>
            <a:ext cx="9000000" cy="500000"/>
          </a:xfrm>
          <a:prstGeom prst="rect">
            <a:avLst/>
          </a:prstGeom>
          <a:noFill/>
          <a:ln>
            <a:noFill/>
          </a:ln>
        </p:spPr>
        <p:txBody>
          <a:bodyPr wrap="square" lIns="0" tIns="45720" rIns="0" bIns="45720" rtlCol="0" anchor="t"/>
          <a:lstStyle/>
          <a:p>
            <a:pPr marL="0" indent="0" algn="l">
              <a:buNone/>
            </a:pPr>
            <a:r>
              <a:rPr lang="en-US" sz="2400" b="1" dirty="0">
                <a:solidFill>
                  <a:srgbClr val="4472C4"/>
                </a:solidFill>
                <a:latin typeface="Arial"/>
                <a:cs typeface="Arial"/>
              </a:rPr>
              <a:t>Copyright © Neudata, 2026</a:t>
            </a:r>
          </a:p>
        </p:txBody>
      </p:sp>
      <p:sp>
        <p:nvSpPr>
          <p:cNvPr id="4" name="CopyBody"/>
          <p:cNvSpPr txBox="1"/>
          <p:nvPr/>
        </p:nvSpPr>
        <p:spPr>
          <a:xfrm>
            <a:off x="1100000" y="4200000"/>
            <a:ext cx="9991440" cy="2200000"/>
          </a:xfrm>
          <a:prstGeom prst="rect">
            <a:avLst/>
          </a:prstGeom>
          <a:noFill/>
          <a:ln>
            <a:noFill/>
          </a:ln>
        </p:spPr>
        <p:txBody>
          <a:bodyPr wrap="square" lIns="0" tIns="45720" rIns="0" bIns="45720" rtlCol="0" anchor="t"/>
          <a:lstStyle/>
          <a:p>
            <a:pPr marL="0" indent="0" algn="l">
              <a:spcBef>
                <a:spcPts val="100"/>
              </a:spcBef>
              <a:buNone/>
            </a:pPr>
            <a:r>
              <a:rPr lang="en-US" sz="1200" dirty="0">
                <a:solidFill>
                  <a:srgbClr val="000000"/>
                </a:solidFill>
                <a:latin typeface="Courier New"/>
                <a:cs typeface="Courier New"/>
              </a:rPr>
              <a:t>All property rights and copyright are reserved.</a:t>
            </a:r>
          </a:p>
          <a:p>
            <a:pPr>
              <a:buNone/>
            </a:pPr>
            <a:endParaRPr sz="800"/>
          </a:p>
          <a:p>
            <a:pPr marL="0" indent="0" algn="l">
              <a:spcBef>
                <a:spcPts val="100"/>
              </a:spcBef>
              <a:buNone/>
            </a:pPr>
            <a:r>
              <a:rPr lang="en-US" sz="1200" dirty="0">
                <a:solidFill>
                  <a:srgbClr val="000000"/>
                </a:solidFill>
                <a:latin typeface="Courier New"/>
                <a:cs typeface="Courier New"/>
              </a:rPr>
              <a:t>This presentation contains proprietary data, information, and materials developed by Neudata for dedicated use only and may not be communicated, copied, reproduced, distributed, published, or cited, in whole or in part, without the prior written consent of Neudata.</a:t>
            </a:r>
          </a:p>
          <a:p>
            <a:pPr marL="0" indent="0" algn="l">
              <a:spcBef>
                <a:spcPts val="100"/>
              </a:spcBef>
              <a:buNone/>
            </a:pPr>
            <a:r>
              <a:rPr lang="en-US" sz="1200" dirty="0">
                <a:solidFill>
                  <a:srgbClr val="000000"/>
                </a:solidFill>
                <a:latin typeface="Courier New"/>
                <a:cs typeface="Courier New"/>
              </a:rPr>
              <a:t>Where explicit written permission has been granted, appropriate attribution must be included, followed by “by courtesy of Neudata”.</a:t>
            </a:r>
          </a:p>
          <a:p>
            <a:pPr>
              <a:buNone/>
            </a:pPr>
            <a:endParaRPr sz="800"/>
          </a:p>
          <a:p>
            <a:pPr marL="0" indent="0" algn="l">
              <a:spcBef>
                <a:spcPts val="100"/>
              </a:spcBef>
              <a:buNone/>
            </a:pPr>
            <a:r>
              <a:rPr lang="en-US" sz="1200" dirty="0">
                <a:solidFill>
                  <a:srgbClr val="000000"/>
                </a:solidFill>
                <a:latin typeface="Courier New"/>
                <a:cs typeface="Courier New"/>
              </a:rPr>
              <a:t>Any unauthorized use or infringement of these materials may give rise to legal action and claims for damages, without prejudice to any other rights of Neudata, including rights relating to patents, trademarks, or other forms of intellectual property protection.</a:t>
            </a:r>
          </a:p>
        </p:txBody>
      </p:sp>
      <p:sp>
        <p:nvSpPr>
          <p:cNvPr id="901" name="Footer"/>
          <p:cNvSpPr txBox="1"/>
          <p:nvPr/>
        </p:nvSpPr>
        <p:spPr>
          <a:xfrm>
            <a:off x="4599946" y="6458701"/>
            <a:ext cx="2845651" cy="276999"/>
          </a:xfrm>
          <a:prstGeom prst="rect">
            <a:avLst/>
          </a:prstGeom>
          <a:noFill/>
          <a:ln>
            <a:noFill/>
          </a:ln>
        </p:spPr>
        <p:txBody>
          <a:bodyPr wrap="none" lIns="91440" tIns="45720" rIns="91440" bIns="45720" rtlCol="0" anchor="t"/>
          <a:lstStyle/>
          <a:p>
            <a:r>
              <a:rPr lang="en-US" sz="1200" dirty="0">
                <a:solidFill>
                  <a:schemeClr val="accent5">
                    <a:lumMod val="50000"/>
                  </a:schemeClr>
                </a:solidFill>
                <a:latin typeface="Arial"/>
              </a:rPr>
              <a:t>Neudata | #ClearDataClearImpact</a:t>
            </a:r>
          </a:p>
        </p:txBody>
      </p:sp>
      <p:sp>
        <p:nvSpPr>
          <p:cNvPr id="905" name="Slide Number"/>
          <p:cNvSpPr>
            <a:spLocks noGrp="1"/>
          </p:cNvSpPr>
          <p:nvPr>
            <p:ph type="sldNum" sz="quarter" idx="12"/>
          </p:nvPr>
        </p:nvSpPr>
        <p:spPr>
          <a:xfrm>
            <a:off x="11330000" y="6470000"/>
            <a:ext cx="620000" cy="320000"/>
          </a:xfrm>
        </p:spPr>
        <p:txBody>
          <a:bodyPr/>
          <a:lstStyle/>
          <a:p>
            <a:pPr algn="r"/>
            <a:fld id="{C1FF6DA9-008F-8B48-92A6-B652298478BF}" type="slidenum">
              <a:rPr lang="en-US" sz="1050" smtClean="0">
                <a:solidFill>
                  <a:schemeClr val="accent5">
                    <a:lumMod val="50000"/>
                  </a:schemeClr>
                </a:solidFill>
              </a:rPr>
              <a:t>x</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Relationships xmlns="http://schemas.openxmlformats.org/package/2006/relationships">
  <Relationship Id="rId1" Type="http://schemas.openxmlformats.org/officeDocument/2006/relationships/customXmlProps" Target="itemProps1.xml"/>
</Relationships>

</file>

<file path=customXml/_rels/item2.xml.rels><?xml version="1.0" encoding="utf-8"?>
<Relationships xmlns="http://schemas.openxmlformats.org/package/2006/relationships">
  <Relationship Id="rId1" Type="http://schemas.openxmlformats.org/officeDocument/2006/relationships/customXmlProps" Target="itemProps2.xml"/>
</Relationships>

</file>

<file path=customXml/_rels/item3.xml.rels><?xml version="1.0" encoding="utf-8"?>
<Relationships xmlns="http://schemas.openxmlformats.org/package/2006/relationships">
  <Relationship Id="rId1" Type="http://schemas.openxmlformats.org/officeDocument/2006/relationships/customXmlProps" Target="itemProps3.xml"/>
</Relationships>

</file>

<file path=customXml/item1.xml><?xml version="1.0" encoding="utf-8"?>
<p:properties xmlns:p="http://schemas.microsoft.com/office/2006/metadata/properties" xmlns:xsi="http://www.w3.org/2001/XMLSchema-instance" xmlns:pc="http://schemas.microsoft.com/office/infopath/2007/PartnerControls">
  <documentManagement>
    <_activity xmlns="e658d648-6ffc-4f30-955e-342d2c65b5cc"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F54D7B907B5DFD428D1C0297734363F0" ma:contentTypeVersion="15" ma:contentTypeDescription="Een nieuw document maken." ma:contentTypeScope="" ma:versionID="26c99ba727eaa891493a7fa95ff6c725">
  <xsd:schema xmlns:xsd="http://www.w3.org/2001/XMLSchema" xmlns:xs="http://www.w3.org/2001/XMLSchema" xmlns:p="http://schemas.microsoft.com/office/2006/metadata/properties" xmlns:ns3="e658d648-6ffc-4f30-955e-342d2c65b5cc" xmlns:ns4="ab59a5c7-b96d-406d-bbef-f0a1b42de2f3" targetNamespace="http://schemas.microsoft.com/office/2006/metadata/properties" ma:root="true" ma:fieldsID="786a918a36af2f8db8f60bc36475a9d3" ns3:_="" ns4:_="">
    <xsd:import namespace="e658d648-6ffc-4f30-955e-342d2c65b5cc"/>
    <xsd:import namespace="ab59a5c7-b96d-406d-bbef-f0a1b42de2f3"/>
    <xsd:element name="properties">
      <xsd:complexType>
        <xsd:sequence>
          <xsd:element name="documentManagement">
            <xsd:complexType>
              <xsd:all>
                <xsd:element ref="ns3:_activity" minOccurs="0"/>
                <xsd:element ref="ns4:SharedWithUsers" minOccurs="0"/>
                <xsd:element ref="ns4:SharedWithDetails" minOccurs="0"/>
                <xsd:element ref="ns4:SharingHintHash" minOccurs="0"/>
                <xsd:element ref="ns3:MediaServiceMetadata" minOccurs="0"/>
                <xsd:element ref="ns3:MediaServiceFastMetadata" minOccurs="0"/>
                <xsd:element ref="ns3:MediaServiceObjectDetectorVersions" minOccurs="0"/>
                <xsd:element ref="ns3:MediaServiceDateTaken" minOccurs="0"/>
                <xsd:element ref="ns3:MediaServiceAutoTags" minOccurs="0"/>
                <xsd:element ref="ns3:MediaLengthInSeconds" minOccurs="0"/>
                <xsd:element ref="ns3:MediaServiceSearchProperties" minOccurs="0"/>
                <xsd:element ref="ns3:MediaServiceSystem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658d648-6ffc-4f30-955e-342d2c65b5cc" elementFormDefault="qualified">
    <xsd:import namespace="http://schemas.microsoft.com/office/2006/documentManagement/types"/>
    <xsd:import namespace="http://schemas.microsoft.com/office/infopath/2007/PartnerControls"/>
    <xsd:element name="_activity" ma:index="8" nillable="true" ma:displayName="_activity" ma:hidden="true" ma:internalName="_activity">
      <xsd:simpleType>
        <xsd:restriction base="dms:Note"/>
      </xsd:simpleType>
    </xsd:element>
    <xsd:element name="MediaServiceMetadata" ma:index="12" nillable="true" ma:displayName="MediaServiceMetadata" ma:hidden="true" ma:internalName="MediaServiceMetadata" ma:readOnly="true">
      <xsd:simpleType>
        <xsd:restriction base="dms:Note"/>
      </xsd:simpleType>
    </xsd:element>
    <xsd:element name="MediaServiceFastMetadata" ma:index="13" nillable="true" ma:displayName="MediaServiceFastMetadata" ma:hidden="true" ma:internalName="MediaServiceFastMetadata" ma:readOnly="true">
      <xsd:simpleType>
        <xsd:restriction base="dms:Note"/>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AutoTags" ma:index="16" nillable="true" ma:displayName="Tags" ma:internalName="MediaServiceAutoTags" ma:readOnly="true">
      <xsd:simpleType>
        <xsd:restriction base="dms:Text"/>
      </xsd:simpleType>
    </xsd:element>
    <xsd:element name="MediaLengthInSeconds" ma:index="17" nillable="true" ma:displayName="MediaLengthInSeconds" ma:hidden="true" ma:internalName="MediaLengthInSeconds" ma:readOnly="true">
      <xsd:simpleType>
        <xsd:restriction base="dms:Unknown"/>
      </xsd:simpleType>
    </xsd:element>
    <xsd:element name="MediaServiceSearchProperties" ma:index="18" nillable="true" ma:displayName="MediaServiceSearchProperties" ma:hidden="true" ma:internalName="MediaServiceSearchProperties" ma:readOnly="true">
      <xsd:simpleType>
        <xsd:restriction base="dms:Note"/>
      </xsd:simpleType>
    </xsd:element>
    <xsd:element name="MediaServiceSystemTags" ma:index="19" nillable="true" ma:displayName="MediaServiceSystemTags" ma:hidden="true" ma:internalName="MediaServiceSystemTags" ma:readOnly="true">
      <xsd:simpleType>
        <xsd:restriction base="dms:Note"/>
      </xsd:simpleType>
    </xsd:element>
    <xsd:element name="MediaServiceOCR" ma:index="20" nillable="true" ma:displayName="Extracted Text" ma:internalName="MediaServiceOCR" ma:readOnly="true">
      <xsd:simpleType>
        <xsd:restriction base="dms:Note">
          <xsd:maxLength value="255"/>
        </xsd:restriction>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EventHashCode" ma:index="22" nillable="true" ma:displayName="MediaServiceEventHashCode" ma:hidden="true" ma:internalName="MediaServiceEventHashCod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ab59a5c7-b96d-406d-bbef-f0a1b42de2f3" elementFormDefault="qualified">
    <xsd:import namespace="http://schemas.microsoft.com/office/2006/documentManagement/types"/>
    <xsd:import namespace="http://schemas.microsoft.com/office/infopath/2007/PartnerControls"/>
    <xsd:element name="SharedWithUsers" ma:index="9" nillable="true" ma:displayName="Gedeeld met"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0" nillable="true" ma:displayName="Gedeeld met details" ma:internalName="SharedWithDetails" ma:readOnly="true">
      <xsd:simpleType>
        <xsd:restriction base="dms:Note">
          <xsd:maxLength value="255"/>
        </xsd:restriction>
      </xsd:simpleType>
    </xsd:element>
    <xsd:element name="SharingHintHash" ma:index="11" nillable="true" ma:displayName="Hint-hash delen" ma:hidden="true" ma:internalName="SharingHintHash"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90B55F9-5C8D-46ED-979A-F6455BC92B05}">
  <ds:schemaRefs>
    <ds:schemaRef ds:uri="e658d648-6ffc-4f30-955e-342d2c65b5cc"/>
    <ds:schemaRef ds:uri="ab59a5c7-b96d-406d-bbef-f0a1b42de2f3"/>
    <ds:schemaRef ds:uri="http://purl.org/dc/elements/1.1/"/>
    <ds:schemaRef ds:uri="http://schemas.microsoft.com/office/2006/metadata/properties"/>
    <ds:schemaRef ds:uri="http://schemas.microsoft.com/office/2006/documentManagement/types"/>
    <ds:schemaRef ds:uri="http://schemas.openxmlformats.org/package/2006/metadata/core-properties"/>
    <ds:schemaRef ds:uri="http://purl.org/dc/dcmitype/"/>
    <ds:schemaRef ds:uri="http://schemas.microsoft.com/office/infopath/2007/PartnerControls"/>
    <ds:schemaRef ds:uri="http://www.w3.org/XML/1998/namespace"/>
    <ds:schemaRef ds:uri="http://purl.org/dc/terms/"/>
  </ds:schemaRefs>
</ds:datastoreItem>
</file>

<file path=customXml/itemProps2.xml><?xml version="1.0" encoding="utf-8"?>
<ds:datastoreItem xmlns:ds="http://schemas.openxmlformats.org/officeDocument/2006/customXml" ds:itemID="{183C2C74-28C0-461B-998D-91BCFE0ECC1C}">
  <ds:schemaRefs>
    <ds:schemaRef ds:uri="http://schemas.microsoft.com/sharepoint/v3/contenttype/forms"/>
  </ds:schemaRefs>
</ds:datastoreItem>
</file>

<file path=customXml/itemProps3.xml><?xml version="1.0" encoding="utf-8"?>
<ds:datastoreItem xmlns:ds="http://schemas.openxmlformats.org/officeDocument/2006/customXml" ds:itemID="{A73EACF0-A77F-4E50-B4B4-74F98872DC2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658d648-6ffc-4f30-955e-342d2c65b5cc"/>
    <ds:schemaRef ds:uri="ab59a5c7-b96d-406d-bbef-f0a1b42de2f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2181</TotalTime>
  <Words>443</Words>
  <Application>Microsoft Office PowerPoint</Application>
  <PresentationFormat>Widescreen</PresentationFormat>
  <Paragraphs>58</Paragraphs>
  <Slides>4</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4</vt:i4>
      </vt:variant>
    </vt:vector>
  </HeadingPairs>
  <TitlesOfParts>
    <vt:vector size="12" baseType="lpstr">
      <vt:lpstr>Arial</vt:lpstr>
      <vt:lpstr>Calibri</vt:lpstr>
      <vt:lpstr>Century Gothic</vt:lpstr>
      <vt:lpstr>Consolas</vt:lpstr>
      <vt:lpstr>Segoe UI</vt:lpstr>
      <vt:lpstr>Segoe UI (Body)</vt:lpstr>
      <vt:lpstr>Verdana</vt:lpstr>
      <vt:lpstr>Office Theme</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Osangir Bernard</dc:creator>
  <cp:keywords/>
  <dc:description>generated using python-pptx</dc:description>
  <cp:lastModifiedBy>Bernard OSANG'IR</cp:lastModifiedBy>
  <cp:revision>75</cp:revision>
  <dcterms:created xsi:type="dcterms:W3CDTF">2013-01-27T09:14:16Z</dcterms:created>
  <dcterms:modified xsi:type="dcterms:W3CDTF">2026-06-28T14:46:43Z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0x010100F54D7B907B5DFD428D1C0297734363F0</vt:lpwstr>
  </property>
</Properties>
</file>