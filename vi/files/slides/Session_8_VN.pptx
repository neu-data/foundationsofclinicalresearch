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(0:00). Tuần 8, Thứ Bảy - buổi cuối cùng. Hôm nay bản thảo FLUID-ICU trở thành bản nháp hoàn chỉnh, chúng ta theo một bài báo từ lúc nộp đến khi đăng, luyện phản biện, và mỗi nhóm trình bày đề cương của mình.</a:t>
            </a:r>
          </a:p>
          <a:p>
            <a:r>
              <a:rPr lang="en-US" sz="1400" b="0" dirty="0"/>
              <a:t>Phần bế mạc (kiểm tra cuối khóa, đánh giá, trao đổi bản thảo để phản biện) là 15 phút cuối và có slide riêng.</a:t>
            </a:r>
          </a:p>
          <a:p>
            <a:r>
              <a:rPr lang="en-US" sz="1400" b="0" dirty="0"/>
              <a:t>Trước khi bắt đầu: cả năm bài trình bày trên MỘT máy; bản nháp thực hành 1 của mỗi nhóm đã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(0:00-0:05). Giơ tay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(0:05-0:30). Mười một slide với ba ví dụ mẫu từ FLUID-ICU Q1 và 2 phút kiểm tra.</a:t>
            </a:r>
          </a:p>
          <a:p>
            <a:r>
              <a:rPr lang="en-US" sz="1400" b="0" dirty="0"/>
              <a:t>Thứ tự theo thứ tự viết thứ Bảy tuần trước: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y văn. Đoạn 1: điều đã biết (gánh nặng, cơ chế, thực hành hiện nay). Đoạn 2: điều chưa biết - khoảng trống, tốt nhất có dẫn chứng mâu thuẫn của cả hai phía. Đoạn 3: 'Vì vậy chúng tôi nhằm ...' - một câu mục tiêu khớp với kết cục chính trong phần Phương pháp.</a:t>
            </a:r>
          </a:p>
          <a:p>
            <a:r>
              <a:rPr lang="en-US" sz="1400" b="0" dirty="0"/>
              <a:t>Bài 1 là mẫu (chú giải #10-#12): đã biết (cân bằng dịch dương liên quan tử vong; dịch ẩn chiếm phần lớn lượng vào), chưa biết (các thử nghiệm trước chỉ nhắm dịch hồi sức), mục tiêu (mục tiêu chính = cân bằng dịch sau 5 ngày) - dưới 500 từ (trang 2-3).</a:t>
            </a:r>
          </a:p>
          <a:p>
            <a:r>
              <a:rPr lang="en-US" sz="1400" b="0" dirty="0"/>
              <a:t>Đoạn 2 của Bài 2 xác định khoảng trống bằng cách dẫn cả hai phía mâu thuẫn (#9) - nên làm theo; nhưng phần đặt vấn đề dài khoảng 550 từ và câu mục tiêu lặp lại từ nhân quả 'impact' (#3, #10).</a:t>
            </a:r>
          </a:p>
          <a:p>
            <a:r>
              <a:rPr lang="en-US" sz="1400" b="0" dirty="0"/>
              <a:t>Liên hệ Buổi 1-2: nêu vấn đề và PICO đã cho bạn cái phễu này - và slide tiếp theo là ví dụ mẫu cho bài báo FLUID-ICU.</a:t>
            </a:r>
          </a:p>
          <a:p>
            <a:r>
              <a:rPr lang="en-US" sz="1400" b="0" dirty="0"/>
              <a:t>Hỏi: trong một câu, điều gì CHƯA biết về chủ đề của nhóm bạn? Câu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bệnh nhân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các nhóm dùng tài liệu đã tìm ở Buổi 1-2 cùng Bài 1 và 2.</a:t>
            </a:r>
          </a:p>
          <a:p>
            <a:r>
              <a:rPr lang="en-US" sz="1400" b="0" dirty="0"/>
              <a:t>Lưu ý: nhiễu do chỉ định (Buổi 4) CHÍNH LÀ khoảng trống -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Hỏi: người viết lần đầu thường bỏ qua bước nào? Đáp án: hướng của hạn chế -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a:t>
            </a:r>
          </a:p>
          <a:p>
            <a:r>
              <a:rPr lang="en-US" sz="1400" b="0" dirty="0"/>
              <a:t>1 Trả lời: OR hiệu chỉnh 1,62 (KTC 95% 1,02 đến 2,59). 2 So sánh: Bài 2 có HR ngày 2 là 2,13 (1,48 đến 3,06). 3 Giải thích: OR thô 2,49 giảm còn 1,62 sau hiệu chỉnh - nhiễu do chỉ định. 4 Hạn chế: nhiễu còn sót, quan hệ nhân quả ngược (bệnh nhân đang xấu đi tích dịch), bệnh nhân tử vong trước ngày 3; HR Cox hiệu chỉnh 1,46 có KTC chạm 1,00. 5 Hàm ý: không có cơ sở hạn chế dịch - cần thử nghiệm như Bài 1. 6 Kết luận: 'có liên quan với'.</a:t>
            </a:r>
          </a:p>
          <a:p>
            <a:r>
              <a:rPr lang="en-US" sz="1400" b="0" dirty="0"/>
              <a:t>Ý tùy chọn cho nhóm Q1: liên quan có vẻ mạnh hơn ở bệnh nhân suy tim (OR hiệu chỉnh 4,39 so với 1,29, p tương tác 0,031, chỉ 90 bệnh nhân) -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ca đầy đủ (n = 527) và hiệu chỉnh sau quy gán đa bội (n = 620).</a:t>
            </a:r>
          </a:p>
          <a:p>
            <a:r>
              <a:rPr lang="en-US" sz="1400" b="0" dirty="0"/>
              <a:t>Ý chính: việc giảm từ 2,49 xuống 1,62 là bài học Buổi 4 hiện ra trước mắt - bệnh nhân nặng hơn được truyền nhiều dịch hơn VÀ tử vong nhiều hơn. Ước lượng quy gán gần với ca đầy đủ, nên lactat thiếu không làm đổi kết luận.</a:t>
            </a:r>
          </a:p>
          <a:p>
            <a:r>
              <a:rPr lang="en-US" sz="1400" b="0" dirty="0"/>
              <a:t>KTC hiệu chỉnh bắt đầu từ 1,02 - vừa trên 1. Câu tương xứng: 'vẫn còn mối liên quan mức độ vừa phải'.</a:t>
            </a:r>
          </a:p>
          <a:p>
            <a:r>
              <a:rPr lang="en-US" sz="1400" b="0" dirty="0"/>
              <a:t>Hỏi: nếu KTC hiệu chỉnh vượt qua 1 thì viết gì? Đáp án: 'không có bằng chứng rõ về liên quan sau hiệu chỉnh' -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 kết luận vượt quá dữ liệu - là một trong những lý do bị từ chối thường gặp nhất.</a:t>
            </a:r>
          </a:p>
          <a:p>
            <a:r>
              <a:rPr lang="en-US" sz="1400" b="0" dirty="0"/>
              <a:t>Đọc thang từ dưới lên: nghiên cứu mô tả 'ghi nhận'; đoàn hệ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đoàn hệ khác nhau thành 'nguy cơ cao nhất' mà không có kiểm định (#37).</a:t>
            </a:r>
          </a:p>
          <a:p>
            <a:r>
              <a:rPr lang="en-US" sz="1400" b="0" dirty="0"/>
              <a:t>Hỏi: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ca đầy đủ 1,39 mỗi mmol/L.</a:t>
            </a:r>
          </a:p>
          <a:p>
            <a:r>
              <a:rPr lang="en-US" sz="1400" b="0" dirty="0"/>
              <a:t>Lớp bỏ phiếu 'ổn' hay 'sửa'; mời một người sửa.</a:t>
            </a:r>
          </a:p>
          <a:p>
            <a:r>
              <a:rPr lang="en-US" sz="1400" b="0" dirty="0"/>
              <a:t>Câu 3: không dùng 'xu hướng' -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 Đặt vấn đề, Phương pháp, Kết quả, Kết luận - khoảng 250-300 từ; thử nghiệm thêm số đăng ký. Nhiều người đọc không đọc tiếp, nên tóm tắt phải tự đứng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a:p>
            <a:r>
              <a:rPr lang="en-US" sz="1400" b="0" dirty="0"/>
              <a:t>Hỏi: điều đầu tiên bạn tìm trong phần Kết quả của tóm tắt? Đáp án: tác động chính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bệnh nhân (618 phân tích, 373 cân bằng dương).</a:t>
            </a:r>
          </a:p>
          <a:p>
            <a:r>
              <a:rPr lang="en-US" sz="1400" b="0" dirty="0"/>
              <a:t>Kết luận: 'liên quan mức độ vừa phải' - khớp với KTC hiệu chỉnh 1,02 đến 2,59.</a:t>
            </a:r>
          </a:p>
          <a:p>
            <a:r>
              <a:rPr lang="en-US" sz="1400" b="0" dirty="0"/>
              <a:t>Hỏi: câu nào trong tóm tắt sẽ thay đổi nếu KTC hiệu chỉnh là 0,95 đến 2,40? Đáp án: Kết quả và Kết luận - 'không có bằng chứng rõ về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 tốt - nhưng hơn 25 từ và có từ đánh giá. Phiên bản mô tả ngắn hơn có trên slide.</a:t>
            </a:r>
          </a:p>
          <a:p>
            <a:r>
              <a:rPr lang="en-US" sz="1400" b="0" dirty="0"/>
              <a:t>Bài 2 (chú giải #1): 'Impact' là từ nhân quả cho một nghiên cứu đoàn hệ quan sát; người phản biện thường yêu cầu 'Association between ...'.</a:t>
            </a:r>
          </a:p>
          <a:p>
            <a:r>
              <a:rPr lang="en-US" sz="1400" b="0" dirty="0"/>
              <a:t>Từ khóa (Bài 1, chú giải #9): từ khóa lặp lại chữ đã có trong tiêu đề. Chọn 3-6 thuật ngữ MeSH CHƯA có trong tiêu đề để bài được tìm thấy qua nhiều lượt tìm kiếm hơn.</a:t>
            </a:r>
          </a:p>
          <a:p>
            <a:r>
              <a:rPr lang="en-US" sz="1400" b="0" dirty="0"/>
              <a:t>Hỏi: nói nghiên cứu của nhóm trong một dòng, bắt đầu bằng thiết kế. Đó là bản nháp tiêu đề tạm - các bạn sẽ viết nó trong hoạt động cuối phần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 bài định nghĩa Sepsis-3 - gần như chắc chắn sai số (chú giải #22). Không bao giờ trích dẫn tài liệu do AI gợi ý mà chưa đọc.</a:t>
            </a:r>
          </a:p>
          <a:p>
            <a:r>
              <a:rPr lang="en-US" sz="1400" b="0" dirty="0"/>
              <a:t>Bảng kiểm báo cáo: điền CONSORT hoặc STROBE trong lúc viết, kèm số trang -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KTPV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(0:30-1:00). Bộ dữ liệu khóa học. Các nhóm thêm Đặt vấn đề, Bàn luận, Tóm tắt và Tiêu đề vào phần Phương pháp + Kết quả thứ Bảy tuần trước.</a:t>
            </a:r>
          </a:p>
          <a:p>
            <a:r>
              <a:rPr lang="en-US" sz="1400" b="0" dirty="0"/>
              <a:t>Hướng dẫn: Practicals/s8_exercises.md, Phần B. Đoạn văn mẫu cho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 (0:30-1:00). Bật đồng hồ 30 phút; Đặt vấn đề và Bàn luận viết song song.</a:t>
            </a:r>
          </a:p>
          <a:p>
            <a:r>
              <a:rPr lang="en-US" sz="1400" b="0" dirty="0"/>
              <a:t>Đi quanh. Câu gợi ý: 'Câu đầu Bàn luận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Nhóm Q4: bàn luận vì sao kết quả phân tích ca đầy đủ và quy gán khác nhau (hoặc không). Nhóm Q5: chỉ người sống sót - nói rõ ai bị thiếu.</a:t>
            </a:r>
          </a:p>
          <a:p>
            <a:r>
              <a:rPr lang="en-US" sz="1400" b="0" dirty="0"/>
              <a:t>Lúc 0:58 đề nghị các nhóm lưu bài; bản nháp sẽ được trao đổi để phản biện (bài về nhà, 2 tuần, dùng bảng kiểm 10 câu hỏi ở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(1:00-1:15).</a:t>
            </a:r>
          </a:p>
          <a:p>
            <a:r>
              <a:rPr lang="en-US" sz="1400" b="0" dirty="0"/>
              <a:t>Trong giờ giải lao: đặt bài báo và bộ tài liệu thẩm định (Practicals/s8_exercises.md, Phần D) lên bàn - Bài 1 ở bàn 1-3, Bài 2 ở bàn 4-5. Phát bản GỐC (không chú giải).</a:t>
            </a:r>
          </a:p>
          <a:p>
            <a:r>
              <a:rPr lang="en-US" sz="1400" b="0" dirty="0"/>
              <a:t>Chép cả năm bài trình bày vào một máy và thử máy chiếu.</a:t>
            </a:r>
          </a:p>
          <a:p>
            <a:r>
              <a:rPr lang="en-US" sz="1400" b="0" dirty="0"/>
              <a:t>Thu năm bản nháp bản thảo (thư mục chung) - cần cho việc trao đổi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(1:15-1:40). Mười slide, 3 phút trình diễn EQUATOR và 2 phút kiểm tra.</a:t>
            </a:r>
          </a:p>
          <a:p>
            <a:r>
              <a:rPr lang="en-US" sz="1400" b="0" dirty="0"/>
              <a:t>Nhịp: khoảng 2 phút mỗi slide - chỉ vào hình, nêu một ví dụ, đi tiếp. Phần thẩm định cần trọn 20 phút lúc 1:40.</a:t>
            </a:r>
          </a:p>
          <a:p>
            <a:r>
              <a:rPr lang="en-US" sz="1400" b="0" dirty="0"/>
              <a:t>Liên hệ bản thảo: bản nháp FLUID-ICU sẽ đi đúng con đường này - bảng kiểm STROBE, chọn tạp chí, bộ hồ sơ nộp bài,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(equator-network.org).</a:t>
            </a:r>
          </a:p>
          <a:p>
            <a:r>
              <a:rPr lang="en-US" sz="1400" b="0" dirty="0"/>
              <a:t>CONSORT cho thử nghiệm ngẫu nhiên (bản cập nhật CONSORT 2025), STROBE cho nghiên cứu quan sát (đoàn hệ, bệnh-chứng, cắt ngang), STARD cho độ chính xác chẩn đoán, PRISMA cho tổng quan hệ thống, SPIRIT cho đề cương thử nghiệm (SPIRIT 2025), CARE cho báo cáo ca bệnh.</a:t>
            </a:r>
          </a:p>
          <a:p>
            <a:r>
              <a:rPr lang="en-US" sz="1400" b="0" dirty="0"/>
              <a:t>Ví dụ xuyên suốt: Bài 1 là RCT - CONSORT; Bài 2 là đoàn hệ - STROBE. Phát hiện thú vị từ bản chú giải: cả hai bài đều không ghi tên hướng dẫn. Bài 1 có sơ đồ CONSORT trong bài chính; Bài 2 để sơ đồ chọn bệnh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 nhưng đọc chúng TRƯỚC khi bắt đầu là bảng kiểm thiết kế tốt nhất.</a:t>
            </a:r>
          </a:p>
          <a:p>
            <a:r>
              <a:rPr lang="en-US" sz="1400" b="0" dirty="0"/>
              <a:t>Hỏi từng nhóm: hướng dẫn nào phù hợp đề cương của bạn? Thường là đoàn hệ hoặc cắt ngang (STROBE); một vài nhóm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dược sĩ? bác sĩ hồi sức?) quyết định tạp chí. Tin cậy: được chỉ mục trong MEDLINE/PubMed, Danh mục Tạp chí Truy cập Mở (DOAJ), Scopus hoặc Web of Science, có chính sách phản biện và rút bài rõ ràng.</a:t>
            </a:r>
          </a:p>
          <a:p>
            <a:r>
              <a:rPr lang="en-US" sz="1400" b="0" dirty="0"/>
              <a:t>Chi phí: nhiều tạp chí truy cập mở thu phí xử lý bài (APC); hỏi về miễn giảm và thỏa thuận của cơ sở. Giấy phép: Bài 1 là CC BY-NC-ND (được chia sẻ, không được chỉnh sửa hay dùng thương mại), Bài 2 là CC BY (được tái sử dụng nếu ghi nguồn).</a:t>
            </a:r>
          </a:p>
          <a:p>
            <a:r>
              <a:rPr lang="en-US" sz="1400" b="0" dirty="0"/>
              <a:t>Tốc độ: Bài 1 từ lúc nộp đến khi được chấp nhận khoảng 7 tuần (10/9 - 31/10/2024); Bài 2 khoảng 7 tháng (15/1 - 24/8/2023). Tốc độ khác nhau và tự nó không nói lên chất lượng.</a:t>
            </a:r>
          </a:p>
          <a:p>
            <a:r>
              <a:rPr lang="en-US" sz="1400" b="0" dirty="0"/>
              <a:t>Hỏi: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Tiền ấn phẩm (preprint): bản thảo đăng trên máy chủ công khai (với nghiên cứu y tế, nổi tiếng nhất là medRxiv) trước hoặc trong khi phản biện. Lợi ích: nhanh, có dấu thời gian công khai, nhận góp ý sớm. Rủi ro: chưa qua phản biện, báo chí hoặc đồng nghiệp có thể coi như đã được khẳng định. Đa số tạp chí chấp nhận bài đã đăng tiền ấn phẩm - kiểm tra chính sách trước, và cập nhật bản tiền ấn phẩm bằng trích dẫn bài đã đăng.</a:t>
            </a:r>
          </a:p>
          <a:p>
            <a:r>
              <a:rPr lang="en-US" sz="1400" b="0" dirty="0"/>
              <a:t>Truy cập mở: gold OA là tạp chí cho đọc miễn phí và thường thu phí xử lý bài (APC) - cả hai bài của chúng ta đều là gold OA (chú giải #2). Green OA là tự lưu bản thảo được chấp nhận vào kho lưu trữ, thường sau một thời gian cấm. Hỏi về miễn giảm và thỏa thuận của cơ sở.</a:t>
            </a:r>
          </a:p>
          <a:p>
            <a:r>
              <a:rPr lang="en-US" sz="1400" b="0" dirty="0"/>
              <a:t>Giấy phép: Bài 2 là CC BY (ai cũng được tái sử dụng và chỉnh sửa nếu ghi nguồn); Bài 1 là CC BY-NC-ND (được chia sẻ, không được chỉnh sửa hay dùng thương mại) - điều này cũng quan trọng khi muốn dùng lại hình trong giảng dạy.</a:t>
            </a:r>
          </a:p>
          <a:p>
            <a:r>
              <a:rPr lang="en-US" sz="1400" b="0" dirty="0"/>
              <a:t>Hỏi: bạn muốn vẽ lại sơ đồ chọn bệnh của Bài 1 để đưa vào slide giảng dạy. Có được không? Đáp án: chỉnh sửa không nằm trong CC BY-NC-ND - hãy xin phép hoặc trích dẫn và dẫn liên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phản biện,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để xem tạp chí có thật sự trong MEDLINE - và hỏi thủ thư bệnh viện.</a:t>
            </a:r>
          </a:p>
          <a:p>
            <a:r>
              <a:rPr lang="en-US" sz="1400" b="0" dirty="0"/>
              <a:t>Hỏi: tháng vừa rồi bao nhiêu người nhận được email kiểu này? Thường rất nhiều - ai đã từng đăng một bài đều nhận.</a:t>
            </a:r>
          </a:p>
          <a:p>
            <a:r>
              <a:rPr lang="en-US" sz="1400" b="0" dirty="0"/>
              <a:t>Phiếu bài tập s8 (Phần C) có bài tập ngắn 'nhận diện tạp chí săn mồi' để làm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(1:24-1:27). Kịch bản đầy đủ và phương án dự phòng không có mạng: Course/Demos/s8_demo.md.</a:t>
            </a:r>
          </a:p>
          <a:p>
            <a:r>
              <a:rPr lang="en-US" sz="1400" b="0" dirty="0"/>
              <a:t>Giữ trong 3 phút: trang chủ EQUATOR - ô tìm kiếm - trang CONSORT 2025 - bảng kiểm và sơ đồ; rồi STROBE. Sau đó tìm tên một tạp chí trên DOAJ, và trên NLM Catalog với bộ lọc 'currently indexed in MEDLINE'. Kết thúc bằng bảng kiểm Think.Check.Submit.</a:t>
            </a:r>
          </a:p>
          <a:p>
            <a:r>
              <a:rPr lang="en-US" sz="1400" b="0" dirty="0"/>
              <a:t>Nếu mất mạng, dùng các ảnh chụp màn hình mô tả trong kịch bản.</a:t>
            </a:r>
          </a:p>
          <a:p>
            <a:r>
              <a:rPr lang="en-US" sz="1400" b="0" dirty="0"/>
              <a:t>Kết: đề nghị mỗi nhóm kiểm tra tạp chí dự kiến và hướng dẫn báo cáo trong kế hoạch công bố (Xây dựng đề cương 7) và cho bản thảo FLUID-ICU (STROBE) - 30 giây, rồi tiếp tục với bộ hồ sơ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biên tập: một trang - vì sao chọn tạp chí này, điểm mới, bài chưa được nộp nơi khác, và bản tiền ấn phẩm nếu có. Trang tiêu đề: tất cả tác giả, đơn vị, mã ORCID (mã định danh nhà nghiên cứu miễn phí, vĩnh viễn - mọi học viên có thể đăng ký tại orcid.org), tác giả liên hệ, số từ. Bản thảo theo định dạng của tạp chí (ẩn danh nếu tạp chí phản biện kín hai chiều). Bảng và hình đúng tệp và độ phân giải yêu cầu. Bảng kiểm báo cáo kèm số trang. Các cam kết: số phê duyệt đạo đức, chấp thuận, xung đột lợi ích, tài trợ, khả năng cung cấp dữ liệu, đóng góp tác giả (CRediT) và việc dùng AI. Số đăng ký cho thử nghiệm và tổng quan hệ thống. Gợi ý người phản biện: chuyên gia không xung đột, không phải đồng tác giả gần đây - biên tập viên quyết định có dùng hay không. Tài liệu bổ sung.</a:t>
            </a:r>
          </a:p>
          <a:p>
            <a:r>
              <a:rPr lang="en-US" sz="1400" b="0" dirty="0"/>
              <a:t>Ví dụ xuyên suốt: Bài 1 có phần cam kết đầy đủ - đúng những gì hệ thống nộp bài hỏi, từng mục một (chú giải #48). Tóm tắt bằng hình là yêu cầu riêng của tạp chí, chỉ tìm thấy trong Hướng dẫn tác giả (#8).</a:t>
            </a:r>
          </a:p>
          <a:p>
            <a:r>
              <a:rPr lang="en-US" sz="1400" b="0" dirty="0"/>
              <a:t>Hỏi: ai trong nhóm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Nộp bài (kèm thư giới thiệu, bảng kiểm báo cáo và các cam kết) - biên tập viên sàng lọc, nhiều bài bị từ chối ngay mà không qua phản biện ('desk rejection') vì không phù hợp hoặc báo cáo kém - hai ba người phản biện nhận xét - biên tập quyết định: chấp nhận, sửa nhỏ, sửa lớn hoặc từ chối - bạn sửa và trả lời từng ý - được chấp nhận, rồi đọc bản in thử (thật cẩn thận!) và xuất bản.</a:t>
            </a:r>
          </a:p>
          <a:p>
            <a:r>
              <a:rPr lang="en-US" sz="1400" b="0" dirty="0"/>
              <a:t>Ví dụ xuyên suốt: người chú giải đánh giá Bài 1 'sửa nhỏ' và Bài 2 'sửa lớn' - cả hai đã được đăng, và cả hai vẫn còn lỗi mà một người phản biện cẩn thận sẽ phát hiện (Bài 1 còn in hai lần cùng một đoạn 'Study protocol' - lỗi đọc bản in thử).</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trả lời là một bảng - mỗi nhận xét của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trên slide là minh họa, dựa trên những gì người chú giải cho rằng phản biện sẽ hỏi Bài 1: bỏ 'xu hướng không có ý nghĩa' (chấp nhận); giải thích khối cỡ 2 (làm rõ và thêm hạn chế); yêu cầu một kết cục chưa từng thu thập (phản hồi lịch sự -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phản biện.</a:t>
            </a:r>
          </a:p>
          <a:p>
            <a:r>
              <a:rPr lang="en-US" sz="1400" b="0" dirty="0"/>
              <a:t>Có mẫu trong Course/Templates/ (thư trả lời phản biện).</a:t>
            </a:r>
          </a:p>
          <a:p>
            <a:r>
              <a:rPr lang="en-US" sz="1400" b="0" dirty="0"/>
              <a:t>Hỏi: phản biện yêu cầu một phân tích mà bạn cho là không phù hợp. Bạn viết gì? Đáp án: cảm ơn, giải thích lý do kèm tài liệu dẫn, và đề xuất phương án khác nếu có.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 trong Phương pháp (trang 4) và lại sau phần Kết luận (trang 11) - một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 kho lưu trữ của cơ sở, bản tóm tắt dễ hiểu cho người bệnh và đồng nghiệp, một buổi trình bày ngắn tại khoa, mạng xã hội. Nếu báo chí liên hệ, chỉ nói trong phạm vi thiết kế cho phép (lại là lời văn tương xứng).</a:t>
            </a:r>
          </a:p>
          <a:p>
            <a:r>
              <a:rPr lang="en-US" sz="1400" b="0" dirty="0"/>
              <a:t>Đính chính: nếu phát hiện lỗi sau khi đăng, liên hệ tạp chí - đính chính là trung thực; rút bài dành cho lỗi nghiêm trọng hoặc sai phạm.</a:t>
            </a:r>
          </a:p>
          <a:p>
            <a:r>
              <a:rPr lang="en-US" sz="1400" b="0" dirty="0"/>
              <a:t>Hỏi: ai sẽ trình bày lại kết quả đã công bố cho khoa của bạn? Đó là một phần của kế hoạch phổ biến.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(1:38-1:40). Giơ ngón cái lên (đúng) hoặc xuống (sai); mở đáp án.</a:t>
            </a:r>
          </a:p>
          <a:p>
            <a:r>
              <a:rPr lang="en-US" sz="1400" b="0" dirty="0"/>
              <a:t>Câu 1 'thường đúng' chứ không phải luôn đúng - tạp chí thật cũng mời viết bài, nhưng email tâng bốc gửi hàng loạt từ tạp chí lạ cần được kiểm tra năm dấu hiệu.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(1:40-2:00). Hướng dẫn đầy đủ cho giảng viên: Course/Resources/appraisal_instructor_guide.md (đáp án mẫu, câu gợi ý, thông điệp chính).</a:t>
            </a:r>
          </a:p>
          <a:p>
            <a:r>
              <a:rPr lang="en-US" sz="1400" b="0" dirty="0"/>
              <a:t>Cấu trúc: 2 phút hướng dẫn, 10 phút làm nhóm, 8 phút thảo luận chung. Bài báo và phiếu đã đặt sẵn trên bàn trong giờ giải lao.</a:t>
            </a:r>
          </a:p>
          <a:p>
            <a:r>
              <a:rPr lang="en-US" sz="1400" b="0" dirty="0"/>
              <a:t>Vì sao lúc này: sau khóa học mỗi nhóm phản biện bản nháp FLUID-ICU của một nhóm khác bằng CHÍNH 10 câu hỏi này -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 dịch truyền trong sốc nhiễm khuẩn - bằng hai thiết kế khác nhau. Nhóm 1-3 thẩm định Bài 1, thử nghiệm ngẫu nhiên (Boulet 2024, Critical Care). Nhóm 4-5 thẩm định Bài 2, đoàn hệ bắt cặp điểm xu hướng (Hyun 2023, Annals of Intensive Care).</a:t>
            </a:r>
          </a:p>
          <a:p>
            <a:r>
              <a:rPr lang="en-US" sz="1400" b="0" dirty="0"/>
              <a:t>Mỗi nhóm trả lời cùng 10 câu hỏi trên phiếu: Có / Không / Không rõ, kèm số trang tìm thấy.</a:t>
            </a:r>
          </a:p>
          <a:p>
            <a:r>
              <a:rPr lang="en-US" sz="1400" b="0" dirty="0"/>
              <a:t>Sau đó thảo luận chung: các nhóm báo cáo và so sánh mỗi thiết kế được phép kết luận gì.</a:t>
            </a:r>
          </a:p>
          <a:p>
            <a:r>
              <a:rPr lang="en-US" sz="1400" b="0" dirty="0"/>
              <a:t>Mẹo: chia việc trong nhóm - mỗi cặp nhận 3-4 câu, rồi cả nhóm thống nhất.</a:t>
            </a:r>
          </a:p>
          <a:p>
            <a:r>
              <a:rPr lang="en-US" sz="1400" b="0" dirty="0"/>
              <a:t>Liên hệ Buổi 4: 10 câu hỏi là phiên bản đơn giản của các công cụ đánh giá nguy cơ sai lệch chính thức -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 không giải thích đáp án.</a:t>
            </a:r>
          </a:p>
          <a:p>
            <a:r>
              <a:rPr lang="en-US" sz="1400" b="0" dirty="0"/>
              <a:t>Câu 1-2 về câu hỏi và thiết kế (Buổi 1-4). Câu 3 về đối tượng nghiên cứu - giá trị ngoại suy: bệnh nhân của bạn có nằm trong nghiên cứu này không? Câu 4 về tính tương đồng ban đầu - xem Bảng 1. Câu 5 về làm mù.</a:t>
            </a:r>
          </a:p>
          <a:p>
            <a:r>
              <a:rPr lang="en-US" sz="1400" b="0" dirty="0"/>
              <a:t>Gợi ý: ở câu 4 hai bài dùng công cụ khác nhau - phân nhóm ngẫu nhiên và bắt cặp điểm xu hướng. Đề nghị học viên tìm câu văn nói điều đó.</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 mỗi bài có một hạn chế rõ (xem hướng dẫn giảng viên).</a:t>
            </a:r>
          </a:p>
          <a:p>
            <a:r>
              <a:rPr lang="en-US" sz="1400" b="0" dirty="0"/>
              <a:t>Câu 10: nhận định lâm sàng - không có đáp án duy nhất, nhưng phải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NHÓM (1:42-1:52). Bật đồng hồ đếm ngược 10 phút trên màn hình.</a:t>
            </a:r>
          </a:p>
          <a:p>
            <a:r>
              <a:rPr lang="en-US" sz="1400" b="0" dirty="0"/>
              <a:t>Đi quanh các bàn. Các câu gợi ý hữu ích nhất (xem thêm trong hướng dẫn giảng viên): nhóm Bài 1 - 'Ai KHÔNG được làm mù, và ai quyết định lượng dịch truyền?' (bác sĩ không bị làm mù và chính họ kê dịch tạo nên kết cục); 'Tìm p = 0,42 trong phần Bàn luận - tác giả dùng từ gì?' (trang 10, 'xu hướng không có ý nghĩa thống kê'). Nhóm Bài 2 - 'Ai quyết định bệnh nhân nào được truyền nhiều dịch hơn?' (bác sĩ - bệnh nặng hơn được truyền nhiều hơn: nhiễu do chỉ định); 'Bệnh nhân phải nằm ICU ít nhất 3 ngày - ai bị thiếu?' (tử vong sớm và chuyển khoa sớm: sai lệch người sống sót).</a:t>
            </a:r>
          </a:p>
          <a:p>
            <a:r>
              <a:rPr lang="en-US" sz="1400" b="0" dirty="0"/>
              <a:t>Nhắc giờ: phút 7 'thống nhất câu trả lời'; phút 9 'chọn người báo cáo và viết nhận định một câu'.</a:t>
            </a:r>
          </a:p>
          <a:p>
            <a:r>
              <a:rPr lang="en-US" sz="1400" b="0" dirty="0"/>
              <a:t>Nếu nhóm bị kẹt ở phần thống kê, nói rằng 'Không rõ' là được phép và chuyển sang câu 8 và 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ở ĐẦU phần thảo luận chung, sau khi nhóm đầu tiên báo cáo, để định khung so sánh.</a:t>
            </a:r>
          </a:p>
          <a:p>
            <a:r>
              <a:rPr lang="en-US" sz="1400" b="0" dirty="0"/>
              <a:t>Bài 1: may rủi quyết định ai nhận chiến lược hạn chế dịch, nên các yếu tố đã biết VÀ chưa biết cân bằng về trung bình - thử nghiệm ngẫu nhiên được phép kết luận nhân quả. Kết luận của bài là âm tính: chiến lược không làm giảm cân bằng dịch ngày 5 (chênh 13,2 ml/kg, KTC 95% -15,2 đến 41,6, p = 0,42). Nhưng với 48 bệnh nhân, KTC rất rộng: đây là 'không có bằng chứng về tác dụng', không phải 'bằng chứng không có tác dụng' - và chắc chắn không phải 'xu hướng'.</a:t>
            </a:r>
          </a:p>
          <a:p>
            <a:r>
              <a:rPr lang="en-US" sz="1400" b="0" dirty="0"/>
              <a:t>Bài 2: bác sĩ quyết định lượng dịch cho từng bệnh nhân. Bắt cặp điểm xu hướng chỉ cân bằng được các yếu tố đã đo; bệnh nặng hơn được truyền nhiều hơn (nhiễu do chỉ định, Buổi 4) và mức độ nặng không bao giờ đo được đầy đủ. Vì vậy bài chỉ được nói cân bằng dịch dương ngày 2 'có liên quan với' tử vong 28 ngày cao hơn (HR 2,13, KTC 95% 1,48 đến 3,06) - không phải 'tác động' hay 'chứng tỏ' quan hệ nhân quả, dù tiêu đề dùng chữ 'Impact'.</a:t>
            </a:r>
          </a:p>
          <a:p>
            <a:r>
              <a:rPr lang="en-US" sz="1400" b="0" dirty="0"/>
              <a:t>Hỏi: nếu phải đổi thực hành ICU ngày mai, bài nào là bằng chứng nhân quả mạnh hơn, bài nào cho biết nhiều hơn về nguy cơ ngoài thực tế? Đáp án: RCT cho nhân quả (nhưng chỉ là thử nghiệm thí điểm nhỏ); đoàn hệ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 sau khi các nhóm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 trang 3; Bài 2: yêu cầu nằm ICU ít nhất 3 ngày loại bỏ bệnh nhân tử vong hoặc rời ICU sớm - sai lệch người sống sót - trang 2); lỗi lời văn (Bài 1 trang 10; Bài 2 tiêu đề và trang 4); và kết luận mà mỗi thiết kế cho phép.</a:t>
            </a:r>
          </a:p>
          <a:p>
            <a:r>
              <a:rPr lang="en-US" sz="1400" b="0" dirty="0"/>
              <a:t>Cả hai đều là bài tốt, đăng trên tạp chí Q1 - và cả hai đều có lỗi sửa được. Đó là trạng thái bình thường của y văn, và vì thế thẩm định là một kỹ năng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(1:52-2:00). Giữ đúng giờ: 1 phút cho mỗi báo cáo. Chiếu slide 'mỗi thiết kế được kết luận gì' trước và bảng so sánh sau cùng.</a:t>
            </a:r>
          </a:p>
          <a:p>
            <a:r>
              <a:rPr lang="en-US" sz="1400" b="0" dirty="0"/>
              <a:t>Hướng phần so sánh vào câu 4 (ngẫu nhiên hay bắt cặp), câu 5 (làm mù) và câu 8 (lời văn và thiết kế). Nếu còn thời gian, nhóm 5 trả lời câu 9-10 cho Bài 2 sau khi nhóm 3 trả lời cho Bài 1.</a:t>
            </a:r>
          </a:p>
          <a:p>
            <a:r>
              <a:rPr lang="en-US" sz="1400" b="0" dirty="0"/>
              <a:t>Bốn thông điệp chính ở khung bên phải - nói to từng thông điệp trước khi kết thúc.</a:t>
            </a:r>
          </a:p>
          <a:p>
            <a:r>
              <a:rPr lang="en-US" sz="1400" b="0" dirty="0"/>
              <a:t>Đáp án mẫu cho cả mười câu hai bài: Resources/appraisal_instructor_guide.md.</a:t>
            </a:r>
          </a:p>
          <a:p>
            <a:r>
              <a:rPr lang="en-US" sz="1400" b="0" dirty="0"/>
              <a:t>Chuyển tiếp: 'Giờ đến lượt các bạn được phản biện' -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trước phần trình bày - mời một người giải thích bằng lời của mình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Thông điệp mang về trước phần trình bày (1 phút). Đọc bốn thẻ; phần bế mạc sẽ nhắc lại những gì khóa học đã xây dựng.</a:t>
            </a:r>
          </a:p>
          <a:p>
            <a:r>
              <a:rPr lang="en-US" sz="1400" b="0" dirty="0"/>
              <a:t>Chuyển tiếp: 'Giờ đến lượt các bạn được phản biện' -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(2:00-2:45). Năm nhóm x 8 phút = 40 phút, rồi 5 phút để mỗi nhóm tóm tắt bản thảo trong một câu (hoặc dự phòng). Người bấm giờ rất quan trọng.</a:t>
            </a:r>
          </a:p>
          <a:p>
            <a:r>
              <a:rPr lang="en-US" sz="1400" b="0" dirty="0"/>
              <a:t>Chọn một người bấm giờ trong lớp (hoặc trợ giảng) với thẻ xanh, vàng, đỏ.</a:t>
            </a:r>
          </a:p>
          <a:p>
            <a:r>
              <a:rPr lang="en-US" sz="1400" b="0" dirty="0"/>
              <a:t>Nhắc lớp: kỹ năng phản biện vừa dùng nay áp dụng cho đề cương của chính chúng ta -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buổi học chỉ chấm PHẦN TRÌNH BÀY: tiêu chí 12-16 trong Course/Assignment/proposal_rubric.md, mỗi tiêu chí 6/4/2/0 điểm, tổng 30 điểm. Đề cương viết và kế hoạch công bố (tiêu chí 1-11, 70 điểm) được chấm sau khóa học.</a:t>
            </a:r>
          </a:p>
          <a:p>
            <a:r>
              <a:rPr lang="en-US" sz="1400" b="0" dirty="0"/>
              <a:t>Ai chấm: giảng viên chấm mọi nhóm; một nhóm đồng đẳng (luân phiên: Nhóm 2 góp ý Nhóm 1, Nhóm 3 góp ý Nhóm 2 ... Nhóm 1 góp ý Nhóm 5) điền phiếu góp ý ở cuối proposal_rubric.md.</a:t>
            </a:r>
          </a:p>
          <a:p>
            <a:r>
              <a:rPr lang="en-US" sz="1400" b="0" dirty="0"/>
              <a:t>Góp ý trong 2 phút (Assignment/presentation_guide.md): nhóm đồng đẳng 45 giây - hai ngôi sao và một mong muốn; giảng viên 60 giây - một điểm mạnh, cải thiện quan trọng nhất, một câu hỏi; nhóm trình bày 15 giây - 'cảm ơn', không biện hộ.</a:t>
            </a:r>
          </a:p>
          <a:p>
            <a:r>
              <a:rPr lang="en-US" sz="1400" b="0" dirty="0"/>
              <a:t>Điểm là góp ý để nhóm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thứ tự trình bày. Giờ tính từ lúc bắt đầu buổi học (2:00 = sau hai giờ; nếu bắt đầu 08:00 thì là 10:00-10:45). 2:40-2:45: mỗi nhóm nêu câu hỏi FLUID-ICU và kết quả chính trong một câu - hoặc 5 phút này bù cho phần trình bày bị trễ.</a:t>
            </a:r>
          </a:p>
          <a:p>
            <a:r>
              <a:rPr lang="en-US" sz="1400" b="0" dirty="0"/>
              <a:t>Người bấm giờ giơ thẻ XANH ở phút 4 (còn 2 phút), VÀNG ở phút 5 (còn 1 phút) và ĐỎ ở phút 6 (dừng).</a:t>
            </a:r>
          </a:p>
          <a:p>
            <a:r>
              <a:rPr lang="en-US" sz="1400" b="0" dirty="0"/>
              <a:t>Nhóm tiếp theo lên phía trước trong lúc nhóm trước nhận góp ý. Mọi slide đã ở sẵn trên một máy - không đổi USB.</a:t>
            </a:r>
          </a:p>
          <a:p>
            <a:r>
              <a:rPr lang="en-US" sz="1400" b="0" dirty="0"/>
              <a:t>Nếu bị trễ, rút ngắn phần góp ý, không bao giờ rút ngắn bài của các nhóm cuối - như vậy không công bằng với nhóm trình bày sau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slide này trên màn hình trong lúc trình bày nếu các nhóm trình chiếu từ tệp riêng; nếu không, chuyển sang slide của từng nhóm.</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một câu hỏi nếu còn thời gian.</a:t>
            </a:r>
          </a:p>
          <a:p>
            <a:r>
              <a:rPr lang="en-US" sz="1400" b="0" dirty="0"/>
              <a:t>Kiểm tra slide 6 của mỗi nhóm: tạp chí dự kiến + đúng hướng dẫn (STROBE cho đoàn hệ, CONSORT cho thử nghiệm), tiêu đề tạm với lời văn tương xứng, vai trò CRediT, một dòng khung tóm tắt.</a:t>
            </a:r>
          </a:p>
          <a:p>
            <a:r>
              <a:rPr lang="en-US" sz="1400" b="0" dirty="0"/>
              <a:t>Vấn đề thường gặp: kết cục không đo được từ dữ liệu thường quy; dự định kết luận nhân quả từ thiết kế quan sát (liên hệ lại bài thẩm định!); không có kế hoạch chấp thuận cho bệnh nhân an thần; tuyển bệnh không thực tế.</a:t>
            </a:r>
          </a:p>
          <a:p>
            <a:r>
              <a:rPr lang="en-US" sz="1400" b="0" dirty="0"/>
              <a:t>Lúc 2:40 mỗi nhóm tóm tắt bản thảo trong một câu (câu hỏi + kết quả chính, mỗi nhóm 1 phút). Lúc 2:45 thu phiếu góp ý và chuyển ngay sang phần bế mạc: kiểm tra cuối khóa, đánh giá và trao đổi bản thảo để phản biện (các slide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nếu Thực hành bản thảo 2 xong sớm hoặc làm ở nhà). Phiếu bài tập: Practicals/s8_exercises.md, Phần A (bài tập viết).</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ICU và tử vong 28 ngày ở bệnh nhân nhiễm khuẩn huyết: nghiên cứu đoàn hệ bắt cặp điểm xu hướng' - 'liên quan', không phải 'tác động'.</a:t>
            </a:r>
          </a:p>
          <a:p>
            <a:r>
              <a:rPr lang="en-US" sz="1400" b="0" dirty="0"/>
              <a:t>Tiêu đề nhóm: kiểm tra 10-16 từ, nêu thiết kế, không có từ đánh giá. Khung tóm tắt: Kết quả là kết quả DỰ KIẾN - viết dạng trình bày, VD 'tử vong 28 ngày, RR (KTC 95%)'.</a:t>
            </a:r>
          </a:p>
          <a:p>
            <a:r>
              <a:rPr lang="en-US" sz="1400" b="0" dirty="0"/>
              <a:t>Nếu còn thời gian, mời 2 nhóm đọc to tiêu đề. Các nhóm đưa tiêu đề và khung tóm tắt vào bài trình bày trong giờ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 thường vì chủ đề không hợp tạp chí hoặc báo cáo kém. Chọn lại: tạp chí mà người đọc cần kết quả của bạn.</a:t>
            </a:r>
          </a:p>
          <a:p>
            <a:r>
              <a:rPr lang="en-US" sz="1400" b="0" dirty="0"/>
              <a:t>Sau phản biện: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chị em - có thể tiết kiệm hàng tháng. Chỉ khiếu nại khi quyết định có lỗi sai rõ ràng về sự kiện.</a:t>
            </a:r>
          </a:p>
          <a:p>
            <a:r>
              <a:rPr lang="en-US" sz="1400" b="0" dirty="0"/>
              <a:t>Không bao giờ nộp cho hai tạp chí cùng lúc (nộp trùng lặp là sai phạm).</a:t>
            </a:r>
          </a:p>
          <a:p>
            <a:r>
              <a:rPr lang="en-US" sz="1400" b="0" dirty="0"/>
              <a:t>Hỏi: việc đầu tiên sau khi bị từ chối là gì? Đáp án: đọc nhận xét để tìm điều cần sửa, không phải để tìm lý do tức giận.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 'kết quả sẽ được trình bày' thường bị loại. Tuân theo mẫu và hạn nộp của hội nghị.</a:t>
            </a:r>
          </a:p>
          <a:p>
            <a:r>
              <a:rPr lang="en-US" sz="1400" b="0" dirty="0"/>
              <a:t>Áp phích: một bảng quảng cáo,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 và hãy viết bài đầy đủ: nhiều tóm tắt không bao giờ trở thành bài báo.</a:t>
            </a:r>
          </a:p>
          <a:p>
            <a:r>
              <a:rPr lang="en-US" sz="1400" b="0" dirty="0"/>
              <a:t>Có mẫu tóm tắt hội nghị trong Course/Templates/.</a:t>
            </a:r>
          </a:p>
          <a:p>
            <a:r>
              <a:rPr lang="en-US" sz="1400" b="0" dirty="0"/>
              <a:t>Hỏi: hình duy nhất trên áp phích của nhóm bạn sẽ là gì? Đáp án: kết cục chính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cuối của Buổi 8. Giữ nhịp nhanh và tích cực.</a:t>
            </a:r>
          </a:p>
          <a:p>
            <a:r>
              <a:rPr lang="en-US" sz="1400" b="0" dirty="0"/>
              <a:t>Cảm ơn các nhóm đã trình bày trước khi bắt đầu bài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Phát cùng bài kiểm tra (biểu mẫu trực tuyến hoặc bản giấy).</a:t>
            </a:r>
          </a:p>
          <a:p>
            <a:r>
              <a:rPr lang="en-US" sz="1400" b="0" dirty="0"/>
              <a:t>Sau buổi học: tính mức thay đổi điểm trung bình trước/sau bằng bảng trong pre_post_quiz_answer_key - báo cáo cho lãnh đạo khoa trong báo cáo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Ghi nhận thành quả: mỗi nhóm đã có một đề cương có thể nộp hội đồng đạo đức và một bản thảo bài báo.</a:t>
            </a:r>
          </a:p>
          <a:p>
            <a:r>
              <a:rPr lang="en-US" sz="1400" b="0" dirty="0"/>
              <a:t>Đề nghị mỗi nhóm thống nhất bước tiếp theo trước khi về: ai hoàn thiện đề cương, ngày dự kiến nộp hội đồng đạo đức, ai phụ trách phản biện chéo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ngắn ẩn danh (giấy hoặc trực tuyến). Câu hỏi về tốc độ rất quan trọng - chúng tôi thiết kế khóa học để đi chậm; hãy cho biết như vậy đã phù hợp chưa.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cách đổi bài: nhóm 1 phản biện nhóm 2, 2 phản biện 3, ... 5 phản biện 1.</a:t>
            </a:r>
          </a:p>
          <a:p>
            <a:r>
              <a:rPr lang="en-US" sz="1400" b="0" dirty="0"/>
              <a:t>Phản biện theo Assignment/peer_review_instructions.md và bảng kiểm 10 câu; tác giả trả lời bằng Templates/Response_to_Reviewers_Template.docx.</a:t>
            </a:r>
          </a:p>
          <a:p>
            <a:r>
              <a:rPr lang="en-US" sz="1400" b="0" dirty="0"/>
              <a:t>Đây là bước cuối cùng của toàn bộ quá trình nghiên cứu - đúng như sau khi nộp bài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Cấp độ 2 (thực hành, cho những ai muốn tự phân tích): dự án R có thể tái lập, quản lý dữ liệu, hồi quy tuyến tính và logistic chuyên sâu, dữ liệu thiếu, bảng và hình đạt chuẩn công bố. Điều kiện: đã học khóa này và khóa miễn phí Phân tích dữ liệu lâm sàng với R của Neudata.</a:t>
            </a:r>
          </a:p>
          <a:p>
            <a:r>
              <a:rPr lang="en-US" sz="1400" b="0" dirty="0"/>
              <a:t>Cấp độ 3 (theo yêu cầu): phương pháp nâng cao cho dữ liệu phức tạp - phân tích gộp, mô hình dự báo và học máy, độ chính xác chẩn đoán, phân tích sống còn nâng cao, mô hình dọc và đa tầng. Xem Course_Levels/.</a:t>
            </a:r>
          </a:p>
          <a:p>
            <a:r>
              <a:rPr lang="en-US" sz="1400" b="0" dirty="0"/>
              <a:t>Cung cấp thông tin liên hệ của giảng viên để hỏi thêm.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Chụp ảnh lưu niệm.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8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Ôn tập (5 phút)</a:t>
            </a:r>
          </a:p>
          <a:p>
            <a:pPr marL="274320" indent="-274320" algn="l">
              <a:spcBef>
                <a:spcPts val="440"/>
              </a:spcBef>
              <a:buFont typeface="Arial"/>
              <a:buChar char="•"/>
            </a:pPr>
            <a:r>
              <a:rPr lang="en-US" sz="1900" dirty="0">
                <a:solidFill>
                  <a:srgbClr val="000000"/>
                </a:solidFill>
                <a:latin typeface="Segoe UI"/>
                <a:cs typeface="Segoe UI"/>
              </a:rPr>
              <a:t>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Segoe UI"/>
                <a:cs typeface="Segoe UI"/>
              </a:rPr>
              <a:t>Thực hành bản thảo 2: hoàn thiện bản nháp</a:t>
            </a:r>
          </a:p>
          <a:p>
            <a:pPr marL="274320" indent="-274320" algn="l">
              <a:spcBef>
                <a:spcPts val="440"/>
              </a:spcBef>
              <a:buFont typeface="Arial"/>
              <a:buChar char="•"/>
            </a:pPr>
            <a:r>
              <a:rPr lang="en-US" sz="1900" dirty="0">
                <a:solidFill>
                  <a:srgbClr val="000000"/>
                </a:solidFill>
                <a:latin typeface="Segoe UI"/>
                <a:cs typeface="Segoe UI"/>
              </a:rPr>
              <a:t>8.2  Công bố: từ bảng kiểm đến bản in thử</a:t>
            </a:r>
          </a:p>
          <a:p>
            <a:pPr marL="274320" indent="-274320" algn="l">
              <a:spcBef>
                <a:spcPts val="440"/>
              </a:spcBef>
              <a:buFont typeface="Arial"/>
              <a:buChar char="•"/>
            </a:pPr>
            <a:r>
              <a:rPr lang="en-US" sz="1900" dirty="0">
                <a:solidFill>
                  <a:srgbClr val="000000"/>
                </a:solidFill>
                <a:latin typeface="Segoe UI"/>
                <a:cs typeface="Segoe UI"/>
              </a:rPr>
              <a:t>8.3  Làm người phản biện: thẩm định Bài 1 và 2</a:t>
            </a:r>
          </a:p>
          <a:p>
            <a:pPr marL="274320" indent="-274320" algn="l">
              <a:spcBef>
                <a:spcPts val="440"/>
              </a:spcBef>
              <a:buFont typeface="Arial"/>
              <a:buChar char="•"/>
            </a:pPr>
            <a:r>
              <a:rPr lang="en-US" sz="1900" dirty="0">
                <a:solidFill>
                  <a:srgbClr val="000000"/>
                </a:solidFill>
                <a:latin typeface="Segoe UI"/>
                <a:cs typeface="Segoe UI"/>
              </a:rPr>
              <a:t>Các nhóm trình bày: đề cương +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Ai chấp thuận cho bệnh nhân sốc nhiễm khuẩn đang an thần?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Mục STROBE nào yêu cầu ước lượng thô VÀ hiệu chỉnh?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Câu 'có thể do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đại diện hợp pháp (hoặc chấp thuận trì hoãn nếu được duyệt)</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16 (kết quả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trở lại tinh thần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(II)</a:t>
            </a:r>
          </a:p>
          <a:p>
            <a:pPr marL="0" indent="0" algn="ctr">
              <a:spcBef>
                <a:spcPts val="1200"/>
              </a:spcBef>
              <a:buNone/>
            </a:pPr>
            <a:r>
              <a:rPr lang="en-US" sz="1900" i="1" dirty="0">
                <a:solidFill>
                  <a:srgbClr val="595959"/>
                </a:solidFill>
                <a:latin typeface="Segoe UI"/>
                <a:cs typeface="Segoe UI"/>
              </a:rPr>
              <a:t>Đặt vấn đề, Bàn luận, Tóm tắt và Tiêu đề -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mục tiêu - và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Đã biết</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Dịch truyền cứu sống giai đoạn sớm</a:t>
            </a:r>
          </a:p>
          <a:p>
            <a:pPr marL="0" indent="0" algn="l">
              <a:lnSpc>
                <a:spcPct val="104000"/>
              </a:lnSpc>
              <a:spcBef>
                <a:spcPts val="400"/>
              </a:spcBef>
              <a:buNone/>
            </a:pPr>
            <a:r>
              <a:rPr lang="en-US" sz="1750" dirty="0">
                <a:solidFill>
                  <a:srgbClr val="000000"/>
                </a:solidFill>
                <a:latin typeface="Segoe UI"/>
                <a:cs typeface="Segoe UI"/>
              </a:rPr>
              <a:t>Cân bằng dương liên quan tử vong</a:t>
            </a:r>
          </a:p>
          <a:p>
            <a:pPr marL="0" indent="0" algn="l">
              <a:lnSpc>
                <a:spcPct val="104000"/>
              </a:lnSpc>
              <a:spcBef>
                <a:spcPts val="400"/>
              </a:spcBef>
              <a:buNone/>
            </a:pPr>
            <a:r>
              <a:rPr lang="en-US" sz="1750" dirty="0">
                <a:solidFill>
                  <a:srgbClr val="000000"/>
                </a:solidFill>
                <a:latin typeface="Segoe UI"/>
                <a:cs typeface="Segoe UI"/>
              </a:rPr>
              <a:t>(Bài 2; các đoàn hệ lớn)</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Chưa biết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Liên quan còn không sau khi</a:t>
            </a:r>
          </a:p>
          <a:p>
            <a:pPr marL="0" indent="0" algn="l">
              <a:lnSpc>
                <a:spcPct val="104000"/>
              </a:lnSpc>
              <a:spcBef>
                <a:spcPts val="400"/>
              </a:spcBef>
              <a:buNone/>
            </a:pPr>
            <a:r>
              <a:rPr lang="en-US" sz="1750" dirty="0">
                <a:solidFill>
                  <a:srgbClr val="000000"/>
                </a:solidFill>
                <a:latin typeface="Segoe UI"/>
                <a:cs typeface="Segoe UI"/>
              </a:rPr>
              <a:t>hiệu chỉnh theo mức độ nặng</a:t>
            </a:r>
          </a:p>
          <a:p>
            <a:pPr marL="0" indent="0" algn="l">
              <a:lnSpc>
                <a:spcPct val="104000"/>
              </a:lnSpc>
              <a:spcBef>
                <a:spcPts val="400"/>
              </a:spcBef>
              <a:buNone/>
            </a:pPr>
            <a:r>
              <a:rPr lang="en-US" sz="1750" dirty="0">
                <a:solidFill>
                  <a:srgbClr val="000000"/>
                </a:solidFill>
                <a:latin typeface="Segoe UI"/>
                <a:cs typeface="Segoe UI"/>
              </a:rPr>
              <a:t>Bệnh nặng hơn được truyền nhiều hơn</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Mục tiêu</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Chúng tôi đánh giá cân bằng dương</a:t>
            </a:r>
          </a:p>
          <a:p>
            <a:pPr marL="0" indent="0" algn="l">
              <a:lnSpc>
                <a:spcPct val="104000"/>
              </a:lnSpc>
              <a:spcBef>
                <a:spcPts val="400"/>
              </a:spcBef>
              <a:buNone/>
            </a:pPr>
            <a:r>
              <a:rPr lang="en-US" sz="1750" dirty="0">
                <a:solidFill>
                  <a:srgbClr val="000000"/>
                </a:solidFill>
                <a:latin typeface="Segoe UI"/>
                <a:cs typeface="Segoe UI"/>
              </a:rPr>
              <a:t>đến ngày 3 có liên quan với</a:t>
            </a:r>
          </a:p>
          <a:p>
            <a:pPr marL="0" indent="0" algn="l">
              <a:lnSpc>
                <a:spcPct val="104000"/>
              </a:lnSpc>
              <a:spcBef>
                <a:spcPts val="400"/>
              </a:spcBef>
              <a:buNone/>
            </a:pPr>
            <a:r>
              <a:rPr lang="en-US" sz="1750" dirty="0">
                <a:solidFill>
                  <a:srgbClr val="000000"/>
                </a:solidFill>
                <a:latin typeface="Segoe UI"/>
                <a:cs typeface="Segoe UI"/>
              </a:rPr>
              <a:t>tử vong 28 ngày, sau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khoảng 350 từ - và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bằng con số, giải thích chênh thô-hiệu chỉnh, kết bằng cùng động từ.</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FLUID-ICU Q1 (mô phỏng)</a:t>
            </a:r>
          </a:p>
          <a:p>
            <a:pPr marL="274320" indent="-274320" algn="l">
              <a:spcBef>
                <a:spcPts val="440"/>
              </a:spcBef>
              <a:buFont typeface="Arial"/>
              <a:buChar char="•"/>
            </a:pPr>
            <a:r>
              <a:rPr lang="en-US" sz="1450" dirty="0">
                <a:solidFill>
                  <a:srgbClr val="000000"/>
                </a:solidFill>
                <a:latin typeface="Segoe UI"/>
                <a:cs typeface="Segoe UI"/>
              </a:rPr>
              <a:t>OR thô 2,49 (1,70 đến 3,70)</a:t>
            </a:r>
          </a:p>
          <a:p>
            <a:pPr marL="274320" indent="-274320" algn="l">
              <a:spcBef>
                <a:spcPts val="440"/>
              </a:spcBef>
              <a:buFont typeface="Arial"/>
              <a:buChar char="•"/>
            </a:pPr>
            <a:r>
              <a:rPr lang="en-US" sz="1450" dirty="0">
                <a:solidFill>
                  <a:srgbClr val="000000"/>
                </a:solidFill>
                <a:latin typeface="Segoe UI"/>
                <a:cs typeface="Segoe UI"/>
              </a:rPr>
              <a:t>OR hiệu chỉnh 1,62 (1,02 đến 2,59)</a:t>
            </a:r>
          </a:p>
          <a:p>
            <a:pPr marL="274320" indent="-274320" algn="l">
              <a:spcBef>
                <a:spcPts val="440"/>
              </a:spcBef>
              <a:buFont typeface="Arial"/>
              <a:buChar char="•"/>
            </a:pPr>
            <a:r>
              <a:rPr lang="en-US" sz="1450" dirty="0">
                <a:solidFill>
                  <a:srgbClr val="000000"/>
                </a:solidFill>
                <a:latin typeface="Segoe UI"/>
                <a:cs typeface="Segoe UI"/>
              </a:rPr>
              <a:t>OR quy gán 1,70 (1,09 đến 2,64)</a:t>
            </a:r>
          </a:p>
          <a:p>
            <a:pPr marL="274320" indent="-274320" algn="l">
              <a:spcBef>
                <a:spcPts val="440"/>
              </a:spcBef>
              <a:buFont typeface="Arial"/>
              <a:buChar char="•"/>
            </a:pPr>
            <a:r>
              <a:rPr lang="en-US" sz="1450" dirty="0">
                <a:solidFill>
                  <a:srgbClr val="000000"/>
                </a:solidFill>
                <a:latin typeface="Segoe UI"/>
                <a:cs typeface="Segoe UI"/>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Lời văn tương xứng: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leo thang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'Cân bằng dương gây ra tử vong cao hơn (OR 1,62).'</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'Quá tải dịch làm tăng tổn thương thận cấp (OR 1,27 mỗi 10 ml/kg).'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'Có xu hướng tử vong (HR Cox 1,46, KTC 95% 1,00 đến 2,13).'</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Tốt hơn</a:t>
            </a:r>
          </a:p>
          <a:p>
            <a:pPr marL="274320" indent="-274320" algn="l">
              <a:lnSpc>
                <a:spcPct val="104000"/>
              </a:lnSpc>
              <a:spcBef>
                <a:spcPts val="300"/>
              </a:spcBef>
              <a:buFont typeface="Arial"/>
              <a:buChar char="•"/>
            </a:pPr>
            <a:r>
              <a:rPr lang="en-US" sz="1500" dirty="0">
                <a:solidFill>
                  <a:srgbClr val="000000"/>
                </a:solidFill>
                <a:latin typeface="Segoe UI"/>
                <a:cs typeface="Segoe UI"/>
              </a:rPr>
              <a:t>1 '... có liên quan với ...'</a:t>
            </a:r>
          </a:p>
          <a:p>
            <a:pPr marL="274320" indent="-274320" algn="l">
              <a:lnSpc>
                <a:spcPct val="104000"/>
              </a:lnSpc>
              <a:spcBef>
                <a:spcPts val="300"/>
              </a:spcBef>
              <a:buFont typeface="Arial"/>
              <a:buChar char="•"/>
            </a:pPr>
            <a:r>
              <a:rPr lang="en-US" sz="1500" dirty="0">
                <a:solidFill>
                  <a:srgbClr val="000000"/>
                </a:solidFill>
                <a:latin typeface="Segoe UI"/>
                <a:cs typeface="Segoe UI"/>
              </a:rPr>
              <a:t>2 '... liên quan với khả năng AKI cao hơn'</a:t>
            </a:r>
          </a:p>
          <a:p>
            <a:pPr marL="274320" indent="-274320" algn="l">
              <a:lnSpc>
                <a:spcPct val="104000"/>
              </a:lnSpc>
              <a:spcBef>
                <a:spcPts val="300"/>
              </a:spcBef>
              <a:buFont typeface="Arial"/>
              <a:buChar char="•"/>
            </a:pPr>
            <a:r>
              <a:rPr lang="en-US" sz="1500" dirty="0">
                <a:solidFill>
                  <a:srgbClr val="000000"/>
                </a:solidFill>
                <a:latin typeface="Segoe UI"/>
                <a:cs typeface="Segoe UI"/>
              </a:rPr>
              <a:t>3 'HR 1,46 (1,00 đến 2,13): KTC chạm 1'</a:t>
            </a:r>
          </a:p>
          <a:p>
            <a:pPr marL="274320" indent="-274320" algn="l">
              <a:lnSpc>
                <a:spcPct val="104000"/>
              </a:lnSpc>
              <a:spcBef>
                <a:spcPts val="300"/>
              </a:spcBef>
              <a:buFont typeface="Arial"/>
              <a:buChar char="•"/>
            </a:pPr>
            <a:r>
              <a:rPr lang="en-US" sz="1500" dirty="0">
                <a:solidFill>
                  <a:srgbClr val="000000"/>
                </a:solidFill>
                <a:latin typeface="Segoe UI"/>
                <a:cs typeface="Segoe UI"/>
              </a:rPr>
              <a:t>4 Được nếu là dự báo; nếu là nhân quả: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có cấu trúc: tủ kính trưng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trong tóm tắt có con số và khoảng tin cậy.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Chép số liệu từ phần Kết quả - tóm tắt không được có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tốt nêu câu hỏi và thiết kế - không dùng từ quảng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Dùng phần mềm quản lý tài liệu</a:t>
            </a:r>
          </a:p>
          <a:p>
            <a:pPr marL="0" indent="0" algn="l">
              <a:lnSpc>
                <a:spcPct val="104000"/>
              </a:lnSpc>
              <a:spcBef>
                <a:spcPts val="400"/>
              </a:spcBef>
              <a:buNone/>
            </a:pPr>
            <a:r>
              <a:rPr lang="en-US" sz="1750" dirty="0">
                <a:solidFill>
                  <a:srgbClr val="000000"/>
                </a:solidFill>
                <a:latin typeface="Segoe UI"/>
                <a:cs typeface="Segoe UI"/>
              </a:rPr>
              <a:t>Kiểm tra từng trích dẫn</a:t>
            </a:r>
          </a:p>
          <a:p>
            <a:pPr marL="0" indent="0" algn="l">
              <a:lnSpc>
                <a:spcPct val="104000"/>
              </a:lnSpc>
              <a:spcBef>
                <a:spcPts val="400"/>
              </a:spcBef>
              <a:buNone/>
            </a:pPr>
            <a:r>
              <a:rPr lang="en-US" sz="1750" dirty="0">
                <a:solidFill>
                  <a:srgbClr val="000000"/>
                </a:solidFill>
                <a:latin typeface="Segoe UI"/>
                <a:cs typeface="Segoe UI"/>
              </a:rPr>
              <a:t>B2 dẫn bài Sepsis-3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Điền ngay trong lúc viết</a:t>
            </a:r>
          </a:p>
          <a:p>
            <a:pPr marL="0" indent="0" algn="l">
              <a:lnSpc>
                <a:spcPct val="104000"/>
              </a:lnSpc>
              <a:spcBef>
                <a:spcPts val="400"/>
              </a:spcBef>
              <a:buNone/>
            </a:pPr>
            <a:r>
              <a:rPr lang="en-US" sz="1750" dirty="0">
                <a:solidFill>
                  <a:srgbClr val="000000"/>
                </a:solidFill>
                <a:latin typeface="Segoe UI"/>
                <a:cs typeface="Segoe UI"/>
              </a:rPr>
              <a:t>Ghi số trang</a:t>
            </a:r>
          </a:p>
          <a:p>
            <a:pPr marL="0" indent="0" algn="l">
              <a:lnSpc>
                <a:spcPct val="104000"/>
              </a:lnSpc>
              <a:spcBef>
                <a:spcPts val="400"/>
              </a:spcBef>
              <a:buNone/>
            </a:pPr>
            <a:r>
              <a:rPr lang="en-US" sz="1750" dirty="0">
                <a:solidFill>
                  <a:srgbClr val="000000"/>
                </a:solidFill>
                <a:latin typeface="Segoe UI"/>
                <a:cs typeface="Segoe UI"/>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Văn bản = bảng, từng con số</a:t>
            </a:r>
          </a:p>
          <a:p>
            <a:pPr marL="0" indent="0" algn="l">
              <a:lnSpc>
                <a:spcPct val="104000"/>
              </a:lnSpc>
              <a:spcBef>
                <a:spcPts val="400"/>
              </a:spcBef>
              <a:buNone/>
            </a:pPr>
            <a:r>
              <a:rPr lang="en-US" sz="1750" dirty="0">
                <a:solidFill>
                  <a:srgbClr val="000000"/>
                </a:solidFill>
                <a:latin typeface="Segoe UI"/>
                <a:cs typeface="Segoe UI"/>
              </a:rPr>
              <a:t>Dẫn đúng số hình</a:t>
            </a:r>
          </a:p>
          <a:p>
            <a:pPr marL="0" indent="0" algn="l">
              <a:lnSpc>
                <a:spcPct val="104000"/>
              </a:lnSpc>
              <a:spcBef>
                <a:spcPts val="400"/>
              </a:spcBef>
              <a:buNone/>
            </a:pPr>
            <a:r>
              <a:rPr lang="en-US" sz="1750" dirty="0">
                <a:solidFill>
                  <a:srgbClr val="000000"/>
                </a:solidFill>
                <a:latin typeface="Segoe UI"/>
                <a:cs typeface="Segoe UI"/>
              </a:rPr>
              <a:t>Một đồng tác giả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lớn lỗi của hai bài không cần dữ liệu mới -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Hoàn thiện bản nháp</a:t>
            </a:r>
          </a:p>
          <a:p>
            <a:pPr marL="0" indent="0" algn="ctr">
              <a:spcBef>
                <a:spcPts val="1200"/>
              </a:spcBef>
              <a:buNone/>
            </a:pPr>
            <a:r>
              <a:rPr lang="en-US" sz="1900" i="1" dirty="0">
                <a:solidFill>
                  <a:srgbClr val="595959"/>
                </a:solidFill>
                <a:latin typeface="Segoe UI"/>
                <a:cs typeface="Segoe UI"/>
              </a:rPr>
              <a:t>Đặt vấn đề, Bàn luận,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Thực hành bản thảo 2: Đặt vấn đề, Bàn luận, Tóm tắt,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0-8: Đặt vấn đề - ba đoạn (hai người)</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0-15: Bàn luận - sáu bước (ba người)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15-23: Tóm tắt - 250 từ, số liệu lấy từ Kết quả</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23-27: Tiêu đề (10-16 từ, nêu thiết kế) + từ khóa</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27-30: kiểm tra động từ: mọi 'gây ra', 'tác động' -&gt; 'có liên quan'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a:t>
            </a:r>
          </a:p>
          <a:p>
            <a:pPr marL="274320" indent="-274320" algn="l">
              <a:lnSpc>
                <a:spcPct val="104000"/>
              </a:lnSpc>
              <a:spcBef>
                <a:spcPts val="300"/>
              </a:spcBef>
              <a:buFont typeface="Arial"/>
              <a:buChar char="•"/>
            </a:pPr>
            <a:r>
              <a:rPr lang="en-US" sz="1500" dirty="0">
                <a:solidFill>
                  <a:srgbClr val="000000"/>
                </a:solidFill>
                <a:latin typeface="Segoe UI"/>
                <a:cs typeface="Segoe UI"/>
              </a:rPr>
              <a:t>2 Đặt vấn đề</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1 kiểm số + động từ</a:t>
            </a:r>
          </a:p>
          <a:p>
            <a:pPr marL="274320" indent="-274320" algn="l">
              <a:lnSpc>
                <a:spcPct val="104000"/>
              </a:lnSpc>
              <a:spcBef>
                <a:spcPts val="300"/>
              </a:spcBef>
              <a:buFont typeface="Arial"/>
              <a:buChar char="•"/>
            </a:pPr>
            <a:r>
              <a:rPr lang="en-US" sz="1500" dirty="0">
                <a:solidFill>
                  <a:srgbClr val="000000"/>
                </a:solidFill>
                <a:latin typeface="Segoe UI"/>
                <a:cs typeface="Segoe UI"/>
              </a:rPr>
              <a:t>Cả nhóm: Tóm tắt và Tiêu đề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Bản nháp hoàn chỉnh (~2.000 từ) đã lưu - trao đổi phản biện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Lưu và gửi bản nháp bản thảo</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Nhóm 1-3: nhận Bài 1 (RCT) và phiếu trả lời</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Nhóm 4-5: nhận Bài 2 (đoàn hệ) và phiếu trả lời</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Người trình bày: kiểm tra slide mở được trên máy trình chiếu</a:t>
            </a:r>
          </a:p>
          <a:p>
            <a:pPr marL="380000" indent="-380000" algn="l">
              <a:lnSpc>
                <a:spcPct val="104000"/>
              </a:lnSpc>
              <a:spcBef>
                <a:spcPts val="450"/>
              </a:spcBef>
              <a:buNone/>
            </a:pPr>
            <a:r>
              <a:rPr lang="en-US" sz="1650" b="1" dirty="0">
                <a:solidFill>
                  <a:srgbClr val="8A99A3"/>
                </a:solidFill>
                <a:latin typeface="Segoe UI"/>
                <a:cs typeface="Segoe UI"/>
              </a:rPr>
              <a:t>5.  </a:t>
            </a:r>
            <a:r>
              <a:rPr lang="en-US" sz="1650" dirty="0">
                <a:solidFill>
                  <a:srgbClr val="000000"/>
                </a:solidFill>
                <a:latin typeface="Segoe UI"/>
                <a:cs typeface="Segoe UI"/>
              </a:rPr>
              <a:t>Quay lại đúng 1:15</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(25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Làm người phản biện (20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Các nhóm trình bày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Công bố bài báo</a:t>
            </a:r>
          </a:p>
          <a:p>
            <a:pPr marL="0" indent="0" algn="ctr">
              <a:spcBef>
                <a:spcPts val="1200"/>
              </a:spcBef>
              <a:buNone/>
            </a:pPr>
            <a:r>
              <a:rPr lang="en-US" sz="1900" i="1" dirty="0">
                <a:solidFill>
                  <a:srgbClr val="595959"/>
                </a:solidFill>
                <a:latin typeface="Segoe UI"/>
                <a:cs typeface="Segoe UI"/>
              </a:rPr>
              <a:t>Từ bảng kiểm đến bản in thử - và những cái bẫy trên đường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Ghi tên hướng dẫn trong Phần 4 -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Chọn tạp chí trước khi viết - tạp chí đặt ra luật chơi.</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Phù hợp</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Ai cần kết quả của bạn?</a:t>
            </a:r>
          </a:p>
          <a:p>
            <a:pPr marL="0" indent="0" algn="l">
              <a:lnSpc>
                <a:spcPct val="104000"/>
              </a:lnSpc>
              <a:spcBef>
                <a:spcPts val="400"/>
              </a:spcBef>
              <a:buNone/>
            </a:pPr>
            <a:r>
              <a:rPr lang="en-US" sz="1600" dirty="0">
                <a:solidFill>
                  <a:srgbClr val="000000"/>
                </a:solidFill>
                <a:latin typeface="Segoe UI"/>
                <a:cs typeface="Segoe UI"/>
              </a:rPr>
              <a:t>Đọc 3 số gần đây</a:t>
            </a:r>
          </a:p>
          <a:p>
            <a:pPr marL="0" indent="0" algn="l">
              <a:lnSpc>
                <a:spcPct val="104000"/>
              </a:lnSpc>
              <a:spcBef>
                <a:spcPts val="400"/>
              </a:spcBef>
              <a:buNone/>
            </a:pPr>
            <a:r>
              <a:rPr lang="en-US" sz="1600" dirty="0">
                <a:solidFill>
                  <a:srgbClr val="000000"/>
                </a:solidFill>
                <a:latin typeface="Segoe UI"/>
                <a:cs typeface="Segoe UI"/>
              </a:rPr>
              <a:t>Có đăng thiết kế tương tự?</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Tin cậy</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Được chỉ mục: MEDLINE, DOAJ, Scopus hoặc Web of Science</a:t>
            </a:r>
          </a:p>
          <a:p>
            <a:pPr marL="0" indent="0" algn="l">
              <a:lnSpc>
                <a:spcPct val="104000"/>
              </a:lnSpc>
              <a:spcBef>
                <a:spcPts val="400"/>
              </a:spcBef>
              <a:buNone/>
            </a:pPr>
            <a:r>
              <a:rPr lang="en-US" sz="1600" dirty="0">
                <a:solidFill>
                  <a:srgbClr val="000000"/>
                </a:solidFill>
                <a:latin typeface="Segoe UI"/>
                <a:cs typeface="Segoe UI"/>
              </a:rPr>
              <a:t>Chính sách phản biện rõ ràng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Quy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Hướng dẫn tác giả</a:t>
            </a:r>
          </a:p>
          <a:p>
            <a:pPr marL="0" indent="0" algn="l">
              <a:lnSpc>
                <a:spcPct val="104000"/>
              </a:lnSpc>
              <a:spcBef>
                <a:spcPts val="400"/>
              </a:spcBef>
              <a:buNone/>
            </a:pPr>
            <a:r>
              <a:rPr lang="en-US" sz="1600" dirty="0">
                <a:solidFill>
                  <a:srgbClr val="000000"/>
                </a:solidFill>
                <a:latin typeface="Segoe UI"/>
                <a:cs typeface="Segoe UI"/>
              </a:rPr>
              <a:t>Giới hạn số chữ, bảng kiểm</a:t>
            </a:r>
          </a:p>
          <a:p>
            <a:pPr marL="0" indent="0" algn="l">
              <a:lnSpc>
                <a:spcPct val="104000"/>
              </a:lnSpc>
              <a:spcBef>
                <a:spcPts val="400"/>
              </a:spcBef>
              <a:buNone/>
            </a:pPr>
            <a:r>
              <a:rPr lang="en-US" sz="1600" dirty="0">
                <a:solidFill>
                  <a:srgbClr val="000000"/>
                </a:solidFill>
                <a:latin typeface="Segoe UI"/>
                <a:cs typeface="Segoe UI"/>
              </a:rPr>
              <a:t>Có yêu cầu đăng ký?</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 phí &amp; tốc độ</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Phí (APC) và miễn giảm</a:t>
            </a:r>
          </a:p>
          <a:p>
            <a:pPr marL="0" indent="0" algn="l">
              <a:lnSpc>
                <a:spcPct val="104000"/>
              </a:lnSpc>
              <a:spcBef>
                <a:spcPts val="400"/>
              </a:spcBef>
              <a:buNone/>
            </a:pPr>
            <a:r>
              <a:rPr lang="en-US" sz="1600" dirty="0">
                <a:solidFill>
                  <a:srgbClr val="000000"/>
                </a:solidFill>
                <a:latin typeface="Segoe UI"/>
                <a:cs typeface="Segoe UI"/>
              </a:rPr>
              <a:t>Giấy phép: CC BY hay BY-NC-ND</a:t>
            </a:r>
          </a:p>
          <a:p>
            <a:pPr marL="0" indent="0" algn="l">
              <a:lnSpc>
                <a:spcPct val="104000"/>
              </a:lnSpc>
              <a:spcBef>
                <a:spcPts val="400"/>
              </a:spcBef>
              <a:buNone/>
            </a:pPr>
            <a:r>
              <a:rPr lang="en-US" sz="1600" dirty="0">
                <a:solidFill>
                  <a:srgbClr val="000000"/>
                </a:solidFill>
                <a:latin typeface="Segoe UI"/>
                <a:cs typeface="Segoe UI"/>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Tạp chí tốt là nơi người đọc của bạn đọc -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Đăng trước phản biện (VD: medRxiv)</a:t>
            </a:r>
          </a:p>
          <a:p>
            <a:pPr marL="0" indent="0" algn="l">
              <a:lnSpc>
                <a:spcPct val="104000"/>
              </a:lnSpc>
              <a:spcBef>
                <a:spcPts val="400"/>
              </a:spcBef>
              <a:buNone/>
            </a:pPr>
            <a:r>
              <a:rPr lang="en-US" sz="1750" dirty="0">
                <a:solidFill>
                  <a:srgbClr val="000000"/>
                </a:solidFill>
                <a:latin typeface="Segoe UI"/>
                <a:cs typeface="Segoe UI"/>
              </a:rPr>
              <a:t>Nhanh, có dấu thời gian, góp ý mở</a:t>
            </a:r>
          </a:p>
          <a:p>
            <a:pPr marL="0" indent="0" algn="l">
              <a:lnSpc>
                <a:spcPct val="104000"/>
              </a:lnSpc>
              <a:spcBef>
                <a:spcPts val="400"/>
              </a:spcBef>
              <a:buNone/>
            </a:pPr>
            <a:r>
              <a:rPr lang="en-US" sz="1750" dirty="0">
                <a:solidFill>
                  <a:srgbClr val="000000"/>
                </a:solidFill>
                <a:latin typeface="Segoe UI"/>
                <a:cs typeface="Segoe UI"/>
              </a:rPr>
              <a:t>CHƯA qua phản biện: phải nói rõ</a:t>
            </a:r>
          </a:p>
          <a:p>
            <a:pPr marL="0" indent="0" algn="l">
              <a:lnSpc>
                <a:spcPct val="104000"/>
              </a:lnSpc>
              <a:spcBef>
                <a:spcPts val="400"/>
              </a:spcBef>
              <a:buNone/>
            </a:pPr>
            <a:r>
              <a:rPr lang="en-US" sz="1750" dirty="0">
                <a:solidFill>
                  <a:srgbClr val="000000"/>
                </a:solidFill>
                <a:latin typeface="Segoe UI"/>
                <a:cs typeface="Segoe UI"/>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Ai cũng đọc miễn phí</a:t>
            </a:r>
          </a:p>
          <a:p>
            <a:pPr marL="0" indent="0" algn="l">
              <a:lnSpc>
                <a:spcPct val="104000"/>
              </a:lnSpc>
              <a:spcBef>
                <a:spcPts val="400"/>
              </a:spcBef>
              <a:buNone/>
            </a:pPr>
            <a:r>
              <a:rPr lang="en-US" sz="1750" dirty="0">
                <a:solidFill>
                  <a:srgbClr val="000000"/>
                </a:solidFill>
                <a:latin typeface="Segoe UI"/>
                <a:cs typeface="Segoe UI"/>
              </a:rPr>
              <a:t>Gold: tạp chí thu phí (APC)</a:t>
            </a:r>
          </a:p>
          <a:p>
            <a:pPr marL="0" indent="0" algn="l">
              <a:lnSpc>
                <a:spcPct val="104000"/>
              </a:lnSpc>
              <a:spcBef>
                <a:spcPts val="400"/>
              </a:spcBef>
              <a:buNone/>
            </a:pPr>
            <a:r>
              <a:rPr lang="en-US" sz="1750" dirty="0">
                <a:solidFill>
                  <a:srgbClr val="000000"/>
                </a:solidFill>
                <a:latin typeface="Segoe UI"/>
                <a:cs typeface="Segoe UI"/>
              </a:rPr>
              <a:t>Green: bản được chấp nhận lưu ở kho</a:t>
            </a:r>
          </a:p>
          <a:p>
            <a:pPr marL="0" indent="0" algn="l">
              <a:lnSpc>
                <a:spcPct val="104000"/>
              </a:lnSpc>
              <a:spcBef>
                <a:spcPts val="400"/>
              </a:spcBef>
              <a:buNone/>
            </a:pPr>
            <a:r>
              <a:rPr lang="en-US" sz="1750" dirty="0">
                <a:solidFill>
                  <a:srgbClr val="000000"/>
                </a:solidFill>
                <a:latin typeface="Segoe UI"/>
                <a:cs typeface="Segoe UI"/>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CC BY: tái sử dụng, ghi nguồn (Bài 2)</a:t>
            </a:r>
          </a:p>
          <a:p>
            <a:pPr marL="0" indent="0" algn="l">
              <a:lnSpc>
                <a:spcPct val="104000"/>
              </a:lnSpc>
              <a:spcBef>
                <a:spcPts val="400"/>
              </a:spcBef>
              <a:buNone/>
            </a:pPr>
            <a:r>
              <a:rPr lang="en-US" sz="1750" dirty="0">
                <a:solidFill>
                  <a:srgbClr val="000000"/>
                </a:solidFill>
                <a:latin typeface="Segoe UI"/>
                <a:cs typeface="Segoe UI"/>
              </a:rPr>
              <a:t>CC BY-NC-ND: chia sẻ, không sửa (Bài 1)</a:t>
            </a:r>
          </a:p>
          <a:p>
            <a:pPr marL="0" indent="0" algn="l">
              <a:lnSpc>
                <a:spcPct val="104000"/>
              </a:lnSpc>
              <a:spcBef>
                <a:spcPts val="400"/>
              </a:spcBef>
              <a:buNone/>
            </a:pPr>
            <a:r>
              <a:rPr lang="en-US" sz="1750" dirty="0">
                <a:solidFill>
                  <a:srgbClr val="000000"/>
                </a:solidFill>
                <a:latin typeface="Segoe UI"/>
                <a:cs typeface="Segoe UI"/>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Biết ai được đọc, được tái sử dụng và ai trả phí -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Nhận diện tạp chí săn mồi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tạp chí tìm đến bạn bằng email tâng bốc, hãy kiểm tra hai lần.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trang Mạng lưới EQUATOR và tìm 'CONSORT'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bảng kiểm và sơ đồ chọn bệnh (Bài 1 có sơ đồ này)</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Tìm STROBE theo cách tương tự (Bài 2)</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Kiểm tra một tạp chí: tìm trên DOAJ và NLM Catalog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PDF bảng kiểm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Cách xem tạp chí có trong MEDLINE</a:t>
            </a:r>
          </a:p>
          <a:p>
            <a:pPr marL="274320" indent="-274320" algn="l">
              <a:lnSpc>
                <a:spcPct val="104000"/>
              </a:lnSpc>
              <a:spcBef>
                <a:spcPts val="300"/>
              </a:spcBef>
              <a:buFont typeface="Arial"/>
              <a:buChar char="•"/>
            </a:pPr>
            <a:r>
              <a:rPr lang="en-US" sz="1500" dirty="0">
                <a:solidFill>
                  <a:srgbClr val="000000"/>
                </a:solidFill>
                <a:latin typeface="Segoe UI"/>
                <a:cs typeface="Segoe UI"/>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Mỗi nhóm kiểm tra tạp chí + hướng dẫn báo cáo trong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Nộp đủ cả bộ một lần - thiếu thứ gì là chậm trễ.</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phản biện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bài báo phải sửa trước khi được nhận -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Trả lời phản biện: bảng trả lời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Cảm ơn, trả lời mọi ý, chỉ rõ chỗ đã sửa -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bản in thử kỹ như đọc dữ liệu -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'Tạp chí gửi email mời trước thường là tạp chí săn mồi'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'Tôi có thể gửi bài cho hai tạp chí cùng lúc cho nhanh'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'Bản tiền ấn phẩm đã được phản biện'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'Tôi phải trả lời mọi nhận xét của phản biện, kể cả khi không đồng ý'</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Thường đúng - kiểm tra hai lần</a:t>
            </a:r>
          </a:p>
          <a:p>
            <a:pPr marL="274320" indent="-274320" algn="l">
              <a:lnSpc>
                <a:spcPct val="104000"/>
              </a:lnSpc>
              <a:spcBef>
                <a:spcPts val="300"/>
              </a:spcBef>
              <a:buFont typeface="Arial"/>
              <a:buChar char="•"/>
            </a:pPr>
            <a:r>
              <a:rPr lang="en-US" sz="1500" dirty="0">
                <a:solidFill>
                  <a:srgbClr val="000000"/>
                </a:solidFill>
                <a:latin typeface="Segoe UI"/>
                <a:cs typeface="Segoe UI"/>
              </a:rPr>
              <a:t>2 Sai - nộp trùng lặp</a:t>
            </a:r>
          </a:p>
          <a:p>
            <a:pPr marL="274320" indent="-274320" algn="l">
              <a:lnSpc>
                <a:spcPct val="104000"/>
              </a:lnSpc>
              <a:spcBef>
                <a:spcPts val="300"/>
              </a:spcBef>
              <a:buFont typeface="Arial"/>
              <a:buChar char="•"/>
            </a:pPr>
            <a:r>
              <a:rPr lang="en-US" sz="1500" dirty="0">
                <a:solidFill>
                  <a:srgbClr val="000000"/>
                </a:solidFill>
                <a:latin typeface="Segoe UI"/>
                <a:cs typeface="Segoe UI"/>
              </a:rPr>
              <a:t>3 Sai</a:t>
            </a:r>
          </a:p>
          <a:p>
            <a:pPr marL="274320" indent="-274320" algn="l">
              <a:lnSpc>
                <a:spcPct val="104000"/>
              </a:lnSpc>
              <a:spcBef>
                <a:spcPts val="300"/>
              </a:spcBef>
              <a:buFont typeface="Arial"/>
              <a:buChar char="•"/>
            </a:pPr>
            <a:r>
              <a:rPr lang="en-US" sz="1500" dirty="0">
                <a:solidFill>
                  <a:srgbClr val="000000"/>
                </a:solidFill>
                <a:latin typeface="Segoe UI"/>
                <a:cs typeface="Segoe UI"/>
              </a:rPr>
              <a:t>4 Đúng - lịch sự, có bằng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5 Sai - STROBE (đoàn hệ)</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8.3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Làm người phản biện</a:t>
            </a:r>
          </a:p>
          <a:p>
            <a:pPr marL="0" indent="0" algn="ctr">
              <a:spcBef>
                <a:spcPts val="1200"/>
              </a:spcBef>
              <a:buNone/>
            </a:pPr>
            <a:r>
              <a:rPr lang="en-US" sz="1900" i="1" dirty="0">
                <a:solidFill>
                  <a:srgbClr val="595959"/>
                </a:solidFill>
                <a:latin typeface="Segoe UI"/>
                <a:cs typeface="Segoe UI"/>
              </a:rPr>
              <a:t>Luyện tập cho việc trao đổi phản biện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mảnh: ba nhóm đọc thử nghiệm, hai nhóm đọc đoàn hệ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lâm sàng, hai thiết kế -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được đưa vào, ai bị loại ra?</a:t>
            </a:r>
          </a:p>
          <a:p>
            <a:pPr marL="0" indent="0" algn="l">
              <a:lnSpc>
                <a:spcPct val="104000"/>
              </a:lnSpc>
              <a:spcBef>
                <a:spcPts val="400"/>
              </a:spcBef>
              <a:buNone/>
            </a:pPr>
            <a:r>
              <a:rPr lang="en-US" sz="1400" dirty="0">
                <a:solidFill>
                  <a:srgbClr val="000000"/>
                </a:solidFill>
                <a:latin typeface="Segoe UI"/>
                <a:cs typeface="Segoe UI"/>
              </a:rPr>
              <a:t>Bệnh nhân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nhóm có tương đồng lúc ban đầu không (Bảng 1)?</a:t>
            </a:r>
          </a:p>
          <a:p>
            <a:pPr marL="0" indent="0" algn="l">
              <a:lnSpc>
                <a:spcPct val="104000"/>
              </a:lnSpc>
              <a:spcBef>
                <a:spcPts val="400"/>
              </a:spcBef>
              <a:buNone/>
            </a:pPr>
            <a:r>
              <a:rPr lang="en-US" sz="1400" dirty="0">
                <a:solidFill>
                  <a:srgbClr val="000000"/>
                </a:solidFill>
                <a:latin typeface="Segoe UI"/>
                <a:cs typeface="Segoe UI"/>
              </a:rPr>
              <a:t>Đạt được bằng cách nào (ngẫu nhiên / bắt cặp /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biết bệnh nhân thuộc nhóm nào (làm mù)?</a:t>
            </a:r>
          </a:p>
          <a:p>
            <a:pPr marL="0" indent="0" algn="l">
              <a:lnSpc>
                <a:spcPct val="104000"/>
              </a:lnSpc>
              <a:spcBef>
                <a:spcPts val="400"/>
              </a:spcBef>
              <a:buNone/>
            </a:pPr>
            <a:r>
              <a:rPr lang="en-US" sz="1400" dirty="0">
                <a:solidFill>
                  <a:srgbClr val="000000"/>
                </a:solidFill>
                <a:latin typeface="Segoe UI"/>
                <a:cs typeface="Segoe UI"/>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4006"/>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6  Kết cục</a:t>
            </a:r>
          </a:p>
        </p:txBody>
      </p:sp>
      <p:sp>
        <p:nvSpPr>
          <p:cNvPr id="71" name="CardBody"/>
          <p:cNvSpPr/>
          <p:nvPr/>
        </p:nvSpPr>
        <p:spPr>
          <a:xfrm>
            <a:off x="45720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Có MỘT kết cục chính định trước,</a:t>
            </a:r>
          </a:p>
          <a:p>
            <a:pPr marL="0" indent="0" algn="l">
              <a:lnSpc>
                <a:spcPct val="104000"/>
              </a:lnSpc>
              <a:spcBef>
                <a:spcPts val="400"/>
              </a:spcBef>
              <a:buNone/>
            </a:pPr>
            <a:r>
              <a:rPr lang="en-US" sz="1400" dirty="0">
                <a:solidFill>
                  <a:srgbClr val="000000"/>
                </a:solidFill>
                <a:latin typeface="Segoe UI"/>
                <a:cs typeface="Segoe UI"/>
              </a:rPr>
              <a:t>đo cùng một cách ở cả hai nhóm không?</a:t>
            </a:r>
          </a:p>
        </p:txBody>
      </p:sp>
      <p:sp>
        <p:nvSpPr>
          <p:cNvPr id="72" name="CardHead"/>
          <p:cNvSpPr/>
          <p:nvPr/>
        </p:nvSpPr>
        <p:spPr>
          <a:xfrm>
            <a:off x="2752720" y="1954006"/>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7  Con số</a:t>
            </a:r>
          </a:p>
        </p:txBody>
      </p:sp>
      <p:sp>
        <p:nvSpPr>
          <p:cNvPr id="73" name="CardBody"/>
          <p:cNvSpPr/>
          <p:nvPr/>
        </p:nvSpPr>
        <p:spPr>
          <a:xfrm>
            <a:off x="275272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quả chính là số đo tác động nào, với KTC 95%?</a:t>
            </a:r>
          </a:p>
          <a:p>
            <a:pPr marL="0" indent="0" algn="l">
              <a:lnSpc>
                <a:spcPct val="104000"/>
              </a:lnSpc>
              <a:spcBef>
                <a:spcPts val="400"/>
              </a:spcBef>
              <a:buNone/>
            </a:pPr>
            <a:r>
              <a:rPr lang="en-US" sz="1400" dirty="0">
                <a:solidFill>
                  <a:srgbClr val="000000"/>
                </a:solidFill>
                <a:latin typeface="Segoe UI"/>
                <a:cs typeface="Segoe UI"/>
              </a:rPr>
              <a:t>KTC hẹp hay rộng?</a:t>
            </a:r>
          </a:p>
        </p:txBody>
      </p:sp>
      <p:sp>
        <p:nvSpPr>
          <p:cNvPr id="74" name="CardHead"/>
          <p:cNvSpPr/>
          <p:nvPr/>
        </p:nvSpPr>
        <p:spPr>
          <a:xfrm>
            <a:off x="5048240" y="1954006"/>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8  Lời văn và thiết kế</a:t>
            </a:r>
          </a:p>
        </p:txBody>
      </p:sp>
      <p:sp>
        <p:nvSpPr>
          <p:cNvPr id="75" name="CardBody"/>
          <p:cNvSpPr/>
          <p:nvPr/>
        </p:nvSpPr>
        <p:spPr>
          <a:xfrm>
            <a:off x="504824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luận có tương xứng với thiết kế</a:t>
            </a:r>
          </a:p>
          <a:p>
            <a:pPr marL="0" indent="0" algn="l">
              <a:lnSpc>
                <a:spcPct val="104000"/>
              </a:lnSpc>
              <a:spcBef>
                <a:spcPts val="400"/>
              </a:spcBef>
              <a:buNone/>
            </a:pPr>
            <a:r>
              <a:rPr lang="en-US" sz="1400" dirty="0">
                <a:solidFill>
                  <a:srgbClr val="000000"/>
                </a:solidFill>
                <a:latin typeface="Segoe UI"/>
                <a:cs typeface="Segoe UI"/>
              </a:rPr>
              <a:t>('liên quan' hay 'gây ra'; không 'xu hướng' với p = 0,42)?</a:t>
            </a:r>
          </a:p>
        </p:txBody>
      </p:sp>
      <p:sp>
        <p:nvSpPr>
          <p:cNvPr id="76" name="CardHead"/>
          <p:cNvSpPr/>
          <p:nvPr/>
        </p:nvSpPr>
        <p:spPr>
          <a:xfrm>
            <a:off x="7343760" y="1954006"/>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9  Hạn chế</a:t>
            </a:r>
          </a:p>
        </p:txBody>
      </p:sp>
      <p:sp>
        <p:nvSpPr>
          <p:cNvPr id="77" name="CardBody"/>
          <p:cNvSpPr/>
          <p:nvPr/>
        </p:nvSpPr>
        <p:spPr>
          <a:xfrm>
            <a:off x="734376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hạn chế chính có được nêu trung thực?</a:t>
            </a:r>
          </a:p>
          <a:p>
            <a:pPr marL="0" indent="0" algn="l">
              <a:lnSpc>
                <a:spcPct val="104000"/>
              </a:lnSpc>
              <a:spcBef>
                <a:spcPts val="400"/>
              </a:spcBef>
              <a:buNone/>
            </a:pPr>
            <a:r>
              <a:rPr lang="en-US" sz="1400" dirty="0">
                <a:solidFill>
                  <a:srgbClr val="000000"/>
                </a:solidFill>
                <a:latin typeface="Segoe UI"/>
                <a:cs typeface="Segoe UI"/>
              </a:rPr>
              <a:t>Kể một hạn chế tác giả bỏ sót.</a:t>
            </a:r>
          </a:p>
        </p:txBody>
      </p:sp>
      <p:sp>
        <p:nvSpPr>
          <p:cNvPr id="78" name="CardHead"/>
          <p:cNvSpPr/>
          <p:nvPr/>
        </p:nvSpPr>
        <p:spPr>
          <a:xfrm>
            <a:off x="9639280" y="1954006"/>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10  Ứng dụng</a:t>
            </a:r>
          </a:p>
        </p:txBody>
      </p:sp>
      <p:sp>
        <p:nvSpPr>
          <p:cNvPr id="79" name="CardBody"/>
          <p:cNvSpPr/>
          <p:nvPr/>
        </p:nvSpPr>
        <p:spPr>
          <a:xfrm>
            <a:off x="963928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Bài này có thay đổi thực hành ở khoa bạn không?</a:t>
            </a:r>
          </a:p>
          <a:p>
            <a:pPr marL="0" indent="0" algn="l">
              <a:lnSpc>
                <a:spcPct val="104000"/>
              </a:lnSpc>
              <a:spcBef>
                <a:spcPts val="400"/>
              </a:spcBef>
              <a:buNone/>
            </a:pPr>
            <a:r>
              <a:rPr lang="en-US" sz="1400" dirty="0">
                <a:solidFill>
                  <a:srgbClr val="000000"/>
                </a:solidFill>
                <a:latin typeface="Segoe UI"/>
                <a:cs typeface="Segoe UI"/>
              </a:rPr>
              <a:t>Vì sao /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người phản biện: thẩm định bài báo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Các cặp nhận câu 1-3, 4-6 và 7-10</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CHỈ đọc các trang ghi trên phiếu trả lời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Trả lời Có / Không / Không rõ + số trang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Phút 7: thống nhất câu trả lời của nhóm</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Phút 9: chọn người báo cáo; viết nhận định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Tóm tắt: câu hỏi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thiết kế, làm mù,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 các nhóm tương đồng?</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Phiếu trả lời hoàn chỉnh + nhận định một câu của mỗi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
                      </a:r>
                    </a:p>
                  </a:txBody>
                  <a:tcPr marL="73152" marR="73152" marT="36576" marB="36576" anchor="ctr">
                    <a:solidFill>
                      <a:srgbClr val="0D7377"/>
                    </a:solidFill>
                  </a:tcPr>
                </a:tc>
                <a:tc>
                  <a:txBody>
                    <a:bodyPr/>
                    <a:lstStyle/>
                    <a:p>
                      <a:pPr algn="l"/>
                      <a:r>
                        <a:rPr lang="en-US" sz="1500" b="1" dirty="0">
                          <a:solidFill>
                            <a:srgbClr val="FFFFFF"/>
                          </a:solidFill>
                          <a:latin typeface="Segoe UI"/>
                        </a:rPr>
                        <a:t>Bài 1 - RCT (Boulet 2024)</a:t>
                      </a:r>
                    </a:p>
                  </a:txBody>
                  <a:tcPr marL="73152" marR="73152" marT="36576" marB="36576" anchor="ctr">
                    <a:solidFill>
                      <a:srgbClr val="0D7377"/>
                    </a:solidFill>
                  </a:tcPr>
                </a:tc>
                <a:tc>
                  <a:txBody>
                    <a:bodyPr/>
                    <a:lstStyle/>
                    <a:p>
                      <a:pPr algn="l"/>
                      <a:r>
                        <a:rPr lang="en-US" sz="1500" b="1" dirty="0">
                          <a:solidFill>
                            <a:srgbClr val="FFFFFF"/>
                          </a:solidFill>
                          <a:latin typeface="Segoe UI"/>
                        </a:rPr>
                        <a:t>Bài 2 - đoàn hệ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Các nhóm tương đồng nhờ</a:t>
                      </a:r>
                    </a:p>
                  </a:txBody>
                  <a:tcPr marL="73152" marR="73152" marT="36576" marB="36576" anchor="ctr">
                    <a:solidFill>
                      <a:srgbClr val="FFFFFF"/>
                    </a:solidFill>
                  </a:tcPr>
                </a:tc>
                <a:tc>
                  <a:txBody>
                    <a:bodyPr/>
                    <a:lstStyle/>
                    <a:p>
                      <a:pPr algn="l"/>
                      <a:r>
                        <a:rPr lang="en-US" sz="1500" b="0" dirty="0">
                          <a:solidFill>
                            <a:srgbClr val="000000"/>
                          </a:solidFill>
                          <a:latin typeface="Segoe UI"/>
                        </a:rPr>
                        <a:t>Phân nhóm ngẫu nhiên 1:1 (khối 2)</a:t>
                      </a:r>
                    </a:p>
                  </a:txBody>
                  <a:tcPr marL="73152" marR="73152" marT="36576" marB="36576" anchor="ctr">
                    <a:solidFill>
                      <a:srgbClr val="FFFFFF"/>
                    </a:solidFill>
                  </a:tcPr>
                </a:tc>
                <a:tc>
                  <a:txBody>
                    <a:bodyPr/>
                    <a:lstStyle/>
                    <a:p>
                      <a:pPr algn="l"/>
                      <a:r>
                        <a:rPr lang="en-US" sz="1500" b="0" dirty="0">
                          <a:solidFill>
                            <a:srgbClr val="000000"/>
                          </a:solidFill>
                          <a:latin typeface="Segoe UI"/>
                        </a:rPr>
                        <a:t>Bắt cặp điểm xu hướng (chỉ yếu tố đã đo)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Ai biết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Bác sĩ biết; bệnh nhân, thống kê được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Tất cả (quan sát)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Kết quả chính</a:t>
                      </a:r>
                    </a:p>
                  </a:txBody>
                  <a:tcPr marL="73152" marR="73152" marT="36576" marB="36576" anchor="ctr">
                    <a:solidFill>
                      <a:srgbClr val="FFFFFF"/>
                    </a:solidFill>
                  </a:tcPr>
                </a:tc>
                <a:tc>
                  <a:txBody>
                    <a:bodyPr/>
                    <a:lstStyle/>
                    <a:p>
                      <a:pPr algn="l"/>
                      <a:r>
                        <a:rPr lang="en-US" sz="1500" b="0" dirty="0">
                          <a:solidFill>
                            <a:srgbClr val="000000"/>
                          </a:solidFill>
                          <a:latin typeface="Segoe UI"/>
                        </a:rPr>
                        <a:t>13,2 ml/kg (KTC 95% -15,2 đến 41,6),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Ngày 2: HR 2,13 (1,48 đến 3,06)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Hạn chế bị bỏ sót</a:t>
                      </a:r>
                    </a:p>
                  </a:txBody>
                  <a:tcPr marL="73152" marR="73152" marT="36576" marB="36576" anchor="ctr">
                    <a:solidFill>
                      <a:srgbClr val="FFFFFF"/>
                    </a:solidFill>
                  </a:tcPr>
                </a:tc>
                <a:tc>
                  <a:txBody>
                    <a:bodyPr/>
                    <a:lstStyle/>
                    <a:p>
                      <a:pPr algn="l"/>
                      <a:r>
                        <a:rPr lang="en-US" sz="1500" b="0" dirty="0">
                          <a:solidFill>
                            <a:srgbClr val="000000"/>
                          </a:solidFill>
                          <a:latin typeface="Segoe UI"/>
                        </a:rPr>
                        <a:t>Khối 2 với bác sĩ không bị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Sai lệch sống sót (nằm ICU từ 3 ngày)</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Lỗi lời văn</a:t>
                      </a:r>
                    </a:p>
                  </a:txBody>
                  <a:tcPr marL="73152" marR="73152" marT="36576" marB="36576" anchor="ctr">
                    <a:solidFill>
                      <a:srgbClr val="FFFFFF"/>
                    </a:solidFill>
                  </a:tcPr>
                </a:tc>
                <a:tc>
                  <a:txBody>
                    <a:bodyPr/>
                    <a:lstStyle/>
                    <a:p>
                      <a:pPr algn="l"/>
                      <a:r>
                        <a:rPr lang="en-US" sz="1500" b="0" dirty="0">
                          <a:solidFill>
                            <a:srgbClr val="000000"/>
                          </a:solidFill>
                          <a:latin typeface="Segoe UI"/>
                        </a:rPr>
                        <a:t>'Xu hướng không có ý nghĩa'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Được kết luận</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giảm cân bằng dịch ngày 5 (thí điểm nhỏ)</a:t>
                      </a:r>
                    </a:p>
                  </a:txBody>
                  <a:tcPr marL="73152" marR="73152" marT="36576" marB="36576" anchor="ctr">
                    <a:solidFill>
                      <a:srgbClr val="FFFFFF"/>
                    </a:solidFill>
                  </a:tcPr>
                </a:tc>
                <a:tc>
                  <a:txBody>
                    <a:bodyPr/>
                    <a:lstStyle/>
                    <a:p>
                      <a:pPr algn="l"/>
                      <a:r>
                        <a:rPr lang="en-US" sz="1500" b="0" dirty="0">
                          <a:solidFill>
                            <a:srgbClr val="000000"/>
                          </a:solidFill>
                          <a:latin typeface="Segoe UI"/>
                        </a:rPr>
                        <a:t>Cân bằng dương liên quan tử vong</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Số trang và chi tiết: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Thảo luận chung: mỗi thiết kế được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Nhóm 1 và 4 báo cáo câu 1-4 (mỗi nhóm 1 phút)</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Nhóm 2 và 5 báo cáo câu 5-8 (mỗi nhóm 1 phút)</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Nhóm 3 báo cáo câu 9-10 cho Bài 1</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So sánh câu 4, 5 và 8 giữa hai bài</a:t>
            </a:r>
          </a:p>
          <a:p>
            <a:pPr marL="380000" indent="-380000" algn="l">
              <a:lnSpc>
                <a:spcPct val="104000"/>
              </a:lnSpc>
              <a:spcBef>
                <a:spcPts val="450"/>
              </a:spcBef>
              <a:buNone/>
            </a:pPr>
            <a:r>
              <a:rPr lang="en-US" sz="1650" b="1" dirty="0">
                <a:solidFill>
                  <a:srgbClr val="1F5C7A"/>
                </a:solidFill>
                <a:latin typeface="Segoe UI"/>
                <a:cs typeface="Segoe UI"/>
              </a:rPr>
              <a:t>5.  </a:t>
            </a:r>
            <a:r>
              <a:rPr lang="en-US" sz="1650" dirty="0">
                <a:solidFill>
                  <a:srgbClr val="000000"/>
                </a:solidFill>
                <a:latin typeface="Segoe UI"/>
                <a:cs typeface="Segoe UI"/>
              </a:rPr>
              <a:t>Biểu quyết câu 10: bài nào sẽ thay đổi thực hành ở khoa ta?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Chốt các thông điệp</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quyết định động từ: gây ra hay liên quan</a:t>
            </a:r>
          </a:p>
          <a:p>
            <a:pPr marL="274320" indent="-274320" algn="l">
              <a:lnSpc>
                <a:spcPct val="104000"/>
              </a:lnSpc>
              <a:spcBef>
                <a:spcPts val="300"/>
              </a:spcBef>
              <a:buFont typeface="Arial"/>
              <a:buChar char="•"/>
            </a:pPr>
            <a:r>
              <a:rPr lang="en-US" sz="1500" dirty="0">
                <a:solidFill>
                  <a:srgbClr val="000000"/>
                </a:solidFill>
                <a:latin typeface="Segoe UI"/>
                <a:cs typeface="Segoe UI"/>
              </a:rPr>
              <a:t>KTC rộng nghĩa là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Đã đăng không có nghĩa là 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Ghi tên hướng dẫn báo cáo: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Mỗi nhóm nêu bài của mình được và không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Phễu Đặt vấn đề</a:t>
                      </a:r>
                    </a:p>
                  </a:txBody>
                  <a:tcPr marL="73152" marR="73152" marT="36576" marB="36576" anchor="ctr">
                    <a:solidFill>
                      <a:srgbClr val="FFFFFF"/>
                    </a:solidFill>
                  </a:tcPr>
                </a:tc>
                <a:tc>
                  <a:txBody>
                    <a:bodyPr/>
                    <a:lstStyle/>
                    <a:p>
                      <a:pPr algn="l"/>
                      <a:r>
                        <a:rPr lang="en-US" sz="1500" b="0" dirty="0">
                          <a:solidFill>
                            <a:srgbClr val="000000"/>
                          </a:solidFill>
                          <a:latin typeface="Segoe UI"/>
                        </a:rPr>
                        <a:t>Đã biết -&gt; chưa biết -&gt; mục tiêu, trong ba đoạn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Sáu bước</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so sánh, giải thích, hạn chế, hàm ý, kết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Lời văn tương xứng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Động từ mạnh đúng mức thiết kế cho phép ('liên quan', không 'gây ra')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Tạp chí săn mồi</a:t>
                      </a:r>
                    </a:p>
                  </a:txBody>
                  <a:tcPr marL="73152" marR="73152" marT="36576" marB="36576" anchor="ctr">
                    <a:solidFill>
                      <a:srgbClr val="FFFFFF"/>
                    </a:solidFill>
                  </a:tcPr>
                </a:tc>
                <a:tc>
                  <a:txBody>
                    <a:bodyPr/>
                    <a:lstStyle/>
                    <a:p>
                      <a:pPr algn="l"/>
                      <a:r>
                        <a:rPr lang="en-US" sz="1500" b="0" dirty="0">
                          <a:solidFill>
                            <a:srgbClr val="000000"/>
                          </a:solidFill>
                          <a:latin typeface="Segoe UI"/>
                        </a:rPr>
                        <a:t>Thu phí mà không phản biện hay chỉ mục thực sự</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Trả lời từng ý</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trả lời mọi nhận xét phản biện kèm chỗ đã sửa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Tiền ấn phẩm</a:t>
                      </a:r>
                    </a:p>
                  </a:txBody>
                  <a:tcPr marL="73152" marR="73152" marT="36576" marB="36576" anchor="ctr">
                    <a:solidFill>
                      <a:srgbClr val="FFFFFF"/>
                    </a:solidFill>
                  </a:tcPr>
                </a:tc>
                <a:tc>
                  <a:txBody>
                    <a:bodyPr/>
                    <a:lstStyle/>
                    <a:p>
                      <a:pPr algn="l"/>
                      <a:r>
                        <a:rPr lang="en-US" sz="1500" b="0" dirty="0">
                          <a:solidFill>
                            <a:srgbClr val="000000"/>
                          </a:solidFill>
                          <a:latin typeface="Segoe UI"/>
                        </a:rPr>
                        <a:t>Bản thảo công khai trước khi phản biện</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Đạo đức, chấp thuận, đăng ký</a:t>
            </a:r>
          </a:p>
          <a:p>
            <a:pPr marL="0" indent="0" algn="l">
              <a:lnSpc>
                <a:spcPct val="104000"/>
              </a:lnSpc>
              <a:spcBef>
                <a:spcPts val="400"/>
              </a:spcBef>
              <a:buNone/>
            </a:pPr>
            <a:r>
              <a:rPr lang="en-US" sz="1600" dirty="0">
                <a:solidFill>
                  <a:srgbClr val="000000"/>
                </a:solidFill>
                <a:latin typeface="Segoe UI"/>
                <a:cs typeface="Segoe UI"/>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IMRaD đúng thứ tự</a:t>
            </a:r>
          </a:p>
          <a:p>
            <a:pPr marL="0" indent="0" algn="l">
              <a:lnSpc>
                <a:spcPct val="104000"/>
              </a:lnSpc>
              <a:spcBef>
                <a:spcPts val="400"/>
              </a:spcBef>
              <a:buNone/>
            </a:pPr>
            <a:r>
              <a:rPr lang="en-US" sz="1600" dirty="0">
                <a:solidFill>
                  <a:srgbClr val="000000"/>
                </a:solidFill>
                <a:latin typeface="Segoe UI"/>
                <a:cs typeface="Segoe UI"/>
              </a:rPr>
              <a:t>Con số kèm KTC</a:t>
            </a:r>
          </a:p>
          <a:p>
            <a:pPr marL="0" indent="0" algn="l">
              <a:lnSpc>
                <a:spcPct val="104000"/>
              </a:lnSpc>
              <a:spcBef>
                <a:spcPts val="400"/>
              </a:spcBef>
              <a:buNone/>
            </a:pPr>
            <a:r>
              <a:rPr lang="en-US" sz="1600" dirty="0">
                <a:solidFill>
                  <a:srgbClr val="000000"/>
                </a:solidFill>
                <a:latin typeface="Segoe UI"/>
                <a:cs typeface="Segoe UI"/>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báo cáo</a:t>
            </a:r>
          </a:p>
          <a:p>
            <a:pPr marL="0" indent="0" algn="l">
              <a:lnSpc>
                <a:spcPct val="104000"/>
              </a:lnSpc>
              <a:spcBef>
                <a:spcPts val="400"/>
              </a:spcBef>
              <a:buNone/>
            </a:pPr>
            <a:r>
              <a:rPr lang="en-US" sz="1600" dirty="0">
                <a:solidFill>
                  <a:srgbClr val="000000"/>
                </a:solidFill>
                <a:latin typeface="Segoe UI"/>
                <a:cs typeface="Segoe UI"/>
              </a:rPr>
              <a:t>Tạp chí đáng tin</a:t>
            </a:r>
          </a:p>
          <a:p>
            <a:pPr marL="0" indent="0" algn="l">
              <a:lnSpc>
                <a:spcPct val="104000"/>
              </a:lnSpc>
              <a:spcBef>
                <a:spcPts val="400"/>
              </a:spcBef>
              <a:buNone/>
            </a:pPr>
            <a:r>
              <a:rPr lang="en-US" sz="1600" dirty="0">
                <a:solidFill>
                  <a:srgbClr val="000000"/>
                </a:solidFill>
                <a:latin typeface="Segoe UI"/>
                <a:cs typeface="Segoe UI"/>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10 câu hỏi</a:t>
            </a:r>
          </a:p>
          <a:p>
            <a:pPr marL="0" indent="0" algn="l">
              <a:lnSpc>
                <a:spcPct val="104000"/>
              </a:lnSpc>
              <a:spcBef>
                <a:spcPts val="400"/>
              </a:spcBef>
              <a:buNone/>
            </a:pPr>
            <a:r>
              <a:rPr lang="en-US" sz="1600" dirty="0">
                <a:solidFill>
                  <a:srgbClr val="000000"/>
                </a:solidFill>
                <a:latin typeface="Segoe UI"/>
                <a:cs typeface="Segoe UI"/>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Tiếp theo: trình bày đề cương - và trao đổi bản thảo để phản biện.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và kế hoạch công bố của các bạn</a:t>
            </a:r>
          </a:p>
          <a:p>
            <a:pPr marL="0" indent="0" algn="ctr">
              <a:spcBef>
                <a:spcPts val="1200"/>
              </a:spcBef>
              <a:buNone/>
            </a:pPr>
            <a:r>
              <a:rPr lang="en-US" sz="1900" i="1" dirty="0">
                <a:solidFill>
                  <a:srgbClr val="595959"/>
                </a:solidFill>
                <a:latin typeface="Segoe UI"/>
                <a:cs typeface="Segoe UI"/>
              </a:rPr>
              <a:t>6 phút trình bày, 2 phút góp ý - tử tế và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chấm điểm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Tiêu chí</a:t>
                      </a:r>
                    </a:p>
                  </a:txBody>
                  <a:tcPr marL="73152" marR="73152" marT="36576" marB="36576" anchor="ctr">
                    <a:solidFill>
                      <a:srgbClr val="0D7377"/>
                    </a:solidFill>
                  </a:tcPr>
                </a:tc>
                <a:tc>
                  <a:txBody>
                    <a:bodyPr/>
                    <a:lstStyle/>
                    <a:p>
                      <a:pPr algn="l"/>
                      <a:r>
                        <a:rPr lang="en-US" sz="1500" b="1" dirty="0">
                          <a:solidFill>
                            <a:srgbClr val="FFFFFF"/>
                          </a:solidFill>
                          <a:latin typeface="Segoe UI"/>
                        </a:rPr>
                        <a:t>Điều chúng tôi tìm</a:t>
                      </a:r>
                    </a:p>
                  </a:txBody>
                  <a:tcPr marL="73152" marR="73152" marT="36576" marB="36576" anchor="ctr">
                    <a:solidFill>
                      <a:srgbClr val="0D7377"/>
                    </a:solidFill>
                  </a:tcPr>
                </a:tc>
                <a:tc>
                  <a:txBody>
                    <a:bodyPr/>
                    <a:lstStyle/>
                    <a:p>
                      <a:pPr algn="l"/>
                      <a:r>
                        <a:rPr lang="en-US" sz="15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12  Cấu trúc &amp; nội dung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Đủ 6 slide; thấy rõ câu hỏi, thiết kế, kết cục, cỡ mẫu, đạo đức, tạp chí + hướng dẫn</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13  Rõ ràng</a:t>
                      </a:r>
                    </a:p>
                  </a:txBody>
                  <a:tcPr marL="73152" marR="73152" marT="36576" marB="36576" anchor="ctr">
                    <a:solidFill>
                      <a:srgbClr val="FFFFFF"/>
                    </a:solidFill>
                  </a:tcPr>
                </a:tc>
                <a:tc>
                  <a:txBody>
                    <a:bodyPr/>
                    <a:lstStyle/>
                    <a:p>
                      <a:pPr algn="l"/>
                      <a:r>
                        <a:rPr lang="en-US" sz="1500" b="0" dirty="0">
                          <a:solidFill>
                            <a:srgbClr val="000000"/>
                          </a:solidFill>
                          <a:latin typeface="Segoe UI"/>
                        </a:rPr>
                        <a:t>Mọi ngành nghề đều hiểu; mỗi slide một thông điệp</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14  Hình thức slide</a:t>
                      </a:r>
                    </a:p>
                  </a:txBody>
                  <a:tcPr marL="73152" marR="73152" marT="36576" marB="36576" anchor="ctr">
                    <a:solidFill>
                      <a:srgbClr val="FFFFFF"/>
                    </a:solidFill>
                  </a:tcPr>
                </a:tc>
                <a:tc>
                  <a:txBody>
                    <a:bodyPr/>
                    <a:lstStyle/>
                    <a:p>
                      <a:pPr algn="l"/>
                      <a:r>
                        <a:rPr lang="en-US" sz="1500" b="0" dirty="0">
                          <a:solidFill>
                            <a:srgbClr val="000000"/>
                          </a:solidFill>
                          <a:latin typeface="Segoe UI"/>
                        </a:rPr>
                        <a:t>Đọc được từ cuối phòng; hình ảnh thay cho khối chữ</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15  Thời gian</a:t>
                      </a:r>
                    </a:p>
                  </a:txBody>
                  <a:tcPr marL="73152" marR="73152" marT="36576" marB="36576" anchor="ctr">
                    <a:solidFill>
                      <a:srgbClr val="FFFFFF"/>
                    </a:solidFill>
                  </a:tcPr>
                </a:tc>
                <a:tc>
                  <a:txBody>
                    <a:bodyPr/>
                    <a:lstStyle/>
                    <a:p>
                      <a:pPr algn="l"/>
                      <a:r>
                        <a:rPr lang="en-US" sz="1500" b="0" dirty="0">
                          <a:solidFill>
                            <a:srgbClr val="000000"/>
                          </a:solidFill>
                          <a:latin typeface="Segoe UI"/>
                        </a:rPr>
                        <a:t>Kết thúc trong khoảng 5:00 đến 6:00</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16  Trả lời &amp; làm việc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thẳng, trung thực; nhiều thành viên tham gia</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6 xuất sắc, 4 tốt, 2 cần cải thiện, 0 chưa có = trình bày /30.  Đề cương viết + kế hoạch công bố /70 chấm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trình bày và bấm giờ</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thẻ đỏ giơ lên, hãy nói hết câu và dừng.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NHÓM 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Segoe UI"/>
                <a:cs typeface="Segoe UI"/>
              </a:rPr>
              <a:t>1.  </a:t>
            </a:r>
            <a:r>
              <a:rPr lang="en-US" sz="1650" dirty="0">
                <a:solidFill>
                  <a:srgbClr val="000000"/>
                </a:solidFill>
                <a:latin typeface="Segoe UI"/>
                <a:cs typeface="Segoe UI"/>
              </a:rPr>
              <a:t>6 phút, 6 slide: câu hỏi, thiết kế, dữ liệu và phân tích, đạo đức và khả thi, kế hoạch công bố (tiêu đề, tạp chí, hướng dẫn, tóm tắt)</a:t>
            </a:r>
          </a:p>
          <a:p>
            <a:pPr marL="380000" indent="-380000" algn="l">
              <a:lnSpc>
                <a:spcPct val="104000"/>
              </a:lnSpc>
              <a:spcBef>
                <a:spcPts val="450"/>
              </a:spcBef>
              <a:buNone/>
            </a:pPr>
            <a:r>
              <a:rPr lang="en-US" sz="1650" b="1" dirty="0">
                <a:solidFill>
                  <a:srgbClr val="0070C0"/>
                </a:solidFill>
                <a:latin typeface="Segoe UI"/>
                <a:cs typeface="Segoe UI"/>
              </a:rPr>
              <a:t>2.  </a:t>
            </a:r>
            <a:r>
              <a:rPr lang="en-US" sz="1650" dirty="0">
                <a:solidFill>
                  <a:srgbClr val="000000"/>
                </a:solidFill>
                <a:latin typeface="Segoe UI"/>
                <a:cs typeface="Segoe UI"/>
              </a:rPr>
              <a:t>Người bấm giờ: xanh lúc 4:00, vàng lúc 5:00, đỏ lúc 6:00</a:t>
            </a:r>
          </a:p>
          <a:p>
            <a:pPr marL="380000" indent="-380000" algn="l">
              <a:lnSpc>
                <a:spcPct val="104000"/>
              </a:lnSpc>
              <a:spcBef>
                <a:spcPts val="450"/>
              </a:spcBef>
              <a:buNone/>
            </a:pPr>
            <a:r>
              <a:rPr lang="en-US" sz="1650" b="1" dirty="0">
                <a:solidFill>
                  <a:srgbClr val="0070C0"/>
                </a:solidFill>
                <a:latin typeface="Segoe UI"/>
                <a:cs typeface="Segoe UI"/>
              </a:rPr>
              <a:t>3.  </a:t>
            </a:r>
            <a:r>
              <a:rPr lang="en-US" sz="1650" dirty="0">
                <a:solidFill>
                  <a:srgbClr val="000000"/>
                </a:solidFill>
                <a:latin typeface="Segoe UI"/>
                <a:cs typeface="Segoe UI"/>
              </a:rPr>
              <a:t>Góp ý 2 phút: nhóm đồng đẳng (hai ngôi sao và một mong muốn), rồi giảng viên</a:t>
            </a:r>
          </a:p>
          <a:p>
            <a:pPr marL="380000" indent="-380000" algn="l">
              <a:lnSpc>
                <a:spcPct val="104000"/>
              </a:lnSpc>
              <a:spcBef>
                <a:spcPts val="450"/>
              </a:spcBef>
              <a:buNone/>
            </a:pPr>
            <a:r>
              <a:rPr lang="en-US" sz="1650" b="1" dirty="0">
                <a:solidFill>
                  <a:srgbClr val="0070C0"/>
                </a:solidFill>
                <a:latin typeface="Segoe UI"/>
                <a:cs typeface="Segoe UI"/>
              </a:rPr>
              <a:t>4.  </a:t>
            </a:r>
            <a:r>
              <a:rPr lang="en-US" sz="1650" dirty="0">
                <a:solidFill>
                  <a:srgbClr val="000000"/>
                </a:solidFill>
                <a:latin typeface="Segoe UI"/>
                <a:cs typeface="Segoe UI"/>
              </a:rPr>
              <a:t>Nhóm đồng đẳng và giảng viên điền phiếu góp ý</a:t>
            </a:r>
          </a:p>
          <a:p>
            <a:pPr marL="380000" indent="-380000" algn="l">
              <a:lnSpc>
                <a:spcPct val="104000"/>
              </a:lnSpc>
              <a:spcBef>
                <a:spcPts val="450"/>
              </a:spcBef>
              <a:buNone/>
            </a:pPr>
            <a:r>
              <a:rPr lang="en-US" sz="1650" b="1" dirty="0">
                <a:solidFill>
                  <a:srgbClr val="0070C0"/>
                </a:solidFill>
                <a:latin typeface="Segoe UI"/>
                <a:cs typeface="Segoe UI"/>
              </a:rPr>
              <a:t>5.  </a:t>
            </a:r>
            <a:r>
              <a:rPr lang="en-US" sz="1650" dirty="0">
                <a:solidFill>
                  <a:srgbClr val="000000"/>
                </a:solidFill>
                <a:latin typeface="Segoe UI"/>
                <a:cs typeface="Segoe UI"/>
              </a:rPr>
              <a:t>Nhóm tiếp theo chuẩn bị trong lúc góp ý</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Segoe UI"/>
                <a:cs typeface="Segoe UI"/>
              </a:rPr>
              <a:t>Thứ tự</a:t>
            </a:r>
          </a:p>
          <a:p>
            <a:pPr marL="274320" indent="-274320" algn="l">
              <a:lnSpc>
                <a:spcPct val="104000"/>
              </a:lnSpc>
              <a:spcBef>
                <a:spcPts val="300"/>
              </a:spcBef>
              <a:buFont typeface="Arial"/>
              <a:buChar char="•"/>
            </a:pPr>
            <a:r>
              <a:rPr lang="en-US" sz="1500" dirty="0">
                <a:solidFill>
                  <a:srgbClr val="000000"/>
                </a:solidFill>
                <a:latin typeface="Segoe UI"/>
                <a:cs typeface="Segoe UI"/>
              </a:rPr>
              <a:t>2:00  Nhóm 1</a:t>
            </a:r>
          </a:p>
          <a:p>
            <a:pPr marL="274320" indent="-274320" algn="l">
              <a:lnSpc>
                <a:spcPct val="104000"/>
              </a:lnSpc>
              <a:spcBef>
                <a:spcPts val="300"/>
              </a:spcBef>
              <a:buFont typeface="Arial"/>
              <a:buChar char="•"/>
            </a:pPr>
            <a:r>
              <a:rPr lang="en-US" sz="1500" dirty="0">
                <a:solidFill>
                  <a:srgbClr val="000000"/>
                </a:solidFill>
                <a:latin typeface="Segoe UI"/>
                <a:cs typeface="Segoe UI"/>
              </a:rPr>
              <a:t>2:08  Nhóm 2</a:t>
            </a:r>
          </a:p>
          <a:p>
            <a:pPr marL="274320" indent="-274320" algn="l">
              <a:lnSpc>
                <a:spcPct val="104000"/>
              </a:lnSpc>
              <a:spcBef>
                <a:spcPts val="300"/>
              </a:spcBef>
              <a:buFont typeface="Arial"/>
              <a:buChar char="•"/>
            </a:pPr>
            <a:r>
              <a:rPr lang="en-US" sz="1500" dirty="0">
                <a:solidFill>
                  <a:srgbClr val="000000"/>
                </a:solidFill>
                <a:latin typeface="Segoe UI"/>
                <a:cs typeface="Segoe UI"/>
              </a:rPr>
              <a:t>2:16  Nhóm 3</a:t>
            </a:r>
          </a:p>
          <a:p>
            <a:pPr marL="274320" indent="-274320" algn="l">
              <a:lnSpc>
                <a:spcPct val="104000"/>
              </a:lnSpc>
              <a:spcBef>
                <a:spcPts val="300"/>
              </a:spcBef>
              <a:buFont typeface="Arial"/>
              <a:buChar char="•"/>
            </a:pPr>
            <a:r>
              <a:rPr lang="en-US" sz="1500" dirty="0">
                <a:solidFill>
                  <a:srgbClr val="000000"/>
                </a:solidFill>
                <a:latin typeface="Segoe UI"/>
                <a:cs typeface="Segoe UI"/>
              </a:rPr>
              <a:t>2:24  Nhóm 4</a:t>
            </a:r>
          </a:p>
          <a:p>
            <a:pPr marL="274320" indent="-274320" algn="l">
              <a:lnSpc>
                <a:spcPct val="104000"/>
              </a:lnSpc>
              <a:spcBef>
                <a:spcPts val="300"/>
              </a:spcBef>
              <a:buFont typeface="Arial"/>
              <a:buChar char="•"/>
            </a:pPr>
            <a:r>
              <a:rPr lang="en-US" sz="1500" dirty="0">
                <a:solidFill>
                  <a:srgbClr val="000000"/>
                </a:solidFill>
                <a:latin typeface="Segoe UI"/>
                <a:cs typeface="Segoe UI"/>
              </a:rPr>
              <a:t>2:32  Nhóm 5</a:t>
            </a:r>
          </a:p>
          <a:p>
            <a:pPr marL="274320" indent="-274320" algn="l">
              <a:lnSpc>
                <a:spcPct val="104000"/>
              </a:lnSpc>
              <a:spcBef>
                <a:spcPts val="300"/>
              </a:spcBef>
              <a:buFont typeface="Arial"/>
              <a:buChar char="•"/>
            </a:pPr>
            <a:r>
              <a:rPr lang="en-US" sz="1500" dirty="0">
                <a:solidFill>
                  <a:srgbClr val="000000"/>
                </a:solidFill>
                <a:latin typeface="Segoe UI"/>
                <a:cs typeface="Segoe UI"/>
              </a:rPr>
              <a:t>2:40  Tóm tắt bản thảo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Segoe UI"/>
                <a:cs typeface="Segoe UI"/>
              </a:rPr>
              <a:t>SẢN PHẨM   </a:t>
            </a:r>
            <a:r>
              <a:rPr lang="en-US" sz="1500" dirty="0">
                <a:solidFill>
                  <a:srgbClr val="000000"/>
                </a:solidFill>
                <a:latin typeface="Segoe UI"/>
                <a:cs typeface="Segoe UI"/>
              </a:rPr>
              <a:t>Năm đề cương và kế hoạch công bố đã trình bày; phiếu góp ý nộp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8</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Cá nhân (2 phút): viết lại trung thực câu 'xu hướng không có ý nghĩa' của Bài 1</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Cá nhân: viết lại tiêu đề Bài 2 với lời văn tương xứng</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Nhóm (4 phút): soạn tiêu đề tạm từ PICO của nhóm</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Nhóm: mỗi phần một dòng -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Kế hoạch công bố (Phần 4)</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đề tạm</a:t>
            </a:r>
          </a:p>
          <a:p>
            <a:pPr marL="274320" indent="-274320" algn="l">
              <a:lnSpc>
                <a:spcPct val="104000"/>
              </a:lnSpc>
              <a:spcBef>
                <a:spcPts val="300"/>
              </a:spcBef>
              <a:buFont typeface="Arial"/>
              <a:buChar char="•"/>
            </a:pPr>
            <a:r>
              <a:rPr lang="en-US" sz="1500" dirty="0">
                <a:solidFill>
                  <a:srgbClr val="000000"/>
                </a:solidFill>
                <a:latin typeface="Segoe UI"/>
                <a:cs typeface="Segoe UI"/>
              </a:rPr>
              <a:t>Khung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Tác giả + vai trò CRediT</a:t>
            </a:r>
          </a:p>
          <a:p>
            <a:pPr marL="274320" indent="-274320" algn="l">
              <a:lnSpc>
                <a:spcPct val="104000"/>
              </a:lnSpc>
              <a:spcBef>
                <a:spcPts val="300"/>
              </a:spcBef>
              <a:buFont typeface="Arial"/>
              <a:buChar char="•"/>
            </a:pPr>
            <a:r>
              <a:rPr lang="en-US" sz="1500" dirty="0">
                <a:solidFill>
                  <a:srgbClr val="000000"/>
                </a:solidFill>
                <a:latin typeface="Segoe UI"/>
                <a:cs typeface="Segoe UI"/>
              </a:rPr>
              <a:t>Tạp chí + hướng dẫn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Tiêu đề tạm + khung tóm tắt - đưa vào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 từ chối? Nộp lại -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Bị từ chối là bình thường: đa số bài báo bị từ chối ít nhất một lần.</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Từ chối ngay</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Ngoài phạm vi hoặc báo cáo kém</a:t>
            </a:r>
          </a:p>
          <a:p>
            <a:pPr marL="0" indent="0" algn="l">
              <a:lnSpc>
                <a:spcPct val="104000"/>
              </a:lnSpc>
              <a:spcBef>
                <a:spcPts val="400"/>
              </a:spcBef>
              <a:buNone/>
            </a:pPr>
            <a:r>
              <a:rPr lang="en-US" sz="1750" dirty="0">
                <a:solidFill>
                  <a:srgbClr val="000000"/>
                </a:solidFill>
                <a:latin typeface="Segoe UI"/>
                <a:cs typeface="Segoe UI"/>
              </a:rPr>
              <a:t>Thường trong vài ngày</a:t>
            </a:r>
          </a:p>
          <a:p>
            <a:pPr marL="0" indent="0" algn="l">
              <a:lnSpc>
                <a:spcPct val="104000"/>
              </a:lnSpc>
              <a:spcBef>
                <a:spcPts val="400"/>
              </a:spcBef>
              <a:buNone/>
            </a:pPr>
            <a:r>
              <a:rPr lang="en-US" sz="1750" dirty="0">
                <a:solidFill>
                  <a:srgbClr val="000000"/>
                </a:solidFill>
                <a:latin typeface="Segoe UI"/>
                <a:cs typeface="Segoe UI"/>
              </a:rPr>
              <a:t>Chọn lại tạp chí</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Sau phản biện</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Đọc nhận xét, chờ một ngày</a:t>
            </a:r>
          </a:p>
          <a:p>
            <a:pPr marL="0" indent="0" algn="l">
              <a:lnSpc>
                <a:spcPct val="104000"/>
              </a:lnSpc>
              <a:spcBef>
                <a:spcPts val="400"/>
              </a:spcBef>
              <a:buNone/>
            </a:pPr>
            <a:r>
              <a:rPr lang="en-US" sz="1750" dirty="0">
                <a:solidFill>
                  <a:srgbClr val="000000"/>
                </a:solidFill>
                <a:latin typeface="Segoe UI"/>
                <a:cs typeface="Segoe UI"/>
              </a:rPr>
              <a:t>Sửa những gì họ phát hiện</a:t>
            </a:r>
          </a:p>
          <a:p>
            <a:pPr marL="0" indent="0" algn="l">
              <a:lnSpc>
                <a:spcPct val="104000"/>
              </a:lnSpc>
              <a:spcBef>
                <a:spcPts val="400"/>
              </a:spcBef>
              <a:buNone/>
            </a:pPr>
            <a:r>
              <a:rPr lang="en-US" sz="1750" dirty="0">
                <a:solidFill>
                  <a:srgbClr val="000000"/>
                </a:solidFill>
                <a:latin typeface="Segoe UI"/>
                <a:cs typeface="Segoe UI"/>
              </a:rPr>
              <a:t>Không nộp lại nguyên bản</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Tạp chí tiếp theo</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Định dạng theo Hướng dẫn mới</a:t>
            </a:r>
          </a:p>
          <a:p>
            <a:pPr marL="0" indent="0" algn="l">
              <a:lnSpc>
                <a:spcPct val="104000"/>
              </a:lnSpc>
              <a:spcBef>
                <a:spcPts val="400"/>
              </a:spcBef>
              <a:buNone/>
            </a:pPr>
            <a:r>
              <a:rPr lang="en-US" sz="1750" dirty="0">
                <a:solidFill>
                  <a:srgbClr val="000000"/>
                </a:solidFill>
                <a:latin typeface="Segoe UI"/>
                <a:cs typeface="Segoe UI"/>
              </a:rPr>
              <a:t>Dùng đề nghị chuyển bài nếu có</a:t>
            </a:r>
          </a:p>
          <a:p>
            <a:pPr marL="0" indent="0" algn="l">
              <a:lnSpc>
                <a:spcPct val="104000"/>
              </a:lnSpc>
              <a:spcBef>
                <a:spcPts val="400"/>
              </a:spcBef>
              <a:buNone/>
            </a:pPr>
            <a:r>
              <a:rPr lang="en-US" sz="1750" dirty="0">
                <a:solidFill>
                  <a:srgbClr val="000000"/>
                </a:solidFill>
                <a:latin typeface="Segoe UI"/>
                <a:cs typeface="Segoe UI"/>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tiếp theo có thể vẫn là người cũ -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hội nghị và áp phích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Áp phích là bảng quảng cáo: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Kết thúc: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Nội dung</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Bài kiểm tra cuối khóa (cùng 24 câu)</a:t>
            </a:r>
          </a:p>
          <a:p>
            <a:pPr marL="274320" indent="-274320" algn="l">
              <a:spcBef>
                <a:spcPts val="440"/>
              </a:spcBef>
              <a:buFont typeface="Arial"/>
              <a:buChar char="•"/>
            </a:pPr>
            <a:r>
              <a:rPr lang="en-US" sz="1900" dirty="0">
                <a:solidFill>
                  <a:srgbClr val="000000"/>
                </a:solidFill>
                <a:latin typeface="Segoe UI"/>
                <a:cs typeface="Segoe UI"/>
              </a:rPr>
              <a:t>Những gì bạn đã xây dựng trong tám buổi</a:t>
            </a:r>
          </a:p>
          <a:p>
            <a:pPr marL="274320" indent="-274320" algn="l">
              <a:spcBef>
                <a:spcPts val="440"/>
              </a:spcBef>
              <a:buFont typeface="Arial"/>
              <a:buChar char="•"/>
            </a:pPr>
            <a:r>
              <a:rPr lang="en-US" sz="1900" dirty="0">
                <a:solidFill>
                  <a:srgbClr val="000000"/>
                </a:solidFill>
                <a:latin typeface="Segoe UI"/>
                <a:cs typeface="Segoe UI"/>
              </a:rPr>
              <a:t>Đánh giá khóa học</a:t>
            </a:r>
          </a:p>
          <a:p>
            <a:pPr marL="274320" indent="-274320" algn="l">
              <a:spcBef>
                <a:spcPts val="440"/>
              </a:spcBef>
              <a:buFont typeface="Arial"/>
              <a:buChar char="•"/>
            </a:pPr>
            <a:r>
              <a:rPr lang="en-US" sz="1900" dirty="0">
                <a:solidFill>
                  <a:srgbClr val="000000"/>
                </a:solidFill>
                <a:latin typeface="Segoe UI"/>
                <a:cs typeface="Segoe UI"/>
              </a:rPr>
              <a:t>Sau khóa học: phản biện chéo các bản thảo</a:t>
            </a:r>
          </a:p>
          <a:p>
            <a:pPr marL="274320" indent="-274320" algn="l">
              <a:spcBef>
                <a:spcPts val="440"/>
              </a:spcBef>
              <a:buFont typeface="Arial"/>
              <a:buChar char="•"/>
            </a:pPr>
            <a:r>
              <a:rPr lang="en-US" sz="1900" dirty="0">
                <a:solidFill>
                  <a:srgbClr val="000000"/>
                </a:solidFill>
                <a:latin typeface="Segoe UI"/>
                <a:cs typeface="Segoe UI"/>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Cùng 24 câu hỏi như Buổi 1 (nên dùng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Làm cá nhân, không thảo luận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cùng mã số học viên như Buổi 1</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HỎI &amp; TÌM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câu hỏi PICO</a:t>
            </a:r>
          </a:p>
          <a:p>
            <a:pPr marL="0" indent="0" algn="l">
              <a:lnSpc>
                <a:spcPct val="104000"/>
              </a:lnSpc>
              <a:spcBef>
                <a:spcPts val="200"/>
              </a:spcBef>
              <a:buNone/>
            </a:pPr>
            <a:r>
              <a:rPr lang="en-US" sz="1500" dirty="0">
                <a:solidFill>
                  <a:srgbClr val="000000"/>
                </a:solidFill>
                <a:latin typeface="Segoe UI"/>
                <a:cs typeface="Segoe UI"/>
              </a:rPr>
              <a:t>5 tài liệu chính</a:t>
            </a:r>
          </a:p>
          <a:p>
            <a:pPr marL="0" indent="0" algn="l">
              <a:lnSpc>
                <a:spcPct val="104000"/>
              </a:lnSpc>
              <a:spcBef>
                <a:spcPts val="200"/>
              </a:spcBef>
              <a:buNone/>
            </a:pPr>
            <a:r>
              <a:rPr lang="en-US" sz="1500" dirty="0">
                <a:solidFill>
                  <a:srgbClr val="000000"/>
                </a:solidFill>
                <a:latin typeface="Segoe UI"/>
                <a:cs typeface="Segoe UI"/>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Thiết kế có lý giải</a:t>
            </a:r>
          </a:p>
          <a:p>
            <a:pPr marL="0" indent="0" algn="l">
              <a:lnSpc>
                <a:spcPct val="104000"/>
              </a:lnSpc>
              <a:spcBef>
                <a:spcPts val="200"/>
              </a:spcBef>
              <a:buNone/>
            </a:pPr>
            <a:r>
              <a:rPr lang="en-US" sz="1500" dirty="0">
                <a:solidFill>
                  <a:srgbClr val="000000"/>
                </a:solidFill>
                <a:latin typeface="Segoe UI"/>
                <a:cs typeface="Segoe UI"/>
              </a:rPr>
              <a:t>Kết cục</a:t>
            </a:r>
          </a:p>
          <a:p>
            <a:pPr marL="0" indent="0" algn="l">
              <a:lnSpc>
                <a:spcPct val="104000"/>
              </a:lnSpc>
              <a:spcBef>
                <a:spcPts val="200"/>
              </a:spcBef>
              <a:buNone/>
            </a:pPr>
            <a:r>
              <a:rPr lang="en-US" sz="1500" dirty="0">
                <a:solidFill>
                  <a:srgbClr val="000000"/>
                </a:solidFill>
                <a:latin typeface="Segoe UI"/>
                <a:cs typeface="Segoe UI"/>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TÍCH</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CRF và kế hoạch phân tích</a:t>
            </a:r>
          </a:p>
          <a:p>
            <a:pPr marL="0" indent="0" algn="l">
              <a:lnSpc>
                <a:spcPct val="104000"/>
              </a:lnSpc>
              <a:spcBef>
                <a:spcPts val="200"/>
              </a:spcBef>
              <a:buNone/>
            </a:pPr>
            <a:r>
              <a:rPr lang="en-US" sz="1500" dirty="0">
                <a:solidFill>
                  <a:srgbClr val="000000"/>
                </a:solidFill>
                <a:latin typeface="Segoe UI"/>
                <a:cs typeface="Segoe UI"/>
              </a:rPr>
              <a:t>Đọc và diễn giải một bộ dữ liệu thật</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VIẾT</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Phương pháp, Kết quả</a:t>
            </a:r>
          </a:p>
          <a:p>
            <a:pPr marL="0" indent="0" algn="l">
              <a:lnSpc>
                <a:spcPct val="104000"/>
              </a:lnSpc>
              <a:spcBef>
                <a:spcPts val="200"/>
              </a:spcBef>
              <a:buNone/>
            </a:pPr>
            <a:r>
              <a:rPr lang="en-US" sz="1500" dirty="0">
                <a:solidFill>
                  <a:srgbClr val="000000"/>
                </a:solidFill>
                <a:latin typeface="Segoe UI"/>
                <a:cs typeface="Segoe UI"/>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CÔNG BỐ</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Đề cương đã trình bày</a:t>
            </a:r>
          </a:p>
          <a:p>
            <a:pPr marL="0" indent="0" algn="l">
              <a:lnSpc>
                <a:spcPct val="104000"/>
              </a:lnSpc>
              <a:spcBef>
                <a:spcPts val="200"/>
              </a:spcBef>
              <a:buNone/>
            </a:pPr>
            <a:r>
              <a:rPr lang="en-US" sz="1500" dirty="0">
                <a:solidFill>
                  <a:srgbClr val="000000"/>
                </a:solidFill>
                <a:latin typeface="Segoe UI"/>
                <a:cs typeface="Segoe UI"/>
              </a:rPr>
              <a:t>Bản thảo bài báo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Năm đề cương và năm bản thảo bài báo từ khoa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Chấm điểm từng buổi: nội dung, tốc độ, mức hữu ích</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Một điều nên giữ, một điều nên thay đổi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Bạn có quan tâm đến Cấp độ 2 (thực hành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phản biện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Hoàn thiện bản thảo</a:t>
            </a:r>
          </a:p>
          <a:p>
            <a:pPr marL="0" indent="0" algn="l">
              <a:lnSpc>
                <a:spcPct val="104000"/>
              </a:lnSpc>
              <a:spcBef>
                <a:spcPts val="200"/>
              </a:spcBef>
              <a:buNone/>
            </a:pPr>
            <a:r>
              <a:rPr lang="en-US" sz="1500" dirty="0">
                <a:solidFill>
                  <a:srgbClr val="000000"/>
                </a:solidFill>
                <a:latin typeface="Segoe UI"/>
                <a:cs typeface="Segoe UI"/>
              </a:rPr>
              <a:t>Nộp cho giảng viên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Đổi bài</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Phản biện bài của nhóm khác</a:t>
            </a:r>
          </a:p>
          <a:p>
            <a:pPr marL="0" indent="0" algn="l">
              <a:lnSpc>
                <a:spcPct val="104000"/>
              </a:lnSpc>
              <a:spcBef>
                <a:spcPts val="200"/>
              </a:spcBef>
              <a:buNone/>
            </a:pPr>
            <a:r>
              <a:rPr lang="en-US" sz="1500" dirty="0">
                <a:solidFill>
                  <a:srgbClr val="000000"/>
                </a:solidFill>
                <a:latin typeface="Segoe UI"/>
                <a:cs typeface="Segoe UI"/>
              </a:rPr>
              <a:t>Bảng kiểm 10 câu + kiểm tra cách viết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Trả lời</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Trả lời từng nhận xét</a:t>
            </a:r>
          </a:p>
          <a:p>
            <a:pPr marL="0" indent="0" algn="l">
              <a:lnSpc>
                <a:spcPct val="104000"/>
              </a:lnSpc>
              <a:spcBef>
                <a:spcPts val="200"/>
              </a:spcBef>
              <a:buNone/>
            </a:pPr>
            <a:r>
              <a:rPr lang="en-US" sz="1500" dirty="0">
                <a:solidFill>
                  <a:srgbClr val="000000"/>
                </a:solidFill>
                <a:latin typeface="Segoe UI"/>
                <a:cs typeface="Segoe UI"/>
              </a:rPr>
              <a:t>Mẫu trả lời phản biện</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Bản cuối + thư trả lời</a:t>
            </a:r>
          </a:p>
          <a:p>
            <a:pPr marL="0" indent="0" algn="l">
              <a:lnSpc>
                <a:spcPct val="104000"/>
              </a:lnSpc>
              <a:spcBef>
                <a:spcPts val="200"/>
              </a:spcBef>
              <a:buNone/>
            </a:pPr>
            <a:r>
              <a:rPr lang="en-US" sz="1500" dirty="0">
                <a:solidFill>
                  <a:srgbClr val="000000"/>
                </a:solidFill>
                <a:latin typeface="Segoe UI"/>
                <a:cs typeface="Segoe UI"/>
              </a:rPr>
              <a:t>Giảng viên góp 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Hạn nộp hai tuần sau Buổi 8 - xem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Hoàn thành</a:t>
            </a:r>
          </a:p>
        </p:txBody>
      </p:sp>
      <p:sp>
        <p:nvSpPr>
          <p:cNvPr id="71" name="CardBody"/>
          <p:cNvSpPr/>
          <p:nvPr/>
        </p:nvSpPr>
        <p:spPr>
          <a:xfrm>
            <a:off x="457200"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Tham dự ít nhất 6/8 buổi</a:t>
            </a:r>
          </a:p>
          <a:p>
            <a:pPr marL="0" indent="0" algn="l">
              <a:lnSpc>
                <a:spcPct val="104000"/>
              </a:lnSpc>
              <a:spcBef>
                <a:spcPts val="400"/>
              </a:spcBef>
              <a:buNone/>
            </a:pPr>
            <a:r>
              <a:rPr lang="en-US" sz="1750" dirty="0">
                <a:solidFill>
                  <a:srgbClr val="000000"/>
                </a:solidFill>
                <a:latin typeface="Segoe UI"/>
                <a:cs typeface="Segoe UI"/>
              </a:rPr>
              <a:t>Đã trình bày đề cương</a:t>
            </a:r>
          </a:p>
          <a:p>
            <a:pPr marL="0" indent="0" algn="l">
              <a:lnSpc>
                <a:spcPct val="104000"/>
              </a:lnSpc>
              <a:spcBef>
                <a:spcPts val="400"/>
              </a:spcBef>
              <a:buNone/>
            </a:pPr>
            <a:r>
              <a:rPr lang="en-US" sz="1750" dirty="0">
                <a:solidFill>
                  <a:srgbClr val="000000"/>
                </a:solidFill>
                <a:latin typeface="Segoe UI"/>
                <a:cs typeface="Segoe UI"/>
              </a:rPr>
              <a:t>Đã nộp bản thảo</a:t>
            </a:r>
          </a:p>
        </p:txBody>
      </p:sp>
      <p:sp>
        <p:nvSpPr>
          <p:cNvPr id="72" name="CardHead"/>
          <p:cNvSpPr/>
          <p:nvPr/>
        </p:nvSpPr>
        <p:spPr>
          <a:xfrm>
            <a:off x="4283066" y="186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Bộ công cụ của bạn</a:t>
            </a:r>
          </a:p>
        </p:txBody>
      </p:sp>
      <p:sp>
        <p:nvSpPr>
          <p:cNvPr id="73" name="CardBody"/>
          <p:cNvSpPr/>
          <p:nvPr/>
        </p:nvSpPr>
        <p:spPr>
          <a:xfrm>
            <a:off x="4283066"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Slide, tài liệu phát tay, bảng thuật ngữ</a:t>
            </a:r>
          </a:p>
          <a:p>
            <a:pPr marL="0" indent="0" algn="l">
              <a:lnSpc>
                <a:spcPct val="104000"/>
              </a:lnSpc>
              <a:spcBef>
                <a:spcPts val="400"/>
              </a:spcBef>
              <a:buNone/>
            </a:pPr>
            <a:r>
              <a:rPr lang="en-US" sz="1750" dirty="0">
                <a:solidFill>
                  <a:srgbClr val="000000"/>
                </a:solidFill>
                <a:latin typeface="Segoe UI"/>
                <a:cs typeface="Segoe UI"/>
              </a:rPr>
              <a:t>Mẫu đề cương, đề cương chi tiết, đồng thuận, CRF, SAP,</a:t>
            </a:r>
          </a:p>
          <a:p>
            <a:pPr marL="0" indent="0" algn="l">
              <a:lnSpc>
                <a:spcPct val="104000"/>
              </a:lnSpc>
              <a:spcBef>
                <a:spcPts val="400"/>
              </a:spcBef>
              <a:buNone/>
            </a:pPr>
            <a:r>
              <a:rPr lang="en-US" sz="1750" dirty="0">
                <a:solidFill>
                  <a:srgbClr val="000000"/>
                </a:solidFill>
                <a:latin typeface="Segoe UI"/>
                <a:cs typeface="Segoe UI"/>
              </a:rPr>
              <a:t>bản thảo và trả lời phản biện</a:t>
            </a:r>
          </a:p>
        </p:txBody>
      </p:sp>
      <p:sp>
        <p:nvSpPr>
          <p:cNvPr id="74" name="CardHead"/>
          <p:cNvSpPr/>
          <p:nvPr/>
        </p:nvSpPr>
        <p:spPr>
          <a:xfrm>
            <a:off x="8108932" y="186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Tiếp tục</a:t>
            </a:r>
          </a:p>
        </p:txBody>
      </p:sp>
      <p:sp>
        <p:nvSpPr>
          <p:cNvPr id="75" name="CardBody"/>
          <p:cNvSpPr/>
          <p:nvPr/>
        </p:nvSpPr>
        <p:spPr>
          <a:xfrm>
            <a:off x="8108932"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Đưa đề cương đến hội đồng đạo đức</a:t>
            </a:r>
          </a:p>
          <a:p>
            <a:pPr marL="0" indent="0" algn="l">
              <a:lnSpc>
                <a:spcPct val="104000"/>
              </a:lnSpc>
              <a:spcBef>
                <a:spcPts val="400"/>
              </a:spcBef>
              <a:buNone/>
            </a:pPr>
            <a:r>
              <a:rPr lang="en-US" sz="1750" dirty="0">
                <a:solidFill>
                  <a:srgbClr val="000000"/>
                </a:solidFill>
                <a:latin typeface="Segoe UI"/>
                <a:cs typeface="Segoe UI"/>
              </a:rPr>
              <a:t>Cấp độ 2: thực hành phân tích bằng R</a:t>
            </a:r>
          </a:p>
          <a:p>
            <a:pPr marL="0" indent="0" algn="l">
              <a:lnSpc>
                <a:spcPct val="104000"/>
              </a:lnSpc>
              <a:spcBef>
                <a:spcPts val="400"/>
              </a:spcBef>
              <a:buNone/>
            </a:pPr>
            <a:r>
              <a:rPr lang="en-US" sz="1750" dirty="0">
                <a:solidFill>
                  <a:srgbClr val="000000"/>
                </a:solidFill>
                <a:latin typeface="Segoe UI"/>
                <a:cs typeface="Segoe UI"/>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Xin cảm ơn!</a:t>
            </a:r>
          </a:p>
          <a:p>
            <a:pPr marL="0" indent="0" algn="ctr">
              <a:spcBef>
                <a:spcPts val="1200"/>
              </a:spcBef>
              <a:buNone/>
            </a:pPr>
            <a:r>
              <a:rPr lang="en-US" sz="1900" i="1" dirty="0">
                <a:solidFill>
                  <a:srgbClr val="595959"/>
                </a:solidFill>
                <a:latin typeface="Segoe UI"/>
                <a:cs typeface="Segoe UI"/>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