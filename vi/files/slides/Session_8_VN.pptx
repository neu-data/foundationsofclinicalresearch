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8 (0:00). Cuối tuần 4, Chủ Nhật - buổi cuối cùng. Hôm nay bản thảo FLUID-ICU trở thành bản nháp hoàn chỉnh, chúng ta theo một bài báo từ lúc nộp đến khi đăng, luyện phản biện, và mỗi nhóm trình bày đề cương của mình.</a:t>
            </a:r>
          </a:p>
          <a:p>
            <a:r>
              <a:rPr lang="en-US" sz="1400" b="0" dirty="0"/>
              <a:t>Phần bế mạc (kiểm tra cuối khóa, đánh giá, trao đổi bản thảo để phản biện) là 15 phút cuối và có slide riêng.</a:t>
            </a:r>
          </a:p>
          <a:p>
            <a:r>
              <a:rPr lang="en-US" sz="1400" b="0" dirty="0"/>
              <a:t>Trước khi bắt đầu: cả năm bài trình bày trên MỘT máy; bản nháp thực hành 1 của mỗi nhóm đã mở.</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(0:00-0:05). Giơ tay nhanh; mở đáp án.</a:t>
            </a:r>
          </a:p>
          <a:p>
            <a:r>
              <a:rPr lang="en-US" sz="1400" b="0" dirty="0"/>
              <a:t>Câu 3 dẫn vào 8.1: Bàn luận là nơi dành cho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8.1 (0:05-0:30). Mười một slide với ba ví dụ mẫu từ FLUID-ICU Q1 và 2 phút kiểm tra.</a:t>
            </a:r>
          </a:p>
          <a:p>
            <a:r>
              <a:rPr lang="en-US" sz="1400" b="0" dirty="0"/>
              <a:t>Thứ tự theo thứ tự viết hôm qua: Đặt vấn đề, Bàn luận, rồi Tóm tắt và Tiêu đề sau cùng.</a:t>
            </a:r>
          </a:p>
          <a:p>
            <a:r>
              <a:rPr lang="en-US" sz="1400" b="0" dirty="0"/>
              <a:t>Nhịp: khoảng 2 phút mỗi slide; chậm lại ở ví dụ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phần đặt vấn đề là một cái phễu, không phải bài tổng quan y văn. Đoạn 1: điều đã biết (gánh nặng, cơ chế, thực hành hiện nay). Đoạn 2: điều chưa biết - khoảng trống, tốt nhất có dẫn chứng mâu thuẫn của cả hai phía. Đoạn 3: 'Vì vậy chúng tôi nhằm ...' - một câu mục tiêu khớp với kết cục chính trong phần Phương pháp.</a:t>
            </a:r>
          </a:p>
          <a:p>
            <a:r>
              <a:rPr lang="en-US" sz="1400" b="0" dirty="0"/>
              <a:t>Bài 1 là mẫu (chú giải #10-#12): đã biết (cân bằng dịch dương liên quan tử vong; dịch ẩn chiếm phần lớn lượng vào), chưa biết (các thử nghiệm trước chỉ nhắm dịch hồi sức), mục tiêu (mục tiêu chính = cân bằng dịch sau 5 ngày) - dưới 500 từ (trang 2-3).</a:t>
            </a:r>
          </a:p>
          <a:p>
            <a:r>
              <a:rPr lang="en-US" sz="1400" b="0" dirty="0"/>
              <a:t>Đoạn 2 của Bài 2 xác định khoảng trống bằng cách dẫn cả hai phía mâu thuẫn (#9) - nên làm theo; nhưng phần đặt vấn đề dài khoảng 550 từ và câu mục tiêu lặp lại từ nhân quả 'impact' (#3, #10).</a:t>
            </a:r>
          </a:p>
          <a:p>
            <a:r>
              <a:rPr lang="en-US" sz="1400" b="0" dirty="0"/>
              <a:t>Liên hệ Buổi 1-2: nêu vấn đề và PICO đã cho bạn cái phễu này - và slide tiếp theo là ví dụ mẫu cho bài báo FLUID-ICU.</a:t>
            </a:r>
          </a:p>
          <a:p>
            <a:r>
              <a:rPr lang="en-US" sz="1400" b="0" dirty="0"/>
              <a:t>Hỏi: trong một câu, điều gì CHƯA biết về chủ đề của nhóm bạn? Câu đó là đoạn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Câu mở đầu mẫu (điều chỉnh, không chép nguyên):</a:t>
            </a:r>
          </a:p>
          <a:p>
            <a:r>
              <a:rPr lang="en-US" sz="1400" b="0" dirty="0"/>
              <a:t>Đoạn 1: 'Dịch truyền tĩnh mạch là nền tảng điều trị sớm nhiễm khuẩn huyết, nhưng cân bằng dịch dương tích lũy có liên quan với tử vong cao hơn trong nhiều nghiên cứu quan sát [TLTK].'</a:t>
            </a:r>
          </a:p>
          <a:p>
            <a:r>
              <a:rPr lang="en-US" sz="1400" b="0" dirty="0"/>
              <a:t>Đoạn 2: 'Vì bệnh nhân nặng hơn được truyền nhiều dịch hơn, chưa rõ mối liên quan này còn tồn tại sau khi hiệu chỉnh theo mức độ nặng hay không [TLTK].'</a:t>
            </a:r>
          </a:p>
          <a:p>
            <a:r>
              <a:rPr lang="en-US" sz="1400" b="0" dirty="0"/>
              <a:t>Đoạn 3: 'Vì vậy chúng tôi đánh giá liệu cân bằng dịch dương tích lũy đến ngày ICU thứ 3 có liên quan với tử vong 28 ngày ở người lớn nhiễm khuẩn huyết, trước và sau khi hiệu chỉnh theo mức độ nặng.'</a:t>
            </a:r>
          </a:p>
          <a:p>
            <a:r>
              <a:rPr lang="en-US" sz="1400" b="0" dirty="0"/>
              <a:t>Tài liệu: các nhóm dùng tài liệu đã tìm ở Buổi 1-2 cùng Bài 1 và 2.</a:t>
            </a:r>
          </a:p>
          <a:p>
            <a:r>
              <a:rPr lang="en-US" sz="1400" b="0" dirty="0"/>
              <a:t>Lưu ý: nhiễu do chỉ định (Buổi 4) CHÍNH LÀ khoảng trống - đó là lý do nghiên cứu đáng làm.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phần bàn luận tốt đi qua sáu bước theo thứ tự: trả lời câu hỏi; so sánh với nghiên cứu khác và giải thích vì sao khác; giải thích cơ chế ngắn gọn; nêu hạn chế cụ thể, kèm hướng sai lệch và cách khắc phục; nêu hàm ý cho thực hành và nghiên cứu, có ghi rõ; kết luận cùng thông điệp với tóm tắt và tiêu đề.</a:t>
            </a:r>
          </a:p>
          <a:p>
            <a:r>
              <a:rPr lang="en-US" sz="1400" b="0" dirty="0"/>
              <a:t>Bài 1 làm tốt phần lớn: câu đầu trả lời câu hỏi chính (chú giải #36); so sánh với CLASSIC và POINCARE-2 giải thích VÌ SAO kết quả khác (#37); hạn chế cụ thể, có cơ chế và cách khắc phục (#38, #39); kết luận khớp với tóm tắt (#44). Điểm yếu: 'có lẽ sẽ có lợi' là suy đoán không có dữ liệu (#46).</a:t>
            </a:r>
          </a:p>
          <a:p>
            <a:r>
              <a:rPr lang="en-US" sz="1400" b="0" dirty="0"/>
              <a:t>Bài 2: cơ chế trong một đoạn với mô hình bốn giai đoạn dịch (#34); phần so sánh khép lại vòng với các nghiên cứu mâu thuẫn từ phần đặt vấn đề (#35). Nhưng phần hạn chế bỏ sót sai lệch người sống sót, mất cân bằng lactat còn lại và nhiễu do chỉ định (#36).</a:t>
            </a:r>
          </a:p>
          <a:p>
            <a:r>
              <a:rPr lang="en-US" sz="1400" b="0" dirty="0"/>
              <a:t>Hỏi: người viết lần đầu thường bỏ qua bước nào? Đáp án: hướng của hạn chế - nói rõ sai lệch làm tác động trông lớn hơn hay nhỏ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(sáu bước, mỗi bước một câu; số liệu từ key_results.md, dữ liệu MÔ PHỎNG).</a:t>
            </a:r>
          </a:p>
          <a:p>
            <a:r>
              <a:rPr lang="en-US" sz="1400" b="0" dirty="0"/>
              <a:t>1 Trả lời: OR hiệu chỉnh 1,62 (KTC 95% 1,02 đến 2,59). 2 So sánh: Bài 2 có HR ngày 2 là 2,13 (1,48 đến 3,06). 3 Giải thích: OR thô 2,49 giảm còn 1,62 sau hiệu chỉnh - nhiễu do chỉ định. 4 Hạn chế: nhiễu còn sót, quan hệ nhân quả ngược (bệnh nhân đang xấu đi tích dịch), bệnh nhân tử vong trước ngày 3; HR Cox hiệu chỉnh 1,46 có KTC chạm 1,00. 5 Hàm ý: không có cơ sở hạn chế dịch - cần thử nghiệm như Bài 1. 6 Kết luận: 'có liên quan với'.</a:t>
            </a:r>
          </a:p>
          <a:p>
            <a:r>
              <a:rPr lang="en-US" sz="1400" b="0" dirty="0"/>
              <a:t>Ý tùy chọn cho nhóm Q1: liên quan có vẻ mạnh hơn ở bệnh nhân suy tim (OR hiệu chỉnh 4,39 so với 1,29, p tương tác 0,031, chỉ 90 bệnh nhân) - là giả thuyết, không phải phát hiện.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Hình cho thấy ba ước lượng từ gói kết quả Q1 (Bảng 6): thô (n = 618), hiệu chỉnh ca đầy đủ (n = 527) và hiệu chỉnh sau quy gán đa bội (n = 620).</a:t>
            </a:r>
          </a:p>
          <a:p>
            <a:r>
              <a:rPr lang="en-US" sz="1400" b="0" dirty="0"/>
              <a:t>Ý chính: việc giảm từ 2,49 xuống 1,62 là bài học Buổi 4 hiện ra trước mắt - bệnh nhân nặng hơn được truyền nhiều dịch hơn VÀ tử vong nhiều hơn. Ước lượng quy gán gần với ca đầy đủ, nên lactat thiếu không làm đổi kết luận.</a:t>
            </a:r>
          </a:p>
          <a:p>
            <a:r>
              <a:rPr lang="en-US" sz="1400" b="0" dirty="0"/>
              <a:t>KTC hiệu chỉnh bắt đầu từ 1,02 - vừa trên 1. Câu tương xứng: 'vẫn còn mối liên quan mức độ vừa phải'.</a:t>
            </a:r>
          </a:p>
          <a:p>
            <a:r>
              <a:rPr lang="en-US" sz="1400" b="0" dirty="0"/>
              <a:t>Hỏi: nếu KTC hiệu chỉnh vượt qua 1 thì viết gì? Đáp án: 'không có bằng chứng rõ về liên quan sau hiệu chỉnh' - không phải 'không có tác dụng'.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độ mạnh của động từ là một khẳng định. Diễn giải quá mức - kết luận vượt quá dữ liệu - là một trong những lý do bị từ chối thường gặp nhất.</a:t>
            </a:r>
          </a:p>
          <a:p>
            <a:r>
              <a:rPr lang="en-US" sz="1400" b="0" dirty="0"/>
              <a:t>Đọc thang từ dưới lên: nghiên cứu mô tả 'ghi nhận'; đoàn hệ và bệnh-chứng thấy một yếu tố 'có liên quan với' kết cục; bằng chứng quan sát mạnh cộng lập luận nhân quả có thể nói 'có thể góp phần'; thử nghiệm ngẫu nhiên được nói 'làm giảm' hoặc 'không làm giảm'; 'gây ra' hay 'chứng minh' cần nhiều thử nghiệm lớn thống nhất.</a:t>
            </a:r>
          </a:p>
          <a:p>
            <a:r>
              <a:rPr lang="en-US" sz="1400" b="0" dirty="0"/>
              <a:t>KHÔNG BAO GIỜ: 'xu hướng không có ý nghĩa' với p = 0,42 (Bài 1, trang 10, chú giải #41); 'không khác biệt' khi nghiên cứu quá nhỏ - hãy nói 'không có bằng chứng về khác biệt' (#29); 'đầu tiên', 'chưa từng', 'mới' khi chưa kiểm chứng ('cân bằng dịch thấp nhất từng được công bố', #40); 'tác động', 'không tác động', 'chứng tỏ' trong nghiên cứu quan sát (Bài 2, #1, #27, #28); 'so sánh đáng tin cậy nhất' (#32); xếp hạng HR từ các đoàn hệ khác nhau thành 'nguy cơ cao nhất' mà không có kiểm định (#37).</a:t>
            </a:r>
          </a:p>
          <a:p>
            <a:r>
              <a:rPr lang="en-US" sz="1400" b="0" dirty="0"/>
              <a:t>Hỏi: viết lại câu 'cân bằng dịch dương làm tăng tử vong' cho Bài 2. Đáp án: 'cân bằng dịch dương vào ngày ICU thứ 2 có liên quan với tử vong 28 ngày cao hơn'.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Số liệu từ key_results.md (MÔ PHỎNG): Q1 OR hiệu chỉnh 1,62; Q2 OR hiệu chỉnh 1,27 mỗi 10 ml/kg; Q1 HR Cox hiệu chỉnh 1,46 (1,00 đến 2,13); Q4 OR hiệu chỉnh ca đầy đủ 1,39 mỗi mmol/L.</a:t>
            </a:r>
          </a:p>
          <a:p>
            <a:r>
              <a:rPr lang="en-US" sz="1400" b="0" dirty="0"/>
              <a:t>Lớp bỏ phiếu 'ổn' hay 'sửa'; mời một người sửa.</a:t>
            </a:r>
          </a:p>
          <a:p>
            <a:r>
              <a:rPr lang="en-US" sz="1400" b="0" dirty="0"/>
              <a:t>Câu 3: không dùng 'xu hướng' - nêu ước lượng và nói KTC chạm 1.</a:t>
            </a:r>
          </a:p>
          <a:p>
            <a:r>
              <a:rPr lang="en-US" sz="1400" b="0" dirty="0"/>
              <a:t>Câu 4: 'dự báo' chấp nhận được theo nghĩa tiên lượng; nếu tác giả muốn nói nhân quả, 'có liên quan với' là động từ trung thực.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đa số tạp chí lâm sàng yêu cầu tóm tắt có cấu trúc - Đặt vấn đề, Phương pháp, Kết quả, Kết luận - khoảng 250-300 từ; thử nghiệm thêm số đăng ký. Nhiều người đọc không đọc tiếp, nên tóm tắt phải tự đứng được.</a:t>
            </a:r>
          </a:p>
          <a:p>
            <a:r>
              <a:rPr lang="en-US" sz="1400" b="0" dirty="0"/>
              <a:t>Thực hành tốt: tóm tắt Bài 2 nêu quần thể nguồn, bối cảnh và cỡ mẫu (chú giải #4) và mọi kết quả dạng HR với KTC 95% và giá trị P chính xác (#5). Kết luận của Bài 1 nêu thẳng kết quả âm tính, không 'tô vẽ' (#6), và số đăng ký có trong tóm tắt (#7).</a:t>
            </a:r>
          </a:p>
          <a:p>
            <a:r>
              <a:rPr lang="en-US" sz="1400" b="0" dirty="0"/>
              <a:t>Cần sửa (Bài 1, #4): báo cáo trung vị nhưng ước lượng gọi là 'chênh lệch trung bình', và p = 0,0506 với KTC chạm 0 được ghi tới bốn chữ số thập phân. Cách tóm tắt, ước lượng và kiểm định phải khớp nhau, và p sát ngưỡng không phải là 'gần có ý nghĩa'.</a:t>
            </a:r>
          </a:p>
          <a:p>
            <a:r>
              <a:rPr lang="en-US" sz="1400" b="0" dirty="0"/>
              <a:t>Viết tóm tắt SAU CÙNG, và kiểm tra mỗi con số giống hệt nhau ở tóm tắt, văn bản và bảng.</a:t>
            </a:r>
          </a:p>
          <a:p>
            <a:r>
              <a:rPr lang="en-US" sz="1400" b="0" dirty="0"/>
              <a:t>Hỏi: điều đầu tiên bạn tìm trong phần Kết quả của tóm tắt? Đáp án: tác động chính kèm KTC.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(dữ liệu MÔ PHỎNG; khoảng 120 từ - tóm tắt đầy đủ tối đa 250).</a:t>
            </a:r>
          </a:p>
          <a:p>
            <a:r>
              <a:rPr lang="en-US" sz="1400" b="0" dirty="0"/>
              <a:t>Tiêu đề: nêu phơi nhiễm, kết cục, đối tượng và thiết kế; không 'tác động'.</a:t>
            </a:r>
          </a:p>
          <a:p>
            <a:r>
              <a:rPr lang="en-US" sz="1400" b="0" dirty="0"/>
              <a:t>Phương pháp: phải nói dữ liệu là mô phỏng (quy định của khóa học).</a:t>
            </a:r>
          </a:p>
          <a:p>
            <a:r>
              <a:rPr lang="en-US" sz="1400" b="0" dirty="0"/>
              <a:t>Kết quả: OR thô VÀ hiệu chỉnh, như trong Kết quả; số bệnh nhân (618 phân tích, 373 cân bằng dương).</a:t>
            </a:r>
          </a:p>
          <a:p>
            <a:r>
              <a:rPr lang="en-US" sz="1400" b="0" dirty="0"/>
              <a:t>Kết luận: 'liên quan mức độ vừa phải' - khớp với KTC hiệu chỉnh 1,02 đến 2,59.</a:t>
            </a:r>
          </a:p>
          <a:p>
            <a:r>
              <a:rPr lang="en-US" sz="1400" b="0" dirty="0"/>
              <a:t>Hỏi: câu nào trong tóm tắt sẽ thay đổi nếu KTC hiệu chỉnh là 0,95 đến 2,40? Đáp án: Kết quả và Kết luận - 'không có bằng chứng rõ về liên quan sau hiệu chỉnh'.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tiêu đề là câu được đọc nhiều nhất của bài. Xây dựng từ PICO: thiết kế, can thiệp hoặc phơi nhiễm so với nhóm chứng, đối tượng, kết cục. Khoảng 10-16 từ; nêu thiết kế; tránh từ mang tính đánh giá ('impact', 'optimized', 'novel', 'first').</a:t>
            </a:r>
          </a:p>
          <a:p>
            <a:r>
              <a:rPr lang="en-US" sz="1400" b="0" dirty="0"/>
              <a:t>Bài 1 (chú giải #1): tiêu đề có nêu thiết kế - tốt - nhưng hơn 25 từ và có từ đánh giá. Phiên bản mô tả ngắn hơn có trên slide.</a:t>
            </a:r>
          </a:p>
          <a:p>
            <a:r>
              <a:rPr lang="en-US" sz="1400" b="0" dirty="0"/>
              <a:t>Bài 2 (chú giải #1): 'Impact' là từ nhân quả cho một nghiên cứu đoàn hệ quan sát; người phản biện thường yêu cầu 'Association between ...'.</a:t>
            </a:r>
          </a:p>
          <a:p>
            <a:r>
              <a:rPr lang="en-US" sz="1400" b="0" dirty="0"/>
              <a:t>Từ khóa (Bài 1, chú giải #9): từ khóa lặp lại chữ đã có trong tiêu đề. Chọn 3-6 thuật ngữ MeSH CHƯA có trong tiêu đề để bài được tìm thấy qua nhiều lượt tìm kiếm hơn.</a:t>
            </a:r>
          </a:p>
          <a:p>
            <a:r>
              <a:rPr lang="en-US" sz="1400" b="0" dirty="0"/>
              <a:t>Hỏi: nói nghiên cứu của nhóm trong một dòng, bắt đầu bằng thiết kế. Đó là bản nháp tiêu đề tạm - các bạn sẽ viết nó trong hoạt động cuối phần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tham khảo: dùng phần mềm quản lý tài liệu (Zotero, Mendeley, EndNote) và kiểm tra từng trích dẫn. Ở Bài 2, danh sách biến hiệu chỉnh dẫn tài liệu 26 - bài định nghĩa Sepsis-3 - gần như chắc chắn sai số (chú giải #22). Không bao giờ trích dẫn tài liệu do AI gợi ý mà chưa đọc.</a:t>
            </a:r>
          </a:p>
          <a:p>
            <a:r>
              <a:rPr lang="en-US" sz="1400" b="0" dirty="0"/>
              <a:t>Bảng kiểm báo cáo: điền CONSORT hoặc STROBE trong lúc viết, kèm số trang - nhiều tạp chí yêu cầu khi nộp. Cả hai bài đều không nêu tên hướng dẫn (cả hai bản tóm tắt chú giải đều chỉ ra).</a:t>
            </a:r>
          </a:p>
          <a:p>
            <a:r>
              <a:rPr lang="en-US" sz="1400" b="0" dirty="0"/>
              <a:t>Đọc lần cuối: đối chiếu mọi con số trong văn bản với bảng (creatinine ở Bài 1, #25), mọi chỗ dẫn hình (Bài 1 dẫn Hình 1 trong khi ý là Hình 2A, #28), và cách viết số (một KTPV có cận trên nhỏ hơn cận dưới, #35).</a:t>
            </a:r>
          </a:p>
          <a:p>
            <a:r>
              <a:rPr lang="en-US" sz="1400" b="0" dirty="0"/>
              <a:t>Thông điệp từ bản tóm tắt chú giải: gần như mọi lỗi của Bài 1 lẽ ra đã được phát hiện nếu một đồng tác giả đọc bảng đối chiếu với văn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2 (0:30-1:00). Cấp độ 2. Các nhóm thêm Đặt vấn đề, Bàn luận, Tóm tắt và Tiêu đề vào phần Phương pháp + Kết quả hôm qua.</a:t>
            </a:r>
          </a:p>
          <a:p>
            <a:r>
              <a:rPr lang="en-US" sz="1400" b="0" dirty="0"/>
              <a:t>Hướng dẫn: Practicals/s8_exercises.md, Phần B. Đoạn văn mẫu cho Q1: Solutions/s8_solutions.md.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2 (0:30-1:00). Bật đồng hồ 30 phút; Đặt vấn đề và Bàn luận viết song song.</a:t>
            </a:r>
          </a:p>
          <a:p>
            <a:r>
              <a:rPr lang="en-US" sz="1400" b="0" dirty="0"/>
              <a:t>Đi quanh. Câu gợi ý: 'Câu đầu Bàn luận có trả lời câu hỏi bằng con số không?' 'Có hạn chế nào kèm hướng sai lệch không?' 'Kết luận có dùng cùng động từ với mục tiêu không?' 'Mọi con số trong tóm tắt có giống hệt phần Kết quả không?'</a:t>
            </a:r>
          </a:p>
          <a:p>
            <a:r>
              <a:rPr lang="en-US" sz="1400" b="0" dirty="0"/>
              <a:t>Nhóm Q4: bàn luận vì sao kết quả phân tích ca đầy đủ và quy gán khác nhau (hoặc không). Nhóm Q5: chỉ người sống sót - nói rõ ai bị thiếu.</a:t>
            </a:r>
          </a:p>
          <a:p>
            <a:r>
              <a:rPr lang="en-US" sz="1400" b="0" dirty="0"/>
              <a:t>Lúc 0:58 đề nghị các nhóm lưu bài; bản nháp sẽ được trao đổi để phản biện (bài về nhà, 2 tuần, dùng bảng kiểm 10 câu hỏi ở 8.3).</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GIẢI LAO (1:00-1:15).</a:t>
            </a:r>
          </a:p>
          <a:p>
            <a:r>
              <a:rPr lang="en-US" sz="1400" b="0" dirty="0"/>
              <a:t>Trong giờ giải lao: đặt bài báo và bộ tài liệu thẩm định (Practicals/s8_exercises.md, Phần D) lên bàn - Bài 1 ở bàn 1-3, Bài 2 ở bàn 4-5. Phát bản GỐC (không chú giải).</a:t>
            </a:r>
          </a:p>
          <a:p>
            <a:r>
              <a:rPr lang="en-US" sz="1400" b="0" dirty="0"/>
              <a:t>Chép cả năm bài trình bày vào một máy và thử máy chiếu.</a:t>
            </a:r>
          </a:p>
          <a:p>
            <a:r>
              <a:rPr lang="en-US" sz="1400" b="0" dirty="0"/>
              <a:t>Thu năm bản nháp bản thảo (thư mục chung) - cần cho việc trao đổi phản biện.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8.2 (1:15-1:40). Mười slide, 3 phút trình diễn EQUATOR và 2 phút kiểm tra.</a:t>
            </a:r>
          </a:p>
          <a:p>
            <a:r>
              <a:rPr lang="en-US" sz="1400" b="0" dirty="0"/>
              <a:t>Nhịp: khoảng 2 phút mỗi slide - chỉ vào hình, nêu một ví dụ, đi tiếp. Phần thẩm định cần trọn 20 phút lúc 1:40.</a:t>
            </a:r>
          </a:p>
          <a:p>
            <a:r>
              <a:rPr lang="en-US" sz="1400" b="0" dirty="0"/>
              <a:t>Liên hệ bản thảo: bản nháp FLUID-ICU sẽ đi đúng con đường này - bảng kiểm STROBE, chọn tạp chí, bộ hồ sơ nộp bài, phản biện.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với mỗi thiết kế nghiên cứu có một bảng kiểm báo cáo được quốc tế thống nhất; tất cả được tập hợp miễn phí tại Mạng lưới EQUATOR (equator-network.org).</a:t>
            </a:r>
          </a:p>
          <a:p>
            <a:r>
              <a:rPr lang="en-US" sz="1400" b="0" dirty="0"/>
              <a:t>CONSORT cho thử nghiệm ngẫu nhiên (bản cập nhật CONSORT 2025), STROBE cho nghiên cứu quan sát (đoàn hệ, bệnh-chứng, cắt ngang), STARD cho độ chính xác chẩn đoán, PRISMA cho tổng quan hệ thống, SPIRIT cho đề cương thử nghiệm (SPIRIT 2025), CARE cho báo cáo ca bệnh.</a:t>
            </a:r>
          </a:p>
          <a:p>
            <a:r>
              <a:rPr lang="en-US" sz="1400" b="0" dirty="0"/>
              <a:t>Ví dụ xuyên suốt: Bài 1 là RCT - CONSORT; Bài 2 là đoàn hệ - STROBE. Phát hiện thú vị từ bản chú giải: cả hai bài đều không ghi tên hướng dẫn. Bài 1 có sơ đồ CONSORT trong bài chính; Bài 2 để sơ đồ chọn bệnh trong phụ lục.</a:t>
            </a:r>
          </a:p>
          <a:p>
            <a:r>
              <a:rPr lang="en-US" sz="1400" b="0" dirty="0"/>
              <a:t>Nhiều tạp chí yêu cầu nộp bảng kiểm đã điền, kèm số trang.</a:t>
            </a:r>
          </a:p>
          <a:p>
            <a:r>
              <a:rPr lang="en-US" sz="1400" b="0" dirty="0"/>
              <a:t>Quan niệm sai: 'hướng dẫn báo cáo chỉ cách làm nghiên cứu'. Chúng chỉ cần báo cáo gì - nhưng đọc chúng TRƯỚC khi bắt đầu là bảng kiểm thiết kế tốt nhất.</a:t>
            </a:r>
          </a:p>
          <a:p>
            <a:r>
              <a:rPr lang="en-US" sz="1400" b="0" dirty="0"/>
              <a:t>Hỏi từng nhóm: hướng dẫn nào phù hợp đề cương của bạn? Thường là đoàn hệ hoặc cắt ngang (STROBE); một vài nhóm là thử nghiệm (CONSORT, và SPIRIT cho đề cương).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chọn tạp chí ngay từ đầu, vì Hướng dẫn tác giả quy định số chữ, cấu trúc, bảng kiểm và yêu cầu đăng ký.</a:t>
            </a:r>
          </a:p>
          <a:p>
            <a:r>
              <a:rPr lang="en-US" sz="1400" b="0" dirty="0"/>
              <a:t>Phù hợp: những người cần câu trả lời của bạn (điều dưỡng ICU? dược sĩ? bác sĩ hồi sức?) quyết định tạp chí. Tin cậy: được chỉ mục trong MEDLINE/PubMed, Danh mục Tạp chí Truy cập Mở (DOAJ), Scopus hoặc Web of Science, có chính sách phản biện và rút bài rõ ràng.</a:t>
            </a:r>
          </a:p>
          <a:p>
            <a:r>
              <a:rPr lang="en-US" sz="1400" b="0" dirty="0"/>
              <a:t>Chi phí: nhiều tạp chí truy cập mở thu phí xử lý bài (APC); hỏi về miễn giảm và thỏa thuận của cơ sở. Giấy phép: Bài 1 là CC BY-NC-ND (được chia sẻ, không được chỉnh sửa hay dùng thương mại), Bài 2 là CC BY (được tái sử dụng nếu ghi nguồn).</a:t>
            </a:r>
          </a:p>
          <a:p>
            <a:r>
              <a:rPr lang="en-US" sz="1400" b="0" dirty="0"/>
              <a:t>Tốc độ: Bài 1 từ lúc nộp đến khi được chấp nhận khoảng 7 tuần (10/9 - 31/10/2024); Bài 2 khoảng 7 tháng (15/1 - 24/8/2023). Tốc độ khác nhau và tự nó không nói lên chất lượng.</a:t>
            </a:r>
          </a:p>
          <a:p>
            <a:r>
              <a:rPr lang="en-US" sz="1400" b="0" dirty="0"/>
              <a:t>Hỏi: kể tên một tạp chí khoa bạn thường đọc. Đó thường là lựa chọn đầu tiên hợp lý.</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Tiền ấn phẩm (preprint): bản thảo đăng trên máy chủ công khai (với nghiên cứu y tế, nổi tiếng nhất là medRxiv) trước hoặc trong khi phản biện. Lợi ích: nhanh, có dấu thời gian công khai, nhận góp ý sớm. Rủi ro: chưa qua phản biện, báo chí hoặc đồng nghiệp có thể coi như đã được khẳng định. Đa số tạp chí chấp nhận bài đã đăng tiền ấn phẩm - kiểm tra chính sách trước, và cập nhật bản tiền ấn phẩm bằng trích dẫn bài đã đăng.</a:t>
            </a:r>
          </a:p>
          <a:p>
            <a:r>
              <a:rPr lang="en-US" sz="1400" b="0" dirty="0"/>
              <a:t>Truy cập mở: gold OA là tạp chí cho đọc miễn phí và thường thu phí xử lý bài (APC) - cả hai bài của chúng ta đều là gold OA (chú giải #2). Green OA là tự lưu bản thảo được chấp nhận vào kho lưu trữ, thường sau một thời gian cấm. Hỏi về miễn giảm và thỏa thuận của cơ sở.</a:t>
            </a:r>
          </a:p>
          <a:p>
            <a:r>
              <a:rPr lang="en-US" sz="1400" b="0" dirty="0"/>
              <a:t>Giấy phép: Bài 2 là CC BY (ai cũng được tái sử dụng và chỉnh sửa nếu ghi nguồn); Bài 1 là CC BY-NC-ND (được chia sẻ, không được chỉnh sửa hay dùng thương mại) - điều này cũng quan trọng khi muốn dùng lại hình trong giảng dạy.</a:t>
            </a:r>
          </a:p>
          <a:p>
            <a:r>
              <a:rPr lang="en-US" sz="1400" b="0" dirty="0"/>
              <a:t>Hỏi: bạn muốn vẽ lại sơ đồ chọn bệnh của Bài 1 để đưa vào slide giảng dạy. Có được không? Đáp án: chỉnh sửa không nằm trong CC BY-NC-ND - hãy xin phép hoặc trích dẫn và dẫn liên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săn mồi thu phí đăng bài nhưng không phản biện, biên tập hay chỉ mục thực sự. Công trình của bạn biến mất vào một tạp chí không ai tin, và không thể nộp lại nơi khác.</a:t>
            </a:r>
          </a:p>
          <a:p>
            <a:r>
              <a:rPr lang="en-US" sz="1400" b="0" dirty="0"/>
              <a:t>Đi qua năm dấu hiệu trên email (hư cấu) này: email hàng loạt tâng bốc từ địa chỉ miễn phí; phạm vi mơ hồ, quá rộng và tên nhái tạp chí thật; phản biện nhanh không tưởng; chỉ số 'impact' giả hoặc không rõ nguồn; giấu phí đến sau khi chấp nhận. Dấu hiệu khác: ban biên tập không xác minh được, không có địa chỉ, nhiều lỗi chính tả.</a:t>
            </a:r>
          </a:p>
          <a:p>
            <a:r>
              <a:rPr lang="en-US" sz="1400" b="0" dirty="0"/>
              <a:t>Kiểm tra: Think.Check.Submit (bảng kiểm miễn phí), DOAJ cho tạp chí truy cập mở, NLM Catalog để xem tạp chí có thật sự trong MEDLINE - và hỏi thủ thư bệnh viện.</a:t>
            </a:r>
          </a:p>
          <a:p>
            <a:r>
              <a:rPr lang="en-US" sz="1400" b="0" dirty="0"/>
              <a:t>Hỏi: tháng vừa rồi bao nhiêu người nhận được email kiểu này? Thường rất nhiều - ai đã từng đăng một bài đều nhận.</a:t>
            </a:r>
          </a:p>
          <a:p>
            <a:r>
              <a:rPr lang="en-US" sz="1400" b="0" dirty="0"/>
              <a:t>Phiếu bài tập s8 (Phần C) có bài tập ngắn 'nhận diện tạp chí săn mồi' để làm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(1:24-1:27). Kịch bản đầy đủ và phương án dự phòng không có mạng: Course/Demos/s8_demo.md.</a:t>
            </a:r>
          </a:p>
          <a:p>
            <a:r>
              <a:rPr lang="en-US" sz="1400" b="0" dirty="0"/>
              <a:t>Giữ trong 3 phút: trang chủ EQUATOR - ô tìm kiếm - trang CONSORT 2025 - bảng kiểm và sơ đồ; rồi STROBE. Sau đó tìm tên một tạp chí trên DOAJ, và trên NLM Catalog với bộ lọc 'currently indexed in MEDLINE'. Kết thúc bằng bảng kiểm Think.Check.Submit.</a:t>
            </a:r>
          </a:p>
          <a:p>
            <a:r>
              <a:rPr lang="en-US" sz="1400" b="0" dirty="0"/>
              <a:t>Nếu mất mạng, dùng các ảnh chụp màn hình mô tả trong kịch bản.</a:t>
            </a:r>
          </a:p>
          <a:p>
            <a:r>
              <a:rPr lang="en-US" sz="1400" b="0" dirty="0"/>
              <a:t>Kết: đề nghị mỗi nhóm kiểm tra tạp chí dự kiến và hướng dẫn báo cáo trong kế hoạch công bố (Xây dựng đề cương 7) và cho bản thảo FLUID-ICU (STROBE) - 30 giây, rồi tiếp tục với bộ hồ sơ nộp bài.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tạp chí kiểm tra bộ hồ sơ trước mọi đánh giá khoa học. Thiếu thành phần là bản thảo bị trả về ngay.</a:t>
            </a:r>
          </a:p>
          <a:p>
            <a:r>
              <a:rPr lang="en-US" sz="1400" b="0" dirty="0"/>
              <a:t>Thư gửi biên tập: một trang - vì sao chọn tạp chí này, điểm mới, bài chưa được nộp nơi khác, và bản tiền ấn phẩm nếu có. Trang tiêu đề: tất cả tác giả, đơn vị, mã ORCID (mã định danh nhà nghiên cứu miễn phí, vĩnh viễn - mọi học viên có thể đăng ký tại orcid.org), tác giả liên hệ, số từ. Bản thảo theo định dạng của tạp chí (ẩn danh nếu tạp chí phản biện kín hai chiều). Bảng và hình đúng tệp và độ phân giải yêu cầu. Bảng kiểm báo cáo kèm số trang. Các cam kết: số phê duyệt đạo đức, chấp thuận, xung đột lợi ích, tài trợ, khả năng cung cấp dữ liệu, đóng góp tác giả (CRediT) và việc dùng AI. Số đăng ký cho thử nghiệm và tổng quan hệ thống. Gợi ý người phản biện: chuyên gia không xung đột, không phải đồng tác giả gần đây - biên tập viên quyết định có dùng hay không. Tài liệu bổ sung.</a:t>
            </a:r>
          </a:p>
          <a:p>
            <a:r>
              <a:rPr lang="en-US" sz="1400" b="0" dirty="0"/>
              <a:t>Ví dụ xuyên suốt: Bài 1 có phần cam kết đầy đủ - đúng những gì hệ thống nộp bài hỏi, từng mục một (chú giải #48). Tóm tắt bằng hình là yêu cầu riêng của tạp chí, chỉ tìm thấy trong Hướng dẫn tác giả (#8).</a:t>
            </a:r>
          </a:p>
          <a:p>
            <a:r>
              <a:rPr lang="en-US" sz="1400" b="0" dirty="0"/>
              <a:t>Hỏi: ai trong nhóm đã có mã ORCID? Khuyến khích mọi người đăng ký trong tuần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qua sáu trạm. Nộp bài (kèm thư giới thiệu, bảng kiểm báo cáo và các cam kết) - biên tập viên sàng lọc, nhiều bài bị từ chối ngay mà không qua phản biện ('desk rejection') vì không phù hợp hoặc báo cáo kém - hai ba người phản biện nhận xét - biên tập quyết định: chấp nhận, sửa nhỏ, sửa lớn hoặc từ chối - bạn sửa và trả lời từng ý - được chấp nhận, rồi đọc bản in thử (thật cẩn thận!) và xuất bản.</a:t>
            </a:r>
          </a:p>
          <a:p>
            <a:r>
              <a:rPr lang="en-US" sz="1400" b="0" dirty="0"/>
              <a:t>Ví dụ xuyên suốt: người chú giải đánh giá Bài 1 'sửa nhỏ' và Bài 2 'sửa lớn' - cả hai đã được đăng, và cả hai vẫn còn lỗi mà một người phản biện cẩn thận sẽ phát hiện (Bài 1 còn in hai lần cùng một đoạn 'Study protocol' - lỗi đọc bản in thử).</a:t>
            </a:r>
          </a:p>
          <a:p>
            <a:r>
              <a:rPr lang="en-US" sz="1400" b="0" dirty="0"/>
              <a:t>Quy tắc: mỗi lần chỉ nộp MỘT tạp chí; nếu bị từ chối, sửa bài theo góp ý rồi mới nộp nơi khác.</a:t>
            </a:r>
          </a:p>
          <a:p>
            <a:r>
              <a:rPr lang="en-US" sz="1400" b="0" dirty="0"/>
              <a:t>Hỏi: người phản biện hiểu sai một điểm. Bạn làm gì? Đáp án: cảm ơn, giải thích lịch sự có bằng chứng, và làm rõ câu chữ để người đọc sau không hiểu lầm.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thư trả lời là một bảng - mỗi nhận xét của phản biện, câu trả lời của bạn, và chính xác chỗ bản thảo đã thay đổi (trang và dòng). Đánh số các nhận xét (R1.1, R1.2, R2.1 ...).</a:t>
            </a:r>
          </a:p>
          <a:p>
            <a:r>
              <a:rPr lang="en-US" sz="1400" b="0" dirty="0"/>
              <a:t>Giọng văn: cảm ơn người phản biện, đồng ý khi có thể, không bỏ sót ý nào, không tranh luận cảm tính. Khi không đồng ý (phản hồi), giải thích lịch sự kèm bằng chứng và, nếu được, vẫn làm rõ câu chữ để người đọc sau không hiểu lầm.</a:t>
            </a:r>
          </a:p>
          <a:p>
            <a:r>
              <a:rPr lang="en-US" sz="1400" b="0" dirty="0"/>
              <a:t>Ba dòng trên slide là minh họa, dựa trên những gì người chú giải cho rằng phản biện sẽ hỏi Bài 1: bỏ 'xu hướng không có ý nghĩa' (chấp nhận); giải thích khối cỡ 2 (làm rõ và thêm hạn chế); yêu cầu một kết cục chưa từng thu thập (phản hồi lịch sự - không thể thêm dữ liệu không tồn tại, nhưng có thể nêu thành hạn chế).</a:t>
            </a:r>
          </a:p>
          <a:p>
            <a:r>
              <a:rPr lang="en-US" sz="1400" b="0" dirty="0"/>
              <a:t>Lỗi thường gặp: sửa bản thảo mà không nói sửa ở đâu; trả lời 'đã sửa' không có chi tiết; chấp nhận một yêu cầu làm bài sai đi chỉ để chiều lòng phản biện.</a:t>
            </a:r>
          </a:p>
          <a:p>
            <a:r>
              <a:rPr lang="en-US" sz="1400" b="0" dirty="0"/>
              <a:t>Có mẫu trong Course/Templates/ (thư trả lời phản biện).</a:t>
            </a:r>
          </a:p>
          <a:p>
            <a:r>
              <a:rPr lang="en-US" sz="1400" b="0" dirty="0"/>
              <a:t>Hỏi: phản biện yêu cầu một phân tích mà bạn cho là không phù hợp. Bạn viết gì? Đáp án: cảm ơn, giải thích lý do kèm tài liệu dẫn, và đề xuất phương án khác nếu có.</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Ý chính: sau khi được chấp nhận, nhà xuất bản gửi bản in thử, thường với hạn rất ngắn (vài ngày). Đọc chậm: từng con số, từng tên và đơn vị công tác, từng bảng và hình. Đây là cơ hội cuối cùng.</a:t>
            </a:r>
          </a:p>
          <a:p>
            <a:r>
              <a:rPr lang="en-US" sz="1400" b="0" dirty="0"/>
              <a:t>Ví dụ xuyên suốt: Bài 1 in toàn bộ đoạn 'Study protocol' hai lần - trong Phương pháp (trang 4) và lại sau phần Kết luận (trang 11) - một lỗi trùng lặp lẽ ra phải được phát hiện ở bước in thử (chú giải #45). Đơn vị công tác ở Bài 2 viết hoa không thống nhất (#42).</a:t>
            </a:r>
          </a:p>
          <a:p>
            <a:r>
              <a:rPr lang="en-US" sz="1400" b="0" dirty="0"/>
              <a:t>Chia sẻ: đăng bài theo giấy phép và chính sách của tạp chí - kho lưu trữ của cơ sở, bản tóm tắt dễ hiểu cho người bệnh và đồng nghiệp, một buổi trình bày ngắn tại khoa, mạng xã hội. Nếu báo chí liên hệ, chỉ nói trong phạm vi thiết kế cho phép (lại là lời văn tương xứng).</a:t>
            </a:r>
          </a:p>
          <a:p>
            <a:r>
              <a:rPr lang="en-US" sz="1400" b="0" dirty="0"/>
              <a:t>Đính chính: nếu phát hiện lỗi sau khi đăng, liên hệ tạp chí - đính chính là trung thực; rút bài dành cho lỗi nghiêm trọng hoặc sai phạm.</a:t>
            </a:r>
          </a:p>
          <a:p>
            <a:r>
              <a:rPr lang="en-US" sz="1400" b="0" dirty="0"/>
              <a:t>Hỏi: ai sẽ trình bày lại kết quả đã công bố cho khoa của bạn? Đó là một phần của kế hoạch phổ biến.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(1:38-1:40). Giơ ngón cái lên (đúng) hoặc xuống (sai); mở đáp án.</a:t>
            </a:r>
          </a:p>
          <a:p>
            <a:r>
              <a:rPr lang="en-US" sz="1400" b="0" dirty="0"/>
              <a:t>Câu 1 'thường đúng' chứ không phải luôn đúng - tạp chí thật cũng mời viết bài, nhưng email tâng bốc gửi hàng loạt từ tạp chí lạ cần được kiểm tra năm dấu hiệu.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8.3 (1:40-2:00). Hướng dẫn đầy đủ cho giảng viên: Course/Resources/appraisal_instructor_guide.md (đáp án mẫu, câu gợi ý, thông điệp chính).</a:t>
            </a:r>
          </a:p>
          <a:p>
            <a:r>
              <a:rPr lang="en-US" sz="1400" b="0" dirty="0"/>
              <a:t>Cấu trúc: 2 phút hướng dẫn, 10 phút làm nhóm, 8 phút thảo luận chung. Bài báo và phiếu đã đặt sẵn trên bàn trong giờ giải lao.</a:t>
            </a:r>
          </a:p>
          <a:p>
            <a:r>
              <a:rPr lang="en-US" sz="1400" b="0" dirty="0"/>
              <a:t>Vì sao lúc này: sau khóa học mỗi nhóm phản biện bản nháp FLUID-ICU của một nhóm khác bằng CHÍNH 10 câu hỏi này - đây là buổi tập dượt.</a:t>
            </a:r>
          </a:p>
          <a:p>
            <a:r>
              <a:rPr lang="en-US" sz="1400" b="0" dirty="0"/>
              <a:t>Trấn an: 'Không rõ' là câu trả lời hợp lệ nếu bài báo không nói.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trong một phút. Cả hai bài cùng trả lời câu hỏi xuyên suốt của khóa - dịch truyền trong sốc nhiễm khuẩn - bằng hai thiết kế khác nhau. Nhóm 1-3 thẩm định Bài 1, thử nghiệm ngẫu nhiên (Boulet 2024, Critical Care). Nhóm 4-5 thẩm định Bài 2, đoàn hệ bắt cặp điểm xu hướng (Hyun 2023, Annals of Intensive Care).</a:t>
            </a:r>
          </a:p>
          <a:p>
            <a:r>
              <a:rPr lang="en-US" sz="1400" b="0" dirty="0"/>
              <a:t>Mỗi nhóm trả lời cùng 10 câu hỏi trên phiếu: Có / Không / Không rõ, kèm số trang tìm thấy.</a:t>
            </a:r>
          </a:p>
          <a:p>
            <a:r>
              <a:rPr lang="en-US" sz="1400" b="0" dirty="0"/>
              <a:t>Sau đó thảo luận chung: các nhóm báo cáo và so sánh mỗi thiết kế được phép kết luận gì.</a:t>
            </a:r>
          </a:p>
          <a:p>
            <a:r>
              <a:rPr lang="en-US" sz="1400" b="0" dirty="0"/>
              <a:t>Mẹo: chia việc trong nhóm - mỗi cặp nhận 3-4 câu, rồi cả nhóm thống nhất.</a:t>
            </a:r>
          </a:p>
          <a:p>
            <a:r>
              <a:rPr lang="en-US" sz="1400" b="0" dirty="0"/>
              <a:t>Liên hệ Buổi 4: 10 câu hỏi là phiên bản đơn giản của các công cụ đánh giá nguy cơ sai lệch chính thức - RoB 2 cho Bài 1, Newcastle-Ottawa (hoặc ROBINS-E mới hơn) cho Bài 2. Hôm nay không dùng các công cụ chính thức.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kiểm, phần 1. Đọc to mỗi câu một lần - không giải thích đáp án.</a:t>
            </a:r>
          </a:p>
          <a:p>
            <a:r>
              <a:rPr lang="en-US" sz="1400" b="0" dirty="0"/>
              <a:t>Câu 1-2 về câu hỏi và thiết kế (Buổi 1-4). Câu 3 về đối tượng nghiên cứu - giá trị ngoại suy: bệnh nhân của bạn có nằm trong nghiên cứu này không? Câu 4 về tính tương đồng ban đầu - xem Bảng 1. Câu 5 về làm mù.</a:t>
            </a:r>
          </a:p>
          <a:p>
            <a:r>
              <a:rPr lang="en-US" sz="1400" b="0" dirty="0"/>
              <a:t>Gợi ý: ở câu 4 hai bài dùng công cụ khác nhau - phân nhóm ngẫu nhiên và bắt cặp điểm xu hướng. Đề nghị học viên tìm câu văn nói điều đó.</a:t>
            </a:r>
          </a:p>
          <a:p>
            <a:r>
              <a:rPr lang="en-US" sz="1400" b="0" dirty="0"/>
              <a:t>Trả lời Có / Không / Không rõ, kèm số trang.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Bảng kiểm, phần 2. Câu 6 và 7 dùng kiến thức Buổi 6: một kết cục chính, một số đo tác động kèm khoảng tin cậy 95%.</a:t>
            </a:r>
          </a:p>
          <a:p>
            <a:r>
              <a:rPr lang="en-US" sz="1400" b="0" dirty="0"/>
              <a:t>Câu 8 là trọng tâm của bài tập hôm nay: lời văn trong tiêu đề, tóm tắt và bàn luận có mạnh vượt quá mức thiết kế cho phép không? 'Gây ra' hay 'tác động' cần phân nhóm ngẫu nhiên; nghiên cứu quan sát nói 'có liên quan'. Và p = 0,42 không bao giờ là 'xu hướng'.</a:t>
            </a:r>
          </a:p>
          <a:p>
            <a:r>
              <a:rPr lang="en-US" sz="1400" b="0" dirty="0"/>
              <a:t>Câu 9: phần hạn chế của tác giả, cộng một hạn chế họ bỏ sót - mỗi bài có một hạn chế rõ (xem hướng dẫn giảng viên).</a:t>
            </a:r>
          </a:p>
          <a:p>
            <a:r>
              <a:rPr lang="en-US" sz="1400" b="0" dirty="0"/>
              <a:t>Câu 10: nhận định lâm sàng - không có đáp án duy nhất, nhưng phải nêu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LÀM NHÓM (1:42-1:52). Bật đồng hồ đếm ngược 10 phút trên màn hình.</a:t>
            </a:r>
          </a:p>
          <a:p>
            <a:r>
              <a:rPr lang="en-US" sz="1400" b="0" dirty="0"/>
              <a:t>Đi quanh các bàn. Các câu gợi ý hữu ích nhất (xem thêm trong hướng dẫn giảng viên): nhóm Bài 1 - 'Ai KHÔNG được làm mù, và ai quyết định lượng dịch truyền?' (bác sĩ không bị làm mù và chính họ kê dịch tạo nên kết cục); 'Tìm p = 0,42 trong phần Bàn luận - tác giả dùng từ gì?' (trang 10, 'xu hướng không có ý nghĩa thống kê'). Nhóm Bài 2 - 'Ai quyết định bệnh nhân nào được truyền nhiều dịch hơn?' (bác sĩ - bệnh nặng hơn được truyền nhiều hơn: nhiễu do chỉ định); 'Bệnh nhân phải nằm ICU ít nhất 3 ngày - ai bị thiếu?' (tử vong sớm và chuyển khoa sớm: sai lệch người sống sót).</a:t>
            </a:r>
          </a:p>
          <a:p>
            <a:r>
              <a:rPr lang="en-US" sz="1400" b="0" dirty="0"/>
              <a:t>Nhắc giờ: phút 7 'thống nhất câu trả lời'; phút 9 'chọn người báo cáo và viết nhận định một câu'.</a:t>
            </a:r>
          </a:p>
          <a:p>
            <a:r>
              <a:rPr lang="en-US" sz="1400" b="0" dirty="0"/>
              <a:t>Nếu nhóm bị kẹt ở phần thống kê, nói rằng 'Không rõ' là được phép và chuyển sang câu 8 và 9.</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slide này ở ĐẦU phần thảo luận chung, sau khi nhóm đầu tiên báo cáo, để định khung so sánh.</a:t>
            </a:r>
          </a:p>
          <a:p>
            <a:r>
              <a:rPr lang="en-US" sz="1400" b="0" dirty="0"/>
              <a:t>Bài 1: may rủi quyết định ai nhận chiến lược hạn chế dịch, nên các yếu tố đã biết VÀ chưa biết cân bằng về trung bình - thử nghiệm ngẫu nhiên được phép kết luận nhân quả. Kết luận của bài là âm tính: chiến lược không làm giảm cân bằng dịch ngày 5 (chênh 13,2 ml/kg, KTC 95% -15,2 đến 41,6, p = 0,42). Nhưng với 48 bệnh nhân, KTC rất rộng: đây là 'không có bằng chứng về tác dụng', không phải 'bằng chứng không có tác dụng' - và chắc chắn không phải 'xu hướng'.</a:t>
            </a:r>
          </a:p>
          <a:p>
            <a:r>
              <a:rPr lang="en-US" sz="1400" b="0" dirty="0"/>
              <a:t>Bài 2: bác sĩ quyết định lượng dịch cho từng bệnh nhân. Bắt cặp điểm xu hướng chỉ cân bằng được các yếu tố đã đo; bệnh nặng hơn được truyền nhiều hơn (nhiễu do chỉ định, Buổi 4) và mức độ nặng không bao giờ đo được đầy đủ. Vì vậy bài chỉ được nói cân bằng dịch dương ngày 2 'có liên quan với' tử vong 28 ngày cao hơn (HR 2,13, KTC 95% 1,48 đến 3,06) - không phải 'tác động' hay 'chứng tỏ' quan hệ nhân quả, dù tiêu đề dùng chữ 'Impact'.</a:t>
            </a:r>
          </a:p>
          <a:p>
            <a:r>
              <a:rPr lang="en-US" sz="1400" b="0" dirty="0"/>
              <a:t>Hỏi: nếu phải đổi thực hành ICU ngày mai, bài nào là bằng chứng nhân quả mạnh hơn, bài nào cho biết nhiều hơn về nguy cơ ngoài thực tế? Đáp án: RCT cho nhân quả (nhưng chỉ là thử nghiệm thí điểm nhỏ); đoàn hệ cho một mối liên quan lớn, thực tế, cần thử nghiệm để khẳng định.</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chiếu bảng này ở CUỐI phần thảo luận chung để tổng kết - sau khi các nhóm đã nêu câu trả lời của mình, không chiếu trước.</a:t>
            </a:r>
          </a:p>
          <a:p>
            <a:r>
              <a:rPr lang="en-US" sz="1400" b="0" dirty="0"/>
              <a:t>Từng dòng: các nhóm được làm tương đồng thế nào; ai biết phân nhóm; tác dụng chính với KTC; hạn chế tác giả bỏ sót (Bài 1: khối hoán vị cỡ 2 khiến lần phân nhóm tiếp theo đoán được khi bác sĩ không bị làm mù - trang 3; Bài 2: yêu cầu nằm ICU ít nhất 3 ngày loại bỏ bệnh nhân tử vong hoặc rời ICU sớm - sai lệch người sống sót - trang 2); lỗi lời văn (Bài 1 trang 10; Bài 2 tiêu đề và trang 4); và kết luận mà mỗi thiết kế cho phép.</a:t>
            </a:r>
          </a:p>
          <a:p>
            <a:r>
              <a:rPr lang="en-US" sz="1400" b="0" dirty="0"/>
              <a:t>Cả hai đều là bài tốt, đăng trên tạp chí Q1 - và cả hai đều có lỗi sửa được. Đó là trạng thái bình thường của y văn, và vì thế thẩm định là một kỹ năng lâm sàng.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THẢO LUẬN CHUNG (1:52-2:00). Giữ đúng giờ: 1 phút cho mỗi báo cáo. Chiếu slide 'mỗi thiết kế được kết luận gì' trước và bảng so sánh sau cùng.</a:t>
            </a:r>
          </a:p>
          <a:p>
            <a:r>
              <a:rPr lang="en-US" sz="1400" b="0" dirty="0"/>
              <a:t>Hướng phần so sánh vào câu 4 (ngẫu nhiên hay bắt cặp), câu 5 (làm mù) và câu 8 (lời văn và thiết kế). Nếu còn thời gian, nhóm 5 trả lời câu 9-10 cho Bài 2 sau khi nhóm 3 trả lời cho Bài 1.</a:t>
            </a:r>
          </a:p>
          <a:p>
            <a:r>
              <a:rPr lang="en-US" sz="1400" b="0" dirty="0"/>
              <a:t>Bốn thông điệp chính ở khung bên phải - nói to từng thông điệp trước khi kết thúc.</a:t>
            </a:r>
          </a:p>
          <a:p>
            <a:r>
              <a:rPr lang="en-US" sz="1400" b="0" dirty="0"/>
              <a:t>Đáp án mẫu cho cả mười câu hai bài: Resources/appraisal_instructor_guide.md.</a:t>
            </a:r>
          </a:p>
          <a:p>
            <a:r>
              <a:rPr lang="en-US" sz="1400" b="0" dirty="0"/>
              <a:t>Chuyển tiếp: 'Giờ đến lượt các bạn được phản biện' - thông báo thứ tự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sáu thuật ngữ cùng cả lớp trước phần trình bày - mời một người giải thích bằng lời của mình trước.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Thông điệp mang về trước phần trình bày (1 phút). Đọc bốn thẻ; phần bế mạc sẽ nhắc lại những gì khóa học đã xây dựng.</a:t>
            </a:r>
          </a:p>
          <a:p>
            <a:r>
              <a:rPr lang="en-US" sz="1400" b="0" dirty="0"/>
              <a:t>Chuyển tiếp: 'Giờ đến lượt các bạn được phản biện' - thông báo thứ tự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BÀY (2:00-2:45). Năm nhóm x 8 phút = 40 phút, rồi 5 phút để mỗi nhóm tóm tắt bản thảo trong một câu (hoặc dự phòng). Người bấm giờ rất quan trọng.</a:t>
            </a:r>
          </a:p>
          <a:p>
            <a:r>
              <a:rPr lang="en-US" sz="1400" b="0" dirty="0"/>
              <a:t>Chọn một người bấm giờ trong lớp (hoặc trợ giảng) với thẻ xanh, vàng, đỏ.</a:t>
            </a:r>
          </a:p>
          <a:p>
            <a:r>
              <a:rPr lang="en-US" sz="1400" b="0" dirty="0"/>
              <a:t>Nhắc lớp: kỹ năng phản biện vừa dùng nay áp dụng cho đề cương của chính chúng ta - nhưng góp ý theo cách mà bạn muốn được nhận.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Trong buổi học chỉ chấm PHẦN TRÌNH BÀY: tiêu chí 12-16 trong Course/Assignment/proposal_rubric.md, mỗi tiêu chí 6/4/2/0 điểm, tổng 30 điểm. Đề cương viết và kế hoạch công bố (tiêu chí 1-11, 70 điểm) được chấm sau khóa học.</a:t>
            </a:r>
          </a:p>
          <a:p>
            <a:r>
              <a:rPr lang="en-US" sz="1400" b="0" dirty="0"/>
              <a:t>Ai chấm: giảng viên chấm mọi nhóm; một nhóm đồng đẳng (luân phiên: Nhóm 2 góp ý Nhóm 1, Nhóm 3 góp ý Nhóm 2 ... Nhóm 1 góp ý Nhóm 5) điền phiếu góp ý ở cuối proposal_rubric.md.</a:t>
            </a:r>
          </a:p>
          <a:p>
            <a:r>
              <a:rPr lang="en-US" sz="1400" b="0" dirty="0"/>
              <a:t>Góp ý trong 2 phút (Assignment/presentation_guide.md): nhóm đồng đẳng 45 giây - hai ngôi sao và một mong muốn; giảng viên 60 giây - một điểm mạnh, cải thiện quan trọng nhất, một câu hỏi; nhóm trình bày 15 giây - 'cảm ơn', không biện hộ.</a:t>
            </a:r>
          </a:p>
          <a:p>
            <a:r>
              <a:rPr lang="en-US" sz="1400" b="0" dirty="0"/>
              <a:t>Điểm là góp ý để nhóm hoàn thiện đề cương trước khi nộp hội đồng đạo đức.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Chiếu thứ tự trình bày. Giờ tính từ lúc bắt đầu buổi học (2:00 = sau hai giờ; nếu bắt đầu 08:00 thì là 10:00-10:45). 2:40-2:45: mỗi nhóm nêu câu hỏi FLUID-ICU và kết quả chính trong một câu - hoặc 5 phút này bù cho phần trình bày bị trễ.</a:t>
            </a:r>
          </a:p>
          <a:p>
            <a:r>
              <a:rPr lang="en-US" sz="1400" b="0" dirty="0"/>
              <a:t>Người bấm giờ giơ thẻ XANH ở phút 4 (còn 2 phút), VÀNG ở phút 5 (còn 1 phút) và ĐỎ ở phút 6 (dừng).</a:t>
            </a:r>
          </a:p>
          <a:p>
            <a:r>
              <a:rPr lang="en-US" sz="1400" b="0" dirty="0"/>
              <a:t>Nhóm tiếp theo lên phía trước trong lúc nhóm trước nhận góp ý. Mọi slide đã ở sẵn trên một máy - không đổi USB.</a:t>
            </a:r>
          </a:p>
          <a:p>
            <a:r>
              <a:rPr lang="en-US" sz="1400" b="0" dirty="0"/>
              <a:t>Nếu bị trễ, rút ngắn phần góp ý, không bao giờ rút ngắn bài của các nhóm cuối - như vậy không công bằng với nhóm trình bày sau cùng.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slide này trên màn hình trong lúc trình bày nếu các nhóm trình chiếu từ tệp riêng; nếu không, chuyển sang slide của từng nhóm.</a:t>
            </a:r>
          </a:p>
          <a:p>
            <a:r>
              <a:rPr lang="en-US" sz="1400" b="0" dirty="0"/>
              <a:t>Góp ý của giảng viên: bắt đầu bằng một điểm mạnh thật sự; nêu cải thiện quan trọng nhất cho đề cương viết hoặc kế hoạch công bố (thường về thiết kế, định nghĩa kết cục, tính khả thi hoặc chọn tạp chí và hướng dẫn); một câu hỏi nếu còn thời gian.</a:t>
            </a:r>
          </a:p>
          <a:p>
            <a:r>
              <a:rPr lang="en-US" sz="1400" b="0" dirty="0"/>
              <a:t>Kiểm tra slide 6 của mỗi nhóm: tạp chí dự kiến + đúng hướng dẫn (STROBE cho đoàn hệ, CONSORT cho thử nghiệm), tiêu đề tạm với lời văn tương xứng, vai trò CRediT, một dòng khung tóm tắt.</a:t>
            </a:r>
          </a:p>
          <a:p>
            <a:r>
              <a:rPr lang="en-US" sz="1400" b="0" dirty="0"/>
              <a:t>Vấn đề thường gặp: kết cục không đo được từ dữ liệu thường quy; dự định kết luận nhân quả từ thiết kế quan sát (liên hệ lại bài thẩm định!); không có kế hoạch chấp thuận cho bệnh nhân an thần; tuyển bệnh không thực tế.</a:t>
            </a:r>
          </a:p>
          <a:p>
            <a:r>
              <a:rPr lang="en-US" sz="1400" b="0" dirty="0"/>
              <a:t>Lúc 2:40 mỗi nhóm tóm tắt bản thảo trong một câu (câu hỏi + kết quả chính, mỗi nhóm 1 phút). Lúc 2:45 thu phiếu góp ý và chuyển ngay sang phần bế mạc: kiểm tra cuối khóa, đánh giá và trao đổi bản thảo để phản biện (các slide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các slide sau mục này là tùy chọn - dùng khi còn thời gian hoặc giới thiệu cho học viên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Bài luyện viết 6 phút tùy chọn trên hai bài báo (dùng nếu Thực hành bản thảo 2 xong sớm hoặc làm ở nhà). Phiếu bài tập: Practicals/s8_exercises.md, Phần A (bài tập viết).</a:t>
            </a:r>
          </a:p>
          <a:p>
            <a:r>
              <a:rPr lang="en-US" sz="1400" b="0" dirty="0"/>
              <a:t>Câu 'tô vẽ' (Bài 1, trang 10): tác giả dựa vào 'xu hướng không có ý nghĩa' của việc giảm cân bằng dịch để đề xuất thử nghiệm lớn hơn. Câu viết lại mẫu: 'Ước lượng điểm nghiêng về chiến lược hạn chế, nhưng KTC 95% rộng (-15,2 đến 41,6 ml/kg) và bao gồm cả không có tác dụng; cần một thử nghiệm lớn hơn để phát hiện chênh lệch nhỏ hơn.'</a:t>
            </a:r>
          </a:p>
          <a:p>
            <a:r>
              <a:rPr lang="en-US" sz="1400" b="0" dirty="0"/>
              <a:t>Tiêu đề (Bài 2): 'Cân bằng dịch dương tích lũy trong ba ngày đầu ICU và tử vong 28 ngày ở bệnh nhân nhiễm khuẩn huyết: nghiên cứu đoàn hệ bắt cặp điểm xu hướng' - 'liên quan', không phải 'tác động'.</a:t>
            </a:r>
          </a:p>
          <a:p>
            <a:r>
              <a:rPr lang="en-US" sz="1400" b="0" dirty="0"/>
              <a:t>Tiêu đề nhóm: kiểm tra 10-16 từ, nêu thiết kế, không có từ đánh giá. Khung tóm tắt: Kết quả là kết quả DỰ KIẾN - viết dạng trình bày, VD 'tử vong 28 ngày, RR (KTC 95%)'.</a:t>
            </a:r>
          </a:p>
          <a:p>
            <a:r>
              <a:rPr lang="en-US" sz="1400" b="0" dirty="0"/>
              <a:t>Nếu còn thời gian, mời 2 nhóm đọc to tiêu đề. Các nhóm đưa tiêu đề và khung tóm tắt vào bài trình bày trong giờ giải lao.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bị từ chối là một phần của việc công bố, không phải lời phán xét về bạn. Nhiều bài tốt bị từ chối một hai lần trước khi được nhận.</a:t>
            </a:r>
          </a:p>
          <a:p>
            <a:r>
              <a:rPr lang="en-US" sz="1400" b="0" dirty="0"/>
              <a:t>Từ chối ngay (desk rejection): biên tập từ chối không qua phản biện - thường vì chủ đề không hợp tạp chí hoặc báo cáo kém. Chọn lại: tạp chí mà người đọc cần kết quả của bạn.</a:t>
            </a:r>
          </a:p>
          <a:p>
            <a:r>
              <a:rPr lang="en-US" sz="1400" b="0" dirty="0"/>
              <a:t>Sau phản biện: đọc nhận xét, chờ một ngày trước khi phản ứng, rồi sửa những gì họ phát hiện. Tạp chí tiếp theo trong cùng lĩnh vực thường mời lại chính những người phản biện đó; bản thảo không sửa sẽ làm họ khó chịu.</a:t>
            </a:r>
          </a:p>
          <a:p>
            <a:r>
              <a:rPr lang="en-US" sz="1400" b="0" dirty="0"/>
              <a:t>Tạp chí tiếp theo: định dạng lại theo Hướng dẫn tác giả mới; một số nhà xuất bản đề nghị chuyển bản thảo và nhận xét sang tạp chí chị em - có thể tiết kiệm hàng tháng. Chỉ khiếu nại khi quyết định có lỗi sai rõ ràng về sự kiện.</a:t>
            </a:r>
          </a:p>
          <a:p>
            <a:r>
              <a:rPr lang="en-US" sz="1400" b="0" dirty="0"/>
              <a:t>Không bao giờ nộp cho hai tạp chí cùng lúc (nộp trùng lặp là sai phạm).</a:t>
            </a:r>
          </a:p>
          <a:p>
            <a:r>
              <a:rPr lang="en-US" sz="1400" b="0" dirty="0"/>
              <a:t>Hỏi: việc đầu tiên sau khi bị từ chối là gì? Đáp án: đọc nhận xét để tìm điều cần sửa, không phải để tìm lý do tức giận.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Ý chính: tóm tắt hội nghị thường là sản phẩm đầu tiên của một nghiên cứu. Nó theo cùng logic IMRaD như tóm tắt bài báo, thường 250-300 từ, với số liệu thật và khoảng tin cậy - 'kết quả sẽ được trình bày' thường bị loại. Tuân theo mẫu và hạn nộp của hội nghị.</a:t>
            </a:r>
          </a:p>
          <a:p>
            <a:r>
              <a:rPr lang="en-US" sz="1400" b="0" dirty="0"/>
              <a:t>Áp phích: một bảng quảng cáo, không phải bài báo dán lên tường. Tiêu đề ngắn nêu phát hiện, vài chữ về đặt vấn đề và phương pháp (một sơ đồ), MỘT hình lớn, thông điệp mang về trong một câu, và mã QR dẫn tới chi tiết. Phải đọc được từ khoảng cách 2 mét.</a:t>
            </a:r>
          </a:p>
          <a:p>
            <a:r>
              <a:rPr lang="en-US" sz="1400" b="0" dirty="0"/>
              <a:t>Trình bày tóm tắt hội nghị thường không cản trở việc đăng bài đầy đủ, nhưng hãy kiểm tra chính sách của tạp chí - và hãy viết bài đầy đủ: nhiều tóm tắt không bao giờ trở thành bài báo.</a:t>
            </a:r>
          </a:p>
          <a:p>
            <a:r>
              <a:rPr lang="en-US" sz="1400" b="0" dirty="0"/>
              <a:t>Có mẫu tóm tắt hội nghị trong Course/Templates/.</a:t>
            </a:r>
          </a:p>
          <a:p>
            <a:r>
              <a:rPr lang="en-US" sz="1400" b="0" dirty="0"/>
              <a:t>Hỏi: hình duy nhất trên áp phích của nhóm bạn sẽ là gì? Đáp án: kết cục chính theo nhóm.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15 phút cuối của Buổi 8. Giữ nhịp nhanh và tích cực.</a:t>
            </a:r>
          </a:p>
          <a:p>
            <a:r>
              <a:rPr lang="en-US" sz="1400" b="0" dirty="0"/>
              <a:t>Cảm ơn các nhóm đã trình bày trước khi bắt đầu bài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Phát cùng bài kiểm tra (biểu mẫu trực tuyến hoặc bản giấy).</a:t>
            </a:r>
          </a:p>
          <a:p>
            <a:r>
              <a:rPr lang="en-US" sz="1400" b="0" dirty="0"/>
              <a:t>Sau buổi học: tính mức thay đổi điểm trung bình trước/sau bằng bảng trong pre_post_quiz_answer_key - báo cáo cho lãnh đạo khoa trong báo cáo khóa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Ghi nhận thành quả: mỗi nhóm đã có một đề cương có thể nộp hội đồng đạo đức và một bản thảo bài báo.</a:t>
            </a:r>
          </a:p>
          <a:p>
            <a:r>
              <a:rPr lang="en-US" sz="1400" b="0" dirty="0"/>
              <a:t>Đề nghị mỗi nhóm thống nhất bước tiếp theo trước khi về: ai hoàn thiện đề cương, ngày dự kiến nộp hội đồng đạo đức, ai phụ trách phản biện chéo bản thảo.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ngắn ẩn danh (giấy hoặc trực tuyến). Câu hỏi về tốc độ rất quan trọng - chúng tôi thiết kế khóa học để đi chậm; hãy cho biết như vậy đã phù hợp chưa.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thích cách đổi bài: nhóm 1 phản biện nhóm 2, 2 phản biện 3, ... 5 phản biện 1.</a:t>
            </a:r>
          </a:p>
          <a:p>
            <a:r>
              <a:rPr lang="en-US" sz="1400" b="0" dirty="0"/>
              <a:t>Phản biện theo Assignment/peer_review_instructions.md và bảng kiểm 10 câu; tác giả trả lời bằng Templates/Response_to_Reviewers_Template.docx.</a:t>
            </a:r>
          </a:p>
          <a:p>
            <a:r>
              <a:rPr lang="en-US" sz="1400" b="0" dirty="0"/>
              <a:t>Đây là bước cuối cùng của toàn bộ quá trình nghiên cứu - đúng như sau khi nộp bài thật.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
            </a:r>
          </a:p>
          <a:p>
            <a:r>
              <a:rPr lang="en-US" sz="1400" b="0" dirty="0"/>
              <a:t>Học phần nâng cao (tùy chọn, xem Advanced_Modules/): tự phân tích dữ liệu của mình bằng R, phân tích gộp, mô hình dự báo và học máy, nghiên cứu độ chính xác chẩn đoán.</a:t>
            </a:r>
          </a:p>
          <a:p>
            <a:r>
              <a:rPr lang="en-US" sz="1400" b="0" dirty="0"/>
              <a:t>Cung cấp thông tin liên hệ của giảng viên để hỏi thêm.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Cảm ơn lãnh đạo khoa, ban tổ chức và các học viên. Chụp ảnh lưu niệm.</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6.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 Id="rId4" Type="http://schemas.openxmlformats.org/officeDocument/2006/relationships/image" Target="../media/image7.pn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8.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 Id="rId4" Type="http://schemas.openxmlformats.org/officeDocument/2006/relationships/image" Target="../media/image9.pn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1.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12.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3.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4.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5.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 Id="rId4" Type="http://schemas.openxmlformats.org/officeDocument/2006/relationships/image" Target="../media/image18.pn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 Id="rId4" Type="http://schemas.openxmlformats.org/officeDocument/2006/relationships/image" Target="../media/image19.pn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Segoe UI"/>
                <a:cs typeface="Segoe UI"/>
              </a:rPr>
              <a:t>Buổi 8 · Công bố: hoàn thiện bài báo, gửi đăng, trình bày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Cuối tuần 4 · Chủ Nhật</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Ôn tập (5 phút)</a:t>
            </a:r>
          </a:p>
          <a:p>
            <a:pPr marL="274320" indent="-274320" algn="l">
              <a:spcBef>
                <a:spcPts val="440"/>
              </a:spcBef>
              <a:buFont typeface="Arial"/>
              <a:buChar char="•"/>
            </a:pPr>
            <a:r>
              <a:rPr lang="en-US" sz="1900" dirty="0">
                <a:solidFill>
                  <a:srgbClr val="000000"/>
                </a:solidFill>
                <a:latin typeface="Segoe UI"/>
                <a:cs typeface="Segoe UI"/>
              </a:rPr>
              <a:t>8.1  Viết bài báo (II): Đặt vấn đề, Bàn luận, Tóm tắt, Tiêu đề</a:t>
            </a:r>
          </a:p>
          <a:p>
            <a:pPr marL="274320" indent="-274320" algn="l">
              <a:spcBef>
                <a:spcPts val="440"/>
              </a:spcBef>
              <a:buFont typeface="Arial"/>
              <a:buChar char="•"/>
            </a:pPr>
            <a:r>
              <a:rPr lang="en-US" sz="1900" dirty="0">
                <a:solidFill>
                  <a:srgbClr val="000000"/>
                </a:solidFill>
                <a:latin typeface="Segoe UI"/>
                <a:cs typeface="Segoe UI"/>
              </a:rPr>
              <a:t>Thực hành bản thảo 2: hoàn thiện bản nháp</a:t>
            </a:r>
          </a:p>
          <a:p>
            <a:pPr marL="274320" indent="-274320" algn="l">
              <a:spcBef>
                <a:spcPts val="440"/>
              </a:spcBef>
              <a:buFont typeface="Arial"/>
              <a:buChar char="•"/>
            </a:pPr>
            <a:r>
              <a:rPr lang="en-US" sz="1900" dirty="0">
                <a:solidFill>
                  <a:srgbClr val="000000"/>
                </a:solidFill>
                <a:latin typeface="Segoe UI"/>
                <a:cs typeface="Segoe UI"/>
              </a:rPr>
              <a:t>8.2  Công bố: từ bảng kiểm đến bản in thử</a:t>
            </a:r>
          </a:p>
          <a:p>
            <a:pPr marL="274320" indent="-274320" algn="l">
              <a:spcBef>
                <a:spcPts val="440"/>
              </a:spcBef>
              <a:buFont typeface="Arial"/>
              <a:buChar char="•"/>
            </a:pPr>
            <a:r>
              <a:rPr lang="en-US" sz="1900" dirty="0">
                <a:solidFill>
                  <a:srgbClr val="000000"/>
                </a:solidFill>
                <a:latin typeface="Segoe UI"/>
                <a:cs typeface="Segoe UI"/>
              </a:rPr>
              <a:t>8.3  Làm người phản biện: thẩm định Bài 1 và 2</a:t>
            </a:r>
          </a:p>
          <a:p>
            <a:pPr marL="274320" indent="-274320" algn="l">
              <a:spcBef>
                <a:spcPts val="440"/>
              </a:spcBef>
              <a:buFont typeface="Arial"/>
              <a:buChar char="•"/>
            </a:pPr>
            <a:r>
              <a:rPr lang="en-US" sz="1900" dirty="0">
                <a:solidFill>
                  <a:srgbClr val="000000"/>
                </a:solidFill>
                <a:latin typeface="Segoe UI"/>
                <a:cs typeface="Segoe UI"/>
              </a:rPr>
              <a:t>Các nhóm trình bày: đề cương + kế hoạch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Ôn tập: ba câu hỏi từ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Ai chấp thuận cho bệnh nhân sốc nhiễm khuẩn đang an thần?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Mục STROBE nào yêu cầu ước lượng thô VÀ hiệu chỉnh?</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Câu 'có thể do bệnh nặng hơn được truyền nhiều dịch hơn' thuộc phần nào?</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Người đại diện hợp pháp (hoặc chấp thuận trì hoãn nếu được duyệt)</a:t>
            </a:r>
          </a:p>
          <a:p>
            <a:pPr marL="274320" indent="-274320" algn="l">
              <a:lnSpc>
                <a:spcPct val="104000"/>
              </a:lnSpc>
              <a:spcBef>
                <a:spcPts val="300"/>
              </a:spcBef>
              <a:buFont typeface="Arial"/>
              <a:buChar char="•"/>
            </a:pPr>
            <a:r>
              <a:rPr lang="en-US" sz="1500" dirty="0">
                <a:solidFill>
                  <a:srgbClr val="000000"/>
                </a:solidFill>
                <a:latin typeface="Segoe UI"/>
                <a:cs typeface="Segoe UI"/>
              </a:rPr>
              <a:t>Mục 16 (kết quả chính)</a:t>
            </a:r>
          </a:p>
          <a:p>
            <a:pPr marL="274320" indent="-274320" algn="l">
              <a:lnSpc>
                <a:spcPct val="104000"/>
              </a:lnSpc>
              <a:spcBef>
                <a:spcPts val="300"/>
              </a:spcBef>
              <a:buFont typeface="Arial"/>
              <a:buChar char="•"/>
            </a:pPr>
            <a:r>
              <a:rPr lang="en-US" sz="1500" dirty="0">
                <a:solidFill>
                  <a:srgbClr val="000000"/>
                </a:solidFill>
                <a:latin typeface="Segoe UI"/>
                <a:cs typeface="Segoe UI"/>
              </a:rPr>
              <a:t>Bàn luận - không phải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Mọi người trở lại tinh thần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8.1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Viết bài báo (II)</a:t>
            </a:r>
          </a:p>
          <a:p>
            <a:pPr marL="0" indent="0" algn="ctr">
              <a:spcBef>
                <a:spcPts val="1200"/>
              </a:spcBef>
              <a:buNone/>
            </a:pPr>
            <a:r>
              <a:rPr lang="en-US" sz="1900" i="1" dirty="0">
                <a:solidFill>
                  <a:srgbClr val="595959"/>
                </a:solidFill>
                <a:latin typeface="Segoe UI"/>
                <a:cs typeface="Segoe UI"/>
              </a:rPr>
              <a:t>Đặt vấn đề, Bàn luận, Tóm tắt và Tiêu đề - theo thứ tự đó</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Đặt vấn đề: hình phễu trong ba đoạn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Đã biết, chưa biết, mục tiêu - và mục tiêu khớp với kết cục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phễu Đặt vấn đề cho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1  Đã biết</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Dịch truyền cứu sống giai đoạn sớm</a:t>
            </a:r>
          </a:p>
          <a:p>
            <a:pPr marL="0" indent="0" algn="l">
              <a:lnSpc>
                <a:spcPct val="104000"/>
              </a:lnSpc>
              <a:spcBef>
                <a:spcPts val="400"/>
              </a:spcBef>
              <a:buNone/>
            </a:pPr>
            <a:r>
              <a:rPr lang="en-US" sz="1750" dirty="0">
                <a:solidFill>
                  <a:srgbClr val="000000"/>
                </a:solidFill>
                <a:latin typeface="Segoe UI"/>
                <a:cs typeface="Segoe UI"/>
              </a:rPr>
              <a:t>Cân bằng dương liên quan tử vong</a:t>
            </a:r>
          </a:p>
          <a:p>
            <a:pPr marL="0" indent="0" algn="l">
              <a:lnSpc>
                <a:spcPct val="104000"/>
              </a:lnSpc>
              <a:spcBef>
                <a:spcPts val="400"/>
              </a:spcBef>
              <a:buNone/>
            </a:pPr>
            <a:r>
              <a:rPr lang="en-US" sz="1750" dirty="0">
                <a:solidFill>
                  <a:srgbClr val="000000"/>
                </a:solidFill>
                <a:latin typeface="Segoe UI"/>
                <a:cs typeface="Segoe UI"/>
              </a:rPr>
              <a:t>(Bài 2; các đoàn hệ lớn)</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2  Chưa biết</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Liên quan còn không sau khi</a:t>
            </a:r>
          </a:p>
          <a:p>
            <a:pPr marL="0" indent="0" algn="l">
              <a:lnSpc>
                <a:spcPct val="104000"/>
              </a:lnSpc>
              <a:spcBef>
                <a:spcPts val="400"/>
              </a:spcBef>
              <a:buNone/>
            </a:pPr>
            <a:r>
              <a:rPr lang="en-US" sz="1750" dirty="0">
                <a:solidFill>
                  <a:srgbClr val="000000"/>
                </a:solidFill>
                <a:latin typeface="Segoe UI"/>
                <a:cs typeface="Segoe UI"/>
              </a:rPr>
              <a:t>hiệu chỉnh theo mức độ nặng</a:t>
            </a:r>
          </a:p>
          <a:p>
            <a:pPr marL="0" indent="0" algn="l">
              <a:lnSpc>
                <a:spcPct val="104000"/>
              </a:lnSpc>
              <a:spcBef>
                <a:spcPts val="400"/>
              </a:spcBef>
              <a:buNone/>
            </a:pPr>
            <a:r>
              <a:rPr lang="en-US" sz="1750" dirty="0">
                <a:solidFill>
                  <a:srgbClr val="000000"/>
                </a:solidFill>
                <a:latin typeface="Segoe UI"/>
                <a:cs typeface="Segoe UI"/>
              </a:rPr>
              <a:t>Bệnh nặng hơn được truyền nhiều hơn</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3  Mục tiêu</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Chúng tôi đánh giá cân bằng dương</a:t>
            </a:r>
          </a:p>
          <a:p>
            <a:pPr marL="0" indent="0" algn="l">
              <a:lnSpc>
                <a:spcPct val="104000"/>
              </a:lnSpc>
              <a:spcBef>
                <a:spcPts val="400"/>
              </a:spcBef>
              <a:buNone/>
            </a:pPr>
            <a:r>
              <a:rPr lang="en-US" sz="1750" dirty="0">
                <a:solidFill>
                  <a:srgbClr val="000000"/>
                </a:solidFill>
                <a:latin typeface="Segoe UI"/>
                <a:cs typeface="Segoe UI"/>
              </a:rPr>
              <a:t>đến ngày 3 có liên quan với</a:t>
            </a:r>
          </a:p>
          <a:p>
            <a:pPr marL="0" indent="0" algn="l">
              <a:lnSpc>
                <a:spcPct val="104000"/>
              </a:lnSpc>
              <a:spcBef>
                <a:spcPts val="400"/>
              </a:spcBef>
              <a:buNone/>
            </a:pPr>
            <a:r>
              <a:rPr lang="en-US" sz="1750" dirty="0">
                <a:solidFill>
                  <a:srgbClr val="000000"/>
                </a:solidFill>
                <a:latin typeface="Segoe UI"/>
                <a:cs typeface="Segoe UI"/>
              </a:rPr>
              <a:t>tử vong 28 ngày, sau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Ba đoạn, khoảng 350 từ - và câu mục tiêu dùng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Bàn luận: sáu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Trả lời trước; hạn chế kèm hướng sai lệch; kết luận = tóm tắt =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Bàn luận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Trả lời bằng con số, giải thích chênh thô-hiệu chỉnh, kết bằng cùng động từ.</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Vì sao OR giảm: giải thích trong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Segoe UI"/>
                <a:cs typeface="Segoe UI"/>
              </a:rPr>
              <a:t>FLUID-ICU Q1 (mô phỏng)</a:t>
            </a:r>
          </a:p>
          <a:p>
            <a:pPr marL="274320" indent="-274320" algn="l">
              <a:spcBef>
                <a:spcPts val="440"/>
              </a:spcBef>
              <a:buFont typeface="Arial"/>
              <a:buChar char="•"/>
            </a:pPr>
            <a:r>
              <a:rPr lang="en-US" sz="1450" dirty="0">
                <a:solidFill>
                  <a:srgbClr val="000000"/>
                </a:solidFill>
                <a:latin typeface="Segoe UI"/>
                <a:cs typeface="Segoe UI"/>
              </a:rPr>
              <a:t>OR thô 2,49 (1,70 đến 3,70)</a:t>
            </a:r>
          </a:p>
          <a:p>
            <a:pPr marL="274320" indent="-274320" algn="l">
              <a:spcBef>
                <a:spcPts val="440"/>
              </a:spcBef>
              <a:buFont typeface="Arial"/>
              <a:buChar char="•"/>
            </a:pPr>
            <a:r>
              <a:rPr lang="en-US" sz="1450" dirty="0">
                <a:solidFill>
                  <a:srgbClr val="000000"/>
                </a:solidFill>
                <a:latin typeface="Segoe UI"/>
                <a:cs typeface="Segoe UI"/>
              </a:rPr>
              <a:t>OR hiệu chỉnh 1,62 (1,02 đến 2,59)</a:t>
            </a:r>
          </a:p>
          <a:p>
            <a:pPr marL="274320" indent="-274320" algn="l">
              <a:spcBef>
                <a:spcPts val="440"/>
              </a:spcBef>
              <a:buFont typeface="Arial"/>
              <a:buChar char="•"/>
            </a:pPr>
            <a:r>
              <a:rPr lang="en-US" sz="1450" dirty="0">
                <a:solidFill>
                  <a:srgbClr val="000000"/>
                </a:solidFill>
                <a:latin typeface="Segoe UI"/>
                <a:cs typeface="Segoe UI"/>
              </a:rPr>
              <a:t>OR quy gán 1,70 (1,09 đến 2,64)</a:t>
            </a:r>
          </a:p>
          <a:p>
            <a:pPr marL="274320" indent="-274320" algn="l">
              <a:spcBef>
                <a:spcPts val="440"/>
              </a:spcBef>
              <a:buFont typeface="Arial"/>
              <a:buChar char="•"/>
            </a:pPr>
            <a:r>
              <a:rPr lang="en-US" sz="1450" dirty="0">
                <a:solidFill>
                  <a:srgbClr val="000000"/>
                </a:solidFill>
                <a:latin typeface="Segoe UI"/>
                <a:cs typeface="Segoe UI"/>
              </a:rPr>
              <a:t>Chênh lệch = nhiễu do chỉ định</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Báo cáo cả hai; giải thích chênh lệch; giữ động từ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Lời văn tương xứng: chọn động từ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Chỉ leo thang đến mức thiết kế của bạn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sửa động từ (FLUID-ICU,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'Cân bằng dương gây ra tử vong cao hơn (OR 1,62).'</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'Quá tải dịch làm tăng tổn thương thận cấp (OR 1,27 mỗi 10 ml/kg).'</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'Có xu hướng tử vong (HR Cox 1,46, KTC 95% 1,00 đến 2,13).'</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'Lactat dự báo tử vong (OR 1,39 mỗi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Tốt hơn</a:t>
            </a:r>
          </a:p>
          <a:p>
            <a:pPr marL="274320" indent="-274320" algn="l">
              <a:lnSpc>
                <a:spcPct val="104000"/>
              </a:lnSpc>
              <a:spcBef>
                <a:spcPts val="300"/>
              </a:spcBef>
              <a:buFont typeface="Arial"/>
              <a:buChar char="•"/>
            </a:pPr>
            <a:r>
              <a:rPr lang="en-US" sz="1500" dirty="0">
                <a:solidFill>
                  <a:srgbClr val="000000"/>
                </a:solidFill>
                <a:latin typeface="Segoe UI"/>
                <a:cs typeface="Segoe UI"/>
              </a:rPr>
              <a:t>1 '... có liên quan với ...'</a:t>
            </a:r>
          </a:p>
          <a:p>
            <a:pPr marL="274320" indent="-274320" algn="l">
              <a:lnSpc>
                <a:spcPct val="104000"/>
              </a:lnSpc>
              <a:spcBef>
                <a:spcPts val="300"/>
              </a:spcBef>
              <a:buFont typeface="Arial"/>
              <a:buChar char="•"/>
            </a:pPr>
            <a:r>
              <a:rPr lang="en-US" sz="1500" dirty="0">
                <a:solidFill>
                  <a:srgbClr val="000000"/>
                </a:solidFill>
                <a:latin typeface="Segoe UI"/>
                <a:cs typeface="Segoe UI"/>
              </a:rPr>
              <a:t>2 '... liên quan với khả năng AKI cao hơn'</a:t>
            </a:r>
          </a:p>
          <a:p>
            <a:pPr marL="274320" indent="-274320" algn="l">
              <a:lnSpc>
                <a:spcPct val="104000"/>
              </a:lnSpc>
              <a:spcBef>
                <a:spcPts val="300"/>
              </a:spcBef>
              <a:buFont typeface="Arial"/>
              <a:buChar char="•"/>
            </a:pPr>
            <a:r>
              <a:rPr lang="en-US" sz="1500" dirty="0">
                <a:solidFill>
                  <a:srgbClr val="000000"/>
                </a:solidFill>
                <a:latin typeface="Segoe UI"/>
                <a:cs typeface="Segoe UI"/>
              </a:rPr>
              <a:t>3 'HR 1,46 (1,00 đến 2,13): KTC chạm 1'</a:t>
            </a:r>
          </a:p>
          <a:p>
            <a:pPr marL="274320" indent="-274320" algn="l">
              <a:lnSpc>
                <a:spcPct val="104000"/>
              </a:lnSpc>
              <a:spcBef>
                <a:spcPts val="300"/>
              </a:spcBef>
              <a:buFont typeface="Arial"/>
              <a:buChar char="•"/>
            </a:pPr>
            <a:r>
              <a:rPr lang="en-US" sz="1500" dirty="0">
                <a:solidFill>
                  <a:srgbClr val="000000"/>
                </a:solidFill>
                <a:latin typeface="Segoe UI"/>
                <a:cs typeface="Segoe UI"/>
              </a:rPr>
              <a:t>4 Được nếu là dự báo; nếu là nhân quả: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có cấu trúc: tủ kính trưng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Mỗi kết quả trong tóm tắt có con số và khoảng tin cậy.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Ví dụ mẫu: tóm tắt và tiêu đề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Chép số liệu từ phần Kết quả - tóm tắt không được có con số mới.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Tiêu đề và từ khóa: PICO của bạn trong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Tiêu đề tốt nêu câu hỏi và thiết kế - không dùng từ quảng cáo.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Trước khi nộp: tài liệu tham khảo, bảng kiểm, đọc lần cuối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Tài liệu tham khảo</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Dùng phần mềm quản lý tài liệu</a:t>
            </a:r>
          </a:p>
          <a:p>
            <a:pPr marL="0" indent="0" algn="l">
              <a:lnSpc>
                <a:spcPct val="104000"/>
              </a:lnSpc>
              <a:spcBef>
                <a:spcPts val="400"/>
              </a:spcBef>
              <a:buNone/>
            </a:pPr>
            <a:r>
              <a:rPr lang="en-US" sz="1750" dirty="0">
                <a:solidFill>
                  <a:srgbClr val="000000"/>
                </a:solidFill>
                <a:latin typeface="Segoe UI"/>
                <a:cs typeface="Segoe UI"/>
              </a:rPr>
              <a:t>Kiểm tra từng trích dẫn</a:t>
            </a:r>
          </a:p>
          <a:p>
            <a:pPr marL="0" indent="0" algn="l">
              <a:lnSpc>
                <a:spcPct val="104000"/>
              </a:lnSpc>
              <a:spcBef>
                <a:spcPts val="400"/>
              </a:spcBef>
              <a:buNone/>
            </a:pPr>
            <a:r>
              <a:rPr lang="en-US" sz="1750" dirty="0">
                <a:solidFill>
                  <a:srgbClr val="000000"/>
                </a:solidFill>
                <a:latin typeface="Segoe UI"/>
                <a:cs typeface="Segoe UI"/>
              </a:rPr>
              <a:t>B2 dẫn bài Sepsis-3 cho các biến hiệu chỉnh</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Bảng kiểm báo cáo</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Điền ngay trong lúc viết</a:t>
            </a:r>
          </a:p>
          <a:p>
            <a:pPr marL="0" indent="0" algn="l">
              <a:lnSpc>
                <a:spcPct val="104000"/>
              </a:lnSpc>
              <a:spcBef>
                <a:spcPts val="400"/>
              </a:spcBef>
              <a:buNone/>
            </a:pPr>
            <a:r>
              <a:rPr lang="en-US" sz="1750" dirty="0">
                <a:solidFill>
                  <a:srgbClr val="000000"/>
                </a:solidFill>
                <a:latin typeface="Segoe UI"/>
                <a:cs typeface="Segoe UI"/>
              </a:rPr>
              <a:t>Ghi số trang</a:t>
            </a:r>
          </a:p>
          <a:p>
            <a:pPr marL="0" indent="0" algn="l">
              <a:lnSpc>
                <a:spcPct val="104000"/>
              </a:lnSpc>
              <a:spcBef>
                <a:spcPts val="400"/>
              </a:spcBef>
              <a:buNone/>
            </a:pPr>
            <a:r>
              <a:rPr lang="en-US" sz="1750" dirty="0">
                <a:solidFill>
                  <a:srgbClr val="000000"/>
                </a:solidFill>
                <a:latin typeface="Segoe UI"/>
                <a:cs typeface="Segoe UI"/>
              </a:rPr>
              <a:t>Cả hai bài không nêu CONSORT hay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Đọc lần cuối</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Văn bản = bảng, từng con số</a:t>
            </a:r>
          </a:p>
          <a:p>
            <a:pPr marL="0" indent="0" algn="l">
              <a:lnSpc>
                <a:spcPct val="104000"/>
              </a:lnSpc>
              <a:spcBef>
                <a:spcPts val="400"/>
              </a:spcBef>
              <a:buNone/>
            </a:pPr>
            <a:r>
              <a:rPr lang="en-US" sz="1750" dirty="0">
                <a:solidFill>
                  <a:srgbClr val="000000"/>
                </a:solidFill>
                <a:latin typeface="Segoe UI"/>
                <a:cs typeface="Segoe UI"/>
              </a:rPr>
              <a:t>Dẫn đúng số hình</a:t>
            </a:r>
          </a:p>
          <a:p>
            <a:pPr marL="0" indent="0" algn="l">
              <a:lnSpc>
                <a:spcPct val="104000"/>
              </a:lnSpc>
              <a:spcBef>
                <a:spcPts val="400"/>
              </a:spcBef>
              <a:buNone/>
            </a:pPr>
            <a:r>
              <a:rPr lang="en-US" sz="1750" dirty="0">
                <a:solidFill>
                  <a:srgbClr val="000000"/>
                </a:solidFill>
                <a:latin typeface="Segoe UI"/>
                <a:cs typeface="Segoe UI"/>
              </a:rPr>
              <a:t>Một đồng tác giả đọc các bảng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Phần lớn lỗi của hai bài không cần dữ liệu mới - chỉ cần một đồng tác giả cẩn thận.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Thực hành bản thảo 2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Hoàn thiện bản nháp</a:t>
            </a:r>
          </a:p>
          <a:p>
            <a:pPr marL="0" indent="0" algn="ctr">
              <a:spcBef>
                <a:spcPts val="1200"/>
              </a:spcBef>
              <a:buNone/>
            </a:pPr>
            <a:r>
              <a:rPr lang="en-US" sz="1900" i="1" dirty="0">
                <a:solidFill>
                  <a:srgbClr val="595959"/>
                </a:solidFill>
                <a:latin typeface="Segoe UI"/>
                <a:cs typeface="Segoe UI"/>
              </a:rPr>
              <a:t>Đặt vấn đề, Bàn luận, Tóm tắt và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Segoe UI"/>
                <a:cs typeface="Segoe UI"/>
              </a:rPr>
              <a:t>Thực hành bản thảo 2: Đặt vấn đề, Bàn luận, Tóm tắt,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30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0-8: Đặt vấn đề - ba đoạn (hai người)</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0-15: Bàn luận - sáu bước (ba người)</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15-23: Tóm tắt - 250 từ, số liệu lấy từ Kết quả</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23-27: Tiêu đề (10-16 từ, nêu thiết kế) + từ khóa</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27-30: kiểm tra động từ: mọi 'gây ra', 'tác động' -&gt; 'có liên quan'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Vai trò</a:t>
            </a:r>
          </a:p>
          <a:p>
            <a:pPr marL="274320" indent="-274320" algn="l">
              <a:lnSpc>
                <a:spcPct val="104000"/>
              </a:lnSpc>
              <a:spcBef>
                <a:spcPts val="300"/>
              </a:spcBef>
              <a:buFont typeface="Arial"/>
              <a:buChar char="•"/>
            </a:pPr>
            <a:r>
              <a:rPr lang="en-US" sz="1500" dirty="0">
                <a:solidFill>
                  <a:srgbClr val="000000"/>
                </a:solidFill>
                <a:latin typeface="Segoe UI"/>
                <a:cs typeface="Segoe UI"/>
              </a:rPr>
              <a:t>2 Đặt vấn đề</a:t>
            </a:r>
          </a:p>
          <a:p>
            <a:pPr marL="274320" indent="-274320" algn="l">
              <a:lnSpc>
                <a:spcPct val="104000"/>
              </a:lnSpc>
              <a:spcBef>
                <a:spcPts val="300"/>
              </a:spcBef>
              <a:buFont typeface="Arial"/>
              <a:buChar char="•"/>
            </a:pPr>
            <a:r>
              <a:rPr lang="en-US" sz="1500" dirty="0">
                <a:solidFill>
                  <a:srgbClr val="000000"/>
                </a:solidFill>
                <a:latin typeface="Segoe UI"/>
                <a:cs typeface="Segoe UI"/>
              </a:rPr>
              <a:t>3 Bàn luận</a:t>
            </a:r>
          </a:p>
          <a:p>
            <a:pPr marL="274320" indent="-274320" algn="l">
              <a:lnSpc>
                <a:spcPct val="104000"/>
              </a:lnSpc>
              <a:spcBef>
                <a:spcPts val="300"/>
              </a:spcBef>
              <a:buFont typeface="Arial"/>
              <a:buChar char="•"/>
            </a:pPr>
            <a:r>
              <a:rPr lang="en-US" sz="1500" dirty="0">
                <a:solidFill>
                  <a:srgbClr val="000000"/>
                </a:solidFill>
                <a:latin typeface="Segoe UI"/>
                <a:cs typeface="Segoe UI"/>
              </a:rPr>
              <a:t>1 kiểm số + động từ</a:t>
            </a:r>
          </a:p>
          <a:p>
            <a:pPr marL="274320" indent="-274320" algn="l">
              <a:lnSpc>
                <a:spcPct val="104000"/>
              </a:lnSpc>
              <a:spcBef>
                <a:spcPts val="300"/>
              </a:spcBef>
              <a:buFont typeface="Arial"/>
              <a:buChar char="•"/>
            </a:pPr>
            <a:r>
              <a:rPr lang="en-US" sz="1500" dirty="0">
                <a:solidFill>
                  <a:srgbClr val="000000"/>
                </a:solidFill>
                <a:latin typeface="Segoe UI"/>
                <a:cs typeface="Segoe UI"/>
              </a:rPr>
              <a:t>Cả nhóm: Tóm tắt và Tiêu đề</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Bản nháp hoàn chỉnh (~2.000 từ) đã lưu - trao đổi phản biện sau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GIẢI LAO   |   15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Segoe UI"/>
                <a:cs typeface="Segoe UI"/>
              </a:rPr>
              <a:t>1.  </a:t>
            </a:r>
            <a:r>
              <a:rPr lang="en-US" sz="1650" dirty="0">
                <a:solidFill>
                  <a:srgbClr val="000000"/>
                </a:solidFill>
                <a:latin typeface="Segoe UI"/>
                <a:cs typeface="Segoe UI"/>
              </a:rPr>
              <a:t>Lưu và gửi bản nháp bản thảo</a:t>
            </a:r>
          </a:p>
          <a:p>
            <a:pPr marL="380000" indent="-380000" algn="l">
              <a:lnSpc>
                <a:spcPct val="104000"/>
              </a:lnSpc>
              <a:spcBef>
                <a:spcPts val="450"/>
              </a:spcBef>
              <a:buNone/>
            </a:pPr>
            <a:r>
              <a:rPr lang="en-US" sz="1650" b="1" dirty="0">
                <a:solidFill>
                  <a:srgbClr val="8A99A3"/>
                </a:solidFill>
                <a:latin typeface="Segoe UI"/>
                <a:cs typeface="Segoe UI"/>
              </a:rPr>
              <a:t>2.  </a:t>
            </a:r>
            <a:r>
              <a:rPr lang="en-US" sz="1650" dirty="0">
                <a:solidFill>
                  <a:srgbClr val="000000"/>
                </a:solidFill>
                <a:latin typeface="Segoe UI"/>
                <a:cs typeface="Segoe UI"/>
              </a:rPr>
              <a:t>Nhóm 1-3: nhận Bài 1 (RCT) và phiếu trả lời</a:t>
            </a:r>
          </a:p>
          <a:p>
            <a:pPr marL="380000" indent="-380000" algn="l">
              <a:lnSpc>
                <a:spcPct val="104000"/>
              </a:lnSpc>
              <a:spcBef>
                <a:spcPts val="450"/>
              </a:spcBef>
              <a:buNone/>
            </a:pPr>
            <a:r>
              <a:rPr lang="en-US" sz="1650" b="1" dirty="0">
                <a:solidFill>
                  <a:srgbClr val="8A99A3"/>
                </a:solidFill>
                <a:latin typeface="Segoe UI"/>
                <a:cs typeface="Segoe UI"/>
              </a:rPr>
              <a:t>3.  </a:t>
            </a:r>
            <a:r>
              <a:rPr lang="en-US" sz="1650" dirty="0">
                <a:solidFill>
                  <a:srgbClr val="000000"/>
                </a:solidFill>
                <a:latin typeface="Segoe UI"/>
                <a:cs typeface="Segoe UI"/>
              </a:rPr>
              <a:t>Nhóm 4-5: nhận Bài 2 (đoàn hệ) và phiếu trả lời</a:t>
            </a:r>
          </a:p>
          <a:p>
            <a:pPr marL="380000" indent="-380000" algn="l">
              <a:lnSpc>
                <a:spcPct val="104000"/>
              </a:lnSpc>
              <a:spcBef>
                <a:spcPts val="450"/>
              </a:spcBef>
              <a:buNone/>
            </a:pPr>
            <a:r>
              <a:rPr lang="en-US" sz="1650" b="1" dirty="0">
                <a:solidFill>
                  <a:srgbClr val="8A99A3"/>
                </a:solidFill>
                <a:latin typeface="Segoe UI"/>
                <a:cs typeface="Segoe UI"/>
              </a:rPr>
              <a:t>4.  </a:t>
            </a:r>
            <a:r>
              <a:rPr lang="en-US" sz="1650" dirty="0">
                <a:solidFill>
                  <a:srgbClr val="000000"/>
                </a:solidFill>
                <a:latin typeface="Segoe UI"/>
                <a:cs typeface="Segoe UI"/>
              </a:rPr>
              <a:t>Người trình bày: kiểm tra slide mở được trên máy trình chiếu</a:t>
            </a:r>
          </a:p>
          <a:p>
            <a:pPr marL="380000" indent="-380000" algn="l">
              <a:lnSpc>
                <a:spcPct val="104000"/>
              </a:lnSpc>
              <a:spcBef>
                <a:spcPts val="450"/>
              </a:spcBef>
              <a:buNone/>
            </a:pPr>
            <a:r>
              <a:rPr lang="en-US" sz="1650" b="1" dirty="0">
                <a:solidFill>
                  <a:srgbClr val="8A99A3"/>
                </a:solidFill>
                <a:latin typeface="Segoe UI"/>
                <a:cs typeface="Segoe UI"/>
              </a:rPr>
              <a:t>5.  </a:t>
            </a:r>
            <a:r>
              <a:rPr lang="en-US" sz="1650" dirty="0">
                <a:solidFill>
                  <a:srgbClr val="000000"/>
                </a:solidFill>
                <a:latin typeface="Segoe UI"/>
                <a:cs typeface="Segoe UI"/>
              </a:rPr>
              <a:t>Quay lại đúng 1:15</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8A99A3"/>
                </a:solidFill>
                <a:latin typeface="Segoe UI"/>
                <a:cs typeface="Segoe UI"/>
              </a:rPr>
              <a:t>Sau giải lao</a:t>
            </a:r>
          </a:p>
          <a:p>
            <a:pPr marL="274320" indent="-274320" algn="l">
              <a:lnSpc>
                <a:spcPct val="104000"/>
              </a:lnSpc>
              <a:spcBef>
                <a:spcPts val="300"/>
              </a:spcBef>
              <a:buFont typeface="Arial"/>
              <a:buChar char="•"/>
            </a:pPr>
            <a:r>
              <a:rPr lang="en-US" sz="1500" dirty="0">
                <a:solidFill>
                  <a:srgbClr val="000000"/>
                </a:solidFill>
                <a:latin typeface="Segoe UI"/>
                <a:cs typeface="Segoe UI"/>
              </a:rPr>
              <a:t>Công bố (25 phút)</a:t>
            </a:r>
          </a:p>
          <a:p>
            <a:pPr marL="274320" indent="-274320" algn="l">
              <a:lnSpc>
                <a:spcPct val="104000"/>
              </a:lnSpc>
              <a:spcBef>
                <a:spcPts val="300"/>
              </a:spcBef>
              <a:buFont typeface="Arial"/>
              <a:buChar char="•"/>
            </a:pPr>
            <a:r>
              <a:rPr lang="en-US" sz="1500" dirty="0">
                <a:solidFill>
                  <a:srgbClr val="000000"/>
                </a:solidFill>
                <a:latin typeface="Segoe UI"/>
                <a:cs typeface="Segoe UI"/>
              </a:rPr>
              <a:t>Làm người phản biện (20 phút)</a:t>
            </a:r>
          </a:p>
          <a:p>
            <a:pPr marL="274320" indent="-274320" algn="l">
              <a:lnSpc>
                <a:spcPct val="104000"/>
              </a:lnSpc>
              <a:spcBef>
                <a:spcPts val="300"/>
              </a:spcBef>
              <a:buFont typeface="Arial"/>
              <a:buChar char="•"/>
            </a:pPr>
            <a:r>
              <a:rPr lang="en-US" sz="1500" dirty="0">
                <a:solidFill>
                  <a:srgbClr val="000000"/>
                </a:solidFill>
                <a:latin typeface="Segoe UI"/>
                <a:cs typeface="Segoe UI"/>
              </a:rPr>
              <a:t>Các nhóm trình bày (45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8.2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Công bố bài báo</a:t>
            </a:r>
          </a:p>
          <a:p>
            <a:pPr marL="0" indent="0" algn="ctr">
              <a:spcBef>
                <a:spcPts val="1200"/>
              </a:spcBef>
              <a:buNone/>
            </a:pPr>
            <a:r>
              <a:rPr lang="en-US" sz="1900" i="1" dirty="0">
                <a:solidFill>
                  <a:srgbClr val="595959"/>
                </a:solidFill>
                <a:latin typeface="Segoe UI"/>
                <a:cs typeface="Segoe UI"/>
              </a:rPr>
              <a:t>Từ bảng kiểm đến bản in thử - và những cái bẫy trên đường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Hướng dẫn báo cáo: chọn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Ghi tên hướng dẫn trong Phần 4 - và dùng nó làm bảng kiểm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Chọn tạp chí: bốn điều cần kiểm tra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Chọn tạp chí trước khi viết - tạp chí đặt ra luật chơi.</a:t>
            </a:r>
          </a:p>
        </p:txBody>
      </p:sp>
      <p:sp>
        <p:nvSpPr>
          <p:cNvPr id="70" name="CardHead"/>
          <p:cNvSpPr/>
          <p:nvPr/>
        </p:nvSpPr>
        <p:spPr>
          <a:xfrm>
            <a:off x="457200" y="2058240"/>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Phù hợp</a:t>
            </a:r>
          </a:p>
        </p:txBody>
      </p:sp>
      <p:sp>
        <p:nvSpPr>
          <p:cNvPr id="71" name="CardBody"/>
          <p:cNvSpPr/>
          <p:nvPr/>
        </p:nvSpPr>
        <p:spPr>
          <a:xfrm>
            <a:off x="4572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Ai cần kết quả của bạn?</a:t>
            </a:r>
          </a:p>
          <a:p>
            <a:pPr marL="0" indent="0" algn="l">
              <a:lnSpc>
                <a:spcPct val="104000"/>
              </a:lnSpc>
              <a:spcBef>
                <a:spcPts val="400"/>
              </a:spcBef>
              <a:buNone/>
            </a:pPr>
            <a:r>
              <a:rPr lang="en-US" sz="1600" dirty="0">
                <a:solidFill>
                  <a:srgbClr val="000000"/>
                </a:solidFill>
                <a:latin typeface="Segoe UI"/>
                <a:cs typeface="Segoe UI"/>
              </a:rPr>
              <a:t>Đọc 3 số gần đây</a:t>
            </a:r>
          </a:p>
          <a:p>
            <a:pPr marL="0" indent="0" algn="l">
              <a:lnSpc>
                <a:spcPct val="104000"/>
              </a:lnSpc>
              <a:spcBef>
                <a:spcPts val="400"/>
              </a:spcBef>
              <a:buNone/>
            </a:pPr>
            <a:r>
              <a:rPr lang="en-US" sz="1600" dirty="0">
                <a:solidFill>
                  <a:srgbClr val="000000"/>
                </a:solidFill>
                <a:latin typeface="Segoe UI"/>
                <a:cs typeface="Segoe UI"/>
              </a:rPr>
              <a:t>Có đăng thiết kế tương tự?</a:t>
            </a:r>
          </a:p>
        </p:txBody>
      </p:sp>
      <p:sp>
        <p:nvSpPr>
          <p:cNvPr id="72" name="CardHead"/>
          <p:cNvSpPr/>
          <p:nvPr/>
        </p:nvSpPr>
        <p:spPr>
          <a:xfrm>
            <a:off x="3326600" y="2058240"/>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Tin cậy</a:t>
            </a:r>
          </a:p>
        </p:txBody>
      </p:sp>
      <p:sp>
        <p:nvSpPr>
          <p:cNvPr id="73" name="CardBody"/>
          <p:cNvSpPr/>
          <p:nvPr/>
        </p:nvSpPr>
        <p:spPr>
          <a:xfrm>
            <a:off x="33266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Được chỉ mục: MEDLINE, DOAJ, Scopus hoặc Web of Science</a:t>
            </a:r>
          </a:p>
          <a:p>
            <a:pPr marL="0" indent="0" algn="l">
              <a:lnSpc>
                <a:spcPct val="104000"/>
              </a:lnSpc>
              <a:spcBef>
                <a:spcPts val="400"/>
              </a:spcBef>
              <a:buNone/>
            </a:pPr>
            <a:r>
              <a:rPr lang="en-US" sz="1600" dirty="0">
                <a:solidFill>
                  <a:srgbClr val="000000"/>
                </a:solidFill>
                <a:latin typeface="Segoe UI"/>
                <a:cs typeface="Segoe UI"/>
              </a:rPr>
              <a:t>Chính sách phản biện rõ ràng</a:t>
            </a:r>
          </a:p>
        </p:txBody>
      </p:sp>
      <p:sp>
        <p:nvSpPr>
          <p:cNvPr id="74" name="CardHead"/>
          <p:cNvSpPr/>
          <p:nvPr/>
        </p:nvSpPr>
        <p:spPr>
          <a:xfrm>
            <a:off x="6196000" y="2058240"/>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Quy định</a:t>
            </a:r>
          </a:p>
        </p:txBody>
      </p:sp>
      <p:sp>
        <p:nvSpPr>
          <p:cNvPr id="75" name="CardBody"/>
          <p:cNvSpPr/>
          <p:nvPr/>
        </p:nvSpPr>
        <p:spPr>
          <a:xfrm>
            <a:off x="61960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Hướng dẫn tác giả</a:t>
            </a:r>
          </a:p>
          <a:p>
            <a:pPr marL="0" indent="0" algn="l">
              <a:lnSpc>
                <a:spcPct val="104000"/>
              </a:lnSpc>
              <a:spcBef>
                <a:spcPts val="400"/>
              </a:spcBef>
              <a:buNone/>
            </a:pPr>
            <a:r>
              <a:rPr lang="en-US" sz="1600" dirty="0">
                <a:solidFill>
                  <a:srgbClr val="000000"/>
                </a:solidFill>
                <a:latin typeface="Segoe UI"/>
                <a:cs typeface="Segoe UI"/>
              </a:rPr>
              <a:t>Giới hạn số chữ, bảng kiểm</a:t>
            </a:r>
          </a:p>
          <a:p>
            <a:pPr marL="0" indent="0" algn="l">
              <a:lnSpc>
                <a:spcPct val="104000"/>
              </a:lnSpc>
              <a:spcBef>
                <a:spcPts val="400"/>
              </a:spcBef>
              <a:buNone/>
            </a:pPr>
            <a:r>
              <a:rPr lang="en-US" sz="1600" dirty="0">
                <a:solidFill>
                  <a:srgbClr val="000000"/>
                </a:solidFill>
                <a:latin typeface="Segoe UI"/>
                <a:cs typeface="Segoe UI"/>
              </a:rPr>
              <a:t>Có yêu cầu đăng ký?</a:t>
            </a:r>
          </a:p>
        </p:txBody>
      </p:sp>
      <p:sp>
        <p:nvSpPr>
          <p:cNvPr id="76" name="CardHead"/>
          <p:cNvSpPr/>
          <p:nvPr/>
        </p:nvSpPr>
        <p:spPr>
          <a:xfrm>
            <a:off x="9065400" y="2058240"/>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Chi phí &amp; tốc độ</a:t>
            </a:r>
          </a:p>
        </p:txBody>
      </p:sp>
      <p:sp>
        <p:nvSpPr>
          <p:cNvPr id="77" name="CardBody"/>
          <p:cNvSpPr/>
          <p:nvPr/>
        </p:nvSpPr>
        <p:spPr>
          <a:xfrm>
            <a:off x="9065400" y="2698240"/>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Phí (APC) và miễn giảm</a:t>
            </a:r>
          </a:p>
          <a:p>
            <a:pPr marL="0" indent="0" algn="l">
              <a:lnSpc>
                <a:spcPct val="104000"/>
              </a:lnSpc>
              <a:spcBef>
                <a:spcPts val="400"/>
              </a:spcBef>
              <a:buNone/>
            </a:pPr>
            <a:r>
              <a:rPr lang="en-US" sz="1600" dirty="0">
                <a:solidFill>
                  <a:srgbClr val="000000"/>
                </a:solidFill>
                <a:latin typeface="Segoe UI"/>
                <a:cs typeface="Segoe UI"/>
              </a:rPr>
              <a:t>Giấy phép: CC BY hay BY-NC-ND</a:t>
            </a:r>
          </a:p>
          <a:p>
            <a:pPr marL="0" indent="0" algn="l">
              <a:lnSpc>
                <a:spcPct val="104000"/>
              </a:lnSpc>
              <a:spcBef>
                <a:spcPts val="400"/>
              </a:spcBef>
              <a:buNone/>
            </a:pPr>
            <a:r>
              <a:rPr lang="en-US" sz="1600" dirty="0">
                <a:solidFill>
                  <a:srgbClr val="000000"/>
                </a:solidFill>
                <a:latin typeface="Segoe UI"/>
                <a:cs typeface="Segoe UI"/>
              </a:rPr>
              <a:t>Bài 1: 7 tuần; Bài 2: 7 tháng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Tạp chí tốt là nơi người đọc của bạn đọc - và được vận hành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 tiền ấn phẩm, truy cập mở và giấy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Tiền ấn phẩm</a:t>
            </a:r>
          </a:p>
        </p:txBody>
      </p:sp>
      <p:sp>
        <p:nvSpPr>
          <p:cNvPr id="71" name="CardBody"/>
          <p:cNvSpPr/>
          <p:nvPr/>
        </p:nvSpPr>
        <p:spPr>
          <a:xfrm>
            <a:off x="457200"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Đăng trước phản biện (VD: medRxiv)</a:t>
            </a:r>
          </a:p>
          <a:p>
            <a:pPr marL="0" indent="0" algn="l">
              <a:lnSpc>
                <a:spcPct val="104000"/>
              </a:lnSpc>
              <a:spcBef>
                <a:spcPts val="400"/>
              </a:spcBef>
              <a:buNone/>
            </a:pPr>
            <a:r>
              <a:rPr lang="en-US" sz="1750" dirty="0">
                <a:solidFill>
                  <a:srgbClr val="000000"/>
                </a:solidFill>
                <a:latin typeface="Segoe UI"/>
                <a:cs typeface="Segoe UI"/>
              </a:rPr>
              <a:t>Nhanh, có dấu thời gian, góp ý mở</a:t>
            </a:r>
          </a:p>
          <a:p>
            <a:pPr marL="0" indent="0" algn="l">
              <a:lnSpc>
                <a:spcPct val="104000"/>
              </a:lnSpc>
              <a:spcBef>
                <a:spcPts val="400"/>
              </a:spcBef>
              <a:buNone/>
            </a:pPr>
            <a:r>
              <a:rPr lang="en-US" sz="1750" dirty="0">
                <a:solidFill>
                  <a:srgbClr val="000000"/>
                </a:solidFill>
                <a:latin typeface="Segoe UI"/>
                <a:cs typeface="Segoe UI"/>
              </a:rPr>
              <a:t>CHƯA qua phản biện: phải nói rõ</a:t>
            </a:r>
          </a:p>
          <a:p>
            <a:pPr marL="0" indent="0" algn="l">
              <a:lnSpc>
                <a:spcPct val="104000"/>
              </a:lnSpc>
              <a:spcBef>
                <a:spcPts val="400"/>
              </a:spcBef>
              <a:buNone/>
            </a:pPr>
            <a:r>
              <a:rPr lang="en-US" sz="1750" dirty="0">
                <a:solidFill>
                  <a:srgbClr val="000000"/>
                </a:solidFill>
                <a:latin typeface="Segoe UI"/>
                <a:cs typeface="Segoe UI"/>
              </a:rPr>
              <a:t>Xem chính sách của tạp chí</a:t>
            </a:r>
          </a:p>
        </p:txBody>
      </p:sp>
      <p:sp>
        <p:nvSpPr>
          <p:cNvPr id="72" name="CardHead"/>
          <p:cNvSpPr/>
          <p:nvPr/>
        </p:nvSpPr>
        <p:spPr>
          <a:xfrm>
            <a:off x="4283066" y="152307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Truy cập mở</a:t>
            </a:r>
          </a:p>
        </p:txBody>
      </p:sp>
      <p:sp>
        <p:nvSpPr>
          <p:cNvPr id="73" name="CardBody"/>
          <p:cNvSpPr/>
          <p:nvPr/>
        </p:nvSpPr>
        <p:spPr>
          <a:xfrm>
            <a:off x="4283066"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Ai cũng đọc miễn phí</a:t>
            </a:r>
          </a:p>
          <a:p>
            <a:pPr marL="0" indent="0" algn="l">
              <a:lnSpc>
                <a:spcPct val="104000"/>
              </a:lnSpc>
              <a:spcBef>
                <a:spcPts val="400"/>
              </a:spcBef>
              <a:buNone/>
            </a:pPr>
            <a:r>
              <a:rPr lang="en-US" sz="1750" dirty="0">
                <a:solidFill>
                  <a:srgbClr val="000000"/>
                </a:solidFill>
                <a:latin typeface="Segoe UI"/>
                <a:cs typeface="Segoe UI"/>
              </a:rPr>
              <a:t>Gold: tạp chí thu phí (APC)</a:t>
            </a:r>
          </a:p>
          <a:p>
            <a:pPr marL="0" indent="0" algn="l">
              <a:lnSpc>
                <a:spcPct val="104000"/>
              </a:lnSpc>
              <a:spcBef>
                <a:spcPts val="400"/>
              </a:spcBef>
              <a:buNone/>
            </a:pPr>
            <a:r>
              <a:rPr lang="en-US" sz="1750" dirty="0">
                <a:solidFill>
                  <a:srgbClr val="000000"/>
                </a:solidFill>
                <a:latin typeface="Segoe UI"/>
                <a:cs typeface="Segoe UI"/>
              </a:rPr>
              <a:t>Green: bản được chấp nhận lưu ở kho</a:t>
            </a:r>
          </a:p>
          <a:p>
            <a:pPr marL="0" indent="0" algn="l">
              <a:lnSpc>
                <a:spcPct val="104000"/>
              </a:lnSpc>
              <a:spcBef>
                <a:spcPts val="400"/>
              </a:spcBef>
              <a:buNone/>
            </a:pPr>
            <a:r>
              <a:rPr lang="en-US" sz="1750" dirty="0">
                <a:solidFill>
                  <a:srgbClr val="000000"/>
                </a:solidFill>
                <a:latin typeface="Segoe UI"/>
                <a:cs typeface="Segoe UI"/>
              </a:rPr>
              <a:t>Hỏi về miễn giảm phí</a:t>
            </a:r>
          </a:p>
        </p:txBody>
      </p:sp>
      <p:sp>
        <p:nvSpPr>
          <p:cNvPr id="74" name="CardHead"/>
          <p:cNvSpPr/>
          <p:nvPr/>
        </p:nvSpPr>
        <p:spPr>
          <a:xfrm>
            <a:off x="8108932" y="152307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Giấy phép</a:t>
            </a:r>
          </a:p>
        </p:txBody>
      </p:sp>
      <p:sp>
        <p:nvSpPr>
          <p:cNvPr id="75" name="CardBody"/>
          <p:cNvSpPr/>
          <p:nvPr/>
        </p:nvSpPr>
        <p:spPr>
          <a:xfrm>
            <a:off x="8108932" y="2163077"/>
            <a:ext cx="3625866" cy="2480767"/>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CC BY: tái sử dụng, ghi nguồn (Bài 2)</a:t>
            </a:r>
          </a:p>
          <a:p>
            <a:pPr marL="0" indent="0" algn="l">
              <a:lnSpc>
                <a:spcPct val="104000"/>
              </a:lnSpc>
              <a:spcBef>
                <a:spcPts val="400"/>
              </a:spcBef>
              <a:buNone/>
            </a:pPr>
            <a:r>
              <a:rPr lang="en-US" sz="1750" dirty="0">
                <a:solidFill>
                  <a:srgbClr val="000000"/>
                </a:solidFill>
                <a:latin typeface="Segoe UI"/>
                <a:cs typeface="Segoe UI"/>
              </a:rPr>
              <a:t>CC BY-NC-ND: chia sẻ, không sửa (Bài 1)</a:t>
            </a:r>
          </a:p>
          <a:p>
            <a:pPr marL="0" indent="0" algn="l">
              <a:lnSpc>
                <a:spcPct val="104000"/>
              </a:lnSpc>
              <a:spcBef>
                <a:spcPts val="400"/>
              </a:spcBef>
              <a:buNone/>
            </a:pPr>
            <a:r>
              <a:rPr lang="en-US" sz="1750" dirty="0">
                <a:solidFill>
                  <a:srgbClr val="000000"/>
                </a:solidFill>
                <a:latin typeface="Segoe UI"/>
                <a:cs typeface="Segoe UI"/>
              </a:rPr>
              <a:t>Đọc kỹ trước khi ký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Biết ai được đọc, được tái sử dụng và ai trả phí - trước khi nộp bài.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Nhận diện tạp chí săn mồi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Nếu tạp chí tìm đến bạn bằng email tâng bốc, hãy kiểm tra hai lần.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Trình diễn: tìm bảng kiểm và kiểm tra tạp chí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TRÌNH DIỄN TRỰC TIẾP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Segoe UI"/>
                <a:cs typeface="Segoe UI"/>
              </a:rPr>
              <a:t>1.  </a:t>
            </a:r>
            <a:r>
              <a:rPr lang="en-US" sz="1650" dirty="0">
                <a:solidFill>
                  <a:srgbClr val="000000"/>
                </a:solidFill>
                <a:latin typeface="Segoe UI"/>
                <a:cs typeface="Segoe UI"/>
              </a:rPr>
              <a:t>Mở trang Mạng lưới EQUATOR và tìm 'CONSORT'</a:t>
            </a:r>
          </a:p>
          <a:p>
            <a:pPr marL="380000" indent="-380000" algn="l">
              <a:lnSpc>
                <a:spcPct val="104000"/>
              </a:lnSpc>
              <a:spcBef>
                <a:spcPts val="450"/>
              </a:spcBef>
              <a:buNone/>
            </a:pPr>
            <a:r>
              <a:rPr lang="en-US" sz="1650" b="1" dirty="0">
                <a:solidFill>
                  <a:srgbClr val="B5651D"/>
                </a:solidFill>
                <a:latin typeface="Segoe UI"/>
                <a:cs typeface="Segoe UI"/>
              </a:rPr>
              <a:t>2.  </a:t>
            </a:r>
            <a:r>
              <a:rPr lang="en-US" sz="1650" dirty="0">
                <a:solidFill>
                  <a:srgbClr val="000000"/>
                </a:solidFill>
                <a:latin typeface="Segoe UI"/>
                <a:cs typeface="Segoe UI"/>
              </a:rPr>
              <a:t>Xem bảng kiểm và sơ đồ chọn bệnh (Bài 1 có sơ đồ này)</a:t>
            </a:r>
          </a:p>
          <a:p>
            <a:pPr marL="380000" indent="-380000" algn="l">
              <a:lnSpc>
                <a:spcPct val="104000"/>
              </a:lnSpc>
              <a:spcBef>
                <a:spcPts val="450"/>
              </a:spcBef>
              <a:buNone/>
            </a:pPr>
            <a:r>
              <a:rPr lang="en-US" sz="1650" b="1" dirty="0">
                <a:solidFill>
                  <a:srgbClr val="B5651D"/>
                </a:solidFill>
                <a:latin typeface="Segoe UI"/>
                <a:cs typeface="Segoe UI"/>
              </a:rPr>
              <a:t>3.  </a:t>
            </a:r>
            <a:r>
              <a:rPr lang="en-US" sz="1650" dirty="0">
                <a:solidFill>
                  <a:srgbClr val="000000"/>
                </a:solidFill>
                <a:latin typeface="Segoe UI"/>
                <a:cs typeface="Segoe UI"/>
              </a:rPr>
              <a:t>Tìm STROBE theo cách tương tự (Bài 2)</a:t>
            </a:r>
          </a:p>
          <a:p>
            <a:pPr marL="380000" indent="-380000" algn="l">
              <a:lnSpc>
                <a:spcPct val="104000"/>
              </a:lnSpc>
              <a:spcBef>
                <a:spcPts val="450"/>
              </a:spcBef>
              <a:buNone/>
            </a:pPr>
            <a:r>
              <a:rPr lang="en-US" sz="1650" b="1" dirty="0">
                <a:solidFill>
                  <a:srgbClr val="B5651D"/>
                </a:solidFill>
                <a:latin typeface="Segoe UI"/>
                <a:cs typeface="Segoe UI"/>
              </a:rPr>
              <a:t>4.  </a:t>
            </a:r>
            <a:r>
              <a:rPr lang="en-US" sz="1650" dirty="0">
                <a:solidFill>
                  <a:srgbClr val="000000"/>
                </a:solidFill>
                <a:latin typeface="Segoe UI"/>
                <a:cs typeface="Segoe UI"/>
              </a:rPr>
              <a:t>Kiểm tra một tạp chí: tìm trên DOAJ và NLM Catalog</a:t>
            </a:r>
          </a:p>
          <a:p>
            <a:pPr marL="380000" indent="-380000" algn="l">
              <a:lnSpc>
                <a:spcPct val="104000"/>
              </a:lnSpc>
              <a:spcBef>
                <a:spcPts val="450"/>
              </a:spcBef>
              <a:buNone/>
            </a:pPr>
            <a:r>
              <a:rPr lang="en-US" sz="1650" b="1" dirty="0">
                <a:solidFill>
                  <a:srgbClr val="B5651D"/>
                </a:solidFill>
                <a:latin typeface="Segoe UI"/>
                <a:cs typeface="Segoe UI"/>
              </a:rPr>
              <a:t>5.  </a:t>
            </a:r>
            <a:r>
              <a:rPr lang="en-US" sz="1650" dirty="0">
                <a:solidFill>
                  <a:srgbClr val="000000"/>
                </a:solidFill>
                <a:latin typeface="Segoe UI"/>
                <a:cs typeface="Segoe UI"/>
              </a:rPr>
              <a:t>Mở bảng kiểm Think.Check.Submit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Segoe UI"/>
                <a:cs typeface="Segoe UI"/>
              </a:rPr>
              <a:t>Chú ý</a:t>
            </a:r>
          </a:p>
          <a:p>
            <a:pPr marL="274320" indent="-274320" algn="l">
              <a:lnSpc>
                <a:spcPct val="104000"/>
              </a:lnSpc>
              <a:spcBef>
                <a:spcPts val="300"/>
              </a:spcBef>
              <a:buFont typeface="Arial"/>
              <a:buChar char="•"/>
            </a:pPr>
            <a:r>
              <a:rPr lang="en-US" sz="1500" dirty="0">
                <a:solidFill>
                  <a:srgbClr val="000000"/>
                </a:solidFill>
                <a:latin typeface="Segoe UI"/>
                <a:cs typeface="Segoe UI"/>
              </a:rPr>
              <a:t>Tệp PDF bảng kiểm ở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Cách xem tạp chí có trong MEDLINE</a:t>
            </a:r>
          </a:p>
          <a:p>
            <a:pPr marL="274320" indent="-274320" algn="l">
              <a:lnSpc>
                <a:spcPct val="104000"/>
              </a:lnSpc>
              <a:spcBef>
                <a:spcPts val="300"/>
              </a:spcBef>
              <a:buFont typeface="Arial"/>
              <a:buChar char="•"/>
            </a:pPr>
            <a:r>
              <a:rPr lang="en-US" sz="1500" dirty="0">
                <a:solidFill>
                  <a:srgbClr val="000000"/>
                </a:solidFill>
                <a:latin typeface="Segoe UI"/>
                <a:cs typeface="Segoe UI"/>
              </a:rPr>
              <a:t>Ba câu hỏi cho mọi tạp chí</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Segoe UI"/>
                <a:cs typeface="Segoe UI"/>
              </a:rPr>
              <a:t>SẢN PHẨM   </a:t>
            </a:r>
            <a:r>
              <a:rPr lang="en-US" sz="1500" dirty="0">
                <a:solidFill>
                  <a:srgbClr val="000000"/>
                </a:solidFill>
                <a:latin typeface="Segoe UI"/>
                <a:cs typeface="Segoe UI"/>
              </a:rPr>
              <a:t>Mỗi nhóm kiểm tra tạp chí + hướng dẫn báo cáo trong kế hoạch công bố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Bộ hồ sơ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Nộp đủ cả bộ một lần - thiếu thứ gì là chậm trễ.</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Hành trình phản biện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Hầu hết bài báo phải sửa trước khi được nhận - trả lời lịch sự từng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Trả lời phản biện: bảng trả lời từng 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Cảm ơn, trả lời mọi ý, chỉ rõ chỗ đã sửa - phản hồi lịch sự, có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Sau khi được chấp nhận: bản in thử, chia sẻ, đính chính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Đọc bản in thử kỹ như đọc dữ liệu - lỗi sẽ thành vĩnh viễn.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Kiểm tra: đúng hay sai?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'Tạp chí gửi email mời trước thường là tạp chí săn mồi'</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'Tôi có thể gửi bài cho hai tạp chí cùng lúc cho nhanh'</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'Bản tiền ấn phẩm đã được phản biện'</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'Tôi phải trả lời mọi nhận xét của phản biện, kể cả khi không đồng ý'</a:t>
            </a:r>
          </a:p>
          <a:p>
            <a:pPr marL="380000" indent="-380000" algn="l">
              <a:lnSpc>
                <a:spcPct val="104000"/>
              </a:lnSpc>
              <a:spcBef>
                <a:spcPts val="450"/>
              </a:spcBef>
              <a:buNone/>
            </a:pPr>
            <a:r>
              <a:rPr lang="en-US" sz="1650" b="1" dirty="0">
                <a:solidFill>
                  <a:srgbClr val="6C3483"/>
                </a:solidFill>
                <a:latin typeface="Segoe UI"/>
                <a:cs typeface="Segoe UI"/>
              </a:rPr>
              <a:t>5.  </a:t>
            </a:r>
            <a:r>
              <a:rPr lang="en-US" sz="1650" dirty="0">
                <a:solidFill>
                  <a:srgbClr val="000000"/>
                </a:solidFill>
                <a:latin typeface="Segoe UI"/>
                <a:cs typeface="Segoe UI"/>
              </a:rPr>
              <a:t>'Bài báo FLUID-ICU nên theo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Segoe UI"/>
                <a:cs typeface="Segoe UI"/>
              </a:rPr>
              <a:t>Đáp án</a:t>
            </a:r>
          </a:p>
          <a:p>
            <a:pPr marL="274320" indent="-274320" algn="l">
              <a:lnSpc>
                <a:spcPct val="104000"/>
              </a:lnSpc>
              <a:spcBef>
                <a:spcPts val="300"/>
              </a:spcBef>
              <a:buFont typeface="Arial"/>
              <a:buChar char="•"/>
            </a:pPr>
            <a:r>
              <a:rPr lang="en-US" sz="1500" dirty="0">
                <a:solidFill>
                  <a:srgbClr val="000000"/>
                </a:solidFill>
                <a:latin typeface="Segoe UI"/>
                <a:cs typeface="Segoe UI"/>
              </a:rPr>
              <a:t>1 Thường đúng - kiểm tra hai lần</a:t>
            </a:r>
          </a:p>
          <a:p>
            <a:pPr marL="274320" indent="-274320" algn="l">
              <a:lnSpc>
                <a:spcPct val="104000"/>
              </a:lnSpc>
              <a:spcBef>
                <a:spcPts val="300"/>
              </a:spcBef>
              <a:buFont typeface="Arial"/>
              <a:buChar char="•"/>
            </a:pPr>
            <a:r>
              <a:rPr lang="en-US" sz="1500" dirty="0">
                <a:solidFill>
                  <a:srgbClr val="000000"/>
                </a:solidFill>
                <a:latin typeface="Segoe UI"/>
                <a:cs typeface="Segoe UI"/>
              </a:rPr>
              <a:t>2 Sai - nộp trùng lặp</a:t>
            </a:r>
          </a:p>
          <a:p>
            <a:pPr marL="274320" indent="-274320" algn="l">
              <a:lnSpc>
                <a:spcPct val="104000"/>
              </a:lnSpc>
              <a:spcBef>
                <a:spcPts val="300"/>
              </a:spcBef>
              <a:buFont typeface="Arial"/>
              <a:buChar char="•"/>
            </a:pPr>
            <a:r>
              <a:rPr lang="en-US" sz="1500" dirty="0">
                <a:solidFill>
                  <a:srgbClr val="000000"/>
                </a:solidFill>
                <a:latin typeface="Segoe UI"/>
                <a:cs typeface="Segoe UI"/>
              </a:rPr>
              <a:t>3 Sai</a:t>
            </a:r>
          </a:p>
          <a:p>
            <a:pPr marL="274320" indent="-274320" algn="l">
              <a:lnSpc>
                <a:spcPct val="104000"/>
              </a:lnSpc>
              <a:spcBef>
                <a:spcPts val="300"/>
              </a:spcBef>
              <a:buFont typeface="Arial"/>
              <a:buChar char="•"/>
            </a:pPr>
            <a:r>
              <a:rPr lang="en-US" sz="1500" dirty="0">
                <a:solidFill>
                  <a:srgbClr val="000000"/>
                </a:solidFill>
                <a:latin typeface="Segoe UI"/>
                <a:cs typeface="Segoe UI"/>
              </a:rPr>
              <a:t>4 Đúng - lịch sự, có bằng chứng</a:t>
            </a:r>
          </a:p>
          <a:p>
            <a:pPr marL="274320" indent="-274320" algn="l">
              <a:lnSpc>
                <a:spcPct val="104000"/>
              </a:lnSpc>
              <a:spcBef>
                <a:spcPts val="300"/>
              </a:spcBef>
              <a:buFont typeface="Arial"/>
              <a:buChar char="•"/>
            </a:pPr>
            <a:r>
              <a:rPr lang="en-US" sz="1500" dirty="0">
                <a:solidFill>
                  <a:srgbClr val="000000"/>
                </a:solidFill>
                <a:latin typeface="Segoe UI"/>
                <a:cs typeface="Segoe UI"/>
              </a:rPr>
              <a:t>5 Sai - STROBE (đoàn hệ)</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8.3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Làm người phản biện</a:t>
            </a:r>
          </a:p>
          <a:p>
            <a:pPr marL="0" indent="0" algn="ctr">
              <a:spcBef>
                <a:spcPts val="1200"/>
              </a:spcBef>
              <a:buNone/>
            </a:pPr>
            <a:r>
              <a:rPr lang="en-US" sz="1900" i="1" dirty="0">
                <a:solidFill>
                  <a:srgbClr val="595959"/>
                </a:solidFill>
                <a:latin typeface="Segoe UI"/>
                <a:cs typeface="Segoe UI"/>
              </a:rPr>
              <a:t>Luyện tập cho việc trao đổi phản biện bản thảo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Ghép mảnh: ba nhóm đọc thử nghiệm, hai nhóm đọc đoàn hệ</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Cùng câu hỏi lâm sàng, hai thiết kế - so sánh mỗi bài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kiểm 10 câu hỏi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1  Câu hỏi</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Bạn có viết được PICO của nghiên cứu trong một dòng không?</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2  Thiết kế</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Thiết kế là gì, và có phù hợp với câu hỏi không?</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3  Đối tượng</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Ai được đưa vào, ai bị loại ra?</a:t>
            </a:r>
          </a:p>
          <a:p>
            <a:pPr marL="0" indent="0" algn="l">
              <a:lnSpc>
                <a:spcPct val="104000"/>
              </a:lnSpc>
              <a:spcBef>
                <a:spcPts val="400"/>
              </a:spcBef>
              <a:buNone/>
            </a:pPr>
            <a:r>
              <a:rPr lang="en-US" sz="1400" dirty="0">
                <a:solidFill>
                  <a:srgbClr val="000000"/>
                </a:solidFill>
                <a:latin typeface="Segoe UI"/>
                <a:cs typeface="Segoe UI"/>
              </a:rPr>
              <a:t>Bệnh nhân của bạn có được đưa vào không?</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4  Nhóm so sánh</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Các nhóm có tương đồng lúc ban đầu không (Bảng 1)?</a:t>
            </a:r>
          </a:p>
          <a:p>
            <a:pPr marL="0" indent="0" algn="l">
              <a:lnSpc>
                <a:spcPct val="104000"/>
              </a:lnSpc>
              <a:spcBef>
                <a:spcPts val="400"/>
              </a:spcBef>
              <a:buNone/>
            </a:pPr>
            <a:r>
              <a:rPr lang="en-US" sz="1400" dirty="0">
                <a:solidFill>
                  <a:srgbClr val="000000"/>
                </a:solidFill>
                <a:latin typeface="Segoe UI"/>
                <a:cs typeface="Segoe UI"/>
              </a:rPr>
              <a:t>Đạt được bằng cách nào (ngẫu nhiên / bắt cặp / hiệu chỉnh)?</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5  Sai lệch</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Ai biết bệnh nhân thuộc nhóm nào (làm mù)?</a:t>
            </a:r>
          </a:p>
          <a:p>
            <a:pPr marL="0" indent="0" algn="l">
              <a:lnSpc>
                <a:spcPct val="104000"/>
              </a:lnSpc>
              <a:spcBef>
                <a:spcPts val="400"/>
              </a:spcBef>
              <a:buNone/>
            </a:pPr>
            <a:r>
              <a:rPr lang="en-US" sz="1400" dirty="0">
                <a:solidFill>
                  <a:srgbClr val="000000"/>
                </a:solidFill>
                <a:latin typeface="Segoe UI"/>
                <a:cs typeface="Segoe UI"/>
              </a:rPr>
              <a:t>Điều đó có thể thay đổi kết cục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Bảng kiểm 10 câu hỏi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4006"/>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6  Kết cục</a:t>
            </a:r>
          </a:p>
        </p:txBody>
      </p:sp>
      <p:sp>
        <p:nvSpPr>
          <p:cNvPr id="71" name="CardBody"/>
          <p:cNvSpPr/>
          <p:nvPr/>
        </p:nvSpPr>
        <p:spPr>
          <a:xfrm>
            <a:off x="45720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Có MỘT kết cục chính định trước,</a:t>
            </a:r>
          </a:p>
          <a:p>
            <a:pPr marL="0" indent="0" algn="l">
              <a:lnSpc>
                <a:spcPct val="104000"/>
              </a:lnSpc>
              <a:spcBef>
                <a:spcPts val="400"/>
              </a:spcBef>
              <a:buNone/>
            </a:pPr>
            <a:r>
              <a:rPr lang="en-US" sz="1400" dirty="0">
                <a:solidFill>
                  <a:srgbClr val="000000"/>
                </a:solidFill>
                <a:latin typeface="Segoe UI"/>
                <a:cs typeface="Segoe UI"/>
              </a:rPr>
              <a:t>đo cùng một cách ở cả hai nhóm không?</a:t>
            </a:r>
          </a:p>
        </p:txBody>
      </p:sp>
      <p:sp>
        <p:nvSpPr>
          <p:cNvPr id="72" name="CardHead"/>
          <p:cNvSpPr/>
          <p:nvPr/>
        </p:nvSpPr>
        <p:spPr>
          <a:xfrm>
            <a:off x="2752720" y="1954006"/>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7  Con số</a:t>
            </a:r>
          </a:p>
        </p:txBody>
      </p:sp>
      <p:sp>
        <p:nvSpPr>
          <p:cNvPr id="73" name="CardBody"/>
          <p:cNvSpPr/>
          <p:nvPr/>
        </p:nvSpPr>
        <p:spPr>
          <a:xfrm>
            <a:off x="275272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Kết quả chính là số đo tác động nào, với KTC 95%?</a:t>
            </a:r>
          </a:p>
          <a:p>
            <a:pPr marL="0" indent="0" algn="l">
              <a:lnSpc>
                <a:spcPct val="104000"/>
              </a:lnSpc>
              <a:spcBef>
                <a:spcPts val="400"/>
              </a:spcBef>
              <a:buNone/>
            </a:pPr>
            <a:r>
              <a:rPr lang="en-US" sz="1400" dirty="0">
                <a:solidFill>
                  <a:srgbClr val="000000"/>
                </a:solidFill>
                <a:latin typeface="Segoe UI"/>
                <a:cs typeface="Segoe UI"/>
              </a:rPr>
              <a:t>KTC hẹp hay rộng?</a:t>
            </a:r>
          </a:p>
        </p:txBody>
      </p:sp>
      <p:sp>
        <p:nvSpPr>
          <p:cNvPr id="74" name="CardHead"/>
          <p:cNvSpPr/>
          <p:nvPr/>
        </p:nvSpPr>
        <p:spPr>
          <a:xfrm>
            <a:off x="5048240" y="1954006"/>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8  Lời văn và thiết kế</a:t>
            </a:r>
          </a:p>
        </p:txBody>
      </p:sp>
      <p:sp>
        <p:nvSpPr>
          <p:cNvPr id="75" name="CardBody"/>
          <p:cNvSpPr/>
          <p:nvPr/>
        </p:nvSpPr>
        <p:spPr>
          <a:xfrm>
            <a:off x="504824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Kết luận có tương xứng với thiết kế</a:t>
            </a:r>
          </a:p>
          <a:p>
            <a:pPr marL="0" indent="0" algn="l">
              <a:lnSpc>
                <a:spcPct val="104000"/>
              </a:lnSpc>
              <a:spcBef>
                <a:spcPts val="400"/>
              </a:spcBef>
              <a:buNone/>
            </a:pPr>
            <a:r>
              <a:rPr lang="en-US" sz="1400" dirty="0">
                <a:solidFill>
                  <a:srgbClr val="000000"/>
                </a:solidFill>
                <a:latin typeface="Segoe UI"/>
                <a:cs typeface="Segoe UI"/>
              </a:rPr>
              <a:t>('liên quan' hay 'gây ra'; không 'xu hướng' với p = 0,42)?</a:t>
            </a:r>
          </a:p>
        </p:txBody>
      </p:sp>
      <p:sp>
        <p:nvSpPr>
          <p:cNvPr id="76" name="CardHead"/>
          <p:cNvSpPr/>
          <p:nvPr/>
        </p:nvSpPr>
        <p:spPr>
          <a:xfrm>
            <a:off x="7343760" y="1954006"/>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9  Hạn chế</a:t>
            </a:r>
          </a:p>
        </p:txBody>
      </p:sp>
      <p:sp>
        <p:nvSpPr>
          <p:cNvPr id="77" name="CardBody"/>
          <p:cNvSpPr/>
          <p:nvPr/>
        </p:nvSpPr>
        <p:spPr>
          <a:xfrm>
            <a:off x="734376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Các hạn chế chính có được nêu trung thực?</a:t>
            </a:r>
          </a:p>
          <a:p>
            <a:pPr marL="0" indent="0" algn="l">
              <a:lnSpc>
                <a:spcPct val="104000"/>
              </a:lnSpc>
              <a:spcBef>
                <a:spcPts val="400"/>
              </a:spcBef>
              <a:buNone/>
            </a:pPr>
            <a:r>
              <a:rPr lang="en-US" sz="1400" dirty="0">
                <a:solidFill>
                  <a:srgbClr val="000000"/>
                </a:solidFill>
                <a:latin typeface="Segoe UI"/>
                <a:cs typeface="Segoe UI"/>
              </a:rPr>
              <a:t>Kể một hạn chế tác giả bỏ sót.</a:t>
            </a:r>
          </a:p>
        </p:txBody>
      </p:sp>
      <p:sp>
        <p:nvSpPr>
          <p:cNvPr id="78" name="CardHead"/>
          <p:cNvSpPr/>
          <p:nvPr/>
        </p:nvSpPr>
        <p:spPr>
          <a:xfrm>
            <a:off x="9639280" y="1954006"/>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Segoe UI"/>
                <a:cs typeface="Segoe UI"/>
              </a:rPr>
              <a:t>10  Ứng dụng</a:t>
            </a:r>
          </a:p>
        </p:txBody>
      </p:sp>
      <p:sp>
        <p:nvSpPr>
          <p:cNvPr id="79" name="CardBody"/>
          <p:cNvSpPr/>
          <p:nvPr/>
        </p:nvSpPr>
        <p:spPr>
          <a:xfrm>
            <a:off x="9639280" y="2714006"/>
            <a:ext cx="2095520" cy="17679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00" dirty="0">
                <a:solidFill>
                  <a:srgbClr val="000000"/>
                </a:solidFill>
                <a:latin typeface="Segoe UI"/>
                <a:cs typeface="Segoe UI"/>
              </a:rPr>
              <a:t>Bài này có thay đổi thực hành ở khoa bạn không?</a:t>
            </a:r>
          </a:p>
          <a:p>
            <a:pPr marL="0" indent="0" algn="l">
              <a:lnSpc>
                <a:spcPct val="104000"/>
              </a:lnSpc>
              <a:spcBef>
                <a:spcPts val="400"/>
              </a:spcBef>
              <a:buNone/>
            </a:pPr>
            <a:r>
              <a:rPr lang="en-US" sz="1400" dirty="0">
                <a:solidFill>
                  <a:srgbClr val="000000"/>
                </a:solidFill>
                <a:latin typeface="Segoe UI"/>
                <a:cs typeface="Segoe UI"/>
              </a:rPr>
              <a:t>Vì sao /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Làm người phản biện: thẩm định bài báo của nhóm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LÀM VIỆC NHÓM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D7377"/>
                </a:solidFill>
                <a:latin typeface="Segoe UI"/>
                <a:cs typeface="Segoe UI"/>
              </a:rPr>
              <a:t>1.  </a:t>
            </a:r>
            <a:r>
              <a:rPr lang="en-US" sz="1650" dirty="0">
                <a:solidFill>
                  <a:srgbClr val="000000"/>
                </a:solidFill>
                <a:latin typeface="Segoe UI"/>
                <a:cs typeface="Segoe UI"/>
              </a:rPr>
              <a:t>Các cặp nhận câu 1-3, 4-6 và 7-10</a:t>
            </a:r>
          </a:p>
          <a:p>
            <a:pPr marL="380000" indent="-380000" algn="l">
              <a:lnSpc>
                <a:spcPct val="104000"/>
              </a:lnSpc>
              <a:spcBef>
                <a:spcPts val="450"/>
              </a:spcBef>
              <a:buNone/>
            </a:pPr>
            <a:r>
              <a:rPr lang="en-US" sz="1650" b="1" dirty="0">
                <a:solidFill>
                  <a:srgbClr val="0D7377"/>
                </a:solidFill>
                <a:latin typeface="Segoe UI"/>
                <a:cs typeface="Segoe UI"/>
              </a:rPr>
              <a:t>2.  </a:t>
            </a:r>
            <a:r>
              <a:rPr lang="en-US" sz="1650" dirty="0">
                <a:solidFill>
                  <a:srgbClr val="000000"/>
                </a:solidFill>
                <a:latin typeface="Segoe UI"/>
                <a:cs typeface="Segoe UI"/>
              </a:rPr>
              <a:t>CHỈ đọc các trang ghi trên phiếu trả lời</a:t>
            </a:r>
          </a:p>
          <a:p>
            <a:pPr marL="380000" indent="-380000" algn="l">
              <a:lnSpc>
                <a:spcPct val="104000"/>
              </a:lnSpc>
              <a:spcBef>
                <a:spcPts val="450"/>
              </a:spcBef>
              <a:buNone/>
            </a:pPr>
            <a:r>
              <a:rPr lang="en-US" sz="1650" b="1" dirty="0">
                <a:solidFill>
                  <a:srgbClr val="0D7377"/>
                </a:solidFill>
                <a:latin typeface="Segoe UI"/>
                <a:cs typeface="Segoe UI"/>
              </a:rPr>
              <a:t>3.  </a:t>
            </a:r>
            <a:r>
              <a:rPr lang="en-US" sz="1650" dirty="0">
                <a:solidFill>
                  <a:srgbClr val="000000"/>
                </a:solidFill>
                <a:latin typeface="Segoe UI"/>
                <a:cs typeface="Segoe UI"/>
              </a:rPr>
              <a:t>Trả lời Có / Không / Không rõ + số trang</a:t>
            </a:r>
          </a:p>
          <a:p>
            <a:pPr marL="380000" indent="-380000" algn="l">
              <a:lnSpc>
                <a:spcPct val="104000"/>
              </a:lnSpc>
              <a:spcBef>
                <a:spcPts val="450"/>
              </a:spcBef>
              <a:buNone/>
            </a:pPr>
            <a:r>
              <a:rPr lang="en-US" sz="1650" b="1" dirty="0">
                <a:solidFill>
                  <a:srgbClr val="0D7377"/>
                </a:solidFill>
                <a:latin typeface="Segoe UI"/>
                <a:cs typeface="Segoe UI"/>
              </a:rPr>
              <a:t>4.  </a:t>
            </a:r>
            <a:r>
              <a:rPr lang="en-US" sz="1650" dirty="0">
                <a:solidFill>
                  <a:srgbClr val="000000"/>
                </a:solidFill>
                <a:latin typeface="Segoe UI"/>
                <a:cs typeface="Segoe UI"/>
              </a:rPr>
              <a:t>Phút 7: thống nhất câu trả lời của nhóm</a:t>
            </a:r>
          </a:p>
          <a:p>
            <a:pPr marL="380000" indent="-380000" algn="l">
              <a:lnSpc>
                <a:spcPct val="104000"/>
              </a:lnSpc>
              <a:spcBef>
                <a:spcPts val="450"/>
              </a:spcBef>
              <a:buNone/>
            </a:pPr>
            <a:r>
              <a:rPr lang="en-US" sz="1650" b="1" dirty="0">
                <a:solidFill>
                  <a:srgbClr val="0D7377"/>
                </a:solidFill>
                <a:latin typeface="Segoe UI"/>
                <a:cs typeface="Segoe UI"/>
              </a:rPr>
              <a:t>5.  </a:t>
            </a:r>
            <a:r>
              <a:rPr lang="en-US" sz="1650" dirty="0">
                <a:solidFill>
                  <a:srgbClr val="000000"/>
                </a:solidFill>
                <a:latin typeface="Segoe UI"/>
                <a:cs typeface="Segoe UI"/>
              </a:rPr>
              <a:t>Phút 9: chọn người báo cáo; viết nhận định trong một câu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Segoe UI"/>
                <a:cs typeface="Segoe UI"/>
              </a:rPr>
              <a:t>Tìm ở đâu</a:t>
            </a:r>
          </a:p>
          <a:p>
            <a:pPr marL="274320" indent="-274320" algn="l">
              <a:lnSpc>
                <a:spcPct val="104000"/>
              </a:lnSpc>
              <a:spcBef>
                <a:spcPts val="300"/>
              </a:spcBef>
              <a:buFont typeface="Arial"/>
              <a:buChar char="•"/>
            </a:pPr>
            <a:r>
              <a:rPr lang="en-US" sz="1500" dirty="0">
                <a:solidFill>
                  <a:srgbClr val="000000"/>
                </a:solidFill>
                <a:latin typeface="Segoe UI"/>
                <a:cs typeface="Segoe UI"/>
              </a:rPr>
              <a:t>Tóm tắt: câu hỏi và kết quả</a:t>
            </a:r>
          </a:p>
          <a:p>
            <a:pPr marL="274320" indent="-274320" algn="l">
              <a:lnSpc>
                <a:spcPct val="104000"/>
              </a:lnSpc>
              <a:spcBef>
                <a:spcPts val="300"/>
              </a:spcBef>
              <a:buFont typeface="Arial"/>
              <a:buChar char="•"/>
            </a:pPr>
            <a:r>
              <a:rPr lang="en-US" sz="1500" dirty="0">
                <a:solidFill>
                  <a:srgbClr val="000000"/>
                </a:solidFill>
                <a:latin typeface="Segoe UI"/>
                <a:cs typeface="Segoe UI"/>
              </a:rPr>
              <a:t>Phương pháp: thiết kế, làm mù, kết cục</a:t>
            </a:r>
          </a:p>
          <a:p>
            <a:pPr marL="274320" indent="-274320" algn="l">
              <a:lnSpc>
                <a:spcPct val="104000"/>
              </a:lnSpc>
              <a:spcBef>
                <a:spcPts val="300"/>
              </a:spcBef>
              <a:buFont typeface="Arial"/>
              <a:buChar char="•"/>
            </a:pPr>
            <a:r>
              <a:rPr lang="en-US" sz="1500" dirty="0">
                <a:solidFill>
                  <a:srgbClr val="000000"/>
                </a:solidFill>
                <a:latin typeface="Segoe UI"/>
                <a:cs typeface="Segoe UI"/>
              </a:rPr>
              <a:t>Bảng 1: các nhóm tương đồng?</a:t>
            </a:r>
          </a:p>
          <a:p>
            <a:pPr marL="274320" indent="-274320" algn="l">
              <a:lnSpc>
                <a:spcPct val="104000"/>
              </a:lnSpc>
              <a:spcBef>
                <a:spcPts val="300"/>
              </a:spcBef>
              <a:buFont typeface="Arial"/>
              <a:buChar char="•"/>
            </a:pPr>
            <a:r>
              <a:rPr lang="en-US" sz="1500" dirty="0">
                <a:solidFill>
                  <a:srgbClr val="000000"/>
                </a:solidFill>
                <a:latin typeface="Segoe UI"/>
                <a:cs typeface="Segoe UI"/>
              </a:rPr>
              <a:t>Bàn luận: lời văn và hạn chế</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Segoe UI"/>
                <a:cs typeface="Segoe UI"/>
              </a:rPr>
              <a:t>SẢN PHẨM   </a:t>
            </a:r>
            <a:r>
              <a:rPr lang="en-US" sz="1500" dirty="0">
                <a:solidFill>
                  <a:srgbClr val="000000"/>
                </a:solidFill>
                <a:latin typeface="Segoe UI"/>
                <a:cs typeface="Segoe UI"/>
              </a:rPr>
              <a:t>Phiếu trả lời hoàn chỉnh + nhận định một câu của mỗi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Mỗi thiết kế được phép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Phân nhóm ngẫu nhiên mới được nói 'gây ra'; quan sát chỉ được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Hai bài báo đặt cạnh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
                      </a:r>
                    </a:p>
                  </a:txBody>
                  <a:tcPr marL="73152" marR="73152" marT="36576" marB="36576" anchor="ctr">
                    <a:solidFill>
                      <a:srgbClr val="0D7377"/>
                    </a:solidFill>
                  </a:tcPr>
                </a:tc>
                <a:tc>
                  <a:txBody>
                    <a:bodyPr/>
                    <a:lstStyle/>
                    <a:p>
                      <a:pPr algn="l"/>
                      <a:r>
                        <a:rPr lang="en-US" sz="1500" b="1" dirty="0">
                          <a:solidFill>
                            <a:srgbClr val="FFFFFF"/>
                          </a:solidFill>
                          <a:latin typeface="Segoe UI"/>
                        </a:rPr>
                        <a:t>Bài 1 - RCT (Boulet 2024)</a:t>
                      </a:r>
                    </a:p>
                  </a:txBody>
                  <a:tcPr marL="73152" marR="73152" marT="36576" marB="36576" anchor="ctr">
                    <a:solidFill>
                      <a:srgbClr val="0D7377"/>
                    </a:solidFill>
                  </a:tcPr>
                </a:tc>
                <a:tc>
                  <a:txBody>
                    <a:bodyPr/>
                    <a:lstStyle/>
                    <a:p>
                      <a:pPr algn="l"/>
                      <a:r>
                        <a:rPr lang="en-US" sz="1500" b="1" dirty="0">
                          <a:solidFill>
                            <a:srgbClr val="FFFFFF"/>
                          </a:solidFill>
                          <a:latin typeface="Segoe UI"/>
                        </a:rPr>
                        <a:t>Bài 2 - đoàn hệ (Hyun 2023)</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Các nhóm tương đồng nhờ</a:t>
                      </a:r>
                    </a:p>
                  </a:txBody>
                  <a:tcPr marL="73152" marR="73152" marT="36576" marB="36576" anchor="ctr">
                    <a:solidFill>
                      <a:srgbClr val="FFFFFF"/>
                    </a:solidFill>
                  </a:tcPr>
                </a:tc>
                <a:tc>
                  <a:txBody>
                    <a:bodyPr/>
                    <a:lstStyle/>
                    <a:p>
                      <a:pPr algn="l"/>
                      <a:r>
                        <a:rPr lang="en-US" sz="1500" b="0" dirty="0">
                          <a:solidFill>
                            <a:srgbClr val="000000"/>
                          </a:solidFill>
                          <a:latin typeface="Segoe UI"/>
                        </a:rPr>
                        <a:t>Phân nhóm ngẫu nhiên 1:1 (khối 2)</a:t>
                      </a:r>
                    </a:p>
                  </a:txBody>
                  <a:tcPr marL="73152" marR="73152" marT="36576" marB="36576" anchor="ctr">
                    <a:solidFill>
                      <a:srgbClr val="FFFFFF"/>
                    </a:solidFill>
                  </a:tcPr>
                </a:tc>
                <a:tc>
                  <a:txBody>
                    <a:bodyPr/>
                    <a:lstStyle/>
                    <a:p>
                      <a:pPr algn="l"/>
                      <a:r>
                        <a:rPr lang="en-US" sz="1500" b="0" dirty="0">
                          <a:solidFill>
                            <a:srgbClr val="000000"/>
                          </a:solidFill>
                          <a:latin typeface="Segoe UI"/>
                        </a:rPr>
                        <a:t>Bắt cặp điểm xu hướng (chỉ yếu tố đã đo)</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Ai biết nhóm</a:t>
                      </a:r>
                    </a:p>
                  </a:txBody>
                  <a:tcPr marL="73152" marR="73152" marT="36576" marB="36576" anchor="ctr">
                    <a:solidFill>
                      <a:srgbClr val="FFFFFF"/>
                    </a:solidFill>
                  </a:tcPr>
                </a:tc>
                <a:tc>
                  <a:txBody>
                    <a:bodyPr/>
                    <a:lstStyle/>
                    <a:p>
                      <a:pPr algn="l"/>
                      <a:r>
                        <a:rPr lang="en-US" sz="1500" b="0" dirty="0">
                          <a:solidFill>
                            <a:srgbClr val="000000"/>
                          </a:solidFill>
                          <a:latin typeface="Segoe UI"/>
                        </a:rPr>
                        <a:t>Bác sĩ biết; bệnh nhân, thống kê được làm mù</a:t>
                      </a:r>
                    </a:p>
                  </a:txBody>
                  <a:tcPr marL="73152" marR="73152" marT="36576" marB="36576" anchor="ctr">
                    <a:solidFill>
                      <a:srgbClr val="FFFFFF"/>
                    </a:solidFill>
                  </a:tcPr>
                </a:tc>
                <a:tc>
                  <a:txBody>
                    <a:bodyPr/>
                    <a:lstStyle/>
                    <a:p>
                      <a:pPr algn="l"/>
                      <a:r>
                        <a:rPr lang="en-US" sz="1500" b="0" dirty="0">
                          <a:solidFill>
                            <a:srgbClr val="000000"/>
                          </a:solidFill>
                          <a:latin typeface="Segoe UI"/>
                        </a:rPr>
                        <a:t>Tất cả (quan sát)</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Kết quả chính</a:t>
                      </a:r>
                    </a:p>
                  </a:txBody>
                  <a:tcPr marL="73152" marR="73152" marT="36576" marB="36576" anchor="ctr">
                    <a:solidFill>
                      <a:srgbClr val="FFFFFF"/>
                    </a:solidFill>
                  </a:tcPr>
                </a:tc>
                <a:tc>
                  <a:txBody>
                    <a:bodyPr/>
                    <a:lstStyle/>
                    <a:p>
                      <a:pPr algn="l"/>
                      <a:r>
                        <a:rPr lang="en-US" sz="1500" b="0" dirty="0">
                          <a:solidFill>
                            <a:srgbClr val="000000"/>
                          </a:solidFill>
                          <a:latin typeface="Segoe UI"/>
                        </a:rPr>
                        <a:t>13,2 ml/kg (KTC 95% -15,2 đến 41,6), p = 0,42</a:t>
                      </a:r>
                    </a:p>
                  </a:txBody>
                  <a:tcPr marL="73152" marR="73152" marT="36576" marB="36576" anchor="ctr">
                    <a:solidFill>
                      <a:srgbClr val="FFFFFF"/>
                    </a:solidFill>
                  </a:tcPr>
                </a:tc>
                <a:tc>
                  <a:txBody>
                    <a:bodyPr/>
                    <a:lstStyle/>
                    <a:p>
                      <a:pPr algn="l"/>
                      <a:r>
                        <a:rPr lang="en-US" sz="1500" b="0" dirty="0">
                          <a:solidFill>
                            <a:srgbClr val="000000"/>
                          </a:solidFill>
                          <a:latin typeface="Segoe UI"/>
                        </a:rPr>
                        <a:t>Ngày 2: HR 2,13 (1,48 đến 3,06)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Hạn chế bị bỏ sót</a:t>
                      </a:r>
                    </a:p>
                  </a:txBody>
                  <a:tcPr marL="73152" marR="73152" marT="36576" marB="36576" anchor="ctr">
                    <a:solidFill>
                      <a:srgbClr val="FFFFFF"/>
                    </a:solidFill>
                  </a:tcPr>
                </a:tc>
                <a:tc>
                  <a:txBody>
                    <a:bodyPr/>
                    <a:lstStyle/>
                    <a:p>
                      <a:pPr algn="l"/>
                      <a:r>
                        <a:rPr lang="en-US" sz="1500" b="0" dirty="0">
                          <a:solidFill>
                            <a:srgbClr val="000000"/>
                          </a:solidFill>
                          <a:latin typeface="Segoe UI"/>
                        </a:rPr>
                        <a:t>Khối 2 với bác sĩ không bị làm mù</a:t>
                      </a:r>
                    </a:p>
                  </a:txBody>
                  <a:tcPr marL="73152" marR="73152" marT="36576" marB="36576" anchor="ctr">
                    <a:solidFill>
                      <a:srgbClr val="FFFFFF"/>
                    </a:solidFill>
                  </a:tcPr>
                </a:tc>
                <a:tc>
                  <a:txBody>
                    <a:bodyPr/>
                    <a:lstStyle/>
                    <a:p>
                      <a:pPr algn="l"/>
                      <a:r>
                        <a:rPr lang="en-US" sz="1500" b="0" dirty="0">
                          <a:solidFill>
                            <a:srgbClr val="000000"/>
                          </a:solidFill>
                          <a:latin typeface="Segoe UI"/>
                        </a:rPr>
                        <a:t>Sai lệch sống sót (nằm ICU từ 3 ngày)</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Lỗi lời văn</a:t>
                      </a:r>
                    </a:p>
                  </a:txBody>
                  <a:tcPr marL="73152" marR="73152" marT="36576" marB="36576" anchor="ctr">
                    <a:solidFill>
                      <a:srgbClr val="FFFFFF"/>
                    </a:solidFill>
                  </a:tcPr>
                </a:tc>
                <a:tc>
                  <a:txBody>
                    <a:bodyPr/>
                    <a:lstStyle/>
                    <a:p>
                      <a:pPr algn="l"/>
                      <a:r>
                        <a:rPr lang="en-US" sz="1500" b="0" dirty="0">
                          <a:solidFill>
                            <a:srgbClr val="000000"/>
                          </a:solidFill>
                          <a:latin typeface="Segoe UI"/>
                        </a:rPr>
                        <a:t>'Xu hướng không có ý nghĩa' (p = 0,42)</a:t>
                      </a:r>
                    </a:p>
                  </a:txBody>
                  <a:tcPr marL="73152" marR="73152" marT="36576" marB="36576" anchor="ctr">
                    <a:solidFill>
                      <a:srgbClr val="FFFFFF"/>
                    </a:solidFill>
                  </a:tcPr>
                </a:tc>
                <a:tc>
                  <a:txBody>
                    <a:bodyPr/>
                    <a:lstStyle/>
                    <a:p>
                      <a:pPr algn="l"/>
                      <a:r>
                        <a:rPr lang="en-US" sz="1500" b="0" dirty="0">
                          <a:solidFill>
                            <a:srgbClr val="000000"/>
                          </a:solidFill>
                          <a:latin typeface="Segoe UI"/>
                        </a:rPr>
                        <a:t>'Impact', 'did not impact', 'show'</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Được kết luận</a:t>
                      </a:r>
                    </a:p>
                  </a:txBody>
                  <a:tcPr marL="73152" marR="73152" marT="36576" marB="36576" anchor="ctr">
                    <a:solidFill>
                      <a:srgbClr val="FFFFFF"/>
                    </a:solidFill>
                  </a:tcPr>
                </a:tc>
                <a:tc>
                  <a:txBody>
                    <a:bodyPr/>
                    <a:lstStyle/>
                    <a:p>
                      <a:pPr algn="l"/>
                      <a:r>
                        <a:rPr lang="en-US" sz="1500" b="0" dirty="0">
                          <a:solidFill>
                            <a:srgbClr val="000000"/>
                          </a:solidFill>
                          <a:latin typeface="Segoe UI"/>
                        </a:rPr>
                        <a:t>Không giảm cân bằng dịch ngày 5 (thí điểm nhỏ)</a:t>
                      </a:r>
                    </a:p>
                  </a:txBody>
                  <a:tcPr marL="73152" marR="73152" marT="36576" marB="36576" anchor="ctr">
                    <a:solidFill>
                      <a:srgbClr val="FFFFFF"/>
                    </a:solidFill>
                  </a:tcPr>
                </a:tc>
                <a:tc>
                  <a:txBody>
                    <a:bodyPr/>
                    <a:lstStyle/>
                    <a:p>
                      <a:pPr algn="l"/>
                      <a:r>
                        <a:rPr lang="en-US" sz="1500" b="0" dirty="0">
                          <a:solidFill>
                            <a:srgbClr val="000000"/>
                          </a:solidFill>
                          <a:latin typeface="Segoe UI"/>
                        </a:rPr>
                        <a:t>Cân bằng dương liên quan tử vong</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Số trang và chi tiết: Resources/appraisal_instructor_guide.md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Thảo luận chung: mỗi thiết kế được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THẢO LUẬN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1F5C7A"/>
                </a:solidFill>
                <a:latin typeface="Segoe UI"/>
                <a:cs typeface="Segoe UI"/>
              </a:rPr>
              <a:t>1.  </a:t>
            </a:r>
            <a:r>
              <a:rPr lang="en-US" sz="1650" dirty="0">
                <a:solidFill>
                  <a:srgbClr val="000000"/>
                </a:solidFill>
                <a:latin typeface="Segoe UI"/>
                <a:cs typeface="Segoe UI"/>
              </a:rPr>
              <a:t>Nhóm 1 và 4 báo cáo câu 1-4 (mỗi nhóm 1 phút)</a:t>
            </a:r>
          </a:p>
          <a:p>
            <a:pPr marL="380000" indent="-380000" algn="l">
              <a:lnSpc>
                <a:spcPct val="104000"/>
              </a:lnSpc>
              <a:spcBef>
                <a:spcPts val="450"/>
              </a:spcBef>
              <a:buNone/>
            </a:pPr>
            <a:r>
              <a:rPr lang="en-US" sz="1650" b="1" dirty="0">
                <a:solidFill>
                  <a:srgbClr val="1F5C7A"/>
                </a:solidFill>
                <a:latin typeface="Segoe UI"/>
                <a:cs typeface="Segoe UI"/>
              </a:rPr>
              <a:t>2.  </a:t>
            </a:r>
            <a:r>
              <a:rPr lang="en-US" sz="1650" dirty="0">
                <a:solidFill>
                  <a:srgbClr val="000000"/>
                </a:solidFill>
                <a:latin typeface="Segoe UI"/>
                <a:cs typeface="Segoe UI"/>
              </a:rPr>
              <a:t>Nhóm 2 và 5 báo cáo câu 5-8 (mỗi nhóm 1 phút)</a:t>
            </a:r>
          </a:p>
          <a:p>
            <a:pPr marL="380000" indent="-380000" algn="l">
              <a:lnSpc>
                <a:spcPct val="104000"/>
              </a:lnSpc>
              <a:spcBef>
                <a:spcPts val="450"/>
              </a:spcBef>
              <a:buNone/>
            </a:pPr>
            <a:r>
              <a:rPr lang="en-US" sz="1650" b="1" dirty="0">
                <a:solidFill>
                  <a:srgbClr val="1F5C7A"/>
                </a:solidFill>
                <a:latin typeface="Segoe UI"/>
                <a:cs typeface="Segoe UI"/>
              </a:rPr>
              <a:t>3.  </a:t>
            </a:r>
            <a:r>
              <a:rPr lang="en-US" sz="1650" dirty="0">
                <a:solidFill>
                  <a:srgbClr val="000000"/>
                </a:solidFill>
                <a:latin typeface="Segoe UI"/>
                <a:cs typeface="Segoe UI"/>
              </a:rPr>
              <a:t>Nhóm 3 báo cáo câu 9-10 cho Bài 1</a:t>
            </a:r>
          </a:p>
          <a:p>
            <a:pPr marL="380000" indent="-380000" algn="l">
              <a:lnSpc>
                <a:spcPct val="104000"/>
              </a:lnSpc>
              <a:spcBef>
                <a:spcPts val="450"/>
              </a:spcBef>
              <a:buNone/>
            </a:pPr>
            <a:r>
              <a:rPr lang="en-US" sz="1650" b="1" dirty="0">
                <a:solidFill>
                  <a:srgbClr val="1F5C7A"/>
                </a:solidFill>
                <a:latin typeface="Segoe UI"/>
                <a:cs typeface="Segoe UI"/>
              </a:rPr>
              <a:t>4.  </a:t>
            </a:r>
            <a:r>
              <a:rPr lang="en-US" sz="1650" dirty="0">
                <a:solidFill>
                  <a:srgbClr val="000000"/>
                </a:solidFill>
                <a:latin typeface="Segoe UI"/>
                <a:cs typeface="Segoe UI"/>
              </a:rPr>
              <a:t>So sánh câu 4, 5 và 8 giữa hai bài</a:t>
            </a:r>
          </a:p>
          <a:p>
            <a:pPr marL="380000" indent="-380000" algn="l">
              <a:lnSpc>
                <a:spcPct val="104000"/>
              </a:lnSpc>
              <a:spcBef>
                <a:spcPts val="450"/>
              </a:spcBef>
              <a:buNone/>
            </a:pPr>
            <a:r>
              <a:rPr lang="en-US" sz="1650" b="1" dirty="0">
                <a:solidFill>
                  <a:srgbClr val="1F5C7A"/>
                </a:solidFill>
                <a:latin typeface="Segoe UI"/>
                <a:cs typeface="Segoe UI"/>
              </a:rPr>
              <a:t>5.  </a:t>
            </a:r>
            <a:r>
              <a:rPr lang="en-US" sz="1650" dirty="0">
                <a:solidFill>
                  <a:srgbClr val="000000"/>
                </a:solidFill>
                <a:latin typeface="Segoe UI"/>
                <a:cs typeface="Segoe UI"/>
              </a:rPr>
              <a:t>Biểu quyết câu 10: bài nào sẽ thay đổi thực hành ở khoa ta?</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1F5C7A"/>
                </a:solidFill>
                <a:latin typeface="Segoe UI"/>
                <a:cs typeface="Segoe UI"/>
              </a:rPr>
              <a:t>Chốt các thông điệp</a:t>
            </a:r>
          </a:p>
          <a:p>
            <a:pPr marL="274320" indent="-274320" algn="l">
              <a:lnSpc>
                <a:spcPct val="104000"/>
              </a:lnSpc>
              <a:spcBef>
                <a:spcPts val="300"/>
              </a:spcBef>
              <a:buFont typeface="Arial"/>
              <a:buChar char="•"/>
            </a:pPr>
            <a:r>
              <a:rPr lang="en-US" sz="1500" dirty="0">
                <a:solidFill>
                  <a:srgbClr val="000000"/>
                </a:solidFill>
                <a:latin typeface="Segoe UI"/>
                <a:cs typeface="Segoe UI"/>
              </a:rPr>
              <a:t>Thiết kế quyết định động từ: gây ra hay liên quan</a:t>
            </a:r>
          </a:p>
          <a:p>
            <a:pPr marL="274320" indent="-274320" algn="l">
              <a:lnSpc>
                <a:spcPct val="104000"/>
              </a:lnSpc>
              <a:spcBef>
                <a:spcPts val="300"/>
              </a:spcBef>
              <a:buFont typeface="Arial"/>
              <a:buChar char="•"/>
            </a:pPr>
            <a:r>
              <a:rPr lang="en-US" sz="1500" dirty="0">
                <a:solidFill>
                  <a:srgbClr val="000000"/>
                </a:solidFill>
                <a:latin typeface="Segoe UI"/>
                <a:cs typeface="Segoe UI"/>
              </a:rPr>
              <a:t>KTC rộng nghĩa là 'chưa biết'</a:t>
            </a:r>
          </a:p>
          <a:p>
            <a:pPr marL="274320" indent="-274320" algn="l">
              <a:lnSpc>
                <a:spcPct val="104000"/>
              </a:lnSpc>
              <a:spcBef>
                <a:spcPts val="300"/>
              </a:spcBef>
              <a:buFont typeface="Arial"/>
              <a:buChar char="•"/>
            </a:pPr>
            <a:r>
              <a:rPr lang="en-US" sz="1500" dirty="0">
                <a:solidFill>
                  <a:srgbClr val="000000"/>
                </a:solidFill>
                <a:latin typeface="Segoe UI"/>
                <a:cs typeface="Segoe UI"/>
              </a:rPr>
              <a:t>Đã đăng không có nghĩa là đúng</a:t>
            </a:r>
          </a:p>
          <a:p>
            <a:pPr marL="274320" indent="-274320" algn="l">
              <a:lnSpc>
                <a:spcPct val="104000"/>
              </a:lnSpc>
              <a:spcBef>
                <a:spcPts val="300"/>
              </a:spcBef>
              <a:buFont typeface="Arial"/>
              <a:buChar char="•"/>
            </a:pPr>
            <a:r>
              <a:rPr lang="en-US" sz="1500" dirty="0">
                <a:solidFill>
                  <a:srgbClr val="000000"/>
                </a:solidFill>
                <a:latin typeface="Segoe UI"/>
                <a:cs typeface="Segoe UI"/>
              </a:rPr>
              <a:t>Ghi tên hướng dẫn báo cáo: CONSORT, STROBE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Segoe UI"/>
                <a:cs typeface="Segoe UI"/>
              </a:rPr>
              <a:t>SẢN PHẨM   </a:t>
            </a:r>
            <a:r>
              <a:rPr lang="en-US" sz="1500" dirty="0">
                <a:solidFill>
                  <a:srgbClr val="000000"/>
                </a:solidFill>
                <a:latin typeface="Segoe UI"/>
                <a:cs typeface="Segoe UI"/>
              </a:rPr>
              <a:t>Mỗi nhóm nêu bài của mình được và không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khóa của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Segoe UI"/>
                        </a:rPr>
                        <a:t>Thuật ngữ</a:t>
                      </a:r>
                    </a:p>
                  </a:txBody>
                  <a:tcPr marL="73152" marR="73152" marT="36576" marB="36576" anchor="ctr">
                    <a:solidFill>
                      <a:srgbClr val="0D7377"/>
                    </a:solidFill>
                  </a:tcPr>
                </a:tc>
                <a:tc>
                  <a:txBody>
                    <a:bodyPr/>
                    <a:lstStyle/>
                    <a:p>
                      <a:pPr algn="l"/>
                      <a:r>
                        <a:rPr lang="en-US" sz="1500" b="1" dirty="0">
                          <a:solidFill>
                            <a:srgbClr val="FFFFFF"/>
                          </a:solidFill>
                          <a:latin typeface="Segoe UI"/>
                        </a:rPr>
                        <a:t>Nói đơn giản</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Phễu Đặt vấn đề</a:t>
                      </a:r>
                    </a:p>
                  </a:txBody>
                  <a:tcPr marL="73152" marR="73152" marT="36576" marB="36576" anchor="ctr">
                    <a:solidFill>
                      <a:srgbClr val="FFFFFF"/>
                    </a:solidFill>
                  </a:tcPr>
                </a:tc>
                <a:tc>
                  <a:txBody>
                    <a:bodyPr/>
                    <a:lstStyle/>
                    <a:p>
                      <a:pPr algn="l"/>
                      <a:r>
                        <a:rPr lang="en-US" sz="1500" b="0" dirty="0">
                          <a:solidFill>
                            <a:srgbClr val="000000"/>
                          </a:solidFill>
                          <a:latin typeface="Segoe UI"/>
                        </a:rPr>
                        <a:t>Đã biết -&gt; chưa biết -&gt; mục tiêu, trong ba đoạn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Sáu bước</a:t>
                      </a:r>
                    </a:p>
                  </a:txBody>
                  <a:tcPr marL="73152" marR="73152" marT="36576" marB="36576" anchor="ctr">
                    <a:solidFill>
                      <a:srgbClr val="FFFFFF"/>
                    </a:solidFill>
                  </a:tcPr>
                </a:tc>
                <a:tc>
                  <a:txBody>
                    <a:bodyPr/>
                    <a:lstStyle/>
                    <a:p>
                      <a:pPr algn="l"/>
                      <a:r>
                        <a:rPr lang="en-US" sz="1500" b="0" dirty="0">
                          <a:solidFill>
                            <a:srgbClr val="000000"/>
                          </a:solidFill>
                          <a:latin typeface="Segoe UI"/>
                        </a:rPr>
                        <a:t>Trả lời, so sánh, giải thích, hạn chế, hàm ý, kết luận</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Lời văn tương xứng</a:t>
                      </a:r>
                    </a:p>
                  </a:txBody>
                  <a:tcPr marL="73152" marR="73152" marT="36576" marB="36576" anchor="ctr">
                    <a:solidFill>
                      <a:srgbClr val="FFFFFF"/>
                    </a:solidFill>
                  </a:tcPr>
                </a:tc>
                <a:tc>
                  <a:txBody>
                    <a:bodyPr/>
                    <a:lstStyle/>
                    <a:p>
                      <a:pPr algn="l"/>
                      <a:r>
                        <a:rPr lang="en-US" sz="1500" b="0" dirty="0">
                          <a:solidFill>
                            <a:srgbClr val="000000"/>
                          </a:solidFill>
                          <a:latin typeface="Segoe UI"/>
                        </a:rPr>
                        <a:t>Động từ mạnh đúng mức thiết kế cho phép ('liên quan', không 'gây ra')</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Tạp chí săn mồi</a:t>
                      </a:r>
                    </a:p>
                  </a:txBody>
                  <a:tcPr marL="73152" marR="73152" marT="36576" marB="36576" anchor="ctr">
                    <a:solidFill>
                      <a:srgbClr val="FFFFFF"/>
                    </a:solidFill>
                  </a:tcPr>
                </a:tc>
                <a:tc>
                  <a:txBody>
                    <a:bodyPr/>
                    <a:lstStyle/>
                    <a:p>
                      <a:pPr algn="l"/>
                      <a:r>
                        <a:rPr lang="en-US" sz="1500" b="0" dirty="0">
                          <a:solidFill>
                            <a:srgbClr val="000000"/>
                          </a:solidFill>
                          <a:latin typeface="Segoe UI"/>
                        </a:rPr>
                        <a:t>Thu phí mà không phản biện hay chỉ mục thực sự</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Trả lời từng ý</a:t>
                      </a:r>
                    </a:p>
                  </a:txBody>
                  <a:tcPr marL="73152" marR="73152" marT="36576" marB="36576" anchor="ctr">
                    <a:solidFill>
                      <a:srgbClr val="FFFFFF"/>
                    </a:solidFill>
                  </a:tcPr>
                </a:tc>
                <a:tc>
                  <a:txBody>
                    <a:bodyPr/>
                    <a:lstStyle/>
                    <a:p>
                      <a:pPr algn="l"/>
                      <a:r>
                        <a:rPr lang="en-US" sz="1500" b="0" dirty="0">
                          <a:solidFill>
                            <a:srgbClr val="000000"/>
                          </a:solidFill>
                          <a:latin typeface="Segoe UI"/>
                        </a:rPr>
                        <a:t>Bảng trả lời mọi nhận xét phản biện kèm chỗ đã sửa</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Tiền ấn phẩm</a:t>
                      </a:r>
                    </a:p>
                  </a:txBody>
                  <a:tcPr marL="73152" marR="73152" marT="36576" marB="36576" anchor="ctr">
                    <a:solidFill>
                      <a:srgbClr val="FFFFFF"/>
                    </a:solidFill>
                  </a:tcPr>
                </a:tc>
                <a:tc>
                  <a:txBody>
                    <a:bodyPr/>
                    <a:lstStyle/>
                    <a:p>
                      <a:pPr algn="l"/>
                      <a:r>
                        <a:rPr lang="en-US" sz="1500" b="0" dirty="0">
                          <a:solidFill>
                            <a:srgbClr val="000000"/>
                          </a:solidFill>
                          <a:latin typeface="Segoe UI"/>
                        </a:rPr>
                        <a:t>Bản thảo công khai trước khi phản biện</a:t>
                      </a:r>
                    </a:p>
                  </a:txBody>
                  <a:tcPr marL="73152" marR="73152" marT="36576" marB="36576" anchor="ctr">
                    <a:solidFill>
                      <a:srgbClr val="FFFFFF"/>
                    </a:solidFill>
                  </a:tcPr>
                </a:tc>
              </a:tr>
            </a:tbl>
          </a:graphicData>
        </a:graphic>
      </p:graphicFrame>
      <p:sp>
        <p:nvSpPr>
          <p:cNvPr id="31" name="Caption"/>
          <p:cNvSpPr txBox="1"/>
          <p:nvPr/>
        </p:nvSpPr>
        <p:spPr>
          <a:xfrm>
            <a:off x="457200" y="453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Bảng thuật ngữ đầy đủ (Anh-Việt): Course/References/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Từ câu hỏi đến công bố: những gì bạn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Bảo vệ</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Đạo đức, chấp thuận, đăng ký</a:t>
            </a:r>
          </a:p>
          <a:p>
            <a:pPr marL="0" indent="0" algn="l">
              <a:lnSpc>
                <a:spcPct val="104000"/>
              </a:lnSpc>
              <a:spcBef>
                <a:spcPts val="400"/>
              </a:spcBef>
              <a:buNone/>
            </a:pPr>
            <a:r>
              <a:rPr lang="en-US" sz="1600" dirty="0">
                <a:solidFill>
                  <a:srgbClr val="000000"/>
                </a:solidFill>
                <a:latin typeface="Segoe UI"/>
                <a:cs typeface="Segoe UI"/>
              </a:rPr>
              <a:t>Dữ liệu và tác giả trung thực</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Viết</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IMRaD đúng thứ tự</a:t>
            </a:r>
          </a:p>
          <a:p>
            <a:pPr marL="0" indent="0" algn="l">
              <a:lnSpc>
                <a:spcPct val="104000"/>
              </a:lnSpc>
              <a:spcBef>
                <a:spcPts val="400"/>
              </a:spcBef>
              <a:buNone/>
            </a:pPr>
            <a:r>
              <a:rPr lang="en-US" sz="1600" dirty="0">
                <a:solidFill>
                  <a:srgbClr val="000000"/>
                </a:solidFill>
                <a:latin typeface="Segoe UI"/>
                <a:cs typeface="Segoe UI"/>
              </a:rPr>
              <a:t>Con số kèm KTC</a:t>
            </a:r>
          </a:p>
          <a:p>
            <a:pPr marL="0" indent="0" algn="l">
              <a:lnSpc>
                <a:spcPct val="104000"/>
              </a:lnSpc>
              <a:spcBef>
                <a:spcPts val="400"/>
              </a:spcBef>
              <a:buNone/>
            </a:pPr>
            <a:r>
              <a:rPr lang="en-US" sz="1600" dirty="0">
                <a:solidFill>
                  <a:srgbClr val="000000"/>
                </a:solidFill>
                <a:latin typeface="Segoe UI"/>
                <a:cs typeface="Segoe UI"/>
              </a:rPr>
              <a:t>Động từ đúng thiết kế</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Công bố</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Bảng kiểm báo cáo</a:t>
            </a:r>
          </a:p>
          <a:p>
            <a:pPr marL="0" indent="0" algn="l">
              <a:lnSpc>
                <a:spcPct val="104000"/>
              </a:lnSpc>
              <a:spcBef>
                <a:spcPts val="400"/>
              </a:spcBef>
              <a:buNone/>
            </a:pPr>
            <a:r>
              <a:rPr lang="en-US" sz="1600" dirty="0">
                <a:solidFill>
                  <a:srgbClr val="000000"/>
                </a:solidFill>
                <a:latin typeface="Segoe UI"/>
                <a:cs typeface="Segoe UI"/>
              </a:rPr>
              <a:t>Tạp chí đáng tin</a:t>
            </a:r>
          </a:p>
          <a:p>
            <a:pPr marL="0" indent="0" algn="l">
              <a:lnSpc>
                <a:spcPct val="104000"/>
              </a:lnSpc>
              <a:spcBef>
                <a:spcPts val="400"/>
              </a:spcBef>
              <a:buNone/>
            </a:pPr>
            <a:r>
              <a:rPr lang="en-US" sz="1600" dirty="0">
                <a:solidFill>
                  <a:srgbClr val="000000"/>
                </a:solidFill>
                <a:latin typeface="Segoe UI"/>
                <a:cs typeface="Segoe UI"/>
              </a:rPr>
              <a:t>Trả lời lịch sự, đầy đủ</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Segoe UI"/>
                <a:cs typeface="Segoe UI"/>
              </a:rPr>
              <a:t>Phản biện</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Segoe UI"/>
                <a:cs typeface="Segoe UI"/>
              </a:rPr>
              <a:t>10 câu hỏi</a:t>
            </a:r>
          </a:p>
          <a:p>
            <a:pPr marL="0" indent="0" algn="l">
              <a:lnSpc>
                <a:spcPct val="104000"/>
              </a:lnSpc>
              <a:spcBef>
                <a:spcPts val="400"/>
              </a:spcBef>
              <a:buNone/>
            </a:pPr>
            <a:r>
              <a:rPr lang="en-US" sz="1600" dirty="0">
                <a:solidFill>
                  <a:srgbClr val="000000"/>
                </a:solidFill>
                <a:latin typeface="Segoe UI"/>
                <a:cs typeface="Segoe UI"/>
              </a:rPr>
              <a:t>Mỗi thiết kế được kết luận gì</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Tiếp theo: trình bày đề cương - và trao đổi bản thảo để phản biện.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nhóm trình bày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Đề cương và kế hoạch công bố của các bạn</a:t>
            </a:r>
          </a:p>
          <a:p>
            <a:pPr marL="0" indent="0" algn="ctr">
              <a:spcBef>
                <a:spcPts val="1200"/>
              </a:spcBef>
              <a:buNone/>
            </a:pPr>
            <a:r>
              <a:rPr lang="en-US" sz="1900" i="1" dirty="0">
                <a:solidFill>
                  <a:srgbClr val="595959"/>
                </a:solidFill>
                <a:latin typeface="Segoe UI"/>
                <a:cs typeface="Segoe UI"/>
              </a:rPr>
              <a:t>6 phút trình bày, 2 phút góp ý - tử tế và cụ thể</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Cách chấm điểm phần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28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Segoe UI"/>
                        </a:rPr>
                        <a:t>Tiêu chí</a:t>
                      </a:r>
                    </a:p>
                  </a:txBody>
                  <a:tcPr marL="73152" marR="73152" marT="36576" marB="36576" anchor="ctr">
                    <a:solidFill>
                      <a:srgbClr val="0D7377"/>
                    </a:solidFill>
                  </a:tcPr>
                </a:tc>
                <a:tc>
                  <a:txBody>
                    <a:bodyPr/>
                    <a:lstStyle/>
                    <a:p>
                      <a:pPr algn="l"/>
                      <a:r>
                        <a:rPr lang="en-US" sz="1500" b="1" dirty="0">
                          <a:solidFill>
                            <a:srgbClr val="FFFFFF"/>
                          </a:solidFill>
                          <a:latin typeface="Segoe UI"/>
                        </a:rPr>
                        <a:t>Điều chúng tôi tìm</a:t>
                      </a:r>
                    </a:p>
                  </a:txBody>
                  <a:tcPr marL="73152" marR="73152" marT="36576" marB="36576" anchor="ctr">
                    <a:solidFill>
                      <a:srgbClr val="0D7377"/>
                    </a:solidFill>
                  </a:tcPr>
                </a:tc>
                <a:tc>
                  <a:txBody>
                    <a:bodyPr/>
                    <a:lstStyle/>
                    <a:p>
                      <a:pPr algn="l"/>
                      <a:r>
                        <a:rPr lang="en-US" sz="1500" b="1" dirty="0">
                          <a:solidFill>
                            <a:srgbClr val="FFFFFF"/>
                          </a:solidFill>
                          <a:latin typeface="Segoe UI"/>
                        </a:rPr>
                        <a:t>Điểm</a:t>
                      </a:r>
                    </a:p>
                  </a:txBody>
                  <a:tcPr marL="73152" marR="73152" marT="36576" marB="36576" anchor="ctr">
                    <a:solidFill>
                      <a:srgbClr val="0D7377"/>
                    </a:solidFill>
                  </a:tcPr>
                </a:tc>
              </a:tr>
              <a:tr h="380000">
                <a:tc>
                  <a:txBody>
                    <a:bodyPr/>
                    <a:lstStyle/>
                    <a:p>
                      <a:pPr algn="l"/>
                      <a:r>
                        <a:rPr lang="en-US" sz="1500" b="0" dirty="0">
                          <a:solidFill>
                            <a:srgbClr val="000000"/>
                          </a:solidFill>
                          <a:latin typeface="Segoe UI"/>
                        </a:rPr>
                        <a:t>12  Cấu trúc &amp; nội dung</a:t>
                      </a:r>
                    </a:p>
                  </a:txBody>
                  <a:tcPr marL="73152" marR="73152" marT="36576" marB="36576" anchor="ctr">
                    <a:solidFill>
                      <a:srgbClr val="FFFFFF"/>
                    </a:solidFill>
                  </a:tcPr>
                </a:tc>
                <a:tc>
                  <a:txBody>
                    <a:bodyPr/>
                    <a:lstStyle/>
                    <a:p>
                      <a:pPr algn="l"/>
                      <a:r>
                        <a:rPr lang="en-US" sz="1500" b="0" dirty="0">
                          <a:solidFill>
                            <a:srgbClr val="000000"/>
                          </a:solidFill>
                          <a:latin typeface="Segoe UI"/>
                        </a:rPr>
                        <a:t>Đủ 6 slide; thấy rõ câu hỏi, thiết kế, kết cục, cỡ mẫu, đạo đức, tạp chí + hướng dẫn</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13  Rõ ràng</a:t>
                      </a:r>
                    </a:p>
                  </a:txBody>
                  <a:tcPr marL="73152" marR="73152" marT="36576" marB="36576" anchor="ctr">
                    <a:solidFill>
                      <a:srgbClr val="FFFFFF"/>
                    </a:solidFill>
                  </a:tcPr>
                </a:tc>
                <a:tc>
                  <a:txBody>
                    <a:bodyPr/>
                    <a:lstStyle/>
                    <a:p>
                      <a:pPr algn="l"/>
                      <a:r>
                        <a:rPr lang="en-US" sz="1500" b="0" dirty="0">
                          <a:solidFill>
                            <a:srgbClr val="000000"/>
                          </a:solidFill>
                          <a:latin typeface="Segoe UI"/>
                        </a:rPr>
                        <a:t>Mọi ngành nghề đều hiểu; mỗi slide một thông điệp</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14  Hình thức slide</a:t>
                      </a:r>
                    </a:p>
                  </a:txBody>
                  <a:tcPr marL="73152" marR="73152" marT="36576" marB="36576" anchor="ctr">
                    <a:solidFill>
                      <a:srgbClr val="FFFFFF"/>
                    </a:solidFill>
                  </a:tcPr>
                </a:tc>
                <a:tc>
                  <a:txBody>
                    <a:bodyPr/>
                    <a:lstStyle/>
                    <a:p>
                      <a:pPr algn="l"/>
                      <a:r>
                        <a:rPr lang="en-US" sz="1500" b="0" dirty="0">
                          <a:solidFill>
                            <a:srgbClr val="000000"/>
                          </a:solidFill>
                          <a:latin typeface="Segoe UI"/>
                        </a:rPr>
                        <a:t>Đọc được từ cuối phòng; hình ảnh thay cho khối chữ</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15  Thời gian</a:t>
                      </a:r>
                    </a:p>
                  </a:txBody>
                  <a:tcPr marL="73152" marR="73152" marT="36576" marB="36576" anchor="ctr">
                    <a:solidFill>
                      <a:srgbClr val="FFFFFF"/>
                    </a:solidFill>
                  </a:tcPr>
                </a:tc>
                <a:tc>
                  <a:txBody>
                    <a:bodyPr/>
                    <a:lstStyle/>
                    <a:p>
                      <a:pPr algn="l"/>
                      <a:r>
                        <a:rPr lang="en-US" sz="1500" b="0" dirty="0">
                          <a:solidFill>
                            <a:srgbClr val="000000"/>
                          </a:solidFill>
                          <a:latin typeface="Segoe UI"/>
                        </a:rPr>
                        <a:t>Kết thúc trong khoảng 5:00 đến 6:00</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r h="380000">
                <a:tc>
                  <a:txBody>
                    <a:bodyPr/>
                    <a:lstStyle/>
                    <a:p>
                      <a:pPr algn="l"/>
                      <a:r>
                        <a:rPr lang="en-US" sz="1500" b="0" dirty="0">
                          <a:solidFill>
                            <a:srgbClr val="000000"/>
                          </a:solidFill>
                          <a:latin typeface="Segoe UI"/>
                        </a:rPr>
                        <a:t>16  Trả lời &amp; làm việc nhóm</a:t>
                      </a:r>
                    </a:p>
                  </a:txBody>
                  <a:tcPr marL="73152" marR="73152" marT="36576" marB="36576" anchor="ctr">
                    <a:solidFill>
                      <a:srgbClr val="FFFFFF"/>
                    </a:solidFill>
                  </a:tcPr>
                </a:tc>
                <a:tc>
                  <a:txBody>
                    <a:bodyPr/>
                    <a:lstStyle/>
                    <a:p>
                      <a:pPr algn="l"/>
                      <a:r>
                        <a:rPr lang="en-US" sz="1500" b="0" dirty="0">
                          <a:solidFill>
                            <a:srgbClr val="000000"/>
                          </a:solidFill>
                          <a:latin typeface="Segoe UI"/>
                        </a:rPr>
                        <a:t>Trả lời thẳng, trung thực; nhiều thành viên tham gia</a:t>
                      </a:r>
                    </a:p>
                  </a:txBody>
                  <a:tcPr marL="73152" marR="73152" marT="36576" marB="36576" anchor="ctr">
                    <a:solidFill>
                      <a:srgbClr val="FFFFFF"/>
                    </a:solidFill>
                  </a:tcPr>
                </a:tc>
                <a:tc>
                  <a:txBody>
                    <a:bodyPr/>
                    <a:lstStyle/>
                    <a:p>
                      <a:pPr algn="l"/>
                      <a:r>
                        <a:rPr lang="en-US" sz="1500" b="0" dirty="0">
                          <a:solidFill>
                            <a:srgbClr val="000000"/>
                          </a:solidFill>
                          <a:latin typeface="Segoe UI"/>
                        </a:rPr>
                        <a:t>0-6</a:t>
                      </a:r>
                    </a:p>
                  </a:txBody>
                  <a:tcPr marL="73152" marR="73152" marT="36576" marB="36576" anchor="ctr">
                    <a:solidFill>
                      <a:srgbClr val="FFFFFF"/>
                    </a:solidFill>
                  </a:tcPr>
                </a:tc>
              </a:tr>
            </a:tbl>
          </a:graphicData>
        </a:graphic>
      </p:graphicFrame>
      <p:sp>
        <p:nvSpPr>
          <p:cNvPr id="31" name="Caption"/>
          <p:cNvSpPr txBox="1"/>
          <p:nvPr/>
        </p:nvSpPr>
        <p:spPr>
          <a:xfrm>
            <a:off x="457200" y="4060000"/>
            <a:ext cx="11277600" cy="50000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Segoe UI"/>
                <a:cs typeface="Segoe UI"/>
              </a:rPr>
              <a:t>6 xuất sắc, 4 tốt, 2 cần cải thiện, 0 chưa có = trình bày /30.  Đề cương viết + kế hoạch công bố /70 chấm sau khóa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Thứ tự trình bày và bấm giờ</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Khi thẻ đỏ giơ lên, hãy nói hết câu và dừng.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Các nhóm trình bày đề cương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NHÓM TRÌNH BÀY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070C0"/>
                </a:solidFill>
                <a:latin typeface="Segoe UI"/>
                <a:cs typeface="Segoe UI"/>
              </a:rPr>
              <a:t>1.  </a:t>
            </a:r>
            <a:r>
              <a:rPr lang="en-US" sz="1650" dirty="0">
                <a:solidFill>
                  <a:srgbClr val="000000"/>
                </a:solidFill>
                <a:latin typeface="Segoe UI"/>
                <a:cs typeface="Segoe UI"/>
              </a:rPr>
              <a:t>6 phút, 6 slide: câu hỏi, thiết kế, dữ liệu và phân tích, đạo đức và khả thi, kế hoạch công bố (tiêu đề, tạp chí, hướng dẫn, tóm tắt)</a:t>
            </a:r>
          </a:p>
          <a:p>
            <a:pPr marL="380000" indent="-380000" algn="l">
              <a:lnSpc>
                <a:spcPct val="104000"/>
              </a:lnSpc>
              <a:spcBef>
                <a:spcPts val="450"/>
              </a:spcBef>
              <a:buNone/>
            </a:pPr>
            <a:r>
              <a:rPr lang="en-US" sz="1650" b="1" dirty="0">
                <a:solidFill>
                  <a:srgbClr val="0070C0"/>
                </a:solidFill>
                <a:latin typeface="Segoe UI"/>
                <a:cs typeface="Segoe UI"/>
              </a:rPr>
              <a:t>2.  </a:t>
            </a:r>
            <a:r>
              <a:rPr lang="en-US" sz="1650" dirty="0">
                <a:solidFill>
                  <a:srgbClr val="000000"/>
                </a:solidFill>
                <a:latin typeface="Segoe UI"/>
                <a:cs typeface="Segoe UI"/>
              </a:rPr>
              <a:t>Người bấm giờ: xanh lúc 4:00, vàng lúc 5:00, đỏ lúc 6:00</a:t>
            </a:r>
          </a:p>
          <a:p>
            <a:pPr marL="380000" indent="-380000" algn="l">
              <a:lnSpc>
                <a:spcPct val="104000"/>
              </a:lnSpc>
              <a:spcBef>
                <a:spcPts val="450"/>
              </a:spcBef>
              <a:buNone/>
            </a:pPr>
            <a:r>
              <a:rPr lang="en-US" sz="1650" b="1" dirty="0">
                <a:solidFill>
                  <a:srgbClr val="0070C0"/>
                </a:solidFill>
                <a:latin typeface="Segoe UI"/>
                <a:cs typeface="Segoe UI"/>
              </a:rPr>
              <a:t>3.  </a:t>
            </a:r>
            <a:r>
              <a:rPr lang="en-US" sz="1650" dirty="0">
                <a:solidFill>
                  <a:srgbClr val="000000"/>
                </a:solidFill>
                <a:latin typeface="Segoe UI"/>
                <a:cs typeface="Segoe UI"/>
              </a:rPr>
              <a:t>Góp ý 2 phút: nhóm đồng đẳng (hai ngôi sao và một mong muốn), rồi giảng viên</a:t>
            </a:r>
          </a:p>
          <a:p>
            <a:pPr marL="380000" indent="-380000" algn="l">
              <a:lnSpc>
                <a:spcPct val="104000"/>
              </a:lnSpc>
              <a:spcBef>
                <a:spcPts val="450"/>
              </a:spcBef>
              <a:buNone/>
            </a:pPr>
            <a:r>
              <a:rPr lang="en-US" sz="1650" b="1" dirty="0">
                <a:solidFill>
                  <a:srgbClr val="0070C0"/>
                </a:solidFill>
                <a:latin typeface="Segoe UI"/>
                <a:cs typeface="Segoe UI"/>
              </a:rPr>
              <a:t>4.  </a:t>
            </a:r>
            <a:r>
              <a:rPr lang="en-US" sz="1650" dirty="0">
                <a:solidFill>
                  <a:srgbClr val="000000"/>
                </a:solidFill>
                <a:latin typeface="Segoe UI"/>
                <a:cs typeface="Segoe UI"/>
              </a:rPr>
              <a:t>Nhóm đồng đẳng và giảng viên điền phiếu góp ý</a:t>
            </a:r>
          </a:p>
          <a:p>
            <a:pPr marL="380000" indent="-380000" algn="l">
              <a:lnSpc>
                <a:spcPct val="104000"/>
              </a:lnSpc>
              <a:spcBef>
                <a:spcPts val="450"/>
              </a:spcBef>
              <a:buNone/>
            </a:pPr>
            <a:r>
              <a:rPr lang="en-US" sz="1650" b="1" dirty="0">
                <a:solidFill>
                  <a:srgbClr val="0070C0"/>
                </a:solidFill>
                <a:latin typeface="Segoe UI"/>
                <a:cs typeface="Segoe UI"/>
              </a:rPr>
              <a:t>5.  </a:t>
            </a:r>
            <a:r>
              <a:rPr lang="en-US" sz="1650" dirty="0">
                <a:solidFill>
                  <a:srgbClr val="000000"/>
                </a:solidFill>
                <a:latin typeface="Segoe UI"/>
                <a:cs typeface="Segoe UI"/>
              </a:rPr>
              <a:t>Nhóm tiếp theo chuẩn bị trong lúc góp ý</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070C0"/>
                </a:solidFill>
                <a:latin typeface="Segoe UI"/>
                <a:cs typeface="Segoe UI"/>
              </a:rPr>
              <a:t>Thứ tự</a:t>
            </a:r>
          </a:p>
          <a:p>
            <a:pPr marL="274320" indent="-274320" algn="l">
              <a:lnSpc>
                <a:spcPct val="104000"/>
              </a:lnSpc>
              <a:spcBef>
                <a:spcPts val="300"/>
              </a:spcBef>
              <a:buFont typeface="Arial"/>
              <a:buChar char="•"/>
            </a:pPr>
            <a:r>
              <a:rPr lang="en-US" sz="1500" dirty="0">
                <a:solidFill>
                  <a:srgbClr val="000000"/>
                </a:solidFill>
                <a:latin typeface="Segoe UI"/>
                <a:cs typeface="Segoe UI"/>
              </a:rPr>
              <a:t>2:00  Nhóm 1</a:t>
            </a:r>
          </a:p>
          <a:p>
            <a:pPr marL="274320" indent="-274320" algn="l">
              <a:lnSpc>
                <a:spcPct val="104000"/>
              </a:lnSpc>
              <a:spcBef>
                <a:spcPts val="300"/>
              </a:spcBef>
              <a:buFont typeface="Arial"/>
              <a:buChar char="•"/>
            </a:pPr>
            <a:r>
              <a:rPr lang="en-US" sz="1500" dirty="0">
                <a:solidFill>
                  <a:srgbClr val="000000"/>
                </a:solidFill>
                <a:latin typeface="Segoe UI"/>
                <a:cs typeface="Segoe UI"/>
              </a:rPr>
              <a:t>2:08  Nhóm 2</a:t>
            </a:r>
          </a:p>
          <a:p>
            <a:pPr marL="274320" indent="-274320" algn="l">
              <a:lnSpc>
                <a:spcPct val="104000"/>
              </a:lnSpc>
              <a:spcBef>
                <a:spcPts val="300"/>
              </a:spcBef>
              <a:buFont typeface="Arial"/>
              <a:buChar char="•"/>
            </a:pPr>
            <a:r>
              <a:rPr lang="en-US" sz="1500" dirty="0">
                <a:solidFill>
                  <a:srgbClr val="000000"/>
                </a:solidFill>
                <a:latin typeface="Segoe UI"/>
                <a:cs typeface="Segoe UI"/>
              </a:rPr>
              <a:t>2:16  Nhóm 3</a:t>
            </a:r>
          </a:p>
          <a:p>
            <a:pPr marL="274320" indent="-274320" algn="l">
              <a:lnSpc>
                <a:spcPct val="104000"/>
              </a:lnSpc>
              <a:spcBef>
                <a:spcPts val="300"/>
              </a:spcBef>
              <a:buFont typeface="Arial"/>
              <a:buChar char="•"/>
            </a:pPr>
            <a:r>
              <a:rPr lang="en-US" sz="1500" dirty="0">
                <a:solidFill>
                  <a:srgbClr val="000000"/>
                </a:solidFill>
                <a:latin typeface="Segoe UI"/>
                <a:cs typeface="Segoe UI"/>
              </a:rPr>
              <a:t>2:24  Nhóm 4</a:t>
            </a:r>
          </a:p>
          <a:p>
            <a:pPr marL="274320" indent="-274320" algn="l">
              <a:lnSpc>
                <a:spcPct val="104000"/>
              </a:lnSpc>
              <a:spcBef>
                <a:spcPts val="300"/>
              </a:spcBef>
              <a:buFont typeface="Arial"/>
              <a:buChar char="•"/>
            </a:pPr>
            <a:r>
              <a:rPr lang="en-US" sz="1500" dirty="0">
                <a:solidFill>
                  <a:srgbClr val="000000"/>
                </a:solidFill>
                <a:latin typeface="Segoe UI"/>
                <a:cs typeface="Segoe UI"/>
              </a:rPr>
              <a:t>2:32  Nhóm 5</a:t>
            </a:r>
          </a:p>
          <a:p>
            <a:pPr marL="274320" indent="-274320" algn="l">
              <a:lnSpc>
                <a:spcPct val="104000"/>
              </a:lnSpc>
              <a:spcBef>
                <a:spcPts val="300"/>
              </a:spcBef>
              <a:buFont typeface="Arial"/>
              <a:buChar char="•"/>
            </a:pPr>
            <a:r>
              <a:rPr lang="en-US" sz="1500" dirty="0">
                <a:solidFill>
                  <a:srgbClr val="000000"/>
                </a:solidFill>
                <a:latin typeface="Segoe UI"/>
                <a:cs typeface="Segoe UI"/>
              </a:rPr>
              <a:t>2:40  Tóm tắt bản thảo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l">
              <a:buNone/>
            </a:pPr>
            <a:r>
              <a:rPr lang="en-US" sz="1300" b="1" dirty="0">
                <a:solidFill>
                  <a:srgbClr val="0070C0"/>
                </a:solidFill>
                <a:latin typeface="Segoe UI"/>
                <a:cs typeface="Segoe UI"/>
              </a:rPr>
              <a:t>SẢN PHẨM   </a:t>
            </a:r>
            <a:r>
              <a:rPr lang="en-US" sz="1500" dirty="0">
                <a:solidFill>
                  <a:srgbClr val="000000"/>
                </a:solidFill>
                <a:latin typeface="Segoe UI"/>
                <a:cs typeface="Segoe UI"/>
              </a:rPr>
              <a:t>Năm đề cương và kế hoạch công bố đã trình bày; phiếu góp ý nộp cho giảng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Slide bổ sung  |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Slide bổ sung - Buổi 8</a:t>
            </a:r>
          </a:p>
          <a:p>
            <a:pPr marL="0" indent="0" algn="ctr">
              <a:spcBef>
                <a:spcPts val="1200"/>
              </a:spcBef>
              <a:buNone/>
            </a:pPr>
            <a:r>
              <a:rPr lang="en-US" sz="1900" i="1" dirty="0">
                <a:solidFill>
                  <a:srgbClr val="595959"/>
                </a:solidFill>
                <a:latin typeface="Segoe UI"/>
                <a:cs typeface="Segoe UI"/>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Viết cho đúng: sửa câu 'tô vẽ', rồi soạn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Cá nhân (2 phút): viết lại trung thực câu 'xu hướng không có ý nghĩa' của Bài 1</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Cá nhân: viết lại tiêu đề Bài 2 với lời văn tương xứng</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Nhóm (4 phút): soạn tiêu đề tạm từ PICO của nhóm</a:t>
            </a:r>
          </a:p>
          <a:p>
            <a:pPr marL="380000" indent="-380000" algn="l">
              <a:lnSpc>
                <a:spcPct val="104000"/>
              </a:lnSpc>
              <a:spcBef>
                <a:spcPts val="450"/>
              </a:spcBef>
              <a:buNone/>
            </a:pPr>
            <a:r>
              <a:rPr lang="en-US" sz="1650" b="1" dirty="0">
                <a:solidFill>
                  <a:srgbClr val="0B376C"/>
                </a:solidFill>
                <a:latin typeface="Segoe UI"/>
                <a:cs typeface="Segoe UI"/>
              </a:rPr>
              <a:t>4.  </a:t>
            </a:r>
            <a:r>
              <a:rPr lang="en-US" sz="1650" dirty="0">
                <a:solidFill>
                  <a:srgbClr val="000000"/>
                </a:solidFill>
                <a:latin typeface="Segoe UI"/>
                <a:cs typeface="Segoe UI"/>
              </a:rPr>
              <a:t>Nhóm: mỗi phần một dòng - Đặt vấn đề, Phương pháp, Kết quả dự kiến, Kết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Segoe UI"/>
                <a:cs typeface="Segoe UI"/>
              </a:rPr>
              <a:t>Kế hoạch công bố (Phần 4)</a:t>
            </a:r>
          </a:p>
          <a:p>
            <a:pPr marL="274320" indent="-274320" algn="l">
              <a:lnSpc>
                <a:spcPct val="104000"/>
              </a:lnSpc>
              <a:spcBef>
                <a:spcPts val="300"/>
              </a:spcBef>
              <a:buFont typeface="Arial"/>
              <a:buChar char="•"/>
            </a:pPr>
            <a:r>
              <a:rPr lang="en-US" sz="1500" dirty="0">
                <a:solidFill>
                  <a:srgbClr val="000000"/>
                </a:solidFill>
                <a:latin typeface="Segoe UI"/>
                <a:cs typeface="Segoe UI"/>
              </a:rPr>
              <a:t>Tiêu đề tạm</a:t>
            </a:r>
          </a:p>
          <a:p>
            <a:pPr marL="274320" indent="-274320" algn="l">
              <a:lnSpc>
                <a:spcPct val="104000"/>
              </a:lnSpc>
              <a:spcBef>
                <a:spcPts val="300"/>
              </a:spcBef>
              <a:buFont typeface="Arial"/>
              <a:buChar char="•"/>
            </a:pPr>
            <a:r>
              <a:rPr lang="en-US" sz="1500" dirty="0">
                <a:solidFill>
                  <a:srgbClr val="000000"/>
                </a:solidFill>
                <a:latin typeface="Segoe UI"/>
                <a:cs typeface="Segoe UI"/>
              </a:rPr>
              <a:t>Khung tóm tắt</a:t>
            </a:r>
          </a:p>
          <a:p>
            <a:pPr marL="274320" indent="-274320" algn="l">
              <a:lnSpc>
                <a:spcPct val="104000"/>
              </a:lnSpc>
              <a:spcBef>
                <a:spcPts val="300"/>
              </a:spcBef>
              <a:buFont typeface="Arial"/>
              <a:buChar char="•"/>
            </a:pPr>
            <a:r>
              <a:rPr lang="en-US" sz="1500" dirty="0">
                <a:solidFill>
                  <a:srgbClr val="000000"/>
                </a:solidFill>
                <a:latin typeface="Segoe UI"/>
                <a:cs typeface="Segoe UI"/>
              </a:rPr>
              <a:t>Tác giả + vai trò CRediT</a:t>
            </a:r>
          </a:p>
          <a:p>
            <a:pPr marL="274320" indent="-274320" algn="l">
              <a:lnSpc>
                <a:spcPct val="104000"/>
              </a:lnSpc>
              <a:spcBef>
                <a:spcPts val="300"/>
              </a:spcBef>
              <a:buFont typeface="Arial"/>
              <a:buChar char="•"/>
            </a:pPr>
            <a:r>
              <a:rPr lang="en-US" sz="1500" dirty="0">
                <a:solidFill>
                  <a:srgbClr val="000000"/>
                </a:solidFill>
                <a:latin typeface="Segoe UI"/>
                <a:cs typeface="Segoe UI"/>
              </a:rPr>
              <a:t>Tạp chí + hướng dẫn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Tiêu đề tạm + khung tóm tắt - đưa vào bài trình bày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Bị từ chối? Nộp lại - thông minh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Segoe UI"/>
                <a:cs typeface="Segoe UI"/>
              </a:rPr>
              <a:t>Bị từ chối là bình thường: đa số bài báo bị từ chối ít nhất một lần.</a:t>
            </a:r>
          </a:p>
        </p:txBody>
      </p:sp>
      <p:sp>
        <p:nvSpPr>
          <p:cNvPr id="70" name="CardHead"/>
          <p:cNvSpPr/>
          <p:nvPr/>
        </p:nvSpPr>
        <p:spPr>
          <a:xfrm>
            <a:off x="457200"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Từ chối ngay</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Ngoài phạm vi hoặc báo cáo kém</a:t>
            </a:r>
          </a:p>
          <a:p>
            <a:pPr marL="0" indent="0" algn="l">
              <a:lnSpc>
                <a:spcPct val="104000"/>
              </a:lnSpc>
              <a:spcBef>
                <a:spcPts val="400"/>
              </a:spcBef>
              <a:buNone/>
            </a:pPr>
            <a:r>
              <a:rPr lang="en-US" sz="1750" dirty="0">
                <a:solidFill>
                  <a:srgbClr val="000000"/>
                </a:solidFill>
                <a:latin typeface="Segoe UI"/>
                <a:cs typeface="Segoe UI"/>
              </a:rPr>
              <a:t>Thường trong vài ngày</a:t>
            </a:r>
          </a:p>
          <a:p>
            <a:pPr marL="0" indent="0" algn="l">
              <a:lnSpc>
                <a:spcPct val="104000"/>
              </a:lnSpc>
              <a:spcBef>
                <a:spcPts val="400"/>
              </a:spcBef>
              <a:buNone/>
            </a:pPr>
            <a:r>
              <a:rPr lang="en-US" sz="1750" dirty="0">
                <a:solidFill>
                  <a:srgbClr val="000000"/>
                </a:solidFill>
                <a:latin typeface="Segoe UI"/>
                <a:cs typeface="Segoe UI"/>
              </a:rPr>
              <a:t>Chọn lại tạp chí</a:t>
            </a:r>
          </a:p>
        </p:txBody>
      </p:sp>
      <p:sp>
        <p:nvSpPr>
          <p:cNvPr id="72" name="CardHead"/>
          <p:cNvSpPr/>
          <p:nvPr/>
        </p:nvSpPr>
        <p:spPr>
          <a:xfrm>
            <a:off x="4283066"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Sau phản biện</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Đọc nhận xét, chờ một ngày</a:t>
            </a:r>
          </a:p>
          <a:p>
            <a:pPr marL="0" indent="0" algn="l">
              <a:lnSpc>
                <a:spcPct val="104000"/>
              </a:lnSpc>
              <a:spcBef>
                <a:spcPts val="400"/>
              </a:spcBef>
              <a:buNone/>
            </a:pPr>
            <a:r>
              <a:rPr lang="en-US" sz="1750" dirty="0">
                <a:solidFill>
                  <a:srgbClr val="000000"/>
                </a:solidFill>
                <a:latin typeface="Segoe UI"/>
                <a:cs typeface="Segoe UI"/>
              </a:rPr>
              <a:t>Sửa những gì họ phát hiện</a:t>
            </a:r>
          </a:p>
          <a:p>
            <a:pPr marL="0" indent="0" algn="l">
              <a:lnSpc>
                <a:spcPct val="104000"/>
              </a:lnSpc>
              <a:spcBef>
                <a:spcPts val="400"/>
              </a:spcBef>
              <a:buNone/>
            </a:pPr>
            <a:r>
              <a:rPr lang="en-US" sz="1750" dirty="0">
                <a:solidFill>
                  <a:srgbClr val="000000"/>
                </a:solidFill>
                <a:latin typeface="Segoe UI"/>
                <a:cs typeface="Segoe UI"/>
              </a:rPr>
              <a:t>Không nộp lại nguyên bản</a:t>
            </a:r>
          </a:p>
        </p:txBody>
      </p:sp>
      <p:sp>
        <p:nvSpPr>
          <p:cNvPr id="74" name="CardHead"/>
          <p:cNvSpPr/>
          <p:nvPr/>
        </p:nvSpPr>
        <p:spPr>
          <a:xfrm>
            <a:off x="8108932"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Tạp chí tiếp theo</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Định dạng theo Hướng dẫn mới</a:t>
            </a:r>
          </a:p>
          <a:p>
            <a:pPr marL="0" indent="0" algn="l">
              <a:lnSpc>
                <a:spcPct val="104000"/>
              </a:lnSpc>
              <a:spcBef>
                <a:spcPts val="400"/>
              </a:spcBef>
              <a:buNone/>
            </a:pPr>
            <a:r>
              <a:rPr lang="en-US" sz="1750" dirty="0">
                <a:solidFill>
                  <a:srgbClr val="000000"/>
                </a:solidFill>
                <a:latin typeface="Segoe UI"/>
                <a:cs typeface="Segoe UI"/>
              </a:rPr>
              <a:t>Dùng đề nghị chuyển bài nếu có</a:t>
            </a:r>
          </a:p>
          <a:p>
            <a:pPr marL="0" indent="0" algn="l">
              <a:lnSpc>
                <a:spcPct val="104000"/>
              </a:lnSpc>
              <a:spcBef>
                <a:spcPts val="400"/>
              </a:spcBef>
              <a:buNone/>
            </a:pPr>
            <a:r>
              <a:rPr lang="en-US" sz="1750" dirty="0">
                <a:solidFill>
                  <a:srgbClr val="000000"/>
                </a:solidFill>
                <a:latin typeface="Segoe UI"/>
                <a:cs typeface="Segoe UI"/>
              </a:rPr>
              <a:t>Chỉ khiếu nại khi có lỗi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Người phản biện tiếp theo có thể vẫn là người cũ - hãy sửa lỗi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Tóm tắt hội nghị và áp phích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Áp phích là bảng quảng cáo: một thông điệp, một hình, đọc được từ 2 mét.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Segoe UI"/>
                <a:cs typeface="Segoe UI"/>
              </a:rPr>
              <a:t>Kết thúc: những gì bạn đã xây dựng và bước tiếp theo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Segoe UI"/>
                <a:cs typeface="Segoe UI"/>
              </a:rPr>
              <a:t>Nội dung</a:t>
            </a:r>
          </a:p>
          <a:p>
            <a:pPr>
              <a:buNone/>
            </a:pPr>
            <a:endParaRPr sz="800"/>
          </a:p>
          <a:p>
            <a:pPr marL="274320" indent="-274320" algn="l">
              <a:spcBef>
                <a:spcPts val="440"/>
              </a:spcBef>
              <a:buFont typeface="Arial"/>
              <a:buChar char="•"/>
            </a:pPr>
            <a:r>
              <a:rPr lang="en-US" sz="1900" dirty="0">
                <a:solidFill>
                  <a:srgbClr val="000000"/>
                </a:solidFill>
                <a:latin typeface="Segoe UI"/>
                <a:cs typeface="Segoe UI"/>
              </a:rPr>
              <a:t>Bài kiểm tra cuối khóa (cùng 24 câu)</a:t>
            </a:r>
          </a:p>
          <a:p>
            <a:pPr marL="274320" indent="-274320" algn="l">
              <a:spcBef>
                <a:spcPts val="440"/>
              </a:spcBef>
              <a:buFont typeface="Arial"/>
              <a:buChar char="•"/>
            </a:pPr>
            <a:r>
              <a:rPr lang="en-US" sz="1900" dirty="0">
                <a:solidFill>
                  <a:srgbClr val="000000"/>
                </a:solidFill>
                <a:latin typeface="Segoe UI"/>
                <a:cs typeface="Segoe UI"/>
              </a:rPr>
              <a:t>Những gì bạn đã xây dựng trong tám buổi</a:t>
            </a:r>
          </a:p>
          <a:p>
            <a:pPr marL="274320" indent="-274320" algn="l">
              <a:spcBef>
                <a:spcPts val="440"/>
              </a:spcBef>
              <a:buFont typeface="Arial"/>
              <a:buChar char="•"/>
            </a:pPr>
            <a:r>
              <a:rPr lang="en-US" sz="1900" dirty="0">
                <a:solidFill>
                  <a:srgbClr val="000000"/>
                </a:solidFill>
                <a:latin typeface="Segoe UI"/>
                <a:cs typeface="Segoe UI"/>
              </a:rPr>
              <a:t>Đánh giá khóa học</a:t>
            </a:r>
          </a:p>
          <a:p>
            <a:pPr marL="274320" indent="-274320" algn="l">
              <a:spcBef>
                <a:spcPts val="440"/>
              </a:spcBef>
              <a:buFont typeface="Arial"/>
              <a:buChar char="•"/>
            </a:pPr>
            <a:r>
              <a:rPr lang="en-US" sz="1900" dirty="0">
                <a:solidFill>
                  <a:srgbClr val="000000"/>
                </a:solidFill>
                <a:latin typeface="Segoe UI"/>
                <a:cs typeface="Segoe UI"/>
              </a:rPr>
              <a:t>Sau khóa học: phản biện chéo các bản thảo</a:t>
            </a:r>
          </a:p>
          <a:p>
            <a:pPr marL="274320" indent="-274320" algn="l">
              <a:spcBef>
                <a:spcPts val="440"/>
              </a:spcBef>
              <a:buFont typeface="Arial"/>
              <a:buChar char="•"/>
            </a:pPr>
            <a:r>
              <a:rPr lang="en-US" sz="1900" dirty="0">
                <a:solidFill>
                  <a:srgbClr val="000000"/>
                </a:solidFill>
                <a:latin typeface="Segoe UI"/>
                <a:cs typeface="Segoe UI"/>
              </a:rPr>
              <a:t>Bước tiếp theo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Bài kiểm tra cuối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Segoe UI"/>
                <a:cs typeface="Segoe UI"/>
              </a:rPr>
              <a:t>1.  </a:t>
            </a:r>
            <a:r>
              <a:rPr lang="en-US" sz="1650" dirty="0">
                <a:solidFill>
                  <a:srgbClr val="000000"/>
                </a:solidFill>
                <a:latin typeface="Segoe UI"/>
                <a:cs typeface="Segoe UI"/>
              </a:rPr>
              <a:t>Cùng 24 câu hỏi như Buổi 1 (nên dùng biểu mẫu trực tuyến)</a:t>
            </a:r>
          </a:p>
          <a:p>
            <a:pPr marL="380000" indent="-380000" algn="l">
              <a:lnSpc>
                <a:spcPct val="104000"/>
              </a:lnSpc>
              <a:spcBef>
                <a:spcPts val="450"/>
              </a:spcBef>
              <a:buNone/>
            </a:pPr>
            <a:r>
              <a:rPr lang="en-US" sz="1650" b="1" dirty="0">
                <a:solidFill>
                  <a:srgbClr val="6C3483"/>
                </a:solidFill>
                <a:latin typeface="Segoe UI"/>
                <a:cs typeface="Segoe UI"/>
              </a:rPr>
              <a:t>2.  </a:t>
            </a:r>
            <a:r>
              <a:rPr lang="en-US" sz="1650" dirty="0">
                <a:solidFill>
                  <a:srgbClr val="000000"/>
                </a:solidFill>
                <a:latin typeface="Segoe UI"/>
                <a:cs typeface="Segoe UI"/>
              </a:rPr>
              <a:t>Làm cá nhân, không thảo luận</a:t>
            </a:r>
          </a:p>
          <a:p>
            <a:pPr marL="380000" indent="-380000" algn="l">
              <a:lnSpc>
                <a:spcPct val="104000"/>
              </a:lnSpc>
              <a:spcBef>
                <a:spcPts val="450"/>
              </a:spcBef>
              <a:buNone/>
            </a:pPr>
            <a:r>
              <a:rPr lang="en-US" sz="1650" b="1" dirty="0">
                <a:solidFill>
                  <a:srgbClr val="6C3483"/>
                </a:solidFill>
                <a:latin typeface="Segoe UI"/>
                <a:cs typeface="Segoe UI"/>
              </a:rPr>
              <a:t>3.  </a:t>
            </a:r>
            <a:r>
              <a:rPr lang="en-US" sz="1650" dirty="0">
                <a:solidFill>
                  <a:srgbClr val="000000"/>
                </a:solidFill>
                <a:latin typeface="Segoe UI"/>
                <a:cs typeface="Segoe UI"/>
              </a:rPr>
              <a:t>Ghi cùng mã số học viên như Buổi 1</a:t>
            </a:r>
          </a:p>
          <a:p>
            <a:pPr marL="380000" indent="-380000" algn="l">
              <a:lnSpc>
                <a:spcPct val="104000"/>
              </a:lnSpc>
              <a:spcBef>
                <a:spcPts val="450"/>
              </a:spcBef>
              <a:buNone/>
            </a:pPr>
            <a:r>
              <a:rPr lang="en-US" sz="1650" b="1" dirty="0">
                <a:solidFill>
                  <a:srgbClr val="6C3483"/>
                </a:solidFill>
                <a:latin typeface="Segoe UI"/>
                <a:cs typeface="Segoe UI"/>
              </a:rPr>
              <a:t>4.  </a:t>
            </a:r>
            <a:r>
              <a:rPr lang="en-US" sz="1650" dirty="0">
                <a:solidFill>
                  <a:srgbClr val="000000"/>
                </a:solidFill>
                <a:latin typeface="Segoe UI"/>
                <a:cs typeface="Segoe UI"/>
              </a:rPr>
              <a:t>Đáp án được gửi sau khóa học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Segoe UI"/>
                <a:cs typeface="Segoe UI"/>
              </a:rPr>
              <a:t>SẢN PHẨM   </a:t>
            </a:r>
            <a:r>
              <a:rPr lang="en-US" sz="1500" dirty="0">
                <a:solidFill>
                  <a:srgbClr val="000000"/>
                </a:solidFill>
                <a:latin typeface="Segoe UI"/>
                <a:cs typeface="Segoe UI"/>
              </a:rPr>
              <a:t>Nộp bài (chỉ ghi mã số học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Những gì bạn đã xây dựng trong tám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HỎI &amp; TÌM</a:t>
            </a:r>
          </a:p>
        </p:txBody>
      </p:sp>
      <p:sp>
        <p:nvSpPr>
          <p:cNvPr id="81" name="StepText"/>
          <p:cNvSpPr/>
          <p:nvPr/>
        </p:nvSpPr>
        <p:spPr>
          <a:xfrm>
            <a:off x="49720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Một câu hỏi PICO</a:t>
            </a:r>
          </a:p>
          <a:p>
            <a:pPr marL="0" indent="0" algn="l">
              <a:lnSpc>
                <a:spcPct val="104000"/>
              </a:lnSpc>
              <a:spcBef>
                <a:spcPts val="200"/>
              </a:spcBef>
              <a:buNone/>
            </a:pPr>
            <a:r>
              <a:rPr lang="en-US" sz="1500" dirty="0">
                <a:solidFill>
                  <a:srgbClr val="000000"/>
                </a:solidFill>
                <a:latin typeface="Segoe UI"/>
                <a:cs typeface="Segoe UI"/>
              </a:rPr>
              <a:t>5 tài liệu chính</a:t>
            </a:r>
          </a:p>
          <a:p>
            <a:pPr marL="0" indent="0" algn="l">
              <a:lnSpc>
                <a:spcPct val="104000"/>
              </a:lnSpc>
              <a:spcBef>
                <a:spcPts val="200"/>
              </a:spcBef>
              <a:buNone/>
            </a:pPr>
            <a:r>
              <a:rPr lang="en-US" sz="1500" dirty="0">
                <a:solidFill>
                  <a:srgbClr val="000000"/>
                </a:solidFill>
                <a:latin typeface="Segoe UI"/>
                <a:cs typeface="Segoe UI"/>
              </a:rPr>
              <a:t>Tên đề tài dự kiến</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THIẾT KẾ</a:t>
            </a:r>
          </a:p>
        </p:txBody>
      </p:sp>
      <p:sp>
        <p:nvSpPr>
          <p:cNvPr id="83" name="StepText"/>
          <p:cNvSpPr/>
          <p:nvPr/>
        </p:nvSpPr>
        <p:spPr>
          <a:xfrm>
            <a:off x="274072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Thiết kế có lý giải</a:t>
            </a:r>
          </a:p>
          <a:p>
            <a:pPr marL="0" indent="0" algn="l">
              <a:lnSpc>
                <a:spcPct val="104000"/>
              </a:lnSpc>
              <a:spcBef>
                <a:spcPts val="200"/>
              </a:spcBef>
              <a:buNone/>
            </a:pPr>
            <a:r>
              <a:rPr lang="en-US" sz="1500" dirty="0">
                <a:solidFill>
                  <a:srgbClr val="000000"/>
                </a:solidFill>
                <a:latin typeface="Segoe UI"/>
                <a:cs typeface="Segoe UI"/>
              </a:rPr>
              <a:t>Kết cục</a:t>
            </a:r>
          </a:p>
          <a:p>
            <a:pPr marL="0" indent="0" algn="l">
              <a:lnSpc>
                <a:spcPct val="104000"/>
              </a:lnSpc>
              <a:spcBef>
                <a:spcPts val="200"/>
              </a:spcBef>
              <a:buNone/>
            </a:pPr>
            <a:r>
              <a:rPr lang="en-US" sz="1500" dirty="0">
                <a:solidFill>
                  <a:srgbClr val="000000"/>
                </a:solidFill>
                <a:latin typeface="Segoe UI"/>
                <a:cs typeface="Segoe UI"/>
              </a:rPr>
              <a:t>Kế hoạch giảm sai lệch</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PHÂN TÍCH</a:t>
            </a:r>
          </a:p>
        </p:txBody>
      </p:sp>
      <p:sp>
        <p:nvSpPr>
          <p:cNvPr id="85" name="StepText"/>
          <p:cNvSpPr/>
          <p:nvPr/>
        </p:nvSpPr>
        <p:spPr>
          <a:xfrm>
            <a:off x="498424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CRF và kế hoạch phân tích</a:t>
            </a:r>
          </a:p>
          <a:p>
            <a:pPr marL="0" indent="0" algn="l">
              <a:lnSpc>
                <a:spcPct val="104000"/>
              </a:lnSpc>
              <a:spcBef>
                <a:spcPts val="200"/>
              </a:spcBef>
              <a:buNone/>
            </a:pPr>
            <a:r>
              <a:rPr lang="en-US" sz="1500" dirty="0">
                <a:solidFill>
                  <a:srgbClr val="000000"/>
                </a:solidFill>
                <a:latin typeface="Segoe UI"/>
                <a:cs typeface="Segoe UI"/>
              </a:rPr>
              <a:t>Đọc và diễn giải một bộ dữ liệu thật</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VIẾT</a:t>
            </a:r>
          </a:p>
        </p:txBody>
      </p:sp>
      <p:sp>
        <p:nvSpPr>
          <p:cNvPr id="87" name="StepText"/>
          <p:cNvSpPr/>
          <p:nvPr/>
        </p:nvSpPr>
        <p:spPr>
          <a:xfrm>
            <a:off x="722776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Phương pháp, Kết quả</a:t>
            </a:r>
          </a:p>
          <a:p>
            <a:pPr marL="0" indent="0" algn="l">
              <a:lnSpc>
                <a:spcPct val="104000"/>
              </a:lnSpc>
              <a:spcBef>
                <a:spcPts val="200"/>
              </a:spcBef>
              <a:buNone/>
            </a:pPr>
            <a:r>
              <a:rPr lang="en-US" sz="1500" dirty="0">
                <a:solidFill>
                  <a:srgbClr val="000000"/>
                </a:solidFill>
                <a:latin typeface="Segoe UI"/>
                <a:cs typeface="Segoe UI"/>
              </a:rPr>
              <a:t>Đặt vấn đề, Bàn luận, Tóm tắt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Segoe UI"/>
                <a:cs typeface="Segoe UI"/>
              </a:rPr>
              <a:t>CÔNG BỐ</a:t>
            </a:r>
          </a:p>
        </p:txBody>
      </p:sp>
      <p:sp>
        <p:nvSpPr>
          <p:cNvPr id="89" name="StepText"/>
          <p:cNvSpPr/>
          <p:nvPr/>
        </p:nvSpPr>
        <p:spPr>
          <a:xfrm>
            <a:off x="9471280" y="2140000"/>
            <a:ext cx="2163520" cy="13615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Đề cương đã trình bày</a:t>
            </a:r>
          </a:p>
          <a:p>
            <a:pPr marL="0" indent="0" algn="l">
              <a:lnSpc>
                <a:spcPct val="104000"/>
              </a:lnSpc>
              <a:spcBef>
                <a:spcPts val="200"/>
              </a:spcBef>
              <a:buNone/>
            </a:pPr>
            <a:r>
              <a:rPr lang="en-US" sz="1500" dirty="0">
                <a:solidFill>
                  <a:srgbClr val="000000"/>
                </a:solidFill>
                <a:latin typeface="Segoe UI"/>
                <a:cs typeface="Segoe UI"/>
              </a:rPr>
              <a:t>Bản thảo bài báo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Năm đề cương và năm bản thảo bài báo từ khoa này.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Đánh giá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Segoe UI"/>
                <a:cs typeface="Segoe UI"/>
              </a:rPr>
              <a:t>BÀI TẬP CÁ NHÂN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Segoe UI"/>
                <a:cs typeface="Segoe UI"/>
              </a:rPr>
              <a:t>1.  </a:t>
            </a:r>
            <a:r>
              <a:rPr lang="en-US" sz="1650" dirty="0">
                <a:solidFill>
                  <a:srgbClr val="000000"/>
                </a:solidFill>
                <a:latin typeface="Segoe UI"/>
                <a:cs typeface="Segoe UI"/>
              </a:rPr>
              <a:t>Chấm điểm từng cuối tuần: nội dung, tốc độ, mức hữu ích</a:t>
            </a:r>
          </a:p>
          <a:p>
            <a:pPr marL="380000" indent="-380000" algn="l">
              <a:lnSpc>
                <a:spcPct val="104000"/>
              </a:lnSpc>
              <a:spcBef>
                <a:spcPts val="450"/>
              </a:spcBef>
              <a:buNone/>
            </a:pPr>
            <a:r>
              <a:rPr lang="en-US" sz="1650" b="1" dirty="0">
                <a:solidFill>
                  <a:srgbClr val="0B376C"/>
                </a:solidFill>
                <a:latin typeface="Segoe UI"/>
                <a:cs typeface="Segoe UI"/>
              </a:rPr>
              <a:t>2.  </a:t>
            </a:r>
            <a:r>
              <a:rPr lang="en-US" sz="1650" dirty="0">
                <a:solidFill>
                  <a:srgbClr val="000000"/>
                </a:solidFill>
                <a:latin typeface="Segoe UI"/>
                <a:cs typeface="Segoe UI"/>
              </a:rPr>
              <a:t>Một điều nên giữ, một điều nên thay đổi</a:t>
            </a:r>
          </a:p>
          <a:p>
            <a:pPr marL="380000" indent="-380000" algn="l">
              <a:lnSpc>
                <a:spcPct val="104000"/>
              </a:lnSpc>
              <a:spcBef>
                <a:spcPts val="450"/>
              </a:spcBef>
              <a:buNone/>
            </a:pPr>
            <a:r>
              <a:rPr lang="en-US" sz="1650" b="1" dirty="0">
                <a:solidFill>
                  <a:srgbClr val="0B376C"/>
                </a:solidFill>
                <a:latin typeface="Segoe UI"/>
                <a:cs typeface="Segoe UI"/>
              </a:rPr>
              <a:t>3.  </a:t>
            </a:r>
            <a:r>
              <a:rPr lang="en-US" sz="1650" dirty="0">
                <a:solidFill>
                  <a:srgbClr val="000000"/>
                </a:solidFill>
                <a:latin typeface="Segoe UI"/>
                <a:cs typeface="Segoe UI"/>
              </a:rPr>
              <a:t>Bạn muốn học chủ đề nâng cao nào tiếp theo?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Segoe UI"/>
                <a:cs typeface="Segoe UI"/>
              </a:rPr>
              <a:t>SẢN PHẨM   </a:t>
            </a:r>
            <a:r>
              <a:rPr lang="en-US" sz="1500" dirty="0">
                <a:solidFill>
                  <a:srgbClr val="000000"/>
                </a:solidFill>
                <a:latin typeface="Segoe UI"/>
                <a:cs typeface="Segoe UI"/>
              </a:rPr>
              <a:t>Phiếu đánh giá (ẩn danh)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Sau khóa học: phản biện như tác giả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Tuần 1</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Hoàn thiện bản thảo</a:t>
            </a:r>
          </a:p>
          <a:p>
            <a:pPr marL="0" indent="0" algn="l">
              <a:lnSpc>
                <a:spcPct val="104000"/>
              </a:lnSpc>
              <a:spcBef>
                <a:spcPts val="200"/>
              </a:spcBef>
              <a:buNone/>
            </a:pPr>
            <a:r>
              <a:rPr lang="en-US" sz="1500" dirty="0">
                <a:solidFill>
                  <a:srgbClr val="000000"/>
                </a:solidFill>
                <a:latin typeface="Segoe UI"/>
                <a:cs typeface="Segoe UI"/>
              </a:rPr>
              <a:t>Nộp cho giảng viên</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Đổi bài</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Phản biện bài của nhóm khác</a:t>
            </a:r>
          </a:p>
          <a:p>
            <a:pPr marL="0" indent="0" algn="l">
              <a:lnSpc>
                <a:spcPct val="104000"/>
              </a:lnSpc>
              <a:spcBef>
                <a:spcPts val="200"/>
              </a:spcBef>
              <a:buNone/>
            </a:pPr>
            <a:r>
              <a:rPr lang="en-US" sz="1500" dirty="0">
                <a:solidFill>
                  <a:srgbClr val="000000"/>
                </a:solidFill>
                <a:latin typeface="Segoe UI"/>
                <a:cs typeface="Segoe UI"/>
              </a:rPr>
              <a:t>Bảng kiểm 10 câu + kiểm tra cách viết</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Trả lời</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Trả lời từng nhận xét</a:t>
            </a:r>
          </a:p>
          <a:p>
            <a:pPr marL="0" indent="0" algn="l">
              <a:lnSpc>
                <a:spcPct val="104000"/>
              </a:lnSpc>
              <a:spcBef>
                <a:spcPts val="200"/>
              </a:spcBef>
              <a:buNone/>
            </a:pPr>
            <a:r>
              <a:rPr lang="en-US" sz="1500" dirty="0">
                <a:solidFill>
                  <a:srgbClr val="000000"/>
                </a:solidFill>
                <a:latin typeface="Segoe UI"/>
                <a:cs typeface="Segoe UI"/>
              </a:rPr>
              <a:t>Mẫu trả lời phản biện</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Segoe UI"/>
                <a:cs typeface="Segoe UI"/>
              </a:rPr>
              <a:t>Tuần 2</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Segoe UI"/>
                <a:cs typeface="Segoe UI"/>
              </a:rPr>
              <a:t>Bản cuối + thư trả lời</a:t>
            </a:r>
          </a:p>
          <a:p>
            <a:pPr marL="0" indent="0" algn="l">
              <a:lnSpc>
                <a:spcPct val="104000"/>
              </a:lnSpc>
              <a:spcBef>
                <a:spcPts val="200"/>
              </a:spcBef>
              <a:buNone/>
            </a:pPr>
            <a:r>
              <a:rPr lang="en-US" sz="1500" dirty="0">
                <a:solidFill>
                  <a:srgbClr val="000000"/>
                </a:solidFill>
                <a:latin typeface="Segoe UI"/>
                <a:cs typeface="Segoe UI"/>
              </a:rPr>
              <a:t>Giảng viên góp 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Segoe UI"/>
                <a:cs typeface="Segoe UI"/>
              </a:rPr>
              <a:t>THÔNG ĐIỆP CHÍNH   </a:t>
            </a:r>
            <a:r>
              <a:rPr lang="en-US" sz="1550" dirty="0">
                <a:solidFill>
                  <a:srgbClr val="FFFFFF"/>
                </a:solidFill>
                <a:latin typeface="Segoe UI"/>
                <a:cs typeface="Segoe UI"/>
              </a:rPr>
              <a:t>Hạn nộp hai tuần sau Buổi 8 - xem Assignment/peer_review_instructions.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Segoe UI"/>
                <a:cs typeface="Segoe UI"/>
              </a:rPr>
              <a:t>Bước tiếp theo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Hoàn thành</a:t>
            </a:r>
          </a:p>
        </p:txBody>
      </p:sp>
      <p:sp>
        <p:nvSpPr>
          <p:cNvPr id="71" name="CardBody"/>
          <p:cNvSpPr/>
          <p:nvPr/>
        </p:nvSpPr>
        <p:spPr>
          <a:xfrm>
            <a:off x="457200"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Tham dự ít nhất 6/8 buổi</a:t>
            </a:r>
          </a:p>
          <a:p>
            <a:pPr marL="0" indent="0" algn="l">
              <a:lnSpc>
                <a:spcPct val="104000"/>
              </a:lnSpc>
              <a:spcBef>
                <a:spcPts val="400"/>
              </a:spcBef>
              <a:buNone/>
            </a:pPr>
            <a:r>
              <a:rPr lang="en-US" sz="1750" dirty="0">
                <a:solidFill>
                  <a:srgbClr val="000000"/>
                </a:solidFill>
                <a:latin typeface="Segoe UI"/>
                <a:cs typeface="Segoe UI"/>
              </a:rPr>
              <a:t>Đã trình bày đề cương</a:t>
            </a:r>
          </a:p>
          <a:p>
            <a:pPr marL="0" indent="0" algn="l">
              <a:lnSpc>
                <a:spcPct val="104000"/>
              </a:lnSpc>
              <a:spcBef>
                <a:spcPts val="400"/>
              </a:spcBef>
              <a:buNone/>
            </a:pPr>
            <a:r>
              <a:rPr lang="en-US" sz="1750" dirty="0">
                <a:solidFill>
                  <a:srgbClr val="000000"/>
                </a:solidFill>
                <a:latin typeface="Segoe UI"/>
                <a:cs typeface="Segoe UI"/>
              </a:rPr>
              <a:t>Đã nộp bản thảo</a:t>
            </a:r>
          </a:p>
        </p:txBody>
      </p:sp>
      <p:sp>
        <p:nvSpPr>
          <p:cNvPr id="72" name="CardHead"/>
          <p:cNvSpPr/>
          <p:nvPr/>
        </p:nvSpPr>
        <p:spPr>
          <a:xfrm>
            <a:off x="4283066" y="186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Bộ công cụ của bạn</a:t>
            </a:r>
          </a:p>
        </p:txBody>
      </p:sp>
      <p:sp>
        <p:nvSpPr>
          <p:cNvPr id="73" name="CardBody"/>
          <p:cNvSpPr/>
          <p:nvPr/>
        </p:nvSpPr>
        <p:spPr>
          <a:xfrm>
            <a:off x="4283066"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Slide, tài liệu phát tay, bảng thuật ngữ</a:t>
            </a:r>
          </a:p>
          <a:p>
            <a:pPr marL="0" indent="0" algn="l">
              <a:lnSpc>
                <a:spcPct val="104000"/>
              </a:lnSpc>
              <a:spcBef>
                <a:spcPts val="400"/>
              </a:spcBef>
              <a:buNone/>
            </a:pPr>
            <a:r>
              <a:rPr lang="en-US" sz="1750" dirty="0">
                <a:solidFill>
                  <a:srgbClr val="000000"/>
                </a:solidFill>
                <a:latin typeface="Segoe UI"/>
                <a:cs typeface="Segoe UI"/>
              </a:rPr>
              <a:t>Mẫu đề cương, đề cương chi tiết, đồng thuận, CRF, SAP,</a:t>
            </a:r>
          </a:p>
          <a:p>
            <a:pPr marL="0" indent="0" algn="l">
              <a:lnSpc>
                <a:spcPct val="104000"/>
              </a:lnSpc>
              <a:spcBef>
                <a:spcPts val="400"/>
              </a:spcBef>
              <a:buNone/>
            </a:pPr>
            <a:r>
              <a:rPr lang="en-US" sz="1750" dirty="0">
                <a:solidFill>
                  <a:srgbClr val="000000"/>
                </a:solidFill>
                <a:latin typeface="Segoe UI"/>
                <a:cs typeface="Segoe UI"/>
              </a:rPr>
              <a:t>bản thảo và trả lời phản biện</a:t>
            </a:r>
          </a:p>
        </p:txBody>
      </p:sp>
      <p:sp>
        <p:nvSpPr>
          <p:cNvPr id="74" name="CardHead"/>
          <p:cNvSpPr/>
          <p:nvPr/>
        </p:nvSpPr>
        <p:spPr>
          <a:xfrm>
            <a:off x="8108932" y="186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Segoe UI"/>
                <a:cs typeface="Segoe UI"/>
              </a:rPr>
              <a:t>Tiếp tục</a:t>
            </a:r>
          </a:p>
        </p:txBody>
      </p:sp>
      <p:sp>
        <p:nvSpPr>
          <p:cNvPr id="75" name="CardBody"/>
          <p:cNvSpPr/>
          <p:nvPr/>
        </p:nvSpPr>
        <p:spPr>
          <a:xfrm>
            <a:off x="8108932" y="2505948"/>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Segoe UI"/>
                <a:cs typeface="Segoe UI"/>
              </a:rPr>
              <a:t>Đưa đề cương đến hội đồng đạo đức</a:t>
            </a:r>
          </a:p>
          <a:p>
            <a:pPr marL="0" indent="0" algn="l">
              <a:lnSpc>
                <a:spcPct val="104000"/>
              </a:lnSpc>
              <a:spcBef>
                <a:spcPts val="400"/>
              </a:spcBef>
              <a:buNone/>
            </a:pPr>
            <a:r>
              <a:rPr lang="en-US" sz="1750" dirty="0">
                <a:solidFill>
                  <a:srgbClr val="000000"/>
                </a:solidFill>
                <a:latin typeface="Segoe UI"/>
                <a:cs typeface="Segoe UI"/>
              </a:rPr>
              <a:t>Khóa R miễn phí: tự chạy phân tích</a:t>
            </a:r>
          </a:p>
          <a:p>
            <a:pPr marL="0" indent="0" algn="l">
              <a:lnSpc>
                <a:spcPct val="104000"/>
              </a:lnSpc>
              <a:spcBef>
                <a:spcPts val="400"/>
              </a:spcBef>
              <a:buNone/>
            </a:pPr>
            <a:r>
              <a:rPr lang="en-US" sz="1750" dirty="0">
                <a:solidFill>
                  <a:srgbClr val="000000"/>
                </a:solidFill>
                <a:latin typeface="Segoe UI"/>
                <a:cs typeface="Segoe UI"/>
              </a:rPr>
              <a:t>Các học phần nâng cao tùy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Segoe UI"/>
                <a:cs typeface="Segoe UI"/>
              </a:rPr>
              <a:t>Xin cảm ơn!</a:t>
            </a:r>
          </a:p>
          <a:p>
            <a:pPr marL="0" indent="0" algn="ctr">
              <a:spcBef>
                <a:spcPts val="1200"/>
              </a:spcBef>
              <a:buNone/>
            </a:pPr>
            <a:r>
              <a:rPr lang="en-US" sz="1900" i="1" dirty="0">
                <a:solidFill>
                  <a:srgbClr val="595959"/>
                </a:solidFill>
                <a:latin typeface="Segoe UI"/>
                <a:cs typeface="Segoe UI"/>
              </a:rPr>
              <a:t>Câu hỏi tốt. Thiết kế chặt chẽ. Phân tích trung thực. Viết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Segoe UI"/>
                <a:cs typeface="Segoe UI"/>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