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cả lớp quay lại Buổi 4. Chiếu slide này khi mọi người vào lớp: kiểm tra âm thanh, chat và bình chọn.</a:t>
            </a:r>
          </a:p>
          <a:p>
            <a:r>
              <a:rPr lang="en-US" sz="1400" b="0" dirty="0"/>
              <a:t>Thời gian: trước 19:30, không tính vào giờ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Bắt đầu 19:30. Chiếu ba câu trả lời cho câu hỏi cuối Buổi 3: thuần tập, nên 'có liên quan'. Từ đó dẫn vào yếu tố nhiễu.</a:t>
            </a:r>
          </a:p>
          <a:p>
            <a:r>
              <a:rPr lang="en-US" sz="1400" b="0" dirty="0"/>
              <a:t>Phép tính duy nhất hôm nay là phép chia trong bảng 2x2.</a:t>
            </a:r>
          </a:p>
          <a:p>
            <a:r>
              <a:rPr lang="en-US" sz="1400" b="0" dirty="0"/>
              <a:t>Giờ: 19:30 ôn tập, 19:40 phần 4.1, 20:20 phần 4.2 và trình diễn, 20:45 giải lao, 21:00 hai bài tính, 21:15 phần 4.3, 21:45 xây dựng đề cương 4, 22:25 tổng kết.</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câu bình chọn.</a:t>
            </a:r>
          </a:p>
          <a:p>
            <a:r>
              <a:rPr lang="en-US" sz="1400" b="0" dirty="0"/>
              <a:t>Đáp án: Câu 1 bệnh-chứng (chọn theo kết cục). Câu 2 thử nghiệm ngẫu nhiên theo cụm. Câu 3 không kém hơn: cả KTC nằm dưới ngưỡng +4.</a:t>
            </a:r>
          </a:p>
          <a:p>
            <a:r>
              <a:rPr lang="en-US" sz="1400" b="0" dirty="0"/>
              <a:t>Nếu có người nói 'dùng hồ sơ nên là thuần tập', hỏi: chọn theo điều đã xảy ra với họ hay theo điều họ được nhận?</a:t>
            </a:r>
          </a:p>
          <a:p>
            <a:r>
              <a:rPr lang="en-US" sz="1400" b="0" dirty="0"/>
              <a:t>Thời gian: 9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4.1 bắt đầu ở đây (40 phút). Xét kết quả có tin được không trước, rồi mới hỏi lớn đến đâu.</a:t>
            </a:r>
          </a:p>
          <a:p>
            <a:r>
              <a:rPr lang="en-US" sz="1400" b="0" dirty="0"/>
              <a:t>Hỏi: 'Tháng này bạn đã gặp từ nào trong bài báo?' Mong đợi: OR, RR, KTC 95%, biểu đồ rừng.</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Cỡ mẫu lớn giảm sai số ngẫu nhiên, không giảm sai lệch. KTC hẹp không nói gì về sai lệch.</a:t>
            </a:r>
          </a:p>
          <a:p>
            <a:r>
              <a:rPr lang="en-US" sz="1400" b="0" dirty="0"/>
              <a:t>Bình chọn: 'Bài nào dễ bị sai số ngẫu nhiên, bài nào dễ bị sai lệch?' Mong đợi: Boulet (48 người) sai số ngẫu nhiên, Hyun (quan sát) sai lệch.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chỉ chọn người bệnh còn ở ICU đến ngày 3 (2516/11981). Kết quả áp dụng cho nhóm này, không cho mọi người bệnh nhiễm khuẩn huyết.</a:t>
            </a:r>
          </a:p>
          <a:p>
            <a:r>
              <a:rPr lang="en-US" sz="1400" b="0" dirty="0"/>
              <a:t>Hỏi: 'Boulet sàng lọc 1201, chọn 50. Điều đó cho biết gì?' Mong đợi: người bệnh được chọn lọc nhiều. Kiểm tra họ có giống người bệnh của mình không.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Với câu hỏi của mình: ghi thiếu nước tiểu làm cân bằng dịch dương hơn thực tế. Nếu khác nhau giữa hai nhóm, phép so sánh bị sai lệch.</a:t>
            </a:r>
          </a:p>
          <a:p>
            <a:r>
              <a:rPr lang="en-US" sz="1400" b="0" dirty="0"/>
              <a:t>Hỏi: 'Giảm sai lệch người quan sát trong thử nghiệm dịch không làm mù thế nào?' Mong đợi: kết cục khách quan, người đánh giá được làm mù, định nghĩa chuẩn.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quan trọng nhất của phần 4.1. Chỉ từng mũi tên. Yếu tố nhiễu liên quan với phơi nhiễm, gây ra kết cục và không nằm trên đường nhân quả.</a:t>
            </a:r>
          </a:p>
          <a:p>
            <a:r>
              <a:rPr lang="en-US" sz="1400" b="0" dirty="0"/>
              <a:t>Hỏi: 'Dấu hiệu nào tại giường làm bạn truyền thêm dịch và dự báo tử vong?' Mong đợi: huyết áp thấp, lactate cao, liều vận mạch cao, da nổi vân.</a:t>
            </a:r>
          </a:p>
          <a:p>
            <a:r>
              <a:rPr lang="en-US" sz="1400" b="0" dirty="0"/>
              <a:t>Thời gian: 3.5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giả định. RR thô 2.33. Trong từng mức độ nặng RR 1.0. 80/100 người nhiều dịch là ca nặng, nhưng chỉ 20/100 người ít dịch.</a:t>
            </a:r>
          </a:p>
          <a:p>
            <a:r>
              <a:rPr lang="en-US" sz="1400" b="0" dirty="0"/>
              <a:t>Đọc to: 2 + 40 = 42 ca tử vong, 8 + 10 = 18.</a:t>
            </a:r>
          </a:p>
          <a:p>
            <a:r>
              <a:rPr lang="en-US" sz="1400" b="0" dirty="0"/>
              <a:t>Hỏi: 'Cần đo gì lúc ban đầu để làm được việc này?' Mong đợi: SOFA, lactate, liều vận mạch, tuổi, bệnh kèm.</a:t>
            </a:r>
          </a:p>
          <a:p>
            <a:r>
              <a:rPr lang="en-US" sz="1400" b="0" dirty="0"/>
              <a:t>Thời gian: 3.5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tầng giống nhau nhưng khác số thô: yếu tố nhiễu, cần hiệu chỉnh. Các tầng khác nhau: thay đổi tác động, báo cáo từng tầng.</a:t>
            </a:r>
          </a:p>
          <a:p>
            <a:r>
              <a:rPr lang="en-US" sz="1400" b="0" dirty="0"/>
              <a:t>Bình chọn: 'RR 0.95 khi thận bình thường, 0.60 khi tổn thương thận?' Mong đợi: thay đổi tác động.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phân bổ ngẫu nhiên cân bằng được điều chưa đo.</a:t>
            </a:r>
          </a:p>
          <a:p>
            <a:r>
              <a:rPr lang="en-US" sz="1400" b="0" dirty="0"/>
              <a:t>Bình chọn: 'Hyun dùng công cụ nào?' Mong đợi: giới hạn đối tượng và ghép cặp theo điểm xu hướng.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Cân bằng là tính trung bình. Boulet có creatinine ban đầu cao hơn ở một nhóm: với 24 người mỗi nhóm, điều này không lạ.</a:t>
            </a:r>
          </a:p>
          <a:p>
            <a:r>
              <a:rPr lang="en-US" sz="1400" b="0" dirty="0"/>
              <a:t>Hỏi: 'Vì sao 500 người tốt hơn 50?' Mong đợi: mất cân bằng do ngẫu nhiên tự bù trừ.</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Trong Boulet, người bệnh và người phân tích thống kê được làm mù, bác sĩ thì không. Khi không làm mù được bác sĩ, làm mù người đánh giá và dùng kết cục khách quan.</a:t>
            </a:r>
          </a:p>
          <a:p>
            <a:r>
              <a:rPr lang="en-US" sz="1400" b="0" dirty="0"/>
              <a:t>Bình chọn: 'Không làm mù được thì có che giấu phân bổ được không?' Mong đợi: có, luôn luôn.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không đo loại dịch và dinh dưỡng. Phần còn lại là nhiễu tồn dư, nên thuần tập vẫn chỉ nói 'có liên quan'.</a:t>
            </a:r>
          </a:p>
          <a:p>
            <a:r>
              <a:rPr lang="en-US" sz="1400" b="0" dirty="0"/>
              <a:t>Hỏi: 'Một yếu tố không đo được làm truyền thêm dịch và dự báo tử vong?' Mong đợi: ấn tượng lâm sàng về sốc, suy tim, thảo luận mục tiêu điều trị.</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quả sai lệch không áp dụng được ở đâu. Thử nghiệm đúng nhưng chọn lọc có thể không áp dụng cho khoa của bạn.</a:t>
            </a:r>
          </a:p>
          <a:p>
            <a:r>
              <a:rPr lang="en-US" sz="1400" b="0" dirty="0"/>
              <a:t>Hỏi: 'Nhóm người bệnh nào ở ICU của bạn không được vào thử nghiệm Boulet?' Mong đợi: trên 85 tuổi, lọc máu mạn, dùng vận mạch quá 24 giờ.</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Thận suy làm giảm nước tiểu, nên cân bằng dịch dương lên. Vì vậy Hyun ghép cặp cả theo lượng dịch ra.</a:t>
            </a:r>
          </a:p>
          <a:p>
            <a:r>
              <a:rPr lang="en-US" sz="1400" b="0" dirty="0"/>
              <a:t>Hỏi: 'Người bệnh sốc dùng nhiều vận mạch hơn và tử vong nhiều hơn. Mũi tên có thể đi chiều nào?' Mong đợi: cả hai chiều.</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quan điểm là manh mối, không phải bảng chấm điểm. Dừng ở trình tự thời gian (bắt buộc) và thực nghiệm (do RCT cung cấp).</a:t>
            </a:r>
          </a:p>
          <a:p>
            <a:r>
              <a:rPr lang="en-US" sz="1400" b="0" dirty="0"/>
              <a:t>Với Hyun: có thể, chưa chứng minh.</a:t>
            </a:r>
          </a:p>
          <a:p>
            <a:r>
              <a:rPr lang="en-US" sz="1400" b="0" dirty="0"/>
              <a:t>Bình chọn: 'Quan điểm nào RCT cho được mà thuần tập không cho được?' Mong đợi: thực nghiệm.</a:t>
            </a:r>
          </a:p>
          <a:p>
            <a:r>
              <a:rPr lang="en-US" sz="1400" b="0" dirty="0"/>
              <a:t>Thời gian: 4.5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câu bình chọn. Sau mỗi câu, mời một hai người đề xuất cách khắc phục.</a:t>
            </a:r>
          </a:p>
          <a:p>
            <a:r>
              <a:rPr lang="en-US" sz="1400" b="0" dirty="0"/>
              <a:t>Đáp án: 1 sai lệch nhớ lại (dùng hồ sơ ghi trước khi có kết cục). 2 sai lệch người quan sát (người đánh giá được làm mù). 3 sai lệch chọn lựa (chọn mọi người từ khi nhập viện, báo cáo số bị loại). 4 nhiễu do chỉ định (phân bổ ngẫu nhiên, hoặc đo mức độ nặng và hiệu chỉnh).</a:t>
            </a:r>
          </a:p>
          <a:p>
            <a:r>
              <a:rPr lang="en-US" sz="1400" b="0" dirty="0"/>
              <a:t>Thời gian: 5 phút. Kết thúc phần 4.1.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4.2: khoảng 17 phút slide, rồi 8 phút trình diễn.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Mới mắc cần một khoảng thời gian, và mẫu số chỉ gồm người có nguy cơ.</a:t>
            </a:r>
          </a:p>
          <a:p>
            <a:r>
              <a:rPr lang="en-US" sz="1400" b="0" dirty="0"/>
              <a:t>Hỏi: 'Cân bằng dịch dương hôm nay: hiện mắc hay mới mắc? Tổn thương thận trong tuần đầu?' Mong đợi: hiện mắc, mới mắc.</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Thử nghiệm giả định, không phải Boulet. Luôn hỏi 'trên tổng số bao nhiêu?'.</a:t>
            </a:r>
          </a:p>
          <a:p>
            <a:r>
              <a:rPr lang="en-US" sz="1400" b="0" dirty="0"/>
              <a:t>Hỏi: 'Odds tử vong ở nhóm hạn chế dịch?' Mong đợi: 20 trên 80, tức 0.25.</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Giữ một cách trình bày: phơi nhiễm theo hàng (có phơi nhiễm ở trên), có kết cục ở cột trái. Phần lớn lỗi do vẽ bảng ngược.</a:t>
            </a:r>
          </a:p>
          <a:p>
            <a:r>
              <a:rPr lang="en-US" sz="1400" b="0" dirty="0"/>
              <a:t>Hỏi: 'Boulet, tử vong ngày 28: a, b, c, d?' Mong đợi: 6, 18, 6, 18.</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từng thẻ, mỗi lần quay về bảng. 'Giảm một phần ba' và 'ít hơn 10 ca trên 100' là cùng một kết quả.</a:t>
            </a:r>
          </a:p>
          <a:p>
            <a:r>
              <a:rPr lang="en-US" sz="1400" b="0" dirty="0"/>
              <a:t>Hỏi: 'Nguy cơ nền 3%, cùng RR 0.67: NNT bao nhiêu?' Mong đợi: 2% so với 3%, NNT = 100.</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9 người còn lại vẫn sống hoặc vẫn tử vong. NNT là trung bình, không phải dự đoán cho một người bệnh.</a:t>
            </a:r>
          </a:p>
          <a:p>
            <a:r>
              <a:rPr lang="en-US" sz="1400" b="0" dirty="0"/>
              <a:t>Bình chọn: 'NNT 5 hay 50 tốt hơn?' Mong đợi: 5.</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OR chỉ gần RR khi kết cục hiếm. Tử vong ở ICU là kết cục thường gặp.</a:t>
            </a:r>
          </a:p>
          <a:p>
            <a:r>
              <a:rPr lang="en-US" sz="1400" b="0" dirty="0"/>
              <a:t>Hỏi: 'OR của mình là 0.58, RR 0.67. Vì sao khác?' Mong đợi: tử vong thường gặp, nên OR phóng đại.</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s4_demo_VN.md. Tệp: 2x2_calculator.xlsx, đã điền sẵn. Học viên chỉ xem. Gửi tệp qua email sau buổi học.</a:t>
            </a:r>
          </a:p>
          <a:p>
            <a:r>
              <a:rPr lang="en-US" sz="1400" b="0" dirty="0"/>
              <a:t>Điểm chính: a = 2, c = 3. RR vẫn 0.67, OR thành 0.66, NNT tăng lên 100.</a:t>
            </a:r>
          </a:p>
          <a:p>
            <a:r>
              <a:rPr lang="en-US" sz="1400" b="0" dirty="0"/>
              <a:t>Công cụ vẫn tính 'nguy cơ' cho dữ liệu bệnh-chứng, nhưng chỉ OR là có giá trị.</a:t>
            </a:r>
          </a:p>
          <a:p>
            <a:r>
              <a:rPr lang="en-US" sz="1400" b="0" dirty="0"/>
              <a:t>Nếu không chia sẻ được màn hình, tính RR và NNT bằng tay.</a:t>
            </a:r>
          </a:p>
          <a:p>
            <a:r>
              <a:rPr lang="en-US" sz="1400" b="0" dirty="0"/>
              <a:t>Thời gian: 8 phút. 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20:45-21:00. Nhắc chuẩn bị bút, giấy và máy tính. Chiếu đồng hồ đếm ngược.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7 phút mỗi bài. Bình chọn từng bước và gõ bảng vào công cụ tính.</a:t>
            </a:r>
          </a:p>
          <a:p>
            <a:r>
              <a:rPr lang="en-US" sz="1400" b="0" dirty="0"/>
              <a:t>Bài 1: nguy cơ 10% và 15%, RR 0.67, RD -5 điểm, NNT 20, OR 0.63. Cùng RR, nguy cơ nền thấp hơn, nên NNT gấp đôi.</a:t>
            </a:r>
          </a:p>
          <a:p>
            <a:r>
              <a:rPr lang="en-US" sz="1400" b="0" dirty="0"/>
              <a:t>Bài 2: OR = (24 x 64) / (16 x 16) = 6.0. Không tính RR: nhà nghiên cứu tự chọn số ca bệnh và ca chứng. Hỏi về nhân quả ngược (thận suy).</a:t>
            </a:r>
          </a:p>
          <a:p>
            <a:r>
              <a:rPr lang="en-US" sz="1400" b="0" dirty="0"/>
              <a:t>Lỗi thường gặp là cách trình bày bảng. Đáp án: s4_solutions_VN, Phần 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4.3: 30 phút, kể cả 8 phút bài biểu đồ rừng. Khoảng 2.5 phút mỗi slide.</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Xét nghiệm nhạy giúp loại trừ. Xét nghiệm đặc hiệu giúp khẳng định. PPV ở đây chỉ 53%.</a:t>
            </a:r>
          </a:p>
          <a:p>
            <a:r>
              <a:rPr lang="en-US" sz="1400" b="0" dirty="0"/>
              <a:t>Bình chọn: 'Sàng lọc không được bỏ sót nhiễm khuẩn huyết: ưu tiên độ nhạy hay độ đặc hiệu?' Mong đợi: độ nhạy.</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PPV và NPV phụ thuộc tỷ lệ hiện mắc. Không mượn PPV từ bối cảnh khác.</a:t>
            </a:r>
          </a:p>
          <a:p>
            <a:r>
              <a:rPr lang="en-US" sz="1400" b="0" dirty="0"/>
              <a:t>Hỏi: 'Vì sao chương trình sàng lọc dùng xét nghiệm thứ hai đặc hiệu hơn?' Mong đợi: để loại dương tính giả.</a:t>
            </a:r>
          </a:p>
          <a:p>
            <a:r>
              <a:rPr lang="en-US" sz="1400" b="0" dirty="0"/>
              <a:t>Tùy chọn: chiếu ô 'PPV ở tỷ lệ hiện mắc khác' (s4_demo_VN.md, Phần 2).</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Ngưỡng tốt nhất tùy vào cái giá của bỏ sót so với báo động giả. AUC không chọn ngưỡng.</a:t>
            </a:r>
          </a:p>
          <a:p>
            <a:r>
              <a:rPr lang="en-US" sz="1400" b="0" dirty="0"/>
              <a:t>Bình chọn: 'Loại trừ nhiễm khuẩn huyết khi phân loại: ngưỡng lactate thấp hay cao?' Mong đợi: thấp.</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minh họa. Hai người sàng lọc độc lập. Đề cương được đăng ký trên PROSPERO.</a:t>
            </a:r>
          </a:p>
          <a:p>
            <a:r>
              <a:rPr lang="en-US" sz="1400" b="0" dirty="0"/>
              <a:t>Hỏi: 'Vì sao tìm cả sổ đăng ký thử nghiệm?' Mong đợi: thử nghiệm chưa công bố hoặc âm tính (sai lệch xuất bản).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bước: đường không tác động, hình vuông (trọng số), đường ngang (KTC), hình thoi: RR 0.79 (0.64-0.98).</a:t>
            </a:r>
          </a:p>
          <a:p>
            <a:r>
              <a:rPr lang="en-US" sz="1400" b="0" dirty="0"/>
              <a:t>Từng thử nghiệm đều cắt qua 1, nhưng kết quả gộp thì không. KTC cắt qua 1 là chưa chắc chắn, không phải không có tác động.</a:t>
            </a:r>
          </a:p>
          <a:p>
            <a:r>
              <a:rPr lang="en-US" sz="1400" b="0" dirty="0"/>
              <a:t>Chưa hỏi lớp: bài tập cuối phần 4.3 dùng biểu đồ này.</a:t>
            </a:r>
          </a:p>
          <a:p>
            <a:r>
              <a:rPr lang="en-US" sz="1400" b="0" dirty="0"/>
              <a:t>Thời gian: 3.5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Khi không đồng nhất cao, hỏi vì sao: người bệnh, liều, thời điểm, định nghĩa hay nguy cơ sai lệch. Mô hình hiệu ứng ngẫu nhiên chỉ làm KTC rộng ra.</a:t>
            </a:r>
          </a:p>
          <a:p>
            <a:r>
              <a:rPr lang="en-US" sz="1400" b="0" dirty="0"/>
              <a:t>Hỏi: 'Một lý do các thử nghiệm dịch truyền không thống nhất?' Mong đợi: quần thể, quy trình hoặc thời điểm khác nhau.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Hướng dẫn báo cáo kiểm tra điều đã báo cáo. Công cụ nguy cơ sai lệch đánh giá độ tin cậy. Đánh giá theo từng lĩnh vực, không cộng sao.</a:t>
            </a:r>
          </a:p>
          <a:p>
            <a:r>
              <a:rPr lang="en-US" sz="1400" b="0" dirty="0"/>
              <a:t>Bản một trang: Risk_of_Bias_Tool_Chooser.pdf.</a:t>
            </a:r>
          </a:p>
          <a:p>
            <a:r>
              <a:rPr lang="en-US" sz="1400" b="0" dirty="0"/>
              <a:t>Bình chọn: 'Nghiên cứu trước-sau về gói nhiễm khuẩn huyết: công cụ nào?' Mong đợi: ROBINS-I.</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Liên kết với bảng kiểm 10 câu ở Buổi 8 (Critical_Appraisal_Checklist.pdf).</a:t>
            </a:r>
          </a:p>
          <a:p>
            <a:r>
              <a:rPr lang="en-US" sz="1400" b="0" dirty="0"/>
              <a:t>Hỏi: 'Tìm một từ trong tiêu đề hay tóm tắt nói quá.' Mong đợi: 'impact', 'effect', 'reduces' trong nghiên cứu quan sát.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lại slide biểu đồ rừng khi lớp trả lời.</a:t>
            </a:r>
          </a:p>
          <a:p>
            <a:r>
              <a:rPr lang="en-US" sz="1400" b="0" dirty="0"/>
              <a:t>Đáp án: Thử nghiệm 4 có trọng số lớn nhất (38%). Mọi thử nghiệm đều cắt qua 1. Hình thoi thì không: nguy cơ tương đối thấp hơn khoảng 21%, giới hạn trên gần không tác động. Công cụ: RoB 2 cho Boulet, Newcastle-Ottawa hoặc ROBINS-E cho Hyun, AMSTAR 2 cho tổng quan.</a:t>
            </a:r>
          </a:p>
          <a:p>
            <a:r>
              <a:rPr lang="en-US" sz="1400" b="0" dirty="0"/>
              <a:t>Luôn nêu KTC cùng hình thoi. Nếu thiếu thời gian, chỉ làm câu về hình thoi và công cụ.</a:t>
            </a:r>
          </a:p>
          <a:p>
            <a:r>
              <a:rPr lang="en-US" sz="1400" b="0" dirty="0"/>
              <a:t>Đáp án: s4_solutions_VN, Phần E.</a:t>
            </a:r>
          </a:p>
          <a:p>
            <a:r>
              <a:rPr lang="en-US" sz="1400" b="0" dirty="0"/>
              <a:t>Thời gian: 8 phút. Kết thúc phần 4.3.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4 bắt đầu ở đây (slide này 2 phút, rồi 38 phút).</a:t>
            </a:r>
          </a:p>
          <a:p>
            <a:r>
              <a:rPr lang="en-US" sz="1400" b="0" dirty="0"/>
              <a:t>Nhiều kết cục chính dễ dẫn đến chọn kết quả có lợi.</a:t>
            </a:r>
          </a:p>
          <a:p>
            <a:r>
              <a:rPr lang="en-US" sz="1400" b="0" dirty="0"/>
              <a:t>Hỏi: 'Viết lại cải thiện kết cục người bệnh thành một kết cục chính.' Mong đợi: ví dụ lọc máu mới trước ngày 28 sau khi vào ICU, theo hồ sơ ICU.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phút: điền Phần 2b cho ví dụ xuyên suốt trên màn hình. 16 phút: mỗi người tự viết. 7 phút: ba bạn tình nguyện đọc một sai lệch và cách khắc phục.</a:t>
            </a:r>
          </a:p>
          <a:p>
            <a:r>
              <a:rPr lang="en-US" sz="1400" b="0" dirty="0"/>
              <a:t>Mẫu: phơi nhiễm cân bằng dịch dương ở 72 giờ, so sánh với bằng 0 hoặc âm, kết cục chính tử vong đến ngày 28. Sai lệch: mức độ nặng (hiệu chỉnh hoặc ghép cặp), chọn lựa (người bệnh liên tiếp), thông tin (kiểm tra lại 10% hồ sơ). Bản đầy đủ trong s4_solutions_VN, Phần F.</a:t>
            </a:r>
          </a:p>
          <a:p>
            <a:r>
              <a:rPr lang="en-US" sz="1400" b="0" dirty="0"/>
              <a:t>Chú ý: thiếu nhóm so sánh, ba kết cục chính, 'chúng tôi sẽ cẩn thận' không phải là cách khắc phục.</a:t>
            </a:r>
          </a:p>
          <a:p>
            <a:r>
              <a:rPr lang="en-US" sz="1400" b="0" dirty="0"/>
              <a:t>Nhắc khi còn 10 phút và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Mời bốn bạn tình nguyện giải thích mỗi người một thẻ. Mỗi đề cương giờ đã có Phần 1 và Phần 2.</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hỏi cuối buổi: nhiễu do chỉ định, hoặc nhân quả ngược (thận suy).</a:t>
            </a:r>
          </a:p>
          <a:p>
            <a:r>
              <a:rPr lang="en-US" sz="1400" b="0" dirty="0"/>
              <a:t>Mở đầu Buổi 5 bằng ba câu trả lời (ẩn tên).</a:t>
            </a:r>
          </a:p>
          <a:p>
            <a:r>
              <a:rPr lang="en-US" sz="1400" b="0" dirty="0"/>
              <a:t>Giới thiệu trước: Tuần 5-6 chuyển thiết kế thành dữ liệu và giới thiệu FLUID-ICU. Ở Buổi 6, mỗi người chọn một câu hỏi (Q1-Q5) để viết phần Kết quả.</a:t>
            </a:r>
          </a:p>
          <a:p>
            <a:r>
              <a:rPr lang="en-US" sz="1400" b="0" dirty="0"/>
              <a:t>Thời gian: 3 phút. Kết thúc lúc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Tùy chọn. Dùng nếu còn thời gian,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A sai lệch chọn lựa. B sai lệch người quan sát. C sai lệch đo lường, làm sai phép so sánh vì chỉ xảy ra ở một khoa.</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yếu tố thứ ba trước khi hiện đáp án. Thẻ 3 vừa có tác động thật vừa có nhiễu.</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giới thiệu khái niệm. LR+ 4.5, LR- 0.13. LR không phụ thuộc tỷ lệ hiện mắc. Báo cáo: STARD. Đánh giá: QUADAS-2.</a:t>
            </a:r>
          </a:p>
          <a:p>
            <a:r>
              <a:rPr lang="en-US" sz="1400" b="0" dirty="0"/>
              <a:t>Thời gian: 1.5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Minh họa. Lĩnh vực kém nhất quyết định đánh giá chung. Boulet: D1 có lẽ thấp, D2 có vài lo ngại, D4 thấp với cân bằng dịch.</a:t>
            </a:r>
          </a:p>
          <a:p>
            <a:r>
              <a:rPr lang="en-US" sz="1400" b="0" dirty="0"/>
              <a:t>Không làm mù chưa chắc là nguy cơ cao.</a:t>
            </a:r>
          </a:p>
          <a:p>
            <a:r>
              <a:rPr lang="en-US" sz="1400" b="0" dirty="0"/>
              <a:t>Thời gian: 1.5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Khác biệt nằm ở mẫu số: mọi người hôm nay (200) so với người có nguy cơ (180) trong một khoảng thời gian.</a:t>
            </a:r>
          </a:p>
          <a:p>
            <a:r>
              <a:rPr lang="en-US" sz="1400" b="0" dirty="0"/>
              <a:t>Thời gian: 1.5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2.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3.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4.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5.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6.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7.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8.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9.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0.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1.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2.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4.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5.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6.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7.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18.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Nền tảng Nghiên cứu Lâm sàng</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Cấp độ 1: Từ câu hỏi lâm sàng đến công bố</a:t>
            </a:r>
          </a:p>
          <a:p>
            <a:pPr marL="0" indent="0" algn="ctr">
              <a:spcBef>
                <a:spcPts val="440"/>
              </a:spcBef>
              <a:buNone/>
            </a:pPr>
            <a:r>
              <a:rPr lang="en-US" sz="2000" dirty="0">
                <a:solidFill>
                  <a:srgbClr val="000000"/>
                </a:solidFill>
                <a:latin typeface="Arial"/>
                <a:cs typeface="Arial"/>
              </a:rPr>
              <a:t>8 buổi tối trực tuyến, 19:30 đến 22:30, 24 giờ học</a:t>
            </a:r>
          </a:p>
          <a:p>
            <a:pPr marL="0" indent="0" algn="ctr">
              <a:spcBef>
                <a:spcPts val="440"/>
              </a:spcBef>
              <a:buNone/>
            </a:pPr>
            <a:r>
              <a:rPr lang="en-US" sz="2000" dirty="0">
                <a:solidFill>
                  <a:srgbClr val="000000"/>
                </a:solidFill>
                <a:latin typeface="Arial"/>
                <a:cs typeface="Arial"/>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Ngày: 21/11/2026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4 · Sai lệch và tác động: có tin được không, lớn đến đâu?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4 · Thứ Bảy · trực tuyến,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3 (10 phút)</a:t>
            </a:r>
          </a:p>
          <a:p>
            <a:pPr marL="274320" indent="-274320" algn="l">
              <a:spcBef>
                <a:spcPts val="440"/>
              </a:spcBef>
              <a:buFont typeface="Arial"/>
              <a:buChar char="•"/>
            </a:pPr>
            <a:r>
              <a:rPr lang="en-US" sz="1900" dirty="0">
                <a:solidFill>
                  <a:srgbClr val="000000"/>
                </a:solidFill>
                <a:latin typeface="Arial"/>
                <a:cs typeface="Arial"/>
              </a:rPr>
              <a:t>4.1  Sai lệch, yếu tố nhiễu và nhân quả (40 phút)</a:t>
            </a:r>
          </a:p>
          <a:p>
            <a:pPr marL="274320" indent="-274320" algn="l">
              <a:spcBef>
                <a:spcPts val="440"/>
              </a:spcBef>
              <a:buFont typeface="Arial"/>
              <a:buChar char="•"/>
            </a:pPr>
            <a:r>
              <a:rPr lang="en-US" sz="1900" dirty="0">
                <a:solidFill>
                  <a:srgbClr val="000000"/>
                </a:solidFill>
                <a:latin typeface="Arial"/>
                <a:cs typeface="Arial"/>
              </a:rPr>
              <a:t>4.2  Đo lường bệnh và mối liên quan, kèm trình diễn bảng 2x2 (25 phút)</a:t>
            </a:r>
          </a:p>
          <a:p>
            <a:pPr marL="274320" indent="-274320" algn="l">
              <a:spcBef>
                <a:spcPts val="440"/>
              </a:spcBef>
              <a:buFont typeface="Arial"/>
              <a:buChar char="•"/>
            </a:pPr>
            <a:r>
              <a:rPr lang="en-US" sz="1900" dirty="0">
                <a:solidFill>
                  <a:srgbClr val="000000"/>
                </a:solidFill>
                <a:latin typeface="Arial"/>
                <a:cs typeface="Arial"/>
              </a:rPr>
              <a:t>Giải lao (15 phút), rồi cả lớp cùng làm hai bài tính bảng 2x2 (15 phút)</a:t>
            </a:r>
          </a:p>
          <a:p>
            <a:pPr marL="274320" indent="-274320" algn="l">
              <a:spcBef>
                <a:spcPts val="440"/>
              </a:spcBef>
              <a:buFont typeface="Arial"/>
              <a:buChar char="•"/>
            </a:pPr>
            <a:r>
              <a:rPr lang="en-US" sz="1900" dirty="0">
                <a:solidFill>
                  <a:srgbClr val="000000"/>
                </a:solidFill>
                <a:latin typeface="Arial"/>
                <a:cs typeface="Arial"/>
              </a:rPr>
              <a:t>4.3  Vượt ra ngoài một nghiên cứu: xét nghiệm, phân tích gộp, thẩm định (30 phút)</a:t>
            </a:r>
          </a:p>
          <a:p>
            <a:pPr marL="274320" indent="-274320" algn="l">
              <a:spcBef>
                <a:spcPts val="440"/>
              </a:spcBef>
              <a:buFont typeface="Arial"/>
              <a:buChar char="•"/>
            </a:pPr>
            <a:r>
              <a:rPr lang="en-US" sz="1900" dirty="0">
                <a:solidFill>
                  <a:srgbClr val="000000"/>
                </a:solidFill>
                <a:latin typeface="Arial"/>
                <a:cs typeface="Arial"/>
              </a:rPr>
              <a:t>Xây dựng đề cương 4: phơi nhiễm, kết cục, sai lệch (40 phút), rồi tổng kết (5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về Buổi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9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Người bệnh nhiễm khuẩn huyết đã tử vong được so sánh với người sống sót về lượng dịch đã nhận ở ngày 1-3. Thiết kế?</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Thiết kế nào phân nhóm ngẫu nhiên cả đơn vị hồi sức tích cực (ICU) thay vì từng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Hạn chế dịch so với thường quy: hiệu số tử vong, KTC 95% từ -1 đến +3 điểm. Ngưỡng +4 điểm. Kết quả?</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Sau đó đọc lại Phần 2a đề cương của bạn (thiết kế, bối cảnh, đối tượng): 3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Cách thực hiện</a:t>
            </a:r>
          </a:p>
          <a:p>
            <a:pPr marL="0" indent="0" algn="ctr">
              <a:lnSpc>
                <a:spcPct val="104000"/>
              </a:lnSpc>
              <a:spcBef>
                <a:spcPts val="300"/>
              </a:spcBef>
              <a:buNone/>
            </a:pPr>
            <a:r>
              <a:rPr lang="en-US" sz="1500" dirty="0">
                <a:solidFill>
                  <a:srgbClr val="000000"/>
                </a:solidFill>
                <a:latin typeface="Arial"/>
                <a:cs typeface="Arial"/>
              </a:rPr>
              <a:t>Trả lời qua bình chọn</a:t>
            </a:r>
          </a:p>
          <a:p>
            <a:pPr marL="0" indent="0" algn="ctr">
              <a:lnSpc>
                <a:spcPct val="104000"/>
              </a:lnSpc>
              <a:spcBef>
                <a:spcPts val="300"/>
              </a:spcBef>
              <a:buNone/>
            </a:pPr>
            <a:r>
              <a:rPr lang="en-US" sz="1500" dirty="0">
                <a:solidFill>
                  <a:srgbClr val="000000"/>
                </a:solidFill>
                <a:latin typeface="Arial"/>
                <a:cs typeface="Arial"/>
              </a:rPr>
              <a:t>Xem kết quả, rồi công bố đáp án</a:t>
            </a:r>
          </a:p>
          <a:p>
            <a:pPr marL="0" indent="0" algn="ctr">
              <a:lnSpc>
                <a:spcPct val="104000"/>
              </a:lnSpc>
              <a:spcBef>
                <a:spcPts val="300"/>
              </a:spcBef>
              <a:buNone/>
            </a:pPr>
            <a:r>
              <a:rPr lang="en-US" sz="1500" dirty="0">
                <a:solidFill>
                  <a:srgbClr val="000000"/>
                </a:solidFill>
                <a:latin typeface="Arial"/>
                <a:cs typeface="Arial"/>
              </a:rPr>
              <a:t>Một bạn tình nguyện giải thích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Câu trả lời bình chọn, và Phần 2a sẵn sàng để viết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ngày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Từ vựng hôm nay. Mỗi từ đi kèm một hình hoặc một ví dụ</a:t>
            </a:r>
          </a:p>
        </p:txBody>
      </p:sp>
      <p:sp>
        <p:nvSpPr>
          <p:cNvPr id="70" name="CardHead"/>
          <p:cNvSpPr/>
          <p:nvPr/>
        </p:nvSpPr>
        <p:spPr>
          <a:xfrm>
            <a:off x="457200" y="2058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tin được không?</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Sai lệch, yếu tố nhiễu</a:t>
            </a:r>
          </a:p>
          <a:p>
            <a:pPr marL="0" indent="0" algn="ctr">
              <a:lnSpc>
                <a:spcPct val="104000"/>
              </a:lnSpc>
              <a:spcBef>
                <a:spcPts val="400"/>
              </a:spcBef>
              <a:buNone/>
            </a:pPr>
            <a:r>
              <a:rPr lang="en-US" sz="1600" dirty="0">
                <a:solidFill>
                  <a:srgbClr val="000000"/>
                </a:solidFill>
                <a:latin typeface="Arial"/>
                <a:cs typeface="Arial"/>
              </a:rPr>
              <a:t>Thay đổi tác động (effect modification)</a:t>
            </a:r>
          </a:p>
          <a:p>
            <a:pPr marL="0" indent="0" algn="ctr">
              <a:lnSpc>
                <a:spcPct val="104000"/>
              </a:lnSpc>
              <a:spcBef>
                <a:spcPts val="400"/>
              </a:spcBef>
              <a:buNone/>
            </a:pPr>
            <a:r>
              <a:rPr lang="en-US" sz="1600" dirty="0">
                <a:solidFill>
                  <a:srgbClr val="000000"/>
                </a:solidFill>
                <a:latin typeface="Arial"/>
                <a:cs typeface="Arial"/>
              </a:rPr>
              <a:t>Quan hệ nhân quả ngược</a:t>
            </a:r>
          </a:p>
        </p:txBody>
      </p:sp>
      <p:sp>
        <p:nvSpPr>
          <p:cNvPr id="72" name="CardHead"/>
          <p:cNvSpPr/>
          <p:nvPr/>
        </p:nvSpPr>
        <p:spPr>
          <a:xfrm>
            <a:off x="33266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Lớn đến đâu?</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Nguy cơ tương đối (RR), tỷ số chênh (OR)</a:t>
            </a:r>
          </a:p>
          <a:p>
            <a:pPr marL="0" indent="0" algn="ctr">
              <a:lnSpc>
                <a:spcPct val="104000"/>
              </a:lnSpc>
              <a:spcBef>
                <a:spcPts val="400"/>
              </a:spcBef>
              <a:buNone/>
            </a:pPr>
            <a:r>
              <a:rPr lang="en-US" sz="1600" dirty="0">
                <a:solidFill>
                  <a:srgbClr val="000000"/>
                </a:solidFill>
                <a:latin typeface="Arial"/>
                <a:cs typeface="Arial"/>
              </a:rPr>
              <a:t>Hiệu số nguy cơ (RD)</a:t>
            </a:r>
          </a:p>
          <a:p>
            <a:pPr marL="0" indent="0" algn="ctr">
              <a:lnSpc>
                <a:spcPct val="104000"/>
              </a:lnSpc>
              <a:spcBef>
                <a:spcPts val="400"/>
              </a:spcBef>
              <a:buNone/>
            </a:pPr>
            <a:r>
              <a:rPr lang="en-US" sz="1600" dirty="0">
                <a:solidFill>
                  <a:srgbClr val="000000"/>
                </a:solidFill>
                <a:latin typeface="Arial"/>
                <a:cs typeface="Arial"/>
              </a:rPr>
              <a:t>Số người cần điều trị (NNT)</a:t>
            </a:r>
          </a:p>
        </p:txBody>
      </p:sp>
      <p:sp>
        <p:nvSpPr>
          <p:cNvPr id="74" name="CardHead"/>
          <p:cNvSpPr/>
          <p:nvPr/>
        </p:nvSpPr>
        <p:spPr>
          <a:xfrm>
            <a:off x="61960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Xét nghiệm</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Độ nhạy, độ đặc hiệu</a:t>
            </a:r>
          </a:p>
          <a:p>
            <a:pPr marL="0" indent="0" algn="ctr">
              <a:lnSpc>
                <a:spcPct val="104000"/>
              </a:lnSpc>
              <a:spcBef>
                <a:spcPts val="400"/>
              </a:spcBef>
              <a:buNone/>
            </a:pPr>
            <a:r>
              <a:rPr lang="en-US" sz="1600" dirty="0">
                <a:solidFill>
                  <a:srgbClr val="000000"/>
                </a:solidFill>
                <a:latin typeface="Arial"/>
                <a:cs typeface="Arial"/>
              </a:rPr>
              <a:t>Giá trị tiên đoán dương và âm</a:t>
            </a:r>
          </a:p>
          <a:p>
            <a:pPr marL="0" indent="0" algn="ctr">
              <a:lnSpc>
                <a:spcPct val="104000"/>
              </a:lnSpc>
              <a:spcBef>
                <a:spcPts val="400"/>
              </a:spcBef>
              <a:buNone/>
            </a:pPr>
            <a:r>
              <a:rPr lang="en-US" sz="1600" dirty="0">
                <a:solidFill>
                  <a:srgbClr val="000000"/>
                </a:solidFill>
                <a:latin typeface="Arial"/>
                <a:cs typeface="Arial"/>
              </a:rPr>
              <a:t>Đường cong ROC và diện tích dưới đường cong</a:t>
            </a:r>
          </a:p>
        </p:txBody>
      </p:sp>
      <p:sp>
        <p:nvSpPr>
          <p:cNvPr id="76" name="CardHead"/>
          <p:cNvSpPr/>
          <p:nvPr/>
        </p:nvSpPr>
        <p:spPr>
          <a:xfrm>
            <a:off x="9065400" y="2058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Nhiều nghiên cứu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Biểu đồ rừng (forest plot), không đồng nhất</a:t>
            </a:r>
          </a:p>
          <a:p>
            <a:pPr marL="0" indent="0" algn="ctr">
              <a:lnSpc>
                <a:spcPct val="104000"/>
              </a:lnSpc>
              <a:spcBef>
                <a:spcPts val="400"/>
              </a:spcBef>
              <a:buNone/>
            </a:pPr>
            <a:r>
              <a:rPr lang="en-US" sz="1600" dirty="0">
                <a:solidFill>
                  <a:srgbClr val="000000"/>
                </a:solidFill>
                <a:latin typeface="Arial"/>
                <a:cs typeface="Arial"/>
              </a:rPr>
              <a:t>Công cụ đánh giá nguy cơ sai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Tin trước, rồi mới đến độ lớn: một câu trả lời chính xác vẫn có thể bị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4.1  Sai lệch, yếu tố nhiễu và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Sai lệch là sai số hệ thống. Tăng cỡ mẫu không sửa được.</a:t>
            </a:r>
          </a:p>
          <a:p>
            <a:pPr marL="0" indent="0" algn="ctr">
              <a:spcBef>
                <a:spcPts val="1200"/>
              </a:spcBef>
              <a:buNone/>
            </a:pPr>
            <a:r>
              <a:rPr lang="en-US" sz="1900" i="1" dirty="0">
                <a:solidFill>
                  <a:srgbClr val="595959"/>
                </a:solidFill>
                <a:latin typeface="Arial"/>
                <a:cs typeface="Arial"/>
              </a:rPr>
              <a:t>Chọn lựa, thông tin, yếu tố nhiễu, thay đổi tác động, và từ liên quan đến nhân quả.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số ngẫu nhiên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Cỡ mẫu lớn làm giảm sai số ngẫu nhiên nhưng không động đến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lệch chọn lựa: ai được đưa vào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mẫu khác quần thể đích, kết quả có thể không áp dụng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lệch thông tin: đo lường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40011"/>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Sai lệch nhớ lại</a:t>
            </a:r>
          </a:p>
        </p:txBody>
      </p:sp>
      <p:sp>
        <p:nvSpPr>
          <p:cNvPr id="71" name="CardBody"/>
          <p:cNvSpPr/>
          <p:nvPr/>
        </p:nvSpPr>
        <p:spPr>
          <a:xfrm>
            <a:off x="457200"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Ca bệnh cố nhớ kỹ hơn ca chứng</a:t>
            </a:r>
          </a:p>
          <a:p>
            <a:pPr marL="0" indent="0" algn="ctr">
              <a:lnSpc>
                <a:spcPct val="104000"/>
              </a:lnSpc>
              <a:spcBef>
                <a:spcPts val="400"/>
              </a:spcBef>
              <a:buNone/>
            </a:pPr>
            <a:r>
              <a:rPr lang="en-US" sz="1750" dirty="0">
                <a:solidFill>
                  <a:srgbClr val="000000"/>
                </a:solidFill>
                <a:latin typeface="Arial"/>
                <a:cs typeface="Arial"/>
              </a:rPr>
              <a:t>vd. gia đình người tử vong nhớ những ngày trước khi nhập viện kỹ hơn</a:t>
            </a:r>
          </a:p>
          <a:p>
            <a:pPr marL="0" indent="0" algn="ctr">
              <a:lnSpc>
                <a:spcPct val="104000"/>
              </a:lnSpc>
              <a:spcBef>
                <a:spcPts val="400"/>
              </a:spcBef>
              <a:buNone/>
            </a:pPr>
            <a:r>
              <a:rPr lang="en-US" sz="1750" b="1" dirty="0">
                <a:solidFill>
                  <a:srgbClr val="000000"/>
                </a:solidFill>
                <a:latin typeface="Arial"/>
                <a:cs typeface="Arial"/>
              </a:rPr>
              <a:t>Khắc phục: dùng hồ sơ ghi trước khi có kết cục</a:t>
            </a:r>
          </a:p>
        </p:txBody>
      </p:sp>
      <p:sp>
        <p:nvSpPr>
          <p:cNvPr id="72" name="CardHead"/>
          <p:cNvSpPr/>
          <p:nvPr/>
        </p:nvSpPr>
        <p:spPr>
          <a:xfrm>
            <a:off x="4283066" y="1540011"/>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Sai lệch người quan sát</a:t>
            </a:r>
          </a:p>
        </p:txBody>
      </p:sp>
      <p:sp>
        <p:nvSpPr>
          <p:cNvPr id="73" name="CardBody"/>
          <p:cNvSpPr/>
          <p:nvPr/>
        </p:nvSpPr>
        <p:spPr>
          <a:xfrm>
            <a:off x="4283066"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đánh giá biết nhóm sẽ đánh giá khác đi</a:t>
            </a:r>
          </a:p>
          <a:p>
            <a:pPr marL="0" indent="0" algn="ctr">
              <a:lnSpc>
                <a:spcPct val="104000"/>
              </a:lnSpc>
              <a:spcBef>
                <a:spcPts val="400"/>
              </a:spcBef>
              <a:buNone/>
            </a:pPr>
            <a:r>
              <a:rPr lang="en-US" sz="1750" dirty="0">
                <a:solidFill>
                  <a:srgbClr val="000000"/>
                </a:solidFill>
                <a:latin typeface="Arial"/>
                <a:cs typeface="Arial"/>
              </a:rPr>
              <a:t>vd. 'đủ điều kiện ra khỏi ICU' trong thử nghiệm dịch truyền không làm mù</a:t>
            </a:r>
          </a:p>
          <a:p>
            <a:pPr marL="0" indent="0" algn="ctr">
              <a:lnSpc>
                <a:spcPct val="104000"/>
              </a:lnSpc>
              <a:spcBef>
                <a:spcPts val="400"/>
              </a:spcBef>
              <a:buNone/>
            </a:pPr>
            <a:r>
              <a:rPr lang="en-US" sz="1750" b="1" dirty="0">
                <a:solidFill>
                  <a:srgbClr val="000000"/>
                </a:solidFill>
                <a:latin typeface="Arial"/>
                <a:cs typeface="Arial"/>
              </a:rPr>
              <a:t>Khắc phục: làm mù người đánh giá, kết cục khách quan</a:t>
            </a:r>
          </a:p>
        </p:txBody>
      </p:sp>
      <p:sp>
        <p:nvSpPr>
          <p:cNvPr id="74" name="CardHead"/>
          <p:cNvSpPr/>
          <p:nvPr/>
        </p:nvSpPr>
        <p:spPr>
          <a:xfrm>
            <a:off x="8108932" y="1540011"/>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Sai lệch đo lường</a:t>
            </a:r>
          </a:p>
        </p:txBody>
      </p:sp>
      <p:sp>
        <p:nvSpPr>
          <p:cNvPr id="75" name="CardBody"/>
          <p:cNvSpPr/>
          <p:nvPr/>
        </p:nvSpPr>
        <p:spPr>
          <a:xfrm>
            <a:off x="8108932"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Dụng cụ hoặc ghi chép sai một cách hệ thống</a:t>
            </a:r>
          </a:p>
          <a:p>
            <a:pPr marL="0" indent="0" algn="ctr">
              <a:lnSpc>
                <a:spcPct val="104000"/>
              </a:lnSpc>
              <a:spcBef>
                <a:spcPts val="400"/>
              </a:spcBef>
              <a:buNone/>
            </a:pPr>
            <a:r>
              <a:rPr lang="en-US" sz="1750" dirty="0">
                <a:solidFill>
                  <a:srgbClr val="000000"/>
                </a:solidFill>
                <a:latin typeface="Arial"/>
                <a:cs typeface="Arial"/>
              </a:rPr>
              <a:t>vd. lượng nước tiểu bị ghi thiếu ở ca đêm</a:t>
            </a:r>
          </a:p>
          <a:p>
            <a:pPr marL="0" indent="0" algn="ctr">
              <a:lnSpc>
                <a:spcPct val="104000"/>
              </a:lnSpc>
              <a:spcBef>
                <a:spcPts val="400"/>
              </a:spcBef>
              <a:buNone/>
            </a:pPr>
            <a:r>
              <a:rPr lang="en-US" sz="1750" b="1" dirty="0">
                <a:solidFill>
                  <a:srgbClr val="000000"/>
                </a:solidFill>
                <a:latin typeface="Arial"/>
                <a:cs typeface="Arial"/>
              </a:rPr>
              <a:t>Khắc phục: định nghĩa chuẩn, kiểm tra hồ sơ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 phơi nhiễm và kết cục theo cùng một cách ở mọi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Nhiễu do chỉ định: ví dụ dịch truyền ở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SOFA: thang điểm đánh giá suy đa cơ quan (Sequential Organ Failure Assessment)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Yếu tố nhiễu liên quan với phơi nhiễm và là nguyên nhân của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Yếu tố nhiễu bằng con số: mối liên quan biến mất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giả định dùng cho giảng dạy. RR: nguy cơ tương đối.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So sánh tương đồng: trong từng mức độ nặng, lượng dịch không tạo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Yếu tố nhiễu hay thay đổi tác động?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giả định dùng cho giảng dạy. RR: nguy cơ tương đối. ARDS: hội chứng suy hô hấp cấp tiến triển.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Nhiễu là sai lệch cần loại bỏ. Thay đổi tác động là phát hiện cần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chống lại sai lệch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Phòng sai lệch ngay từ thiết kế. Xử lý phần còn lại khi phân tích</a:t>
            </a:r>
          </a:p>
        </p:txBody>
      </p:sp>
      <p:sp>
        <p:nvSpPr>
          <p:cNvPr id="70" name="CardHead"/>
          <p:cNvSpPr/>
          <p:nvPr/>
        </p:nvSpPr>
        <p:spPr>
          <a:xfrm>
            <a:off x="457200" y="181641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Ngẫu nhiên và che giấu</a:t>
            </a:r>
          </a:p>
        </p:txBody>
      </p:sp>
      <p:sp>
        <p:nvSpPr>
          <p:cNvPr id="71" name="CardBody"/>
          <p:cNvSpPr/>
          <p:nvPr/>
        </p:nvSpPr>
        <p:spPr>
          <a:xfrm>
            <a:off x="457200" y="2456411"/>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May rủi quyết định nhóm</a:t>
            </a:r>
          </a:p>
          <a:p>
            <a:pPr marL="0" indent="0" algn="ctr">
              <a:lnSpc>
                <a:spcPct val="104000"/>
              </a:lnSpc>
              <a:spcBef>
                <a:spcPts val="400"/>
              </a:spcBef>
              <a:buNone/>
            </a:pPr>
            <a:r>
              <a:rPr lang="en-US" sz="1750" dirty="0">
                <a:solidFill>
                  <a:srgbClr val="000000"/>
                </a:solidFill>
                <a:latin typeface="Arial"/>
                <a:cs typeface="Arial"/>
              </a:rPr>
              <a:t>Cân bằng yếu tố nhiễu đã biết và chưa biết</a:t>
            </a:r>
          </a:p>
          <a:p>
            <a:pPr marL="0" indent="0" algn="ctr">
              <a:lnSpc>
                <a:spcPct val="104000"/>
              </a:lnSpc>
              <a:spcBef>
                <a:spcPts val="400"/>
              </a:spcBef>
              <a:buNone/>
            </a:pPr>
            <a:r>
              <a:rPr lang="en-US" sz="1750" dirty="0">
                <a:solidFill>
                  <a:srgbClr val="000000"/>
                </a:solidFill>
                <a:latin typeface="Arial"/>
                <a:cs typeface="Arial"/>
              </a:rPr>
              <a:t>Không ai đoán được lần phân bổ kế tiếp</a:t>
            </a:r>
          </a:p>
        </p:txBody>
      </p:sp>
      <p:sp>
        <p:nvSpPr>
          <p:cNvPr id="72" name="CardHead"/>
          <p:cNvSpPr/>
          <p:nvPr/>
        </p:nvSpPr>
        <p:spPr>
          <a:xfrm>
            <a:off x="4283066" y="181641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Làm mù</a:t>
            </a:r>
          </a:p>
        </p:txBody>
      </p:sp>
      <p:sp>
        <p:nvSpPr>
          <p:cNvPr id="73" name="CardBody"/>
          <p:cNvSpPr/>
          <p:nvPr/>
        </p:nvSpPr>
        <p:spPr>
          <a:xfrm>
            <a:off x="4283066" y="2456411"/>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bệnh, bác sĩ, người đánh giá, người phân tích</a:t>
            </a:r>
          </a:p>
          <a:p>
            <a:pPr marL="0" indent="0" algn="ctr">
              <a:lnSpc>
                <a:spcPct val="104000"/>
              </a:lnSpc>
              <a:spcBef>
                <a:spcPts val="400"/>
              </a:spcBef>
              <a:buNone/>
            </a:pPr>
            <a:r>
              <a:rPr lang="en-US" sz="1750" dirty="0">
                <a:solidFill>
                  <a:srgbClr val="000000"/>
                </a:solidFill>
                <a:latin typeface="Arial"/>
                <a:cs typeface="Arial"/>
              </a:rPr>
              <a:t>Bảo vệ cách đo kết cục</a:t>
            </a:r>
          </a:p>
          <a:p>
            <a:pPr marL="0" indent="0" algn="ctr">
              <a:lnSpc>
                <a:spcPct val="104000"/>
              </a:lnSpc>
              <a:spcBef>
                <a:spcPts val="400"/>
              </a:spcBef>
              <a:buNone/>
            </a:pPr>
            <a:r>
              <a:rPr lang="en-US" sz="1750" dirty="0">
                <a:solidFill>
                  <a:srgbClr val="000000"/>
                </a:solidFill>
                <a:latin typeface="Arial"/>
                <a:cs typeface="Arial"/>
              </a:rPr>
              <a:t>Nếu không thể: làm mù người đánh giá</a:t>
            </a:r>
          </a:p>
        </p:txBody>
      </p:sp>
      <p:sp>
        <p:nvSpPr>
          <p:cNvPr id="74" name="CardHead"/>
          <p:cNvSpPr/>
          <p:nvPr/>
        </p:nvSpPr>
        <p:spPr>
          <a:xfrm>
            <a:off x="8108932" y="1816411"/>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Giới hạn, ghép cặp, hiệu chỉnh</a:t>
            </a:r>
          </a:p>
        </p:txBody>
      </p:sp>
      <p:sp>
        <p:nvSpPr>
          <p:cNvPr id="75" name="CardBody"/>
          <p:cNvSpPr/>
          <p:nvPr/>
        </p:nvSpPr>
        <p:spPr>
          <a:xfrm>
            <a:off x="8108932" y="2456411"/>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Giới hạn: thu hẹp tiêu chuẩn chọn</a:t>
            </a:r>
          </a:p>
          <a:p>
            <a:pPr marL="0" indent="0" algn="ctr">
              <a:lnSpc>
                <a:spcPct val="104000"/>
              </a:lnSpc>
              <a:spcBef>
                <a:spcPts val="400"/>
              </a:spcBef>
              <a:buNone/>
            </a:pPr>
            <a:r>
              <a:rPr lang="en-US" sz="1750" dirty="0">
                <a:solidFill>
                  <a:srgbClr val="000000"/>
                </a:solidFill>
                <a:latin typeface="Arial"/>
                <a:cs typeface="Arial"/>
              </a:rPr>
              <a:t>Ghép cặp: ghép người bệnh tương tự</a:t>
            </a:r>
          </a:p>
          <a:p>
            <a:pPr marL="0" indent="0" algn="ctr">
              <a:lnSpc>
                <a:spcPct val="104000"/>
              </a:lnSpc>
              <a:spcBef>
                <a:spcPts val="400"/>
              </a:spcBef>
              <a:buNone/>
            </a:pPr>
            <a:r>
              <a:rPr lang="en-US" sz="1750" dirty="0">
                <a:solidFill>
                  <a:srgbClr val="000000"/>
                </a:solidFill>
                <a:latin typeface="Arial"/>
                <a:cs typeface="Arial"/>
              </a:rPr>
              <a:t>Hiệu chỉnh: thống kê khi phân tích</a:t>
            </a:r>
          </a:p>
          <a:p>
            <a:pPr marL="0" indent="0" algn="ctr">
              <a:lnSpc>
                <a:spcPct val="104000"/>
              </a:lnSpc>
              <a:spcBef>
                <a:spcPts val="400"/>
              </a:spcBef>
              <a:buNone/>
            </a:pPr>
            <a:r>
              <a:rPr lang="en-US" sz="1750" b="1" dirty="0">
                <a:solidFill>
                  <a:srgbClr val="B23B2E"/>
                </a:solidFill>
                <a:latin typeface="Arial"/>
                <a:cs typeface="Arial"/>
              </a:rPr>
              <a:t>Chỉ với yếu tố nhiễu đã đo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Chỉ phân nhóm ngẫu nhiên bảo vệ trước yếu tố nhiễu chưa từng được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Phân bổ ngẫu nhiên cân bằng cả điều đã biết và điều chưa biết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phân nhóm ngẫu nhiên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Nhờ may rủi, hai nhóm có thành phần tương tự, kể cả yếu tố chưa ai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 giấu phân bổ trước, làm mù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Trước: che giấu phân bổ</a:t>
            </a:r>
          </a:p>
        </p:txBody>
      </p:sp>
      <p:sp>
        <p:nvSpPr>
          <p:cNvPr id="71" name="CardBody"/>
          <p:cNvSpPr/>
          <p:nvPr/>
        </p:nvSpPr>
        <p:spPr>
          <a:xfrm>
            <a:off x="4572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Không ai đoán được lần phân bổ kế tiếp</a:t>
            </a:r>
          </a:p>
          <a:p>
            <a:pPr marL="0" indent="0" algn="ctr">
              <a:lnSpc>
                <a:spcPct val="104000"/>
              </a:lnSpc>
              <a:spcBef>
                <a:spcPts val="400"/>
              </a:spcBef>
              <a:buNone/>
            </a:pPr>
            <a:r>
              <a:rPr lang="en-US" sz="1750" dirty="0">
                <a:solidFill>
                  <a:srgbClr val="000000"/>
                </a:solidFill>
                <a:latin typeface="Arial"/>
                <a:cs typeface="Arial"/>
              </a:rPr>
              <a:t>Bài báo 1 (Boulet): máy tính trung tâm</a:t>
            </a:r>
          </a:p>
          <a:p>
            <a:pPr marL="0" indent="0" algn="ctr">
              <a:lnSpc>
                <a:spcPct val="104000"/>
              </a:lnSpc>
              <a:spcBef>
                <a:spcPts val="400"/>
              </a:spcBef>
              <a:buNone/>
            </a:pPr>
            <a:r>
              <a:rPr lang="en-US" sz="1750" dirty="0">
                <a:solidFill>
                  <a:srgbClr val="000000"/>
                </a:solidFill>
                <a:latin typeface="Arial"/>
                <a:cs typeface="Arial"/>
              </a:rPr>
              <a:t>Bảo vệ việc phân người bệnh vào từng nhóm</a:t>
            </a:r>
          </a:p>
          <a:p>
            <a:pPr marL="0" indent="0" algn="ctr">
              <a:lnSpc>
                <a:spcPct val="104000"/>
              </a:lnSpc>
              <a:spcBef>
                <a:spcPts val="400"/>
              </a:spcBef>
              <a:buNone/>
            </a:pPr>
            <a:r>
              <a:rPr lang="en-US" sz="1750" dirty="0">
                <a:solidFill>
                  <a:srgbClr val="000000"/>
                </a:solidFill>
                <a:latin typeface="Arial"/>
                <a:cs typeface="Arial"/>
              </a:rPr>
              <a:t>Luôn làm được, luôn bắt buộc</a:t>
            </a:r>
          </a:p>
        </p:txBody>
      </p:sp>
      <p:sp>
        <p:nvSpPr>
          <p:cNvPr id="72" name="CardHead"/>
          <p:cNvSpPr/>
          <p:nvPr/>
        </p:nvSpPr>
        <p:spPr>
          <a:xfrm>
            <a:off x="6196000" y="1800890"/>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Sau: làm mù trong Bài báo 1 (Boulet 2024)</a:t>
            </a:r>
          </a:p>
        </p:txBody>
      </p:sp>
      <p:sp>
        <p:nvSpPr>
          <p:cNvPr id="73" name="CardBody"/>
          <p:cNvSpPr/>
          <p:nvPr/>
        </p:nvSpPr>
        <p:spPr>
          <a:xfrm>
            <a:off x="61960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2E8B57"/>
                </a:solidFill>
                <a:latin typeface="Arial"/>
                <a:cs typeface="Arial"/>
              </a:rPr>
              <a:t>Người bệnh: được làm mù</a:t>
            </a:r>
          </a:p>
          <a:p>
            <a:pPr marL="0" indent="0" algn="ctr">
              <a:lnSpc>
                <a:spcPct val="104000"/>
              </a:lnSpc>
              <a:spcBef>
                <a:spcPts val="400"/>
              </a:spcBef>
              <a:buNone/>
            </a:pPr>
            <a:r>
              <a:rPr lang="en-US" sz="1750" dirty="0">
                <a:solidFill>
                  <a:srgbClr val="B23B2E"/>
                </a:solidFill>
                <a:latin typeface="Arial"/>
                <a:cs typeface="Arial"/>
              </a:rPr>
              <a:t>Bác sĩ điều trị: biết nhóm</a:t>
            </a:r>
          </a:p>
          <a:p>
            <a:pPr marL="0" indent="0" algn="ctr">
              <a:lnSpc>
                <a:spcPct val="104000"/>
              </a:lnSpc>
              <a:spcBef>
                <a:spcPts val="400"/>
              </a:spcBef>
              <a:buNone/>
            </a:pPr>
            <a:r>
              <a:rPr lang="en-US" sz="1750" dirty="0">
                <a:solidFill>
                  <a:srgbClr val="B23B2E"/>
                </a:solidFill>
                <a:latin typeface="Arial"/>
                <a:cs typeface="Arial"/>
              </a:rPr>
              <a:t>Người đánh giá kết cục: biết nhóm</a:t>
            </a:r>
          </a:p>
          <a:p>
            <a:pPr marL="0" indent="0" algn="ctr">
              <a:lnSpc>
                <a:spcPct val="104000"/>
              </a:lnSpc>
              <a:spcBef>
                <a:spcPts val="400"/>
              </a:spcBef>
              <a:buNone/>
            </a:pPr>
            <a:r>
              <a:rPr lang="en-US" sz="1750" dirty="0">
                <a:solidFill>
                  <a:srgbClr val="2E8B57"/>
                </a:solidFill>
                <a:latin typeface="Arial"/>
                <a:cs typeface="Arial"/>
              </a:rPr>
              <a:t>Nhà thống kê: được làm mù</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Che giấu phân bổ bảo vệ việc phân người bệnh vào nhóm. Làm mù bảo vệ cách đo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Ghép cặp có ích, nhưng chỉ với điều đã được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Bài báo 2 (Hyun 2023). SOFA: thang điểm đánh giá suy đa cơ quan</a:t>
            </a:r>
          </a:p>
        </p:txBody>
      </p:sp>
      <p:sp>
        <p:nvSpPr>
          <p:cNvPr id="70" name="CardHead"/>
          <p:cNvSpPr/>
          <p:nvPr/>
        </p:nvSpPr>
        <p:spPr>
          <a:xfrm>
            <a:off x="457200" y="203548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Ghép cặp 1:1</a:t>
            </a:r>
          </a:p>
        </p:txBody>
      </p:sp>
      <p:sp>
        <p:nvSpPr>
          <p:cNvPr id="71" name="CardBody"/>
          <p:cNvSpPr/>
          <p:nvPr/>
        </p:nvSpPr>
        <p:spPr>
          <a:xfrm>
            <a:off x="457200"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Mỗi người bệnh cân bằng dương ghép với một người bệnh cân bằng âm tương tự</a:t>
            </a:r>
          </a:p>
          <a:p>
            <a:pPr marL="0" indent="0" algn="ctr">
              <a:lnSpc>
                <a:spcPct val="104000"/>
              </a:lnSpc>
              <a:spcBef>
                <a:spcPts val="400"/>
              </a:spcBef>
              <a:buNone/>
            </a:pPr>
            <a:r>
              <a:rPr lang="en-US" sz="1750" dirty="0">
                <a:solidFill>
                  <a:srgbClr val="000000"/>
                </a:solidFill>
                <a:latin typeface="Arial"/>
                <a:cs typeface="Arial"/>
              </a:rPr>
              <a:t>483, 373 và 392 cặp cho ngày 1, 2 và 3</a:t>
            </a:r>
          </a:p>
        </p:txBody>
      </p:sp>
      <p:sp>
        <p:nvSpPr>
          <p:cNvPr id="72" name="CardHead"/>
          <p:cNvSpPr/>
          <p:nvPr/>
        </p:nvSpPr>
        <p:spPr>
          <a:xfrm>
            <a:off x="4283066" y="203548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Đã đo: được cân bằng</a:t>
            </a:r>
          </a:p>
        </p:txBody>
      </p:sp>
      <p:sp>
        <p:nvSpPr>
          <p:cNvPr id="73" name="CardBody"/>
          <p:cNvSpPr/>
          <p:nvPr/>
        </p:nvSpPr>
        <p:spPr>
          <a:xfrm>
            <a:off x="4283066"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Tuổi, giới, điểm SOFA, sốc nhiễm khuẩn</a:t>
            </a:r>
          </a:p>
          <a:p>
            <a:pPr marL="0" indent="0" algn="ctr">
              <a:lnSpc>
                <a:spcPct val="104000"/>
              </a:lnSpc>
              <a:spcBef>
                <a:spcPts val="400"/>
              </a:spcBef>
              <a:buNone/>
            </a:pPr>
            <a:r>
              <a:rPr lang="en-US" sz="1750" dirty="0">
                <a:solidFill>
                  <a:srgbClr val="000000"/>
                </a:solidFill>
                <a:latin typeface="Arial"/>
                <a:cs typeface="Arial"/>
              </a:rPr>
              <a:t>Bệnh kèm, vị trí nhiễm khuẩn</a:t>
            </a:r>
          </a:p>
          <a:p>
            <a:pPr marL="0" indent="0" algn="ctr">
              <a:lnSpc>
                <a:spcPct val="104000"/>
              </a:lnSpc>
              <a:spcBef>
                <a:spcPts val="400"/>
              </a:spcBef>
              <a:buNone/>
            </a:pPr>
            <a:r>
              <a:rPr lang="en-US" sz="1750" dirty="0">
                <a:solidFill>
                  <a:srgbClr val="000000"/>
                </a:solidFill>
                <a:latin typeface="Arial"/>
                <a:cs typeface="Arial"/>
              </a:rPr>
              <a:t>Lượng dịch ra</a:t>
            </a:r>
          </a:p>
        </p:txBody>
      </p:sp>
      <p:sp>
        <p:nvSpPr>
          <p:cNvPr id="74" name="CardHead"/>
          <p:cNvSpPr/>
          <p:nvPr/>
        </p:nvSpPr>
        <p:spPr>
          <a:xfrm>
            <a:off x="8108932" y="203548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Chưa đo: có thể vẫn khác</a:t>
            </a:r>
          </a:p>
        </p:txBody>
      </p:sp>
      <p:sp>
        <p:nvSpPr>
          <p:cNvPr id="75" name="CardBody"/>
          <p:cNvSpPr/>
          <p:nvPr/>
        </p:nvSpPr>
        <p:spPr>
          <a:xfrm>
            <a:off x="8108932"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Loại dịch, dinh dưỡng</a:t>
            </a:r>
          </a:p>
          <a:p>
            <a:pPr marL="0" indent="0" algn="ctr">
              <a:lnSpc>
                <a:spcPct val="104000"/>
              </a:lnSpc>
              <a:spcBef>
                <a:spcPts val="400"/>
              </a:spcBef>
              <a:buNone/>
            </a:pPr>
            <a:r>
              <a:rPr lang="en-US" sz="1750" dirty="0">
                <a:solidFill>
                  <a:srgbClr val="000000"/>
                </a:solidFill>
                <a:latin typeface="Arial"/>
                <a:cs typeface="Arial"/>
              </a:rPr>
              <a:t>Nhận định lâm sàng tại giường của bác sĩ</a:t>
            </a:r>
          </a:p>
          <a:p>
            <a:pPr marL="0" indent="0" algn="ctr">
              <a:lnSpc>
                <a:spcPct val="104000"/>
              </a:lnSpc>
              <a:spcBef>
                <a:spcPts val="400"/>
              </a:spcBef>
              <a:buNone/>
            </a:pPr>
            <a:r>
              <a:rPr lang="en-US" sz="1750" b="1" dirty="0">
                <a:solidFill>
                  <a:srgbClr val="000000"/>
                </a:solidFill>
                <a:latin typeface="Arial"/>
                <a:cs typeface="Arial"/>
              </a:rPr>
              <a:t>Đây là nhiễu tồn dư</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Ghép cặp và hiệu chỉnh không cân bằng được điều không ai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Giá trị nội tại trước, rồi đến giá trị ngoại suy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0614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Giá trị nội tại</a:t>
            </a:r>
          </a:p>
        </p:txBody>
      </p:sp>
      <p:sp>
        <p:nvSpPr>
          <p:cNvPr id="71" name="CardBody"/>
          <p:cNvSpPr/>
          <p:nvPr/>
        </p:nvSpPr>
        <p:spPr>
          <a:xfrm>
            <a:off x="457200" y="2146144"/>
            <a:ext cx="5538800" cy="253156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Kết quả có đúng với những người được nghiên cứu?</a:t>
            </a:r>
          </a:p>
          <a:p>
            <a:pPr marL="0" indent="0" algn="ctr">
              <a:lnSpc>
                <a:spcPct val="104000"/>
              </a:lnSpc>
              <a:spcBef>
                <a:spcPts val="400"/>
              </a:spcBef>
              <a:buNone/>
            </a:pPr>
            <a:r>
              <a:rPr lang="en-US" sz="1750" dirty="0">
                <a:solidFill>
                  <a:srgbClr val="000000"/>
                </a:solidFill>
                <a:latin typeface="Arial"/>
                <a:cs typeface="Arial"/>
              </a:rPr>
              <a:t>Phân bổ ngẫu nhiên</a:t>
            </a:r>
          </a:p>
          <a:p>
            <a:pPr marL="0" indent="0" algn="ctr">
              <a:lnSpc>
                <a:spcPct val="104000"/>
              </a:lnSpc>
              <a:spcBef>
                <a:spcPts val="400"/>
              </a:spcBef>
              <a:buNone/>
            </a:pPr>
            <a:r>
              <a:rPr lang="en-US" sz="1750" dirty="0">
                <a:solidFill>
                  <a:srgbClr val="000000"/>
                </a:solidFill>
                <a:latin typeface="Arial"/>
                <a:cs typeface="Arial"/>
              </a:rPr>
              <a:t>Che giấu phân bổ và làm mù</a:t>
            </a:r>
          </a:p>
          <a:p>
            <a:pPr marL="0" indent="0" algn="ctr">
              <a:lnSpc>
                <a:spcPct val="104000"/>
              </a:lnSpc>
              <a:spcBef>
                <a:spcPts val="400"/>
              </a:spcBef>
              <a:buNone/>
            </a:pPr>
            <a:r>
              <a:rPr lang="en-US" sz="1750" dirty="0">
                <a:solidFill>
                  <a:srgbClr val="000000"/>
                </a:solidFill>
                <a:latin typeface="Arial"/>
                <a:cs typeface="Arial"/>
              </a:rPr>
              <a:t>Theo dõi đầy đủ</a:t>
            </a:r>
          </a:p>
          <a:p>
            <a:pPr marL="0" indent="0" algn="ctr">
              <a:lnSpc>
                <a:spcPct val="104000"/>
              </a:lnSpc>
              <a:spcBef>
                <a:spcPts val="400"/>
              </a:spcBef>
              <a:buNone/>
            </a:pPr>
            <a:r>
              <a:rPr lang="en-US" sz="1750" dirty="0">
                <a:solidFill>
                  <a:srgbClr val="000000"/>
                </a:solidFill>
                <a:latin typeface="Arial"/>
                <a:cs typeface="Arial"/>
              </a:rPr>
              <a:t>Đo lường tốt</a:t>
            </a:r>
          </a:p>
        </p:txBody>
      </p:sp>
      <p:sp>
        <p:nvSpPr>
          <p:cNvPr id="72" name="CardHead"/>
          <p:cNvSpPr/>
          <p:nvPr/>
        </p:nvSpPr>
        <p:spPr>
          <a:xfrm>
            <a:off x="6196000" y="1506144"/>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Giá trị ngoại suy</a:t>
            </a:r>
          </a:p>
        </p:txBody>
      </p:sp>
      <p:sp>
        <p:nvSpPr>
          <p:cNvPr id="73" name="CardBody"/>
          <p:cNvSpPr/>
          <p:nvPr/>
        </p:nvSpPr>
        <p:spPr>
          <a:xfrm>
            <a:off x="6196000" y="2146144"/>
            <a:ext cx="5538800" cy="253156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Có áp dụng cho người bệnh của tôi?</a:t>
            </a:r>
          </a:p>
          <a:p>
            <a:pPr marL="0" indent="0" algn="ctr">
              <a:lnSpc>
                <a:spcPct val="104000"/>
              </a:lnSpc>
              <a:spcBef>
                <a:spcPts val="400"/>
              </a:spcBef>
              <a:buNone/>
            </a:pPr>
            <a:r>
              <a:rPr lang="en-US" sz="1750" dirty="0">
                <a:solidFill>
                  <a:srgbClr val="000000"/>
                </a:solidFill>
                <a:latin typeface="Arial"/>
                <a:cs typeface="Arial"/>
              </a:rPr>
              <a:t>Boulet: 18-85 tuổi. ICU của tôi: nhiều người trên 85?</a:t>
            </a:r>
          </a:p>
          <a:p>
            <a:pPr marL="0" indent="0" algn="ctr">
              <a:lnSpc>
                <a:spcPct val="104000"/>
              </a:lnSpc>
              <a:spcBef>
                <a:spcPts val="400"/>
              </a:spcBef>
              <a:buNone/>
            </a:pPr>
            <a:r>
              <a:rPr lang="en-US" sz="1750" dirty="0">
                <a:solidFill>
                  <a:srgbClr val="000000"/>
                </a:solidFill>
                <a:latin typeface="Arial"/>
                <a:cs typeface="Arial"/>
              </a:rPr>
              <a:t>Boulet: không lọc máu. ICU của tôi: có người đang lọc máu?</a:t>
            </a:r>
          </a:p>
          <a:p>
            <a:pPr marL="0" indent="0" algn="ctr">
              <a:lnSpc>
                <a:spcPct val="104000"/>
              </a:lnSpc>
              <a:spcBef>
                <a:spcPts val="400"/>
              </a:spcBef>
              <a:buNone/>
            </a:pPr>
            <a:r>
              <a:rPr lang="en-US" sz="1750" dirty="0">
                <a:solidFill>
                  <a:srgbClr val="000000"/>
                </a:solidFill>
                <a:latin typeface="Arial"/>
                <a:cs typeface="Arial"/>
              </a:rPr>
              <a:t>Boulet: 3 ICU tại một quốc gia</a:t>
            </a:r>
          </a:p>
          <a:p>
            <a:pPr marL="0" indent="0" algn="ctr">
              <a:lnSpc>
                <a:spcPct val="104000"/>
              </a:lnSpc>
              <a:spcBef>
                <a:spcPts val="400"/>
              </a:spcBef>
              <a:buNone/>
            </a:pPr>
            <a:r>
              <a:rPr lang="en-US" sz="1750" dirty="0">
                <a:solidFill>
                  <a:srgbClr val="000000"/>
                </a:solidFill>
                <a:latin typeface="Arial"/>
                <a:cs typeface="Arial"/>
              </a:rPr>
              <a:t>Boulet: chỉ 4% số được sàng lọc được đưa vào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hết: đúng với người được nghiên cứu? Sau đó: có áp dụng cho người bệnh của tôi?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Quan hệ nhân quả ngược: cái nào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Giả định thường gặp</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Cân bằng dịch dương làm hại thận</a:t>
            </a:r>
          </a:p>
          <a:p>
            <a:pPr marL="0" indent="0" algn="ctr">
              <a:lnSpc>
                <a:spcPct val="104000"/>
              </a:lnSpc>
              <a:spcBef>
                <a:spcPts val="400"/>
              </a:spcBef>
              <a:buNone/>
            </a:pPr>
            <a:r>
              <a:rPr lang="en-US" sz="1750" dirty="0">
                <a:solidFill>
                  <a:srgbClr val="000000"/>
                </a:solidFill>
                <a:latin typeface="Arial"/>
                <a:cs typeface="Arial"/>
              </a:rPr>
              <a:t>Tổn thương thận rồi dẫn đến tử vong</a:t>
            </a:r>
          </a:p>
        </p:txBody>
      </p:sp>
      <p:sp>
        <p:nvSpPr>
          <p:cNvPr id="72" name="CardHead"/>
          <p:cNvSpPr/>
          <p:nvPr/>
        </p:nvSpPr>
        <p:spPr>
          <a:xfrm>
            <a:off x="4283066" y="161568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Điều có thể thực sự xảy ra</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Thận suy tạo ít nước tiểu</a:t>
            </a:r>
          </a:p>
          <a:p>
            <a:pPr marL="0" indent="0" algn="ctr">
              <a:lnSpc>
                <a:spcPct val="104000"/>
              </a:lnSpc>
              <a:spcBef>
                <a:spcPts val="400"/>
              </a:spcBef>
              <a:buNone/>
            </a:pPr>
            <a:r>
              <a:rPr lang="en-US" sz="1750" dirty="0">
                <a:solidFill>
                  <a:srgbClr val="000000"/>
                </a:solidFill>
                <a:latin typeface="Arial"/>
                <a:cs typeface="Arial"/>
              </a:rPr>
              <a:t>Ít dịch ra làm cân bằng dịch dương</a:t>
            </a:r>
          </a:p>
          <a:p>
            <a:pPr marL="0" indent="0" algn="ctr">
              <a:lnSpc>
                <a:spcPct val="104000"/>
              </a:lnSpc>
              <a:spcBef>
                <a:spcPts val="400"/>
              </a:spcBef>
              <a:buNone/>
            </a:pPr>
            <a:r>
              <a:rPr lang="en-US" sz="1750" b="1" dirty="0">
                <a:solidFill>
                  <a:srgbClr val="000000"/>
                </a:solidFill>
                <a:latin typeface="Arial"/>
                <a:cs typeface="Arial"/>
              </a:rPr>
              <a:t>Mũi tên chạy theo chiều ngược lại</a:t>
            </a:r>
          </a:p>
        </p:txBody>
      </p:sp>
      <p:sp>
        <p:nvSpPr>
          <p:cNvPr id="74" name="CardHead"/>
          <p:cNvSpPr/>
          <p:nvPr/>
        </p:nvSpPr>
        <p:spPr>
          <a:xfrm>
            <a:off x="8108932" y="1615682"/>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Cách kiểm tra</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Cái nào có trước?</a:t>
            </a:r>
          </a:p>
          <a:p>
            <a:pPr marL="0" indent="0" algn="ctr">
              <a:lnSpc>
                <a:spcPct val="104000"/>
              </a:lnSpc>
              <a:spcBef>
                <a:spcPts val="400"/>
              </a:spcBef>
              <a:buNone/>
            </a:pPr>
            <a:r>
              <a:rPr lang="en-US" sz="1750" dirty="0">
                <a:solidFill>
                  <a:srgbClr val="000000"/>
                </a:solidFill>
                <a:latin typeface="Arial"/>
                <a:cs typeface="Arial"/>
              </a:rPr>
              <a:t>Đo phơi nhiễm trước khi kết cục bắt đầu</a:t>
            </a:r>
          </a:p>
          <a:p>
            <a:pPr marL="0" indent="0" algn="ctr">
              <a:lnSpc>
                <a:spcPct val="104000"/>
              </a:lnSpc>
              <a:spcBef>
                <a:spcPts val="400"/>
              </a:spcBef>
              <a:buNone/>
            </a:pPr>
            <a:r>
              <a:rPr lang="en-US" sz="1750" dirty="0">
                <a:solidFill>
                  <a:srgbClr val="000000"/>
                </a:solidFill>
                <a:latin typeface="Arial"/>
                <a:cs typeface="Arial"/>
              </a:rPr>
              <a:t>Dùng độ trễ thời gian</a:t>
            </a:r>
          </a:p>
          <a:p>
            <a:pPr marL="0" indent="0" algn="ctr">
              <a:lnSpc>
                <a:spcPct val="104000"/>
              </a:lnSpc>
              <a:spcBef>
                <a:spcPts val="400"/>
              </a:spcBef>
              <a:buNone/>
            </a:pPr>
            <a:r>
              <a:rPr lang="en-US" sz="1750" dirty="0">
                <a:solidFill>
                  <a:srgbClr val="000000"/>
                </a:solidFill>
                <a:latin typeface="Arial"/>
                <a:cs typeface="Arial"/>
              </a:rPr>
              <a:t>Ưu tiên thuần tập hoặc RCT hơn nghiên cứu cắt ngang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khi nói X gây ra Y, hãy chắc rằng Y không gây ra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Từ liên quan đến nhân quả: các quan điểm của Bradford Hill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26088"/>
          <a:ext cx="11277600" cy="391536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Quan điểm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Câu hỏi đặt ra</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Áp dụng cho Bài báo 2 (Hyun 2023)</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Độ mạnh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Tác động có lớn không?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Vừa phải (HR khoảng 1.6 đến 2.1)</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Tính nhất quán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lặp lại ở nghiên cứu và nơi khác?</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ở các thuần tập khác</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Tính đặc hiệu</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Một nguyên nhân, một hậu quả? (yếu nhất)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Không hữu ích ở đây</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Trình tự thời gian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Nguyên nhân có xảy ra trước? (điều bắt buộc)</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Cân bằng dịch đo trước tử vong, nhưng có thể có nhân quả ngược</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Liều - đáp ứng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Phơi nhiễm nhiều hơn, tác động lớn hơn?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Chưa cho thấy</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Tính hợp lý</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cơ chế sinh học không?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quá tải dịch, phù, sung huyết cơ quan</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Tính mạch lạc</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Có phù hợp với điều đã biết?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Phần lớn có</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Thực nghiệm</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Loại bỏ phơi nhiễm có làm giảm kết cục?</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Các thử nghiệm như Boulet: chưa thấy tác động lên tử vong</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Tương tự</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Nguyên nhân tương tự có hậu quả tương tự?</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Quá tải dịch gây hại ở bối cảnh khác</a:t>
                      </a:r>
                    </a:p>
                  </a:txBody>
                  <a:tcPr marL="73152" marR="73152" marT="45720" marB="45720" anchor="ctr">
                    <a:solidFill>
                      <a:srgbClr val="FFFFFF"/>
                    </a:solidFill>
                  </a:tcPr>
                </a:tc>
              </a:tr>
            </a:tbl>
          </a:graphicData>
        </a:graphic>
      </p:graphicFrame>
      <p:sp>
        <p:nvSpPr>
          <p:cNvPr id="31" name="Caption"/>
          <p:cNvSpPr txBox="1"/>
          <p:nvPr/>
        </p:nvSpPr>
        <p:spPr>
          <a:xfrm>
            <a:off x="457200" y="533144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HR: tỷ số nguy cơ tức thời. Nhân quả là nhận định từ nhiều manh mối. Trình tự thời gian là điều bắt buộc duy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nhanh: Phát hiện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Gia đình người tử vong nhớ những ngày trước khi vào ICU kỹ hơn gia đình người sống sót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Trong thử nghiệm dịch truyền không làm mù, bác sĩ biết nhóm quyết định khi nào người bệnh 'đủ điều kiện ra khỏi 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Một nghiên cứu về dịch truyền chỉ đưa vào người bệnh nằm ICU từ 3 ngày trở lên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Người bệnh có lactate cao hơn được truyền nhiều dịch hơn và tử vong nhiều hơn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Bình chọn một</a:t>
            </a:r>
          </a:p>
          <a:p>
            <a:pPr marL="0" indent="0" algn="ctr">
              <a:lnSpc>
                <a:spcPct val="104000"/>
              </a:lnSpc>
              <a:spcBef>
                <a:spcPts val="300"/>
              </a:spcBef>
              <a:buNone/>
            </a:pPr>
            <a:r>
              <a:rPr lang="en-US" sz="1500" dirty="0">
                <a:solidFill>
                  <a:srgbClr val="000000"/>
                </a:solidFill>
                <a:latin typeface="Arial"/>
                <a:cs typeface="Arial"/>
              </a:rPr>
              <a:t>Sai lệch chọn lựa</a:t>
            </a:r>
          </a:p>
          <a:p>
            <a:pPr marL="0" indent="0" algn="ctr">
              <a:lnSpc>
                <a:spcPct val="104000"/>
              </a:lnSpc>
              <a:spcBef>
                <a:spcPts val="300"/>
              </a:spcBef>
              <a:buNone/>
            </a:pPr>
            <a:r>
              <a:rPr lang="en-US" sz="1500" dirty="0">
                <a:solidFill>
                  <a:srgbClr val="000000"/>
                </a:solidFill>
                <a:latin typeface="Arial"/>
                <a:cs typeface="Arial"/>
              </a:rPr>
              <a:t>Sai lệch nhớ lại</a:t>
            </a:r>
          </a:p>
          <a:p>
            <a:pPr marL="0" indent="0" algn="ctr">
              <a:lnSpc>
                <a:spcPct val="104000"/>
              </a:lnSpc>
              <a:spcBef>
                <a:spcPts val="300"/>
              </a:spcBef>
              <a:buNone/>
            </a:pPr>
            <a:r>
              <a:rPr lang="en-US" sz="1500" dirty="0">
                <a:solidFill>
                  <a:srgbClr val="000000"/>
                </a:solidFill>
                <a:latin typeface="Arial"/>
                <a:cs typeface="Arial"/>
              </a:rPr>
              <a:t>Sai lệch người quan sát</a:t>
            </a:r>
          </a:p>
          <a:p>
            <a:pPr marL="0" indent="0" algn="ctr">
              <a:lnSpc>
                <a:spcPct val="104000"/>
              </a:lnSpc>
              <a:spcBef>
                <a:spcPts val="300"/>
              </a:spcBef>
              <a:buNone/>
            </a:pPr>
            <a:r>
              <a:rPr lang="en-US" sz="1500" dirty="0">
                <a:solidFill>
                  <a:srgbClr val="000000"/>
                </a:solidFill>
                <a:latin typeface="Arial"/>
                <a:cs typeface="Arial"/>
              </a:rPr>
              <a:t>Yếu tố nhiễu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tình huống gọi tên một sai lệch, và nói một cách khắc phục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4.2  Đo lường bệnh và mối liên quan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Phổ biến đến đâu? Khả năng cao hơn bao nhiêu?</a:t>
            </a:r>
          </a:p>
          <a:p>
            <a:pPr marL="0" indent="0" algn="ctr">
              <a:spcBef>
                <a:spcPts val="1200"/>
              </a:spcBef>
              <a:buNone/>
            </a:pPr>
            <a:r>
              <a:rPr lang="en-US" sz="1900" i="1" dirty="0">
                <a:solidFill>
                  <a:srgbClr val="595959"/>
                </a:solidFill>
                <a:latin typeface="Arial"/>
                <a:cs typeface="Arial"/>
              </a:rPr>
              <a:t>Hiện mắc, mới mắc, nguy cơ, và bảng 2x2 đằng sau RR, OR, RD và NNT.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Hiện mắc và mới mắc: hình ảnh bồn tắm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Hiện mắc = bao nhiêu người đang mắc. Mới mắc = bao nhiêu ca mới theo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Nguy cơ ở hai nhóm,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Thử nghiệm giả định dùng cho giảng dạy: 100 người bệnh mỗi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Nguy cơ = số người có kết cục / số người trong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2x2: một công cụ cho mọi số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2085216"/>
          <a:ext cx="11277600" cy="14316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660080">
                <a:tc>
                  <a:txBody>
                    <a:bodyPr/>
                    <a:lstStyle/>
                    <a:p>
                      <a:pPr algn="l"/>
                      <a:r>
                        <a:rPr lang="en-US" sz="1800" b="1" dirty="0">
                          <a:solidFill>
                            <a:srgbClr val="FFFFFF"/>
                          </a:solidFill>
                          <a:latin typeface="Arial"/>
                          <a:cs typeface="Arial"/>
                        </a:rPr>
                        <a:t>Thử nghiệm giả định</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Tử vong</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Sống</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Tổng</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Nguy cơ</a:t>
                      </a:r>
                    </a:p>
                  </a:txBody>
                  <a:tcPr marL="73152" marR="73152" marT="45720" marB="45720" anchor="ctr">
                    <a:solidFill>
                      <a:srgbClr val="0D7377"/>
                    </a:solidFill>
                  </a:tcPr>
                </a:tc>
              </a:tr>
              <a:tr h="385760">
                <a:tc>
                  <a:txBody>
                    <a:bodyPr/>
                    <a:lstStyle/>
                    <a:p>
                      <a:pPr algn="l"/>
                      <a:r>
                        <a:rPr lang="en-US" sz="1800" dirty="0">
                          <a:solidFill>
                            <a:srgbClr val="000000"/>
                          </a:solidFill>
                          <a:latin typeface="Arial"/>
                          <a:cs typeface="Arial"/>
                        </a:rPr>
                        <a:t>Hạn chế dịch</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20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 = 80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b = 100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(a + b) = 20%</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Thường quy</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d = 70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d = 100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(c + d) = 30%</a:t>
                      </a:r>
                    </a:p>
                  </a:txBody>
                  <a:tcPr marL="73152" marR="73152" marT="45720" marB="45720" anchor="ctr">
                    <a:solidFill>
                      <a:srgbClr val="F5F9FA"/>
                    </a:solidFill>
                  </a:tcPr>
                </a:tc>
              </a:tr>
            </a:tbl>
          </a:graphicData>
        </a:graphic>
      </p:graphicFrame>
      <p:sp>
        <p:nvSpPr>
          <p:cNvPr id="31" name="Caption"/>
          <p:cNvSpPr txBox="1"/>
          <p:nvPr/>
        </p:nvSpPr>
        <p:spPr>
          <a:xfrm>
            <a:off x="457200" y="36068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Luôn cùng một cách trình bày: phơi nhiễm ở hàng, nhóm phơi nhiễm (được điều trị) ở trên. Kết cục ở cột, 'có kết cục' (tử vong) ở bên trái. Khi đó a, b, c và d luôn mang cùng ý nghĩa.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số đo từ một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Ví dụ: hạn chế dịch 20/100 tử vong, thường quy 30/100 tử vong</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Nguy cơ tương đối (RR)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[a/(a+b)] / [c/(c+d)]</a:t>
            </a:r>
          </a:p>
          <a:p>
            <a:pPr marL="0" indent="0" algn="ctr">
              <a:lnSpc>
                <a:spcPct val="104000"/>
              </a:lnSpc>
              <a:spcBef>
                <a:spcPts val="400"/>
              </a:spcBef>
              <a:buNone/>
            </a:pPr>
            <a:r>
              <a:rPr lang="en-US" sz="1600" b="1" dirty="0">
                <a:solidFill>
                  <a:srgbClr val="000000"/>
                </a:solidFill>
                <a:latin typeface="Arial"/>
                <a:cs typeface="Arial"/>
              </a:rPr>
              <a:t>20% / 30% = 0.67</a:t>
            </a:r>
          </a:p>
          <a:p>
            <a:pPr marL="0" indent="0" algn="ctr">
              <a:lnSpc>
                <a:spcPct val="104000"/>
              </a:lnSpc>
              <a:spcBef>
                <a:spcPts val="400"/>
              </a:spcBef>
              <a:buNone/>
            </a:pPr>
            <a:r>
              <a:rPr lang="en-US" sz="1600" dirty="0">
                <a:solidFill>
                  <a:srgbClr val="000000"/>
                </a:solidFill>
                <a:latin typeface="Arial"/>
                <a:cs typeface="Arial"/>
              </a:rPr>
              <a:t>Nguy cơ thấp hơn một phần ba</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Hiệu số nguy cơ (RD)</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a/(a+b) - c/(c+d)</a:t>
            </a:r>
          </a:p>
          <a:p>
            <a:pPr marL="0" indent="0" algn="ctr">
              <a:lnSpc>
                <a:spcPct val="104000"/>
              </a:lnSpc>
              <a:spcBef>
                <a:spcPts val="400"/>
              </a:spcBef>
              <a:buNone/>
            </a:pPr>
            <a:r>
              <a:rPr lang="en-US" sz="1600" b="1" dirty="0">
                <a:solidFill>
                  <a:srgbClr val="000000"/>
                </a:solidFill>
                <a:latin typeface="Arial"/>
                <a:cs typeface="Arial"/>
              </a:rPr>
              <a:t>20% - 30% = -10 điểm</a:t>
            </a:r>
          </a:p>
          <a:p>
            <a:pPr marL="0" indent="0" algn="ctr">
              <a:lnSpc>
                <a:spcPct val="104000"/>
              </a:lnSpc>
              <a:spcBef>
                <a:spcPts val="400"/>
              </a:spcBef>
              <a:buNone/>
            </a:pPr>
            <a:r>
              <a:rPr lang="en-US" sz="1600" dirty="0">
                <a:solidFill>
                  <a:srgbClr val="000000"/>
                </a:solidFill>
                <a:latin typeface="Arial"/>
                <a:cs typeface="Arial"/>
              </a:rPr>
              <a:t>Ít hơn 10 ca tử vong trên 100</a:t>
            </a:r>
          </a:p>
        </p:txBody>
      </p:sp>
      <p:sp>
        <p:nvSpPr>
          <p:cNvPr id="74" name="CardHead"/>
          <p:cNvSpPr/>
          <p:nvPr/>
        </p:nvSpPr>
        <p:spPr>
          <a:xfrm>
            <a:off x="6196000" y="2058240"/>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Số người cần điều trị (NNT)</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 / |hiệu số nguy cơ|</a:t>
            </a:r>
          </a:p>
          <a:p>
            <a:pPr marL="0" indent="0" algn="ctr">
              <a:lnSpc>
                <a:spcPct val="104000"/>
              </a:lnSpc>
              <a:spcBef>
                <a:spcPts val="400"/>
              </a:spcBef>
              <a:buNone/>
            </a:pPr>
            <a:r>
              <a:rPr lang="en-US" sz="1600" b="1" dirty="0">
                <a:solidFill>
                  <a:srgbClr val="000000"/>
                </a:solidFill>
                <a:latin typeface="Arial"/>
                <a:cs typeface="Arial"/>
              </a:rPr>
              <a:t>1 / 0.10 = 10</a:t>
            </a:r>
          </a:p>
          <a:p>
            <a:pPr marL="0" indent="0" algn="ctr">
              <a:lnSpc>
                <a:spcPct val="104000"/>
              </a:lnSpc>
              <a:spcBef>
                <a:spcPts val="400"/>
              </a:spcBef>
              <a:buNone/>
            </a:pPr>
            <a:r>
              <a:rPr lang="en-US" sz="1600" dirty="0">
                <a:solidFill>
                  <a:srgbClr val="000000"/>
                </a:solidFill>
                <a:latin typeface="Arial"/>
                <a:cs typeface="Arial"/>
              </a:rPr>
              <a:t>Điều trị 10 người để ngăn 1 ca tử vong</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Tỷ số chênh (OR)</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 x d) / (b x c)</a:t>
            </a:r>
          </a:p>
          <a:p>
            <a:pPr marL="0" indent="0" algn="ctr">
              <a:lnSpc>
                <a:spcPct val="104000"/>
              </a:lnSpc>
              <a:spcBef>
                <a:spcPts val="400"/>
              </a:spcBef>
              <a:buNone/>
            </a:pPr>
            <a:r>
              <a:rPr lang="en-US" sz="1600" b="1" dirty="0">
                <a:solidFill>
                  <a:srgbClr val="000000"/>
                </a:solidFill>
                <a:latin typeface="Arial"/>
                <a:cs typeface="Arial"/>
              </a:rPr>
              <a:t>(20 x 70) / (80 x 30) = 0.58</a:t>
            </a:r>
          </a:p>
          <a:p>
            <a:pPr marL="0" indent="0" algn="ctr">
              <a:lnSpc>
                <a:spcPct val="104000"/>
              </a:lnSpc>
              <a:spcBef>
                <a:spcPts val="400"/>
              </a:spcBef>
              <a:buNone/>
            </a:pPr>
            <a:r>
              <a:rPr lang="en-US" sz="1600" dirty="0">
                <a:solidFill>
                  <a:srgbClr val="000000"/>
                </a:solidFill>
                <a:latin typeface="Arial"/>
                <a:cs typeface="Arial"/>
              </a:rPr>
              <a:t>Odds, không phải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số cho biết mạnh đến đâu. Hiệu số cho biết bao nhiêu người bệnh.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NNT (số người cần điều trị)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NNT = 1 / hiệu số nguy cơ: cần điều trị bao nhiêu người để một người có lợi.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Khi nào tỷ số chênh gần bằng nguy cơ tương đối?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OR chỉ gần bằng RR khi kết cục hiếm (dưới khoảng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trực tiếp: công cụ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Giảng viên chia sẻ màn hình: 2x2_calculator.xlsx, trang Association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Nhập a, b, c, d của ví dụ: 20, 80, 30, 70</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Đọc nguy cơ, RR, RD, NNT, OR, và các câu diễn giải</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Đổi số tử vong thành 2 và 3 trên 100: xem OR tiến gần RR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Chỉ vào dòng chữ đỏ: dữ liệu bệnh–chứng chỉ cho OR</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Chú ý</a:t>
            </a:r>
          </a:p>
          <a:p>
            <a:pPr marL="0" indent="0" algn="ctr">
              <a:lnSpc>
                <a:spcPct val="104000"/>
              </a:lnSpc>
              <a:spcBef>
                <a:spcPts val="300"/>
              </a:spcBef>
              <a:buNone/>
            </a:pPr>
            <a:r>
              <a:rPr lang="en-US" sz="1500" dirty="0">
                <a:solidFill>
                  <a:srgbClr val="000000"/>
                </a:solidFill>
                <a:latin typeface="Arial"/>
                <a:cs typeface="Arial"/>
              </a:rPr>
              <a:t>Cùng cách trình bày như slide</a:t>
            </a:r>
          </a:p>
          <a:p>
            <a:pPr marL="0" indent="0" algn="ctr">
              <a:lnSpc>
                <a:spcPct val="104000"/>
              </a:lnSpc>
              <a:spcBef>
                <a:spcPts val="300"/>
              </a:spcBef>
              <a:buNone/>
            </a:pPr>
            <a:r>
              <a:rPr lang="en-US" sz="1500" dirty="0">
                <a:solidFill>
                  <a:srgbClr val="000000"/>
                </a:solidFill>
                <a:latin typeface="Arial"/>
                <a:cs typeface="Arial"/>
              </a:rPr>
              <a:t>Tác động tương đối và tuyệt đối</a:t>
            </a:r>
          </a:p>
          <a:p>
            <a:pPr marL="0" indent="0" algn="ctr">
              <a:lnSpc>
                <a:spcPct val="104000"/>
              </a:lnSpc>
              <a:spcBef>
                <a:spcPts val="300"/>
              </a:spcBef>
              <a:buNone/>
            </a:pPr>
            <a:r>
              <a:rPr lang="en-US" sz="1500" dirty="0">
                <a:solidFill>
                  <a:srgbClr val="000000"/>
                </a:solidFill>
                <a:latin typeface="Arial"/>
                <a:cs typeface="Arial"/>
              </a:rPr>
              <a:t>Kết cục hiếm: OR gần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mọi số đo được tính từ một bảng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cả lớp cùng làm hai bài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Phiếu bài tập Buổi 4 (file PDF gửi trước buổi học), Phần C: vẽ mỗi bảng 2x2 trước, phơi nhiễm ở hàng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1 (thử nghiệm dịch truyền, 200 người mỗi nhóm): nguy cơ, RR, RD, NNT, OR. Trả lời từng câu qua bình chọn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2 (nghiên cứu bệnh–chứng về dịch truyền): chỉ tính OR. Bình chọn: có tính được RR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kiểm tra trực tiếp từng đáp án bằng công cụ tính 2x2</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bạn tình nguyện nói mỗi kết quả bằng một câu dễ hiểu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Ghi nhớ</a:t>
            </a:r>
          </a:p>
          <a:p>
            <a:pPr marL="0" indent="0" algn="ctr">
              <a:lnSpc>
                <a:spcPct val="104000"/>
              </a:lnSpc>
              <a:spcBef>
                <a:spcPts val="300"/>
              </a:spcBef>
              <a:buNone/>
            </a:pPr>
            <a:r>
              <a:rPr lang="en-US" sz="1500" dirty="0">
                <a:solidFill>
                  <a:srgbClr val="000000"/>
                </a:solidFill>
                <a:latin typeface="Arial"/>
                <a:cs typeface="Arial"/>
              </a:rPr>
              <a:t>Nguy cơ = a / (a + b)</a:t>
            </a:r>
          </a:p>
          <a:p>
            <a:pPr marL="0" indent="0" algn="ctr">
              <a:lnSpc>
                <a:spcPct val="104000"/>
              </a:lnSpc>
              <a:spcBef>
                <a:spcPts val="300"/>
              </a:spcBef>
              <a:buNone/>
            </a:pPr>
            <a:r>
              <a:rPr lang="en-US" sz="1500" dirty="0">
                <a:solidFill>
                  <a:srgbClr val="000000"/>
                </a:solidFill>
                <a:latin typeface="Arial"/>
                <a:cs typeface="Arial"/>
              </a:rPr>
              <a:t>RR = nguy cơ / nguy cơ</a:t>
            </a:r>
          </a:p>
          <a:p>
            <a:pPr marL="0" indent="0" algn="ctr">
              <a:lnSpc>
                <a:spcPct val="104000"/>
              </a:lnSpc>
              <a:spcBef>
                <a:spcPts val="300"/>
              </a:spcBef>
              <a:buNone/>
            </a:pPr>
            <a:r>
              <a:rPr lang="en-US" sz="1500" dirty="0">
                <a:solidFill>
                  <a:srgbClr val="000000"/>
                </a:solidFill>
                <a:latin typeface="Arial"/>
                <a:cs typeface="Arial"/>
              </a:rPr>
              <a:t>NNT = 1 / hiệu số nguy cơ</a:t>
            </a:r>
          </a:p>
          <a:p>
            <a:pPr marL="0" indent="0" algn="ctr">
              <a:lnSpc>
                <a:spcPct val="104000"/>
              </a:lnSpc>
              <a:spcBef>
                <a:spcPts val="300"/>
              </a:spcBef>
              <a:buNone/>
            </a:pPr>
            <a:r>
              <a:rPr lang="en-US" sz="1500" dirty="0">
                <a:solidFill>
                  <a:srgbClr val="000000"/>
                </a:solidFill>
                <a:latin typeface="Arial"/>
                <a:cs typeface="Arial"/>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Cả lớp giải xong hai bài, mỗi bài có một câu diễn giải dễ hiểu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4.3  Vượt ra ngoài một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Một nghiên cứu hiếm khi là câu trả lời.</a:t>
            </a:r>
          </a:p>
          <a:p>
            <a:pPr marL="0" indent="0" algn="ctr">
              <a:spcBef>
                <a:spcPts val="1200"/>
              </a:spcBef>
              <a:buNone/>
            </a:pPr>
            <a:r>
              <a:rPr lang="en-US" sz="1900" i="1" dirty="0">
                <a:solidFill>
                  <a:srgbClr val="595959"/>
                </a:solidFill>
                <a:latin typeface="Arial"/>
                <a:cs typeface="Arial"/>
              </a:rPr>
              <a:t>Xét nghiệm chẩn đoán, tổng quan hệ thống và phân tích gộp, và cách thẩm định chúng. (30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Độ chính xác chẩn đoán: nhìn lại độ nhạy và độ đặc hiệu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Độ nhạy phát hiện người bệnh. Độ đặc hiệu loại trừ người khỏe.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Cùng xét nghiệm, khác bối cảnh: PPV phụ thuộc tỷ lệ hiện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PPV, NPV: giá trị tiên đoán dương và âm, khả năng một kết quả dương hoặc âm là đúng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Kết quả dương tính có ít ý nghĩa hơn nhiều khi bệnh hiếm gặp.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Đường cong ROC và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864367" y="1150000"/>
            <a:ext cx="8463265"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ROC: đường cong đặc trưng hoạt động của xét nghiệm. AUC: diện tích dưới đường cong. Xét nghiệm mô phỏng.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ngưỡng đổi độ nhạy lấy độ đặc hiệu. AUC tóm tắt toàn bộ đường cong.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Sơ đồ PRISMA: từ 1300 bản ghi đến 9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PRISMA: hướng dẫn báo cáo tổng quan hệ thống và phân tích gộp. RCT: thử nghiệm ngẫu nhiên có đối chứng.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Sơ đồ PRISMA cho thấy cách tìm, sàng lọc và loại nghiên cứu, kèm lý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Đọc biểu đồ rừng (forest plot) trong bốn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RR: nguy cơ tương đối. KTC: khoảng tin cậy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Ô vuông = nghiên cứu, đường ngang = KTC, hình thoi = kết quả gộp, đường dọc =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Tính không đồng nhất (heterogeneity): các nghiên cứu có thống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 bình phương (i²): phần biến thiên giữa các nghiên cứu vượt quá mức may rủi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I bình phương cao nghĩa là các nghiên cứu bất đồng: tìm lý do trước khi tin hình thoi.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Công cụ đánh giá nguy cơ sai lệch nào cho thiết kế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0025"/>
          <a:ext cx="11277600" cy="30708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400" b="1" dirty="0">
                          <a:solidFill>
                            <a:srgbClr val="FFFFFF"/>
                          </a:solidFill>
                          <a:latin typeface="Arial"/>
                          <a:cs typeface="Arial"/>
                        </a:rPr>
                        <a:t>Nếu nghiên cứu là...</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Thẩm định bằng</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Báo cáo theo</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Ví dụ trong khóa học</a:t>
                      </a:r>
                    </a:p>
                  </a:txBody>
                  <a:tcPr marL="73152" marR="73152" marT="45720" marB="45720" anchor="ctr">
                    <a:solidFill>
                      <a:srgbClr val="0D7377"/>
                    </a:solidFill>
                  </a:tcPr>
                </a:tc>
              </a:tr>
              <a:tr h="538160">
                <a:tc>
                  <a:txBody>
                    <a:bodyPr/>
                    <a:lstStyle/>
                    <a:p>
                      <a:pPr algn="l"/>
                      <a:r>
                        <a:rPr lang="en-US" sz="1400" dirty="0">
                          <a:solidFill>
                            <a:srgbClr val="000000"/>
                          </a:solidFill>
                          <a:latin typeface="Arial"/>
                          <a:cs typeface="Arial"/>
                        </a:rPr>
                        <a:t>Thử nghiệm ngẫu nhiên</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RoB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Bài báo 1 (Boulet)</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Nghiên cứu không ngẫu nhiên về một can thiệp</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ROBINS-I</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TREND hoặc STROBE</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Thuần tập hoặc bệnh–chứng về một phơi nhiễm</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Thang Newcastle-Ottawa (hoặc ROBINS-E)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STROBE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Bài báo 2 (Hyun)</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Nghiên cứu độ chính xác chẩn đoán</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QUADAS-2</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STARD</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Tổng quan hệ thống</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AMSTAR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PRISMA</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FFFFF"/>
                    </a:solidFill>
                  </a:tcPr>
                </a:tc>
              </a:tr>
            </a:tbl>
          </a:graphicData>
        </a:graphic>
      </p:graphicFrame>
      <p:sp>
        <p:nvSpPr>
          <p:cNvPr id="31" name="Caption"/>
          <p:cNvSpPr txBox="1"/>
          <p:nvPr/>
        </p:nvSpPr>
        <p:spPr>
          <a:xfrm>
            <a:off x="457200" y="4630825"/>
            <a:ext cx="11277600" cy="76912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RoB 2: công cụ đánh giá nguy cơ sai lệch của Cochrane cho thử nghiệm ngẫu nhiên. ROBINS-I / -E: nguy cơ sai lệch trong nghiên cứu không ngẫu nhiên về can thiệp / phơi nhiễm. QUADAS-2: cho nghiên cứu chẩn đoán. AMSTAR 2: cho tổng quan hệ thống. Các hướng dẫn báo cáo được học ở Buổi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kết luận có được dữ liệu ủng hộ?</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7-9 trong bảng kiểm thẩm định 10 câu dùng ở Buổi 8</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Lời lẽ khớp thiết kế</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'Gây ra' cần phân bổ ngẫu nhiên</a:t>
            </a:r>
          </a:p>
          <a:p>
            <a:pPr marL="0" indent="0" algn="ctr">
              <a:lnSpc>
                <a:spcPct val="104000"/>
              </a:lnSpc>
              <a:spcBef>
                <a:spcPts val="400"/>
              </a:spcBef>
              <a:buNone/>
            </a:pPr>
            <a:r>
              <a:rPr lang="en-US" sz="1750" dirty="0">
                <a:solidFill>
                  <a:srgbClr val="000000"/>
                </a:solidFill>
                <a:latin typeface="Arial"/>
                <a:cs typeface="Arial"/>
              </a:rPr>
              <a:t>Quan sát: 'có liên quan với'</a:t>
            </a:r>
          </a:p>
          <a:p>
            <a:pPr marL="0" indent="0" algn="ctr">
              <a:lnSpc>
                <a:spcPct val="104000"/>
              </a:lnSpc>
              <a:spcBef>
                <a:spcPts val="400"/>
              </a:spcBef>
              <a:buNone/>
            </a:pPr>
            <a:r>
              <a:rPr lang="en-US" sz="1750" dirty="0">
                <a:solidFill>
                  <a:srgbClr val="000000"/>
                </a:solidFill>
                <a:latin typeface="Arial"/>
                <a:cs typeface="Arial"/>
              </a:rPr>
              <a:t>Thí điểm: khả thi, không phải hiệu quả</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Con số khớp lời lẽ</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Cỡ tác động kèm KTC 95%</a:t>
            </a:r>
          </a:p>
          <a:p>
            <a:pPr marL="0" indent="0" algn="ctr">
              <a:lnSpc>
                <a:spcPct val="104000"/>
              </a:lnSpc>
              <a:spcBef>
                <a:spcPts val="400"/>
              </a:spcBef>
              <a:buNone/>
            </a:pPr>
            <a:r>
              <a:rPr lang="en-US" sz="1750" dirty="0">
                <a:solidFill>
                  <a:srgbClr val="000000"/>
                </a:solidFill>
                <a:latin typeface="Arial"/>
                <a:cs typeface="Arial"/>
              </a:rPr>
              <a:t>Tác động tương đối và tuyệt đối</a:t>
            </a:r>
          </a:p>
          <a:p>
            <a:pPr marL="0" indent="0" algn="ctr">
              <a:lnSpc>
                <a:spcPct val="104000"/>
              </a:lnSpc>
              <a:spcBef>
                <a:spcPts val="400"/>
              </a:spcBef>
              <a:buNone/>
            </a:pPr>
            <a:r>
              <a:rPr lang="en-US" sz="1750" dirty="0">
                <a:solidFill>
                  <a:srgbClr val="000000"/>
                </a:solidFill>
                <a:latin typeface="Arial"/>
                <a:cs typeface="Arial"/>
              </a:rPr>
              <a:t>Không nói 'xu hướng' khi p = 0.42</a:t>
            </a:r>
          </a:p>
        </p:txBody>
      </p:sp>
      <p:sp>
        <p:nvSpPr>
          <p:cNvPr id="74" name="CardHead"/>
          <p:cNvSpPr/>
          <p:nvPr/>
        </p:nvSpPr>
        <p:spPr>
          <a:xfrm>
            <a:off x="8108932"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Trung thực, không tô vẽ</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Kết cục chính được báo cáo trước</a:t>
            </a:r>
          </a:p>
          <a:p>
            <a:pPr marL="0" indent="0" algn="ctr">
              <a:lnSpc>
                <a:spcPct val="104000"/>
              </a:lnSpc>
              <a:spcBef>
                <a:spcPts val="400"/>
              </a:spcBef>
              <a:buNone/>
            </a:pPr>
            <a:r>
              <a:rPr lang="en-US" sz="1750" dirty="0">
                <a:solidFill>
                  <a:srgbClr val="000000"/>
                </a:solidFill>
                <a:latin typeface="Arial"/>
                <a:cs typeface="Arial"/>
              </a:rPr>
              <a:t>Nêu rõ hạn chế chính</a:t>
            </a:r>
          </a:p>
          <a:p>
            <a:pPr marL="0" indent="0" algn="ctr">
              <a:lnSpc>
                <a:spcPct val="104000"/>
              </a:lnSpc>
              <a:spcBef>
                <a:spcPts val="400"/>
              </a:spcBef>
              <a:buNone/>
            </a:pPr>
            <a:r>
              <a:rPr lang="en-US" sz="1750" dirty="0">
                <a:solidFill>
                  <a:srgbClr val="000000"/>
                </a:solidFill>
                <a:latin typeface="Arial"/>
                <a:cs typeface="Arial"/>
              </a:rPr>
              <a:t>Kết luận dựa trên kết quả chính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kết luận sau cùng, và đối chiếu với thiết kế và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đọc biểu đồ rừng, chọn công cụ</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Phiếu bài tập Buổi 4 (PDF), Phần E: biểu đồ rừng của sáu thử nghiệm dịch truyền, cũng chiếu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thử nghiệm nào có trọng số lớn nhất?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có thử nghiệm riêng lẻ nào cho tác động rõ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hình thoi có cắt RR = 1 không? Nói kết quả bằng một câu</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công cụ đánh giá sai lệch cho Bài báo 1 (Boulet), Bài báo 2 (Hyun) và một tổng quan về dịch truyền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Nhắc lại</a:t>
            </a:r>
          </a:p>
          <a:p>
            <a:pPr marL="0" indent="0" algn="ctr">
              <a:lnSpc>
                <a:spcPct val="104000"/>
              </a:lnSpc>
              <a:spcBef>
                <a:spcPts val="300"/>
              </a:spcBef>
              <a:buNone/>
            </a:pPr>
            <a:r>
              <a:rPr lang="en-US" sz="1500" dirty="0">
                <a:solidFill>
                  <a:srgbClr val="000000"/>
                </a:solidFill>
                <a:latin typeface="Arial"/>
                <a:cs typeface="Arial"/>
              </a:rPr>
              <a:t>Ô vuông = một nghiên cứu</a:t>
            </a:r>
          </a:p>
          <a:p>
            <a:pPr marL="0" indent="0" algn="ctr">
              <a:lnSpc>
                <a:spcPct val="104000"/>
              </a:lnSpc>
              <a:spcBef>
                <a:spcPts val="300"/>
              </a:spcBef>
              <a:buNone/>
            </a:pPr>
            <a:r>
              <a:rPr lang="en-US" sz="1500" dirty="0">
                <a:solidFill>
                  <a:srgbClr val="000000"/>
                </a:solidFill>
                <a:latin typeface="Arial"/>
                <a:cs typeface="Arial"/>
              </a:rPr>
              <a:t>Đường ngang = KTC 95%</a:t>
            </a:r>
          </a:p>
          <a:p>
            <a:pPr marL="0" indent="0" algn="ctr">
              <a:lnSpc>
                <a:spcPct val="104000"/>
              </a:lnSpc>
              <a:spcBef>
                <a:spcPts val="300"/>
              </a:spcBef>
              <a:buNone/>
            </a:pPr>
            <a:r>
              <a:rPr lang="en-US" sz="1500" dirty="0">
                <a:solidFill>
                  <a:srgbClr val="000000"/>
                </a:solidFill>
                <a:latin typeface="Arial"/>
                <a:cs typeface="Arial"/>
              </a:rPr>
              <a:t>Hình thoi = kết quả gộp</a:t>
            </a:r>
          </a:p>
          <a:p>
            <a:pPr marL="0" indent="0" algn="ctr">
              <a:lnSpc>
                <a:spcPct val="104000"/>
              </a:lnSpc>
              <a:spcBef>
                <a:spcPts val="300"/>
              </a:spcBef>
              <a:buNone/>
            </a:pPr>
            <a:r>
              <a:rPr lang="en-US" sz="1500" dirty="0">
                <a:solidFill>
                  <a:srgbClr val="000000"/>
                </a:solidFill>
                <a:latin typeface="Arial"/>
                <a:cs typeface="Arial"/>
              </a:rPr>
              <a:t>Công cụ: xem bảng ở hai slide trước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chung của cả lớp về kết quả gộp, và ba công cụ được gọi tên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Kết cục: một kết cục chính, định nghĩa bằng cái gì, thế nào, khi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Ví dụ xuyên suốt (phiên bản quan sát)</a:t>
            </a:r>
          </a:p>
        </p:txBody>
      </p:sp>
      <p:sp>
        <p:nvSpPr>
          <p:cNvPr id="70" name="CardHead"/>
          <p:cNvSpPr/>
          <p:nvPr/>
        </p:nvSpPr>
        <p:spPr>
          <a:xfrm>
            <a:off x="457200" y="2058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Cái gì</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Tử vong do mọi nguyên nhân</a:t>
            </a:r>
          </a:p>
          <a:p>
            <a:pPr marL="0" indent="0" algn="ctr">
              <a:lnSpc>
                <a:spcPct val="104000"/>
              </a:lnSpc>
              <a:spcBef>
                <a:spcPts val="400"/>
              </a:spcBef>
              <a:buNone/>
            </a:pPr>
            <a:r>
              <a:rPr lang="en-US" sz="1600" dirty="0">
                <a:solidFill>
                  <a:srgbClr val="000000"/>
                </a:solidFill>
                <a:latin typeface="Arial"/>
                <a:cs typeface="Arial"/>
              </a:rPr>
              <a:t>Không phải 'cải thiện tử vong'</a:t>
            </a:r>
          </a:p>
        </p:txBody>
      </p:sp>
      <p:sp>
        <p:nvSpPr>
          <p:cNvPr id="72" name="CardHead"/>
          <p:cNvSpPr/>
          <p:nvPr/>
        </p:nvSpPr>
        <p:spPr>
          <a:xfrm>
            <a:off x="33266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Đo thế nào</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Hồ sơ bệnh viện</a:t>
            </a:r>
          </a:p>
          <a:p>
            <a:pPr marL="0" indent="0" algn="ctr">
              <a:lnSpc>
                <a:spcPct val="104000"/>
              </a:lnSpc>
              <a:spcBef>
                <a:spcPts val="400"/>
              </a:spcBef>
              <a:buNone/>
            </a:pPr>
            <a:r>
              <a:rPr lang="en-US" sz="1600" dirty="0">
                <a:solidFill>
                  <a:srgbClr val="000000"/>
                </a:solidFill>
                <a:latin typeface="Arial"/>
                <a:cs typeface="Arial"/>
              </a:rPr>
              <a:t>Gọi điện nếu đã ra viện</a:t>
            </a:r>
          </a:p>
        </p:txBody>
      </p:sp>
      <p:sp>
        <p:nvSpPr>
          <p:cNvPr id="74" name="CardHead"/>
          <p:cNvSpPr/>
          <p:nvPr/>
        </p:nvSpPr>
        <p:spPr>
          <a:xfrm>
            <a:off x="61960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Khi nào</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Ngày 28 sau khi vào ICU</a:t>
            </a:r>
          </a:p>
          <a:p>
            <a:pPr marL="0" indent="0" algn="ctr">
              <a:lnSpc>
                <a:spcPct val="104000"/>
              </a:lnSpc>
              <a:spcBef>
                <a:spcPts val="400"/>
              </a:spcBef>
              <a:buNone/>
            </a:pPr>
            <a:r>
              <a:rPr lang="en-US" sz="1600" dirty="0">
                <a:solidFill>
                  <a:srgbClr val="000000"/>
                </a:solidFill>
                <a:latin typeface="Arial"/>
                <a:cs typeface="Arial"/>
              </a:rPr>
              <a:t>Cùng một mốc cho mọi người bệnh</a:t>
            </a:r>
          </a:p>
        </p:txBody>
      </p:sp>
      <p:sp>
        <p:nvSpPr>
          <p:cNvPr id="76" name="CardHead"/>
          <p:cNvSpPr/>
          <p:nvPr/>
        </p:nvSpPr>
        <p:spPr>
          <a:xfrm>
            <a:off x="90654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2-3 kết cục phụ</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Tổn thương thận cấp đến ngày 7</a:t>
            </a:r>
          </a:p>
          <a:p>
            <a:pPr marL="0" indent="0" algn="ctr">
              <a:lnSpc>
                <a:spcPct val="104000"/>
              </a:lnSpc>
              <a:spcBef>
                <a:spcPts val="400"/>
              </a:spcBef>
              <a:buNone/>
            </a:pPr>
            <a:r>
              <a:rPr lang="en-US" sz="1600" dirty="0">
                <a:solidFill>
                  <a:srgbClr val="000000"/>
                </a:solidFill>
                <a:latin typeface="Arial"/>
                <a:cs typeface="Arial"/>
              </a:rPr>
              <a:t>Số ngày không thở máy đến ngày 28</a:t>
            </a:r>
          </a:p>
          <a:p>
            <a:pPr marL="0" indent="0" algn="ctr">
              <a:lnSpc>
                <a:spcPct val="104000"/>
              </a:lnSpc>
              <a:spcBef>
                <a:spcPts val="400"/>
              </a:spcBef>
              <a:buNone/>
            </a:pPr>
            <a:r>
              <a:rPr lang="en-US" sz="1600" dirty="0">
                <a:solidFill>
                  <a:srgbClr val="000000"/>
                </a:solidFill>
                <a:latin typeface="Arial"/>
                <a:cs typeface="Arial"/>
              </a:rPr>
              <a:t>Thời gian nằm ICU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kết cục chính trước khi thấy dữ liệu, và báo cáo nó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4: phơi nhiễm, kết cục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40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Theo dõi: giảng viên viết trực tiếp Phần 2b cho ví dụ xuyên suốt (15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Phơi nhiễm hoặc can thiệp, và nhóm so sánh: chính xác là gì, bao nhiêu, khi nào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Một kết cục chính (cái gì, thế nào, khi nào) và 2-3 kết cục phụ</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Hai sai lệch chính, một biện pháp cụ thể cho mỗi sai lệch, và 'gây ra' hay 'có liên quan'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Đến lượt bạn: viết nháp phần này cho câu hỏi của chính mình (16 phút, làm riêng, yên lặng)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Ba bạn tình nguyện đọc to một sai lệch và biện pháp để nhận góp ý (7 phút)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Tự kiểm tra bản nháp</a:t>
            </a:r>
          </a:p>
          <a:p>
            <a:pPr marL="0" indent="0" algn="ctr">
              <a:lnSpc>
                <a:spcPct val="104000"/>
              </a:lnSpc>
              <a:spcBef>
                <a:spcPts val="300"/>
              </a:spcBef>
              <a:buNone/>
            </a:pPr>
            <a:r>
              <a:rPr lang="en-US" sz="1500" dirty="0">
                <a:solidFill>
                  <a:srgbClr val="000000"/>
                </a:solidFill>
                <a:latin typeface="Arial"/>
                <a:cs typeface="Arial"/>
              </a:rPr>
              <a:t>Có nêu nhóm so sánh?</a:t>
            </a:r>
          </a:p>
          <a:p>
            <a:pPr marL="0" indent="0" algn="ctr">
              <a:lnSpc>
                <a:spcPct val="104000"/>
              </a:lnSpc>
              <a:spcBef>
                <a:spcPts val="300"/>
              </a:spcBef>
              <a:buNone/>
            </a:pPr>
            <a:r>
              <a:rPr lang="en-US" sz="1500" dirty="0">
                <a:solidFill>
                  <a:srgbClr val="000000"/>
                </a:solidFill>
                <a:latin typeface="Arial"/>
                <a:cs typeface="Arial"/>
              </a:rPr>
              <a:t>Chỉ một kết cục chính?</a:t>
            </a:r>
          </a:p>
          <a:p>
            <a:pPr marL="0" indent="0" algn="ctr">
              <a:lnSpc>
                <a:spcPct val="104000"/>
              </a:lnSpc>
              <a:spcBef>
                <a:spcPts val="300"/>
              </a:spcBef>
              <a:buNone/>
            </a:pPr>
            <a:r>
              <a:rPr lang="en-US" sz="1500" dirty="0">
                <a:solidFill>
                  <a:srgbClr val="000000"/>
                </a:solidFill>
                <a:latin typeface="Arial"/>
                <a:cs typeface="Arial"/>
              </a:rPr>
              <a:t>Kết cục có mốc thời gian?</a:t>
            </a:r>
          </a:p>
          <a:p>
            <a:pPr marL="0" indent="0" algn="ctr">
              <a:lnSpc>
                <a:spcPct val="104000"/>
              </a:lnSpc>
              <a:spcBef>
                <a:spcPts val="300"/>
              </a:spcBef>
              <a:buNone/>
            </a:pPr>
            <a:r>
              <a:rPr lang="en-US" sz="1500" dirty="0">
                <a:solidFill>
                  <a:srgbClr val="000000"/>
                </a:solidFill>
                <a:latin typeface="Arial"/>
                <a:cs typeface="Arial"/>
              </a:rPr>
              <a:t>Nhiễu do chỉ định?</a:t>
            </a:r>
          </a:p>
          <a:p>
            <a:pPr marL="0" indent="0" algn="ctr">
              <a:lnSpc>
                <a:spcPct val="104000"/>
              </a:lnSpc>
              <a:spcBef>
                <a:spcPts val="300"/>
              </a:spcBef>
              <a:buNone/>
            </a:pPr>
            <a:r>
              <a:rPr lang="en-US" sz="1500" dirty="0">
                <a:solidFill>
                  <a:srgbClr val="000000"/>
                </a:solidFill>
                <a:latin typeface="Arial"/>
                <a:cs typeface="Arial"/>
              </a:rPr>
              <a:t>Mỗi sai lệch có biện pháp cụ thể?</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Phần 2 đề cương của chính bạn hoàn chỉnh (2a từ Buổi 3, 2b hôm nay). Hoàn thành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Buổi 4 trong một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4.1 Tin cậy</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Sai lệch: cỡ mẫu không sửa được</a:t>
            </a:r>
          </a:p>
          <a:p>
            <a:pPr marL="0" indent="0" algn="ctr">
              <a:lnSpc>
                <a:spcPct val="104000"/>
              </a:lnSpc>
              <a:spcBef>
                <a:spcPts val="400"/>
              </a:spcBef>
              <a:buNone/>
            </a:pPr>
            <a:r>
              <a:rPr lang="en-US" sz="1600" dirty="0">
                <a:solidFill>
                  <a:srgbClr val="000000"/>
                </a:solidFill>
                <a:latin typeface="Arial"/>
                <a:cs typeface="Arial"/>
              </a:rPr>
              <a:t>Yếu tố nhiễu: loại bỏ</a:t>
            </a:r>
          </a:p>
          <a:p>
            <a:pPr marL="0" indent="0" algn="ctr">
              <a:lnSpc>
                <a:spcPct val="104000"/>
              </a:lnSpc>
              <a:spcBef>
                <a:spcPts val="400"/>
              </a:spcBef>
              <a:buNone/>
            </a:pPr>
            <a:r>
              <a:rPr lang="en-US" sz="1600" dirty="0">
                <a:solidFill>
                  <a:srgbClr val="000000"/>
                </a:solidFill>
                <a:latin typeface="Arial"/>
                <a:cs typeface="Arial"/>
              </a:rPr>
              <a:t>Thay đổi tác động: báo cáo</a:t>
            </a:r>
          </a:p>
        </p:txBody>
      </p:sp>
      <p:sp>
        <p:nvSpPr>
          <p:cNvPr id="72" name="CardHead"/>
          <p:cNvSpPr/>
          <p:nvPr/>
        </p:nvSpPr>
        <p:spPr>
          <a:xfrm>
            <a:off x="33266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4.2 Độ lớn</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Tương đối: RR, OR</a:t>
            </a:r>
          </a:p>
          <a:p>
            <a:pPr marL="0" indent="0" algn="ctr">
              <a:lnSpc>
                <a:spcPct val="104000"/>
              </a:lnSpc>
              <a:spcBef>
                <a:spcPts val="400"/>
              </a:spcBef>
              <a:buNone/>
            </a:pPr>
            <a:r>
              <a:rPr lang="en-US" sz="1600" dirty="0">
                <a:solidFill>
                  <a:srgbClr val="000000"/>
                </a:solidFill>
                <a:latin typeface="Arial"/>
                <a:cs typeface="Arial"/>
              </a:rPr>
              <a:t>Tuyệt đối: RD, NNT</a:t>
            </a:r>
          </a:p>
          <a:p>
            <a:pPr marL="0" indent="0" algn="ctr">
              <a:lnSpc>
                <a:spcPct val="104000"/>
              </a:lnSpc>
              <a:spcBef>
                <a:spcPts val="400"/>
              </a:spcBef>
              <a:buNone/>
            </a:pPr>
            <a:r>
              <a:rPr lang="en-US" sz="1600" dirty="0">
                <a:solidFill>
                  <a:srgbClr val="000000"/>
                </a:solidFill>
                <a:latin typeface="Arial"/>
                <a:cs typeface="Arial"/>
              </a:rPr>
              <a:t>OR gần RR chỉ khi kết cục hiếm</a:t>
            </a:r>
          </a:p>
        </p:txBody>
      </p:sp>
      <p:sp>
        <p:nvSpPr>
          <p:cNvPr id="74" name="CardHead"/>
          <p:cNvSpPr/>
          <p:nvPr/>
        </p:nvSpPr>
        <p:spPr>
          <a:xfrm>
            <a:off x="61960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4.3 Nhiều nghiên cứu</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PPV phụ thuộc tỷ lệ hiện mắc</a:t>
            </a:r>
          </a:p>
          <a:p>
            <a:pPr marL="0" indent="0" algn="ctr">
              <a:lnSpc>
                <a:spcPct val="104000"/>
              </a:lnSpc>
              <a:spcBef>
                <a:spcPts val="400"/>
              </a:spcBef>
              <a:buNone/>
            </a:pPr>
            <a:r>
              <a:rPr lang="en-US" sz="1600" dirty="0">
                <a:solidFill>
                  <a:srgbClr val="000000"/>
                </a:solidFill>
                <a:latin typeface="Arial"/>
                <a:cs typeface="Arial"/>
              </a:rPr>
              <a:t>Biểu đồ rừng: đọc hình thoi</a:t>
            </a:r>
          </a:p>
          <a:p>
            <a:pPr marL="0" indent="0" algn="ctr">
              <a:lnSpc>
                <a:spcPct val="104000"/>
              </a:lnSpc>
              <a:spcBef>
                <a:spcPts val="400"/>
              </a:spcBef>
              <a:buNone/>
            </a:pPr>
            <a:r>
              <a:rPr lang="en-US" sz="1600" dirty="0">
                <a:solidFill>
                  <a:srgbClr val="000000"/>
                </a:solidFill>
                <a:latin typeface="Arial"/>
                <a:cs typeface="Arial"/>
              </a:rPr>
              <a:t>Đúng công cụ cho thiết kế</a:t>
            </a:r>
          </a:p>
        </p:txBody>
      </p:sp>
      <p:sp>
        <p:nvSpPr>
          <p:cNvPr id="76" name="CardHead"/>
          <p:cNvSpPr/>
          <p:nvPr/>
        </p:nvSpPr>
        <p:spPr>
          <a:xfrm>
            <a:off x="9065400" y="1680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Đề cương của bạn</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Phần 2 hoàn chỉnh</a:t>
            </a:r>
          </a:p>
          <a:p>
            <a:pPr marL="0" indent="0" algn="ctr">
              <a:lnSpc>
                <a:spcPct val="104000"/>
              </a:lnSpc>
              <a:spcBef>
                <a:spcPts val="400"/>
              </a:spcBef>
              <a:buNone/>
            </a:pPr>
            <a:r>
              <a:rPr lang="en-US" sz="1600" dirty="0">
                <a:solidFill>
                  <a:srgbClr val="000000"/>
                </a:solidFill>
                <a:latin typeface="Arial"/>
                <a:cs typeface="Arial"/>
              </a:rPr>
              <a:t>Gây ra hay có liên quan?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Tin trước, rồi đến độ lớn, và kiểm tra lời lẽ có khớp với thiết kế.</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chat): người bệnh ICU được truyền nhiều dịch hơn tử vong nhiều hơn. Nêu một lý do khác ngoài bản thân dịch truyền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hoàn thành Phần 2 đề cương của bạn (phơi nhiễm, so sánh, kết cục, sai lệch)</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Tùy chọn: phiếu bài tập Phần B và D (thay đổi tác động, PPV ở hai bối cảnh)</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Thứ Bảy tuần sau (Buổi 5): dữ liệu, và bộ dữ liệu khóa học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Mỗi người một câu trả lời cuối buổi, trong khung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Buổi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4</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(ví dụ khác): sai lệch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Chỉ phỏng vấn những người bệnh sống đến lúc ra viện về chăm sóc tại 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Điều dưỡng biết người bệnh thuộc nhóm nào chấm điểm đau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Một cái cân luôn chỉ cao 0.5 kg chỉ được dùng ở một khoa</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Chọn</a:t>
            </a:r>
          </a:p>
          <a:p>
            <a:pPr marL="0" indent="0" algn="ctr">
              <a:lnSpc>
                <a:spcPct val="104000"/>
              </a:lnSpc>
              <a:spcBef>
                <a:spcPts val="300"/>
              </a:spcBef>
              <a:buNone/>
            </a:pPr>
            <a:r>
              <a:rPr lang="en-US" sz="1500" dirty="0">
                <a:solidFill>
                  <a:srgbClr val="000000"/>
                </a:solidFill>
                <a:latin typeface="Arial"/>
                <a:cs typeface="Arial"/>
              </a:rPr>
              <a:t>Sai lệch chọn lựa</a:t>
            </a:r>
          </a:p>
          <a:p>
            <a:pPr marL="0" indent="0" algn="ctr">
              <a:lnSpc>
                <a:spcPct val="104000"/>
              </a:lnSpc>
              <a:spcBef>
                <a:spcPts val="300"/>
              </a:spcBef>
              <a:buNone/>
            </a:pPr>
            <a:r>
              <a:rPr lang="en-US" sz="1500" dirty="0">
                <a:solidFill>
                  <a:srgbClr val="000000"/>
                </a:solidFill>
                <a:latin typeface="Arial"/>
                <a:cs typeface="Arial"/>
              </a:rPr>
              <a:t>Sai lệch người quan sát</a:t>
            </a:r>
          </a:p>
          <a:p>
            <a:pPr marL="0" indent="0" algn="ctr">
              <a:lnSpc>
                <a:spcPct val="104000"/>
              </a:lnSpc>
              <a:spcBef>
                <a:spcPts val="300"/>
              </a:spcBef>
              <a:buNone/>
            </a:pPr>
            <a:r>
              <a:rPr lang="en-US" sz="1500" dirty="0">
                <a:solidFill>
                  <a:srgbClr val="000000"/>
                </a:solidFill>
                <a:latin typeface="Arial"/>
                <a:cs typeface="Arial"/>
              </a:rPr>
              <a:t>Sai lệch 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sai lệch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khác: tìm yếu tố nhiễu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Trong mỗi ví dụ, một yếu tố thứ ba chi phối cả phơi nhiễm lẫn kết cục</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Kháng sinh và tử vong</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Nhiều kháng sinh, nhiều tử vong?</a:t>
            </a:r>
          </a:p>
          <a:p>
            <a:pPr marL="0" indent="0" algn="ctr">
              <a:lnSpc>
                <a:spcPct val="104000"/>
              </a:lnSpc>
              <a:spcBef>
                <a:spcPts val="400"/>
              </a:spcBef>
              <a:buNone/>
            </a:pPr>
            <a:r>
              <a:rPr lang="en-US" sz="1750" b="1" dirty="0">
                <a:solidFill>
                  <a:srgbClr val="000000"/>
                </a:solidFill>
                <a:latin typeface="Arial"/>
                <a:cs typeface="Arial"/>
              </a:rPr>
              <a:t>Yếu tố nhiễu: độ nặng nhiễm khuẩn</a:t>
            </a:r>
          </a:p>
          <a:p>
            <a:pPr marL="0" indent="0" algn="ctr">
              <a:lnSpc>
                <a:spcPct val="104000"/>
              </a:lnSpc>
              <a:spcBef>
                <a:spcPts val="400"/>
              </a:spcBef>
              <a:buNone/>
            </a:pPr>
            <a:r>
              <a:rPr lang="en-US" sz="1750" dirty="0">
                <a:solidFill>
                  <a:srgbClr val="000000"/>
                </a:solidFill>
                <a:latin typeface="Arial"/>
                <a:cs typeface="Arial"/>
              </a:rPr>
              <a:t>Người bệnh nặng hơn dùng nhiều thuốc hơn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Dinh dưỡng và sụt cân</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Được chuyên gia dinh dưỡng khám, sụt cân nhiều hơn?</a:t>
            </a:r>
          </a:p>
          <a:p>
            <a:pPr marL="0" indent="0" algn="ctr">
              <a:lnSpc>
                <a:spcPct val="104000"/>
              </a:lnSpc>
              <a:spcBef>
                <a:spcPts val="400"/>
              </a:spcBef>
              <a:buNone/>
            </a:pPr>
            <a:r>
              <a:rPr lang="en-US" sz="1750" b="1" dirty="0">
                <a:solidFill>
                  <a:srgbClr val="000000"/>
                </a:solidFill>
                <a:latin typeface="Arial"/>
                <a:cs typeface="Arial"/>
              </a:rPr>
              <a:t>Yếu tố nhiễu: suy dinh dưỡng khi vào viện</a:t>
            </a:r>
          </a:p>
          <a:p>
            <a:pPr marL="0" indent="0" algn="ctr">
              <a:lnSpc>
                <a:spcPct val="104000"/>
              </a:lnSpc>
              <a:spcBef>
                <a:spcPts val="400"/>
              </a:spcBef>
              <a:buNone/>
            </a:pPr>
            <a:r>
              <a:rPr lang="en-US" sz="1750" dirty="0">
                <a:solidFill>
                  <a:srgbClr val="000000"/>
                </a:solidFill>
                <a:latin typeface="Arial"/>
                <a:cs typeface="Arial"/>
              </a:rPr>
              <a:t>Chính là lý do được giới thiệu</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Vận mạch và rối loạn nhịp</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Dùng vận mạch, nhiều rối loạn nhịp hơn?</a:t>
            </a:r>
          </a:p>
          <a:p>
            <a:pPr marL="0" indent="0" algn="ctr">
              <a:lnSpc>
                <a:spcPct val="104000"/>
              </a:lnSpc>
              <a:spcBef>
                <a:spcPts val="400"/>
              </a:spcBef>
              <a:buNone/>
            </a:pPr>
            <a:r>
              <a:rPr lang="en-US" sz="1750" b="1" dirty="0">
                <a:solidFill>
                  <a:srgbClr val="000000"/>
                </a:solidFill>
                <a:latin typeface="Arial"/>
                <a:cs typeface="Arial"/>
              </a:rPr>
              <a:t>Yếu tố nhiễu: mức độ sốc</a:t>
            </a:r>
          </a:p>
          <a:p>
            <a:pPr marL="0" indent="0" algn="ctr">
              <a:lnSpc>
                <a:spcPct val="104000"/>
              </a:lnSpc>
              <a:spcBef>
                <a:spcPts val="400"/>
              </a:spcBef>
              <a:buNone/>
            </a:pPr>
            <a:r>
              <a:rPr lang="en-US" sz="1750" dirty="0">
                <a:solidFill>
                  <a:srgbClr val="000000"/>
                </a:solidFill>
                <a:latin typeface="Arial"/>
                <a:cs typeface="Arial"/>
              </a:rPr>
              <a:t>Một phần cũng do thuốc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vì sao những người bệnh này nhận phơi nhiễm? Lý do đó có thể là yếu tố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Tỷ số khả dĩ (LR) và báo cáo nghiên cứu chẩn đoán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Cùng xét nghiệm: độ nhạy 90%, độ đặc hiệu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(xét nghiệm dương)</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độ nhạy / (1 - độ đặc hiệu)</a:t>
            </a:r>
          </a:p>
          <a:p>
            <a:pPr marL="0" indent="0" algn="ctr">
              <a:lnSpc>
                <a:spcPct val="104000"/>
              </a:lnSpc>
              <a:spcBef>
                <a:spcPts val="400"/>
              </a:spcBef>
              <a:buNone/>
            </a:pPr>
            <a:r>
              <a:rPr lang="en-US" sz="1750" b="1" dirty="0">
                <a:solidFill>
                  <a:srgbClr val="000000"/>
                </a:solidFill>
                <a:latin typeface="Arial"/>
                <a:cs typeface="Arial"/>
              </a:rPr>
              <a:t>0.90 / 0.20 = 4.5</a:t>
            </a:r>
          </a:p>
          <a:p>
            <a:pPr marL="0" indent="0" algn="ctr">
              <a:lnSpc>
                <a:spcPct val="104000"/>
              </a:lnSpc>
              <a:spcBef>
                <a:spcPts val="400"/>
              </a:spcBef>
              <a:buNone/>
            </a:pPr>
            <a:r>
              <a:rPr lang="en-US" sz="1750" dirty="0">
                <a:solidFill>
                  <a:srgbClr val="000000"/>
                </a:solidFill>
                <a:latin typeface="Arial"/>
                <a:cs typeface="Arial"/>
              </a:rPr>
              <a:t>Kết quả dương gặp ở người bệnh nhiều gấp 4.5 lần</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(xét nghiệm âm)</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(1 - độ nhạy) / độ đặc hiệu</a:t>
            </a:r>
          </a:p>
          <a:p>
            <a:pPr marL="0" indent="0" algn="ctr">
              <a:lnSpc>
                <a:spcPct val="104000"/>
              </a:lnSpc>
              <a:spcBef>
                <a:spcPts val="400"/>
              </a:spcBef>
              <a:buNone/>
            </a:pPr>
            <a:r>
              <a:rPr lang="en-US" sz="1750" b="1" dirty="0">
                <a:solidFill>
                  <a:srgbClr val="000000"/>
                </a:solidFill>
                <a:latin typeface="Arial"/>
                <a:cs typeface="Arial"/>
              </a:rPr>
              <a:t>0.10 / 0.80 = 0.13</a:t>
            </a:r>
          </a:p>
          <a:p>
            <a:pPr marL="0" indent="0" algn="ctr">
              <a:lnSpc>
                <a:spcPct val="104000"/>
              </a:lnSpc>
              <a:spcBef>
                <a:spcPts val="400"/>
              </a:spcBef>
              <a:buNone/>
            </a:pPr>
            <a:r>
              <a:rPr lang="en-US" sz="1750" dirty="0">
                <a:solidFill>
                  <a:srgbClr val="000000"/>
                </a:solidFill>
                <a:latin typeface="Arial"/>
                <a:cs typeface="Arial"/>
              </a:rPr>
              <a:t>LR trên 10 hoặc dưới 0.1 thay đổi quyết định nhiều nhất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Báo cáo và thẩm định</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STARD: bảng kiểm báo cáo và sơ đồ luồng</a:t>
            </a:r>
          </a:p>
          <a:p>
            <a:pPr marL="0" indent="0" algn="ctr">
              <a:lnSpc>
                <a:spcPct val="104000"/>
              </a:lnSpc>
              <a:spcBef>
                <a:spcPts val="400"/>
              </a:spcBef>
              <a:buNone/>
            </a:pPr>
            <a:r>
              <a:rPr lang="en-US" sz="1750" dirty="0">
                <a:solidFill>
                  <a:srgbClr val="000000"/>
                </a:solidFill>
                <a:latin typeface="Arial"/>
                <a:cs typeface="Arial"/>
              </a:rPr>
              <a:t>QUADAS-2: nguy cơ sai lệch</a:t>
            </a:r>
          </a:p>
          <a:p>
            <a:pPr marL="0" indent="0" algn="ctr">
              <a:lnSpc>
                <a:spcPct val="104000"/>
              </a:lnSpc>
              <a:spcBef>
                <a:spcPts val="400"/>
              </a:spcBef>
              <a:buNone/>
            </a:pPr>
            <a:r>
              <a:rPr lang="en-US" sz="1750" dirty="0">
                <a:solidFill>
                  <a:srgbClr val="000000"/>
                </a:solidFill>
                <a:latin typeface="Arial"/>
                <a:cs typeface="Arial"/>
              </a:rPr>
              <a:t>Thử trên đúng người bệnh sẽ dùng xét nghiệm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số khả dĩ không đổi theo tỷ lệ hiện mắc. Giá trị tiên đoán thì có.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Biểu đồ đèn giao thông RoB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RoB 2: công cụ đánh giá nguy cơ sai lệch của Cochrane cho thử nghiệm ngẫu nhiên. D1-D5: năm lĩnh vực. Đánh giá minh họa.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Đánh giá từng lĩnh vực. Nguy cơ chung do lĩnh vực xấu nhất quyết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hiện mắc hay mới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Hôm nay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200 người bệnh ở khoa, 20 người có loét tì đè</a:t>
            </a:r>
          </a:p>
          <a:p>
            <a:pPr marL="0" indent="0" algn="ctr">
              <a:lnSpc>
                <a:spcPct val="104000"/>
              </a:lnSpc>
              <a:spcBef>
                <a:spcPts val="200"/>
              </a:spcBef>
              <a:buNone/>
            </a:pPr>
            <a:r>
              <a:rPr lang="en-US" sz="1500" dirty="0">
                <a:solidFill>
                  <a:srgbClr val="000000"/>
                </a:solidFill>
                <a:latin typeface="Arial"/>
                <a:cs typeface="Arial"/>
              </a:rPr>
              <a:t>Hiện mắc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Có nguy cơ</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180 người bệnh chưa bị loét</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Một tuần</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9 người bị loét mới</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Mới mắc</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9 / 180 = 5% mỗi tuần</a:t>
            </a:r>
          </a:p>
          <a:p>
            <a:pPr marL="0" indent="0" algn="ctr">
              <a:lnSpc>
                <a:spcPct val="104000"/>
              </a:lnSpc>
              <a:spcBef>
                <a:spcPts val="200"/>
              </a:spcBef>
              <a:buNone/>
            </a:pPr>
            <a:r>
              <a:rPr lang="en-US" sz="1500" dirty="0">
                <a:solidFill>
                  <a:srgbClr val="000000"/>
                </a:solidFill>
                <a:latin typeface="Arial"/>
                <a:cs typeface="Arial"/>
              </a:rPr>
              <a:t>Mẫu số: chỉ người có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lệ mới mắc luôn có khoảng thời gian và chỉ tính người có nguy cơ.</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