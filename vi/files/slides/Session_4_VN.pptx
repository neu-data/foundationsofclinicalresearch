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Default Extension="png" ContentType="image/png"/>
</Types>
</file>

<file path=_rels/.rels><?xml version="1.0" encoding="utf-8"?>
<Relationships xmlns="http://schemas.openxmlformats.org/package/2006/relationships">
  <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5" Type="http://schemas.openxmlformats.org/officeDocument/2006/relationships/custom-properties" Target="docProps/custom.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9"/>
  </p:notesMasterIdLst>
  <p:handoutMasterIdLst>
    <p:handoutMasterId r:id="rId10"/>
  </p:handoutMasterIdLst>
  <p:sldIdLst>
    <p:sldId id="256" r:id="rId100"/>
    <p:sldId id="257" r:id="rId101"/>
    <p:sldId id="258" r:id="rId102"/>
    <p:sldId id="259" r:id="rId103"/>
    <p:sldId id="260" r:id="rId104"/>
    <p:sldId id="261" r:id="rId105"/>
    <p:sldId id="262" r:id="rId106"/>
    <p:sldId id="263" r:id="rId107"/>
    <p:sldId id="264" r:id="rId108"/>
    <p:sldId id="265" r:id="rId109"/>
    <p:sldId id="266" r:id="rId110"/>
    <p:sldId id="267" r:id="rId111"/>
    <p:sldId id="268" r:id="rId112"/>
    <p:sldId id="269" r:id="rId113"/>
    <p:sldId id="270" r:id="rId114"/>
    <p:sldId id="271" r:id="rId115"/>
    <p:sldId id="272" r:id="rId116"/>
    <p:sldId id="273" r:id="rId117"/>
    <p:sldId id="274" r:id="rId118"/>
    <p:sldId id="275" r:id="rId119"/>
    <p:sldId id="276" r:id="rId120"/>
    <p:sldId id="277" r:id="rId121"/>
    <p:sldId id="278" r:id="rId122"/>
    <p:sldId id="279" r:id="rId123"/>
    <p:sldId id="280" r:id="rId124"/>
    <p:sldId id="281" r:id="rId125"/>
    <p:sldId id="282" r:id="rId126"/>
    <p:sldId id="283" r:id="rId127"/>
    <p:sldId id="284" r:id="rId128"/>
    <p:sldId id="285" r:id="rId129"/>
    <p:sldId id="286" r:id="rId130"/>
    <p:sldId id="287" r:id="rId131"/>
    <p:sldId id="288" r:id="rId132"/>
    <p:sldId id="289" r:id="rId133"/>
    <p:sldId id="290" r:id="rId134"/>
    <p:sldId id="291" r:id="rId135"/>
    <p:sldId id="292" r:id="rId136"/>
    <p:sldId id="293" r:id="rId137"/>
    <p:sldId id="294" r:id="rId138"/>
    <p:sldId id="295" r:id="rId139"/>
    <p:sldId id="296" r:id="rId140"/>
    <p:sldId id="297" r:id="rId141"/>
    <p:sldId id="298" r:id="rId142"/>
    <p:sldId id="299" r:id="rId143"/>
    <p:sldId id="300" r:id="rId144"/>
    <p:sldId id="301" r:id="rId145"/>
    <p:sldId id="302" r:id="rId146"/>
    <p:sldId id="303" r:id="rId147"/>
    <p:sldId id="304" r:id="rId14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1859C"/>
    <a:srgbClr val="23815D"/>
    <a:srgbClr val="27C00E"/>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6362" autoAdjust="0"/>
  </p:normalViewPr>
  <p:slideViewPr>
    <p:cSldViewPr snapToGrid="0" snapToObjects="1">
      <p:cViewPr varScale="1">
        <p:scale>
          <a:sx n="111" d="100"/>
          <a:sy n="111" d="100"/>
        </p:scale>
        <p:origin x="558" y="96"/>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Relationships xmlns="http://schemas.openxmlformats.org/package/2006/relationships"><Relationship Id="rId13"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11" Type="http://schemas.openxmlformats.org/officeDocument/2006/relationships/presProps" Target="presProps.xml"/><Relationship Id="rId10"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notesMaster" Target="notesMasters/notesMaster1.xml"/><Relationship Id="rId14" Type="http://schemas.openxmlformats.org/officeDocument/2006/relationships/tableStyles" Target="tableStyles.xml"/><Relationship Id="rId100" Type="http://schemas.openxmlformats.org/officeDocument/2006/relationships/slide" Target="slides/slide1.xml"/><Relationship Id="rId101" Type="http://schemas.openxmlformats.org/officeDocument/2006/relationships/slide" Target="slides/slide2.xml"/><Relationship Id="rId102" Type="http://schemas.openxmlformats.org/officeDocument/2006/relationships/slide" Target="slides/slide3.xml"/><Relationship Id="rId103" Type="http://schemas.openxmlformats.org/officeDocument/2006/relationships/slide" Target="slides/slide4.xml"/><Relationship Id="rId104" Type="http://schemas.openxmlformats.org/officeDocument/2006/relationships/slide" Target="slides/slide5.xml"/><Relationship Id="rId105" Type="http://schemas.openxmlformats.org/officeDocument/2006/relationships/slide" Target="slides/slide6.xml"/><Relationship Id="rId106" Type="http://schemas.openxmlformats.org/officeDocument/2006/relationships/slide" Target="slides/slide7.xml"/><Relationship Id="rId107" Type="http://schemas.openxmlformats.org/officeDocument/2006/relationships/slide" Target="slides/slide8.xml"/><Relationship Id="rId108" Type="http://schemas.openxmlformats.org/officeDocument/2006/relationships/slide" Target="slides/slide9.xml"/><Relationship Id="rId109" Type="http://schemas.openxmlformats.org/officeDocument/2006/relationships/slide" Target="slides/slide10.xml"/><Relationship Id="rId110" Type="http://schemas.openxmlformats.org/officeDocument/2006/relationships/slide" Target="slides/slide11.xml"/><Relationship Id="rId111" Type="http://schemas.openxmlformats.org/officeDocument/2006/relationships/slide" Target="slides/slide12.xml"/><Relationship Id="rId112" Type="http://schemas.openxmlformats.org/officeDocument/2006/relationships/slide" Target="slides/slide13.xml"/><Relationship Id="rId113" Type="http://schemas.openxmlformats.org/officeDocument/2006/relationships/slide" Target="slides/slide14.xml"/><Relationship Id="rId114" Type="http://schemas.openxmlformats.org/officeDocument/2006/relationships/slide" Target="slides/slide15.xml"/><Relationship Id="rId115" Type="http://schemas.openxmlformats.org/officeDocument/2006/relationships/slide" Target="slides/slide16.xml"/><Relationship Id="rId116" Type="http://schemas.openxmlformats.org/officeDocument/2006/relationships/slide" Target="slides/slide17.xml"/><Relationship Id="rId117" Type="http://schemas.openxmlformats.org/officeDocument/2006/relationships/slide" Target="slides/slide18.xml"/><Relationship Id="rId118" Type="http://schemas.openxmlformats.org/officeDocument/2006/relationships/slide" Target="slides/slide19.xml"/><Relationship Id="rId119" Type="http://schemas.openxmlformats.org/officeDocument/2006/relationships/slide" Target="slides/slide20.xml"/><Relationship Id="rId120" Type="http://schemas.openxmlformats.org/officeDocument/2006/relationships/slide" Target="slides/slide21.xml"/><Relationship Id="rId121" Type="http://schemas.openxmlformats.org/officeDocument/2006/relationships/slide" Target="slides/slide22.xml"/><Relationship Id="rId122" Type="http://schemas.openxmlformats.org/officeDocument/2006/relationships/slide" Target="slides/slide23.xml"/><Relationship Id="rId123" Type="http://schemas.openxmlformats.org/officeDocument/2006/relationships/slide" Target="slides/slide24.xml"/><Relationship Id="rId124" Type="http://schemas.openxmlformats.org/officeDocument/2006/relationships/slide" Target="slides/slide25.xml"/><Relationship Id="rId125" Type="http://schemas.openxmlformats.org/officeDocument/2006/relationships/slide" Target="slides/slide26.xml"/><Relationship Id="rId126" Type="http://schemas.openxmlformats.org/officeDocument/2006/relationships/slide" Target="slides/slide27.xml"/><Relationship Id="rId127" Type="http://schemas.openxmlformats.org/officeDocument/2006/relationships/slide" Target="slides/slide28.xml"/><Relationship Id="rId128" Type="http://schemas.openxmlformats.org/officeDocument/2006/relationships/slide" Target="slides/slide29.xml"/><Relationship Id="rId129" Type="http://schemas.openxmlformats.org/officeDocument/2006/relationships/slide" Target="slides/slide30.xml"/><Relationship Id="rId130" Type="http://schemas.openxmlformats.org/officeDocument/2006/relationships/slide" Target="slides/slide31.xml"/><Relationship Id="rId131" Type="http://schemas.openxmlformats.org/officeDocument/2006/relationships/slide" Target="slides/slide32.xml"/><Relationship Id="rId132" Type="http://schemas.openxmlformats.org/officeDocument/2006/relationships/slide" Target="slides/slide33.xml"/><Relationship Id="rId133" Type="http://schemas.openxmlformats.org/officeDocument/2006/relationships/slide" Target="slides/slide34.xml"/><Relationship Id="rId134" Type="http://schemas.openxmlformats.org/officeDocument/2006/relationships/slide" Target="slides/slide35.xml"/><Relationship Id="rId135" Type="http://schemas.openxmlformats.org/officeDocument/2006/relationships/slide" Target="slides/slide36.xml"/><Relationship Id="rId136" Type="http://schemas.openxmlformats.org/officeDocument/2006/relationships/slide" Target="slides/slide37.xml"/><Relationship Id="rId137" Type="http://schemas.openxmlformats.org/officeDocument/2006/relationships/slide" Target="slides/slide38.xml"/><Relationship Id="rId138" Type="http://schemas.openxmlformats.org/officeDocument/2006/relationships/slide" Target="slides/slide39.xml"/><Relationship Id="rId139" Type="http://schemas.openxmlformats.org/officeDocument/2006/relationships/slide" Target="slides/slide40.xml"/><Relationship Id="rId140" Type="http://schemas.openxmlformats.org/officeDocument/2006/relationships/slide" Target="slides/slide41.xml"/><Relationship Id="rId141" Type="http://schemas.openxmlformats.org/officeDocument/2006/relationships/slide" Target="slides/slide42.xml"/><Relationship Id="rId142" Type="http://schemas.openxmlformats.org/officeDocument/2006/relationships/slide" Target="slides/slide43.xml"/><Relationship Id="rId143" Type="http://schemas.openxmlformats.org/officeDocument/2006/relationships/slide" Target="slides/slide44.xml"/><Relationship Id="rId144" Type="http://schemas.openxmlformats.org/officeDocument/2006/relationships/slide" Target="slides/slide45.xml"/><Relationship Id="rId145" Type="http://schemas.openxmlformats.org/officeDocument/2006/relationships/slide" Target="slides/slide46.xml"/><Relationship Id="rId146" Type="http://schemas.openxmlformats.org/officeDocument/2006/relationships/slide" Target="slides/slide47.xml"/><Relationship Id="rId147" Type="http://schemas.openxmlformats.org/officeDocument/2006/relationships/slide" Target="slides/slide48.xml"/><Relationship Id="rId148" Type="http://schemas.openxmlformats.org/officeDocument/2006/relationships/slide" Target="slides/slide49.xml"/></Relationships>
</file>

<file path=ppt/handoutMasters/_rels/handoutMaster1.xml.rels><?xml version="1.0" encoding="utf-8"?>
<Relationships xmlns="http://schemas.openxmlformats.org/package/2006/relationships">
  <Relationship Id="rId1" Type="http://schemas.openxmlformats.org/officeDocument/2006/relationships/theme" Target="../theme/theme3.xml"/>
</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3B5D52A-429B-4F3B-9065-09BE3B66FFEC}" type="datetimeFigureOut">
              <a:rPr lang="en-US" smtClean="0"/>
              <a:t>6/28/2026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2EE22F7-24BD-4EBD-8854-47F4E943AAF7}" type="slidenum">
              <a:rPr lang="en-US" smtClean="0"/>
              <a:t>‹#›</a:t>
            </a:fld>
            <a:endParaRPr lang="en-US"/>
          </a:p>
        </p:txBody>
      </p:sp>
    </p:spTree>
    <p:extLst>
      <p:ext uri="{BB962C8B-B14F-4D97-AF65-F5344CB8AC3E}">
        <p14:creationId xmlns:p14="http://schemas.microsoft.com/office/powerpoint/2010/main" val="458501032"/>
      </p:ext>
    </p:extLst>
  </p:cSld>
  <p:clrMap bg1="lt1" tx1="dk1" bg2="lt2" tx2="dk2" accent1="accent1" accent2="accent2" accent3="accent3" accent4="accent4" accent5="accent5" accent6="accent6" hlink="hlink" folHlink="folHlink"/>
</p:handoutMaster>
</file>

<file path=ppt/notesMasters/_rels/notesMaster1.xml.rels><?xml version="1.0" encoding="utf-8"?>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D7C3607-6095-4CD0-92A0-FFEF984E53C8}" type="datetimeFigureOut">
              <a:rPr lang="en-US" smtClean="0"/>
              <a:t>6/28/2026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F32F38D-C8BB-4D18-A518-262BC2556B91}" type="slidenum">
              <a:rPr lang="en-US" smtClean="0"/>
              <a:t>‹#›</a:t>
            </a:fld>
            <a:endParaRPr lang="en-US"/>
          </a:p>
        </p:txBody>
      </p:sp>
    </p:spTree>
    <p:extLst>
      <p:ext uri="{BB962C8B-B14F-4D97-AF65-F5344CB8AC3E}">
        <p14:creationId xmlns:p14="http://schemas.microsoft.com/office/powerpoint/2010/main" val="7760895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Bắt đầu 19:30. Chiếu ba câu trả lời cho câu hỏi cuối Buổi 3: thuần tập, nên 'có liên quan'. Từ đó dẫn vào yếu tố nhiễu.</a:t>
            </a:r>
          </a:p>
          <a:p>
            <a:r>
              <a:rPr lang="en-US" sz="1400" b="0" dirty="0"/>
              <a:t>Phép tính duy nhất hôm nay là phép chia trong bảng 2x2.</a:t>
            </a:r>
          </a:p>
          <a:p>
            <a:r>
              <a:rPr lang="en-US" sz="1400" b="0" dirty="0"/>
              <a:t>Giờ: 19:30 ôn tập, 19:40 phần 4.1, 20:20 phần 4.2 và trình diễn, 20:45 giải lao, 21:00 hai bài tính, 21:15 phần 4.3, 21:45 xây dựng đề cương 4, 22:25 tổng kết.</a:t>
            </a:r>
          </a:p>
          <a:p>
            <a:r>
              <a:rPr lang="en-US" sz="1400" b="0" dirty="0"/>
              <a:t>Thời gian: 1 phút.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Ba câu bình chọn.</a:t>
            </a:r>
          </a:p>
          <a:p>
            <a:r>
              <a:rPr lang="en-US" sz="1400" b="0" dirty="0"/>
              <a:t>Đáp án: Câu 1 bệnh-chứng (chọn theo kết cục). Câu 2 thử nghiệm ngẫu nhiên theo cụm. Câu 3 không kém hơn: cả KTC nằm dưới ngưỡng +4.</a:t>
            </a:r>
          </a:p>
          <a:p>
            <a:r>
              <a:rPr lang="en-US" sz="1400" b="0" dirty="0"/>
              <a:t>Nếu có người nói 'dùng hồ sơ nên là thuần tập', hỏi: chọn theo điều đã xảy ra với họ hay theo điều họ được nhận?</a:t>
            </a:r>
          </a:p>
          <a:p>
            <a:r>
              <a:rPr lang="en-US" sz="1400" b="0" dirty="0"/>
              <a:t>Thời gian: 9 phút.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Phần 4.1 bắt đầu ở đây (40 phút). Xét kết quả có tin được không trước, rồi mới hỏi lớn đến đâu.</a:t>
            </a:r>
          </a:p>
          <a:p>
            <a:r>
              <a:rPr lang="en-US" sz="1400" b="0" dirty="0"/>
              <a:t>Hỏi: 'Tháng này bạn đã gặp từ nào trong bài báo?' Mong đợi: OR, RR, KTC 95%, biểu đồ rừng.</a:t>
            </a:r>
          </a:p>
          <a:p>
            <a:r>
              <a:rPr lang="en-US" sz="1400" b="0" dirty="0"/>
              <a:t>Thời gian: 1 phút.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Thời gian: 30 giây.</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Cỡ mẫu lớn giảm sai số ngẫu nhiên, không giảm sai lệch. KTC hẹp không nói gì về sai lệch.</a:t>
            </a:r>
          </a:p>
          <a:p>
            <a:r>
              <a:rPr lang="en-US" sz="1400" b="0" dirty="0"/>
              <a:t>Bình chọn: 'Bài nào dễ bị sai số ngẫu nhiên, bài nào dễ bị sai lệch?' Mong đợi: Boulet (48 người) sai số ngẫu nhiên, Hyun (quan sát) sai lệch.</a:t>
            </a:r>
          </a:p>
          <a:p>
            <a:r>
              <a:rPr lang="en-US" sz="1400" b="0" dirty="0"/>
              <a:t>Thời gian: 2 phút.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Hyun chỉ chọn người bệnh còn ở ICU đến ngày 3 (2516/11981). Kết quả áp dụng cho nhóm này, không cho mọi người bệnh nhiễm khuẩn huyết.</a:t>
            </a:r>
          </a:p>
          <a:p>
            <a:r>
              <a:rPr lang="en-US" sz="1400" b="0" dirty="0"/>
              <a:t>Hỏi: 'Boulet sàng lọc 1201, chọn 50. Điều đó cho biết gì?' Mong đợi: người bệnh được chọn lọc nhiều. Kiểm tra họ có giống người bệnh của mình không.</a:t>
            </a:r>
          </a:p>
          <a:p>
            <a:r>
              <a:rPr lang="en-US" sz="1400" b="0" dirty="0"/>
              <a:t>Thời gian: 2.5 phút.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Với câu hỏi của mình: ghi thiếu nước tiểu làm cân bằng dịch dương hơn thực tế. Nếu khác nhau giữa hai nhóm, phép so sánh bị sai lệch.</a:t>
            </a:r>
          </a:p>
          <a:p>
            <a:r>
              <a:rPr lang="en-US" sz="1400" b="0" dirty="0"/>
              <a:t>Hỏi: 'Giảm sai lệch người quan sát trong thử nghiệm dịch không làm mù thế nào?' Mong đợi: kết cục khách quan, người đánh giá được làm mù, định nghĩa chuẩn.</a:t>
            </a:r>
          </a:p>
          <a:p>
            <a:r>
              <a:rPr lang="en-US" sz="1400" b="0" dirty="0"/>
              <a:t>Thời gian: 2.5 phút.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Slide quan trọng nhất của phần 4.1. Chỉ từng mũi tên. Yếu tố nhiễu liên quan với phơi nhiễm, gây ra kết cục và không nằm trên đường nhân quả.</a:t>
            </a:r>
          </a:p>
          <a:p>
            <a:r>
              <a:rPr lang="en-US" sz="1400" b="0" dirty="0"/>
              <a:t>Hỏi: 'Dấu hiệu nào tại giường làm bạn truyền thêm dịch và dự báo tử vong?' Mong đợi: huyết áp thấp, lactate cao, liều vận mạch cao, da nổi vân.</a:t>
            </a:r>
          </a:p>
          <a:p>
            <a:r>
              <a:rPr lang="en-US" sz="1400" b="0" dirty="0"/>
              <a:t>Thời gian: 3.5 phút.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Số liệu giả định. RR thô 2.33. Trong từng mức độ nặng RR 1.0. 80/100 người nhiều dịch là ca nặng, nhưng chỉ 20/100 người ít dịch.</a:t>
            </a:r>
          </a:p>
          <a:p>
            <a:r>
              <a:rPr lang="en-US" sz="1400" b="0" dirty="0"/>
              <a:t>Đọc to: 2 + 40 = 42 ca tử vong, 8 + 10 = 18.</a:t>
            </a:r>
          </a:p>
          <a:p>
            <a:r>
              <a:rPr lang="en-US" sz="1400" b="0" dirty="0"/>
              <a:t>Hỏi: 'Cần đo gì lúc ban đầu để làm được việc này?' Mong đợi: SOFA, lactate, liều vận mạch, tuổi, bệnh kèm.</a:t>
            </a:r>
          </a:p>
          <a:p>
            <a:r>
              <a:rPr lang="en-US" sz="1400" b="0" dirty="0"/>
              <a:t>Thời gian: 3.5 phút.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Các tầng giống nhau nhưng khác số thô: yếu tố nhiễu, cần hiệu chỉnh. Các tầng khác nhau: thay đổi tác động, báo cáo từng tầng.</a:t>
            </a:r>
          </a:p>
          <a:p>
            <a:r>
              <a:rPr lang="en-US" sz="1400" b="0" dirty="0"/>
              <a:t>Bình chọn: 'RR 0.95 khi thận bình thường, 0.60 khi tổn thương thận?' Mong đợi: thay đổi tác động.</a:t>
            </a:r>
          </a:p>
          <a:p>
            <a:r>
              <a:rPr lang="en-US" sz="1400" b="0" dirty="0"/>
              <a:t>Thời gian: 3 phút.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Chỉ phân bổ ngẫu nhiên cân bằng được điều chưa đo.</a:t>
            </a:r>
          </a:p>
          <a:p>
            <a:r>
              <a:rPr lang="en-US" sz="1400" b="0" dirty="0"/>
              <a:t>Bình chọn: 'Hyun dùng công cụ nào?' Mong đợi: giới hạn đối tượng và ghép cặp theo điểm xu hướng.</a:t>
            </a:r>
          </a:p>
          <a:p>
            <a:r>
              <a:rPr lang="en-US" sz="1400" b="0" dirty="0"/>
              <a:t>Thời gian: 2 phút.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Cân bằng là tính trung bình. Boulet có creatinine ban đầu cao hơn ở một nhóm: với 24 người mỗi nhóm, điều này không lạ.</a:t>
            </a:r>
          </a:p>
          <a:p>
            <a:r>
              <a:rPr lang="en-US" sz="1400" b="0" dirty="0"/>
              <a:t>Hỏi: 'Vì sao 500 người tốt hơn 50?' Mong đợi: mất cân bằng do ngẫu nhiên tự bù trừ.</a:t>
            </a:r>
          </a:p>
          <a:p>
            <a:r>
              <a:rPr lang="en-US" sz="1400" b="0" dirty="0"/>
              <a:t>Thời gian: 1.5 phút.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Trong Boulet, người bệnh và người phân tích thống kê được làm mù, bác sĩ thì không. Khi không làm mù được bác sĩ, làm mù người đánh giá và dùng kết cục khách quan.</a:t>
            </a:r>
          </a:p>
          <a:p>
            <a:r>
              <a:rPr lang="en-US" sz="1400" b="0" dirty="0"/>
              <a:t>Bình chọn: 'Không làm mù được thì có che giấu phân bổ được không?' Mong đợi: có, luôn luôn.</a:t>
            </a:r>
          </a:p>
          <a:p>
            <a:r>
              <a:rPr lang="en-US" sz="1400" b="0" dirty="0"/>
              <a:t>Thời gian: 2 phút.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Hyun không đo loại dịch và dinh dưỡng. Phần còn lại là nhiễu tồn dư, nên thuần tập vẫn chỉ nói 'có liên quan'.</a:t>
            </a:r>
          </a:p>
          <a:p>
            <a:r>
              <a:rPr lang="en-US" sz="1400" b="0" dirty="0"/>
              <a:t>Hỏi: 'Một yếu tố không đo được làm truyền thêm dịch và dự báo tử vong?' Mong đợi: ấn tượng lâm sàng về sốc, suy tim, thảo luận mục tiêu điều trị.</a:t>
            </a:r>
          </a:p>
          <a:p>
            <a:r>
              <a:rPr lang="en-US" sz="1400" b="0" dirty="0"/>
              <a:t>Thời gian: 2 phút.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Kết quả sai lệch không áp dụng được ở đâu. Thử nghiệm đúng nhưng chọn lọc có thể không áp dụng cho khoa của bạn.</a:t>
            </a:r>
          </a:p>
          <a:p>
            <a:r>
              <a:rPr lang="en-US" sz="1400" b="0" dirty="0"/>
              <a:t>Hỏi: 'Nhóm người bệnh nào ở ICU của bạn không được vào thử nghiệm Boulet?' Mong đợi: trên 85 tuổi, lọc máu mạn, dùng vận mạch quá 24 giờ.</a:t>
            </a:r>
          </a:p>
          <a:p>
            <a:r>
              <a:rPr lang="en-US" sz="1400" b="0" dirty="0"/>
              <a:t>Thời gian: 2 phút.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Thận suy làm giảm nước tiểu, nên cân bằng dịch dương lên. Vì vậy Hyun ghép cặp cả theo lượng dịch ra.</a:t>
            </a:r>
          </a:p>
          <a:p>
            <a:r>
              <a:rPr lang="en-US" sz="1400" b="0" dirty="0"/>
              <a:t>Hỏi: 'Người bệnh sốc dùng nhiều vận mạch hơn và tử vong nhiều hơn. Mũi tên có thể đi chiều nào?' Mong đợi: cả hai chiều.</a:t>
            </a:r>
          </a:p>
          <a:p>
            <a:r>
              <a:rPr lang="en-US" sz="1400" b="0" dirty="0"/>
              <a:t>Thời gian: 2.5 phút.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Các quan điểm là manh mối, không phải bảng chấm điểm. Dừng ở trình tự thời gian (bắt buộc) và thực nghiệm (do RCT cung cấp).</a:t>
            </a:r>
          </a:p>
          <a:p>
            <a:r>
              <a:rPr lang="en-US" sz="1400" b="0" dirty="0"/>
              <a:t>Với Hyun: có thể, chưa chứng minh.</a:t>
            </a:r>
          </a:p>
          <a:p>
            <a:r>
              <a:rPr lang="en-US" sz="1400" b="0" dirty="0"/>
              <a:t>Bình chọn: 'Quan điểm nào RCT cho được mà thuần tập không cho được?' Mong đợi: thực nghiệm.</a:t>
            </a:r>
          </a:p>
          <a:p>
            <a:r>
              <a:rPr lang="en-US" sz="1400" b="0" dirty="0"/>
              <a:t>Thời gian: 4.5 phút.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Bốn câu bình chọn. Sau mỗi câu, mời một hai người đề xuất cách khắc phục.</a:t>
            </a:r>
          </a:p>
          <a:p>
            <a:r>
              <a:rPr lang="en-US" sz="1400" b="0" dirty="0"/>
              <a:t>Đáp án: 1 sai lệch nhớ lại (dùng hồ sơ ghi trước khi có kết cục). 2 sai lệch người quan sát (người đánh giá được làm mù). 3 sai lệch chọn lựa (chọn mọi người từ khi nhập viện, báo cáo số bị loại). 4 nhiễu do chỉ định (phân bổ ngẫu nhiên, hoặc đo mức độ nặng và hiệu chỉnh).</a:t>
            </a:r>
          </a:p>
          <a:p>
            <a:r>
              <a:rPr lang="en-US" sz="1400" b="0" dirty="0"/>
              <a:t>Thời gian: 5 phút. Kết thúc phần 4.1.</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Phần 4.2: khoảng 17 phút slide, rồi 8 phút trình diễn.</a:t>
            </a:r>
          </a:p>
          <a:p>
            <a:r>
              <a:rPr lang="en-US" sz="1400" b="0" dirty="0"/>
              <a:t>Thời gian: 30 giây.</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Mới mắc cần một khoảng thời gian, và mẫu số chỉ gồm người có nguy cơ.</a:t>
            </a:r>
          </a:p>
          <a:p>
            <a:r>
              <a:rPr lang="en-US" sz="1400" b="0" dirty="0"/>
              <a:t>Hỏi: 'Cân bằng dịch dương hôm nay: hiện mắc hay mới mắc? Tổn thương thận trong tuần đầu?' Mong đợi: hiện mắc, mới mắc.</a:t>
            </a:r>
          </a:p>
          <a:p>
            <a:r>
              <a:rPr lang="en-US" sz="1400" b="0" dirty="0"/>
              <a:t>Thời gian: 2.5 phút.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Thử nghiệm giả định, không phải Boulet. Luôn hỏi 'trên tổng số bao nhiêu?'.</a:t>
            </a:r>
          </a:p>
          <a:p>
            <a:r>
              <a:rPr lang="en-US" sz="1400" b="0" dirty="0"/>
              <a:t>Hỏi: 'Odds tử vong ở nhóm hạn chế dịch?' Mong đợi: 20 trên 80, tức 0.25.</a:t>
            </a:r>
          </a:p>
          <a:p>
            <a:r>
              <a:rPr lang="en-US" sz="1400" b="0" dirty="0"/>
              <a:t>Thời gian: 2.5 phút.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Giữ một cách trình bày: phơi nhiễm theo hàng (có phơi nhiễm ở trên), có kết cục ở cột trái. Phần lớn lỗi do vẽ bảng ngược.</a:t>
            </a:r>
          </a:p>
          <a:p>
            <a:r>
              <a:rPr lang="en-US" sz="1400" b="0" dirty="0"/>
              <a:t>Hỏi: 'Boulet, tử vong ngày 28: a, b, c, d?' Mong đợi: 6, 18, 6, 18.</a:t>
            </a:r>
          </a:p>
          <a:p>
            <a:r>
              <a:rPr lang="en-US" sz="1400" b="0" dirty="0"/>
              <a:t>Thời gian: 2.5 phút.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Đi từng thẻ, mỗi lần quay về bảng. 'Giảm một phần ba' và 'ít hơn 10 ca trên 100' là cùng một kết quả.</a:t>
            </a:r>
          </a:p>
          <a:p>
            <a:r>
              <a:rPr lang="en-US" sz="1400" b="0" dirty="0"/>
              <a:t>Hỏi: 'Nguy cơ nền 3%, cùng RR 0.67: NNT bao nhiêu?' Mong đợi: 2% so với 3%, NNT = 100.</a:t>
            </a:r>
          </a:p>
          <a:p>
            <a:r>
              <a:rPr lang="en-US" sz="1400" b="0" dirty="0"/>
              <a:t>Thời gian: 5 phút.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9 người còn lại vẫn sống hoặc vẫn tử vong. NNT là trung bình, không phải dự đoán cho một người bệnh.</a:t>
            </a:r>
          </a:p>
          <a:p>
            <a:r>
              <a:rPr lang="en-US" sz="1400" b="0" dirty="0"/>
              <a:t>Bình chọn: 'NNT 5 hay 50 tốt hơn?' Mong đợi: 5.</a:t>
            </a:r>
          </a:p>
          <a:p>
            <a:r>
              <a:rPr lang="en-US" sz="1400" b="0" dirty="0"/>
              <a:t>Thời gian: 2.5 phút.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OR chỉ gần RR khi kết cục hiếm. Tử vong ở ICU là kết cục thường gặp.</a:t>
            </a:r>
          </a:p>
          <a:p>
            <a:r>
              <a:rPr lang="en-US" sz="1400" b="0" dirty="0"/>
              <a:t>Hỏi: 'OR của mình là 0.58, RR 0.67. Vì sao khác?' Mong đợi: tử vong thường gặp, nên OR phóng đại.</a:t>
            </a:r>
          </a:p>
          <a:p>
            <a:r>
              <a:rPr lang="en-US" sz="1400" b="0" dirty="0"/>
              <a:t>Thời gian: 1.5 phút.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Kịch bản: s4_demo_VN.md. Tệp: 2x2_calculator.xlsx, đã điền sẵn. Học viên chỉ xem. Gửi tệp qua email sau buổi học.</a:t>
            </a:r>
          </a:p>
          <a:p>
            <a:r>
              <a:rPr lang="en-US" sz="1400" b="0" dirty="0"/>
              <a:t>Điểm chính: a = 2, c = 3. RR vẫn 0.67, OR thành 0.66, NNT tăng lên 100.</a:t>
            </a:r>
          </a:p>
          <a:p>
            <a:r>
              <a:rPr lang="en-US" sz="1400" b="0" dirty="0"/>
              <a:t>Công cụ vẫn tính 'nguy cơ' cho dữ liệu bệnh-chứng, nhưng chỉ OR là có giá trị.</a:t>
            </a:r>
          </a:p>
          <a:p>
            <a:r>
              <a:rPr lang="en-US" sz="1400" b="0" dirty="0"/>
              <a:t>Nếu không chia sẻ được màn hình, tính RR và NNT bằng tay.</a:t>
            </a:r>
          </a:p>
          <a:p>
            <a:r>
              <a:rPr lang="en-US" sz="1400" b="0" dirty="0"/>
              <a:t>Thời gian: 8 phút. Sau đó giải lao.</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Giải lao 20:45-21:00. Nhắc chuẩn bị bút, giấy và máy tính. Chiếu đồng hồ đếm ngược.</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7 phút mỗi bài. Bình chọn từng bước và gõ bảng vào công cụ tính.</a:t>
            </a:r>
          </a:p>
          <a:p>
            <a:r>
              <a:rPr lang="en-US" sz="1400" b="0" dirty="0"/>
              <a:t>Bài 1: nguy cơ 10% và 15%, RR 0.67, RD -5 điểm, NNT 20, OR 0.63. Cùng RR, nguy cơ nền thấp hơn, nên NNT gấp đôi.</a:t>
            </a:r>
          </a:p>
          <a:p>
            <a:r>
              <a:rPr lang="en-US" sz="1400" b="0" dirty="0"/>
              <a:t>Bài 2: OR = (24 x 64) / (16 x 16) = 6.0. Không tính RR: nhà nghiên cứu tự chọn số ca bệnh và ca chứng. Hỏi về nhân quả ngược (thận suy).</a:t>
            </a:r>
          </a:p>
          <a:p>
            <a:r>
              <a:rPr lang="en-US" sz="1400" b="0" dirty="0"/>
              <a:t>Lỗi thường gặp là cách trình bày bảng. Đáp án: s4_solutions_VN, Phần C.</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Phần 4.3: 30 phút, kể cả 8 phút bài biểu đồ rừng. Khoảng 2.5 phút mỗi slide.</a:t>
            </a:r>
          </a:p>
          <a:p>
            <a:r>
              <a:rPr lang="en-US" sz="1400" b="0" dirty="0"/>
              <a:t>Thời gian: 30 giây.</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Xét nghiệm nhạy giúp loại trừ. Xét nghiệm đặc hiệu giúp khẳng định. PPV ở đây chỉ 53%.</a:t>
            </a:r>
          </a:p>
          <a:p>
            <a:r>
              <a:rPr lang="en-US" sz="1400" b="0" dirty="0"/>
              <a:t>Bình chọn: 'Sàng lọc không được bỏ sót nhiễm khuẩn huyết: ưu tiên độ nhạy hay độ đặc hiệu?' Mong đợi: độ nhạy.</a:t>
            </a:r>
          </a:p>
          <a:p>
            <a:r>
              <a:rPr lang="en-US" sz="1400" b="0" dirty="0"/>
              <a:t>Thời gian: 2.5 phút.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PPV và NPV phụ thuộc tỷ lệ hiện mắc. Không mượn PPV từ bối cảnh khác.</a:t>
            </a:r>
          </a:p>
          <a:p>
            <a:r>
              <a:rPr lang="en-US" sz="1400" b="0" dirty="0"/>
              <a:t>Hỏi: 'Vì sao chương trình sàng lọc dùng xét nghiệm thứ hai đặc hiệu hơn?' Mong đợi: để loại dương tính giả.</a:t>
            </a:r>
          </a:p>
          <a:p>
            <a:r>
              <a:rPr lang="en-US" sz="1400" b="0" dirty="0"/>
              <a:t>Tùy chọn: chiếu ô 'PPV ở tỷ lệ hiện mắc khác' (s4_demo_VN.md, Phần 2).</a:t>
            </a:r>
          </a:p>
          <a:p>
            <a:r>
              <a:rPr lang="en-US" sz="1400" b="0" dirty="0"/>
              <a:t>Thời gian: 3 phút.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Ngưỡng tốt nhất tùy vào cái giá của bỏ sót so với báo động giả. AUC không chọn ngưỡng.</a:t>
            </a:r>
          </a:p>
          <a:p>
            <a:r>
              <a:rPr lang="en-US" sz="1400" b="0" dirty="0"/>
              <a:t>Bình chọn: 'Loại trừ nhiễm khuẩn huyết khi phân loại: ngưỡng lactate thấp hay cao?' Mong đợi: thấp.</a:t>
            </a:r>
          </a:p>
          <a:p>
            <a:r>
              <a:rPr lang="en-US" sz="1400" b="0" dirty="0"/>
              <a:t>Thời gian: 2.5 phút.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Số liệu minh họa. Hai người sàng lọc độc lập. Đề cương được đăng ký trên PROSPERO.</a:t>
            </a:r>
          </a:p>
          <a:p>
            <a:r>
              <a:rPr lang="en-US" sz="1400" b="0" dirty="0"/>
              <a:t>Hỏi: 'Vì sao tìm cả sổ đăng ký thử nghiệm?' Mong đợi: thử nghiệm chưa công bố hoặc âm tính (sai lệch xuất bản).</a:t>
            </a:r>
          </a:p>
          <a:p>
            <a:r>
              <a:rPr lang="en-US" sz="1400" b="0" dirty="0"/>
              <a:t>Thời gian: 2.5 phút.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Bốn bước: đường không tác động, hình vuông (trọng số), đường ngang (KTC), hình thoi: RR 0.79 (0.64-0.98).</a:t>
            </a:r>
          </a:p>
          <a:p>
            <a:r>
              <a:rPr lang="en-US" sz="1400" b="0" dirty="0"/>
              <a:t>Từng thử nghiệm đều cắt qua 1, nhưng kết quả gộp thì không. KTC cắt qua 1 là chưa chắc chắn, không phải không có tác động.</a:t>
            </a:r>
          </a:p>
          <a:p>
            <a:r>
              <a:rPr lang="en-US" sz="1400" b="0" dirty="0"/>
              <a:t>Chưa hỏi lớp: bài tập cuối phần 4.3 dùng biểu đồ này.</a:t>
            </a:r>
          </a:p>
          <a:p>
            <a:r>
              <a:rPr lang="en-US" sz="1400" b="0" dirty="0"/>
              <a:t>Thời gian: 3.5 phút.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Khi không đồng nhất cao, hỏi vì sao: người bệnh, liều, thời điểm, định nghĩa hay nguy cơ sai lệch. Mô hình hiệu ứng ngẫu nhiên chỉ làm KTC rộng ra.</a:t>
            </a:r>
          </a:p>
          <a:p>
            <a:r>
              <a:rPr lang="en-US" sz="1400" b="0" dirty="0"/>
              <a:t>Hỏi: 'Một lý do các thử nghiệm dịch truyền không thống nhất?' Mong đợi: quần thể, quy trình hoặc thời điểm khác nhau.</a:t>
            </a:r>
          </a:p>
          <a:p>
            <a:r>
              <a:rPr lang="en-US" sz="1400" b="0" dirty="0"/>
              <a:t>Thời gian: 3 phút.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Hướng dẫn báo cáo kiểm tra điều đã báo cáo. Công cụ nguy cơ sai lệch đánh giá độ tin cậy. Đánh giá theo từng lĩnh vực, không cộng sao.</a:t>
            </a:r>
          </a:p>
          <a:p>
            <a:r>
              <a:rPr lang="en-US" sz="1400" b="0" dirty="0"/>
              <a:t>Bản một trang: Risk_of_Bias_Tool_Chooser.pdf.</a:t>
            </a:r>
          </a:p>
          <a:p>
            <a:r>
              <a:rPr lang="en-US" sz="1400" b="0" dirty="0"/>
              <a:t>Bình chọn: 'Nghiên cứu trước-sau về gói nhiễm khuẩn huyết: công cụ nào?' Mong đợi: ROBINS-I.</a:t>
            </a:r>
          </a:p>
          <a:p>
            <a:r>
              <a:rPr lang="en-US" sz="1400" b="0" dirty="0"/>
              <a:t>Thời gian: 2.5 phút.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Liên kết với bảng kiểm 10 câu ở Buổi 8 (Critical_Appraisal_Checklist.pdf).</a:t>
            </a:r>
          </a:p>
          <a:p>
            <a:r>
              <a:rPr lang="en-US" sz="1400" b="0" dirty="0"/>
              <a:t>Hỏi: 'Tìm một từ trong tiêu đề hay tóm tắt nói quá.' Mong đợi: 'impact', 'effect', 'reduces' trong nghiên cứu quan sát.</a:t>
            </a:r>
          </a:p>
          <a:p>
            <a:r>
              <a:rPr lang="en-US" sz="1400" b="0" dirty="0"/>
              <a:t>Thời gian: 2 phút.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Chiếu lại slide biểu đồ rừng khi lớp trả lời.</a:t>
            </a:r>
          </a:p>
          <a:p>
            <a:r>
              <a:rPr lang="en-US" sz="1400" b="0" dirty="0"/>
              <a:t>Đáp án: Thử nghiệm 4 có trọng số lớn nhất (38%). Mọi thử nghiệm đều cắt qua 1. Hình thoi thì không: nguy cơ tương đối thấp hơn khoảng 21%, giới hạn trên gần không tác động. Công cụ: RoB 2 cho Boulet, Newcastle-Ottawa hoặc ROBINS-E cho Hyun, AMSTAR 2 cho tổng quan.</a:t>
            </a:r>
          </a:p>
          <a:p>
            <a:r>
              <a:rPr lang="en-US" sz="1400" b="0" dirty="0"/>
              <a:t>Luôn nêu KTC cùng hình thoi. Nếu thiếu thời gian, chỉ làm câu về hình thoi và công cụ.</a:t>
            </a:r>
          </a:p>
          <a:p>
            <a:r>
              <a:rPr lang="en-US" sz="1400" b="0" dirty="0"/>
              <a:t>Đáp án: s4_solutions_VN, Phần E.</a:t>
            </a:r>
          </a:p>
          <a:p>
            <a:r>
              <a:rPr lang="en-US" sz="1400" b="0" dirty="0"/>
              <a:t>Thời gian: 8 phút. Kết thúc phần 4.3.</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Xây dựng đề cương 4 bắt đầu ở đây (slide này 2 phút, rồi 38 phút).</a:t>
            </a:r>
          </a:p>
          <a:p>
            <a:r>
              <a:rPr lang="en-US" sz="1400" b="0" dirty="0"/>
              <a:t>Nhiều kết cục chính dễ dẫn đến chọn kết quả có lợi.</a:t>
            </a:r>
          </a:p>
          <a:p>
            <a:r>
              <a:rPr lang="en-US" sz="1400" b="0" dirty="0"/>
              <a:t>Hỏi: 'Viết lại cải thiện kết cục người bệnh thành một kết cục chính.' Mong đợi: ví dụ lọc máu mới trước ngày 28 sau khi vào ICU, theo hồ sơ ICU.</a:t>
            </a:r>
          </a:p>
          <a:p>
            <a:r>
              <a:rPr lang="en-US" sz="1400" b="0" dirty="0"/>
              <a:t>Thời gian: 2 phút.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15 phút: điền Phần 2b cho ví dụ xuyên suốt trên màn hình. 16 phút: mỗi người tự viết. 7 phút: ba bạn tình nguyện đọc một sai lệch và cách khắc phục.</a:t>
            </a:r>
          </a:p>
          <a:p>
            <a:r>
              <a:rPr lang="en-US" sz="1400" b="0" dirty="0"/>
              <a:t>Mẫu: phơi nhiễm cân bằng dịch dương ở 72 giờ, so sánh với bằng 0 hoặc âm, kết cục chính tử vong đến ngày 28. Sai lệch: mức độ nặng (hiệu chỉnh hoặc ghép cặp), chọn lựa (người bệnh liên tiếp), thông tin (kiểm tra lại 10% hồ sơ). Bản đầy đủ trong s4_solutions_VN, Phần F.</a:t>
            </a:r>
          </a:p>
          <a:p>
            <a:r>
              <a:rPr lang="en-US" sz="1400" b="0" dirty="0"/>
              <a:t>Chú ý: thiếu nhóm so sánh, ba kết cục chính, 'chúng tôi sẽ cẩn thận' không phải là cách khắc phục.</a:t>
            </a:r>
          </a:p>
          <a:p>
            <a:r>
              <a:rPr lang="en-US" sz="1400" b="0" dirty="0"/>
              <a:t>Nhắc khi còn 10 phút và 2 phút.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Mời bốn bạn tình nguyện giải thích mỗi người một thẻ. Mỗi đề cương giờ đã có Phần 1 và Phần 2.</a:t>
            </a:r>
          </a:p>
          <a:p>
            <a:r>
              <a:rPr lang="en-US" sz="1400" b="0" dirty="0"/>
              <a:t>Thời gian: 2 phút.</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Đáp án câu hỏi cuối buổi: nhiễu do chỉ định, hoặc nhân quả ngược (thận suy).</a:t>
            </a:r>
          </a:p>
          <a:p>
            <a:r>
              <a:rPr lang="en-US" sz="1400" b="0" dirty="0"/>
              <a:t>Mở đầu Buổi 5 bằng ba câu trả lời (ẩn tên).</a:t>
            </a:r>
          </a:p>
          <a:p>
            <a:r>
              <a:rPr lang="en-US" sz="1400" b="0" dirty="0"/>
              <a:t>Giới thiệu trước: Tuần 5-6 chuyển thiết kế thành dữ liệu và giới thiệu FLUID-ICU. Ở Buổi 6, mỗi người chọn một câu hỏi (Q1-Q5) để viết phần Kết quả.</a:t>
            </a:r>
          </a:p>
          <a:p>
            <a:r>
              <a:rPr lang="en-US" sz="1400" b="0" dirty="0"/>
              <a:t>Thời gian: 3 phút. Kết thúc lúc 22:30.</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Tùy chọn. Dùng nếu còn thời gian, hoặc để tự học.</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Đáp án: A sai lệch chọn lựa. B sai lệch người quan sát. C sai lệch đo lường, làm sai phép so sánh vì chỉ xảy ra ở một khoa.</a:t>
            </a:r>
          </a:p>
          <a:p>
            <a:r>
              <a:rPr lang="en-US" sz="1400" b="0" dirty="0"/>
              <a:t>Thời gian: 2 phút nếu dùng.</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Hỏi yếu tố thứ ba trước khi hiện đáp án. Thẻ 3 vừa có tác động thật vừa có nhiễu.</a:t>
            </a:r>
          </a:p>
          <a:p>
            <a:r>
              <a:rPr lang="en-US" sz="1400" b="0" dirty="0"/>
              <a:t>Thời gian: 2 phút nếu dùng.</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Chỉ giới thiệu khái niệm. LR+ 4.5, LR- 0.13. LR không phụ thuộc tỷ lệ hiện mắc. Báo cáo: STARD. Đánh giá: QUADAS-2.</a:t>
            </a:r>
          </a:p>
          <a:p>
            <a:r>
              <a:rPr lang="en-US" sz="1400" b="0" dirty="0"/>
              <a:t>Thời gian: 1.5 phút nếu dùng.</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Minh họa. Lĩnh vực kém nhất quyết định đánh giá chung. Boulet: D1 có lẽ thấp, D2 có vài lo ngại, D4 thấp với cân bằng dịch.</a:t>
            </a:r>
          </a:p>
          <a:p>
            <a:r>
              <a:rPr lang="en-US" sz="1400" b="0" dirty="0"/>
              <a:t>Không làm mù chưa chắc là nguy cơ cao.</a:t>
            </a:r>
          </a:p>
          <a:p>
            <a:r>
              <a:rPr lang="en-US" sz="1400" b="0" dirty="0"/>
              <a:t>Thời gian: 1.5 phút nếu dùng.</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Khác biệt nằm ở mẫu số: mọi người hôm nay (200) so với người có nguy cơ (180) trong một khoảng thời gian.</a:t>
            </a:r>
          </a:p>
          <a:p>
            <a:r>
              <a:rPr lang="en-US" sz="1400" b="0" dirty="0"/>
              <a:t>Thời gian: 1.5 phút nếu dùng.</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400" b="0" dirty="0"/>
              <a:t>Để trên màn hình khi học viên rời phòng họp.</a:t>
            </a:r>
          </a:p>
        </p:txBody>
      </p:sp>
      <p:sp>
        <p:nvSpPr>
          <p:cNvPr id="4" name="Slide Number Placeholder 3"/>
          <p:cNvSpPr>
            <a:spLocks noGrp="1"/>
          </p:cNvSpPr>
          <p:nvPr>
            <p:ph type="sldNum" sz="quarter" idx="10"/>
          </p:nvPr>
        </p:nvSpPr>
        <p:spPr/>
        <p:txBody>
          <a:bodyPr/>
          <a:lstStyle/>
          <a:p>
            <a:fld id="{F7021451-1387-4CA6-816F-3879F97B5CBC}" type="slidenum">
              <a:rPr lang="en-US"/>
              <a:t>1</a:t>
            </a:fld>
          </a:p>
        </p:txBody>
      </p:sp>
    </p:spTree>
  </p:cSld>
  <p:clrMapOvr>
    <a:masterClrMapping/>
  </p:clrMapOvr>
</p:notes>
</file>

<file path=ppt/slideLayouts/_rels/slideLayout1.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
  <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7C0F2BA9-42D1-4ED5-B1D2-E4A50A5F0753}" type="datetime1">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CF940BF-D3F9-479A-9977-6B0839AFA768}" type="datetime1">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948E316-8D90-42F5-B2CD-A793817016DE}" type="datetime1">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6786190-3C0E-4636-AA92-C1C96D008DF0}" type="datetime1">
              <a:rPr lang="en-US" smtClean="0"/>
              <a:t>6/28/2026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42A8B4C-ED02-4998-BF4B-E26731DF30D2}" type="datetime1">
              <a:rPr lang="en-US" smtClean="0"/>
              <a:t>6/28/2026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6B30C45-864B-4802-800E-706DB8F3BA86}" type="datetime1">
              <a:rPr lang="en-US" smtClean="0"/>
              <a:t>6/28/2026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01F87F1-2F12-4DB8-BE2A-E0E247940BB4}" type="datetime1">
              <a:rPr lang="en-US" smtClean="0"/>
              <a:t>6/28/2026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D9085BB-45C3-45DA-B16E-2D995DEAF320}" type="datetime1">
              <a:rPr lang="en-US" smtClean="0"/>
              <a:t>6/28/2026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740DB59-3B43-45FA-9DFE-69ED499597CF}" type="datetime1">
              <a:rPr lang="en-US" smtClean="0"/>
              <a:t>6/28/2026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974E953-E3F2-4058-BC22-456AC7704CCA}" type="datetime1">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278D7E0-3175-45B9-A51E-0AA8F8EB260B}" type="datetime1">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34184180"/>
      </p:ext>
    </p:extLst>
  </p:cSld>
  <p:clrMapOvr>
    <a:masterClrMapping/>
  </p:clrMapOvr>
</p:sldLayout>
</file>

<file path=ppt/slideMasters/_rels/slideMaster1.xml.rels><?xml version="1.0" encoding="utf-8"?>
<Relationships xmlns="http://schemas.openxmlformats.org/package/2006/relationships">
  <Relationship Id="rId8" Type="http://schemas.openxmlformats.org/officeDocument/2006/relationships/slideLayout" Target="../slideLayouts/slideLayout8.xml"/>
  <Relationship Id="rId13" Type="http://schemas.openxmlformats.org/officeDocument/2006/relationships/theme" Target="../theme/theme1.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slideLayout" Target="../slideLayouts/slideLayout12.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DC2E5FA-FF3B-4CBF-AFC6-FF14AE95D537}" type="datetime1">
              <a:rPr lang="en-US" smtClean="0"/>
              <a:t>6/28/2026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 Id="rId3" Type="http://schemas.openxmlformats.org/officeDocument/2006/relationships/image" Target="../media/image1.jpg"/>
</Relationships>
</file>

<file path=ppt/slides/_rels/slide2.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 Id="rId3" Type="http://schemas.openxmlformats.org/officeDocument/2006/relationships/image" Target="../media/image1.jpg"/>
</Relationships>
</file>

<file path=ppt/slides/_rels/slide3.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 Id="rId3" Type="http://schemas.openxmlformats.org/officeDocument/2006/relationships/image" Target="../media/image1.jpg"/>
</Relationships>
</file>

<file path=ppt/slides/_rels/slide4.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 Id="rId3" Type="http://schemas.openxmlformats.org/officeDocument/2006/relationships/image" Target="../media/image1.jpg"/>
</Relationships>
</file>

<file path=ppt/slides/_rels/slide5.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 Id="rId3" Type="http://schemas.openxmlformats.org/officeDocument/2006/relationships/image" Target="../media/image1.jpg"/>
<Relationship Id="rId4" Type="http://schemas.openxmlformats.org/officeDocument/2006/relationships/image" Target="../media/image2.png"/>
</Relationships>
</file>

<file path=ppt/slides/_rels/slide6.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 Id="rId3" Type="http://schemas.openxmlformats.org/officeDocument/2006/relationships/image" Target="../media/image1.jpg"/>
<Relationship Id="rId4" Type="http://schemas.openxmlformats.org/officeDocument/2006/relationships/image" Target="../media/image3.png"/>
</Relationships>
</file>

<file path=ppt/slides/_rels/slide7.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 Id="rId3" Type="http://schemas.openxmlformats.org/officeDocument/2006/relationships/image" Target="../media/image1.jpg"/>
</Relationships>
</file>

<file path=ppt/slides/_rels/slide8.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 Id="rId3" Type="http://schemas.openxmlformats.org/officeDocument/2006/relationships/image" Target="../media/image1.jpg"/>
<Relationship Id="rId4" Type="http://schemas.openxmlformats.org/officeDocument/2006/relationships/image" Target="../media/image4.png"/>
</Relationships>
</file>

<file path=ppt/slides/_rels/slide9.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 Id="rId3" Type="http://schemas.openxmlformats.org/officeDocument/2006/relationships/image" Target="../media/image1.jpg"/>
<Relationship Id="rId4" Type="http://schemas.openxmlformats.org/officeDocument/2006/relationships/image" Target="../media/image5.png"/>
</Relationships>
</file>

<file path=ppt/slides/_rels/slide10.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
<Relationship Id="rId3" Type="http://schemas.openxmlformats.org/officeDocument/2006/relationships/image" Target="../media/image1.jpg"/>
<Relationship Id="rId4" Type="http://schemas.openxmlformats.org/officeDocument/2006/relationships/image" Target="../media/image6.png"/>
</Relationships>
</file>

<file path=ppt/slides/_rels/slide11.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xml"/>
<Relationship Id="rId3" Type="http://schemas.openxmlformats.org/officeDocument/2006/relationships/image" Target="../media/image1.jpg"/>
</Relationships>
</file>

<file path=ppt/slides/_rels/slide12.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xml"/>
<Relationship Id="rId3" Type="http://schemas.openxmlformats.org/officeDocument/2006/relationships/image" Target="../media/image1.jpg"/>
<Relationship Id="rId4" Type="http://schemas.openxmlformats.org/officeDocument/2006/relationships/image" Target="../media/image7.png"/>
</Relationships>
</file>

<file path=ppt/slides/_rels/slide13.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3.xml"/>
<Relationship Id="rId3" Type="http://schemas.openxmlformats.org/officeDocument/2006/relationships/image" Target="../media/image1.jpg"/>
</Relationships>
</file>

<file path=ppt/slides/_rels/slide14.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4.xml"/>
<Relationship Id="rId3" Type="http://schemas.openxmlformats.org/officeDocument/2006/relationships/image" Target="../media/image1.jpg"/>
</Relationships>
</file>

<file path=ppt/slides/_rels/slide15.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5.xml"/>
<Relationship Id="rId3" Type="http://schemas.openxmlformats.org/officeDocument/2006/relationships/image" Target="../media/image1.jpg"/>
</Relationships>
</file>

<file path=ppt/slides/_rels/slide16.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6.xml"/>
<Relationship Id="rId3" Type="http://schemas.openxmlformats.org/officeDocument/2006/relationships/image" Target="../media/image1.jpg"/>
</Relationships>
</file>

<file path=ppt/slides/_rels/slide17.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7.xml"/>
<Relationship Id="rId3" Type="http://schemas.openxmlformats.org/officeDocument/2006/relationships/image" Target="../media/image1.jpg"/>
</Relationships>
</file>

<file path=ppt/slides/_rels/slide18.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8.xml"/>
<Relationship Id="rId3" Type="http://schemas.openxmlformats.org/officeDocument/2006/relationships/image" Target="../media/image1.jpg"/>
</Relationships>
</file>

<file path=ppt/slides/_rels/slide19.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9.xml"/>
<Relationship Id="rId3" Type="http://schemas.openxmlformats.org/officeDocument/2006/relationships/image" Target="../media/image1.jpg"/>
</Relationships>
</file>

<file path=ppt/slides/_rels/slide20.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0.xml"/>
<Relationship Id="rId3" Type="http://schemas.openxmlformats.org/officeDocument/2006/relationships/image" Target="../media/image1.jpg"/>
<Relationship Id="rId4" Type="http://schemas.openxmlformats.org/officeDocument/2006/relationships/image" Target="../media/image8.png"/>
</Relationships>
</file>

<file path=ppt/slides/_rels/slide21.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1.xml"/>
<Relationship Id="rId3" Type="http://schemas.openxmlformats.org/officeDocument/2006/relationships/image" Target="../media/image1.jpg"/>
<Relationship Id="rId4" Type="http://schemas.openxmlformats.org/officeDocument/2006/relationships/image" Target="../media/image9.png"/>
</Relationships>
</file>

<file path=ppt/slides/_rels/slide22.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2.xml"/>
<Relationship Id="rId3" Type="http://schemas.openxmlformats.org/officeDocument/2006/relationships/image" Target="../media/image1.jpg"/>
</Relationships>
</file>

<file path=ppt/slides/_rels/slide23.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3.xml"/>
<Relationship Id="rId3" Type="http://schemas.openxmlformats.org/officeDocument/2006/relationships/image" Target="../media/image1.jpg"/>
</Relationships>
</file>

<file path=ppt/slides/_rels/slide24.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4.xml"/>
<Relationship Id="rId3" Type="http://schemas.openxmlformats.org/officeDocument/2006/relationships/image" Target="../media/image1.jpg"/>
<Relationship Id="rId4" Type="http://schemas.openxmlformats.org/officeDocument/2006/relationships/image" Target="../media/image10.png"/>
</Relationships>
</file>

<file path=ppt/slides/_rels/slide25.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5.xml"/>
<Relationship Id="rId3" Type="http://schemas.openxmlformats.org/officeDocument/2006/relationships/image" Target="../media/image1.jpg"/>
<Relationship Id="rId4" Type="http://schemas.openxmlformats.org/officeDocument/2006/relationships/image" Target="../media/image11.png"/>
</Relationships>
</file>

<file path=ppt/slides/_rels/slide26.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6.xml"/>
<Relationship Id="rId3" Type="http://schemas.openxmlformats.org/officeDocument/2006/relationships/image" Target="../media/image1.jpg"/>
</Relationships>
</file>

<file path=ppt/slides/_rels/slide27.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7.xml"/>
<Relationship Id="rId3" Type="http://schemas.openxmlformats.org/officeDocument/2006/relationships/image" Target="../media/image1.jpg"/>
</Relationships>
</file>

<file path=ppt/slides/_rels/slide28.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8.xml"/>
<Relationship Id="rId3" Type="http://schemas.openxmlformats.org/officeDocument/2006/relationships/image" Target="../media/image1.jpg"/>
</Relationships>
</file>

<file path=ppt/slides/_rels/slide29.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9.xml"/>
<Relationship Id="rId3" Type="http://schemas.openxmlformats.org/officeDocument/2006/relationships/image" Target="../media/image1.jpg"/>
</Relationships>
</file>

<file path=ppt/slides/_rels/slide30.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0.xml"/>
<Relationship Id="rId3" Type="http://schemas.openxmlformats.org/officeDocument/2006/relationships/image" Target="../media/image1.jpg"/>
<Relationship Id="rId4" Type="http://schemas.openxmlformats.org/officeDocument/2006/relationships/image" Target="../media/image12.png"/>
</Relationships>
</file>

<file path=ppt/slides/_rels/slide31.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1.xml"/>
<Relationship Id="rId3" Type="http://schemas.openxmlformats.org/officeDocument/2006/relationships/image" Target="../media/image1.jpg"/>
<Relationship Id="rId4" Type="http://schemas.openxmlformats.org/officeDocument/2006/relationships/image" Target="../media/image13.png"/>
</Relationships>
</file>

<file path=ppt/slides/_rels/slide32.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2.xml"/>
<Relationship Id="rId3" Type="http://schemas.openxmlformats.org/officeDocument/2006/relationships/image" Target="../media/image1.jpg"/>
<Relationship Id="rId4" Type="http://schemas.openxmlformats.org/officeDocument/2006/relationships/image" Target="../media/image14.png"/>
</Relationships>
</file>

<file path=ppt/slides/_rels/slide33.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3.xml"/>
<Relationship Id="rId3" Type="http://schemas.openxmlformats.org/officeDocument/2006/relationships/image" Target="../media/image1.jpg"/>
<Relationship Id="rId4" Type="http://schemas.openxmlformats.org/officeDocument/2006/relationships/image" Target="../media/image15.png"/>
</Relationships>
</file>

<file path=ppt/slides/_rels/slide34.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4.xml"/>
<Relationship Id="rId3" Type="http://schemas.openxmlformats.org/officeDocument/2006/relationships/image" Target="../media/image1.jpg"/>
<Relationship Id="rId4" Type="http://schemas.openxmlformats.org/officeDocument/2006/relationships/image" Target="../media/image16.png"/>
</Relationships>
</file>

<file path=ppt/slides/_rels/slide35.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5.xml"/>
<Relationship Id="rId3" Type="http://schemas.openxmlformats.org/officeDocument/2006/relationships/image" Target="../media/image1.jpg"/>
<Relationship Id="rId4" Type="http://schemas.openxmlformats.org/officeDocument/2006/relationships/image" Target="../media/image17.png"/>
</Relationships>
</file>

<file path=ppt/slides/_rels/slide36.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6.xml"/>
<Relationship Id="rId3" Type="http://schemas.openxmlformats.org/officeDocument/2006/relationships/image" Target="../media/image1.jpg"/>
</Relationships>
</file>

<file path=ppt/slides/_rels/slide37.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7.xml"/>
<Relationship Id="rId3" Type="http://schemas.openxmlformats.org/officeDocument/2006/relationships/image" Target="../media/image1.jpg"/>
</Relationships>
</file>

<file path=ppt/slides/_rels/slide38.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8.xml"/>
<Relationship Id="rId3" Type="http://schemas.openxmlformats.org/officeDocument/2006/relationships/image" Target="../media/image1.jpg"/>
</Relationships>
</file>

<file path=ppt/slides/_rels/slide39.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9.xml"/>
<Relationship Id="rId3" Type="http://schemas.openxmlformats.org/officeDocument/2006/relationships/image" Target="../media/image1.jpg"/>
</Relationships>
</file>

<file path=ppt/slides/_rels/slide40.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0.xml"/>
<Relationship Id="rId3" Type="http://schemas.openxmlformats.org/officeDocument/2006/relationships/image" Target="../media/image1.jpg"/>
</Relationships>
</file>

<file path=ppt/slides/_rels/slide41.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1.xml"/>
<Relationship Id="rId3" Type="http://schemas.openxmlformats.org/officeDocument/2006/relationships/image" Target="../media/image1.jpg"/>
</Relationships>
</file>

<file path=ppt/slides/_rels/slide42.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2.xml"/>
<Relationship Id="rId3" Type="http://schemas.openxmlformats.org/officeDocument/2006/relationships/image" Target="../media/image1.jpg"/>
</Relationships>
</file>

<file path=ppt/slides/_rels/slide43.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3.xml"/>
<Relationship Id="rId3" Type="http://schemas.openxmlformats.org/officeDocument/2006/relationships/image" Target="../media/image1.jpg"/>
</Relationships>
</file>

<file path=ppt/slides/_rels/slide44.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4.xml"/>
<Relationship Id="rId3" Type="http://schemas.openxmlformats.org/officeDocument/2006/relationships/image" Target="../media/image1.jpg"/>
</Relationships>
</file>

<file path=ppt/slides/_rels/slide45.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5.xml"/>
<Relationship Id="rId3" Type="http://schemas.openxmlformats.org/officeDocument/2006/relationships/image" Target="../media/image1.jpg"/>
</Relationships>
</file>

<file path=ppt/slides/_rels/slide46.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6.xml"/>
<Relationship Id="rId3" Type="http://schemas.openxmlformats.org/officeDocument/2006/relationships/image" Target="../media/image1.jpg"/>
</Relationships>
</file>

<file path=ppt/slides/_rels/slide47.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7.xml"/>
<Relationship Id="rId3" Type="http://schemas.openxmlformats.org/officeDocument/2006/relationships/image" Target="../media/image1.jpg"/>
<Relationship Id="rId4" Type="http://schemas.openxmlformats.org/officeDocument/2006/relationships/image" Target="../media/image18.png"/>
</Relationships>
</file>

<file path=ppt/slides/_rels/slide48.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8.xml"/>
<Relationship Id="rId3" Type="http://schemas.openxmlformats.org/officeDocument/2006/relationships/image" Target="../media/image1.jpg"/>
</Relationships>
</file>

<file path=ppt/slides/_rels/slide49.xml.rels><?xml version="1.0" encoding="utf-8"?>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9.xml"/>
<Relationship Id="rId3" Type="http://schemas.openxmlformats.org/officeDocument/2006/relationships/image" Target="../media/image1.jpg"/>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DayTitle"/>
          <p:cNvSpPr txBox="1"/>
          <p:nvPr/>
        </p:nvSpPr>
        <p:spPr>
          <a:xfrm>
            <a:off x="457200" y="548640"/>
            <a:ext cx="11430000" cy="700000"/>
          </a:xfrm>
          <a:prstGeom prst="rect">
            <a:avLst/>
          </a:prstGeom>
          <a:noFill/>
          <a:ln>
            <a:noFill/>
          </a:ln>
        </p:spPr>
        <p:txBody>
          <a:bodyPr wrap="square" lIns="91440" tIns="45720" rIns="91440" bIns="45720" rtlCol="0" anchor="t"/>
          <a:lstStyle/>
          <a:p>
            <a:pPr marL="0" indent="0" algn="l">
              <a:buNone/>
            </a:pPr>
            <a:r>
              <a:rPr lang="en-US" sz="2600" b="1" dirty="0">
                <a:solidFill>
                  <a:srgbClr val="0D7377"/>
                </a:solidFill>
                <a:latin typeface="Arial"/>
                <a:cs typeface="Arial"/>
              </a:rPr>
              <a:t>Buổi 4 · Sai lệch và tác động: có tin được không, lớn đến đâu?</a:t>
            </a:r>
          </a:p>
        </p:txBody>
      </p:sp>
      <p:sp>
        <p:nvSpPr>
          <p:cNvPr id="7" name="Rule"/>
          <p:cNvSpPr/>
          <p:nvPr/>
        </p:nvSpPr>
        <p:spPr>
          <a:xfrm>
            <a:off x="457200" y="1325880"/>
            <a:ext cx="11277600" cy="19050"/>
          </a:xfrm>
          <a:prstGeom prst="rect">
            <a:avLst/>
          </a:prstGeom>
          <a:solidFill>
            <a:srgbClr val="0D7377"/>
          </a:solidFill>
          <a:ln>
            <a:noFill/>
          </a:ln>
        </p:spPr>
        <p:txBody>
          <a:bodyPr/>
          <a:lstStyle/>
          <a:p>
            <a:endParaRPr/>
          </a:p>
        </p:txBody>
      </p:sp>
      <p:sp>
        <p:nvSpPr>
          <p:cNvPr id="8" name="Agenda"/>
          <p:cNvSpPr txBox="1"/>
          <p:nvPr/>
        </p:nvSpPr>
        <p:spPr>
          <a:xfrm>
            <a:off x="457200" y="1600000"/>
            <a:ext cx="11277600" cy="4400000"/>
          </a:xfrm>
          <a:prstGeom prst="rect">
            <a:avLst/>
          </a:prstGeom>
          <a:noFill/>
          <a:ln>
            <a:noFill/>
          </a:ln>
        </p:spPr>
        <p:txBody>
          <a:bodyPr wrap="square" lIns="91440" tIns="45720" rIns="91440" bIns="45720" rtlCol="0" anchor="t"/>
          <a:lstStyle/>
          <a:p>
            <a:pPr marL="0" indent="0" algn="l">
              <a:buNone/>
            </a:pPr>
            <a:r>
              <a:rPr lang="en-US" sz="2800" dirty="0">
                <a:solidFill>
                  <a:srgbClr val="0070C0"/>
                </a:solidFill>
                <a:latin typeface="Arial"/>
                <a:cs typeface="Arial"/>
              </a:rPr>
              <a:t>Tuần 4 · Thứ Bảy · trực tuyến, 19:30-22:30</a:t>
            </a:r>
          </a:p>
          <a:p>
            <a:pPr>
              <a:buNone/>
            </a:pPr>
            <a:endParaRPr sz="800"/>
          </a:p>
          <a:p>
            <a:pPr marL="274320" indent="-274320" algn="l">
              <a:spcBef>
                <a:spcPts val="440"/>
              </a:spcBef>
              <a:buFont typeface="Arial"/>
              <a:buChar char="•"/>
            </a:pPr>
            <a:r>
              <a:rPr lang="en-US" sz="1900" dirty="0">
                <a:solidFill>
                  <a:srgbClr val="000000"/>
                </a:solidFill>
                <a:latin typeface="Arial"/>
                <a:cs typeface="Arial"/>
              </a:rPr>
              <a:t>Câu hỏi ôn tập Buổi 3 (10 phút)</a:t>
            </a:r>
          </a:p>
          <a:p>
            <a:pPr marL="274320" indent="-274320" algn="l">
              <a:spcBef>
                <a:spcPts val="440"/>
              </a:spcBef>
              <a:buFont typeface="Arial"/>
              <a:buChar char="•"/>
            </a:pPr>
            <a:r>
              <a:rPr lang="en-US" sz="1900" dirty="0">
                <a:solidFill>
                  <a:srgbClr val="000000"/>
                </a:solidFill>
                <a:latin typeface="Arial"/>
                <a:cs typeface="Arial"/>
              </a:rPr>
              <a:t>4.1  Sai lệch, yếu tố nhiễu và nhân quả (40 phút)</a:t>
            </a:r>
          </a:p>
          <a:p>
            <a:pPr marL="274320" indent="-274320" algn="l">
              <a:spcBef>
                <a:spcPts val="440"/>
              </a:spcBef>
              <a:buFont typeface="Arial"/>
              <a:buChar char="•"/>
            </a:pPr>
            <a:r>
              <a:rPr lang="en-US" sz="1900" dirty="0">
                <a:solidFill>
                  <a:srgbClr val="000000"/>
                </a:solidFill>
                <a:latin typeface="Arial"/>
                <a:cs typeface="Arial"/>
              </a:rPr>
              <a:t>4.2  Đo lường bệnh và mối liên quan, kèm trình diễn bảng 2x2 (25 phút)</a:t>
            </a:r>
          </a:p>
          <a:p>
            <a:pPr marL="274320" indent="-274320" algn="l">
              <a:spcBef>
                <a:spcPts val="440"/>
              </a:spcBef>
              <a:buFont typeface="Arial"/>
              <a:buChar char="•"/>
            </a:pPr>
            <a:r>
              <a:rPr lang="en-US" sz="1900" dirty="0">
                <a:solidFill>
                  <a:srgbClr val="000000"/>
                </a:solidFill>
                <a:latin typeface="Arial"/>
                <a:cs typeface="Arial"/>
              </a:rPr>
              <a:t>Giải lao (15 phút), rồi cả lớp cùng làm hai bài tính bảng 2x2 (15 phút)</a:t>
            </a:r>
          </a:p>
          <a:p>
            <a:pPr marL="274320" indent="-274320" algn="l">
              <a:spcBef>
                <a:spcPts val="440"/>
              </a:spcBef>
              <a:buFont typeface="Arial"/>
              <a:buChar char="•"/>
            </a:pPr>
            <a:r>
              <a:rPr lang="en-US" sz="1900" dirty="0">
                <a:solidFill>
                  <a:srgbClr val="000000"/>
                </a:solidFill>
                <a:latin typeface="Arial"/>
                <a:cs typeface="Arial"/>
              </a:rPr>
              <a:t>4.3  Vượt ra ngoài một nghiên cứu: xét nghiệm, phân tích gộp, thẩm định (30 phút)</a:t>
            </a:r>
          </a:p>
          <a:p>
            <a:pPr marL="274320" indent="-274320" algn="l">
              <a:spcBef>
                <a:spcPts val="440"/>
              </a:spcBef>
              <a:buFont typeface="Arial"/>
              <a:buChar char="•"/>
            </a:pPr>
            <a:r>
              <a:rPr lang="en-US" sz="1900" dirty="0">
                <a:solidFill>
                  <a:srgbClr val="000000"/>
                </a:solidFill>
                <a:latin typeface="Arial"/>
                <a:cs typeface="Arial"/>
              </a:rPr>
              <a:t>Xây dựng đề cương 4: phơi nhiễm, kết cục, sai lệch (40 phút), rồi tổng kết (5 phút)</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Ôn tập: ba câu hỏi về Buổi 3</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50" name="Banner"/>
          <p:cNvSpPr/>
          <p:nvPr/>
        </p:nvSpPr>
        <p:spPr>
          <a:xfrm>
            <a:off x="457200" y="1120000"/>
            <a:ext cx="11277600" cy="470000"/>
          </a:xfrm>
          <a:prstGeom prst="rect">
            <a:avLst/>
          </a:prstGeom>
          <a:solidFill>
            <a:srgbClr val="6C3483"/>
          </a:solidFill>
          <a:ln>
            <a:noFill/>
          </a:ln>
        </p:spPr>
        <p:txBody>
          <a:bodyPr wrap="square" lIns="182880" tIns="45720" rIns="182880" bIns="45720" rtlCol="0" anchor="ctr">
            <a:normAutofit/>
          </a:bodyPr>
          <a:lstStyle/>
          <a:p>
            <a:pPr marL="0" indent="0" algn="l">
              <a:buNone/>
            </a:pPr>
            <a:r>
              <a:rPr lang="en-US" sz="1500" b="1" dirty="0">
                <a:solidFill>
                  <a:srgbClr val="FFFFFF"/>
                </a:solidFill>
                <a:latin typeface="Arial"/>
                <a:cs typeface="Arial"/>
              </a:rPr>
              <a:t>CÂU HỎI NHANH   |   9 phút</a:t>
            </a:r>
          </a:p>
        </p:txBody>
      </p:sp>
      <p:sp>
        <p:nvSpPr>
          <p:cNvPr id="51" name="Steps"/>
          <p:cNvSpPr txBox="1"/>
          <p:nvPr/>
        </p:nvSpPr>
        <p:spPr>
          <a:xfrm>
            <a:off x="457200" y="1720000"/>
            <a:ext cx="6766560" cy="3510000"/>
          </a:xfrm>
          <a:prstGeom prst="rect">
            <a:avLst/>
          </a:prstGeom>
          <a:noFill/>
          <a:ln>
            <a:noFill/>
          </a:ln>
        </p:spPr>
        <p:txBody>
          <a:bodyPr wrap="square" lIns="91440" tIns="45720" rIns="91440" bIns="45720" rtlCol="0" anchor="t"/>
          <a:lstStyle/>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C1. Người bệnh nhiễm khuẩn huyết đã tử vong được so sánh với người sống sót về lượng dịch đã nhận ở ngày 1-3. Thiết kế?</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C2. Thiết kế nào phân nhóm ngẫu nhiên cả đơn vị hồi sức tích cực (ICU) thay vì từng người bệnh?</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C3. Hạn chế dịch so với thường quy: hiệu số tử vong, KTC 95% từ -1 đến +3 điểm. Ngưỡng +4 điểm. Kết quả?</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Sau đó đọc lại Phần 2a đề cương của bạn (thiết kế, bối cảnh, đối tượng): 3 phút</a:t>
            </a:r>
          </a:p>
        </p:txBody>
      </p:sp>
      <p:sp>
        <p:nvSpPr>
          <p:cNvPr id="52" name="Side"/>
          <p:cNvSpPr/>
          <p:nvPr/>
        </p:nvSpPr>
        <p:spPr>
          <a:xfrm>
            <a:off x="7423760" y="1720000"/>
            <a:ext cx="4311040" cy="1453655"/>
          </a:xfrm>
          <a:prstGeom prst="roundRect">
            <a:avLst>
              <a:gd name="adj" fmla="val 5000"/>
            </a:avLst>
          </a:prstGeom>
          <a:solidFill>
            <a:srgbClr val="EAF2F5"/>
          </a:solidFill>
          <a:ln>
            <a:noFill/>
          </a:ln>
        </p:spPr>
        <p:txBody>
          <a:bodyPr wrap="square" lIns="137160" tIns="91440" rIns="137160" bIns="91440" rtlCol="0" anchor="ctr">
            <a:normAutofit/>
          </a:bodyPr>
          <a:lstStyle/>
          <a:p>
            <a:pPr marL="0" indent="0" algn="ctr">
              <a:buNone/>
            </a:pPr>
            <a:r>
              <a:rPr lang="en-US" sz="1600" b="1" dirty="0">
                <a:solidFill>
                  <a:srgbClr val="6C3483"/>
                </a:solidFill>
                <a:latin typeface="Arial"/>
                <a:cs typeface="Arial"/>
              </a:rPr>
              <a:t>Cách thực hiện</a:t>
            </a:r>
          </a:p>
          <a:p>
            <a:pPr marL="0" indent="0" algn="ctr">
              <a:lnSpc>
                <a:spcPct val="104000"/>
              </a:lnSpc>
              <a:spcBef>
                <a:spcPts val="300"/>
              </a:spcBef>
              <a:buNone/>
            </a:pPr>
            <a:r>
              <a:rPr lang="en-US" sz="1500" dirty="0">
                <a:solidFill>
                  <a:srgbClr val="000000"/>
                </a:solidFill>
                <a:latin typeface="Arial"/>
                <a:cs typeface="Arial"/>
              </a:rPr>
              <a:t>Trả lời qua bình chọn</a:t>
            </a:r>
          </a:p>
          <a:p>
            <a:pPr marL="0" indent="0" algn="ctr">
              <a:lnSpc>
                <a:spcPct val="104000"/>
              </a:lnSpc>
              <a:spcBef>
                <a:spcPts val="300"/>
              </a:spcBef>
              <a:buNone/>
            </a:pPr>
            <a:r>
              <a:rPr lang="en-US" sz="1500" dirty="0">
                <a:solidFill>
                  <a:srgbClr val="000000"/>
                </a:solidFill>
                <a:latin typeface="Arial"/>
                <a:cs typeface="Arial"/>
              </a:rPr>
              <a:t>Xem kết quả, rồi công bố đáp án</a:t>
            </a:r>
          </a:p>
          <a:p>
            <a:pPr marL="0" indent="0" algn="ctr">
              <a:lnSpc>
                <a:spcPct val="104000"/>
              </a:lnSpc>
              <a:spcBef>
                <a:spcPts val="300"/>
              </a:spcBef>
              <a:buNone/>
            </a:pPr>
            <a:r>
              <a:rPr lang="en-US" sz="1500" dirty="0">
                <a:solidFill>
                  <a:srgbClr val="000000"/>
                </a:solidFill>
                <a:latin typeface="Arial"/>
                <a:cs typeface="Arial"/>
              </a:rPr>
              <a:t>Một bạn tình nguyện giải thích</a:t>
            </a:r>
          </a:p>
        </p:txBody>
      </p:sp>
      <p:sp>
        <p:nvSpPr>
          <p:cNvPr id="53" name="Deliverable"/>
          <p:cNvSpPr/>
          <p:nvPr/>
        </p:nvSpPr>
        <p:spPr>
          <a:xfrm>
            <a:off x="457200" y="5350000"/>
            <a:ext cx="11277600" cy="600000"/>
          </a:xfrm>
          <a:prstGeom prst="roundRect">
            <a:avLst>
              <a:gd name="adj" fmla="val 12000"/>
            </a:avLst>
          </a:prstGeom>
          <a:solidFill>
            <a:srgbClr val="FFFFFF"/>
          </a:solidFill>
          <a:ln w="15875">
            <a:solidFill>
              <a:srgbClr val="6C3483"/>
            </a:solidFill>
          </a:ln>
        </p:spPr>
        <p:txBody>
          <a:bodyPr wrap="square" lIns="182880" tIns="45720" rIns="182880" bIns="45720" rtlCol="0" anchor="ctr">
            <a:normAutofit/>
          </a:bodyPr>
          <a:lstStyle/>
          <a:p>
            <a:pPr marL="0" indent="0" algn="ctr">
              <a:buNone/>
            </a:pPr>
            <a:r>
              <a:rPr lang="en-US" sz="1300" b="1" dirty="0">
                <a:solidFill>
                  <a:srgbClr val="6C3483"/>
                </a:solidFill>
                <a:latin typeface="Arial"/>
                <a:cs typeface="Arial"/>
              </a:rPr>
              <a:t>SẢN PHẨM   </a:t>
            </a:r>
            <a:r>
              <a:rPr lang="en-US" sz="1500" dirty="0">
                <a:solidFill>
                  <a:srgbClr val="000000"/>
                </a:solidFill>
                <a:latin typeface="Arial"/>
                <a:cs typeface="Arial"/>
              </a:rPr>
              <a:t>Câu trả lời bình chọn, và Phần 2a sẵn sàng để viết tiếp</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Từ khóa của ngày hôm nay</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480000"/>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Từ vựng hôm nay. Mỗi từ đi kèm một hình hoặc một ví dụ</a:t>
            </a:r>
          </a:p>
        </p:txBody>
      </p:sp>
      <p:sp>
        <p:nvSpPr>
          <p:cNvPr id="70" name="CardHead"/>
          <p:cNvSpPr/>
          <p:nvPr/>
        </p:nvSpPr>
        <p:spPr>
          <a:xfrm>
            <a:off x="457200" y="2058240"/>
            <a:ext cx="2669400" cy="640000"/>
          </a:xfrm>
          <a:prstGeom prst="rect">
            <a:avLst/>
          </a:prstGeom>
          <a:solidFill>
            <a:srgbClr val="B23B2E"/>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Có tin được không?</a:t>
            </a:r>
          </a:p>
        </p:txBody>
      </p:sp>
      <p:sp>
        <p:nvSpPr>
          <p:cNvPr id="71" name="CardBody"/>
          <p:cNvSpPr/>
          <p:nvPr/>
        </p:nvSpPr>
        <p:spPr>
          <a:xfrm>
            <a:off x="457200" y="2698240"/>
            <a:ext cx="2669400" cy="17552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Sai lệch, yếu tố nhiễu</a:t>
            </a:r>
          </a:p>
          <a:p>
            <a:pPr marL="0" indent="0" algn="ctr">
              <a:lnSpc>
                <a:spcPct val="104000"/>
              </a:lnSpc>
              <a:spcBef>
                <a:spcPts val="400"/>
              </a:spcBef>
              <a:buNone/>
            </a:pPr>
            <a:r>
              <a:rPr lang="en-US" sz="1600" dirty="0">
                <a:solidFill>
                  <a:srgbClr val="000000"/>
                </a:solidFill>
                <a:latin typeface="Arial"/>
                <a:cs typeface="Arial"/>
              </a:rPr>
              <a:t>Thay đổi tác động (effect modification)</a:t>
            </a:r>
          </a:p>
          <a:p>
            <a:pPr marL="0" indent="0" algn="ctr">
              <a:lnSpc>
                <a:spcPct val="104000"/>
              </a:lnSpc>
              <a:spcBef>
                <a:spcPts val="400"/>
              </a:spcBef>
              <a:buNone/>
            </a:pPr>
            <a:r>
              <a:rPr lang="en-US" sz="1600" dirty="0">
                <a:solidFill>
                  <a:srgbClr val="000000"/>
                </a:solidFill>
                <a:latin typeface="Arial"/>
                <a:cs typeface="Arial"/>
              </a:rPr>
              <a:t>Quan hệ nhân quả ngược</a:t>
            </a:r>
          </a:p>
        </p:txBody>
      </p:sp>
      <p:sp>
        <p:nvSpPr>
          <p:cNvPr id="72" name="CardHead"/>
          <p:cNvSpPr/>
          <p:nvPr/>
        </p:nvSpPr>
        <p:spPr>
          <a:xfrm>
            <a:off x="3326600" y="2058240"/>
            <a:ext cx="2669400"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Lớn đến đâu?</a:t>
            </a:r>
          </a:p>
        </p:txBody>
      </p:sp>
      <p:sp>
        <p:nvSpPr>
          <p:cNvPr id="73" name="CardBody"/>
          <p:cNvSpPr/>
          <p:nvPr/>
        </p:nvSpPr>
        <p:spPr>
          <a:xfrm>
            <a:off x="3326600" y="2698240"/>
            <a:ext cx="2669400" cy="17552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Nguy cơ tương đối (RR), tỷ số chênh (OR)</a:t>
            </a:r>
          </a:p>
          <a:p>
            <a:pPr marL="0" indent="0" algn="ctr">
              <a:lnSpc>
                <a:spcPct val="104000"/>
              </a:lnSpc>
              <a:spcBef>
                <a:spcPts val="400"/>
              </a:spcBef>
              <a:buNone/>
            </a:pPr>
            <a:r>
              <a:rPr lang="en-US" sz="1600" dirty="0">
                <a:solidFill>
                  <a:srgbClr val="000000"/>
                </a:solidFill>
                <a:latin typeface="Arial"/>
                <a:cs typeface="Arial"/>
              </a:rPr>
              <a:t>Hiệu số nguy cơ (RD)</a:t>
            </a:r>
          </a:p>
          <a:p>
            <a:pPr marL="0" indent="0" algn="ctr">
              <a:lnSpc>
                <a:spcPct val="104000"/>
              </a:lnSpc>
              <a:spcBef>
                <a:spcPts val="400"/>
              </a:spcBef>
              <a:buNone/>
            </a:pPr>
            <a:r>
              <a:rPr lang="en-US" sz="1600" dirty="0">
                <a:solidFill>
                  <a:srgbClr val="000000"/>
                </a:solidFill>
                <a:latin typeface="Arial"/>
                <a:cs typeface="Arial"/>
              </a:rPr>
              <a:t>Số người cần điều trị (NNT)</a:t>
            </a:r>
          </a:p>
        </p:txBody>
      </p:sp>
      <p:sp>
        <p:nvSpPr>
          <p:cNvPr id="74" name="CardHead"/>
          <p:cNvSpPr/>
          <p:nvPr/>
        </p:nvSpPr>
        <p:spPr>
          <a:xfrm>
            <a:off x="6196000" y="2058240"/>
            <a:ext cx="2669400"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Xét nghiệm</a:t>
            </a:r>
          </a:p>
        </p:txBody>
      </p:sp>
      <p:sp>
        <p:nvSpPr>
          <p:cNvPr id="75" name="CardBody"/>
          <p:cNvSpPr/>
          <p:nvPr/>
        </p:nvSpPr>
        <p:spPr>
          <a:xfrm>
            <a:off x="6196000" y="2698240"/>
            <a:ext cx="2669400" cy="17552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Độ nhạy, độ đặc hiệu</a:t>
            </a:r>
          </a:p>
          <a:p>
            <a:pPr marL="0" indent="0" algn="ctr">
              <a:lnSpc>
                <a:spcPct val="104000"/>
              </a:lnSpc>
              <a:spcBef>
                <a:spcPts val="400"/>
              </a:spcBef>
              <a:buNone/>
            </a:pPr>
            <a:r>
              <a:rPr lang="en-US" sz="1600" dirty="0">
                <a:solidFill>
                  <a:srgbClr val="000000"/>
                </a:solidFill>
                <a:latin typeface="Arial"/>
                <a:cs typeface="Arial"/>
              </a:rPr>
              <a:t>Giá trị tiên đoán dương và âm</a:t>
            </a:r>
          </a:p>
          <a:p>
            <a:pPr marL="0" indent="0" algn="ctr">
              <a:lnSpc>
                <a:spcPct val="104000"/>
              </a:lnSpc>
              <a:spcBef>
                <a:spcPts val="400"/>
              </a:spcBef>
              <a:buNone/>
            </a:pPr>
            <a:r>
              <a:rPr lang="en-US" sz="1600" dirty="0">
                <a:solidFill>
                  <a:srgbClr val="000000"/>
                </a:solidFill>
                <a:latin typeface="Arial"/>
                <a:cs typeface="Arial"/>
              </a:rPr>
              <a:t>Đường cong ROC và diện tích dưới đường cong</a:t>
            </a:r>
          </a:p>
        </p:txBody>
      </p:sp>
      <p:sp>
        <p:nvSpPr>
          <p:cNvPr id="76" name="CardHead"/>
          <p:cNvSpPr/>
          <p:nvPr/>
        </p:nvSpPr>
        <p:spPr>
          <a:xfrm>
            <a:off x="9065400" y="2058240"/>
            <a:ext cx="2669400" cy="640000"/>
          </a:xfrm>
          <a:prstGeom prst="rect">
            <a:avLst/>
          </a:prstGeom>
          <a:solidFill>
            <a:srgbClr val="055F56"/>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Nhiều nghiên cứu</a:t>
            </a:r>
          </a:p>
        </p:txBody>
      </p:sp>
      <p:sp>
        <p:nvSpPr>
          <p:cNvPr id="77" name="CardBody"/>
          <p:cNvSpPr/>
          <p:nvPr/>
        </p:nvSpPr>
        <p:spPr>
          <a:xfrm>
            <a:off x="9065400" y="2698240"/>
            <a:ext cx="2669400" cy="17552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Biểu đồ rừng (forest plot), không đồng nhất</a:t>
            </a:r>
          </a:p>
          <a:p>
            <a:pPr marL="0" indent="0" algn="ctr">
              <a:lnSpc>
                <a:spcPct val="104000"/>
              </a:lnSpc>
              <a:spcBef>
                <a:spcPts val="400"/>
              </a:spcBef>
              <a:buNone/>
            </a:pPr>
            <a:r>
              <a:rPr lang="en-US" sz="1600" dirty="0">
                <a:solidFill>
                  <a:srgbClr val="000000"/>
                </a:solidFill>
                <a:latin typeface="Arial"/>
                <a:cs typeface="Arial"/>
              </a:rPr>
              <a:t>Công cụ đánh giá nguy cơ sai lệch</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Tin trước, rồi mới đến độ lớn: một câu trả lời chính xác vẫn có thể bị sai lệch.</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4.1  Sai lệch, yếu tố nhiễu và nhân quả</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Statement"/>
          <p:cNvSpPr txBox="1"/>
          <p:nvPr/>
        </p:nvSpPr>
        <p:spPr>
          <a:xfrm>
            <a:off x="1057200" y="1280000"/>
            <a:ext cx="10077600" cy="4470000"/>
          </a:xfrm>
          <a:prstGeom prst="rect">
            <a:avLst/>
          </a:prstGeom>
          <a:noFill/>
          <a:ln>
            <a:noFill/>
          </a:ln>
        </p:spPr>
        <p:txBody>
          <a:bodyPr wrap="square" lIns="91440" tIns="45720" rIns="91440" bIns="45720" rtlCol="0" anchor="ctr"/>
          <a:lstStyle/>
          <a:p>
            <a:pPr marL="0" indent="0" algn="ctr">
              <a:lnSpc>
                <a:spcPct val="110000"/>
              </a:lnSpc>
              <a:buNone/>
            </a:pPr>
            <a:r>
              <a:rPr lang="en-US" sz="3200" b="1" dirty="0">
                <a:solidFill>
                  <a:srgbClr val="0D7377"/>
                </a:solidFill>
                <a:latin typeface="Arial"/>
                <a:cs typeface="Arial"/>
              </a:rPr>
              <a:t>Sai lệch là sai số hệ thống. Tăng cỡ mẫu không sửa được.</a:t>
            </a:r>
          </a:p>
          <a:p>
            <a:pPr marL="0" indent="0" algn="ctr">
              <a:spcBef>
                <a:spcPts val="1200"/>
              </a:spcBef>
              <a:buNone/>
            </a:pPr>
            <a:r>
              <a:rPr lang="en-US" sz="1900" i="1" dirty="0">
                <a:solidFill>
                  <a:srgbClr val="595959"/>
                </a:solidFill>
                <a:latin typeface="Arial"/>
                <a:cs typeface="Arial"/>
              </a:rPr>
              <a:t>Chọn lựa, thông tin, yếu tố nhiễu, thay đổi tác động, và từ liên quan đến nhân quả. (40 phút)</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Sai số ngẫu nhiên và sai lệch</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pic>
        <p:nvPicPr>
          <p:cNvPr id="25" name="Figure"/>
          <p:cNvPicPr>
            <a:picLocks noChangeAspect="1"/>
          </p:cNvPicPr>
          <p:nvPr/>
        </p:nvPicPr>
        <p:blipFill>
          <a:blip r:embed="rId4"/>
          <a:stretch>
            <a:fillRect/>
          </a:stretch>
        </p:blipFill>
        <p:spPr>
          <a:xfrm>
            <a:off x="677066" y="1150000"/>
            <a:ext cx="10837867" cy="4150000"/>
          </a:xfrm>
          <a:prstGeom prst="rect">
            <a:avLst/>
          </a:prstGeom>
        </p:spPr>
      </p:pic>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Cỡ mẫu lớn làm giảm sai số ngẫu nhiên nhưng không động đến sai lệch.</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Sai lệch chọn lựa: ai được đưa vào nghiên cứu?</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pic>
        <p:nvPicPr>
          <p:cNvPr id="25" name="Figure"/>
          <p:cNvPicPr>
            <a:picLocks noChangeAspect="1"/>
          </p:cNvPicPr>
          <p:nvPr/>
        </p:nvPicPr>
        <p:blipFill>
          <a:blip r:embed="rId4"/>
          <a:stretch>
            <a:fillRect/>
          </a:stretch>
        </p:blipFill>
        <p:spPr>
          <a:xfrm>
            <a:off x="908500" y="1150000"/>
            <a:ext cx="10375000" cy="4150000"/>
          </a:xfrm>
          <a:prstGeom prst="rect">
            <a:avLst/>
          </a:prstGeom>
        </p:spPr>
      </p:pic>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Nếu mẫu khác quần thể đích, kết quả có thể không áp dụng được.</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Sai lệch thông tin: đo lường thế nào</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70" name="CardHead"/>
          <p:cNvSpPr/>
          <p:nvPr/>
        </p:nvSpPr>
        <p:spPr>
          <a:xfrm>
            <a:off x="457200" y="1540011"/>
            <a:ext cx="3625866" cy="640000"/>
          </a:xfrm>
          <a:prstGeom prst="rect">
            <a:avLst/>
          </a:prstGeom>
          <a:solidFill>
            <a:srgbClr val="B5651D"/>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Sai lệch nhớ lại</a:t>
            </a:r>
          </a:p>
        </p:txBody>
      </p:sp>
      <p:sp>
        <p:nvSpPr>
          <p:cNvPr id="71" name="CardBody"/>
          <p:cNvSpPr/>
          <p:nvPr/>
        </p:nvSpPr>
        <p:spPr>
          <a:xfrm>
            <a:off x="457200" y="2180011"/>
            <a:ext cx="3625866" cy="2429967"/>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Ca bệnh cố nhớ kỹ hơn ca chứng</a:t>
            </a:r>
          </a:p>
          <a:p>
            <a:pPr marL="0" indent="0" algn="ctr">
              <a:lnSpc>
                <a:spcPct val="104000"/>
              </a:lnSpc>
              <a:spcBef>
                <a:spcPts val="400"/>
              </a:spcBef>
              <a:buNone/>
            </a:pPr>
            <a:r>
              <a:rPr lang="en-US" sz="1750" dirty="0">
                <a:solidFill>
                  <a:srgbClr val="000000"/>
                </a:solidFill>
                <a:latin typeface="Arial"/>
                <a:cs typeface="Arial"/>
              </a:rPr>
              <a:t>vd. gia đình người tử vong nhớ những ngày trước khi nhập viện kỹ hơn</a:t>
            </a:r>
          </a:p>
          <a:p>
            <a:pPr marL="0" indent="0" algn="ctr">
              <a:lnSpc>
                <a:spcPct val="104000"/>
              </a:lnSpc>
              <a:spcBef>
                <a:spcPts val="400"/>
              </a:spcBef>
              <a:buNone/>
            </a:pPr>
            <a:r>
              <a:rPr lang="en-US" sz="1750" b="1" dirty="0">
                <a:solidFill>
                  <a:srgbClr val="000000"/>
                </a:solidFill>
                <a:latin typeface="Arial"/>
                <a:cs typeface="Arial"/>
              </a:rPr>
              <a:t>Khắc phục: dùng hồ sơ ghi trước khi có kết cục</a:t>
            </a:r>
          </a:p>
        </p:txBody>
      </p:sp>
      <p:sp>
        <p:nvSpPr>
          <p:cNvPr id="72" name="CardHead"/>
          <p:cNvSpPr/>
          <p:nvPr/>
        </p:nvSpPr>
        <p:spPr>
          <a:xfrm>
            <a:off x="4283066" y="1540011"/>
            <a:ext cx="3625866" cy="640000"/>
          </a:xfrm>
          <a:prstGeom prst="rect">
            <a:avLst/>
          </a:prstGeom>
          <a:solidFill>
            <a:srgbClr val="B23B2E"/>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Sai lệch người quan sát</a:t>
            </a:r>
          </a:p>
        </p:txBody>
      </p:sp>
      <p:sp>
        <p:nvSpPr>
          <p:cNvPr id="73" name="CardBody"/>
          <p:cNvSpPr/>
          <p:nvPr/>
        </p:nvSpPr>
        <p:spPr>
          <a:xfrm>
            <a:off x="4283066" y="2180011"/>
            <a:ext cx="3625866" cy="2429967"/>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Người đánh giá biết nhóm sẽ đánh giá khác đi</a:t>
            </a:r>
          </a:p>
          <a:p>
            <a:pPr marL="0" indent="0" algn="ctr">
              <a:lnSpc>
                <a:spcPct val="104000"/>
              </a:lnSpc>
              <a:spcBef>
                <a:spcPts val="400"/>
              </a:spcBef>
              <a:buNone/>
            </a:pPr>
            <a:r>
              <a:rPr lang="en-US" sz="1750" dirty="0">
                <a:solidFill>
                  <a:srgbClr val="000000"/>
                </a:solidFill>
                <a:latin typeface="Arial"/>
                <a:cs typeface="Arial"/>
              </a:rPr>
              <a:t>vd. 'đủ điều kiện ra khỏi ICU' trong thử nghiệm dịch truyền không làm mù</a:t>
            </a:r>
          </a:p>
          <a:p>
            <a:pPr marL="0" indent="0" algn="ctr">
              <a:lnSpc>
                <a:spcPct val="104000"/>
              </a:lnSpc>
              <a:spcBef>
                <a:spcPts val="400"/>
              </a:spcBef>
              <a:buNone/>
            </a:pPr>
            <a:r>
              <a:rPr lang="en-US" sz="1750" b="1" dirty="0">
                <a:solidFill>
                  <a:srgbClr val="000000"/>
                </a:solidFill>
                <a:latin typeface="Arial"/>
                <a:cs typeface="Arial"/>
              </a:rPr>
              <a:t>Khắc phục: làm mù người đánh giá, kết cục khách quan</a:t>
            </a:r>
          </a:p>
        </p:txBody>
      </p:sp>
      <p:sp>
        <p:nvSpPr>
          <p:cNvPr id="74" name="CardHead"/>
          <p:cNvSpPr/>
          <p:nvPr/>
        </p:nvSpPr>
        <p:spPr>
          <a:xfrm>
            <a:off x="8108932" y="1540011"/>
            <a:ext cx="3625866" cy="640000"/>
          </a:xfrm>
          <a:prstGeom prst="rect">
            <a:avLst/>
          </a:prstGeom>
          <a:solidFill>
            <a:srgbClr val="0070C0"/>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Sai lệch đo lường</a:t>
            </a:r>
          </a:p>
        </p:txBody>
      </p:sp>
      <p:sp>
        <p:nvSpPr>
          <p:cNvPr id="75" name="CardBody"/>
          <p:cNvSpPr/>
          <p:nvPr/>
        </p:nvSpPr>
        <p:spPr>
          <a:xfrm>
            <a:off x="8108932" y="2180011"/>
            <a:ext cx="3625866" cy="2429967"/>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Dụng cụ hoặc ghi chép sai một cách hệ thống</a:t>
            </a:r>
          </a:p>
          <a:p>
            <a:pPr marL="0" indent="0" algn="ctr">
              <a:lnSpc>
                <a:spcPct val="104000"/>
              </a:lnSpc>
              <a:spcBef>
                <a:spcPts val="400"/>
              </a:spcBef>
              <a:buNone/>
            </a:pPr>
            <a:r>
              <a:rPr lang="en-US" sz="1750" dirty="0">
                <a:solidFill>
                  <a:srgbClr val="000000"/>
                </a:solidFill>
                <a:latin typeface="Arial"/>
                <a:cs typeface="Arial"/>
              </a:rPr>
              <a:t>vd. lượng nước tiểu bị ghi thiếu ở ca đêm</a:t>
            </a:r>
          </a:p>
          <a:p>
            <a:pPr marL="0" indent="0" algn="ctr">
              <a:lnSpc>
                <a:spcPct val="104000"/>
              </a:lnSpc>
              <a:spcBef>
                <a:spcPts val="400"/>
              </a:spcBef>
              <a:buNone/>
            </a:pPr>
            <a:r>
              <a:rPr lang="en-US" sz="1750" b="1" dirty="0">
                <a:solidFill>
                  <a:srgbClr val="000000"/>
                </a:solidFill>
                <a:latin typeface="Arial"/>
                <a:cs typeface="Arial"/>
              </a:rPr>
              <a:t>Khắc phục: định nghĩa chuẩn, kiểm tra hồ sơ</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Đo phơi nhiễm và kết cục theo cùng một cách ở mọi nhóm.</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Nhiễu do chỉ định: ví dụ dịch truyền ở ICU</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pic>
        <p:nvPicPr>
          <p:cNvPr id="25" name="Figure"/>
          <p:cNvPicPr>
            <a:picLocks noChangeAspect="1"/>
          </p:cNvPicPr>
          <p:nvPr/>
        </p:nvPicPr>
        <p:blipFill>
          <a:blip r:embed="rId4"/>
          <a:stretch>
            <a:fillRect/>
          </a:stretch>
        </p:blipFill>
        <p:spPr>
          <a:xfrm>
            <a:off x="1383500" y="1150000"/>
            <a:ext cx="9425000" cy="3770000"/>
          </a:xfrm>
          <a:prstGeom prst="rect">
            <a:avLst/>
          </a:prstGeom>
        </p:spPr>
      </p:pic>
      <p:sp>
        <p:nvSpPr>
          <p:cNvPr id="26" name="Caption"/>
          <p:cNvSpPr txBox="1"/>
          <p:nvPr/>
        </p:nvSpPr>
        <p:spPr>
          <a:xfrm>
            <a:off x="457200" y="4980000"/>
            <a:ext cx="11277600" cy="400000"/>
          </a:xfrm>
          <a:prstGeom prst="rect">
            <a:avLst/>
          </a:prstGeom>
          <a:noFill/>
          <a:ln>
            <a:noFill/>
          </a:ln>
        </p:spPr>
        <p:txBody>
          <a:bodyPr wrap="square" lIns="91440" tIns="45720" rIns="91440" bIns="45720" rtlCol="0" anchor="t"/>
          <a:lstStyle/>
          <a:p>
            <a:pPr marL="0" indent="0" algn="ctr">
              <a:buNone/>
            </a:pPr>
            <a:r>
              <a:rPr lang="en-US" sz="1300" i="1" dirty="0">
                <a:solidFill>
                  <a:srgbClr val="595959"/>
                </a:solidFill>
                <a:latin typeface="Arial"/>
                <a:cs typeface="Arial"/>
              </a:rPr>
              <a:t>SOFA: thang điểm đánh giá suy đa cơ quan (Sequential Organ Failure Assessment)</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Yếu tố nhiễu liên quan với phơi nhiễm và là nguyên nhân của kết cục.</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Yếu tố nhiễu bằng con số: mối liên quan biến mất</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pic>
        <p:nvPicPr>
          <p:cNvPr id="25" name="Figure"/>
          <p:cNvPicPr>
            <a:picLocks noChangeAspect="1"/>
          </p:cNvPicPr>
          <p:nvPr/>
        </p:nvPicPr>
        <p:blipFill>
          <a:blip r:embed="rId4"/>
          <a:stretch>
            <a:fillRect/>
          </a:stretch>
        </p:blipFill>
        <p:spPr>
          <a:xfrm>
            <a:off x="1173258" y="1150000"/>
            <a:ext cx="9845484" cy="3770000"/>
          </a:xfrm>
          <a:prstGeom prst="rect">
            <a:avLst/>
          </a:prstGeom>
        </p:spPr>
      </p:pic>
      <p:sp>
        <p:nvSpPr>
          <p:cNvPr id="26" name="Caption"/>
          <p:cNvSpPr txBox="1"/>
          <p:nvPr/>
        </p:nvSpPr>
        <p:spPr>
          <a:xfrm>
            <a:off x="457200" y="4980000"/>
            <a:ext cx="11277600" cy="400000"/>
          </a:xfrm>
          <a:prstGeom prst="rect">
            <a:avLst/>
          </a:prstGeom>
          <a:noFill/>
          <a:ln>
            <a:noFill/>
          </a:ln>
        </p:spPr>
        <p:txBody>
          <a:bodyPr wrap="square" lIns="91440" tIns="45720" rIns="91440" bIns="45720" rtlCol="0" anchor="t"/>
          <a:lstStyle/>
          <a:p>
            <a:pPr marL="0" indent="0" algn="ctr">
              <a:buNone/>
            </a:pPr>
            <a:r>
              <a:rPr lang="en-US" sz="1300" i="1" dirty="0">
                <a:solidFill>
                  <a:srgbClr val="595959"/>
                </a:solidFill>
                <a:latin typeface="Arial"/>
                <a:cs typeface="Arial"/>
              </a:rPr>
              <a:t>Số liệu giả định dùng cho giảng dạy. RR: nguy cơ tương đối.</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So sánh tương đồng: trong từng mức độ nặng, lượng dịch không tạo khác biệt.</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Yếu tố nhiễu hay thay đổi tác động?</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pic>
        <p:nvPicPr>
          <p:cNvPr id="25" name="Figure"/>
          <p:cNvPicPr>
            <a:picLocks noChangeAspect="1"/>
          </p:cNvPicPr>
          <p:nvPr/>
        </p:nvPicPr>
        <p:blipFill>
          <a:blip r:embed="rId4"/>
          <a:stretch>
            <a:fillRect/>
          </a:stretch>
        </p:blipFill>
        <p:spPr>
          <a:xfrm>
            <a:off x="1283234" y="1150000"/>
            <a:ext cx="9625531" cy="3770000"/>
          </a:xfrm>
          <a:prstGeom prst="rect">
            <a:avLst/>
          </a:prstGeom>
        </p:spPr>
      </p:pic>
      <p:sp>
        <p:nvSpPr>
          <p:cNvPr id="26" name="Caption"/>
          <p:cNvSpPr txBox="1"/>
          <p:nvPr/>
        </p:nvSpPr>
        <p:spPr>
          <a:xfrm>
            <a:off x="457200" y="4980000"/>
            <a:ext cx="11277600" cy="400000"/>
          </a:xfrm>
          <a:prstGeom prst="rect">
            <a:avLst/>
          </a:prstGeom>
          <a:noFill/>
          <a:ln>
            <a:noFill/>
          </a:ln>
        </p:spPr>
        <p:txBody>
          <a:bodyPr wrap="square" lIns="91440" tIns="45720" rIns="91440" bIns="45720" rtlCol="0" anchor="t"/>
          <a:lstStyle/>
          <a:p>
            <a:pPr marL="0" indent="0" algn="ctr">
              <a:buNone/>
            </a:pPr>
            <a:r>
              <a:rPr lang="en-US" sz="1300" i="1" dirty="0">
                <a:solidFill>
                  <a:srgbClr val="595959"/>
                </a:solidFill>
                <a:latin typeface="Arial"/>
                <a:cs typeface="Arial"/>
              </a:rPr>
              <a:t>Số liệu giả định dùng cho giảng dạy. RR: nguy cơ tương đối. ARDS: hội chứng suy hô hấp cấp tiến triển.</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Nhiễu là sai lệch cần loại bỏ. Thay đổi tác động là phát hiện cần báo cáo.</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Thiết kế chống lại sai lệch như thế nào</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480000"/>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Phòng sai lệch ngay từ thiết kế. Xử lý phần còn lại khi phân tích</a:t>
            </a:r>
          </a:p>
        </p:txBody>
      </p:sp>
      <p:sp>
        <p:nvSpPr>
          <p:cNvPr id="70" name="CardHead"/>
          <p:cNvSpPr/>
          <p:nvPr/>
        </p:nvSpPr>
        <p:spPr>
          <a:xfrm>
            <a:off x="457200" y="1816411"/>
            <a:ext cx="3625866"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Ngẫu nhiên và che giấu</a:t>
            </a:r>
          </a:p>
        </p:txBody>
      </p:sp>
      <p:sp>
        <p:nvSpPr>
          <p:cNvPr id="71" name="CardBody"/>
          <p:cNvSpPr/>
          <p:nvPr/>
        </p:nvSpPr>
        <p:spPr>
          <a:xfrm>
            <a:off x="457200" y="2456411"/>
            <a:ext cx="3625866" cy="2480767"/>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May rủi quyết định nhóm</a:t>
            </a:r>
          </a:p>
          <a:p>
            <a:pPr marL="0" indent="0" algn="ctr">
              <a:lnSpc>
                <a:spcPct val="104000"/>
              </a:lnSpc>
              <a:spcBef>
                <a:spcPts val="400"/>
              </a:spcBef>
              <a:buNone/>
            </a:pPr>
            <a:r>
              <a:rPr lang="en-US" sz="1750" dirty="0">
                <a:solidFill>
                  <a:srgbClr val="000000"/>
                </a:solidFill>
                <a:latin typeface="Arial"/>
                <a:cs typeface="Arial"/>
              </a:rPr>
              <a:t>Cân bằng yếu tố nhiễu đã biết và chưa biết</a:t>
            </a:r>
          </a:p>
          <a:p>
            <a:pPr marL="0" indent="0" algn="ctr">
              <a:lnSpc>
                <a:spcPct val="104000"/>
              </a:lnSpc>
              <a:spcBef>
                <a:spcPts val="400"/>
              </a:spcBef>
              <a:buNone/>
            </a:pPr>
            <a:r>
              <a:rPr lang="en-US" sz="1750" dirty="0">
                <a:solidFill>
                  <a:srgbClr val="000000"/>
                </a:solidFill>
                <a:latin typeface="Arial"/>
                <a:cs typeface="Arial"/>
              </a:rPr>
              <a:t>Không ai đoán được lần phân bổ kế tiếp</a:t>
            </a:r>
          </a:p>
        </p:txBody>
      </p:sp>
      <p:sp>
        <p:nvSpPr>
          <p:cNvPr id="72" name="CardHead"/>
          <p:cNvSpPr/>
          <p:nvPr/>
        </p:nvSpPr>
        <p:spPr>
          <a:xfrm>
            <a:off x="4283066" y="1816411"/>
            <a:ext cx="3625866"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Làm mù</a:t>
            </a:r>
          </a:p>
        </p:txBody>
      </p:sp>
      <p:sp>
        <p:nvSpPr>
          <p:cNvPr id="73" name="CardBody"/>
          <p:cNvSpPr/>
          <p:nvPr/>
        </p:nvSpPr>
        <p:spPr>
          <a:xfrm>
            <a:off x="4283066" y="2456411"/>
            <a:ext cx="3625866" cy="2480767"/>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Người bệnh, bác sĩ, người đánh giá, người phân tích</a:t>
            </a:r>
          </a:p>
          <a:p>
            <a:pPr marL="0" indent="0" algn="ctr">
              <a:lnSpc>
                <a:spcPct val="104000"/>
              </a:lnSpc>
              <a:spcBef>
                <a:spcPts val="400"/>
              </a:spcBef>
              <a:buNone/>
            </a:pPr>
            <a:r>
              <a:rPr lang="en-US" sz="1750" dirty="0">
                <a:solidFill>
                  <a:srgbClr val="000000"/>
                </a:solidFill>
                <a:latin typeface="Arial"/>
                <a:cs typeface="Arial"/>
              </a:rPr>
              <a:t>Bảo vệ cách đo kết cục</a:t>
            </a:r>
          </a:p>
          <a:p>
            <a:pPr marL="0" indent="0" algn="ctr">
              <a:lnSpc>
                <a:spcPct val="104000"/>
              </a:lnSpc>
              <a:spcBef>
                <a:spcPts val="400"/>
              </a:spcBef>
              <a:buNone/>
            </a:pPr>
            <a:r>
              <a:rPr lang="en-US" sz="1750" dirty="0">
                <a:solidFill>
                  <a:srgbClr val="000000"/>
                </a:solidFill>
                <a:latin typeface="Arial"/>
                <a:cs typeface="Arial"/>
              </a:rPr>
              <a:t>Nếu không thể: làm mù người đánh giá</a:t>
            </a:r>
          </a:p>
        </p:txBody>
      </p:sp>
      <p:sp>
        <p:nvSpPr>
          <p:cNvPr id="74" name="CardHead"/>
          <p:cNvSpPr/>
          <p:nvPr/>
        </p:nvSpPr>
        <p:spPr>
          <a:xfrm>
            <a:off x="8108932" y="1816411"/>
            <a:ext cx="3625866" cy="640000"/>
          </a:xfrm>
          <a:prstGeom prst="rect">
            <a:avLst/>
          </a:prstGeom>
          <a:solidFill>
            <a:srgbClr val="0070C0"/>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Giới hạn, ghép cặp, hiệu chỉnh</a:t>
            </a:r>
          </a:p>
        </p:txBody>
      </p:sp>
      <p:sp>
        <p:nvSpPr>
          <p:cNvPr id="75" name="CardBody"/>
          <p:cNvSpPr/>
          <p:nvPr/>
        </p:nvSpPr>
        <p:spPr>
          <a:xfrm>
            <a:off x="8108932" y="2456411"/>
            <a:ext cx="3625866" cy="2480767"/>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Giới hạn: thu hẹp tiêu chuẩn chọn</a:t>
            </a:r>
          </a:p>
          <a:p>
            <a:pPr marL="0" indent="0" algn="ctr">
              <a:lnSpc>
                <a:spcPct val="104000"/>
              </a:lnSpc>
              <a:spcBef>
                <a:spcPts val="400"/>
              </a:spcBef>
              <a:buNone/>
            </a:pPr>
            <a:r>
              <a:rPr lang="en-US" sz="1750" dirty="0">
                <a:solidFill>
                  <a:srgbClr val="000000"/>
                </a:solidFill>
                <a:latin typeface="Arial"/>
                <a:cs typeface="Arial"/>
              </a:rPr>
              <a:t>Ghép cặp: ghép người bệnh tương tự</a:t>
            </a:r>
          </a:p>
          <a:p>
            <a:pPr marL="0" indent="0" algn="ctr">
              <a:lnSpc>
                <a:spcPct val="104000"/>
              </a:lnSpc>
              <a:spcBef>
                <a:spcPts val="400"/>
              </a:spcBef>
              <a:buNone/>
            </a:pPr>
            <a:r>
              <a:rPr lang="en-US" sz="1750" dirty="0">
                <a:solidFill>
                  <a:srgbClr val="000000"/>
                </a:solidFill>
                <a:latin typeface="Arial"/>
                <a:cs typeface="Arial"/>
              </a:rPr>
              <a:t>Hiệu chỉnh: thống kê khi phân tích</a:t>
            </a:r>
          </a:p>
          <a:p>
            <a:pPr marL="0" indent="0" algn="ctr">
              <a:lnSpc>
                <a:spcPct val="104000"/>
              </a:lnSpc>
              <a:spcBef>
                <a:spcPts val="400"/>
              </a:spcBef>
              <a:buNone/>
            </a:pPr>
            <a:r>
              <a:rPr lang="en-US" sz="1750" b="1" dirty="0">
                <a:solidFill>
                  <a:srgbClr val="B23B2E"/>
                </a:solidFill>
                <a:latin typeface="Arial"/>
                <a:cs typeface="Arial"/>
              </a:rPr>
              <a:t>Chỉ với yếu tố nhiễu đã đo</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Chỉ phân nhóm ngẫu nhiên bảo vệ trước yếu tố nhiễu chưa từng được đo.</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400" b="1" dirty="0">
                <a:solidFill>
                  <a:srgbClr val="0D7377"/>
                </a:solidFill>
                <a:latin typeface="Arial"/>
                <a:cs typeface="Arial"/>
              </a:rPr>
              <a:t>Phân bổ ngẫu nhiên cân bằng cả điều đã biết và điều chưa biết</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pic>
        <p:nvPicPr>
          <p:cNvPr id="25" name="Figure"/>
          <p:cNvPicPr>
            <a:picLocks noChangeAspect="1"/>
          </p:cNvPicPr>
          <p:nvPr/>
        </p:nvPicPr>
        <p:blipFill>
          <a:blip r:embed="rId4"/>
          <a:stretch>
            <a:fillRect/>
          </a:stretch>
        </p:blipFill>
        <p:spPr>
          <a:xfrm>
            <a:off x="1383500" y="1150000"/>
            <a:ext cx="9425000" cy="3770000"/>
          </a:xfrm>
          <a:prstGeom prst="rect">
            <a:avLst/>
          </a:prstGeom>
        </p:spPr>
      </p:pic>
      <p:sp>
        <p:nvSpPr>
          <p:cNvPr id="26" name="Caption"/>
          <p:cNvSpPr txBox="1"/>
          <p:nvPr/>
        </p:nvSpPr>
        <p:spPr>
          <a:xfrm>
            <a:off x="457200" y="4980000"/>
            <a:ext cx="11277600" cy="400000"/>
          </a:xfrm>
          <a:prstGeom prst="rect">
            <a:avLst/>
          </a:prstGeom>
          <a:noFill/>
          <a:ln>
            <a:noFill/>
          </a:ln>
        </p:spPr>
        <p:txBody>
          <a:bodyPr wrap="square" lIns="91440" tIns="45720" rIns="91440" bIns="45720" rtlCol="0" anchor="t"/>
          <a:lstStyle/>
          <a:p>
            <a:pPr marL="0" indent="0" algn="ctr">
              <a:buNone/>
            </a:pPr>
            <a:r>
              <a:rPr lang="en-US" sz="1300" i="1" dirty="0">
                <a:solidFill>
                  <a:srgbClr val="595959"/>
                </a:solidFill>
                <a:latin typeface="Arial"/>
                <a:cs typeface="Arial"/>
              </a:rPr>
              <a:t>R: phân nhóm ngẫu nhiên</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Nhờ may rủi, hai nhóm có thành phần tương tự, kể cả yếu tố chưa ai đo.</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Che giấu phân bổ trước, làm mù sau</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70" name="CardHead"/>
          <p:cNvSpPr/>
          <p:nvPr/>
        </p:nvSpPr>
        <p:spPr>
          <a:xfrm>
            <a:off x="457200" y="1800890"/>
            <a:ext cx="5538800" cy="640000"/>
          </a:xfrm>
          <a:prstGeom prst="rect">
            <a:avLst/>
          </a:prstGeom>
          <a:solidFill>
            <a:srgbClr val="055F56"/>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Trước: che giấu phân bổ</a:t>
            </a:r>
          </a:p>
        </p:txBody>
      </p:sp>
      <p:sp>
        <p:nvSpPr>
          <p:cNvPr id="71" name="CardBody"/>
          <p:cNvSpPr/>
          <p:nvPr/>
        </p:nvSpPr>
        <p:spPr>
          <a:xfrm>
            <a:off x="457200" y="2440890"/>
            <a:ext cx="5538800" cy="1647328"/>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Không ai đoán được lần phân bổ kế tiếp</a:t>
            </a:r>
          </a:p>
          <a:p>
            <a:pPr marL="0" indent="0" algn="ctr">
              <a:lnSpc>
                <a:spcPct val="104000"/>
              </a:lnSpc>
              <a:spcBef>
                <a:spcPts val="400"/>
              </a:spcBef>
              <a:buNone/>
            </a:pPr>
            <a:r>
              <a:rPr lang="en-US" sz="1750" dirty="0">
                <a:solidFill>
                  <a:srgbClr val="000000"/>
                </a:solidFill>
                <a:latin typeface="Arial"/>
                <a:cs typeface="Arial"/>
              </a:rPr>
              <a:t>Bài báo 1 (Boulet): máy tính trung tâm</a:t>
            </a:r>
          </a:p>
          <a:p>
            <a:pPr marL="0" indent="0" algn="ctr">
              <a:lnSpc>
                <a:spcPct val="104000"/>
              </a:lnSpc>
              <a:spcBef>
                <a:spcPts val="400"/>
              </a:spcBef>
              <a:buNone/>
            </a:pPr>
            <a:r>
              <a:rPr lang="en-US" sz="1750" dirty="0">
                <a:solidFill>
                  <a:srgbClr val="000000"/>
                </a:solidFill>
                <a:latin typeface="Arial"/>
                <a:cs typeface="Arial"/>
              </a:rPr>
              <a:t>Bảo vệ việc phân người bệnh vào từng nhóm</a:t>
            </a:r>
          </a:p>
          <a:p>
            <a:pPr marL="0" indent="0" algn="ctr">
              <a:lnSpc>
                <a:spcPct val="104000"/>
              </a:lnSpc>
              <a:spcBef>
                <a:spcPts val="400"/>
              </a:spcBef>
              <a:buNone/>
            </a:pPr>
            <a:r>
              <a:rPr lang="en-US" sz="1750" dirty="0">
                <a:solidFill>
                  <a:srgbClr val="000000"/>
                </a:solidFill>
                <a:latin typeface="Arial"/>
                <a:cs typeface="Arial"/>
              </a:rPr>
              <a:t>Luôn làm được, luôn bắt buộc</a:t>
            </a:r>
          </a:p>
        </p:txBody>
      </p:sp>
      <p:sp>
        <p:nvSpPr>
          <p:cNvPr id="72" name="CardHead"/>
          <p:cNvSpPr/>
          <p:nvPr/>
        </p:nvSpPr>
        <p:spPr>
          <a:xfrm>
            <a:off x="6196000" y="1800890"/>
            <a:ext cx="5538800" cy="640000"/>
          </a:xfrm>
          <a:prstGeom prst="rect">
            <a:avLst/>
          </a:prstGeom>
          <a:solidFill>
            <a:srgbClr val="0070C0"/>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Sau: làm mù trong Bài báo 1 (Boulet 2024)</a:t>
            </a:r>
          </a:p>
        </p:txBody>
      </p:sp>
      <p:sp>
        <p:nvSpPr>
          <p:cNvPr id="73" name="CardBody"/>
          <p:cNvSpPr/>
          <p:nvPr/>
        </p:nvSpPr>
        <p:spPr>
          <a:xfrm>
            <a:off x="6196000" y="2440890"/>
            <a:ext cx="5538800" cy="1647328"/>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2E8B57"/>
                </a:solidFill>
                <a:latin typeface="Arial"/>
                <a:cs typeface="Arial"/>
              </a:rPr>
              <a:t>Người bệnh: được làm mù</a:t>
            </a:r>
          </a:p>
          <a:p>
            <a:pPr marL="0" indent="0" algn="ctr">
              <a:lnSpc>
                <a:spcPct val="104000"/>
              </a:lnSpc>
              <a:spcBef>
                <a:spcPts val="400"/>
              </a:spcBef>
              <a:buNone/>
            </a:pPr>
            <a:r>
              <a:rPr lang="en-US" sz="1750" dirty="0">
                <a:solidFill>
                  <a:srgbClr val="B23B2E"/>
                </a:solidFill>
                <a:latin typeface="Arial"/>
                <a:cs typeface="Arial"/>
              </a:rPr>
              <a:t>Bác sĩ điều trị: biết nhóm</a:t>
            </a:r>
          </a:p>
          <a:p>
            <a:pPr marL="0" indent="0" algn="ctr">
              <a:lnSpc>
                <a:spcPct val="104000"/>
              </a:lnSpc>
              <a:spcBef>
                <a:spcPts val="400"/>
              </a:spcBef>
              <a:buNone/>
            </a:pPr>
            <a:r>
              <a:rPr lang="en-US" sz="1750" dirty="0">
                <a:solidFill>
                  <a:srgbClr val="B23B2E"/>
                </a:solidFill>
                <a:latin typeface="Arial"/>
                <a:cs typeface="Arial"/>
              </a:rPr>
              <a:t>Người đánh giá kết cục: biết nhóm</a:t>
            </a:r>
          </a:p>
          <a:p>
            <a:pPr marL="0" indent="0" algn="ctr">
              <a:lnSpc>
                <a:spcPct val="104000"/>
              </a:lnSpc>
              <a:spcBef>
                <a:spcPts val="400"/>
              </a:spcBef>
              <a:buNone/>
            </a:pPr>
            <a:r>
              <a:rPr lang="en-US" sz="1750" dirty="0">
                <a:solidFill>
                  <a:srgbClr val="2E8B57"/>
                </a:solidFill>
                <a:latin typeface="Arial"/>
                <a:cs typeface="Arial"/>
              </a:rPr>
              <a:t>Nhà thống kê: được làm mù</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Che giấu phân bổ bảo vệ việc phân người bệnh vào nhóm. Làm mù bảo vệ cách đo kết cục.</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Ghép cặp có ích, nhưng chỉ với điều đã được đo</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480000"/>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Bài báo 2 (Hyun 2023). SOFA: thang điểm đánh giá suy đa cơ quan</a:t>
            </a:r>
          </a:p>
        </p:txBody>
      </p:sp>
      <p:sp>
        <p:nvSpPr>
          <p:cNvPr id="70" name="CardHead"/>
          <p:cNvSpPr/>
          <p:nvPr/>
        </p:nvSpPr>
        <p:spPr>
          <a:xfrm>
            <a:off x="457200" y="2035486"/>
            <a:ext cx="3625866" cy="640000"/>
          </a:xfrm>
          <a:prstGeom prst="rect">
            <a:avLst/>
          </a:prstGeom>
          <a:solidFill>
            <a:srgbClr val="0070C0"/>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Ghép cặp 1:1</a:t>
            </a:r>
          </a:p>
        </p:txBody>
      </p:sp>
      <p:sp>
        <p:nvSpPr>
          <p:cNvPr id="71" name="CardBody"/>
          <p:cNvSpPr/>
          <p:nvPr/>
        </p:nvSpPr>
        <p:spPr>
          <a:xfrm>
            <a:off x="457200" y="2675486"/>
            <a:ext cx="3625866" cy="1823542"/>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Mỗi người bệnh cân bằng dương ghép với một người bệnh cân bằng âm tương tự</a:t>
            </a:r>
          </a:p>
          <a:p>
            <a:pPr marL="0" indent="0" algn="ctr">
              <a:lnSpc>
                <a:spcPct val="104000"/>
              </a:lnSpc>
              <a:spcBef>
                <a:spcPts val="400"/>
              </a:spcBef>
              <a:buNone/>
            </a:pPr>
            <a:r>
              <a:rPr lang="en-US" sz="1750" dirty="0">
                <a:solidFill>
                  <a:srgbClr val="000000"/>
                </a:solidFill>
                <a:latin typeface="Arial"/>
                <a:cs typeface="Arial"/>
              </a:rPr>
              <a:t>483, 373 và 392 cặp cho ngày 1, 2 và 3</a:t>
            </a:r>
          </a:p>
        </p:txBody>
      </p:sp>
      <p:sp>
        <p:nvSpPr>
          <p:cNvPr id="72" name="CardHead"/>
          <p:cNvSpPr/>
          <p:nvPr/>
        </p:nvSpPr>
        <p:spPr>
          <a:xfrm>
            <a:off x="4283066" y="2035486"/>
            <a:ext cx="3625866" cy="640000"/>
          </a:xfrm>
          <a:prstGeom prst="rect">
            <a:avLst/>
          </a:prstGeom>
          <a:solidFill>
            <a:srgbClr val="2E8B57"/>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Đã đo: được cân bằng</a:t>
            </a:r>
          </a:p>
        </p:txBody>
      </p:sp>
      <p:sp>
        <p:nvSpPr>
          <p:cNvPr id="73" name="CardBody"/>
          <p:cNvSpPr/>
          <p:nvPr/>
        </p:nvSpPr>
        <p:spPr>
          <a:xfrm>
            <a:off x="4283066" y="2675486"/>
            <a:ext cx="3625866" cy="1823542"/>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Tuổi, giới, điểm SOFA, sốc nhiễm khuẩn</a:t>
            </a:r>
          </a:p>
          <a:p>
            <a:pPr marL="0" indent="0" algn="ctr">
              <a:lnSpc>
                <a:spcPct val="104000"/>
              </a:lnSpc>
              <a:spcBef>
                <a:spcPts val="400"/>
              </a:spcBef>
              <a:buNone/>
            </a:pPr>
            <a:r>
              <a:rPr lang="en-US" sz="1750" dirty="0">
                <a:solidFill>
                  <a:srgbClr val="000000"/>
                </a:solidFill>
                <a:latin typeface="Arial"/>
                <a:cs typeface="Arial"/>
              </a:rPr>
              <a:t>Bệnh kèm, vị trí nhiễm khuẩn</a:t>
            </a:r>
          </a:p>
          <a:p>
            <a:pPr marL="0" indent="0" algn="ctr">
              <a:lnSpc>
                <a:spcPct val="104000"/>
              </a:lnSpc>
              <a:spcBef>
                <a:spcPts val="400"/>
              </a:spcBef>
              <a:buNone/>
            </a:pPr>
            <a:r>
              <a:rPr lang="en-US" sz="1750" dirty="0">
                <a:solidFill>
                  <a:srgbClr val="000000"/>
                </a:solidFill>
                <a:latin typeface="Arial"/>
                <a:cs typeface="Arial"/>
              </a:rPr>
              <a:t>Lượng dịch ra</a:t>
            </a:r>
          </a:p>
        </p:txBody>
      </p:sp>
      <p:sp>
        <p:nvSpPr>
          <p:cNvPr id="74" name="CardHead"/>
          <p:cNvSpPr/>
          <p:nvPr/>
        </p:nvSpPr>
        <p:spPr>
          <a:xfrm>
            <a:off x="8108932" y="2035486"/>
            <a:ext cx="3625866" cy="640000"/>
          </a:xfrm>
          <a:prstGeom prst="rect">
            <a:avLst/>
          </a:prstGeom>
          <a:solidFill>
            <a:srgbClr val="B23B2E"/>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Chưa đo: có thể vẫn khác</a:t>
            </a:r>
          </a:p>
        </p:txBody>
      </p:sp>
      <p:sp>
        <p:nvSpPr>
          <p:cNvPr id="75" name="CardBody"/>
          <p:cNvSpPr/>
          <p:nvPr/>
        </p:nvSpPr>
        <p:spPr>
          <a:xfrm>
            <a:off x="8108932" y="2675486"/>
            <a:ext cx="3625866" cy="1823542"/>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Loại dịch, dinh dưỡng</a:t>
            </a:r>
          </a:p>
          <a:p>
            <a:pPr marL="0" indent="0" algn="ctr">
              <a:lnSpc>
                <a:spcPct val="104000"/>
              </a:lnSpc>
              <a:spcBef>
                <a:spcPts val="400"/>
              </a:spcBef>
              <a:buNone/>
            </a:pPr>
            <a:r>
              <a:rPr lang="en-US" sz="1750" dirty="0">
                <a:solidFill>
                  <a:srgbClr val="000000"/>
                </a:solidFill>
                <a:latin typeface="Arial"/>
                <a:cs typeface="Arial"/>
              </a:rPr>
              <a:t>Nhận định lâm sàng tại giường của bác sĩ</a:t>
            </a:r>
          </a:p>
          <a:p>
            <a:pPr marL="0" indent="0" algn="ctr">
              <a:lnSpc>
                <a:spcPct val="104000"/>
              </a:lnSpc>
              <a:spcBef>
                <a:spcPts val="400"/>
              </a:spcBef>
              <a:buNone/>
            </a:pPr>
            <a:r>
              <a:rPr lang="en-US" sz="1750" b="1" dirty="0">
                <a:solidFill>
                  <a:srgbClr val="000000"/>
                </a:solidFill>
                <a:latin typeface="Arial"/>
                <a:cs typeface="Arial"/>
              </a:rPr>
              <a:t>Đây là nhiễu tồn dư</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Ghép cặp và hiệu chỉnh không cân bằng được điều không ai ghi lại.</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Giá trị nội tại trước, rồi đến giá trị ngoại suy</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70" name="CardHead"/>
          <p:cNvSpPr/>
          <p:nvPr/>
        </p:nvSpPr>
        <p:spPr>
          <a:xfrm>
            <a:off x="457200" y="1506144"/>
            <a:ext cx="5538800"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Giá trị nội tại</a:t>
            </a:r>
          </a:p>
        </p:txBody>
      </p:sp>
      <p:sp>
        <p:nvSpPr>
          <p:cNvPr id="71" name="CardBody"/>
          <p:cNvSpPr/>
          <p:nvPr/>
        </p:nvSpPr>
        <p:spPr>
          <a:xfrm>
            <a:off x="457200" y="2146144"/>
            <a:ext cx="5538800" cy="2531566"/>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b="1" dirty="0">
                <a:solidFill>
                  <a:srgbClr val="000000"/>
                </a:solidFill>
                <a:latin typeface="Arial"/>
                <a:cs typeface="Arial"/>
              </a:rPr>
              <a:t>Kết quả có đúng với những người được nghiên cứu?</a:t>
            </a:r>
          </a:p>
          <a:p>
            <a:pPr marL="0" indent="0" algn="ctr">
              <a:lnSpc>
                <a:spcPct val="104000"/>
              </a:lnSpc>
              <a:spcBef>
                <a:spcPts val="400"/>
              </a:spcBef>
              <a:buNone/>
            </a:pPr>
            <a:r>
              <a:rPr lang="en-US" sz="1750" dirty="0">
                <a:solidFill>
                  <a:srgbClr val="000000"/>
                </a:solidFill>
                <a:latin typeface="Arial"/>
                <a:cs typeface="Arial"/>
              </a:rPr>
              <a:t>Phân bổ ngẫu nhiên</a:t>
            </a:r>
          </a:p>
          <a:p>
            <a:pPr marL="0" indent="0" algn="ctr">
              <a:lnSpc>
                <a:spcPct val="104000"/>
              </a:lnSpc>
              <a:spcBef>
                <a:spcPts val="400"/>
              </a:spcBef>
              <a:buNone/>
            </a:pPr>
            <a:r>
              <a:rPr lang="en-US" sz="1750" dirty="0">
                <a:solidFill>
                  <a:srgbClr val="000000"/>
                </a:solidFill>
                <a:latin typeface="Arial"/>
                <a:cs typeface="Arial"/>
              </a:rPr>
              <a:t>Che giấu phân bổ và làm mù</a:t>
            </a:r>
          </a:p>
          <a:p>
            <a:pPr marL="0" indent="0" algn="ctr">
              <a:lnSpc>
                <a:spcPct val="104000"/>
              </a:lnSpc>
              <a:spcBef>
                <a:spcPts val="400"/>
              </a:spcBef>
              <a:buNone/>
            </a:pPr>
            <a:r>
              <a:rPr lang="en-US" sz="1750" dirty="0">
                <a:solidFill>
                  <a:srgbClr val="000000"/>
                </a:solidFill>
                <a:latin typeface="Arial"/>
                <a:cs typeface="Arial"/>
              </a:rPr>
              <a:t>Theo dõi đầy đủ</a:t>
            </a:r>
          </a:p>
          <a:p>
            <a:pPr marL="0" indent="0" algn="ctr">
              <a:lnSpc>
                <a:spcPct val="104000"/>
              </a:lnSpc>
              <a:spcBef>
                <a:spcPts val="400"/>
              </a:spcBef>
              <a:buNone/>
            </a:pPr>
            <a:r>
              <a:rPr lang="en-US" sz="1750" dirty="0">
                <a:solidFill>
                  <a:srgbClr val="000000"/>
                </a:solidFill>
                <a:latin typeface="Arial"/>
                <a:cs typeface="Arial"/>
              </a:rPr>
              <a:t>Đo lường tốt</a:t>
            </a:r>
          </a:p>
        </p:txBody>
      </p:sp>
      <p:sp>
        <p:nvSpPr>
          <p:cNvPr id="72" name="CardHead"/>
          <p:cNvSpPr/>
          <p:nvPr/>
        </p:nvSpPr>
        <p:spPr>
          <a:xfrm>
            <a:off x="6196000" y="1506144"/>
            <a:ext cx="5538800" cy="640000"/>
          </a:xfrm>
          <a:prstGeom prst="rect">
            <a:avLst/>
          </a:prstGeom>
          <a:solidFill>
            <a:srgbClr val="0070C0"/>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Giá trị ngoại suy</a:t>
            </a:r>
          </a:p>
        </p:txBody>
      </p:sp>
      <p:sp>
        <p:nvSpPr>
          <p:cNvPr id="73" name="CardBody"/>
          <p:cNvSpPr/>
          <p:nvPr/>
        </p:nvSpPr>
        <p:spPr>
          <a:xfrm>
            <a:off x="6196000" y="2146144"/>
            <a:ext cx="5538800" cy="2531566"/>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b="1" dirty="0">
                <a:solidFill>
                  <a:srgbClr val="000000"/>
                </a:solidFill>
                <a:latin typeface="Arial"/>
                <a:cs typeface="Arial"/>
              </a:rPr>
              <a:t>Có áp dụng cho người bệnh của tôi?</a:t>
            </a:r>
          </a:p>
          <a:p>
            <a:pPr marL="0" indent="0" algn="ctr">
              <a:lnSpc>
                <a:spcPct val="104000"/>
              </a:lnSpc>
              <a:spcBef>
                <a:spcPts val="400"/>
              </a:spcBef>
              <a:buNone/>
            </a:pPr>
            <a:r>
              <a:rPr lang="en-US" sz="1750" dirty="0">
                <a:solidFill>
                  <a:srgbClr val="000000"/>
                </a:solidFill>
                <a:latin typeface="Arial"/>
                <a:cs typeface="Arial"/>
              </a:rPr>
              <a:t>Boulet: 18-85 tuổi. ICU của tôi: nhiều người trên 85?</a:t>
            </a:r>
          </a:p>
          <a:p>
            <a:pPr marL="0" indent="0" algn="ctr">
              <a:lnSpc>
                <a:spcPct val="104000"/>
              </a:lnSpc>
              <a:spcBef>
                <a:spcPts val="400"/>
              </a:spcBef>
              <a:buNone/>
            </a:pPr>
            <a:r>
              <a:rPr lang="en-US" sz="1750" dirty="0">
                <a:solidFill>
                  <a:srgbClr val="000000"/>
                </a:solidFill>
                <a:latin typeface="Arial"/>
                <a:cs typeface="Arial"/>
              </a:rPr>
              <a:t>Boulet: không lọc máu. ICU của tôi: có người đang lọc máu?</a:t>
            </a:r>
          </a:p>
          <a:p>
            <a:pPr marL="0" indent="0" algn="ctr">
              <a:lnSpc>
                <a:spcPct val="104000"/>
              </a:lnSpc>
              <a:spcBef>
                <a:spcPts val="400"/>
              </a:spcBef>
              <a:buNone/>
            </a:pPr>
            <a:r>
              <a:rPr lang="en-US" sz="1750" dirty="0">
                <a:solidFill>
                  <a:srgbClr val="000000"/>
                </a:solidFill>
                <a:latin typeface="Arial"/>
                <a:cs typeface="Arial"/>
              </a:rPr>
              <a:t>Boulet: 3 ICU tại một quốc gia</a:t>
            </a:r>
          </a:p>
          <a:p>
            <a:pPr marL="0" indent="0" algn="ctr">
              <a:lnSpc>
                <a:spcPct val="104000"/>
              </a:lnSpc>
              <a:spcBef>
                <a:spcPts val="400"/>
              </a:spcBef>
              <a:buNone/>
            </a:pPr>
            <a:r>
              <a:rPr lang="en-US" sz="1750" dirty="0">
                <a:solidFill>
                  <a:srgbClr val="000000"/>
                </a:solidFill>
                <a:latin typeface="Arial"/>
                <a:cs typeface="Arial"/>
              </a:rPr>
              <a:t>Boulet: chỉ 4% số được sàng lọc được đưa vào</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Trước hết: đúng với người được nghiên cứu? Sau đó: có áp dụng cho người bệnh của tôi?</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Quan hệ nhân quả ngược: cái nào có trước?</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70" name="CardHead"/>
          <p:cNvSpPr/>
          <p:nvPr/>
        </p:nvSpPr>
        <p:spPr>
          <a:xfrm>
            <a:off x="457200" y="1615682"/>
            <a:ext cx="3625866" cy="640000"/>
          </a:xfrm>
          <a:prstGeom prst="rect">
            <a:avLst/>
          </a:prstGeom>
          <a:solidFill>
            <a:srgbClr val="0070C0"/>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Giả định thường gặp</a:t>
            </a:r>
          </a:p>
        </p:txBody>
      </p:sp>
      <p:sp>
        <p:nvSpPr>
          <p:cNvPr id="71" name="CardBody"/>
          <p:cNvSpPr/>
          <p:nvPr/>
        </p:nvSpPr>
        <p:spPr>
          <a:xfrm>
            <a:off x="457200" y="2255682"/>
            <a:ext cx="3625866" cy="2202954"/>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Cân bằng dịch dương làm hại thận</a:t>
            </a:r>
          </a:p>
          <a:p>
            <a:pPr marL="0" indent="0" algn="ctr">
              <a:lnSpc>
                <a:spcPct val="104000"/>
              </a:lnSpc>
              <a:spcBef>
                <a:spcPts val="400"/>
              </a:spcBef>
              <a:buNone/>
            </a:pPr>
            <a:r>
              <a:rPr lang="en-US" sz="1750" dirty="0">
                <a:solidFill>
                  <a:srgbClr val="000000"/>
                </a:solidFill>
                <a:latin typeface="Arial"/>
                <a:cs typeface="Arial"/>
              </a:rPr>
              <a:t>Tổn thương thận rồi dẫn đến tử vong</a:t>
            </a:r>
          </a:p>
        </p:txBody>
      </p:sp>
      <p:sp>
        <p:nvSpPr>
          <p:cNvPr id="72" name="CardHead"/>
          <p:cNvSpPr/>
          <p:nvPr/>
        </p:nvSpPr>
        <p:spPr>
          <a:xfrm>
            <a:off x="4283066" y="1615682"/>
            <a:ext cx="3625866" cy="640000"/>
          </a:xfrm>
          <a:prstGeom prst="rect">
            <a:avLst/>
          </a:prstGeom>
          <a:solidFill>
            <a:srgbClr val="B5651D"/>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Điều có thể thực sự xảy ra</a:t>
            </a:r>
          </a:p>
        </p:txBody>
      </p:sp>
      <p:sp>
        <p:nvSpPr>
          <p:cNvPr id="73" name="CardBody"/>
          <p:cNvSpPr/>
          <p:nvPr/>
        </p:nvSpPr>
        <p:spPr>
          <a:xfrm>
            <a:off x="4283066" y="2255682"/>
            <a:ext cx="3625866" cy="2202954"/>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Thận suy tạo ít nước tiểu</a:t>
            </a:r>
          </a:p>
          <a:p>
            <a:pPr marL="0" indent="0" algn="ctr">
              <a:lnSpc>
                <a:spcPct val="104000"/>
              </a:lnSpc>
              <a:spcBef>
                <a:spcPts val="400"/>
              </a:spcBef>
              <a:buNone/>
            </a:pPr>
            <a:r>
              <a:rPr lang="en-US" sz="1750" dirty="0">
                <a:solidFill>
                  <a:srgbClr val="000000"/>
                </a:solidFill>
                <a:latin typeface="Arial"/>
                <a:cs typeface="Arial"/>
              </a:rPr>
              <a:t>Ít dịch ra làm cân bằng dịch dương</a:t>
            </a:r>
          </a:p>
          <a:p>
            <a:pPr marL="0" indent="0" algn="ctr">
              <a:lnSpc>
                <a:spcPct val="104000"/>
              </a:lnSpc>
              <a:spcBef>
                <a:spcPts val="400"/>
              </a:spcBef>
              <a:buNone/>
            </a:pPr>
            <a:r>
              <a:rPr lang="en-US" sz="1750" b="1" dirty="0">
                <a:solidFill>
                  <a:srgbClr val="000000"/>
                </a:solidFill>
                <a:latin typeface="Arial"/>
                <a:cs typeface="Arial"/>
              </a:rPr>
              <a:t>Mũi tên chạy theo chiều ngược lại</a:t>
            </a:r>
          </a:p>
        </p:txBody>
      </p:sp>
      <p:sp>
        <p:nvSpPr>
          <p:cNvPr id="74" name="CardHead"/>
          <p:cNvSpPr/>
          <p:nvPr/>
        </p:nvSpPr>
        <p:spPr>
          <a:xfrm>
            <a:off x="8108932" y="1615682"/>
            <a:ext cx="3625866" cy="640000"/>
          </a:xfrm>
          <a:prstGeom prst="rect">
            <a:avLst/>
          </a:prstGeom>
          <a:solidFill>
            <a:srgbClr val="055F56"/>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Cách kiểm tra</a:t>
            </a:r>
          </a:p>
        </p:txBody>
      </p:sp>
      <p:sp>
        <p:nvSpPr>
          <p:cNvPr id="75" name="CardBody"/>
          <p:cNvSpPr/>
          <p:nvPr/>
        </p:nvSpPr>
        <p:spPr>
          <a:xfrm>
            <a:off x="8108932" y="2255682"/>
            <a:ext cx="3625866" cy="2202954"/>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Cái nào có trước?</a:t>
            </a:r>
          </a:p>
          <a:p>
            <a:pPr marL="0" indent="0" algn="ctr">
              <a:lnSpc>
                <a:spcPct val="104000"/>
              </a:lnSpc>
              <a:spcBef>
                <a:spcPts val="400"/>
              </a:spcBef>
              <a:buNone/>
            </a:pPr>
            <a:r>
              <a:rPr lang="en-US" sz="1750" dirty="0">
                <a:solidFill>
                  <a:srgbClr val="000000"/>
                </a:solidFill>
                <a:latin typeface="Arial"/>
                <a:cs typeface="Arial"/>
              </a:rPr>
              <a:t>Đo phơi nhiễm trước khi kết cục bắt đầu</a:t>
            </a:r>
          </a:p>
          <a:p>
            <a:pPr marL="0" indent="0" algn="ctr">
              <a:lnSpc>
                <a:spcPct val="104000"/>
              </a:lnSpc>
              <a:spcBef>
                <a:spcPts val="400"/>
              </a:spcBef>
              <a:buNone/>
            </a:pPr>
            <a:r>
              <a:rPr lang="en-US" sz="1750" dirty="0">
                <a:solidFill>
                  <a:srgbClr val="000000"/>
                </a:solidFill>
                <a:latin typeface="Arial"/>
                <a:cs typeface="Arial"/>
              </a:rPr>
              <a:t>Dùng độ trễ thời gian</a:t>
            </a:r>
          </a:p>
          <a:p>
            <a:pPr marL="0" indent="0" algn="ctr">
              <a:lnSpc>
                <a:spcPct val="104000"/>
              </a:lnSpc>
              <a:spcBef>
                <a:spcPts val="400"/>
              </a:spcBef>
              <a:buNone/>
            </a:pPr>
            <a:r>
              <a:rPr lang="en-US" sz="1750" dirty="0">
                <a:solidFill>
                  <a:srgbClr val="000000"/>
                </a:solidFill>
                <a:latin typeface="Arial"/>
                <a:cs typeface="Arial"/>
              </a:rPr>
              <a:t>Ưu tiên thuần tập hoặc RCT hơn nghiên cứu cắt ngang</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Trước khi nói X gây ra Y, hãy chắc rằng Y không gây ra X.</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400" b="1" dirty="0">
                <a:solidFill>
                  <a:srgbClr val="0D7377"/>
                </a:solidFill>
                <a:latin typeface="Arial"/>
                <a:cs typeface="Arial"/>
              </a:rPr>
              <a:t>Từ liên quan đến nhân quả: các quan điểm của Bradford Hill</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graphicFrame>
        <p:nvGraphicFramePr>
          <p:cNvPr id="30" name="Table"/>
          <p:cNvGraphicFramePr/>
          <p:nvPr/>
        </p:nvGraphicFramePr>
        <p:xfrm>
          <a:off x="457200" y="1326088"/>
          <a:ext cx="11277600" cy="3915360"/>
        </p:xfrm>
        <a:graphic>
          <a:graphicData uri="http://schemas.openxmlformats.org/drawingml/2006/table">
            <a:tbl>
              <a:tblPr firstRow="1" bandRow="1">
                <a:tableStyleId>{5C22544A-7EE6-4342-B048-85BDC9FD1C3A}</a:tableStyleId>
              </a:tblPr>
              <a:tblGrid>
                <a:gridCol w="3759200"/>
                <a:gridCol w="3759200"/>
                <a:gridCol w="3759200"/>
              </a:tblGrid>
              <a:tr h="380000">
                <a:tc>
                  <a:txBody>
                    <a:bodyPr/>
                    <a:lstStyle/>
                    <a:p>
                      <a:pPr algn="l"/>
                      <a:r>
                        <a:rPr lang="en-US" sz="1300" b="1" dirty="0">
                          <a:solidFill>
                            <a:srgbClr val="FFFFFF"/>
                          </a:solidFill>
                          <a:latin typeface="Arial"/>
                          <a:cs typeface="Arial"/>
                        </a:rPr>
                        <a:t>Quan điểm</a:t>
                      </a:r>
                    </a:p>
                  </a:txBody>
                  <a:tcPr marL="73152" marR="73152" marT="45720" marB="45720" anchor="ctr">
                    <a:solidFill>
                      <a:srgbClr val="0D7377"/>
                    </a:solidFill>
                  </a:tcPr>
                </a:tc>
                <a:tc>
                  <a:txBody>
                    <a:bodyPr/>
                    <a:lstStyle/>
                    <a:p>
                      <a:pPr algn="l"/>
                      <a:r>
                        <a:rPr lang="en-US" sz="1300" b="1" dirty="0">
                          <a:solidFill>
                            <a:srgbClr val="FFFFFF"/>
                          </a:solidFill>
                          <a:latin typeface="Arial"/>
                          <a:cs typeface="Arial"/>
                        </a:rPr>
                        <a:t>Câu hỏi đặt ra</a:t>
                      </a:r>
                    </a:p>
                  </a:txBody>
                  <a:tcPr marL="73152" marR="73152" marT="45720" marB="45720" anchor="ctr">
                    <a:solidFill>
                      <a:srgbClr val="0D7377"/>
                    </a:solidFill>
                  </a:tcPr>
                </a:tc>
                <a:tc>
                  <a:txBody>
                    <a:bodyPr/>
                    <a:lstStyle/>
                    <a:p>
                      <a:pPr algn="l"/>
                      <a:r>
                        <a:rPr lang="en-US" sz="1300" b="1" dirty="0">
                          <a:solidFill>
                            <a:srgbClr val="FFFFFF"/>
                          </a:solidFill>
                          <a:latin typeface="Arial"/>
                          <a:cs typeface="Arial"/>
                        </a:rPr>
                        <a:t>Áp dụng cho Bài báo 2 (Hyun 2023)</a:t>
                      </a:r>
                    </a:p>
                  </a:txBody>
                  <a:tcPr marL="73152" marR="73152" marT="45720" marB="45720" anchor="ctr">
                    <a:solidFill>
                      <a:srgbClr val="0D7377"/>
                    </a:solidFill>
                  </a:tcPr>
                </a:tc>
              </a:tr>
              <a:tr h="360000">
                <a:tc>
                  <a:txBody>
                    <a:bodyPr/>
                    <a:lstStyle/>
                    <a:p>
                      <a:pPr algn="l"/>
                      <a:r>
                        <a:rPr lang="en-US" sz="1300" dirty="0">
                          <a:solidFill>
                            <a:srgbClr val="000000"/>
                          </a:solidFill>
                          <a:latin typeface="Arial"/>
                          <a:cs typeface="Arial"/>
                        </a:rPr>
                        <a:t>Độ mạnh</a:t>
                      </a:r>
                    </a:p>
                  </a:txBody>
                  <a:tcPr marL="73152" marR="73152" marT="45720" marB="45720" anchor="ctr">
                    <a:solidFill>
                      <a:srgbClr val="FFFFFF"/>
                    </a:solidFill>
                  </a:tcPr>
                </a:tc>
                <a:tc>
                  <a:txBody>
                    <a:bodyPr/>
                    <a:lstStyle/>
                    <a:p>
                      <a:pPr algn="l"/>
                      <a:r>
                        <a:rPr lang="en-US" sz="1300" dirty="0">
                          <a:solidFill>
                            <a:srgbClr val="000000"/>
                          </a:solidFill>
                          <a:latin typeface="Arial"/>
                          <a:cs typeface="Arial"/>
                        </a:rPr>
                        <a:t>Tác động có lớn không?</a:t>
                      </a:r>
                    </a:p>
                  </a:txBody>
                  <a:tcPr marL="73152" marR="73152" marT="45720" marB="45720" anchor="ctr">
                    <a:solidFill>
                      <a:srgbClr val="FFFFFF"/>
                    </a:solidFill>
                  </a:tcPr>
                </a:tc>
                <a:tc>
                  <a:txBody>
                    <a:bodyPr/>
                    <a:lstStyle/>
                    <a:p>
                      <a:pPr algn="l"/>
                      <a:r>
                        <a:rPr lang="en-US" sz="1300" dirty="0">
                          <a:solidFill>
                            <a:srgbClr val="000000"/>
                          </a:solidFill>
                          <a:latin typeface="Arial"/>
                          <a:cs typeface="Arial"/>
                        </a:rPr>
                        <a:t>Vừa phải (HR khoảng 1.6 đến 2.1)</a:t>
                      </a:r>
                    </a:p>
                  </a:txBody>
                  <a:tcPr marL="73152" marR="73152" marT="45720" marB="45720" anchor="ctr">
                    <a:solidFill>
                      <a:srgbClr val="FFFFFF"/>
                    </a:solidFill>
                  </a:tcPr>
                </a:tc>
              </a:tr>
              <a:tr h="360000">
                <a:tc>
                  <a:txBody>
                    <a:bodyPr/>
                    <a:lstStyle/>
                    <a:p>
                      <a:pPr algn="l"/>
                      <a:r>
                        <a:rPr lang="en-US" sz="1300" dirty="0">
                          <a:solidFill>
                            <a:srgbClr val="000000"/>
                          </a:solidFill>
                          <a:latin typeface="Arial"/>
                          <a:cs typeface="Arial"/>
                        </a:rPr>
                        <a:t>Tính nhất quán</a:t>
                      </a:r>
                    </a:p>
                  </a:txBody>
                  <a:tcPr marL="73152" marR="73152" marT="45720" marB="45720" anchor="ctr">
                    <a:solidFill>
                      <a:srgbClr val="F5F9FA"/>
                    </a:solidFill>
                  </a:tcPr>
                </a:tc>
                <a:tc>
                  <a:txBody>
                    <a:bodyPr/>
                    <a:lstStyle/>
                    <a:p>
                      <a:pPr algn="l"/>
                      <a:r>
                        <a:rPr lang="en-US" sz="1300" dirty="0">
                          <a:solidFill>
                            <a:srgbClr val="000000"/>
                          </a:solidFill>
                          <a:latin typeface="Arial"/>
                          <a:cs typeface="Arial"/>
                        </a:rPr>
                        <a:t>Có lặp lại ở nghiên cứu và nơi khác?</a:t>
                      </a:r>
                    </a:p>
                  </a:txBody>
                  <a:tcPr marL="73152" marR="73152" marT="45720" marB="45720" anchor="ctr">
                    <a:solidFill>
                      <a:srgbClr val="F5F9FA"/>
                    </a:solidFill>
                  </a:tcPr>
                </a:tc>
                <a:tc>
                  <a:txBody>
                    <a:bodyPr/>
                    <a:lstStyle/>
                    <a:p>
                      <a:pPr algn="l"/>
                      <a:r>
                        <a:rPr lang="en-US" sz="1300" dirty="0">
                          <a:solidFill>
                            <a:srgbClr val="000000"/>
                          </a:solidFill>
                          <a:latin typeface="Arial"/>
                          <a:cs typeface="Arial"/>
                        </a:rPr>
                        <a:t>Có, ở các thuần tập khác</a:t>
                      </a:r>
                    </a:p>
                  </a:txBody>
                  <a:tcPr marL="73152" marR="73152" marT="45720" marB="45720" anchor="ctr">
                    <a:solidFill>
                      <a:srgbClr val="F5F9FA"/>
                    </a:solidFill>
                  </a:tcPr>
                </a:tc>
              </a:tr>
              <a:tr h="360000">
                <a:tc>
                  <a:txBody>
                    <a:bodyPr/>
                    <a:lstStyle/>
                    <a:p>
                      <a:pPr algn="l"/>
                      <a:r>
                        <a:rPr lang="en-US" sz="1300" dirty="0">
                          <a:solidFill>
                            <a:srgbClr val="000000"/>
                          </a:solidFill>
                          <a:latin typeface="Arial"/>
                          <a:cs typeface="Arial"/>
                        </a:rPr>
                        <a:t>Tính đặc hiệu</a:t>
                      </a:r>
                    </a:p>
                  </a:txBody>
                  <a:tcPr marL="73152" marR="73152" marT="45720" marB="45720" anchor="ctr">
                    <a:solidFill>
                      <a:srgbClr val="FFFFFF"/>
                    </a:solidFill>
                  </a:tcPr>
                </a:tc>
                <a:tc>
                  <a:txBody>
                    <a:bodyPr/>
                    <a:lstStyle/>
                    <a:p>
                      <a:pPr algn="l"/>
                      <a:r>
                        <a:rPr lang="en-US" sz="1300" dirty="0">
                          <a:solidFill>
                            <a:srgbClr val="000000"/>
                          </a:solidFill>
                          <a:latin typeface="Arial"/>
                          <a:cs typeface="Arial"/>
                        </a:rPr>
                        <a:t>Một nguyên nhân, một hậu quả? (yếu nhất)</a:t>
                      </a:r>
                    </a:p>
                  </a:txBody>
                  <a:tcPr marL="73152" marR="73152" marT="45720" marB="45720" anchor="ctr">
                    <a:solidFill>
                      <a:srgbClr val="FFFFFF"/>
                    </a:solidFill>
                  </a:tcPr>
                </a:tc>
                <a:tc>
                  <a:txBody>
                    <a:bodyPr/>
                    <a:lstStyle/>
                    <a:p>
                      <a:pPr algn="l"/>
                      <a:r>
                        <a:rPr lang="en-US" sz="1300" dirty="0">
                          <a:solidFill>
                            <a:srgbClr val="000000"/>
                          </a:solidFill>
                          <a:latin typeface="Arial"/>
                          <a:cs typeface="Arial"/>
                        </a:rPr>
                        <a:t>Không hữu ích ở đây</a:t>
                      </a:r>
                    </a:p>
                  </a:txBody>
                  <a:tcPr marL="73152" marR="73152" marT="45720" marB="45720" anchor="ctr">
                    <a:solidFill>
                      <a:srgbClr val="FFFFFF"/>
                    </a:solidFill>
                  </a:tcPr>
                </a:tc>
              </a:tr>
              <a:tr h="507680">
                <a:tc>
                  <a:txBody>
                    <a:bodyPr/>
                    <a:lstStyle/>
                    <a:p>
                      <a:pPr algn="l"/>
                      <a:r>
                        <a:rPr lang="en-US" sz="1300" dirty="0">
                          <a:solidFill>
                            <a:srgbClr val="000000"/>
                          </a:solidFill>
                          <a:latin typeface="Arial"/>
                          <a:cs typeface="Arial"/>
                        </a:rPr>
                        <a:t>Trình tự thời gian</a:t>
                      </a:r>
                    </a:p>
                  </a:txBody>
                  <a:tcPr marL="73152" marR="73152" marT="45720" marB="45720" anchor="ctr">
                    <a:solidFill>
                      <a:srgbClr val="F5F9FA"/>
                    </a:solidFill>
                  </a:tcPr>
                </a:tc>
                <a:tc>
                  <a:txBody>
                    <a:bodyPr/>
                    <a:lstStyle/>
                    <a:p>
                      <a:pPr algn="l"/>
                      <a:r>
                        <a:rPr lang="en-US" sz="1300" dirty="0">
                          <a:solidFill>
                            <a:srgbClr val="000000"/>
                          </a:solidFill>
                          <a:latin typeface="Arial"/>
                          <a:cs typeface="Arial"/>
                        </a:rPr>
                        <a:t>Nguyên nhân có xảy ra trước? (điều bắt buộc)</a:t>
                      </a:r>
                    </a:p>
                  </a:txBody>
                  <a:tcPr marL="73152" marR="73152" marT="45720" marB="45720" anchor="ctr">
                    <a:solidFill>
                      <a:srgbClr val="F5F9FA"/>
                    </a:solidFill>
                  </a:tcPr>
                </a:tc>
                <a:tc>
                  <a:txBody>
                    <a:bodyPr/>
                    <a:lstStyle/>
                    <a:p>
                      <a:pPr algn="l"/>
                      <a:r>
                        <a:rPr lang="en-US" sz="1300" dirty="0">
                          <a:solidFill>
                            <a:srgbClr val="000000"/>
                          </a:solidFill>
                          <a:latin typeface="Arial"/>
                          <a:cs typeface="Arial"/>
                        </a:rPr>
                        <a:t>Cân bằng dịch đo trước tử vong, nhưng có thể có nhân quả ngược</a:t>
                      </a:r>
                    </a:p>
                  </a:txBody>
                  <a:tcPr marL="73152" marR="73152" marT="45720" marB="45720" anchor="ctr">
                    <a:solidFill>
                      <a:srgbClr val="F5F9FA"/>
                    </a:solidFill>
                  </a:tcPr>
                </a:tc>
              </a:tr>
              <a:tr h="360000">
                <a:tc>
                  <a:txBody>
                    <a:bodyPr/>
                    <a:lstStyle/>
                    <a:p>
                      <a:pPr algn="l"/>
                      <a:r>
                        <a:rPr lang="en-US" sz="1300" dirty="0">
                          <a:solidFill>
                            <a:srgbClr val="000000"/>
                          </a:solidFill>
                          <a:latin typeface="Arial"/>
                          <a:cs typeface="Arial"/>
                        </a:rPr>
                        <a:t>Liều - đáp ứng</a:t>
                      </a:r>
                    </a:p>
                  </a:txBody>
                  <a:tcPr marL="73152" marR="73152" marT="45720" marB="45720" anchor="ctr">
                    <a:solidFill>
                      <a:srgbClr val="FFFFFF"/>
                    </a:solidFill>
                  </a:tcPr>
                </a:tc>
                <a:tc>
                  <a:txBody>
                    <a:bodyPr/>
                    <a:lstStyle/>
                    <a:p>
                      <a:pPr algn="l"/>
                      <a:r>
                        <a:rPr lang="en-US" sz="1300" dirty="0">
                          <a:solidFill>
                            <a:srgbClr val="000000"/>
                          </a:solidFill>
                          <a:latin typeface="Arial"/>
                          <a:cs typeface="Arial"/>
                        </a:rPr>
                        <a:t>Phơi nhiễm nhiều hơn, tác động lớn hơn?</a:t>
                      </a:r>
                    </a:p>
                  </a:txBody>
                  <a:tcPr marL="73152" marR="73152" marT="45720" marB="45720" anchor="ctr">
                    <a:solidFill>
                      <a:srgbClr val="FFFFFF"/>
                    </a:solidFill>
                  </a:tcPr>
                </a:tc>
                <a:tc>
                  <a:txBody>
                    <a:bodyPr/>
                    <a:lstStyle/>
                    <a:p>
                      <a:pPr algn="l"/>
                      <a:r>
                        <a:rPr lang="en-US" sz="1300" dirty="0">
                          <a:solidFill>
                            <a:srgbClr val="000000"/>
                          </a:solidFill>
                          <a:latin typeface="Arial"/>
                          <a:cs typeface="Arial"/>
                        </a:rPr>
                        <a:t>Chưa cho thấy</a:t>
                      </a:r>
                    </a:p>
                  </a:txBody>
                  <a:tcPr marL="73152" marR="73152" marT="45720" marB="45720" anchor="ctr">
                    <a:solidFill>
                      <a:srgbClr val="FFFFFF"/>
                    </a:solidFill>
                  </a:tcPr>
                </a:tc>
              </a:tr>
              <a:tr h="360000">
                <a:tc>
                  <a:txBody>
                    <a:bodyPr/>
                    <a:lstStyle/>
                    <a:p>
                      <a:pPr algn="l"/>
                      <a:r>
                        <a:rPr lang="en-US" sz="1300" dirty="0">
                          <a:solidFill>
                            <a:srgbClr val="000000"/>
                          </a:solidFill>
                          <a:latin typeface="Arial"/>
                          <a:cs typeface="Arial"/>
                        </a:rPr>
                        <a:t>Tính hợp lý</a:t>
                      </a:r>
                    </a:p>
                  </a:txBody>
                  <a:tcPr marL="73152" marR="73152" marT="45720" marB="45720" anchor="ctr">
                    <a:solidFill>
                      <a:srgbClr val="F5F9FA"/>
                    </a:solidFill>
                  </a:tcPr>
                </a:tc>
                <a:tc>
                  <a:txBody>
                    <a:bodyPr/>
                    <a:lstStyle/>
                    <a:p>
                      <a:pPr algn="l"/>
                      <a:r>
                        <a:rPr lang="en-US" sz="1300" dirty="0">
                          <a:solidFill>
                            <a:srgbClr val="000000"/>
                          </a:solidFill>
                          <a:latin typeface="Arial"/>
                          <a:cs typeface="Arial"/>
                        </a:rPr>
                        <a:t>Có cơ chế sinh học không?</a:t>
                      </a:r>
                    </a:p>
                  </a:txBody>
                  <a:tcPr marL="73152" marR="73152" marT="45720" marB="45720" anchor="ctr">
                    <a:solidFill>
                      <a:srgbClr val="F5F9FA"/>
                    </a:solidFill>
                  </a:tcPr>
                </a:tc>
                <a:tc>
                  <a:txBody>
                    <a:bodyPr/>
                    <a:lstStyle/>
                    <a:p>
                      <a:pPr algn="l"/>
                      <a:r>
                        <a:rPr lang="en-US" sz="1300" dirty="0">
                          <a:solidFill>
                            <a:srgbClr val="000000"/>
                          </a:solidFill>
                          <a:latin typeface="Arial"/>
                          <a:cs typeface="Arial"/>
                        </a:rPr>
                        <a:t>Có: quá tải dịch, phù, sung huyết cơ quan</a:t>
                      </a:r>
                    </a:p>
                  </a:txBody>
                  <a:tcPr marL="73152" marR="73152" marT="45720" marB="45720" anchor="ctr">
                    <a:solidFill>
                      <a:srgbClr val="F5F9FA"/>
                    </a:solidFill>
                  </a:tcPr>
                </a:tc>
              </a:tr>
              <a:tr h="360000">
                <a:tc>
                  <a:txBody>
                    <a:bodyPr/>
                    <a:lstStyle/>
                    <a:p>
                      <a:pPr algn="l"/>
                      <a:r>
                        <a:rPr lang="en-US" sz="1300" dirty="0">
                          <a:solidFill>
                            <a:srgbClr val="000000"/>
                          </a:solidFill>
                          <a:latin typeface="Arial"/>
                          <a:cs typeface="Arial"/>
                        </a:rPr>
                        <a:t>Tính mạch lạc</a:t>
                      </a:r>
                    </a:p>
                  </a:txBody>
                  <a:tcPr marL="73152" marR="73152" marT="45720" marB="45720" anchor="ctr">
                    <a:solidFill>
                      <a:srgbClr val="FFFFFF"/>
                    </a:solidFill>
                  </a:tcPr>
                </a:tc>
                <a:tc>
                  <a:txBody>
                    <a:bodyPr/>
                    <a:lstStyle/>
                    <a:p>
                      <a:pPr algn="l"/>
                      <a:r>
                        <a:rPr lang="en-US" sz="1300" dirty="0">
                          <a:solidFill>
                            <a:srgbClr val="000000"/>
                          </a:solidFill>
                          <a:latin typeface="Arial"/>
                          <a:cs typeface="Arial"/>
                        </a:rPr>
                        <a:t>Có phù hợp với điều đã biết?</a:t>
                      </a:r>
                    </a:p>
                  </a:txBody>
                  <a:tcPr marL="73152" marR="73152" marT="45720" marB="45720" anchor="ctr">
                    <a:solidFill>
                      <a:srgbClr val="FFFFFF"/>
                    </a:solidFill>
                  </a:tcPr>
                </a:tc>
                <a:tc>
                  <a:txBody>
                    <a:bodyPr/>
                    <a:lstStyle/>
                    <a:p>
                      <a:pPr algn="l"/>
                      <a:r>
                        <a:rPr lang="en-US" sz="1300" dirty="0">
                          <a:solidFill>
                            <a:srgbClr val="000000"/>
                          </a:solidFill>
                          <a:latin typeface="Arial"/>
                          <a:cs typeface="Arial"/>
                        </a:rPr>
                        <a:t>Phần lớn có</a:t>
                      </a:r>
                    </a:p>
                  </a:txBody>
                  <a:tcPr marL="73152" marR="73152" marT="45720" marB="45720" anchor="ctr">
                    <a:solidFill>
                      <a:srgbClr val="FFFFFF"/>
                    </a:solidFill>
                  </a:tcPr>
                </a:tc>
              </a:tr>
              <a:tr h="507680">
                <a:tc>
                  <a:txBody>
                    <a:bodyPr/>
                    <a:lstStyle/>
                    <a:p>
                      <a:pPr algn="l"/>
                      <a:r>
                        <a:rPr lang="en-US" sz="1300" dirty="0">
                          <a:solidFill>
                            <a:srgbClr val="000000"/>
                          </a:solidFill>
                          <a:latin typeface="Arial"/>
                          <a:cs typeface="Arial"/>
                        </a:rPr>
                        <a:t>Thực nghiệm</a:t>
                      </a:r>
                    </a:p>
                  </a:txBody>
                  <a:tcPr marL="73152" marR="73152" marT="45720" marB="45720" anchor="ctr">
                    <a:solidFill>
                      <a:srgbClr val="F5F9FA"/>
                    </a:solidFill>
                  </a:tcPr>
                </a:tc>
                <a:tc>
                  <a:txBody>
                    <a:bodyPr/>
                    <a:lstStyle/>
                    <a:p>
                      <a:pPr algn="l"/>
                      <a:r>
                        <a:rPr lang="en-US" sz="1300" dirty="0">
                          <a:solidFill>
                            <a:srgbClr val="000000"/>
                          </a:solidFill>
                          <a:latin typeface="Arial"/>
                          <a:cs typeface="Arial"/>
                        </a:rPr>
                        <a:t>Loại bỏ phơi nhiễm có làm giảm kết cục?</a:t>
                      </a:r>
                    </a:p>
                  </a:txBody>
                  <a:tcPr marL="73152" marR="73152" marT="45720" marB="45720" anchor="ctr">
                    <a:solidFill>
                      <a:srgbClr val="F5F9FA"/>
                    </a:solidFill>
                  </a:tcPr>
                </a:tc>
                <a:tc>
                  <a:txBody>
                    <a:bodyPr/>
                    <a:lstStyle/>
                    <a:p>
                      <a:pPr algn="l"/>
                      <a:r>
                        <a:rPr lang="en-US" sz="1300" dirty="0">
                          <a:solidFill>
                            <a:srgbClr val="000000"/>
                          </a:solidFill>
                          <a:latin typeface="Arial"/>
                          <a:cs typeface="Arial"/>
                        </a:rPr>
                        <a:t>Các thử nghiệm như Boulet: chưa thấy tác động lên tử vong</a:t>
                      </a:r>
                    </a:p>
                  </a:txBody>
                  <a:tcPr marL="73152" marR="73152" marT="45720" marB="45720" anchor="ctr">
                    <a:solidFill>
                      <a:srgbClr val="F5F9FA"/>
                    </a:solidFill>
                  </a:tcPr>
                </a:tc>
              </a:tr>
              <a:tr h="360000">
                <a:tc>
                  <a:txBody>
                    <a:bodyPr/>
                    <a:lstStyle/>
                    <a:p>
                      <a:pPr algn="l"/>
                      <a:r>
                        <a:rPr lang="en-US" sz="1300" dirty="0">
                          <a:solidFill>
                            <a:srgbClr val="000000"/>
                          </a:solidFill>
                          <a:latin typeface="Arial"/>
                          <a:cs typeface="Arial"/>
                        </a:rPr>
                        <a:t>Tương tự</a:t>
                      </a:r>
                    </a:p>
                  </a:txBody>
                  <a:tcPr marL="73152" marR="73152" marT="45720" marB="45720" anchor="ctr">
                    <a:solidFill>
                      <a:srgbClr val="FFFFFF"/>
                    </a:solidFill>
                  </a:tcPr>
                </a:tc>
                <a:tc>
                  <a:txBody>
                    <a:bodyPr/>
                    <a:lstStyle/>
                    <a:p>
                      <a:pPr algn="l"/>
                      <a:r>
                        <a:rPr lang="en-US" sz="1300" dirty="0">
                          <a:solidFill>
                            <a:srgbClr val="000000"/>
                          </a:solidFill>
                          <a:latin typeface="Arial"/>
                          <a:cs typeface="Arial"/>
                        </a:rPr>
                        <a:t>Nguyên nhân tương tự có hậu quả tương tự?</a:t>
                      </a:r>
                    </a:p>
                  </a:txBody>
                  <a:tcPr marL="73152" marR="73152" marT="45720" marB="45720" anchor="ctr">
                    <a:solidFill>
                      <a:srgbClr val="FFFFFF"/>
                    </a:solidFill>
                  </a:tcPr>
                </a:tc>
                <a:tc>
                  <a:txBody>
                    <a:bodyPr/>
                    <a:lstStyle/>
                    <a:p>
                      <a:pPr algn="l"/>
                      <a:r>
                        <a:rPr lang="en-US" sz="1300" dirty="0">
                          <a:solidFill>
                            <a:srgbClr val="000000"/>
                          </a:solidFill>
                          <a:latin typeface="Arial"/>
                          <a:cs typeface="Arial"/>
                        </a:rPr>
                        <a:t>Quá tải dịch gây hại ở bối cảnh khác</a:t>
                      </a:r>
                    </a:p>
                  </a:txBody>
                  <a:tcPr marL="73152" marR="73152" marT="45720" marB="45720" anchor="ctr">
                    <a:solidFill>
                      <a:srgbClr val="FFFFFF"/>
                    </a:solidFill>
                  </a:tcPr>
                </a:tc>
              </a:tr>
            </a:tbl>
          </a:graphicData>
        </a:graphic>
      </p:graphicFrame>
      <p:sp>
        <p:nvSpPr>
          <p:cNvPr id="31" name="Caption"/>
          <p:cNvSpPr txBox="1"/>
          <p:nvPr/>
        </p:nvSpPr>
        <p:spPr>
          <a:xfrm>
            <a:off x="457200" y="5331448"/>
            <a:ext cx="11277600" cy="356375"/>
          </a:xfrm>
          <a:prstGeom prst="rect">
            <a:avLst/>
          </a:prstGeom>
          <a:noFill/>
          <a:ln>
            <a:noFill/>
          </a:ln>
        </p:spPr>
        <p:txBody>
          <a:bodyPr wrap="square" lIns="91440" tIns="45720" rIns="91440" bIns="45720" rtlCol="0" anchor="t"/>
          <a:lstStyle/>
          <a:p>
            <a:pPr marL="0" indent="0" algn="l">
              <a:buNone/>
            </a:pPr>
            <a:r>
              <a:rPr lang="en-US" sz="1300" i="1" dirty="0">
                <a:solidFill>
                  <a:srgbClr val="595959"/>
                </a:solidFill>
                <a:latin typeface="Arial"/>
                <a:cs typeface="Arial"/>
              </a:rPr>
              <a:t>HR: tỷ số nguy cơ tức thời. Nhân quả là nhận định từ nhiều manh mối. Trình tự thời gian là điều bắt buộc duy nhất.</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Câu hỏi nhanh: Phát hiện sai lệch</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50" name="Banner"/>
          <p:cNvSpPr/>
          <p:nvPr/>
        </p:nvSpPr>
        <p:spPr>
          <a:xfrm>
            <a:off x="457200" y="1120000"/>
            <a:ext cx="11277600" cy="470000"/>
          </a:xfrm>
          <a:prstGeom prst="rect">
            <a:avLst/>
          </a:prstGeom>
          <a:solidFill>
            <a:srgbClr val="6C3483"/>
          </a:solidFill>
          <a:ln>
            <a:noFill/>
          </a:ln>
        </p:spPr>
        <p:txBody>
          <a:bodyPr wrap="square" lIns="182880" tIns="45720" rIns="182880" bIns="45720" rtlCol="0" anchor="ctr">
            <a:normAutofit/>
          </a:bodyPr>
          <a:lstStyle/>
          <a:p>
            <a:pPr marL="0" indent="0" algn="l">
              <a:buNone/>
            </a:pPr>
            <a:r>
              <a:rPr lang="en-US" sz="1500" b="1" dirty="0">
                <a:solidFill>
                  <a:srgbClr val="FFFFFF"/>
                </a:solidFill>
                <a:latin typeface="Arial"/>
                <a:cs typeface="Arial"/>
              </a:rPr>
              <a:t>CÂU HỎI NHANH   |   5 phút</a:t>
            </a:r>
          </a:p>
        </p:txBody>
      </p:sp>
      <p:sp>
        <p:nvSpPr>
          <p:cNvPr id="51" name="Steps"/>
          <p:cNvSpPr txBox="1"/>
          <p:nvPr/>
        </p:nvSpPr>
        <p:spPr>
          <a:xfrm>
            <a:off x="457200" y="1720000"/>
            <a:ext cx="6766560" cy="3510000"/>
          </a:xfrm>
          <a:prstGeom prst="rect">
            <a:avLst/>
          </a:prstGeom>
          <a:noFill/>
          <a:ln>
            <a:noFill/>
          </a:ln>
        </p:spPr>
        <p:txBody>
          <a:bodyPr wrap="square" lIns="91440" tIns="45720" rIns="91440" bIns="45720" rtlCol="0" anchor="t"/>
          <a:lstStyle/>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Gia đình người tử vong nhớ những ngày trước khi vào ICU kỹ hơn gia đình người sống sót</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Trong thử nghiệm dịch truyền không làm mù, bác sĩ biết nhóm quyết định khi nào người bệnh 'đủ điều kiện ra khỏi ICU'</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Một nghiên cứu về dịch truyền chỉ đưa vào người bệnh nằm ICU từ 3 ngày trở lên</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Người bệnh có lactate cao hơn được truyền nhiều dịch hơn và tử vong nhiều hơn</a:t>
            </a:r>
          </a:p>
        </p:txBody>
      </p:sp>
      <p:sp>
        <p:nvSpPr>
          <p:cNvPr id="52" name="Side"/>
          <p:cNvSpPr/>
          <p:nvPr/>
        </p:nvSpPr>
        <p:spPr>
          <a:xfrm>
            <a:off x="7423760" y="1720000"/>
            <a:ext cx="4311040" cy="1729880"/>
          </a:xfrm>
          <a:prstGeom prst="roundRect">
            <a:avLst>
              <a:gd name="adj" fmla="val 5000"/>
            </a:avLst>
          </a:prstGeom>
          <a:solidFill>
            <a:srgbClr val="EAF2F5"/>
          </a:solidFill>
          <a:ln>
            <a:noFill/>
          </a:ln>
        </p:spPr>
        <p:txBody>
          <a:bodyPr wrap="square" lIns="137160" tIns="91440" rIns="137160" bIns="91440" rtlCol="0" anchor="ctr">
            <a:normAutofit/>
          </a:bodyPr>
          <a:lstStyle/>
          <a:p>
            <a:pPr marL="0" indent="0" algn="ctr">
              <a:buNone/>
            </a:pPr>
            <a:r>
              <a:rPr lang="en-US" sz="1600" b="1" dirty="0">
                <a:solidFill>
                  <a:srgbClr val="6C3483"/>
                </a:solidFill>
                <a:latin typeface="Arial"/>
                <a:cs typeface="Arial"/>
              </a:rPr>
              <a:t>Bình chọn một</a:t>
            </a:r>
          </a:p>
          <a:p>
            <a:pPr marL="0" indent="0" algn="ctr">
              <a:lnSpc>
                <a:spcPct val="104000"/>
              </a:lnSpc>
              <a:spcBef>
                <a:spcPts val="300"/>
              </a:spcBef>
              <a:buNone/>
            </a:pPr>
            <a:r>
              <a:rPr lang="en-US" sz="1500" dirty="0">
                <a:solidFill>
                  <a:srgbClr val="000000"/>
                </a:solidFill>
                <a:latin typeface="Arial"/>
                <a:cs typeface="Arial"/>
              </a:rPr>
              <a:t>Sai lệch chọn lựa</a:t>
            </a:r>
          </a:p>
          <a:p>
            <a:pPr marL="0" indent="0" algn="ctr">
              <a:lnSpc>
                <a:spcPct val="104000"/>
              </a:lnSpc>
              <a:spcBef>
                <a:spcPts val="300"/>
              </a:spcBef>
              <a:buNone/>
            </a:pPr>
            <a:r>
              <a:rPr lang="en-US" sz="1500" dirty="0">
                <a:solidFill>
                  <a:srgbClr val="000000"/>
                </a:solidFill>
                <a:latin typeface="Arial"/>
                <a:cs typeface="Arial"/>
              </a:rPr>
              <a:t>Sai lệch nhớ lại</a:t>
            </a:r>
          </a:p>
          <a:p>
            <a:pPr marL="0" indent="0" algn="ctr">
              <a:lnSpc>
                <a:spcPct val="104000"/>
              </a:lnSpc>
              <a:spcBef>
                <a:spcPts val="300"/>
              </a:spcBef>
              <a:buNone/>
            </a:pPr>
            <a:r>
              <a:rPr lang="en-US" sz="1500" dirty="0">
                <a:solidFill>
                  <a:srgbClr val="000000"/>
                </a:solidFill>
                <a:latin typeface="Arial"/>
                <a:cs typeface="Arial"/>
              </a:rPr>
              <a:t>Sai lệch người quan sát</a:t>
            </a:r>
          </a:p>
          <a:p>
            <a:pPr marL="0" indent="0" algn="ctr">
              <a:lnSpc>
                <a:spcPct val="104000"/>
              </a:lnSpc>
              <a:spcBef>
                <a:spcPts val="300"/>
              </a:spcBef>
              <a:buNone/>
            </a:pPr>
            <a:r>
              <a:rPr lang="en-US" sz="1500" dirty="0">
                <a:solidFill>
                  <a:srgbClr val="000000"/>
                </a:solidFill>
                <a:latin typeface="Arial"/>
                <a:cs typeface="Arial"/>
              </a:rPr>
              <a:t>Yếu tố nhiễu</a:t>
            </a:r>
          </a:p>
        </p:txBody>
      </p:sp>
      <p:sp>
        <p:nvSpPr>
          <p:cNvPr id="53" name="Deliverable"/>
          <p:cNvSpPr/>
          <p:nvPr/>
        </p:nvSpPr>
        <p:spPr>
          <a:xfrm>
            <a:off x="457200" y="5350000"/>
            <a:ext cx="11277600" cy="600000"/>
          </a:xfrm>
          <a:prstGeom prst="roundRect">
            <a:avLst>
              <a:gd name="adj" fmla="val 12000"/>
            </a:avLst>
          </a:prstGeom>
          <a:solidFill>
            <a:srgbClr val="FFFFFF"/>
          </a:solidFill>
          <a:ln w="15875">
            <a:solidFill>
              <a:srgbClr val="6C3483"/>
            </a:solidFill>
          </a:ln>
        </p:spPr>
        <p:txBody>
          <a:bodyPr wrap="square" lIns="182880" tIns="45720" rIns="182880" bIns="45720" rtlCol="0" anchor="ctr">
            <a:normAutofit/>
          </a:bodyPr>
          <a:lstStyle/>
          <a:p>
            <a:pPr marL="0" indent="0" algn="ctr">
              <a:buNone/>
            </a:pPr>
            <a:r>
              <a:rPr lang="en-US" sz="1300" b="1" dirty="0">
                <a:solidFill>
                  <a:srgbClr val="6C3483"/>
                </a:solidFill>
                <a:latin typeface="Arial"/>
                <a:cs typeface="Arial"/>
              </a:rPr>
              <a:t>SẢN PHẨM   </a:t>
            </a:r>
            <a:r>
              <a:rPr lang="en-US" sz="1500" dirty="0">
                <a:solidFill>
                  <a:srgbClr val="000000"/>
                </a:solidFill>
                <a:latin typeface="Arial"/>
                <a:cs typeface="Arial"/>
              </a:rPr>
              <a:t>Mỗi tình huống gọi tên một sai lệch, và nói một cách khắc phục</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4.2  Đo lường bệnh và mối liên quan</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Statement"/>
          <p:cNvSpPr txBox="1"/>
          <p:nvPr/>
        </p:nvSpPr>
        <p:spPr>
          <a:xfrm>
            <a:off x="1057200" y="1280000"/>
            <a:ext cx="10077600" cy="4470000"/>
          </a:xfrm>
          <a:prstGeom prst="rect">
            <a:avLst/>
          </a:prstGeom>
          <a:noFill/>
          <a:ln>
            <a:noFill/>
          </a:ln>
        </p:spPr>
        <p:txBody>
          <a:bodyPr wrap="square" lIns="91440" tIns="45720" rIns="91440" bIns="45720" rtlCol="0" anchor="ctr"/>
          <a:lstStyle/>
          <a:p>
            <a:pPr marL="0" indent="0" algn="ctr">
              <a:lnSpc>
                <a:spcPct val="110000"/>
              </a:lnSpc>
              <a:buNone/>
            </a:pPr>
            <a:r>
              <a:rPr lang="en-US" sz="3200" b="1" dirty="0">
                <a:solidFill>
                  <a:srgbClr val="0D7377"/>
                </a:solidFill>
                <a:latin typeface="Arial"/>
                <a:cs typeface="Arial"/>
              </a:rPr>
              <a:t>Phổ biến đến đâu? Khả năng cao hơn bao nhiêu?</a:t>
            </a:r>
          </a:p>
          <a:p>
            <a:pPr marL="0" indent="0" algn="ctr">
              <a:spcBef>
                <a:spcPts val="1200"/>
              </a:spcBef>
              <a:buNone/>
            </a:pPr>
            <a:r>
              <a:rPr lang="en-US" sz="1900" i="1" dirty="0">
                <a:solidFill>
                  <a:srgbClr val="595959"/>
                </a:solidFill>
                <a:latin typeface="Arial"/>
                <a:cs typeface="Arial"/>
              </a:rPr>
              <a:t>Hiện mắc, mới mắc, nguy cơ, và bảng 2x2 đằng sau RR, OR, RD và NNT. (25 phút)</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Hiện mắc và mới mắc: hình ảnh bồn tắm</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pic>
        <p:nvPicPr>
          <p:cNvPr id="25" name="Figure"/>
          <p:cNvPicPr>
            <a:picLocks noChangeAspect="1"/>
          </p:cNvPicPr>
          <p:nvPr/>
        </p:nvPicPr>
        <p:blipFill>
          <a:blip r:embed="rId4"/>
          <a:stretch>
            <a:fillRect/>
          </a:stretch>
        </p:blipFill>
        <p:spPr>
          <a:xfrm>
            <a:off x="908500" y="1150000"/>
            <a:ext cx="10375000" cy="4150000"/>
          </a:xfrm>
          <a:prstGeom prst="rect">
            <a:avLst/>
          </a:prstGeom>
        </p:spPr>
      </p:pic>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Hiện mắc = bao nhiêu người đang mắc. Mới mắc = bao nhiêu ca mới theo thời gian.</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Nguy cơ ở hai nhóm, bằng hình ảnh</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pic>
        <p:nvPicPr>
          <p:cNvPr id="25" name="Figure"/>
          <p:cNvPicPr>
            <a:picLocks noChangeAspect="1"/>
          </p:cNvPicPr>
          <p:nvPr/>
        </p:nvPicPr>
        <p:blipFill>
          <a:blip r:embed="rId4"/>
          <a:stretch>
            <a:fillRect/>
          </a:stretch>
        </p:blipFill>
        <p:spPr>
          <a:xfrm>
            <a:off x="1383500" y="1150000"/>
            <a:ext cx="9425000" cy="3770000"/>
          </a:xfrm>
          <a:prstGeom prst="rect">
            <a:avLst/>
          </a:prstGeom>
        </p:spPr>
      </p:pic>
      <p:sp>
        <p:nvSpPr>
          <p:cNvPr id="26" name="Caption"/>
          <p:cNvSpPr txBox="1"/>
          <p:nvPr/>
        </p:nvSpPr>
        <p:spPr>
          <a:xfrm>
            <a:off x="457200" y="4980000"/>
            <a:ext cx="11277600" cy="400000"/>
          </a:xfrm>
          <a:prstGeom prst="rect">
            <a:avLst/>
          </a:prstGeom>
          <a:noFill/>
          <a:ln>
            <a:noFill/>
          </a:ln>
        </p:spPr>
        <p:txBody>
          <a:bodyPr wrap="square" lIns="91440" tIns="45720" rIns="91440" bIns="45720" rtlCol="0" anchor="t"/>
          <a:lstStyle/>
          <a:p>
            <a:pPr marL="0" indent="0" algn="ctr">
              <a:buNone/>
            </a:pPr>
            <a:r>
              <a:rPr lang="en-US" sz="1300" i="1" dirty="0">
                <a:solidFill>
                  <a:srgbClr val="595959"/>
                </a:solidFill>
                <a:latin typeface="Arial"/>
                <a:cs typeface="Arial"/>
              </a:rPr>
              <a:t>Thử nghiệm giả định dùng cho giảng dạy: 100 người bệnh mỗi nhóm</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Nguy cơ = số người có kết cục / số người trong nhóm.</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Bảng 2x2: một công cụ cho mọi số đo</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graphicFrame>
        <p:nvGraphicFramePr>
          <p:cNvPr id="30" name="Table"/>
          <p:cNvGraphicFramePr/>
          <p:nvPr/>
        </p:nvGraphicFramePr>
        <p:xfrm>
          <a:off x="457200" y="2085216"/>
          <a:ext cx="11277600" cy="1431600"/>
        </p:xfrm>
        <a:graphic>
          <a:graphicData uri="http://schemas.openxmlformats.org/drawingml/2006/table">
            <a:tbl>
              <a:tblPr firstRow="1" bandRow="1">
                <a:tableStyleId>{5C22544A-7EE6-4342-B048-85BDC9FD1C3A}</a:tableStyleId>
              </a:tblPr>
              <a:tblGrid>
                <a:gridCol w="2255520"/>
                <a:gridCol w="2255520"/>
                <a:gridCol w="2255520"/>
                <a:gridCol w="2255520"/>
                <a:gridCol w="2255520"/>
              </a:tblGrid>
              <a:tr h="660080">
                <a:tc>
                  <a:txBody>
                    <a:bodyPr/>
                    <a:lstStyle/>
                    <a:p>
                      <a:pPr algn="l"/>
                      <a:r>
                        <a:rPr lang="en-US" sz="1800" b="1" dirty="0">
                          <a:solidFill>
                            <a:srgbClr val="FFFFFF"/>
                          </a:solidFill>
                          <a:latin typeface="Arial"/>
                          <a:cs typeface="Arial"/>
                        </a:rPr>
                        <a:t>Thử nghiệm giả định</a:t>
                      </a:r>
                    </a:p>
                  </a:txBody>
                  <a:tcPr marL="73152" marR="73152" marT="45720" marB="45720" anchor="ctr">
                    <a:solidFill>
                      <a:srgbClr val="0D7377"/>
                    </a:solidFill>
                  </a:tcPr>
                </a:tc>
                <a:tc>
                  <a:txBody>
                    <a:bodyPr/>
                    <a:lstStyle/>
                    <a:p>
                      <a:pPr algn="l"/>
                      <a:r>
                        <a:rPr lang="en-US" sz="1800" b="1" dirty="0">
                          <a:solidFill>
                            <a:srgbClr val="FFFFFF"/>
                          </a:solidFill>
                          <a:latin typeface="Arial"/>
                          <a:cs typeface="Arial"/>
                        </a:rPr>
                        <a:t>Tử vong</a:t>
                      </a:r>
                    </a:p>
                  </a:txBody>
                  <a:tcPr marL="73152" marR="73152" marT="45720" marB="45720" anchor="ctr">
                    <a:solidFill>
                      <a:srgbClr val="0D7377"/>
                    </a:solidFill>
                  </a:tcPr>
                </a:tc>
                <a:tc>
                  <a:txBody>
                    <a:bodyPr/>
                    <a:lstStyle/>
                    <a:p>
                      <a:pPr algn="l"/>
                      <a:r>
                        <a:rPr lang="en-US" sz="1800" b="1" dirty="0">
                          <a:solidFill>
                            <a:srgbClr val="FFFFFF"/>
                          </a:solidFill>
                          <a:latin typeface="Arial"/>
                          <a:cs typeface="Arial"/>
                        </a:rPr>
                        <a:t>Sống</a:t>
                      </a:r>
                    </a:p>
                  </a:txBody>
                  <a:tcPr marL="73152" marR="73152" marT="45720" marB="45720" anchor="ctr">
                    <a:solidFill>
                      <a:srgbClr val="0D7377"/>
                    </a:solidFill>
                  </a:tcPr>
                </a:tc>
                <a:tc>
                  <a:txBody>
                    <a:bodyPr/>
                    <a:lstStyle/>
                    <a:p>
                      <a:pPr algn="l"/>
                      <a:r>
                        <a:rPr lang="en-US" sz="1800" b="1" dirty="0">
                          <a:solidFill>
                            <a:srgbClr val="FFFFFF"/>
                          </a:solidFill>
                          <a:latin typeface="Arial"/>
                          <a:cs typeface="Arial"/>
                        </a:rPr>
                        <a:t>Tổng</a:t>
                      </a:r>
                    </a:p>
                  </a:txBody>
                  <a:tcPr marL="73152" marR="73152" marT="45720" marB="45720" anchor="ctr">
                    <a:solidFill>
                      <a:srgbClr val="0D7377"/>
                    </a:solidFill>
                  </a:tcPr>
                </a:tc>
                <a:tc>
                  <a:txBody>
                    <a:bodyPr/>
                    <a:lstStyle/>
                    <a:p>
                      <a:pPr algn="l"/>
                      <a:r>
                        <a:rPr lang="en-US" sz="1800" b="1" dirty="0">
                          <a:solidFill>
                            <a:srgbClr val="FFFFFF"/>
                          </a:solidFill>
                          <a:latin typeface="Arial"/>
                          <a:cs typeface="Arial"/>
                        </a:rPr>
                        <a:t>Nguy cơ</a:t>
                      </a:r>
                    </a:p>
                  </a:txBody>
                  <a:tcPr marL="73152" marR="73152" marT="45720" marB="45720" anchor="ctr">
                    <a:solidFill>
                      <a:srgbClr val="0D7377"/>
                    </a:solidFill>
                  </a:tcPr>
                </a:tc>
              </a:tr>
              <a:tr h="385760">
                <a:tc>
                  <a:txBody>
                    <a:bodyPr/>
                    <a:lstStyle/>
                    <a:p>
                      <a:pPr algn="l"/>
                      <a:r>
                        <a:rPr lang="en-US" sz="1800" dirty="0">
                          <a:solidFill>
                            <a:srgbClr val="000000"/>
                          </a:solidFill>
                          <a:latin typeface="Arial"/>
                          <a:cs typeface="Arial"/>
                        </a:rPr>
                        <a:t>Hạn chế dịch</a:t>
                      </a:r>
                    </a:p>
                  </a:txBody>
                  <a:tcPr marL="73152" marR="73152" marT="45720" marB="45720" anchor="ctr">
                    <a:solidFill>
                      <a:srgbClr val="FFFFFF"/>
                    </a:solidFill>
                  </a:tcPr>
                </a:tc>
                <a:tc>
                  <a:txBody>
                    <a:bodyPr/>
                    <a:lstStyle/>
                    <a:p>
                      <a:pPr algn="l"/>
                      <a:r>
                        <a:rPr lang="en-US" sz="1800" dirty="0">
                          <a:solidFill>
                            <a:srgbClr val="000000"/>
                          </a:solidFill>
                          <a:latin typeface="Arial"/>
                          <a:cs typeface="Arial"/>
                        </a:rPr>
                        <a:t>a = 20</a:t>
                      </a:r>
                    </a:p>
                  </a:txBody>
                  <a:tcPr marL="73152" marR="73152" marT="45720" marB="45720" anchor="ctr">
                    <a:solidFill>
                      <a:srgbClr val="FFFFFF"/>
                    </a:solidFill>
                  </a:tcPr>
                </a:tc>
                <a:tc>
                  <a:txBody>
                    <a:bodyPr/>
                    <a:lstStyle/>
                    <a:p>
                      <a:pPr algn="l"/>
                      <a:r>
                        <a:rPr lang="en-US" sz="1800" dirty="0">
                          <a:solidFill>
                            <a:srgbClr val="000000"/>
                          </a:solidFill>
                          <a:latin typeface="Arial"/>
                          <a:cs typeface="Arial"/>
                        </a:rPr>
                        <a:t>b = 80</a:t>
                      </a:r>
                    </a:p>
                  </a:txBody>
                  <a:tcPr marL="73152" marR="73152" marT="45720" marB="45720" anchor="ctr">
                    <a:solidFill>
                      <a:srgbClr val="FFFFFF"/>
                    </a:solidFill>
                  </a:tcPr>
                </a:tc>
                <a:tc>
                  <a:txBody>
                    <a:bodyPr/>
                    <a:lstStyle/>
                    <a:p>
                      <a:pPr algn="l"/>
                      <a:r>
                        <a:rPr lang="en-US" sz="1800" dirty="0">
                          <a:solidFill>
                            <a:srgbClr val="000000"/>
                          </a:solidFill>
                          <a:latin typeface="Arial"/>
                          <a:cs typeface="Arial"/>
                        </a:rPr>
                        <a:t>a + b = 100</a:t>
                      </a:r>
                    </a:p>
                  </a:txBody>
                  <a:tcPr marL="73152" marR="73152" marT="45720" marB="45720" anchor="ctr">
                    <a:solidFill>
                      <a:srgbClr val="FFFFFF"/>
                    </a:solidFill>
                  </a:tcPr>
                </a:tc>
                <a:tc>
                  <a:txBody>
                    <a:bodyPr/>
                    <a:lstStyle/>
                    <a:p>
                      <a:pPr algn="l"/>
                      <a:r>
                        <a:rPr lang="en-US" sz="1800" dirty="0">
                          <a:solidFill>
                            <a:srgbClr val="000000"/>
                          </a:solidFill>
                          <a:latin typeface="Arial"/>
                          <a:cs typeface="Arial"/>
                        </a:rPr>
                        <a:t>a / (a + b) = 20%</a:t>
                      </a:r>
                    </a:p>
                  </a:txBody>
                  <a:tcPr marL="73152" marR="73152" marT="45720" marB="45720" anchor="ctr">
                    <a:solidFill>
                      <a:srgbClr val="FFFFFF"/>
                    </a:solidFill>
                  </a:tcPr>
                </a:tc>
              </a:tr>
              <a:tr h="385760">
                <a:tc>
                  <a:txBody>
                    <a:bodyPr/>
                    <a:lstStyle/>
                    <a:p>
                      <a:pPr algn="l"/>
                      <a:r>
                        <a:rPr lang="en-US" sz="1800" dirty="0">
                          <a:solidFill>
                            <a:srgbClr val="000000"/>
                          </a:solidFill>
                          <a:latin typeface="Arial"/>
                          <a:cs typeface="Arial"/>
                        </a:rPr>
                        <a:t>Thường quy</a:t>
                      </a:r>
                    </a:p>
                  </a:txBody>
                  <a:tcPr marL="73152" marR="73152" marT="45720" marB="45720" anchor="ctr">
                    <a:solidFill>
                      <a:srgbClr val="F5F9FA"/>
                    </a:solidFill>
                  </a:tcPr>
                </a:tc>
                <a:tc>
                  <a:txBody>
                    <a:bodyPr/>
                    <a:lstStyle/>
                    <a:p>
                      <a:pPr algn="l"/>
                      <a:r>
                        <a:rPr lang="en-US" sz="1800" dirty="0">
                          <a:solidFill>
                            <a:srgbClr val="000000"/>
                          </a:solidFill>
                          <a:latin typeface="Arial"/>
                          <a:cs typeface="Arial"/>
                        </a:rPr>
                        <a:t>c = 30</a:t>
                      </a:r>
                    </a:p>
                  </a:txBody>
                  <a:tcPr marL="73152" marR="73152" marT="45720" marB="45720" anchor="ctr">
                    <a:solidFill>
                      <a:srgbClr val="F5F9FA"/>
                    </a:solidFill>
                  </a:tcPr>
                </a:tc>
                <a:tc>
                  <a:txBody>
                    <a:bodyPr/>
                    <a:lstStyle/>
                    <a:p>
                      <a:pPr algn="l"/>
                      <a:r>
                        <a:rPr lang="en-US" sz="1800" dirty="0">
                          <a:solidFill>
                            <a:srgbClr val="000000"/>
                          </a:solidFill>
                          <a:latin typeface="Arial"/>
                          <a:cs typeface="Arial"/>
                        </a:rPr>
                        <a:t>d = 70</a:t>
                      </a:r>
                    </a:p>
                  </a:txBody>
                  <a:tcPr marL="73152" marR="73152" marT="45720" marB="45720" anchor="ctr">
                    <a:solidFill>
                      <a:srgbClr val="F5F9FA"/>
                    </a:solidFill>
                  </a:tcPr>
                </a:tc>
                <a:tc>
                  <a:txBody>
                    <a:bodyPr/>
                    <a:lstStyle/>
                    <a:p>
                      <a:pPr algn="l"/>
                      <a:r>
                        <a:rPr lang="en-US" sz="1800" dirty="0">
                          <a:solidFill>
                            <a:srgbClr val="000000"/>
                          </a:solidFill>
                          <a:latin typeface="Arial"/>
                          <a:cs typeface="Arial"/>
                        </a:rPr>
                        <a:t>c + d = 100</a:t>
                      </a:r>
                    </a:p>
                  </a:txBody>
                  <a:tcPr marL="73152" marR="73152" marT="45720" marB="45720" anchor="ctr">
                    <a:solidFill>
                      <a:srgbClr val="F5F9FA"/>
                    </a:solidFill>
                  </a:tcPr>
                </a:tc>
                <a:tc>
                  <a:txBody>
                    <a:bodyPr/>
                    <a:lstStyle/>
                    <a:p>
                      <a:pPr algn="l"/>
                      <a:r>
                        <a:rPr lang="en-US" sz="1800" dirty="0">
                          <a:solidFill>
                            <a:srgbClr val="000000"/>
                          </a:solidFill>
                          <a:latin typeface="Arial"/>
                          <a:cs typeface="Arial"/>
                        </a:rPr>
                        <a:t>c / (c + d) = 30%</a:t>
                      </a:r>
                    </a:p>
                  </a:txBody>
                  <a:tcPr marL="73152" marR="73152" marT="45720" marB="45720" anchor="ctr">
                    <a:solidFill>
                      <a:srgbClr val="F5F9FA"/>
                    </a:solidFill>
                  </a:tcPr>
                </a:tc>
              </a:tr>
            </a:tbl>
          </a:graphicData>
        </a:graphic>
      </p:graphicFrame>
      <p:sp>
        <p:nvSpPr>
          <p:cNvPr id="31" name="Caption"/>
          <p:cNvSpPr txBox="1"/>
          <p:nvPr/>
        </p:nvSpPr>
        <p:spPr>
          <a:xfrm>
            <a:off x="457200" y="3606816"/>
            <a:ext cx="11277600" cy="562750"/>
          </a:xfrm>
          <a:prstGeom prst="rect">
            <a:avLst/>
          </a:prstGeom>
          <a:noFill/>
          <a:ln>
            <a:noFill/>
          </a:ln>
        </p:spPr>
        <p:txBody>
          <a:bodyPr wrap="square" lIns="91440" tIns="45720" rIns="91440" bIns="45720" rtlCol="0" anchor="t"/>
          <a:lstStyle/>
          <a:p>
            <a:pPr marL="0" indent="0" algn="l">
              <a:buNone/>
            </a:pPr>
            <a:r>
              <a:rPr lang="en-US" sz="1300" i="1" dirty="0">
                <a:solidFill>
                  <a:srgbClr val="595959"/>
                </a:solidFill>
                <a:latin typeface="Arial"/>
                <a:cs typeface="Arial"/>
              </a:rPr>
              <a:t>Luôn cùng một cách trình bày: phơi nhiễm ở hàng, nhóm phơi nhiễm (được điều trị) ở trên. Kết cục ở cột, 'có kết cục' (tử vong) ở bên trái. Khi đó a, b, c và d luôn mang cùng ý nghĩa.</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Bốn số đo từ một bảng 2x2</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480000"/>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Ví dụ: hạn chế dịch 20/100 tử vong, thường quy 30/100 tử vong</a:t>
            </a:r>
          </a:p>
        </p:txBody>
      </p:sp>
      <p:sp>
        <p:nvSpPr>
          <p:cNvPr id="70" name="CardHead"/>
          <p:cNvSpPr/>
          <p:nvPr/>
        </p:nvSpPr>
        <p:spPr>
          <a:xfrm>
            <a:off x="457200" y="2058240"/>
            <a:ext cx="2669400"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Nguy cơ tương đối (RR)</a:t>
            </a:r>
          </a:p>
        </p:txBody>
      </p:sp>
      <p:sp>
        <p:nvSpPr>
          <p:cNvPr id="71" name="CardBody"/>
          <p:cNvSpPr/>
          <p:nvPr/>
        </p:nvSpPr>
        <p:spPr>
          <a:xfrm>
            <a:off x="457200" y="2698240"/>
            <a:ext cx="2669400" cy="17552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[a/(a+b)] / [c/(c+d)]</a:t>
            </a:r>
          </a:p>
          <a:p>
            <a:pPr marL="0" indent="0" algn="ctr">
              <a:lnSpc>
                <a:spcPct val="104000"/>
              </a:lnSpc>
              <a:spcBef>
                <a:spcPts val="400"/>
              </a:spcBef>
              <a:buNone/>
            </a:pPr>
            <a:r>
              <a:rPr lang="en-US" sz="1600" b="1" dirty="0">
                <a:solidFill>
                  <a:srgbClr val="000000"/>
                </a:solidFill>
                <a:latin typeface="Arial"/>
                <a:cs typeface="Arial"/>
              </a:rPr>
              <a:t>20% / 30% = 0.67</a:t>
            </a:r>
          </a:p>
          <a:p>
            <a:pPr marL="0" indent="0" algn="ctr">
              <a:lnSpc>
                <a:spcPct val="104000"/>
              </a:lnSpc>
              <a:spcBef>
                <a:spcPts val="400"/>
              </a:spcBef>
              <a:buNone/>
            </a:pPr>
            <a:r>
              <a:rPr lang="en-US" sz="1600" dirty="0">
                <a:solidFill>
                  <a:srgbClr val="000000"/>
                </a:solidFill>
                <a:latin typeface="Arial"/>
                <a:cs typeface="Arial"/>
              </a:rPr>
              <a:t>Nguy cơ thấp hơn một phần ba</a:t>
            </a:r>
          </a:p>
        </p:txBody>
      </p:sp>
      <p:sp>
        <p:nvSpPr>
          <p:cNvPr id="72" name="CardHead"/>
          <p:cNvSpPr/>
          <p:nvPr/>
        </p:nvSpPr>
        <p:spPr>
          <a:xfrm>
            <a:off x="3326600" y="2058240"/>
            <a:ext cx="2669400"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Hiệu số nguy cơ (RD)</a:t>
            </a:r>
          </a:p>
        </p:txBody>
      </p:sp>
      <p:sp>
        <p:nvSpPr>
          <p:cNvPr id="73" name="CardBody"/>
          <p:cNvSpPr/>
          <p:nvPr/>
        </p:nvSpPr>
        <p:spPr>
          <a:xfrm>
            <a:off x="3326600" y="2698240"/>
            <a:ext cx="2669400" cy="17552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a/(a+b) - c/(c+d)</a:t>
            </a:r>
          </a:p>
          <a:p>
            <a:pPr marL="0" indent="0" algn="ctr">
              <a:lnSpc>
                <a:spcPct val="104000"/>
              </a:lnSpc>
              <a:spcBef>
                <a:spcPts val="400"/>
              </a:spcBef>
              <a:buNone/>
            </a:pPr>
            <a:r>
              <a:rPr lang="en-US" sz="1600" b="1" dirty="0">
                <a:solidFill>
                  <a:srgbClr val="000000"/>
                </a:solidFill>
                <a:latin typeface="Arial"/>
                <a:cs typeface="Arial"/>
              </a:rPr>
              <a:t>20% - 30% = -10 điểm</a:t>
            </a:r>
          </a:p>
          <a:p>
            <a:pPr marL="0" indent="0" algn="ctr">
              <a:lnSpc>
                <a:spcPct val="104000"/>
              </a:lnSpc>
              <a:spcBef>
                <a:spcPts val="400"/>
              </a:spcBef>
              <a:buNone/>
            </a:pPr>
            <a:r>
              <a:rPr lang="en-US" sz="1600" dirty="0">
                <a:solidFill>
                  <a:srgbClr val="000000"/>
                </a:solidFill>
                <a:latin typeface="Arial"/>
                <a:cs typeface="Arial"/>
              </a:rPr>
              <a:t>Ít hơn 10 ca tử vong trên 100</a:t>
            </a:r>
          </a:p>
        </p:txBody>
      </p:sp>
      <p:sp>
        <p:nvSpPr>
          <p:cNvPr id="74" name="CardHead"/>
          <p:cNvSpPr/>
          <p:nvPr/>
        </p:nvSpPr>
        <p:spPr>
          <a:xfrm>
            <a:off x="6196000" y="2058240"/>
            <a:ext cx="2669400" cy="640000"/>
          </a:xfrm>
          <a:prstGeom prst="rect">
            <a:avLst/>
          </a:prstGeom>
          <a:solidFill>
            <a:srgbClr val="2E8B57"/>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Số người cần điều trị (NNT)</a:t>
            </a:r>
          </a:p>
        </p:txBody>
      </p:sp>
      <p:sp>
        <p:nvSpPr>
          <p:cNvPr id="75" name="CardBody"/>
          <p:cNvSpPr/>
          <p:nvPr/>
        </p:nvSpPr>
        <p:spPr>
          <a:xfrm>
            <a:off x="6196000" y="2698240"/>
            <a:ext cx="2669400" cy="17552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1 / |hiệu số nguy cơ|</a:t>
            </a:r>
          </a:p>
          <a:p>
            <a:pPr marL="0" indent="0" algn="ctr">
              <a:lnSpc>
                <a:spcPct val="104000"/>
              </a:lnSpc>
              <a:spcBef>
                <a:spcPts val="400"/>
              </a:spcBef>
              <a:buNone/>
            </a:pPr>
            <a:r>
              <a:rPr lang="en-US" sz="1600" b="1" dirty="0">
                <a:solidFill>
                  <a:srgbClr val="000000"/>
                </a:solidFill>
                <a:latin typeface="Arial"/>
                <a:cs typeface="Arial"/>
              </a:rPr>
              <a:t>1 / 0.10 = 10</a:t>
            </a:r>
          </a:p>
          <a:p>
            <a:pPr marL="0" indent="0" algn="ctr">
              <a:lnSpc>
                <a:spcPct val="104000"/>
              </a:lnSpc>
              <a:spcBef>
                <a:spcPts val="400"/>
              </a:spcBef>
              <a:buNone/>
            </a:pPr>
            <a:r>
              <a:rPr lang="en-US" sz="1600" dirty="0">
                <a:solidFill>
                  <a:srgbClr val="000000"/>
                </a:solidFill>
                <a:latin typeface="Arial"/>
                <a:cs typeface="Arial"/>
              </a:rPr>
              <a:t>Điều trị 10 người để ngăn 1 ca tử vong</a:t>
            </a:r>
          </a:p>
        </p:txBody>
      </p:sp>
      <p:sp>
        <p:nvSpPr>
          <p:cNvPr id="76" name="CardHead"/>
          <p:cNvSpPr/>
          <p:nvPr/>
        </p:nvSpPr>
        <p:spPr>
          <a:xfrm>
            <a:off x="9065400" y="2058240"/>
            <a:ext cx="2669400" cy="640000"/>
          </a:xfrm>
          <a:prstGeom prst="rect">
            <a:avLst/>
          </a:prstGeom>
          <a:solidFill>
            <a:srgbClr val="0070C0"/>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Tỷ số chênh (OR)</a:t>
            </a:r>
          </a:p>
        </p:txBody>
      </p:sp>
      <p:sp>
        <p:nvSpPr>
          <p:cNvPr id="77" name="CardBody"/>
          <p:cNvSpPr/>
          <p:nvPr/>
        </p:nvSpPr>
        <p:spPr>
          <a:xfrm>
            <a:off x="9065400" y="2698240"/>
            <a:ext cx="2669400" cy="17552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(a x d) / (b x c)</a:t>
            </a:r>
          </a:p>
          <a:p>
            <a:pPr marL="0" indent="0" algn="ctr">
              <a:lnSpc>
                <a:spcPct val="104000"/>
              </a:lnSpc>
              <a:spcBef>
                <a:spcPts val="400"/>
              </a:spcBef>
              <a:buNone/>
            </a:pPr>
            <a:r>
              <a:rPr lang="en-US" sz="1600" b="1" dirty="0">
                <a:solidFill>
                  <a:srgbClr val="000000"/>
                </a:solidFill>
                <a:latin typeface="Arial"/>
                <a:cs typeface="Arial"/>
              </a:rPr>
              <a:t>(20 x 70) / (80 x 30) = 0.58</a:t>
            </a:r>
          </a:p>
          <a:p>
            <a:pPr marL="0" indent="0" algn="ctr">
              <a:lnSpc>
                <a:spcPct val="104000"/>
              </a:lnSpc>
              <a:spcBef>
                <a:spcPts val="400"/>
              </a:spcBef>
              <a:buNone/>
            </a:pPr>
            <a:r>
              <a:rPr lang="en-US" sz="1600" dirty="0">
                <a:solidFill>
                  <a:srgbClr val="000000"/>
                </a:solidFill>
                <a:latin typeface="Arial"/>
                <a:cs typeface="Arial"/>
              </a:rPr>
              <a:t>Odds, không phải nguy cơ</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Tỷ số cho biết mạnh đến đâu. Hiệu số cho biết bao nhiêu người bệnh.</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NNT (số người cần điều trị) bằng hình ảnh</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pic>
        <p:nvPicPr>
          <p:cNvPr id="25" name="Figure"/>
          <p:cNvPicPr>
            <a:picLocks noChangeAspect="1"/>
          </p:cNvPicPr>
          <p:nvPr/>
        </p:nvPicPr>
        <p:blipFill>
          <a:blip r:embed="rId4"/>
          <a:stretch>
            <a:fillRect/>
          </a:stretch>
        </p:blipFill>
        <p:spPr>
          <a:xfrm>
            <a:off x="677066" y="1150000"/>
            <a:ext cx="10837867" cy="4150000"/>
          </a:xfrm>
          <a:prstGeom prst="rect">
            <a:avLst/>
          </a:prstGeom>
        </p:spPr>
      </p:pic>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NNT = 1 / hiệu số nguy cơ: cần điều trị bao nhiêu người để một người có lợi.</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Khi nào tỷ số chênh gần bằng nguy cơ tương đối?</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pic>
        <p:nvPicPr>
          <p:cNvPr id="25" name="Figure"/>
          <p:cNvPicPr>
            <a:picLocks noChangeAspect="1"/>
          </p:cNvPicPr>
          <p:nvPr/>
        </p:nvPicPr>
        <p:blipFill>
          <a:blip r:embed="rId4"/>
          <a:stretch>
            <a:fillRect/>
          </a:stretch>
        </p:blipFill>
        <p:spPr>
          <a:xfrm>
            <a:off x="677066" y="1150000"/>
            <a:ext cx="10837867" cy="4150000"/>
          </a:xfrm>
          <a:prstGeom prst="rect">
            <a:avLst/>
          </a:prstGeom>
        </p:spPr>
      </p:pic>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OR chỉ gần bằng RR khi kết cục hiếm (dưới khoảng 10%).</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Trình diễn trực tiếp: công cụ tính bảng 2x2</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50" name="Banner"/>
          <p:cNvSpPr/>
          <p:nvPr/>
        </p:nvSpPr>
        <p:spPr>
          <a:xfrm>
            <a:off x="457200" y="1120000"/>
            <a:ext cx="11277600" cy="470000"/>
          </a:xfrm>
          <a:prstGeom prst="rect">
            <a:avLst/>
          </a:prstGeom>
          <a:solidFill>
            <a:srgbClr val="B5651D"/>
          </a:solidFill>
          <a:ln>
            <a:noFill/>
          </a:ln>
        </p:spPr>
        <p:txBody>
          <a:bodyPr wrap="square" lIns="182880" tIns="45720" rIns="182880" bIns="45720" rtlCol="0" anchor="ctr">
            <a:normAutofit/>
          </a:bodyPr>
          <a:lstStyle/>
          <a:p>
            <a:pPr marL="0" indent="0" algn="l">
              <a:buNone/>
            </a:pPr>
            <a:r>
              <a:rPr lang="en-US" sz="1500" b="1" dirty="0">
                <a:solidFill>
                  <a:srgbClr val="FFFFFF"/>
                </a:solidFill>
                <a:latin typeface="Arial"/>
                <a:cs typeface="Arial"/>
              </a:rPr>
              <a:t>TRÌNH DIỄN TRỰC TIẾP   |   8 phút</a:t>
            </a:r>
          </a:p>
        </p:txBody>
      </p:sp>
      <p:sp>
        <p:nvSpPr>
          <p:cNvPr id="51" name="Steps"/>
          <p:cNvSpPr txBox="1"/>
          <p:nvPr/>
        </p:nvSpPr>
        <p:spPr>
          <a:xfrm>
            <a:off x="457200" y="1720000"/>
            <a:ext cx="6766560" cy="3510000"/>
          </a:xfrm>
          <a:prstGeom prst="rect">
            <a:avLst/>
          </a:prstGeom>
          <a:noFill/>
          <a:ln>
            <a:noFill/>
          </a:ln>
        </p:spPr>
        <p:txBody>
          <a:bodyPr wrap="square" lIns="91440" tIns="45720" rIns="91440" bIns="45720" rtlCol="0" anchor="t"/>
          <a:lstStyle/>
          <a:p>
            <a:pPr marL="380000" indent="-380000" algn="l">
              <a:lnSpc>
                <a:spcPct val="104000"/>
              </a:lnSpc>
              <a:spcBef>
                <a:spcPts val="450"/>
              </a:spcBef>
              <a:buClr>
                <a:srgbClr val="B5651D"/>
              </a:buClr>
              <a:buFont typeface="Arial"/>
              <a:buChar char="•"/>
            </a:pPr>
            <a:r>
              <a:rPr lang="en-US" sz="1650" dirty="0">
                <a:solidFill>
                  <a:srgbClr val="000000"/>
                </a:solidFill>
                <a:latin typeface="Arial"/>
                <a:cs typeface="Arial"/>
              </a:rPr>
              <a:t>Giảng viên chia sẻ màn hình: 2x2_calculator.xlsx, trang Association</a:t>
            </a:r>
          </a:p>
          <a:p>
            <a:pPr marL="380000" indent="-380000" algn="l">
              <a:lnSpc>
                <a:spcPct val="104000"/>
              </a:lnSpc>
              <a:spcBef>
                <a:spcPts val="450"/>
              </a:spcBef>
              <a:buClr>
                <a:srgbClr val="B5651D"/>
              </a:buClr>
              <a:buFont typeface="Arial"/>
              <a:buChar char="•"/>
            </a:pPr>
            <a:r>
              <a:rPr lang="en-US" sz="1650" dirty="0">
                <a:solidFill>
                  <a:srgbClr val="000000"/>
                </a:solidFill>
                <a:latin typeface="Arial"/>
                <a:cs typeface="Arial"/>
              </a:rPr>
              <a:t>Nhập a, b, c, d của ví dụ: 20, 80, 30, 70</a:t>
            </a:r>
          </a:p>
          <a:p>
            <a:pPr marL="380000" indent="-380000" algn="l">
              <a:lnSpc>
                <a:spcPct val="104000"/>
              </a:lnSpc>
              <a:spcBef>
                <a:spcPts val="450"/>
              </a:spcBef>
              <a:buClr>
                <a:srgbClr val="B5651D"/>
              </a:buClr>
              <a:buFont typeface="Arial"/>
              <a:buChar char="•"/>
            </a:pPr>
            <a:r>
              <a:rPr lang="en-US" sz="1650" dirty="0">
                <a:solidFill>
                  <a:srgbClr val="000000"/>
                </a:solidFill>
                <a:latin typeface="Arial"/>
                <a:cs typeface="Arial"/>
              </a:rPr>
              <a:t>Đọc nguy cơ, RR, RD, NNT, OR, và các câu diễn giải</a:t>
            </a:r>
          </a:p>
          <a:p>
            <a:pPr marL="380000" indent="-380000" algn="l">
              <a:lnSpc>
                <a:spcPct val="104000"/>
              </a:lnSpc>
              <a:spcBef>
                <a:spcPts val="450"/>
              </a:spcBef>
              <a:buClr>
                <a:srgbClr val="B5651D"/>
              </a:buClr>
              <a:buFont typeface="Arial"/>
              <a:buChar char="•"/>
            </a:pPr>
            <a:r>
              <a:rPr lang="en-US" sz="1650" dirty="0">
                <a:solidFill>
                  <a:srgbClr val="000000"/>
                </a:solidFill>
                <a:latin typeface="Arial"/>
                <a:cs typeface="Arial"/>
              </a:rPr>
              <a:t>Đổi số tử vong thành 2 và 3 trên 100: xem OR tiến gần RR</a:t>
            </a:r>
          </a:p>
          <a:p>
            <a:pPr marL="380000" indent="-380000" algn="l">
              <a:lnSpc>
                <a:spcPct val="104000"/>
              </a:lnSpc>
              <a:spcBef>
                <a:spcPts val="450"/>
              </a:spcBef>
              <a:buClr>
                <a:srgbClr val="B5651D"/>
              </a:buClr>
              <a:buFont typeface="Arial"/>
              <a:buChar char="•"/>
            </a:pPr>
            <a:r>
              <a:rPr lang="en-US" sz="1650" dirty="0">
                <a:solidFill>
                  <a:srgbClr val="000000"/>
                </a:solidFill>
                <a:latin typeface="Arial"/>
                <a:cs typeface="Arial"/>
              </a:rPr>
              <a:t>Chỉ vào dòng chữ đỏ: dữ liệu bệnh–chứng chỉ cho OR</a:t>
            </a:r>
          </a:p>
        </p:txBody>
      </p:sp>
      <p:sp>
        <p:nvSpPr>
          <p:cNvPr id="52" name="Side"/>
          <p:cNvSpPr/>
          <p:nvPr/>
        </p:nvSpPr>
        <p:spPr>
          <a:xfrm>
            <a:off x="7423760" y="1720000"/>
            <a:ext cx="4311040" cy="1453655"/>
          </a:xfrm>
          <a:prstGeom prst="roundRect">
            <a:avLst>
              <a:gd name="adj" fmla="val 5000"/>
            </a:avLst>
          </a:prstGeom>
          <a:solidFill>
            <a:srgbClr val="EAF2F5"/>
          </a:solidFill>
          <a:ln>
            <a:noFill/>
          </a:ln>
        </p:spPr>
        <p:txBody>
          <a:bodyPr wrap="square" lIns="137160" tIns="91440" rIns="137160" bIns="91440" rtlCol="0" anchor="ctr">
            <a:normAutofit/>
          </a:bodyPr>
          <a:lstStyle/>
          <a:p>
            <a:pPr marL="0" indent="0" algn="ctr">
              <a:buNone/>
            </a:pPr>
            <a:r>
              <a:rPr lang="en-US" sz="1600" b="1" dirty="0">
                <a:solidFill>
                  <a:srgbClr val="B5651D"/>
                </a:solidFill>
                <a:latin typeface="Arial"/>
                <a:cs typeface="Arial"/>
              </a:rPr>
              <a:t>Chú ý</a:t>
            </a:r>
          </a:p>
          <a:p>
            <a:pPr marL="0" indent="0" algn="ctr">
              <a:lnSpc>
                <a:spcPct val="104000"/>
              </a:lnSpc>
              <a:spcBef>
                <a:spcPts val="300"/>
              </a:spcBef>
              <a:buNone/>
            </a:pPr>
            <a:r>
              <a:rPr lang="en-US" sz="1500" dirty="0">
                <a:solidFill>
                  <a:srgbClr val="000000"/>
                </a:solidFill>
                <a:latin typeface="Arial"/>
                <a:cs typeface="Arial"/>
              </a:rPr>
              <a:t>Cùng cách trình bày như slide</a:t>
            </a:r>
          </a:p>
          <a:p>
            <a:pPr marL="0" indent="0" algn="ctr">
              <a:lnSpc>
                <a:spcPct val="104000"/>
              </a:lnSpc>
              <a:spcBef>
                <a:spcPts val="300"/>
              </a:spcBef>
              <a:buNone/>
            </a:pPr>
            <a:r>
              <a:rPr lang="en-US" sz="1500" dirty="0">
                <a:solidFill>
                  <a:srgbClr val="000000"/>
                </a:solidFill>
                <a:latin typeface="Arial"/>
                <a:cs typeface="Arial"/>
              </a:rPr>
              <a:t>Tác động tương đối và tuyệt đối</a:t>
            </a:r>
          </a:p>
          <a:p>
            <a:pPr marL="0" indent="0" algn="ctr">
              <a:lnSpc>
                <a:spcPct val="104000"/>
              </a:lnSpc>
              <a:spcBef>
                <a:spcPts val="300"/>
              </a:spcBef>
              <a:buNone/>
            </a:pPr>
            <a:r>
              <a:rPr lang="en-US" sz="1500" dirty="0">
                <a:solidFill>
                  <a:srgbClr val="000000"/>
                </a:solidFill>
                <a:latin typeface="Arial"/>
                <a:cs typeface="Arial"/>
              </a:rPr>
              <a:t>Kết cục hiếm: OR gần RR</a:t>
            </a:r>
          </a:p>
        </p:txBody>
      </p:sp>
      <p:sp>
        <p:nvSpPr>
          <p:cNvPr id="53" name="Deliverable"/>
          <p:cNvSpPr/>
          <p:nvPr/>
        </p:nvSpPr>
        <p:spPr>
          <a:xfrm>
            <a:off x="457200" y="5350000"/>
            <a:ext cx="11277600" cy="600000"/>
          </a:xfrm>
          <a:prstGeom prst="roundRect">
            <a:avLst>
              <a:gd name="adj" fmla="val 12000"/>
            </a:avLst>
          </a:prstGeom>
          <a:solidFill>
            <a:srgbClr val="FFFFFF"/>
          </a:solidFill>
          <a:ln w="15875">
            <a:solidFill>
              <a:srgbClr val="B5651D"/>
            </a:solidFill>
          </a:ln>
        </p:spPr>
        <p:txBody>
          <a:bodyPr wrap="square" lIns="182880" tIns="45720" rIns="182880" bIns="45720" rtlCol="0" anchor="ctr">
            <a:normAutofit/>
          </a:bodyPr>
          <a:lstStyle/>
          <a:p>
            <a:pPr marL="0" indent="0" algn="ctr">
              <a:buNone/>
            </a:pPr>
            <a:r>
              <a:rPr lang="en-US" sz="1300" b="1" dirty="0">
                <a:solidFill>
                  <a:srgbClr val="B5651D"/>
                </a:solidFill>
                <a:latin typeface="Arial"/>
                <a:cs typeface="Arial"/>
              </a:rPr>
              <a:t>SẢN PHẨM   </a:t>
            </a:r>
            <a:r>
              <a:rPr lang="en-US" sz="1500" dirty="0">
                <a:solidFill>
                  <a:srgbClr val="000000"/>
                </a:solidFill>
                <a:latin typeface="Arial"/>
                <a:cs typeface="Arial"/>
              </a:rPr>
              <a:t>Mọi người thấy mọi số đo được tính từ một bảng</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 name="BreakCup"/>
          <p:cNvSpPr/>
          <p:nvPr/>
        </p:nvSpPr>
        <p:spPr>
          <a:xfrm>
            <a:off x="4976000" y="3180000"/>
            <a:ext cx="2408000" cy="308000"/>
          </a:xfrm>
          <a:prstGeom prst="ellipse">
            <a:avLst/>
          </a:prstGeom>
          <a:solidFill>
            <a:srgbClr val="D5DDE1"/>
          </a:solidFill>
          <a:ln>
            <a:noFill/>
          </a:ln>
        </p:spPr>
      </p:sp>
      <p:sp>
        <p:nvSpPr>
          <p:cNvPr id="31" name="BreakCup"/>
          <p:cNvSpPr/>
          <p:nvPr/>
        </p:nvSpPr>
        <p:spPr>
          <a:xfrm>
            <a:off x="4780000" y="800000"/>
            <a:ext cx="2800000" cy="2800000"/>
          </a:xfrm>
          <a:custGeom>
            <a:avLst/>
            <a:gdLst/>
            <a:ahLst/>
            <a:cxnLst/>
            <a:rect l="0" t="0" r="r" b="b"/>
            <a:pathLst>
              <a:path w="1000" h="1000" fill="none">
                <a:moveTo>
                  <a:pt x="735" y="500"/>
                </a:moveTo>
                <a:cubicBezTo>
                  <a:pt x="930" y="450"/>
                  <a:pt x="940" y="740"/>
                  <a:pt x="700" y="760"/>
                </a:cubicBezTo>
              </a:path>
            </a:pathLst>
          </a:custGeom>
          <a:noFill/>
          <a:ln w="168000" cap="rnd">
            <a:solidFill>
              <a:srgbClr val="0D7377"/>
            </a:solidFill>
            <a:round/>
          </a:ln>
        </p:spPr>
      </p:sp>
      <p:sp>
        <p:nvSpPr>
          <p:cNvPr id="32" name="BreakCup"/>
          <p:cNvSpPr/>
          <p:nvPr/>
        </p:nvSpPr>
        <p:spPr>
          <a:xfrm>
            <a:off x="4780000" y="800000"/>
            <a:ext cx="2800000" cy="2800000"/>
          </a:xfrm>
          <a:custGeom>
            <a:avLst/>
            <a:gdLst/>
            <a:ahLst/>
            <a:cxnLst/>
            <a:rect l="0" t="0" r="r" b="b"/>
            <a:pathLst>
              <a:path w="1000" h="1000">
                <a:moveTo>
                  <a:pt x="170" y="420"/>
                </a:moveTo>
                <a:lnTo>
                  <a:pt x="790" y="420"/>
                </a:lnTo>
                <a:cubicBezTo>
                  <a:pt x="790" y="700"/>
                  <a:pt x="690" y="885"/>
                  <a:pt x="480" y="885"/>
                </a:cubicBezTo>
                <a:cubicBezTo>
                  <a:pt x="270" y="885"/>
                  <a:pt x="170" y="700"/>
                  <a:pt x="170" y="420"/>
                </a:cubicBezTo>
                <a:close/>
              </a:path>
            </a:pathLst>
          </a:custGeom>
          <a:solidFill>
            <a:srgbClr val="0D7377"/>
          </a:solidFill>
          <a:ln>
            <a:noFill/>
          </a:ln>
        </p:spPr>
      </p:sp>
      <p:sp>
        <p:nvSpPr>
          <p:cNvPr id="33" name="BreakCup"/>
          <p:cNvSpPr/>
          <p:nvPr/>
        </p:nvSpPr>
        <p:spPr>
          <a:xfrm>
            <a:off x="5256000" y="1864000"/>
            <a:ext cx="1736000" cy="224000"/>
          </a:xfrm>
          <a:prstGeom prst="ellipse">
            <a:avLst/>
          </a:prstGeom>
          <a:solidFill>
            <a:srgbClr val="5FA39B"/>
          </a:solidFill>
          <a:ln>
            <a:noFill/>
          </a:ln>
        </p:spPr>
      </p:sp>
      <p:sp>
        <p:nvSpPr>
          <p:cNvPr id="34" name="BreakCup"/>
          <p:cNvSpPr/>
          <p:nvPr/>
        </p:nvSpPr>
        <p:spPr>
          <a:xfrm>
            <a:off x="5354000" y="1900400"/>
            <a:ext cx="1540000" cy="151200"/>
          </a:xfrm>
          <a:prstGeom prst="ellipse">
            <a:avLst/>
          </a:prstGeom>
          <a:solidFill>
            <a:srgbClr val="5B4032"/>
          </a:solidFill>
          <a:ln>
            <a:noFill/>
          </a:ln>
        </p:spPr>
      </p:sp>
      <p:sp>
        <p:nvSpPr>
          <p:cNvPr id="35" name="BreakCup"/>
          <p:cNvSpPr/>
          <p:nvPr/>
        </p:nvSpPr>
        <p:spPr>
          <a:xfrm>
            <a:off x="4780000" y="800000"/>
            <a:ext cx="2800000" cy="2800000"/>
          </a:xfrm>
          <a:custGeom>
            <a:avLst/>
            <a:gdLst/>
            <a:ahLst/>
            <a:cxnLst/>
            <a:rect l="0" t="0" r="r" b="b"/>
            <a:pathLst>
              <a:path w="1000" h="1000" fill="none">
                <a:moveTo>
                  <a:pt x="370" y="330"/>
                </a:moveTo>
                <a:cubicBezTo>
                  <a:pt x="325" y="280"/>
                  <a:pt x="415" y="230"/>
                  <a:pt x="370" y="180"/>
                </a:cubicBezTo>
                <a:cubicBezTo>
                  <a:pt x="325" y="130"/>
                  <a:pt x="405" y="90"/>
                  <a:pt x="370" y="50"/>
                </a:cubicBezTo>
              </a:path>
            </a:pathLst>
          </a:custGeom>
          <a:noFill/>
          <a:ln w="61600" cap="rnd">
            <a:solidFill>
              <a:srgbClr val="8A99A3"/>
            </a:solidFill>
            <a:round/>
          </a:ln>
        </p:spPr>
      </p:sp>
      <p:sp>
        <p:nvSpPr>
          <p:cNvPr id="36" name="BreakCup"/>
          <p:cNvSpPr/>
          <p:nvPr/>
        </p:nvSpPr>
        <p:spPr>
          <a:xfrm>
            <a:off x="4780000" y="800000"/>
            <a:ext cx="2800000" cy="2800000"/>
          </a:xfrm>
          <a:custGeom>
            <a:avLst/>
            <a:gdLst/>
            <a:ahLst/>
            <a:cxnLst/>
            <a:rect l="0" t="0" r="r" b="b"/>
            <a:pathLst>
              <a:path w="1000" h="1000" fill="none">
                <a:moveTo>
                  <a:pt x="480" y="330"/>
                </a:moveTo>
                <a:cubicBezTo>
                  <a:pt x="435" y="280"/>
                  <a:pt x="525" y="230"/>
                  <a:pt x="480" y="180"/>
                </a:cubicBezTo>
                <a:cubicBezTo>
                  <a:pt x="435" y="130"/>
                  <a:pt x="515" y="90"/>
                  <a:pt x="480" y="50"/>
                </a:cubicBezTo>
              </a:path>
            </a:pathLst>
          </a:custGeom>
          <a:noFill/>
          <a:ln w="61600" cap="rnd">
            <a:solidFill>
              <a:srgbClr val="8A99A3"/>
            </a:solidFill>
            <a:round/>
          </a:ln>
        </p:spPr>
      </p:sp>
      <p:sp>
        <p:nvSpPr>
          <p:cNvPr id="37" name="BreakCup"/>
          <p:cNvSpPr/>
          <p:nvPr/>
        </p:nvSpPr>
        <p:spPr>
          <a:xfrm>
            <a:off x="4780000" y="800000"/>
            <a:ext cx="2800000" cy="2800000"/>
          </a:xfrm>
          <a:custGeom>
            <a:avLst/>
            <a:gdLst/>
            <a:ahLst/>
            <a:cxnLst/>
            <a:rect l="0" t="0" r="r" b="b"/>
            <a:pathLst>
              <a:path w="1000" h="1000" fill="none">
                <a:moveTo>
                  <a:pt x="590" y="330"/>
                </a:moveTo>
                <a:cubicBezTo>
                  <a:pt x="545" y="280"/>
                  <a:pt x="635" y="230"/>
                  <a:pt x="590" y="180"/>
                </a:cubicBezTo>
                <a:cubicBezTo>
                  <a:pt x="545" y="130"/>
                  <a:pt x="625" y="90"/>
                  <a:pt x="590" y="50"/>
                </a:cubicBezTo>
              </a:path>
            </a:pathLst>
          </a:custGeom>
          <a:noFill/>
          <a:ln w="61600" cap="rnd">
            <a:solidFill>
              <a:srgbClr val="8A99A3"/>
            </a:solidFill>
            <a:round/>
          </a:ln>
        </p:spPr>
      </p:sp>
      <p:sp>
        <p:nvSpPr>
          <p:cNvPr id="45" name="BreakLabel"/>
          <p:cNvSpPr txBox="1"/>
          <p:nvPr/>
        </p:nvSpPr>
        <p:spPr>
          <a:xfrm>
            <a:off x="457200" y="3720000"/>
            <a:ext cx="11277600" cy="1250000"/>
          </a:xfrm>
          <a:prstGeom prst="rect">
            <a:avLst/>
          </a:prstGeom>
          <a:noFill/>
          <a:ln>
            <a:noFill/>
          </a:ln>
        </p:spPr>
        <p:txBody>
          <a:bodyPr wrap="square" lIns="91440" tIns="45720" rIns="91440" bIns="45720" rtlCol="0" anchor="t"/>
          <a:lstStyle/>
          <a:p>
            <a:pPr marL="0" indent="0" algn="ctr">
              <a:buNone/>
            </a:pPr>
            <a:r>
              <a:rPr lang="en-US" sz="4400" b="1" dirty="0">
                <a:solidFill>
                  <a:srgbClr val="0D7377"/>
                </a:solidFill>
                <a:latin typeface="Arial"/>
                <a:cs typeface="Arial"/>
              </a:rPr>
              <a:t>Giải lao</a:t>
            </a:r>
          </a:p>
          <a:p>
            <a:pPr marL="0" indent="0" algn="ctr">
              <a:spcBef>
                <a:spcPts val="600"/>
              </a:spcBef>
              <a:buNone/>
            </a:pPr>
            <a:r>
              <a:rPr lang="en-US" sz="2400" dirty="0">
                <a:solidFill>
                  <a:srgbClr val="595959"/>
                </a:solidFill>
                <a:latin typeface="Arial"/>
                <a:cs typeface="Arial"/>
              </a:rPr>
              <a:t>15 phút</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Bài tập: cả lớp cùng làm hai bài tính bảng 2x2</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50" name="Banner"/>
          <p:cNvSpPr/>
          <p:nvPr/>
        </p:nvSpPr>
        <p:spPr>
          <a:xfrm>
            <a:off x="457200" y="1120000"/>
            <a:ext cx="11277600" cy="470000"/>
          </a:xfrm>
          <a:prstGeom prst="rect">
            <a:avLst/>
          </a:prstGeom>
          <a:solidFill>
            <a:srgbClr val="0D7377"/>
          </a:solidFill>
          <a:ln>
            <a:noFill/>
          </a:ln>
        </p:spPr>
        <p:txBody>
          <a:bodyPr wrap="square" lIns="182880" tIns="45720" rIns="182880" bIns="45720" rtlCol="0" anchor="ctr">
            <a:normAutofit/>
          </a:bodyPr>
          <a:lstStyle/>
          <a:p>
            <a:pPr marL="0" indent="0" algn="l">
              <a:buNone/>
            </a:pPr>
            <a:r>
              <a:rPr lang="en-US" sz="1500" b="1" dirty="0">
                <a:solidFill>
                  <a:srgbClr val="FFFFFF"/>
                </a:solidFill>
                <a:latin typeface="Arial"/>
                <a:cs typeface="Arial"/>
              </a:rPr>
              <a:t>CẢ LỚP CÙNG LÀM   |   15 phút</a:t>
            </a:r>
          </a:p>
        </p:txBody>
      </p:sp>
      <p:sp>
        <p:nvSpPr>
          <p:cNvPr id="51" name="Steps"/>
          <p:cNvSpPr txBox="1"/>
          <p:nvPr/>
        </p:nvSpPr>
        <p:spPr>
          <a:xfrm>
            <a:off x="457200" y="1720000"/>
            <a:ext cx="6766560" cy="3510000"/>
          </a:xfrm>
          <a:prstGeom prst="rect">
            <a:avLst/>
          </a:prstGeom>
          <a:noFill/>
          <a:ln>
            <a:noFill/>
          </a:ln>
        </p:spPr>
        <p:txBody>
          <a:bodyPr wrap="square" lIns="91440" tIns="45720" rIns="91440" bIns="45720" rtlCol="0" anchor="t"/>
          <a:lstStyle/>
          <a:p>
            <a:pPr marL="380000" indent="-380000" algn="l">
              <a:lnSpc>
                <a:spcPct val="104000"/>
              </a:lnSpc>
              <a:spcBef>
                <a:spcPts val="450"/>
              </a:spcBef>
              <a:buClr>
                <a:srgbClr val="0D7377"/>
              </a:buClr>
              <a:buFont typeface="Arial"/>
              <a:buChar char="•"/>
            </a:pPr>
            <a:r>
              <a:rPr lang="en-US" sz="1650" dirty="0">
                <a:solidFill>
                  <a:srgbClr val="000000"/>
                </a:solidFill>
                <a:latin typeface="Arial"/>
                <a:cs typeface="Arial"/>
              </a:rPr>
              <a:t>Phiếu bài tập Buổi 4 (file PDF gửi trước buổi học), Phần C: vẽ mỗi bảng 2x2 trước, phơi nhiễm ở hàng</a:t>
            </a:r>
          </a:p>
          <a:p>
            <a:pPr marL="380000" indent="-380000" algn="l">
              <a:lnSpc>
                <a:spcPct val="104000"/>
              </a:lnSpc>
              <a:spcBef>
                <a:spcPts val="450"/>
              </a:spcBef>
              <a:buClr>
                <a:srgbClr val="0D7377"/>
              </a:buClr>
              <a:buFont typeface="Arial"/>
              <a:buChar char="•"/>
            </a:pPr>
            <a:r>
              <a:rPr lang="en-US" sz="1650" dirty="0">
                <a:solidFill>
                  <a:srgbClr val="000000"/>
                </a:solidFill>
                <a:latin typeface="Arial"/>
                <a:cs typeface="Arial"/>
              </a:rPr>
              <a:t>Bài 1 (thử nghiệm dịch truyền, 200 người mỗi nhóm): nguy cơ, RR, RD, NNT, OR. Trả lời từng câu qua bình chọn</a:t>
            </a:r>
          </a:p>
          <a:p>
            <a:pPr marL="380000" indent="-380000" algn="l">
              <a:lnSpc>
                <a:spcPct val="104000"/>
              </a:lnSpc>
              <a:spcBef>
                <a:spcPts val="450"/>
              </a:spcBef>
              <a:buClr>
                <a:srgbClr val="0D7377"/>
              </a:buClr>
              <a:buFont typeface="Arial"/>
              <a:buChar char="•"/>
            </a:pPr>
            <a:r>
              <a:rPr lang="en-US" sz="1650" dirty="0">
                <a:solidFill>
                  <a:srgbClr val="000000"/>
                </a:solidFill>
                <a:latin typeface="Arial"/>
                <a:cs typeface="Arial"/>
              </a:rPr>
              <a:t>Bài 2 (nghiên cứu bệnh–chứng về dịch truyền): chỉ tính OR. Bình chọn: có tính được RR không?</a:t>
            </a:r>
          </a:p>
          <a:p>
            <a:pPr marL="380000" indent="-380000" algn="l">
              <a:lnSpc>
                <a:spcPct val="104000"/>
              </a:lnSpc>
              <a:spcBef>
                <a:spcPts val="450"/>
              </a:spcBef>
              <a:buClr>
                <a:srgbClr val="0D7377"/>
              </a:buClr>
              <a:buFont typeface="Arial"/>
              <a:buChar char="•"/>
            </a:pPr>
            <a:r>
              <a:rPr lang="en-US" sz="1650" dirty="0">
                <a:solidFill>
                  <a:srgbClr val="000000"/>
                </a:solidFill>
                <a:latin typeface="Arial"/>
                <a:cs typeface="Arial"/>
              </a:rPr>
              <a:t>Giảng viên kiểm tra trực tiếp từng đáp án bằng công cụ tính 2x2</a:t>
            </a:r>
          </a:p>
          <a:p>
            <a:pPr marL="380000" indent="-380000" algn="l">
              <a:lnSpc>
                <a:spcPct val="104000"/>
              </a:lnSpc>
              <a:spcBef>
                <a:spcPts val="450"/>
              </a:spcBef>
              <a:buClr>
                <a:srgbClr val="0D7377"/>
              </a:buClr>
              <a:buFont typeface="Arial"/>
              <a:buChar char="•"/>
            </a:pPr>
            <a:r>
              <a:rPr lang="en-US" sz="1650" dirty="0">
                <a:solidFill>
                  <a:srgbClr val="000000"/>
                </a:solidFill>
                <a:latin typeface="Arial"/>
                <a:cs typeface="Arial"/>
              </a:rPr>
              <a:t>Một bạn tình nguyện nói mỗi kết quả bằng một câu dễ hiểu</a:t>
            </a:r>
          </a:p>
        </p:txBody>
      </p:sp>
      <p:sp>
        <p:nvSpPr>
          <p:cNvPr id="52" name="Side"/>
          <p:cNvSpPr/>
          <p:nvPr/>
        </p:nvSpPr>
        <p:spPr>
          <a:xfrm>
            <a:off x="7423760" y="1720000"/>
            <a:ext cx="4311040" cy="1729880"/>
          </a:xfrm>
          <a:prstGeom prst="roundRect">
            <a:avLst>
              <a:gd name="adj" fmla="val 5000"/>
            </a:avLst>
          </a:prstGeom>
          <a:solidFill>
            <a:srgbClr val="EAF2F5"/>
          </a:solidFill>
          <a:ln>
            <a:noFill/>
          </a:ln>
        </p:spPr>
        <p:txBody>
          <a:bodyPr wrap="square" lIns="137160" tIns="91440" rIns="137160" bIns="91440" rtlCol="0" anchor="ctr">
            <a:normAutofit/>
          </a:bodyPr>
          <a:lstStyle/>
          <a:p>
            <a:pPr marL="0" indent="0" algn="ctr">
              <a:buNone/>
            </a:pPr>
            <a:r>
              <a:rPr lang="en-US" sz="1600" b="1" dirty="0">
                <a:solidFill>
                  <a:srgbClr val="0D7377"/>
                </a:solidFill>
                <a:latin typeface="Arial"/>
                <a:cs typeface="Arial"/>
              </a:rPr>
              <a:t>Ghi nhớ</a:t>
            </a:r>
          </a:p>
          <a:p>
            <a:pPr marL="0" indent="0" algn="ctr">
              <a:lnSpc>
                <a:spcPct val="104000"/>
              </a:lnSpc>
              <a:spcBef>
                <a:spcPts val="300"/>
              </a:spcBef>
              <a:buNone/>
            </a:pPr>
            <a:r>
              <a:rPr lang="en-US" sz="1500" dirty="0">
                <a:solidFill>
                  <a:srgbClr val="000000"/>
                </a:solidFill>
                <a:latin typeface="Arial"/>
                <a:cs typeface="Arial"/>
              </a:rPr>
              <a:t>Nguy cơ = a / (a + b)</a:t>
            </a:r>
          </a:p>
          <a:p>
            <a:pPr marL="0" indent="0" algn="ctr">
              <a:lnSpc>
                <a:spcPct val="104000"/>
              </a:lnSpc>
              <a:spcBef>
                <a:spcPts val="300"/>
              </a:spcBef>
              <a:buNone/>
            </a:pPr>
            <a:r>
              <a:rPr lang="en-US" sz="1500" dirty="0">
                <a:solidFill>
                  <a:srgbClr val="000000"/>
                </a:solidFill>
                <a:latin typeface="Arial"/>
                <a:cs typeface="Arial"/>
              </a:rPr>
              <a:t>RR = nguy cơ / nguy cơ</a:t>
            </a:r>
          </a:p>
          <a:p>
            <a:pPr marL="0" indent="0" algn="ctr">
              <a:lnSpc>
                <a:spcPct val="104000"/>
              </a:lnSpc>
              <a:spcBef>
                <a:spcPts val="300"/>
              </a:spcBef>
              <a:buNone/>
            </a:pPr>
            <a:r>
              <a:rPr lang="en-US" sz="1500" dirty="0">
                <a:solidFill>
                  <a:srgbClr val="000000"/>
                </a:solidFill>
                <a:latin typeface="Arial"/>
                <a:cs typeface="Arial"/>
              </a:rPr>
              <a:t>NNT = 1 / hiệu số nguy cơ</a:t>
            </a:r>
          </a:p>
          <a:p>
            <a:pPr marL="0" indent="0" algn="ctr">
              <a:lnSpc>
                <a:spcPct val="104000"/>
              </a:lnSpc>
              <a:spcBef>
                <a:spcPts val="300"/>
              </a:spcBef>
              <a:buNone/>
            </a:pPr>
            <a:r>
              <a:rPr lang="en-US" sz="1500" dirty="0">
                <a:solidFill>
                  <a:srgbClr val="000000"/>
                </a:solidFill>
                <a:latin typeface="Arial"/>
                <a:cs typeface="Arial"/>
              </a:rPr>
              <a:t>OR = (a x d) / (b x c)</a:t>
            </a:r>
          </a:p>
        </p:txBody>
      </p:sp>
      <p:sp>
        <p:nvSpPr>
          <p:cNvPr id="53" name="Deliverable"/>
          <p:cNvSpPr/>
          <p:nvPr/>
        </p:nvSpPr>
        <p:spPr>
          <a:xfrm>
            <a:off x="457200" y="5350000"/>
            <a:ext cx="11277600" cy="600000"/>
          </a:xfrm>
          <a:prstGeom prst="roundRect">
            <a:avLst>
              <a:gd name="adj" fmla="val 12000"/>
            </a:avLst>
          </a:prstGeom>
          <a:solidFill>
            <a:srgbClr val="FFFFFF"/>
          </a:solidFill>
          <a:ln w="15875">
            <a:solidFill>
              <a:srgbClr val="0D7377"/>
            </a:solidFill>
          </a:ln>
        </p:spPr>
        <p:txBody>
          <a:bodyPr wrap="square" lIns="182880" tIns="45720" rIns="182880" bIns="45720" rtlCol="0" anchor="ctr">
            <a:normAutofit/>
          </a:bodyPr>
          <a:lstStyle/>
          <a:p>
            <a:pPr marL="0" indent="0" algn="ctr">
              <a:buNone/>
            </a:pPr>
            <a:r>
              <a:rPr lang="en-US" sz="1300" b="1" dirty="0">
                <a:solidFill>
                  <a:srgbClr val="0D7377"/>
                </a:solidFill>
                <a:latin typeface="Arial"/>
                <a:cs typeface="Arial"/>
              </a:rPr>
              <a:t>SẢN PHẨM   </a:t>
            </a:r>
            <a:r>
              <a:rPr lang="en-US" sz="1500" dirty="0">
                <a:solidFill>
                  <a:srgbClr val="000000"/>
                </a:solidFill>
                <a:latin typeface="Arial"/>
                <a:cs typeface="Arial"/>
              </a:rPr>
              <a:t>Cả lớp giải xong hai bài, mỗi bài có một câu diễn giải dễ hiểu</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4.3  Vượt ra ngoài một nghiên cứu</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Statement"/>
          <p:cNvSpPr txBox="1"/>
          <p:nvPr/>
        </p:nvSpPr>
        <p:spPr>
          <a:xfrm>
            <a:off x="1057200" y="1280000"/>
            <a:ext cx="10077600" cy="4470000"/>
          </a:xfrm>
          <a:prstGeom prst="rect">
            <a:avLst/>
          </a:prstGeom>
          <a:noFill/>
          <a:ln>
            <a:noFill/>
          </a:ln>
        </p:spPr>
        <p:txBody>
          <a:bodyPr wrap="square" lIns="91440" tIns="45720" rIns="91440" bIns="45720" rtlCol="0" anchor="ctr"/>
          <a:lstStyle/>
          <a:p>
            <a:pPr marL="0" indent="0" algn="ctr">
              <a:lnSpc>
                <a:spcPct val="110000"/>
              </a:lnSpc>
              <a:buNone/>
            </a:pPr>
            <a:r>
              <a:rPr lang="en-US" sz="3200" b="1" dirty="0">
                <a:solidFill>
                  <a:srgbClr val="0D7377"/>
                </a:solidFill>
                <a:latin typeface="Arial"/>
                <a:cs typeface="Arial"/>
              </a:rPr>
              <a:t>Một nghiên cứu hiếm khi là câu trả lời.</a:t>
            </a:r>
          </a:p>
          <a:p>
            <a:pPr marL="0" indent="0" algn="ctr">
              <a:spcBef>
                <a:spcPts val="1200"/>
              </a:spcBef>
              <a:buNone/>
            </a:pPr>
            <a:r>
              <a:rPr lang="en-US" sz="1900" i="1" dirty="0">
                <a:solidFill>
                  <a:srgbClr val="595959"/>
                </a:solidFill>
                <a:latin typeface="Arial"/>
                <a:cs typeface="Arial"/>
              </a:rPr>
              <a:t>Xét nghiệm chẩn đoán, tổng quan hệ thống và phân tích gộp, và cách thẩm định chúng. (30 phút)</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Độ chính xác chẩn đoán: nhìn lại độ nhạy và độ đặc hiệu</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pic>
        <p:nvPicPr>
          <p:cNvPr id="25" name="Figure"/>
          <p:cNvPicPr>
            <a:picLocks noChangeAspect="1"/>
          </p:cNvPicPr>
          <p:nvPr/>
        </p:nvPicPr>
        <p:blipFill>
          <a:blip r:embed="rId4"/>
          <a:stretch>
            <a:fillRect/>
          </a:stretch>
        </p:blipFill>
        <p:spPr>
          <a:xfrm>
            <a:off x="908500" y="1150000"/>
            <a:ext cx="10375000" cy="4150000"/>
          </a:xfrm>
          <a:prstGeom prst="rect">
            <a:avLst/>
          </a:prstGeom>
        </p:spPr>
      </p:pic>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Độ nhạy phát hiện người bệnh. Độ đặc hiệu loại trừ người khỏe.</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400" b="1" dirty="0">
                <a:solidFill>
                  <a:srgbClr val="0D7377"/>
                </a:solidFill>
                <a:latin typeface="Arial"/>
                <a:cs typeface="Arial"/>
              </a:rPr>
              <a:t>Cùng xét nghiệm, khác bối cảnh: PPV phụ thuộc tỷ lệ hiện mắc</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pic>
        <p:nvPicPr>
          <p:cNvPr id="25" name="Figure"/>
          <p:cNvPicPr>
            <a:picLocks noChangeAspect="1"/>
          </p:cNvPicPr>
          <p:nvPr/>
        </p:nvPicPr>
        <p:blipFill>
          <a:blip r:embed="rId4"/>
          <a:stretch>
            <a:fillRect/>
          </a:stretch>
        </p:blipFill>
        <p:spPr>
          <a:xfrm>
            <a:off x="1479673" y="1150000"/>
            <a:ext cx="9232653" cy="3770000"/>
          </a:xfrm>
          <a:prstGeom prst="rect">
            <a:avLst/>
          </a:prstGeom>
        </p:spPr>
      </p:pic>
      <p:sp>
        <p:nvSpPr>
          <p:cNvPr id="26" name="Caption"/>
          <p:cNvSpPr txBox="1"/>
          <p:nvPr/>
        </p:nvSpPr>
        <p:spPr>
          <a:xfrm>
            <a:off x="457200" y="4980000"/>
            <a:ext cx="11277600" cy="400000"/>
          </a:xfrm>
          <a:prstGeom prst="rect">
            <a:avLst/>
          </a:prstGeom>
          <a:noFill/>
          <a:ln>
            <a:noFill/>
          </a:ln>
        </p:spPr>
        <p:txBody>
          <a:bodyPr wrap="square" lIns="91440" tIns="45720" rIns="91440" bIns="45720" rtlCol="0" anchor="t"/>
          <a:lstStyle/>
          <a:p>
            <a:pPr marL="0" indent="0" algn="ctr">
              <a:buNone/>
            </a:pPr>
            <a:r>
              <a:rPr lang="en-US" sz="1300" i="1" dirty="0">
                <a:solidFill>
                  <a:srgbClr val="595959"/>
                </a:solidFill>
                <a:latin typeface="Arial"/>
                <a:cs typeface="Arial"/>
              </a:rPr>
              <a:t>PPV, NPV: giá trị tiên đoán dương và âm, khả năng một kết quả dương hoặc âm là đúng</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Kết quả dương tính có ít ý nghĩa hơn nhiều khi bệnh hiếm gặp.</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Đường cong ROC và AUC</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pic>
        <p:nvPicPr>
          <p:cNvPr id="25" name="Figure"/>
          <p:cNvPicPr>
            <a:picLocks noChangeAspect="1"/>
          </p:cNvPicPr>
          <p:nvPr/>
        </p:nvPicPr>
        <p:blipFill>
          <a:blip r:embed="rId4"/>
          <a:stretch>
            <a:fillRect/>
          </a:stretch>
        </p:blipFill>
        <p:spPr>
          <a:xfrm>
            <a:off x="1864367" y="1150000"/>
            <a:ext cx="8463265" cy="3770000"/>
          </a:xfrm>
          <a:prstGeom prst="rect">
            <a:avLst/>
          </a:prstGeom>
        </p:spPr>
      </p:pic>
      <p:sp>
        <p:nvSpPr>
          <p:cNvPr id="26" name="Caption"/>
          <p:cNvSpPr txBox="1"/>
          <p:nvPr/>
        </p:nvSpPr>
        <p:spPr>
          <a:xfrm>
            <a:off x="457200" y="4980000"/>
            <a:ext cx="11277600" cy="400000"/>
          </a:xfrm>
          <a:prstGeom prst="rect">
            <a:avLst/>
          </a:prstGeom>
          <a:noFill/>
          <a:ln>
            <a:noFill/>
          </a:ln>
        </p:spPr>
        <p:txBody>
          <a:bodyPr wrap="square" lIns="91440" tIns="45720" rIns="91440" bIns="45720" rtlCol="0" anchor="t"/>
          <a:lstStyle/>
          <a:p>
            <a:pPr marL="0" indent="0" algn="ctr">
              <a:buNone/>
            </a:pPr>
            <a:r>
              <a:rPr lang="en-US" sz="1300" i="1" dirty="0">
                <a:solidFill>
                  <a:srgbClr val="595959"/>
                </a:solidFill>
                <a:latin typeface="Arial"/>
                <a:cs typeface="Arial"/>
              </a:rPr>
              <a:t>ROC: đường cong đặc trưng hoạt động của xét nghiệm. AUC: diện tích dưới đường cong. Xét nghiệm mô phỏng.</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Mỗi ngưỡng đổi độ nhạy lấy độ đặc hiệu. AUC tóm tắt toàn bộ đường cong.</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Sơ đồ PRISMA: từ 1300 bản ghi đến 9 nghiên cứu</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pic>
        <p:nvPicPr>
          <p:cNvPr id="25" name="Figure"/>
          <p:cNvPicPr>
            <a:picLocks noChangeAspect="1"/>
          </p:cNvPicPr>
          <p:nvPr/>
        </p:nvPicPr>
        <p:blipFill>
          <a:blip r:embed="rId4"/>
          <a:stretch>
            <a:fillRect/>
          </a:stretch>
        </p:blipFill>
        <p:spPr>
          <a:xfrm>
            <a:off x="1173258" y="1150000"/>
            <a:ext cx="9845484" cy="3770000"/>
          </a:xfrm>
          <a:prstGeom prst="rect">
            <a:avLst/>
          </a:prstGeom>
        </p:spPr>
      </p:pic>
      <p:sp>
        <p:nvSpPr>
          <p:cNvPr id="26" name="Caption"/>
          <p:cNvSpPr txBox="1"/>
          <p:nvPr/>
        </p:nvSpPr>
        <p:spPr>
          <a:xfrm>
            <a:off x="457200" y="4980000"/>
            <a:ext cx="11277600" cy="400000"/>
          </a:xfrm>
          <a:prstGeom prst="rect">
            <a:avLst/>
          </a:prstGeom>
          <a:noFill/>
          <a:ln>
            <a:noFill/>
          </a:ln>
        </p:spPr>
        <p:txBody>
          <a:bodyPr wrap="square" lIns="91440" tIns="45720" rIns="91440" bIns="45720" rtlCol="0" anchor="t"/>
          <a:lstStyle/>
          <a:p>
            <a:pPr marL="0" indent="0" algn="ctr">
              <a:buNone/>
            </a:pPr>
            <a:r>
              <a:rPr lang="en-US" sz="1300" i="1" dirty="0">
                <a:solidFill>
                  <a:srgbClr val="595959"/>
                </a:solidFill>
                <a:latin typeface="Arial"/>
                <a:cs typeface="Arial"/>
              </a:rPr>
              <a:t>PRISMA: hướng dẫn báo cáo tổng quan hệ thống và phân tích gộp. RCT: thử nghiệm ngẫu nhiên có đối chứng.</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Sơ đồ PRISMA cho thấy cách tìm, sàng lọc và loại nghiên cứu, kèm lý do.</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Đọc biểu đồ rừng (forest plot) trong bốn bước</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pic>
        <p:nvPicPr>
          <p:cNvPr id="25" name="Figure"/>
          <p:cNvPicPr>
            <a:picLocks noChangeAspect="1"/>
          </p:cNvPicPr>
          <p:nvPr/>
        </p:nvPicPr>
        <p:blipFill>
          <a:blip r:embed="rId4"/>
          <a:stretch>
            <a:fillRect/>
          </a:stretch>
        </p:blipFill>
        <p:spPr>
          <a:xfrm>
            <a:off x="1173258" y="1150000"/>
            <a:ext cx="9845484" cy="3770000"/>
          </a:xfrm>
          <a:prstGeom prst="rect">
            <a:avLst/>
          </a:prstGeom>
        </p:spPr>
      </p:pic>
      <p:sp>
        <p:nvSpPr>
          <p:cNvPr id="26" name="Caption"/>
          <p:cNvSpPr txBox="1"/>
          <p:nvPr/>
        </p:nvSpPr>
        <p:spPr>
          <a:xfrm>
            <a:off x="457200" y="4980000"/>
            <a:ext cx="11277600" cy="400000"/>
          </a:xfrm>
          <a:prstGeom prst="rect">
            <a:avLst/>
          </a:prstGeom>
          <a:noFill/>
          <a:ln>
            <a:noFill/>
          </a:ln>
        </p:spPr>
        <p:txBody>
          <a:bodyPr wrap="square" lIns="91440" tIns="45720" rIns="91440" bIns="45720" rtlCol="0" anchor="t"/>
          <a:lstStyle/>
          <a:p>
            <a:pPr marL="0" indent="0" algn="ctr">
              <a:buNone/>
            </a:pPr>
            <a:r>
              <a:rPr lang="en-US" sz="1300" i="1" dirty="0">
                <a:solidFill>
                  <a:srgbClr val="595959"/>
                </a:solidFill>
                <a:latin typeface="Arial"/>
                <a:cs typeface="Arial"/>
              </a:rPr>
              <a:t>RR: nguy cơ tương đối. KTC: khoảng tin cậy</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Ô vuông = nghiên cứu, đường ngang = KTC, hình thoi = kết quả gộp, đường dọc = không tác động.</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100" b="1" dirty="0">
                <a:solidFill>
                  <a:srgbClr val="0D7377"/>
                </a:solidFill>
                <a:latin typeface="Arial"/>
                <a:cs typeface="Arial"/>
              </a:rPr>
              <a:t>Tính không đồng nhất (heterogeneity): các nghiên cứu có thống nhất?</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pic>
        <p:nvPicPr>
          <p:cNvPr id="25" name="Figure"/>
          <p:cNvPicPr>
            <a:picLocks noChangeAspect="1"/>
          </p:cNvPicPr>
          <p:nvPr/>
        </p:nvPicPr>
        <p:blipFill>
          <a:blip r:embed="rId4"/>
          <a:stretch>
            <a:fillRect/>
          </a:stretch>
        </p:blipFill>
        <p:spPr>
          <a:xfrm>
            <a:off x="1383500" y="1150000"/>
            <a:ext cx="9425000" cy="3770000"/>
          </a:xfrm>
          <a:prstGeom prst="rect">
            <a:avLst/>
          </a:prstGeom>
        </p:spPr>
      </p:pic>
      <p:sp>
        <p:nvSpPr>
          <p:cNvPr id="26" name="Caption"/>
          <p:cNvSpPr txBox="1"/>
          <p:nvPr/>
        </p:nvSpPr>
        <p:spPr>
          <a:xfrm>
            <a:off x="457200" y="4980000"/>
            <a:ext cx="11277600" cy="400000"/>
          </a:xfrm>
          <a:prstGeom prst="rect">
            <a:avLst/>
          </a:prstGeom>
          <a:noFill/>
          <a:ln>
            <a:noFill/>
          </a:ln>
        </p:spPr>
        <p:txBody>
          <a:bodyPr wrap="square" lIns="91440" tIns="45720" rIns="91440" bIns="45720" rtlCol="0" anchor="t"/>
          <a:lstStyle/>
          <a:p>
            <a:pPr marL="0" indent="0" algn="ctr">
              <a:buNone/>
            </a:pPr>
            <a:r>
              <a:rPr lang="en-US" sz="1300" i="1" dirty="0">
                <a:solidFill>
                  <a:srgbClr val="595959"/>
                </a:solidFill>
                <a:latin typeface="Arial"/>
                <a:cs typeface="Arial"/>
              </a:rPr>
              <a:t>I bình phương (i²): phần biến thiên giữa các nghiên cứu vượt quá mức may rủi</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I bình phương cao nghĩa là các nghiên cứu bất đồng: tìm lý do trước khi tin hình thoi.</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Công cụ đánh giá nguy cơ sai lệch nào cho thiết kế nào?</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graphicFrame>
        <p:nvGraphicFramePr>
          <p:cNvPr id="30" name="Table"/>
          <p:cNvGraphicFramePr/>
          <p:nvPr/>
        </p:nvGraphicFramePr>
        <p:xfrm>
          <a:off x="457200" y="1470025"/>
          <a:ext cx="11277600" cy="3070800"/>
        </p:xfrm>
        <a:graphic>
          <a:graphicData uri="http://schemas.openxmlformats.org/drawingml/2006/table">
            <a:tbl>
              <a:tblPr firstRow="1" bandRow="1">
                <a:tableStyleId>{5C22544A-7EE6-4342-B048-85BDC9FD1C3A}</a:tableStyleId>
              </a:tblPr>
              <a:tblGrid>
                <a:gridCol w="2819400"/>
                <a:gridCol w="2819400"/>
                <a:gridCol w="2819400"/>
                <a:gridCol w="2819400"/>
              </a:tblGrid>
              <a:tr h="380000">
                <a:tc>
                  <a:txBody>
                    <a:bodyPr/>
                    <a:lstStyle/>
                    <a:p>
                      <a:pPr algn="l"/>
                      <a:r>
                        <a:rPr lang="en-US" sz="1400" b="1" dirty="0">
                          <a:solidFill>
                            <a:srgbClr val="FFFFFF"/>
                          </a:solidFill>
                          <a:latin typeface="Arial"/>
                          <a:cs typeface="Arial"/>
                        </a:rPr>
                        <a:t>Nếu nghiên cứu là...</a:t>
                      </a:r>
                    </a:p>
                  </a:txBody>
                  <a:tcPr marL="73152" marR="73152" marT="45720" marB="45720" anchor="ctr">
                    <a:solidFill>
                      <a:srgbClr val="0D7377"/>
                    </a:solidFill>
                  </a:tcPr>
                </a:tc>
                <a:tc>
                  <a:txBody>
                    <a:bodyPr/>
                    <a:lstStyle/>
                    <a:p>
                      <a:pPr algn="l"/>
                      <a:r>
                        <a:rPr lang="en-US" sz="1400" b="1" dirty="0">
                          <a:solidFill>
                            <a:srgbClr val="FFFFFF"/>
                          </a:solidFill>
                          <a:latin typeface="Arial"/>
                          <a:cs typeface="Arial"/>
                        </a:rPr>
                        <a:t>Thẩm định bằng</a:t>
                      </a:r>
                    </a:p>
                  </a:txBody>
                  <a:tcPr marL="73152" marR="73152" marT="45720" marB="45720" anchor="ctr">
                    <a:solidFill>
                      <a:srgbClr val="0D7377"/>
                    </a:solidFill>
                  </a:tcPr>
                </a:tc>
                <a:tc>
                  <a:txBody>
                    <a:bodyPr/>
                    <a:lstStyle/>
                    <a:p>
                      <a:pPr algn="l"/>
                      <a:r>
                        <a:rPr lang="en-US" sz="1400" b="1" dirty="0">
                          <a:solidFill>
                            <a:srgbClr val="FFFFFF"/>
                          </a:solidFill>
                          <a:latin typeface="Arial"/>
                          <a:cs typeface="Arial"/>
                        </a:rPr>
                        <a:t>Báo cáo theo</a:t>
                      </a:r>
                    </a:p>
                  </a:txBody>
                  <a:tcPr marL="73152" marR="73152" marT="45720" marB="45720" anchor="ctr">
                    <a:solidFill>
                      <a:srgbClr val="0D7377"/>
                    </a:solidFill>
                  </a:tcPr>
                </a:tc>
                <a:tc>
                  <a:txBody>
                    <a:bodyPr/>
                    <a:lstStyle/>
                    <a:p>
                      <a:pPr algn="l"/>
                      <a:r>
                        <a:rPr lang="en-US" sz="1400" b="1" dirty="0">
                          <a:solidFill>
                            <a:srgbClr val="FFFFFF"/>
                          </a:solidFill>
                          <a:latin typeface="Arial"/>
                          <a:cs typeface="Arial"/>
                        </a:rPr>
                        <a:t>Ví dụ trong khóa học</a:t>
                      </a:r>
                    </a:p>
                  </a:txBody>
                  <a:tcPr marL="73152" marR="73152" marT="45720" marB="45720" anchor="ctr">
                    <a:solidFill>
                      <a:srgbClr val="0D7377"/>
                    </a:solidFill>
                  </a:tcPr>
                </a:tc>
              </a:tr>
              <a:tr h="538160">
                <a:tc>
                  <a:txBody>
                    <a:bodyPr/>
                    <a:lstStyle/>
                    <a:p>
                      <a:pPr algn="l"/>
                      <a:r>
                        <a:rPr lang="en-US" sz="1400" dirty="0">
                          <a:solidFill>
                            <a:srgbClr val="000000"/>
                          </a:solidFill>
                          <a:latin typeface="Arial"/>
                          <a:cs typeface="Arial"/>
                        </a:rPr>
                        <a:t>Thử nghiệm ngẫu nhiên</a:t>
                      </a:r>
                    </a:p>
                  </a:txBody>
                  <a:tcPr marL="73152" marR="73152" marT="45720" marB="45720" anchor="ctr">
                    <a:solidFill>
                      <a:srgbClr val="FFFFFF"/>
                    </a:solidFill>
                  </a:tcPr>
                </a:tc>
                <a:tc>
                  <a:txBody>
                    <a:bodyPr/>
                    <a:lstStyle/>
                    <a:p>
                      <a:pPr algn="l"/>
                      <a:r>
                        <a:rPr lang="en-US" sz="1400" dirty="0">
                          <a:solidFill>
                            <a:srgbClr val="000000"/>
                          </a:solidFill>
                          <a:latin typeface="Arial"/>
                          <a:cs typeface="Arial"/>
                        </a:rPr>
                        <a:t>RoB 2</a:t>
                      </a:r>
                    </a:p>
                  </a:txBody>
                  <a:tcPr marL="73152" marR="73152" marT="45720" marB="45720" anchor="ctr">
                    <a:solidFill>
                      <a:srgbClr val="FFFFFF"/>
                    </a:solidFill>
                  </a:tcPr>
                </a:tc>
                <a:tc>
                  <a:txBody>
                    <a:bodyPr/>
                    <a:lstStyle/>
                    <a:p>
                      <a:pPr algn="l"/>
                      <a:r>
                        <a:rPr lang="en-US" sz="1400" dirty="0">
                          <a:solidFill>
                            <a:srgbClr val="000000"/>
                          </a:solidFill>
                          <a:latin typeface="Arial"/>
                          <a:cs typeface="Arial"/>
                        </a:rPr>
                        <a:t>CONSORT</a:t>
                      </a:r>
                    </a:p>
                  </a:txBody>
                  <a:tcPr marL="73152" marR="73152" marT="45720" marB="45720" anchor="ctr">
                    <a:solidFill>
                      <a:srgbClr val="FFFFFF"/>
                    </a:solidFill>
                  </a:tcPr>
                </a:tc>
                <a:tc>
                  <a:txBody>
                    <a:bodyPr/>
                    <a:lstStyle/>
                    <a:p>
                      <a:pPr algn="l"/>
                      <a:r>
                        <a:rPr lang="en-US" sz="1400" dirty="0">
                          <a:solidFill>
                            <a:srgbClr val="000000"/>
                          </a:solidFill>
                          <a:latin typeface="Arial"/>
                          <a:cs typeface="Arial"/>
                        </a:rPr>
                        <a:t>Bài báo 1 (Boulet)</a:t>
                      </a:r>
                    </a:p>
                  </a:txBody>
                  <a:tcPr marL="73152" marR="73152" marT="45720" marB="45720" anchor="ctr">
                    <a:solidFill>
                      <a:srgbClr val="FFFFFF"/>
                    </a:solidFill>
                  </a:tcPr>
                </a:tc>
              </a:tr>
              <a:tr h="538160">
                <a:tc>
                  <a:txBody>
                    <a:bodyPr/>
                    <a:lstStyle/>
                    <a:p>
                      <a:pPr algn="l"/>
                      <a:r>
                        <a:rPr lang="en-US" sz="1400" dirty="0">
                          <a:solidFill>
                            <a:srgbClr val="000000"/>
                          </a:solidFill>
                          <a:latin typeface="Arial"/>
                          <a:cs typeface="Arial"/>
                        </a:rPr>
                        <a:t>Nghiên cứu không ngẫu nhiên về một can thiệp</a:t>
                      </a:r>
                    </a:p>
                  </a:txBody>
                  <a:tcPr marL="73152" marR="73152" marT="45720" marB="45720" anchor="ctr">
                    <a:solidFill>
                      <a:srgbClr val="F5F9FA"/>
                    </a:solidFill>
                  </a:tcPr>
                </a:tc>
                <a:tc>
                  <a:txBody>
                    <a:bodyPr/>
                    <a:lstStyle/>
                    <a:p>
                      <a:pPr algn="l"/>
                      <a:r>
                        <a:rPr lang="en-US" sz="1400" dirty="0">
                          <a:solidFill>
                            <a:srgbClr val="000000"/>
                          </a:solidFill>
                          <a:latin typeface="Arial"/>
                          <a:cs typeface="Arial"/>
                        </a:rPr>
                        <a:t>ROBINS-I</a:t>
                      </a:r>
                    </a:p>
                  </a:txBody>
                  <a:tcPr marL="73152" marR="73152" marT="45720" marB="45720" anchor="ctr">
                    <a:solidFill>
                      <a:srgbClr val="F5F9FA"/>
                    </a:solidFill>
                  </a:tcPr>
                </a:tc>
                <a:tc>
                  <a:txBody>
                    <a:bodyPr/>
                    <a:lstStyle/>
                    <a:p>
                      <a:pPr algn="l"/>
                      <a:r>
                        <a:rPr lang="en-US" sz="1400" dirty="0">
                          <a:solidFill>
                            <a:srgbClr val="000000"/>
                          </a:solidFill>
                          <a:latin typeface="Arial"/>
                          <a:cs typeface="Arial"/>
                        </a:rPr>
                        <a:t>TREND hoặc STROBE</a:t>
                      </a:r>
                    </a:p>
                  </a:txBody>
                  <a:tcPr marL="73152" marR="73152" marT="45720" marB="45720" anchor="ctr">
                    <a:solidFill>
                      <a:srgbClr val="F5F9FA"/>
                    </a:solidFill>
                  </a:tcPr>
                </a:tc>
                <a:tc>
                  <a:txBody>
                    <a:bodyPr/>
                    <a:lstStyle/>
                    <a:p>
                      <a:pPr algn="l"/>
                      <a:r>
                        <a:rPr lang="en-US" sz="1400" dirty="0">
                          <a:solidFill>
                            <a:srgbClr val="000000"/>
                          </a:solidFill>
                          <a:latin typeface="Arial"/>
                          <a:cs typeface="Arial"/>
                        </a:rPr>
                        <a:t> </a:t>
                      </a:r>
                    </a:p>
                  </a:txBody>
                  <a:tcPr marL="73152" marR="73152" marT="45720" marB="45720" anchor="ctr">
                    <a:solidFill>
                      <a:srgbClr val="F5F9FA"/>
                    </a:solidFill>
                  </a:tcPr>
                </a:tc>
              </a:tr>
              <a:tr h="538160">
                <a:tc>
                  <a:txBody>
                    <a:bodyPr/>
                    <a:lstStyle/>
                    <a:p>
                      <a:pPr algn="l"/>
                      <a:r>
                        <a:rPr lang="en-US" sz="1400" dirty="0">
                          <a:solidFill>
                            <a:srgbClr val="000000"/>
                          </a:solidFill>
                          <a:latin typeface="Arial"/>
                          <a:cs typeface="Arial"/>
                        </a:rPr>
                        <a:t>Thuần tập hoặc bệnh–chứng về một phơi nhiễm</a:t>
                      </a:r>
                    </a:p>
                  </a:txBody>
                  <a:tcPr marL="73152" marR="73152" marT="45720" marB="45720" anchor="ctr">
                    <a:solidFill>
                      <a:srgbClr val="FFFFFF"/>
                    </a:solidFill>
                  </a:tcPr>
                </a:tc>
                <a:tc>
                  <a:txBody>
                    <a:bodyPr/>
                    <a:lstStyle/>
                    <a:p>
                      <a:pPr algn="l"/>
                      <a:r>
                        <a:rPr lang="en-US" sz="1400" dirty="0">
                          <a:solidFill>
                            <a:srgbClr val="000000"/>
                          </a:solidFill>
                          <a:latin typeface="Arial"/>
                          <a:cs typeface="Arial"/>
                        </a:rPr>
                        <a:t>Thang Newcastle-Ottawa (hoặc ROBINS-E)</a:t>
                      </a:r>
                    </a:p>
                  </a:txBody>
                  <a:tcPr marL="73152" marR="73152" marT="45720" marB="45720" anchor="ctr">
                    <a:solidFill>
                      <a:srgbClr val="FFFFFF"/>
                    </a:solidFill>
                  </a:tcPr>
                </a:tc>
                <a:tc>
                  <a:txBody>
                    <a:bodyPr/>
                    <a:lstStyle/>
                    <a:p>
                      <a:pPr algn="l"/>
                      <a:r>
                        <a:rPr lang="en-US" sz="1400" dirty="0">
                          <a:solidFill>
                            <a:srgbClr val="000000"/>
                          </a:solidFill>
                          <a:latin typeface="Arial"/>
                          <a:cs typeface="Arial"/>
                        </a:rPr>
                        <a:t>STROBE</a:t>
                      </a:r>
                    </a:p>
                  </a:txBody>
                  <a:tcPr marL="73152" marR="73152" marT="45720" marB="45720" anchor="ctr">
                    <a:solidFill>
                      <a:srgbClr val="FFFFFF"/>
                    </a:solidFill>
                  </a:tcPr>
                </a:tc>
                <a:tc>
                  <a:txBody>
                    <a:bodyPr/>
                    <a:lstStyle/>
                    <a:p>
                      <a:pPr algn="l"/>
                      <a:r>
                        <a:rPr lang="en-US" sz="1400" dirty="0">
                          <a:solidFill>
                            <a:srgbClr val="000000"/>
                          </a:solidFill>
                          <a:latin typeface="Arial"/>
                          <a:cs typeface="Arial"/>
                        </a:rPr>
                        <a:t>Bài báo 2 (Hyun)</a:t>
                      </a:r>
                    </a:p>
                  </a:txBody>
                  <a:tcPr marL="73152" marR="73152" marT="45720" marB="45720" anchor="ctr">
                    <a:solidFill>
                      <a:srgbClr val="FFFFFF"/>
                    </a:solidFill>
                  </a:tcPr>
                </a:tc>
              </a:tr>
              <a:tr h="538160">
                <a:tc>
                  <a:txBody>
                    <a:bodyPr/>
                    <a:lstStyle/>
                    <a:p>
                      <a:pPr algn="l"/>
                      <a:r>
                        <a:rPr lang="en-US" sz="1400" dirty="0">
                          <a:solidFill>
                            <a:srgbClr val="000000"/>
                          </a:solidFill>
                          <a:latin typeface="Arial"/>
                          <a:cs typeface="Arial"/>
                        </a:rPr>
                        <a:t>Nghiên cứu độ chính xác chẩn đoán</a:t>
                      </a:r>
                    </a:p>
                  </a:txBody>
                  <a:tcPr marL="73152" marR="73152" marT="45720" marB="45720" anchor="ctr">
                    <a:solidFill>
                      <a:srgbClr val="F5F9FA"/>
                    </a:solidFill>
                  </a:tcPr>
                </a:tc>
                <a:tc>
                  <a:txBody>
                    <a:bodyPr/>
                    <a:lstStyle/>
                    <a:p>
                      <a:pPr algn="l"/>
                      <a:r>
                        <a:rPr lang="en-US" sz="1400" dirty="0">
                          <a:solidFill>
                            <a:srgbClr val="000000"/>
                          </a:solidFill>
                          <a:latin typeface="Arial"/>
                          <a:cs typeface="Arial"/>
                        </a:rPr>
                        <a:t>QUADAS-2</a:t>
                      </a:r>
                    </a:p>
                  </a:txBody>
                  <a:tcPr marL="73152" marR="73152" marT="45720" marB="45720" anchor="ctr">
                    <a:solidFill>
                      <a:srgbClr val="F5F9FA"/>
                    </a:solidFill>
                  </a:tcPr>
                </a:tc>
                <a:tc>
                  <a:txBody>
                    <a:bodyPr/>
                    <a:lstStyle/>
                    <a:p>
                      <a:pPr algn="l"/>
                      <a:r>
                        <a:rPr lang="en-US" sz="1400" dirty="0">
                          <a:solidFill>
                            <a:srgbClr val="000000"/>
                          </a:solidFill>
                          <a:latin typeface="Arial"/>
                          <a:cs typeface="Arial"/>
                        </a:rPr>
                        <a:t>STARD</a:t>
                      </a:r>
                    </a:p>
                  </a:txBody>
                  <a:tcPr marL="73152" marR="73152" marT="45720" marB="45720" anchor="ctr">
                    <a:solidFill>
                      <a:srgbClr val="F5F9FA"/>
                    </a:solidFill>
                  </a:tcPr>
                </a:tc>
                <a:tc>
                  <a:txBody>
                    <a:bodyPr/>
                    <a:lstStyle/>
                    <a:p>
                      <a:pPr algn="l"/>
                      <a:r>
                        <a:rPr lang="en-US" sz="1400" dirty="0">
                          <a:solidFill>
                            <a:srgbClr val="000000"/>
                          </a:solidFill>
                          <a:latin typeface="Arial"/>
                          <a:cs typeface="Arial"/>
                        </a:rPr>
                        <a:t> </a:t>
                      </a:r>
                    </a:p>
                  </a:txBody>
                  <a:tcPr marL="73152" marR="73152" marT="45720" marB="45720" anchor="ctr">
                    <a:solidFill>
                      <a:srgbClr val="F5F9FA"/>
                    </a:solidFill>
                  </a:tcPr>
                </a:tc>
              </a:tr>
              <a:tr h="538160">
                <a:tc>
                  <a:txBody>
                    <a:bodyPr/>
                    <a:lstStyle/>
                    <a:p>
                      <a:pPr algn="l"/>
                      <a:r>
                        <a:rPr lang="en-US" sz="1400" dirty="0">
                          <a:solidFill>
                            <a:srgbClr val="000000"/>
                          </a:solidFill>
                          <a:latin typeface="Arial"/>
                          <a:cs typeface="Arial"/>
                        </a:rPr>
                        <a:t>Tổng quan hệ thống</a:t>
                      </a:r>
                    </a:p>
                  </a:txBody>
                  <a:tcPr marL="73152" marR="73152" marT="45720" marB="45720" anchor="ctr">
                    <a:solidFill>
                      <a:srgbClr val="FFFFFF"/>
                    </a:solidFill>
                  </a:tcPr>
                </a:tc>
                <a:tc>
                  <a:txBody>
                    <a:bodyPr/>
                    <a:lstStyle/>
                    <a:p>
                      <a:pPr algn="l"/>
                      <a:r>
                        <a:rPr lang="en-US" sz="1400" dirty="0">
                          <a:solidFill>
                            <a:srgbClr val="000000"/>
                          </a:solidFill>
                          <a:latin typeface="Arial"/>
                          <a:cs typeface="Arial"/>
                        </a:rPr>
                        <a:t>AMSTAR 2</a:t>
                      </a:r>
                    </a:p>
                  </a:txBody>
                  <a:tcPr marL="73152" marR="73152" marT="45720" marB="45720" anchor="ctr">
                    <a:solidFill>
                      <a:srgbClr val="FFFFFF"/>
                    </a:solidFill>
                  </a:tcPr>
                </a:tc>
                <a:tc>
                  <a:txBody>
                    <a:bodyPr/>
                    <a:lstStyle/>
                    <a:p>
                      <a:pPr algn="l"/>
                      <a:r>
                        <a:rPr lang="en-US" sz="1400" dirty="0">
                          <a:solidFill>
                            <a:srgbClr val="000000"/>
                          </a:solidFill>
                          <a:latin typeface="Arial"/>
                          <a:cs typeface="Arial"/>
                        </a:rPr>
                        <a:t>PRISMA</a:t>
                      </a:r>
                    </a:p>
                  </a:txBody>
                  <a:tcPr marL="73152" marR="73152" marT="45720" marB="45720" anchor="ctr">
                    <a:solidFill>
                      <a:srgbClr val="FFFFFF"/>
                    </a:solidFill>
                  </a:tcPr>
                </a:tc>
                <a:tc>
                  <a:txBody>
                    <a:bodyPr/>
                    <a:lstStyle/>
                    <a:p>
                      <a:pPr algn="l"/>
                      <a:r>
                        <a:rPr lang="en-US" sz="1400" dirty="0">
                          <a:solidFill>
                            <a:srgbClr val="000000"/>
                          </a:solidFill>
                          <a:latin typeface="Arial"/>
                          <a:cs typeface="Arial"/>
                        </a:rPr>
                        <a:t> </a:t>
                      </a:r>
                    </a:p>
                  </a:txBody>
                  <a:tcPr marL="73152" marR="73152" marT="45720" marB="45720" anchor="ctr">
                    <a:solidFill>
                      <a:srgbClr val="FFFFFF"/>
                    </a:solidFill>
                  </a:tcPr>
                </a:tc>
              </a:tr>
            </a:tbl>
          </a:graphicData>
        </a:graphic>
      </p:graphicFrame>
      <p:sp>
        <p:nvSpPr>
          <p:cNvPr id="31" name="Caption"/>
          <p:cNvSpPr txBox="1"/>
          <p:nvPr/>
        </p:nvSpPr>
        <p:spPr>
          <a:xfrm>
            <a:off x="457200" y="4630825"/>
            <a:ext cx="11277600" cy="769125"/>
          </a:xfrm>
          <a:prstGeom prst="rect">
            <a:avLst/>
          </a:prstGeom>
          <a:noFill/>
          <a:ln>
            <a:noFill/>
          </a:ln>
        </p:spPr>
        <p:txBody>
          <a:bodyPr wrap="square" lIns="91440" tIns="45720" rIns="91440" bIns="45720" rtlCol="0" anchor="t"/>
          <a:lstStyle/>
          <a:p>
            <a:pPr marL="0" indent="0" algn="l">
              <a:buNone/>
            </a:pPr>
            <a:r>
              <a:rPr lang="en-US" sz="1300" i="1" dirty="0">
                <a:solidFill>
                  <a:srgbClr val="595959"/>
                </a:solidFill>
                <a:latin typeface="Arial"/>
                <a:cs typeface="Arial"/>
              </a:rPr>
              <a:t>RoB 2: công cụ đánh giá nguy cơ sai lệch của Cochrane cho thử nghiệm ngẫu nhiên. ROBINS-I / -E: nguy cơ sai lệch trong nghiên cứu không ngẫu nhiên về can thiệp / phơi nhiễm. QUADAS-2: cho nghiên cứu chẩn đoán. AMSTAR 2: cho tổng quan hệ thống. Các hướng dẫn báo cáo được học ở Buổi 8.</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Câu hỏi cuối: kết luận có được dữ liệu ủng hộ?</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480000"/>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Câu 7-9 trong bảng kiểm thẩm định 10 câu dùng ở Buổi 8</a:t>
            </a:r>
          </a:p>
        </p:txBody>
      </p:sp>
      <p:sp>
        <p:nvSpPr>
          <p:cNvPr id="70" name="CardHead"/>
          <p:cNvSpPr/>
          <p:nvPr/>
        </p:nvSpPr>
        <p:spPr>
          <a:xfrm>
            <a:off x="457200" y="2018552"/>
            <a:ext cx="3625866"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Lời lẽ khớp thiết kế</a:t>
            </a:r>
          </a:p>
        </p:txBody>
      </p:sp>
      <p:sp>
        <p:nvSpPr>
          <p:cNvPr id="71" name="CardBody"/>
          <p:cNvSpPr/>
          <p:nvPr/>
        </p:nvSpPr>
        <p:spPr>
          <a:xfrm>
            <a:off x="457200" y="2658552"/>
            <a:ext cx="3625866" cy="1874342"/>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'Gây ra' cần phân bổ ngẫu nhiên</a:t>
            </a:r>
          </a:p>
          <a:p>
            <a:pPr marL="0" indent="0" algn="ctr">
              <a:lnSpc>
                <a:spcPct val="104000"/>
              </a:lnSpc>
              <a:spcBef>
                <a:spcPts val="400"/>
              </a:spcBef>
              <a:buNone/>
            </a:pPr>
            <a:r>
              <a:rPr lang="en-US" sz="1750" dirty="0">
                <a:solidFill>
                  <a:srgbClr val="000000"/>
                </a:solidFill>
                <a:latin typeface="Arial"/>
                <a:cs typeface="Arial"/>
              </a:rPr>
              <a:t>Quan sát: 'có liên quan với'</a:t>
            </a:r>
          </a:p>
          <a:p>
            <a:pPr marL="0" indent="0" algn="ctr">
              <a:lnSpc>
                <a:spcPct val="104000"/>
              </a:lnSpc>
              <a:spcBef>
                <a:spcPts val="400"/>
              </a:spcBef>
              <a:buNone/>
            </a:pPr>
            <a:r>
              <a:rPr lang="en-US" sz="1750" dirty="0">
                <a:solidFill>
                  <a:srgbClr val="000000"/>
                </a:solidFill>
                <a:latin typeface="Arial"/>
                <a:cs typeface="Arial"/>
              </a:rPr>
              <a:t>Thí điểm: khả thi, không phải hiệu quả</a:t>
            </a:r>
          </a:p>
        </p:txBody>
      </p:sp>
      <p:sp>
        <p:nvSpPr>
          <p:cNvPr id="72" name="CardHead"/>
          <p:cNvSpPr/>
          <p:nvPr/>
        </p:nvSpPr>
        <p:spPr>
          <a:xfrm>
            <a:off x="4283066" y="2018552"/>
            <a:ext cx="3625866"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Con số khớp lời lẽ</a:t>
            </a:r>
          </a:p>
        </p:txBody>
      </p:sp>
      <p:sp>
        <p:nvSpPr>
          <p:cNvPr id="73" name="CardBody"/>
          <p:cNvSpPr/>
          <p:nvPr/>
        </p:nvSpPr>
        <p:spPr>
          <a:xfrm>
            <a:off x="4283066" y="2658552"/>
            <a:ext cx="3625866" cy="1874342"/>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Cỡ tác động kèm KTC 95%</a:t>
            </a:r>
          </a:p>
          <a:p>
            <a:pPr marL="0" indent="0" algn="ctr">
              <a:lnSpc>
                <a:spcPct val="104000"/>
              </a:lnSpc>
              <a:spcBef>
                <a:spcPts val="400"/>
              </a:spcBef>
              <a:buNone/>
            </a:pPr>
            <a:r>
              <a:rPr lang="en-US" sz="1750" dirty="0">
                <a:solidFill>
                  <a:srgbClr val="000000"/>
                </a:solidFill>
                <a:latin typeface="Arial"/>
                <a:cs typeface="Arial"/>
              </a:rPr>
              <a:t>Tác động tương đối và tuyệt đối</a:t>
            </a:r>
          </a:p>
          <a:p>
            <a:pPr marL="0" indent="0" algn="ctr">
              <a:lnSpc>
                <a:spcPct val="104000"/>
              </a:lnSpc>
              <a:spcBef>
                <a:spcPts val="400"/>
              </a:spcBef>
              <a:buNone/>
            </a:pPr>
            <a:r>
              <a:rPr lang="en-US" sz="1750" dirty="0">
                <a:solidFill>
                  <a:srgbClr val="000000"/>
                </a:solidFill>
                <a:latin typeface="Arial"/>
                <a:cs typeface="Arial"/>
              </a:rPr>
              <a:t>Không nói 'xu hướng' khi p = 0.42</a:t>
            </a:r>
          </a:p>
        </p:txBody>
      </p:sp>
      <p:sp>
        <p:nvSpPr>
          <p:cNvPr id="74" name="CardHead"/>
          <p:cNvSpPr/>
          <p:nvPr/>
        </p:nvSpPr>
        <p:spPr>
          <a:xfrm>
            <a:off x="8108932" y="2018552"/>
            <a:ext cx="3625866" cy="640000"/>
          </a:xfrm>
          <a:prstGeom prst="rect">
            <a:avLst/>
          </a:prstGeom>
          <a:solidFill>
            <a:srgbClr val="B23B2E"/>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Trung thực, không tô vẽ</a:t>
            </a:r>
          </a:p>
        </p:txBody>
      </p:sp>
      <p:sp>
        <p:nvSpPr>
          <p:cNvPr id="75" name="CardBody"/>
          <p:cNvSpPr/>
          <p:nvPr/>
        </p:nvSpPr>
        <p:spPr>
          <a:xfrm>
            <a:off x="8108932" y="2658552"/>
            <a:ext cx="3625866" cy="1874342"/>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Kết cục chính được báo cáo trước</a:t>
            </a:r>
          </a:p>
          <a:p>
            <a:pPr marL="0" indent="0" algn="ctr">
              <a:lnSpc>
                <a:spcPct val="104000"/>
              </a:lnSpc>
              <a:spcBef>
                <a:spcPts val="400"/>
              </a:spcBef>
              <a:buNone/>
            </a:pPr>
            <a:r>
              <a:rPr lang="en-US" sz="1750" dirty="0">
                <a:solidFill>
                  <a:srgbClr val="000000"/>
                </a:solidFill>
                <a:latin typeface="Arial"/>
                <a:cs typeface="Arial"/>
              </a:rPr>
              <a:t>Nêu rõ hạn chế chính</a:t>
            </a:r>
          </a:p>
          <a:p>
            <a:pPr marL="0" indent="0" algn="ctr">
              <a:lnSpc>
                <a:spcPct val="104000"/>
              </a:lnSpc>
              <a:spcBef>
                <a:spcPts val="400"/>
              </a:spcBef>
              <a:buNone/>
            </a:pPr>
            <a:r>
              <a:rPr lang="en-US" sz="1750" dirty="0">
                <a:solidFill>
                  <a:srgbClr val="000000"/>
                </a:solidFill>
                <a:latin typeface="Arial"/>
                <a:cs typeface="Arial"/>
              </a:rPr>
              <a:t>Kết luận dựa trên kết quả chính</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Đọc kết luận sau cùng, và đối chiếu với thiết kế và con số.</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Bài tập: đọc biểu đồ rừng, chọn công cụ</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50" name="Banner"/>
          <p:cNvSpPr/>
          <p:nvPr/>
        </p:nvSpPr>
        <p:spPr>
          <a:xfrm>
            <a:off x="457200" y="1120000"/>
            <a:ext cx="11277600" cy="470000"/>
          </a:xfrm>
          <a:prstGeom prst="rect">
            <a:avLst/>
          </a:prstGeom>
          <a:solidFill>
            <a:srgbClr val="0D7377"/>
          </a:solidFill>
          <a:ln>
            <a:noFill/>
          </a:ln>
        </p:spPr>
        <p:txBody>
          <a:bodyPr wrap="square" lIns="182880" tIns="45720" rIns="182880" bIns="45720" rtlCol="0" anchor="ctr">
            <a:normAutofit/>
          </a:bodyPr>
          <a:lstStyle/>
          <a:p>
            <a:pPr marL="0" indent="0" algn="l">
              <a:buNone/>
            </a:pPr>
            <a:r>
              <a:rPr lang="en-US" sz="1500" b="1" dirty="0">
                <a:solidFill>
                  <a:srgbClr val="FFFFFF"/>
                </a:solidFill>
                <a:latin typeface="Arial"/>
                <a:cs typeface="Arial"/>
              </a:rPr>
              <a:t>CẢ LỚP CÙNG LÀM   |   8 phút</a:t>
            </a:r>
          </a:p>
        </p:txBody>
      </p:sp>
      <p:sp>
        <p:nvSpPr>
          <p:cNvPr id="51" name="Steps"/>
          <p:cNvSpPr txBox="1"/>
          <p:nvPr/>
        </p:nvSpPr>
        <p:spPr>
          <a:xfrm>
            <a:off x="457200" y="1720000"/>
            <a:ext cx="6766560" cy="3510000"/>
          </a:xfrm>
          <a:prstGeom prst="rect">
            <a:avLst/>
          </a:prstGeom>
          <a:noFill/>
          <a:ln>
            <a:noFill/>
          </a:ln>
        </p:spPr>
        <p:txBody>
          <a:bodyPr wrap="square" lIns="91440" tIns="45720" rIns="91440" bIns="45720" rtlCol="0" anchor="t"/>
          <a:lstStyle/>
          <a:p>
            <a:pPr marL="380000" indent="-380000" algn="l">
              <a:lnSpc>
                <a:spcPct val="104000"/>
              </a:lnSpc>
              <a:spcBef>
                <a:spcPts val="450"/>
              </a:spcBef>
              <a:buClr>
                <a:srgbClr val="0D7377"/>
              </a:buClr>
              <a:buFont typeface="Arial"/>
              <a:buChar char="•"/>
            </a:pPr>
            <a:r>
              <a:rPr lang="en-US" sz="1650" dirty="0">
                <a:solidFill>
                  <a:srgbClr val="000000"/>
                </a:solidFill>
                <a:latin typeface="Arial"/>
                <a:cs typeface="Arial"/>
              </a:rPr>
              <a:t>Phiếu bài tập Buổi 4 (PDF), Phần E: biểu đồ rừng của sáu thử nghiệm dịch truyền, cũng chiếu trên màn hình chia sẻ</a:t>
            </a:r>
          </a:p>
          <a:p>
            <a:pPr marL="380000" indent="-380000" algn="l">
              <a:lnSpc>
                <a:spcPct val="104000"/>
              </a:lnSpc>
              <a:spcBef>
                <a:spcPts val="450"/>
              </a:spcBef>
              <a:buClr>
                <a:srgbClr val="0D7377"/>
              </a:buClr>
              <a:buFont typeface="Arial"/>
              <a:buChar char="•"/>
            </a:pPr>
            <a:r>
              <a:rPr lang="en-US" sz="1650" dirty="0">
                <a:solidFill>
                  <a:srgbClr val="000000"/>
                </a:solidFill>
                <a:latin typeface="Arial"/>
                <a:cs typeface="Arial"/>
              </a:rPr>
              <a:t>Bình chọn: thử nghiệm nào có trọng số lớn nhất?</a:t>
            </a:r>
          </a:p>
          <a:p>
            <a:pPr marL="380000" indent="-380000" algn="l">
              <a:lnSpc>
                <a:spcPct val="104000"/>
              </a:lnSpc>
              <a:spcBef>
                <a:spcPts val="450"/>
              </a:spcBef>
              <a:buClr>
                <a:srgbClr val="0D7377"/>
              </a:buClr>
              <a:buFont typeface="Arial"/>
              <a:buChar char="•"/>
            </a:pPr>
            <a:r>
              <a:rPr lang="en-US" sz="1650" dirty="0">
                <a:solidFill>
                  <a:srgbClr val="000000"/>
                </a:solidFill>
                <a:latin typeface="Arial"/>
                <a:cs typeface="Arial"/>
              </a:rPr>
              <a:t>Bình chọn: có thử nghiệm riêng lẻ nào cho tác động rõ không?</a:t>
            </a:r>
          </a:p>
          <a:p>
            <a:pPr marL="380000" indent="-380000" algn="l">
              <a:lnSpc>
                <a:spcPct val="104000"/>
              </a:lnSpc>
              <a:spcBef>
                <a:spcPts val="450"/>
              </a:spcBef>
              <a:buClr>
                <a:srgbClr val="0D7377"/>
              </a:buClr>
              <a:buFont typeface="Arial"/>
              <a:buChar char="•"/>
            </a:pPr>
            <a:r>
              <a:rPr lang="en-US" sz="1650" dirty="0">
                <a:solidFill>
                  <a:srgbClr val="000000"/>
                </a:solidFill>
                <a:latin typeface="Arial"/>
                <a:cs typeface="Arial"/>
              </a:rPr>
              <a:t>Bình chọn: hình thoi có cắt RR = 1 không? Nói kết quả bằng một câu</a:t>
            </a:r>
          </a:p>
          <a:p>
            <a:pPr marL="380000" indent="-380000" algn="l">
              <a:lnSpc>
                <a:spcPct val="104000"/>
              </a:lnSpc>
              <a:spcBef>
                <a:spcPts val="450"/>
              </a:spcBef>
              <a:buClr>
                <a:srgbClr val="0D7377"/>
              </a:buClr>
              <a:buFont typeface="Arial"/>
              <a:buChar char="•"/>
            </a:pPr>
            <a:r>
              <a:rPr lang="en-US" sz="1650" dirty="0">
                <a:solidFill>
                  <a:srgbClr val="000000"/>
                </a:solidFill>
                <a:latin typeface="Arial"/>
                <a:cs typeface="Arial"/>
              </a:rPr>
              <a:t>Bình chọn: công cụ đánh giá sai lệch cho Bài báo 1 (Boulet), Bài báo 2 (Hyun) và một tổng quan về dịch truyền</a:t>
            </a:r>
          </a:p>
        </p:txBody>
      </p:sp>
      <p:sp>
        <p:nvSpPr>
          <p:cNvPr id="52" name="Side"/>
          <p:cNvSpPr/>
          <p:nvPr/>
        </p:nvSpPr>
        <p:spPr>
          <a:xfrm>
            <a:off x="7423760" y="1720000"/>
            <a:ext cx="4311040" cy="1729880"/>
          </a:xfrm>
          <a:prstGeom prst="roundRect">
            <a:avLst>
              <a:gd name="adj" fmla="val 5000"/>
            </a:avLst>
          </a:prstGeom>
          <a:solidFill>
            <a:srgbClr val="EAF2F5"/>
          </a:solidFill>
          <a:ln>
            <a:noFill/>
          </a:ln>
        </p:spPr>
        <p:txBody>
          <a:bodyPr wrap="square" lIns="137160" tIns="91440" rIns="137160" bIns="91440" rtlCol="0" anchor="ctr">
            <a:normAutofit/>
          </a:bodyPr>
          <a:lstStyle/>
          <a:p>
            <a:pPr marL="0" indent="0" algn="ctr">
              <a:buNone/>
            </a:pPr>
            <a:r>
              <a:rPr lang="en-US" sz="1600" b="1" dirty="0">
                <a:solidFill>
                  <a:srgbClr val="0D7377"/>
                </a:solidFill>
                <a:latin typeface="Arial"/>
                <a:cs typeface="Arial"/>
              </a:rPr>
              <a:t>Nhắc lại</a:t>
            </a:r>
          </a:p>
          <a:p>
            <a:pPr marL="0" indent="0" algn="ctr">
              <a:lnSpc>
                <a:spcPct val="104000"/>
              </a:lnSpc>
              <a:spcBef>
                <a:spcPts val="300"/>
              </a:spcBef>
              <a:buNone/>
            </a:pPr>
            <a:r>
              <a:rPr lang="en-US" sz="1500" dirty="0">
                <a:solidFill>
                  <a:srgbClr val="000000"/>
                </a:solidFill>
                <a:latin typeface="Arial"/>
                <a:cs typeface="Arial"/>
              </a:rPr>
              <a:t>Ô vuông = một nghiên cứu</a:t>
            </a:r>
          </a:p>
          <a:p>
            <a:pPr marL="0" indent="0" algn="ctr">
              <a:lnSpc>
                <a:spcPct val="104000"/>
              </a:lnSpc>
              <a:spcBef>
                <a:spcPts val="300"/>
              </a:spcBef>
              <a:buNone/>
            </a:pPr>
            <a:r>
              <a:rPr lang="en-US" sz="1500" dirty="0">
                <a:solidFill>
                  <a:srgbClr val="000000"/>
                </a:solidFill>
                <a:latin typeface="Arial"/>
                <a:cs typeface="Arial"/>
              </a:rPr>
              <a:t>Đường ngang = KTC 95%</a:t>
            </a:r>
          </a:p>
          <a:p>
            <a:pPr marL="0" indent="0" algn="ctr">
              <a:lnSpc>
                <a:spcPct val="104000"/>
              </a:lnSpc>
              <a:spcBef>
                <a:spcPts val="300"/>
              </a:spcBef>
              <a:buNone/>
            </a:pPr>
            <a:r>
              <a:rPr lang="en-US" sz="1500" dirty="0">
                <a:solidFill>
                  <a:srgbClr val="000000"/>
                </a:solidFill>
                <a:latin typeface="Arial"/>
                <a:cs typeface="Arial"/>
              </a:rPr>
              <a:t>Hình thoi = kết quả gộp</a:t>
            </a:r>
          </a:p>
          <a:p>
            <a:pPr marL="0" indent="0" algn="ctr">
              <a:lnSpc>
                <a:spcPct val="104000"/>
              </a:lnSpc>
              <a:spcBef>
                <a:spcPts val="300"/>
              </a:spcBef>
              <a:buNone/>
            </a:pPr>
            <a:r>
              <a:rPr lang="en-US" sz="1500" dirty="0">
                <a:solidFill>
                  <a:srgbClr val="000000"/>
                </a:solidFill>
                <a:latin typeface="Arial"/>
                <a:cs typeface="Arial"/>
              </a:rPr>
              <a:t>Công cụ: xem bảng ở hai slide trước</a:t>
            </a:r>
          </a:p>
        </p:txBody>
      </p:sp>
      <p:sp>
        <p:nvSpPr>
          <p:cNvPr id="53" name="Deliverable"/>
          <p:cNvSpPr/>
          <p:nvPr/>
        </p:nvSpPr>
        <p:spPr>
          <a:xfrm>
            <a:off x="457200" y="5350000"/>
            <a:ext cx="11277600" cy="600000"/>
          </a:xfrm>
          <a:prstGeom prst="roundRect">
            <a:avLst>
              <a:gd name="adj" fmla="val 12000"/>
            </a:avLst>
          </a:prstGeom>
          <a:solidFill>
            <a:srgbClr val="FFFFFF"/>
          </a:solidFill>
          <a:ln w="15875">
            <a:solidFill>
              <a:srgbClr val="0D7377"/>
            </a:solidFill>
          </a:ln>
        </p:spPr>
        <p:txBody>
          <a:bodyPr wrap="square" lIns="182880" tIns="45720" rIns="182880" bIns="45720" rtlCol="0" anchor="ctr">
            <a:normAutofit/>
          </a:bodyPr>
          <a:lstStyle/>
          <a:p>
            <a:pPr marL="0" indent="0" algn="ctr">
              <a:buNone/>
            </a:pPr>
            <a:r>
              <a:rPr lang="en-US" sz="1300" b="1" dirty="0">
                <a:solidFill>
                  <a:srgbClr val="0D7377"/>
                </a:solidFill>
                <a:latin typeface="Arial"/>
                <a:cs typeface="Arial"/>
              </a:rPr>
              <a:t>SẢN PHẨM   </a:t>
            </a:r>
            <a:r>
              <a:rPr lang="en-US" sz="1500" dirty="0">
                <a:solidFill>
                  <a:srgbClr val="000000"/>
                </a:solidFill>
                <a:latin typeface="Arial"/>
                <a:cs typeface="Arial"/>
              </a:rPr>
              <a:t>Một câu chung của cả lớp về kết quả gộp, và ba công cụ được gọi tên</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100" b="1" dirty="0">
                <a:solidFill>
                  <a:srgbClr val="0D7377"/>
                </a:solidFill>
                <a:latin typeface="Arial"/>
                <a:cs typeface="Arial"/>
              </a:rPr>
              <a:t>Kết cục: một kết cục chính, định nghĩa bằng cái gì, thế nào, khi nào</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480000"/>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Ví dụ xuyên suốt (phiên bản quan sát)</a:t>
            </a:r>
          </a:p>
        </p:txBody>
      </p:sp>
      <p:sp>
        <p:nvSpPr>
          <p:cNvPr id="70" name="CardHead"/>
          <p:cNvSpPr/>
          <p:nvPr/>
        </p:nvSpPr>
        <p:spPr>
          <a:xfrm>
            <a:off x="457200" y="2058240"/>
            <a:ext cx="2669400" cy="640000"/>
          </a:xfrm>
          <a:prstGeom prst="rect">
            <a:avLst/>
          </a:prstGeom>
          <a:solidFill>
            <a:srgbClr val="B23B2E"/>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Cái gì</a:t>
            </a:r>
          </a:p>
        </p:txBody>
      </p:sp>
      <p:sp>
        <p:nvSpPr>
          <p:cNvPr id="71" name="CardBody"/>
          <p:cNvSpPr/>
          <p:nvPr/>
        </p:nvSpPr>
        <p:spPr>
          <a:xfrm>
            <a:off x="457200" y="2698240"/>
            <a:ext cx="2669400" cy="17552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Tử vong do mọi nguyên nhân</a:t>
            </a:r>
          </a:p>
          <a:p>
            <a:pPr marL="0" indent="0" algn="ctr">
              <a:lnSpc>
                <a:spcPct val="104000"/>
              </a:lnSpc>
              <a:spcBef>
                <a:spcPts val="400"/>
              </a:spcBef>
              <a:buNone/>
            </a:pPr>
            <a:r>
              <a:rPr lang="en-US" sz="1600" dirty="0">
                <a:solidFill>
                  <a:srgbClr val="000000"/>
                </a:solidFill>
                <a:latin typeface="Arial"/>
                <a:cs typeface="Arial"/>
              </a:rPr>
              <a:t>Không phải 'cải thiện tử vong'</a:t>
            </a:r>
          </a:p>
        </p:txBody>
      </p:sp>
      <p:sp>
        <p:nvSpPr>
          <p:cNvPr id="72" name="CardHead"/>
          <p:cNvSpPr/>
          <p:nvPr/>
        </p:nvSpPr>
        <p:spPr>
          <a:xfrm>
            <a:off x="3326600" y="2058240"/>
            <a:ext cx="2669400" cy="640000"/>
          </a:xfrm>
          <a:prstGeom prst="rect">
            <a:avLst/>
          </a:prstGeom>
          <a:solidFill>
            <a:srgbClr val="0070C0"/>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Đo thế nào</a:t>
            </a:r>
          </a:p>
        </p:txBody>
      </p:sp>
      <p:sp>
        <p:nvSpPr>
          <p:cNvPr id="73" name="CardBody"/>
          <p:cNvSpPr/>
          <p:nvPr/>
        </p:nvSpPr>
        <p:spPr>
          <a:xfrm>
            <a:off x="3326600" y="2698240"/>
            <a:ext cx="2669400" cy="17552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Hồ sơ bệnh viện</a:t>
            </a:r>
          </a:p>
          <a:p>
            <a:pPr marL="0" indent="0" algn="ctr">
              <a:lnSpc>
                <a:spcPct val="104000"/>
              </a:lnSpc>
              <a:spcBef>
                <a:spcPts val="400"/>
              </a:spcBef>
              <a:buNone/>
            </a:pPr>
            <a:r>
              <a:rPr lang="en-US" sz="1600" dirty="0">
                <a:solidFill>
                  <a:srgbClr val="000000"/>
                </a:solidFill>
                <a:latin typeface="Arial"/>
                <a:cs typeface="Arial"/>
              </a:rPr>
              <a:t>Gọi điện nếu đã ra viện</a:t>
            </a:r>
          </a:p>
        </p:txBody>
      </p:sp>
      <p:sp>
        <p:nvSpPr>
          <p:cNvPr id="74" name="CardHead"/>
          <p:cNvSpPr/>
          <p:nvPr/>
        </p:nvSpPr>
        <p:spPr>
          <a:xfrm>
            <a:off x="6196000" y="2058240"/>
            <a:ext cx="2669400"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Khi nào</a:t>
            </a:r>
          </a:p>
        </p:txBody>
      </p:sp>
      <p:sp>
        <p:nvSpPr>
          <p:cNvPr id="75" name="CardBody"/>
          <p:cNvSpPr/>
          <p:nvPr/>
        </p:nvSpPr>
        <p:spPr>
          <a:xfrm>
            <a:off x="6196000" y="2698240"/>
            <a:ext cx="2669400" cy="17552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Ngày 28 sau khi vào ICU</a:t>
            </a:r>
          </a:p>
          <a:p>
            <a:pPr marL="0" indent="0" algn="ctr">
              <a:lnSpc>
                <a:spcPct val="104000"/>
              </a:lnSpc>
              <a:spcBef>
                <a:spcPts val="400"/>
              </a:spcBef>
              <a:buNone/>
            </a:pPr>
            <a:r>
              <a:rPr lang="en-US" sz="1600" dirty="0">
                <a:solidFill>
                  <a:srgbClr val="000000"/>
                </a:solidFill>
                <a:latin typeface="Arial"/>
                <a:cs typeface="Arial"/>
              </a:rPr>
              <a:t>Cùng một mốc cho mọi người bệnh</a:t>
            </a:r>
          </a:p>
        </p:txBody>
      </p:sp>
      <p:sp>
        <p:nvSpPr>
          <p:cNvPr id="76" name="CardHead"/>
          <p:cNvSpPr/>
          <p:nvPr/>
        </p:nvSpPr>
        <p:spPr>
          <a:xfrm>
            <a:off x="9065400" y="2058240"/>
            <a:ext cx="2669400" cy="640000"/>
          </a:xfrm>
          <a:prstGeom prst="rect">
            <a:avLst/>
          </a:prstGeom>
          <a:solidFill>
            <a:srgbClr val="5FA39B"/>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2-3 kết cục phụ</a:t>
            </a:r>
          </a:p>
        </p:txBody>
      </p:sp>
      <p:sp>
        <p:nvSpPr>
          <p:cNvPr id="77" name="CardBody"/>
          <p:cNvSpPr/>
          <p:nvPr/>
        </p:nvSpPr>
        <p:spPr>
          <a:xfrm>
            <a:off x="9065400" y="2698240"/>
            <a:ext cx="2669400" cy="17552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Tổn thương thận cấp đến ngày 7</a:t>
            </a:r>
          </a:p>
          <a:p>
            <a:pPr marL="0" indent="0" algn="ctr">
              <a:lnSpc>
                <a:spcPct val="104000"/>
              </a:lnSpc>
              <a:spcBef>
                <a:spcPts val="400"/>
              </a:spcBef>
              <a:buNone/>
            </a:pPr>
            <a:r>
              <a:rPr lang="en-US" sz="1600" dirty="0">
                <a:solidFill>
                  <a:srgbClr val="000000"/>
                </a:solidFill>
                <a:latin typeface="Arial"/>
                <a:cs typeface="Arial"/>
              </a:rPr>
              <a:t>Số ngày không thở máy đến ngày 28</a:t>
            </a:r>
          </a:p>
          <a:p>
            <a:pPr marL="0" indent="0" algn="ctr">
              <a:lnSpc>
                <a:spcPct val="104000"/>
              </a:lnSpc>
              <a:spcBef>
                <a:spcPts val="400"/>
              </a:spcBef>
              <a:buNone/>
            </a:pPr>
            <a:r>
              <a:rPr lang="en-US" sz="1600" dirty="0">
                <a:solidFill>
                  <a:srgbClr val="000000"/>
                </a:solidFill>
                <a:latin typeface="Arial"/>
                <a:cs typeface="Arial"/>
              </a:rPr>
              <a:t>Thời gian nằm ICU</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Chọn kết cục chính trước khi thấy dữ liệu, và báo cáo nó đầu tiên.</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Xây dựng đề cương 4: phơi nhiễm, kết cục và sai lệch</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50" name="Banner"/>
          <p:cNvSpPr/>
          <p:nvPr/>
        </p:nvSpPr>
        <p:spPr>
          <a:xfrm>
            <a:off x="457200" y="1120000"/>
            <a:ext cx="11277600" cy="470000"/>
          </a:xfrm>
          <a:prstGeom prst="rect">
            <a:avLst/>
          </a:prstGeom>
          <a:solidFill>
            <a:srgbClr val="055F56"/>
          </a:solidFill>
          <a:ln>
            <a:noFill/>
          </a:ln>
        </p:spPr>
        <p:txBody>
          <a:bodyPr wrap="square" lIns="182880" tIns="45720" rIns="182880" bIns="45720" rtlCol="0" anchor="ctr">
            <a:normAutofit/>
          </a:bodyPr>
          <a:lstStyle/>
          <a:p>
            <a:pPr marL="0" indent="0" algn="l">
              <a:buNone/>
            </a:pPr>
            <a:r>
              <a:rPr lang="en-US" sz="1500" b="1" dirty="0">
                <a:solidFill>
                  <a:srgbClr val="FFFFFF"/>
                </a:solidFill>
                <a:latin typeface="Arial"/>
                <a:cs typeface="Arial"/>
              </a:rPr>
              <a:t>XÂY DỰNG ĐỀ CƯƠNG   |   40 phút</a:t>
            </a:r>
          </a:p>
        </p:txBody>
      </p:sp>
      <p:sp>
        <p:nvSpPr>
          <p:cNvPr id="51" name="Steps"/>
          <p:cNvSpPr txBox="1"/>
          <p:nvPr/>
        </p:nvSpPr>
        <p:spPr>
          <a:xfrm>
            <a:off x="457200" y="1720000"/>
            <a:ext cx="6766560" cy="3510000"/>
          </a:xfrm>
          <a:prstGeom prst="rect">
            <a:avLst/>
          </a:prstGeom>
          <a:noFill/>
          <a:ln>
            <a:noFill/>
          </a:ln>
        </p:spPr>
        <p:txBody>
          <a:bodyPr wrap="square" lIns="91440" tIns="45720" rIns="91440" bIns="45720" rtlCol="0" anchor="t"/>
          <a:lstStyle/>
          <a:p>
            <a:pPr marL="380000" indent="-380000" algn="l">
              <a:lnSpc>
                <a:spcPct val="104000"/>
              </a:lnSpc>
              <a:spcBef>
                <a:spcPts val="450"/>
              </a:spcBef>
              <a:buClr>
                <a:srgbClr val="055F56"/>
              </a:buClr>
              <a:buFont typeface="Arial"/>
              <a:buChar char="•"/>
            </a:pPr>
            <a:r>
              <a:rPr lang="en-US" sz="1650" dirty="0">
                <a:solidFill>
                  <a:srgbClr val="000000"/>
                </a:solidFill>
                <a:latin typeface="Arial"/>
                <a:cs typeface="Arial"/>
              </a:rPr>
              <a:t>Theo dõi: giảng viên viết trực tiếp Phần 2b cho ví dụ xuyên suốt (15 phút)</a:t>
            </a:r>
          </a:p>
          <a:p>
            <a:pPr marL="380000" indent="-380000" algn="l">
              <a:lnSpc>
                <a:spcPct val="104000"/>
              </a:lnSpc>
              <a:spcBef>
                <a:spcPts val="450"/>
              </a:spcBef>
              <a:buClr>
                <a:srgbClr val="055F56"/>
              </a:buClr>
              <a:buFont typeface="Arial"/>
              <a:buChar char="•"/>
            </a:pPr>
            <a:r>
              <a:rPr lang="en-US" sz="1650" dirty="0">
                <a:solidFill>
                  <a:srgbClr val="000000"/>
                </a:solidFill>
                <a:latin typeface="Arial"/>
                <a:cs typeface="Arial"/>
              </a:rPr>
              <a:t>Phơi nhiễm hoặc can thiệp, và nhóm so sánh: chính xác là gì, bao nhiêu, khi nào</a:t>
            </a:r>
          </a:p>
          <a:p>
            <a:pPr marL="380000" indent="-380000" algn="l">
              <a:lnSpc>
                <a:spcPct val="104000"/>
              </a:lnSpc>
              <a:spcBef>
                <a:spcPts val="450"/>
              </a:spcBef>
              <a:buClr>
                <a:srgbClr val="055F56"/>
              </a:buClr>
              <a:buFont typeface="Arial"/>
              <a:buChar char="•"/>
            </a:pPr>
            <a:r>
              <a:rPr lang="en-US" sz="1650" dirty="0">
                <a:solidFill>
                  <a:srgbClr val="000000"/>
                </a:solidFill>
                <a:latin typeface="Arial"/>
                <a:cs typeface="Arial"/>
              </a:rPr>
              <a:t>Một kết cục chính (cái gì, thế nào, khi nào) và 2-3 kết cục phụ</a:t>
            </a:r>
          </a:p>
          <a:p>
            <a:pPr marL="380000" indent="-380000" algn="l">
              <a:lnSpc>
                <a:spcPct val="104000"/>
              </a:lnSpc>
              <a:spcBef>
                <a:spcPts val="450"/>
              </a:spcBef>
              <a:buClr>
                <a:srgbClr val="055F56"/>
              </a:buClr>
              <a:buFont typeface="Arial"/>
              <a:buChar char="•"/>
            </a:pPr>
            <a:r>
              <a:rPr lang="en-US" sz="1650" dirty="0">
                <a:solidFill>
                  <a:srgbClr val="000000"/>
                </a:solidFill>
                <a:latin typeface="Arial"/>
                <a:cs typeface="Arial"/>
              </a:rPr>
              <a:t>Hai sai lệch chính, một biện pháp cụ thể cho mỗi sai lệch, và 'gây ra' hay 'có liên quan'</a:t>
            </a:r>
          </a:p>
          <a:p>
            <a:pPr marL="380000" indent="-380000" algn="l">
              <a:lnSpc>
                <a:spcPct val="104000"/>
              </a:lnSpc>
              <a:spcBef>
                <a:spcPts val="450"/>
              </a:spcBef>
              <a:buClr>
                <a:srgbClr val="055F56"/>
              </a:buClr>
              <a:buFont typeface="Arial"/>
              <a:buChar char="•"/>
            </a:pPr>
            <a:r>
              <a:rPr lang="en-US" sz="1650" dirty="0">
                <a:solidFill>
                  <a:srgbClr val="000000"/>
                </a:solidFill>
                <a:latin typeface="Arial"/>
                <a:cs typeface="Arial"/>
              </a:rPr>
              <a:t>Đến lượt bạn: viết nháp phần này cho câu hỏi của chính mình (16 phút, làm riêng, yên lặng)</a:t>
            </a:r>
          </a:p>
          <a:p>
            <a:pPr marL="380000" indent="-380000" algn="l">
              <a:lnSpc>
                <a:spcPct val="104000"/>
              </a:lnSpc>
              <a:spcBef>
                <a:spcPts val="450"/>
              </a:spcBef>
              <a:buClr>
                <a:srgbClr val="055F56"/>
              </a:buClr>
              <a:buFont typeface="Arial"/>
              <a:buChar char="•"/>
            </a:pPr>
            <a:r>
              <a:rPr lang="en-US" sz="1650" dirty="0">
                <a:solidFill>
                  <a:srgbClr val="000000"/>
                </a:solidFill>
                <a:latin typeface="Arial"/>
                <a:cs typeface="Arial"/>
              </a:rPr>
              <a:t>Ba bạn tình nguyện đọc to một sai lệch và biện pháp để nhận góp ý (7 phút)</a:t>
            </a:r>
          </a:p>
        </p:txBody>
      </p:sp>
      <p:sp>
        <p:nvSpPr>
          <p:cNvPr id="52" name="Side"/>
          <p:cNvSpPr/>
          <p:nvPr/>
        </p:nvSpPr>
        <p:spPr>
          <a:xfrm>
            <a:off x="7423760" y="1720000"/>
            <a:ext cx="4311040" cy="2006105"/>
          </a:xfrm>
          <a:prstGeom prst="roundRect">
            <a:avLst>
              <a:gd name="adj" fmla="val 5000"/>
            </a:avLst>
          </a:prstGeom>
          <a:solidFill>
            <a:srgbClr val="EAF2F5"/>
          </a:solidFill>
          <a:ln>
            <a:noFill/>
          </a:ln>
        </p:spPr>
        <p:txBody>
          <a:bodyPr wrap="square" lIns="137160" tIns="91440" rIns="137160" bIns="91440" rtlCol="0" anchor="ctr">
            <a:normAutofit/>
          </a:bodyPr>
          <a:lstStyle/>
          <a:p>
            <a:pPr marL="0" indent="0" algn="ctr">
              <a:buNone/>
            </a:pPr>
            <a:r>
              <a:rPr lang="en-US" sz="1600" b="1" dirty="0">
                <a:solidFill>
                  <a:srgbClr val="055F56"/>
                </a:solidFill>
                <a:latin typeface="Arial"/>
                <a:cs typeface="Arial"/>
              </a:rPr>
              <a:t>Tự kiểm tra bản nháp</a:t>
            </a:r>
          </a:p>
          <a:p>
            <a:pPr marL="0" indent="0" algn="ctr">
              <a:lnSpc>
                <a:spcPct val="104000"/>
              </a:lnSpc>
              <a:spcBef>
                <a:spcPts val="300"/>
              </a:spcBef>
              <a:buNone/>
            </a:pPr>
            <a:r>
              <a:rPr lang="en-US" sz="1500" dirty="0">
                <a:solidFill>
                  <a:srgbClr val="000000"/>
                </a:solidFill>
                <a:latin typeface="Arial"/>
                <a:cs typeface="Arial"/>
              </a:rPr>
              <a:t>Có nêu nhóm so sánh?</a:t>
            </a:r>
          </a:p>
          <a:p>
            <a:pPr marL="0" indent="0" algn="ctr">
              <a:lnSpc>
                <a:spcPct val="104000"/>
              </a:lnSpc>
              <a:spcBef>
                <a:spcPts val="300"/>
              </a:spcBef>
              <a:buNone/>
            </a:pPr>
            <a:r>
              <a:rPr lang="en-US" sz="1500" dirty="0">
                <a:solidFill>
                  <a:srgbClr val="000000"/>
                </a:solidFill>
                <a:latin typeface="Arial"/>
                <a:cs typeface="Arial"/>
              </a:rPr>
              <a:t>Chỉ một kết cục chính?</a:t>
            </a:r>
          </a:p>
          <a:p>
            <a:pPr marL="0" indent="0" algn="ctr">
              <a:lnSpc>
                <a:spcPct val="104000"/>
              </a:lnSpc>
              <a:spcBef>
                <a:spcPts val="300"/>
              </a:spcBef>
              <a:buNone/>
            </a:pPr>
            <a:r>
              <a:rPr lang="en-US" sz="1500" dirty="0">
                <a:solidFill>
                  <a:srgbClr val="000000"/>
                </a:solidFill>
                <a:latin typeface="Arial"/>
                <a:cs typeface="Arial"/>
              </a:rPr>
              <a:t>Kết cục có mốc thời gian?</a:t>
            </a:r>
          </a:p>
          <a:p>
            <a:pPr marL="0" indent="0" algn="ctr">
              <a:lnSpc>
                <a:spcPct val="104000"/>
              </a:lnSpc>
              <a:spcBef>
                <a:spcPts val="300"/>
              </a:spcBef>
              <a:buNone/>
            </a:pPr>
            <a:r>
              <a:rPr lang="en-US" sz="1500" dirty="0">
                <a:solidFill>
                  <a:srgbClr val="000000"/>
                </a:solidFill>
                <a:latin typeface="Arial"/>
                <a:cs typeface="Arial"/>
              </a:rPr>
              <a:t>Nhiễu do chỉ định?</a:t>
            </a:r>
          </a:p>
          <a:p>
            <a:pPr marL="0" indent="0" algn="ctr">
              <a:lnSpc>
                <a:spcPct val="104000"/>
              </a:lnSpc>
              <a:spcBef>
                <a:spcPts val="300"/>
              </a:spcBef>
              <a:buNone/>
            </a:pPr>
            <a:r>
              <a:rPr lang="en-US" sz="1500" dirty="0">
                <a:solidFill>
                  <a:srgbClr val="000000"/>
                </a:solidFill>
                <a:latin typeface="Arial"/>
                <a:cs typeface="Arial"/>
              </a:rPr>
              <a:t>Mỗi sai lệch có biện pháp cụ thể?</a:t>
            </a:r>
          </a:p>
        </p:txBody>
      </p:sp>
      <p:sp>
        <p:nvSpPr>
          <p:cNvPr id="53" name="Deliverable"/>
          <p:cNvSpPr/>
          <p:nvPr/>
        </p:nvSpPr>
        <p:spPr>
          <a:xfrm>
            <a:off x="457200" y="5350000"/>
            <a:ext cx="11277600" cy="600000"/>
          </a:xfrm>
          <a:prstGeom prst="roundRect">
            <a:avLst>
              <a:gd name="adj" fmla="val 12000"/>
            </a:avLst>
          </a:prstGeom>
          <a:solidFill>
            <a:srgbClr val="FFFFFF"/>
          </a:solidFill>
          <a:ln w="15875">
            <a:solidFill>
              <a:srgbClr val="055F56"/>
            </a:solidFill>
          </a:ln>
        </p:spPr>
        <p:txBody>
          <a:bodyPr wrap="square" lIns="182880" tIns="45720" rIns="182880" bIns="45720" rtlCol="0" anchor="ctr">
            <a:normAutofit/>
          </a:bodyPr>
          <a:lstStyle/>
          <a:p>
            <a:pPr marL="0" indent="0" algn="ctr">
              <a:buNone/>
            </a:pPr>
            <a:r>
              <a:rPr lang="en-US" sz="1300" b="1" dirty="0">
                <a:solidFill>
                  <a:srgbClr val="055F56"/>
                </a:solidFill>
                <a:latin typeface="Arial"/>
                <a:cs typeface="Arial"/>
              </a:rPr>
              <a:t>SẢN PHẨM   </a:t>
            </a:r>
            <a:r>
              <a:rPr lang="en-US" sz="1500" dirty="0">
                <a:solidFill>
                  <a:srgbClr val="000000"/>
                </a:solidFill>
                <a:latin typeface="Arial"/>
                <a:cs typeface="Arial"/>
              </a:rPr>
              <a:t>Phần 2 đề cương của chính bạn hoàn chỉnh (2a từ Buổi 3, 2b hôm nay). Hoàn thành ở nhà</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Buổi 4 trong một slide</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70" name="CardHead"/>
          <p:cNvSpPr/>
          <p:nvPr/>
        </p:nvSpPr>
        <p:spPr>
          <a:xfrm>
            <a:off x="457200" y="1680240"/>
            <a:ext cx="2669400" cy="640000"/>
          </a:xfrm>
          <a:prstGeom prst="rect">
            <a:avLst/>
          </a:prstGeom>
          <a:solidFill>
            <a:srgbClr val="B23B2E"/>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4.1 Tin cậy</a:t>
            </a:r>
          </a:p>
        </p:txBody>
      </p:sp>
      <p:sp>
        <p:nvSpPr>
          <p:cNvPr id="71" name="CardBody"/>
          <p:cNvSpPr/>
          <p:nvPr/>
        </p:nvSpPr>
        <p:spPr>
          <a:xfrm>
            <a:off x="457200" y="2320240"/>
            <a:ext cx="2669400" cy="20092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Sai lệch: cỡ mẫu không sửa được</a:t>
            </a:r>
          </a:p>
          <a:p>
            <a:pPr marL="0" indent="0" algn="ctr">
              <a:lnSpc>
                <a:spcPct val="104000"/>
              </a:lnSpc>
              <a:spcBef>
                <a:spcPts val="400"/>
              </a:spcBef>
              <a:buNone/>
            </a:pPr>
            <a:r>
              <a:rPr lang="en-US" sz="1600" dirty="0">
                <a:solidFill>
                  <a:srgbClr val="000000"/>
                </a:solidFill>
                <a:latin typeface="Arial"/>
                <a:cs typeface="Arial"/>
              </a:rPr>
              <a:t>Yếu tố nhiễu: loại bỏ</a:t>
            </a:r>
          </a:p>
          <a:p>
            <a:pPr marL="0" indent="0" algn="ctr">
              <a:lnSpc>
                <a:spcPct val="104000"/>
              </a:lnSpc>
              <a:spcBef>
                <a:spcPts val="400"/>
              </a:spcBef>
              <a:buNone/>
            </a:pPr>
            <a:r>
              <a:rPr lang="en-US" sz="1600" dirty="0">
                <a:solidFill>
                  <a:srgbClr val="000000"/>
                </a:solidFill>
                <a:latin typeface="Arial"/>
                <a:cs typeface="Arial"/>
              </a:rPr>
              <a:t>Thay đổi tác động: báo cáo</a:t>
            </a:r>
          </a:p>
        </p:txBody>
      </p:sp>
      <p:sp>
        <p:nvSpPr>
          <p:cNvPr id="72" name="CardHead"/>
          <p:cNvSpPr/>
          <p:nvPr/>
        </p:nvSpPr>
        <p:spPr>
          <a:xfrm>
            <a:off x="3326600" y="1680240"/>
            <a:ext cx="2669400"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4.2 Độ lớn</a:t>
            </a:r>
          </a:p>
        </p:txBody>
      </p:sp>
      <p:sp>
        <p:nvSpPr>
          <p:cNvPr id="73" name="CardBody"/>
          <p:cNvSpPr/>
          <p:nvPr/>
        </p:nvSpPr>
        <p:spPr>
          <a:xfrm>
            <a:off x="3326600" y="2320240"/>
            <a:ext cx="2669400" cy="20092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Tương đối: RR, OR</a:t>
            </a:r>
          </a:p>
          <a:p>
            <a:pPr marL="0" indent="0" algn="ctr">
              <a:lnSpc>
                <a:spcPct val="104000"/>
              </a:lnSpc>
              <a:spcBef>
                <a:spcPts val="400"/>
              </a:spcBef>
              <a:buNone/>
            </a:pPr>
            <a:r>
              <a:rPr lang="en-US" sz="1600" dirty="0">
                <a:solidFill>
                  <a:srgbClr val="000000"/>
                </a:solidFill>
                <a:latin typeface="Arial"/>
                <a:cs typeface="Arial"/>
              </a:rPr>
              <a:t>Tuyệt đối: RD, NNT</a:t>
            </a:r>
          </a:p>
          <a:p>
            <a:pPr marL="0" indent="0" algn="ctr">
              <a:lnSpc>
                <a:spcPct val="104000"/>
              </a:lnSpc>
              <a:spcBef>
                <a:spcPts val="400"/>
              </a:spcBef>
              <a:buNone/>
            </a:pPr>
            <a:r>
              <a:rPr lang="en-US" sz="1600" dirty="0">
                <a:solidFill>
                  <a:srgbClr val="000000"/>
                </a:solidFill>
                <a:latin typeface="Arial"/>
                <a:cs typeface="Arial"/>
              </a:rPr>
              <a:t>OR gần RR chỉ khi kết cục hiếm</a:t>
            </a:r>
          </a:p>
        </p:txBody>
      </p:sp>
      <p:sp>
        <p:nvSpPr>
          <p:cNvPr id="74" name="CardHead"/>
          <p:cNvSpPr/>
          <p:nvPr/>
        </p:nvSpPr>
        <p:spPr>
          <a:xfrm>
            <a:off x="6196000" y="1680240"/>
            <a:ext cx="2669400"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4.3 Nhiều nghiên cứu</a:t>
            </a:r>
          </a:p>
        </p:txBody>
      </p:sp>
      <p:sp>
        <p:nvSpPr>
          <p:cNvPr id="75" name="CardBody"/>
          <p:cNvSpPr/>
          <p:nvPr/>
        </p:nvSpPr>
        <p:spPr>
          <a:xfrm>
            <a:off x="6196000" y="2320240"/>
            <a:ext cx="2669400" cy="20092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PPV phụ thuộc tỷ lệ hiện mắc</a:t>
            </a:r>
          </a:p>
          <a:p>
            <a:pPr marL="0" indent="0" algn="ctr">
              <a:lnSpc>
                <a:spcPct val="104000"/>
              </a:lnSpc>
              <a:spcBef>
                <a:spcPts val="400"/>
              </a:spcBef>
              <a:buNone/>
            </a:pPr>
            <a:r>
              <a:rPr lang="en-US" sz="1600" dirty="0">
                <a:solidFill>
                  <a:srgbClr val="000000"/>
                </a:solidFill>
                <a:latin typeface="Arial"/>
                <a:cs typeface="Arial"/>
              </a:rPr>
              <a:t>Biểu đồ rừng: đọc hình thoi</a:t>
            </a:r>
          </a:p>
          <a:p>
            <a:pPr marL="0" indent="0" algn="ctr">
              <a:lnSpc>
                <a:spcPct val="104000"/>
              </a:lnSpc>
              <a:spcBef>
                <a:spcPts val="400"/>
              </a:spcBef>
              <a:buNone/>
            </a:pPr>
            <a:r>
              <a:rPr lang="en-US" sz="1600" dirty="0">
                <a:solidFill>
                  <a:srgbClr val="000000"/>
                </a:solidFill>
                <a:latin typeface="Arial"/>
                <a:cs typeface="Arial"/>
              </a:rPr>
              <a:t>Đúng công cụ cho thiết kế</a:t>
            </a:r>
          </a:p>
        </p:txBody>
      </p:sp>
      <p:sp>
        <p:nvSpPr>
          <p:cNvPr id="76" name="CardHead"/>
          <p:cNvSpPr/>
          <p:nvPr/>
        </p:nvSpPr>
        <p:spPr>
          <a:xfrm>
            <a:off x="9065400" y="1680240"/>
            <a:ext cx="2669400" cy="640000"/>
          </a:xfrm>
          <a:prstGeom prst="rect">
            <a:avLst/>
          </a:prstGeom>
          <a:solidFill>
            <a:srgbClr val="055F56"/>
          </a:solidFill>
          <a:ln>
            <a:noFill/>
          </a:ln>
        </p:spPr>
        <p:txBody>
          <a:bodyPr wrap="square" lIns="91440" tIns="45720" rIns="91440" bIns="45720" rtlCol="0" anchor="ctr">
            <a:normAutofit/>
          </a:bodyPr>
          <a:lstStyle/>
          <a:p>
            <a:pPr marL="0" indent="0" algn="ctr">
              <a:buNone/>
            </a:pPr>
            <a:r>
              <a:rPr lang="en-US" sz="1700" b="1" dirty="0">
                <a:solidFill>
                  <a:srgbClr val="FFFFFF"/>
                </a:solidFill>
                <a:latin typeface="Arial"/>
                <a:cs typeface="Arial"/>
              </a:rPr>
              <a:t>Đề cương của bạn</a:t>
            </a:r>
          </a:p>
        </p:txBody>
      </p:sp>
      <p:sp>
        <p:nvSpPr>
          <p:cNvPr id="77" name="CardBody"/>
          <p:cNvSpPr/>
          <p:nvPr/>
        </p:nvSpPr>
        <p:spPr>
          <a:xfrm>
            <a:off x="9065400" y="2320240"/>
            <a:ext cx="2669400" cy="2009280"/>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600" dirty="0">
                <a:solidFill>
                  <a:srgbClr val="000000"/>
                </a:solidFill>
                <a:latin typeface="Arial"/>
                <a:cs typeface="Arial"/>
              </a:rPr>
              <a:t>Phần 2 hoàn chỉnh</a:t>
            </a:r>
          </a:p>
          <a:p>
            <a:pPr marL="0" indent="0" algn="ctr">
              <a:lnSpc>
                <a:spcPct val="104000"/>
              </a:lnSpc>
              <a:spcBef>
                <a:spcPts val="400"/>
              </a:spcBef>
              <a:buNone/>
            </a:pPr>
            <a:r>
              <a:rPr lang="en-US" sz="1600" dirty="0">
                <a:solidFill>
                  <a:srgbClr val="000000"/>
                </a:solidFill>
                <a:latin typeface="Arial"/>
                <a:cs typeface="Arial"/>
              </a:rPr>
              <a:t>Gây ra hay có liên quan?</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Tin trước, rồi đến độ lớn, và kiểm tra lời lẽ có khớp với thiết kế.</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Tổng kết và bài về nhà</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50" name="Banner"/>
          <p:cNvSpPr/>
          <p:nvPr/>
        </p:nvSpPr>
        <p:spPr>
          <a:xfrm>
            <a:off x="457200" y="1120000"/>
            <a:ext cx="11277600" cy="470000"/>
          </a:xfrm>
          <a:prstGeom prst="rect">
            <a:avLst/>
          </a:prstGeom>
          <a:solidFill>
            <a:srgbClr val="1F5C7A"/>
          </a:solidFill>
          <a:ln>
            <a:noFill/>
          </a:ln>
        </p:spPr>
        <p:txBody>
          <a:bodyPr wrap="square" lIns="182880" tIns="45720" rIns="182880" bIns="45720" rtlCol="0" anchor="ctr">
            <a:normAutofit/>
          </a:bodyPr>
          <a:lstStyle/>
          <a:p>
            <a:pPr marL="0" indent="0" algn="l">
              <a:buNone/>
            </a:pPr>
            <a:r>
              <a:rPr lang="en-US" sz="1500" b="1" dirty="0">
                <a:solidFill>
                  <a:srgbClr val="FFFFFF"/>
                </a:solidFill>
                <a:latin typeface="Arial"/>
                <a:cs typeface="Arial"/>
              </a:rPr>
              <a:t>THẢO LUẬN   |   5 phút</a:t>
            </a:r>
          </a:p>
        </p:txBody>
      </p:sp>
      <p:sp>
        <p:nvSpPr>
          <p:cNvPr id="51" name="Steps"/>
          <p:cNvSpPr txBox="1"/>
          <p:nvPr/>
        </p:nvSpPr>
        <p:spPr>
          <a:xfrm>
            <a:off x="457200" y="1720000"/>
            <a:ext cx="11277600" cy="3510000"/>
          </a:xfrm>
          <a:prstGeom prst="rect">
            <a:avLst/>
          </a:prstGeom>
          <a:noFill/>
          <a:ln>
            <a:noFill/>
          </a:ln>
        </p:spPr>
        <p:txBody>
          <a:bodyPr wrap="square" lIns="91440" tIns="45720" rIns="91440" bIns="45720" rtlCol="0" anchor="t"/>
          <a:lstStyle/>
          <a:p>
            <a:pPr marL="380000" indent="-380000" algn="l">
              <a:lnSpc>
                <a:spcPct val="104000"/>
              </a:lnSpc>
              <a:spcBef>
                <a:spcPts val="450"/>
              </a:spcBef>
              <a:buClr>
                <a:srgbClr val="1F5C7A"/>
              </a:buClr>
              <a:buFont typeface="Arial"/>
              <a:buChar char="•"/>
            </a:pPr>
            <a:r>
              <a:rPr lang="en-US" sz="1650" dirty="0">
                <a:solidFill>
                  <a:srgbClr val="000000"/>
                </a:solidFill>
                <a:latin typeface="Arial"/>
                <a:cs typeface="Arial"/>
              </a:rPr>
              <a:t>Câu hỏi cuối buổi (trong chat): người bệnh ICU được truyền nhiều dịch hơn tử vong nhiều hơn. Nêu một lý do khác ngoài bản thân dịch truyền</a:t>
            </a:r>
          </a:p>
          <a:p>
            <a:pPr marL="380000" indent="-380000" algn="l">
              <a:lnSpc>
                <a:spcPct val="104000"/>
              </a:lnSpc>
              <a:spcBef>
                <a:spcPts val="450"/>
              </a:spcBef>
              <a:buClr>
                <a:srgbClr val="1F5C7A"/>
              </a:buClr>
              <a:buFont typeface="Arial"/>
              <a:buChar char="•"/>
            </a:pPr>
            <a:r>
              <a:rPr lang="en-US" sz="1650" dirty="0">
                <a:solidFill>
                  <a:srgbClr val="000000"/>
                </a:solidFill>
                <a:latin typeface="Arial"/>
                <a:cs typeface="Arial"/>
              </a:rPr>
              <a:t>Bài về nhà: hoàn thành Phần 2 đề cương của bạn (phơi nhiễm, so sánh, kết cục, sai lệch)</a:t>
            </a:r>
          </a:p>
          <a:p>
            <a:pPr marL="380000" indent="-380000" algn="l">
              <a:lnSpc>
                <a:spcPct val="104000"/>
              </a:lnSpc>
              <a:spcBef>
                <a:spcPts val="450"/>
              </a:spcBef>
              <a:buClr>
                <a:srgbClr val="1F5C7A"/>
              </a:buClr>
              <a:buFont typeface="Arial"/>
              <a:buChar char="•"/>
            </a:pPr>
            <a:r>
              <a:rPr lang="en-US" sz="1650" dirty="0">
                <a:solidFill>
                  <a:srgbClr val="000000"/>
                </a:solidFill>
                <a:latin typeface="Arial"/>
                <a:cs typeface="Arial"/>
              </a:rPr>
              <a:t>Tùy chọn: phiếu bài tập Phần B và D (thay đổi tác động, PPV ở hai bối cảnh)</a:t>
            </a:r>
          </a:p>
          <a:p>
            <a:pPr marL="380000" indent="-380000" algn="l">
              <a:lnSpc>
                <a:spcPct val="104000"/>
              </a:lnSpc>
              <a:spcBef>
                <a:spcPts val="450"/>
              </a:spcBef>
              <a:buClr>
                <a:srgbClr val="1F5C7A"/>
              </a:buClr>
              <a:buFont typeface="Arial"/>
              <a:buChar char="•"/>
            </a:pPr>
            <a:r>
              <a:rPr lang="en-US" sz="1650" dirty="0">
                <a:solidFill>
                  <a:srgbClr val="000000"/>
                </a:solidFill>
                <a:latin typeface="Arial"/>
                <a:cs typeface="Arial"/>
              </a:rPr>
              <a:t>Thứ Bảy tuần sau (Buổi 5): dữ liệu, và bộ dữ liệu khóa học FLUID-ICU</a:t>
            </a:r>
          </a:p>
        </p:txBody>
      </p:sp>
      <p:sp>
        <p:nvSpPr>
          <p:cNvPr id="53" name="Deliverable"/>
          <p:cNvSpPr/>
          <p:nvPr/>
        </p:nvSpPr>
        <p:spPr>
          <a:xfrm>
            <a:off x="457200" y="5350000"/>
            <a:ext cx="11277600" cy="600000"/>
          </a:xfrm>
          <a:prstGeom prst="roundRect">
            <a:avLst>
              <a:gd name="adj" fmla="val 12000"/>
            </a:avLst>
          </a:prstGeom>
          <a:solidFill>
            <a:srgbClr val="FFFFFF"/>
          </a:solidFill>
          <a:ln w="15875">
            <a:solidFill>
              <a:srgbClr val="1F5C7A"/>
            </a:solidFill>
          </a:ln>
        </p:spPr>
        <p:txBody>
          <a:bodyPr wrap="square" lIns="182880" tIns="45720" rIns="182880" bIns="45720" rtlCol="0" anchor="ctr">
            <a:normAutofit/>
          </a:bodyPr>
          <a:lstStyle/>
          <a:p>
            <a:pPr marL="0" indent="0" algn="ctr">
              <a:buNone/>
            </a:pPr>
            <a:r>
              <a:rPr lang="en-US" sz="1300" b="1" dirty="0">
                <a:solidFill>
                  <a:srgbClr val="1F5C7A"/>
                </a:solidFill>
                <a:latin typeface="Arial"/>
                <a:cs typeface="Arial"/>
              </a:rPr>
              <a:t>SẢN PHẨM   </a:t>
            </a:r>
            <a:r>
              <a:rPr lang="en-US" sz="1500" dirty="0">
                <a:solidFill>
                  <a:srgbClr val="000000"/>
                </a:solidFill>
                <a:latin typeface="Arial"/>
                <a:cs typeface="Arial"/>
              </a:rPr>
              <a:t>Mỗi người một câu trả lời cuối buổi, trong khung chat</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Slide bổ sung: Buổi 4</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20" name="Statement"/>
          <p:cNvSpPr txBox="1"/>
          <p:nvPr/>
        </p:nvSpPr>
        <p:spPr>
          <a:xfrm>
            <a:off x="1057200" y="1280000"/>
            <a:ext cx="10077600" cy="4470000"/>
          </a:xfrm>
          <a:prstGeom prst="rect">
            <a:avLst/>
          </a:prstGeom>
          <a:noFill/>
          <a:ln>
            <a:noFill/>
          </a:ln>
        </p:spPr>
        <p:txBody>
          <a:bodyPr wrap="square" lIns="91440" tIns="45720" rIns="91440" bIns="45720" rtlCol="0" anchor="ctr"/>
          <a:lstStyle/>
          <a:p>
            <a:pPr marL="0" indent="0" algn="ctr">
              <a:lnSpc>
                <a:spcPct val="110000"/>
              </a:lnSpc>
              <a:buNone/>
            </a:pPr>
            <a:r>
              <a:rPr lang="en-US" sz="3200" b="1" dirty="0">
                <a:solidFill>
                  <a:srgbClr val="0D7377"/>
                </a:solidFill>
                <a:latin typeface="Arial"/>
                <a:cs typeface="Arial"/>
              </a:rPr>
              <a:t>Slide bổ sung: Buổi 4</a:t>
            </a:r>
          </a:p>
          <a:p>
            <a:pPr marL="0" indent="0" algn="ctr">
              <a:spcBef>
                <a:spcPts val="1200"/>
              </a:spcBef>
              <a:buNone/>
            </a:pPr>
            <a:r>
              <a:rPr lang="en-US" sz="1900" i="1" dirty="0">
                <a:solidFill>
                  <a:srgbClr val="595959"/>
                </a:solidFill>
                <a:latin typeface="Arial"/>
                <a:cs typeface="Arial"/>
              </a:rPr>
              <a:t>Dùng nếu còn thời gian, hoặc để tự học</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Luyện thêm (ví dụ khác): sai lệch nào?</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50" name="Banner"/>
          <p:cNvSpPr/>
          <p:nvPr/>
        </p:nvSpPr>
        <p:spPr>
          <a:xfrm>
            <a:off x="457200" y="1120000"/>
            <a:ext cx="11277600" cy="470000"/>
          </a:xfrm>
          <a:prstGeom prst="rect">
            <a:avLst/>
          </a:prstGeom>
          <a:solidFill>
            <a:srgbClr val="6C3483"/>
          </a:solidFill>
          <a:ln>
            <a:noFill/>
          </a:ln>
        </p:spPr>
        <p:txBody>
          <a:bodyPr wrap="square" lIns="182880" tIns="45720" rIns="182880" bIns="45720" rtlCol="0" anchor="ctr">
            <a:normAutofit/>
          </a:bodyPr>
          <a:lstStyle/>
          <a:p>
            <a:pPr marL="0" indent="0" algn="l">
              <a:buNone/>
            </a:pPr>
            <a:r>
              <a:rPr lang="en-US" sz="1500" b="1" dirty="0">
                <a:solidFill>
                  <a:srgbClr val="FFFFFF"/>
                </a:solidFill>
                <a:latin typeface="Arial"/>
                <a:cs typeface="Arial"/>
              </a:rPr>
              <a:t>CÂU HỎI NHANH   |   2 phút</a:t>
            </a:r>
          </a:p>
        </p:txBody>
      </p:sp>
      <p:sp>
        <p:nvSpPr>
          <p:cNvPr id="51" name="Steps"/>
          <p:cNvSpPr txBox="1"/>
          <p:nvPr/>
        </p:nvSpPr>
        <p:spPr>
          <a:xfrm>
            <a:off x="457200" y="1720000"/>
            <a:ext cx="6766560" cy="3510000"/>
          </a:xfrm>
          <a:prstGeom prst="rect">
            <a:avLst/>
          </a:prstGeom>
          <a:noFill/>
          <a:ln>
            <a:noFill/>
          </a:ln>
        </p:spPr>
        <p:txBody>
          <a:bodyPr wrap="square" lIns="91440" tIns="45720" rIns="91440" bIns="45720" rtlCol="0" anchor="t"/>
          <a:lstStyle/>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A. Chỉ phỏng vấn những người bệnh sống đến lúc ra viện về chăm sóc tại ICU</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B. Điều dưỡng biết người bệnh thuộc nhóm nào chấm điểm đau</a:t>
            </a:r>
          </a:p>
          <a:p>
            <a:pPr marL="380000" indent="-380000" algn="l">
              <a:lnSpc>
                <a:spcPct val="104000"/>
              </a:lnSpc>
              <a:spcBef>
                <a:spcPts val="450"/>
              </a:spcBef>
              <a:buClr>
                <a:srgbClr val="6C3483"/>
              </a:buClr>
              <a:buFont typeface="Arial"/>
              <a:buChar char="•"/>
            </a:pPr>
            <a:r>
              <a:rPr lang="en-US" sz="1650" dirty="0">
                <a:solidFill>
                  <a:srgbClr val="000000"/>
                </a:solidFill>
                <a:latin typeface="Arial"/>
                <a:cs typeface="Arial"/>
              </a:rPr>
              <a:t>C. Một cái cân luôn chỉ cao 0.5 kg chỉ được dùng ở một khoa</a:t>
            </a:r>
          </a:p>
        </p:txBody>
      </p:sp>
      <p:sp>
        <p:nvSpPr>
          <p:cNvPr id="52" name="Side"/>
          <p:cNvSpPr/>
          <p:nvPr/>
        </p:nvSpPr>
        <p:spPr>
          <a:xfrm>
            <a:off x="7423760" y="1720000"/>
            <a:ext cx="4311040" cy="1453655"/>
          </a:xfrm>
          <a:prstGeom prst="roundRect">
            <a:avLst>
              <a:gd name="adj" fmla="val 5000"/>
            </a:avLst>
          </a:prstGeom>
          <a:solidFill>
            <a:srgbClr val="EAF2F5"/>
          </a:solidFill>
          <a:ln>
            <a:noFill/>
          </a:ln>
        </p:spPr>
        <p:txBody>
          <a:bodyPr wrap="square" lIns="137160" tIns="91440" rIns="137160" bIns="91440" rtlCol="0" anchor="ctr">
            <a:normAutofit/>
          </a:bodyPr>
          <a:lstStyle/>
          <a:p>
            <a:pPr marL="0" indent="0" algn="ctr">
              <a:buNone/>
            </a:pPr>
            <a:r>
              <a:rPr lang="en-US" sz="1600" b="1" dirty="0">
                <a:solidFill>
                  <a:srgbClr val="6C3483"/>
                </a:solidFill>
                <a:latin typeface="Arial"/>
                <a:cs typeface="Arial"/>
              </a:rPr>
              <a:t>Chọn</a:t>
            </a:r>
          </a:p>
          <a:p>
            <a:pPr marL="0" indent="0" algn="ctr">
              <a:lnSpc>
                <a:spcPct val="104000"/>
              </a:lnSpc>
              <a:spcBef>
                <a:spcPts val="300"/>
              </a:spcBef>
              <a:buNone/>
            </a:pPr>
            <a:r>
              <a:rPr lang="en-US" sz="1500" dirty="0">
                <a:solidFill>
                  <a:srgbClr val="000000"/>
                </a:solidFill>
                <a:latin typeface="Arial"/>
                <a:cs typeface="Arial"/>
              </a:rPr>
              <a:t>Sai lệch chọn lựa</a:t>
            </a:r>
          </a:p>
          <a:p>
            <a:pPr marL="0" indent="0" algn="ctr">
              <a:lnSpc>
                <a:spcPct val="104000"/>
              </a:lnSpc>
              <a:spcBef>
                <a:spcPts val="300"/>
              </a:spcBef>
              <a:buNone/>
            </a:pPr>
            <a:r>
              <a:rPr lang="en-US" sz="1500" dirty="0">
                <a:solidFill>
                  <a:srgbClr val="000000"/>
                </a:solidFill>
                <a:latin typeface="Arial"/>
                <a:cs typeface="Arial"/>
              </a:rPr>
              <a:t>Sai lệch người quan sát</a:t>
            </a:r>
          </a:p>
          <a:p>
            <a:pPr marL="0" indent="0" algn="ctr">
              <a:lnSpc>
                <a:spcPct val="104000"/>
              </a:lnSpc>
              <a:spcBef>
                <a:spcPts val="300"/>
              </a:spcBef>
              <a:buNone/>
            </a:pPr>
            <a:r>
              <a:rPr lang="en-US" sz="1500" dirty="0">
                <a:solidFill>
                  <a:srgbClr val="000000"/>
                </a:solidFill>
                <a:latin typeface="Arial"/>
                <a:cs typeface="Arial"/>
              </a:rPr>
              <a:t>Sai lệch đo lường</a:t>
            </a:r>
          </a:p>
        </p:txBody>
      </p:sp>
      <p:sp>
        <p:nvSpPr>
          <p:cNvPr id="53" name="Deliverable"/>
          <p:cNvSpPr/>
          <p:nvPr/>
        </p:nvSpPr>
        <p:spPr>
          <a:xfrm>
            <a:off x="457200" y="5350000"/>
            <a:ext cx="11277600" cy="600000"/>
          </a:xfrm>
          <a:prstGeom prst="roundRect">
            <a:avLst>
              <a:gd name="adj" fmla="val 12000"/>
            </a:avLst>
          </a:prstGeom>
          <a:solidFill>
            <a:srgbClr val="FFFFFF"/>
          </a:solidFill>
          <a:ln w="15875">
            <a:solidFill>
              <a:srgbClr val="6C3483"/>
            </a:solidFill>
          </a:ln>
        </p:spPr>
        <p:txBody>
          <a:bodyPr wrap="square" lIns="182880" tIns="45720" rIns="182880" bIns="45720" rtlCol="0" anchor="ctr">
            <a:normAutofit/>
          </a:bodyPr>
          <a:lstStyle/>
          <a:p>
            <a:pPr marL="0" indent="0" algn="ctr">
              <a:buNone/>
            </a:pPr>
            <a:r>
              <a:rPr lang="en-US" sz="1300" b="1" dirty="0">
                <a:solidFill>
                  <a:srgbClr val="6C3483"/>
                </a:solidFill>
                <a:latin typeface="Arial"/>
                <a:cs typeface="Arial"/>
              </a:rPr>
              <a:t>SẢN PHẨM   </a:t>
            </a:r>
            <a:r>
              <a:rPr lang="en-US" sz="1500" dirty="0">
                <a:solidFill>
                  <a:srgbClr val="000000"/>
                </a:solidFill>
                <a:latin typeface="Arial"/>
                <a:cs typeface="Arial"/>
              </a:rPr>
              <a:t>Mỗi câu một sai lệch (đáp án trong ghi chú)</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Ví dụ khác: tìm yếu tố nhiễu</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480000"/>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Trong mỗi ví dụ, một yếu tố thứ ba chi phối cả phơi nhiễm lẫn kết cục</a:t>
            </a:r>
          </a:p>
        </p:txBody>
      </p:sp>
      <p:sp>
        <p:nvSpPr>
          <p:cNvPr id="70" name="CardHead"/>
          <p:cNvSpPr/>
          <p:nvPr/>
        </p:nvSpPr>
        <p:spPr>
          <a:xfrm>
            <a:off x="457200" y="1925948"/>
            <a:ext cx="3625866"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Kháng sinh và tử vong</a:t>
            </a:r>
          </a:p>
        </p:txBody>
      </p:sp>
      <p:sp>
        <p:nvSpPr>
          <p:cNvPr id="71" name="CardBody"/>
          <p:cNvSpPr/>
          <p:nvPr/>
        </p:nvSpPr>
        <p:spPr>
          <a:xfrm>
            <a:off x="457200" y="2565948"/>
            <a:ext cx="3625866" cy="2152155"/>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Nhiều kháng sinh, nhiều tử vong?</a:t>
            </a:r>
          </a:p>
          <a:p>
            <a:pPr marL="0" indent="0" algn="ctr">
              <a:lnSpc>
                <a:spcPct val="104000"/>
              </a:lnSpc>
              <a:spcBef>
                <a:spcPts val="400"/>
              </a:spcBef>
              <a:buNone/>
            </a:pPr>
            <a:r>
              <a:rPr lang="en-US" sz="1750" b="1" dirty="0">
                <a:solidFill>
                  <a:srgbClr val="000000"/>
                </a:solidFill>
                <a:latin typeface="Arial"/>
                <a:cs typeface="Arial"/>
              </a:rPr>
              <a:t>Yếu tố nhiễu: độ nặng nhiễm khuẩn</a:t>
            </a:r>
          </a:p>
          <a:p>
            <a:pPr marL="0" indent="0" algn="ctr">
              <a:lnSpc>
                <a:spcPct val="104000"/>
              </a:lnSpc>
              <a:spcBef>
                <a:spcPts val="400"/>
              </a:spcBef>
              <a:buNone/>
            </a:pPr>
            <a:r>
              <a:rPr lang="en-US" sz="1750" dirty="0">
                <a:solidFill>
                  <a:srgbClr val="000000"/>
                </a:solidFill>
                <a:latin typeface="Arial"/>
                <a:cs typeface="Arial"/>
              </a:rPr>
              <a:t>Người bệnh nặng hơn dùng nhiều thuốc hơn</a:t>
            </a:r>
          </a:p>
        </p:txBody>
      </p:sp>
      <p:sp>
        <p:nvSpPr>
          <p:cNvPr id="72" name="CardHead"/>
          <p:cNvSpPr/>
          <p:nvPr/>
        </p:nvSpPr>
        <p:spPr>
          <a:xfrm>
            <a:off x="4283066" y="1925948"/>
            <a:ext cx="3625866"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Dinh dưỡng và sụt cân</a:t>
            </a:r>
          </a:p>
        </p:txBody>
      </p:sp>
      <p:sp>
        <p:nvSpPr>
          <p:cNvPr id="73" name="CardBody"/>
          <p:cNvSpPr/>
          <p:nvPr/>
        </p:nvSpPr>
        <p:spPr>
          <a:xfrm>
            <a:off x="4283066" y="2565948"/>
            <a:ext cx="3625866" cy="2152155"/>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Được chuyên gia dinh dưỡng khám, sụt cân nhiều hơn?</a:t>
            </a:r>
          </a:p>
          <a:p>
            <a:pPr marL="0" indent="0" algn="ctr">
              <a:lnSpc>
                <a:spcPct val="104000"/>
              </a:lnSpc>
              <a:spcBef>
                <a:spcPts val="400"/>
              </a:spcBef>
              <a:buNone/>
            </a:pPr>
            <a:r>
              <a:rPr lang="en-US" sz="1750" b="1" dirty="0">
                <a:solidFill>
                  <a:srgbClr val="000000"/>
                </a:solidFill>
                <a:latin typeface="Arial"/>
                <a:cs typeface="Arial"/>
              </a:rPr>
              <a:t>Yếu tố nhiễu: suy dinh dưỡng khi vào viện</a:t>
            </a:r>
          </a:p>
          <a:p>
            <a:pPr marL="0" indent="0" algn="ctr">
              <a:lnSpc>
                <a:spcPct val="104000"/>
              </a:lnSpc>
              <a:spcBef>
                <a:spcPts val="400"/>
              </a:spcBef>
              <a:buNone/>
            </a:pPr>
            <a:r>
              <a:rPr lang="en-US" sz="1750" dirty="0">
                <a:solidFill>
                  <a:srgbClr val="000000"/>
                </a:solidFill>
                <a:latin typeface="Arial"/>
                <a:cs typeface="Arial"/>
              </a:rPr>
              <a:t>Chính là lý do được giới thiệu</a:t>
            </a:r>
          </a:p>
        </p:txBody>
      </p:sp>
      <p:sp>
        <p:nvSpPr>
          <p:cNvPr id="74" name="CardHead"/>
          <p:cNvSpPr/>
          <p:nvPr/>
        </p:nvSpPr>
        <p:spPr>
          <a:xfrm>
            <a:off x="8108932" y="1925948"/>
            <a:ext cx="3625866" cy="640000"/>
          </a:xfrm>
          <a:prstGeom prst="rect">
            <a:avLst/>
          </a:prstGeom>
          <a:solidFill>
            <a:srgbClr val="B23B2E"/>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Vận mạch và rối loạn nhịp</a:t>
            </a:r>
          </a:p>
        </p:txBody>
      </p:sp>
      <p:sp>
        <p:nvSpPr>
          <p:cNvPr id="75" name="CardBody"/>
          <p:cNvSpPr/>
          <p:nvPr/>
        </p:nvSpPr>
        <p:spPr>
          <a:xfrm>
            <a:off x="8108932" y="2565948"/>
            <a:ext cx="3625866" cy="2152155"/>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Dùng vận mạch, nhiều rối loạn nhịp hơn?</a:t>
            </a:r>
          </a:p>
          <a:p>
            <a:pPr marL="0" indent="0" algn="ctr">
              <a:lnSpc>
                <a:spcPct val="104000"/>
              </a:lnSpc>
              <a:spcBef>
                <a:spcPts val="400"/>
              </a:spcBef>
              <a:buNone/>
            </a:pPr>
            <a:r>
              <a:rPr lang="en-US" sz="1750" b="1" dirty="0">
                <a:solidFill>
                  <a:srgbClr val="000000"/>
                </a:solidFill>
                <a:latin typeface="Arial"/>
                <a:cs typeface="Arial"/>
              </a:rPr>
              <a:t>Yếu tố nhiễu: mức độ sốc</a:t>
            </a:r>
          </a:p>
          <a:p>
            <a:pPr marL="0" indent="0" algn="ctr">
              <a:lnSpc>
                <a:spcPct val="104000"/>
              </a:lnSpc>
              <a:spcBef>
                <a:spcPts val="400"/>
              </a:spcBef>
              <a:buNone/>
            </a:pPr>
            <a:r>
              <a:rPr lang="en-US" sz="1750" dirty="0">
                <a:solidFill>
                  <a:srgbClr val="000000"/>
                </a:solidFill>
                <a:latin typeface="Arial"/>
                <a:cs typeface="Arial"/>
              </a:rPr>
              <a:t>Một phần cũng do thuốc</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Hỏi: vì sao những người bệnh này nhận phơi nhiễm? Lý do đó có thể là yếu tố nhiễu.</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Tỷ số khả dĩ (LR) và báo cáo nghiên cứu chẩn đoán</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19" name="Intro"/>
          <p:cNvSpPr txBox="1"/>
          <p:nvPr/>
        </p:nvSpPr>
        <p:spPr>
          <a:xfrm>
            <a:off x="457200" y="1100000"/>
            <a:ext cx="11277600" cy="480000"/>
          </a:xfrm>
          <a:prstGeom prst="rect">
            <a:avLst/>
          </a:prstGeom>
          <a:noFill/>
          <a:ln>
            <a:noFill/>
          </a:ln>
        </p:spPr>
        <p:txBody>
          <a:bodyPr wrap="square" lIns="91440" tIns="45720" rIns="91440" bIns="45720" rtlCol="0" anchor="t"/>
          <a:lstStyle/>
          <a:p>
            <a:pPr marL="0" indent="0" algn="l">
              <a:buNone/>
            </a:pPr>
            <a:r>
              <a:rPr lang="en-US" sz="1700" i="1" dirty="0">
                <a:solidFill>
                  <a:srgbClr val="595959"/>
                </a:solidFill>
                <a:latin typeface="Arial"/>
                <a:cs typeface="Arial"/>
              </a:rPr>
              <a:t>Cùng xét nghiệm: độ nhạy 90%, độ đặc hiệu 80%</a:t>
            </a:r>
          </a:p>
        </p:txBody>
      </p:sp>
      <p:sp>
        <p:nvSpPr>
          <p:cNvPr id="70" name="CardHead"/>
          <p:cNvSpPr/>
          <p:nvPr/>
        </p:nvSpPr>
        <p:spPr>
          <a:xfrm>
            <a:off x="457200" y="2018552"/>
            <a:ext cx="3625866" cy="640000"/>
          </a:xfrm>
          <a:prstGeom prst="rect">
            <a:avLst/>
          </a:prstGeom>
          <a:solidFill>
            <a:srgbClr val="B23B2E"/>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LR+ (xét nghiệm dương)</a:t>
            </a:r>
          </a:p>
        </p:txBody>
      </p:sp>
      <p:sp>
        <p:nvSpPr>
          <p:cNvPr id="71" name="CardBody"/>
          <p:cNvSpPr/>
          <p:nvPr/>
        </p:nvSpPr>
        <p:spPr>
          <a:xfrm>
            <a:off x="457200" y="2658552"/>
            <a:ext cx="3625866" cy="1874342"/>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độ nhạy / (1 - độ đặc hiệu)</a:t>
            </a:r>
          </a:p>
          <a:p>
            <a:pPr marL="0" indent="0" algn="ctr">
              <a:lnSpc>
                <a:spcPct val="104000"/>
              </a:lnSpc>
              <a:spcBef>
                <a:spcPts val="400"/>
              </a:spcBef>
              <a:buNone/>
            </a:pPr>
            <a:r>
              <a:rPr lang="en-US" sz="1750" b="1" dirty="0">
                <a:solidFill>
                  <a:srgbClr val="000000"/>
                </a:solidFill>
                <a:latin typeface="Arial"/>
                <a:cs typeface="Arial"/>
              </a:rPr>
              <a:t>0.90 / 0.20 = 4.5</a:t>
            </a:r>
          </a:p>
          <a:p>
            <a:pPr marL="0" indent="0" algn="ctr">
              <a:lnSpc>
                <a:spcPct val="104000"/>
              </a:lnSpc>
              <a:spcBef>
                <a:spcPts val="400"/>
              </a:spcBef>
              <a:buNone/>
            </a:pPr>
            <a:r>
              <a:rPr lang="en-US" sz="1750" dirty="0">
                <a:solidFill>
                  <a:srgbClr val="000000"/>
                </a:solidFill>
                <a:latin typeface="Arial"/>
                <a:cs typeface="Arial"/>
              </a:rPr>
              <a:t>Kết quả dương gặp ở người bệnh nhiều gấp 4.5 lần</a:t>
            </a:r>
          </a:p>
        </p:txBody>
      </p:sp>
      <p:sp>
        <p:nvSpPr>
          <p:cNvPr id="72" name="CardHead"/>
          <p:cNvSpPr/>
          <p:nvPr/>
        </p:nvSpPr>
        <p:spPr>
          <a:xfrm>
            <a:off x="4283066" y="2018552"/>
            <a:ext cx="3625866" cy="640000"/>
          </a:xfrm>
          <a:prstGeom prst="rect">
            <a:avLst/>
          </a:prstGeom>
          <a:solidFill>
            <a:srgbClr val="0D7377"/>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LR- (xét nghiệm âm)</a:t>
            </a:r>
          </a:p>
        </p:txBody>
      </p:sp>
      <p:sp>
        <p:nvSpPr>
          <p:cNvPr id="73" name="CardBody"/>
          <p:cNvSpPr/>
          <p:nvPr/>
        </p:nvSpPr>
        <p:spPr>
          <a:xfrm>
            <a:off x="4283066" y="2658552"/>
            <a:ext cx="3625866" cy="1874342"/>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(1 - độ nhạy) / độ đặc hiệu</a:t>
            </a:r>
          </a:p>
          <a:p>
            <a:pPr marL="0" indent="0" algn="ctr">
              <a:lnSpc>
                <a:spcPct val="104000"/>
              </a:lnSpc>
              <a:spcBef>
                <a:spcPts val="400"/>
              </a:spcBef>
              <a:buNone/>
            </a:pPr>
            <a:r>
              <a:rPr lang="en-US" sz="1750" b="1" dirty="0">
                <a:solidFill>
                  <a:srgbClr val="000000"/>
                </a:solidFill>
                <a:latin typeface="Arial"/>
                <a:cs typeface="Arial"/>
              </a:rPr>
              <a:t>0.10 / 0.80 = 0.13</a:t>
            </a:r>
          </a:p>
          <a:p>
            <a:pPr marL="0" indent="0" algn="ctr">
              <a:lnSpc>
                <a:spcPct val="104000"/>
              </a:lnSpc>
              <a:spcBef>
                <a:spcPts val="400"/>
              </a:spcBef>
              <a:buNone/>
            </a:pPr>
            <a:r>
              <a:rPr lang="en-US" sz="1750" dirty="0">
                <a:solidFill>
                  <a:srgbClr val="000000"/>
                </a:solidFill>
                <a:latin typeface="Arial"/>
                <a:cs typeface="Arial"/>
              </a:rPr>
              <a:t>LR trên 10 hoặc dưới 0.1 thay đổi quyết định nhiều nhất</a:t>
            </a:r>
          </a:p>
        </p:txBody>
      </p:sp>
      <p:sp>
        <p:nvSpPr>
          <p:cNvPr id="74" name="CardHead"/>
          <p:cNvSpPr/>
          <p:nvPr/>
        </p:nvSpPr>
        <p:spPr>
          <a:xfrm>
            <a:off x="8108932" y="2018552"/>
            <a:ext cx="3625866" cy="640000"/>
          </a:xfrm>
          <a:prstGeom prst="rect">
            <a:avLst/>
          </a:prstGeom>
          <a:solidFill>
            <a:srgbClr val="0B376C"/>
          </a:solidFill>
          <a:ln>
            <a:noFill/>
          </a:ln>
        </p:spPr>
        <p:txBody>
          <a:bodyPr wrap="square" lIns="91440" tIns="45720" rIns="91440" bIns="45720" rtlCol="0" anchor="ctr">
            <a:normAutofit/>
          </a:bodyPr>
          <a:lstStyle/>
          <a:p>
            <a:pPr marL="0" indent="0" algn="ctr">
              <a:buNone/>
            </a:pPr>
            <a:r>
              <a:rPr lang="en-US" sz="1900" b="1" dirty="0">
                <a:solidFill>
                  <a:srgbClr val="FFFFFF"/>
                </a:solidFill>
                <a:latin typeface="Arial"/>
                <a:cs typeface="Arial"/>
              </a:rPr>
              <a:t>Báo cáo và thẩm định</a:t>
            </a:r>
          </a:p>
        </p:txBody>
      </p:sp>
      <p:sp>
        <p:nvSpPr>
          <p:cNvPr id="75" name="CardBody"/>
          <p:cNvSpPr/>
          <p:nvPr/>
        </p:nvSpPr>
        <p:spPr>
          <a:xfrm>
            <a:off x="8108932" y="2658552"/>
            <a:ext cx="3625866" cy="1874342"/>
          </a:xfrm>
          <a:prstGeom prst="rect">
            <a:avLst/>
          </a:prstGeom>
          <a:solidFill>
            <a:srgbClr val="EAF2F5"/>
          </a:solidFill>
          <a:ln>
            <a:noFill/>
          </a:ln>
        </p:spPr>
        <p:txBody>
          <a:bodyPr wrap="square" lIns="137160" tIns="91440" rIns="137160" bIns="91440" rtlCol="0" anchor="ctr">
            <a:normAutofit/>
          </a:bodyPr>
          <a:lstStyle/>
          <a:p>
            <a:pPr marL="0" indent="0" algn="ctr">
              <a:lnSpc>
                <a:spcPct val="104000"/>
              </a:lnSpc>
              <a:spcBef>
                <a:spcPts val="400"/>
              </a:spcBef>
              <a:buNone/>
            </a:pPr>
            <a:r>
              <a:rPr lang="en-US" sz="1750" dirty="0">
                <a:solidFill>
                  <a:srgbClr val="000000"/>
                </a:solidFill>
                <a:latin typeface="Arial"/>
                <a:cs typeface="Arial"/>
              </a:rPr>
              <a:t>STARD: bảng kiểm báo cáo và sơ đồ luồng</a:t>
            </a:r>
          </a:p>
          <a:p>
            <a:pPr marL="0" indent="0" algn="ctr">
              <a:lnSpc>
                <a:spcPct val="104000"/>
              </a:lnSpc>
              <a:spcBef>
                <a:spcPts val="400"/>
              </a:spcBef>
              <a:buNone/>
            </a:pPr>
            <a:r>
              <a:rPr lang="en-US" sz="1750" dirty="0">
                <a:solidFill>
                  <a:srgbClr val="000000"/>
                </a:solidFill>
                <a:latin typeface="Arial"/>
                <a:cs typeface="Arial"/>
              </a:rPr>
              <a:t>QUADAS-2: nguy cơ sai lệch</a:t>
            </a:r>
          </a:p>
          <a:p>
            <a:pPr marL="0" indent="0" algn="ctr">
              <a:lnSpc>
                <a:spcPct val="104000"/>
              </a:lnSpc>
              <a:spcBef>
                <a:spcPts val="400"/>
              </a:spcBef>
              <a:buNone/>
            </a:pPr>
            <a:r>
              <a:rPr lang="en-US" sz="1750" dirty="0">
                <a:solidFill>
                  <a:srgbClr val="000000"/>
                </a:solidFill>
                <a:latin typeface="Arial"/>
                <a:cs typeface="Arial"/>
              </a:rPr>
              <a:t>Thử trên đúng người bệnh sẽ dùng xét nghiệm</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Tỷ số khả dĩ không đổi theo tỷ lệ hiện mắc. Giá trị tiên đoán thì có.</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Biểu đồ đèn giao thông RoB 2</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pic>
        <p:nvPicPr>
          <p:cNvPr id="25" name="Figure"/>
          <p:cNvPicPr>
            <a:picLocks noChangeAspect="1"/>
          </p:cNvPicPr>
          <p:nvPr/>
        </p:nvPicPr>
        <p:blipFill>
          <a:blip r:embed="rId4"/>
          <a:stretch>
            <a:fillRect/>
          </a:stretch>
        </p:blipFill>
        <p:spPr>
          <a:xfrm>
            <a:off x="1383500" y="1150000"/>
            <a:ext cx="9425000" cy="3770000"/>
          </a:xfrm>
          <a:prstGeom prst="rect">
            <a:avLst/>
          </a:prstGeom>
        </p:spPr>
      </p:pic>
      <p:sp>
        <p:nvSpPr>
          <p:cNvPr id="26" name="Caption"/>
          <p:cNvSpPr txBox="1"/>
          <p:nvPr/>
        </p:nvSpPr>
        <p:spPr>
          <a:xfrm>
            <a:off x="457200" y="4980000"/>
            <a:ext cx="11277600" cy="400000"/>
          </a:xfrm>
          <a:prstGeom prst="rect">
            <a:avLst/>
          </a:prstGeom>
          <a:noFill/>
          <a:ln>
            <a:noFill/>
          </a:ln>
        </p:spPr>
        <p:txBody>
          <a:bodyPr wrap="square" lIns="91440" tIns="45720" rIns="91440" bIns="45720" rtlCol="0" anchor="t"/>
          <a:lstStyle/>
          <a:p>
            <a:pPr marL="0" indent="0" algn="ctr">
              <a:buNone/>
            </a:pPr>
            <a:r>
              <a:rPr lang="en-US" sz="1300" i="1" dirty="0">
                <a:solidFill>
                  <a:srgbClr val="595959"/>
                </a:solidFill>
                <a:latin typeface="Arial"/>
                <a:cs typeface="Arial"/>
              </a:rPr>
              <a:t>RoB 2: công cụ đánh giá nguy cơ sai lệch của Cochrane cho thử nghiệm ngẫu nhiên. D1-D5: năm lĩnh vực. Đánh giá minh họa.</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Đánh giá từng lĩnh vực. Nguy cơ chung do lĩnh vực xấu nhất quyết định.</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Title"/>
          <p:cNvSpPr txBox="1"/>
          <p:nvPr/>
        </p:nvSpPr>
        <p:spPr>
          <a:xfrm>
            <a:off x="457200" y="160000"/>
            <a:ext cx="11277600" cy="750000"/>
          </a:xfrm>
          <a:prstGeom prst="rect">
            <a:avLst/>
          </a:prstGeom>
          <a:noFill/>
          <a:ln>
            <a:noFill/>
          </a:ln>
        </p:spPr>
        <p:txBody>
          <a:bodyPr wrap="square" lIns="91440" tIns="45720" rIns="91440" bIns="45720" rtlCol="0" anchor="ctr"/>
          <a:lstStyle/>
          <a:p>
            <a:pPr marL="0" indent="0" algn="l">
              <a:buNone/>
            </a:pPr>
            <a:r>
              <a:rPr lang="en-US" sz="2800" b="1" dirty="0">
                <a:solidFill>
                  <a:srgbClr val="0D7377"/>
                </a:solidFill>
                <a:latin typeface="Arial"/>
                <a:cs typeface="Arial"/>
              </a:rPr>
              <a:t>Ví dụ: hiện mắc hay mới mắc?</a:t>
            </a:r>
          </a:p>
        </p:txBody>
      </p:sp>
      <p:sp>
        <p:nvSpPr>
          <p:cNvPr id="11" name="Rule"/>
          <p:cNvSpPr/>
          <p:nvPr/>
        </p:nvSpPr>
        <p:spPr>
          <a:xfrm>
            <a:off x="457200" y="940000"/>
            <a:ext cx="11277600" cy="0"/>
          </a:xfrm>
          <a:prstGeom prst="line">
            <a:avLst/>
          </a:prstGeom>
          <a:ln w="19050">
            <a:solidFill>
              <a:srgbClr val="0D7377"/>
            </a:solidFill>
          </a:ln>
        </p:spPr>
        <p:txBody>
          <a:bodyPr/>
          <a:lstStyle/>
          <a:p>
            <a:endParaRPr/>
          </a:p>
        </p:txBody>
      </p:sp>
      <p:sp>
        <p:nvSpPr>
          <p:cNvPr id="80" name="Step"/>
          <p:cNvSpPr/>
          <p:nvPr/>
        </p:nvSpPr>
        <p:spPr>
          <a:xfrm>
            <a:off x="457200" y="1220000"/>
            <a:ext cx="2864400" cy="760000"/>
          </a:xfrm>
          <a:prstGeom prst="homePlate">
            <a:avLst>
              <a:gd name="adj" fmla="val 28000"/>
            </a:avLst>
          </a:prstGeom>
          <a:solidFill>
            <a:srgbClr val="0D7377"/>
          </a:solidFill>
          <a:ln>
            <a:noFill/>
          </a:ln>
        </p:spPr>
        <p:txBody>
          <a:bodyPr wrap="square" lIns="200000" tIns="45720" rIns="200000" bIns="45720" rtlCol="0" anchor="ctr">
            <a:normAutofit/>
          </a:bodyPr>
          <a:lstStyle/>
          <a:p>
            <a:pPr marL="0" indent="0" algn="ctr">
              <a:buNone/>
            </a:pPr>
            <a:r>
              <a:rPr lang="en-US" sz="1600" b="1" dirty="0">
                <a:solidFill>
                  <a:srgbClr val="FFFFFF"/>
                </a:solidFill>
                <a:latin typeface="Arial"/>
                <a:cs typeface="Arial"/>
              </a:rPr>
              <a:t>Hôm nay</a:t>
            </a:r>
          </a:p>
        </p:txBody>
      </p:sp>
      <p:sp>
        <p:nvSpPr>
          <p:cNvPr id="81" name="StepText"/>
          <p:cNvSpPr/>
          <p:nvPr/>
        </p:nvSpPr>
        <p:spPr>
          <a:xfrm>
            <a:off x="497200" y="2140000"/>
            <a:ext cx="2724400" cy="1100000"/>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200 người bệnh ở khoa, 20 người có loét tì đè</a:t>
            </a:r>
          </a:p>
          <a:p>
            <a:pPr marL="0" indent="0" algn="ctr">
              <a:lnSpc>
                <a:spcPct val="104000"/>
              </a:lnSpc>
              <a:spcBef>
                <a:spcPts val="200"/>
              </a:spcBef>
              <a:buNone/>
            </a:pPr>
            <a:r>
              <a:rPr lang="en-US" sz="1500" dirty="0">
                <a:solidFill>
                  <a:srgbClr val="000000"/>
                </a:solidFill>
                <a:latin typeface="Arial"/>
                <a:cs typeface="Arial"/>
              </a:rPr>
              <a:t>Hiện mắc 10%</a:t>
            </a:r>
          </a:p>
        </p:txBody>
      </p:sp>
      <p:sp>
        <p:nvSpPr>
          <p:cNvPr id="82" name="Step"/>
          <p:cNvSpPr/>
          <p:nvPr/>
        </p:nvSpPr>
        <p:spPr>
          <a:xfrm>
            <a:off x="3261600" y="1220000"/>
            <a:ext cx="2864400" cy="760000"/>
          </a:xfrm>
          <a:prstGeom prst="chevron">
            <a:avLst>
              <a:gd name="adj" fmla="val 28000"/>
            </a:avLst>
          </a:prstGeom>
          <a:solidFill>
            <a:srgbClr val="0B376C"/>
          </a:solidFill>
          <a:ln>
            <a:noFill/>
          </a:ln>
        </p:spPr>
        <p:txBody>
          <a:bodyPr wrap="square" lIns="200000" tIns="45720" rIns="200000" bIns="45720" rtlCol="0" anchor="ctr">
            <a:normAutofit/>
          </a:bodyPr>
          <a:lstStyle/>
          <a:p>
            <a:pPr marL="0" indent="0" algn="ctr">
              <a:buNone/>
            </a:pPr>
            <a:r>
              <a:rPr lang="en-US" sz="1600" b="1" dirty="0">
                <a:solidFill>
                  <a:srgbClr val="FFFFFF"/>
                </a:solidFill>
                <a:latin typeface="Arial"/>
                <a:cs typeface="Arial"/>
              </a:rPr>
              <a:t>Có nguy cơ</a:t>
            </a:r>
          </a:p>
        </p:txBody>
      </p:sp>
      <p:sp>
        <p:nvSpPr>
          <p:cNvPr id="83" name="StepText"/>
          <p:cNvSpPr/>
          <p:nvPr/>
        </p:nvSpPr>
        <p:spPr>
          <a:xfrm>
            <a:off x="3301600" y="2140000"/>
            <a:ext cx="2724400" cy="1100000"/>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180 người bệnh chưa bị loét</a:t>
            </a:r>
          </a:p>
        </p:txBody>
      </p:sp>
      <p:sp>
        <p:nvSpPr>
          <p:cNvPr id="84" name="Step"/>
          <p:cNvSpPr/>
          <p:nvPr/>
        </p:nvSpPr>
        <p:spPr>
          <a:xfrm>
            <a:off x="6066000" y="1220000"/>
            <a:ext cx="2864400" cy="760000"/>
          </a:xfrm>
          <a:prstGeom prst="chevron">
            <a:avLst>
              <a:gd name="adj" fmla="val 28000"/>
            </a:avLst>
          </a:prstGeom>
          <a:solidFill>
            <a:srgbClr val="5FA39B"/>
          </a:solidFill>
          <a:ln>
            <a:noFill/>
          </a:ln>
        </p:spPr>
        <p:txBody>
          <a:bodyPr wrap="square" lIns="200000" tIns="45720" rIns="200000" bIns="45720" rtlCol="0" anchor="ctr">
            <a:normAutofit/>
          </a:bodyPr>
          <a:lstStyle/>
          <a:p>
            <a:pPr marL="0" indent="0" algn="ctr">
              <a:buNone/>
            </a:pPr>
            <a:r>
              <a:rPr lang="en-US" sz="1600" b="1" dirty="0">
                <a:solidFill>
                  <a:srgbClr val="FFFFFF"/>
                </a:solidFill>
                <a:latin typeface="Arial"/>
                <a:cs typeface="Arial"/>
              </a:rPr>
              <a:t>Một tuần</a:t>
            </a:r>
          </a:p>
        </p:txBody>
      </p:sp>
      <p:sp>
        <p:nvSpPr>
          <p:cNvPr id="85" name="StepText"/>
          <p:cNvSpPr/>
          <p:nvPr/>
        </p:nvSpPr>
        <p:spPr>
          <a:xfrm>
            <a:off x="6106000" y="2140000"/>
            <a:ext cx="2724400" cy="1100000"/>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9 người bị loét mới</a:t>
            </a:r>
          </a:p>
        </p:txBody>
      </p:sp>
      <p:sp>
        <p:nvSpPr>
          <p:cNvPr id="86" name="Step"/>
          <p:cNvSpPr/>
          <p:nvPr/>
        </p:nvSpPr>
        <p:spPr>
          <a:xfrm>
            <a:off x="8870400" y="1220000"/>
            <a:ext cx="2864400" cy="760000"/>
          </a:xfrm>
          <a:prstGeom prst="chevron">
            <a:avLst>
              <a:gd name="adj" fmla="val 28000"/>
            </a:avLst>
          </a:prstGeom>
          <a:solidFill>
            <a:srgbClr val="0070C0"/>
          </a:solidFill>
          <a:ln>
            <a:noFill/>
          </a:ln>
        </p:spPr>
        <p:txBody>
          <a:bodyPr wrap="square" lIns="200000" tIns="45720" rIns="200000" bIns="45720" rtlCol="0" anchor="ctr">
            <a:normAutofit/>
          </a:bodyPr>
          <a:lstStyle/>
          <a:p>
            <a:pPr marL="0" indent="0" algn="ctr">
              <a:buNone/>
            </a:pPr>
            <a:r>
              <a:rPr lang="en-US" sz="1600" b="1" dirty="0">
                <a:solidFill>
                  <a:srgbClr val="FFFFFF"/>
                </a:solidFill>
                <a:latin typeface="Arial"/>
                <a:cs typeface="Arial"/>
              </a:rPr>
              <a:t>Mới mắc</a:t>
            </a:r>
          </a:p>
        </p:txBody>
      </p:sp>
      <p:sp>
        <p:nvSpPr>
          <p:cNvPr id="87" name="StepText"/>
          <p:cNvSpPr/>
          <p:nvPr/>
        </p:nvSpPr>
        <p:spPr>
          <a:xfrm>
            <a:off x="8910400" y="2140000"/>
            <a:ext cx="2724400" cy="1100000"/>
          </a:xfrm>
          <a:prstGeom prst="rect">
            <a:avLst/>
          </a:prstGeom>
          <a:solidFill>
            <a:srgbClr val="EAF2F5"/>
          </a:solidFill>
          <a:ln>
            <a:noFill/>
          </a:ln>
        </p:spPr>
        <p:txBody>
          <a:bodyPr wrap="square" lIns="110000" tIns="91440" rIns="110000" bIns="91440" rtlCol="0" anchor="ctr">
            <a:normAutofit/>
          </a:bodyPr>
          <a:lstStyle/>
          <a:p>
            <a:pPr marL="0" indent="0" algn="ctr">
              <a:lnSpc>
                <a:spcPct val="104000"/>
              </a:lnSpc>
              <a:spcBef>
                <a:spcPts val="200"/>
              </a:spcBef>
              <a:buNone/>
            </a:pPr>
            <a:r>
              <a:rPr lang="en-US" sz="1500" dirty="0">
                <a:solidFill>
                  <a:srgbClr val="000000"/>
                </a:solidFill>
                <a:latin typeface="Arial"/>
                <a:cs typeface="Arial"/>
              </a:rPr>
              <a:t>9 / 180 = 5% mỗi tuần</a:t>
            </a:r>
          </a:p>
          <a:p>
            <a:pPr marL="0" indent="0" algn="ctr">
              <a:lnSpc>
                <a:spcPct val="104000"/>
              </a:lnSpc>
              <a:spcBef>
                <a:spcPts val="200"/>
              </a:spcBef>
              <a:buNone/>
            </a:pPr>
            <a:r>
              <a:rPr lang="en-US" sz="1500" dirty="0">
                <a:solidFill>
                  <a:srgbClr val="000000"/>
                </a:solidFill>
                <a:latin typeface="Arial"/>
                <a:cs typeface="Arial"/>
              </a:rPr>
              <a:t>Mẫu số: chỉ người có nguy cơ</a:t>
            </a:r>
          </a:p>
        </p:txBody>
      </p:sp>
      <p:sp>
        <p:nvSpPr>
          <p:cNvPr id="60" name="Takeaway"/>
          <p:cNvSpPr/>
          <p:nvPr/>
        </p:nvSpPr>
        <p:spPr>
          <a:xfrm>
            <a:off x="457200" y="5390000"/>
            <a:ext cx="11277600" cy="560000"/>
          </a:xfrm>
          <a:prstGeom prst="roundRect">
            <a:avLst>
              <a:gd name="adj" fmla="val 12000"/>
            </a:avLst>
          </a:prstGeom>
          <a:solidFill>
            <a:srgbClr val="0D7377"/>
          </a:solidFill>
          <a:ln>
            <a:noFill/>
          </a:ln>
        </p:spPr>
        <p:txBody>
          <a:bodyPr wrap="square" lIns="182880" tIns="45720" rIns="182880" bIns="45720" rtlCol="0" anchor="ctr">
            <a:normAutofit/>
          </a:bodyPr>
          <a:lstStyle/>
          <a:p>
            <a:pPr marL="0" indent="0" algn="ctr">
              <a:buNone/>
            </a:pPr>
            <a:r>
              <a:rPr lang="en-US" sz="1300" b="1" dirty="0">
                <a:solidFill>
                  <a:srgbClr val="FFFFFF"/>
                </a:solidFill>
                <a:latin typeface="Arial"/>
                <a:cs typeface="Arial"/>
              </a:rPr>
              <a:t>THÔNG ĐIỆP CHÍNH   </a:t>
            </a:r>
            <a:r>
              <a:rPr lang="en-US" sz="1550" dirty="0">
                <a:solidFill>
                  <a:srgbClr val="FFFFFF"/>
                </a:solidFill>
                <a:latin typeface="Arial"/>
                <a:cs typeface="Arial"/>
              </a:rPr>
              <a:t>Tỷ lệ mới mắc luôn có khoảng thời gian và chỉ tính người có nguy cơ.</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pic>
        <p:nvPicPr>
          <p:cNvPr id="902" name="Logo"/>
          <p:cNvPicPr>
            <a:picLocks noChangeAspect="1"/>
          </p:cNvPicPr>
          <p:nvPr/>
        </p:nvPicPr>
        <p:blipFill>
          <a:blip r:embed="rId3"/>
          <a:stretch>
            <a:fillRect/>
          </a:stretch>
        </p:blipFill>
        <p:spPr>
          <a:xfrm>
            <a:off x="138853" y="6122125"/>
            <a:ext cx="716763" cy="683623"/>
          </a:xfrm>
          <a:prstGeom prst="rect">
            <a:avLst/>
          </a:prstGeom>
        </p:spPr>
      </p:pic>
      <p:sp>
        <p:nvSpPr>
          <p:cNvPr id="903"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2</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Logo"/>
          <p:cNvPicPr>
            <a:picLocks noChangeAspect="1"/>
          </p:cNvPicPr>
          <p:nvPr/>
        </p:nvPicPr>
        <p:blipFill>
          <a:blip r:embed="rId3"/>
          <a:stretch>
            <a:fillRect/>
          </a:stretch>
        </p:blipFill>
        <p:spPr>
          <a:xfrm>
            <a:off x="4438553" y="723719"/>
            <a:ext cx="3314894" cy="2906250"/>
          </a:xfrm>
          <a:prstGeom prst="rect">
            <a:avLst/>
          </a:prstGeom>
        </p:spPr>
      </p:pic>
      <p:sp>
        <p:nvSpPr>
          <p:cNvPr id="3" name="CopyHead"/>
          <p:cNvSpPr txBox="1"/>
          <p:nvPr/>
        </p:nvSpPr>
        <p:spPr>
          <a:xfrm>
            <a:off x="1100000" y="3650000"/>
            <a:ext cx="9000000" cy="500000"/>
          </a:xfrm>
          <a:prstGeom prst="rect">
            <a:avLst/>
          </a:prstGeom>
          <a:noFill/>
          <a:ln>
            <a:noFill/>
          </a:ln>
        </p:spPr>
        <p:txBody>
          <a:bodyPr wrap="square" lIns="0" tIns="45720" rIns="0" bIns="45720" rtlCol="0" anchor="t"/>
          <a:lstStyle/>
          <a:p>
            <a:pPr marL="0" indent="0" algn="l">
              <a:buNone/>
            </a:pPr>
            <a:r>
              <a:rPr lang="en-US" sz="2400" b="1" dirty="0">
                <a:solidFill>
                  <a:srgbClr val="4472C4"/>
                </a:solidFill>
                <a:latin typeface="Arial"/>
                <a:cs typeface="Arial"/>
              </a:rPr>
              <a:t>Copyright © Neudata, 2026</a:t>
            </a:r>
          </a:p>
        </p:txBody>
      </p:sp>
      <p:sp>
        <p:nvSpPr>
          <p:cNvPr id="4" name="CopyBody"/>
          <p:cNvSpPr txBox="1"/>
          <p:nvPr/>
        </p:nvSpPr>
        <p:spPr>
          <a:xfrm>
            <a:off x="1100000" y="4200000"/>
            <a:ext cx="9991440" cy="2200000"/>
          </a:xfrm>
          <a:prstGeom prst="rect">
            <a:avLst/>
          </a:prstGeom>
          <a:noFill/>
          <a:ln>
            <a:noFill/>
          </a:ln>
        </p:spPr>
        <p:txBody>
          <a:bodyPr wrap="square" lIns="0" tIns="45720" rIns="0" bIns="45720" rtlCol="0" anchor="t"/>
          <a:lstStyle/>
          <a:p>
            <a:pPr marL="0" indent="0" algn="l">
              <a:spcBef>
                <a:spcPts val="100"/>
              </a:spcBef>
              <a:buNone/>
            </a:pPr>
            <a:r>
              <a:rPr lang="en-US" sz="1200" dirty="0">
                <a:solidFill>
                  <a:srgbClr val="000000"/>
                </a:solidFill>
                <a:latin typeface="Courier New"/>
                <a:cs typeface="Courier New"/>
              </a:rPr>
              <a:t>All property rights and copyright are reserved.</a:t>
            </a:r>
          </a:p>
          <a:p>
            <a:pPr>
              <a:buNone/>
            </a:pPr>
            <a:endParaRPr sz="800"/>
          </a:p>
          <a:p>
            <a:pPr marL="0" indent="0" algn="l">
              <a:spcBef>
                <a:spcPts val="100"/>
              </a:spcBef>
              <a:buNone/>
            </a:pPr>
            <a:r>
              <a:rPr lang="en-US" sz="1200" dirty="0">
                <a:solidFill>
                  <a:srgbClr val="000000"/>
                </a:solidFill>
                <a:latin typeface="Courier New"/>
                <a:cs typeface="Courier New"/>
              </a:rPr>
              <a:t>This presentation contains proprietary data, information, and materials developed by Neudata for dedicated use only and may not be communicated, copied, reproduced, distributed, published, or cited, in whole or in part, without the prior written consent of Neudata.</a:t>
            </a:r>
          </a:p>
          <a:p>
            <a:pPr marL="0" indent="0" algn="l">
              <a:spcBef>
                <a:spcPts val="100"/>
              </a:spcBef>
              <a:buNone/>
            </a:pPr>
            <a:r>
              <a:rPr lang="en-US" sz="1200" dirty="0">
                <a:solidFill>
                  <a:srgbClr val="000000"/>
                </a:solidFill>
                <a:latin typeface="Courier New"/>
                <a:cs typeface="Courier New"/>
              </a:rPr>
              <a:t>Where explicit written permission has been granted, appropriate attribution must be included, followed by “by courtesy of Neudata”.</a:t>
            </a:r>
          </a:p>
          <a:p>
            <a:pPr>
              <a:buNone/>
            </a:pPr>
            <a:endParaRPr sz="800"/>
          </a:p>
          <a:p>
            <a:pPr marL="0" indent="0" algn="l">
              <a:spcBef>
                <a:spcPts val="100"/>
              </a:spcBef>
              <a:buNone/>
            </a:pPr>
            <a:r>
              <a:rPr lang="en-US" sz="1200" dirty="0">
                <a:solidFill>
                  <a:srgbClr val="000000"/>
                </a:solidFill>
                <a:latin typeface="Courier New"/>
                <a:cs typeface="Courier New"/>
              </a:rPr>
              <a:t>Any unauthorized use or infringement of these materials may give rise to legal action and claims for damages, without prejudice to any other rights of Neudata, including rights relating to patents, trademarks, or other forms of intellectual property protection.</a:t>
            </a:r>
          </a:p>
        </p:txBody>
      </p:sp>
      <p:sp>
        <p:nvSpPr>
          <p:cNvPr id="901" name="Footer"/>
          <p:cNvSpPr txBox="1"/>
          <p:nvPr/>
        </p:nvSpPr>
        <p:spPr>
          <a:xfrm>
            <a:off x="4599946" y="6458701"/>
            <a:ext cx="2845651" cy="276999"/>
          </a:xfrm>
          <a:prstGeom prst="rect">
            <a:avLst/>
          </a:prstGeom>
          <a:noFill/>
          <a:ln>
            <a:noFill/>
          </a:ln>
        </p:spPr>
        <p:txBody>
          <a:bodyPr wrap="none" lIns="91440" tIns="45720" rIns="91440" bIns="45720" rtlCol="0" anchor="t"/>
          <a:lstStyle/>
          <a:p>
            <a:r>
              <a:rPr lang="en-US" sz="1200" dirty="0">
                <a:solidFill>
                  <a:schemeClr val="accent5">
                    <a:lumMod val="50000"/>
                  </a:schemeClr>
                </a:solidFill>
                <a:latin typeface="Arial"/>
              </a:rPr>
              <a:t>Neudata | #ClearDataClearImpact</a:t>
            </a:r>
          </a:p>
        </p:txBody>
      </p:sp>
      <p:sp>
        <p:nvSpPr>
          <p:cNvPr id="905" name="Slide Number"/>
          <p:cNvSpPr>
            <a:spLocks noGrp="1"/>
          </p:cNvSpPr>
          <p:nvPr>
            <p:ph type="sldNum" sz="quarter" idx="12"/>
          </p:nvPr>
        </p:nvSpPr>
        <p:spPr>
          <a:xfrm>
            <a:off x="11330000" y="6470000"/>
            <a:ext cx="620000" cy="320000"/>
          </a:xfrm>
        </p:spPr>
        <p:txBody>
          <a:bodyPr/>
          <a:lstStyle/>
          <a:p>
            <a:pPr algn="r"/>
            <a:fld id="{C1FF6DA9-008F-8B48-92A6-B652298478BF}" type="slidenum">
              <a:rPr lang="en-US" sz="1050" smtClean="0">
                <a:solidFill>
                  <a:schemeClr val="accent5">
                    <a:lumMod val="50000"/>
                  </a:schemeClr>
                </a:solidFill>
              </a:rPr>
              <a:t>x</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Relationships xmlns="http://schemas.openxmlformats.org/package/2006/relationships">
  <Relationship Id="rId1" Type="http://schemas.openxmlformats.org/officeDocument/2006/relationships/customXmlProps" Target="itemProps1.xml"/>
</Relationships>

</file>

<file path=customXml/_rels/item2.xml.rels><?xml version="1.0" encoding="utf-8"?>
<Relationships xmlns="http://schemas.openxmlformats.org/package/2006/relationships">
  <Relationship Id="rId1" Type="http://schemas.openxmlformats.org/officeDocument/2006/relationships/customXmlProps" Target="itemProps2.xml"/>
</Relationships>

</file>

<file path=customXml/_rels/item3.xml.rels><?xml version="1.0" encoding="utf-8"?>
<Relationships xmlns="http://schemas.openxmlformats.org/package/2006/relationships">
  <Relationship Id="rId1" Type="http://schemas.openxmlformats.org/officeDocument/2006/relationships/customXmlProps" Target="itemProps3.xml"/>
</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e658d648-6ffc-4f30-955e-342d2c65b5cc"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F54D7B907B5DFD428D1C0297734363F0" ma:contentTypeVersion="15" ma:contentTypeDescription="Een nieuw document maken." ma:contentTypeScope="" ma:versionID="26c99ba727eaa891493a7fa95ff6c725">
  <xsd:schema xmlns:xsd="http://www.w3.org/2001/XMLSchema" xmlns:xs="http://www.w3.org/2001/XMLSchema" xmlns:p="http://schemas.microsoft.com/office/2006/metadata/properties" xmlns:ns3="e658d648-6ffc-4f30-955e-342d2c65b5cc" xmlns:ns4="ab59a5c7-b96d-406d-bbef-f0a1b42de2f3" targetNamespace="http://schemas.microsoft.com/office/2006/metadata/properties" ma:root="true" ma:fieldsID="786a918a36af2f8db8f60bc36475a9d3" ns3:_="" ns4:_="">
    <xsd:import namespace="e658d648-6ffc-4f30-955e-342d2c65b5cc"/>
    <xsd:import namespace="ab59a5c7-b96d-406d-bbef-f0a1b42de2f3"/>
    <xsd:element name="properties">
      <xsd:complexType>
        <xsd:sequence>
          <xsd:element name="documentManagement">
            <xsd:complexType>
              <xsd:all>
                <xsd:element ref="ns3:_activity" minOccurs="0"/>
                <xsd:element ref="ns4:SharedWithUsers" minOccurs="0"/>
                <xsd:element ref="ns4:SharedWithDetails" minOccurs="0"/>
                <xsd:element ref="ns4:SharingHintHash" minOccurs="0"/>
                <xsd:element ref="ns3:MediaServiceMetadata" minOccurs="0"/>
                <xsd:element ref="ns3:MediaServiceFastMetadata" minOccurs="0"/>
                <xsd:element ref="ns3:MediaServiceObjectDetectorVersions" minOccurs="0"/>
                <xsd:element ref="ns3:MediaServiceDateTaken" minOccurs="0"/>
                <xsd:element ref="ns3:MediaServiceAutoTags" minOccurs="0"/>
                <xsd:element ref="ns3:MediaLengthInSeconds" minOccurs="0"/>
                <xsd:element ref="ns3:MediaServiceSearchProperties" minOccurs="0"/>
                <xsd:element ref="ns3:MediaServiceSystemTags" minOccurs="0"/>
                <xsd:element ref="ns3:MediaServiceOCR" minOccurs="0"/>
                <xsd:element ref="ns3:MediaServiceGenerationTime" minOccurs="0"/>
                <xsd:element ref="ns3: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658d648-6ffc-4f30-955e-342d2c65b5cc" elementFormDefault="qualified">
    <xsd:import namespace="http://schemas.microsoft.com/office/2006/documentManagement/types"/>
    <xsd:import namespace="http://schemas.microsoft.com/office/infopath/2007/PartnerControls"/>
    <xsd:element name="_activity" ma:index="8" nillable="true" ma:displayName="_activity" ma:hidden="true" ma:internalName="_activity">
      <xsd:simpleType>
        <xsd:restriction base="dms:Note"/>
      </xsd:simpleType>
    </xsd:element>
    <xsd:element name="MediaServiceMetadata" ma:index="12" nillable="true" ma:displayName="MediaServiceMetadata" ma:hidden="true" ma:internalName="MediaServiceMetadata" ma:readOnly="true">
      <xsd:simpleType>
        <xsd:restriction base="dms:Note"/>
      </xsd:simpleType>
    </xsd:element>
    <xsd:element name="MediaServiceFastMetadata" ma:index="13" nillable="true" ma:displayName="MediaServiceFastMetadata" ma:hidden="true" ma:internalName="MediaServiceFastMetadata" ma:readOnly="true">
      <xsd:simpleType>
        <xsd:restriction base="dms:Note"/>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AutoTags" ma:index="16" nillable="true" ma:displayName="Tags" ma:internalName="MediaServiceAutoTags"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MediaServiceSearchProperties" ma:index="18" nillable="true" ma:displayName="MediaServiceSearchProperties" ma:hidden="true" ma:internalName="MediaServiceSearchProperties" ma:readOnly="true">
      <xsd:simpleType>
        <xsd:restriction base="dms:Note"/>
      </xsd:simpleType>
    </xsd:element>
    <xsd:element name="MediaServiceSystemTags" ma:index="19" nillable="true" ma:displayName="MediaServiceSystemTags" ma:hidden="true" ma:internalName="MediaServiceSystemTags" ma:readOnly="true">
      <xsd:simpleType>
        <xsd:restriction base="dms:Note"/>
      </xsd:simpleType>
    </xsd:element>
    <xsd:element name="MediaServiceOCR" ma:index="20" nillable="true" ma:displayName="Extracted Text" ma:internalName="MediaServiceOCR" ma:readOnly="true">
      <xsd:simpleType>
        <xsd:restriction base="dms:Note">
          <xsd:maxLength value="255"/>
        </xsd:restriction>
      </xsd:simple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b59a5c7-b96d-406d-bbef-f0a1b42de2f3" elementFormDefault="qualified">
    <xsd:import namespace="http://schemas.microsoft.com/office/2006/documentManagement/types"/>
    <xsd:import namespace="http://schemas.microsoft.com/office/infopath/2007/PartnerControls"/>
    <xsd:element name="SharedWithUsers" ma:index="9" nillable="true" ma:displayName="Gedeeld met"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0" nillable="true" ma:displayName="Gedeeld met details" ma:internalName="SharedWithDetails" ma:readOnly="true">
      <xsd:simpleType>
        <xsd:restriction base="dms:Note">
          <xsd:maxLength value="255"/>
        </xsd:restriction>
      </xsd:simpleType>
    </xsd:element>
    <xsd:element name="SharingHintHash" ma:index="11" nillable="true" ma:displayName="Hint-hash delen"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90B55F9-5C8D-46ED-979A-F6455BC92B05}">
  <ds:schemaRefs>
    <ds:schemaRef ds:uri="e658d648-6ffc-4f30-955e-342d2c65b5cc"/>
    <ds:schemaRef ds:uri="ab59a5c7-b96d-406d-bbef-f0a1b42de2f3"/>
    <ds:schemaRef ds:uri="http://purl.org/dc/elements/1.1/"/>
    <ds:schemaRef ds:uri="http://schemas.microsoft.com/office/2006/metadata/properties"/>
    <ds:schemaRef ds:uri="http://schemas.microsoft.com/office/2006/documentManagement/types"/>
    <ds:schemaRef ds:uri="http://schemas.openxmlformats.org/package/2006/metadata/core-properties"/>
    <ds:schemaRef ds:uri="http://purl.org/dc/dcmitype/"/>
    <ds:schemaRef ds:uri="http://schemas.microsoft.com/office/infopath/2007/PartnerControls"/>
    <ds:schemaRef ds:uri="http://www.w3.org/XML/1998/namespace"/>
    <ds:schemaRef ds:uri="http://purl.org/dc/terms/"/>
  </ds:schemaRefs>
</ds:datastoreItem>
</file>

<file path=customXml/itemProps2.xml><?xml version="1.0" encoding="utf-8"?>
<ds:datastoreItem xmlns:ds="http://schemas.openxmlformats.org/officeDocument/2006/customXml" ds:itemID="{183C2C74-28C0-461B-998D-91BCFE0ECC1C}">
  <ds:schemaRefs>
    <ds:schemaRef ds:uri="http://schemas.microsoft.com/sharepoint/v3/contenttype/forms"/>
  </ds:schemaRefs>
</ds:datastoreItem>
</file>

<file path=customXml/itemProps3.xml><?xml version="1.0" encoding="utf-8"?>
<ds:datastoreItem xmlns:ds="http://schemas.openxmlformats.org/officeDocument/2006/customXml" ds:itemID="{A73EACF0-A77F-4E50-B4B4-74F98872DC2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658d648-6ffc-4f30-955e-342d2c65b5cc"/>
    <ds:schemaRef ds:uri="ab59a5c7-b96d-406d-bbef-f0a1b42de2f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2181</TotalTime>
  <Words>443</Words>
  <Application>Microsoft Office PowerPoint</Application>
  <PresentationFormat>Widescreen</PresentationFormat>
  <Paragraphs>58</Paragraphs>
  <Slides>4</Slides>
  <Notes>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vt:i4>
      </vt:variant>
    </vt:vector>
  </HeadingPairs>
  <TitlesOfParts>
    <vt:vector size="12" baseType="lpstr">
      <vt:lpstr>Arial</vt:lpstr>
      <vt:lpstr>Calibri</vt:lpstr>
      <vt:lpstr>Century Gothic</vt:lpstr>
      <vt:lpstr>Consolas</vt:lpstr>
      <vt:lpstr>Segoe UI</vt:lpstr>
      <vt:lpstr>Segoe UI (Body)</vt:lpstr>
      <vt:lpstr>Verdana</vt:lpstr>
      <vt:lpstr>Office Theme</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Osangir Bernard</dc:creator>
  <cp:keywords/>
  <dc:description>generated using python-pptx</dc:description>
  <cp:lastModifiedBy>Bernard OSANG'IR</cp:lastModifiedBy>
  <cp:revision>75</cp:revision>
  <dcterms:created xsi:type="dcterms:W3CDTF">2013-01-27T09:14:16Z</dcterms:created>
  <dcterms:modified xsi:type="dcterms:W3CDTF">2026-06-28T14:46:43Z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0x010100F54D7B907B5DFD428D1C0297734363F0</vt:lpwstr>
  </property>
</Properties>
</file>