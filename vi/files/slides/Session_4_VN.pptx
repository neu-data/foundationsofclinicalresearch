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(0:00). Thứ Bảy tuần trước ta chọn CÁCH trả lời câu hỏi. Hôm nay hai câu hỏi cho mọi kết quả: có TIN được không (sai lệch, yếu tố nhiễu, nhân quả) và LỚN đến đâu (nguy cơ, RR, OR, RD, NNT)? Sau đó vượt ra ngoài một nghiên cứu: xét nghiệm chẩn đoán, phân tích gộp và công cụ thẩm định.</a:t>
            </a:r>
          </a:p>
          <a:p>
            <a:r>
              <a:rPr lang="en-US" sz="1400" b="0" dirty="0"/>
              <a:t>Đọc ba giấy dán câu hỏi cuối Buổi 3 trước (thuần tập vắc xin cúm) - nó dẫn thẳng vào yếu tố nhiễu.</a:t>
            </a:r>
          </a:p>
          <a:p>
            <a:r>
              <a:rPr lang="en-US" sz="1400" b="0" dirty="0"/>
              <a:t>Nhịp độ: phép tính duy nhất là phép chia trong bảng 2x2, và bảng tính kiểm tra mọi đáp án.</a:t>
            </a:r>
          </a:p>
          <a:p>
            <a:r>
              <a:rPr lang="en-US" sz="1400" b="0" dirty="0"/>
              <a:t>Thời gian: 1 phút. Lịch: ôn tập 10, 4.1 40, 4.2 30, giải lao 15, bài tính 20, 4.3 30, đề cương 30,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C1: bệnh - chứng (chọn theo kết cục, nhìn lại phơi nhiễm). C2: thử nghiệm ngẫu nhiên theo cụm. C3: không kém hơn - toàn bộ KTC nằm dưới ngưỡng +4 (KTC cắt 0 nên không vượt trội).</a:t>
            </a:r>
          </a:p>
          <a:p>
            <a:r>
              <a:rPr lang="en-US" sz="1400" b="0" dirty="0"/>
              <a:t>Quan niệm sai cần sửa ở C1: 'dùng hồ sơ nên là thuần tập'. Hỏi: người được chọn theo điều đã xảy ra với họ (mê sảng) hay theo điều họ nhận được?</a:t>
            </a:r>
          </a:p>
          <a:p>
            <a:r>
              <a:rPr lang="en-US" sz="1400" b="0" dirty="0"/>
              <a:t>Thời gian: khoảng 6 phút cho các câu hỏi, 3 phút để nhóm đọc lại Phần 2a.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bốn tiêu đề; nói với cả lớp bảng thuật ngữ có trong tài liệu.</a:t>
            </a:r>
          </a:p>
          <a:p>
            <a:r>
              <a:rPr lang="en-US" sz="1400" b="0" dirty="0"/>
              <a:t>Ý chính: thứ tự quan trọng. Ta đánh giá kết quả có tin được không trước khi quan tâm nó lớn đến đâu.</a:t>
            </a:r>
          </a:p>
          <a:p>
            <a:r>
              <a:rPr lang="en-US" sz="1400" b="0" dirty="0"/>
              <a:t>Hỏi cả lớp: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gồm 2 phút kiểm tra và 4 phút câu hỏi 'Phát hiện sai lệch').</a:t>
            </a:r>
          </a:p>
          <a:p>
            <a:r>
              <a:rPr lang="en-US" sz="1400" b="0" dirty="0"/>
              <a:t>Ba nhóm sai lệch: ai được ĐƯA VÀO nghiên cứu (chọn lựa), mọi thứ được ĐO thế nào (thông tin), và sự TRỘN LẪN tác động (yếu tố nhiễu). Sau đó là cách thiết kế chống sai lệch, và bốn ý để đánh giá một kết quả: thay đổi tác động, giá trị nội tại và ngoại suy,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ta muốn - gần sự thật và tập trung. Giữa: sai số ngẫu nhiên - quanh sự thật nhưng phân tán; cỡ mẫu lớn hơn sẽ kéo các phi tiêu lại gần nhau. Phải: sai lệch - tập trung nhưng sai chỗ; cỡ mẫu lớn hơn chỉ làm ta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bệnh nhân không thể bị sai lệch'. Nghiên cứu sổ bộ lớn có thể rất chính xác mà vẫn sai lệch.</a:t>
            </a:r>
          </a:p>
          <a:p>
            <a:r>
              <a:rPr lang="en-US" sz="1400" b="0" dirty="0"/>
              <a:t>Hỏi cả lớp: bài nào dễ bị sai số ngẫu nhiên hơn, bài nào dễ bị sai lệch hơn? Dự kiến: Boulet (48 BN) - sai số ngẫu nhiên; Hyun (quan sát) - sai lệch, nhất là yếu tố nhiễu.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ta muốn tìm hiểu.</a:t>
            </a:r>
          </a:p>
          <a:p>
            <a:r>
              <a:rPr lang="en-US" sz="1400" b="0" dirty="0"/>
              <a:t>Ví dụ từ Hyun: chỉ bệnh nhân nằm ICU ít nhất ba ngày và có dữ liệu dịch được đưa vào (2.516 trong 11.981 bệnh nhân của sổ bộ). Những bệnh nhân nặng nhất tử vong sớm, và những người nhẹ nhất ra sớm, bị loại. Kết quả áp dụng cho 'bệnh nhân còn ở ICU ngày 3', không phải mọi bệnh nhân nhiễm khuẩn huyết.</a:t>
            </a:r>
          </a:p>
          <a:p>
            <a:r>
              <a:rPr lang="en-US" sz="1400" b="0" dirty="0"/>
              <a:t>Nguồn thường gặp khác: người tình nguyện, bệnh nhân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trong Boulet, 1.201 bệnh nhân được sàng lọc và 50 được đưa vào. Điều đó nói gì? Dự kiến: bệnh nhân thử nghiệm được chọn lọc rất kỹ - kiểm tra xem họ có giống bệnh nhân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 - chứng, ca bệnh (hoặc gia đình) cố nhớ kỹ hơn ca chứng, nên phơi nhiễm có vẻ phổ biến hơn ở ca bệnh.</a:t>
            </a:r>
          </a:p>
          <a:p>
            <a:r>
              <a:rPr lang="en-US" sz="1400" b="0" dirty="0"/>
              <a:t>Sai lệch người quan sát: người đánh giá biết nhóm có thể đánh giá kết cục 'mềm' khác đi - ví dụ 'đủ điều kiện ra viện' hay 'có mê sảng'. Trong Boulet, bác sĩ biết phân nhóm.</a:t>
            </a:r>
          </a:p>
          <a:p>
            <a:r>
              <a:rPr lang="en-US" sz="1400" b="0" dirty="0"/>
              <a:t>Sai lệch đo lường: cân luôn chỉ cao 0,5 kg, hoặc lượng nước tiểu bị ghi thiếu ở ca đêm. Nếu khác nhau giữa các nhóm, nó làm méo phép so sánh.</a:t>
            </a:r>
          </a:p>
          <a:p>
            <a:r>
              <a:rPr lang="en-US" sz="1400" b="0" dirty="0"/>
              <a:t>Quan niệm sai: 'kết cục cứng như tử vong thì miễn nhiễm'. Tử vong là kết cục vững, nhưng thời điểm và nguyên nhân tử vong vẫn có thể bị phân loại sai.</a:t>
            </a:r>
          </a:p>
          <a:p>
            <a:r>
              <a:rPr lang="en-US" sz="1400" b="0" dirty="0"/>
              <a:t>Hỏi cả lớp: làm sao giảm sai lệch người quan sát trong một thử nghiệm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Giơ tay cho từng lựa chọn.</a:t>
            </a:r>
          </a:p>
          <a:p>
            <a:r>
              <a:rPr lang="en-US" sz="1400" b="0" dirty="0"/>
              <a:t>Đáp án. A: sai lệch chọn lựa - những bệnh nhân nặng nhất (đã tử vong) bị thiếu, nên mẫu không còn là quần thể. B: sai lệch người quan sát (sai lệch thông tin) - một điểm số chủ quan do người biết nhóm đánh giá. C: sai lệch đo lường (sai lệch thông tin) - vì chỉ ảnh hưởng một khoa, nó làm méo phép so sánh giữa các khoa.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Chỉ vào từng mũi tên.</a:t>
            </a:r>
          </a:p>
          <a:p>
            <a:r>
              <a:rPr lang="en-US" sz="1400" b="0" dirty="0"/>
              <a:t>Mức độ nặng của bệnh khiến bác sĩ truyền nhiều dịch hơn (mũi tên trái). Mức độ nặng cũng gây tử vong (mũi tên phải). Vì vậy bệnh nhân được truyền nhiều dịch hơn tử vong nhiều hơn -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nêu một ví dụ nhiễu do chỉ định khác ở khoa mình. Dự kiến: bệnh nhân dùng nhiều kháng sinh tử vong nhiều hơn; bệnh nhân được chuyên gia dinh dưỡng khám sụt cân nhiều hơn; bệnh nhân dùng vận mạch có nhiều rối loạn nhịp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bệnh nhân: 42% bệnh nhân truyền nhiều dịch tử vong so với 18% bệnh nhân truyền ít - tỷ số nguy cơ thô 2,33. Trông như dịch gây tử vong.</a:t>
            </a:r>
          </a:p>
          <a:p>
            <a:r>
              <a:rPr lang="en-US" sz="1400" b="0" dirty="0"/>
              <a:t>Giờ chia theo mức độ nặng. Bệnh nhẹ: 10% so với 10%. Bệnh nặng: 50% so với 50%. Trong mỗi mức, RR là 1,0.</a:t>
            </a:r>
          </a:p>
          <a:p>
            <a:r>
              <a:rPr lang="en-US" sz="1400" b="0" dirty="0"/>
              <a:t>Vì sao? 80 trong 100 bệnh nhân truyền nhiều dịch là bệnh nặng, nhưng chỉ 20 trong 100 bệnh nhân truyền ít dịch. Mức độ nặng, chứ không phải dịch, giải thích khác biệt thô.</a:t>
            </a:r>
          </a:p>
          <a:p>
            <a:r>
              <a:rPr lang="en-US" sz="1400" b="0" dirty="0"/>
              <a:t>Ý chính: đó là điều 'hiệu chỉnh theo mức độ nặng' làm -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 điều không bao giờ được bảo đảm trong dữ liệu quan sát.</a:t>
            </a:r>
          </a:p>
          <a:p>
            <a:r>
              <a:rPr lang="en-US" sz="1400" b="0" dirty="0"/>
              <a:t>Hỏi cả lớp: cần đo gì lúc ban đầu trong nghiên cứu quan sát của mình để làm được điều này? Dự kiến: các chỉ dấu mức độ nặng chính - với nhiễm khuẩn huyết là SOFA, lactate, liều vận mạch, tuổi, bệnh kèm.</a:t>
            </a:r>
          </a:p>
          <a:p>
            <a:r>
              <a:rPr lang="en-US" sz="1400" b="0" dirty="0"/>
              <a:t>Thời gian: 2,5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Thêm ba ví dụ về nhiễu do chỉ định để ý tưởng thấm vào người mới học.</a:t>
            </a:r>
          </a:p>
          <a:p>
            <a:r>
              <a:rPr lang="en-US" sz="1400" b="0" dirty="0"/>
              <a:t>Với mỗi thẻ, đọc mối liên quan bề ngoài, rồi hỏi cả lớp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 vì vậy cần hiệu chỉnh, hoặc ngẫu nhiên hóa,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ta chia dữ liệu theo tầng, nhưng mang ý nghĩa ngược nhau.</a:t>
            </a:r>
          </a:p>
          <a:p>
            <a:r>
              <a:rPr lang="en-US" sz="1400" b="0" dirty="0"/>
              <a:t>Trái -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Phải - thay đổi tác động (effect modification), còn gọi là tương tác (interaction) (giả định): chiến lược hạn chế dịch có thể có lợi ở bệnh nhân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cho một ví dụ lâm sàng mà điều trị tác động khác nhau ở hai nhóm. Dự kiến: tiêu huyết khối theo thời gian từ khởi phát đột quỵ; tác dụng thuốc theo chức năng thận; corticoid theo mức độ nặng COVID-19.</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là hộp công cụ; ba slide sau minh họa từng công cụ bằng hình.</a:t>
            </a:r>
          </a:p>
          <a:p>
            <a:r>
              <a:rPr lang="en-US" sz="1400" b="0" dirty="0"/>
              <a:t>Giai đoạn thiết kế (phòng ngừa): ngẫu nhiên hóa,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Ngẫu nhiên hóa là công cụ duy nhất cân bằng cả những gì chưa đo.</a:t>
            </a:r>
          </a:p>
          <a:p>
            <a:r>
              <a:rPr lang="en-US" sz="1400" b="0" dirty="0"/>
              <a:t>Quan niệm sai: 'ghép cặp theo điểm xu hướng tốt như ngẫu nhiên hóa'. Đó là ghép cặp trên các yếu tố đã đo - khéo léo, nhưng vẫn giới hạn ở những yếu tố đó.</a:t>
            </a:r>
          </a:p>
          <a:p>
            <a:r>
              <a:rPr lang="en-US" sz="1400" b="0" dirty="0"/>
              <a:t>Hỏi cả lớp: Hyun đã dùng công cụ nào? Dự kiến: giới hạn (người lớn nhiễm khuẩn huyết, nằm ICU từ 3 ngày) và ghép cặp 1:1 theo điểm xu hướng.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bệnh nhân nặng (yếu tố nhiễu đã biết). Ngôi sao vàng là một yếu tố ẩn chưa ai đo - một đặc điểm di truyền, sự suy yếu (frailty), linh cảm của bác sĩ.</a:t>
            </a:r>
          </a:p>
          <a:p>
            <a:r>
              <a:rPr lang="en-US" sz="1400" b="0" dirty="0"/>
              <a:t>Ngẫu nhiên hóa đưa bệnh nhân vào nhóm A hoặc B bằng may rủi, nên trung bình cả hai nhóm có cùng tỷ lệ bệnh nhân nặng VÀ ngôi sao. Ở đây mỗi nhóm có 5 bệnh nhân nặng và 3 ngôi sao.</a:t>
            </a:r>
          </a:p>
          <a:p>
            <a:r>
              <a:rPr lang="en-US" sz="1400" b="0" dirty="0"/>
              <a:t>Ý chính: sự cân bằng là tính trung bình; với thử nghiệm rất nhỏ vẫn có mất cân bằng do may rủi. Boulet thấy creatinine ban đầu cao hơn ở nhóm can thiệp - với 24 bệnh nhân mỗi nhóm điều này không lạ.</a:t>
            </a:r>
          </a:p>
          <a:p>
            <a:r>
              <a:rPr lang="en-US" sz="1400" b="0" dirty="0"/>
              <a:t>Quan niệm sai: 'ngẫu nhiên nghĩa là hai nhóm giống hệt nhau'. Chúng tương tự nhau tính trung bình; Bảng 1 giúp kiểm tra.</a:t>
            </a:r>
          </a:p>
          <a:p>
            <a:r>
              <a:rPr lang="en-US" sz="1400" b="0" dirty="0"/>
              <a:t>Hỏi cả lớp: vì sao điều này hiệu quả hơn với 500 bệnh nhân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bệnh nhân không biết và không đoán được lần phân bổ kế tiếp (máy tính trung tâm, không phải phong bì trên bàn). Nếu không, bác sĩ có thể hướng bệnh nhân nặng tránh khỏi điều trị mới - sai lệch chọn lựa ngay trong thử nghiệm.</a:t>
            </a:r>
          </a:p>
          <a:p>
            <a:r>
              <a:rPr lang="en-US" sz="1400" b="0" dirty="0"/>
              <a:t>Làm mù (blinding) diễn ra SAU: ai biết nhóm? Trong Boulet, bệnh nhân và nhà thống kê được làm mù, bác sĩ và nghiên cứu viên thì không -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 bài báo nên nêu chính xác AI được làm mù.</a:t>
            </a:r>
          </a:p>
          <a:p>
            <a:r>
              <a:rPr lang="en-US" sz="1400" b="0" dirty="0"/>
              <a:t>Hỏi cả lớp: có thể che giấu phân bổ khi không thể làm mù không? Dự kiến: có - che giấu phân bổ luôn làm được và luôn bắt buộc.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bệnh nhân cân bằng dương với một bệnh nhân cân bằng âm có điểm xu hướng tương tự, xây dựng từ các yếu tố đã đo: tuổi, giới,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bệnh nhân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 rồi hỏi điều gì không có trong Bảng 1.</a:t>
            </a:r>
          </a:p>
          <a:p>
            <a:r>
              <a:rPr lang="en-US" sz="1400" b="0" dirty="0"/>
              <a:t>Hỏi cả lớp: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ngẫu nhiên hóa, che giấu phân bổ, làm mù, theo dõi đầy đủ và đo lường tốt bảo vệ.</a:t>
            </a:r>
          </a:p>
          <a:p>
            <a:r>
              <a:rPr lang="en-US" sz="1400" b="0" dirty="0"/>
              <a:t>Giá trị ngoại suy (external validity, khả năng khái quát hóa): câu trả lời có áp dụng cho bệnh nhân CỦA TÔI trong bối cảnh CỦA TÔI không? So sánh quần thể thử nghiệm với quần thể của mình. Boulet đưa vào người lớn 18-85 tuổi không lọc máu hay suy dinh dưỡng nặng, tại 3 ICU của một quốc gia, và chỉ khoảng 4% số bệnh nhân được sàng lọc.</a:t>
            </a:r>
          </a:p>
          <a:p>
            <a:r>
              <a:rPr lang="en-US" sz="1400" b="0" dirty="0"/>
              <a:t>Ý chính: giá trị nội tại đi trước. Một kết quả sai lệch không áp dụng được ở đâu cả. Nhưng một thử nghiệm hoàn toàn đúng trên bệnh nhân được chọn lọc kỹ có thể không giúp được khoa của bạn.</a:t>
            </a:r>
          </a:p>
          <a:p>
            <a:r>
              <a:rPr lang="en-US" sz="1400" b="0" dirty="0"/>
              <a:t>Quan niệm sai: 'RCT áp dụng cho tất cả mọi người'. Nó áp dụng rõ nhất cho những bệnh nhân giống người đã tham gia.</a:t>
            </a:r>
          </a:p>
          <a:p>
            <a:r>
              <a:rPr lang="en-US" sz="1400" b="0" dirty="0"/>
              <a:t>Hỏi cả lớp: nêu một nhóm bệnh nhân ở ICU của mình không thể vào thử nghiệm Boulet. Dự kiến: bệnh nhân trên 85 tuổi, bệnh nhân lọc máu mạn, bệnh nhân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Nhân quả ngược (reverse causation): 'kết cục' thực ra gây ra 'phơi nhiễm'.</a:t>
            </a:r>
          </a:p>
          <a:p>
            <a:r>
              <a:rPr lang="en-US" sz="1400" b="0" dirty="0"/>
              <a:t>Ví dụ ICU: ta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bệnh nhân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bệnh nhân mê sảng dùng nhiều thuốc chống loạn thần hơn. Mũi tên có thể chạy chiều nào? Dự kiến: cả hai - thuốc có thể gây hại, nhưng mê sảng chính là lý do kê đơn.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Độ mạnh (RR lớn khó giải thích bằng nhiễu), tính nhất quán (lặp lại ở nghiên cứu và bối cảnh khác), tính đặc hiệu (yếu nhất), trình tự thời gian (nguyên nhân phải có trước - điều duy nhất bắt buộc), liều - đáp ứng (phơi nhiễm nhiều hơn, tác động lớn hơn), tính hợp lý (có cơ chế), tính mạch lạc (phù hợp với điều đã biết), thực nghiệm (loại bỏ phơi nhiễm làm giảm kết cục - RCT là dạng mạnh nhất), tương tự.</a:t>
            </a:r>
          </a:p>
          <a:p>
            <a:r>
              <a:rPr lang="en-US" sz="1400" b="0" dirty="0"/>
              <a:t>Áp dụng cho Hyun: độ mạnh vừa (HR khoảng 1,6-2,1); nhất quán với các thuần tập khác; trình tự thời gian - cân bằng dịch đo trước tử vong, nhưng có thể có nhân quả ngược; chưa cho thấy liều - đáp ứng; thực nghiệm -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tiêu chí nào RCT cung cấp mà không thuần tập nào có? Dự kiến: thực nghiệm.</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tình huống; cả lớp trả lời bằng giơ tay hoặc nói to. Mỗi lần hỏi thêm một cách khắc phục.</a:t>
            </a:r>
          </a:p>
          <a:p>
            <a:r>
              <a:rPr lang="en-US" sz="1400" b="0" dirty="0"/>
              <a:t>Đáp án. 1: sai lệch nhớ lại - khắc phục: ghi nhận phơi nhiễm trước khi biết kết cục (hồ sơ kê đơn), hỏi ca bệnh và ca chứng theo cùng một cách có cấu trúc. 2: sai lệch người quan sát - khắc phục: người đánh giá được làm mù, tiêu chuẩn ra viện khách quan. 3: sai lệch chọn lựa (và mất theo dõi) - khắc phục: liên hệ mọi người sống sót, báo cáo người không trả lời. 4: nhiễu do chỉ định - khắc phục: phân nhóm ngẫu nhiên, hoặc đo lactate và các chỉ dấu độ nặng khác rồi hiệu chỉnh/ghép cặp.</a:t>
            </a:r>
          </a:p>
          <a:p>
            <a:r>
              <a:rPr lang="en-US" sz="1400" b="0" dirty="0"/>
              <a:t>Tài liệu phát tay (Phần A) có bốn tình huống này kèm chỗ để viết; dùng nếu lớp im lặng.</a:t>
            </a:r>
          </a:p>
          <a:p>
            <a:r>
              <a:rPr lang="en-US" sz="1400" b="0" dirty="0"/>
              <a:t>Thời gian: 4 phút. Đi nhanh - đây là kiểm tra, không phải bài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(30 phút: khoảng 20 phút hình ảnh và 3 phút kiểm tra, rồi 8 phút trình diễn trực tiếp; phần tính toán ở sau giải lao).</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bệnh nhân khỏi bệnh hoặc tử vong.</a:t>
            </a:r>
          </a:p>
          <a:p>
            <a:r>
              <a:rPr lang="en-US" sz="1400" b="0" dirty="0"/>
              <a:t>Ví dụ bên phải: 20 trong 200 bệnh nhân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nếu ta giữ bệnh nhân mắc một bệnh mạn tính sống lâu hơn nhưng không phòng bệnh tốt hơn, tỷ lệ hiện mắc thay đổi thế nào? Dự kiến: tăng - lỗ xả chảy chậm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 không phải số liệu của Boulet. 100 bệnh nhân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bệnh nhân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Ta sẽ cần cả hai ngay sau đây.</a:t>
            </a:r>
          </a:p>
          <a:p>
            <a:r>
              <a:rPr lang="en-US" sz="1400" b="0" dirty="0"/>
              <a:t>Hỏi cả lớp: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 kiểm tra cách trình bày trước khi tính.</a:t>
            </a:r>
          </a:p>
          <a:p>
            <a:r>
              <a:rPr lang="en-US" sz="1400" b="0" dirty="0"/>
              <a:t>Hỏi cả lớp: trong bảng tử vong ngày 28 của Boulet,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bệnh nhân được điều trị. Còn gọi là giảm nguy cơ tuyệt đối (ARR = 10%).</a:t>
            </a:r>
          </a:p>
          <a:p>
            <a:r>
              <a:rPr lang="en-US" sz="1400" b="0" dirty="0"/>
              <a:t>NNT (số người cần điều trị) = 1 / 0,10 = 10: điều trị 10 bệnh nhân để ngăn một ca tử vong. Nếu phơi nhiễm có hại, phép tính tương tự cho số người cần để gây hại (NNH).</a:t>
            </a:r>
          </a:p>
          <a:p>
            <a:r>
              <a:rPr lang="en-US" sz="1400" b="0" dirty="0"/>
              <a:t>OR = (20 x 70) / (80 x 30) = 1400 / 2400 = 0,58. Xa 1 hơn RR - các slide sau giải thích vì sao.</a:t>
            </a:r>
          </a:p>
          <a:p>
            <a:r>
              <a:rPr lang="en-US" sz="1400" b="0" dirty="0"/>
              <a:t>Quan niệm sai: tác động tương đối nghe lớn hơn. 'Thấp hơn một phần ba' và 'ít hơn 10 ca/100' là cùng một kết quả; bệnh nhân và nhà quản lý cần con số tuyệt đối.</a:t>
            </a:r>
          </a:p>
          <a:p>
            <a:r>
              <a:rPr lang="en-US" sz="1400" b="0" dirty="0"/>
              <a:t>Hỏi cả lớp: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bệnh nhân xuống 10. Với chăm sóc thường quy 3/10 tử vong. Với chiến lược hạn chế dịch 2/10 tử vong. Người màu xanh lá là bệnh nhân, tính trung bình, đã tránh được tử vong nhờ điều trị. Vậy ta điều trị 10 bệnh nhân để một người có lợi: NNT = 10.</a:t>
            </a:r>
          </a:p>
          <a:p>
            <a:r>
              <a:rPr lang="en-US" sz="1400" b="0" dirty="0"/>
              <a:t>Ý chính: 9 người còn lại hoặc đằng nào cũng sống, hoặc đằng nào cũng tử vong - họ chịu gánh nặng điều trị mà không được lợi. Vì vậy NNT là công cụ trao đổi mạnh với bệnh nhân, nhà quản lý và khoa dược.</a:t>
            </a:r>
          </a:p>
          <a:p>
            <a:r>
              <a:rPr lang="en-US" sz="1400" b="0" dirty="0"/>
              <a:t>Quan niệm sai: 'NNT bằng 10 nghĩa là 1/10 bệnh nhân đáp ứng'. Đó là trung bình của cả nhóm, không phải dự đoán cho một bệnh nhân.</a:t>
            </a:r>
          </a:p>
          <a:p>
            <a:r>
              <a:rPr lang="en-US" sz="1400" b="0" dirty="0"/>
              <a:t>Hỏi cả lớp: NNT 5 hay NNT 50 tốt hơn? Dự kiến: 5 -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 gần như bằng RR. Ở nguy cơ nền 20%, OR = 2,7. Ở 40%, OR = 6. OR luôn nằm xa 1 hơn RR.</a:t>
            </a:r>
          </a:p>
          <a:p>
            <a:r>
              <a:rPr lang="en-US" sz="1400" b="0" dirty="0"/>
              <a:t>Ý chính: nghiên cứu bệnh - 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trong ví dụ của ta (tử vong 20% và 30%), OR là 0,58 còn RR là 0,67. Vì sao khác nhau? Dự kiến: tử vong phổ biến trong quần thể này, nên OR phóng đại tác động.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tự làm, rồi công bố. Vẽ bảng 2x2 lên bảng khi mọi người làm.</a:t>
            </a:r>
          </a:p>
          <a:p>
            <a:r>
              <a:rPr lang="en-US" sz="1400" b="0" dirty="0"/>
              <a:t>Đáp án. Nguy cơ: 20/200 = 10% và 30/200 = 15%. RR = 0,10 / 0,15 = 0,67. RD = 10% - 15% = -5 điểm phần trăm. NNT = 1 / 0,05 = 20. Câu thêm OR = (20 x 170) / (180 x 30) = 3400 / 5400 = 0,63.</a:t>
            </a:r>
          </a:p>
          <a:p>
            <a:r>
              <a:rPr lang="en-US" sz="1400" b="0" dirty="0"/>
              <a:t>Ý chính: cùng RR (0,67) như ví dụ mẫu, nhưng nguy cơ nền thấp hơn (15% thay vì 30%), nên NNT tăng gấp đôi từ 10 lên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a:t>
            </a:r>
          </a:p>
          <a:p>
            <a:r>
              <a:rPr lang="en-US" sz="1400" b="0" dirty="0"/>
              <a:t>Ý chính: bảng tính lo phần số học; con người lo phần diễn giải. Đọc to các ô diễn giải bằng lời.</a:t>
            </a:r>
          </a:p>
          <a:p>
            <a:r>
              <a:rPr lang="en-US" sz="1400" b="0" dirty="0"/>
              <a:t>Khoảnh khắc then chốt: đổi a thành 2 và c thành 3 (b = 98, d = 97). RR vẫn 0,67 nhưng OR giờ là 0,66 - gần như bằng nhau. NNT nhảy lên 100. Cùng tác động tương đối, tác động tuyệt đối rất khác.</a:t>
            </a:r>
          </a:p>
          <a:p>
            <a:r>
              <a:rPr lang="en-US" sz="1400" b="0" dirty="0"/>
              <a:t>Phương án dự phòng nếu máy tính hỏng: vẽ bảng 2x2 lên bảng và cùng cả lớp tính RR và NNT bằng tay - các con số được chọn để dễ tính.</a:t>
            </a:r>
          </a:p>
          <a:p>
            <a:r>
              <a:rPr lang="en-US" sz="1400" b="0" dirty="0"/>
              <a:t>Quan niệm sai cần nêu: công cụ vẫn tính ra 'nguy cơ' cho dữ liệu bệnh - chứng. Ở đó nó vô nghĩa - chỉ OR là hợp lệ.</a:t>
            </a:r>
          </a:p>
          <a:p>
            <a:r>
              <a:rPr lang="en-US" sz="1400" b="0" dirty="0"/>
              <a:t>Thời gian: 8 phút. Trang Diagnostic được trình chiếu nhanh ở phần 4.3.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kiểm tra mỗi nhóm có Phần 2a từ thứ Bảy tuần trước - họ sẽ cần nó khi xây dựng đề cương.</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1 (thử nghiệm đệm giảm áp mới): 10/200 so với 20/200 ca loét tì đè. Nguy cơ 5% và 10%; RR = 0,50; RD = -5 điểm phần trăm; NNT = 20; OR = (10 x 180) / (190 x 20) = 0,47 (gần RR vì kết cục không phổ biến).</a:t>
            </a:r>
          </a:p>
          <a:p>
            <a:r>
              <a:rPr lang="en-US" sz="1400" b="0" dirty="0"/>
              <a:t>Bài 2 (bệnh - chứng, nhiễm Candida máu ở ICU và nuôi ăn tĩnh mạch): nhóm bệnh 24 có phơi nhiễm / 16 không; nhóm chứng 16 có / 64 không. OR = (24 x 64) / (16 x 16) = 6,0. Không tính được RR vì nhà nghiên cứu tự chọn số ca bệnh và ca chứng.</a:t>
            </a:r>
          </a:p>
          <a:p>
            <a:r>
              <a:rPr lang="en-US" sz="1400" b="0" dirty="0"/>
              <a:t>Đi vòng quanh lớp và kiểm tra bảng được vẽ đúng chiều - phần lớn lỗi là do cách trình bày, không phải số học.</a:t>
            </a:r>
          </a:p>
          <a:p>
            <a:r>
              <a:rPr lang="en-US" sz="1400" b="0" dirty="0"/>
              <a:t>Thời gian: 12 phút làm bài (đối chiếu với người bên cạnh sau mỗi bài), 8 phút công bố và thảo luận đáp án với công cụ tính. Đáp án đầy đủ ở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6 phút làm theo cặp).</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 những kỹ năng học viên sẽ dùng ở Buổi 8 trong phần 'Làm người phản biện'.</a:t>
            </a:r>
          </a:p>
          <a:p>
            <a:r>
              <a:rPr lang="en-US" sz="1400" b="0" dirty="0"/>
              <a:t>Thời gian: 30 giây. Giữ nhịp nhanh: khoảng 1,5-2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bệnh nhân,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 giá trị tiên đoán dương (PPV) 53%. PPV phụ thuộc vào mức độ phổ biến của bệnh.</a:t>
            </a:r>
          </a:p>
          <a:p>
            <a:r>
              <a:rPr lang="en-US" sz="1400" b="0" dirty="0"/>
              <a:t>Quan niệm sai: 'xét nghiệm có độ nhạy 90% nghĩa là người dương tính có 90% khả năng mắc bệnh'. Không - đó là PPV, ở đây chỉ 53%.</a:t>
            </a:r>
          </a:p>
          <a:p>
            <a:r>
              <a:rPr lang="en-US" sz="1400" b="0" dirty="0"/>
              <a:t>Hỏi cả lớp: với xét nghiệm sàng lọc mà ta không muốn bỏ sót nhiễm khuẩn huyết -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 kết quả dương tính đúng 90 / 170 = 53% số lần.</a:t>
            </a:r>
          </a:p>
          <a:p>
            <a:r>
              <a:rPr lang="en-US" sz="1400" b="0" dirty="0"/>
              <a:t>Sàng lọc, nơi 2% mắc bệnh: 9 dương thật nhưng 98 dương giả - PPV 9 / 107 = 8%. Hơn 9/10 kết quả dương là báo động nhầm. Trong khi đó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 và nhiều thăm dò không cần thiết.</a:t>
            </a:r>
          </a:p>
          <a:p>
            <a:r>
              <a:rPr lang="en-US" sz="1400" b="0" dirty="0"/>
              <a:t>Hỏi cả lớp: vì sao chương trình sàng lọc dùng thêm một xét nghiệm thứ hai đặc hiệu hơn trước khi can thiệp? Dự kiến: để loại bỏ dương giả do tỷ lệ hiện mắc thấp.</a:t>
            </a:r>
          </a:p>
          <a:p>
            <a:r>
              <a:rPr lang="en-US" sz="1400" b="0" dirty="0"/>
              <a:t>Tùy chọn (1 phút): mở ô 'PPV ở tỷ lệ hiện mắc khác' trên trang Diagnostic của công cụ tính 2x2 - nhập 2% và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để loại trừ nhiễm khuẩn huyết ở phân loại cấp cứu, chọn ngưỡng thấp hay cao? Dự kiến: thấp - độ nhạy cao, chấp nhận nhiều báo động nhầm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vì sao tìm trong sổ đăng ký thử nghiệm chứ không chỉ PubMed? Dự kiến: để tìm thử nghiệm chưa công bố hoặc kết quả âm tính -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(TN 4 lớn nhất, 38%). (3) Mỗi đường ngang là KTC 95% của nghiên cứu đó -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 đó là sức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Hỏi cả lớp: thử nghiệm nào đóng góp nhiều nhất, vì sao? Dự kiến: TN 4 - lớn nhất, nhiều biến cố nhất, nên KTC hẹp nhất.</a:t>
            </a:r>
          </a:p>
          <a:p>
            <a:r>
              <a:rPr lang="en-US" sz="1400" b="0" dirty="0"/>
              <a:t>Thời gian: 3,5 phút. Tài liệu phát tay dùng biểu đồ này cho bài làm theo cặp.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 khác bệnh nhân,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a:t>
            </a:r>
          </a:p>
          <a:p>
            <a:r>
              <a:rPr lang="en-US" sz="1400" b="0" dirty="0"/>
              <a:t>Thử nghiệm ngẫu nhiên: RoB 2 (Cochrane) - Boulet. Nghiên cứu không ngẫu nhiên về can thiệp (trước - sau, thuần tập so sánh điều trị): ROBINS-I. Nghiên cứu thuần tập và bệnh - chứng về phơi nhiễm: thang Newcastle-Ottawa vẫn được dùng rộng rãi; ROBINS-E là lựa chọn mới hơn, chặt chẽ hơn - Hyun. Nghiên cứu độ chính xác chẩn đoán: QUADAS-2. Bản thân tổng quan hệ thống: AMSTAR 2.</a:t>
            </a:r>
          </a:p>
          <a:p>
            <a:r>
              <a:rPr lang="en-US" sz="1400" b="0" dirty="0"/>
              <a:t>Cột bên phải nối lại: mỗi thiết kế cũng có hướng dẫn báo cáo (CONSORT, TREND/STROBE, STROBE, STARD, PRISMA) -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thẩm định một nghiên cứu cải tiến chất lượng trước - 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tìm một chữ trong tiêu đề hoặc tóm tắt nói quá. Dự kiến: 'tác động', 'hiệu quả', 'làm giảm' hoặc 'phòng ngừa' trong nghiên cứu quan sát.</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phút làm theo cặp, 2 phút thu thập câu trả lời.</a:t>
            </a:r>
          </a:p>
          <a:p>
            <a:r>
              <a:rPr lang="en-US" sz="1400" b="0" dirty="0"/>
              <a:t>Đáp án: TN 4 có trọng số lớn nhất (38%). Không thử nghiệm riêng lẻ nào loại trừ được RR = 1 -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Công cụ: Boulet - RoB 2; Hyun - Newcastle-Ottawa (hoặc ROBINS-E); tổng quan - AMSTAR 2.</a:t>
            </a:r>
          </a:p>
          <a:p>
            <a:r>
              <a:rPr lang="en-US" sz="1400" b="0" dirty="0"/>
              <a:t>Nếu thiếu thời gian, chỉ làm câu 3 và 4.</a:t>
            </a:r>
          </a:p>
          <a:p>
            <a:r>
              <a:rPr lang="en-US" sz="1400" b="0" dirty="0"/>
              <a:t>Lỗi thường gặp: chỉ đọc tâm hình thoi mà bỏ qua độ rộng - luôn nêu KTC.</a:t>
            </a:r>
          </a:p>
          <a:p>
            <a:r>
              <a:rPr lang="en-US" sz="1400" b="0" dirty="0"/>
              <a:t>Thời gian: 6 phút,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nửa sau của Phần 2 đề cương.</a:t>
            </a:r>
          </a:p>
          <a:p>
            <a:r>
              <a:rPr lang="en-US" sz="1400" b="0" dirty="0"/>
              <a:t>Kết cục chính là MỘT kết quả mà nghiên cứu được thiết kế và tính cỡ mẫu cho nó. Định nghĩa theo ba ý: CÁI GÌ (tử vong do mọi nguyên nhân - không phải 'cải thiện tử vong'), ĐO THẾ NÀO (hồ sơ bệnh viện; gọi điện nếu đã ra viện), KHI NÀO (ngày 28 sau khi vào ICU). Kết cục phụ cũng có đủ ba ý.</a:t>
            </a:r>
          </a:p>
          <a:p>
            <a:r>
              <a:rPr lang="en-US" sz="1400" b="0" dirty="0"/>
              <a:t>Kết cục chính của Boulet: cân bằng dịch tích lũy (ml/kg) ở ngày 5 - rõ cái gì, thế nào và khi nào. Của Hyun: tử vong ngày 28.</a:t>
            </a:r>
          </a:p>
          <a:p>
            <a:r>
              <a:rPr lang="en-US" sz="1400" b="0" dirty="0"/>
              <a:t>Quan niệm sai: 'nhiều kết cục chính = nhiều cơ hội có kết quả'. Đó chính là vấn đề - nhiều kết cục chính tạo điều kiện chọn lọc kết quả (tô vẽ, Buổi 2).</a:t>
            </a:r>
          </a:p>
          <a:p>
            <a:r>
              <a:rPr lang="en-US" sz="1400" b="0" dirty="0"/>
              <a:t>Hỏi cả lớp: viết lại 'cải thiện kết cục bệnh nhân' thành một kết cục chính. Dự kiến: vd. 'loét tì đè mới (độ 2 trở lên) đến ngày 14 nằm viện, theo phiếu kiểm tra da'.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Practicals/s4_exercises.md, Phần F, và mẫu đề cương (Phần 2). 30 phút.</a:t>
            </a:r>
          </a:p>
          <a:p>
            <a:r>
              <a:rPr lang="en-US" sz="1400" b="0" dirty="0"/>
              <a:t>Nhịp gợi ý (slide kết cục trước đó mất 2 phút): 4 phút cùng xác định phơi nhiễm và nhóm so sánh; 14 phút viết (chia: kết cục, sai lệch, câu kết luận); 10 phút để người hướng dẫn kiểm tra và một nhóm đọc to các sai lệch và biện pháp.</a:t>
            </a:r>
          </a:p>
          <a:p>
            <a:r>
              <a:rPr lang="en-US" sz="1400" b="0" dirty="0"/>
              <a:t>Đáp án mẫu cho ví dụ xuyên suốt (phiên bản quan sát): phơi nhiễm - cân bằng dịch tích lũy dương (ml/kg) ở 72 giờ sau khi vào ICU; so sánh - cân bằng bằng 0 hoặc âm; kết cục chính - tử vong do mọi nguyên nhân đến ngày 28 (hồ sơ bệnh viện); kết cục phụ - AKI (KDIGO) đến ngày 7, số ngày không thở máy đến ngày 28, thời gian nằm ICU; sai lệch - nhiễu do độ nặng (ghi SOFA, lactate, liều vận mạch và hiệu chỉnh hoặc ghép cặp), chọn lựa (bệnh nhân liên tiếp, báo cáo các trường hợp bị loại), thông tin (định nghĩa dịch định trước, kiểm tra lại 10% hồ sơ); kết luận - 'có liên quan với'.</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bốn người giải thích mỗi người một thẻ.</a:t>
            </a:r>
          </a:p>
          <a:p>
            <a:r>
              <a:rPr lang="en-US" sz="1400" b="0" dirty="0"/>
              <a:t>Slide này cũng khép lại Tuần 3-4: đề cương giờ đã có câu hỏi (Phần 1) và thiết kế (Phần 2).</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(bệnh nhân nặng hơn được truyền nhiều dịch hơn và tử vong nhiều hơn), hoặc nhân quả ngược (thận suy tạo ít nước tiểu nên cân bằng dịch trở nên dương).</a:t>
            </a:r>
          </a:p>
          <a:p>
            <a:r>
              <a:rPr lang="en-US" sz="1400" b="0" dirty="0"/>
              <a:t>Xem trước: ở Tuần 5-6 ta biến thiết kế thành dữ liệu - biến số, phiếu thu thập dữ liệu - và bộ dữ liệu khóa học FLUID-ICU, một thuần tập mô phỏng trả lời phiên bản quan sát của câu hỏi về dịch truyền.</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ta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(30 mục và sơ đồ luồng người tham gia). Thẩm định: QUADAS-2. Cảnh giác sai lệch phổ bệnh (spectrum bias) - xét nghiệm được đánh giá trên bệnh nhân rất nặng so với người tình nguyện khỏe sẽ trông tốt hơn so với khi dùng trên bệnh nhân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ngẫu nhiên hóa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 TN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4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 (10 phút)</a:t>
            </a:r>
          </a:p>
          <a:p>
            <a:pPr marL="274320" indent="-274320" algn="l">
              <a:spcBef>
                <a:spcPts val="440"/>
              </a:spcBef>
              <a:buFont typeface="Arial"/>
              <a:buChar char="•"/>
            </a:pPr>
            <a:r>
              <a:rPr lang="en-US" sz="1900" dirty="0">
                <a:solidFill>
                  <a:srgbClr val="000000"/>
                </a:solidFill>
                <a:latin typeface="Segoe UI"/>
                <a:cs typeface="Segoe UI"/>
              </a:rPr>
              <a:t>4.1  Sai lệch, yếu tố nhiễu và nhân quả (40 phút)</a:t>
            </a:r>
          </a:p>
          <a:p>
            <a:pPr marL="274320" indent="-274320" algn="l">
              <a:spcBef>
                <a:spcPts val="440"/>
              </a:spcBef>
              <a:buFont typeface="Arial"/>
              <a:buChar char="•"/>
            </a:pPr>
            <a:r>
              <a:rPr lang="en-US" sz="1900" dirty="0">
                <a:solidFill>
                  <a:srgbClr val="000000"/>
                </a:solidFill>
                <a:latin typeface="Segoe UI"/>
                <a:cs typeface="Segoe UI"/>
              </a:rPr>
              <a:t>4.2  Đo lường bệnh và mối liên quan + trình diễn bảng 2x2 (30 phút)</a:t>
            </a:r>
          </a:p>
          <a:p>
            <a:pPr marL="274320" indent="-274320" algn="l">
              <a:spcBef>
                <a:spcPts val="440"/>
              </a:spcBef>
              <a:buFont typeface="Arial"/>
              <a:buChar char="•"/>
            </a:pPr>
            <a:r>
              <a:rPr lang="en-US" sz="1900" dirty="0">
                <a:solidFill>
                  <a:srgbClr val="000000"/>
                </a:solidFill>
                <a:latin typeface="Segoe UI"/>
                <a:cs typeface="Segoe UI"/>
              </a:rPr>
              <a:t>Giải lao (15 phút) - rồi hai bài tính bảng 2x2 (20 phút)</a:t>
            </a:r>
          </a:p>
          <a:p>
            <a:pPr marL="274320" indent="-274320" algn="l">
              <a:spcBef>
                <a:spcPts val="440"/>
              </a:spcBef>
              <a:buFont typeface="Arial"/>
              <a:buChar char="•"/>
            </a:pPr>
            <a:r>
              <a:rPr lang="en-US" sz="1900" dirty="0">
                <a:solidFill>
                  <a:srgbClr val="000000"/>
                </a:solidFill>
                <a:latin typeface="Segoe UI"/>
                <a:cs typeface="Segoe UI"/>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Segoe UI"/>
                <a:cs typeface="Segoe UI"/>
              </a:rPr>
              <a:t>Xây dựng đề cương 4: phơi nhiễm, kết cục, sai lệch (30 phút) -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BN ICU mê sảng được so sánh với BN không mê sảng về việc dùng benzodiazepine trước đó. Thiết kế?</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Thiết kế nào phân nhóm ngẫu nhiên cả khoa thay vì từng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Chiến lược mới vs cũ, hiệu số tử vong KTC 95% -1 đến +3 điểm; ngưỡng +4 điểm. Kết quả?</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Phần 2a của đề cương (thiết kế, bối cảnh, đối tượng) - 2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Mời một người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Phần 2a của mỗi nhóm được đọc lại, sẵn sàng làm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Từ vựng hôm nay - mỗi định nghĩa đi kèm một hình</a:t>
            </a:r>
          </a:p>
        </p:txBody>
      </p:sp>
      <p:sp>
        <p:nvSpPr>
          <p:cNvPr id="70" name="CardHead"/>
          <p:cNvSpPr/>
          <p:nvPr/>
        </p:nvSpPr>
        <p:spPr>
          <a:xfrm>
            <a:off x="457200" y="2142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tin được?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yếu tố nhiễu</a:t>
            </a:r>
          </a:p>
          <a:p>
            <a:pPr marL="0" indent="0" algn="l">
              <a:lnSpc>
                <a:spcPct val="104000"/>
              </a:lnSpc>
              <a:spcBef>
                <a:spcPts val="400"/>
              </a:spcBef>
              <a:buNone/>
            </a:pPr>
            <a:r>
              <a:rPr lang="en-US" sz="1600" dirty="0">
                <a:solidFill>
                  <a:srgbClr val="000000"/>
                </a:solidFill>
                <a:latin typeface="Segoe UI"/>
                <a:cs typeface="Segoe UI"/>
              </a:rPr>
              <a:t>Thay đổi tác động</a:t>
            </a:r>
          </a:p>
          <a:p>
            <a:pPr marL="0" indent="0" algn="l">
              <a:lnSpc>
                <a:spcPct val="104000"/>
              </a:lnSpc>
              <a:spcBef>
                <a:spcPts val="400"/>
              </a:spcBef>
              <a:buNone/>
            </a:pPr>
            <a:r>
              <a:rPr lang="en-US" sz="1600" dirty="0">
                <a:solidFill>
                  <a:srgbClr val="000000"/>
                </a:solidFill>
                <a:latin typeface="Segoe UI"/>
                <a:cs typeface="Segoe UI"/>
              </a:rPr>
              <a:t>Nhân quả ngược</a:t>
            </a:r>
          </a:p>
        </p:txBody>
      </p:sp>
      <p:sp>
        <p:nvSpPr>
          <p:cNvPr id="72" name="CardHead"/>
          <p:cNvSpPr/>
          <p:nvPr/>
        </p:nvSpPr>
        <p:spPr>
          <a:xfrm>
            <a:off x="33266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Lớn đến đâu?</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tỷ số nguy cơ (RR)</a:t>
            </a:r>
          </a:p>
          <a:p>
            <a:pPr marL="0" indent="0" algn="l">
              <a:lnSpc>
                <a:spcPct val="104000"/>
              </a:lnSpc>
              <a:spcBef>
                <a:spcPts val="400"/>
              </a:spcBef>
              <a:buNone/>
            </a:pPr>
            <a:r>
              <a:rPr lang="en-US" sz="1600" dirty="0">
                <a:solidFill>
                  <a:srgbClr val="000000"/>
                </a:solidFill>
                <a:latin typeface="Segoe UI"/>
                <a:cs typeface="Segoe UI"/>
              </a:rPr>
              <a:t>Hiệu số nguy cơ, NNT</a:t>
            </a:r>
          </a:p>
          <a:p>
            <a:pPr marL="0" indent="0" algn="l">
              <a:lnSpc>
                <a:spcPct val="104000"/>
              </a:lnSpc>
              <a:spcBef>
                <a:spcPts val="400"/>
              </a:spcBef>
              <a:buNone/>
            </a:pPr>
            <a:r>
              <a:rPr lang="en-US" sz="1600" dirty="0">
                <a:solidFill>
                  <a:srgbClr val="000000"/>
                </a:solidFill>
                <a:latin typeface="Segoe UI"/>
                <a:cs typeface="Segoe UI"/>
              </a:rPr>
              <a:t>Tỷ số chênh (OR)</a:t>
            </a:r>
          </a:p>
        </p:txBody>
      </p:sp>
      <p:sp>
        <p:nvSpPr>
          <p:cNvPr id="74" name="CardHead"/>
          <p:cNvSpPr/>
          <p:nvPr/>
        </p:nvSpPr>
        <p:spPr>
          <a:xfrm>
            <a:off x="61960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Xét nghiệm</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Độ nhạy, độ đặc hiệu</a:t>
            </a:r>
          </a:p>
          <a:p>
            <a:pPr marL="0" indent="0" algn="l">
              <a:lnSpc>
                <a:spcPct val="104000"/>
              </a:lnSpc>
              <a:spcBef>
                <a:spcPts val="400"/>
              </a:spcBef>
              <a:buNone/>
            </a:pPr>
            <a:r>
              <a:rPr lang="en-US" sz="1600" dirty="0">
                <a:solidFill>
                  <a:srgbClr val="000000"/>
                </a:solidFill>
                <a:latin typeface="Segoe UI"/>
                <a:cs typeface="Segoe UI"/>
              </a:rPr>
              <a:t>PPV, NPV, đường cong ROC</a:t>
            </a:r>
          </a:p>
        </p:txBody>
      </p:sp>
      <p:sp>
        <p:nvSpPr>
          <p:cNvPr id="76" name="CardHead"/>
          <p:cNvSpPr/>
          <p:nvPr/>
        </p:nvSpPr>
        <p:spPr>
          <a:xfrm>
            <a:off x="9065400" y="2142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Nhiều nghiên cứu</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Biểu đồ rừng, I bình phương</a:t>
            </a:r>
          </a:p>
          <a:p>
            <a:pPr marL="0" indent="0" algn="l">
              <a:lnSpc>
                <a:spcPct val="104000"/>
              </a:lnSpc>
              <a:spcBef>
                <a:spcPts val="400"/>
              </a:spcBef>
              <a:buNone/>
            </a:pPr>
            <a:r>
              <a:rPr lang="en-US" sz="1600" dirty="0">
                <a:solidFill>
                  <a:srgbClr val="000000"/>
                </a:solidFill>
                <a:latin typeface="Segoe UI"/>
                <a:cs typeface="Segoe UI"/>
              </a:rPr>
              <a:t>Công cụ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Sai lệch là sai số hệ thống. Tăng cỡ mẫu không sửa được.</a:t>
            </a:r>
          </a:p>
          <a:p>
            <a:pPr marL="0" indent="0" algn="ctr">
              <a:spcBef>
                <a:spcPts val="1200"/>
              </a:spcBef>
              <a:buNone/>
            </a:pPr>
            <a:r>
              <a:rPr lang="en-US" sz="1900" i="1" dirty="0">
                <a:solidFill>
                  <a:srgbClr val="595959"/>
                </a:solidFill>
                <a:latin typeface="Segoe UI"/>
                <a:cs typeface="Segoe UI"/>
              </a:rPr>
              <a:t>Chọn lựa, thông tin, yếu tố nhiễu, thay đổi tác động -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thông tin: mọi thứ được đo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Chỉ phỏng vấn những BN sống đến lúc ra viện về chăm sóc tại ICU</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Điều dưỡng biết BN thuộc nhóm nào chấm điểm đau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sai lệch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Nhiều kháng sinh -&gt; nhiều tử vong?</a:t>
            </a:r>
          </a:p>
          <a:p>
            <a:pPr marL="0" indent="0" algn="l">
              <a:lnSpc>
                <a:spcPct val="104000"/>
              </a:lnSpc>
              <a:spcBef>
                <a:spcPts val="400"/>
              </a:spcBef>
              <a:buNone/>
            </a:pPr>
            <a:r>
              <a:rPr lang="en-US" sz="1750" b="1" dirty="0">
                <a:solidFill>
                  <a:srgbClr val="000000"/>
                </a:solidFill>
                <a:latin typeface="Segoe UI"/>
                <a:cs typeface="Segoe UI"/>
              </a:rPr>
              <a:t>Yếu tố nhiễu: độ nặng nhiễm khuẩn</a:t>
            </a:r>
          </a:p>
          <a:p>
            <a:pPr marL="0" indent="0" algn="l">
              <a:lnSpc>
                <a:spcPct val="104000"/>
              </a:lnSpc>
              <a:spcBef>
                <a:spcPts val="400"/>
              </a:spcBef>
              <a:buNone/>
            </a:pPr>
            <a:r>
              <a:rPr lang="en-US" sz="1750" dirty="0">
                <a:solidFill>
                  <a:srgbClr val="000000"/>
                </a:solidFill>
                <a:latin typeface="Segoe UI"/>
                <a:cs typeface="Segoe UI"/>
              </a:rPr>
              <a:t>BN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Được chuyên gia dinh dưỡng khám -&gt; sụt cân nhiều hơn?</a:t>
            </a:r>
          </a:p>
          <a:p>
            <a:pPr marL="0" indent="0" algn="l">
              <a:lnSpc>
                <a:spcPct val="104000"/>
              </a:lnSpc>
              <a:spcBef>
                <a:spcPts val="400"/>
              </a:spcBef>
              <a:buNone/>
            </a:pPr>
            <a:r>
              <a:rPr lang="en-US" sz="1750" b="1" dirty="0">
                <a:solidFill>
                  <a:srgbClr val="000000"/>
                </a:solidFill>
                <a:latin typeface="Segoe UI"/>
                <a:cs typeface="Segoe UI"/>
              </a:rPr>
              <a:t>Yếu tố nhiễu: suy dinh dưỡng khi vào viện</a:t>
            </a:r>
          </a:p>
          <a:p>
            <a:pPr marL="0" indent="0" algn="l">
              <a:lnSpc>
                <a:spcPct val="104000"/>
              </a:lnSpc>
              <a:spcBef>
                <a:spcPts val="400"/>
              </a:spcBef>
              <a:buNone/>
            </a:pPr>
            <a:r>
              <a:rPr lang="en-US" sz="1750" dirty="0">
                <a:solidFill>
                  <a:srgbClr val="000000"/>
                </a:solidFill>
                <a:latin typeface="Segoe UI"/>
                <a:cs typeface="Segoe UI"/>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Vận mạch -&gt; nhiều rối loạn nhịp?</a:t>
            </a:r>
          </a:p>
          <a:p>
            <a:pPr marL="0" indent="0" algn="l">
              <a:lnSpc>
                <a:spcPct val="104000"/>
              </a:lnSpc>
              <a:spcBef>
                <a:spcPts val="400"/>
              </a:spcBef>
              <a:buNone/>
            </a:pPr>
            <a:r>
              <a:rPr lang="en-US" sz="1750" b="1" dirty="0">
                <a:solidFill>
                  <a:srgbClr val="000000"/>
                </a:solidFill>
                <a:latin typeface="Segoe UI"/>
                <a:cs typeface="Segoe UI"/>
              </a:rPr>
              <a:t>Yếu tố nhiễu: mức độ sốc</a:t>
            </a:r>
          </a:p>
          <a:p>
            <a:pPr marL="0" indent="0" algn="l">
              <a:lnSpc>
                <a:spcPct val="104000"/>
              </a:lnSpc>
              <a:spcBef>
                <a:spcPts val="400"/>
              </a:spcBef>
              <a:buNone/>
            </a:pPr>
            <a:r>
              <a:rPr lang="en-US" sz="1750" dirty="0">
                <a:solidFill>
                  <a:srgbClr val="000000"/>
                </a:solidFill>
                <a:latin typeface="Segoe UI"/>
                <a:cs typeface="Segoe UI"/>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vì sao những BN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Xây sự bảo vệ vào thiết kế; sửa phần còn lại trong phân tích.</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Ngẫu nhiên + che giấu</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May rủi quyết định nhóm</a:t>
            </a:r>
          </a:p>
          <a:p>
            <a:pPr marL="0" indent="0" algn="l">
              <a:lnSpc>
                <a:spcPct val="104000"/>
              </a:lnSpc>
              <a:spcBef>
                <a:spcPts val="400"/>
              </a:spcBef>
              <a:buNone/>
            </a:pPr>
            <a:r>
              <a:rPr lang="en-US" sz="1750" dirty="0">
                <a:solidFill>
                  <a:srgbClr val="000000"/>
                </a:solidFill>
                <a:latin typeface="Segoe UI"/>
                <a:cs typeface="Segoe UI"/>
              </a:rPr>
              <a:t>Cân bằng yếu tố nhiễu đã biết VÀ chưa biết</a:t>
            </a:r>
          </a:p>
          <a:p>
            <a:pPr marL="0" indent="0" algn="l">
              <a:lnSpc>
                <a:spcPct val="104000"/>
              </a:lnSpc>
              <a:spcBef>
                <a:spcPts val="400"/>
              </a:spcBef>
              <a:buNone/>
            </a:pPr>
            <a:r>
              <a:rPr lang="en-US" sz="1750" dirty="0">
                <a:solidFill>
                  <a:srgbClr val="000000"/>
                </a:solidFill>
                <a:latin typeface="Segoe UI"/>
                <a:cs typeface="Segoe UI"/>
              </a:rPr>
              <a:t>Không ai đoán được lần phân bổ kế tiếp</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Làm mù</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Bệnh nhân, bác sĩ, người đánh giá, người phân tích</a:t>
            </a:r>
          </a:p>
          <a:p>
            <a:pPr marL="0" indent="0" algn="l">
              <a:lnSpc>
                <a:spcPct val="104000"/>
              </a:lnSpc>
              <a:spcBef>
                <a:spcPts val="400"/>
              </a:spcBef>
              <a:buNone/>
            </a:pPr>
            <a:r>
              <a:rPr lang="en-US" sz="1750" dirty="0">
                <a:solidFill>
                  <a:srgbClr val="000000"/>
                </a:solidFill>
                <a:latin typeface="Segoe UI"/>
                <a:cs typeface="Segoe UI"/>
              </a:rPr>
              <a:t>Bảo vệ cách đo kết cục</a:t>
            </a:r>
          </a:p>
          <a:p>
            <a:pPr marL="0" indent="0" algn="l">
              <a:lnSpc>
                <a:spcPct val="104000"/>
              </a:lnSpc>
              <a:spcBef>
                <a:spcPts val="400"/>
              </a:spcBef>
              <a:buNone/>
            </a:pPr>
            <a:r>
              <a:rPr lang="en-US" sz="1750" dirty="0">
                <a:solidFill>
                  <a:srgbClr val="000000"/>
                </a:solidFill>
                <a:latin typeface="Segoe UI"/>
                <a:cs typeface="Segoe UI"/>
              </a:rPr>
              <a:t>Nếu không thể: làm mù người đánh giá</a:t>
            </a:r>
          </a:p>
        </p:txBody>
      </p:sp>
      <p:sp>
        <p:nvSpPr>
          <p:cNvPr id="74" name="CardHead"/>
          <p:cNvSpPr/>
          <p:nvPr/>
        </p:nvSpPr>
        <p:spPr>
          <a:xfrm>
            <a:off x="8108932" y="1909015"/>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Giới hạn, ghép cặp, hiệu chỉnh</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Giới hạn: thu hẹp tiêu chuẩn chọn</a:t>
            </a:r>
          </a:p>
          <a:p>
            <a:pPr marL="0" indent="0" algn="l">
              <a:lnSpc>
                <a:spcPct val="104000"/>
              </a:lnSpc>
              <a:spcBef>
                <a:spcPts val="400"/>
              </a:spcBef>
              <a:buNone/>
            </a:pPr>
            <a:r>
              <a:rPr lang="en-US" sz="1750" dirty="0">
                <a:solidFill>
                  <a:srgbClr val="000000"/>
                </a:solidFill>
                <a:latin typeface="Segoe UI"/>
                <a:cs typeface="Segoe UI"/>
              </a:rPr>
              <a:t>Ghép cặp: ghép BN tương tự</a:t>
            </a:r>
          </a:p>
          <a:p>
            <a:pPr marL="0" indent="0" algn="l">
              <a:lnSpc>
                <a:spcPct val="104000"/>
              </a:lnSpc>
              <a:spcBef>
                <a:spcPts val="400"/>
              </a:spcBef>
              <a:buNone/>
            </a:pPr>
            <a:r>
              <a:rPr lang="en-US" sz="1750" dirty="0">
                <a:solidFill>
                  <a:srgbClr val="000000"/>
                </a:solidFill>
                <a:latin typeface="Segoe UI"/>
                <a:cs typeface="Segoe UI"/>
              </a:rPr>
              <a:t>Hiệu chỉnh: thống kê khi phân tích</a:t>
            </a:r>
          </a:p>
          <a:p>
            <a:pPr marL="0" indent="0" algn="l">
              <a:lnSpc>
                <a:spcPct val="104000"/>
              </a:lnSpc>
              <a:spcBef>
                <a:spcPts val="400"/>
              </a:spcBef>
              <a:buNone/>
            </a:pPr>
            <a:r>
              <a:rPr lang="en-US" sz="1750" b="1" dirty="0">
                <a:solidFill>
                  <a:srgbClr val="B23B2E"/>
                </a:solidFill>
                <a:latin typeface="Segoe UI"/>
                <a:cs typeface="Segoe UI"/>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Ngẫu nhiên hóa cân bằng điều ta biết và điều ta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Nhờ may rủi, hai nhóm có thành phần tương tự -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Che giấu bảo vệ AI được đưa vào;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có ích -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nội tại và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hết: đúng với người được nghiên cứu? Sau đó: có áp dụng cho BN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liên quan đến nhân quả: Bradford Hill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Mẹ của trẻ dị tật bẩm sinh nhớ thuốc dùng khi mang thai rõ hơn các bà mẹ khác</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Điều dưỡng nghiên cứu biết nhóm chấm điểm 'đủ điều kiện ra viện'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Khảo sát chất lượng sống sau ICU chỉ tuyển người đến tái khám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BN có lactate cao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 một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nhớ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gọi tên một sai lệch và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Phổ biến đến đâu? Khả năng cao hơn bao nhiêu?</a:t>
            </a:r>
          </a:p>
          <a:p>
            <a:pPr marL="0" indent="0" algn="ctr">
              <a:spcBef>
                <a:spcPts val="1200"/>
              </a:spcBef>
              <a:buNone/>
            </a:pPr>
            <a:r>
              <a:rPr lang="en-US" sz="1900" i="1" dirty="0">
                <a:solidFill>
                  <a:srgbClr val="595959"/>
                </a:solidFill>
                <a:latin typeface="Segoe UI"/>
                <a:cs typeface="Segoe UI"/>
              </a:rPr>
              <a:t>Hiện mắc, mới mắc, nguy cơ, và bảng 2x2 đằng sau RR, OR, RD và NNT.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Thử nghiệm giả định dùng cho giảng dạy: 100 bệnh nhân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Phơi nhiễm ở hàng, kết cục ở cột: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hạn chế dịch 20/100 tử vong, thường quy 30/100 tử vong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nguy cơ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0,67</a:t>
            </a:r>
          </a:p>
          <a:p>
            <a:pPr marL="0" indent="0" algn="l">
              <a:lnSpc>
                <a:spcPct val="104000"/>
              </a:lnSpc>
              <a:spcBef>
                <a:spcPts val="400"/>
              </a:spcBef>
              <a:buNone/>
            </a:pPr>
            <a:r>
              <a:rPr lang="en-US" sz="1600" dirty="0">
                <a:solidFill>
                  <a:srgbClr val="000000"/>
                </a:solidFill>
                <a:latin typeface="Segoe UI"/>
                <a:cs typeface="Segoe UI"/>
              </a:rPr>
              <a:t>nguy cơ thấp hơn 1/3</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Hiệu số nguy cơ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-10 điểm</a:t>
            </a:r>
          </a:p>
          <a:p>
            <a:pPr marL="0" indent="0" algn="l">
              <a:lnSpc>
                <a:spcPct val="104000"/>
              </a:lnSpc>
              <a:spcBef>
                <a:spcPts val="400"/>
              </a:spcBef>
              <a:buNone/>
            </a:pPr>
            <a:r>
              <a:rPr lang="en-US" sz="1600" dirty="0">
                <a:solidFill>
                  <a:srgbClr val="000000"/>
                </a:solidFill>
                <a:latin typeface="Segoe UI"/>
                <a:cs typeface="Segoe UI"/>
              </a:rPr>
              <a:t>ít hơn 10 ca tử vong/100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 / |hiệu số nguy cơ|</a:t>
            </a:r>
          </a:p>
          <a:p>
            <a:pPr marL="0" indent="0" algn="l">
              <a:lnSpc>
                <a:spcPct val="104000"/>
              </a:lnSpc>
              <a:spcBef>
                <a:spcPts val="400"/>
              </a:spcBef>
              <a:buNone/>
            </a:pPr>
            <a:r>
              <a:rPr lang="en-US" sz="1600" b="1" dirty="0">
                <a:solidFill>
                  <a:srgbClr val="000000"/>
                </a:solidFill>
                <a:latin typeface="Segoe UI"/>
                <a:cs typeface="Segoe UI"/>
              </a:rPr>
              <a:t>1 / 0,10 = 10</a:t>
            </a:r>
          </a:p>
          <a:p>
            <a:pPr marL="0" indent="0" algn="l">
              <a:lnSpc>
                <a:spcPct val="104000"/>
              </a:lnSpc>
              <a:spcBef>
                <a:spcPts val="400"/>
              </a:spcBef>
              <a:buNone/>
            </a:pPr>
            <a:r>
              <a:rPr lang="en-US" sz="1600" dirty="0">
                <a:solidFill>
                  <a:srgbClr val="000000"/>
                </a:solidFill>
                <a:latin typeface="Segoe UI"/>
                <a:cs typeface="Segoe UI"/>
              </a:rPr>
              <a:t>điều trị 10 để ngăn 1 ca tử vong</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chênh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 x d) / (b x c)</a:t>
            </a:r>
          </a:p>
          <a:p>
            <a:pPr marL="0" indent="0" algn="l">
              <a:lnSpc>
                <a:spcPct val="104000"/>
              </a:lnSpc>
              <a:spcBef>
                <a:spcPts val="400"/>
              </a:spcBef>
              <a:buNone/>
            </a:pPr>
            <a:r>
              <a:rPr lang="en-US" sz="1600" b="1" dirty="0">
                <a:solidFill>
                  <a:srgbClr val="000000"/>
                </a:solidFill>
                <a:latin typeface="Segoe UI"/>
                <a:cs typeface="Segoe UI"/>
              </a:rPr>
              <a:t>(20x70)/(80x30) = 0,58</a:t>
            </a:r>
          </a:p>
          <a:p>
            <a:pPr marL="0" indent="0" algn="l">
              <a:lnSpc>
                <a:spcPct val="104000"/>
              </a:lnSpc>
              <a:spcBef>
                <a:spcPts val="400"/>
              </a:spcBef>
              <a:buNone/>
            </a:pPr>
            <a:r>
              <a:rPr lang="en-US" sz="1600" dirty="0">
                <a:solidFill>
                  <a:srgbClr val="000000"/>
                </a:solidFill>
                <a:latin typeface="Segoe UI"/>
                <a:cs typeface="Segoe UI"/>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cho biết mạnh đến đâu; hiệu số cho biết bao nhiêu bệnh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NNT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nào tỷ số chênh gần bằng tỷ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thêm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Mỗi nhóm 200 BN: 20 tử vong với điều trị mới, 30 với thường quy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Nguy cơ ở mỗi nhóm?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RR? Hiệu số nguy cơ? NNT?</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thêm: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Bảng</a:t>
            </a:r>
          </a:p>
          <a:p>
            <a:pPr marL="274320" indent="-274320" algn="l">
              <a:lnSpc>
                <a:spcPct val="104000"/>
              </a:lnSpc>
              <a:spcBef>
                <a:spcPts val="300"/>
              </a:spcBef>
              <a:buFont typeface="Arial"/>
              <a:buChar char="•"/>
            </a:pPr>
            <a:r>
              <a:rPr lang="en-US" sz="1500" dirty="0">
                <a:solidFill>
                  <a:srgbClr val="000000"/>
                </a:solidFill>
                <a:latin typeface="Segoe UI"/>
                <a:cs typeface="Segoe UI"/>
              </a:rPr>
              <a:t>a = 20, b = 180</a:t>
            </a:r>
          </a:p>
          <a:p>
            <a:pPr marL="274320" indent="-274320" algn="l">
              <a:lnSpc>
                <a:spcPct val="104000"/>
              </a:lnSpc>
              <a:spcBef>
                <a:spcPts val="300"/>
              </a:spcBef>
              <a:buFont typeface="Arial"/>
              <a:buChar char="•"/>
            </a:pPr>
            <a:r>
              <a:rPr lang="en-US" sz="1500" dirty="0">
                <a:solidFill>
                  <a:srgbClr val="000000"/>
                </a:solidFill>
                <a:latin typeface="Segoe UI"/>
                <a:cs typeface="Segoe UI"/>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Nguy cơ, RR, RD và NNT -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2x2_calculator.xlsx - trang Association</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Nhập a, b, c, d của ví dụ: 20, 80, 30, 70</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Đọc nguy cơ, RR, RD, NNT, OR - và các câu diễn giải</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Đổi số tử vong thành 2 và 3 trên 100: xem OR tiến gần RR</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Chỉ vào dòng chữ đỏ: dữ liệu bệnh - 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cách trình bày như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tương đối và tuyệt đối</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Sau giải lao: hai bài tính bảng 2x2 - chuẩn bị bút</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Rồi phần 4.3: vượt ra ngoài một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Tài liệu Phần C: vẽ mỗi bảng 2x2 trước, phơi nhiễm ở hàng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1 (thử nghiệm): nguy cơ, RR, RD, NNT, OR - và một câu diễn giải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Bài 2 (bệnh - chứng): chỉ tính OR - và giải thích vì sao không tính RR</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Đối chiếu với người bên cạnh, rồi với công cụ tính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Nguy cơ = a / (a + b)</a:t>
            </a:r>
          </a:p>
          <a:p>
            <a:pPr marL="274320" indent="-274320" algn="l">
              <a:lnSpc>
                <a:spcPct val="104000"/>
              </a:lnSpc>
              <a:spcBef>
                <a:spcPts val="300"/>
              </a:spcBef>
              <a:buFont typeface="Arial"/>
              <a:buChar char="•"/>
            </a:pPr>
            <a:r>
              <a:rPr lang="en-US" sz="1500" dirty="0">
                <a:solidFill>
                  <a:srgbClr val="000000"/>
                </a:solidFill>
                <a:latin typeface="Segoe UI"/>
                <a:cs typeface="Segoe UI"/>
              </a:rPr>
              <a:t>RR = nguy cơ /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NNT = 1 / hiệu số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Hai bảng 2x2 hoàn chỉnh với kết quả được diễn giải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nghiên cứu hiếm khi là câu trả lời.</a:t>
            </a:r>
          </a:p>
          <a:p>
            <a:pPr marL="0" indent="0" algn="ctr">
              <a:spcBef>
                <a:spcPts val="1200"/>
              </a:spcBef>
              <a:buNone/>
            </a:pPr>
            <a:r>
              <a:rPr lang="en-US" sz="1900" i="1" dirty="0">
                <a:solidFill>
                  <a:srgbClr val="595959"/>
                </a:solidFill>
                <a:latin typeface="Segoe UI"/>
                <a:cs typeface="Segoe UI"/>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Sơ đồ PRISMA cho thấy cách tìm, sàng lọc và loại nghiên cứu -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biểu đồ rừng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không đồng nhất: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công cụ thẩm định phù hợp với thiết kế - và cả hướng dẫn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7-9 trong bảng kiểm thẩm định 10 câu của khóa học (Buổi 8)</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Lời lẽ khớp thiết kế</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'Gây ra' cần ngẫu nhiên hóa</a:t>
            </a:r>
          </a:p>
          <a:p>
            <a:pPr marL="0" indent="0" algn="l">
              <a:lnSpc>
                <a:spcPct val="104000"/>
              </a:lnSpc>
              <a:spcBef>
                <a:spcPts val="400"/>
              </a:spcBef>
              <a:buNone/>
            </a:pPr>
            <a:r>
              <a:rPr lang="en-US" sz="1750" dirty="0">
                <a:solidFill>
                  <a:srgbClr val="000000"/>
                </a:solidFill>
                <a:latin typeface="Segoe UI"/>
                <a:cs typeface="Segoe UI"/>
              </a:rPr>
              <a:t>Quan sát: 'có liên quan với'</a:t>
            </a:r>
          </a:p>
          <a:p>
            <a:pPr marL="0" indent="0" algn="l">
              <a:lnSpc>
                <a:spcPct val="104000"/>
              </a:lnSpc>
              <a:spcBef>
                <a:spcPts val="400"/>
              </a:spcBef>
              <a:buNone/>
            </a:pPr>
            <a:r>
              <a:rPr lang="en-US" sz="1750" dirty="0">
                <a:solidFill>
                  <a:srgbClr val="000000"/>
                </a:solidFill>
                <a:latin typeface="Segoe UI"/>
                <a:cs typeface="Segoe UI"/>
              </a:rPr>
              <a:t>Thí điểm: khả thi, không phải hiệu quả</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Con số khớp lời lẽ</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Cỡ tác động kèm KTC 95%</a:t>
            </a:r>
          </a:p>
          <a:p>
            <a:pPr marL="0" indent="0" algn="l">
              <a:lnSpc>
                <a:spcPct val="104000"/>
              </a:lnSpc>
              <a:spcBef>
                <a:spcPts val="400"/>
              </a:spcBef>
              <a:buNone/>
            </a:pPr>
            <a:r>
              <a:rPr lang="en-US" sz="1750" dirty="0">
                <a:solidFill>
                  <a:srgbClr val="000000"/>
                </a:solidFill>
                <a:latin typeface="Segoe UI"/>
                <a:cs typeface="Segoe UI"/>
              </a:rPr>
              <a:t>Tương đối VÀ tuyệt đối</a:t>
            </a:r>
          </a:p>
          <a:p>
            <a:pPr marL="0" indent="0" algn="l">
              <a:lnSpc>
                <a:spcPct val="104000"/>
              </a:lnSpc>
              <a:spcBef>
                <a:spcPts val="400"/>
              </a:spcBef>
              <a:buNone/>
            </a:pPr>
            <a:r>
              <a:rPr lang="en-US" sz="1750" dirty="0">
                <a:solidFill>
                  <a:srgbClr val="000000"/>
                </a:solidFill>
                <a:latin typeface="Segoe UI"/>
                <a:cs typeface="Segoe UI"/>
              </a:rPr>
              <a:t>Không 'xu hướng' khi p = 0,42</a:t>
            </a:r>
          </a:p>
        </p:txBody>
      </p:sp>
      <p:sp>
        <p:nvSpPr>
          <p:cNvPr id="74" name="CardHead"/>
          <p:cNvSpPr/>
          <p:nvPr/>
        </p:nvSpPr>
        <p:spPr>
          <a:xfrm>
            <a:off x="8108932" y="2111157"/>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Trung thực, không tô vẽ</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Kết cục chính báo cáo trước</a:t>
            </a:r>
          </a:p>
          <a:p>
            <a:pPr marL="0" indent="0" algn="l">
              <a:lnSpc>
                <a:spcPct val="104000"/>
              </a:lnSpc>
              <a:spcBef>
                <a:spcPts val="400"/>
              </a:spcBef>
              <a:buNone/>
            </a:pPr>
            <a:r>
              <a:rPr lang="en-US" sz="1750" dirty="0">
                <a:solidFill>
                  <a:srgbClr val="000000"/>
                </a:solidFill>
                <a:latin typeface="Segoe UI"/>
                <a:cs typeface="Segoe UI"/>
              </a:rPr>
              <a:t>Nêu rõ hạn chế chính</a:t>
            </a:r>
          </a:p>
          <a:p>
            <a:pPr marL="0" indent="0" algn="l">
              <a:lnSpc>
                <a:spcPct val="104000"/>
              </a:lnSpc>
              <a:spcBef>
                <a:spcPts val="400"/>
              </a:spcBef>
              <a:buNone/>
            </a:pPr>
            <a:r>
              <a:rPr lang="en-US" sz="1750" dirty="0">
                <a:solidFill>
                  <a:srgbClr val="000000"/>
                </a:solidFill>
                <a:latin typeface="Segoe UI"/>
                <a:cs typeface="Segoe UI"/>
              </a:rPr>
              <a:t>Kết luận =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kết luận sau cùng -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theo cặp: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Tài liệu Phần E: biểu đồ rừng của sáu thử nghiệm về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Thử nghiệm nào có trọng số lớn nhất? Có thử nghiệm riêng lẻ nào cho tác động rõ không?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Hình thoi có cắt RR = 1 không? Nói kết quả bằng một câu</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Chọn công cụ đánh giá sai lệch cho Boulet, cho Hyun và cho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Nhắc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Ô vuông = một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Đường ngang = KTC 95%</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thoi = kết quả gộp</a:t>
            </a:r>
          </a:p>
          <a:p>
            <a:pPr marL="274320" indent="-274320" algn="l">
              <a:lnSpc>
                <a:spcPct val="104000"/>
              </a:lnSpc>
              <a:spcBef>
                <a:spcPts val="300"/>
              </a:spcBef>
              <a:buFont typeface="Arial"/>
              <a:buChar char="•"/>
            </a:pPr>
            <a:r>
              <a:rPr lang="en-US" sz="1500" dirty="0">
                <a:solidFill>
                  <a:srgbClr val="000000"/>
                </a:solidFill>
                <a:latin typeface="Segoe UI"/>
                <a:cs typeface="Segoe UI"/>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Một câu về kết quả gộp +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không phải một từ; đó là một phép đo có phương pháp và thời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Phơi nhiễm hoặc can thiệp: chính xác là gì, bao nhiêu, khi nào</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Nhóm so sánh: so sánh với ai hoặc với điều gì</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MỘT kết cục chính: cái gì, thế nào, khi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2-3 kết cục phụ, mỗi kết cục có cái gì, thế nào, khi nào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Hai sai lệch chính và bước thiết kế làm giảm từng sai lệch</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Viết một câu: sẽ kết luận 'gây ra' hay 'có liên quan'?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nêu nhóm 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kết cục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có thời điểm?</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-&gt;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 đề cương hoàn chỉnh (2a từ Buổi 3 + 2b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4.1 Tin cậy</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cỡ mẫu không sửa</a:t>
            </a:r>
          </a:p>
          <a:p>
            <a:pPr marL="0" indent="0" algn="l">
              <a:lnSpc>
                <a:spcPct val="104000"/>
              </a:lnSpc>
              <a:spcBef>
                <a:spcPts val="400"/>
              </a:spcBef>
              <a:buNone/>
            </a:pPr>
            <a:r>
              <a:rPr lang="en-US" sz="1600" dirty="0">
                <a:solidFill>
                  <a:srgbClr val="000000"/>
                </a:solidFill>
                <a:latin typeface="Segoe UI"/>
                <a:cs typeface="Segoe UI"/>
              </a:rPr>
              <a:t>Yếu tố nhiễu: loại bỏ</a:t>
            </a:r>
          </a:p>
          <a:p>
            <a:pPr marL="0" indent="0" algn="l">
              <a:lnSpc>
                <a:spcPct val="104000"/>
              </a:lnSpc>
              <a:spcBef>
                <a:spcPts val="400"/>
              </a:spcBef>
              <a:buNone/>
            </a:pPr>
            <a:r>
              <a:rPr lang="en-US" sz="1600" dirty="0">
                <a:solidFill>
                  <a:srgbClr val="000000"/>
                </a:solidFill>
                <a:latin typeface="Segoe UI"/>
                <a:cs typeface="Segoe UI"/>
              </a:rPr>
              <a:t>Thay đổi tác động: báo cáo</a:t>
            </a:r>
          </a:p>
        </p:txBody>
      </p:sp>
      <p:sp>
        <p:nvSpPr>
          <p:cNvPr id="72" name="CardHead"/>
          <p:cNvSpPr/>
          <p:nvPr/>
        </p:nvSpPr>
        <p:spPr>
          <a:xfrm>
            <a:off x="33266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4.2 Độ lớn</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Tương đối: RR, OR</a:t>
            </a:r>
          </a:p>
          <a:p>
            <a:pPr marL="0" indent="0" algn="l">
              <a:lnSpc>
                <a:spcPct val="104000"/>
              </a:lnSpc>
              <a:spcBef>
                <a:spcPts val="400"/>
              </a:spcBef>
              <a:buNone/>
            </a:pPr>
            <a:r>
              <a:rPr lang="en-US" sz="1600" dirty="0">
                <a:solidFill>
                  <a:srgbClr val="000000"/>
                </a:solidFill>
                <a:latin typeface="Segoe UI"/>
                <a:cs typeface="Segoe UI"/>
              </a:rPr>
              <a:t>Tuyệt đối: RD, NNT</a:t>
            </a:r>
          </a:p>
          <a:p>
            <a:pPr marL="0" indent="0" algn="l">
              <a:lnSpc>
                <a:spcPct val="104000"/>
              </a:lnSpc>
              <a:spcBef>
                <a:spcPts val="400"/>
              </a:spcBef>
              <a:buNone/>
            </a:pPr>
            <a:r>
              <a:rPr lang="en-US" sz="1600" dirty="0">
                <a:solidFill>
                  <a:srgbClr val="000000"/>
                </a:solidFill>
                <a:latin typeface="Segoe UI"/>
                <a:cs typeface="Segoe UI"/>
              </a:rPr>
              <a:t>OR = RR chỉ khi hiếm</a:t>
            </a:r>
          </a:p>
        </p:txBody>
      </p:sp>
      <p:sp>
        <p:nvSpPr>
          <p:cNvPr id="74" name="CardHead"/>
          <p:cNvSpPr/>
          <p:nvPr/>
        </p:nvSpPr>
        <p:spPr>
          <a:xfrm>
            <a:off x="61960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4.3 Nhiều nghiên cứu</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PPV phụ thuộc hiện mắc</a:t>
            </a:r>
          </a:p>
          <a:p>
            <a:pPr marL="0" indent="0" algn="l">
              <a:lnSpc>
                <a:spcPct val="104000"/>
              </a:lnSpc>
              <a:spcBef>
                <a:spcPts val="400"/>
              </a:spcBef>
              <a:buNone/>
            </a:pPr>
            <a:r>
              <a:rPr lang="en-US" sz="1600" dirty="0">
                <a:solidFill>
                  <a:srgbClr val="000000"/>
                </a:solidFill>
                <a:latin typeface="Segoe UI"/>
                <a:cs typeface="Segoe UI"/>
              </a:rPr>
              <a:t>Biểu đồ rừng: đọc hình thoi</a:t>
            </a:r>
          </a:p>
          <a:p>
            <a:pPr marL="0" indent="0" algn="l">
              <a:lnSpc>
                <a:spcPct val="104000"/>
              </a:lnSpc>
              <a:spcBef>
                <a:spcPts val="400"/>
              </a:spcBef>
              <a:buNone/>
            </a:pPr>
            <a:r>
              <a:rPr lang="en-US" sz="1600" dirty="0">
                <a:solidFill>
                  <a:srgbClr val="000000"/>
                </a:solidFill>
                <a:latin typeface="Segoe UI"/>
                <a:cs typeface="Segoe UI"/>
              </a:rPr>
              <a:t>Đúng công cụ cho thiết kế</a:t>
            </a:r>
          </a:p>
        </p:txBody>
      </p:sp>
      <p:sp>
        <p:nvSpPr>
          <p:cNvPr id="76" name="CardHead"/>
          <p:cNvSpPr/>
          <p:nvPr/>
        </p:nvSpPr>
        <p:spPr>
          <a:xfrm>
            <a:off x="9065400" y="1764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Đề cương của bạn</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Phần 2 hoàn chỉnh</a:t>
            </a:r>
          </a:p>
          <a:p>
            <a:pPr marL="0" indent="0" algn="l">
              <a:lnSpc>
                <a:spcPct val="104000"/>
              </a:lnSpc>
              <a:spcBef>
                <a:spcPts val="400"/>
              </a:spcBef>
              <a:buNone/>
            </a:pPr>
            <a:r>
              <a:rPr lang="en-US" sz="1600" dirty="0">
                <a:solidFill>
                  <a:srgbClr val="000000"/>
                </a:solidFill>
                <a:latin typeface="Segoe UI"/>
                <a:cs typeface="Segoe UI"/>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đến độ lớn -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BN ICU được truyền nhiều dịch hơn tử vong nhiều hơn. Nêu một lý do khác ngoài bản thân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 đề cương (phơi nhiễm, so sánh, kết cục, sai lệch)</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Tùy chọn: Phần B và D của tài liệu (thay đổi tác động, PPV ở hai bối cảnh)</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Hai thứ Bảy tới (Buổi 5-6): dữ liệu -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4</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Tỷ số khả dĩ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độ nhạy / (1 - độ đặc hiệu)</a:t>
            </a:r>
          </a:p>
          <a:p>
            <a:pPr marL="0" indent="0" algn="l">
              <a:lnSpc>
                <a:spcPct val="104000"/>
              </a:lnSpc>
              <a:spcBef>
                <a:spcPts val="400"/>
              </a:spcBef>
              <a:buNone/>
            </a:pPr>
            <a:r>
              <a:rPr lang="en-US" sz="1750" b="1" dirty="0">
                <a:solidFill>
                  <a:srgbClr val="000000"/>
                </a:solidFill>
                <a:latin typeface="Segoe UI"/>
                <a:cs typeface="Segoe UI"/>
              </a:rPr>
              <a:t>0,90 / 0,20 = 4,5</a:t>
            </a:r>
          </a:p>
          <a:p>
            <a:pPr marL="0" indent="0" algn="l">
              <a:lnSpc>
                <a:spcPct val="104000"/>
              </a:lnSpc>
              <a:spcBef>
                <a:spcPts val="400"/>
              </a:spcBef>
              <a:buNone/>
            </a:pPr>
            <a:r>
              <a:rPr lang="en-US" sz="1750" dirty="0">
                <a:solidFill>
                  <a:srgbClr val="000000"/>
                </a:solidFill>
                <a:latin typeface="Segoe UI"/>
                <a:cs typeface="Segoe UI"/>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 độ nhạy) / độ đặc hiệu</a:t>
            </a:r>
          </a:p>
          <a:p>
            <a:pPr marL="0" indent="0" algn="l">
              <a:lnSpc>
                <a:spcPct val="104000"/>
              </a:lnSpc>
              <a:spcBef>
                <a:spcPts val="400"/>
              </a:spcBef>
              <a:buNone/>
            </a:pPr>
            <a:r>
              <a:rPr lang="en-US" sz="1750" b="1" dirty="0">
                <a:solidFill>
                  <a:srgbClr val="000000"/>
                </a:solidFill>
                <a:latin typeface="Segoe UI"/>
                <a:cs typeface="Segoe UI"/>
              </a:rPr>
              <a:t>0,10 / 0,80 = 0,13</a:t>
            </a:r>
          </a:p>
          <a:p>
            <a:pPr marL="0" indent="0" algn="l">
              <a:lnSpc>
                <a:spcPct val="104000"/>
              </a:lnSpc>
              <a:spcBef>
                <a:spcPts val="400"/>
              </a:spcBef>
              <a:buNone/>
            </a:pPr>
            <a:r>
              <a:rPr lang="en-US" sz="1750" dirty="0">
                <a:solidFill>
                  <a:srgbClr val="000000"/>
                </a:solidFill>
                <a:latin typeface="Segoe UI"/>
                <a:cs typeface="Segoe UI"/>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STARD: bảng kiểm 30 mục + sơ đồ</a:t>
            </a:r>
          </a:p>
          <a:p>
            <a:pPr marL="0" indent="0" algn="l">
              <a:lnSpc>
                <a:spcPct val="104000"/>
              </a:lnSpc>
              <a:spcBef>
                <a:spcPts val="400"/>
              </a:spcBef>
              <a:buNone/>
            </a:pPr>
            <a:r>
              <a:rPr lang="en-US" sz="1750" dirty="0">
                <a:solidFill>
                  <a:srgbClr val="000000"/>
                </a:solidFill>
                <a:latin typeface="Segoe UI"/>
                <a:cs typeface="Segoe UI"/>
              </a:rPr>
              <a:t>QUADAS-2: nguy cơ sai lệch</a:t>
            </a:r>
          </a:p>
          <a:p>
            <a:pPr marL="0" indent="0" algn="l">
              <a:lnSpc>
                <a:spcPct val="104000"/>
              </a:lnSpc>
              <a:spcBef>
                <a:spcPts val="400"/>
              </a:spcBef>
              <a:buNone/>
            </a:pPr>
            <a:r>
              <a:rPr lang="en-US" sz="1750" dirty="0">
                <a:solidFill>
                  <a:srgbClr val="000000"/>
                </a:solidFill>
                <a:latin typeface="Segoe UI"/>
                <a:cs typeface="Segoe UI"/>
              </a:rPr>
              <a:t>Thử trên đúng BN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200 BN ở khoa; 20 BN có loét tì đè</a:t>
            </a:r>
          </a:p>
          <a:p>
            <a:pPr marL="0" indent="0" algn="l">
              <a:lnSpc>
                <a:spcPct val="104000"/>
              </a:lnSpc>
              <a:spcBef>
                <a:spcPts val="200"/>
              </a:spcBef>
              <a:buNone/>
            </a:pPr>
            <a:r>
              <a:rPr lang="en-US" sz="1500" dirty="0">
                <a:solidFill>
                  <a:srgbClr val="000000"/>
                </a:solidFill>
                <a:latin typeface="Segoe UI"/>
                <a:cs typeface="Segoe UI"/>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180 BN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BN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 180 = 5% mỗi tuần</a:t>
            </a:r>
          </a:p>
          <a:p>
            <a:pPr marL="0" indent="0" algn="l">
              <a:lnSpc>
                <a:spcPct val="104000"/>
              </a:lnSpc>
              <a:spcBef>
                <a:spcPts val="200"/>
              </a:spcBef>
              <a:buNone/>
            </a:pPr>
            <a:r>
              <a:rPr lang="en-US" sz="1500" dirty="0">
                <a:solidFill>
                  <a:srgbClr val="000000"/>
                </a:solidFill>
                <a:latin typeface="Segoe UI"/>
                <a:cs typeface="Segoe UI"/>
              </a:rPr>
              <a:t>(mẫu số =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