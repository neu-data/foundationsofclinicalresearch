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BUỔI 4 (0:00). Thứ Bảy tuần trước ta chọn CÁCH trả lời câu hỏi. Hôm nay hai câu hỏi cho mọi kết quả: có TIN được không (sai lệch, yếu tố nhiễu, nhân quả) và LỚN đến đâu (nguy cơ, RR, OR, RD, NNT)? Sau đó vượt ra ngoài một nghiên cứu: xét nghiệm chẩn đoán, phân tích gộp và công cụ thẩm định.</a:t>
            </a:r>
          </a:p>
          <a:p>
            <a:r>
              <a:rPr lang="en-US" sz="1400" b="0" dirty="0"/>
              <a:t>Đọc ba giấy dán câu hỏi cuối Buổi 3 trước (thuần tập vắc xin cúm). Nó dẫn thẳng vào yếu tố nhiễu.</a:t>
            </a:r>
          </a:p>
          <a:p>
            <a:r>
              <a:rPr lang="en-US" sz="1400" b="0" dirty="0"/>
              <a:t>Nhịp độ: phép tính duy nhất là phép chia trong bảng 2x2, và bảng tính kiểm tra mọi đáp án.</a:t>
            </a:r>
          </a:p>
          <a:p>
            <a:r>
              <a:rPr lang="en-US" sz="1400" b="0" dirty="0"/>
              <a:t>Thời gian: 1 phút. Lịch: ôn tập 10, 4.1 40, 4.2 30, giải lao 15, bài tính 20, 4.3 30, đề cương 30, tổng kết 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C1: bệnh-chứng (chọn theo kết cục, nhìn lại phơi nhiễm). C2: thử nghiệm ngẫu nhiên theo cụm. C3: không kém hơn. Toàn bộ KTC nằm dưới ngưỡng +4 (KTC cắt 0 nên không vượt trội).</a:t>
            </a:r>
          </a:p>
          <a:p>
            <a:r>
              <a:rPr lang="en-US" sz="1400" b="0" dirty="0"/>
              <a:t>Quan niệm sai cần sửa ở C1: 'dùng hồ sơ nên là thuần tập'. Hỏi: người được chọn theo điều đã xảy ra với họ (mê sảng) hay theo điều họ nhận được?</a:t>
            </a:r>
          </a:p>
          <a:p>
            <a:r>
              <a:rPr lang="en-US" sz="1400" b="0" dirty="0"/>
              <a:t>Thời gian: khoảng 6 phút cho các câu hỏi, 3 phút để nhóm đọc lại Phần 2a. Phần xây dựng đề cương hôm nay hoàn thành Phần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bốn tiêu đề; nói với cả lớp bảng thuật ngữ có trong tài liệu.</a:t>
            </a:r>
          </a:p>
          <a:p>
            <a:r>
              <a:rPr lang="en-US" sz="1400" b="0" dirty="0"/>
              <a:t>Ý chính: thứ tự quan trọng. Ta đánh giá kết quả có tin được không trước khi quan tâm nó lớn đến đâu.</a:t>
            </a:r>
          </a:p>
          <a:p>
            <a:r>
              <a:rPr lang="en-US" sz="1400" b="0" dirty="0"/>
              <a:t>Hỏi cả lớp: tháng này bạn đã gặp từ nào trong các bài báo? Dự kiến: OR, RR, KTC 95%, biểu đồ rừng.</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4.1 (40 phút, gồm 2 phút kiểm tra và 4 phút câu hỏi 'Phát hiện sai lệch').</a:t>
            </a:r>
          </a:p>
          <a:p>
            <a:r>
              <a:rPr lang="en-US" sz="1400" b="0" dirty="0"/>
              <a:t>Ba nhóm sai lệch: ai được ĐƯA VÀO nghiên cứu (chọn lựa), mọi thứ được ĐO thế nào (thông tin), và sự TRỘN LẪN tác động (yếu tố nhiễu). Sau đó là cách thiết kế chống sai lệch, và bốn ý để đánh giá một kết quả: thay đổi tác động, giá trị nội tại và ngoại suy, nhân quả ngược và các quan điểm của Bradford Hill.</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Dùng hình bia phi tiêu. Trái: điều ta muốn, gần sự thật và tập trung. Giữa: sai số ngẫu nhiên, quanh sự thật nhưng phân tán. Cỡ mẫu lớn hơn sẽ kéo các phi tiêu lại gần nhau. Phải: sai lệch, tập trung nhưng sai chỗ. Cỡ mẫu lớn hơn chỉ làm ta tự tin hơn vào câu trả lời sai.</a:t>
            </a:r>
          </a:p>
          <a:p>
            <a:r>
              <a:rPr lang="en-US" sz="1400" b="0" dirty="0"/>
              <a:t>Ý chính: khoảng tin cậy (Buổi 6) chỉ mô tả sai số ngẫu nhiên. Khoảng tin cậy hẹp không nói gì về sai lệch.</a:t>
            </a:r>
          </a:p>
          <a:p>
            <a:r>
              <a:rPr lang="en-US" sz="1400" b="0" dirty="0"/>
              <a:t>Quan niệm sai: 'nghiên cứu 10.000 bệnh nhân không thể bị sai lệch'. Nghiên cứu sổ bộ lớn có thể rất chính xác mà vẫn sai lệch.</a:t>
            </a:r>
          </a:p>
          <a:p>
            <a:r>
              <a:rPr lang="en-US" sz="1400" b="0" dirty="0"/>
              <a:t>Hỏi cả lớp: bài nào dễ bị sai số ngẫu nhiên hơn, bài nào dễ bị sai lệch hơn? Dự kiến: Boulet (48 BN) dễ bị sai số ngẫu nhiên; Hyun (quan sát) dễ bị sai lệch, nhất là yếu tố nhiễu.</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Sai lệch chọn lựa xảy ra khi những người vào (hoặc ở lại) nghiên cứu khác một cách hệ thống với những người ta muốn tìm hiểu.</a:t>
            </a:r>
          </a:p>
          <a:p>
            <a:r>
              <a:rPr lang="en-US" sz="1400" b="0" dirty="0"/>
              <a:t>Ví dụ từ Hyun: chỉ bệnh nhân nằm ICU ít nhất ba ngày và có dữ liệu dịch được đưa vào (2.516 trong 11.981 bệnh nhân của sổ bộ). Những bệnh nhân nặng nhất tử vong sớm, và những người nhẹ nhất ra sớm, bị loại. Kết quả áp dụng cho 'bệnh nhân còn ở ICU ngày 3', không phải mọi bệnh nhân nhiễm khuẩn huyết.</a:t>
            </a:r>
          </a:p>
          <a:p>
            <a:r>
              <a:rPr lang="en-US" sz="1400" b="0" dirty="0"/>
              <a:t>Nguồn thường gặp khác: người tình nguyện, bệnh nhân từ chối tham gia, mất theo dõi, trung tâm tuyến cuối duy nhất.</a:t>
            </a:r>
          </a:p>
          <a:p>
            <a:r>
              <a:rPr lang="en-US" sz="1400" b="0" dirty="0"/>
              <a:t>Quan niệm sai: 'sai lệch chọn lựa chỉ quan trọng trong khảo sát'. Nó ảnh hưởng mọi thiết kế, kể cả RCT (tiêu chuẩn loại trừ chặt làm hẹp đối tượng áp dụng kết quả).</a:t>
            </a:r>
          </a:p>
          <a:p>
            <a:r>
              <a:rPr lang="en-US" sz="1400" b="0" dirty="0"/>
              <a:t>Hỏi cả lớp: trong Boulet, 1.201 bệnh nhân được sàng lọc và 50 được đưa vào. Điều đó nói gì? Dự kiến: bệnh nhân thử nghiệm được chọn lọc rất kỹ. Kiểm tra xem họ có giống bệnh nhân của mình không trước khi áp dụng.</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Sai lệch thông tin (đo lường): dữ liệu sai một cách hệ thống.</a:t>
            </a:r>
          </a:p>
          <a:p>
            <a:r>
              <a:rPr lang="en-US" sz="1400" b="0" dirty="0"/>
              <a:t>Sai lệch nhớ lại: trong nghiên cứu bệnh-chứng, ca bệnh (hoặc gia đình) cố nhớ kỹ hơn ca chứng, nên phơi nhiễm có vẻ phổ biến hơn ở ca bệnh.</a:t>
            </a:r>
          </a:p>
          <a:p>
            <a:r>
              <a:rPr lang="en-US" sz="1400" b="0" dirty="0"/>
              <a:t>Sai lệch người quan sát: người đánh giá biết nhóm có thể đánh giá kết cục 'mềm' khác đi, ví dụ 'đủ điều kiện ra viện' hay 'có mê sảng'. Trong Boulet, bác sĩ biết phân nhóm.</a:t>
            </a:r>
          </a:p>
          <a:p>
            <a:r>
              <a:rPr lang="en-US" sz="1400" b="0" dirty="0"/>
              <a:t>Sai lệch đo lường: cân luôn chỉ cao 0,5 kg, hoặc lượng nước tiểu bị ghi thiếu ở ca đêm. Nếu khác nhau giữa các nhóm, nó làm méo phép so sánh.</a:t>
            </a:r>
          </a:p>
          <a:p>
            <a:r>
              <a:rPr lang="en-US" sz="1400" b="0" dirty="0"/>
              <a:t>Quan niệm sai: 'kết cục cứng như tử vong thì miễn nhiễm'. Tử vong được ghi nhận đáng tin cậy, nhưng thời điểm và nguyên nhân tử vong vẫn có thể bị phân loại sai.</a:t>
            </a:r>
          </a:p>
          <a:p>
            <a:r>
              <a:rPr lang="en-US" sz="1400" b="0" dirty="0"/>
              <a:t>Hỏi cả lớp: làm sao giảm sai lệch người quan sát trong một thử nghiệm ICU không làm mù? Dự kiến: kết cục khách quan, người đánh giá kết cục được làm mù, định nghĩa chuẩn và tập huấn.</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Giơ tay cho từng lựa chọn.</a:t>
            </a:r>
          </a:p>
          <a:p>
            <a:r>
              <a:rPr lang="en-US" sz="1400" b="0" dirty="0"/>
              <a:t>Đáp án. A: sai lệch chọn lựa. Những bệnh nhân nặng nhất (đã tử vong) bị thiếu, nên mẫu không còn là quần thể. B: sai lệch người quan sát (sai lệch thông tin): một điểm số chủ quan do người biết nhóm đánh giá. C: sai lệch đo lường (sai lệch thông tin). Vì chỉ ảnh hưởng một khoa, nó làm méo phép so sánh giữa các khoa.</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slide quan trọng nhất của 4.1. Chỉ vào từng mũi tên.</a:t>
            </a:r>
          </a:p>
          <a:p>
            <a:r>
              <a:rPr lang="en-US" sz="1400" b="0" dirty="0"/>
              <a:t>Mức độ nặng của bệnh khiến bác sĩ truyền nhiều dịch hơn (mũi tên trái). Mức độ nặng cũng gây tử vong (mũi tên phải). Vì vậy bệnh nhân được truyền nhiều dịch hơn tử vong nhiều hơn, kể cả khi dịch không có tác động gì.</a:t>
            </a:r>
          </a:p>
          <a:p>
            <a:r>
              <a:rPr lang="en-US" sz="1400" b="0" dirty="0"/>
              <a:t>Trường hợp đặc biệt này gọi là nhiễu do chỉ định (confounding by indication): lý do đưa ra điều trị lại chính là thứ liên quan với kết cục.</a:t>
            </a:r>
          </a:p>
          <a:p>
            <a:r>
              <a:rPr lang="en-US" sz="1400" b="0" dirty="0"/>
              <a:t>Ba điều kiện của một yếu tố nhiễu: liên quan với phơi nhiễm, là nguyên nhân của kết cục, và không nằm trên con đường nhân quả giữa hai yếu tố đó.</a:t>
            </a:r>
          </a:p>
          <a:p>
            <a:r>
              <a:rPr lang="en-US" sz="1400" b="0" dirty="0"/>
              <a:t>Quan niệm sai: 'yếu tố nhiễu là bất kỳ biến nào khác nhau giữa các nhóm'. Nó còn phải ảnh hưởng đến kết cục.</a:t>
            </a:r>
          </a:p>
          <a:p>
            <a:r>
              <a:rPr lang="en-US" sz="1400" b="0" dirty="0"/>
              <a:t>Hỏi cả lớp: nêu một ví dụ nhiễu do chỉ định khác ở khoa mình. Dự kiến: bệnh nhân dùng nhiều kháng sinh tử vong nhiều hơn; bệnh nhân được chuyên gia dinh dưỡng khám sụt cân nhiều hơn; bệnh nhân dùng vận mạch có nhiều rối loạn nhịp hơn.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Số liệu giả định, chọn để minh họa. Gộp tất cả bệnh nhân: 42% bệnh nhân truyền nhiều dịch tử vong so với 18% bệnh nhân truyền ít, tỷ số nguy cơ thô 2,33. Trông như dịch gây tử vong.</a:t>
            </a:r>
          </a:p>
          <a:p>
            <a:r>
              <a:rPr lang="en-US" sz="1400" b="0" dirty="0"/>
              <a:t>Giờ chia theo mức độ nặng. Bệnh nhẹ: 10% so với 10%. Bệnh nặng: 50% so với 50%. Trong mỗi mức, RR là 1,0.</a:t>
            </a:r>
          </a:p>
          <a:p>
            <a:r>
              <a:rPr lang="en-US" sz="1400" b="0" dirty="0"/>
              <a:t>Lý do: 80 trong 100 bệnh nhân truyền nhiều dịch là bệnh nặng, nhưng chỉ 20 trong 100 bệnh nhân truyền ít dịch. Mức độ nặng, chứ không phải dịch, giải thích khác biệt thô.</a:t>
            </a:r>
          </a:p>
          <a:p>
            <a:r>
              <a:rPr lang="en-US" sz="1400" b="0" dirty="0"/>
              <a:t>Ý chính: đó là điều 'hiệu chỉnh theo mức độ nặng' làm: so sánh tương đồng với tương đồng. Buổi 6 sẽ xem các bài báo và mô hình trình bày điều này thế nào. Slide sau: điều gì xảy ra khi các tầng KHÔNG giống nhau.</a:t>
            </a:r>
          </a:p>
          <a:p>
            <a:r>
              <a:rPr lang="en-US" sz="1400" b="0" dirty="0"/>
              <a:t>Quan niệm sai: 'sau hiệu chỉnh, mối liên quan còn lại là nhân quả'. Chỉ đúng nếu mọi yếu tố nhiễu quan trọng đều được đo tốt, điều không bao giờ được bảo đảm trong dữ liệu quan sát.</a:t>
            </a:r>
          </a:p>
          <a:p>
            <a:r>
              <a:rPr lang="en-US" sz="1400" b="0" dirty="0"/>
              <a:t>Hỏi cả lớp: cần đo gì lúc ban đầu trong nghiên cứu quan sát của mình để làm được điều này? Dự kiến: các chỉ dấu mức độ nặng chính. Với nhiễm khuẩn huyết là SOFA, lactate, liều vận mạch, tuổi, bệnh kèm.</a:t>
            </a:r>
          </a:p>
          <a:p>
            <a:r>
              <a:rPr lang="en-US" sz="1400" b="0" dirty="0"/>
              <a:t>Thời gian: 2,5 phút. Kiểm tra số học thành tiếng: 2 + 40 = 42 ca tử vong/100; 8 + 10 = 18/100.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Thêm ba ví dụ về nhiễu do chỉ định để ý tưởng thấm vào người mới học.</a:t>
            </a:r>
          </a:p>
          <a:p>
            <a:r>
              <a:rPr lang="en-US" sz="1400" b="0" dirty="0"/>
              <a:t>Với mỗi thẻ, đọc mối liên quan bề ngoài, rồi hỏi cả lớp yếu tố thứ ba trước khi công bố.</a:t>
            </a:r>
          </a:p>
          <a:p>
            <a:r>
              <a:rPr lang="en-US" sz="1400" b="0" dirty="0"/>
              <a:t>Thẻ 3 cố ý pha trộn: vận mạch có thể gây rối loạn nhịp, VÀ mức độ sốc chi phối cả hai. Mối liên quan thực tế thường là hỗn hợp của tác động thật và yếu tố nhiễu. Vì vậy cần hiệu chỉnh, hoặc ngẫu nhiên hóa, để tách chúng ra.</a:t>
            </a:r>
          </a:p>
          <a:p>
            <a:r>
              <a:rPr lang="en-US" sz="1400" b="0" dirty="0"/>
              <a:t>Quan niệm sai: 'yếu tố nhiễu là bất kỳ khác biệt nào giữa các nhóm'. Nó phải liên quan với phơi nhiễm VÀ gây ra kết cục.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 hai xuất hiện khi ta chia dữ liệu theo tầng, nhưng mang ý nghĩa ngược nhau.</a:t>
            </a:r>
          </a:p>
          <a:p>
            <a:r>
              <a:rPr lang="en-US" sz="1400" b="0" dirty="0"/>
              <a:t>Bên trái, yếu tố nhiễu (ví dụ dịch truyền): các tầng giống NHAU (RR 1,0 và 1,0) nhưng khác kết quả thô (2,33). Yếu tố thứ ba (độ nặng) tạo ra một mối liên quan giả. Cách xử lý: hiệu chỉnh, và báo cáo ước lượng đã hiệu chỉnh.</a:t>
            </a:r>
          </a:p>
          <a:p>
            <a:r>
              <a:rPr lang="en-US" sz="1400" b="0" dirty="0"/>
              <a:t>Bên phải, thay đổi tác động (effect modification), còn gọi là tương tác (interaction) (giả định): chiến lược hạn chế dịch có thể có lợi ở bệnh nhân ARDS (RR 0,60) nhưng không khác biệt khi không có ARDS (RR 1,00). Các tầng khác NHAU. Đây là sinh học thật, không phải sai lệch: báo cáo từng phân nhóm; đừng gộp trung bình.</a:t>
            </a:r>
          </a:p>
          <a:p>
            <a:r>
              <a:rPr lang="en-US" sz="1400" b="0" dirty="0"/>
              <a:t>Quy tắc: các tầng giống nhau nhưng khác kết quả thô = nhiễu. Các tầng khác nhau = thay đổi tác động.</a:t>
            </a:r>
          </a:p>
          <a:p>
            <a:r>
              <a:rPr lang="en-US" sz="1400" b="0" dirty="0"/>
              <a:t>Quan niệm sai: 'mọi khác biệt giữa phân nhóm đều là thật'. Phân nhóm phải được định trước và ít; với nhiều phân nhóm, một số sẽ khác nhau do may rủi. Buổi 6 sẽ xem tương tác trong mô hình.</a:t>
            </a:r>
          </a:p>
          <a:p>
            <a:r>
              <a:rPr lang="en-US" sz="1400" b="0" dirty="0"/>
              <a:t>Hỏi cả lớp: cho một ví dụ lâm sàng mà điều trị tác động khác nhau ở hai nhóm. Dự kiến: tiêu huyết khối theo thời gian từ khởi phát đột quỵ; tác dụng thuốc theo chức năng thận; corticoid theo mức độ nặng COVID-19.</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này là hộp công cụ; ba slide sau minh họa từng công cụ bằng hình.</a:t>
            </a:r>
          </a:p>
          <a:p>
            <a:r>
              <a:rPr lang="en-US" sz="1400" b="0" dirty="0"/>
              <a:t>Giai đoạn thiết kế (phòng ngừa): ngẫu nhiên hóa, che giấu phân bổ, làm mù, giới hạn, ghép cặp. Giai đoạn phân tích (sửa chữa): phân tầng, hiệu chỉnh bằng hồi quy, điểm xu hướng (propensity score).</a:t>
            </a:r>
          </a:p>
          <a:p>
            <a:r>
              <a:rPr lang="en-US" sz="1400" b="0" dirty="0"/>
              <a:t>Ý chính: dòng chữ đỏ in đậm là thông điệp then chốt. Mọi công cụ quan sát chỉ tác động lên những gì đã đo. Ngẫu nhiên hóa là công cụ duy nhất cân bằng cả những gì chưa đo.</a:t>
            </a:r>
          </a:p>
          <a:p>
            <a:r>
              <a:rPr lang="en-US" sz="1400" b="0" dirty="0"/>
              <a:t>Quan niệm sai: 'ghép cặp theo điểm xu hướng tốt như ngẫu nhiên hóa'. Đó là ghép cặp trên các yếu tố đã đo: khéo léo, nhưng vẫn giới hạn ở những yếu tố đó.</a:t>
            </a:r>
          </a:p>
          <a:p>
            <a:r>
              <a:rPr lang="en-US" sz="1400" b="0" dirty="0"/>
              <a:t>Hỏi cả lớp: Hyun đã dùng công cụ nào? Dự kiến: giới hạn (người lớn nhiễm khuẩn huyết, nằm ICU từ 3 ngày) và ghép cặp 1:1 theo điểm xu hướng.</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màu đỏ là bệnh nhân nặng (yếu tố nhiễu đã biết). Ngôi sao vàng là một yếu tố ẩn chưa ai đo: một đặc điểm di truyền, sự suy yếu (frailty), linh cảm của bác sĩ.</a:t>
            </a:r>
          </a:p>
          <a:p>
            <a:r>
              <a:rPr lang="en-US" sz="1400" b="0" dirty="0"/>
              <a:t>Ngẫu nhiên hóa đưa bệnh nhân vào nhóm A hoặc B bằng may rủi, nên trung bình cả hai nhóm có cùng tỷ lệ bệnh nhân nặng VÀ ngôi sao. Ở đây mỗi nhóm có 5 bệnh nhân nặng và 3 ngôi sao.</a:t>
            </a:r>
          </a:p>
          <a:p>
            <a:r>
              <a:rPr lang="en-US" sz="1400" b="0" dirty="0"/>
              <a:t>Ý chính: sự cân bằng là tính trung bình; với thử nghiệm rất nhỏ vẫn có mất cân bằng do may rủi. Boulet thấy creatinine ban đầu cao hơn ở nhóm can thiệp. Với 24 bệnh nhân mỗi nhóm điều này không lạ.</a:t>
            </a:r>
          </a:p>
          <a:p>
            <a:r>
              <a:rPr lang="en-US" sz="1400" b="0" dirty="0"/>
              <a:t>Quan niệm sai: 'ngẫu nhiên nghĩa là hai nhóm giống hệt nhau'. Chúng tương tự nhau tính trung bình; Bảng 1 giúp kiểm tra.</a:t>
            </a:r>
          </a:p>
          <a:p>
            <a:r>
              <a:rPr lang="en-US" sz="1400" b="0" dirty="0"/>
              <a:t>Hỏi cả lớp: vì sao điều này hiệu quả hơn với 500 bệnh nhân so với 50? Dự kiến: với số lượng lớn, mất cân bằng do may rủi được san bằng.</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 giấu phân bổ (allocation concealment) diễn ra TRƯỚC khi phân nhóm: người tuyển bệnh nhân không biết và không đoán được lần phân bổ kế tiếp (máy tính trung tâm, không phải phong bì trên bàn). Nếu không, bác sĩ có thể hướng bệnh nhân nặng tránh khỏi điều trị mới: sai lệch chọn lựa ngay trong thử nghiệm.</a:t>
            </a:r>
          </a:p>
          <a:p>
            <a:r>
              <a:rPr lang="en-US" sz="1400" b="0" dirty="0"/>
              <a:t>Làm mù (blinding) diễn ra SAU: ai biết nhóm? Trong Boulet, bệnh nhân và nhà thống kê được làm mù, bác sĩ và nghiên cứu viên thì không, vì vậy gọi là 'mù đơn'.</a:t>
            </a:r>
          </a:p>
          <a:p>
            <a:r>
              <a:rPr lang="en-US" sz="1400" b="0" dirty="0"/>
              <a:t>Ý chính: trong thử nghiệm về dịch truyền và nhiều thử nghiệm ICU, làm mù bác sĩ thường không thể. Khi đó hãy làm mù người đánh giá kết cục và chọn kết cục khách quan.</a:t>
            </a:r>
          </a:p>
          <a:p>
            <a:r>
              <a:rPr lang="en-US" sz="1400" b="0" dirty="0"/>
              <a:t>Quan niệm sai: 'mù đơn, mù đôi, mù ba' có nghĩa cố định. Không. Bài báo nên nêu chính xác AI được làm mù.</a:t>
            </a:r>
          </a:p>
          <a:p>
            <a:r>
              <a:rPr lang="en-US" sz="1400" b="0" dirty="0"/>
              <a:t>Hỏi cả lớp: có thể che giấu phân bổ khi không thể làm mù không? Dự kiến: có. Che giấu phân bổ luôn làm được và luôn bắt buộc.</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Hyun ghép mỗi bệnh nhân cân bằng dương với một bệnh nhân cân bằng âm có điểm xu hướng tương tự, xây dựng từ các yếu tố đã đo: tuổi, giới, SOFA, sốc nhiễm khuẩn, bệnh kèm, vị trí nhiễm khuẩn, lượng dịch ra và các yếu tố khác. Kết quả là 483, 373 và 392 cặp cho phân tích ngày 1, ngày 2 và ngày 3.</a:t>
            </a:r>
          </a:p>
          <a:p>
            <a:r>
              <a:rPr lang="en-US" sz="1400" b="0" dirty="0"/>
              <a:t>Chính tác giả đã nêu những gì KHÔNG đo: loại dịch và hỗ trợ dinh dưỡng. Nhận định tại giường của bác sĩ về độ nặng của bệnh nhân không bao giờ được ghi nhận đầy đủ. Phần còn lại gọi là nhiễu tồn dư (residual confounding).</a:t>
            </a:r>
          </a:p>
          <a:p>
            <a:r>
              <a:rPr lang="en-US" sz="1400" b="0" dirty="0"/>
              <a:t>Ý chính: đó là lý do một nghiên cứu thuần tập, dù ghép cặp tốt đến đâu, vẫn nói 'có liên quan', và câu hỏi 'hạn chế dịch có cứu sống không?' vẫn cần một RCT lớn.</a:t>
            </a:r>
          </a:p>
          <a:p>
            <a:r>
              <a:rPr lang="en-US" sz="1400" b="0" dirty="0"/>
              <a:t>Quan niệm sai: 'nhóm đã ghép cặp tốt như nhóm ngẫu nhiên'. Hãy xem Bảng 1, rồi hỏi điều gì không có trong Bảng 1.</a:t>
            </a:r>
          </a:p>
          <a:p>
            <a:r>
              <a:rPr lang="en-US" sz="1400" b="0" dirty="0"/>
              <a:t>Hỏi cả lớp: nêu một yếu tố chưa đo có thể khiến bác sĩ truyền nhiều dịch hơn VÀ dự báo tử vong. Dự kiến: ấn tượng lâm sàng về sốc, da nổi vân tím, tim suy, thảo luận về mục tiêu điều trị.</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Giá trị nội tại (internal validity): câu trả lời có đúng với những người trong nghiên cứu không? Đây là điều mà ngẫu nhiên hóa, che giấu phân bổ, làm mù, theo dõi đầy đủ và đo lường tốt bảo vệ.</a:t>
            </a:r>
          </a:p>
          <a:p>
            <a:r>
              <a:rPr lang="en-US" sz="1400" b="0" dirty="0"/>
              <a:t>Giá trị ngoại suy (external validity, khả năng khái quát hóa): câu trả lời có áp dụng cho bệnh nhân CỦA TÔI trong bối cảnh CỦA TÔI không? So sánh quần thể thử nghiệm với quần thể của mình. Boulet đưa vào người lớn 18-85 tuổi không lọc máu hay suy dinh dưỡng nặng, tại 3 ICU của một quốc gia, và chỉ khoảng 4% số bệnh nhân được sàng lọc.</a:t>
            </a:r>
          </a:p>
          <a:p>
            <a:r>
              <a:rPr lang="en-US" sz="1400" b="0" dirty="0"/>
              <a:t>Ý chính: giá trị nội tại đi trước. Một kết quả sai lệch không áp dụng được ở đâu cả. Nhưng một thử nghiệm hoàn toàn đúng trên bệnh nhân được chọn lọc kỹ có thể không giúp được khoa của bạn.</a:t>
            </a:r>
          </a:p>
          <a:p>
            <a:r>
              <a:rPr lang="en-US" sz="1400" b="0" dirty="0"/>
              <a:t>Quan niệm sai: 'RCT áp dụng cho tất cả mọi người'. Nó áp dụng rõ nhất cho những bệnh nhân giống người đã tham gia.</a:t>
            </a:r>
          </a:p>
          <a:p>
            <a:r>
              <a:rPr lang="en-US" sz="1400" b="0" dirty="0"/>
              <a:t>Hỏi cả lớp: nêu một nhóm bệnh nhân ở ICU của mình không thể vào thử nghiệm Boulet. Dự kiến: bệnh nhân trên 85 tuổi, bệnh nhân lọc máu mạn, bệnh nhân vào sau hơn 24 giờ dùng vận mạch.</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Nhân quả ngược (reverse causation): 'kết cục' thực ra gây ra 'phơi nhiễm'.</a:t>
            </a:r>
          </a:p>
          <a:p>
            <a:r>
              <a:rPr lang="en-US" sz="1400" b="0" dirty="0"/>
              <a:t>Ví dụ ICU: ta giả định cân bằng dịch dương gây tổn thương thận và tử vong. Nhưng thận suy tạo ít nước tiểu, và ít dịch ra nghĩa là cân bằng dương hơn. Mũi tên có thể chạy ngược lại. Đó là lý do Hyun ghép cặp theo cả lượng dịch RA lẫn dịch vào.</a:t>
            </a:r>
          </a:p>
          <a:p>
            <a:r>
              <a:rPr lang="en-US" sz="1400" b="0" dirty="0"/>
              <a:t>Ví dụ khác: người mắc bệnh sớm chưa chẩn đoán ngừng vận động (nên ít vận động trông có hại); bệnh nhân đang xấu đi được làm nhiều xét nghiệm và dùng nhiều thuốc hơn.</a:t>
            </a:r>
          </a:p>
          <a:p>
            <a:r>
              <a:rPr lang="en-US" sz="1400" b="0" dirty="0"/>
              <a:t>Cách kiểm tra: bảo đảm phơi nhiễm được đo TRƯỚC khi kết cục bắt đầu, dùng độ trễ thời gian, ưu tiên thiết kế thuần tập hoặc thử nghiệm hơn cắt ngang.</a:t>
            </a:r>
          </a:p>
          <a:p>
            <a:r>
              <a:rPr lang="en-US" sz="1400" b="0" dirty="0"/>
              <a:t>Quan niệm sai: 'nhân quả ngược chỉ quan trọng trong nghiên cứu cắt ngang'. Nó có thể ảnh hưởng cả thuần tập khi phơi nhiễm được đo lúc kết cục đang hình thành.</a:t>
            </a:r>
          </a:p>
          <a:p>
            <a:r>
              <a:rPr lang="en-US" sz="1400" b="0" dirty="0"/>
              <a:t>Hỏi cả lớp: bệnh nhân mê sảng dùng nhiều thuốc chống loạn thần hơn. Mũi tên có thể chạy chiều nào? Dự kiến: cả hai. Thuốc có thể gây hại, nhưng mê sảng chính là lý do kê đơn.</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Năm 1965, Austin Bradford Hill nêu chín quan điểm để đánh giá một mối liên quan có khả năng là nhân quả không. Chúng không phải bảng kiểm để cho điểm; chúng là manh mối.</a:t>
            </a:r>
          </a:p>
          <a:p>
            <a:r>
              <a:rPr lang="en-US" sz="1400" b="0" dirty="0"/>
              <a:t>Độ mạnh (RR lớn khó giải thích bằng nhiễu), tính nhất quán (lặp lại ở nghiên cứu và bối cảnh khác), tính đặc hiệu (yếu nhất), trình tự thời gian (nguyên nhân phải có trước, và đây là điều duy nhất bắt buộc), liều-đáp ứng (phơi nhiễm nhiều hơn, tác động lớn hơn), tính hợp lý (có cơ chế), tính mạch lạc (phù hợp với điều đã biết), thực nghiệm (loại bỏ phơi nhiễm làm giảm kết cục, và RCT là dạng mạnh nhất), tương tự.</a:t>
            </a:r>
          </a:p>
          <a:p>
            <a:r>
              <a:rPr lang="en-US" sz="1400" b="0" dirty="0"/>
              <a:t>Áp dụng cho Hyun: độ mạnh vừa (HR khoảng 1,6-2,1); nhất quán với các thuần tập khác; trình tự thời gian: cân bằng dịch đo trước tử vong, nhưng có thể có nhân quả ngược; chưa cho thấy liều-đáp ứng; thực nghiệm: các thử nghiệm như Boulet chưa cho thấy tác động lên tử vong. Kết luận: có thể, chưa được chứng minh.</a:t>
            </a:r>
          </a:p>
          <a:p>
            <a:r>
              <a:rPr lang="en-US" sz="1400" b="0" dirty="0"/>
              <a:t>Quan niệm sai: 'đạt phần lớn tiêu chí là chứng minh được nhân quả'. Chúng làm tăng hoặc giảm sự tin cậy; không bao giờ chứng minh.</a:t>
            </a:r>
          </a:p>
          <a:p>
            <a:r>
              <a:rPr lang="en-US" sz="1400" b="0" dirty="0"/>
              <a:t>Hỏi cả lớp: tiêu chí nào RCT cung cấp mà không thuần tập nào có? Dự kiến: thực nghiệm.</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từng tình huống; cả lớp trả lời bằng giơ tay hoặc nói to. Mỗi lần hỏi thêm một cách khắc phục.</a:t>
            </a:r>
          </a:p>
          <a:p>
            <a:r>
              <a:rPr lang="en-US" sz="1400" b="0" dirty="0"/>
              <a:t>Đáp án. 1: sai lệch nhớ lại. Khắc phục: ghi nhận phơi nhiễm trước khi biết kết cục (hồ sơ kê đơn), hỏi ca bệnh và ca chứng theo cùng một cách có cấu trúc. 2: sai lệch người quan sát. Khắc phục: người đánh giá được làm mù, tiêu chuẩn ra viện khách quan. 3: sai lệch chọn lựa (và mất theo dõi). Khắc phục: liên hệ mọi người sống sót, báo cáo người không trả lời. 4: nhiễu do chỉ định. Khắc phục: phân nhóm ngẫu nhiên, hoặc đo lactate và các chỉ dấu độ nặng khác rồi hiệu chỉnh/ghép cặp.</a:t>
            </a:r>
          </a:p>
          <a:p>
            <a:r>
              <a:rPr lang="en-US" sz="1400" b="0" dirty="0"/>
              <a:t>Tài liệu phát tay (Phần A) có bốn tình huống này kèm chỗ để viết; dùng nếu lớp im lặng.</a:t>
            </a:r>
          </a:p>
          <a:p>
            <a:r>
              <a:rPr lang="en-US" sz="1400" b="0" dirty="0"/>
              <a:t>Thời gian: 4 phút. Đi nhanh: đây là kiểm tra, không phải bài giảng.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4.2 (30 phút: khoảng 20 phút hình ảnh và 3 phút kiểm tra, rồi 8 phút trình diễn trực tiếp; phần tính toán ở sau giải lao).</a:t>
            </a:r>
          </a:p>
          <a:p>
            <a:r>
              <a:rPr lang="en-US" sz="1400" b="0" dirty="0"/>
              <a:t>Trấn an cả lớp: phép tính duy nhất hôm nay là phép chia với bảng 2x2, và bảng tính sẽ kiểm tra mọi đáp án.</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Nước chảy vào từ vòi = ca mới = tỷ lệ mới mắc (incidence). Nước trong bồn lúc này = ca hiện có = tỷ lệ hiện mắc (prevalence). Nước thoát qua lỗ xả = bệnh nhân khỏi bệnh hoặc tử vong.</a:t>
            </a:r>
          </a:p>
          <a:p>
            <a:r>
              <a:rPr lang="en-US" sz="1400" b="0" dirty="0"/>
              <a:t>Ví dụ bên phải: 20 trong 200 bệnh nhân của khoa có loét tì đè hôm nay, hiện mắc 10%. Trong 180 người chưa bị, 9 người bị loét mới trong tuần tới, mới mắc 5%/tuần. Lưu ý mẫu số của tỷ lệ mới mắc: chỉ những người CÓ NGUY CƠ (chưa mắc lúc bắt đầu).</a:t>
            </a:r>
          </a:p>
          <a:p>
            <a:r>
              <a:rPr lang="en-US" sz="1400" b="0" dirty="0"/>
              <a:t>Ý chính: bệnh kéo dài có thể có hiện mắc cao dù mới mắc thấp (đái tháo đường); bệnh ngắn có thể có mới mắc cao nhưng hiện mắc thấp (cảm lạnh, các đợt mê sảng ngắn).</a:t>
            </a:r>
          </a:p>
          <a:p>
            <a:r>
              <a:rPr lang="en-US" sz="1400" b="0" dirty="0"/>
              <a:t>Quan niệm sai: dùng lẫn lộn hiện mắc và mới mắc. Tỷ lệ mới mắc luôn gắn với một khoảng thời gian.</a:t>
            </a:r>
          </a:p>
          <a:p>
            <a:r>
              <a:rPr lang="en-US" sz="1400" b="0" dirty="0"/>
              <a:t>Hỏi cả lớp: nếu ta giữ bệnh nhân mắc một bệnh mạn tính sống lâu hơn nhưng không phòng bệnh tốt hơn, tỷ lệ hiện mắc thay đổi thế nào? Dự kiến: tăng, vì lỗ xả chảy chậm lại.</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Một thử nghiệm giả định, lớn hơn, cho câu hỏi xuyên suốt, không phải số liệu của Boulet. 100 bệnh nhân mỗi nhóm. Hạn chế dịch: 20 tử vong đến ngày 28. Thường quy: 30 tử vong.</a:t>
            </a:r>
          </a:p>
          <a:p>
            <a:r>
              <a:rPr lang="en-US" sz="1400" b="0" dirty="0"/>
              <a:t>Nguy cơ (risk) là số đo đơn giản nhất: 20/100 = 20% và 30/100 = 30%. Hình như thế này (biểu đồ biểu tượng) cũng là cách tốt nhất để giải thích nguy cơ cho bệnh nhân và gia đình.</a:t>
            </a:r>
          </a:p>
          <a:p>
            <a:r>
              <a:rPr lang="en-US" sz="1400" b="0" dirty="0"/>
              <a:t>Ý chính: luôn hỏi 'trên tổng số bao nhiêu?' Một tiêu đề '10 ca tử vong nhiều hơn' vô nghĩa nếu không có mẫu số.</a:t>
            </a:r>
          </a:p>
          <a:p>
            <a:r>
              <a:rPr lang="en-US" sz="1400" b="0" dirty="0"/>
              <a:t>Quan niệm sai: nguy cơ và odds. Nguy cơ tính trên mọi người trong nhóm (20 trên 100). Odds so sánh người có kết cục với người không có (20 so với 80). Ta sẽ cần cả hai ngay sau đây.</a:t>
            </a:r>
          </a:p>
          <a:p>
            <a:r>
              <a:rPr lang="en-US" sz="1400" b="0" dirty="0"/>
              <a:t>Hỏi cả lớp: odds tử vong ở nhóm hạn chế dịch là bao nhiêu? Dự kiến: 20 so với 80, tức 0,25.</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Yêu cầu một cách trình bày và giữ mãi: phơi nhiễm (hoặc điều trị) ở hàng, nhóm phơi nhiễm ở trên; kết cục ở cột, 'có kết cục' ở bên trái. Khi đó a, b, c, d luôn mang cùng ý nghĩa.</a:t>
            </a:r>
          </a:p>
          <a:p>
            <a:r>
              <a:rPr lang="en-US" sz="1400" b="0" dirty="0"/>
              <a:t>Ví dụ: a = 20, b = 80, c = 30, d = 70. Tổng hàng 100 và 100.</a:t>
            </a:r>
          </a:p>
          <a:p>
            <a:r>
              <a:rPr lang="en-US" sz="1400" b="0" dirty="0"/>
              <a:t>Ý chính: gần như mọi số đo mối liên quan cho kết cục có/không đều đến từ bốn con số này. Bảng tính trong phần trình diễn dùng đúng cách trình bày này.</a:t>
            </a:r>
          </a:p>
          <a:p>
            <a:r>
              <a:rPr lang="en-US" sz="1400" b="0" dirty="0"/>
              <a:t>Quan niệm sai: đảo hàng và cột. Nhiều lỗi trong bài làm của học viên đến từ bảng vẽ ngược. Kiểm tra cách trình bày trước khi tính.</a:t>
            </a:r>
          </a:p>
          <a:p>
            <a:r>
              <a:rPr lang="en-US" sz="1400" b="0" dirty="0"/>
              <a:t>Hỏi cả lớp: trong bảng tử vong ngày 28 của Boulet, a, b, c và d là bao nhiêu? Dự kiến: a = 6, b = 18, c = 6, d = 18 (mỗi nhóm 6/24 tử vong).</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từng thẻ, luôn quay về bảng 2x2.</a:t>
            </a:r>
          </a:p>
          <a:p>
            <a:r>
              <a:rPr lang="en-US" sz="1400" b="0" dirty="0"/>
              <a:t>RR = 0,20 / 0,30 = 0,67: nguy cơ tử vong thấp hơn một phần ba khi hạn chế dịch. RR = 1 là không khác biệt; dưới 1 là bảo vệ; trên 1 là có hại.</a:t>
            </a:r>
          </a:p>
          <a:p>
            <a:r>
              <a:rPr lang="en-US" sz="1400" b="0" dirty="0"/>
              <a:t>RD = 0,20 - 0,30 = -0,10: ít hơn 10 ca tử vong trên 100 bệnh nhân được điều trị. Còn gọi là giảm nguy cơ tuyệt đối (ARR = 10%).</a:t>
            </a:r>
          </a:p>
          <a:p>
            <a:r>
              <a:rPr lang="en-US" sz="1400" b="0" dirty="0"/>
              <a:t>NNT (số người cần điều trị) = 1 / 0,10 = 10: điều trị 10 bệnh nhân để ngăn một ca tử vong. Nếu phơi nhiễm có hại, phép tính tương tự cho số người cần để gây hại (NNH).</a:t>
            </a:r>
          </a:p>
          <a:p>
            <a:r>
              <a:rPr lang="en-US" sz="1400" b="0" dirty="0"/>
              <a:t>OR = (20 x 70) / (80 x 30) = 1400 / 2400 = 0,58. Xa 1 hơn RR. Các slide sau giải thích vì sao.</a:t>
            </a:r>
          </a:p>
          <a:p>
            <a:r>
              <a:rPr lang="en-US" sz="1400" b="0" dirty="0"/>
              <a:t>Quan niệm sai: tác động tương đối nghe lớn hơn. 'Thấp hơn một phần ba' và 'ít hơn 10 ca/100' là cùng một kết quả; bệnh nhân và nhà quản lý cần con số tuyệt đối.</a:t>
            </a:r>
          </a:p>
          <a:p>
            <a:r>
              <a:rPr lang="en-US" sz="1400" b="0" dirty="0"/>
              <a:t>Hỏi cả lớp: nếu nguy cơ nền là 3% thay vì 30%, với cùng RR 0,67, NNT là bao nhiêu? Dự kiến: nguy cơ 2% so với 3%, hiệu số 1%, NNT = 100.</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Thu nhỏ 100 bệnh nhân xuống 10. Với chăm sóc thường quy 3/10 tử vong. Với chiến lược hạn chế dịch 2/10 tử vong. Người màu xanh lá là bệnh nhân, tính trung bình, đã tránh được tử vong nhờ điều trị. Vậy ta điều trị 10 bệnh nhân để một người có lợi: NNT = 10.</a:t>
            </a:r>
          </a:p>
          <a:p>
            <a:r>
              <a:rPr lang="en-US" sz="1400" b="0" dirty="0"/>
              <a:t>Ý chính: 9 người còn lại hoặc đằng nào cũng sống, hoặc đằng nào cũng tử vong. Họ chịu gánh nặng điều trị mà không được lợi. Vì vậy NNT là công cụ trao đổi hữu ích với bệnh nhân, nhà quản lý và khoa dược.</a:t>
            </a:r>
          </a:p>
          <a:p>
            <a:r>
              <a:rPr lang="en-US" sz="1400" b="0" dirty="0"/>
              <a:t>Quan niệm sai: 'NNT bằng 10 nghĩa là 1/10 bệnh nhân đáp ứng'. Đó là trung bình của cả nhóm, không phải dự đoán cho một bệnh nhân.</a:t>
            </a:r>
          </a:p>
          <a:p>
            <a:r>
              <a:rPr lang="en-US" sz="1400" b="0" dirty="0"/>
              <a:t>Hỏi cả lớp: NNT 5 hay NNT 50 tốt hơn? Dự kiến: 5. Cần điều trị ít người hơn để một người có lợi (nhưng luôn cân nhắc với tác hại và chi phí).</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Ở đây phơi nhiễm thực sự làm nguy cơ tăng gấp đôi (RR = 2, đường xanh). Đường đỏ là OR với cùng dữ liệu khi kết cục ngày càng phổ biến.</a:t>
            </a:r>
          </a:p>
          <a:p>
            <a:r>
              <a:rPr lang="en-US" sz="1400" b="0" dirty="0"/>
              <a:t>Khi kết cục hiếm (bên trái, vùng tô), OR khoảng 2,1, gần như bằng RR. Ở nguy cơ nền 20%, OR = 2,7. Ở 40%, OR = 6. OR luôn nằm xa 1 hơn RR.</a:t>
            </a:r>
          </a:p>
          <a:p>
            <a:r>
              <a:rPr lang="en-US" sz="1400" b="0" dirty="0"/>
              <a:t>Ý chính: nghiên cứu bệnh-chứng và hồi quy logistic cho ra OR. Khi bài báo báo cáo OR cho kết cục phổ biến, như tử vong ICU 20-40%, đừng đọc thành 'nguy cơ gấp X lần'.</a:t>
            </a:r>
          </a:p>
          <a:p>
            <a:r>
              <a:rPr lang="en-US" sz="1400" b="0" dirty="0"/>
              <a:t>Quan niệm sai: 'OR bằng 2 nghĩa là nguy cơ gấp đôi'. Chỉ đúng với kết cục hiếm.</a:t>
            </a:r>
          </a:p>
          <a:p>
            <a:r>
              <a:rPr lang="en-US" sz="1400" b="0" dirty="0"/>
              <a:t>Hỏi cả lớp: trong ví dụ của ta (tử vong 20% và 30%), OR là 0,58 còn RR là 0,67. Vì sao khác nhau? Dự kiến: tử vong phổ biến trong quần thể này, nên OR phóng đại tác động.</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1,5 phút tự làm, rồi công bố. Vẽ bảng 2x2 lên bảng khi mọi người làm.</a:t>
            </a:r>
          </a:p>
          <a:p>
            <a:r>
              <a:rPr lang="en-US" sz="1400" b="0" dirty="0"/>
              <a:t>Đáp án. Nguy cơ: 20/200 = 10% và 30/200 = 15%. RR = 0,10 / 0,15 = 0,67. RD = 10% - 15% = -5 điểm phần trăm. NNT = 1 / 0,05 = 20. Câu thêm OR = (20 x 170) / (180 x 30) = 3400 / 5400 = 0,63.</a:t>
            </a:r>
          </a:p>
          <a:p>
            <a:r>
              <a:rPr lang="en-US" sz="1400" b="0" dirty="0"/>
              <a:t>Ý chính: cùng RR (0,67) như ví dụ mẫu, nhưng nguy cơ nền thấp hơn (15% thay vì 30%), nên NNT tăng gấp đôi từ 10 lên 20.</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Kịch bản: Course/Demos/s4_demo.md. Tệp: Course/Resources/tools/2x2_calculator.xlsx (đã điền sẵn ví dụ).</a:t>
            </a:r>
          </a:p>
          <a:p>
            <a:r>
              <a:rPr lang="en-US" sz="1400" b="0" dirty="0"/>
              <a:t>Ý chính: bảng tính lo phần số học; con người lo phần diễn giải. Đọc to các ô diễn giải bằng lời.</a:t>
            </a:r>
          </a:p>
          <a:p>
            <a:r>
              <a:rPr lang="en-US" sz="1400" b="0" dirty="0"/>
              <a:t>Khoảnh khắc then chốt: đổi a thành 2 và c thành 3 (b = 98, d = 97). RR vẫn 0,67 nhưng OR giờ là 0,66, gần như bằng nhau. NNT nhảy lên 100. Cùng tác động tương đối, tác động tuyệt đối rất khác.</a:t>
            </a:r>
          </a:p>
          <a:p>
            <a:r>
              <a:rPr lang="en-US" sz="1400" b="0" dirty="0"/>
              <a:t>Phương án dự phòng nếu máy tính hỏng: vẽ bảng 2x2 lên bảng và cùng cả lớp tính RR và NNT bằng tay. Các con số được chọn để dễ tính.</a:t>
            </a:r>
          </a:p>
          <a:p>
            <a:r>
              <a:rPr lang="en-US" sz="1400" b="0" dirty="0"/>
              <a:t>Quan niệm sai cần nêu: công cụ vẫn tính ra 'nguy cơ' cho dữ liệu bệnh-chứng. Ở đó nó vô nghĩa: chỉ OR là hợp lệ.</a:t>
            </a:r>
          </a:p>
          <a:p>
            <a:r>
              <a:rPr lang="en-US" sz="1400" b="0" dirty="0"/>
              <a:t>Thời gian: 8 phút. Trang Diagnostic được trình chiếu nhanh ở phần 4.3. Sau đó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15 phút. Chiếu đồng hồ đếm ngược trên màn hình.</a:t>
            </a:r>
          </a:p>
          <a:p>
            <a:r>
              <a:rPr lang="en-US" sz="1400" b="0" dirty="0"/>
              <a:t>Trong giờ giải lao, đi qua các nhóm và kiểm tra mỗi nhóm có Phần 2a từ thứ Bảy tuần trước. Họ sẽ cần nó khi xây dựng đề cương.</a:t>
            </a:r>
          </a:p>
          <a:p>
            <a:r>
              <a:rPr lang="en-US" sz="1400" b="0" dirty="0"/>
              <a:t>Bắt đầu lại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1 (thử nghiệm đệm giảm áp mới): 10/200 so với 20/200 ca loét tì đè. Nguy cơ 5% và 10%; RR = 0,50; RD = -5 điểm phần trăm; NNT = 20; OR = (10 x 180) / (190 x 20) = 0,47 (gần RR vì kết cục không phổ biến).</a:t>
            </a:r>
          </a:p>
          <a:p>
            <a:r>
              <a:rPr lang="en-US" sz="1400" b="0" dirty="0"/>
              <a:t>Bài 2 (bệnh-chứng, nhiễm Candida máu ở ICU và nuôi ăn tĩnh mạch): nhóm bệnh 24 có phơi nhiễm / 16 không; nhóm chứng 16 có / 64 không. OR = (24 x 64) / (16 x 16) = 6,0. Không tính được RR vì nhà nghiên cứu tự chọn số ca bệnh và ca chứng.</a:t>
            </a:r>
          </a:p>
          <a:p>
            <a:r>
              <a:rPr lang="en-US" sz="1400" b="0" dirty="0"/>
              <a:t>Đi vòng quanh lớp và kiểm tra bảng được vẽ đúng chiều. Phần lớn lỗi là do cách trình bày, không phải số học.</a:t>
            </a:r>
          </a:p>
          <a:p>
            <a:r>
              <a:rPr lang="en-US" sz="1400" b="0" dirty="0"/>
              <a:t>Thời gian: 12 phút làm bài (đối chiếu với người bên cạnh sau mỗi bài), 8 phút công bố và thảo luận đáp án với công cụ tính. Đáp án đầy đủ ở Solutions/s4_solutions.md.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4.3 (30 phút, gồm 6 phút làm theo cặp).</a:t>
            </a:r>
          </a:p>
          <a:p>
            <a:r>
              <a:rPr lang="en-US" sz="1400" b="0" dirty="0"/>
              <a:t>Ba khối: độ chính xác chẩn đoán (độ nhạy, độ đặc hiệu, giá trị tiên đoán, đường cong ROC), tổng quan hệ thống và phân tích gộp (sơ đồ PRISMA, biểu đồ rừng, tính không đồng nhất), và công cụ đánh giá nguy cơ sai lệch (công cụ nào cho thiết kế nào).</a:t>
            </a:r>
          </a:p>
          <a:p>
            <a:r>
              <a:rPr lang="en-US" sz="1400" b="0" dirty="0"/>
              <a:t>Ý chính: mọi thứ ở đây là để đánh giá bằng chứng, những kỹ năng học viên sẽ dùng ở Buổi 8 trong phần 'Làm người phản biện'.</a:t>
            </a:r>
          </a:p>
          <a:p>
            <a:r>
              <a:rPr lang="en-US" sz="1400" b="0" dirty="0"/>
              <a:t>Thời gian: 30 giây. Giữ nhịp nhanh: khoảng 1,5-2 phút mỗi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Quay lại bảng 2x2, lần này cho một xét nghiệm. 100 bệnh nhân, 20 người thực sự có bệnh.</a:t>
            </a:r>
          </a:p>
          <a:p>
            <a:r>
              <a:rPr lang="en-US" sz="1400" b="0" dirty="0"/>
              <a:t>Độ nhạy (sensitivity): trong 20 người CÓ bệnh, xét nghiệm phát hiện 18 = 90%. Xét nghiệm có độ nhạy cao hiếm khi bỏ sót bệnh, nên kết quả ÂM TÍNH giúp loại trừ bệnh.</a:t>
            </a:r>
          </a:p>
          <a:p>
            <a:r>
              <a:rPr lang="en-US" sz="1400" b="0" dirty="0"/>
              <a:t>Độ đặc hiệu (specificity): trong 80 người KHÔNG có bệnh, 64 người xét nghiệm âm tính = 80%. Xét nghiệm có độ đặc hiệu cao hiếm khi báo động nhầm, nên kết quả DƯƠNG TÍNH giúp khẳng định bệnh.</a:t>
            </a:r>
          </a:p>
          <a:p>
            <a:r>
              <a:rPr lang="en-US" sz="1400" b="0" dirty="0"/>
              <a:t>Xem trước slide sau: trong 34 xét nghiệm dương tính, chỉ 18 người thực sự có bệnh, giá trị tiên đoán dương (PPV) 53%. PPV phụ thuộc vào mức độ phổ biến của bệnh.</a:t>
            </a:r>
          </a:p>
          <a:p>
            <a:r>
              <a:rPr lang="en-US" sz="1400" b="0" dirty="0"/>
              <a:t>Quan niệm sai: 'xét nghiệm có độ nhạy 90% nghĩa là người dương tính có 90% khả năng mắc bệnh'. Không. Đó là PPV, ở đây chỉ 53%.</a:t>
            </a:r>
          </a:p>
          <a:p>
            <a:r>
              <a:rPr lang="en-US" sz="1400" b="0" dirty="0"/>
              <a:t>Hỏi cả lớp: với xét nghiệm sàng lọc mà ta không muốn bỏ sót nhiễm khuẩn huyết, ưu tiên độ nhạy hay độ đặc hiệu? Dự kiến: độ nhạy.</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Cùng một xét nghiệm (độ nhạy 90%, độ đặc hiệu 80%) dùng cho 500 người ở hai bối cảnh.</a:t>
            </a:r>
          </a:p>
          <a:p>
            <a:r>
              <a:rPr lang="en-US" sz="1400" b="0" dirty="0"/>
              <a:t>ICU, nơi 20% mắc bệnh: 90 dương thật, 80 dương giả, nên kết quả dương tính đúng 90 / 170 = 53% số lần.</a:t>
            </a:r>
          </a:p>
          <a:p>
            <a:r>
              <a:rPr lang="en-US" sz="1400" b="0" dirty="0"/>
              <a:t>Sàng lọc, nơi 2% mắc bệnh: 9 dương thật nhưng 98 dương giả: PPV 9 / 107 = 8%. Hơn 9/10 kết quả dương là báo động nhầm. Trong khi đó NPV tăng lên 99,7%.</a:t>
            </a:r>
          </a:p>
          <a:p>
            <a:r>
              <a:rPr lang="en-US" sz="1400" b="0" dirty="0"/>
              <a:t>Ý chính: độ nhạy và độ đặc hiệu thuộc về xét nghiệm; PPV và NPV thuộc về xét nghiệm TRONG MỘT QUẦN THỂ. Đừng bao giờ mượn PPV từ một nghiên cứu ở bối cảnh khác.</a:t>
            </a:r>
          </a:p>
          <a:p>
            <a:r>
              <a:rPr lang="en-US" sz="1400" b="0" dirty="0"/>
              <a:t>Quan niệm sai: 'xét nghiệm tốt thì tốt ở mọi nơi'. Sàng lọc quần thể khỏe mạnh bằng xét nghiệm có độ đặc hiệu vừa phải tạo ra nhiều dương giả và nhiều thăm dò không cần thiết.</a:t>
            </a:r>
          </a:p>
          <a:p>
            <a:r>
              <a:rPr lang="en-US" sz="1400" b="0" dirty="0"/>
              <a:t>Hỏi cả lớp: vì sao chương trình sàng lọc dùng thêm một xét nghiệm thứ hai đặc hiệu hơn trước khi can thiệp? Dự kiến: để loại bỏ dương giả do tỷ lệ hiện mắc thấp.</a:t>
            </a:r>
          </a:p>
          <a:p>
            <a:r>
              <a:rPr lang="en-US" sz="1400" b="0" dirty="0"/>
              <a:t>Tùy chọn (1 phút): mở ô 'PPV ở tỷ lệ hiện mắc khác' trên trang Diagnostic của công cụ tính 2x2, rồi nhập 2% và 20%.</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Nhiều xét nghiệm cho ra một con số (lactate, procalcitonin, một thang điểm nguy cơ). Mỗi ngưỡng cắt cho một cặp độ nhạy và độ đặc hiệu. Đường cong ROC vẽ tất cả: độ nhạy theo trục đứng, tỷ lệ dương giả (1 - độ đặc hiệu) theo trục ngang.</a:t>
            </a:r>
          </a:p>
          <a:p>
            <a:r>
              <a:rPr lang="en-US" sz="1400" b="0" dirty="0"/>
              <a:t>Ngưỡng thấp phát hiện gần như mọi ca nhưng gây nhiều báo động nhầm (góc trên phải). Ngưỡng cao ít báo động nhầm nhưng bỏ sót ca bệnh (góc dưới trái). Ngưỡng tốt nhất tùy vào cái giá của việc bỏ sót so với báo động nhầm.</a:t>
            </a:r>
          </a:p>
          <a:p>
            <a:r>
              <a:rPr lang="en-US" sz="1400" b="0" dirty="0"/>
              <a:t>Diện tích dưới đường cong (AUC, còn gọi là chỉ số c) tóm tắt khả năng phân biệt: 0,5 = tung đồng xu (đường nét đứt), 1,0 = hoàn hảo. Xét nghiệm mô phỏng này có AUC 0,80.</a:t>
            </a:r>
          </a:p>
          <a:p>
            <a:r>
              <a:rPr lang="en-US" sz="1400" b="0" dirty="0"/>
              <a:t>Quan niệm sai: 'AUC cho biết nên dùng ngưỡng nào'. Không; nó mô tả toàn bộ đường cong. AUC sẽ xuất hiện lại ở Buổi 6 với mô hình dự báo.</a:t>
            </a:r>
          </a:p>
          <a:p>
            <a:r>
              <a:rPr lang="en-US" sz="1400" b="0" dirty="0"/>
              <a:t>Hỏi cả lớp: để loại trừ nhiễm khuẩn huyết ở phân loại cấp cứu, chọn ngưỡng thấp hay cao? Dự kiến: thấp, để có độ nhạy cao, chấp nhận nhiều báo động nhầm hơn.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Số liệu minh họa. Mọi tổng quan hệ thống nên có sơ đồ này (PRISMA 2020).</a:t>
            </a:r>
          </a:p>
          <a:p>
            <a:r>
              <a:rPr lang="en-US" sz="1400" b="0" dirty="0"/>
              <a:t>Nhận diện: 1.240 bản ghi từ cơ sở dữ liệu cộng 60 từ sổ đăng ký thử nghiệm = 1.300; loại 300 bản trùng.</a:t>
            </a:r>
          </a:p>
          <a:p>
            <a:r>
              <a:rPr lang="en-US" sz="1400" b="0" dirty="0"/>
              <a:t>Sàng lọc: 1.000 tiêu đề và tóm tắt được sàng lọc, loại 920; đọc 80 toàn văn, loại 71 có lý do (38 không phải RCT, 21 sai đối tượng, 12 không có dữ liệu tử vong, cộng lại đúng 71).</a:t>
            </a:r>
          </a:p>
          <a:p>
            <a:r>
              <a:rPr lang="en-US" sz="1400" b="0" dirty="0"/>
              <a:t>Đưa vào: 9 nghiên cứu, cả 9 vào phân tích gộp.</a:t>
            </a:r>
          </a:p>
          <a:p>
            <a:r>
              <a:rPr lang="en-US" sz="1400" b="0" dirty="0"/>
              <a:t>Ý chính: hai người sàng lọc độc lập, và đề cương được đăng ký trước (PROSPERO). Sơ đồ giúp người đọc đánh giá liệu có nghiên cứu liên quan bị bỏ sót không.</a:t>
            </a:r>
          </a:p>
          <a:p>
            <a:r>
              <a:rPr lang="en-US" sz="1400" b="0" dirty="0"/>
              <a:t>Quan niệm sai: 'càng nhiều nghiên cứu được đưa vào thì tổng quan càng tốt'. Tiêu chuẩn chọn chặt chẽ, rõ ràng quan trọng hơn số lượng.</a:t>
            </a:r>
          </a:p>
          <a:p>
            <a:r>
              <a:rPr lang="en-US" sz="1400" b="0" dirty="0"/>
              <a:t>Hỏi cả lớp: vì sao tìm trong sổ đăng ký thử nghiệm chứ không chỉ PubMed? Dự kiến: để tìm thử nghiệm chưa công bố hoặc kết quả âm tính, do sai lệch công bố (tài liệu xám ở Buổi 2).</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thử nghiệm giả định, gộp theo mô hình tác động cố định (nghịch đảo phương sai). Đọc trong bốn bước. (1) Tìm đường dọc không tác động: RR = 1. Bên trái có lợi cho hạn chế dịch; bên phải có lợi cho thường quy. (2) Mỗi ô vuông là RR của một nghiên cứu; kích thước thể hiện trọng số (TN 4 lớn nhất, 38%). (3) Mỗi đường ngang là KTC 95% của nghiên cứu đó. Nếu cắt 1, riêng nghiên cứu đó chưa kết luận được. Ở đây mọi thử nghiệm đều cắt 1. (4) Hình thoi là ước lượng gộp: RR 0,79 (KTC 95% 0,64-0,98). Độ rộng là KTC; nó không cắt 1.</a:t>
            </a:r>
          </a:p>
          <a:p>
            <a:r>
              <a:rPr lang="en-US" sz="1400" b="0" dirty="0"/>
              <a:t>Ý chính: gộp nhiều thử nghiệm chưa kết luận có thể cho câu trả lời chính xác. Đó là thế mạnh của phân tích gộp. Bằng lời: nguy cơ tử vong tương đối thấp hơn khoảng 21%, dù giới hạn trên (0,98) gần mức không tác động.</a:t>
            </a:r>
          </a:p>
          <a:p>
            <a:r>
              <a:rPr lang="en-US" sz="1400" b="0" dirty="0"/>
              <a:t>Quan niệm sai: 'thử nghiệm có KTC cắt 1 cho thấy không có tác động'. Nó cho thấy sự không chắc chắn, không phải sự vắng mặt của tác động.</a:t>
            </a:r>
          </a:p>
          <a:p>
            <a:r>
              <a:rPr lang="en-US" sz="1400" b="0" dirty="0"/>
              <a:t>Hỏi cả lớp: thử nghiệm nào đóng góp nhiều nhất, vì sao? Dự kiến: TN 4, lớn nhất, nhiều biến cố nhất, nên KTC hẹp nhất.</a:t>
            </a:r>
          </a:p>
          <a:p>
            <a:r>
              <a:rPr lang="en-US" sz="1400" b="0" dirty="0"/>
              <a:t>Thời gian: 3,5 phút. Tài liệu phát tay dùng biểu đồ này cho bài làm theo cặp.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Trái: sáu thử nghiệm ở slide trước cùng một hướng; KTC chồng lên nhau; I bình phương (I²) = 0%. Gộp là hợp lý.</a:t>
            </a:r>
          </a:p>
          <a:p>
            <a:r>
              <a:rPr lang="en-US" sz="1400" b="0" dirty="0"/>
              <a:t>Phải: sáu thử nghiệm giả định khác bất đồng. Một số rõ ràng có lợi cho hạn chế dịch, số khác theo hướng ngược lại. I² = 80%: khoảng 80% biến thiên giữa các nghiên cứu phản ánh khác biệt thật chứ không phải may rủi. Hình thoi theo mô hình tác động ngẫu nhiên rộng và cắt 1 (RR 0,74, KTC 95% 0,47-1,15).</a:t>
            </a:r>
          </a:p>
          <a:p>
            <a:r>
              <a:rPr lang="en-US" sz="1400" b="0" dirty="0"/>
              <a:t>Hướng dẫn gần đúng (Cochrane): I² khoảng 0-40% có thể không quan trọng, 30-60% trung bình, 50-90% đáng kể, 75-100% rất lớn. Các khoảng chồng nhau có chủ ý: hãy đánh giá cùng biểu đồ.</a:t>
            </a:r>
          </a:p>
          <a:p>
            <a:r>
              <a:rPr lang="en-US" sz="1400" b="0" dirty="0"/>
              <a:t>Ý chính: khi không đồng nhất cao, câu hỏi hữu ích nhất là VÌ SAO: khác bệnh nhân, liều, thời điểm, định nghĩa kết cục hay nguy cơ sai lệch? Một con số gộp duy nhất có thể che giấu điều đó.</a:t>
            </a:r>
          </a:p>
          <a:p>
            <a:r>
              <a:rPr lang="en-US" sz="1400" b="0" dirty="0"/>
              <a:t>Quan niệm sai: 'mô hình tác động ngẫu nhiên sửa được tính không đồng nhất'. Nó chỉ làm KTC rộng hơn; không giải thích gì.</a:t>
            </a:r>
          </a:p>
          <a:p>
            <a:r>
              <a:rPr lang="en-US" sz="1400" b="0" dirty="0"/>
              <a:t>Hỏi cả lớp: nêu một lý do các thử nghiệm hạn chế dịch có thể bất đồng. Dự kiến: quần thể khác nhau (nhiễm khuẩn huyết hay phẫu thuật), quy trình hạn chế khác nhau, thời điểm khác nhau.</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Công cụ đánh giá nguy cơ sai lệch là cách có cấu trúc để hỏi 'thiết kế hay cách thực hiện có thể làm méo kết quả này không?'. Mỗi thiết kế có công cụ riêng.</a:t>
            </a:r>
          </a:p>
          <a:p>
            <a:r>
              <a:rPr lang="en-US" sz="1400" b="0" dirty="0"/>
              <a:t>Thử nghiệm ngẫu nhiên: RoB 2 (Cochrane), dùng cho Boulet. Nghiên cứu không ngẫu nhiên về can thiệp (trước-sau, thuần tập so sánh điều trị): ROBINS-I. Nghiên cứu thuần tập và bệnh-chứng về phơi nhiễm: thang Newcastle-Ottawa vẫn được dùng rộng rãi; ROBINS-E là lựa chọn mới hơn, chặt chẽ hơn (dùng cho Hyun). Nghiên cứu độ chính xác chẩn đoán: QUADAS-2. Bản thân tổng quan hệ thống: AMSTAR 2.</a:t>
            </a:r>
          </a:p>
          <a:p>
            <a:r>
              <a:rPr lang="en-US" sz="1400" b="0" dirty="0"/>
              <a:t>Cột bên phải nối lại: mỗi thiết kế cũng có hướng dẫn báo cáo (CONSORT, TREND/STROBE, STROBE, STARD, PRISMA), học ở Buổi 8.</a:t>
            </a:r>
          </a:p>
          <a:p>
            <a:r>
              <a:rPr lang="en-US" sz="1400" b="0" dirty="0"/>
              <a:t>Ý chính: hướng dẫn báo cáo kiểm tra điều gì đã được BÁO CÁO; công cụ nguy cơ sai lệch đánh giá kết quả ĐÁNG TIN đến đâu. Một nghiên cứu báo cáo tốt vẫn có thể có nguy cơ sai lệch cao.</a:t>
            </a:r>
          </a:p>
          <a:p>
            <a:r>
              <a:rPr lang="en-US" sz="1400" b="0" dirty="0"/>
              <a:t>Quan niệm sai: 'cộng số sao là ra chất lượng'. Điểm tổng che mất lĩnh vực nào thất bại; đánh giá theo từng lĩnh vực hữu ích hơn.</a:t>
            </a:r>
          </a:p>
          <a:p>
            <a:r>
              <a:rPr lang="en-US" sz="1400" b="0" dirty="0"/>
              <a:t>Hỏi cả lớp: thẩm định một nghiên cứu cải tiến chất lượng trước-sau về gói xử trí nhiễm khuẩn huyết, dùng công cụ nào? Dự kiến: ROBINS-I.</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này khép lại khối thẩm định và nối với bảng kiểm 10 câu dùng ở Buổi 8 ('Làm người phản biện').</a:t>
            </a:r>
          </a:p>
          <a:p>
            <a:r>
              <a:rPr lang="en-US" sz="1400" b="0" dirty="0"/>
              <a:t>Lời lẽ và thiết kế: kết luận của Boulet ('không làm giảm cân bằng dịch chung ở ngày 5') khớp với thiết kế RCT thí điểm. Tóm tắt của Hyun nói 'có liên quan', nhưng tiêu đề dùng chữ 'Impact' (tác động), mạnh hơn mức một nghiên cứu thuần tập cho phép.</a:t>
            </a:r>
          </a:p>
          <a:p>
            <a:r>
              <a:rPr lang="en-US" sz="1400" b="0" dirty="0"/>
              <a:t>Con số và lời lẽ: kết quả chính có được trình bày bằng cỡ tác động kèm KTC 95% không? Kết quả không có ý nghĩa (p = 0,42) có được mô tả trung thực, không dùng 'có xu hướng' không?</a:t>
            </a:r>
          </a:p>
          <a:p>
            <a:r>
              <a:rPr lang="en-US" sz="1400" b="0" dirty="0"/>
              <a:t>Tô vẽ (spin): kết cục chính có được báo cáo trước và kết luận dựa trên nó, thay vì một kết cục phụ hay phân nhóm thuận lợi không?</a:t>
            </a:r>
          </a:p>
          <a:p>
            <a:r>
              <a:rPr lang="en-US" sz="1400" b="0" dirty="0"/>
              <a:t>Hỏi cả lớp: tìm một chữ trong tiêu đề hoặc tóm tắt nói quá. Dự kiến: 'tác động', 'hiệu quả', 'làm giảm' hoặc 'phòng ngừa' trong nghiên cứu quan sát.</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4 phút làm theo cặp, 2 phút thu thập câu trả lời.</a:t>
            </a:r>
          </a:p>
          <a:p>
            <a:r>
              <a:rPr lang="en-US" sz="1400" b="0" dirty="0"/>
              <a:t>Đáp án: TN 4 có trọng số lớn nhất (38%). Không thử nghiệm riêng lẻ nào loại trừ được RR = 1: mọi KTC đều cắt 1. Hình thoi (RR 0,79, KTC 95% 0,64-0,98) không cắt 1: gộp lại, hạn chế dịch liên quan với nguy cơ tử vong tương đối thấp hơn khoảng 21% trong các thử nghiệm (giả định) này, với giới hạn trên gần mức không tác động. Công cụ: RoB 2 cho Boulet; Newcastle-Ottawa (hoặc ROBINS-E) cho Hyun; AMSTAR 2 cho tổng quan.</a:t>
            </a:r>
          </a:p>
          <a:p>
            <a:r>
              <a:rPr lang="en-US" sz="1400" b="0" dirty="0"/>
              <a:t>Nếu thiếu thời gian, chỉ làm câu 3 và 4.</a:t>
            </a:r>
          </a:p>
          <a:p>
            <a:r>
              <a:rPr lang="en-US" sz="1400" b="0" dirty="0"/>
              <a:t>Lỗi thường gặp: chỉ đọc tâm hình thoi mà bỏ qua độ rộng. Luôn nêu KTC.</a:t>
            </a:r>
          </a:p>
          <a:p>
            <a:r>
              <a:rPr lang="en-US" sz="1400" b="0" dirty="0"/>
              <a:t>Thời gian: 6 phút, rồi chuyển sang xây dựng đề cương.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này chuẩn bị nửa sau của Phần 2 đề cương.</a:t>
            </a:r>
          </a:p>
          <a:p>
            <a:r>
              <a:rPr lang="en-US" sz="1400" b="0" dirty="0"/>
              <a:t>Kết cục chính là MỘT kết quả mà nghiên cứu được thiết kế và tính cỡ mẫu cho nó. Định nghĩa theo ba ý: CÁI GÌ (tử vong do mọi nguyên nhân, không phải 'cải thiện tử vong'), ĐO THẾ NÀO (hồ sơ bệnh viện; gọi điện nếu đã ra viện), KHI NÀO (ngày 28 sau khi vào ICU). Kết cục phụ cũng có đủ ba ý.</a:t>
            </a:r>
          </a:p>
          <a:p>
            <a:r>
              <a:rPr lang="en-US" sz="1400" b="0" dirty="0"/>
              <a:t>Kết cục chính của Boulet: cân bằng dịch tích lũy (ml/kg) ở ngày 5: rõ cái gì, thế nào và khi nào. Của Hyun: tử vong ngày 28.</a:t>
            </a:r>
          </a:p>
          <a:p>
            <a:r>
              <a:rPr lang="en-US" sz="1400" b="0" dirty="0"/>
              <a:t>Quan niệm sai: 'nhiều kết cục chính = nhiều cơ hội có kết quả'. Đó chính là vấn đề: nhiều kết cục chính tạo điều kiện chọn lọc kết quả (tô vẽ, Buổi 2).</a:t>
            </a:r>
          </a:p>
          <a:p>
            <a:r>
              <a:rPr lang="en-US" sz="1400" b="0" dirty="0"/>
              <a:t>Hỏi cả lớp: viết lại 'cải thiện kết cục bệnh nhân' thành một kết cục chính. Dự kiến: vd. 'loét tì đè mới (độ 2 trở lên) đến ngày 14 nằm viện, theo phiếu kiểm tra da'.</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làm việc: Practicals/s4_exercises.md, Phần F, và mẫu đề cương (Phần 2). 30 phút.</a:t>
            </a:r>
          </a:p>
          <a:p>
            <a:r>
              <a:rPr lang="en-US" sz="1400" b="0" dirty="0"/>
              <a:t>Nhịp gợi ý (slide kết cục trước đó mất 2 phút): 4 phút cùng xác định phơi nhiễm và nhóm so sánh; 14 phút viết (chia: kết cục, sai lệch, câu kết luận); 10 phút để người hướng dẫn kiểm tra và một nhóm đọc to các sai lệch và biện pháp.</a:t>
            </a:r>
          </a:p>
          <a:p>
            <a:r>
              <a:rPr lang="en-US" sz="1400" b="0" dirty="0"/>
              <a:t>Đáp án mẫu cho ví dụ xuyên suốt (phiên bản quan sát): phơi nhiễm: cân bằng dịch tích lũy dương (ml/kg) ở 72 giờ sau khi vào ICU; so sánh: cân bằng bằng 0 hoặc âm; kết cục chính: tử vong do mọi nguyên nhân đến ngày 28 (hồ sơ bệnh viện); kết cục phụ: AKI (KDIGO) đến ngày 7, số ngày không thở máy đến ngày 28, thời gian nằm ICU; sai lệch: nhiễu do độ nặng (ghi SOFA, lactate, liều vận mạch và hiệu chỉnh hoặc ghép cặp), chọn lựa (bệnh nhân liên tiếp, báo cáo các trường hợp bị loại), thông tin (định nghĩa dịch định trước, kiểm tra lại 10% hồ sơ); kết luận: 'có liên quan với'.</a:t>
            </a:r>
          </a:p>
          <a:p>
            <a:r>
              <a:rPr lang="en-US" sz="1400" b="0" dirty="0"/>
              <a:t>Vấn đề thường gặp: không có nhóm so sánh; ba kết cục chính; nêu sai lệch mà không có biện pháp cụ thể ('chúng tôi sẽ cẩn thận' không phải là biện pháp).</a:t>
            </a:r>
          </a:p>
          <a:p>
            <a:r>
              <a:rPr lang="en-US" sz="1400" b="0" dirty="0"/>
              <a:t>Thời gian: nhắc khi còn 10 phút và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buổi học. Mời bốn người giải thích mỗi người một thẻ.</a:t>
            </a:r>
          </a:p>
          <a:p>
            <a:r>
              <a:rPr lang="en-US" sz="1400" b="0" dirty="0"/>
              <a:t>Slide này cũng khép lại Tuần 3-4: đề cương giờ đã có câu hỏi (Phần 1) và thiết kế (Phần 2).</a:t>
            </a:r>
          </a:p>
          <a:p>
            <a:r>
              <a:rPr lang="en-US" sz="1400" b="0" dirty="0"/>
              <a:t>Thời gian: 2 phút (nằm trong 5 phút tổng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câu hỏi cuối buổi: nhiễu do chỉ định (bệnh nhân nặng hơn được truyền nhiều dịch hơn và tử vong nhiều hơn), hoặc nhân quả ngược (thận suy tạo ít nước tiểu nên cân bằng dịch trở nên dương).</a:t>
            </a:r>
          </a:p>
          <a:p>
            <a:r>
              <a:rPr lang="en-US" sz="1400" b="0" dirty="0"/>
              <a:t>Xem trước: ở Tuần 5-6 ta biến thiết kế thành dữ liệu (biến số, phiếu thu thập dữ liệu) và làm quen với bộ dữ liệu khóa học FLUID-ICU, một thuần tập mô phỏng trả lời phiên bản quan sát của câu hỏi về dịch truyền.</a:t>
            </a:r>
          </a:p>
          <a:p>
            <a:r>
              <a:rPr lang="en-US" sz="1400" b="0" dirty="0"/>
              <a:t>Thời gian: 3 phút sau slide tóm tắt. Kết thúc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các slide sau đây là tùy chọn. Dùng nếu lớp đi nhanh, để trả lời câu hỏi, hoặc để tự học.</a:t>
            </a:r>
          </a:p>
          <a:p>
            <a:r>
              <a:rPr lang="en-US" sz="1400" b="0" dirty="0"/>
              <a:t>Thời gian: bỏ qua trong buổi học trừ khi còn thời gian.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Chỉ học khái niệm. Tỷ số khả dĩ (likelihood ratio, LR) gộp độ nhạy và độ đặc hiệu thành một con số cho biết một kết quả nên thay đổi mức nghi ngờ của ta bao nhiêu.</a:t>
            </a:r>
          </a:p>
          <a:p>
            <a:r>
              <a:rPr lang="en-US" sz="1400" b="0" dirty="0"/>
              <a:t>LR+ = 0,90 / 0,20 = 4,5: kết quả dương gặp ở người có bệnh nhiều gấp 4,5 lần người không bệnh. LR- = 0,10 / 0,80 = 0,13: kết quả âm ở người bệnh hiếm hơn khoảng 8 lần. Quy tắc gần đúng: LR+ trên 10 hoặc LR- dưới 0,1 thay đổi quyết định nhiều; giá trị gần 1 thay đổi ít.</a:t>
            </a:r>
          </a:p>
          <a:p>
            <a:r>
              <a:rPr lang="en-US" sz="1400" b="0" dirty="0"/>
              <a:t>Khác với PPV, tỷ số khả dĩ không phụ thuộc tỷ lệ hiện mắc, nên chuyển giữa các bối cảnh tốt hơn.</a:t>
            </a:r>
          </a:p>
          <a:p>
            <a:r>
              <a:rPr lang="en-US" sz="1400" b="0" dirty="0"/>
              <a:t>Báo cáo: STARD (30 mục và sơ đồ luồng người tham gia). Thẩm định: QUADAS-2. Cảnh giác sai lệch phổ bệnh (spectrum bias): xét nghiệm được đánh giá trên bệnh nhân rất nặng so với người tình nguyện khỏe sẽ trông tốt hơn so với khi dùng trên bệnh nhân thực tế.</a:t>
            </a:r>
          </a:p>
          <a:p>
            <a:r>
              <a:rPr lang="en-US" sz="1400" b="0" dirty="0"/>
              <a:t>Quan niệm sai: 'nghiên cứu độ chính xác chẩn đoán chỉ là một bảng 2x2'. Các câu hỏi thiết kế (ai được xét nghiệm, tiêu chuẩn tham chiếu có áp dụng cho mọi người không, có đọc mù không) quan trọng không kém con số.</a:t>
            </a:r>
          </a:p>
          <a:p>
            <a:r>
              <a:rPr lang="en-US" sz="1400" b="0" dirty="0"/>
              <a:t>Thời gian: 1,5 phút. Các học phần nâng cao có thực hành phân tích độ chính xác chẩn đoán.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Đánh giá minh họa. RoB 2 đặt các câu hỏi gợi ý trong năm lĩnh vực: D1 quá trình ngẫu nhiên hóa (trình tự và che giấu), D2 sai lệch so với can thiệp dự kiến (làm mù, tuân thủ), D3 thiếu dữ liệu kết cục, D4 đo lường kết cục, D5 lựa chọn kết quả báo cáo.</a:t>
            </a:r>
          </a:p>
          <a:p>
            <a:r>
              <a:rPr lang="en-US" sz="1400" b="0" dirty="0"/>
              <a:t>Mỗi lĩnh vực được đánh giá nguy cơ thấp (xanh +), có vài lo ngại (vàng -) hoặc nguy cơ cao (đỏ x). Đánh giá chung do lĩnh vực xấu nhất quyết định: TN C có nguy cơ cao vì D2.</a:t>
            </a:r>
          </a:p>
          <a:p>
            <a:r>
              <a:rPr lang="en-US" sz="1400" b="0" dirty="0"/>
              <a:t>Các tổng quan trình bày biểu đồ này để người đọc thấy thử nghiệm nào chi phối kết quả gộp và việc loại thử nghiệm nguy cơ cao có làm thay đổi kết quả không (phân tích độ nhạy).</a:t>
            </a:r>
          </a:p>
          <a:p>
            <a:r>
              <a:rPr lang="en-US" sz="1400" b="0" dirty="0"/>
              <a:t>Áp dụng cho Boulet (thảo luận, không chấm chính thức): D1 có lẽ thấp (máy tính trung tâm); D2 có vài lo ngại vì bác sĩ biết nhóm; D4 thấp với kết cục khách quan như cân bằng dịch.</a:t>
            </a:r>
          </a:p>
          <a:p>
            <a:r>
              <a:rPr lang="en-US" sz="1400" b="0" dirty="0"/>
              <a:t>Quan niệm sai: 'không làm mù = nguy cơ cao'. Không nhất thiết nếu kết cục khách quan và sai lệch nhỏ; tùy câu hỏi của từng lĩnh vực.</a:t>
            </a:r>
          </a:p>
          <a:p>
            <a:r>
              <a:rPr lang="en-US" sz="1400" b="0" dirty="0"/>
              <a:t>Thời gian: 1,5 phút. Buổi 8 dùng bảng kiểm 10 câu đơn giản của khóa học; các học phần nâng cao thực hành đầy đủ các công cụ.</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Các con số của hình bồn tắm, trình bày lại theo từng bước cho học viên thấy hình quá nhanh.</a:t>
            </a:r>
          </a:p>
          <a:p>
            <a:r>
              <a:rPr lang="en-US" sz="1400" b="0" dirty="0"/>
              <a:t>Khác biệt then chốt là mẫu số: hiện mắc dùng mọi người hôm nay (200); mới mắc chỉ dùng người có thể trở thành ca mới (180) và cần một khoảng thời gian.</a:t>
            </a:r>
          </a:p>
          <a:p>
            <a:r>
              <a:rPr lang="en-US" sz="1400" b="0" dirty="0"/>
              <a:t>Thời gian: 1,5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2.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8.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9.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 Id="rId4" Type="http://schemas.openxmlformats.org/officeDocument/2006/relationships/image" Target="../media/image10.pn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11.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12.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3.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4.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15.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6.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7.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8.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9.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20.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21.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22.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23.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4.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5.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 Id="rId4" Type="http://schemas.openxmlformats.org/officeDocument/2006/relationships/image" Target="../media/image26.pn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27.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Buổi 4 · Sai lệch và tác động: có tin được không, lớn đến đâu?</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4 · Thứ Bảy</a:t>
            </a:r>
          </a:p>
          <a:p>
            <a:pPr>
              <a:buNone/>
            </a:pPr>
            <a:endParaRPr sz="800"/>
          </a:p>
          <a:p>
            <a:pPr marL="274320" indent="-274320" algn="l">
              <a:spcBef>
                <a:spcPts val="440"/>
              </a:spcBef>
              <a:buFont typeface="Arial"/>
              <a:buChar char="•"/>
            </a:pPr>
            <a:r>
              <a:rPr lang="en-US" sz="1900" dirty="0">
                <a:solidFill>
                  <a:srgbClr val="000000"/>
                </a:solidFill>
                <a:latin typeface="Arial"/>
                <a:cs typeface="Arial"/>
              </a:rPr>
              <a:t>Câu hỏi ôn tập Buổi 3 (10 phút)</a:t>
            </a:r>
          </a:p>
          <a:p>
            <a:pPr marL="274320" indent="-274320" algn="l">
              <a:spcBef>
                <a:spcPts val="440"/>
              </a:spcBef>
              <a:buFont typeface="Arial"/>
              <a:buChar char="•"/>
            </a:pPr>
            <a:r>
              <a:rPr lang="en-US" sz="1900" dirty="0">
                <a:solidFill>
                  <a:srgbClr val="000000"/>
                </a:solidFill>
                <a:latin typeface="Arial"/>
                <a:cs typeface="Arial"/>
              </a:rPr>
              <a:t>4.1  Sai lệch, yếu tố nhiễu và nhân quả (40 phút)</a:t>
            </a:r>
          </a:p>
          <a:p>
            <a:pPr marL="274320" indent="-274320" algn="l">
              <a:spcBef>
                <a:spcPts val="440"/>
              </a:spcBef>
              <a:buFont typeface="Arial"/>
              <a:buChar char="•"/>
            </a:pPr>
            <a:r>
              <a:rPr lang="en-US" sz="1900" dirty="0">
                <a:solidFill>
                  <a:srgbClr val="000000"/>
                </a:solidFill>
                <a:latin typeface="Arial"/>
                <a:cs typeface="Arial"/>
              </a:rPr>
              <a:t>4.2  Đo lường bệnh và mối liên quan + trình diễn bảng 2x2 (30 phút)</a:t>
            </a:r>
          </a:p>
          <a:p>
            <a:pPr marL="274320" indent="-274320" algn="l">
              <a:spcBef>
                <a:spcPts val="440"/>
              </a:spcBef>
              <a:buFont typeface="Arial"/>
              <a:buChar char="•"/>
            </a:pPr>
            <a:r>
              <a:rPr lang="en-US" sz="1900" dirty="0">
                <a:solidFill>
                  <a:srgbClr val="000000"/>
                </a:solidFill>
                <a:latin typeface="Arial"/>
                <a:cs typeface="Arial"/>
              </a:rPr>
              <a:t>Giải lao (15 phút), rồi hai bài tính bảng 2x2 (20 phút)</a:t>
            </a:r>
          </a:p>
          <a:p>
            <a:pPr marL="274320" indent="-274320" algn="l">
              <a:spcBef>
                <a:spcPts val="440"/>
              </a:spcBef>
              <a:buFont typeface="Arial"/>
              <a:buChar char="•"/>
            </a:pPr>
            <a:r>
              <a:rPr lang="en-US" sz="1900" dirty="0">
                <a:solidFill>
                  <a:srgbClr val="000000"/>
                </a:solidFill>
                <a:latin typeface="Arial"/>
                <a:cs typeface="Arial"/>
              </a:rPr>
              <a:t>4.3  Vượt ra ngoài một nghiên cứu: xét nghiệm, phân tích gộp, thẩm định (30 phút)</a:t>
            </a:r>
          </a:p>
          <a:p>
            <a:pPr marL="274320" indent="-274320" algn="l">
              <a:spcBef>
                <a:spcPts val="440"/>
              </a:spcBef>
              <a:buFont typeface="Arial"/>
              <a:buChar char="•"/>
            </a:pPr>
            <a:r>
              <a:rPr lang="en-US" sz="1900" dirty="0">
                <a:solidFill>
                  <a:srgbClr val="000000"/>
                </a:solidFill>
                <a:latin typeface="Arial"/>
                <a:cs typeface="Arial"/>
              </a:rPr>
              <a:t>Xây dựng đề cương 4: phơi nhiễm, kết cục, sai lệch (30 phút), rồi tổng kết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ba câu hỏi về Buổi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C1. BN ICU mê sảng được so sánh với BN không mê sảng về việc dùng benzodiazepine trước đó. Thiết kế?</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C2. Thiết kế nào phân nhóm ngẫu nhiên cả khoa thay vì từng bệnh nhân?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C3. Chiến lược mới vs cũ, hiệu số tử vong KTC 95% -1 đến +3 điểm; ngưỡng +4 điểm. Kết quả?</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Các nhóm: đọc lại Phần 2a của đề cương (thiết kế, bối cảnh, đối tượng): 2 phút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Cách thực hiện</a:t>
            </a:r>
          </a:p>
          <a:p>
            <a:pPr marL="274320" indent="-274320" algn="l">
              <a:lnSpc>
                <a:spcPct val="104000"/>
              </a:lnSpc>
              <a:spcBef>
                <a:spcPts val="300"/>
              </a:spcBef>
              <a:buFont typeface="Arial"/>
              <a:buChar char="•"/>
            </a:pPr>
            <a:r>
              <a:rPr lang="en-US" sz="1500" dirty="0">
                <a:solidFill>
                  <a:srgbClr val="000000"/>
                </a:solidFill>
                <a:latin typeface="Arial"/>
                <a:cs typeface="Arial"/>
              </a:rPr>
              <a:t>Tự trả lời trước</a:t>
            </a:r>
          </a:p>
          <a:p>
            <a:pPr marL="274320" indent="-274320" algn="l">
              <a:lnSpc>
                <a:spcPct val="104000"/>
              </a:lnSpc>
              <a:spcBef>
                <a:spcPts val="300"/>
              </a:spcBef>
              <a:buFont typeface="Arial"/>
              <a:buChar char="•"/>
            </a:pPr>
            <a:r>
              <a:rPr lang="en-US" sz="1500" dirty="0">
                <a:solidFill>
                  <a:srgbClr val="000000"/>
                </a:solidFill>
                <a:latin typeface="Arial"/>
                <a:cs typeface="Arial"/>
              </a:rPr>
              <a:t>Giơ tay, rồi công bố đáp án</a:t>
            </a:r>
          </a:p>
          <a:p>
            <a:pPr marL="274320" indent="-274320" algn="l">
              <a:lnSpc>
                <a:spcPct val="104000"/>
              </a:lnSpc>
              <a:spcBef>
                <a:spcPts val="300"/>
              </a:spcBef>
              <a:buFont typeface="Arial"/>
              <a:buChar char="•"/>
            </a:pPr>
            <a:r>
              <a:rPr lang="en-US" sz="1500" dirty="0">
                <a:solidFill>
                  <a:srgbClr val="000000"/>
                </a:solidFill>
                <a:latin typeface="Arial"/>
                <a:cs typeface="Arial"/>
              </a:rPr>
              <a:t>Mời một người giải thích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SẢN PHẨM   </a:t>
            </a:r>
            <a:r>
              <a:rPr lang="en-US" sz="1500" dirty="0">
                <a:solidFill>
                  <a:srgbClr val="000000"/>
                </a:solidFill>
                <a:latin typeface="Arial"/>
                <a:cs typeface="Arial"/>
              </a:rPr>
              <a:t>Phần 2a của mỗi nhóm được đọc lại, sẵn sàng làm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ngày hôm nay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Từ vựng hôm nay. Mỗi định nghĩa đi kèm một hình</a:t>
            </a:r>
          </a:p>
        </p:txBody>
      </p:sp>
      <p:sp>
        <p:nvSpPr>
          <p:cNvPr id="70" name="CardHead"/>
          <p:cNvSpPr/>
          <p:nvPr/>
        </p:nvSpPr>
        <p:spPr>
          <a:xfrm>
            <a:off x="457200" y="2142906"/>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Có tin được?</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Sai lệch, yếu tố nhiễu</a:t>
            </a:r>
          </a:p>
          <a:p>
            <a:pPr marL="0" indent="0" algn="l">
              <a:lnSpc>
                <a:spcPct val="104000"/>
              </a:lnSpc>
              <a:spcBef>
                <a:spcPts val="400"/>
              </a:spcBef>
              <a:buNone/>
            </a:pPr>
            <a:r>
              <a:rPr lang="en-US" sz="1600" dirty="0">
                <a:solidFill>
                  <a:srgbClr val="000000"/>
                </a:solidFill>
                <a:latin typeface="Arial"/>
                <a:cs typeface="Arial"/>
              </a:rPr>
              <a:t>Thay đổi tác động</a:t>
            </a:r>
          </a:p>
          <a:p>
            <a:pPr marL="0" indent="0" algn="l">
              <a:lnSpc>
                <a:spcPct val="104000"/>
              </a:lnSpc>
              <a:spcBef>
                <a:spcPts val="400"/>
              </a:spcBef>
              <a:buNone/>
            </a:pPr>
            <a:r>
              <a:rPr lang="en-US" sz="1600" dirty="0">
                <a:solidFill>
                  <a:srgbClr val="000000"/>
                </a:solidFill>
                <a:latin typeface="Arial"/>
                <a:cs typeface="Arial"/>
              </a:rPr>
              <a:t>Nhân quả ngược</a:t>
            </a:r>
          </a:p>
        </p:txBody>
      </p:sp>
      <p:sp>
        <p:nvSpPr>
          <p:cNvPr id="72" name="CardHead"/>
          <p:cNvSpPr/>
          <p:nvPr/>
        </p:nvSpPr>
        <p:spPr>
          <a:xfrm>
            <a:off x="33266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Lớn đến đâu?</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Nguy cơ, tỷ số nguy cơ (RR)</a:t>
            </a:r>
          </a:p>
          <a:p>
            <a:pPr marL="0" indent="0" algn="l">
              <a:lnSpc>
                <a:spcPct val="104000"/>
              </a:lnSpc>
              <a:spcBef>
                <a:spcPts val="400"/>
              </a:spcBef>
              <a:buNone/>
            </a:pPr>
            <a:r>
              <a:rPr lang="en-US" sz="1600" dirty="0">
                <a:solidFill>
                  <a:srgbClr val="000000"/>
                </a:solidFill>
                <a:latin typeface="Arial"/>
                <a:cs typeface="Arial"/>
              </a:rPr>
              <a:t>Hiệu số nguy cơ, NNT</a:t>
            </a:r>
          </a:p>
          <a:p>
            <a:pPr marL="0" indent="0" algn="l">
              <a:lnSpc>
                <a:spcPct val="104000"/>
              </a:lnSpc>
              <a:spcBef>
                <a:spcPts val="400"/>
              </a:spcBef>
              <a:buNone/>
            </a:pPr>
            <a:r>
              <a:rPr lang="en-US" sz="1600" dirty="0">
                <a:solidFill>
                  <a:srgbClr val="000000"/>
                </a:solidFill>
                <a:latin typeface="Arial"/>
                <a:cs typeface="Arial"/>
              </a:rPr>
              <a:t>Tỷ số chênh (OR)</a:t>
            </a:r>
          </a:p>
        </p:txBody>
      </p:sp>
      <p:sp>
        <p:nvSpPr>
          <p:cNvPr id="74" name="CardHead"/>
          <p:cNvSpPr/>
          <p:nvPr/>
        </p:nvSpPr>
        <p:spPr>
          <a:xfrm>
            <a:off x="61960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Xét nghiệm</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Độ nhạy, độ đặc hiệu</a:t>
            </a:r>
          </a:p>
          <a:p>
            <a:pPr marL="0" indent="0" algn="l">
              <a:lnSpc>
                <a:spcPct val="104000"/>
              </a:lnSpc>
              <a:spcBef>
                <a:spcPts val="400"/>
              </a:spcBef>
              <a:buNone/>
            </a:pPr>
            <a:r>
              <a:rPr lang="en-US" sz="1600" dirty="0">
                <a:solidFill>
                  <a:srgbClr val="000000"/>
                </a:solidFill>
                <a:latin typeface="Arial"/>
                <a:cs typeface="Arial"/>
              </a:rPr>
              <a:t>PPV, NPV, đường cong ROC</a:t>
            </a:r>
          </a:p>
        </p:txBody>
      </p:sp>
      <p:sp>
        <p:nvSpPr>
          <p:cNvPr id="76" name="CardHead"/>
          <p:cNvSpPr/>
          <p:nvPr/>
        </p:nvSpPr>
        <p:spPr>
          <a:xfrm>
            <a:off x="9065400" y="2142906"/>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Nhiều nghiên cứu</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Biểu đồ rừng, I bình phương</a:t>
            </a:r>
          </a:p>
          <a:p>
            <a:pPr marL="0" indent="0" algn="l">
              <a:lnSpc>
                <a:spcPct val="104000"/>
              </a:lnSpc>
              <a:spcBef>
                <a:spcPts val="400"/>
              </a:spcBef>
              <a:buNone/>
            </a:pPr>
            <a:r>
              <a:rPr lang="en-US" sz="1600" dirty="0">
                <a:solidFill>
                  <a:srgbClr val="000000"/>
                </a:solidFill>
                <a:latin typeface="Arial"/>
                <a:cs typeface="Arial"/>
              </a:rPr>
              <a:t>Công cụ nguy cơ sai lệch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Tin trước, rồi mới đến độ lớn: một câu trả lời chính xác vẫn có thể bị sai lệch.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4.1  Sai lệch, yếu tố nhiễu và nhân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Sai lệch là sai số hệ thống. Tăng cỡ mẫu không sửa được.</a:t>
            </a:r>
          </a:p>
          <a:p>
            <a:pPr marL="0" indent="0" algn="ctr">
              <a:spcBef>
                <a:spcPts val="1200"/>
              </a:spcBef>
              <a:buNone/>
            </a:pPr>
            <a:r>
              <a:rPr lang="en-US" sz="1900" i="1" dirty="0">
                <a:solidFill>
                  <a:srgbClr val="595959"/>
                </a:solidFill>
                <a:latin typeface="Arial"/>
                <a:cs typeface="Arial"/>
              </a:rPr>
              <a:t>Chọn lựa, thông tin, yếu tố nhiễu, thay đổi tác động, và từ liên quan đến nhân quả. (40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Sai số ngẫu nhiên và sai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Cỡ mẫu lớn làm giảm sai số ngẫu nhiên nhưng không động đến sai lệch.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Sai lệch chọn lựa: ai được đưa vào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mẫu khác quần thể đích, kết quả có thể không áp dụng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Sai lệch thông tin: mọi thứ được đo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Đo phơi nhiễm và kết cục theo cùng một cách ở mọi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sai lệch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Chỉ phỏng vấn những BN sống đến lúc ra viện về chăm sóc tại ICU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Điều dưỡng biết BN thuộc nhóm nào chấm điểm đau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Một cái cân luôn chỉ cao 0,5 kg chỉ được dùng ở một khoa</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Chọn</a:t>
            </a:r>
          </a:p>
          <a:p>
            <a:pPr marL="274320" indent="-274320" algn="l">
              <a:lnSpc>
                <a:spcPct val="104000"/>
              </a:lnSpc>
              <a:spcBef>
                <a:spcPts val="300"/>
              </a:spcBef>
              <a:buFont typeface="Arial"/>
              <a:buChar char="•"/>
            </a:pPr>
            <a:r>
              <a:rPr lang="en-US" sz="1500" dirty="0">
                <a:solidFill>
                  <a:srgbClr val="000000"/>
                </a:solidFill>
                <a:latin typeface="Arial"/>
                <a:cs typeface="Arial"/>
              </a:rPr>
              <a:t>Sai lệch chọn lựa</a:t>
            </a:r>
          </a:p>
          <a:p>
            <a:pPr marL="274320" indent="-274320" algn="l">
              <a:lnSpc>
                <a:spcPct val="104000"/>
              </a:lnSpc>
              <a:spcBef>
                <a:spcPts val="300"/>
              </a:spcBef>
              <a:buFont typeface="Arial"/>
              <a:buChar char="•"/>
            </a:pPr>
            <a:r>
              <a:rPr lang="en-US" sz="1500" dirty="0">
                <a:solidFill>
                  <a:srgbClr val="000000"/>
                </a:solidFill>
                <a:latin typeface="Arial"/>
                <a:cs typeface="Arial"/>
              </a:rPr>
              <a:t>Sai lệch người quan sát</a:t>
            </a:r>
          </a:p>
          <a:p>
            <a:pPr marL="274320" indent="-274320" algn="l">
              <a:lnSpc>
                <a:spcPct val="104000"/>
              </a:lnSpc>
              <a:spcBef>
                <a:spcPts val="300"/>
              </a:spcBef>
              <a:buFont typeface="Arial"/>
              <a:buChar char="•"/>
            </a:pPr>
            <a:r>
              <a:rPr lang="en-US" sz="1500" dirty="0">
                <a:solidFill>
                  <a:srgbClr val="000000"/>
                </a:solidFill>
                <a:latin typeface="Arial"/>
                <a:cs typeface="Arial"/>
              </a:rPr>
              <a:t>Sai lệch đo lường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SẢN PHẨM   </a:t>
            </a:r>
            <a:r>
              <a:rPr lang="en-US" sz="1500" dirty="0">
                <a:solidFill>
                  <a:srgbClr val="000000"/>
                </a:solidFill>
                <a:latin typeface="Arial"/>
                <a:cs typeface="Arial"/>
              </a:rPr>
              <a:t>Mỗi câu một sai lệch (đáp án trong ghi chú)</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Nhiễu do chỉ định: ví dụ dịch truyền ở 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Yếu tố nhiễu liên quan với phơi nhiễm VÀ là nguyên nhân của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Yếu tố nhiễu bằng con số: mối liên quan biến mất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Số liệu giả định dùng cho giảng dạy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So sánh tương đồng: trong từng mức độ nặng, lượng dịch không tạo khác biệt.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tìm yếu tố nhiễu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Trong mỗi ví dụ, một yếu tố thứ ba chi phối cả phơi nhiễm lẫn kết cục</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Kháng sinh và tử vong</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Nhiều kháng sinh → nhiều tử vong?</a:t>
            </a:r>
          </a:p>
          <a:p>
            <a:pPr marL="0" indent="0" algn="l">
              <a:lnSpc>
                <a:spcPct val="104000"/>
              </a:lnSpc>
              <a:spcBef>
                <a:spcPts val="400"/>
              </a:spcBef>
              <a:buNone/>
            </a:pPr>
            <a:r>
              <a:rPr lang="en-US" sz="1750" b="1" dirty="0">
                <a:solidFill>
                  <a:srgbClr val="000000"/>
                </a:solidFill>
                <a:latin typeface="Arial"/>
                <a:cs typeface="Arial"/>
              </a:rPr>
              <a:t>Yếu tố nhiễu: độ nặng nhiễm khuẩn</a:t>
            </a:r>
          </a:p>
          <a:p>
            <a:pPr marL="0" indent="0" algn="l">
              <a:lnSpc>
                <a:spcPct val="104000"/>
              </a:lnSpc>
              <a:spcBef>
                <a:spcPts val="400"/>
              </a:spcBef>
              <a:buNone/>
            </a:pPr>
            <a:r>
              <a:rPr lang="en-US" sz="1750" dirty="0">
                <a:solidFill>
                  <a:srgbClr val="000000"/>
                </a:solidFill>
                <a:latin typeface="Arial"/>
                <a:cs typeface="Arial"/>
              </a:rPr>
              <a:t>BN nặng hơn dùng nhiều thuốc hơn</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Dinh dưỡng và sụt cân</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Được chuyên gia dinh dưỡng khám → sụt cân nhiều hơn?</a:t>
            </a:r>
          </a:p>
          <a:p>
            <a:pPr marL="0" indent="0" algn="l">
              <a:lnSpc>
                <a:spcPct val="104000"/>
              </a:lnSpc>
              <a:spcBef>
                <a:spcPts val="400"/>
              </a:spcBef>
              <a:buNone/>
            </a:pPr>
            <a:r>
              <a:rPr lang="en-US" sz="1750" b="1" dirty="0">
                <a:solidFill>
                  <a:srgbClr val="000000"/>
                </a:solidFill>
                <a:latin typeface="Arial"/>
                <a:cs typeface="Arial"/>
              </a:rPr>
              <a:t>Yếu tố nhiễu: suy dinh dưỡng khi vào viện</a:t>
            </a:r>
          </a:p>
          <a:p>
            <a:pPr marL="0" indent="0" algn="l">
              <a:lnSpc>
                <a:spcPct val="104000"/>
              </a:lnSpc>
              <a:spcBef>
                <a:spcPts val="400"/>
              </a:spcBef>
              <a:buNone/>
            </a:pPr>
            <a:r>
              <a:rPr lang="en-US" sz="1750" dirty="0">
                <a:solidFill>
                  <a:srgbClr val="000000"/>
                </a:solidFill>
                <a:latin typeface="Arial"/>
                <a:cs typeface="Arial"/>
              </a:rPr>
              <a:t>Chính là lý do được giới thiệu</a:t>
            </a:r>
          </a:p>
        </p:txBody>
      </p:sp>
      <p:sp>
        <p:nvSpPr>
          <p:cNvPr id="74" name="CardHead"/>
          <p:cNvSpPr/>
          <p:nvPr/>
        </p:nvSpPr>
        <p:spPr>
          <a:xfrm>
            <a:off x="8108932" y="1925948"/>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Vận mạch và rối loạn nhịp</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Vận mạch → nhiều rối loạn nhịp?</a:t>
            </a:r>
          </a:p>
          <a:p>
            <a:pPr marL="0" indent="0" algn="l">
              <a:lnSpc>
                <a:spcPct val="104000"/>
              </a:lnSpc>
              <a:spcBef>
                <a:spcPts val="400"/>
              </a:spcBef>
              <a:buNone/>
            </a:pPr>
            <a:r>
              <a:rPr lang="en-US" sz="1750" b="1" dirty="0">
                <a:solidFill>
                  <a:srgbClr val="000000"/>
                </a:solidFill>
                <a:latin typeface="Arial"/>
                <a:cs typeface="Arial"/>
              </a:rPr>
              <a:t>Yếu tố nhiễu: mức độ sốc</a:t>
            </a:r>
          </a:p>
          <a:p>
            <a:pPr marL="0" indent="0" algn="l">
              <a:lnSpc>
                <a:spcPct val="104000"/>
              </a:lnSpc>
              <a:spcBef>
                <a:spcPts val="400"/>
              </a:spcBef>
              <a:buNone/>
            </a:pPr>
            <a:r>
              <a:rPr lang="en-US" sz="1750" dirty="0">
                <a:solidFill>
                  <a:srgbClr val="000000"/>
                </a:solidFill>
                <a:latin typeface="Arial"/>
                <a:cs typeface="Arial"/>
              </a:rPr>
              <a:t>Một phần cũng do thuốc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Hỏi: vì sao những BN này nhận phơi nhiễm? Lý do đó có thể là yếu tố nhiễu.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Yếu tố nhiễu hay thay đổi tác động?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Số liệu giả định dùng cho giảng dạy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Nhiễu là sai lệch cần loại bỏ; thay đổi tác động là phát hiện cần báo cáo.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Thiết kế chống lại sai lệch như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Xây sự bảo vệ vào thiết kế; sửa phần còn lại trong phân tích.</a:t>
            </a:r>
          </a:p>
        </p:txBody>
      </p:sp>
      <p:sp>
        <p:nvSpPr>
          <p:cNvPr id="70" name="CardHead"/>
          <p:cNvSpPr/>
          <p:nvPr/>
        </p:nvSpPr>
        <p:spPr>
          <a:xfrm>
            <a:off x="457200" y="19090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Ngẫu nhiên + che giấu</a:t>
            </a:r>
          </a:p>
        </p:txBody>
      </p:sp>
      <p:sp>
        <p:nvSpPr>
          <p:cNvPr id="71" name="CardBody"/>
          <p:cNvSpPr/>
          <p:nvPr/>
        </p:nvSpPr>
        <p:spPr>
          <a:xfrm>
            <a:off x="457200"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May rủi quyết định nhóm</a:t>
            </a:r>
          </a:p>
          <a:p>
            <a:pPr marL="0" indent="0" algn="l">
              <a:lnSpc>
                <a:spcPct val="104000"/>
              </a:lnSpc>
              <a:spcBef>
                <a:spcPts val="400"/>
              </a:spcBef>
              <a:buNone/>
            </a:pPr>
            <a:r>
              <a:rPr lang="en-US" sz="1750" dirty="0">
                <a:solidFill>
                  <a:srgbClr val="000000"/>
                </a:solidFill>
                <a:latin typeface="Arial"/>
                <a:cs typeface="Arial"/>
              </a:rPr>
              <a:t>Cân bằng yếu tố nhiễu đã biết VÀ chưa biết</a:t>
            </a:r>
          </a:p>
          <a:p>
            <a:pPr marL="0" indent="0" algn="l">
              <a:lnSpc>
                <a:spcPct val="104000"/>
              </a:lnSpc>
              <a:spcBef>
                <a:spcPts val="400"/>
              </a:spcBef>
              <a:buNone/>
            </a:pPr>
            <a:r>
              <a:rPr lang="en-US" sz="1750" dirty="0">
                <a:solidFill>
                  <a:srgbClr val="000000"/>
                </a:solidFill>
                <a:latin typeface="Arial"/>
                <a:cs typeface="Arial"/>
              </a:rPr>
              <a:t>Không ai đoán được lần phân bổ kế tiếp</a:t>
            </a:r>
          </a:p>
        </p:txBody>
      </p:sp>
      <p:sp>
        <p:nvSpPr>
          <p:cNvPr id="72" name="CardHead"/>
          <p:cNvSpPr/>
          <p:nvPr/>
        </p:nvSpPr>
        <p:spPr>
          <a:xfrm>
            <a:off x="4283066" y="19090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Làm mù</a:t>
            </a:r>
          </a:p>
        </p:txBody>
      </p:sp>
      <p:sp>
        <p:nvSpPr>
          <p:cNvPr id="73" name="CardBody"/>
          <p:cNvSpPr/>
          <p:nvPr/>
        </p:nvSpPr>
        <p:spPr>
          <a:xfrm>
            <a:off x="4283066"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Bệnh nhân, bác sĩ, người đánh giá, người phân tích</a:t>
            </a:r>
          </a:p>
          <a:p>
            <a:pPr marL="0" indent="0" algn="l">
              <a:lnSpc>
                <a:spcPct val="104000"/>
              </a:lnSpc>
              <a:spcBef>
                <a:spcPts val="400"/>
              </a:spcBef>
              <a:buNone/>
            </a:pPr>
            <a:r>
              <a:rPr lang="en-US" sz="1750" dirty="0">
                <a:solidFill>
                  <a:srgbClr val="000000"/>
                </a:solidFill>
                <a:latin typeface="Arial"/>
                <a:cs typeface="Arial"/>
              </a:rPr>
              <a:t>Bảo vệ cách đo kết cục</a:t>
            </a:r>
          </a:p>
          <a:p>
            <a:pPr marL="0" indent="0" algn="l">
              <a:lnSpc>
                <a:spcPct val="104000"/>
              </a:lnSpc>
              <a:spcBef>
                <a:spcPts val="400"/>
              </a:spcBef>
              <a:buNone/>
            </a:pPr>
            <a:r>
              <a:rPr lang="en-US" sz="1750" dirty="0">
                <a:solidFill>
                  <a:srgbClr val="000000"/>
                </a:solidFill>
                <a:latin typeface="Arial"/>
                <a:cs typeface="Arial"/>
              </a:rPr>
              <a:t>Nếu không thể: làm mù người đánh giá</a:t>
            </a:r>
          </a:p>
        </p:txBody>
      </p:sp>
      <p:sp>
        <p:nvSpPr>
          <p:cNvPr id="74" name="CardHead"/>
          <p:cNvSpPr/>
          <p:nvPr/>
        </p:nvSpPr>
        <p:spPr>
          <a:xfrm>
            <a:off x="8108932" y="1909015"/>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Giới hạn, ghép cặp, hiệu chỉnh</a:t>
            </a:r>
          </a:p>
        </p:txBody>
      </p:sp>
      <p:sp>
        <p:nvSpPr>
          <p:cNvPr id="75" name="CardBody"/>
          <p:cNvSpPr/>
          <p:nvPr/>
        </p:nvSpPr>
        <p:spPr>
          <a:xfrm>
            <a:off x="8108932"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Giới hạn: thu hẹp tiêu chuẩn chọn</a:t>
            </a:r>
          </a:p>
          <a:p>
            <a:pPr marL="0" indent="0" algn="l">
              <a:lnSpc>
                <a:spcPct val="104000"/>
              </a:lnSpc>
              <a:spcBef>
                <a:spcPts val="400"/>
              </a:spcBef>
              <a:buNone/>
            </a:pPr>
            <a:r>
              <a:rPr lang="en-US" sz="1750" dirty="0">
                <a:solidFill>
                  <a:srgbClr val="000000"/>
                </a:solidFill>
                <a:latin typeface="Arial"/>
                <a:cs typeface="Arial"/>
              </a:rPr>
              <a:t>Ghép cặp: ghép BN tương tự</a:t>
            </a:r>
          </a:p>
          <a:p>
            <a:pPr marL="0" indent="0" algn="l">
              <a:lnSpc>
                <a:spcPct val="104000"/>
              </a:lnSpc>
              <a:spcBef>
                <a:spcPts val="400"/>
              </a:spcBef>
              <a:buNone/>
            </a:pPr>
            <a:r>
              <a:rPr lang="en-US" sz="1750" dirty="0">
                <a:solidFill>
                  <a:srgbClr val="000000"/>
                </a:solidFill>
                <a:latin typeface="Arial"/>
                <a:cs typeface="Arial"/>
              </a:rPr>
              <a:t>Hiệu chỉnh: thống kê khi phân tích</a:t>
            </a:r>
          </a:p>
          <a:p>
            <a:pPr marL="0" indent="0" algn="l">
              <a:lnSpc>
                <a:spcPct val="104000"/>
              </a:lnSpc>
              <a:spcBef>
                <a:spcPts val="400"/>
              </a:spcBef>
              <a:buNone/>
            </a:pPr>
            <a:r>
              <a:rPr lang="en-US" sz="1750" b="1" dirty="0">
                <a:solidFill>
                  <a:srgbClr val="B23B2E"/>
                </a:solidFill>
                <a:latin typeface="Arial"/>
                <a:cs typeface="Arial"/>
              </a:rPr>
              <a:t>Chỉ với yếu tố nhiễu đã đo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Chỉ phân nhóm ngẫu nhiên bảo vệ trước yếu tố nhiễu chưa từng được đo.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Ngẫu nhiên hóa cân bằng điều ta biết và điều ta chưa biết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Nhờ may rủi, hai nhóm có thành phần tương tự, kể cả yếu tố chưa ai đo.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 giấu phân bổ trước, làm mù sau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Che giấu bảo vệ AI được đưa vào; làm mù bảo vệ CÁCH đo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Ghép cặp có ích, nhưng chỉ với điều đã được đo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Ghép cặp và hiệu chỉnh không cân bằng được điều không ai ghi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Giá trị nội tại trước, rồi đến giá trị ngoại suy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Trước hết: đúng với người được nghiên cứu? Sau đó: có áp dụng cho BN của tôi?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Nhân quả ngược: cái nào có trước?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Trước khi nói X gây ra Y, hãy chắc rằng Y không gây ra X.</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liên quan đến nhân quả: Bradford Hill bằng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Nhân quả là nhận định từ nhiều manh mối; trình tự thời gian là điều bắt buộc duy nhất.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nhanh: Phát hiện sai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4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Mẹ của trẻ dị tật bẩm sinh nhớ thuốc dùng khi mang thai rõ hơn các bà mẹ khác</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Điều dưỡng nghiên cứu biết nhóm chấm điểm 'đủ điều kiện ra viện'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Khảo sát chất lượng sống sau ICU chỉ tuyển người đến tái khám</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BN có lactate cao được truyền nhiều dịch hơn và tử vong nhiều hơn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Chọn một</a:t>
            </a:r>
          </a:p>
          <a:p>
            <a:pPr marL="274320" indent="-274320" algn="l">
              <a:lnSpc>
                <a:spcPct val="104000"/>
              </a:lnSpc>
              <a:spcBef>
                <a:spcPts val="300"/>
              </a:spcBef>
              <a:buFont typeface="Arial"/>
              <a:buChar char="•"/>
            </a:pPr>
            <a:r>
              <a:rPr lang="en-US" sz="1500" dirty="0">
                <a:solidFill>
                  <a:srgbClr val="000000"/>
                </a:solidFill>
                <a:latin typeface="Arial"/>
                <a:cs typeface="Arial"/>
              </a:rPr>
              <a:t>Sai lệch chọn lựa</a:t>
            </a:r>
          </a:p>
          <a:p>
            <a:pPr marL="274320" indent="-274320" algn="l">
              <a:lnSpc>
                <a:spcPct val="104000"/>
              </a:lnSpc>
              <a:spcBef>
                <a:spcPts val="300"/>
              </a:spcBef>
              <a:buFont typeface="Arial"/>
              <a:buChar char="•"/>
            </a:pPr>
            <a:r>
              <a:rPr lang="en-US" sz="1500" dirty="0">
                <a:solidFill>
                  <a:srgbClr val="000000"/>
                </a:solidFill>
                <a:latin typeface="Arial"/>
                <a:cs typeface="Arial"/>
              </a:rPr>
              <a:t>Sai lệch nhớ lại</a:t>
            </a:r>
          </a:p>
          <a:p>
            <a:pPr marL="274320" indent="-274320" algn="l">
              <a:lnSpc>
                <a:spcPct val="104000"/>
              </a:lnSpc>
              <a:spcBef>
                <a:spcPts val="300"/>
              </a:spcBef>
              <a:buFont typeface="Arial"/>
              <a:buChar char="•"/>
            </a:pPr>
            <a:r>
              <a:rPr lang="en-US" sz="1500" dirty="0">
                <a:solidFill>
                  <a:srgbClr val="000000"/>
                </a:solidFill>
                <a:latin typeface="Arial"/>
                <a:cs typeface="Arial"/>
              </a:rPr>
              <a:t>Sai lệch người quan sát</a:t>
            </a:r>
          </a:p>
          <a:p>
            <a:pPr marL="274320" indent="-274320" algn="l">
              <a:lnSpc>
                <a:spcPct val="104000"/>
              </a:lnSpc>
              <a:spcBef>
                <a:spcPts val="300"/>
              </a:spcBef>
              <a:buFont typeface="Arial"/>
              <a:buChar char="•"/>
            </a:pPr>
            <a:r>
              <a:rPr lang="en-US" sz="1500" dirty="0">
                <a:solidFill>
                  <a:srgbClr val="000000"/>
                </a:solidFill>
                <a:latin typeface="Arial"/>
                <a:cs typeface="Arial"/>
              </a:rPr>
              <a:t>Yếu tố nhiễu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SẢN PHẨM   </a:t>
            </a:r>
            <a:r>
              <a:rPr lang="en-US" sz="1500" dirty="0">
                <a:solidFill>
                  <a:srgbClr val="000000"/>
                </a:solidFill>
                <a:latin typeface="Arial"/>
                <a:cs typeface="Arial"/>
              </a:rPr>
              <a:t>Mỗi tình huống: gọi tên một sai lệch và một cách khắc phục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4.2  Đo lường bệnh và mối liên quan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Phổ biến đến đâu? Khả năng cao hơn bao nhiêu?</a:t>
            </a:r>
          </a:p>
          <a:p>
            <a:pPr marL="0" indent="0" algn="ctr">
              <a:spcBef>
                <a:spcPts val="1200"/>
              </a:spcBef>
              <a:buNone/>
            </a:pPr>
            <a:r>
              <a:rPr lang="en-US" sz="1900" i="1" dirty="0">
                <a:solidFill>
                  <a:srgbClr val="595959"/>
                </a:solidFill>
                <a:latin typeface="Arial"/>
                <a:cs typeface="Arial"/>
              </a:rPr>
              <a:t>Hiện mắc, mới mắc, nguy cơ, và bảng 2x2 đằng sau RR, OR, RD và NNT. (30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Hiện mắc và mới mắc: hình ảnh bồn tắm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Hiện mắc = bao nhiêu người đang mắc; mới mắc = bao nhiêu ca mới theo thời gian.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Nguy cơ ở hai nhóm, bằng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Thử nghiệm giả định dùng cho giảng dạy: 100 bệnh nhân mỗi nhóm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Nguy cơ = số người có kết cục / số người trong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2x2: một công cụ cho mọi số đo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Phơi nhiễm ở hàng, kết cục ở cột: a, b, c, 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Bốn số đo từ một bảng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Ví dụ: hạn chế dịch 20/100 tử vong, thường quy 30/100 tử vong</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Tỷ số nguy cơ (RR)</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[a/(a+b)] / [c/(c+d)]</a:t>
            </a:r>
          </a:p>
          <a:p>
            <a:pPr marL="0" indent="0" algn="l">
              <a:lnSpc>
                <a:spcPct val="104000"/>
              </a:lnSpc>
              <a:spcBef>
                <a:spcPts val="400"/>
              </a:spcBef>
              <a:buNone/>
            </a:pPr>
            <a:r>
              <a:rPr lang="en-US" sz="1600" b="1" dirty="0">
                <a:solidFill>
                  <a:srgbClr val="000000"/>
                </a:solidFill>
                <a:latin typeface="Arial"/>
                <a:cs typeface="Arial"/>
              </a:rPr>
              <a:t>20% / 30% = 0,67</a:t>
            </a:r>
          </a:p>
          <a:p>
            <a:pPr marL="0" indent="0" algn="l">
              <a:lnSpc>
                <a:spcPct val="104000"/>
              </a:lnSpc>
              <a:spcBef>
                <a:spcPts val="400"/>
              </a:spcBef>
              <a:buNone/>
            </a:pPr>
            <a:r>
              <a:rPr lang="en-US" sz="1600" dirty="0">
                <a:solidFill>
                  <a:srgbClr val="000000"/>
                </a:solidFill>
                <a:latin typeface="Arial"/>
                <a:cs typeface="Arial"/>
              </a:rPr>
              <a:t>nguy cơ thấp hơn 1/3</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Hiệu số nguy cơ (RD)</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a/(a+b) - c/(c+d)</a:t>
            </a:r>
          </a:p>
          <a:p>
            <a:pPr marL="0" indent="0" algn="l">
              <a:lnSpc>
                <a:spcPct val="104000"/>
              </a:lnSpc>
              <a:spcBef>
                <a:spcPts val="400"/>
              </a:spcBef>
              <a:buNone/>
            </a:pPr>
            <a:r>
              <a:rPr lang="en-US" sz="1600" b="1" dirty="0">
                <a:solidFill>
                  <a:srgbClr val="000000"/>
                </a:solidFill>
                <a:latin typeface="Arial"/>
                <a:cs typeface="Arial"/>
              </a:rPr>
              <a:t>20% - 30% = -10 điểm</a:t>
            </a:r>
          </a:p>
          <a:p>
            <a:pPr marL="0" indent="0" algn="l">
              <a:lnSpc>
                <a:spcPct val="104000"/>
              </a:lnSpc>
              <a:spcBef>
                <a:spcPts val="400"/>
              </a:spcBef>
              <a:buNone/>
            </a:pPr>
            <a:r>
              <a:rPr lang="en-US" sz="1600" dirty="0">
                <a:solidFill>
                  <a:srgbClr val="000000"/>
                </a:solidFill>
                <a:latin typeface="Arial"/>
                <a:cs typeface="Arial"/>
              </a:rPr>
              <a:t>ít hơn 10 ca tử vong/100</a:t>
            </a:r>
          </a:p>
        </p:txBody>
      </p:sp>
      <p:sp>
        <p:nvSpPr>
          <p:cNvPr id="74" name="CardHead"/>
          <p:cNvSpPr/>
          <p:nvPr/>
        </p:nvSpPr>
        <p:spPr>
          <a:xfrm>
            <a:off x="6196000" y="2142906"/>
            <a:ext cx="26694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NNT</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1 / |hiệu số nguy cơ|</a:t>
            </a:r>
          </a:p>
          <a:p>
            <a:pPr marL="0" indent="0" algn="l">
              <a:lnSpc>
                <a:spcPct val="104000"/>
              </a:lnSpc>
              <a:spcBef>
                <a:spcPts val="400"/>
              </a:spcBef>
              <a:buNone/>
            </a:pPr>
            <a:r>
              <a:rPr lang="en-US" sz="1600" b="1" dirty="0">
                <a:solidFill>
                  <a:srgbClr val="000000"/>
                </a:solidFill>
                <a:latin typeface="Arial"/>
                <a:cs typeface="Arial"/>
              </a:rPr>
              <a:t>1 / 0,10 = 10</a:t>
            </a:r>
          </a:p>
          <a:p>
            <a:pPr marL="0" indent="0" algn="l">
              <a:lnSpc>
                <a:spcPct val="104000"/>
              </a:lnSpc>
              <a:spcBef>
                <a:spcPts val="400"/>
              </a:spcBef>
              <a:buNone/>
            </a:pPr>
            <a:r>
              <a:rPr lang="en-US" sz="1600" dirty="0">
                <a:solidFill>
                  <a:srgbClr val="000000"/>
                </a:solidFill>
                <a:latin typeface="Arial"/>
                <a:cs typeface="Arial"/>
              </a:rPr>
              <a:t>điều trị 10 để ngăn 1 ca tử vong</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Tỷ số chênh (OR)</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(a x d) / (b x c)</a:t>
            </a:r>
          </a:p>
          <a:p>
            <a:pPr marL="0" indent="0" algn="l">
              <a:lnSpc>
                <a:spcPct val="104000"/>
              </a:lnSpc>
              <a:spcBef>
                <a:spcPts val="400"/>
              </a:spcBef>
              <a:buNone/>
            </a:pPr>
            <a:r>
              <a:rPr lang="en-US" sz="1600" b="1" dirty="0">
                <a:solidFill>
                  <a:srgbClr val="000000"/>
                </a:solidFill>
                <a:latin typeface="Arial"/>
                <a:cs typeface="Arial"/>
              </a:rPr>
              <a:t>(20x70)/(80x30) = 0,58</a:t>
            </a:r>
          </a:p>
          <a:p>
            <a:pPr marL="0" indent="0" algn="l">
              <a:lnSpc>
                <a:spcPct val="104000"/>
              </a:lnSpc>
              <a:spcBef>
                <a:spcPts val="400"/>
              </a:spcBef>
              <a:buNone/>
            </a:pPr>
            <a:r>
              <a:rPr lang="en-US" sz="1600" dirty="0">
                <a:solidFill>
                  <a:srgbClr val="000000"/>
                </a:solidFill>
                <a:latin typeface="Arial"/>
                <a:cs typeface="Arial"/>
              </a:rPr>
              <a:t>odds, không phải nguy cơ</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Tỷ số cho biết mạnh đến đâu; hiệu số cho biết bao nhiêu bệnh nhân.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NNT bằng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NNT = 1 / hiệu số nguy cơ: cần điều trị bao nhiêu người để một người có lợi.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Khi nào tỷ số chênh gần bằng tỷ số nguy cơ?</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OR chỉ gần bằng RR khi kết cục hiếm (dưới khoảng 10%).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thêm một bảng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Mỗi nhóm 200 BN: 20 tử vong với điều trị mới, 30 với thường quy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Nguy cơ ở mỗi nhóm?</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RR? Hiệu số nguy cơ? NNT?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thêm: OR = (a x d) / (b x c)?</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Bảng</a:t>
            </a:r>
          </a:p>
          <a:p>
            <a:pPr marL="274320" indent="-274320" algn="l">
              <a:lnSpc>
                <a:spcPct val="104000"/>
              </a:lnSpc>
              <a:spcBef>
                <a:spcPts val="300"/>
              </a:spcBef>
              <a:buFont typeface="Arial"/>
              <a:buChar char="•"/>
            </a:pPr>
            <a:r>
              <a:rPr lang="en-US" sz="1500" dirty="0">
                <a:solidFill>
                  <a:srgbClr val="000000"/>
                </a:solidFill>
                <a:latin typeface="Arial"/>
                <a:cs typeface="Arial"/>
              </a:rPr>
              <a:t>a = 20, b = 180</a:t>
            </a:r>
          </a:p>
          <a:p>
            <a:pPr marL="274320" indent="-274320" algn="l">
              <a:lnSpc>
                <a:spcPct val="104000"/>
              </a:lnSpc>
              <a:spcBef>
                <a:spcPts val="300"/>
              </a:spcBef>
              <a:buFont typeface="Arial"/>
              <a:buChar char="•"/>
            </a:pPr>
            <a:r>
              <a:rPr lang="en-US" sz="1500" dirty="0">
                <a:solidFill>
                  <a:srgbClr val="000000"/>
                </a:solidFill>
                <a:latin typeface="Arial"/>
                <a:cs typeface="Arial"/>
              </a:rPr>
              <a:t>c = 30, d = 170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SẢN PHẨM   </a:t>
            </a:r>
            <a:r>
              <a:rPr lang="en-US" sz="1500" dirty="0">
                <a:solidFill>
                  <a:srgbClr val="000000"/>
                </a:solidFill>
                <a:latin typeface="Arial"/>
                <a:cs typeface="Arial"/>
              </a:rPr>
              <a:t>Nguy cơ, RR, RD và NNT (đáp án trong ghi chú)</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trực tiếp: công cụ tính bảng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2x2_calculator.xlsx, trang Association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Nhập a, b, c, d của ví dụ: 20, 80, 30, 70</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Đọc nguy cơ, RR, RD, NNT, OR, và các câu diễn giải</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Đổi số tử vong thành 2 và 3 trên 100: xem OR tiến gần RR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Chỉ vào dòng chữ đỏ: dữ liệu bệnh-chứng chỉ cho OR</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Arial"/>
                <a:cs typeface="Arial"/>
              </a:rPr>
              <a:t>Chú ý</a:t>
            </a:r>
          </a:p>
          <a:p>
            <a:pPr marL="274320" indent="-274320" algn="l">
              <a:lnSpc>
                <a:spcPct val="104000"/>
              </a:lnSpc>
              <a:spcBef>
                <a:spcPts val="300"/>
              </a:spcBef>
              <a:buFont typeface="Arial"/>
              <a:buChar char="•"/>
            </a:pPr>
            <a:r>
              <a:rPr lang="en-US" sz="1500" dirty="0">
                <a:solidFill>
                  <a:srgbClr val="000000"/>
                </a:solidFill>
                <a:latin typeface="Arial"/>
                <a:cs typeface="Arial"/>
              </a:rPr>
              <a:t>Cùng cách trình bày như slide</a:t>
            </a:r>
          </a:p>
          <a:p>
            <a:pPr marL="274320" indent="-274320" algn="l">
              <a:lnSpc>
                <a:spcPct val="104000"/>
              </a:lnSpc>
              <a:spcBef>
                <a:spcPts val="300"/>
              </a:spcBef>
              <a:buFont typeface="Arial"/>
              <a:buChar char="•"/>
            </a:pPr>
            <a:r>
              <a:rPr lang="en-US" sz="1500" dirty="0">
                <a:solidFill>
                  <a:srgbClr val="000000"/>
                </a:solidFill>
                <a:latin typeface="Arial"/>
                <a:cs typeface="Arial"/>
              </a:rPr>
              <a:t>Tác động tương đối và tuyệt đối</a:t>
            </a:r>
          </a:p>
          <a:p>
            <a:pPr marL="274320" indent="-274320" algn="l">
              <a:lnSpc>
                <a:spcPct val="104000"/>
              </a:lnSpc>
              <a:spcBef>
                <a:spcPts val="300"/>
              </a:spcBef>
              <a:buFont typeface="Arial"/>
              <a:buChar char="•"/>
            </a:pPr>
            <a:r>
              <a:rPr lang="en-US" sz="1500" dirty="0">
                <a:solidFill>
                  <a:srgbClr val="000000"/>
                </a:solidFill>
                <a:latin typeface="Arial"/>
                <a:cs typeface="Arial"/>
              </a:rPr>
              <a:t>Kết cục hiếm: OR gần RR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thấy mọi số đo được tính từ một bảng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GIẢI LAO   |   15 phút</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Vận động, uống cà phê, hít thở không khí</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Sau giải lao: hai bài tính bảng 2x2, hãy chuẩn bị bút</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Rồi phần 4.3: vượt ra ngoài một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Đến lượt bạn: hai bài tính bảng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20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Tài liệu Phần C: vẽ mỗi bảng 2x2 trước, phơi nhiễm ở hàng</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Bài 1 (thử nghiệm): nguy cơ, RR, RD, NNT, OR, và một câu diễn giải</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Bài 2 (bệnh-chứng): chỉ tính OR, và giải thích vì sao không tính RR</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Đối chiếu với người bên cạnh, rồi với công cụ tính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Arial"/>
                <a:cs typeface="Arial"/>
              </a:rPr>
              <a:t>Ghi nhớ</a:t>
            </a:r>
          </a:p>
          <a:p>
            <a:pPr marL="274320" indent="-274320" algn="l">
              <a:lnSpc>
                <a:spcPct val="104000"/>
              </a:lnSpc>
              <a:spcBef>
                <a:spcPts val="300"/>
              </a:spcBef>
              <a:buFont typeface="Arial"/>
              <a:buChar char="•"/>
            </a:pPr>
            <a:r>
              <a:rPr lang="en-US" sz="1500" dirty="0">
                <a:solidFill>
                  <a:srgbClr val="000000"/>
                </a:solidFill>
                <a:latin typeface="Arial"/>
                <a:cs typeface="Arial"/>
              </a:rPr>
              <a:t>Nguy cơ = a / (a + b)</a:t>
            </a:r>
          </a:p>
          <a:p>
            <a:pPr marL="274320" indent="-274320" algn="l">
              <a:lnSpc>
                <a:spcPct val="104000"/>
              </a:lnSpc>
              <a:spcBef>
                <a:spcPts val="300"/>
              </a:spcBef>
              <a:buFont typeface="Arial"/>
              <a:buChar char="•"/>
            </a:pPr>
            <a:r>
              <a:rPr lang="en-US" sz="1500" dirty="0">
                <a:solidFill>
                  <a:srgbClr val="000000"/>
                </a:solidFill>
                <a:latin typeface="Arial"/>
                <a:cs typeface="Arial"/>
              </a:rPr>
              <a:t>RR = nguy cơ / nguy cơ</a:t>
            </a:r>
          </a:p>
          <a:p>
            <a:pPr marL="274320" indent="-274320" algn="l">
              <a:lnSpc>
                <a:spcPct val="104000"/>
              </a:lnSpc>
              <a:spcBef>
                <a:spcPts val="300"/>
              </a:spcBef>
              <a:buFont typeface="Arial"/>
              <a:buChar char="•"/>
            </a:pPr>
            <a:r>
              <a:rPr lang="en-US" sz="1500" dirty="0">
                <a:solidFill>
                  <a:srgbClr val="000000"/>
                </a:solidFill>
                <a:latin typeface="Arial"/>
                <a:cs typeface="Arial"/>
              </a:rPr>
              <a:t>NNT = 1 / hiệu số nguy cơ</a:t>
            </a:r>
          </a:p>
          <a:p>
            <a:pPr marL="274320" indent="-274320" algn="l">
              <a:lnSpc>
                <a:spcPct val="104000"/>
              </a:lnSpc>
              <a:spcBef>
                <a:spcPts val="300"/>
              </a:spcBef>
              <a:buFont typeface="Arial"/>
              <a:buChar char="•"/>
            </a:pPr>
            <a:r>
              <a:rPr lang="en-US" sz="1500" dirty="0">
                <a:solidFill>
                  <a:srgbClr val="000000"/>
                </a:solidFill>
                <a:latin typeface="Arial"/>
                <a:cs typeface="Arial"/>
              </a:rPr>
              <a:t>OR = (a x d) / (b x 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Arial"/>
                <a:cs typeface="Arial"/>
              </a:rPr>
              <a:t>SẢN PHẨM   </a:t>
            </a:r>
            <a:r>
              <a:rPr lang="en-US" sz="1500" dirty="0">
                <a:solidFill>
                  <a:srgbClr val="000000"/>
                </a:solidFill>
                <a:latin typeface="Arial"/>
                <a:cs typeface="Arial"/>
              </a:rPr>
              <a:t>Hai bảng 2x2 hoàn chỉnh với kết quả được diễn giải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4.3  Vượt ra ngoài một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Một nghiên cứu hiếm khi là câu trả lời.</a:t>
            </a:r>
          </a:p>
          <a:p>
            <a:pPr marL="0" indent="0" algn="ctr">
              <a:spcBef>
                <a:spcPts val="1200"/>
              </a:spcBef>
              <a:buNone/>
            </a:pPr>
            <a:r>
              <a:rPr lang="en-US" sz="1900" i="1" dirty="0">
                <a:solidFill>
                  <a:srgbClr val="595959"/>
                </a:solidFill>
                <a:latin typeface="Arial"/>
                <a:cs typeface="Arial"/>
              </a:rPr>
              <a:t>Xét nghiệm chẩn đoán, tổng quan hệ thống và phân tích gộp, và cách thẩm định chúng. (30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Độ chính xác chẩn đoán: nhìn lại độ nhạy và độ đặc hiệu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Độ nhạy phát hiện người bệnh; độ đặc hiệu loại trừ người khỏe.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Cùng xét nghiệm, khác bối cảnh: PPV phụ thuộc tỷ lệ hiện mắc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Kết quả dương tính có ít ý nghĩa hơn nhiều khi bệnh hiếm gặp.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Đường cong ROC và AUC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437837" y="1150000"/>
            <a:ext cx="9316326"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ngưỡng đổi độ nhạy lấy độ đặc hiệu; AUC tóm tắt toàn bộ đường cong.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Sơ đồ PRISMA: từ 1.300 bản ghi đến 9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Sơ đồ PRISMA cho thấy cách tìm, sàng lọc và loại nghiên cứu, kèm lý do.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Đọc biểu đồ rừng trong bốn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Ô vuông = nghiên cứu, đường ngang = KTC, hình thoi = kết quả gộp, đường dọc = không tác động.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Tính không đồng nhất: các nghiên cứu có thống nhất?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I bình phương cao nghĩa là các nghiên cứu bất đồng: tìm lý do trước khi tin hình thoi.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Công cụ đánh giá nguy cơ sai lệch nào cho thiết kế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Chọn công cụ thẩm định phù hợp với thiết kế, và cả hướng dẫn báo cáo.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cuối: kết luận có được dữ liệu ủng hộ?</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7-9 trong bảng kiểm thẩm định 10 câu của khóa học (Buổi 8)</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Lời lẽ khớp thiết kế</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'Gây ra' cần ngẫu nhiên hóa</a:t>
            </a:r>
          </a:p>
          <a:p>
            <a:pPr marL="0" indent="0" algn="l">
              <a:lnSpc>
                <a:spcPct val="104000"/>
              </a:lnSpc>
              <a:spcBef>
                <a:spcPts val="400"/>
              </a:spcBef>
              <a:buNone/>
            </a:pPr>
            <a:r>
              <a:rPr lang="en-US" sz="1750" dirty="0">
                <a:solidFill>
                  <a:srgbClr val="000000"/>
                </a:solidFill>
                <a:latin typeface="Arial"/>
                <a:cs typeface="Arial"/>
              </a:rPr>
              <a:t>Quan sát: 'có liên quan với'</a:t>
            </a:r>
          </a:p>
          <a:p>
            <a:pPr marL="0" indent="0" algn="l">
              <a:lnSpc>
                <a:spcPct val="104000"/>
              </a:lnSpc>
              <a:spcBef>
                <a:spcPts val="400"/>
              </a:spcBef>
              <a:buNone/>
            </a:pPr>
            <a:r>
              <a:rPr lang="en-US" sz="1750" dirty="0">
                <a:solidFill>
                  <a:srgbClr val="000000"/>
                </a:solidFill>
                <a:latin typeface="Arial"/>
                <a:cs typeface="Arial"/>
              </a:rPr>
              <a:t>Thí điểm: khả thi, không phải hiệu quả</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Con số khớp lời lẽ</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Cỡ tác động kèm KTC 95%</a:t>
            </a:r>
          </a:p>
          <a:p>
            <a:pPr marL="0" indent="0" algn="l">
              <a:lnSpc>
                <a:spcPct val="104000"/>
              </a:lnSpc>
              <a:spcBef>
                <a:spcPts val="400"/>
              </a:spcBef>
              <a:buNone/>
            </a:pPr>
            <a:r>
              <a:rPr lang="en-US" sz="1750" dirty="0">
                <a:solidFill>
                  <a:srgbClr val="000000"/>
                </a:solidFill>
                <a:latin typeface="Arial"/>
                <a:cs typeface="Arial"/>
              </a:rPr>
              <a:t>Tương đối VÀ tuyệt đối</a:t>
            </a:r>
          </a:p>
          <a:p>
            <a:pPr marL="0" indent="0" algn="l">
              <a:lnSpc>
                <a:spcPct val="104000"/>
              </a:lnSpc>
              <a:spcBef>
                <a:spcPts val="400"/>
              </a:spcBef>
              <a:buNone/>
            </a:pPr>
            <a:r>
              <a:rPr lang="en-US" sz="1750" dirty="0">
                <a:solidFill>
                  <a:srgbClr val="000000"/>
                </a:solidFill>
                <a:latin typeface="Arial"/>
                <a:cs typeface="Arial"/>
              </a:rPr>
              <a:t>Không 'xu hướng' khi p = 0,42</a:t>
            </a:r>
          </a:p>
        </p:txBody>
      </p:sp>
      <p:sp>
        <p:nvSpPr>
          <p:cNvPr id="74" name="CardHead"/>
          <p:cNvSpPr/>
          <p:nvPr/>
        </p:nvSpPr>
        <p:spPr>
          <a:xfrm>
            <a:off x="8108932" y="2111157"/>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Trung thực, không tô vẽ</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Kết cục chính báo cáo trước</a:t>
            </a:r>
          </a:p>
          <a:p>
            <a:pPr marL="0" indent="0" algn="l">
              <a:lnSpc>
                <a:spcPct val="104000"/>
              </a:lnSpc>
              <a:spcBef>
                <a:spcPts val="400"/>
              </a:spcBef>
              <a:buNone/>
            </a:pPr>
            <a:r>
              <a:rPr lang="en-US" sz="1750" dirty="0">
                <a:solidFill>
                  <a:srgbClr val="000000"/>
                </a:solidFill>
                <a:latin typeface="Arial"/>
                <a:cs typeface="Arial"/>
              </a:rPr>
              <a:t>Nêu rõ hạn chế chính</a:t>
            </a:r>
          </a:p>
          <a:p>
            <a:pPr marL="0" indent="0" algn="l">
              <a:lnSpc>
                <a:spcPct val="104000"/>
              </a:lnSpc>
              <a:spcBef>
                <a:spcPts val="400"/>
              </a:spcBef>
              <a:buNone/>
            </a:pPr>
            <a:r>
              <a:rPr lang="en-US" sz="1750" dirty="0">
                <a:solidFill>
                  <a:srgbClr val="000000"/>
                </a:solidFill>
                <a:latin typeface="Arial"/>
                <a:cs typeface="Arial"/>
              </a:rPr>
              <a:t>Kết luận = kết quả chính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Đọc kết luận sau cùng, và đối chiếu với thiết kế và con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Làm theo cặp: đọc biểu đồ rừng, chọn công cụ</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THẢO LUẬN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Tài liệu Phần E: biểu đồ rừng của sáu thử nghiệm về dịch truyền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Thử nghiệm nào có trọng số lớn nhất? Có thử nghiệm riêng lẻ nào cho tác động rõ không?</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Hình thoi có cắt RR = 1 không? Nói kết quả bằng một câu</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Chọn công cụ đánh giá sai lệch cho Boulet, cho Hyun và cho một tổng quan về dịch truyền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Arial"/>
                <a:cs typeface="Arial"/>
              </a:rPr>
              <a:t>Nhắc lại</a:t>
            </a:r>
          </a:p>
          <a:p>
            <a:pPr marL="274320" indent="-274320" algn="l">
              <a:lnSpc>
                <a:spcPct val="104000"/>
              </a:lnSpc>
              <a:spcBef>
                <a:spcPts val="300"/>
              </a:spcBef>
              <a:buFont typeface="Arial"/>
              <a:buChar char="•"/>
            </a:pPr>
            <a:r>
              <a:rPr lang="en-US" sz="1500" dirty="0">
                <a:solidFill>
                  <a:srgbClr val="000000"/>
                </a:solidFill>
                <a:latin typeface="Arial"/>
                <a:cs typeface="Arial"/>
              </a:rPr>
              <a:t>Ô vuông = một nghiên cứu</a:t>
            </a:r>
          </a:p>
          <a:p>
            <a:pPr marL="274320" indent="-274320" algn="l">
              <a:lnSpc>
                <a:spcPct val="104000"/>
              </a:lnSpc>
              <a:spcBef>
                <a:spcPts val="300"/>
              </a:spcBef>
              <a:buFont typeface="Arial"/>
              <a:buChar char="•"/>
            </a:pPr>
            <a:r>
              <a:rPr lang="en-US" sz="1500" dirty="0">
                <a:solidFill>
                  <a:srgbClr val="000000"/>
                </a:solidFill>
                <a:latin typeface="Arial"/>
                <a:cs typeface="Arial"/>
              </a:rPr>
              <a:t>Đường ngang = KTC 95%</a:t>
            </a:r>
          </a:p>
          <a:p>
            <a:pPr marL="274320" indent="-274320" algn="l">
              <a:lnSpc>
                <a:spcPct val="104000"/>
              </a:lnSpc>
              <a:spcBef>
                <a:spcPts val="300"/>
              </a:spcBef>
              <a:buFont typeface="Arial"/>
              <a:buChar char="•"/>
            </a:pPr>
            <a:r>
              <a:rPr lang="en-US" sz="1500" dirty="0">
                <a:solidFill>
                  <a:srgbClr val="000000"/>
                </a:solidFill>
                <a:latin typeface="Arial"/>
                <a:cs typeface="Arial"/>
              </a:rPr>
              <a:t>Hình thoi = kết quả gộp</a:t>
            </a:r>
          </a:p>
          <a:p>
            <a:pPr marL="274320" indent="-274320" algn="l">
              <a:lnSpc>
                <a:spcPct val="104000"/>
              </a:lnSpc>
              <a:spcBef>
                <a:spcPts val="300"/>
              </a:spcBef>
              <a:buFont typeface="Arial"/>
              <a:buChar char="•"/>
            </a:pPr>
            <a:r>
              <a:rPr lang="en-US" sz="1500" dirty="0">
                <a:solidFill>
                  <a:srgbClr val="000000"/>
                </a:solidFill>
                <a:latin typeface="Arial"/>
                <a:cs typeface="Arial"/>
              </a:rPr>
              <a:t>RoB 2, ROBINS-I, NOS, QUADAS-2, AMSTAR 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Arial"/>
                <a:cs typeface="Arial"/>
              </a:rPr>
              <a:t>SẢN PHẨM   </a:t>
            </a:r>
            <a:r>
              <a:rPr lang="en-US" sz="1500" dirty="0">
                <a:solidFill>
                  <a:srgbClr val="000000"/>
                </a:solidFill>
                <a:latin typeface="Arial"/>
                <a:cs typeface="Arial"/>
              </a:rPr>
              <a:t>Một câu về kết quả gộp + ba công cụ được gọi tên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Kết cục: một kết cục chính, định nghĩa bằng cái gì, thế nào, khi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Kết cục chính không phải một từ; đó là một phép đo có phương pháp và thời điểm.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4: phơi nhiễm, kết cục và sai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Phơi nhiễm hoặc can thiệp: chính xác là gì, bao nhiêu, khi nào</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Nhóm so sánh: so sánh với ai hoặc với điều gì</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MỘT kết cục chính: cái gì, thế nào, khi nào</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2-3 kết cục phụ, mỗi kết cục có cái gì, thế nào, khi nào</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Hai sai lệch chính và bước thiết kế làm giảm từng sai lệch</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Viết một câu: sẽ kết luận 'gây ra' hay 'có liên quan'?</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Arial"/>
                <a:cs typeface="Arial"/>
              </a:rPr>
              <a:t>Người hướng dẫn kiểm tra</a:t>
            </a:r>
          </a:p>
          <a:p>
            <a:pPr marL="274320" indent="-274320" algn="l">
              <a:lnSpc>
                <a:spcPct val="104000"/>
              </a:lnSpc>
              <a:spcBef>
                <a:spcPts val="300"/>
              </a:spcBef>
              <a:buFont typeface="Arial"/>
              <a:buChar char="•"/>
            </a:pPr>
            <a:r>
              <a:rPr lang="en-US" sz="1500" dirty="0">
                <a:solidFill>
                  <a:srgbClr val="000000"/>
                </a:solidFill>
                <a:latin typeface="Arial"/>
                <a:cs typeface="Arial"/>
              </a:rPr>
              <a:t>Có nêu nhóm so sánh?</a:t>
            </a:r>
          </a:p>
          <a:p>
            <a:pPr marL="274320" indent="-274320" algn="l">
              <a:lnSpc>
                <a:spcPct val="104000"/>
              </a:lnSpc>
              <a:spcBef>
                <a:spcPts val="300"/>
              </a:spcBef>
              <a:buFont typeface="Arial"/>
              <a:buChar char="•"/>
            </a:pPr>
            <a:r>
              <a:rPr lang="en-US" sz="1500" dirty="0">
                <a:solidFill>
                  <a:srgbClr val="000000"/>
                </a:solidFill>
                <a:latin typeface="Arial"/>
                <a:cs typeface="Arial"/>
              </a:rPr>
              <a:t>Chỉ MỘT kết cục chính?</a:t>
            </a:r>
          </a:p>
          <a:p>
            <a:pPr marL="274320" indent="-274320" algn="l">
              <a:lnSpc>
                <a:spcPct val="104000"/>
              </a:lnSpc>
              <a:spcBef>
                <a:spcPts val="300"/>
              </a:spcBef>
              <a:buFont typeface="Arial"/>
              <a:buChar char="•"/>
            </a:pPr>
            <a:r>
              <a:rPr lang="en-US" sz="1500" dirty="0">
                <a:solidFill>
                  <a:srgbClr val="000000"/>
                </a:solidFill>
                <a:latin typeface="Arial"/>
                <a:cs typeface="Arial"/>
              </a:rPr>
              <a:t>Kết cục có thời điểm?</a:t>
            </a:r>
          </a:p>
          <a:p>
            <a:pPr marL="274320" indent="-274320" algn="l">
              <a:lnSpc>
                <a:spcPct val="104000"/>
              </a:lnSpc>
              <a:spcBef>
                <a:spcPts val="300"/>
              </a:spcBef>
              <a:buFont typeface="Arial"/>
              <a:buChar char="•"/>
            </a:pPr>
            <a:r>
              <a:rPr lang="en-US" sz="1500" dirty="0">
                <a:solidFill>
                  <a:srgbClr val="000000"/>
                </a:solidFill>
                <a:latin typeface="Arial"/>
                <a:cs typeface="Arial"/>
              </a:rPr>
              <a:t>Nhiễu do chỉ định?</a:t>
            </a:r>
          </a:p>
          <a:p>
            <a:pPr marL="274320" indent="-274320" algn="l">
              <a:lnSpc>
                <a:spcPct val="104000"/>
              </a:lnSpc>
              <a:spcBef>
                <a:spcPts val="300"/>
              </a:spcBef>
              <a:buFont typeface="Arial"/>
              <a:buChar char="•"/>
            </a:pPr>
            <a:r>
              <a:rPr lang="en-US" sz="1500" dirty="0">
                <a:solidFill>
                  <a:srgbClr val="000000"/>
                </a:solidFill>
                <a:latin typeface="Arial"/>
                <a:cs typeface="Arial"/>
              </a:rPr>
              <a:t>Mỗi sai lệch có biện pháp cụ thể?</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Arial"/>
                <a:cs typeface="Arial"/>
              </a:rPr>
              <a:t>SẢN PHẨM   </a:t>
            </a:r>
            <a:r>
              <a:rPr lang="en-US" sz="1500" dirty="0">
                <a:solidFill>
                  <a:srgbClr val="000000"/>
                </a:solidFill>
                <a:latin typeface="Arial"/>
                <a:cs typeface="Arial"/>
              </a:rPr>
              <a:t>Phần 2 đề cương hoàn chỉnh (2a từ Buổi 3 + 2b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Buổi 4 trong một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4.1 Tin cậy</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Sai lệch: cỡ mẫu không sửa</a:t>
            </a:r>
          </a:p>
          <a:p>
            <a:pPr marL="0" indent="0" algn="l">
              <a:lnSpc>
                <a:spcPct val="104000"/>
              </a:lnSpc>
              <a:spcBef>
                <a:spcPts val="400"/>
              </a:spcBef>
              <a:buNone/>
            </a:pPr>
            <a:r>
              <a:rPr lang="en-US" sz="1600" dirty="0">
                <a:solidFill>
                  <a:srgbClr val="000000"/>
                </a:solidFill>
                <a:latin typeface="Arial"/>
                <a:cs typeface="Arial"/>
              </a:rPr>
              <a:t>Yếu tố nhiễu: loại bỏ</a:t>
            </a:r>
          </a:p>
          <a:p>
            <a:pPr marL="0" indent="0" algn="l">
              <a:lnSpc>
                <a:spcPct val="104000"/>
              </a:lnSpc>
              <a:spcBef>
                <a:spcPts val="400"/>
              </a:spcBef>
              <a:buNone/>
            </a:pPr>
            <a:r>
              <a:rPr lang="en-US" sz="1600" dirty="0">
                <a:solidFill>
                  <a:srgbClr val="000000"/>
                </a:solidFill>
                <a:latin typeface="Arial"/>
                <a:cs typeface="Arial"/>
              </a:rPr>
              <a:t>Thay đổi tác động: báo cáo</a:t>
            </a:r>
          </a:p>
        </p:txBody>
      </p:sp>
      <p:sp>
        <p:nvSpPr>
          <p:cNvPr id="72" name="CardHead"/>
          <p:cNvSpPr/>
          <p:nvPr/>
        </p:nvSpPr>
        <p:spPr>
          <a:xfrm>
            <a:off x="33266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4.2 Độ lớn</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Tương đối: RR, OR</a:t>
            </a:r>
          </a:p>
          <a:p>
            <a:pPr marL="0" indent="0" algn="l">
              <a:lnSpc>
                <a:spcPct val="104000"/>
              </a:lnSpc>
              <a:spcBef>
                <a:spcPts val="400"/>
              </a:spcBef>
              <a:buNone/>
            </a:pPr>
            <a:r>
              <a:rPr lang="en-US" sz="1600" dirty="0">
                <a:solidFill>
                  <a:srgbClr val="000000"/>
                </a:solidFill>
                <a:latin typeface="Arial"/>
                <a:cs typeface="Arial"/>
              </a:rPr>
              <a:t>Tuyệt đối: RD, NNT</a:t>
            </a:r>
          </a:p>
          <a:p>
            <a:pPr marL="0" indent="0" algn="l">
              <a:lnSpc>
                <a:spcPct val="104000"/>
              </a:lnSpc>
              <a:spcBef>
                <a:spcPts val="400"/>
              </a:spcBef>
              <a:buNone/>
            </a:pPr>
            <a:r>
              <a:rPr lang="en-US" sz="1600" dirty="0">
                <a:solidFill>
                  <a:srgbClr val="000000"/>
                </a:solidFill>
                <a:latin typeface="Arial"/>
                <a:cs typeface="Arial"/>
              </a:rPr>
              <a:t>OR = RR chỉ khi hiếm</a:t>
            </a:r>
          </a:p>
        </p:txBody>
      </p:sp>
      <p:sp>
        <p:nvSpPr>
          <p:cNvPr id="74" name="CardHead"/>
          <p:cNvSpPr/>
          <p:nvPr/>
        </p:nvSpPr>
        <p:spPr>
          <a:xfrm>
            <a:off x="61960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4.3 Nhiều nghiên cứu</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PPV phụ thuộc hiện mắc</a:t>
            </a:r>
          </a:p>
          <a:p>
            <a:pPr marL="0" indent="0" algn="l">
              <a:lnSpc>
                <a:spcPct val="104000"/>
              </a:lnSpc>
              <a:spcBef>
                <a:spcPts val="400"/>
              </a:spcBef>
              <a:buNone/>
            </a:pPr>
            <a:r>
              <a:rPr lang="en-US" sz="1600" dirty="0">
                <a:solidFill>
                  <a:srgbClr val="000000"/>
                </a:solidFill>
                <a:latin typeface="Arial"/>
                <a:cs typeface="Arial"/>
              </a:rPr>
              <a:t>Biểu đồ rừng: đọc hình thoi</a:t>
            </a:r>
          </a:p>
          <a:p>
            <a:pPr marL="0" indent="0" algn="l">
              <a:lnSpc>
                <a:spcPct val="104000"/>
              </a:lnSpc>
              <a:spcBef>
                <a:spcPts val="400"/>
              </a:spcBef>
              <a:buNone/>
            </a:pPr>
            <a:r>
              <a:rPr lang="en-US" sz="1600" dirty="0">
                <a:solidFill>
                  <a:srgbClr val="000000"/>
                </a:solidFill>
                <a:latin typeface="Arial"/>
                <a:cs typeface="Arial"/>
              </a:rPr>
              <a:t>Đúng công cụ cho thiết kế</a:t>
            </a:r>
          </a:p>
        </p:txBody>
      </p:sp>
      <p:sp>
        <p:nvSpPr>
          <p:cNvPr id="76" name="CardHead"/>
          <p:cNvSpPr/>
          <p:nvPr/>
        </p:nvSpPr>
        <p:spPr>
          <a:xfrm>
            <a:off x="9065400" y="1764906"/>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Đề cương của bạn</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Phần 2 hoàn chỉnh</a:t>
            </a:r>
          </a:p>
          <a:p>
            <a:pPr marL="0" indent="0" algn="l">
              <a:lnSpc>
                <a:spcPct val="104000"/>
              </a:lnSpc>
              <a:spcBef>
                <a:spcPts val="400"/>
              </a:spcBef>
              <a:buNone/>
            </a:pPr>
            <a:r>
              <a:rPr lang="en-US" sz="1600" dirty="0">
                <a:solidFill>
                  <a:srgbClr val="000000"/>
                </a:solidFill>
                <a:latin typeface="Arial"/>
                <a:cs typeface="Arial"/>
              </a:rPr>
              <a:t>Gây ra hay có liên quan?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Tin trước, rồi đến độ lớn, và kiểm tra lời lẽ có khớp với thiết kế.</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Tổng kết và bài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THẢO LUẬN   |   5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Câu hỏi cuối buổi: BN ICU được truyền nhiều dịch hơn tử vong nhiều hơn. Nêu một lý do khác ngoài bản thân dịch truyền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Bài về nhà: hoàn thành Phần 2 đề cương (phơi nhiễm, so sánh, kết cục, sai lệch)</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Tùy chọn: Phần B và D của tài liệu (thay đổi tác động, PPV ở hai bối cảnh)</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Hai thứ Bảy tới (Buổi 5-6): dữ liệu và bộ dữ liệu khóa học FLUID-ICU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Arial"/>
                <a:cs typeface="Arial"/>
              </a:rPr>
              <a:t>SẢN PHẨM   </a:t>
            </a:r>
            <a:r>
              <a:rPr lang="en-US" sz="1500" dirty="0">
                <a:solidFill>
                  <a:srgbClr val="000000"/>
                </a:solidFill>
                <a:latin typeface="Arial"/>
                <a:cs typeface="Arial"/>
              </a:rPr>
              <a:t>Câu trả lời cuối buổi trên giấy dán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Slide bổ sung: Buổi 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4</a:t>
            </a:r>
          </a:p>
          <a:p>
            <a:pPr marL="0" indent="0" algn="ctr">
              <a:spcBef>
                <a:spcPts val="1200"/>
              </a:spcBef>
              <a:buNone/>
            </a:pPr>
            <a:r>
              <a:rPr lang="en-US" sz="1900" i="1" dirty="0">
                <a:solidFill>
                  <a:srgbClr val="595959"/>
                </a:solidFill>
                <a:latin typeface="Arial"/>
                <a:cs typeface="Arial"/>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Tỷ số khả dĩ và báo cáo nghiên cứu chẩn đoán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Cùng xét nghiệm: độ nhạy 90%, độ đặc hiệu 80%</a:t>
            </a:r>
          </a:p>
        </p:txBody>
      </p:sp>
      <p:sp>
        <p:nvSpPr>
          <p:cNvPr id="70" name="CardHead"/>
          <p:cNvSpPr/>
          <p:nvPr/>
        </p:nvSpPr>
        <p:spPr>
          <a:xfrm>
            <a:off x="457200" y="2018552"/>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LR+ (xét nghiệm dương)</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độ nhạy / (1 - độ đặc hiệu)</a:t>
            </a:r>
          </a:p>
          <a:p>
            <a:pPr marL="0" indent="0" algn="l">
              <a:lnSpc>
                <a:spcPct val="104000"/>
              </a:lnSpc>
              <a:spcBef>
                <a:spcPts val="400"/>
              </a:spcBef>
              <a:buNone/>
            </a:pPr>
            <a:r>
              <a:rPr lang="en-US" sz="1750" b="1" dirty="0">
                <a:solidFill>
                  <a:srgbClr val="000000"/>
                </a:solidFill>
                <a:latin typeface="Arial"/>
                <a:cs typeface="Arial"/>
              </a:rPr>
              <a:t>0,90 / 0,20 = 4,5</a:t>
            </a:r>
          </a:p>
          <a:p>
            <a:pPr marL="0" indent="0" algn="l">
              <a:lnSpc>
                <a:spcPct val="104000"/>
              </a:lnSpc>
              <a:spcBef>
                <a:spcPts val="400"/>
              </a:spcBef>
              <a:buNone/>
            </a:pPr>
            <a:r>
              <a:rPr lang="en-US" sz="1750" dirty="0">
                <a:solidFill>
                  <a:srgbClr val="000000"/>
                </a:solidFill>
                <a:latin typeface="Arial"/>
                <a:cs typeface="Arial"/>
              </a:rPr>
              <a:t>kết quả dương gặp ở người bệnh nhiều gấp 4,5 lần</a:t>
            </a:r>
          </a:p>
        </p:txBody>
      </p:sp>
      <p:sp>
        <p:nvSpPr>
          <p:cNvPr id="72" name="CardHead"/>
          <p:cNvSpPr/>
          <p:nvPr/>
        </p:nvSpPr>
        <p:spPr>
          <a:xfrm>
            <a:off x="4283066"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LR- (xét nghiệm âm)</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(1 - độ nhạy) / độ đặc hiệu</a:t>
            </a:r>
          </a:p>
          <a:p>
            <a:pPr marL="0" indent="0" algn="l">
              <a:lnSpc>
                <a:spcPct val="104000"/>
              </a:lnSpc>
              <a:spcBef>
                <a:spcPts val="400"/>
              </a:spcBef>
              <a:buNone/>
            </a:pPr>
            <a:r>
              <a:rPr lang="en-US" sz="1750" b="1" dirty="0">
                <a:solidFill>
                  <a:srgbClr val="000000"/>
                </a:solidFill>
                <a:latin typeface="Arial"/>
                <a:cs typeface="Arial"/>
              </a:rPr>
              <a:t>0,10 / 0,80 = 0,13</a:t>
            </a:r>
          </a:p>
          <a:p>
            <a:pPr marL="0" indent="0" algn="l">
              <a:lnSpc>
                <a:spcPct val="104000"/>
              </a:lnSpc>
              <a:spcBef>
                <a:spcPts val="400"/>
              </a:spcBef>
              <a:buNone/>
            </a:pPr>
            <a:r>
              <a:rPr lang="en-US" sz="1750" dirty="0">
                <a:solidFill>
                  <a:srgbClr val="000000"/>
                </a:solidFill>
                <a:latin typeface="Arial"/>
                <a:cs typeface="Arial"/>
              </a:rPr>
              <a:t>LR trên 10 hoặc dưới 0,1 thay đổi quyết định nhiều nhất</a:t>
            </a:r>
          </a:p>
        </p:txBody>
      </p:sp>
      <p:sp>
        <p:nvSpPr>
          <p:cNvPr id="74" name="CardHead"/>
          <p:cNvSpPr/>
          <p:nvPr/>
        </p:nvSpPr>
        <p:spPr>
          <a:xfrm>
            <a:off x="8108932"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Báo cáo và thẩm định</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STARD: bảng kiểm 30 mục + sơ đồ</a:t>
            </a:r>
          </a:p>
          <a:p>
            <a:pPr marL="0" indent="0" algn="l">
              <a:lnSpc>
                <a:spcPct val="104000"/>
              </a:lnSpc>
              <a:spcBef>
                <a:spcPts val="400"/>
              </a:spcBef>
              <a:buNone/>
            </a:pPr>
            <a:r>
              <a:rPr lang="en-US" sz="1750" dirty="0">
                <a:solidFill>
                  <a:srgbClr val="000000"/>
                </a:solidFill>
                <a:latin typeface="Arial"/>
                <a:cs typeface="Arial"/>
              </a:rPr>
              <a:t>QUADAS-2: nguy cơ sai lệch</a:t>
            </a:r>
          </a:p>
          <a:p>
            <a:pPr marL="0" indent="0" algn="l">
              <a:lnSpc>
                <a:spcPct val="104000"/>
              </a:lnSpc>
              <a:spcBef>
                <a:spcPts val="400"/>
              </a:spcBef>
              <a:buNone/>
            </a:pPr>
            <a:r>
              <a:rPr lang="en-US" sz="1750" dirty="0">
                <a:solidFill>
                  <a:srgbClr val="000000"/>
                </a:solidFill>
                <a:latin typeface="Arial"/>
                <a:cs typeface="Arial"/>
              </a:rPr>
              <a:t>Thử trên đúng BN sẽ dùng xét nghiệm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Tỷ số khả dĩ không đổi theo tỷ lệ hiện mắc; giá trị tiên đoán thì có.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Biểu đồ đèn giao thông RoB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Đánh giá từng lĩnh vực; nguy cơ chung do lĩnh vực xấu nhất quyết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hiện mắc hay mới mắc?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Hôm nay</a:t>
            </a:r>
          </a:p>
        </p:txBody>
      </p:sp>
      <p:sp>
        <p:nvSpPr>
          <p:cNvPr id="81" name="StepText"/>
          <p:cNvSpPr/>
          <p:nvPr/>
        </p:nvSpPr>
        <p:spPr>
          <a:xfrm>
            <a:off x="4972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200 BN ở khoa; 20 BN có loét tì đè</a:t>
            </a:r>
          </a:p>
          <a:p>
            <a:pPr marL="0" indent="0" algn="l">
              <a:lnSpc>
                <a:spcPct val="104000"/>
              </a:lnSpc>
              <a:spcBef>
                <a:spcPts val="200"/>
              </a:spcBef>
              <a:buNone/>
            </a:pPr>
            <a:r>
              <a:rPr lang="en-US" sz="1500" dirty="0">
                <a:solidFill>
                  <a:srgbClr val="000000"/>
                </a:solidFill>
                <a:latin typeface="Arial"/>
                <a:cs typeface="Arial"/>
              </a:rPr>
              <a:t>Hiện mắc 10%</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Có nguy cơ</a:t>
            </a:r>
          </a:p>
        </p:txBody>
      </p:sp>
      <p:sp>
        <p:nvSpPr>
          <p:cNvPr id="83" name="StepText"/>
          <p:cNvSpPr/>
          <p:nvPr/>
        </p:nvSpPr>
        <p:spPr>
          <a:xfrm>
            <a:off x="33016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180 BN chưa bị loét</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Một tuần</a:t>
            </a:r>
          </a:p>
        </p:txBody>
      </p:sp>
      <p:sp>
        <p:nvSpPr>
          <p:cNvPr id="85" name="StepText"/>
          <p:cNvSpPr/>
          <p:nvPr/>
        </p:nvSpPr>
        <p:spPr>
          <a:xfrm>
            <a:off x="61060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9 BN bị loét mới</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Mới mắc</a:t>
            </a:r>
          </a:p>
        </p:txBody>
      </p:sp>
      <p:sp>
        <p:nvSpPr>
          <p:cNvPr id="87" name="StepText"/>
          <p:cNvSpPr/>
          <p:nvPr/>
        </p:nvSpPr>
        <p:spPr>
          <a:xfrm>
            <a:off x="89104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9 / 180 = 5% mỗi tuần</a:t>
            </a:r>
          </a:p>
          <a:p>
            <a:pPr marL="0" indent="0" algn="l">
              <a:lnSpc>
                <a:spcPct val="104000"/>
              </a:lnSpc>
              <a:spcBef>
                <a:spcPts val="200"/>
              </a:spcBef>
              <a:buNone/>
            </a:pPr>
            <a:r>
              <a:rPr lang="en-US" sz="1500" dirty="0">
                <a:solidFill>
                  <a:srgbClr val="000000"/>
                </a:solidFill>
                <a:latin typeface="Arial"/>
                <a:cs typeface="Arial"/>
              </a:rPr>
              <a:t>(mẫu số = người có nguy cơ)</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Tỷ lệ mới mắc luôn có khoảng thời gian và chỉ tính người có nguy cơ.</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