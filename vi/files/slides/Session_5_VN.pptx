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Tuần 5. Buổi 1-4 đã đặt câu hỏi, tìm bằng chứng và chọn thiết kế. Trong hai thứ Bảy này chúng ta ĐO LƯỜNG và PHÂN TÍCH: hôm nay (Buổi 5) là dữ liệu, thứ Bảy tuần sau (Buổi 6) là phân tích.</a:t>
            </a:r>
          </a:p>
          <a:p>
            <a:r>
              <a:rPr lang="en-US" sz="1400" b="0" dirty="0"/>
              <a:t>Lời hứa: không có công thức. Mỗi ý tưởng đi theo thứ tự: hình ảnh, ví dụ minh họa, rồi kiểm tra nhanh một phút. Việc của anh chị là diễn giải, không phải tính toán.</a:t>
            </a:r>
          </a:p>
          <a:p>
            <a:r>
              <a:rPr lang="en-US" sz="1400" b="0" dirty="0"/>
              <a:t>Mới trong Tuần 5-6: bộ dữ liệu khóa học FLUID-ICU, một đoàn hệ thực tế (mô phỏng) gồm khoảng 600 người lớn bị nhiễm khuẩn huyết. Anh chị sẽ thấy dữ liệu được làm sạch và mô tả trực tiếp bằng R, và mỗi nhóm nhận một câu hỏi nghiên cứu cùng một gói kết quả, sẽ trở thành bản thảo bài báo ở Tuần 7-8.</a:t>
            </a:r>
          </a:p>
          <a:p>
            <a:r>
              <a:rPr lang="en-US" sz="1400" b="0" dirty="0"/>
              <a:t>Ví dụ xuyên suốt: dịch truyền trong sốc nhiễm khuẩn. Biến số 'cân bằng dịch tích lũy (ml/kg)' đi cùng chúng ta cả ngày: trên phiếu, trong từ điển dữ liệu, trong bộ dữ liệu đã làm sạch, trong Bảng 1.</a:t>
            </a:r>
          </a:p>
          <a:p>
            <a:r>
              <a:rPr lang="en-US" sz="1400" b="0" dirty="0"/>
              <a:t>Hỏi cả lớp: ai từng điền một phiếu thu thập dữ liệu và tự hỏi 'ô này thực ra muốn gì?' Dự kiến: nhiều cánh tay giơ lên. Đó chính là phần 5.1.</a:t>
            </a:r>
          </a:p>
          <a:p>
            <a:r>
              <a:rPr lang="en-US" sz="1400" b="0" dirty="0"/>
              <a:t>Thời lượng: ôn tập 0:00, 5.1 lúc 0:10, 5.2 lúc 0:45, giải lao 1:10, 5.3 lúc 1:25, 5.4 lúc 2:00, xây dựng đề cương 2:25, tổng kết 2:55.</a:t>
            </a:r>
          </a:p>
          <a:p>
            <a:r>
              <a:rPr lang="en-US" sz="1400" b="0" dirty="0"/>
              <a:t>Nhịp độ: chậm.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đọc to từng câu hỏi, 2 phút làm một mình, 2 phút trao đổi với người bên cạnh, rồi công bố đáp án. Nếu được, hãy che khung bên phải cho đến lúc công bố (hoặc đọc đáp án từ ghi chú này).</a:t>
            </a:r>
          </a:p>
          <a:p>
            <a:r>
              <a:rPr lang="en-US" sz="1400" b="0" dirty="0"/>
              <a:t>Đáp án C1: đoàn hệ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(confounding by indication). Mức độ nặng gây ra cả việc truyền nhiều dịch hơn và tử vong nhiều hơn. Đây chính là lý do Bài báo 2 dùng ghép cặp theo điểm xu hướng (propensity score), và lý do Buổi 6 (6.3 và 6.4) nói về kết quả 'đã hiệu chỉnh'.</a:t>
            </a:r>
          </a:p>
          <a:p>
            <a:r>
              <a:rPr lang="en-US" sz="1400" b="0" dirty="0"/>
              <a:t>Đáp án C3: RR = 0.20 / 0.30 = 0.67 (giảm tương đối một phần ba); hiệu số nguy cơ = 10 điểm phần trăm; NNT = 1 / 0.10 = 10 bệnh nhân cần điều trị để ngăn một ca tử vong.</a:t>
            </a:r>
          </a:p>
          <a:p>
            <a:r>
              <a:rPr lang="en-US" sz="1400" b="0" dirty="0"/>
              <a:t>Nếu hơn một phần ba lớp trả lời sai C3, dành thêm 2 phút vẽ lại bảng 2x2 trên bảng lật trước khi chuyển tiếp.</a:t>
            </a:r>
          </a:p>
          <a:p>
            <a:r>
              <a:rPr lang="en-US" sz="1400" b="0" dirty="0"/>
              <a:t>Thời lượng: 10 phút kể cả công bố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loại biến số kèm kiểm tra nhanh, thiết kế CRF với ví dụ minh họa, từ điển dữ liệu, kiểm tra dữ liệu, quản lý dữ liệu, dữ liệu thiếu, rồi bài tập theo cặp 7 phút).</a:t>
            </a:r>
          </a:p>
          <a:p>
            <a:r>
              <a:rPr lang="en-US" sz="1400" b="0" dirty="0"/>
              <a:t>Thông điệp chính: phần lớn vấn đề trong nghiên cứu lâm sàng nằm ở dữ liệu hơn là ở khâu phân tích. Nhà thống kê không thể sửa một ô bị bỏ trống, một đơn vị bị thiếu hay một giá trị không thể có sau sáu tháng.</a:t>
            </a:r>
          </a:p>
          <a:p>
            <a:r>
              <a:rPr lang="en-US" sz="1400" b="0" dirty="0"/>
              <a:t>Rác vào, rác ra: chất lượng câu trả lời bị giới hạn bởi chất lượng phiếu thu thập.</a:t>
            </a:r>
          </a:p>
          <a:p>
            <a:r>
              <a:rPr lang="en-US" sz="1400" b="0" dirty="0"/>
              <a:t>Hỏi cả lớp: có ai từng được nhờ 'giúp xử lý số liệu' sau khi nghiên cứu kết thúc, và phát hiện một nửa số phiếu không đầy đủ? Mời một hai người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danh định (nhiều nhóm không có thứ tự: nguồn nhiễm khuẩn) và thứ bậc (các nhóm có thứ tự: loét tì đè giai đoạn 1 đến 4, đau nhẹ/vừa/nặng).</a:t>
            </a:r>
          </a:p>
          <a:p>
            <a:r>
              <a:rPr lang="en-US" sz="1400" b="0" dirty="0"/>
              <a:t>Thời gian đến sự kiện (góc trên trái) là loại đặc biệt: kết hợp BAO LÂU (thời gian đến tử vong) và CÓ XẢY RA KHÔNG (tử vong hay bị kiểm duyệt (censored) tại ngày 28). Chỉ cần nhắc qua; chúng ta gặp lại nó với mô hình Cox ở phần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biến và để cả lớp hô loại: thang điểm Glasgow (thứ bậc, dù hay được xử lý như số), nhịp tim (liên tục), thở máy có/không (nhị phân), nhóm máu (danh định),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Đọc từng biến; cả lớp giơ ngón tay: 1 liên tục, 2 đếm, 3 nhị phân, 4 danh định, 5 thứ bậc, hoặc nói 'thời gian đến sự kiện'. Chỉ công bố khung đáp án sau mỗi lần biểu quyết.</a:t>
            </a:r>
          </a:p>
          <a:p>
            <a:r>
              <a:rPr lang="en-US" sz="1400" b="0" dirty="0"/>
              <a:t>Nhịp tim: liên tục.</a:t>
            </a:r>
          </a:p>
          <a:p>
            <a:r>
              <a:rPr lang="en-US" sz="1400" b="0" dirty="0"/>
              <a:t>GCS: thứ bậc; điểm có thứ tự với khoảng cách không đều, thường được phân tích như số, chấp nhận được nếu nói rõ.</a:t>
            </a:r>
          </a:p>
          <a:p>
            <a:r>
              <a:rPr lang="en-US" sz="1400" b="0" dirty="0"/>
              <a:t>Nhóm máu: danh định; không có thứ tự.</a:t>
            </a:r>
          </a:p>
          <a:p>
            <a:r>
              <a:rPr lang="en-US" sz="1400" b="0" dirty="0"/>
              <a:t>Thở máy có/không: nhị phân.</a:t>
            </a:r>
          </a:p>
          <a:p>
            <a:r>
              <a:rPr lang="en-US" sz="1400" b="0" dirty="0"/>
              <a:t>Thời gian đến khi rút ống: thời gian đến sự kiện, vì có bệnh nhân không bao giờ được rút ống (tử vong hoặc chuyển đi) và phải được kiểm duyệt.</a:t>
            </a:r>
          </a:p>
          <a:p>
            <a:r>
              <a:rPr lang="en-US" sz="1400" b="0" dirty="0"/>
              <a:t>Nếu hơn một phần ba lớp sai GCS hoặc thời gian rút ống, quay lại sơ đồ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bệnh nhân, sẽ ghi cùng một câu trả lời.</a:t>
            </a:r>
          </a:p>
          <a:p>
            <a:r>
              <a:rPr lang="en-US" sz="1400" b="1" dirty="0"/>
              <a:t>Đi qua phía bên trái và để cả lớp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bệnh nhân cải thiện: hai câu hỏi trong một, và cả hai đều là ý kiến chủ quan. Thay bằng số đo khách quan (lactat, huyết áp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keo, máu, dịch pha thuốc, nuôi ăn qua ống) trừ tổng dịch ra (nước tiểu, dẫn lưu, mất dịch). Quyết định có tính mất dịch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bệnh nhân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vì đơn vị này, CRF bắt buộc phải có thêm mục nào? Dự kiến: cân nặng lúc vào (và cách đo).</a:t>
            </a:r>
          </a:p>
          <a:p>
            <a:r>
              <a:rPr lang="en-US" sz="1400" b="0" dirty="0"/>
              <a:t>Đây chính là việc các nhóm làm cho biến số của mình trong phần xây dựng đề cương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bệnh nhân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nhóm.</a:t>
            </a:r>
          </a:p>
          <a:p>
            <a:r>
              <a:rPr lang="en-US" sz="1400" b="0" dirty="0"/>
              <a:t>Hỏi: ai ở đây có từ điển dữ liệu cho một cuộc khảo sát/kiểm tra chất lượng mình từng làm? Thường rất ít. Điều đó bình thường và dễ khắc phục.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không hợp lệ ngay khi nhập (các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anh chị đã thấy những giá trị vô lý nào trong dữ liệu bệnh viện? Dự kiến: cân nặng 700 kg, ngày trong tương lai, nhịp tim bằng 0 ở bệnh nhân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bệnh nhân đến tệp phân tích. Hình cho thấy hai con đường.</a:t>
            </a:r>
          </a:p>
          <a:p>
            <a:r>
              <a:rPr lang="en-US" sz="1400" b="0" dirty="0"/>
              <a:t>Đường giấy: CRF được nhập vào máy tính HAI LẦN bởi hai người khác nhau (nhập liệu hai lần).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(audit trail, bên phải):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phần 6.4).</a:t>
            </a:r>
          </a:p>
          <a:p>
            <a:r>
              <a:rPr lang="en-US" sz="1400" b="0" dirty="0"/>
              <a:t>Ý chính: dữ liệu bị thiếu làm giảm số bệnh nhân, và còn có thể cho câu trả lời SAI.</a:t>
            </a:r>
          </a:p>
          <a:p>
            <a:r>
              <a:rPr lang="en-US" sz="1400" b="0" dirty="0"/>
              <a:t>Đi qua hình: 100 bệnh nhân, thực tế có 30 người tử vong. Nhưng 15 ca tử vong có ô kết cục bị bỏ trống (chuyển viện, tử vong ban đêm, phiếu không được hoàn thành). Trong 85 bệnh nhân có ghi nhận, ta thấy 15 ca tử vong: 18%. Sự thật là 30%.</a:t>
            </a:r>
          </a:p>
          <a:p>
            <a:r>
              <a:rPr lang="en-US" sz="1400" b="0" dirty="0"/>
              <a:t>Vì sao? Vì việc thiếu dữ liệu liên quan đến chính kết cục. Những bệnh nhân nặng nhất, diễn biến hỗn loạn nhất là những người có phiếu bị bỏ trống.</a:t>
            </a:r>
          </a:p>
          <a:p>
            <a:r>
              <a:rPr lang="en-US" sz="1400" b="0" dirty="0"/>
              <a:t>Quan niệm sai: 'chỉ mất 15%, không sao'. Số lượng ít quan trọng hơn việc AI bị thiếu.</a:t>
            </a:r>
          </a:p>
          <a:p>
            <a:r>
              <a:rPr lang="en-US" sz="1400" b="0" dirty="0"/>
              <a:t>Thứ Bảy tuần sau (Buổi 6, phần 6.4) chúng ta sẽ gọi tên các cơ chế (MCAR, MAR, MNAR) và xem ý tưởng đa phép gán. Nhưng cách xử lý thống kê luôn kém hơn phòng ngừa.</a:t>
            </a:r>
          </a:p>
          <a:p>
            <a:r>
              <a:rPr lang="en-US" sz="1400" b="0" dirty="0"/>
              <a:t>Hỏi: ở khoa anh chị, bệnh nhân nào dễ có hồ sơ không đầy đủ nhất? Dự kiến: chuyển viện, tử vong, nhập viện ban đêm, nằm rất ngắn ngày.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bệnh nhân.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bệnh nhân đã chuyển đi.</a:t>
            </a:r>
          </a:p>
          <a:p>
            <a:r>
              <a:rPr lang="en-US" sz="1400" b="0" dirty="0"/>
              <a:t>Nhắc: viết các bước này vào đề cương như 'kế hoạch bảo đảm chất lượng dữ liệu' (Phần 3).</a:t>
            </a:r>
          </a:p>
          <a:p>
            <a:r>
              <a:rPr lang="en-US" sz="1400" b="0" dirty="0"/>
              <a:t>Chuyển ý: giờ hãy thực hành với người bên cạnh.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theo cặp kết thúc phần 5.1. Bài 1 và 2 nằm trong Course/Practicals/s5_exercises.md; đáp án trong Course/Solutions/s5_solutions.md.</a:t>
            </a:r>
          </a:p>
          <a:p>
            <a:r>
              <a:rPr lang="en-US" sz="1400" b="0" dirty="0"/>
              <a:t>Cách làm: 5 phút theo cặp, 2 phút phản hồi; kết thúc phần 5.1 lúc 0:45. Đi quanh lớp và lắng nghe các lỗi kinh điển.</a:t>
            </a:r>
          </a:p>
          <a:p>
            <a:r>
              <a:rPr lang="en-US" sz="1400" b="0" dirty="0"/>
              <a:t>Lỗi cần để ý: gọi thang điểm Glasgow là liên tục (đây là thứ bậc, dù hay được phân tích như số); gọi 'số ngày thở máy' là liên tục (đây là biến đếm; cách nào cũng tạm chấp nhận, nhưng sự phân biệt ảnh hưởng cách tóm tắt); gọi 'thời gian đến khi rút ống' là liên tục (đây là thời gian đến sự kiện vì có bệnh nhân không bao giờ được rút ống).</a:t>
            </a:r>
          </a:p>
          <a:p>
            <a:r>
              <a:rPr lang="en-US" sz="1400" b="0" dirty="0"/>
              <a:t>Với phần viết lại CRF, mời một cặp đọc phiên bản của họ cho mục 'Dịch đã truyền: ____' và để cả lớp áp dụng bốn câu kiểm tra ở khung bên phải.</a:t>
            </a:r>
          </a:p>
          <a:p>
            <a:r>
              <a:rPr lang="en-US" sz="1400" b="0" dirty="0"/>
              <a:t>Thời gian: nếu lớp làm nhanh, yêu cầu thêm một dòng từ điển dữ liệu cho mục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nghiên cứu, dòng chảy bệnh nhân, dữ liệu thô và sạch, trình diễn làm sạch bằng R 8 phút, nhật ký làm sạch, rồi mỗi nhóm nhận câu hỏi).</a:t>
            </a:r>
          </a:p>
          <a:p>
            <a:r>
              <a:rPr lang="en-US" sz="1400" b="0" dirty="0"/>
              <a:t>Thông điệp chính: từ giờ, ngoài việc đọc nghiên cứu của người khác, nhóm sẽ phân tích và viết bài từ một nghiên cứu thực tế. FLUID-ICU là dữ liệu MÔ PHỎNG: do máy tính tạo ra, không có bệnh nhân, bệnh viện hay quốc gia thật. Nhưng nó vận hành như dữ liệu ICU thật, kể cả các vấn đề của nó.</a:t>
            </a:r>
          </a:p>
          <a:p>
            <a:r>
              <a:rPr lang="en-US" sz="1400" b="0" dirty="0"/>
              <a:t>Không ai cần chạy R. Giảng viên chạy trực tiếp;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FLUID-ICU đặt dạng quan sát: cân bằng dịch dương có liên quan với tử vong không? Đó là câu hỏi đoàn hệ (Bài báo 2). Hỏi: đoàn hệ kết luận được gì mà RCT không làm được, và ngược lại? Dự kiến: liên quan, không phải nhân quả; nhưng bệnh nhân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bệnh nhân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lactat, vận mạch, thở máy, AKI, lọc máu, số ngày không thở máy, thời gian nằm ICU.</a:t>
            </a:r>
          </a:p>
          <a:p>
            <a:r>
              <a:rPr lang="en-US" sz="1400" b="0" dirty="0"/>
              <a:t>Từ điển dữ liệu đầy đủ ở Course/Data/data_dictionary.md: cùng cấu trúc với từ điển anh chị thấy ở phần 5.1.</a:t>
            </a:r>
          </a:p>
          <a:p>
            <a:r>
              <a:rPr lang="en-US" sz="1400" b="0" dirty="0"/>
              <a:t>Hỏi: từ những gì đã học ở Buổi 4 và Bài báo 2, anh chị đoán bệnh nhân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bệnh nhân (sơ đồ STROBE trong bản thảo).</a:t>
            </a:r>
          </a:p>
          <a:p>
            <a:r>
              <a:rPr lang="en-US" sz="1400" b="0" dirty="0"/>
              <a:t>Tệp thô: 623 dòng. Ba bệnh nhân bị nhập hai lần: sau khi loại bản trùng còn 620 bệnh nhân tham gia.</a:t>
            </a:r>
          </a:p>
          <a:p>
            <a:r>
              <a:rPr lang="en-US" sz="1400" b="0" dirty="0"/>
              <a:t>Hai bệnh nhân không có cân bằng dịch ngày 3 (cân nặng hoặc một lượng dịch ra vô lý và được đặt là thiếu khi làm sạch): 618 trong quần thể phơi nhiễm, dùng cho Bảng 1 và các so sánh.</a:t>
            </a:r>
          </a:p>
          <a:p>
            <a:r>
              <a:rPr lang="en-US" sz="1400" b="0" dirty="0"/>
              <a:t>Thêm 91 người không có lactat (hoặc tuổi): 527 ca đầy đủ cho mô hình hiệu chỉnh ở Buổi 6.</a:t>
            </a:r>
          </a:p>
          <a:p>
            <a:r>
              <a:rPr lang="en-US" sz="1400" b="0" dirty="0"/>
              <a:t>Vì sao quan trọng: 527 trên 620 là 85%. 91 bệnh nhân thiếu lactat có khác biệt không? Buổi 6 (6.4) trả lời: họ nhẹ hơn.</a:t>
            </a:r>
          </a:p>
          <a:p>
            <a:r>
              <a:rPr lang="en-US" sz="1400" b="0" dirty="0"/>
              <a:t>Hỏi: hình này sẽ nằm ở phần nào của bản thảo? Dự kiến: đoạn đầu phần Kết quả (đối tượng), là Hình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cả lớp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bệnh nhân).</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bệnh nhân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a:t>
            </a:r>
          </a:p>
          <a:p>
            <a:r>
              <a:rPr lang="en-US" sz="1400" b="0" dirty="0"/>
              <a:t>Cho thấy: dữ liệu thô đọc dưới dạng văn bản; 623 dòng giảm còn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là dấu vết kiểm toán của bộ dữ liệu. Nếu được, mở tệp thật trên màn hình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bệnh nhân (xóa sẽ làm sai lệch mẫu).</a:t>
            </a:r>
          </a:p>
          <a:p>
            <a:r>
              <a:rPr lang="en-US" sz="1400" b="0" dirty="0"/>
              <a:t>Phần còn lại sau làm sạch là dữ liệu thiếu THẬT: lactat 93 trên 620 (15.0%), mọi biến khác 1% hoặc ít hơn. Các ô trống này là chủ đề của phần 6.4 thứ Bảy tuần sau.</a:t>
            </a:r>
          </a:p>
          <a:p>
            <a:r>
              <a:rPr lang="en-US" sz="1400" b="0" dirty="0"/>
              <a:t>Hỏi: vì sao không xóa luôn bệnh nhân có tuổi 210? Dự kiến: phần còn lại của hồ sơ vẫn đúng; xóa bệnh nhân vì lỗi gõ có thể làm sai lệch mẫu.</a:t>
            </a:r>
          </a:p>
          <a:p>
            <a:r>
              <a:rPr lang="en-US" sz="1400" b="0" dirty="0"/>
              <a:t>Phần Phương pháp trong bản thảo sẽ ghi: 'Dữ liệu được làm sạch bằng script; mọi thay đổi được ghi trong nhật ký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SAP của FLUID-ICU.</a:t>
            </a:r>
          </a:p>
          <a:p>
            <a:r>
              <a:rPr lang="en-US" sz="1400" b="0" dirty="0"/>
              <a:t>Q1 (nhóm 1): cân bằng dịch dương đến ngày 3 và tử vong 28 ngày: hồi quy logistic cùng Kaplan-Meier và Cox. Câu hỏi chính.</a:t>
            </a:r>
          </a:p>
          <a:p>
            <a:r>
              <a:rPr lang="en-US" sz="1400" b="0" dirty="0"/>
              <a:t>Q2 (nhóm 2): cân bằng dịch tích lũy và tổn thương thận cấp: hồi quy logistic.</a:t>
            </a:r>
          </a:p>
          <a:p>
            <a:r>
              <a:rPr lang="en-US" sz="1400" b="0" dirty="0"/>
              <a:t>Q3 (nhóm 3): cân bằng dịch tích lũy và số ngày không thở máy: biến đếm từ 0 đến 28, dồn ở hai đầu: Mann-Whitney và hồi quy tuyến tính.</a:t>
            </a:r>
          </a:p>
          <a:p>
            <a:r>
              <a:rPr lang="en-US" sz="1400" b="0" dirty="0"/>
              <a:t>Q4 (nhóm 4): lactat ban đầu và tử vong 28 ngày, và ảnh hưởng của lactat bị thiếu: phân tích ca đầy đủ so với đa phép gán.</a:t>
            </a:r>
          </a:p>
          <a:p>
            <a:r>
              <a:rPr lang="en-US" sz="1400" b="0" dirty="0"/>
              <a:t>Q5 (nhóm 5): cân bằng dịch và thời gian nằm ICU ở người sống: kết cục lệch (trung vị, IQR; thang log).</a:t>
            </a:r>
          </a:p>
          <a:p>
            <a:r>
              <a:rPr lang="en-US" sz="1400" b="0" dirty="0"/>
              <a:t>Mỗi nhóm có một gói kết quả trong Course/Data/results_packs (Bảng 1, biểu đồ, bảng hồi quy, ghi chú dễ hiểu). Đây là nguyên liệu cho bản thảo viết ở Buổi 7-8.</a:t>
            </a:r>
          </a:p>
          <a:p>
            <a:r>
              <a:rPr lang="en-US" sz="1400" b="0" dirty="0"/>
              <a:t>Phân công câu hỏi ngay bây giờ (hoặc xác nhận phân công đã làm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nhóm, 4 phút. Phiếu bài tập: bài tập Buổi 5, bài 7.</a:t>
            </a:r>
          </a:p>
          <a:p>
            <a:r>
              <a:rPr lang="en-US" sz="1400" b="0" dirty="0"/>
              <a:t>Mỗi nhóm viết câu hỏi dạng PECO (P đối tượng, E phơi nhiễm, C so sánh, O kết cục) và ghi loại của kết cục và phơi nhiễm, dùng sơ đồ loại biến từ phần 5.1.</a:t>
            </a:r>
          </a:p>
          <a:p>
            <a:r>
              <a:rPr lang="en-US" sz="1400" b="0" dirty="0"/>
              <a:t>Loại dự kiến: Q1 kết cục nhị phân (và thời gian đến sự kiện), phơi nhiễm nhị phân; Q2 kết cục nhị phân,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Kiểm tra to một hai nhóm.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kiểm tra dự án R cho 02_describe.R mở và chạy được trên máy chiếu, và các hình dự phòng cho phần 5.4 đã sẵn sàng.</a:t>
            </a:r>
          </a:p>
          <a:p>
            <a:r>
              <a:rPr lang="en-US" sz="1400" b="0" dirty="0"/>
              <a:t>Đi quanh và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bệnh nhân: họ là ai, nặng đến mức nào, bao nhiêu tuổi. Với một biến số, anh chị cần hai con số: giá trị TRUNG TÂM (bệnh nhân điển hình ở đâu?) và độ PHÂN TÁN (các bệnh nhân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Viết bảy con số lên bảng lật.</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bệnh nhân nằm 6 ngày hoặc ít hơn; trung bình 6 bị kéo lên bởi một ca 24 ngày. Trung vị mô tả bệnh nhân điển hình.</a:t>
            </a:r>
          </a:p>
          <a:p>
            <a:r>
              <a:rPr lang="en-US" sz="1400" b="0" dirty="0"/>
              <a:t>Hỏi tiếp: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(median) là bệnh nhân ở giữa khi xếp hàng tất cả mọi người; TRUNG BÌNH (mean) là trung bình cộng.</a:t>
            </a:r>
          </a:p>
          <a:p>
            <a:r>
              <a:rPr lang="en-US" sz="1400" b="0" dirty="0"/>
              <a:t>Trong ICU mô phỏng này, phần lớn bệnh nhân nằm 1 đến 5 ngày, nhưng một số ít nằm 3 đến 6 tuần. Vài ca nằm lâu đó kéo trung bình sang phải (3.9 ngày) trong khi trung vị vẫn ở cạnh bệnh nhân điển hình (2.8 ngày).</a:t>
            </a:r>
          </a:p>
          <a:p>
            <a:r>
              <a:rPr lang="en-US" sz="1400" b="0" dirty="0"/>
              <a:t>Diễn giải lâm sàng: nếu lãnh đạo nói 'thời gian nằm ICU trung bình là 3.9 ngày', thì phần lớn bệnh nhân của anh chị thực ra ra khỏi ICU sớm hơn thế.</a:t>
            </a:r>
          </a:p>
          <a:p>
            <a:r>
              <a:rPr lang="en-US" sz="1400" b="0" dirty="0"/>
              <a:t>Quan niệm sai: 'trung bình luôn là con số đúng'. Với dữ liệu lệch, nó không mô tả bệnh nhân thật nào cả.</a:t>
            </a:r>
          </a:p>
          <a:p>
            <a:r>
              <a:rPr lang="en-US" sz="1400" b="0" dirty="0"/>
              <a:t>Quy tắc nhanh: nếu trung bình và trung vị cách xa nhau, dữ liệu bị lệch: hãy báo cáo trung vị.</a:t>
            </a:r>
          </a:p>
          <a:p>
            <a:r>
              <a:rPr lang="en-US" sz="1400" b="0" dirty="0"/>
              <a:t>Hỏi: kể tên các biến lệch khác trong công việc của anh chị. Dự kiến: chi phí điều trị, CRP, troponin, thời gian đến khi dùng kháng sinh, số ngày thở máy.</a:t>
            </a:r>
          </a:p>
          <a:p>
            <a:r>
              <a:rPr lang="en-US" sz="1400" b="0" dirty="0"/>
              <a:t>Ví dụ xuyên suốt: Bài báo 1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bệnh nhân khác nhau đến mức nào.</a:t>
            </a:r>
          </a:p>
          <a:p>
            <a:r>
              <a:rPr lang="en-US" sz="1400" b="0" dirty="0"/>
              <a:t>Bên trái: tuổi gần đối xứng. Độ lệch chuẩn (SD) là khoảng cách điển hình từ một bệnh nhân đến giá trị trung bình. Với dữ liệu hình chuông, khoảng hai phần ba bệnh nhân nằm trong phạm vi một SD quanh trung bình.</a:t>
            </a:r>
          </a:p>
          <a:p>
            <a:r>
              <a:rPr lang="en-US" sz="1400" b="0" dirty="0"/>
              <a:t>Bên phải: thời gian nằm ICU bị lệch. Biểu đồ hộp thể hiện trung vị (vạch đậm), hộp từ bách phân vị 25 đến 75 (khoảng tứ phân vị, IQR: 50% bệnh nhân ở giữa), các râu và giá trị ngoại lai là các chấm.</a:t>
            </a:r>
          </a:p>
          <a:p>
            <a:r>
              <a:rPr lang="en-US" sz="1400" b="0" dirty="0"/>
              <a:t>Cách đọc 'trung vị 2.8 (IQR 1.5-4.7)': một nửa số bệnh nhân nằm dưới 2.8 ngày; một nửa ở giữa nằm từ 1.5 đến 4.7 ngày.</a:t>
            </a:r>
          </a:p>
          <a:p>
            <a:r>
              <a:rPr lang="en-US" sz="1400" b="0" dirty="0"/>
              <a:t>Lỗi thường gặp: báo cáo trung bình kèm IQR, hoặc trung vị kèm SD. Và nhầm SD (độ phân tán của bệnh nhân) với sai số chuẩn hay CI (độ chính xác của ước lượng), sẽ học ở phần 6.1.</a:t>
            </a:r>
          </a:p>
          <a:p>
            <a:r>
              <a:rPr lang="en-US" sz="1400" b="0" dirty="0"/>
              <a:t>Ví dụ Bài báo 1: cân bằng dịch nhóm chứng 'trung vị 35.0 (IQR -7.9; 40.2)'. Chỉ ra tứ phân vị dưới là số âm: một phần tư bệnh nhân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sơ đồ chọn kiểm định ở phần 6.1.</a:t>
            </a:r>
          </a:p>
          <a:p>
            <a:r>
              <a:rPr lang="en-US" sz="1400" b="0" dirty="0"/>
              <a:t>Hỏi: 'số ngày dùng vận mạch' đối xứng hay lệch? Dự kiến: lệch (phần lớn bệnh nhân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Giơ tay hoặc dùng thẻ màu.</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bậc. Không báo cáo 'giai đoạn trung bình 2.3'.</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(Kaplan-Meier)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anh chị dùng biểu đồ nào để so sánh thời gian nằm ICU giữa hai nhóm cân bằng dịch?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bệnh nhân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95% CI.</a:t>
            </a:r>
          </a:p>
          <a:p>
            <a:r>
              <a:rPr lang="en-US" sz="1400" b="0" dirty="0"/>
              <a:t>Quy tắc: với ít hơn khoảng 100 bệnh nhân mỗi nhóm, hãy thể hiện từng điểm dữ liệu.</a:t>
            </a:r>
          </a:p>
          <a:p>
            <a:r>
              <a:rPr lang="en-US" sz="1400" b="0" dirty="0"/>
              <a:t>Nhiều tạp chí hiện nay khuyến cáo rõ không dùng biểu đồ cột cho dữ liệu liên tục.</a:t>
            </a:r>
          </a:p>
          <a:p>
            <a:r>
              <a:rPr lang="en-US" sz="1400" b="0" dirty="0"/>
              <a:t>Hỏi: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trong hầu hết các bài báo lâm sàng mô tả đặc điểm ban đầu của bệnh nhân theo từng nhóm.</a:t>
            </a:r>
          </a:p>
          <a:p>
            <a:r>
              <a:rPr lang="en-US" sz="1400" b="0" dirty="0"/>
              <a:t>Đọc từng dòng theo mã màu: biến đối xứng dùng trung bình (SD), biến lệch dùng trung vị (IQR), biến phân loại dùng n (%).</a:t>
            </a:r>
          </a:p>
          <a:p>
            <a:r>
              <a:rPr lang="en-US" sz="1400" b="0" dirty="0"/>
              <a:t>Hai câu hỏi cho mọi Bảng 1: (1) Những bệnh nhân này có giống bệnh nhân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khuyên không dùng giá trị p trong Bảng 1 của RCT, vì mọi khác biệt theo định nghĩa đều do ngẫu nhiên.</a:t>
            </a:r>
          </a:p>
          <a:p>
            <a:r>
              <a:rPr lang="en-US" sz="1400" b="0" dirty="0"/>
              <a:t>Trong nghiên cứu đoàn hệ (Bài báo 2), khác biệt lớn lúc ban đầu là dấu hiệu cảnh báo yếu tố gây nhiễu; đó là lý do Bài báo 2 ghép cặp bệnh nhân theo điểm xu hướng trước khi so sánh.</a:t>
            </a:r>
          </a:p>
          <a:p>
            <a:r>
              <a:rPr lang="en-US" sz="1400" b="0" dirty="0"/>
              <a:t>Số liệu trên trang là minh họa, không lấy từ Bài báo 1. Bảng 1 thật của Bài báo 1 có 24 bệnh nhân mỗi nhóm; mời học viên mở ra xem vào Buổi 7-8.</a:t>
            </a:r>
          </a:p>
          <a:p>
            <a:r>
              <a:rPr lang="en-US" sz="1400" b="0" dirty="0"/>
              <a:t>Hỏi: anh chị lo ngại điều gì nếu nhóm hạn chế dịch có SOFA trung vị 6 còn nhóm thường quy là 11? Dự kiến: hai nhóm không so sánh được; một nhánh có bệnh nhân nặng hơn.</a:t>
            </a:r>
          </a:p>
          <a:p>
            <a:r>
              <a:rPr lang="en-US" sz="1400" b="0" dirty="0"/>
              <a:t>Thời lượng: 2 phút. Tiếp theo: cùng Bảng 1 được viết chưa tốt và tốt, sau hai trang về biểu đồ.</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a:t>
            </a:r>
          </a:p>
          <a:p>
            <a:r>
              <a:rPr lang="en-US" sz="1400" b="0" dirty="0"/>
              <a:t>Tiêu đề cột: 'Nhóm A / Nhóm B' không cho người đọc biết gì; hãy ghi tên nhóm và số bệnh nhân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tỉ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trình diễn trực tiếp Bảng 1 và biểu đồ 6 phút, bốn trang kết quả FLUID-ICU, rồi phiếu bài tập nhóm 10 phút trên gói kết quả của nhóm).</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Course/Demos/s5_demo.md (Phần B), dùng Course/Data/R/02_describe.R.</a:t>
            </a:r>
          </a:p>
          <a:p>
            <a:r>
              <a:rPr lang="en-US" sz="1400" b="0" dirty="0"/>
              <a:t>Cho thấy: hình dạng của tuổi (gần đối xứng, nên dùng trung bình và SD) so với lactat và thời gian nằm ICU (lệch phải, nên dùng trung vị và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bệnh nhân này có giống bệnh nhân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bệnh nhân suy tim.</a:t>
            </a:r>
          </a:p>
          <a:p>
            <a:r>
              <a:rPr lang="en-US" sz="1400" b="0" dirty="0"/>
              <a:t>Diễn giải: bệnh nhân có cân bằng dương đã nặng hơn trước khi được truyền dịch. Bệnh nhân nặng hơn được truyền nhiều dịch hơn VÀ tử vong nhiều hơn: nhiễu do chỉ định (Buổi 4). Mọi so sánh thô về tử vong sẽ bị sai lệch; Buổi 6 sẽ hiệu chỉnh.</a:t>
            </a:r>
          </a:p>
          <a:p>
            <a:r>
              <a:rPr lang="en-US" sz="1400" b="0" dirty="0"/>
              <a:t>Hỏi: chỉ từ bảng này, anh chị dự đoán OR thô cho tử vong lớn hơn hay nhỏ hơn OR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bệnh nhân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bệnh nhân,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bệnh nhân: trung bình 7.3, trung vị 6.0.</a:t>
            </a:r>
          </a:p>
          <a:p>
            <a:r>
              <a:rPr lang="en-US" sz="1400" b="0" dirty="0"/>
              <a:t>Câu hỏi của nhóm 5 (Q5) là về kết cục này; nhóm sẽ báo cáo trung vị (IQR), so sánh bằng kiểm định Mann-Whitney và dùng thang log trong mô hình (Buổi 6).</a:t>
            </a:r>
          </a:p>
          <a:p>
            <a:r>
              <a:rPr lang="en-US" sz="1400" b="0" dirty="0"/>
              <a:t>Hỏi: nhóm nào cần trang này nhất? Dự kiến: nhóm 5, nhưng nhóm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10 phút (7 phút làm, 3 phút phản hồi). Bài tập Buổi 5, bài 6; đáp án mẫu trong s5_solutions.md.</a:t>
            </a:r>
          </a:p>
          <a:p>
            <a:r>
              <a:rPr lang="en-US" sz="1400" b="0" dirty="0"/>
              <a:t>Cả năm gói kết quả đều có cùng Bảng 1 theo nhóm cân bằng dịch (gói Q5 có thêm bảng cho người sống). Các nhóm luyện đọc bảng.</a:t>
            </a:r>
          </a:p>
          <a:p>
            <a:r>
              <a:rPr lang="en-US" sz="1400" b="0" dirty="0"/>
              <a:t>Câu mô tả mẫu: 'Trong 620 bệnh nhân tham gia, 618 người tính được cân bằng dịch ngày 3; 373 (60.4%) có cân bằng dương. Bệnh nhân có cân bằng dương nặng hơn lúc vào (SOFA trung vị 8 so với 6; vận mạch 55.0% so với 24.9%; thở máy 57.9% so với 39.6%).'</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của bản thảo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 để họ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hoặc giấy với nhập hai lần, mã số với sổ liên kết khóa riêng, nhật ký thay đổi, sao lưu, và tuyên bố chia sẻ dữ liệu trong phiếu đồng thuận.</a:t>
            </a:r>
          </a:p>
          <a:p>
            <a:r>
              <a:rPr lang="en-US" sz="1400" b="0" dirty="0"/>
              <a:t>Thứ Bảy tuần sau (Buổi 6) các nhóm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Các nhóm viết vào Phần 3 của mẫu đề cương; phiếu bài tập (bài tập Buổi 5, bài 8) có cùng các tiêu đề.</a:t>
            </a:r>
          </a:p>
          <a:p>
            <a:r>
              <a:rPr lang="en-US" sz="1400" b="0" dirty="0"/>
              <a:t>Nhắc thời gian ở phút 8, 18, 24 và 30.</a:t>
            </a:r>
          </a:p>
          <a:p>
            <a:r>
              <a:rPr lang="en-US" sz="1400" b="0" dirty="0"/>
              <a:t>Giảng viên hỗ trợ đi quanh (mỗi người hai đến ba nhóm) và hỏi: Kết cục chính là số đo, phân loại hay thời gian đến sự kiện? Mỗi mục CRF có đơn vị và thời điểm chưa? Ai sẽ nhập dữ liệu và lưu ở đâu?</a:t>
            </a:r>
          </a:p>
          <a:p>
            <a:r>
              <a:rPr lang="en-US" sz="1400" b="0" dirty="0"/>
              <a:t>Dùng từ điển dữ liệu FLUID-ICU làm mẫu: các nhóm vừa thấy một từ điển thật trông như thế nào.</a:t>
            </a:r>
          </a:p>
          <a:p>
            <a:r>
              <a:rPr lang="en-US" sz="1400" b="0" dirty="0"/>
              <a:t>Vấn đề thường gặp: quá nhiều mục CRF (giữ tối đa 10); 'yếu tố gây nhiễu' thực ra là kết cục; tên và mã số trong cùng một tệp; không có kế hoạch sao lưu.</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 sửa nhẹ nhàng.</a:t>
            </a:r>
          </a:p>
          <a:p>
            <a:r>
              <a:rPr lang="en-US" sz="1400" b="0" dirty="0"/>
              <a:t>Loại biến số: số đo hay phân loại, và năm loại con. CRF: phiếu thu thập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(audit trail): ghi lại ai đổi gì, khi nào, vì sao. Nhật ký làm sạch: danh sách mọi chỉnh sửa trên dữ liệu thô (FLUID-ICU).</a:t>
            </a:r>
          </a:p>
          <a:p>
            <a:r>
              <a:rPr lang="en-US" sz="1400" b="0" dirty="0"/>
              <a:t>Trung vị (IQR) cho dữ liệu lệch, trung bình (SD) cho dữ liệu đối xứng; lệch = có đuôi dài.</a:t>
            </a:r>
          </a:p>
          <a:p>
            <a:r>
              <a:rPr lang="en-US" sz="1400" b="0" dirty="0"/>
              <a:t>Bảng 1: đặc điểm ban đầu theo nhóm; chấm + hộp: cho thấy từng bệnh nhân;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Thứ Bảy tuần sau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nêu một lỗi chất lượng dữ liệu tìm thấy trong dữ liệu thô FLUID-ICU và cách làm sạch đã sửa nó. Đọc vài câu khi bắt đầu Buổi 6.</a:t>
            </a:r>
          </a:p>
          <a:p>
            <a:r>
              <a:rPr lang="en-US" sz="1400" b="0" dirty="0"/>
              <a:t>Về nhà: hoàn thành CRF và các dòng từ điển dữ liệu của đề cương; đọc gói kết quả của nhóm (Bảng 1, biểu đồ); bài tập tùy chọn trong phiếu bài tập Buổi 5.</a:t>
            </a:r>
          </a:p>
          <a:p>
            <a:r>
              <a:rPr lang="en-US" sz="1400" b="0" dirty="0"/>
              <a:t>Cảm ơn cả lớp: hôm nay có nhiều từ mới; thứ Bảy tuần sau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bệnh nhân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thuận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tỉ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5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3-4 (10 phút)</a:t>
            </a:r>
          </a:p>
          <a:p>
            <a:pPr marL="274320" indent="-274320" algn="l">
              <a:spcBef>
                <a:spcPts val="440"/>
              </a:spcBef>
              <a:buFont typeface="Arial"/>
              <a:buChar char="•"/>
            </a:pPr>
            <a:r>
              <a:rPr lang="en-US" sz="1900" dirty="0">
                <a:solidFill>
                  <a:srgbClr val="000000"/>
                </a:solidFill>
                <a:latin typeface="Segoe UI"/>
                <a:cs typeface="Segoe UI"/>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Segoe UI"/>
                <a:cs typeface="Segoe UI"/>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Segoe UI"/>
                <a:cs typeface="Segoe UI"/>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Segoe UI"/>
                <a:cs typeface="Segoe UI"/>
              </a:rPr>
              <a:t>5.4 Mô tả bộ dữ liệu khóa học: Bảng 1 và biểu đồ</a:t>
            </a:r>
          </a:p>
          <a:p>
            <a:pPr marL="274320" indent="-274320" algn="l">
              <a:spcBef>
                <a:spcPts val="440"/>
              </a:spcBef>
              <a:buFont typeface="Arial"/>
              <a:buChar char="•"/>
            </a:pPr>
            <a:r>
              <a:rPr lang="en-US" sz="1900" dirty="0">
                <a:solidFill>
                  <a:srgbClr val="000000"/>
                </a:solidFill>
                <a:latin typeface="Segoe UI"/>
                <a:cs typeface="Segoe UI"/>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Người hút thuốc được theo dõi 10 năm để xem ai bị đột quỵ. Đây là thiết kế gì?</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Trong một nghiên cứu đoàn hệ, bệnh nhân nhiễm khuẩn nặng hơn được truyền nhiều dịch hơn VÀ tử vong nhiều hơn. Hiện tượng này gọi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Tử vong 30% với chăm sóc thường quy và 20% với chiến lược mới. RR và NNT là bao nhiêu?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đoàn hệ tiến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C2: 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thiết kế, yếu tố gây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Thống kê giỏi đến đâu cũng không cứu được dữ liệu xấu.</a:t>
            </a:r>
          </a:p>
          <a:p>
            <a:pPr marL="0" indent="0" algn="ctr">
              <a:spcBef>
                <a:spcPts val="1200"/>
              </a:spcBef>
              <a:buNone/>
            </a:pPr>
            <a:r>
              <a:rPr lang="en-US" sz="1900" i="1" dirty="0">
                <a:solidFill>
                  <a:srgbClr val="595959"/>
                </a:solidFill>
                <a:latin typeface="Segoe UI"/>
                <a:cs typeface="Segoe UI"/>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Nhịp tim (lần/phút)</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Thang điểm Glasgow (3-15)</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Nhóm máu (A, B, AB, 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Thở máy ngày 1 (có / không)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Liên tục</a:t>
            </a:r>
          </a:p>
          <a:p>
            <a:pPr marL="274320" indent="-274320" algn="l">
              <a:lnSpc>
                <a:spcPct val="104000"/>
              </a:lnSpc>
              <a:spcBef>
                <a:spcPts val="300"/>
              </a:spcBef>
              <a:buFont typeface="Arial"/>
              <a:buChar char="•"/>
            </a:pPr>
            <a:r>
              <a:rPr lang="en-US" sz="1500" dirty="0">
                <a:solidFill>
                  <a:srgbClr val="000000"/>
                </a:solidFill>
                <a:latin typeface="Segoe UI"/>
                <a:cs typeface="Segoe UI"/>
              </a:rPr>
              <a:t>Thứ bậc (thường phân tích như số)</a:t>
            </a:r>
          </a:p>
          <a:p>
            <a:pPr marL="274320" indent="-274320" algn="l">
              <a:lnSpc>
                <a:spcPct val="104000"/>
              </a:lnSpc>
              <a:spcBef>
                <a:spcPts val="300"/>
              </a:spcBef>
              <a:buFont typeface="Arial"/>
              <a:buChar char="•"/>
            </a:pPr>
            <a:r>
              <a:rPr lang="en-US" sz="1500" dirty="0">
                <a:solidFill>
                  <a:srgbClr val="000000"/>
                </a:solidFill>
                <a:latin typeface="Segoe UI"/>
                <a:cs typeface="Segoe UI"/>
              </a:rPr>
              <a:t>Danh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Nhị phân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gọi tên được năm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Dịch VÀO trừ dịch RA</a:t>
            </a:r>
          </a:p>
          <a:p>
            <a:pPr marL="0" indent="0" algn="l">
              <a:lnSpc>
                <a:spcPct val="104000"/>
              </a:lnSpc>
              <a:spcBef>
                <a:spcPts val="200"/>
              </a:spcBef>
              <a:buNone/>
            </a:pPr>
            <a:r>
              <a:rPr lang="en-US" sz="1500" dirty="0">
                <a:solidFill>
                  <a:srgbClr val="000000"/>
                </a:solidFill>
                <a:latin typeface="Segoe UI"/>
                <a:cs typeface="Segoe UI"/>
              </a:rPr>
              <a:t>mọi đường, kể cả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lúc vào ICU</a:t>
            </a:r>
          </a:p>
          <a:p>
            <a:pPr marL="0" indent="0" algn="l">
              <a:lnSpc>
                <a:spcPct val="104000"/>
              </a:lnSpc>
              <a:spcBef>
                <a:spcPts val="200"/>
              </a:spcBef>
              <a:buNone/>
            </a:pPr>
            <a:r>
              <a:rPr lang="en-US" sz="1500" dirty="0">
                <a:solidFill>
                  <a:srgbClr val="000000"/>
                </a:solidFill>
                <a:latin typeface="Segoe UI"/>
                <a:cs typeface="Segoe UI"/>
              </a:rPr>
              <a:t>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ml trên kg</a:t>
            </a:r>
          </a:p>
          <a:p>
            <a:pPr marL="0" indent="0" algn="l">
              <a:lnSpc>
                <a:spcPct val="104000"/>
              </a:lnSpc>
              <a:spcBef>
                <a:spcPts val="200"/>
              </a:spcBef>
              <a:buNone/>
            </a:pPr>
            <a:r>
              <a:rPr lang="en-US" sz="1500" dirty="0">
                <a:solidFill>
                  <a:srgbClr val="000000"/>
                </a:solidFill>
                <a:latin typeface="Segoe UI"/>
                <a:cs typeface="Segoe UI"/>
              </a:rPr>
              <a:t>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 có dấu +/-</a:t>
            </a:r>
          </a:p>
          <a:p>
            <a:pPr marL="0" indent="0" algn="l">
              <a:lnSpc>
                <a:spcPct val="104000"/>
              </a:lnSpc>
              <a:spcBef>
                <a:spcPts val="200"/>
              </a:spcBef>
              <a:buNone/>
            </a:pPr>
            <a:r>
              <a:rPr lang="en-US" sz="1500" dirty="0">
                <a:solidFill>
                  <a:srgbClr val="000000"/>
                </a:solidFill>
                <a:latin typeface="Segoe UI"/>
                <a:cs typeface="Segoe UI"/>
              </a:rPr>
              <a:t>ô cho từng chữ số</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Ô 'không ghi nhận'</a:t>
            </a:r>
          </a:p>
          <a:p>
            <a:pPr marL="0" indent="0" algn="l">
              <a:lnSpc>
                <a:spcPct val="104000"/>
              </a:lnSpc>
              <a:spcBef>
                <a:spcPts val="200"/>
              </a:spcBef>
              <a:buNone/>
            </a:pPr>
            <a:r>
              <a:rPr lang="en-US" sz="1500" dirty="0">
                <a:solidFill>
                  <a:srgbClr val="000000"/>
                </a:solidFill>
                <a:latin typeface="Segoe UI"/>
                <a:cs typeface="Segoe UI"/>
              </a:rPr>
              <a:t>+ lý do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cái gì, khi nào, đơn vị, định dạng và thiếu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Viết phiếu trước bệnh nhân đầu tiên, rồi thử trên năm bệnh nhân.</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Mỗi mục gắn với một mục tiêu</a:t>
            </a:r>
          </a:p>
          <a:p>
            <a:pPr marL="0" indent="0" algn="l">
              <a:lnSpc>
                <a:spcPct val="104000"/>
              </a:lnSpc>
              <a:spcBef>
                <a:spcPts val="400"/>
              </a:spcBef>
              <a:buNone/>
            </a:pPr>
            <a:r>
              <a:rPr lang="en-US" sz="1450" dirty="0">
                <a:solidFill>
                  <a:srgbClr val="000000"/>
                </a:solidFill>
                <a:latin typeface="Segoe UI"/>
                <a:cs typeface="Segoe UI"/>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Không gộp hai câu hỏi</a:t>
            </a:r>
          </a:p>
          <a:p>
            <a:pPr marL="0" indent="0" algn="l">
              <a:lnSpc>
                <a:spcPct val="104000"/>
              </a:lnSpc>
              <a:spcBef>
                <a:spcPts val="400"/>
              </a:spcBef>
              <a:buNone/>
            </a:pPr>
            <a:r>
              <a:rPr lang="en-US" sz="1450" dirty="0">
                <a:solidFill>
                  <a:srgbClr val="000000"/>
                </a:solidFill>
                <a:latin typeface="Segoe UI"/>
                <a:cs typeface="Segoe UI"/>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ml/kg, mmol/L</a:t>
            </a:r>
          </a:p>
          <a:p>
            <a:pPr marL="0" indent="0" algn="l">
              <a:lnSpc>
                <a:spcPct val="104000"/>
              </a:lnSpc>
              <a:spcBef>
                <a:spcPts val="400"/>
              </a:spcBef>
              <a:buNone/>
            </a:pPr>
            <a:r>
              <a:rPr lang="en-US" sz="1450" dirty="0">
                <a:solidFill>
                  <a:srgbClr val="000000"/>
                </a:solidFill>
                <a:latin typeface="Segoe UI"/>
                <a:cs typeface="Segoe UI"/>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Ô đánh dấu</a:t>
            </a:r>
          </a:p>
          <a:p>
            <a:pPr marL="0" indent="0" algn="l">
              <a:lnSpc>
                <a:spcPct val="104000"/>
              </a:lnSpc>
              <a:spcBef>
                <a:spcPts val="400"/>
              </a:spcBef>
              <a:buNone/>
            </a:pPr>
            <a:r>
              <a:rPr lang="en-US" sz="1450" dirty="0">
                <a:solidFill>
                  <a:srgbClr val="000000"/>
                </a:solidFill>
                <a:latin typeface="Segoe UI"/>
                <a:cs typeface="Segoe UI"/>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Hai người, cùng bệnh nhân</a:t>
            </a:r>
          </a:p>
          <a:p>
            <a:pPr marL="0" indent="0" algn="l">
              <a:lnSpc>
                <a:spcPct val="104000"/>
              </a:lnSpc>
              <a:spcBef>
                <a:spcPts val="400"/>
              </a:spcBef>
              <a:buNone/>
            </a:pPr>
            <a:r>
              <a:rPr lang="en-US" sz="1450" dirty="0">
                <a:solidFill>
                  <a:srgbClr val="000000"/>
                </a:solidFill>
                <a:latin typeface="Segoe UI"/>
                <a:cs typeface="Segoe UI"/>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Các dòng ví dụ cho nghiên cứu dịch truyền trong sốc nhiễm khuẩn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dữ liệu khi bệnh nhân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khi nhập, nhập hai lần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hiếm khi ngẫu nhiên: bệnh nhân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Chỉ thu thập cái cần</a:t>
            </a:r>
          </a:p>
          <a:p>
            <a:pPr marL="0" indent="0" algn="l">
              <a:lnSpc>
                <a:spcPct val="104000"/>
              </a:lnSpc>
              <a:spcBef>
                <a:spcPts val="200"/>
              </a:spcBef>
              <a:buNone/>
            </a:pPr>
            <a:r>
              <a:rPr lang="en-US" sz="1500" dirty="0">
                <a:solidFill>
                  <a:srgbClr val="000000"/>
                </a:solidFill>
                <a:latin typeface="Segoe UI"/>
                <a:cs typeface="Segoe UI"/>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trường bắt buộc</a:t>
            </a:r>
          </a:p>
          <a:p>
            <a:pPr marL="0" indent="0" algn="l">
              <a:lnSpc>
                <a:spcPct val="104000"/>
              </a:lnSpc>
              <a:spcBef>
                <a:spcPts val="200"/>
              </a:spcBef>
              <a:buNone/>
            </a:pPr>
            <a:r>
              <a:rPr lang="en-US" sz="1500" dirty="0">
                <a:solidFill>
                  <a:srgbClr val="000000"/>
                </a:solidFill>
                <a:latin typeface="Segoe UI"/>
                <a:cs typeface="Segoe UI"/>
              </a:rPr>
              <a:t>Có 'không làm',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Tập huấn mọi người thu thập</a:t>
            </a:r>
          </a:p>
          <a:p>
            <a:pPr marL="0" indent="0" algn="l">
              <a:lnSpc>
                <a:spcPct val="104000"/>
              </a:lnSpc>
              <a:spcBef>
                <a:spcPts val="200"/>
              </a:spcBef>
              <a:buNone/>
            </a:pPr>
            <a:r>
              <a:rPr lang="en-US" sz="1500" dirty="0">
                <a:solidFill>
                  <a:srgbClr val="000000"/>
                </a:solidFill>
                <a:latin typeface="Segoe UI"/>
                <a:cs typeface="Segoe UI"/>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Báo cáo mức đầy đủ</a:t>
            </a:r>
          </a:p>
          <a:p>
            <a:pPr marL="0" indent="0" algn="l">
              <a:lnSpc>
                <a:spcPct val="104000"/>
              </a:lnSpc>
              <a:spcBef>
                <a:spcPts val="200"/>
              </a:spcBef>
              <a:buNone/>
            </a:pPr>
            <a:r>
              <a:rPr lang="en-US" sz="1500" dirty="0">
                <a:solidFill>
                  <a:srgbClr val="000000"/>
                </a:solidFill>
                <a:latin typeface="Segoe UI"/>
                <a:cs typeface="Segoe UI"/>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Sửa khi hồ sơ còn ở khoa</a:t>
            </a:r>
          </a:p>
          <a:p>
            <a:pPr marL="0" indent="0" algn="l">
              <a:lnSpc>
                <a:spcPct val="104000"/>
              </a:lnSpc>
              <a:spcBef>
                <a:spcPts val="200"/>
              </a:spcBef>
              <a:buNone/>
            </a:pPr>
            <a:r>
              <a:rPr lang="en-US" sz="1500" dirty="0">
                <a:solidFill>
                  <a:srgbClr val="000000"/>
                </a:solidFill>
                <a:latin typeface="Segoe UI"/>
                <a:cs typeface="Segoe UI"/>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phân loại biến, sửa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việc với người bên cạnh, phiếu bài tập 'Buổi 5, bài 1 và 2'</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Bài 1: phân loại 10 biến số ICU (liên tục, đếm, nhị phân, danh định, thứ bậc, thời gian đến sự kiện)</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Bài 2: viết lại 4 mục CRF chưa tốt để mỗi mục chỉ có một cách hiểu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Sẵn sàng đọc to một mục đã viết lại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Tự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đơn vị trong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Có mốc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10 biến số đã phân loại và 4 mục CRF đã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bộ dữ liệu thực tế, năm câu hỏi nghiên cứu, năm bản thảo.</a:t>
            </a:r>
          </a:p>
          <a:p>
            <a:pPr marL="0" indent="0" algn="ctr">
              <a:spcBef>
                <a:spcPts val="1200"/>
              </a:spcBef>
              <a:buNone/>
            </a:pPr>
            <a:r>
              <a:rPr lang="en-US" sz="1900" i="1" dirty="0">
                <a:solidFill>
                  <a:srgbClr val="595959"/>
                </a:solidFill>
                <a:latin typeface="Segoe UI"/>
                <a:cs typeface="Segoe UI"/>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tóm tắt (đoàn hệ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Đoàn hệ tiến cứu đa trung tâm: 4 ICU, từ 01/2023 đến 12/2024.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Đối tượng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620 người lớn nhiễm khuẩn huyết</a:t>
            </a:r>
          </a:p>
          <a:p>
            <a:pPr marL="0" indent="0" algn="l">
              <a:lnSpc>
                <a:spcPct val="104000"/>
              </a:lnSpc>
              <a:spcBef>
                <a:spcPts val="400"/>
              </a:spcBef>
              <a:buNone/>
            </a:pPr>
            <a:r>
              <a:rPr lang="en-US" sz="1600" dirty="0">
                <a:solidFill>
                  <a:srgbClr val="000000"/>
                </a:solidFill>
                <a:latin typeface="Segoe UI"/>
                <a:cs typeface="Segoe UI"/>
              </a:rPr>
              <a:t>ICU A 191, B 164,</a:t>
            </a:r>
          </a:p>
          <a:p>
            <a:pPr marL="0" indent="0" algn="l">
              <a:lnSpc>
                <a:spcPct val="104000"/>
              </a:lnSpc>
              <a:spcBef>
                <a:spcPts val="400"/>
              </a:spcBef>
              <a:buNone/>
            </a:pPr>
            <a:r>
              <a:rPr lang="en-US" sz="1600" dirty="0">
                <a:solidFill>
                  <a:srgbClr val="000000"/>
                </a:solidFill>
                <a:latin typeface="Segoe UI"/>
                <a:cs typeface="Segoe UI"/>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Phơi nhiễm</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Cân bằng dịch tích lũy</a:t>
            </a:r>
          </a:p>
          <a:p>
            <a:pPr marL="0" indent="0" algn="l">
              <a:lnSpc>
                <a:spcPct val="104000"/>
              </a:lnSpc>
              <a:spcBef>
                <a:spcPts val="400"/>
              </a:spcBef>
              <a:buNone/>
            </a:pPr>
            <a:r>
              <a:rPr lang="en-US" sz="1600" dirty="0">
                <a:solidFill>
                  <a:srgbClr val="000000"/>
                </a:solidFill>
                <a:latin typeface="Segoe UI"/>
                <a:cs typeface="Segoe UI"/>
              </a:rPr>
              <a:t>đến ngày 3 (ml/kg)</a:t>
            </a:r>
          </a:p>
          <a:p>
            <a:pPr marL="0" indent="0" algn="l">
              <a:lnSpc>
                <a:spcPct val="104000"/>
              </a:lnSpc>
              <a:spcBef>
                <a:spcPts val="400"/>
              </a:spcBef>
              <a:buNone/>
            </a:pPr>
            <a:r>
              <a:rPr lang="en-US" sz="1600" dirty="0">
                <a:solidFill>
                  <a:srgbClr val="000000"/>
                </a:solidFill>
                <a:latin typeface="Segoe UI"/>
                <a:cs typeface="Segoe UI"/>
              </a:rPr>
              <a:t>Dương: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chính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đến ngày 28</a:t>
            </a:r>
          </a:p>
          <a:p>
            <a:pPr marL="0" indent="0" algn="l">
              <a:lnSpc>
                <a:spcPct val="104000"/>
              </a:lnSpc>
              <a:spcBef>
                <a:spcPts val="400"/>
              </a:spcBef>
              <a:buNone/>
            </a:pPr>
            <a:r>
              <a:rPr lang="en-US" sz="1600" dirty="0">
                <a:solidFill>
                  <a:srgbClr val="000000"/>
                </a:solidFill>
                <a:latin typeface="Segoe UI"/>
                <a:cs typeface="Segoe UI"/>
              </a:rPr>
              <a:t>179/620 (28.9%)</a:t>
            </a:r>
          </a:p>
          <a:p>
            <a:pPr marL="0" indent="0" algn="l">
              <a:lnSpc>
                <a:spcPct val="104000"/>
              </a:lnSpc>
              <a:spcBef>
                <a:spcPts val="400"/>
              </a:spcBef>
              <a:buNone/>
            </a:pPr>
            <a:r>
              <a:rPr lang="en-US" sz="1600" dirty="0">
                <a:solidFill>
                  <a:srgbClr val="000000"/>
                </a:solidFill>
                <a:latin typeface="Segoe UI"/>
                <a:cs typeface="Segoe UI"/>
              </a:rPr>
              <a:t>+ thời gian đến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 thêm</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SOFA, APACHE II, lactat</a:t>
            </a:r>
          </a:p>
          <a:p>
            <a:pPr marL="0" indent="0" algn="l">
              <a:lnSpc>
                <a:spcPct val="104000"/>
              </a:lnSpc>
              <a:spcBef>
                <a:spcPts val="400"/>
              </a:spcBef>
              <a:buNone/>
            </a:pPr>
            <a:r>
              <a:rPr lang="en-US" sz="1600" dirty="0">
                <a:solidFill>
                  <a:srgbClr val="000000"/>
                </a:solidFill>
                <a:latin typeface="Segoe UI"/>
                <a:cs typeface="Segoe UI"/>
              </a:rPr>
              <a:t>AKI, số ngày không thở máy</a:t>
            </a:r>
          </a:p>
          <a:p>
            <a:pPr marL="0" indent="0" algn="l">
              <a:lnSpc>
                <a:spcPct val="104000"/>
              </a:lnSpc>
              <a:spcBef>
                <a:spcPts val="400"/>
              </a:spcBef>
              <a:buNone/>
            </a:pPr>
            <a:r>
              <a:rPr lang="en-US" sz="1600" dirty="0">
                <a:solidFill>
                  <a:srgbClr val="000000"/>
                </a:solidFill>
                <a:latin typeface="Segoe UI"/>
                <a:cs typeface="Segoe UI"/>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623 dòng đến 527 ca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FLUID-ICU.Rproj và script 01_clean.R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Đọc tệp thô dưới dạng văn bản và xem qua</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Chạy từng khối cho mỗi vấn đề: tên biến, bản trùng, ICU, ngày, mã</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Tìm lỗi đơn vị lactat bằng tóm tắt theo ICU</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vấn đề, một khối</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Segoe UI"/>
                <a:cs typeface="Segoe UI"/>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Nhật ký làm sạch: dấu vết kiểm toán của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Course/Data/cleaning_log.md: mỗi thay đổi trên dữ liệu thô là một dòng.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Nguyên tắc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sửa tệp thô</a:t>
            </a:r>
          </a:p>
          <a:p>
            <a:pPr marL="0" indent="0" algn="l">
              <a:lnSpc>
                <a:spcPct val="104000"/>
              </a:lnSpc>
              <a:spcBef>
                <a:spcPts val="400"/>
              </a:spcBef>
              <a:buNone/>
            </a:pPr>
            <a:r>
              <a:rPr lang="en-US" sz="1600" dirty="0">
                <a:solidFill>
                  <a:srgbClr val="000000"/>
                </a:solidFill>
                <a:latin typeface="Segoe UI"/>
                <a:cs typeface="Segoe UI"/>
              </a:rPr>
              <a:t>Thay đổi bằng script</a:t>
            </a:r>
          </a:p>
          <a:p>
            <a:pPr marL="0" indent="0" algn="l">
              <a:lnSpc>
                <a:spcPct val="104000"/>
              </a:lnSpc>
              <a:spcBef>
                <a:spcPts val="400"/>
              </a:spcBef>
              <a:buNone/>
            </a:pPr>
            <a:r>
              <a:rPr lang="en-US" sz="1600" dirty="0">
                <a:solidFill>
                  <a:srgbClr val="000000"/>
                </a:solidFill>
                <a:latin typeface="Segoe UI"/>
                <a:cs typeface="Segoe UI"/>
              </a:rPr>
              <a:t>và được ghi lại</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Mỗi dòng ghi</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Vấn đề phát hiện</a:t>
            </a:r>
          </a:p>
          <a:p>
            <a:pPr marL="0" indent="0" algn="l">
              <a:lnSpc>
                <a:spcPct val="104000"/>
              </a:lnSpc>
              <a:spcBef>
                <a:spcPts val="400"/>
              </a:spcBef>
              <a:buNone/>
            </a:pPr>
            <a:r>
              <a:rPr lang="en-US" sz="1600" dirty="0">
                <a:solidFill>
                  <a:srgbClr val="000000"/>
                </a:solidFill>
                <a:latin typeface="Segoe UI"/>
                <a:cs typeface="Segoe UI"/>
              </a:rPr>
              <a:t>Bao nhiêu</a:t>
            </a:r>
          </a:p>
          <a:p>
            <a:pPr marL="0" indent="0" algn="l">
              <a:lnSpc>
                <a:spcPct val="104000"/>
              </a:lnSpc>
              <a:spcBef>
                <a:spcPts val="400"/>
              </a:spcBef>
              <a:buNone/>
            </a:pPr>
            <a:r>
              <a:rPr lang="en-US" sz="1600" dirty="0">
                <a:solidFill>
                  <a:srgbClr val="000000"/>
                </a:solidFill>
                <a:latin typeface="Segoe UI"/>
                <a:cs typeface="Segoe UI"/>
              </a:rPr>
              <a:t>Đã làm gì và vì sao</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Câu hỏi gửi cơ sở</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vô lý →</a:t>
            </a:r>
          </a:p>
          <a:p>
            <a:pPr marL="0" indent="0" algn="l">
              <a:lnSpc>
                <a:spcPct val="104000"/>
              </a:lnSpc>
              <a:spcBef>
                <a:spcPts val="400"/>
              </a:spcBef>
              <a:buNone/>
            </a:pPr>
            <a:r>
              <a:rPr lang="en-US" sz="1600" dirty="0">
                <a:solidFill>
                  <a:srgbClr val="000000"/>
                </a:solidFill>
                <a:latin typeface="Segoe UI"/>
                <a:cs typeface="Segoe UI"/>
              </a:rPr>
              <a:t>thiếu + hỏi lại cơ sở</a:t>
            </a:r>
          </a:p>
          <a:p>
            <a:pPr marL="0" indent="0" algn="l">
              <a:lnSpc>
                <a:spcPct val="104000"/>
              </a:lnSpc>
              <a:spcBef>
                <a:spcPts val="400"/>
              </a:spcBef>
              <a:buNone/>
            </a:pPr>
            <a:r>
              <a:rPr lang="en-US" sz="1600" dirty="0">
                <a:solidFill>
                  <a:srgbClr val="000000"/>
                </a:solidFill>
                <a:latin typeface="Segoe UI"/>
                <a:cs typeface="Segoe UI"/>
              </a:rPr>
              <a:t>Bệnh nhân được giữ lại</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Còn lại</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thiếu thật</a:t>
            </a:r>
          </a:p>
          <a:p>
            <a:pPr marL="0" indent="0" algn="l">
              <a:lnSpc>
                <a:spcPct val="104000"/>
              </a:lnSpc>
              <a:spcBef>
                <a:spcPts val="400"/>
              </a:spcBef>
              <a:buNone/>
            </a:pPr>
            <a:r>
              <a:rPr lang="en-US" sz="1600" dirty="0">
                <a:solidFill>
                  <a:srgbClr val="000000"/>
                </a:solidFill>
                <a:latin typeface="Segoe UI"/>
                <a:cs typeface="Segoe UI"/>
              </a:rPr>
              <a:t>Lactat: 93/620 (15.0%)</a:t>
            </a:r>
          </a:p>
          <a:p>
            <a:pPr marL="0" indent="0" algn="l">
              <a:lnSpc>
                <a:spcPct val="104000"/>
              </a:lnSpc>
              <a:spcBef>
                <a:spcPts val="400"/>
              </a:spcBef>
              <a:buNone/>
            </a:pPr>
            <a:r>
              <a:rPr lang="en-US" sz="1600" dirty="0">
                <a:solidFill>
                  <a:srgbClr val="000000"/>
                </a:solidFill>
                <a:latin typeface="Segoe UI"/>
                <a:cs typeface="Segoe UI"/>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nhóm, 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nhóm trả lời một câu hỏi và viết thành bản thảo ở Tuần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Q1 Tử vong</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dương và</a:t>
            </a:r>
          </a:p>
          <a:p>
            <a:pPr marL="0" indent="0" algn="l">
              <a:lnSpc>
                <a:spcPct val="104000"/>
              </a:lnSpc>
              <a:spcBef>
                <a:spcPts val="400"/>
              </a:spcBef>
              <a:buNone/>
            </a:pPr>
            <a:r>
              <a:rPr lang="en-US" sz="1450" dirty="0">
                <a:solidFill>
                  <a:srgbClr val="000000"/>
                </a:solidFill>
                <a:latin typeface="Segoe UI"/>
                <a:cs typeface="Segoe UI"/>
              </a:rPr>
              <a:t>tử vong 28 ngày</a:t>
            </a:r>
          </a:p>
          <a:p>
            <a:pPr marL="0" indent="0" algn="l">
              <a:lnSpc>
                <a:spcPct val="104000"/>
              </a:lnSpc>
              <a:spcBef>
                <a:spcPts val="400"/>
              </a:spcBef>
              <a:buNone/>
            </a:pPr>
            <a:r>
              <a:rPr lang="en-US" sz="1450" dirty="0">
                <a:solidFill>
                  <a:srgbClr val="000000"/>
                </a:solidFill>
                <a:latin typeface="Segoe UI"/>
                <a:cs typeface="Segoe UI"/>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tổn thương thận cấp</a:t>
            </a:r>
          </a:p>
          <a:p>
            <a:pPr marL="0" indent="0" algn="l">
              <a:lnSpc>
                <a:spcPct val="104000"/>
              </a:lnSpc>
              <a:spcBef>
                <a:spcPts val="400"/>
              </a:spcBef>
              <a:buNone/>
            </a:pPr>
            <a:r>
              <a:rPr lang="en-US" sz="1450" dirty="0">
                <a:solidFill>
                  <a:srgbClr val="000000"/>
                </a:solidFill>
                <a:latin typeface="Segoe UI"/>
                <a:cs typeface="Segoe UI"/>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Q3 Thở máy</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số ngày không thở máy</a:t>
            </a:r>
          </a:p>
          <a:p>
            <a:pPr marL="0" indent="0" algn="l">
              <a:lnSpc>
                <a:spcPct val="104000"/>
              </a:lnSpc>
              <a:spcBef>
                <a:spcPts val="400"/>
              </a:spcBef>
              <a:buNone/>
            </a:pPr>
            <a:r>
              <a:rPr lang="en-US" sz="1450" dirty="0">
                <a:solidFill>
                  <a:srgbClr val="000000"/>
                </a:solidFill>
                <a:latin typeface="Segoe UI"/>
                <a:cs typeface="Segoe UI"/>
              </a:rPr>
              <a:t>Phi tham số / tuyến tính</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Q4 Lactat</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Lactat và tử vong;</a:t>
            </a:r>
          </a:p>
          <a:p>
            <a:pPr marL="0" indent="0" algn="l">
              <a:lnSpc>
                <a:spcPct val="104000"/>
              </a:lnSpc>
              <a:spcBef>
                <a:spcPts val="400"/>
              </a:spcBef>
              <a:buNone/>
            </a:pPr>
            <a:r>
              <a:rPr lang="en-US" sz="1450" dirty="0">
                <a:solidFill>
                  <a:srgbClr val="000000"/>
                </a:solidFill>
                <a:latin typeface="Segoe UI"/>
                <a:cs typeface="Segoe UI"/>
              </a:rPr>
              <a:t>lactat bị thiếu</a:t>
            </a:r>
          </a:p>
          <a:p>
            <a:pPr marL="0" indent="0" algn="l">
              <a:lnSpc>
                <a:spcPct val="104000"/>
              </a:lnSpc>
              <a:spcBef>
                <a:spcPts val="400"/>
              </a:spcBef>
              <a:buNone/>
            </a:pPr>
            <a:r>
              <a:rPr lang="en-US" sz="1450" dirty="0">
                <a:solidFill>
                  <a:srgbClr val="000000"/>
                </a:solidFill>
                <a:latin typeface="Segoe UI"/>
                <a:cs typeface="Segoe UI"/>
              </a:rPr>
              <a:t>CC so với đa phép gán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Q5 Nằm ICU</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và thời gian</a:t>
            </a:r>
          </a:p>
          <a:p>
            <a:pPr marL="0" indent="0" algn="l">
              <a:lnSpc>
                <a:spcPct val="104000"/>
              </a:lnSpc>
              <a:spcBef>
                <a:spcPts val="400"/>
              </a:spcBef>
              <a:buNone/>
            </a:pPr>
            <a:r>
              <a:rPr lang="en-US" sz="1450" dirty="0">
                <a:solidFill>
                  <a:srgbClr val="000000"/>
                </a:solidFill>
                <a:latin typeface="Segoe UI"/>
                <a:cs typeface="Segoe UI"/>
              </a:rPr>
              <a:t>nằm ICU ở người sống</a:t>
            </a:r>
          </a:p>
          <a:p>
            <a:pPr marL="0" indent="0" algn="l">
              <a:lnSpc>
                <a:spcPct val="104000"/>
              </a:lnSpc>
              <a:spcBef>
                <a:spcPts val="400"/>
              </a:spcBef>
              <a:buNone/>
            </a:pPr>
            <a:r>
              <a:rPr lang="en-US" sz="1450" dirty="0">
                <a:solidFill>
                  <a:srgbClr val="000000"/>
                </a:solidFill>
                <a:latin typeface="Segoe UI"/>
                <a:cs typeface="Segoe UI"/>
              </a:rPr>
              <a:t>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của nhóm là bản thảo của nhóm: hãy làm chủ nó từ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Đọc câu hỏi của nhóm trong gói kết quả (trang 1)</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Nêu kết cục và loại của nó; phơi nhiễm và loại của nó</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Tìm cả hai trong từ điển dữ liệu FLUID-ICU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câu hỏi thành một câu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Ví dụ (Q1)</a:t>
            </a:r>
          </a:p>
          <a:p>
            <a:pPr marL="274320" indent="-274320" algn="l">
              <a:lnSpc>
                <a:spcPct val="104000"/>
              </a:lnSpc>
              <a:spcBef>
                <a:spcPts val="300"/>
              </a:spcBef>
              <a:buFont typeface="Arial"/>
              <a:buChar char="•"/>
            </a:pPr>
            <a:r>
              <a:rPr lang="en-US" sz="1500" dirty="0">
                <a:solidFill>
                  <a:srgbClr val="000000"/>
                </a:solidFill>
                <a:latin typeface="Segoe UI"/>
                <a:cs typeface="Segoe UI"/>
              </a:rPr>
              <a:t>P: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Segoe UI"/>
                <a:cs typeface="Segoe UI"/>
              </a:rPr>
              <a:t>E: cân bằng dương đến ngày 3</a:t>
            </a:r>
          </a:p>
          <a:p>
            <a:pPr marL="274320" indent="-274320" algn="l">
              <a:lnSpc>
                <a:spcPct val="104000"/>
              </a:lnSpc>
              <a:spcBef>
                <a:spcPts val="300"/>
              </a:spcBef>
              <a:buFont typeface="Arial"/>
              <a:buChar char="•"/>
            </a:pPr>
            <a:r>
              <a:rPr lang="en-US" sz="1500" dirty="0">
                <a:solidFill>
                  <a:srgbClr val="000000"/>
                </a:solidFill>
                <a:latin typeface="Segoe UI"/>
                <a:cs typeface="Segoe UI"/>
              </a:rPr>
              <a:t>C: cân bằng âm</a:t>
            </a:r>
          </a:p>
          <a:p>
            <a:pPr marL="274320" indent="-274320" algn="l">
              <a:lnSpc>
                <a:spcPct val="104000"/>
              </a:lnSpc>
              <a:spcBef>
                <a:spcPts val="300"/>
              </a:spcBef>
              <a:buFont typeface="Arial"/>
              <a:buChar char="•"/>
            </a:pPr>
            <a:r>
              <a:rPr lang="en-US" sz="1500" dirty="0">
                <a:solidFill>
                  <a:srgbClr val="000000"/>
                </a:solidFill>
                <a:latin typeface="Segoe UI"/>
                <a:cs typeface="Segoe UI"/>
              </a:rPr>
              <a:t>O: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xem qua câu hỏi và gói kết quả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5.3: mô tả và trình bày dữ liệu</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bình hay trung vị?</a:t>
            </a:r>
          </a:p>
          <a:p>
            <a:pPr marL="274320" indent="-274320" algn="l">
              <a:lnSpc>
                <a:spcPct val="104000"/>
              </a:lnSpc>
              <a:spcBef>
                <a:spcPts val="300"/>
              </a:spcBef>
              <a:buFont typeface="Arial"/>
              <a:buChar char="•"/>
            </a:pPr>
            <a:r>
              <a:rPr lang="en-US" sz="1500" dirty="0">
                <a:solidFill>
                  <a:srgbClr val="000000"/>
                </a:solidFill>
                <a:latin typeface="Segoe UI"/>
                <a:cs typeface="Segoe UI"/>
              </a:rPr>
              <a:t>SD hay IQR?</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nào?</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a:t>
            </a:r>
          </a:p>
          <a:p>
            <a:pPr marL="0" indent="0" algn="ctr">
              <a:spcBef>
                <a:spcPts val="1200"/>
              </a:spcBef>
              <a:buNone/>
            </a:pPr>
            <a:r>
              <a:rPr lang="en-US" sz="1900" i="1" dirty="0">
                <a:solidFill>
                  <a:srgbClr val="595959"/>
                </a:solidFill>
                <a:latin typeface="Segoe UI"/>
                <a:cs typeface="Segoe UI"/>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Thời gian nằm ICU của 7 bệnh nhân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Sắp xếp từ ngắn</a:t>
            </a:r>
          </a:p>
          <a:p>
            <a:pPr marL="0" indent="0" algn="l">
              <a:lnSpc>
                <a:spcPct val="104000"/>
              </a:lnSpc>
              <a:spcBef>
                <a:spcPts val="200"/>
              </a:spcBef>
              <a:buNone/>
            </a:pPr>
            <a:r>
              <a:rPr lang="en-US" sz="1500" dirty="0">
                <a:solidFill>
                  <a:srgbClr val="000000"/>
                </a:solidFill>
                <a:latin typeface="Segoe UI"/>
                <a:cs typeface="Segoe UI"/>
              </a:rPr>
              <a:t>đến dài</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thứ 4 trong 7:</a:t>
            </a:r>
          </a:p>
          <a:p>
            <a:pPr marL="0" indent="0" algn="l">
              <a:lnSpc>
                <a:spcPct val="104000"/>
              </a:lnSpc>
              <a:spcBef>
                <a:spcPts val="200"/>
              </a:spcBef>
              <a:buNone/>
            </a:pPr>
            <a:r>
              <a:rPr lang="en-US" sz="1500" dirty="0">
                <a:solidFill>
                  <a:srgbClr val="000000"/>
                </a:solidFill>
                <a:latin typeface="Segoe UI"/>
                <a:cs typeface="Segoe UI"/>
              </a:rPr>
              <a:t>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42 ngày / 7 bệnh nhân</a:t>
            </a:r>
          </a:p>
          <a:p>
            <a:pPr marL="0" indent="0" algn="l">
              <a:lnSpc>
                <a:spcPct val="104000"/>
              </a:lnSpc>
              <a:spcBef>
                <a:spcPts val="200"/>
              </a:spcBef>
              <a:buNone/>
            </a:pPr>
            <a:r>
              <a:rPr lang="en-US" sz="1500" dirty="0">
                <a:solidFill>
                  <a:srgbClr val="000000"/>
                </a:solidFill>
                <a:latin typeface="Segoe UI"/>
                <a:cs typeface="Segoe UI"/>
              </a:rPr>
              <a:t>=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ca 24 ngày</a:t>
            </a:r>
          </a:p>
          <a:p>
            <a:pPr marL="0" indent="0" algn="l">
              <a:lnSpc>
                <a:spcPct val="104000"/>
              </a:lnSpc>
              <a:spcBef>
                <a:spcPts val="200"/>
              </a:spcBef>
              <a:buNone/>
            </a:pPr>
            <a:r>
              <a:rPr lang="en-US" sz="1500" dirty="0">
                <a:solidFill>
                  <a:srgbClr val="000000"/>
                </a:solidFill>
                <a:latin typeface="Segoe UI"/>
                <a:cs typeface="Segoe UI"/>
              </a:rPr>
              <a:t>làm trung bình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dữ liệu lệch như thời gian nằm viện, trung vị mô tả bệnh nhân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của 200 bệnh nhân: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Tuổi của 200 bệnh nhân ICU người lớn, hình chuông: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Thở máy lúc nhập viện (có/không): tóm tắt bằng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Loét tì đè giai đoạn 1 đến 4: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Tuổi: trung bình (SD)</a:t>
            </a:r>
          </a:p>
          <a:p>
            <a:pPr marL="274320" indent="-274320" algn="l">
              <a:lnSpc>
                <a:spcPct val="104000"/>
              </a:lnSpc>
              <a:spcBef>
                <a:spcPts val="300"/>
              </a:spcBef>
              <a:buFont typeface="Arial"/>
              <a:buChar char="•"/>
            </a:pPr>
            <a:r>
              <a:rPr lang="en-US" sz="1500" dirty="0">
                <a:solidFill>
                  <a:srgbClr val="000000"/>
                </a:solidFill>
                <a:latin typeface="Segoe UI"/>
                <a:cs typeface="Segoe UI"/>
              </a:rPr>
              <a:t>Thở máy: n (%)</a:t>
            </a:r>
          </a:p>
          <a:p>
            <a:pPr marL="274320" indent="-274320" algn="l">
              <a:lnSpc>
                <a:spcPct val="104000"/>
              </a:lnSpc>
              <a:spcBef>
                <a:spcPts val="300"/>
              </a:spcBef>
              <a:buFont typeface="Arial"/>
              <a:buChar char="•"/>
            </a:pPr>
            <a:r>
              <a:rPr lang="en-US" sz="1500" dirty="0">
                <a:solidFill>
                  <a:srgbClr val="000000"/>
                </a:solidFill>
                <a:latin typeface="Segoe UI"/>
                <a:cs typeface="Segoe UI"/>
              </a:rPr>
              <a:t>Giai đoạn: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48 bệnh nhân,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Thấy từng bệnh nhân: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Bảng 1 trả lời: bệnh nhân là ai, và các nhóm có giống nhau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 giờ với con số thật.</a:t>
            </a:r>
          </a:p>
          <a:p>
            <a:pPr marL="0" indent="0" algn="ctr">
              <a:spcBef>
                <a:spcPts val="1200"/>
              </a:spcBef>
              <a:buNone/>
            </a:pPr>
            <a:r>
              <a:rPr lang="en-US" sz="1900" i="1" dirty="0">
                <a:solidFill>
                  <a:srgbClr val="595959"/>
                </a:solidFill>
                <a:latin typeface="Segoe UI"/>
                <a:cs typeface="Segoe UI"/>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02_describe.R và nạp dữ liệu sạch</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hình dạng trước: biểu đồ tần suất tuổi, lactat, thời gian nằm ICU</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Lập Bảng 1 theo nhóm cân bằng dịch (không có giá trị p)</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Vẽ biểu đồ: tần suất, hộp, cột</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Cùng quy tắc như 5.3</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 dòng</a:t>
            </a:r>
          </a:p>
          <a:p>
            <a:pPr marL="274320" indent="-274320" algn="l">
              <a:lnSpc>
                <a:spcPct val="104000"/>
              </a:lnSpc>
              <a:spcBef>
                <a:spcPts val="300"/>
              </a:spcBef>
              <a:buFont typeface="Arial"/>
              <a:buChar char="•"/>
            </a:pPr>
            <a:r>
              <a:rPr lang="en-US" sz="1500" dirty="0">
                <a:solidFill>
                  <a:srgbClr val="000000"/>
                </a:solidFill>
                <a:latin typeface="Segoe UI"/>
                <a:cs typeface="Segoe UI"/>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Mức độ nặng theo nhóm: cho thấy từng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Mỗi chấm là một bệnh nhân</a:t>
            </a:r>
          </a:p>
          <a:p>
            <a:pPr marL="274320" indent="-274320" algn="l">
              <a:spcBef>
                <a:spcPts val="440"/>
              </a:spcBef>
              <a:buFont typeface="Arial"/>
              <a:buChar char="•"/>
            </a:pPr>
            <a:r>
              <a:rPr lang="en-US" sz="1450" dirty="0">
                <a:solidFill>
                  <a:srgbClr val="000000"/>
                </a:solidFill>
                <a:latin typeface="Segoe UI"/>
                <a:cs typeface="Segoe UI"/>
              </a:rPr>
              <a:t>Hộp = 50% ở giữa</a:t>
            </a:r>
          </a:p>
          <a:p>
            <a:pPr marL="274320" indent="-274320" algn="l">
              <a:spcBef>
                <a:spcPts val="440"/>
              </a:spcBef>
              <a:buFont typeface="Arial"/>
              <a:buChar char="•"/>
            </a:pPr>
            <a:r>
              <a:rPr lang="en-US" sz="1450" dirty="0">
                <a:solidFill>
                  <a:srgbClr val="000000"/>
                </a:solidFill>
                <a:latin typeface="Segoe UI"/>
                <a:cs typeface="Segoe UI"/>
              </a:rPr>
              <a:t>Trung vị 6 so với 8</a:t>
            </a:r>
          </a:p>
          <a:p>
            <a:pPr marL="274320" indent="-274320" algn="l">
              <a:spcBef>
                <a:spcPts val="440"/>
              </a:spcBef>
              <a:buFont typeface="Arial"/>
              <a:buChar char="•"/>
            </a:pPr>
            <a:r>
              <a:rPr lang="en-US" sz="1450" dirty="0">
                <a:solidFill>
                  <a:srgbClr val="000000"/>
                </a:solidFill>
                <a:latin typeface="Segoe UI"/>
                <a:cs typeface="Segoe UI"/>
              </a:rPr>
              <a:t>Ca nặng hơn được truyền nhiều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1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Mở gói kết quả: Bảng 1 và các biểu đồ</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ba biến: dùng cách tóm tắt nào,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Các nhóm có giống nhau lúc đầu? Nêu khác biệt lớn nhất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hai câu mô tả bệnh nhân, như trong phần Kết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Một nhóm đọc to các câu của mình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vị cho biến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mô tả bệnh nhân của nhóm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Kết cục: tử vong 28 ngày (nhị phân)</a:t>
            </a:r>
          </a:p>
          <a:p>
            <a:pPr marL="0" indent="0" algn="l">
              <a:lnSpc>
                <a:spcPct val="104000"/>
              </a:lnSpc>
              <a:spcBef>
                <a:spcPts val="400"/>
              </a:spcBef>
              <a:buNone/>
            </a:pPr>
            <a:r>
              <a:rPr lang="en-US" sz="1600" dirty="0">
                <a:solidFill>
                  <a:srgbClr val="000000"/>
                </a:solidFill>
                <a:latin typeface="Segoe UI"/>
                <a:cs typeface="Segoe UI"/>
              </a:rPr>
              <a:t>Phơi nhiễm: hạn chế so với thường quy</a:t>
            </a:r>
          </a:p>
          <a:p>
            <a:pPr marL="0" indent="0" algn="l">
              <a:lnSpc>
                <a:spcPct val="104000"/>
              </a:lnSpc>
              <a:spcBef>
                <a:spcPts val="400"/>
              </a:spcBef>
              <a:buNone/>
            </a:pPr>
            <a:r>
              <a:rPr lang="en-US" sz="1600" dirty="0">
                <a:solidFill>
                  <a:srgbClr val="000000"/>
                </a:solidFill>
                <a:latin typeface="Segoe UI"/>
                <a:cs typeface="Segoe UI"/>
              </a:rPr>
              <a:t>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6-10 mục</a:t>
            </a:r>
          </a:p>
          <a:p>
            <a:pPr marL="0" indent="0" algn="l">
              <a:lnSpc>
                <a:spcPct val="104000"/>
              </a:lnSpc>
              <a:spcBef>
                <a:spcPts val="400"/>
              </a:spcBef>
              <a:buNone/>
            </a:pPr>
            <a:r>
              <a:rPr lang="en-US" sz="1600" dirty="0">
                <a:solidFill>
                  <a:srgbClr val="000000"/>
                </a:solidFill>
                <a:latin typeface="Segoe UI"/>
                <a:cs typeface="Segoe UI"/>
              </a:rPr>
              <a:t>đơn vị và thời điểm</a:t>
            </a:r>
          </a:p>
          <a:p>
            <a:pPr marL="0" indent="0" algn="l">
              <a:lnSpc>
                <a:spcPct val="104000"/>
              </a:lnSpc>
              <a:spcBef>
                <a:spcPts val="400"/>
              </a:spcBef>
              <a:buNone/>
            </a:pPr>
            <a:r>
              <a:rPr lang="en-US" sz="1600" dirty="0">
                <a:solidFill>
                  <a:srgbClr val="000000"/>
                </a:solidFill>
                <a:latin typeface="Segoe UI"/>
                <a:cs typeface="Segoe UI"/>
              </a:rPr>
              <a:t>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3-5 dòng: tên, nhãn,</a:t>
            </a:r>
          </a:p>
          <a:p>
            <a:pPr marL="0" indent="0" algn="l">
              <a:lnSpc>
                <a:spcPct val="104000"/>
              </a:lnSpc>
              <a:spcBef>
                <a:spcPts val="400"/>
              </a:spcBef>
              <a:buNone/>
            </a:pPr>
            <a:r>
              <a:rPr lang="en-US" sz="1600" dirty="0">
                <a:solidFill>
                  <a:srgbClr val="000000"/>
                </a:solidFill>
                <a:latin typeface="Segoe UI"/>
                <a:cs typeface="Segoe UI"/>
              </a:rPr>
              <a:t>loại, đơn vị/mã,</a:t>
            </a:r>
          </a:p>
          <a:p>
            <a:pPr marL="0" indent="0" algn="l">
              <a:lnSpc>
                <a:spcPct val="104000"/>
              </a:lnSpc>
              <a:spcBef>
                <a:spcPts val="400"/>
              </a:spcBef>
              <a:buNone/>
            </a:pPr>
            <a:r>
              <a:rPr lang="en-US" sz="1600" dirty="0">
                <a:solidFill>
                  <a:srgbClr val="000000"/>
                </a:solidFill>
                <a:latin typeface="Segoe UI"/>
                <a:cs typeface="Segoe UI"/>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EDC hoặc nhập hai lần</a:t>
            </a:r>
          </a:p>
          <a:p>
            <a:pPr marL="0" indent="0" algn="l">
              <a:lnSpc>
                <a:spcPct val="104000"/>
              </a:lnSpc>
              <a:spcBef>
                <a:spcPts val="400"/>
              </a:spcBef>
              <a:buNone/>
            </a:pPr>
            <a:r>
              <a:rPr lang="en-US" sz="1600" dirty="0">
                <a:solidFill>
                  <a:srgbClr val="000000"/>
                </a:solidFill>
                <a:latin typeface="Segoe UI"/>
                <a:cs typeface="Segoe UI"/>
              </a:rPr>
              <a:t>mã số, nhật ký thay đổi</a:t>
            </a:r>
          </a:p>
          <a:p>
            <a:pPr marL="0" indent="0" algn="l">
              <a:lnSpc>
                <a:spcPct val="104000"/>
              </a:lnSpc>
              <a:spcBef>
                <a:spcPts val="400"/>
              </a:spcBef>
              <a:buNone/>
            </a:pPr>
            <a:r>
              <a:rPr lang="en-US" sz="1600" dirty="0">
                <a:solidFill>
                  <a:srgbClr val="000000"/>
                </a:solidFill>
                <a:latin typeface="Segoe UI"/>
                <a:cs typeface="Segoe UI"/>
              </a:rPr>
              <a:t>sao lưu, tuyên bố chia sẻ</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Bảng biến số: kết cục, phơi nhiễm, 3-5 yếu tố gây nhiễu, mỗi biến kèm loại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CRF thu gọn: 6-10 mục có đơn vị, thời điểm và lựa chọn 'không rõ'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Từ điển dữ liệu: 3-5 dòng + một quy tắc kiểm tra (6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quản lý dữ liệu: EDC hoặc nhập hai lần, mã số, sao lưu, chia sẻ (6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loại biến số</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CRF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Từ điển dữ liệu FLUID-ICU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(nửa đầu) được viết vào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biến số</a:t>
            </a:r>
          </a:p>
          <a:p>
            <a:pPr marL="0" indent="0" algn="l">
              <a:lnSpc>
                <a:spcPct val="104000"/>
              </a:lnSpc>
              <a:spcBef>
                <a:spcPts val="400"/>
              </a:spcBef>
              <a:buNone/>
            </a:pPr>
            <a:r>
              <a:rPr lang="en-US" sz="1600" dirty="0">
                <a:solidFill>
                  <a:srgbClr val="000000"/>
                </a:solidFill>
                <a:latin typeface="Segoe UI"/>
                <a:cs typeface="Segoe UI"/>
              </a:rPr>
              <a:t>CRF</a:t>
            </a:r>
          </a:p>
          <a:p>
            <a:pPr marL="0" indent="0" algn="l">
              <a:lnSpc>
                <a:spcPct val="104000"/>
              </a:lnSpc>
              <a:spcBef>
                <a:spcPts val="400"/>
              </a:spcBef>
              <a:buNone/>
            </a:pPr>
            <a:r>
              <a:rPr lang="en-US" sz="1600" dirty="0">
                <a:solidFill>
                  <a:srgbClr val="000000"/>
                </a:solidFill>
                <a:latin typeface="Segoe UI"/>
                <a:cs typeface="Segoe UI"/>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Quy tắc kiểm tra</a:t>
            </a:r>
          </a:p>
          <a:p>
            <a:pPr marL="0" indent="0" algn="l">
              <a:lnSpc>
                <a:spcPct val="104000"/>
              </a:lnSpc>
              <a:spcBef>
                <a:spcPts val="400"/>
              </a:spcBef>
              <a:buNone/>
            </a:pPr>
            <a:r>
              <a:rPr lang="en-US" sz="1600" dirty="0">
                <a:solidFill>
                  <a:srgbClr val="000000"/>
                </a:solidFill>
                <a:latin typeface="Segoe UI"/>
                <a:cs typeface="Segoe UI"/>
              </a:rPr>
              <a:t>Nhật ký thay đổi</a:t>
            </a:r>
          </a:p>
          <a:p>
            <a:pPr marL="0" indent="0" algn="l">
              <a:lnSpc>
                <a:spcPct val="104000"/>
              </a:lnSpc>
              <a:spcBef>
                <a:spcPts val="400"/>
              </a:spcBef>
              <a:buNone/>
            </a:pPr>
            <a:r>
              <a:rPr lang="en-US" sz="1600" dirty="0">
                <a:solidFill>
                  <a:srgbClr val="000000"/>
                </a:solidFill>
                <a:latin typeface="Segoe UI"/>
                <a:cs typeface="Segoe UI"/>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Trung vị (IQR)</a:t>
            </a:r>
          </a:p>
          <a:p>
            <a:pPr marL="0" indent="0" algn="l">
              <a:lnSpc>
                <a:spcPct val="104000"/>
              </a:lnSpc>
              <a:spcBef>
                <a:spcPts val="400"/>
              </a:spcBef>
              <a:buNone/>
            </a:pPr>
            <a:r>
              <a:rPr lang="en-US" sz="1600" dirty="0">
                <a:solidFill>
                  <a:srgbClr val="000000"/>
                </a:solidFill>
                <a:latin typeface="Segoe UI"/>
                <a:cs typeface="Segoe UI"/>
              </a:rPr>
              <a:t>Trung bình (SD)</a:t>
            </a:r>
          </a:p>
          <a:p>
            <a:pPr marL="0" indent="0" algn="l">
              <a:lnSpc>
                <a:spcPct val="104000"/>
              </a:lnSpc>
              <a:spcBef>
                <a:spcPts val="400"/>
              </a:spcBef>
              <a:buNone/>
            </a:pPr>
            <a:r>
              <a:rPr lang="en-US" sz="1600" dirty="0">
                <a:solidFill>
                  <a:srgbClr val="000000"/>
                </a:solidFill>
                <a:latin typeface="Segoe UI"/>
                <a:cs typeface="Segoe UI"/>
              </a:rPr>
              <a:t>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1</a:t>
            </a:r>
          </a:p>
          <a:p>
            <a:pPr marL="0" indent="0" algn="l">
              <a:lnSpc>
                <a:spcPct val="104000"/>
              </a:lnSpc>
              <a:spcBef>
                <a:spcPts val="400"/>
              </a:spcBef>
              <a:buNone/>
            </a:pPr>
            <a:r>
              <a:rPr lang="en-US" sz="1600" dirty="0">
                <a:solidFill>
                  <a:srgbClr val="000000"/>
                </a:solidFill>
                <a:latin typeface="Segoe UI"/>
                <a:cs typeface="Segoe UI"/>
              </a:rPr>
              <a:t>Chấm + hộp</a:t>
            </a:r>
          </a:p>
          <a:p>
            <a:pPr marL="0" indent="0" algn="l">
              <a:lnSpc>
                <a:spcPct val="104000"/>
              </a:lnSpc>
              <a:spcBef>
                <a:spcPts val="400"/>
              </a:spcBef>
              <a:buNone/>
            </a:pPr>
            <a:r>
              <a:rPr lang="en-US" sz="1600" dirty="0">
                <a:solidFill>
                  <a:srgbClr val="000000"/>
                </a:solidFill>
                <a:latin typeface="Segoe UI"/>
                <a:cs typeface="Segoe UI"/>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Mục CRF rõ ràng</a:t>
            </a:r>
          </a:p>
          <a:p>
            <a:pPr marL="0" indent="0" algn="l">
              <a:lnSpc>
                <a:spcPct val="104000"/>
              </a:lnSpc>
              <a:spcBef>
                <a:spcPts val="400"/>
              </a:spcBef>
              <a:buNone/>
            </a:pPr>
            <a:r>
              <a:rPr lang="en-US" sz="1750" dirty="0">
                <a:solidFill>
                  <a:srgbClr val="000000"/>
                </a:solidFill>
                <a:latin typeface="Segoe UI"/>
                <a:cs typeface="Segoe UI"/>
              </a:rPr>
              <a:t>Từ điển dữ liệu trước</a:t>
            </a:r>
          </a:p>
          <a:p>
            <a:pPr marL="0" indent="0" algn="l">
              <a:lnSpc>
                <a:spcPct val="104000"/>
              </a:lnSpc>
              <a:spcBef>
                <a:spcPts val="400"/>
              </a:spcBef>
              <a:buNone/>
            </a:pPr>
            <a:r>
              <a:rPr lang="en-US" sz="1750" dirty="0">
                <a:solidFill>
                  <a:srgbClr val="000000"/>
                </a:solidFill>
                <a:latin typeface="Segoe UI"/>
                <a:cs typeface="Segoe UI"/>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sửa dữ liệu gốc</a:t>
            </a:r>
          </a:p>
          <a:p>
            <a:pPr marL="0" indent="0" algn="l">
              <a:lnSpc>
                <a:spcPct val="104000"/>
              </a:lnSpc>
              <a:spcBef>
                <a:spcPts val="400"/>
              </a:spcBef>
              <a:buNone/>
            </a:pPr>
            <a:r>
              <a:rPr lang="en-US" sz="1750" dirty="0">
                <a:solidFill>
                  <a:srgbClr val="000000"/>
                </a:solidFill>
                <a:latin typeface="Segoe UI"/>
                <a:cs typeface="Segoe UI"/>
              </a:rPr>
              <a:t>Ghi lại mọi chỉnh sửa</a:t>
            </a:r>
          </a:p>
          <a:p>
            <a:pPr marL="0" indent="0" algn="l">
              <a:lnSpc>
                <a:spcPct val="104000"/>
              </a:lnSpc>
              <a:spcBef>
                <a:spcPts val="400"/>
              </a:spcBef>
              <a:buNone/>
            </a:pPr>
            <a:r>
              <a:rPr lang="en-US" sz="1750" dirty="0">
                <a:solidFill>
                  <a:srgbClr val="000000"/>
                </a:solidFill>
                <a:latin typeface="Segoe UI"/>
                <a:cs typeface="Segoe UI"/>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Hình dạng quyết định tóm tắt</a:t>
            </a:r>
          </a:p>
          <a:p>
            <a:pPr marL="0" indent="0" algn="l">
              <a:lnSpc>
                <a:spcPct val="104000"/>
              </a:lnSpc>
              <a:spcBef>
                <a:spcPts val="400"/>
              </a:spcBef>
              <a:buNone/>
            </a:pPr>
            <a:r>
              <a:rPr lang="en-US" sz="1750" dirty="0">
                <a:solidFill>
                  <a:srgbClr val="000000"/>
                </a:solidFill>
                <a:latin typeface="Segoe UI"/>
                <a:cs typeface="Segoe UI"/>
              </a:rPr>
              <a:t>Cho thấy từng bệnh nhân</a:t>
            </a:r>
          </a:p>
          <a:p>
            <a:pPr marL="0" indent="0" algn="l">
              <a:lnSpc>
                <a:spcPct val="104000"/>
              </a:lnSpc>
              <a:spcBef>
                <a:spcPts val="400"/>
              </a:spcBef>
              <a:buNone/>
            </a:pPr>
            <a:r>
              <a:rPr lang="en-US" sz="1750" dirty="0">
                <a:solidFill>
                  <a:srgbClr val="000000"/>
                </a:solidFill>
                <a:latin typeface="Segoe UI"/>
                <a:cs typeface="Segoe UI"/>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một lỗi chất lượng dữ liệu tìm thấy trong FLUID-ICU, và cách sửa</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CRF và các dòng từ điển dữ liệu trong đề cương</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gói kết quả của nhóm (Bảng 1 và biểu đồ)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Thứ Bảy tuần sau: Buổi 6</a:t>
            </a:r>
          </a:p>
          <a:p>
            <a:pPr marL="274320" indent="-274320" algn="l">
              <a:lnSpc>
                <a:spcPct val="104000"/>
              </a:lnSpc>
              <a:spcBef>
                <a:spcPts val="300"/>
              </a:spcBef>
              <a:buFont typeface="Arial"/>
              <a:buChar char="•"/>
            </a:pPr>
            <a:r>
              <a:rPr lang="en-US" sz="1500" dirty="0">
                <a:solidFill>
                  <a:srgbClr val="000000"/>
                </a:solidFill>
                <a:latin typeface="Segoe UI"/>
                <a:cs typeface="Segoe UI"/>
              </a:rPr>
              <a:t>Khoảng tin cậy,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và sống còn</a:t>
            </a:r>
          </a:p>
          <a:p>
            <a:pPr marL="274320" indent="-274320" algn="l">
              <a:lnSpc>
                <a:spcPct val="104000"/>
              </a:lnSpc>
              <a:spcBef>
                <a:spcPts val="300"/>
              </a:spcBef>
              <a:buFont typeface="Arial"/>
              <a:buChar char="•"/>
            </a:pPr>
            <a:r>
              <a:rPr lang="en-US" sz="1500" dirty="0">
                <a:solidFill>
                  <a:srgbClr val="000000"/>
                </a:solidFill>
                <a:latin typeface="Segoe UI"/>
                <a:cs typeface="Segoe UI"/>
              </a:rPr>
              <a:t>Dữ liệu thiếu</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quả bộ dữ liệu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mã, không văn bản tự do</a:t>
            </a:r>
          </a:p>
          <a:p>
            <a:pPr marL="0" indent="0" algn="l">
              <a:lnSpc>
                <a:spcPct val="104000"/>
              </a:lnSpc>
              <a:spcBef>
                <a:spcPts val="400"/>
              </a:spcBef>
              <a:buNone/>
            </a:pPr>
            <a:r>
              <a:rPr lang="en-US" sz="1600" dirty="0">
                <a:solidFill>
                  <a:srgbClr val="000000"/>
                </a:solidFill>
                <a:latin typeface="Segoe UI"/>
                <a:cs typeface="Segoe UI"/>
              </a:rPr>
              <a:t>Mã nghiên cứu, không tên</a:t>
            </a:r>
          </a:p>
          <a:p>
            <a:pPr marL="0" indent="0" algn="l">
              <a:lnSpc>
                <a:spcPct val="104000"/>
              </a:lnSpc>
              <a:spcBef>
                <a:spcPts val="400"/>
              </a:spcBef>
              <a:buNone/>
            </a:pPr>
            <a:r>
              <a:rPr lang="en-US" sz="1600" dirty="0">
                <a:solidFill>
                  <a:srgbClr val="000000"/>
                </a:solidFill>
                <a:latin typeface="Segoe UI"/>
                <a:cs typeface="Segoe UI"/>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Tệp gốc: chỉ đọc</a:t>
            </a:r>
          </a:p>
          <a:p>
            <a:pPr marL="0" indent="0" algn="l">
              <a:lnSpc>
                <a:spcPct val="104000"/>
              </a:lnSpc>
              <a:spcBef>
                <a:spcPts val="400"/>
              </a:spcBef>
              <a:buNone/>
            </a:pPr>
            <a:r>
              <a:rPr lang="en-US" sz="1600" dirty="0">
                <a:solidFill>
                  <a:srgbClr val="000000"/>
                </a:solidFill>
                <a:latin typeface="Segoe UI"/>
                <a:cs typeface="Segoe UI"/>
              </a:rPr>
              <a:t>Bản sao có ngày:</a:t>
            </a:r>
          </a:p>
          <a:p>
            <a:pPr marL="0" indent="0" algn="l">
              <a:lnSpc>
                <a:spcPct val="104000"/>
              </a:lnSpc>
              <a:spcBef>
                <a:spcPts val="400"/>
              </a:spcBef>
              <a:buNone/>
            </a:pPr>
            <a:r>
              <a:rPr lang="en-US" sz="1600" dirty="0">
                <a:solidFill>
                  <a:srgbClr val="000000"/>
                </a:solidFill>
                <a:latin typeface="Segoe UI"/>
                <a:cs typeface="Segoe UI"/>
              </a:rPr>
              <a:t>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 bản, 2 phương tiện,</a:t>
            </a:r>
          </a:p>
          <a:p>
            <a:pPr marL="0" indent="0" algn="l">
              <a:lnSpc>
                <a:spcPct val="104000"/>
              </a:lnSpc>
              <a:spcBef>
                <a:spcPts val="400"/>
              </a:spcBef>
              <a:buNone/>
            </a:pPr>
            <a:r>
              <a:rPr lang="en-US" sz="1600" dirty="0">
                <a:solidFill>
                  <a:srgbClr val="000000"/>
                </a:solidFill>
                <a:latin typeface="Segoe UI"/>
                <a:cs typeface="Segoe UI"/>
              </a:rPr>
              <a:t>1 nơi khác (mã hóa)</a:t>
            </a:r>
          </a:p>
          <a:p>
            <a:pPr marL="0" indent="0" algn="l">
              <a:lnSpc>
                <a:spcPct val="104000"/>
              </a:lnSpc>
              <a:spcBef>
                <a:spcPts val="400"/>
              </a:spcBef>
              <a:buNone/>
            </a:pPr>
            <a:r>
              <a:rPr lang="en-US" sz="1600" dirty="0">
                <a:solidFill>
                  <a:srgbClr val="000000"/>
                </a:solidFill>
                <a:latin typeface="Segoe UI"/>
                <a:cs typeface="Segoe UI"/>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yêu cầu</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