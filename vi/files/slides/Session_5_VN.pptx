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5 (19:30-22:30, giải lao 20:40-20:55). Hôm nay là dữ liệu, thứ Bảy tuần sau là phân tích.</a:t>
            </a:r>
          </a:p>
          <a:p>
            <a:r>
              <a:rPr lang="en-US" sz="1400" b="0" dirty="0"/>
              <a:t>Mới: bộ dữ liệu mô phỏng của khóa học FLUID-ICU (620 người lớn nhiễm khuẩn huyết) và năm câu hỏi, Q1 đến Q5. Cuối Buổi 6, mỗi học viên chọn một câu và viết phần Kết quả cho câu đó.</a:t>
            </a:r>
          </a:p>
          <a:p>
            <a:r>
              <a:rPr lang="en-US" sz="1400" b="0" dirty="0"/>
              <a:t>Không có công thức: hình, ví dụ minh họa, câu kiểm tra. Không bao giờ bỏ câu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(19:30-19:40). Mỗi câu một cuộc thăm dò, 1 phút mỗi câu, rồi mở đáp án.</a:t>
            </a:r>
          </a:p>
          <a:p>
            <a:r>
              <a:rPr lang="en-US" sz="1400" b="0" dirty="0"/>
              <a:t>Q1: thuần tập tiến cứu (bệnh-chứng bắt đầu từ kết cục). Q2: nhiễu do chỉ định, lý do Bài báo 2 dùng ghép cặp theo điểm xu hướng. Q3: RR 0.67, RD 10%, NNT 10.</a:t>
            </a:r>
          </a:p>
          <a:p>
            <a:r>
              <a:rPr lang="en-US" sz="1400" b="0" dirty="0"/>
              <a:t>Nếu một phần ba lớp sai Q3, vẽ bảng 2x2 trên màn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5.1 (19:40-20:15).</a:t>
            </a:r>
          </a:p>
          <a:p>
            <a:r>
              <a:rPr lang="en-US" sz="1400" b="0" dirty="0"/>
              <a:t>Thông điệp: phần lớn vấn đề nằm ở dữ liệu, không ở phân tích. Nhà thống kê không thể sửa một ô bị bỏ trống về sau.</a:t>
            </a:r>
          </a:p>
          <a:p>
            <a:r>
              <a:rPr lang="en-US" sz="1400" b="0" dirty="0"/>
              <a:t>Hỏi: ai từng được nhờ 'giúp phần số liệu' và thấy một nửa số phiếu bị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biến là một con số (liên tục, đếm) hoặc một nhóm (nhị phân, định danh, thứ bậc). Thời gian đến sự kiện: chỉ nhắc qua, sẽ quay lại ở Buổi 6.</a:t>
            </a:r>
          </a:p>
          <a:p>
            <a:r>
              <a:rPr lang="en-US" sz="1400" b="0" dirty="0"/>
              <a:t>Hiểu lầm: giới tính mã hóa 1/2 vẫn là biến phân nhóm.</a:t>
            </a:r>
          </a:p>
          <a:p>
            <a:r>
              <a:rPr lang="en-US" sz="1400" b="0" dirty="0"/>
              <a:t>Mẹo: thu số liệu dạng số. Có thể chia nhóm tuổi sau, không thể làm ngược lại.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(3 phút). Mỗi biến một cuộc thăm dò, sáu lựa chọn. Mở đáp án sau mỗi lần bình chọn.</a:t>
            </a:r>
          </a:p>
          <a:p>
            <a:r>
              <a:rPr lang="en-US" sz="1400" b="0" dirty="0"/>
              <a:t>GCS: thứ bậc, thường được phân tích như số. Thời gian đến khi rút ống: thời gian đến sự kiện, vì một số người bệnh không bao giờ được rút ống.</a:t>
            </a:r>
          </a:p>
          <a:p>
            <a:r>
              <a:rPr lang="en-US" sz="1400" b="0" dirty="0"/>
              <a:t>Nếu một phần ba lớp sai, quay lại trang trước.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mục CRF tốt: hai người điền cho cùng một người bệnh sẽ ghi cùng một câu trả lời.</a:t>
            </a:r>
          </a:p>
          <a:p>
            <a:r>
              <a:rPr lang="en-US" sz="1400" b="0" dirty="0"/>
              <a:t>Cho lớp chỉ ra lỗi của từng mục bên trái trước khi mở đáp án: không có đơn vị hay mốc thời gian, tuổi không gắn ngày, thiếu lựa chọn, hai ý kiến trong một câu.</a:t>
            </a:r>
          </a:p>
          <a:p>
            <a:r>
              <a:rPr lang="en-US" sz="1400" b="0" dirty="0"/>
              <a:t>Hỏi: để trống một ô thì sao? Kỳ vọng: 'không làm', 'quên' và 'bằng 0' trông giống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biến phơi nhiễm của FLUID-ICU qua năm quyết định.</a:t>
            </a:r>
          </a:p>
          <a:p>
            <a:r>
              <a:rPr lang="en-US" sz="1400" b="0" dirty="0"/>
              <a:t>Cái gì: tổng dịch vào trừ tổng dịch ra. Khi nào: từ lúc vào ICU đến hết ngày 3. Đơn vị: ml/kg cân nặng lúc vào. Dạng: số có dấu +/-. Thiếu: ô 'không ghi nhận'.</a:t>
            </a:r>
          </a:p>
          <a:p>
            <a:r>
              <a:rPr lang="en-US" sz="1400" b="0" dirty="0"/>
              <a:t>Hỏi: CRF giờ phải có thêm mục nào? Kỳ vọng: cân nặng lúc vào 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tên năm thẻ, mỗi thẻ một ví dụ.</a:t>
            </a:r>
          </a:p>
          <a:p>
            <a:r>
              <a:rPr lang="en-US" sz="1400" b="0" dirty="0"/>
              <a:t>Lỗi thường gặp: sửa phiếu khi đã bắt đầu thu thập dữ liệu sẽ tạo ra hai bộ dữ liệu khác nhau.</a:t>
            </a:r>
          </a:p>
          <a:p>
            <a:r>
              <a:rPr lang="en-US" sz="1400" b="0" dirty="0"/>
              <a:t>Hỏi: quy tắc nào hay bị vi phạm nhất ở khoa anh chị? Kỳ vọng: phiếu quá dài, không có đơn vị, toàn chữ tự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điển dữ liệu: mỗi biến một dòng, để ai cũng hiểu dữ liệu mà không cần gọi điện hỏi anh chị.</a:t>
            </a:r>
          </a:p>
          <a:p>
            <a:r>
              <a:rPr lang="en-US" sz="1400" b="0" dirty="0"/>
              <a:t>Đọc to dòng fb_d5. Khoảng giá trị cho phép trở thành phép kiểm tra khoảng ở trang sau. Lưu ý mã 9 là 'không rõ'.</a:t>
            </a:r>
          </a:p>
          <a:p>
            <a:r>
              <a:rPr lang="en-US" sz="1400" b="0" dirty="0"/>
              <a:t>Học viên viết 3 đến 5 dòng như vậy ở Phần xây dựng đề cương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phép kiểm tra bắt được phần lớn lỗi nhập liệu: khoảng giá trị, nhất quán, logic, đầy đủ. Khoảng giá trị lấy từ từ điển dữ liệu.</a:t>
            </a:r>
          </a:p>
          <a:p>
            <a:r>
              <a:rPr lang="en-US" sz="1400" b="0" dirty="0"/>
              <a:t>Tìm lỗi khi bệnh án còn ở khoa.</a:t>
            </a:r>
          </a:p>
          <a:p>
            <a:r>
              <a:rPr lang="en-US" sz="1400" b="0" dirty="0"/>
              <a:t>Hỏi: anh chị từng thấy giá trị vô lý nào? Kỳ vọng: 700 kg, ngày trong tương lai.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đường an toàn: phiếu giấy nhập liệu hai lần, hoặc thu thập dữ liệu điện tử (REDCap, KoBoToolbox) có kiểm tra ngay khi nhập.</a:t>
            </a:r>
          </a:p>
          <a:p>
            <a:r>
              <a:rPr lang="en-US" sz="1400" b="0" dirty="0"/>
              <a:t>Cơ sở dữ liệu chỉ giữ mã nghiên cứu, không bao giờ có tên, và lưu vết mọi thay đổi.</a:t>
            </a:r>
          </a:p>
          <a:p>
            <a:r>
              <a:rPr lang="en-US" sz="1400" b="0" dirty="0"/>
              <a:t>Hỏi: ai từng thấy một tệp Excel có tên người bệnh và kết quả được gửi qua email?</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thiếu, phần 1. Đi qua hình: 30% thực sự tử vong, nhưng 15 ca tử vong bị bỏ trống, nên ta chỉ thấy 18%.</a:t>
            </a:r>
          </a:p>
          <a:p>
            <a:r>
              <a:rPr lang="en-US" sz="1400" b="0" dirty="0"/>
              <a:t>Dữ liệu thiếu gắn với chính kết cục: người nặng nhất bị thiếu trước. Ai bị thiếu quan trọng hơn thiếu bao nhiêu.</a:t>
            </a:r>
          </a:p>
          <a:p>
            <a:r>
              <a:rPr lang="en-US" sz="1400" b="0" dirty="0"/>
              <a:t>Cơ chế và quy gán sẽ học ở 6.4.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thiếu, phần 2: năm thói quen ngăn được phần lớn dữ liệu thiếu.</a:t>
            </a:r>
          </a:p>
          <a:p>
            <a:r>
              <a:rPr lang="en-US" sz="1400" b="0" dirty="0"/>
              <a:t>Kết cục ngày 28 là biến hay bị thiếu nhất trong nghiên cứu ICU: lên kế hoạch ai kiểm tra cho người bệnh chuyển viện.</a:t>
            </a:r>
          </a:p>
          <a:p>
            <a:r>
              <a:rPr lang="en-US" sz="1400" b="0" dirty="0"/>
              <a:t>Các bước này đưa vào kế hoạch chất lượng dữ liệu của Phần 3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7 phút (20:08-20:15). Bài 2 của phiếu bài tập Buổi 5. Đáp án: s5_solutions_VN.md.</a:t>
            </a:r>
          </a:p>
          <a:p>
            <a:r>
              <a:rPr lang="en-US" sz="1400" b="0" dirty="0"/>
              <a:t>Mỗi lần một mục, 1 phút mỗi mục. Mời hai hoặc ba người đọc bài của mình và gõ phiên bản của lớp. Làm tốt hai mục hơn làm vội bốn mục.</a:t>
            </a:r>
          </a:p>
          <a:p>
            <a:r>
              <a:rPr lang="en-US" sz="1400" b="0" dirty="0"/>
              <a:t>Bài 1 làm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5.2 (20:15-20:40).</a:t>
            </a:r>
          </a:p>
          <a:p>
            <a:r>
              <a:rPr lang="en-US" sz="1400" b="0" dirty="0"/>
              <a:t>FLUID-ICU là dữ liệu mô phỏng: không có người bệnh, bệnh viện hay quốc gia thật, nhưng hành xử giống dữ liệu ICU thật.</a:t>
            </a:r>
          </a:p>
          <a:p>
            <a:r>
              <a:rPr lang="en-US" sz="1400" b="0" dirty="0"/>
              <a:t>Không ai phải chạy R. Giảng viên chạy trên màn hình.</a:t>
            </a:r>
          </a:p>
          <a:p>
            <a:r>
              <a:rPr lang="en-US" sz="1400" b="0" dirty="0"/>
              <a:t>Hỏi: thuần tập kết luận được điều gì mà thử nghiệm thì không? Kỳ vọng: mối liên quan, không phải quan hệ nhân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Hiểu nghiên cứu trước khi phân tích.</a:t>
            </a:r>
          </a:p>
          <a:p>
            <a:r>
              <a:rPr lang="en-US" sz="1400" b="0" dirty="0"/>
              <a:t>620 người lớn nhiễm khuẩn huyết, 4 ICU, 2023-2024. Phơi nhiễm: cân bằng dịch tích lũy đến ngày 3, dương ở 373 trên 618 (60.4%). Kết cục chính: tử vong đến ngày 28, 179 trên 620 (28.9%).</a:t>
            </a:r>
          </a:p>
          <a:p>
            <a:r>
              <a:rPr lang="en-US" sz="1400" b="0" dirty="0"/>
              <a:t>Hỏi: ai sẽ có cân bằng dương? Kỳ vọng: người nặng nhất. Nhớ điều này khi xem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Lưu đồ người bệnh: 623 dòng, bỏ 3 bản ghi trùng, còn 620. 2 người không có cân bằng ngày 3: phân tích 618. 91 người thiếu lactat hoặc tuổi: 527 người trong mô hình hiệu chỉnh.</a:t>
            </a:r>
          </a:p>
          <a:p>
            <a:r>
              <a:rPr lang="en-US" sz="1400" b="0" dirty="0"/>
              <a:t>Hỏi: lưu đồ này nằm ở đâu trong bài báo? Kỳ vọng: đoạn đầu của phần Kết quả. Mọi phần Kết quả đều bắt đầu từ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học viên đoán lỗi của từng dòng trước khi mở cột dữ liệu sạch.</a:t>
            </a:r>
          </a:p>
          <a:p>
            <a:r>
              <a:rPr lang="en-US" sz="1400" b="0" dirty="0"/>
              <a:t>Mỗi lỗi làm hỏng phân tích một cách âm thầm: 999 kéo trung bình lên, 'Y' và 'Yes' thành hai nhóm, mg/dL làm ICU C trông như thảm họa.</a:t>
            </a:r>
          </a:p>
          <a:p>
            <a:r>
              <a:rPr lang="en-US" sz="1400" b="0" dirty="0"/>
              <a:t>Giá trị vô lý được chuyển thành thiếu và gửi câu hỏi về cơ sở. Không bao giờ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Kịch bản và ảnh dự phòng: s5_demo_VN.md, Phần A.</a:t>
            </a:r>
          </a:p>
          <a:p>
            <a:r>
              <a:rPr lang="en-US" sz="1400" b="0" dirty="0"/>
              <a:t>Chạy từng khối và nói khối đó sửa gì. Cho lớp đoán trước.</a:t>
            </a:r>
          </a:p>
          <a:p>
            <a:r>
              <a:rPr lang="en-US" sz="1400" b="0" dirty="0"/>
              <a:t>Ba ý: tệp thô không bao giờ bị sửa, mỗi lỗi một khối, script cho cùng một kết quả mỗi lần chạy.</a:t>
            </a:r>
          </a:p>
          <a:p>
            <a:r>
              <a:rPr lang="en-US" sz="1400" b="0" dirty="0"/>
              <a:t>Dừng ở phút thứ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Nhật ký làm sạch (cleaning_log_VN.md): mỗi thay đổi một dòng, kèm lý do.</a:t>
            </a:r>
          </a:p>
          <a:p>
            <a:r>
              <a:rPr lang="en-US" sz="1400" b="0" dirty="0"/>
              <a:t>Giá trị vô lý được chuyển thành thiếu và gửi câu hỏi. Người bệnh vẫn ở lại trong nghiên cứu.</a:t>
            </a:r>
          </a:p>
          <a:p>
            <a:r>
              <a:rPr lang="en-US" sz="1400" b="0" dirty="0"/>
              <a:t>Phần còn lại là dữ liệu thiếu thật: lactat 93 trên 620 (15.0%).</a:t>
            </a:r>
          </a:p>
          <a:p>
            <a:r>
              <a:rPr lang="en-US" sz="1400" b="0" dirty="0"/>
              <a:t>Hỏi: sao không xóa người bệnh 210 tuổi? Kỳ vọng: phần còn lại của hồ sơ vẫn đúng.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bộ dữ liệu, năm câu hỏi, đều lấy từ SAP của FLUID-ICU.</a:t>
            </a:r>
          </a:p>
          <a:p>
            <a:r>
              <a:rPr lang="en-US" sz="1400" b="0" dirty="0"/>
              <a:t>Q1 (câu hỏi chính) làm đầy đủ ở Buổi 5 và 6. Q2 đến Q5 làm ngắn hơn.</a:t>
            </a:r>
          </a:p>
          <a:p>
            <a:r>
              <a:rPr lang="en-US" sz="1400" b="0" dirty="0"/>
              <a:t>Mỗi câu hỏi có một gói kết quả (Results_Pack_Q1_VN đến Q5_VN, PDF, gửi qua email).</a:t>
            </a:r>
          </a:p>
          <a:p>
            <a:r>
              <a:rPr lang="en-US" sz="1400" b="0" dirty="0"/>
              <a:t>Cuối Buổi 6, mỗi học viên chọn một câu hỏi và viết phần Kết quả từ gói kết quả đó.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4 phút (20:36-20:40). Bài 7 của phiếu bài tập.</a:t>
            </a:r>
          </a:p>
          <a:p>
            <a:r>
              <a:rPr lang="en-US" sz="1400" b="0" dirty="0"/>
              <a:t>Q1: mời học viên nêu loại kết cục (nhị phân, cũng là thời gian đến sự kiện) và loại phơi nhiễm (nhị phân). Gõ: 'Ở người lớn nhiễm khuẩn huyết tại ICU, cân bằng dịch dương đến ngày 3, so với cân bằng âm, có liên quan với tử vong 28 ngày cao hơn không?'</a:t>
            </a:r>
          </a:p>
          <a:p>
            <a:r>
              <a:rPr lang="en-US" sz="1400" b="0" dirty="0"/>
              <a:t>Q2 đến Q5: mỗi câu một dòng.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(20:40-20:55). Nói: 20:55 bắt đầu lại với phần 5.3.</a:t>
            </a:r>
          </a:p>
          <a:p>
            <a:r>
              <a:rPr lang="en-US" sz="1400" b="0" dirty="0"/>
              <a:t>Kiểm tra 02_describe.R chạy được và các hình dự phòng cho 5.4 đã sẵn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5.3 (20:55-21:30).</a:t>
            </a:r>
          </a:p>
          <a:p>
            <a:r>
              <a:rPr lang="en-US" sz="1400" b="0" dirty="0"/>
              <a:t>Thông điệp: mỗi biến số cần một giá trị trung tâm và một độ phân tán. Hình dạng dữ liệu quyết định dùng cặp nào: trung bình (SD) hay trung vị (IQR).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Gõ bảy số ngày nằm viện lên màn hình.</a:t>
            </a:r>
          </a:p>
          <a:p>
            <a:r>
              <a:rPr lang="en-US" sz="1400" b="0" dirty="0"/>
              <a:t>Trung vị: người thứ 4, 3 ngày. Trung bình: 42 / 7 = 6 ngày. Một ca nằm lâu làm trung bình tăng gấp đôi.</a:t>
            </a:r>
          </a:p>
          <a:p>
            <a:r>
              <a:rPr lang="en-US" sz="1400" b="0" dirty="0"/>
              <a:t>Hỏi: nếu người đó nằm 60 ngày? Kỳ vọng: trung vị vẫn là 3, trung bình khoảng 11.</a:t>
            </a:r>
          </a:p>
          <a:p>
            <a:r>
              <a:rPr lang="en-US" sz="1400" b="0" dirty="0"/>
              <a:t>Đây là phép tính tay duy nhất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người bệnh nằm 1 đến 5 ngày, vài người nằm hàng tuần: trung bình (3.9) bị kéo sang phải trung vị (2.8).</a:t>
            </a:r>
          </a:p>
          <a:p>
            <a:r>
              <a:rPr lang="en-US" sz="1400" b="0" dirty="0"/>
              <a:t>Quy tắc nhanh: trung bình và trung vị cách xa nhau nghĩa là phân bố lệch, hãy báo cáo trung vị.</a:t>
            </a:r>
          </a:p>
          <a:p>
            <a:r>
              <a:rPr lang="en-US" sz="1400" b="0" dirty="0"/>
              <a:t>Hỏi: biến nào khác trong công việc của anh chị bị lệch? Kỳ vọng: chi phí, CRP, số ngày thở máy.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đối xứng: trung bình (SD). Dữ liệu lệch: trung vị (IQR), tức nửa giữa của người bệnh.</a:t>
            </a:r>
          </a:p>
          <a:p>
            <a:r>
              <a:rPr lang="en-US" sz="1400" b="0" dirty="0"/>
              <a:t>Đọc to 'trung vị 2.8 (IQR 1.5-4.7)' bằng lời đơn giản.</a:t>
            </a:r>
          </a:p>
          <a:p>
            <a:r>
              <a:rPr lang="en-US" sz="1400" b="0" dirty="0"/>
              <a:t>Lỗi thường gặp: trung bình đi với IQR, trung vị đi với SD, và nhầm SD (độ phân tán giữa người bệnh) với KTC (độ chính xác, 6.1).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hình dạng bao phủ phần lớn dữ liệu lâm sàng: đối xứng (sinh lý, kích thước cơ thể) và lệch phải (thời gian, số đếm, chi phí, xét nghiệm không thể dưới 0).</a:t>
            </a:r>
          </a:p>
          <a:p>
            <a:r>
              <a:rPr lang="en-US" sz="1400" b="0" dirty="0"/>
              <a:t>Hình dạng cũng quyết định kiểm định ở 6.1.</a:t>
            </a:r>
          </a:p>
          <a:p>
            <a:r>
              <a:rPr lang="en-US" sz="1400" b="0" dirty="0"/>
              <a:t>Hỏi: số ngày dùng vận mạch đối xứng hay lệch? Kỳ vọng: lệch.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(3 phút), mỗi mục một cuộc thăm dò.</a:t>
            </a:r>
          </a:p>
          <a:p>
            <a:r>
              <a:rPr lang="en-US" sz="1400" b="0" dirty="0"/>
              <a:t>Thời gian nằm viện: trung vị (IQR). Tuổi: trung bình (SD). Thở máy: n (%). Giai đoạn AKI: n (%) theo từng giai đoạn kèm biểu đồ cột, không bao giờ dùng 'giai đoạn trung bình'.</a:t>
            </a:r>
          </a:p>
          <a:p>
            <a:r>
              <a:rPr lang="en-US" sz="1400" b="0" dirty="0"/>
              <a:t>Nếu nhiều người sai mục 1, quay lại biểu đồ tần suất.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biểu đồ đủ cho phần lớn nhu cầu: biểu đồ cột (một biến phân nhóm), biểu đồ tần suất (một biến số), biểu đồ hộp (một biến số theo nhóm), biểu đồ phân tán (hai biến số).</a:t>
            </a:r>
          </a:p>
          <a:p>
            <a:r>
              <a:rPr lang="en-US" sz="1400" b="0" dirty="0"/>
              <a:t>Hỏi: biểu đồ nào so sánh thời gian nằm ICU giữa hai nhóm dịch? Kỳ vọng: các biểu đồ hộp đặt cạnh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Biểu đồ 'thuốc nổ' che mất hình dạng và giá trị ngoại lai. Các chấm cho thấy một người bệnh 160 ml/kg kéo trung bình lên và hai nhóm chồng lấn nhiều.</a:t>
            </a:r>
          </a:p>
          <a:p>
            <a:r>
              <a:rPr lang="en-US" sz="1400" b="0" dirty="0"/>
              <a:t>Luôn ghi thanh sai số là SD, SE hay KTC 95%.</a:t>
            </a:r>
          </a:p>
          <a:p>
            <a:r>
              <a:rPr lang="en-US" sz="1400" b="0" dirty="0"/>
              <a:t>Hỏi: chỉ nhìn hình bên trái, anh chị sẽ kết luận gì?</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1 mô tả người bệnh lúc ban đầu, theo nhóm. Cách tóm tắt ghi ngay ở nhãn dòng.</a:t>
            </a:r>
          </a:p>
          <a:p>
            <a:r>
              <a:rPr lang="en-US" sz="1400" b="0" dirty="0"/>
              <a:t>Hai câu hỏi: những người bệnh này có giống người bệnh của tôi không, và các nhóm có giống nhau lúc ban đầu không?</a:t>
            </a:r>
          </a:p>
          <a:p>
            <a:r>
              <a:rPr lang="en-US" sz="1400" b="0" dirty="0"/>
              <a:t>Trong thử nghiệm, khác biệt là do ngẫu nhiên (không cần giá trị p). Trong thuần tập, khác biệt lớn là dấu hiệu nhiễu.</a:t>
            </a:r>
          </a:p>
          <a:p>
            <a:r>
              <a:rPr lang="en-US" sz="1400" b="0" dirty="0"/>
              <a:t>Số liệu chỉ để minh họa.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phải tự đọc hiểu được. So sánh từng dòng: tên nhóm và n ở tiêu đề cột, đơn vị và cách tóm tắt ở nhãn dòng, số thập phân hợp lý, chú thích chữ viết tắt.</a:t>
            </a:r>
          </a:p>
          <a:p>
            <a:r>
              <a:rPr lang="en-US" sz="1400" b="0" dirty="0"/>
              <a:t>Hỏi: tìm bốn lỗi trong bảng bên trái trong 30 giây.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5.4 (21:30-21:55): áp dụng các quy tắc của 5.3 cho FLUID-ICU. Trình diễn, bốn trang kết quả, rồi 10 phút cả lớp cùng đọc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s5_demo_VN.md, Phần B (02_describe.R).</a:t>
            </a:r>
          </a:p>
          <a:p>
            <a:r>
              <a:rPr lang="en-US" sz="1400" b="0" dirty="0"/>
              <a:t>Cho xem hình dạng trước, rồi Bảng 1 theo nhóm cân bằng dịch kèm số giá trị thiếu, rồi các hình.</a:t>
            </a:r>
          </a:p>
          <a:p>
            <a:r>
              <a:rPr lang="en-US" sz="1400" b="0" dirty="0"/>
              <a:t>Không có giá trị p trong Bảng 1, đúng như SAP.</a:t>
            </a:r>
          </a:p>
          <a:p>
            <a:r>
              <a:rPr lang="en-US" sz="1400" b="0" dirty="0"/>
              <a:t>Nếu R lỗi, các trang sau có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với hai câu hỏi của 5.3.</a:t>
            </a:r>
          </a:p>
          <a:p>
            <a:r>
              <a:rPr lang="en-US" sz="1400" b="0" dirty="0"/>
              <a:t>Tuổi tương tự. Mức độ nặng thì không: SOFA 6 so với 8, vận mạch 24.9% so với 55.0%, thở máy 39.6% so với 57.9%. Suy tim theo chiều ngược lại (22.0% so với 11.5%).</a:t>
            </a:r>
          </a:p>
          <a:p>
            <a:r>
              <a:rPr lang="en-US" sz="1400" b="0" dirty="0"/>
              <a:t>Người nặng hơn được truyền nhiều dịch hơn: nhiễu do chỉ định.</a:t>
            </a:r>
          </a:p>
          <a:p>
            <a:r>
              <a:rPr lang="en-US" sz="1400" b="0" dirty="0"/>
              <a:t>Hỏi: OR thô lớn hơn hay nhỏ hơn OR đã hiệu chỉnh? Kỳ vọng: lớn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Xem biến phơi nhiễm trước khi dùng: trung vị 8.8 ml/kg (IQR -10.3 đến 26.2), dương ở 373 trên 618.</a:t>
            </a:r>
          </a:p>
          <a:p>
            <a:r>
              <a:rPr lang="en-US" sz="1400" b="0" dirty="0"/>
              <a:t>Q1 cắt tại 0 ml/kg. Q2 và Q3 giữ dạng liên tục (mỗi 10 ml/kg). SAP đã quyết định điều này từ trước.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Chấm cộng hộp cho FLUID-ICU: trung vị SOFA 6 so với 8, thấy được từng người bệnh.</a:t>
            </a:r>
          </a:p>
          <a:p>
            <a:r>
              <a:rPr lang="en-US" sz="1400" b="0" dirty="0"/>
              <a:t>Hình này là bằng chứng trực quan của nhiễu do chỉ định.</a:t>
            </a:r>
          </a:p>
          <a:p>
            <a:r>
              <a:rPr lang="en-US" sz="1400" b="0" dirty="0"/>
              <a:t>Hỏi: sao không dùng cột trung bình SOFA? Kỳ vọng: nó che mất độ phân tán và sự chồng lấn.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Thời gian nằm ICU ở 439 người sống sót lệch phải: trung bình 7.5, trung vị 6.2 ngày.</a:t>
            </a:r>
          </a:p>
          <a:p>
            <a:r>
              <a:rPr lang="en-US" sz="1400" b="0" dirty="0"/>
              <a:t>Q5 báo cáo trung vị (IQR), dùng Mann-Whitney và thang logarit trong mô hình.</a:t>
            </a:r>
          </a:p>
          <a:p>
            <a:r>
              <a:rPr lang="en-US" sz="1400" b="0" dirty="0"/>
              <a:t>Bảng 1 nào cũng có ít nhất một biến lệch.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10 phút (21:45-21:55). Bài 6. Đáp án: s5_solutions_VN.md.</a:t>
            </a:r>
          </a:p>
          <a:p>
            <a:r>
              <a:rPr lang="en-US" sz="1400" b="0" dirty="0"/>
              <a:t>Thăm dò cách tóm tắt (tuổi: trung bình, SOFA: trung vị, vận mạch: n %). Hỏi khác biệt lớn nhất: mức độ nặng.</a:t>
            </a:r>
          </a:p>
          <a:p>
            <a:r>
              <a:rPr lang="en-US" sz="1400" b="0" dirty="0"/>
              <a:t>Cùng viết hai câu, ví dụ 'Trong 620 người bệnh, 618 có cân bằng ngày 3 và 373 (60.4%) có cân bằng dương. Nhóm này nặng hơn (trung vị SOFA 8 so với 6, vận mạch 55.0% so với 24.9%).'</a:t>
            </a:r>
          </a:p>
          <a:p>
            <a:r>
              <a:rPr lang="en-US" sz="1400" b="0" dirty="0"/>
              <a:t>Hai câu này là phần mở đầu của một phần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làm mẫu để học viên thấy mức yêu cầu.</a:t>
            </a:r>
          </a:p>
          <a:p>
            <a:r>
              <a:rPr lang="en-US" sz="1400" b="0" dirty="0"/>
              <a:t>Bảng biến số làm trước: nó quyết định CRF, từ điển dữ liệu và phân tích.</a:t>
            </a:r>
          </a:p>
          <a:p>
            <a:r>
              <a:rPr lang="en-US" sz="1400" b="0" dirty="0"/>
              <a:t>Mỗi học viên viết phần này cho đề cương của mình, không phải cho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5, 30 phút (21:55-22:25). Mẫu: Research_Proposal_Template_VN.docx. Phiếu: Bài 8.</a:t>
            </a:r>
          </a:p>
          <a:p>
            <a:r>
              <a:rPr lang="en-US" sz="1400" b="0" dirty="0"/>
              <a:t>Làm mẫu trực tiếp (18 phút): bảng biến số, mini-CRF, các dòng từ điển dữ liệu, kế hoạch quản lý dữ liệu. Sau đó 10 phút học viên làm bảng biến số của mình, 2 phút hỏi đáp.</a:t>
            </a:r>
          </a:p>
          <a:p>
            <a:r>
              <a:rPr lang="en-US" sz="1400" b="0" dirty="0"/>
              <a:t>Chú ý: quá nhiều mục CRF, kết cục bị liệt kê như biến nhiễu, tên người bệnh trong tệp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(2 phút). Chỉ vào một từ, mời một người định nghĩa trong một dòng, sửa nhẹ nhàng.</a:t>
            </a:r>
          </a:p>
          <a:p>
            <a:r>
              <a:rPr lang="en-US" sz="1400" b="0" dirty="0"/>
              <a:t>Mọi thuật ngữ đều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(2 phút). Mời ba người tình nguyện nêu một ví dụ cho mỗi thẻ.</a:t>
            </a:r>
          </a:p>
          <a:p>
            <a:r>
              <a:rPr lang="en-US" sz="1400" b="0" dirty="0"/>
              <a:t>Thứ Bảy tuần sau: khoảng tin cậy, giá trị p, kiểm định, hồi quy, sống còn và dữ liệu thiếu, chạy trực tiếp trên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(22:25-22:30).</a:t>
            </a:r>
          </a:p>
          <a:p>
            <a:r>
              <a:rPr lang="en-US" sz="1400" b="0" dirty="0"/>
              <a:t>Câu hỏi cuối buổi: một lỗi chất lượng dữ liệu trong FLUID-ICU và cách sửa. Đọc câu trả lời và mở đầu Buổi 6 bằng hai hoặc ba câu.</a:t>
            </a:r>
          </a:p>
          <a:p>
            <a:r>
              <a:rPr lang="en-US" sz="1400" b="0" dirty="0"/>
              <a:t>Về nhà: mini-CRF, các dòng từ điển dữ liệu và kế hoạch quản lý dữ liệu cho đề cương của mình. Không bắt buộc: Bài 1, 3, 4 và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Trang bổ sung: không bắt buộc, dùng khi lớp đi nhanh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Bốn thói quen ít tốn kém: dùng mã thay cho chữ tự do, tệp thô chỉ đọc kèm các bản sao có ngày, sao lưu 3-2-1, tuyên bố chia sẻ dữ liệu được lên kế hoạch ngay trong phiếu đồng ý.</a:t>
            </a:r>
          </a:p>
          <a:p>
            <a:r>
              <a:rPr lang="en-US" sz="1400" b="0" dirty="0"/>
              <a:t>Hỏi: nếu tối nay máy tính của anh chị bị mất, nghiên cứu có còn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Hàng trên gây hiểu lầm, hàng dưới đã sửa: biểu đồ tròn 3-D, trục bị cắt (chênh 2 điểm trông như gấp ba), hai trục tung. Cột phải bắt đầu từ 0.</a:t>
            </a:r>
          </a:p>
          <a:p>
            <a:r>
              <a:rPr lang="en-US" sz="1400" b="0" dirty="0"/>
              <a:t>Hỏi: gần đây anh chị thấy trục bị cắt ở đâu?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2.png"/>
<Relationship Id="rId5"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4.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5.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6.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7.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8.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9.png"/>
<Relationship Id="rId5" Type="http://schemas.openxmlformats.org/officeDocument/2006/relationships/image" Target="../media/image10.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1.png"/>
<Relationship Id="rId5" Type="http://schemas.openxmlformats.org/officeDocument/2006/relationships/image" Target="../media/image12.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1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1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16.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5 · Dữ liệu: thu thập tốt, mô tả trung thực</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5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3-4 (10 phút)</a:t>
            </a:r>
          </a:p>
          <a:p>
            <a:pPr marL="274320" indent="-274320" algn="l">
              <a:spcBef>
                <a:spcPts val="440"/>
              </a:spcBef>
              <a:buFont typeface="Arial"/>
              <a:buChar char="•"/>
            </a:pPr>
            <a:r>
              <a:rPr lang="en-US" sz="1900" dirty="0">
                <a:solidFill>
                  <a:srgbClr val="000000"/>
                </a:solidFill>
                <a:latin typeface="Arial"/>
                <a:cs typeface="Arial"/>
              </a:rPr>
              <a:t>5.1 Dữ liệu tốt từ khâu thiết kế: biến số, CRF, từ điển dữ liệu, kiểm tra, quản lý dữ liệu</a:t>
            </a:r>
          </a:p>
          <a:p>
            <a:pPr marL="274320" indent="-274320" algn="l">
              <a:spcBef>
                <a:spcPts val="440"/>
              </a:spcBef>
              <a:buFont typeface="Arial"/>
              <a:buChar char="•"/>
            </a:pPr>
            <a:r>
              <a:rPr lang="en-US" sz="1900" dirty="0">
                <a:solidFill>
                  <a:srgbClr val="000000"/>
                </a:solidFill>
                <a:latin typeface="Arial"/>
                <a:cs typeface="Arial"/>
              </a:rPr>
              <a:t>5.2 Làm quen bộ dữ liệu khóa học FLUID-ICU (trình diễn làm sạch bằng R)</a:t>
            </a:r>
          </a:p>
          <a:p>
            <a:pPr marL="274320" indent="-274320" algn="l">
              <a:spcBef>
                <a:spcPts val="440"/>
              </a:spcBef>
              <a:buFont typeface="Arial"/>
              <a:buChar char="•"/>
            </a:pPr>
            <a:r>
              <a:rPr lang="en-US" sz="1900" dirty="0">
                <a:solidFill>
                  <a:srgbClr val="000000"/>
                </a:solidFill>
                <a:latin typeface="Arial"/>
                <a:cs typeface="Arial"/>
              </a:rPr>
              <a:t>5.3 Mô tả và trình bày dữ liệu: tóm tắt, biểu đồ, bảng</a:t>
            </a:r>
          </a:p>
          <a:p>
            <a:pPr marL="274320" indent="-274320" algn="l">
              <a:spcBef>
                <a:spcPts val="440"/>
              </a:spcBef>
              <a:buFont typeface="Arial"/>
              <a:buChar char="•"/>
            </a:pPr>
            <a:r>
              <a:rPr lang="en-US" sz="1900" dirty="0">
                <a:solidFill>
                  <a:srgbClr val="000000"/>
                </a:solidFill>
                <a:latin typeface="Arial"/>
                <a:cs typeface="Arial"/>
              </a:rPr>
              <a:t>5.4 Mô tả bộ dữ liệu khóa học: Bảng 1 và biểu đồ</a:t>
            </a:r>
          </a:p>
          <a:p>
            <a:pPr marL="274320" indent="-274320" algn="l">
              <a:spcBef>
                <a:spcPts val="440"/>
              </a:spcBef>
              <a:buFont typeface="Arial"/>
              <a:buChar char="•"/>
            </a:pPr>
            <a:r>
              <a:rPr lang="en-US" sz="1900" dirty="0">
                <a:solidFill>
                  <a:srgbClr val="000000"/>
                </a:solidFill>
                <a:latin typeface="Arial"/>
                <a:cs typeface="Arial"/>
              </a:rPr>
              <a:t>Xây dựng đề cương 5: biến số, CRF thu gọn, từ điển dữ liệu, quản lý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3-4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Người hút thuốc được theo dõi 10 năm để xem ai bị đột quỵ. Đây là thiết kế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Trong một nghiên cứu thuần tập, người bệnh nhiễm khuẩn nặng hơn được truyền nhiều dịch hơn và tử vong nhiều hơn. Hiện tượng này gọi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Tử vong 30% với chăm sóc thường quy và 20% với chiến lược mới. Nguy cơ tương đối (RR) và số người cần điều trị (NNT) là bao nhiêu?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từng câu trong bình chọn (mỗi câu 1 phút), rồi cả lớp cùng thảo luận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 (công bố sau)</a:t>
            </a:r>
          </a:p>
          <a:p>
            <a:pPr marL="0" indent="0" algn="ctr">
              <a:lnSpc>
                <a:spcPct val="104000"/>
              </a:lnSpc>
              <a:spcBef>
                <a:spcPts val="300"/>
              </a:spcBef>
              <a:buNone/>
            </a:pPr>
            <a:r>
              <a:rPr lang="en-US" sz="1500" dirty="0">
                <a:solidFill>
                  <a:srgbClr val="000000"/>
                </a:solidFill>
                <a:latin typeface="Arial"/>
                <a:cs typeface="Arial"/>
              </a:rPr>
              <a:t>C1: thuần tập tiến cứu</a:t>
            </a:r>
          </a:p>
          <a:p>
            <a:pPr marL="0" indent="0" algn="ctr">
              <a:lnSpc>
                <a:spcPct val="104000"/>
              </a:lnSpc>
              <a:spcBef>
                <a:spcPts val="300"/>
              </a:spcBef>
              <a:buNone/>
            </a:pPr>
            <a:r>
              <a:rPr lang="en-US" sz="1500" dirty="0">
                <a:solidFill>
                  <a:srgbClr val="000000"/>
                </a:solidFill>
                <a:latin typeface="Arial"/>
                <a:cs typeface="Arial"/>
              </a:rPr>
              <a:t>C2: nhiễu do chỉ định</a:t>
            </a:r>
          </a:p>
          <a:p>
            <a:pPr marL="0" indent="0" algn="ctr">
              <a:lnSpc>
                <a:spcPct val="104000"/>
              </a:lnSpc>
              <a:spcBef>
                <a:spcPts val="300"/>
              </a:spcBef>
              <a:buNone/>
            </a:pPr>
            <a:r>
              <a:rPr lang="en-US" sz="1500" dirty="0">
                <a:solidFill>
                  <a:srgbClr val="000000"/>
                </a:solidFill>
                <a:latin typeface="Arial"/>
                <a:cs typeface="Arial"/>
              </a:rPr>
              <a:t>C3: RR = 20/30 = 0.67. Hiệu số nguy cơ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nắm lại thiết kế, nhiễu và các số đo từ bảng 2x2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5.1 Dữ liệu tốt từ khâu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Thống kê giỏi đến đâu cũng không cứu được dữ liệu xấu.</a:t>
            </a:r>
          </a:p>
          <a:p>
            <a:pPr marL="0" indent="0" algn="ctr">
              <a:spcBef>
                <a:spcPts val="1200"/>
              </a:spcBef>
              <a:buNone/>
            </a:pPr>
            <a:r>
              <a:rPr lang="en-US" sz="1900" i="1" dirty="0">
                <a:solidFill>
                  <a:srgbClr val="595959"/>
                </a:solidFill>
                <a:latin typeface="Arial"/>
                <a:cs typeface="Arial"/>
              </a:rPr>
              <a:t>5.1 Dữ liệu tốt từ khâu thiết kế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Biến số này thuộc loại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Biến số đo được là con số (hai thẻ đầu). Biến phân loại là các nhóm (ba thẻ sau). Thời gian đến sự kiện gồm cả bao lâu và có xảy ra hay không.</a:t>
            </a:r>
          </a:p>
        </p:txBody>
      </p:sp>
      <p:sp>
        <p:nvSpPr>
          <p:cNvPr id="70" name="CardHead"/>
          <p:cNvSpPr/>
          <p:nvPr/>
        </p:nvSpPr>
        <p:spPr>
          <a:xfrm>
            <a:off x="457200" y="221272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Liên tục</a:t>
            </a:r>
          </a:p>
        </p:txBody>
      </p:sp>
      <p:sp>
        <p:nvSpPr>
          <p:cNvPr id="71" name="CardBody"/>
          <p:cNvSpPr/>
          <p:nvPr/>
        </p:nvSpPr>
        <p:spPr>
          <a:xfrm>
            <a:off x="45720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Bất kỳ giá trị nào trên một thang đo</a:t>
            </a:r>
          </a:p>
          <a:p>
            <a:pPr marL="0" indent="0" algn="ctr">
              <a:lnSpc>
                <a:spcPct val="104000"/>
              </a:lnSpc>
              <a:spcBef>
                <a:spcPts val="400"/>
              </a:spcBef>
              <a:buNone/>
            </a:pPr>
            <a:r>
              <a:rPr lang="en-US" sz="1450" dirty="0">
                <a:solidFill>
                  <a:srgbClr val="000000"/>
                </a:solidFill>
                <a:latin typeface="Arial"/>
                <a:cs typeface="Arial"/>
              </a:rPr>
              <a:t>Cân bằng dịch (ml/kg), lactat, tuổi</a:t>
            </a:r>
          </a:p>
        </p:txBody>
      </p:sp>
      <p:sp>
        <p:nvSpPr>
          <p:cNvPr id="72" name="CardHead"/>
          <p:cNvSpPr/>
          <p:nvPr/>
        </p:nvSpPr>
        <p:spPr>
          <a:xfrm>
            <a:off x="2752720" y="221272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Đếm</a:t>
            </a:r>
          </a:p>
        </p:txBody>
      </p:sp>
      <p:sp>
        <p:nvSpPr>
          <p:cNvPr id="73" name="CardBody"/>
          <p:cNvSpPr/>
          <p:nvPr/>
        </p:nvSpPr>
        <p:spPr>
          <a:xfrm>
            <a:off x="275272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Một số nguyên</a:t>
            </a:r>
          </a:p>
          <a:p>
            <a:pPr marL="0" indent="0" algn="ctr">
              <a:lnSpc>
                <a:spcPct val="104000"/>
              </a:lnSpc>
              <a:spcBef>
                <a:spcPts val="400"/>
              </a:spcBef>
              <a:buNone/>
            </a:pPr>
            <a:r>
              <a:rPr lang="en-US" sz="1450" dirty="0">
                <a:solidFill>
                  <a:srgbClr val="000000"/>
                </a:solidFill>
                <a:latin typeface="Arial"/>
                <a:cs typeface="Arial"/>
              </a:rPr>
              <a:t>Số cơ quan bị suy</a:t>
            </a:r>
          </a:p>
        </p:txBody>
      </p:sp>
      <p:sp>
        <p:nvSpPr>
          <p:cNvPr id="74" name="CardHead"/>
          <p:cNvSpPr/>
          <p:nvPr/>
        </p:nvSpPr>
        <p:spPr>
          <a:xfrm>
            <a:off x="5048240" y="221272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Nhị phân</a:t>
            </a:r>
          </a:p>
        </p:txBody>
      </p:sp>
      <p:sp>
        <p:nvSpPr>
          <p:cNvPr id="75" name="CardBody"/>
          <p:cNvSpPr/>
          <p:nvPr/>
        </p:nvSpPr>
        <p:spPr>
          <a:xfrm>
            <a:off x="504824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Hai lựa chọn</a:t>
            </a:r>
          </a:p>
          <a:p>
            <a:pPr marL="0" indent="0" algn="ctr">
              <a:lnSpc>
                <a:spcPct val="104000"/>
              </a:lnSpc>
              <a:spcBef>
                <a:spcPts val="400"/>
              </a:spcBef>
              <a:buNone/>
            </a:pPr>
            <a:r>
              <a:rPr lang="en-US" sz="1450" dirty="0">
                <a:solidFill>
                  <a:srgbClr val="000000"/>
                </a:solidFill>
                <a:latin typeface="Arial"/>
                <a:cs typeface="Arial"/>
              </a:rPr>
              <a:t>Tử vong đến ngày 28: có hay không</a:t>
            </a:r>
          </a:p>
        </p:txBody>
      </p:sp>
      <p:sp>
        <p:nvSpPr>
          <p:cNvPr id="76" name="CardHead"/>
          <p:cNvSpPr/>
          <p:nvPr/>
        </p:nvSpPr>
        <p:spPr>
          <a:xfrm>
            <a:off x="7343760" y="221272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Định danh</a:t>
            </a:r>
          </a:p>
        </p:txBody>
      </p:sp>
      <p:sp>
        <p:nvSpPr>
          <p:cNvPr id="77" name="CardBody"/>
          <p:cNvSpPr/>
          <p:nvPr/>
        </p:nvSpPr>
        <p:spPr>
          <a:xfrm>
            <a:off x="734376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Các nhóm không có thứ tự</a:t>
            </a:r>
          </a:p>
          <a:p>
            <a:pPr marL="0" indent="0" algn="ctr">
              <a:lnSpc>
                <a:spcPct val="104000"/>
              </a:lnSpc>
              <a:spcBef>
                <a:spcPts val="400"/>
              </a:spcBef>
              <a:buNone/>
            </a:pPr>
            <a:r>
              <a:rPr lang="en-US" sz="1450" dirty="0">
                <a:solidFill>
                  <a:srgbClr val="000000"/>
                </a:solidFill>
                <a:latin typeface="Arial"/>
                <a:cs typeface="Arial"/>
              </a:rPr>
              <a:t>Nguồn nhiễm khuẩn: phổi, tiết niệu, ổ bụng</a:t>
            </a:r>
          </a:p>
        </p:txBody>
      </p:sp>
      <p:sp>
        <p:nvSpPr>
          <p:cNvPr id="78" name="CardHead"/>
          <p:cNvSpPr/>
          <p:nvPr/>
        </p:nvSpPr>
        <p:spPr>
          <a:xfrm>
            <a:off x="9639280" y="221272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Thứ hạng</a:t>
            </a:r>
          </a:p>
        </p:txBody>
      </p:sp>
      <p:sp>
        <p:nvSpPr>
          <p:cNvPr id="79" name="CardBody"/>
          <p:cNvSpPr/>
          <p:nvPr/>
        </p:nvSpPr>
        <p:spPr>
          <a:xfrm>
            <a:off x="963928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Các nhóm có thứ tự</a:t>
            </a:r>
          </a:p>
          <a:p>
            <a:pPr marL="0" indent="0" algn="ctr">
              <a:lnSpc>
                <a:spcPct val="104000"/>
              </a:lnSpc>
              <a:spcBef>
                <a:spcPts val="400"/>
              </a:spcBef>
              <a:buNone/>
            </a:pPr>
            <a:r>
              <a:rPr lang="en-US" sz="1450" dirty="0">
                <a:solidFill>
                  <a:srgbClr val="000000"/>
                </a:solidFill>
                <a:latin typeface="Arial"/>
                <a:cs typeface="Arial"/>
              </a:rPr>
              <a:t>Tổn thương thận cấp (AKI) giai đoạn 1, 2 hoặc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Loại biến số quyết định ô trong CRF, cách tóm tắt và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biến số loại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Nhịp tim (lần/phút)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Thang điểm Glasgow (GCS, 3-15)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Nhóm máu (A, B, AB,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Thở máy ngày 1 (có /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từ khi vào ICU đến khi rút ống</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Liên tục</a:t>
            </a:r>
          </a:p>
          <a:p>
            <a:pPr marL="0" indent="0" algn="ctr">
              <a:lnSpc>
                <a:spcPct val="104000"/>
              </a:lnSpc>
              <a:spcBef>
                <a:spcPts val="300"/>
              </a:spcBef>
              <a:buNone/>
            </a:pPr>
            <a:r>
              <a:rPr lang="en-US" sz="1500" dirty="0">
                <a:solidFill>
                  <a:srgbClr val="000000"/>
                </a:solidFill>
                <a:latin typeface="Arial"/>
                <a:cs typeface="Arial"/>
              </a:rPr>
              <a:t>Thứ hạng (thường phân tích như số)</a:t>
            </a:r>
          </a:p>
          <a:p>
            <a:pPr marL="0" indent="0" algn="ctr">
              <a:lnSpc>
                <a:spcPct val="104000"/>
              </a:lnSpc>
              <a:spcBef>
                <a:spcPts val="300"/>
              </a:spcBef>
              <a:buNone/>
            </a:pPr>
            <a:r>
              <a:rPr lang="en-US" sz="1500" dirty="0">
                <a:solidFill>
                  <a:srgbClr val="000000"/>
                </a:solidFill>
                <a:latin typeface="Arial"/>
                <a:cs typeface="Arial"/>
              </a:rPr>
              <a:t>Định danh</a:t>
            </a:r>
          </a:p>
          <a:p>
            <a:pPr marL="0" indent="0" algn="ctr">
              <a:lnSpc>
                <a:spcPct val="104000"/>
              </a:lnSpc>
              <a:spcBef>
                <a:spcPts val="300"/>
              </a:spcBef>
              <a:buNone/>
            </a:pPr>
            <a:r>
              <a:rPr lang="en-US" sz="1500" dirty="0">
                <a:solidFill>
                  <a:srgbClr val="000000"/>
                </a:solidFill>
                <a:latin typeface="Arial"/>
                <a:cs typeface="Arial"/>
              </a:rPr>
              <a:t>Nhị phân</a:t>
            </a:r>
          </a:p>
          <a:p>
            <a:pPr marL="0" indent="0" algn="ctr">
              <a:lnSpc>
                <a:spcPct val="104000"/>
              </a:lnSpc>
              <a:spcBef>
                <a:spcPts val="300"/>
              </a:spcBef>
              <a:buNone/>
            </a:pPr>
            <a:r>
              <a:rPr lang="en-US" sz="1500" dirty="0">
                <a:solidFill>
                  <a:srgbClr val="000000"/>
                </a:solidFill>
                <a:latin typeface="Arial"/>
                <a:cs typeface="Arial"/>
              </a:rPr>
              <a:t>Thời gian đến sự kiện (có người không rút 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gọi tên được các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CRF tốt và chưa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câu hỏi trong phiếu thu thập dữ liệu (CRF) chỉ được phép có một cách hiểu.</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Mơ hồ: hai điều dưỡng sẽ ghi hai thứ khác nhau</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Rõ ràng: đơn vị, mốc thời gian, một đáp án, 'không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từ câu hỏi đến một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Biến 'cân bằng dịch tích lũy' qua năm quyết định.</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Cái gì?</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Dịch vào trừ dịch ra</a:t>
            </a:r>
          </a:p>
          <a:p>
            <a:pPr marL="0" indent="0" algn="ctr">
              <a:lnSpc>
                <a:spcPct val="104000"/>
              </a:lnSpc>
              <a:spcBef>
                <a:spcPts val="200"/>
              </a:spcBef>
              <a:buNone/>
            </a:pPr>
            <a:r>
              <a:rPr lang="en-US" sz="1500" dirty="0">
                <a:solidFill>
                  <a:srgbClr val="000000"/>
                </a:solidFill>
                <a:latin typeface="Arial"/>
                <a:cs typeface="Arial"/>
              </a:rPr>
              <a:t>Mọi đường, kể cả dịch pha thuốc</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Khi nào?</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Từ lúc vào ICU đến hết ngày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Đơn vị?</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ml trên mỗi kg cân nặng lúc vào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Định dạng?</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số có dấu +/-</a:t>
            </a:r>
          </a:p>
          <a:p>
            <a:pPr marL="0" indent="0" algn="ctr">
              <a:lnSpc>
                <a:spcPct val="104000"/>
              </a:lnSpc>
              <a:spcBef>
                <a:spcPts val="200"/>
              </a:spcBef>
              <a:buNone/>
            </a:pPr>
            <a:r>
              <a:rPr lang="en-US" sz="1500" dirty="0">
                <a:solidFill>
                  <a:srgbClr val="000000"/>
                </a:solidFill>
                <a:latin typeface="Arial"/>
                <a:cs typeface="Arial"/>
              </a:rPr>
              <a:t>Mỗi chữ số một ô</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Thiếu?</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ô 'không ghi nhận'</a:t>
            </a:r>
          </a:p>
          <a:p>
            <a:pPr marL="0" indent="0" algn="ctr">
              <a:lnSpc>
                <a:spcPct val="104000"/>
              </a:lnSpc>
              <a:spcBef>
                <a:spcPts val="200"/>
              </a:spcBef>
              <a:buNone/>
            </a:pPr>
            <a:r>
              <a:rPr lang="en-US" sz="1500" dirty="0">
                <a:solidFill>
                  <a:srgbClr val="000000"/>
                </a:solidFill>
                <a:latin typeface="Arial"/>
                <a:cs typeface="Arial"/>
              </a:rPr>
              <a:t>Ghi lý do thiếu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cái gì, khi nào, đơn vị, định dạng và thiếu trước người bệnh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nguyên tắc cho một CRF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Viết phiếu trước người bệnh đầu tiên, rồi thử trên năm người bệnh.</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Chỉ thu thập cái cần</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Mỗi mục gắn với một mục tiêu</a:t>
            </a:r>
          </a:p>
          <a:p>
            <a:pPr marL="0" indent="0" algn="ctr">
              <a:lnSpc>
                <a:spcPct val="104000"/>
              </a:lnSpc>
              <a:spcBef>
                <a:spcPts val="400"/>
              </a:spcBef>
              <a:buNone/>
            </a:pPr>
            <a:r>
              <a:rPr lang="en-US" sz="1450" dirty="0">
                <a:solidFill>
                  <a:srgbClr val="000000"/>
                </a:solidFill>
                <a:latin typeface="Arial"/>
                <a:cs typeface="Arial"/>
              </a:rPr>
              <a:t>Phiếu ngắn mới được điền đủ</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Một câu, một đáp án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Không gộp hai câu hỏi</a:t>
            </a:r>
          </a:p>
          <a:p>
            <a:pPr marL="0" indent="0" algn="ctr">
              <a:lnSpc>
                <a:spcPct val="104000"/>
              </a:lnSpc>
              <a:spcBef>
                <a:spcPts val="400"/>
              </a:spcBef>
              <a:buNone/>
            </a:pPr>
            <a:r>
              <a:rPr lang="en-US" sz="1450" dirty="0">
                <a:solidFill>
                  <a:srgbClr val="000000"/>
                </a:solidFill>
                <a:latin typeface="Arial"/>
                <a:cs typeface="Arial"/>
              </a:rPr>
              <a:t>Khách quan, không cảm tính</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Đơn vị và thời điểm</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ml/kg, mmol/L</a:t>
            </a:r>
          </a:p>
          <a:p>
            <a:pPr marL="0" indent="0" algn="ctr">
              <a:lnSpc>
                <a:spcPct val="104000"/>
              </a:lnSpc>
              <a:spcBef>
                <a:spcPts val="400"/>
              </a:spcBef>
              <a:buNone/>
            </a:pPr>
            <a:r>
              <a:rPr lang="en-US" sz="1450" dirty="0">
                <a:solidFill>
                  <a:srgbClr val="000000"/>
                </a:solidFill>
                <a:latin typeface="Arial"/>
                <a:cs typeface="Arial"/>
              </a:rPr>
              <a:t>'lúc vào ICU', 'ngày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Câu trả lời đóng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Ô đánh dấu</a:t>
            </a:r>
          </a:p>
          <a:p>
            <a:pPr marL="0" indent="0" algn="ctr">
              <a:lnSpc>
                <a:spcPct val="104000"/>
              </a:lnSpc>
              <a:spcBef>
                <a:spcPts val="400"/>
              </a:spcBef>
              <a:buNone/>
            </a:pPr>
            <a:r>
              <a:rPr lang="en-US" sz="1450" dirty="0">
                <a:solidFill>
                  <a:srgbClr val="000000"/>
                </a:solidFill>
                <a:latin typeface="Arial"/>
                <a:cs typeface="Arial"/>
              </a:rPr>
              <a:t>Có 'khác' và 'không rõ'</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Thử nghiệm trước</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Hai người, cùng người bệnh</a:t>
            </a:r>
          </a:p>
          <a:p>
            <a:pPr marL="0" indent="0" algn="ctr">
              <a:lnSpc>
                <a:spcPct val="104000"/>
              </a:lnSpc>
              <a:spcBef>
                <a:spcPts val="400"/>
              </a:spcBef>
              <a:buNone/>
            </a:pPr>
            <a:r>
              <a:rPr lang="en-US" sz="1450" dirty="0">
                <a:solidFill>
                  <a:srgbClr val="000000"/>
                </a:solidFill>
                <a:latin typeface="Arial"/>
                <a:cs typeface="Arial"/>
              </a:rPr>
              <a:t>Có khớp nhau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hai đồng nghiệp có thể điền khác nhau, hãy viết lại mục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điển dữ liệu: mỗi biến số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50910"/>
          <a:ext cx="11277600" cy="303452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Tên biến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Nhãn (ý nghĩa)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Loại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Đơn vị / mã</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cho phép</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fb_d5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Cân bằng dịch tích lũy, ngày 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Liên tục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-100 đến 300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age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Tuổi lúc vào ICU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Liên tục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năm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18 đến 110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sex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Giới tính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Nhị phân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 nam, 2 = nữ</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src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Nguồn nhiễm khuẩn chính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Định danh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phổi, 2 tiết niệu, 3 ổ bụng, 4 khác, 9 không rõ</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đến 4, 9</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died28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Tử vong đến ngày 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Nhị phân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 sống, 1 = tử vong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0, 1</a:t>
                      </a:r>
                    </a:p>
                  </a:txBody>
                  <a:tcPr marL="73152" marR="73152" marT="45720" marB="45720" anchor="ctr">
                    <a:solidFill>
                      <a:srgbClr val="FFFFFF"/>
                    </a:solidFill>
                  </a:tcPr>
                </a:tc>
              </a:tr>
            </a:tbl>
          </a:graphicData>
        </a:graphic>
      </p:graphicFrame>
      <p:sp>
        <p:nvSpPr>
          <p:cNvPr id="31" name="Caption"/>
          <p:cNvSpPr txBox="1"/>
          <p:nvPr/>
        </p:nvSpPr>
        <p:spPr>
          <a:xfrm>
            <a:off x="457200" y="467543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Các dòng ví dụ cho nghiên cứu dịch truyền trong sốc nhiễm khuẩn. Từ điển dữ liệu là sách hướng dẫn sử dụng bộ dữ liệu của anh chị.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dữ liệu: để quy tắc bắt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phép kiểm tra đơn giản bắt được phần lớn lỗi nhập liệu.</a:t>
            </a:r>
          </a:p>
        </p:txBody>
      </p:sp>
      <p:sp>
        <p:nvSpPr>
          <p:cNvPr id="70" name="CardHead"/>
          <p:cNvSpPr/>
          <p:nvPr/>
        </p:nvSpPr>
        <p:spPr>
          <a:xfrm>
            <a:off x="457200" y="215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khoảng giá trị</a:t>
            </a:r>
          </a:p>
        </p:txBody>
      </p:sp>
      <p:sp>
        <p:nvSpPr>
          <p:cNvPr id="71" name="CardBody"/>
          <p:cNvSpPr/>
          <p:nvPr/>
        </p:nvSpPr>
        <p:spPr>
          <a:xfrm>
            <a:off x="4572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Tuổi = 230</a:t>
            </a:r>
          </a:p>
          <a:p>
            <a:pPr marL="0" indent="0" algn="ctr">
              <a:lnSpc>
                <a:spcPct val="104000"/>
              </a:lnSpc>
              <a:spcBef>
                <a:spcPts val="400"/>
              </a:spcBef>
              <a:buNone/>
            </a:pPr>
            <a:r>
              <a:rPr lang="en-US" sz="1600" dirty="0">
                <a:solidFill>
                  <a:srgbClr val="000000"/>
                </a:solidFill>
                <a:latin typeface="Arial"/>
                <a:cs typeface="Arial"/>
              </a:rPr>
              <a:t>Cho phép: 18 đến 110</a:t>
            </a:r>
          </a:p>
        </p:txBody>
      </p:sp>
      <p:sp>
        <p:nvSpPr>
          <p:cNvPr id="72" name="CardHead"/>
          <p:cNvSpPr/>
          <p:nvPr/>
        </p:nvSpPr>
        <p:spPr>
          <a:xfrm>
            <a:off x="3326600" y="215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nhất quán</a:t>
            </a:r>
          </a:p>
        </p:txBody>
      </p:sp>
      <p:sp>
        <p:nvSpPr>
          <p:cNvPr id="73" name="CardBody"/>
          <p:cNvSpPr/>
          <p:nvPr/>
        </p:nvSpPr>
        <p:spPr>
          <a:xfrm>
            <a:off x="33266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Ra viện 02/03, vào viện 05/03</a:t>
            </a:r>
          </a:p>
          <a:p>
            <a:pPr marL="0" indent="0" algn="ctr">
              <a:lnSpc>
                <a:spcPct val="104000"/>
              </a:lnSpc>
              <a:spcBef>
                <a:spcPts val="400"/>
              </a:spcBef>
              <a:buNone/>
            </a:pPr>
            <a:r>
              <a:rPr lang="en-US" sz="1600" dirty="0">
                <a:solidFill>
                  <a:srgbClr val="000000"/>
                </a:solidFill>
                <a:latin typeface="Arial"/>
                <a:cs typeface="Arial"/>
              </a:rPr>
              <a:t>Ngày ra viện phải sau ngày vào viện</a:t>
            </a:r>
          </a:p>
        </p:txBody>
      </p:sp>
      <p:sp>
        <p:nvSpPr>
          <p:cNvPr id="74" name="CardHead"/>
          <p:cNvSpPr/>
          <p:nvPr/>
        </p:nvSpPr>
        <p:spPr>
          <a:xfrm>
            <a:off x="6196000" y="215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logic</a:t>
            </a:r>
          </a:p>
        </p:txBody>
      </p:sp>
      <p:sp>
        <p:nvSpPr>
          <p:cNvPr id="75" name="CardBody"/>
          <p:cNvSpPr/>
          <p:nvPr/>
        </p:nvSpPr>
        <p:spPr>
          <a:xfrm>
            <a:off x="61960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Giới tính nam, có thai = có</a:t>
            </a:r>
          </a:p>
          <a:p>
            <a:pPr marL="0" indent="0" algn="ctr">
              <a:lnSpc>
                <a:spcPct val="104000"/>
              </a:lnSpc>
              <a:spcBef>
                <a:spcPts val="400"/>
              </a:spcBef>
              <a:buNone/>
            </a:pPr>
            <a:r>
              <a:rPr lang="en-US" sz="1600" dirty="0">
                <a:solidFill>
                  <a:srgbClr val="000000"/>
                </a:solidFill>
                <a:latin typeface="Arial"/>
                <a:cs typeface="Arial"/>
              </a:rPr>
              <a:t>Một kết hợp không thể có</a:t>
            </a:r>
          </a:p>
        </p:txBody>
      </p:sp>
      <p:sp>
        <p:nvSpPr>
          <p:cNvPr id="76" name="CardHead"/>
          <p:cNvSpPr/>
          <p:nvPr/>
        </p:nvSpPr>
        <p:spPr>
          <a:xfrm>
            <a:off x="9065400" y="215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đầy đủ</a:t>
            </a:r>
          </a:p>
        </p:txBody>
      </p:sp>
      <p:sp>
        <p:nvSpPr>
          <p:cNvPr id="77" name="CardBody"/>
          <p:cNvSpPr/>
          <p:nvPr/>
        </p:nvSpPr>
        <p:spPr>
          <a:xfrm>
            <a:off x="90654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Tình trạng ngày 28 bị bỏ trống</a:t>
            </a:r>
          </a:p>
          <a:p>
            <a:pPr marL="0" indent="0" algn="ctr">
              <a:lnSpc>
                <a:spcPct val="104000"/>
              </a:lnSpc>
              <a:spcBef>
                <a:spcPts val="400"/>
              </a:spcBef>
              <a:buNone/>
            </a:pPr>
            <a:r>
              <a:rPr lang="en-US" sz="1600" dirty="0">
                <a:solidFill>
                  <a:srgbClr val="000000"/>
                </a:solidFill>
                <a:latin typeface="Arial"/>
                <a:cs typeface="Arial"/>
              </a:rPr>
              <a:t>Trường bắt buộc: bổ sung ngay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tra dữ liệu khi người bệnh còn ở khoa, không phải một năm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Quản lý dữ liệu thực tế: từ giường bệnh đến cơ sở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Hai con đường an toàn từ người bệnh đến một cơ sở dữ liệu bảo mật.</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CRF giấy</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Nhập liệu kép: hai người nhập mỗi phiếu</a:t>
            </a:r>
          </a:p>
          <a:p>
            <a:pPr marL="0" indent="0" algn="ctr">
              <a:lnSpc>
                <a:spcPct val="104000"/>
              </a:lnSpc>
              <a:spcBef>
                <a:spcPts val="400"/>
              </a:spcBef>
              <a:buNone/>
            </a:pPr>
            <a:r>
              <a:rPr lang="en-US" sz="1750" dirty="0">
                <a:solidFill>
                  <a:srgbClr val="000000"/>
                </a:solidFill>
                <a:latin typeface="Arial"/>
                <a:cs typeface="Arial"/>
              </a:rPr>
              <a:t>Máy tính so sánh hai bản</a:t>
            </a:r>
          </a:p>
          <a:p>
            <a:pPr marL="0" indent="0" algn="ctr">
              <a:lnSpc>
                <a:spcPct val="104000"/>
              </a:lnSpc>
              <a:spcBef>
                <a:spcPts val="400"/>
              </a:spcBef>
              <a:buNone/>
            </a:pPr>
            <a:r>
              <a:rPr lang="en-US" sz="1750" dirty="0">
                <a:solidFill>
                  <a:srgbClr val="000000"/>
                </a:solidFill>
                <a:latin typeface="Arial"/>
                <a:cs typeface="Arial"/>
              </a:rPr>
              <a:t>Chỗ lệch được sửa theo phiếu giấy</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Thu thập dữ liệu điện tử (EDC)</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Phiếu trên máy tính bảng hoặc máy tính</a:t>
            </a:r>
          </a:p>
          <a:p>
            <a:pPr marL="0" indent="0" algn="ctr">
              <a:lnSpc>
                <a:spcPct val="104000"/>
              </a:lnSpc>
              <a:spcBef>
                <a:spcPts val="400"/>
              </a:spcBef>
              <a:buNone/>
            </a:pPr>
            <a:r>
              <a:rPr lang="en-US" sz="1750" dirty="0">
                <a:solidFill>
                  <a:srgbClr val="000000"/>
                </a:solidFill>
                <a:latin typeface="Arial"/>
                <a:cs typeface="Arial"/>
              </a:rPr>
              <a:t>Ví dụ REDCap hoặc KoBoToolbox</a:t>
            </a:r>
          </a:p>
          <a:p>
            <a:pPr marL="0" indent="0" algn="ctr">
              <a:lnSpc>
                <a:spcPct val="104000"/>
              </a:lnSpc>
              <a:spcBef>
                <a:spcPts val="400"/>
              </a:spcBef>
              <a:buNone/>
            </a:pPr>
            <a:r>
              <a:rPr lang="en-US" sz="1750" dirty="0">
                <a:solidFill>
                  <a:srgbClr val="000000"/>
                </a:solidFill>
                <a:latin typeface="Arial"/>
                <a:cs typeface="Arial"/>
              </a:rPr>
              <a:t>Kiểm tra khoảng giá trị, logic, trường bắt buộc ngay khi nhập</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Cơ sở dữ liệu bảo mật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Mã số nghiên cứu, không có tên</a:t>
            </a:r>
          </a:p>
          <a:p>
            <a:pPr marL="0" indent="0" algn="ctr">
              <a:lnSpc>
                <a:spcPct val="104000"/>
              </a:lnSpc>
              <a:spcBef>
                <a:spcPts val="400"/>
              </a:spcBef>
              <a:buNone/>
            </a:pPr>
            <a:r>
              <a:rPr lang="en-US" sz="1750" dirty="0">
                <a:solidFill>
                  <a:srgbClr val="000000"/>
                </a:solidFill>
                <a:latin typeface="Arial"/>
                <a:cs typeface="Arial"/>
              </a:rPr>
              <a:t>Nhật ký thay đổi: ai đổi gì, khi nào, vì sao</a:t>
            </a:r>
          </a:p>
          <a:p>
            <a:pPr marL="0" indent="0" algn="ctr">
              <a:lnSpc>
                <a:spcPct val="104000"/>
              </a:lnSpc>
              <a:spcBef>
                <a:spcPts val="400"/>
              </a:spcBef>
              <a:buNone/>
            </a:pPr>
            <a:r>
              <a:rPr lang="en-US" sz="1750" dirty="0">
                <a:solidFill>
                  <a:srgbClr val="000000"/>
                </a:solidFill>
                <a:latin typeface="Arial"/>
                <a:cs typeface="Arial"/>
              </a:rPr>
              <a:t>Ví dụ: lactat 21 sửa thành 2.1, 'gõ nhầm'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tra khi nhập, nhập liệu kép nếu dùng giấy, và ghi lại mọi thay đổi.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bị thiếu: vì sao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hiếm khi ngẫu nhiên: người bệnh nặng nhất bị thiếu trước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bị thiếu: cách phòng ngừa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Phòng ngừa là cách chữa duy nhất đáng tin cậy.</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Ít mục</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Chỉ thu thập cái cần</a:t>
            </a:r>
          </a:p>
          <a:p>
            <a:pPr marL="0" indent="0" algn="ctr">
              <a:lnSpc>
                <a:spcPct val="104000"/>
              </a:lnSpc>
              <a:spcBef>
                <a:spcPts val="200"/>
              </a:spcBef>
              <a:buNone/>
            </a:pPr>
            <a:r>
              <a:rPr lang="en-US" sz="1500" dirty="0">
                <a:solidFill>
                  <a:srgbClr val="000000"/>
                </a:solidFill>
                <a:latin typeface="Arial"/>
                <a:cs typeface="Arial"/>
              </a:rPr>
              <a:t>Phiếu ngắn sẽ được điền đủ</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Phiếu rõ</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Đánh dấu trường bắt buộc</a:t>
            </a:r>
          </a:p>
          <a:p>
            <a:pPr marL="0" indent="0" algn="ctr">
              <a:lnSpc>
                <a:spcPct val="104000"/>
              </a:lnSpc>
              <a:spcBef>
                <a:spcPts val="200"/>
              </a:spcBef>
              <a:buNone/>
            </a:pPr>
            <a:r>
              <a:rPr lang="en-US" sz="1500" dirty="0">
                <a:solidFill>
                  <a:srgbClr val="000000"/>
                </a:solidFill>
                <a:latin typeface="Arial"/>
                <a:cs typeface="Arial"/>
              </a:rPr>
              <a:t>Có 'không làm' và 'không rõ'</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Tập huấn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Tập huấn mọi người thu thập</a:t>
            </a:r>
          </a:p>
          <a:p>
            <a:pPr marL="0" indent="0" algn="ctr">
              <a:lnSpc>
                <a:spcPct val="104000"/>
              </a:lnSpc>
              <a:spcBef>
                <a:spcPts val="200"/>
              </a:spcBef>
              <a:buNone/>
            </a:pPr>
            <a:r>
              <a:rPr lang="en-US" sz="1500" dirty="0">
                <a:solidFill>
                  <a:srgbClr val="000000"/>
                </a:solidFill>
                <a:latin typeface="Arial"/>
                <a:cs typeface="Arial"/>
              </a:rPr>
              <a:t>Cùng quy tắc, cùng định nghĩa</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Kiểm tra tuần</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Báo cáo mức đầy đủ</a:t>
            </a:r>
          </a:p>
          <a:p>
            <a:pPr marL="0" indent="0" algn="ctr">
              <a:lnSpc>
                <a:spcPct val="104000"/>
              </a:lnSpc>
              <a:spcBef>
                <a:spcPts val="200"/>
              </a:spcBef>
              <a:buNone/>
            </a:pPr>
            <a:r>
              <a:rPr lang="en-US" sz="1500" dirty="0">
                <a:solidFill>
                  <a:srgbClr val="000000"/>
                </a:solidFill>
                <a:latin typeface="Arial"/>
                <a:cs typeface="Arial"/>
              </a:rPr>
              <a:t>Ai và cái gì bị thiếu?</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Bổ sung sớm</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Sửa khi hồ sơ còn ở khoa</a:t>
            </a:r>
          </a:p>
          <a:p>
            <a:pPr marL="0" indent="0" algn="ctr">
              <a:lnSpc>
                <a:spcPct val="104000"/>
              </a:lnSpc>
              <a:spcBef>
                <a:spcPts val="200"/>
              </a:spcBef>
              <a:buNone/>
            </a:pPr>
            <a:r>
              <a:rPr lang="en-US" sz="1500" dirty="0">
                <a:solidFill>
                  <a:srgbClr val="000000"/>
                </a:solidFill>
                <a:latin typeface="Arial"/>
                <a:cs typeface="Arial"/>
              </a:rPr>
              <a:t>Kế hoạch theo dõi ca chuyển viện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công ai điền, ai kiểm tra, ai bổ sung từng phiếu trước khi bắt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sửa các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phiếu bài tập Buổi 5 (tệp PDF gửi trước buổi học), Bài 2: bốn mục CRF chưa rõ</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từng mục một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Viết lại từng mục, rồi hai ba người đọc to bài của mình (mỗi mục 1 phút)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cùng cả lớp viết phiên bản chung, theo bốn câu kiểm tra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Các mục chưa kịp làm, và Bài 1 (phân loại 10 biến),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Bốn câu kiểm tra</a:t>
            </a:r>
          </a:p>
          <a:p>
            <a:pPr marL="0" indent="0" algn="ctr">
              <a:lnSpc>
                <a:spcPct val="104000"/>
              </a:lnSpc>
              <a:spcBef>
                <a:spcPts val="300"/>
              </a:spcBef>
              <a:buNone/>
            </a:pPr>
            <a:r>
              <a:rPr lang="en-US" sz="1500" dirty="0">
                <a:solidFill>
                  <a:srgbClr val="000000"/>
                </a:solidFill>
                <a:latin typeface="Arial"/>
                <a:cs typeface="Arial"/>
              </a:rPr>
              <a:t>Có đơn vị trong câu hỏi?</a:t>
            </a:r>
          </a:p>
          <a:p>
            <a:pPr marL="0" indent="0" algn="ctr">
              <a:lnSpc>
                <a:spcPct val="104000"/>
              </a:lnSpc>
              <a:spcBef>
                <a:spcPts val="300"/>
              </a:spcBef>
              <a:buNone/>
            </a:pPr>
            <a:r>
              <a:rPr lang="en-US" sz="1500" dirty="0">
                <a:solidFill>
                  <a:srgbClr val="000000"/>
                </a:solidFill>
                <a:latin typeface="Arial"/>
                <a:cs typeface="Arial"/>
              </a:rPr>
              <a:t>Có mốc thời gian trong câu hỏi?</a:t>
            </a:r>
          </a:p>
          <a:p>
            <a:pPr marL="0" indent="0" algn="ctr">
              <a:lnSpc>
                <a:spcPct val="104000"/>
              </a:lnSpc>
              <a:spcBef>
                <a:spcPts val="300"/>
              </a:spcBef>
              <a:buNone/>
            </a:pPr>
            <a:r>
              <a:rPr lang="en-US" sz="1500" dirty="0">
                <a:solidFill>
                  <a:srgbClr val="000000"/>
                </a:solidFill>
                <a:latin typeface="Arial"/>
                <a:cs typeface="Arial"/>
              </a:rPr>
              <a:t>Chỉ một đáp án?</a:t>
            </a:r>
          </a:p>
          <a:p>
            <a:pPr marL="0" indent="0" algn="ctr">
              <a:lnSpc>
                <a:spcPct val="104000"/>
              </a:lnSpc>
              <a:spcBef>
                <a:spcPts val="300"/>
              </a:spcBef>
              <a:buNone/>
            </a:pPr>
            <a:r>
              <a:rPr lang="en-US" sz="1500" dirty="0">
                <a:solidFill>
                  <a:srgbClr val="000000"/>
                </a:solidFill>
                <a:latin typeface="Arial"/>
                <a:cs typeface="Arial"/>
              </a:rPr>
              <a:t>Có lựa chọn 'không rõ'?</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Các mục CRF đã viết lại, được cả lớp thống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5.2 Làm quen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bộ dữ liệu thực tế, năm câu hỏi nghiên cứu.</a:t>
            </a:r>
          </a:p>
          <a:p>
            <a:pPr marL="0" indent="0" algn="ctr">
              <a:spcBef>
                <a:spcPts val="1200"/>
              </a:spcBef>
              <a:buNone/>
            </a:pPr>
            <a:r>
              <a:rPr lang="en-US" sz="1900" i="1" dirty="0">
                <a:solidFill>
                  <a:srgbClr val="595959"/>
                </a:solidFill>
                <a:latin typeface="Arial"/>
                <a:cs typeface="Arial"/>
              </a:rPr>
              <a:t>5.2 Làm quen bộ dữ liệu FLUID-ICU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tóm tắt (thuần tập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Thuần tập tiến cứu đa trung tâm tại 4 khoa hồi sức tích cực (ICU), từ 01/2023 đến 12/2024.</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Đối tượng</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620 người lớn nhiễm khuẩn huyết</a:t>
            </a:r>
          </a:p>
          <a:p>
            <a:pPr marL="0" indent="0" algn="ctr">
              <a:lnSpc>
                <a:spcPct val="104000"/>
              </a:lnSpc>
              <a:spcBef>
                <a:spcPts val="400"/>
              </a:spcBef>
              <a:buNone/>
            </a:pPr>
            <a:r>
              <a:rPr lang="en-US" sz="1600" dirty="0">
                <a:solidFill>
                  <a:srgbClr val="000000"/>
                </a:solidFill>
                <a:latin typeface="Arial"/>
                <a:cs typeface="Arial"/>
              </a:rPr>
              <a:t>ICU A 191, ICU B 164, ICU C 147, ICU D 118</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Phơi nhiễm</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Cân bằng dịch tích lũy đến ngày 3 (ml/kg)</a:t>
            </a:r>
          </a:p>
          <a:p>
            <a:pPr marL="0" indent="0" algn="ctr">
              <a:lnSpc>
                <a:spcPct val="104000"/>
              </a:lnSpc>
              <a:spcBef>
                <a:spcPts val="400"/>
              </a:spcBef>
              <a:buNone/>
            </a:pPr>
            <a:r>
              <a:rPr lang="en-US" sz="1600" dirty="0">
                <a:solidFill>
                  <a:srgbClr val="000000"/>
                </a:solidFill>
                <a:latin typeface="Arial"/>
                <a:cs typeface="Arial"/>
              </a:rPr>
              <a:t>Dương ở 373/618 (60.4%)</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Kết cục chính</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Tử vong đến ngày 28: 179/620 (28.9%)</a:t>
            </a:r>
          </a:p>
          <a:p>
            <a:pPr marL="0" indent="0" algn="ctr">
              <a:lnSpc>
                <a:spcPct val="104000"/>
              </a:lnSpc>
              <a:spcBef>
                <a:spcPts val="400"/>
              </a:spcBef>
              <a:buNone/>
            </a:pPr>
            <a:r>
              <a:rPr lang="en-US" sz="1600" dirty="0">
                <a:solidFill>
                  <a:srgbClr val="000000"/>
                </a:solidFill>
                <a:latin typeface="Arial"/>
                <a:cs typeface="Arial"/>
              </a:rPr>
              <a:t>Có ghi cả thời gian đến tử vong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 thập thêm</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Điểm mức độ nặng (SOFA, APACHE II)</a:t>
            </a:r>
          </a:p>
          <a:p>
            <a:pPr marL="0" indent="0" algn="ctr">
              <a:lnSpc>
                <a:spcPct val="104000"/>
              </a:lnSpc>
              <a:spcBef>
                <a:spcPts val="400"/>
              </a:spcBef>
              <a:buNone/>
            </a:pPr>
            <a:r>
              <a:rPr lang="en-US" sz="1600" dirty="0">
                <a:solidFill>
                  <a:srgbClr val="000000"/>
                </a:solidFill>
                <a:latin typeface="Arial"/>
                <a:cs typeface="Arial"/>
              </a:rPr>
              <a:t>Lactat</a:t>
            </a:r>
          </a:p>
          <a:p>
            <a:pPr marL="0" indent="0" algn="ctr">
              <a:lnSpc>
                <a:spcPct val="104000"/>
              </a:lnSpc>
              <a:spcBef>
                <a:spcPts val="400"/>
              </a:spcBef>
              <a:buNone/>
            </a:pPr>
            <a:r>
              <a:rPr lang="en-US" sz="1600" dirty="0">
                <a:solidFill>
                  <a:srgbClr val="000000"/>
                </a:solidFill>
                <a:latin typeface="Arial"/>
                <a:cs typeface="Arial"/>
              </a:rPr>
              <a:t>Tổn thương thận cấp (AKI)</a:t>
            </a:r>
          </a:p>
          <a:p>
            <a:pPr marL="0" indent="0" algn="ctr">
              <a:lnSpc>
                <a:spcPct val="104000"/>
              </a:lnSpc>
              <a:spcBef>
                <a:spcPts val="400"/>
              </a:spcBef>
              <a:buNone/>
            </a:pPr>
            <a:r>
              <a:rPr lang="en-US" sz="1600" dirty="0">
                <a:solidFill>
                  <a:srgbClr val="000000"/>
                </a:solidFill>
                <a:latin typeface="Arial"/>
                <a:cs typeface="Arial"/>
              </a:rPr>
              <a:t>Số ngày không thở máy, 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cân bằng dịch dương đến ngày 3 có liên quan với tử vong 28 ngày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623 dòng đến 527 trường hợp đầy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(mô phỏng): ai được đưa vào ở mỗi bước, và vì sao không.</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Tệp thô</a:t>
            </a:r>
          </a:p>
        </p:txBody>
      </p:sp>
      <p:sp>
        <p:nvSpPr>
          <p:cNvPr id="81" name="StepText"/>
          <p:cNvSpPr/>
          <p:nvPr/>
        </p:nvSpPr>
        <p:spPr>
          <a:xfrm>
            <a:off x="4972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623 dòng</a:t>
            </a:r>
          </a:p>
          <a:p>
            <a:pPr marL="0" indent="0" algn="ctr">
              <a:lnSpc>
                <a:spcPct val="104000"/>
              </a:lnSpc>
              <a:spcBef>
                <a:spcPts val="200"/>
              </a:spcBef>
              <a:buNone/>
            </a:pPr>
            <a:r>
              <a:rPr lang="en-US" sz="1500" dirty="0">
                <a:solidFill>
                  <a:srgbClr val="000000"/>
                </a:solidFill>
                <a:latin typeface="Arial"/>
                <a:cs typeface="Arial"/>
              </a:rPr>
              <a:t>Bỏ 3 bản ghi trùng</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Tham gia</a:t>
            </a:r>
          </a:p>
        </p:txBody>
      </p:sp>
      <p:sp>
        <p:nvSpPr>
          <p:cNvPr id="83" name="StepText"/>
          <p:cNvSpPr/>
          <p:nvPr/>
        </p:nvSpPr>
        <p:spPr>
          <a:xfrm>
            <a:off x="33016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620 người bệnh</a:t>
            </a:r>
          </a:p>
          <a:p>
            <a:pPr marL="0" indent="0" algn="ctr">
              <a:lnSpc>
                <a:spcPct val="104000"/>
              </a:lnSpc>
              <a:spcBef>
                <a:spcPts val="200"/>
              </a:spcBef>
              <a:buNone/>
            </a:pPr>
            <a:r>
              <a:rPr lang="en-US" sz="1500" dirty="0">
                <a:solidFill>
                  <a:srgbClr val="000000"/>
                </a:solidFill>
                <a:latin typeface="Arial"/>
                <a:cs typeface="Arial"/>
              </a:rPr>
              <a:t>Bỏ 2 người không có cân bằng dịch ngày 3</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Phân tích phơi nhiễm</a:t>
            </a:r>
          </a:p>
        </p:txBody>
      </p:sp>
      <p:sp>
        <p:nvSpPr>
          <p:cNvPr id="85" name="StepText"/>
          <p:cNvSpPr/>
          <p:nvPr/>
        </p:nvSpPr>
        <p:spPr>
          <a:xfrm>
            <a:off x="61060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618 người bệnh (Bảng 1, các so sánh)</a:t>
            </a:r>
          </a:p>
          <a:p>
            <a:pPr marL="0" indent="0" algn="ctr">
              <a:lnSpc>
                <a:spcPct val="104000"/>
              </a:lnSpc>
              <a:spcBef>
                <a:spcPts val="200"/>
              </a:spcBef>
              <a:buNone/>
            </a:pPr>
            <a:r>
              <a:rPr lang="en-US" sz="1500" dirty="0">
                <a:solidFill>
                  <a:srgbClr val="000000"/>
                </a:solidFill>
                <a:latin typeface="Arial"/>
                <a:cs typeface="Arial"/>
              </a:rPr>
              <a:t>Bỏ 91 người không có lactat (hoặc tuổi)</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Trường hợp đầy đủ</a:t>
            </a:r>
          </a:p>
        </p:txBody>
      </p:sp>
      <p:sp>
        <p:nvSpPr>
          <p:cNvPr id="87" name="StepText"/>
          <p:cNvSpPr/>
          <p:nvPr/>
        </p:nvSpPr>
        <p:spPr>
          <a:xfrm>
            <a:off x="89104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527 người bệnh</a:t>
            </a:r>
          </a:p>
          <a:p>
            <a:pPr marL="0" indent="0" algn="ctr">
              <a:lnSpc>
                <a:spcPct val="104000"/>
              </a:lnSpc>
              <a:spcBef>
                <a:spcPts val="200"/>
              </a:spcBef>
              <a:buNone/>
            </a:pPr>
            <a:r>
              <a:rPr lang="en-US" sz="1500" dirty="0">
                <a:solidFill>
                  <a:srgbClr val="000000"/>
                </a:solidFill>
                <a:latin typeface="Arial"/>
                <a:cs typeface="Arial"/>
              </a:rPr>
              <a:t>Dùng cho mô hình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bài báo đều báo cáo luồng này: ai được đưa vào ở mỗi bước, và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thô và sạch: bốn ICU thực sự đã gửi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25455"/>
          <a:ext cx="11277600" cy="2973633"/>
        </p:xfrm>
        <a:graphic>
          <a:graphicData uri="http://schemas.openxmlformats.org/drawingml/2006/table">
            <a:tbl>
              <a:tblPr firstRow="1" bandRow="1">
                <a:tableStyleId>{5C22544A-7EE6-4342-B048-85BDC9FD1C3A}</a:tableStyleId>
              </a:tblPr>
              <a:tblGrid>
                <a:gridCol w="2563090"/>
                <a:gridCol w="5382490"/>
                <a:gridCol w="3332020"/>
              </a:tblGrid>
              <a:tr h="380000">
                <a:tc>
                  <a:txBody>
                    <a:bodyPr/>
                    <a:lstStyle/>
                    <a:p>
                      <a:pPr algn="l"/>
                      <a:r>
                        <a:rPr lang="en-US" sz="1700" b="1" dirty="0">
                          <a:solidFill>
                            <a:srgbClr val="FFFFFF"/>
                          </a:solidFill>
                          <a:latin typeface="Arial"/>
                          <a:cs typeface="Arial"/>
                        </a:rPr>
                        <a:t>Vấn đề</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Dữ liệu thô (như nhận được)</a:t>
                      </a:r>
                    </a:p>
                  </a:txBody>
                  <a:tcPr marL="73152" marR="73152" marT="45720" marB="45720" anchor="ctr">
                    <a:solidFill>
                      <a:srgbClr val="B23B2E"/>
                    </a:solidFill>
                  </a:tcPr>
                </a:tc>
                <a:tc>
                  <a:txBody>
                    <a:bodyPr/>
                    <a:lstStyle/>
                    <a:p>
                      <a:pPr algn="l"/>
                      <a:r>
                        <a:rPr lang="en-US" sz="1700" b="1" dirty="0">
                          <a:solidFill>
                            <a:srgbClr val="FFFFFF"/>
                          </a:solidFill>
                          <a:latin typeface="Arial"/>
                          <a:cs typeface="Arial"/>
                        </a:rPr>
                        <a:t>Dữ liệu sạch (01_clean.R)</a:t>
                      </a:r>
                    </a:p>
                  </a:txBody>
                  <a:tcPr marL="73152" marR="73152" marT="45720" marB="45720" anchor="ctr">
                    <a:solidFill>
                      <a:srgbClr val="0D7377"/>
                    </a:solidFill>
                  </a:tcPr>
                </a:tc>
              </a:tr>
              <a:tr h="370519">
                <a:tc>
                  <a:txBody>
                    <a:bodyPr/>
                    <a:lstStyle/>
                    <a:p>
                      <a:pPr algn="l"/>
                      <a:r>
                        <a:rPr lang="en-US" sz="1700" b="1" dirty="0">
                          <a:solidFill>
                            <a:srgbClr val="000000"/>
                          </a:solidFill>
                          <a:latin typeface="Arial"/>
                          <a:cs typeface="Arial"/>
                        </a:rPr>
                        <a:t>Giới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8 cách viết: M, m, male, F, f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Nam / Nữ</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Có / Không</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 Y, yes, 1  |  No, N, no, 0</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Có / Không</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Ngày nhập ICU</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2023-03-14 | 14/03/2023 | 14-Mar-2023</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2023-03-14</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Lactate, ICU C</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23.4  (mg/dL)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2.6  (mmol/L)</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Mã dữ liệu thiếu</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999  |  -99</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để trống (NA)</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Giá trị vô lý</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tuổi 210 | cân nặng 7 kg | dịch ra -2990 ml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để trống + gửi truy vấn</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Bản ghi trùng</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623 dòng (3 mã trùng)</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620 người bệnh</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thật luôn lộn xộn: làm sạch bằng script, không bao giờ bằng tay.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làm sạch FLUID-ICU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FLUID-ICU.Rproj và script 01_clean.R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Đọc tệp thô dưới dạng văn bản và xem qua</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Chạy từng khối cho mỗi vấn đề: tên biến, bản trùng, ICU, ngày, mã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lỗi đơn vị lactat bằng tóm tắt theo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Khối cuối: tệp đã làm sạch giống hệt tệp tham chiếu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Chú ý</a:t>
            </a:r>
          </a:p>
          <a:p>
            <a:pPr marL="0" indent="0" algn="ctr">
              <a:lnSpc>
                <a:spcPct val="104000"/>
              </a:lnSpc>
              <a:spcBef>
                <a:spcPts val="300"/>
              </a:spcBef>
              <a:buNone/>
            </a:pPr>
            <a:r>
              <a:rPr lang="en-US" sz="1500" dirty="0">
                <a:solidFill>
                  <a:srgbClr val="000000"/>
                </a:solidFill>
                <a:latin typeface="Arial"/>
                <a:cs typeface="Arial"/>
              </a:rPr>
              <a:t>Một vấn đề, một khối</a:t>
            </a:r>
          </a:p>
          <a:p>
            <a:pPr marL="0" indent="0" algn="ctr">
              <a:lnSpc>
                <a:spcPct val="104000"/>
              </a:lnSpc>
              <a:spcBef>
                <a:spcPts val="300"/>
              </a:spcBef>
              <a:buNone/>
            </a:pPr>
            <a:r>
              <a:rPr lang="en-US" sz="1500" dirty="0">
                <a:solidFill>
                  <a:srgbClr val="000000"/>
                </a:solidFill>
                <a:latin typeface="Arial"/>
                <a:cs typeface="Arial"/>
              </a:rPr>
              <a:t>Tệp thô không bao giờ bị sửa</a:t>
            </a:r>
          </a:p>
          <a:p>
            <a:pPr marL="0" indent="0" algn="ctr">
              <a:lnSpc>
                <a:spcPct val="104000"/>
              </a:lnSpc>
              <a:spcBef>
                <a:spcPts val="300"/>
              </a:spcBef>
              <a:buNone/>
            </a:pPr>
            <a:r>
              <a:rPr lang="en-US" sz="1500" dirty="0">
                <a:solidFill>
                  <a:srgbClr val="000000"/>
                </a:solidFill>
                <a:latin typeface="Arial"/>
                <a:cs typeface="Arial"/>
              </a:rPr>
              <a:t>Mỗi bước được ghi nhật ký</a:t>
            </a:r>
          </a:p>
          <a:p>
            <a:pPr marL="0" indent="0" algn="ctr">
              <a:lnSpc>
                <a:spcPct val="104000"/>
              </a:lnSpc>
              <a:spcBef>
                <a:spcPts val="300"/>
              </a:spcBef>
              <a:buNone/>
            </a:pPr>
            <a:r>
              <a:rPr lang="en-US" sz="1500" dirty="0">
                <a:solidFill>
                  <a:srgbClr val="000000"/>
                </a:solidFill>
                <a:latin typeface="Arial"/>
                <a:cs typeface="Arial"/>
              </a:rPr>
              <a:t>Chạy lại = cùng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dữ liệu thô thành dữ liệu sạch,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Nhật ký làm sạch dữ liệu: dấu vết của mọi thay đổi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cleaning_log.md: mỗi thay đổi trên dữ liệu thô là một dòng.</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Nguyên tắc</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bao giờ sửa tệp thô</a:t>
            </a:r>
          </a:p>
          <a:p>
            <a:pPr marL="0" indent="0" algn="ctr">
              <a:lnSpc>
                <a:spcPct val="104000"/>
              </a:lnSpc>
              <a:spcBef>
                <a:spcPts val="400"/>
              </a:spcBef>
              <a:buNone/>
            </a:pPr>
            <a:r>
              <a:rPr lang="en-US" sz="1600" dirty="0">
                <a:solidFill>
                  <a:srgbClr val="000000"/>
                </a:solidFill>
                <a:latin typeface="Arial"/>
                <a:cs typeface="Arial"/>
              </a:rPr>
              <a:t>Mọi thay đổi do script thực hiện và được ghi lại</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Mỗi dòng ghi</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Vấn đề phát hiện</a:t>
            </a:r>
          </a:p>
          <a:p>
            <a:pPr marL="0" indent="0" algn="ctr">
              <a:lnSpc>
                <a:spcPct val="104000"/>
              </a:lnSpc>
              <a:spcBef>
                <a:spcPts val="400"/>
              </a:spcBef>
              <a:buNone/>
            </a:pPr>
            <a:r>
              <a:rPr lang="en-US" sz="1600" dirty="0">
                <a:solidFill>
                  <a:srgbClr val="000000"/>
                </a:solidFill>
                <a:latin typeface="Arial"/>
                <a:cs typeface="Arial"/>
              </a:rPr>
              <a:t>Bao nhiêu bản ghi</a:t>
            </a:r>
          </a:p>
          <a:p>
            <a:pPr marL="0" indent="0" algn="ctr">
              <a:lnSpc>
                <a:spcPct val="104000"/>
              </a:lnSpc>
              <a:spcBef>
                <a:spcPts val="400"/>
              </a:spcBef>
              <a:buNone/>
            </a:pPr>
            <a:r>
              <a:rPr lang="en-US" sz="1600" dirty="0">
                <a:solidFill>
                  <a:srgbClr val="000000"/>
                </a:solidFill>
                <a:latin typeface="Arial"/>
                <a:cs typeface="Arial"/>
              </a:rPr>
              <a:t>Đã làm gì và vì sao</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Câu hỏi gửi cơ sở</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Giá trị vô lý được đặt là thiếu</a:t>
            </a:r>
          </a:p>
          <a:p>
            <a:pPr marL="0" indent="0" algn="ctr">
              <a:lnSpc>
                <a:spcPct val="104000"/>
              </a:lnSpc>
              <a:spcBef>
                <a:spcPts val="400"/>
              </a:spcBef>
              <a:buNone/>
            </a:pPr>
            <a:r>
              <a:rPr lang="en-US" sz="1600" dirty="0">
                <a:solidFill>
                  <a:srgbClr val="000000"/>
                </a:solidFill>
                <a:latin typeface="Arial"/>
                <a:cs typeface="Arial"/>
              </a:rPr>
              <a:t>Gửi câu hỏi lại cho cơ sở</a:t>
            </a:r>
          </a:p>
          <a:p>
            <a:pPr marL="0" indent="0" algn="ctr">
              <a:lnSpc>
                <a:spcPct val="104000"/>
              </a:lnSpc>
              <a:spcBef>
                <a:spcPts val="400"/>
              </a:spcBef>
              <a:buNone/>
            </a:pPr>
            <a:r>
              <a:rPr lang="en-US" sz="1600" dirty="0">
                <a:solidFill>
                  <a:srgbClr val="000000"/>
                </a:solidFill>
                <a:latin typeface="Arial"/>
                <a:cs typeface="Arial"/>
              </a:rPr>
              <a:t>Người bệnh vẫn được giữ lại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Còn lại</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Giá trị thiếu thật</a:t>
            </a:r>
          </a:p>
          <a:p>
            <a:pPr marL="0" indent="0" algn="ctr">
              <a:lnSpc>
                <a:spcPct val="104000"/>
              </a:lnSpc>
              <a:spcBef>
                <a:spcPts val="400"/>
              </a:spcBef>
              <a:buNone/>
            </a:pPr>
            <a:r>
              <a:rPr lang="en-US" sz="1600" dirty="0">
                <a:solidFill>
                  <a:srgbClr val="000000"/>
                </a:solidFill>
                <a:latin typeface="Arial"/>
                <a:cs typeface="Arial"/>
              </a:rPr>
              <a:t>Lactat: 93/620 (15.0%)</a:t>
            </a:r>
          </a:p>
          <a:p>
            <a:pPr marL="0" indent="0" algn="ctr">
              <a:lnSpc>
                <a:spcPct val="104000"/>
              </a:lnSpc>
              <a:spcBef>
                <a:spcPts val="400"/>
              </a:spcBef>
              <a:buNone/>
            </a:pPr>
            <a:r>
              <a:rPr lang="en-US" sz="1600" dirty="0">
                <a:solidFill>
                  <a:srgbClr val="000000"/>
                </a:solidFill>
                <a:latin typeface="Arial"/>
                <a:cs typeface="Arial"/>
              </a:rPr>
              <a:t>Biến khác: 1% hoặc ít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phản biện phải truy ngược được mọi con số về dữ liệu thô.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câu hỏi, một bộ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Trên lớp, cả lớp cùng đi qua năm câu. Cuối Buổi 6, mỗi anh chị chọn một câu.</a:t>
            </a:r>
          </a:p>
        </p:txBody>
      </p:sp>
      <p:sp>
        <p:nvSpPr>
          <p:cNvPr id="70" name="CardHead"/>
          <p:cNvSpPr/>
          <p:nvPr/>
        </p:nvSpPr>
        <p:spPr>
          <a:xfrm>
            <a:off x="457200" y="2114861"/>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Q1 Tử vong</a:t>
            </a:r>
          </a:p>
        </p:txBody>
      </p:sp>
      <p:sp>
        <p:nvSpPr>
          <p:cNvPr id="71" name="CardBody"/>
          <p:cNvSpPr/>
          <p:nvPr/>
        </p:nvSpPr>
        <p:spPr>
          <a:xfrm>
            <a:off x="45720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dương và tử vong 28 ngày</a:t>
            </a:r>
          </a:p>
          <a:p>
            <a:pPr marL="0" indent="0" algn="ctr">
              <a:lnSpc>
                <a:spcPct val="104000"/>
              </a:lnSpc>
              <a:spcBef>
                <a:spcPts val="400"/>
              </a:spcBef>
              <a:buNone/>
            </a:pPr>
            <a:r>
              <a:rPr lang="en-US" sz="1450" dirty="0">
                <a:solidFill>
                  <a:srgbClr val="000000"/>
                </a:solidFill>
                <a:latin typeface="Arial"/>
                <a:cs typeface="Arial"/>
              </a:rPr>
              <a:t>Hồi quy logistic</a:t>
            </a:r>
          </a:p>
          <a:p>
            <a:pPr marL="0" indent="0" algn="ctr">
              <a:lnSpc>
                <a:spcPct val="104000"/>
              </a:lnSpc>
              <a:spcBef>
                <a:spcPts val="400"/>
              </a:spcBef>
              <a:buNone/>
            </a:pPr>
            <a:r>
              <a:rPr lang="en-US" sz="1450" dirty="0">
                <a:solidFill>
                  <a:srgbClr val="000000"/>
                </a:solidFill>
                <a:latin typeface="Arial"/>
                <a:cs typeface="Arial"/>
              </a:rPr>
              <a:t>Kaplan-Meier và Cox</a:t>
            </a:r>
          </a:p>
        </p:txBody>
      </p:sp>
      <p:sp>
        <p:nvSpPr>
          <p:cNvPr id="72" name="CardHead"/>
          <p:cNvSpPr/>
          <p:nvPr/>
        </p:nvSpPr>
        <p:spPr>
          <a:xfrm>
            <a:off x="2752720" y="2114861"/>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Q2 Thận</a:t>
            </a:r>
          </a:p>
        </p:txBody>
      </p:sp>
      <p:sp>
        <p:nvSpPr>
          <p:cNvPr id="73" name="CardBody"/>
          <p:cNvSpPr/>
          <p:nvPr/>
        </p:nvSpPr>
        <p:spPr>
          <a:xfrm>
            <a:off x="275272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và tổn thương thận cấp (AKI)</a:t>
            </a:r>
          </a:p>
          <a:p>
            <a:pPr marL="0" indent="0" algn="ctr">
              <a:lnSpc>
                <a:spcPct val="104000"/>
              </a:lnSpc>
              <a:spcBef>
                <a:spcPts val="400"/>
              </a:spcBef>
              <a:buNone/>
            </a:pPr>
            <a:r>
              <a:rPr lang="en-US" sz="1450" dirty="0">
                <a:solidFill>
                  <a:srgbClr val="000000"/>
                </a:solidFill>
                <a:latin typeface="Arial"/>
                <a:cs typeface="Arial"/>
              </a:rPr>
              <a:t>Hồi quy logistic</a:t>
            </a:r>
          </a:p>
        </p:txBody>
      </p:sp>
      <p:sp>
        <p:nvSpPr>
          <p:cNvPr id="74" name="CardHead"/>
          <p:cNvSpPr/>
          <p:nvPr/>
        </p:nvSpPr>
        <p:spPr>
          <a:xfrm>
            <a:off x="5048240" y="2114861"/>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Q3 Thở máy</a:t>
            </a:r>
          </a:p>
        </p:txBody>
      </p:sp>
      <p:sp>
        <p:nvSpPr>
          <p:cNvPr id="75" name="CardBody"/>
          <p:cNvSpPr/>
          <p:nvPr/>
        </p:nvSpPr>
        <p:spPr>
          <a:xfrm>
            <a:off x="504824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và số ngày không thở máy</a:t>
            </a:r>
          </a:p>
          <a:p>
            <a:pPr marL="0" indent="0" algn="ctr">
              <a:lnSpc>
                <a:spcPct val="104000"/>
              </a:lnSpc>
              <a:spcBef>
                <a:spcPts val="400"/>
              </a:spcBef>
              <a:buNone/>
            </a:pPr>
            <a:r>
              <a:rPr lang="en-US" sz="1450" dirty="0">
                <a:solidFill>
                  <a:srgbClr val="000000"/>
                </a:solidFill>
                <a:latin typeface="Arial"/>
                <a:cs typeface="Arial"/>
              </a:rPr>
              <a:t>Mann-Whitney và hồi quy tuyến tính</a:t>
            </a:r>
          </a:p>
        </p:txBody>
      </p:sp>
      <p:sp>
        <p:nvSpPr>
          <p:cNvPr id="76" name="CardHead"/>
          <p:cNvSpPr/>
          <p:nvPr/>
        </p:nvSpPr>
        <p:spPr>
          <a:xfrm>
            <a:off x="7343760" y="2114861"/>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Q4 Lactat</a:t>
            </a:r>
          </a:p>
        </p:txBody>
      </p:sp>
      <p:sp>
        <p:nvSpPr>
          <p:cNvPr id="77" name="CardBody"/>
          <p:cNvSpPr/>
          <p:nvPr/>
        </p:nvSpPr>
        <p:spPr>
          <a:xfrm>
            <a:off x="734376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Lactat và tử vong 28 ngày</a:t>
            </a:r>
          </a:p>
          <a:p>
            <a:pPr marL="0" indent="0" algn="ctr">
              <a:lnSpc>
                <a:spcPct val="104000"/>
              </a:lnSpc>
              <a:spcBef>
                <a:spcPts val="400"/>
              </a:spcBef>
              <a:buNone/>
            </a:pPr>
            <a:r>
              <a:rPr lang="en-US" sz="1450" dirty="0">
                <a:solidFill>
                  <a:srgbClr val="000000"/>
                </a:solidFill>
                <a:latin typeface="Arial"/>
                <a:cs typeface="Arial"/>
              </a:rPr>
              <a:t>Lactat bị thiếu: trường hợp đầy đủ so với quy gán đa bội</a:t>
            </a:r>
          </a:p>
        </p:txBody>
      </p:sp>
      <p:sp>
        <p:nvSpPr>
          <p:cNvPr id="78" name="CardHead"/>
          <p:cNvSpPr/>
          <p:nvPr/>
        </p:nvSpPr>
        <p:spPr>
          <a:xfrm>
            <a:off x="9639280" y="2114861"/>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Q5 Nằm ICU</a:t>
            </a:r>
          </a:p>
        </p:txBody>
      </p:sp>
      <p:sp>
        <p:nvSpPr>
          <p:cNvPr id="79" name="CardBody"/>
          <p:cNvSpPr/>
          <p:nvPr/>
        </p:nvSpPr>
        <p:spPr>
          <a:xfrm>
            <a:off x="963928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và thời gian nằm ICU ở người sống</a:t>
            </a:r>
          </a:p>
          <a:p>
            <a:pPr marL="0" indent="0" algn="ctr">
              <a:lnSpc>
                <a:spcPct val="104000"/>
              </a:lnSpc>
              <a:spcBef>
                <a:spcPts val="400"/>
              </a:spcBef>
              <a:buNone/>
            </a:pPr>
            <a:r>
              <a:rPr lang="en-US" sz="1450" dirty="0">
                <a:solidFill>
                  <a:srgbClr val="000000"/>
                </a:solidFill>
                <a:latin typeface="Arial"/>
                <a:cs typeface="Arial"/>
              </a:rPr>
              <a:t>Một kết cục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Chúng tôi đưa kết quả. Anh chị viết phần Kết quả cho câu hỏi mình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viết Câu hỏi 1 thành câu PECO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gói kết quả Q1 (Results_Pack_Q1_VN.pdf, gửi qua email), trang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kết cục là gì, thuộc loại biến nào?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phơi nhiễm là gì, thuộc loại biến nào?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viết Q1 thành một câu PECO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loại kết cục và phơi nhiễm, mỗi câu một dòng</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PECO cho Q1</a:t>
            </a:r>
          </a:p>
          <a:p>
            <a:pPr marL="0" indent="0" algn="ctr">
              <a:lnSpc>
                <a:spcPct val="104000"/>
              </a:lnSpc>
              <a:spcBef>
                <a:spcPts val="300"/>
              </a:spcBef>
              <a:buNone/>
            </a:pPr>
            <a:r>
              <a:rPr lang="en-US" sz="1500" dirty="0">
                <a:solidFill>
                  <a:srgbClr val="000000"/>
                </a:solidFill>
                <a:latin typeface="Arial"/>
                <a:cs typeface="Arial"/>
              </a:rPr>
              <a:t>P (đối tượng): người lớn nhiễm khuẩn huyết ở ICU</a:t>
            </a:r>
          </a:p>
          <a:p>
            <a:pPr marL="0" indent="0" algn="ctr">
              <a:lnSpc>
                <a:spcPct val="104000"/>
              </a:lnSpc>
              <a:spcBef>
                <a:spcPts val="300"/>
              </a:spcBef>
              <a:buNone/>
            </a:pPr>
            <a:r>
              <a:rPr lang="en-US" sz="1500" dirty="0">
                <a:solidFill>
                  <a:srgbClr val="000000"/>
                </a:solidFill>
                <a:latin typeface="Arial"/>
                <a:cs typeface="Arial"/>
              </a:rPr>
              <a:t>E (phơi nhiễm): cân bằng dương đến ngày 3</a:t>
            </a:r>
          </a:p>
          <a:p>
            <a:pPr marL="0" indent="0" algn="ctr">
              <a:lnSpc>
                <a:spcPct val="104000"/>
              </a:lnSpc>
              <a:spcBef>
                <a:spcPts val="300"/>
              </a:spcBef>
              <a:buNone/>
            </a:pPr>
            <a:r>
              <a:rPr lang="en-US" sz="1500" dirty="0">
                <a:solidFill>
                  <a:srgbClr val="000000"/>
                </a:solidFill>
                <a:latin typeface="Arial"/>
                <a:cs typeface="Arial"/>
              </a:rPr>
              <a:t>C (so sánh): cân bằng âm</a:t>
            </a:r>
          </a:p>
          <a:p>
            <a:pPr marL="0" indent="0" algn="ctr">
              <a:lnSpc>
                <a:spcPct val="104000"/>
              </a:lnSpc>
              <a:spcBef>
                <a:spcPts val="300"/>
              </a:spcBef>
              <a:buNone/>
            </a:pPr>
            <a:r>
              <a:rPr lang="en-US" sz="1500" dirty="0">
                <a:solidFill>
                  <a:srgbClr val="000000"/>
                </a:solidFill>
                <a:latin typeface="Arial"/>
                <a:cs typeface="Arial"/>
              </a:rPr>
              <a:t>O (kết cục): tử vong đến ngày 28 (nhị phân)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Q1 thành một câu PECO, kèm loại kết cục và phơi nhiễm (Bài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5.3 Mô tả và trình bày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so sánh các nhóm, hãy mô tả chúng.</a:t>
            </a:r>
          </a:p>
          <a:p>
            <a:pPr marL="0" indent="0" algn="ctr">
              <a:spcBef>
                <a:spcPts val="1200"/>
              </a:spcBef>
              <a:buNone/>
            </a:pPr>
            <a:r>
              <a:rPr lang="en-US" sz="1900" i="1" dirty="0">
                <a:solidFill>
                  <a:srgbClr val="595959"/>
                </a:solidFill>
                <a:latin typeface="Arial"/>
                <a:cs typeface="Arial"/>
              </a:rPr>
              <a:t>5.3 Mô tả và trình bày dữ liệu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tính trung bình và trung vị bằng tay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Thời gian nằm ICU của 7 người bệnh (ngày):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Xếp hàng</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Sắp xếp từ ngắn nhất đến dài nhất</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Trung vị</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thứ 4 trong 7 người: 3 ngày</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Trung bình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42 ngày / 7 người = 6 ngày</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ca 24 ngày làm trung bình tăng gấp đôi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ca nằm rất lâu làm trung bình thay đổi nhiều, trung vị thì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Trung bình hay trung vị? Hãy nhìn hình dạng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Với dữ liệu lệch như thời gian nằm viện, trung vị mô tả người bệnh điển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Độ phân tán: SD cho dữ liệu đối xứng, IQR cho dữ liệu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trung bình (SD) hoặc trung vị (IQR): không trộn lẫn hai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Vì sao là hai hình dạng này? Chúng bao phủ phần lớn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Hầu hết số đo lâm sàng tập trung quanh một giá trị điển hình hoặc có đuôi dài. Hãy kiểm tra.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tóm tắt bằng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nằm ICU của 200 người bệnh: trung bình (SD) hay trung vị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Tuổi của 200 người bệnh ICU người lớn, hình chuông: trung bình (SD) hay trung vị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Thở máy lúc nhập viện (có/không): tóm tắt bằng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Tổn thương thận cấp (AKI) giai đoạn 1 đến 3: tóm tắt bằng gì, biểu đồ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Thời gian nằm ICU: trung vị (IQR)</a:t>
            </a:r>
          </a:p>
          <a:p>
            <a:pPr marL="0" indent="0" algn="ctr">
              <a:lnSpc>
                <a:spcPct val="104000"/>
              </a:lnSpc>
              <a:spcBef>
                <a:spcPts val="300"/>
              </a:spcBef>
              <a:buNone/>
            </a:pPr>
            <a:r>
              <a:rPr lang="en-US" sz="1500" dirty="0">
                <a:solidFill>
                  <a:srgbClr val="000000"/>
                </a:solidFill>
                <a:latin typeface="Arial"/>
                <a:cs typeface="Arial"/>
              </a:rPr>
              <a:t>Tuổi: trung bình (SD)</a:t>
            </a:r>
          </a:p>
          <a:p>
            <a:pPr marL="0" indent="0" algn="ctr">
              <a:lnSpc>
                <a:spcPct val="104000"/>
              </a:lnSpc>
              <a:spcBef>
                <a:spcPts val="300"/>
              </a:spcBef>
              <a:buNone/>
            </a:pPr>
            <a:r>
              <a:rPr lang="en-US" sz="1500" dirty="0">
                <a:solidFill>
                  <a:srgbClr val="000000"/>
                </a:solidFill>
                <a:latin typeface="Arial"/>
                <a:cs typeface="Arial"/>
              </a:rPr>
              <a:t>Thở máy: n (%)</a:t>
            </a:r>
          </a:p>
          <a:p>
            <a:pPr marL="0" indent="0" algn="ctr">
              <a:lnSpc>
                <a:spcPct val="104000"/>
              </a:lnSpc>
              <a:spcBef>
                <a:spcPts val="300"/>
              </a:spcBef>
              <a:buNone/>
            </a:pPr>
            <a:r>
              <a:rPr lang="en-US" sz="1500" dirty="0">
                <a:solidFill>
                  <a:srgbClr val="000000"/>
                </a:solidFill>
                <a:latin typeface="Arial"/>
                <a:cs typeface="Arial"/>
              </a:rPr>
              <a:t>Giai đoạn AKI: n (%) mỗi giai đoạn, biểu đồ cột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học viên chọn đúng cách tóm tắt cho từng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Biểu đồ nào cho loại dữ liệu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biểu đồ theo loại biến số, không theo menu của phần mềm.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Cho thấy dữ liệu: biểu đồ 'thuốc nổ' (dynamite plot) và chấm + hộp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48 người bệnh, hai bức hình.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Biểu đồ 'thuốc nổ': trung bình và thanh sai số che giấu mọi thứ</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Thấy từng người bệnh: hình dạng, độ phân tán và giá trị ngoại lai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1' cho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33696"/>
          <a:ext cx="11277600" cy="3686160"/>
        </p:xfrm>
        <a:graphic>
          <a:graphicData uri="http://schemas.openxmlformats.org/drawingml/2006/table">
            <a:tbl>
              <a:tblPr firstRow="1" bandRow="1">
                <a:tableStyleId>{5C22544A-7EE6-4342-B048-85BDC9FD1C3A}</a:tableStyleId>
              </a:tblPr>
              <a:tblGrid>
                <a:gridCol w="3759200"/>
                <a:gridCol w="3759200"/>
                <a:gridCol w="3759200"/>
              </a:tblGrid>
              <a:tr h="385760">
                <a:tc>
                  <a:txBody>
                    <a:bodyPr/>
                    <a:lstStyle/>
                    <a:p>
                      <a:pPr algn="l"/>
                      <a:r>
                        <a:rPr lang="en-US" sz="18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Hạn chế dịch (n = 24)</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Thường quy (n = 24)</a:t>
                      </a:r>
                    </a:p>
                  </a:txBody>
                  <a:tcPr marL="73152" marR="73152" marT="45720" marB="45720" anchor="ctr">
                    <a:solidFill>
                      <a:srgbClr val="0D7377"/>
                    </a:solidFill>
                  </a:tcPr>
                </a:tc>
              </a:tr>
              <a:tr h="660080">
                <a:tc>
                  <a:txBody>
                    <a:bodyPr/>
                    <a:lstStyle/>
                    <a:p>
                      <a:pPr algn="l"/>
                      <a:r>
                        <a:rPr lang="en-US" sz="1800" dirty="0">
                          <a:solidFill>
                            <a:srgbClr val="000000"/>
                          </a:solidFill>
                          <a:latin typeface="Arial"/>
                          <a:cs typeface="Arial"/>
                        </a:rPr>
                        <a:t>Tuổi, năm, trung bình (SD)</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64 (11)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66 (12)</a:t>
                      </a:r>
                    </a:p>
                  </a:txBody>
                  <a:tcPr marL="73152" marR="73152" marT="45720" marB="45720" anchor="ctr">
                    <a:solidFill>
                      <a:srgbClr val="FFFFFF"/>
                    </a:solidFill>
                  </a:tcPr>
                </a:tc>
              </a:tr>
              <a:tr h="660080">
                <a:tc>
                  <a:txBody>
                    <a:bodyPr/>
                    <a:lstStyle/>
                    <a:p>
                      <a:pPr algn="l"/>
                      <a:r>
                        <a:rPr lang="en-US" sz="1800" dirty="0">
                          <a:solidFill>
                            <a:srgbClr val="000000"/>
                          </a:solidFill>
                          <a:latin typeface="Arial"/>
                          <a:cs typeface="Arial"/>
                        </a:rPr>
                        <a:t>Nam, n (%)</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15 (63)</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16 (67)</a:t>
                      </a:r>
                    </a:p>
                  </a:txBody>
                  <a:tcPr marL="73152" marR="73152" marT="45720" marB="45720" anchor="ctr">
                    <a:solidFill>
                      <a:srgbClr val="F5F9FA"/>
                    </a:solidFill>
                  </a:tcPr>
                </a:tc>
              </a:tr>
              <a:tr h="660080">
                <a:tc>
                  <a:txBody>
                    <a:bodyPr/>
                    <a:lstStyle/>
                    <a:p>
                      <a:pPr algn="l"/>
                      <a:r>
                        <a:rPr lang="en-US" sz="1800" dirty="0">
                          <a:solidFill>
                            <a:srgbClr val="000000"/>
                          </a:solidFill>
                          <a:latin typeface="Arial"/>
                          <a:cs typeface="Arial"/>
                        </a:rPr>
                        <a:t>Điểm SOFA, trung vị (IQR)</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(7-11)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(6-12)</a:t>
                      </a:r>
                    </a:p>
                  </a:txBody>
                  <a:tcPr marL="73152" marR="73152" marT="45720" marB="45720" anchor="ctr">
                    <a:solidFill>
                      <a:srgbClr val="FFFFFF"/>
                    </a:solidFill>
                  </a:tcPr>
                </a:tc>
              </a:tr>
              <a:tr h="660080">
                <a:tc>
                  <a:txBody>
                    <a:bodyPr/>
                    <a:lstStyle/>
                    <a:p>
                      <a:pPr algn="l"/>
                      <a:r>
                        <a:rPr lang="en-US" sz="1800" dirty="0">
                          <a:solidFill>
                            <a:srgbClr val="000000"/>
                          </a:solidFill>
                          <a:latin typeface="Arial"/>
                          <a:cs typeface="Arial"/>
                        </a:rPr>
                        <a:t>Lactat, mmol/L, trung vị (IQR)</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3.1 (2.2-4.8)</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2.9 (2.0-5.1)</a:t>
                      </a:r>
                    </a:p>
                  </a:txBody>
                  <a:tcPr marL="73152" marR="73152" marT="45720" marB="45720" anchor="ctr">
                    <a:solidFill>
                      <a:srgbClr val="F5F9FA"/>
                    </a:solidFill>
                  </a:tcPr>
                </a:tc>
              </a:tr>
              <a:tr h="660080">
                <a:tc>
                  <a:txBody>
                    <a:bodyPr/>
                    <a:lstStyle/>
                    <a:p>
                      <a:pPr algn="l"/>
                      <a:r>
                        <a:rPr lang="en-US" sz="1800" dirty="0">
                          <a:solidFill>
                            <a:srgbClr val="000000"/>
                          </a:solidFill>
                          <a:latin typeface="Arial"/>
                          <a:cs typeface="Arial"/>
                        </a:rPr>
                        <a:t>Nguồn: phổi, n (%)</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11 (46)</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10 (42)</a:t>
                      </a:r>
                    </a:p>
                  </a:txBody>
                  <a:tcPr marL="73152" marR="73152" marT="45720" marB="45720" anchor="ctr">
                    <a:solidFill>
                      <a:srgbClr val="FFFFFF"/>
                    </a:solidFill>
                  </a:tcPr>
                </a:tc>
              </a:tr>
            </a:tbl>
          </a:graphicData>
        </a:graphic>
      </p:graphicFrame>
      <p:sp>
        <p:nvSpPr>
          <p:cNvPr id="31" name="Caption"/>
          <p:cNvSpPr txBox="1"/>
          <p:nvPr/>
        </p:nvSpPr>
        <p:spPr>
          <a:xfrm>
            <a:off x="457200" y="510985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Số liệu minh họa. Đối xứng: trung bình (SD). Lệch: trung vị (IQR). Phân loại: n (%). SD = độ lệch chuẩn. IQR = khoảng tứ phân vị. SOFA = điểm đánh giá suy đa cơ quan tuần tự. Hỏi: người bệnh là ai, và các nhóm có giống nhau lúc ban đầu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đạt chuẩn công bố: chưa tốt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Quy tắc: đơn vị và cách tóm tắt trong nhãn dòng, n mỗi cột, số thập phân nhất quán, chú thích.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Kẻ ô, không có n, không đơn vị, 4 chữ số thập phân</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Gọn, tự giải thích, sẵn sàng gửi tạp chí</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5.4 Mô tả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so sánh các nhóm, hãy mô tả chúng: giờ với con số thật.</a:t>
            </a:r>
          </a:p>
          <a:p>
            <a:pPr marL="0" indent="0" algn="ctr">
              <a:spcBef>
                <a:spcPts val="1200"/>
              </a:spcBef>
              <a:buNone/>
            </a:pPr>
            <a:r>
              <a:rPr lang="en-US" sz="1900" i="1" dirty="0">
                <a:solidFill>
                  <a:srgbClr val="595959"/>
                </a:solidFill>
                <a:latin typeface="Arial"/>
                <a:cs typeface="Arial"/>
              </a:rPr>
              <a:t>5.4 Mô tả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Bảng 1 và biểu đồ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02_describe.R và nạp dữ liệu sạch</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hình dạng trước: biểu đồ tần suất tuổi, lactat, thời gian nằm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Lập Bảng 1 theo nhóm cân bằng dịch (không có giá trị 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Vẽ biểu đồ: tần suất, hộp, cột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Lưu bảng và biểu đồ cho các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Cùng quy tắc như 5.3</a:t>
            </a:r>
          </a:p>
          <a:p>
            <a:pPr marL="0" indent="0" algn="ctr">
              <a:lnSpc>
                <a:spcPct val="104000"/>
              </a:lnSpc>
              <a:spcBef>
                <a:spcPts val="300"/>
              </a:spcBef>
              <a:buNone/>
            </a:pPr>
            <a:r>
              <a:rPr lang="en-US" sz="1500" dirty="0">
                <a:solidFill>
                  <a:srgbClr val="000000"/>
                </a:solidFill>
                <a:latin typeface="Arial"/>
                <a:cs typeface="Arial"/>
              </a:rPr>
              <a:t>Hình dạng quyết định tóm tắt</a:t>
            </a:r>
          </a:p>
          <a:p>
            <a:pPr marL="0" indent="0" algn="ctr">
              <a:lnSpc>
                <a:spcPct val="104000"/>
              </a:lnSpc>
              <a:spcBef>
                <a:spcPts val="300"/>
              </a:spcBef>
              <a:buNone/>
            </a:pPr>
            <a:r>
              <a:rPr lang="en-US" sz="1500" dirty="0">
                <a:solidFill>
                  <a:srgbClr val="000000"/>
                </a:solidFill>
                <a:latin typeface="Arial"/>
                <a:cs typeface="Arial"/>
              </a:rPr>
              <a:t>n mỗi cột</a:t>
            </a:r>
          </a:p>
          <a:p>
            <a:pPr marL="0" indent="0" algn="ctr">
              <a:lnSpc>
                <a:spcPct val="104000"/>
              </a:lnSpc>
              <a:spcBef>
                <a:spcPts val="300"/>
              </a:spcBef>
              <a:buNone/>
            </a:pPr>
            <a:r>
              <a:rPr lang="en-US" sz="1500" dirty="0">
                <a:solidFill>
                  <a:srgbClr val="000000"/>
                </a:solidFill>
                <a:latin typeface="Arial"/>
                <a:cs typeface="Arial"/>
              </a:rPr>
              <a:t>Đơn vị trong nhãn dòng</a:t>
            </a:r>
          </a:p>
          <a:p>
            <a:pPr marL="0" indent="0" algn="ctr">
              <a:lnSpc>
                <a:spcPct val="104000"/>
              </a:lnSpc>
              <a:spcBef>
                <a:spcPts val="300"/>
              </a:spcBef>
              <a:buNone/>
            </a:pPr>
            <a:r>
              <a:rPr lang="en-US" sz="1500" dirty="0">
                <a:solidFill>
                  <a:srgbClr val="000000"/>
                </a:solidFill>
                <a:latin typeface="Arial"/>
                <a:cs typeface="Arial"/>
              </a:rPr>
              <a:t>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Bảng 1 được tạo từ dữ liệu,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1 FLUID-ICU: các nhóm có giống nhau lúc đầu?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42256"/>
          <a:ext cx="11277600" cy="3223231"/>
        </p:xfrm>
        <a:graphic>
          <a:graphicData uri="http://schemas.openxmlformats.org/drawingml/2006/table">
            <a:tbl>
              <a:tblPr firstRow="1" bandRow="1">
                <a:tableStyleId>{5C22544A-7EE6-4342-B048-85BDC9FD1C3A}</a:tableStyleId>
              </a:tblPr>
              <a:tblGrid>
                <a:gridCol w="3759199"/>
                <a:gridCol w="2349499"/>
                <a:gridCol w="2584450"/>
                <a:gridCol w="2584452"/>
              </a:tblGrid>
              <a:tr h="629598">
                <a:tc>
                  <a:txBody>
                    <a:bodyPr/>
                    <a:lstStyle/>
                    <a:p>
                      <a:pPr algn="l"/>
                      <a:r>
                        <a:rPr lang="en-US" sz="17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Chung</a:t>
                      </a:r>
                    </a:p>
                    <a:p>
                      <a:pPr algn="l"/>
                      <a:r>
                        <a:rPr lang="en-US" sz="1700" b="1" dirty="0">
                          <a:solidFill>
                            <a:srgbClr val="FFFFFF"/>
                          </a:solidFill>
                          <a:latin typeface="Arial"/>
                          <a:cs typeface="Arial"/>
                        </a:rPr>
                        <a:t>n = 618</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Cân bằng dịch âm</a:t>
                      </a:r>
                    </a:p>
                    <a:p>
                      <a:pPr algn="l"/>
                      <a:r>
                        <a:rPr lang="en-US" sz="1700" b="1" dirty="0">
                          <a:solidFill>
                            <a:srgbClr val="FFFFFF"/>
                          </a:solidFill>
                          <a:latin typeface="Arial"/>
                          <a:cs typeface="Arial"/>
                        </a:rPr>
                        <a:t>n = 245</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Cân bằng dịch dương</a:t>
                      </a:r>
                    </a:p>
                    <a:p>
                      <a:pPr algn="l"/>
                      <a:r>
                        <a:rPr lang="en-US" sz="1700" b="1" dirty="0">
                          <a:solidFill>
                            <a:srgbClr val="FFFFFF"/>
                          </a:solidFill>
                          <a:latin typeface="Arial"/>
                          <a:cs typeface="Arial"/>
                        </a:rPr>
                        <a:t>n = 373</a:t>
                      </a:r>
                    </a:p>
                  </a:txBody>
                  <a:tcPr marL="73152" marR="73152" marT="45720" marB="45720" anchor="ctr">
                    <a:solidFill>
                      <a:srgbClr val="0D7377"/>
                    </a:solidFill>
                  </a:tcPr>
                </a:tc>
              </a:tr>
              <a:tr h="370519">
                <a:tc>
                  <a:txBody>
                    <a:bodyPr/>
                    <a:lstStyle/>
                    <a:p>
                      <a:pPr algn="l"/>
                      <a:r>
                        <a:rPr lang="en-US" sz="1700" dirty="0">
                          <a:solidFill>
                            <a:srgbClr val="000000"/>
                          </a:solidFill>
                          <a:latin typeface="Arial"/>
                          <a:cs typeface="Arial"/>
                        </a:rPr>
                        <a:t>Tuổi, năm, TB (ĐLC)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62.6 (15.2)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64.6 (15.0)</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61.4 (15.2)</a:t>
                      </a:r>
                    </a:p>
                  </a:txBody>
                  <a:tcPr marL="73152" marR="73152" marT="45720" marB="45720" anchor="ctr">
                    <a:solidFill>
                      <a:srgbClr val="FFFFFF"/>
                    </a:solidFill>
                  </a:tcPr>
                </a:tc>
              </a:tr>
              <a:tr h="370519">
                <a:tc>
                  <a:txBody>
                    <a:bodyPr/>
                    <a:lstStyle/>
                    <a:p>
                      <a:pPr algn="l"/>
                      <a:r>
                        <a:rPr lang="en-US" sz="1700" dirty="0">
                          <a:solidFill>
                            <a:srgbClr val="000000"/>
                          </a:solidFill>
                          <a:latin typeface="Arial"/>
                          <a:cs typeface="Arial"/>
                        </a:rPr>
                        <a:t>Nam giới, n (%)</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375 (61%)</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143 (58%)</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232 (62%)</a:t>
                      </a:r>
                    </a:p>
                  </a:txBody>
                  <a:tcPr marL="73152" marR="73152" marT="45720" marB="45720" anchor="ctr">
                    <a:solidFill>
                      <a:srgbClr val="F5F9FA"/>
                    </a:solidFill>
                  </a:tcPr>
                </a:tc>
              </a:tr>
              <a:tr h="370519">
                <a:tc>
                  <a:txBody>
                    <a:bodyPr/>
                    <a:lstStyle/>
                    <a:p>
                      <a:pPr algn="l"/>
                      <a:r>
                        <a:rPr lang="en-US" sz="1700" dirty="0">
                          <a:solidFill>
                            <a:srgbClr val="000000"/>
                          </a:solidFill>
                          <a:latin typeface="Arial"/>
                          <a:cs typeface="Arial"/>
                        </a:rPr>
                        <a:t>Suy tim, n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97 (16%)</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54 (22%)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43 (12%)</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Điểm SOFA, trung vị (IQR)</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7 (5, 9)</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 (4, 8)</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8 (6, 10)</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Lactate, mmol/L, trung vị (IQR)</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2.6 (1.7, 3.7)</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2.2 (1.4, 3.0)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2.9 (1.9, 4.0)</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Thuốc vận mạch, n (%)</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266 (43%)</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61 (25%)</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205 (55%)</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Thở máy, n (%)</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313 (51%)</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97 (40%)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216 (58%)</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Nhóm cân bằng dương nặng hơn ngay từ đầu: lời cảnh báo cho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Phơi nhiễm: cân bằng dịch tích lũy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phơi nhiễm liên tục, được cắt tại 0 ml/kg thành cân bằng âm và dương.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Mức độ nặng theo nhóm: cho thấy từng người bệnh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Cách đọc</a:t>
            </a:r>
          </a:p>
          <a:p>
            <a:pPr marL="274320" indent="-274320" algn="l">
              <a:spcBef>
                <a:spcPts val="440"/>
              </a:spcBef>
              <a:buFont typeface="Arial"/>
              <a:buChar char="•"/>
            </a:pPr>
            <a:r>
              <a:rPr lang="en-US" sz="1450" dirty="0">
                <a:solidFill>
                  <a:srgbClr val="000000"/>
                </a:solidFill>
                <a:latin typeface="Arial"/>
                <a:cs typeface="Arial"/>
              </a:rPr>
              <a:t>Mỗi chấm là một người bệnh</a:t>
            </a:r>
          </a:p>
          <a:p>
            <a:pPr marL="274320" indent="-274320" algn="l">
              <a:spcBef>
                <a:spcPts val="440"/>
              </a:spcBef>
              <a:buFont typeface="Arial"/>
              <a:buChar char="•"/>
            </a:pPr>
            <a:r>
              <a:rPr lang="en-US" sz="1450" dirty="0">
                <a:solidFill>
                  <a:srgbClr val="000000"/>
                </a:solidFill>
                <a:latin typeface="Arial"/>
                <a:cs typeface="Arial"/>
              </a:rPr>
              <a:t>Hộp = 50% ở giữa</a:t>
            </a:r>
          </a:p>
          <a:p>
            <a:pPr marL="274320" indent="-274320" algn="l">
              <a:spcBef>
                <a:spcPts val="440"/>
              </a:spcBef>
              <a:buFont typeface="Arial"/>
              <a:buChar char="•"/>
            </a:pPr>
            <a:r>
              <a:rPr lang="en-US" sz="1450" dirty="0">
                <a:solidFill>
                  <a:srgbClr val="000000"/>
                </a:solidFill>
                <a:latin typeface="Arial"/>
                <a:cs typeface="Arial"/>
              </a:rPr>
              <a:t>SOFA trung vị 6 so với 8</a:t>
            </a:r>
          </a:p>
          <a:p>
            <a:pPr marL="274320" indent="-274320" algn="l">
              <a:spcBef>
                <a:spcPts val="440"/>
              </a:spcBef>
              <a:buFont typeface="Arial"/>
              <a:buChar char="•"/>
            </a:pPr>
            <a:r>
              <a:rPr lang="en-US" sz="1450" dirty="0">
                <a:solidFill>
                  <a:srgbClr val="000000"/>
                </a:solidFill>
                <a:latin typeface="Arial"/>
                <a:cs typeface="Arial"/>
              </a:rPr>
              <a:t>Ca nặng hơn được truyền nhiều dịch hơn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Chấm kèm hộp cho thấy chồng lấp và dịch chuyển: nhiễu nhìn thấy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Kết cục lệch: thời gian nằm ICU ở người sống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Trung bình 7.5 so với trung vị 6.2 ngày: báo cáo trung vị và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đọc Bảng 1 của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Bảng 1 trong gói kết quả Q1 (PDF): gói nào cũng có cùng bảng này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tuổi, SOFA và vận mạch được tóm tắt bằng gì,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các nhóm có giống nhau lúc đầu không? Nêu khác biệt lớn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Cả lớp cùng viết hai câu Kết quả mô tả người bệnh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mỗi gói có thêm gì (ví dụ, Q5 có bảng riêng cho người sống)</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Kiểm tra</a:t>
            </a:r>
          </a:p>
          <a:p>
            <a:pPr marL="0" indent="0" algn="ctr">
              <a:lnSpc>
                <a:spcPct val="104000"/>
              </a:lnSpc>
              <a:spcBef>
                <a:spcPts val="300"/>
              </a:spcBef>
              <a:buNone/>
            </a:pPr>
            <a:r>
              <a:rPr lang="en-US" sz="1500" dirty="0">
                <a:solidFill>
                  <a:srgbClr val="000000"/>
                </a:solidFill>
                <a:latin typeface="Arial"/>
                <a:cs typeface="Arial"/>
              </a:rPr>
              <a:t>n mỗi cột?</a:t>
            </a:r>
          </a:p>
          <a:p>
            <a:pPr marL="0" indent="0" algn="ctr">
              <a:lnSpc>
                <a:spcPct val="104000"/>
              </a:lnSpc>
              <a:spcBef>
                <a:spcPts val="300"/>
              </a:spcBef>
              <a:buNone/>
            </a:pPr>
            <a:r>
              <a:rPr lang="en-US" sz="1500" dirty="0">
                <a:solidFill>
                  <a:srgbClr val="000000"/>
                </a:solidFill>
                <a:latin typeface="Arial"/>
                <a:cs typeface="Arial"/>
              </a:rPr>
              <a:t>Đơn vị trong nhãn?</a:t>
            </a:r>
          </a:p>
          <a:p>
            <a:pPr marL="0" indent="0" algn="ctr">
              <a:lnSpc>
                <a:spcPct val="104000"/>
              </a:lnSpc>
              <a:spcBef>
                <a:spcPts val="300"/>
              </a:spcBef>
              <a:buNone/>
            </a:pPr>
            <a:r>
              <a:rPr lang="en-US" sz="1500" dirty="0">
                <a:solidFill>
                  <a:srgbClr val="000000"/>
                </a:solidFill>
                <a:latin typeface="Arial"/>
                <a:cs typeface="Arial"/>
              </a:rPr>
              <a:t>Trung vị cho biến lệch?</a:t>
            </a:r>
          </a:p>
          <a:p>
            <a:pPr marL="0" indent="0" algn="ctr">
              <a:lnSpc>
                <a:spcPct val="104000"/>
              </a:lnSpc>
              <a:spcBef>
                <a:spcPts val="300"/>
              </a:spcBef>
              <a:buNone/>
            </a:pPr>
            <a:r>
              <a:rPr lang="en-US" sz="1500" dirty="0">
                <a:solidFill>
                  <a:srgbClr val="000000"/>
                </a:solidFill>
                <a:latin typeface="Arial"/>
                <a:cs typeface="Arial"/>
              </a:rPr>
              <a:t>Có 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Hai câu Kết quả mô tả người bệnh FLUID-ICU (Bài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5: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Làm mẫu trên ví dụ xuyên suốt (một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Bảng biến số</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Kết cục: tử vong 28 ngày (nhị phân)</a:t>
            </a:r>
          </a:p>
          <a:p>
            <a:pPr marL="0" indent="0" algn="ctr">
              <a:lnSpc>
                <a:spcPct val="104000"/>
              </a:lnSpc>
              <a:spcBef>
                <a:spcPts val="400"/>
              </a:spcBef>
              <a:buNone/>
            </a:pPr>
            <a:r>
              <a:rPr lang="en-US" sz="1600" dirty="0">
                <a:solidFill>
                  <a:srgbClr val="000000"/>
                </a:solidFill>
                <a:latin typeface="Arial"/>
                <a:cs typeface="Arial"/>
              </a:rPr>
              <a:t>Phơi nhiễm: hạn chế dịch so với thường quy</a:t>
            </a:r>
          </a:p>
          <a:p>
            <a:pPr marL="0" indent="0" algn="ctr">
              <a:lnSpc>
                <a:spcPct val="104000"/>
              </a:lnSpc>
              <a:spcBef>
                <a:spcPts val="400"/>
              </a:spcBef>
              <a:buNone/>
            </a:pPr>
            <a:r>
              <a:rPr lang="en-US" sz="1600" dirty="0">
                <a:solidFill>
                  <a:srgbClr val="000000"/>
                </a:solidFill>
                <a:latin typeface="Arial"/>
                <a:cs typeface="Arial"/>
              </a:rPr>
              <a:t>Yếu tố gây nhiễu: tuổi, SOFA, lactat</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CRF thu gọn</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6 đến 10 mục</a:t>
            </a:r>
          </a:p>
          <a:p>
            <a:pPr marL="0" indent="0" algn="ctr">
              <a:lnSpc>
                <a:spcPct val="104000"/>
              </a:lnSpc>
              <a:spcBef>
                <a:spcPts val="400"/>
              </a:spcBef>
              <a:buNone/>
            </a:pPr>
            <a:r>
              <a:rPr lang="en-US" sz="1600" dirty="0">
                <a:solidFill>
                  <a:srgbClr val="000000"/>
                </a:solidFill>
                <a:latin typeface="Arial"/>
                <a:cs typeface="Arial"/>
              </a:rPr>
              <a:t>Có đơn vị và thời điểm</a:t>
            </a:r>
          </a:p>
          <a:p>
            <a:pPr marL="0" indent="0" algn="ctr">
              <a:lnSpc>
                <a:spcPct val="104000"/>
              </a:lnSpc>
              <a:spcBef>
                <a:spcPts val="400"/>
              </a:spcBef>
              <a:buNone/>
            </a:pPr>
            <a:r>
              <a:rPr lang="en-US" sz="1600" dirty="0">
                <a:solidFill>
                  <a:srgbClr val="000000"/>
                </a:solidFill>
                <a:latin typeface="Arial"/>
                <a:cs typeface="Arial"/>
              </a:rPr>
              <a:t>Có lựa chọn 'không rõ'</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Từ điển dữ liệu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3 đến 5 dòng</a:t>
            </a:r>
          </a:p>
          <a:p>
            <a:pPr marL="0" indent="0" algn="ctr">
              <a:lnSpc>
                <a:spcPct val="104000"/>
              </a:lnSpc>
              <a:spcBef>
                <a:spcPts val="400"/>
              </a:spcBef>
              <a:buNone/>
            </a:pPr>
            <a:r>
              <a:rPr lang="en-US" sz="1600" dirty="0">
                <a:solidFill>
                  <a:srgbClr val="000000"/>
                </a:solidFill>
                <a:latin typeface="Arial"/>
                <a:cs typeface="Arial"/>
              </a:rPr>
              <a:t>Tên, nhãn, loại, đơn vị hoặc mã</a:t>
            </a:r>
          </a:p>
          <a:p>
            <a:pPr marL="0" indent="0" algn="ctr">
              <a:lnSpc>
                <a:spcPct val="104000"/>
              </a:lnSpc>
              <a:spcBef>
                <a:spcPts val="400"/>
              </a:spcBef>
              <a:buNone/>
            </a:pPr>
            <a:r>
              <a:rPr lang="en-US" sz="1600" dirty="0">
                <a:solidFill>
                  <a:srgbClr val="000000"/>
                </a:solidFill>
                <a:latin typeface="Arial"/>
                <a:cs typeface="Arial"/>
              </a:rPr>
              <a:t>Giá trị cho phép</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Quản lý dữ liệu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Thu thập điện tử (EDC) hoặc nhập liệu kép</a:t>
            </a:r>
          </a:p>
          <a:p>
            <a:pPr marL="0" indent="0" algn="ctr">
              <a:lnSpc>
                <a:spcPct val="104000"/>
              </a:lnSpc>
              <a:spcBef>
                <a:spcPts val="400"/>
              </a:spcBef>
              <a:buNone/>
            </a:pPr>
            <a:r>
              <a:rPr lang="en-US" sz="1600" dirty="0">
                <a:solidFill>
                  <a:srgbClr val="000000"/>
                </a:solidFill>
                <a:latin typeface="Arial"/>
                <a:cs typeface="Arial"/>
              </a:rPr>
              <a:t>Mã số nghiên cứu và nhật ký thay đổi</a:t>
            </a:r>
          </a:p>
          <a:p>
            <a:pPr marL="0" indent="0" algn="ctr">
              <a:lnSpc>
                <a:spcPct val="104000"/>
              </a:lnSpc>
              <a:spcBef>
                <a:spcPts val="400"/>
              </a:spcBef>
              <a:buNone/>
            </a:pPr>
            <a:r>
              <a:rPr lang="en-US" sz="1600" dirty="0">
                <a:solidFill>
                  <a:srgbClr val="000000"/>
                </a:solidFill>
                <a:latin typeface="Arial"/>
                <a:cs typeface="Arial"/>
              </a:rPr>
              <a:t>Sao lưu và tuyên bố chia sẻ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Hôm nay: sẽ thu thập gì và giữ an toàn dữ liệu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5: biến số, CRF và quản lý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Giảng viên làm mẫu trực tiếp từng phần trên ví dụ xuyên suốt (18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Bảng biến số, CRF thu gọn, các dòng từ điển dữ liệu, kế hoạch quản lý dữ liệu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Sau đó anh chị tự viết bảng biến số vào mẫu đề cương của mình (10 phút, làm riêng)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Hỏi đáp (2 phút): giơ tay hoặc dùng khung chat. Các phần còn lại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Dùng các công cụ này</a:t>
            </a:r>
          </a:p>
          <a:p>
            <a:pPr marL="0" indent="0" algn="ctr">
              <a:lnSpc>
                <a:spcPct val="104000"/>
              </a:lnSpc>
              <a:spcBef>
                <a:spcPts val="300"/>
              </a:spcBef>
              <a:buNone/>
            </a:pPr>
            <a:r>
              <a:rPr lang="en-US" sz="1500" dirty="0">
                <a:solidFill>
                  <a:srgbClr val="000000"/>
                </a:solidFill>
                <a:latin typeface="Arial"/>
                <a:cs typeface="Arial"/>
              </a:rPr>
              <a:t>Thẻ loại biến số (5.1)</a:t>
            </a:r>
          </a:p>
          <a:p>
            <a:pPr marL="0" indent="0" algn="ctr">
              <a:lnSpc>
                <a:spcPct val="104000"/>
              </a:lnSpc>
              <a:spcBef>
                <a:spcPts val="300"/>
              </a:spcBef>
              <a:buNone/>
            </a:pPr>
            <a:r>
              <a:rPr lang="en-US" sz="1500" dirty="0">
                <a:solidFill>
                  <a:srgbClr val="000000"/>
                </a:solidFill>
                <a:latin typeface="Arial"/>
                <a:cs typeface="Arial"/>
              </a:rPr>
              <a:t>Mục CRF tốt và chưa tốt</a:t>
            </a:r>
          </a:p>
          <a:p>
            <a:pPr marL="0" indent="0" algn="ctr">
              <a:lnSpc>
                <a:spcPct val="104000"/>
              </a:lnSpc>
              <a:spcBef>
                <a:spcPts val="300"/>
              </a:spcBef>
              <a:buNone/>
            </a:pPr>
            <a:r>
              <a:rPr lang="en-US" sz="1500" dirty="0">
                <a:solidFill>
                  <a:srgbClr val="000000"/>
                </a:solidFill>
                <a:latin typeface="Arial"/>
                <a:cs typeface="Arial"/>
              </a:rPr>
              <a:t>Từ điển dữ liệu FLUID-ICU</a:t>
            </a:r>
          </a:p>
          <a:p>
            <a:pPr marL="0" indent="0" algn="ctr">
              <a:lnSpc>
                <a:spcPct val="104000"/>
              </a:lnSpc>
              <a:spcBef>
                <a:spcPts val="300"/>
              </a:spcBef>
              <a:buNone/>
            </a:pPr>
            <a:r>
              <a:rPr lang="en-US" sz="1500" dirty="0">
                <a:solidFill>
                  <a:srgbClr val="000000"/>
                </a:solidFill>
                <a:latin typeface="Arial"/>
                <a:cs typeface="Arial"/>
              </a:rPr>
              <a:t>Phiếu bài tập: Bài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Đề cương của chính anh chị, Phần 3 (nửa đầu): bắt đầu bảng biến số trên lớp, phần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 thập</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Loại biến số</a:t>
            </a:r>
          </a:p>
          <a:p>
            <a:pPr marL="0" indent="0" algn="ctr">
              <a:lnSpc>
                <a:spcPct val="104000"/>
              </a:lnSpc>
              <a:spcBef>
                <a:spcPts val="400"/>
              </a:spcBef>
              <a:buNone/>
            </a:pPr>
            <a:r>
              <a:rPr lang="en-US" sz="1600" dirty="0">
                <a:solidFill>
                  <a:srgbClr val="000000"/>
                </a:solidFill>
                <a:latin typeface="Arial"/>
                <a:cs typeface="Arial"/>
              </a:rPr>
              <a:t>CRF</a:t>
            </a:r>
          </a:p>
          <a:p>
            <a:pPr marL="0" indent="0" algn="ctr">
              <a:lnSpc>
                <a:spcPct val="104000"/>
              </a:lnSpc>
              <a:spcBef>
                <a:spcPts val="400"/>
              </a:spcBef>
              <a:buNone/>
            </a:pPr>
            <a:r>
              <a:rPr lang="en-US" sz="1600" dirty="0">
                <a:solidFill>
                  <a:srgbClr val="000000"/>
                </a:solidFill>
                <a:latin typeface="Arial"/>
                <a:cs typeface="Arial"/>
              </a:rPr>
              <a:t>Từ điển dữ liệu</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Quy tắc kiểm tra</a:t>
            </a:r>
          </a:p>
          <a:p>
            <a:pPr marL="0" indent="0" algn="ctr">
              <a:lnSpc>
                <a:spcPct val="104000"/>
              </a:lnSpc>
              <a:spcBef>
                <a:spcPts val="400"/>
              </a:spcBef>
              <a:buNone/>
            </a:pPr>
            <a:r>
              <a:rPr lang="en-US" sz="1600" dirty="0">
                <a:solidFill>
                  <a:srgbClr val="000000"/>
                </a:solidFill>
                <a:latin typeface="Arial"/>
                <a:cs typeface="Arial"/>
              </a:rPr>
              <a:t>Nhật ký thay đổi</a:t>
            </a:r>
          </a:p>
          <a:p>
            <a:pPr marL="0" indent="0" algn="ctr">
              <a:lnSpc>
                <a:spcPct val="104000"/>
              </a:lnSpc>
              <a:spcBef>
                <a:spcPts val="400"/>
              </a:spcBef>
              <a:buNone/>
            </a:pPr>
            <a:r>
              <a:rPr lang="en-US" sz="1600" dirty="0">
                <a:solidFill>
                  <a:srgbClr val="000000"/>
                </a:solidFill>
                <a:latin typeface="Arial"/>
                <a:cs typeface="Arial"/>
              </a:rPr>
              <a:t>Nhật ký làm sạch</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tả</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Trung vị (IQR)</a:t>
            </a:r>
          </a:p>
          <a:p>
            <a:pPr marL="0" indent="0" algn="ctr">
              <a:lnSpc>
                <a:spcPct val="104000"/>
              </a:lnSpc>
              <a:spcBef>
                <a:spcPts val="400"/>
              </a:spcBef>
              <a:buNone/>
            </a:pPr>
            <a:r>
              <a:rPr lang="en-US" sz="1600" dirty="0">
                <a:solidFill>
                  <a:srgbClr val="000000"/>
                </a:solidFill>
                <a:latin typeface="Arial"/>
                <a:cs typeface="Arial"/>
              </a:rPr>
              <a:t>Trung bình (SD)</a:t>
            </a:r>
          </a:p>
          <a:p>
            <a:pPr marL="0" indent="0" algn="ctr">
              <a:lnSpc>
                <a:spcPct val="104000"/>
              </a:lnSpc>
              <a:spcBef>
                <a:spcPts val="400"/>
              </a:spcBef>
              <a:buNone/>
            </a:pPr>
            <a:r>
              <a:rPr lang="en-US" sz="1600" dirty="0">
                <a:solidFill>
                  <a:srgbClr val="000000"/>
                </a:solidFill>
                <a:latin typeface="Arial"/>
                <a:cs typeface="Arial"/>
              </a:rPr>
              <a:t>Phân phối lệch</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Trình bày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Bảng 1</a:t>
            </a:r>
          </a:p>
          <a:p>
            <a:pPr marL="0" indent="0" algn="ctr">
              <a:lnSpc>
                <a:spcPct val="104000"/>
              </a:lnSpc>
              <a:spcBef>
                <a:spcPts val="400"/>
              </a:spcBef>
              <a:buNone/>
            </a:pPr>
            <a:r>
              <a:rPr lang="en-US" sz="1600" dirty="0">
                <a:solidFill>
                  <a:srgbClr val="000000"/>
                </a:solidFill>
                <a:latin typeface="Arial"/>
                <a:cs typeface="Arial"/>
              </a:rPr>
              <a:t>Chấm + hộp</a:t>
            </a:r>
          </a:p>
          <a:p>
            <a:pPr marL="0" indent="0" algn="ctr">
              <a:lnSpc>
                <a:spcPct val="104000"/>
              </a:lnSpc>
              <a:spcBef>
                <a:spcPts val="400"/>
              </a:spcBef>
              <a:buNone/>
            </a:pPr>
            <a:r>
              <a:rPr lang="en-US" sz="1600" dirty="0">
                <a:solidFill>
                  <a:srgbClr val="000000"/>
                </a:solidFill>
                <a:latin typeface="Arial"/>
                <a:cs typeface="Arial"/>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Thiết kế dữ liệu</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Mục CRF rõ ràng</a:t>
            </a:r>
          </a:p>
          <a:p>
            <a:pPr marL="0" indent="0" algn="ctr">
              <a:lnSpc>
                <a:spcPct val="104000"/>
              </a:lnSpc>
              <a:spcBef>
                <a:spcPts val="400"/>
              </a:spcBef>
              <a:buNone/>
            </a:pPr>
            <a:r>
              <a:rPr lang="en-US" sz="1750" dirty="0">
                <a:solidFill>
                  <a:srgbClr val="000000"/>
                </a:solidFill>
                <a:latin typeface="Arial"/>
                <a:cs typeface="Arial"/>
              </a:rPr>
              <a:t>Từ điển dữ liệu trước</a:t>
            </a:r>
          </a:p>
          <a:p>
            <a:pPr marL="0" indent="0" algn="ctr">
              <a:lnSpc>
                <a:spcPct val="104000"/>
              </a:lnSpc>
              <a:spcBef>
                <a:spcPts val="400"/>
              </a:spcBef>
              <a:buNone/>
            </a:pPr>
            <a:r>
              <a:rPr lang="en-US" sz="1750" dirty="0">
                <a:solidFill>
                  <a:srgbClr val="000000"/>
                </a:solidFill>
                <a:latin typeface="Arial"/>
                <a:cs typeface="Arial"/>
              </a:rPr>
              <a:t>Kiểm tra khi nhập</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Giữ dữ liệu sạch</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Không sửa dữ liệu gốc</a:t>
            </a:r>
          </a:p>
          <a:p>
            <a:pPr marL="0" indent="0" algn="ctr">
              <a:lnSpc>
                <a:spcPct val="104000"/>
              </a:lnSpc>
              <a:spcBef>
                <a:spcPts val="400"/>
              </a:spcBef>
              <a:buNone/>
            </a:pPr>
            <a:r>
              <a:rPr lang="en-US" sz="1750" dirty="0">
                <a:solidFill>
                  <a:srgbClr val="000000"/>
                </a:solidFill>
                <a:latin typeface="Arial"/>
                <a:cs typeface="Arial"/>
              </a:rPr>
              <a:t>Ghi lại mọi chỉnh sửa</a:t>
            </a:r>
          </a:p>
          <a:p>
            <a:pPr marL="0" indent="0" algn="ctr">
              <a:lnSpc>
                <a:spcPct val="104000"/>
              </a:lnSpc>
              <a:spcBef>
                <a:spcPts val="400"/>
              </a:spcBef>
              <a:buNone/>
            </a:pPr>
            <a:r>
              <a:rPr lang="en-US" sz="1750" dirty="0">
                <a:solidFill>
                  <a:srgbClr val="000000"/>
                </a:solidFill>
                <a:latin typeface="Arial"/>
                <a:cs typeface="Arial"/>
              </a:rPr>
              <a:t>Sao lưu, mã số</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Mô tả trung thực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Hình dạng quyết định tóm tắt</a:t>
            </a:r>
          </a:p>
          <a:p>
            <a:pPr marL="0" indent="0" algn="ctr">
              <a:lnSpc>
                <a:spcPct val="104000"/>
              </a:lnSpc>
              <a:spcBef>
                <a:spcPts val="400"/>
              </a:spcBef>
              <a:buNone/>
            </a:pPr>
            <a:r>
              <a:rPr lang="en-US" sz="1750" dirty="0">
                <a:solidFill>
                  <a:srgbClr val="000000"/>
                </a:solidFill>
                <a:latin typeface="Arial"/>
                <a:cs typeface="Arial"/>
              </a:rPr>
              <a:t>Cho thấy từng người bệnh</a:t>
            </a:r>
          </a:p>
          <a:p>
            <a:pPr marL="0" indent="0" algn="ctr">
              <a:lnSpc>
                <a:spcPct val="104000"/>
              </a:lnSpc>
              <a:spcBef>
                <a:spcPts val="400"/>
              </a:spcBef>
              <a:buNone/>
            </a:pPr>
            <a:r>
              <a:rPr lang="en-US" sz="1750" dirty="0">
                <a:solidFill>
                  <a:srgbClr val="000000"/>
                </a:solidFill>
                <a:latin typeface="Arial"/>
                <a:cs typeface="Arial"/>
              </a:rPr>
              <a:t>Bảng 1 tự giải thích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tích tốt bắt đầu từ dữ liệu tốt, được mô tả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Từ khóa và tóm tắt (hai trang trước)</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một lỗi chất lượng dữ liệu tìm thấy trong FLUID-ICU, và cách sửa</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Về nhà: hoàn thành Phần 3 (nửa đầu) đề cương của chính anh chị</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Xem qua năm gói kết quả. Anh chị chọn câu hỏi vào cuối Buổi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Thứ Bảy tuần sau: Buổi 6</a:t>
            </a:r>
          </a:p>
          <a:p>
            <a:pPr marL="0" indent="0" algn="ctr">
              <a:lnSpc>
                <a:spcPct val="104000"/>
              </a:lnSpc>
              <a:spcBef>
                <a:spcPts val="300"/>
              </a:spcBef>
              <a:buNone/>
            </a:pPr>
            <a:r>
              <a:rPr lang="en-US" sz="1500" dirty="0">
                <a:solidFill>
                  <a:srgbClr val="000000"/>
                </a:solidFill>
                <a:latin typeface="Arial"/>
                <a:cs typeface="Arial"/>
              </a:rPr>
              <a:t>Khoảng tin cậy, giá trị p</a:t>
            </a:r>
          </a:p>
          <a:p>
            <a:pPr marL="0" indent="0" algn="ctr">
              <a:lnSpc>
                <a:spcPct val="104000"/>
              </a:lnSpc>
              <a:spcBef>
                <a:spcPts val="300"/>
              </a:spcBef>
              <a:buNone/>
            </a:pPr>
            <a:r>
              <a:rPr lang="en-US" sz="1500" dirty="0">
                <a:solidFill>
                  <a:srgbClr val="000000"/>
                </a:solidFill>
                <a:latin typeface="Arial"/>
                <a:cs typeface="Arial"/>
              </a:rPr>
              <a:t>Chọn kiểm định</a:t>
            </a:r>
          </a:p>
          <a:p>
            <a:pPr marL="0" indent="0" algn="ctr">
              <a:lnSpc>
                <a:spcPct val="104000"/>
              </a:lnSpc>
              <a:spcBef>
                <a:spcPts val="300"/>
              </a:spcBef>
              <a:buNone/>
            </a:pPr>
            <a:r>
              <a:rPr lang="en-US" sz="1500" dirty="0">
                <a:solidFill>
                  <a:srgbClr val="000000"/>
                </a:solidFill>
                <a:latin typeface="Arial"/>
                <a:cs typeface="Arial"/>
              </a:rPr>
              <a:t>Hồi quy và sống còn</a:t>
            </a:r>
          </a:p>
          <a:p>
            <a:pPr marL="0" indent="0" algn="ctr">
              <a:lnSpc>
                <a:spcPct val="104000"/>
              </a:lnSpc>
              <a:spcBef>
                <a:spcPts val="300"/>
              </a:spcBef>
              <a:buNone/>
            </a:pPr>
            <a:r>
              <a:rPr lang="en-US" sz="1500" dirty="0">
                <a:solidFill>
                  <a:srgbClr val="000000"/>
                </a:solidFill>
                <a:latin typeface="Arial"/>
                <a:cs typeface="Arial"/>
              </a:rPr>
              <a:t>Dữ liệu bị thiếu</a:t>
            </a:r>
          </a:p>
          <a:p>
            <a:pPr marL="0" indent="0" algn="ctr">
              <a:lnSpc>
                <a:spcPct val="104000"/>
              </a:lnSpc>
              <a:spcBef>
                <a:spcPts val="300"/>
              </a:spcBef>
              <a:buNone/>
            </a:pPr>
            <a:r>
              <a:rPr lang="en-US" sz="1500" dirty="0">
                <a:solidFill>
                  <a:srgbClr val="000000"/>
                </a:solidFill>
                <a:latin typeface="Arial"/>
                <a:cs typeface="Arial"/>
              </a:rPr>
              <a:t>Năm câu hỏi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trong khung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Trang bổ sung: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Trang bổ sung: dùng nếu còn thời gian, hoặc để tự học.</a:t>
            </a:r>
          </a:p>
          <a:p>
            <a:pPr marL="0" indent="0" algn="ctr">
              <a:spcBef>
                <a:spcPts val="1200"/>
              </a:spcBef>
              <a:buNone/>
            </a:pPr>
            <a:r>
              <a:rPr lang="en-US" sz="1900" i="1" dirty="0">
                <a:solidFill>
                  <a:srgbClr val="595959"/>
                </a:solidFill>
                <a:latin typeface="Arial"/>
                <a:cs typeface="Arial"/>
              </a:rPr>
              <a:t>Không bắt buộc để theo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Mã hóa, phiên bản, sao lưu và chia sẻ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thói quen bảo vệ dữ liệu và bài báo tương lai của anh chị.</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Mã hóa</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mã, không văn bản tự do</a:t>
            </a:r>
          </a:p>
          <a:p>
            <a:pPr marL="0" indent="0" algn="ctr">
              <a:lnSpc>
                <a:spcPct val="104000"/>
              </a:lnSpc>
              <a:spcBef>
                <a:spcPts val="400"/>
              </a:spcBef>
              <a:buNone/>
            </a:pPr>
            <a:r>
              <a:rPr lang="en-US" sz="1600" dirty="0">
                <a:solidFill>
                  <a:srgbClr val="000000"/>
                </a:solidFill>
                <a:latin typeface="Arial"/>
                <a:cs typeface="Arial"/>
              </a:rPr>
              <a:t>Mã nghiên cứu, không ghi tên</a:t>
            </a:r>
          </a:p>
          <a:p>
            <a:pPr marL="0" indent="0" algn="ctr">
              <a:lnSpc>
                <a:spcPct val="104000"/>
              </a:lnSpc>
              <a:spcBef>
                <a:spcPts val="400"/>
              </a:spcBef>
              <a:buNone/>
            </a:pPr>
            <a:r>
              <a:rPr lang="en-US" sz="1600" dirty="0">
                <a:solidFill>
                  <a:srgbClr val="000000"/>
                </a:solidFill>
                <a:latin typeface="Arial"/>
                <a:cs typeface="Arial"/>
              </a:rPr>
              <a:t>Mã có trong từ điển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Phiên bản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Tệp gốc: chỉ đọc</a:t>
            </a:r>
          </a:p>
          <a:p>
            <a:pPr marL="0" indent="0" algn="ctr">
              <a:lnSpc>
                <a:spcPct val="104000"/>
              </a:lnSpc>
              <a:spcBef>
                <a:spcPts val="400"/>
              </a:spcBef>
              <a:buNone/>
            </a:pPr>
            <a:r>
              <a:rPr lang="en-US" sz="1600" dirty="0">
                <a:solidFill>
                  <a:srgbClr val="000000"/>
                </a:solidFill>
                <a:latin typeface="Arial"/>
                <a:cs typeface="Arial"/>
              </a:rPr>
              <a:t>Bản sao có ghi ngày, ví dụ data_2026-03-12_v2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Sao lưu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3 bản trên 2 loại phương tiện</a:t>
            </a:r>
          </a:p>
          <a:p>
            <a:pPr marL="0" indent="0" algn="ctr">
              <a:lnSpc>
                <a:spcPct val="104000"/>
              </a:lnSpc>
              <a:spcBef>
                <a:spcPts val="400"/>
              </a:spcBef>
              <a:buNone/>
            </a:pPr>
            <a:r>
              <a:rPr lang="en-US" sz="1600" dirty="0">
                <a:solidFill>
                  <a:srgbClr val="000000"/>
                </a:solidFill>
                <a:latin typeface="Arial"/>
                <a:cs typeface="Arial"/>
              </a:rPr>
              <a:t>1 bản ở nơi khác, được mã hóa</a:t>
            </a:r>
          </a:p>
          <a:p>
            <a:pPr marL="0" indent="0" algn="ctr">
              <a:lnSpc>
                <a:spcPct val="104000"/>
              </a:lnSpc>
              <a:spcBef>
                <a:spcPts val="400"/>
              </a:spcBef>
              <a:buNone/>
            </a:pPr>
            <a:r>
              <a:rPr lang="en-US" sz="1600" dirty="0">
                <a:solidFill>
                  <a:srgbClr val="000000"/>
                </a:solidFill>
                <a:latin typeface="Arial"/>
                <a:cs typeface="Arial"/>
              </a:rPr>
              <a:t>Thử khôi phục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Chia sẻ dữ liệu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Tạp chí yêu cầu tuyên bố chia sẻ dữ liệu</a:t>
            </a:r>
          </a:p>
          <a:p>
            <a:pPr marL="0" indent="0" algn="ctr">
              <a:lnSpc>
                <a:spcPct val="104000"/>
              </a:lnSpc>
              <a:spcBef>
                <a:spcPts val="400"/>
              </a:spcBef>
              <a:buNone/>
            </a:pPr>
            <a:r>
              <a:rPr lang="en-US" sz="1600" dirty="0">
                <a:solidFill>
                  <a:srgbClr val="000000"/>
                </a:solidFill>
                <a:latin typeface="Arial"/>
                <a:cs typeface="Arial"/>
              </a:rPr>
              <a:t>Lên kế hoạch từ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bao giờ sửa tệp gốc: giữ, sao chép, ghi ngày, sao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Ba lỗi biểu đồ nữa và cách sửa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Cột bắt đầu từ 0, mỗi biểu đồ một trục, và không dùng hiệu ứng 3-D.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