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Nếu câu hỏi cuối Buổi 1 cho thấy nhiều động từ mơ hồ, dành một phút cho mục tiêu.</a:t>
            </a:r>
          </a:p>
          <a:p>
            <a:r>
              <a:rPr lang="en-US" sz="1400" b="0" dirty="0"/>
              <a:t>Kiểm tra trong chat: đã có câu hỏi PICO, danh sách từ đồng nghĩa và Zotero. Dán link phiếu bài tập Buổi 2 và tệp PDF gốc của Bài báo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Gõ câu trả lời vào chat: 6 phút, rồi mời 2-3 người. Đáp án ở slide sau.</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chọn: đúng bao nhiêu câu (0-3, 4 hay 5)? Nếu nhiều người sai câu 4 hoặc 5, dành một phút cho động từ đo được và H0.</a:t>
            </a:r>
          </a:p>
          <a:p>
            <a:r>
              <a:rPr lang="en-US" sz="1400" b="0" dirty="0"/>
              <a:t>Thời gian: 2 phút. Phần 2.1 bắt đầu lúc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2.1: 19:40-20:20.</a:t>
            </a:r>
          </a:p>
          <a:p>
            <a:r>
              <a:rPr lang="en-US" sz="1400" b="0" dirty="0"/>
              <a:t>Hỏi: 'Khi cần bằng chứng gấp, bạn thường làm gì?' Google, hỏi đồng nghiệp, hướng dẫn: được cho chăm sóc, nhưng đề cương cần một lần tìm kiếm có ghi chép.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bước cuối do người đọc làm, không phải máy tính.</a:t>
            </a:r>
          </a:p>
          <a:p>
            <a:r>
              <a:rPr lang="en-US" sz="1400" b="0" dirty="0"/>
              <a:t>Hỏi: 'Vì sao phải ghi ngày và chuỗi tìm kiếm?' Mong đợi: để lặp lại được.</a:t>
            </a:r>
          </a:p>
          <a:p>
            <a:r>
              <a:rPr lang="en-US" sz="1400" b="0" dirty="0"/>
              <a:t>Quy mô PubMed: 'hơn 40 triệu trích dẫn' (trang About của PubMed, kiểm tra ngày 19/10/2026). Kiểm tra lại trước khi dạy.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loại cả bài tốt chỉ nhắc thuật ngữ một lần, nên ít dùng. Gõ toán tử bằng chữ in hoa và dùng ngoặc.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4 Loại mọi bài có nhắc đến trẻ em, kể cả nghiên cứu tốt ở người lớn.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Tìm một thuật ngữ MeSH thì tìm cả các thuật ngữ hẹp hơn bên dưới. Bài mới có thể chưa được gắn MeSH, nên thêm từ [tiab].</a:t>
            </a:r>
          </a:p>
          <a:p>
            <a:r>
              <a:rPr lang="en-US" sz="1400" b="0" dirty="0"/>
              <a:t>Hỏi: 'Vì sao MeSH giúp điều dưỡng tìm về loét tì đè?' Mong đợi: một tiêu đề gom pressure ulcer, bedsore, decubitus ulcer.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nhanh ba cách. Phần trình diễn dùng cách 2. Đọc định nghĩa của tiêu đề trước khi dùng.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Cắt cụt (truncation). Ví dụ: child* tìm được child, children, childhood. Lưu ý: nó cũng tìm ra childbirth, và từ cắt cụt không được ánh xạ sang MeSH.</a:t>
            </a:r>
          </a:p>
          <a:p>
            <a:r>
              <a:rPr lang="en-US" sz="1400" b="0" dirty="0"/>
              <a:t>Không lọc 'free full text': sẽ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Bỏ khối so sánh: cách viết quá khác nhau.</a:t>
            </a:r>
          </a:p>
          <a:p>
            <a:r>
              <a:rPr lang="en-US" sz="1400" b="0" dirty="0"/>
              <a:t>Hỏi: 'Tác giả còn dùng từ nào cho restrictive?' Mong đợi: conservative, limited, de-resuscitation,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 và O cùng một ý, nên một khối chứa cả hai.</a:t>
            </a:r>
          </a:p>
          <a:p>
            <a:r>
              <a:rPr lang="en-US" sz="1400" b="0" dirty="0"/>
              <a:t>Hỏi: 'Từ khác cho repositioning?' Mong đợi: turning, position change, offloading.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và báo cáo tìm kiếm trên PubMed. Dùng 'Cited by' của Scholar để tìm bài mới hơn và kiểm tra không sót bài.</a:t>
            </a:r>
          </a:p>
          <a:p>
            <a:r>
              <a:rPr lang="en-US" sz="1400" b="0" dirty="0"/>
              <a:t>Hỏi: 'Đồng nghiệp tìm được một bài rất hợp trên Google Scholar. Cần kiểm tra gì?' Mong đợi: đã bình duyệt hay là preprint, tạp chí có uy tín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Nếu đã có tổng quan tốt, gần đây trả lời câu hỏi của bạn, hãy dựa vào đó. Nếu chưa có hoặc đã cũ, khoảng trống đó là một phần lý do nghiên cứu.</a:t>
            </a:r>
          </a:p>
          <a:p>
            <a:r>
              <a:rPr lang="en-US" sz="1400" b="0" dirty="0"/>
              <a:t>Hỏi: 'Có ai từng bắt đầu một dự án rồi mới thấy người khác đã làm rồi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A. Nói chậm để mọi người ghi số kết quả.</a:t>
            </a:r>
          </a:p>
          <a:p>
            <a:r>
              <a:rPr lang="en-US" sz="1400" b="0" dirty="0"/>
              <a:t>CLASSIC (lần đầu nhắc đến): Meyhoff, NEJM 2022, 1554 người lớn, tử vong 90 ngày không thay đổi. Nói điều này khi bài xuất hiện trong kết quả.</a:t>
            </a:r>
          </a:p>
          <a:p>
            <a:r>
              <a:rPr lang="en-US" sz="1400" b="0" dirty="0"/>
              <a:t>Không hứa trước số kết quả. Nếu mất mạng, chuyển sang ảnh chụp màn hình.</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người tự viết chuỗi. Sau 4 phút, mời 2-3 người đọc. Gõ lên màn hình và hỏi lớp thêm một từ đồng nghĩa.</a:t>
            </a:r>
          </a:p>
          <a:p>
            <a:r>
              <a:rPr lang="en-US" sz="1400" b="0" dirty="0"/>
              <a:t>Chú ý: thiếu ngoặc, trộn AND và OR trong một khối, có khối so sánh, dùng NOT không có lý do.</a:t>
            </a:r>
          </a:p>
          <a:p>
            <a:r>
              <a:rPr lang="en-US" sz="1400" b="0" dirty="0"/>
              <a:t>Thời gian: 5 phút. Phần 2.1 kết thúc lúc 20:20.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2.2: 20:20-20:40.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dùng Zotero. Lưu ngay chỉ mất vài giây, làm lại danh sách mất hàng giờ.</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nào cũng nêu kiểu trích dẫn trong hướng dẫn cho tác giả. Trích dẫn nghiên cứu gốc cho dữ kiện, không trích tổng quan nhắc lại nó.</a:t>
            </a:r>
          </a:p>
          <a:p>
            <a:r>
              <a:rPr lang="en-US" sz="1400" b="0" dirty="0"/>
              <a:t>Hỏi: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B. Mọi người làm lại từng bước trên máy mình. Ai bị lỗi Zotero thì xem trước, sửa sau với giảng viên thứ hai.</a:t>
            </a:r>
          </a:p>
          <a:p>
            <a:r>
              <a:rPr lang="en-US" sz="1400" b="0" dirty="0"/>
              <a:t>Nếu Zotero của giảng viên lỗi, chiếu ảnh chụp màn hình.</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Viết chắp vá (patchwriting) là đạo văn, dù có trích dẫn. Cách làm: đọc, gấp bài báo, viết theo trí nhớ, kiểm tra, trích dẫn.</a:t>
            </a:r>
          </a:p>
          <a:p>
            <a:r>
              <a:rPr lang="en-US" sz="1400" b="0" dirty="0"/>
              <a:t>Hỏi: 'Chép phần Phương pháp từ bài báo cũ của chính mình có được không?' Mong đợi: đó là tái sử dụng văn bản, xem chính sách của tạp chí.</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không cần trích dẫn. Dữ kiện và con số cụ thể thì cần. Kiểm tra mọi tài liệu do AI gợi ý trên PubMed.</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2 Được, nhưng hiếm. 3 Không được, cần trích dẫn. 4 Không được, đọc và trích dẫn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âm tính ít được công bố hơn (sai lệch xuất bản), nên cần tìm cả phần dưới mặt nước.</a:t>
            </a:r>
          </a:p>
          <a:p>
            <a:r>
              <a:rPr lang="en-US" sz="1400" b="0" dirty="0"/>
              <a:t>So sánh kết cục chính đã đăng ký với bài báo. Bài báo 1 đăng ký NCT04947904, trước khi nhận người bệnh đầu tiên.</a:t>
            </a:r>
          </a:p>
          <a:p>
            <a:r>
              <a:rPr lang="en-US" sz="1400" b="0" dirty="0"/>
              <a:t>Hỏi: 'Vì sao kiểm tra sổ đăng ký trước khi làm thử nghiệm của mình?' Mong đợi: có thể người khác đang làm đúng nghiên cứu đó.</a:t>
            </a:r>
          </a:p>
          <a:p>
            <a:r>
              <a:rPr lang="en-US" sz="1400" b="0" dirty="0"/>
              <a:t>Thời gian: 3 phút. Phần 2.2 kết thúc lúc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Dán giờ bắt đầu lại và link tệp PDF gốc của Bài báo 1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2.3: 20:55-21:35. Kiểm tra mọi người đã mở Bài báo 1.</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ở cuối phần Đặt vấn đề, kết cục chính ở phần Phương pháp, con số chính ở phần Kết quả.</a:t>
            </a:r>
          </a:p>
          <a:p>
            <a:r>
              <a:rPr lang="en-US" sz="1400" b="0" dirty="0"/>
              <a:t>Bàn luận là diễn giải của tác giả. Kết quả mới là bằng chứng.</a:t>
            </a:r>
          </a:p>
          <a:p>
            <a:r>
              <a:rPr lang="en-US" sz="1400" b="0" dirty="0"/>
              <a:t>Hỏi: 'Tìm ai được đưa vào nghiên cứu ở đâu?' Mong đợi: Phương pháp và Kết quả (sơ đồ, Bảng 1).</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bài bị loại ngay ở phần tóm tắt. Tóm tắt thường bỏ qua hạn chế và có thể thổi phồng.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'Tóm tắt chỉ ghi: tử vong thấp hơn có ý nghĩa (p &lt; 0.05). Thiếu gì?' Mong đợi: tỷ lệ, mức độ tác động và KTC 95%.</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Với mỗi kết quả, hỏi: lớn bao nhiêu, chắc đến đâu, đo lúc nào?</a:t>
            </a:r>
          </a:p>
          <a:p>
            <a:r>
              <a:rPr lang="en-US" sz="1400" b="0" dirty="0"/>
              <a:t>Bình chọn: 'Bạn tin câu nào?' Mong đợi: câu bên phải.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Dòng 1: p = 0.42 không phải bằng chứng có khác biệt. Dòng 3: tiêu đề Bài báo 2 dùng 'Impact', nhưng kết luận tóm tắt viết đúng là 'associated'.</a:t>
            </a:r>
          </a:p>
          <a:p>
            <a:r>
              <a:rPr lang="en-US" sz="1400" b="0" dirty="0"/>
              <a:t>Bình duyệt giảm thổi phồng nhưng không loại bỏ hết.</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Từng câu một. 30 giây suy nghĩ, rồi mời một hai người.</a:t>
            </a:r>
          </a:p>
          <a:p>
            <a:r>
              <a:rPr lang="en-US" sz="1400" b="0" dirty="0"/>
              <a:t>Đáp án: 1 Viết 'có liên quan với'. 2 p = 0.31: không khác biệt có ý nghĩa, KTC rộng. 3 Nêu kết cục chính trước. 4 Không có nhóm chứng, nên không quy được thay đổi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8 phút tự làm, rồi 4 phút mọi người gõ kết cục chính và kết quả chính vào chat.</a:t>
            </a:r>
          </a:p>
          <a:p>
            <a:r>
              <a:rPr lang="en-US" sz="1400" b="0" dirty="0"/>
              <a:t>Ô khó nhất: kết cục chính là cân bằng dịch ngày 5, không phải tử vong. KTC 95% (-15.2 đến 41.6) cắt qua số 0.</a:t>
            </a:r>
          </a:p>
          <a:p>
            <a:r>
              <a:rPr lang="en-US" sz="1400" b="0" dirty="0"/>
              <a:t>Ai xong sớm: tìm từ nói quá trong tiêu đề Bài báo 2 ('Impact').</a:t>
            </a:r>
          </a:p>
          <a:p>
            <a:r>
              <a:rPr lang="en-US" sz="1400" b="0" dirty="0"/>
              <a:t>Thời gian: 12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từng dòng trong chat trước khi hiện đáp án.</a:t>
            </a:r>
          </a:p>
          <a:p>
            <a:r>
              <a:rPr lang="en-US" sz="1400" b="0" dirty="0"/>
              <a:t>Ý chính: thí điểm, 48 người bệnh. Kết cục là cân bằng dịch, không phải tử vong. KTC chứa số 0. Kết luận khớp kết quả. Đã đăng ký.</a:t>
            </a:r>
          </a:p>
          <a:p>
            <a:r>
              <a:rPr lang="en-US" sz="1400" b="0" dirty="0"/>
              <a:t>Nếu có người hỏi: 13.2 là chênh lệch trung bình, không phải trung vị. Để sau.</a:t>
            </a:r>
          </a:p>
          <a:p>
            <a:r>
              <a:rPr lang="en-US" sz="1400" b="0" dirty="0"/>
              <a:t>Thời gian: 5 phút. Phần 2.3 kết thúc lúc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2.4: 21:35-21:50.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bài đo kết cục khác nhau ở thời điểm khác nhau. Cột 'hạn chế chính' cho thấy khoảng trống.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Đoạn 2 (khoảng trống) lấy từ cột 'hạn chế chính'.</a:t>
            </a:r>
          </a:p>
          <a:p>
            <a:r>
              <a:rPr lang="en-US" sz="1400" b="0" dirty="0"/>
              <a:t>Không đưa số liệu của mình hay 'kết quả audit của khoa' vào phần Đặt vấn đề. Số liệu địa phương chỉ dùng khi đã công bố và có trích dẫn.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câu nêu dữ kiện đều có số trích dẫn. Khoảng 300 từ là đủ. Viết bằng tiếng Anh, như đề cương.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Tránh viết tắt và từ chỉ nhân quả ('impact', 'effect of'). Từ khóa: 3-6 thuật ngữ MeSH chưa có trong tên.</a:t>
            </a:r>
          </a:p>
          <a:p>
            <a:r>
              <a:rPr lang="en-US" sz="1400" b="0" dirty="0"/>
              <a:t>Hỏi: 'Fluids in the ICU có phải tên đề tài tốt không?' Mong đợi: không, thiếu đối tượng, so sánh và thiết kế.</a:t>
            </a:r>
          </a:p>
          <a:p>
            <a:r>
              <a:rPr lang="en-US" sz="1400" b="0" dirty="0"/>
              <a:t>Thời gian: 4 phút. Phần 2.4 kết thúc lúc 21:50.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2: 21:50-22:25. 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0-10: chạy lại chuỗi tìm kiếm trong phần trình diễn, cùng sàng lọc tiêu đề trong chat, lưu hai bài vào Zotero, điền một dòng phiếu.</a:t>
            </a:r>
          </a:p>
          <a:p>
            <a:r>
              <a:rPr lang="en-US" sz="1400" b="0" dirty="0"/>
              <a:t>Phút 10-30: mỗi người tự làm. Lỗi hay gặp: quá nhiều kết quả (thêm khối), quá ít (thêm từ đồng nghĩa), có khối so sánh.</a:t>
            </a:r>
          </a:p>
          <a:p>
            <a:r>
              <a:rPr lang="en-US" sz="1400" b="0" dirty="0"/>
              <a:t>Phút 30-35: hai bạn tình nguyện đọc tên đề tài và câu nêu khoảng trống.</a:t>
            </a:r>
          </a:p>
          <a:p>
            <a:r>
              <a:rPr lang="en-US" sz="1400" b="0" dirty="0"/>
              <a:t>Đáp án: s2_solutions_VN, Bài tập 4.</a:t>
            </a:r>
          </a:p>
          <a:p>
            <a:r>
              <a:rPr lang="en-US" sz="1400" b="0" dirty="0"/>
              <a:t>Thời gian: 35 phút. Tổng kết lúc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nhanh các từ khóa.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một người: 'Điều đầu tiên bạn tìm trong tóm tắt là gì?' Mong đợi: kết cục chính và kết quả kèm KTC.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OR. Câu 2 Cân bằng dịch tích lũy ngày 5, không phải tử vong.</a:t>
            </a:r>
          </a:p>
          <a:p>
            <a:r>
              <a:rPr lang="en-US" sz="1400" b="0" dirty="0"/>
              <a:t>Nếu hơn một phần tư sai một trong hai câu, mở đầu Buổi 3 bằng câu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60-90 phút trong tuần. Buổi 3 dùng tóm tắt của cả hai bài.</a:t>
            </a:r>
          </a:p>
          <a:p>
            <a:r>
              <a:rPr lang="en-US" sz="1400" b="0" dirty="0"/>
              <a:t>Thời gian: 1 phút.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đề cương Cấp độ 1, PubMed và một sổ đăng ký là đủ. Câu hỏi điều trị nên bắt đầu từ Cochrane Library. Phần lớn cơ sở dữ liệu khác cần tài khoản của cơ quan.</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Hữu ích để kiểm tra chưa sót thử nghiệm quan trọng. Giao diện hay thay đổi, nên xem trước khi chiếu.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C. Nếu Scholar hiện CAPTCHA,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bao giờ dùng lại câu chữ phần Kết quả hay Bàn luận. Phải công khai việc dùng AI (Buổi 7).</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2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1</a:t>
            </a:r>
          </a:p>
          <a:p>
            <a:pPr marL="274320" indent="-274320" algn="l">
              <a:spcBef>
                <a:spcPts val="440"/>
              </a:spcBef>
              <a:buFont typeface="Arial"/>
              <a:buChar char="•"/>
            </a:pPr>
            <a:r>
              <a:rPr lang="en-US" sz="1900" dirty="0">
                <a:solidFill>
                  <a:srgbClr val="000000"/>
                </a:solidFill>
                <a:latin typeface="Arial"/>
                <a:cs typeface="Arial"/>
              </a:rPr>
              <a:t>2.1  Tìm bằng chứng: logic Boolean, MeSH, khối tìm kiếm, trình diễn PubMed</a:t>
            </a:r>
          </a:p>
          <a:p>
            <a:pPr marL="274320" indent="-274320" algn="l">
              <a:spcBef>
                <a:spcPts val="440"/>
              </a:spcBef>
              <a:buFont typeface="Arial"/>
              <a:buChar char="•"/>
            </a:pPr>
            <a:r>
              <a:rPr lang="en-US" sz="1900" dirty="0">
                <a:solidFill>
                  <a:srgbClr val="000000"/>
                </a:solidFill>
                <a:latin typeface="Arial"/>
                <a:cs typeface="Arial"/>
              </a:rPr>
              <a:t>2.2  Quản lý và trích dẫn: trình diễn Zotero, kiểu trích dẫn, diễn đạt lại, tài liệu xám</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Arial"/>
                <a:cs typeface="Arial"/>
              </a:rPr>
              <a:t>Xây dựng đề cương 2: tìm kiếm của riêng bạn,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nào của khóa học là thử nghiệm, bài nào là thuần tập: Bài báo 1 (Boulet) hay Bài báo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'Ở người lớn bị nhiễm khuẩn huyết, cân bằng dịch dương đến ngày 3, so với không, có liên quan với tử vong đến ngày 28?' Nêu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nào là mục tiêu cụ thể: 'tìm hiểu về cân bằng dịch' hay 'ước tính tỷ lệ có cân bằng dịch dương ở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H0 cho: quy trình hạn chế dịch có làm giảm cân bằng dịch ngày 5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khung chat,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Thiết kế</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báo 1 là thử nghiệm (RCT)</a:t>
            </a:r>
          </a:p>
          <a:p>
            <a:pPr marL="0" indent="0" algn="ctr">
              <a:lnSpc>
                <a:spcPct val="104000"/>
              </a:lnSpc>
              <a:spcBef>
                <a:spcPts val="400"/>
              </a:spcBef>
              <a:buNone/>
            </a:pPr>
            <a:r>
              <a:rPr lang="en-US" sz="1450" dirty="0">
                <a:solidFill>
                  <a:srgbClr val="000000"/>
                </a:solidFill>
                <a:latin typeface="Arial"/>
                <a:cs typeface="Arial"/>
              </a:rPr>
              <a:t>Bài báo 2 là thuần tập</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người lớn bị nhiễm khuẩn huyết</a:t>
            </a:r>
          </a:p>
          <a:p>
            <a:pPr marL="0" indent="0" algn="ctr">
              <a:lnSpc>
                <a:spcPct val="104000"/>
              </a:lnSpc>
              <a:spcBef>
                <a:spcPts val="400"/>
              </a:spcBef>
              <a:buNone/>
            </a:pPr>
            <a:r>
              <a:rPr lang="en-US" sz="1450" dirty="0">
                <a:solidFill>
                  <a:srgbClr val="000000"/>
                </a:solidFill>
                <a:latin typeface="Arial"/>
                <a:cs typeface="Arial"/>
              </a:rPr>
              <a:t>E: cân bằng dương đến ngày 3</a:t>
            </a:r>
          </a:p>
          <a:p>
            <a:pPr marL="0" indent="0" algn="ctr">
              <a:lnSpc>
                <a:spcPct val="104000"/>
              </a:lnSpc>
              <a:spcBef>
                <a:spcPts val="400"/>
              </a:spcBef>
              <a:buNone/>
            </a:pPr>
            <a:r>
              <a:rPr lang="en-US" sz="1450" dirty="0">
                <a:solidFill>
                  <a:srgbClr val="000000"/>
                </a:solidFill>
                <a:latin typeface="Arial"/>
                <a:cs typeface="Arial"/>
              </a:rPr>
              <a:t>C: cân bằng trung tính hoặc âm</a:t>
            </a:r>
          </a:p>
          <a:p>
            <a:pPr marL="0" indent="0" algn="ctr">
              <a:lnSpc>
                <a:spcPct val="104000"/>
              </a:lnSpc>
              <a:spcBef>
                <a:spcPts val="400"/>
              </a:spcBef>
              <a:buNone/>
            </a:pPr>
            <a:r>
              <a:rPr lang="en-US" sz="1450" dirty="0">
                <a:solidFill>
                  <a:srgbClr val="000000"/>
                </a:solidFill>
                <a:latin typeface="Arial"/>
                <a:cs typeface="Arial"/>
              </a:rPr>
              <a:t>O và T: tử vong đến ngày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Tử vong cần hơn 1000 người bệnh</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Ước tính</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'Ước tính' đo được</a:t>
            </a:r>
          </a:p>
          <a:p>
            <a:pPr marL="0" indent="0" algn="ctr">
              <a:lnSpc>
                <a:spcPct val="104000"/>
              </a:lnSpc>
              <a:spcBef>
                <a:spcPts val="400"/>
              </a:spcBef>
              <a:buNone/>
            </a:pPr>
            <a:r>
              <a:rPr lang="en-US" sz="1450" dirty="0">
                <a:solidFill>
                  <a:srgbClr val="000000"/>
                </a:solidFill>
                <a:latin typeface="Arial"/>
                <a:cs typeface="Arial"/>
              </a:rPr>
              <a:t>'Tìm hiểu' thì không</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ngày 5 như nhau ở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nghiên cứu, hãy tìm xem điều gì đã được biết.</a:t>
            </a:r>
          </a:p>
          <a:p>
            <a:pPr marL="0" indent="0" algn="ctr">
              <a:spcBef>
                <a:spcPts val="1200"/>
              </a:spcBef>
              <a:buNone/>
            </a:pPr>
            <a:r>
              <a:rPr lang="en-US" sz="1900" i="1" dirty="0">
                <a:solidFill>
                  <a:srgbClr val="595959"/>
                </a:solidFill>
                <a:latin typeface="Arial"/>
                <a:cs typeface="Arial"/>
              </a:rPr>
              <a:t>40 phút: phễu tìm kiếm, logic Boolean, MeSH, công cụ tìm kiếm, khối tìm kiếm PICO, tổng quan hệ thống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Ghi lại mỗi bước: ngày, chuỗi tìm kiếm, bộ lọc và số kết quả.</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Toàn bộ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Hơn 40 triệu bài</a:t>
            </a:r>
          </a:p>
          <a:p>
            <a:pPr marL="0" indent="0" algn="ctr">
              <a:lnSpc>
                <a:spcPct val="104000"/>
              </a:lnSpc>
              <a:spcBef>
                <a:spcPts val="200"/>
              </a:spcBef>
              <a:buNone/>
            </a:pPr>
            <a:r>
              <a:rPr lang="en-US" sz="1500" dirty="0">
                <a:solidFill>
                  <a:srgbClr val="000000"/>
                </a:solidFill>
                <a:latin typeface="Arial"/>
                <a:cs typeface="Arial"/>
              </a:rPr>
              <a:t>Tính đến tháng 10/2026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Một từ khóa</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Hàng chục nghìn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Khối PICO</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cách viết cho P, I và O</a:t>
            </a:r>
          </a:p>
          <a:p>
            <a:pPr marL="0" indent="0" algn="ctr">
              <a:lnSpc>
                <a:spcPct val="104000"/>
              </a:lnSpc>
              <a:spcBef>
                <a:spcPts val="200"/>
              </a:spcBef>
              <a:buNone/>
            </a:pPr>
            <a:r>
              <a:rPr lang="en-US" sz="1500" b="1" dirty="0">
                <a:solidFill>
                  <a:srgbClr val="000000"/>
                </a:solidFill>
                <a:latin typeface="Arial"/>
                <a:cs typeface="Arial"/>
              </a:rPr>
              <a:t>Vài nghìn</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Bộ lọc</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tổng quan, người lớn, năm</a:t>
            </a:r>
          </a:p>
          <a:p>
            <a:pPr marL="0" indent="0" algn="ctr">
              <a:lnSpc>
                <a:spcPct val="104000"/>
              </a:lnSpc>
              <a:spcBef>
                <a:spcPts val="200"/>
              </a:spcBef>
              <a:buNone/>
            </a:pPr>
            <a:r>
              <a:rPr lang="en-US" sz="1500" b="1" dirty="0">
                <a:solidFill>
                  <a:srgbClr val="000000"/>
                </a:solidFill>
                <a:latin typeface="Arial"/>
                <a:cs typeface="Arial"/>
              </a:rPr>
              <a:t>Vài trăm</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Sàng lọc</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Đọc tiêu đề và tóm tắt</a:t>
            </a:r>
          </a:p>
          <a:p>
            <a:pPr marL="0" indent="0" algn="ctr">
              <a:lnSpc>
                <a:spcPct val="104000"/>
              </a:lnSpc>
              <a:spcBef>
                <a:spcPts val="200"/>
              </a:spcBef>
              <a:buNone/>
            </a:pPr>
            <a:r>
              <a:rPr lang="en-US" sz="1500" b="1" dirty="0">
                <a:solidFill>
                  <a:srgbClr val="000000"/>
                </a:solidFill>
                <a:latin typeface="Arial"/>
                <a:cs typeface="Arial"/>
              </a:rPr>
              <a:t>Vài chục</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Giữ lại</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bài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81200" y="2153440"/>
            <a:ext cx="731520" cy="146304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có cả hai: ít kết quả hơn</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một trong hai: nhiều kết quả hơn</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loại bài: dùng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AND thu hẹp, OR mở rộng, NOT loại bỏ.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có cả sốc nhiễm khuẩn và hạn chế dịch: dùng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dùng 'restrictive' hoặc 'conservative' cho dịch: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Tìm kiếm ra 40 nghìn kết quả. Thêm khối AND thứ ba sẽ nhiều hơn hay ít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chat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một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bộ nhãn chủ đề cố định mà PubMed gắn cho mỗi bài báo.</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Cách tác giả viết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Đề mục MeSH</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một nhãn chung cho mọi cách viết</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Bài mới có thể chưa được gắn MeSH: thêm từ tự do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Cây MeSH (từ rộng đến hẹp)</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Tìm Sepsis[MeSH] cũng ra các bài được xếp dưới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tìm đúng thuật ngữ MeSH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Trang chủ PubMed, mục Explore</a:t>
            </a:r>
          </a:p>
          <a:p>
            <a:pPr marL="0" indent="0" algn="ctr">
              <a:lnSpc>
                <a:spcPct val="104000"/>
              </a:lnSpc>
              <a:spcBef>
                <a:spcPts val="400"/>
              </a:spcBef>
              <a:buNone/>
            </a:pPr>
            <a:r>
              <a:rPr lang="en-US" sz="1750" dirty="0">
                <a:solidFill>
                  <a:srgbClr val="000000"/>
                </a:solidFill>
                <a:latin typeface="Arial"/>
                <a:cs typeface="Arial"/>
              </a:rPr>
              <a:t>Gõ một từ, ví dụ bedsore</a:t>
            </a:r>
          </a:p>
          <a:p>
            <a:pPr marL="0" indent="0" algn="ctr">
              <a:lnSpc>
                <a:spcPct val="104000"/>
              </a:lnSpc>
              <a:spcBef>
                <a:spcPts val="400"/>
              </a:spcBef>
              <a:buNone/>
            </a:pPr>
            <a:r>
              <a:rPr lang="en-US" sz="1750" dirty="0">
                <a:solidFill>
                  <a:srgbClr val="000000"/>
                </a:solidFill>
                <a:latin typeface="Arial"/>
                <a:cs typeface="Arial"/>
              </a:rPr>
              <a:t>Kết quả cho đề mục: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bài báo tin cậy</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Mở một bài liên quan trên PubMed</a:t>
            </a:r>
          </a:p>
          <a:p>
            <a:pPr marL="0" indent="0" algn="ctr">
              <a:lnSpc>
                <a:spcPct val="104000"/>
              </a:lnSpc>
              <a:spcBef>
                <a:spcPts val="400"/>
              </a:spcBef>
              <a:buNone/>
            </a:pPr>
            <a:r>
              <a:rPr lang="en-US" sz="1750" dirty="0">
                <a:solidFill>
                  <a:srgbClr val="000000"/>
                </a:solidFill>
                <a:latin typeface="Arial"/>
                <a:cs typeface="Arial"/>
              </a:rPr>
              <a:t>Kéo xuống phần 'MeSH terms'</a:t>
            </a:r>
          </a:p>
          <a:p>
            <a:pPr marL="0" indent="0" algn="ctr">
              <a:lnSpc>
                <a:spcPct val="104000"/>
              </a:lnSpc>
              <a:spcBef>
                <a:spcPts val="400"/>
              </a:spcBef>
              <a:buNone/>
            </a:pPr>
            <a:r>
              <a:rPr lang="en-US" sz="1750" dirty="0">
                <a:solidFill>
                  <a:srgbClr val="000000"/>
                </a:solidFill>
                <a:latin typeface="Arial"/>
                <a:cs typeface="Arial"/>
              </a:rPr>
              <a:t>Dùng lại các thuật ngữ phù hợp</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tự gắn từ của bạn với MeSH</a:t>
            </a:r>
          </a:p>
          <a:p>
            <a:pPr marL="0" indent="0" algn="ctr">
              <a:lnSpc>
                <a:spcPct val="104000"/>
              </a:lnSpc>
              <a:spcBef>
                <a:spcPts val="400"/>
              </a:spcBef>
              <a:buNone/>
            </a:pPr>
            <a:r>
              <a:rPr lang="en-US" sz="1750" dirty="0">
                <a:solidFill>
                  <a:srgbClr val="000000"/>
                </a:solidFill>
                <a:latin typeface="Arial"/>
                <a:cs typeface="Arial"/>
              </a:rPr>
              <a:t>Xem PubMed đã dùng đề mục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tra thuật ngữ MeSH, đừng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đúng cụm từ</a:t>
            </a:r>
          </a:p>
          <a:p>
            <a:pPr marL="0" indent="0" algn="ctr">
              <a:lnSpc>
                <a:spcPct val="104000"/>
              </a:lnSpc>
              <a:spcBef>
                <a:spcPts val="400"/>
              </a:spcBef>
              <a:buNone/>
            </a:pPr>
            <a:r>
              <a:rPr lang="en-US" sz="1600" dirty="0">
                <a:solidFill>
                  <a:srgbClr val="000000"/>
                </a:solidFill>
                <a:latin typeface="Arial"/>
                <a:cs typeface="Arial"/>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tìm child, children, childhood</a:t>
            </a:r>
          </a:p>
          <a:p>
            <a:pPr marL="0" indent="0" algn="ctr">
              <a:lnSpc>
                <a:spcPct val="104000"/>
              </a:lnSpc>
              <a:spcBef>
                <a:spcPts val="400"/>
              </a:spcBef>
              <a:buNone/>
            </a:pPr>
            <a:r>
              <a:rPr lang="en-US" sz="1600" dirty="0">
                <a:solidFill>
                  <a:srgbClr val="000000"/>
                </a:solidFill>
                <a:latin typeface="Arial"/>
                <a:cs typeface="Arial"/>
              </a:rPr>
              <a:t>Dùng khi một ý có nhiều đuôi từ</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tiêu đề hoặc tóm tắt</a:t>
            </a:r>
          </a:p>
          <a:p>
            <a:pPr marL="0" indent="0" algn="ctr">
              <a:lnSpc>
                <a:spcPct val="104000"/>
              </a:lnSpc>
              <a:spcBef>
                <a:spcPts val="400"/>
              </a:spcBef>
              <a:buNone/>
            </a:pPr>
            <a:r>
              <a:rPr lang="en-US" sz="1600" dirty="0">
                <a:solidFill>
                  <a:srgbClr val="000000"/>
                </a:solidFill>
                <a:latin typeface="Arial"/>
                <a:cs typeface="Arial"/>
              </a:rPr>
              <a:t>[mh] hoặc [MeSH] thuật ngữ MeSH</a:t>
            </a:r>
          </a:p>
          <a:p>
            <a:pPr marL="0" indent="0" algn="ctr">
              <a:lnSpc>
                <a:spcPct val="104000"/>
              </a:lnSpc>
              <a:spcBef>
                <a:spcPts val="400"/>
              </a:spcBef>
              <a:buNone/>
            </a:pPr>
            <a:r>
              <a:rPr lang="en-US" sz="1600" dirty="0">
                <a:solidFill>
                  <a:srgbClr val="000000"/>
                </a:solidFill>
                <a:latin typeface="Arial"/>
                <a:cs typeface="Arial"/>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bài (RCT, tổng quan hệ thống)</a:t>
            </a:r>
          </a:p>
          <a:p>
            <a:pPr marL="0" indent="0" algn="ctr">
              <a:lnSpc>
                <a:spcPct val="104000"/>
              </a:lnSpc>
              <a:spcBef>
                <a:spcPts val="400"/>
              </a:spcBef>
              <a:buNone/>
            </a:pPr>
            <a:r>
              <a:rPr lang="en-US" sz="1600" dirty="0">
                <a:solidFill>
                  <a:srgbClr val="000000"/>
                </a:solidFill>
                <a:latin typeface="Arial"/>
                <a:cs typeface="Arial"/>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bị sốc nhiễm khuẩn, hạn chế dịch so với thường quy có giảm tử vong 28 ngày không?</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sốc nhiễm khuẩn</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hạn chế dịch</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tử vong</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(thường quy) thường không đưa vào tìm kiếm: cách viết quá đa dạng.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thành phần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Thêm một ví dụ: câu hỏi tại khoa phòng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có nguy cơ tại khoa phòng, xoay trở mỗi 2 giờ có làm giảm tổn thương do tì đè mới không?</a:t>
            </a:r>
          </a:p>
        </p:txBody>
      </p:sp>
      <p:sp>
        <p:nvSpPr>
          <p:cNvPr id="100" name="Box"/>
          <p:cNvSpPr/>
          <p:nvPr/>
        </p:nvSpPr>
        <p:spPr>
          <a:xfrm>
            <a:off x="246126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tổn thương do tì đè</a:t>
            </a:r>
          </a:p>
        </p:txBody>
      </p:sp>
      <p:sp>
        <p:nvSpPr>
          <p:cNvPr id="101" name="Box"/>
          <p:cNvSpPr/>
          <p:nvPr/>
        </p:nvSpPr>
        <p:spPr>
          <a:xfrm>
            <a:off x="246126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xoay trở</a:t>
            </a:r>
          </a:p>
        </p:txBody>
      </p:sp>
      <p:sp>
        <p:nvSpPr>
          <p:cNvPr id="104" name="Box"/>
          <p:cNvSpPr/>
          <p:nvPr/>
        </p:nvSpPr>
        <p:spPr>
          <a:xfrm>
            <a:off x="648462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Ở đây P và O là một ý (tổn thương do tì đè), nên một khối chứa cả hai.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một cách cho mọi chủ đề: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9883"/>
          <a:ext cx="11277600" cy="3380351"/>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Phạm vi tìm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Tạp chí y sinh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Gần như mọi thứ: tạp chí, luận văn, sách, bản thảo trước in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Nhãn MeSH</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Bộ lọc (thiết kế, tuổi, năm)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Nhiều</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Ít (năm, tổng quan)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Tìm lại sau, kết quả như cũ</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 cách xếp hạng bị ẩn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Tìm bài mới hơn có trích dẫn một bài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Một phần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Có ('Cited by')</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Dùng để</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Tìm kiếm chính, có ghi lại</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Kiểm tra xem có sót bài nào không</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PubMed cho tìm kiếm chính. Google Scholar để kiểm tra xem có sót bài nào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trước: đã có tổng quan hệ thống chưa?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Tìm tổng quan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Thư viện Cochrane</a:t>
            </a:r>
          </a:p>
          <a:p>
            <a:pPr marL="0" indent="0" algn="ctr">
              <a:lnSpc>
                <a:spcPct val="104000"/>
              </a:lnSpc>
              <a:spcBef>
                <a:spcPts val="400"/>
              </a:spcBef>
              <a:buNone/>
            </a:pPr>
            <a:r>
              <a:rPr lang="en-US" sz="1600" dirty="0">
                <a:solidFill>
                  <a:srgbClr val="000000"/>
                </a:solidFill>
                <a:latin typeface="Arial"/>
                <a:cs typeface="Arial"/>
              </a:rPr>
              <a:t>Bộ lọc PubMed: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Tổng quan đang làm</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liệt kê các tổng quan hệ thống đã đăng ký</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Rồi quyết định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tổng quan mới và tốt: dựa vào đó</a:t>
            </a:r>
          </a:p>
          <a:p>
            <a:pPr marL="0" indent="0" algn="ctr">
              <a:lnSpc>
                <a:spcPct val="104000"/>
              </a:lnSpc>
              <a:spcBef>
                <a:spcPts val="400"/>
              </a:spcBef>
              <a:buNone/>
            </a:pPr>
            <a:r>
              <a:rPr lang="en-US" sz="1600" dirty="0">
                <a:solidFill>
                  <a:srgbClr val="000000"/>
                </a:solidFill>
                <a:latin typeface="Arial"/>
                <a:cs typeface="Arial"/>
              </a:rPr>
              <a:t>Chưa có, hoặc đã cũ: đó là khoảng trống</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Học cách làm</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Cấp độ 3, Học phần A: tổng quan hệ thống 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lập kế hoạch nghiên cứu, hãy tìm xem điều gì đã được làm, bắt đầu từ tổng quan hệ thống.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trên PubMed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một từ khóa, septic shock, và ghi lại số kết quả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Dán chuỗi PICO đầy đủ: khối P, I và O nối bằng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'Search details': PubMed thực sự đã tìm gì?</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Thêm bộ lọc: RCT và tổng quan hệ thống, người lớn, 10 năm gần đây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kết quả: tóm tắt, MeSH,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'Send to', rồi 'Citation manager' (sẽ nhập vào ở phần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Số kết quả giảm thế nào sau mỗi bước</a:t>
            </a:r>
          </a:p>
          <a:p>
            <a:pPr marL="0" indent="0" algn="ctr">
              <a:lnSpc>
                <a:spcPct val="104000"/>
              </a:lnSpc>
              <a:spcBef>
                <a:spcPts val="300"/>
              </a:spcBef>
              <a:buNone/>
            </a:pPr>
            <a:r>
              <a:rPr lang="en-US" sz="1500" dirty="0">
                <a:solidFill>
                  <a:srgbClr val="000000"/>
                </a:solidFill>
                <a:latin typeface="Arial"/>
                <a:cs typeface="Arial"/>
              </a:rPr>
              <a:t>Bài nào cứ xuất hiện lại</a:t>
            </a:r>
          </a:p>
          <a:p>
            <a:pPr marL="0" indent="0" algn="ctr">
              <a:lnSpc>
                <a:spcPct val="104000"/>
              </a:lnSpc>
              <a:spcBef>
                <a:spcPts val="300"/>
              </a:spcBef>
              <a:buNone/>
            </a:pPr>
            <a:r>
              <a:rPr lang="en-US" sz="1500" dirty="0">
                <a:solidFill>
                  <a:srgbClr val="000000"/>
                </a:solidFill>
                <a:latin typeface="Arial"/>
                <a:cs typeface="Arial"/>
              </a:rPr>
              <a:t>Bạn có tìm thấy Bài báo 1 và thử nghiệm CLASSIC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câu hỏi PICO của riêng bạn và danh sách từ đồng nghĩa (bài về nhà Buổi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1: viết 2-4 từ đồng nghĩa (tiếng Anh) cho P, I (hoặc E) và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Nối từ đồng nghĩa bằng OR trong ngoặc, các khối bằng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Kiểm tra từ nào là thuật ngữ MeSH: MeSH Database hoặc một bài đã biết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Giảng viên gọi 2-3 bạn bật micro đọc to chuỗi tìm kiếm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chuỗi tìm kiếm cho câu hỏi của bạn, để chạy trên PubMed ở cuối buổi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Arial"/>
                <a:cs typeface="Arial"/>
              </a:rPr>
              <a:t>20 phút: phần mềm quản lý tài liệu, kiểu trích dẫn, trình diễn Zotero, diễn đạt lại an toàn, tài liệu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Gom</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bài trên PubMed</a:t>
            </a:r>
          </a:p>
          <a:p>
            <a:pPr marL="0" indent="0" algn="ctr">
              <a:lnSpc>
                <a:spcPct val="104000"/>
              </a:lnSpc>
              <a:spcBef>
                <a:spcPts val="200"/>
              </a:spcBef>
              <a:buNone/>
            </a:pPr>
            <a:r>
              <a:rPr lang="en-US" sz="1500" dirty="0">
                <a:solidFill>
                  <a:srgbClr val="000000"/>
                </a:solidFill>
                <a:latin typeface="Arial"/>
                <a:cs typeface="Arial"/>
              </a:rPr>
              <a:t>Clipboard 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rồi 'Citation manager'</a:t>
            </a:r>
          </a:p>
          <a:p>
            <a:pPr marL="0" indent="0" algn="ctr">
              <a:lnSpc>
                <a:spcPct val="104000"/>
              </a:lnSpc>
              <a:spcBef>
                <a:spcPts val="200"/>
              </a:spcBef>
              <a:buNone/>
            </a:pPr>
            <a:r>
              <a:rPr lang="en-US" sz="1500" dirty="0">
                <a:solidFill>
                  <a:srgbClr val="000000"/>
                </a:solidFill>
                <a:latin typeface="Arial"/>
                <a:cs typeface="Arial"/>
              </a:rPr>
              <a:t>Tạo 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Nhập</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hoặc Mendeley (miễn phí)</a:t>
            </a:r>
          </a:p>
          <a:p>
            <a:pPr marL="0" indent="0" algn="ctr">
              <a:lnSpc>
                <a:spcPct val="104000"/>
              </a:lnSpc>
              <a:spcBef>
                <a:spcPts val="200"/>
              </a:spcBef>
              <a:buNone/>
            </a:pPr>
            <a:r>
              <a:rPr lang="en-US" sz="1500" dirty="0">
                <a:solidFill>
                  <a:srgbClr val="000000"/>
                </a:solidFill>
                <a:latin typeface="Arial"/>
                <a:cs typeface="Arial"/>
              </a:rPr>
              <a:t>EndNote (trả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Trích dẫn</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Chèn trích dẫn trong Word bằng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Danh mục</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Danh mục tài liệu tự động</a:t>
            </a:r>
          </a:p>
          <a:p>
            <a:pPr marL="0" indent="0" algn="ctr">
              <a:lnSpc>
                <a:spcPct val="104000"/>
              </a:lnSpc>
              <a:spcBef>
                <a:spcPts val="200"/>
              </a:spcBef>
              <a:buNone/>
            </a:pPr>
            <a:r>
              <a:rPr lang="en-US" sz="1500" dirty="0">
                <a:solidFill>
                  <a:srgbClr val="000000"/>
                </a:solidFill>
                <a:latin typeface="Arial"/>
                <a:cs typeface="Arial"/>
              </a:rPr>
              <a:t>Theo 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Dùng kiểu tạp chí yêu cầu. Phần mềm quản lý tài liệu đổi kiểu chỉ bằng một cú nhấp.</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[1].</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Đánh số theo thứ tự trích dẫn. Đa số tạp chí y khoa dùng.</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(Meyhoff et al., 2022).</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Tác giả và năm trong bài. Phổ biến ở điều dưỡng, khoa học xã hội.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kiểu tạp chí đích dùng, và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Zotero: File, Import, rồi chọn tệp .nbib đã lưu ở phần trình diễn PubMed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mục vừa nhập: tác giả, tiêu đề, tạp chí, năm, DOI, không gõ tay gì cả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Word, thẻ Zotero: 'Add/Edit Citation', rồi gõ Meyhoff (tác giả đầu của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'Add/Edit Bibliography': danh mục tài liệu xuất hiện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[1] thành (Meyhoff et al., 2022)</a:t>
            </a:r>
          </a:p>
          <a:p>
            <a:pPr marL="0" indent="0" algn="ctr">
              <a:lnSpc>
                <a:spcPct val="104000"/>
              </a:lnSpc>
              <a:spcBef>
                <a:spcPts val="300"/>
              </a:spcBef>
              <a:buNone/>
            </a:pPr>
            <a:r>
              <a:rPr lang="en-US" sz="1500" dirty="0">
                <a:solidFill>
                  <a:srgbClr val="000000"/>
                </a:solidFill>
                <a:latin typeface="Arial"/>
                <a:cs typeface="Arial"/>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đã thấy trọn chu trình: gom, xuất, nhập, trích dẫn, lập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Cách làm: đọc, gấp bài báo, viết theo trí nhớ, kiểm tra lại, trích dẫn.</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Nguồn (Boulet và cs. 2024, tóm tắt)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Thay vài từ ("chắp vá")</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Cùng cấu trúc, cùng từ = đạo văn, dù có trích dẫn</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của mình + trích dẫn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Cấu trúc mới, thêm bối cảnh,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dữ kiện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Con số, phát hiện và ý tưởng của người khác cần trích dẫn</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nguồn gốc</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Đọc và trích bài báo gốc</a:t>
            </a:r>
          </a:p>
          <a:p>
            <a:pPr marL="0" indent="0" algn="ctr">
              <a:lnSpc>
                <a:spcPct val="104000"/>
              </a:lnSpc>
              <a:spcBef>
                <a:spcPts val="400"/>
              </a:spcBef>
              <a:buNone/>
            </a:pPr>
            <a:r>
              <a:rPr lang="en-US" sz="1600" dirty="0">
                <a:solidFill>
                  <a:srgbClr val="000000"/>
                </a:solidFill>
                <a:latin typeface="Arial"/>
                <a:cs typeface="Arial"/>
              </a:rPr>
              <a:t>Không trích bản tóm lược</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Lời của mình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cấu trúc mới</a:t>
            </a:r>
          </a:p>
          <a:p>
            <a:pPr marL="0" indent="0" algn="ctr">
              <a:lnSpc>
                <a:spcPct val="104000"/>
              </a:lnSpc>
              <a:spcBef>
                <a:spcPts val="400"/>
              </a:spcBef>
              <a:buNone/>
            </a:pPr>
            <a:r>
              <a:rPr lang="en-US" sz="1600" dirty="0">
                <a:solidFill>
                  <a:srgbClr val="000000"/>
                </a:solidFill>
                <a:latin typeface="Arial"/>
                <a:cs typeface="Arial"/>
              </a:rPr>
              <a:t>Nguyên văn phải có ngoặc kép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tài liệu nói đúng điều 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chép một câu từ tóm tắt, đổi hai từ và thêm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nguyên văn một câu, trong ngoặc kép, có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viết một phát hiện bằng lời của mình nhưng quên trích dẫn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biểu tượng ngón cái lên (được) hoặc xuống (không được),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Tài liệu xám, kể cả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Bài báo tạp chí</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Tài liệu xám</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Sổ đăng ký thử nghiệm (ClinicalTrials.gov, WHO ICTRP)</a:t>
            </a:r>
          </a:p>
          <a:p>
            <a:pPr marL="0" indent="0" algn="ctr">
              <a:lnSpc>
                <a:spcPct val="100000"/>
              </a:lnSpc>
              <a:spcBef>
                <a:spcPts val="500"/>
              </a:spcBef>
              <a:buNone/>
            </a:pPr>
            <a:r>
              <a:rPr lang="en-US" sz="1500" dirty="0">
                <a:solidFill>
                  <a:srgbClr val="1A1A1A"/>
                </a:solidFill>
                <a:latin typeface="Arial"/>
                <a:cs typeface="Arial"/>
              </a:rPr>
              <a:t>Tóm tắt hội nghị</a:t>
            </a:r>
          </a:p>
          <a:p>
            <a:pPr marL="0" indent="0" algn="ctr">
              <a:lnSpc>
                <a:spcPct val="100000"/>
              </a:lnSpc>
              <a:spcBef>
                <a:spcPts val="500"/>
              </a:spcBef>
              <a:buNone/>
            </a:pPr>
            <a:r>
              <a:rPr lang="en-US" sz="1500" dirty="0">
                <a:solidFill>
                  <a:srgbClr val="1A1A1A"/>
                </a:solidFill>
                <a:latin typeface="Arial"/>
                <a:cs typeface="Arial"/>
              </a:rPr>
              <a:t>Luận văn, luận án</a:t>
            </a:r>
          </a:p>
          <a:p>
            <a:pPr marL="0" indent="0" algn="ctr">
              <a:lnSpc>
                <a:spcPct val="100000"/>
              </a:lnSpc>
              <a:spcBef>
                <a:spcPts val="500"/>
              </a:spcBef>
              <a:buNone/>
            </a:pPr>
            <a:r>
              <a:rPr lang="en-US" sz="1500" dirty="0">
                <a:solidFill>
                  <a:srgbClr val="1A1A1A"/>
                </a:solidFill>
                <a:latin typeface="Arial"/>
                <a:cs typeface="Arial"/>
              </a:rPr>
              <a:t>Báo cáo, hướng dẫn, bản thảo trước in (preprint)</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Vì sao cần tìm dưới mặt nước?</a:t>
            </a:r>
          </a:p>
          <a:p>
            <a:pPr marL="0" indent="0" algn="ctr">
              <a:lnSpc>
                <a:spcPct val="100000"/>
              </a:lnSpc>
              <a:spcBef>
                <a:spcPts val="300"/>
              </a:spcBef>
              <a:buNone/>
            </a:pPr>
            <a:r>
              <a:rPr lang="en-US" sz="1500" dirty="0">
                <a:solidFill>
                  <a:srgbClr val="1A1A1A"/>
                </a:solidFill>
                <a:latin typeface="Arial"/>
                <a:cs typeface="Arial"/>
              </a:rPr>
              <a:t>Thử nghiệm có kết quả âm tính ít được công bố hơn (sai lệch xuất bản).</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Sổ đăng ký thử nghiệm</a:t>
            </a:r>
          </a:p>
          <a:p>
            <a:pPr marL="0" indent="0" algn="ctr">
              <a:lnSpc>
                <a:spcPct val="100000"/>
              </a:lnSpc>
              <a:spcBef>
                <a:spcPts val="300"/>
              </a:spcBef>
              <a:buNone/>
            </a:pPr>
            <a:r>
              <a:rPr lang="en-US" sz="1500" dirty="0">
                <a:solidFill>
                  <a:srgbClr val="1A1A1A"/>
                </a:solidFill>
                <a:latin typeface="Arial"/>
                <a:cs typeface="Arial"/>
              </a:rPr>
              <a:t>Hồ sơ công khai của một thử nghiệm, lập trước khi tuyển người bệnh đầu tiên.</a:t>
            </a:r>
          </a:p>
          <a:p>
            <a:pPr marL="0" indent="0" algn="ctr">
              <a:lnSpc>
                <a:spcPct val="100000"/>
              </a:lnSpc>
              <a:spcBef>
                <a:spcPts val="300"/>
              </a:spcBef>
              <a:buNone/>
            </a:pPr>
            <a:r>
              <a:rPr lang="en-US" sz="1500" dirty="0">
                <a:solidFill>
                  <a:srgbClr val="1A1A1A"/>
                </a:solidFill>
                <a:latin typeface="Arial"/>
                <a:cs typeface="Arial"/>
              </a:rPr>
              <a:t>So sánh kết cục chính dự kiến với bài báo.</a:t>
            </a:r>
          </a:p>
          <a:p>
            <a:pPr marL="0" indent="0" algn="ctr">
              <a:lnSpc>
                <a:spcPct val="100000"/>
              </a:lnSpc>
              <a:spcBef>
                <a:spcPts val="300"/>
              </a:spcBef>
              <a:buNone/>
            </a:pPr>
            <a:r>
              <a:rPr lang="en-US" sz="1500" dirty="0">
                <a:solidFill>
                  <a:srgbClr val="1A1A1A"/>
                </a:solidFill>
                <a:latin typeface="Arial"/>
                <a:cs typeface="Arial"/>
              </a:rPr>
              <a:t>Bài báo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phần dưới mặt nước: tài liệu xám và sổ đăng ký thử nghiệm.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đọc từng chữ. Hãy đọc đúng chỗ, theo đúng thứ tự.</a:t>
            </a:r>
          </a:p>
          <a:p>
            <a:pPr marL="0" indent="0" algn="ctr">
              <a:spcBef>
                <a:spcPts val="1200"/>
              </a:spcBef>
              <a:buNone/>
            </a:pPr>
            <a:r>
              <a:rPr lang="en-US" sz="1900" i="1" dirty="0">
                <a:solidFill>
                  <a:srgbClr val="595959"/>
                </a:solidFill>
                <a:latin typeface="Arial"/>
                <a:cs typeface="Arial"/>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Tiêu đề + tóm tắt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Đọc đầu tiên: bài báo nói về gì?</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Đặt vấn đề</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Vì sao? Từ rộng đến hẹp, kết thúc bằng câu hỏi</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Phương pháp</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Đã làm gì? Đủ chi tiết để làm lại</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Kết quả</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Tìm thấy gì? Con số, không bình luận</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Bàn luận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Ý nghĩa là gì? Từ hẹp ra rộng, nêu hạn chế</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Dừng sau bước 1 hoặc 2 nếu bài không trả lời câu hỏi. Tổng: khoảng 15 phút.</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Tiêu đề</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giây</a:t>
            </a:r>
          </a:p>
          <a:p>
            <a:pPr marL="0" indent="0" algn="ctr">
              <a:lnSpc>
                <a:spcPct val="104000"/>
              </a:lnSpc>
              <a:spcBef>
                <a:spcPts val="200"/>
              </a:spcBef>
              <a:buNone/>
            </a:pPr>
            <a:r>
              <a:rPr lang="en-US" sz="1650" dirty="0">
                <a:solidFill>
                  <a:srgbClr val="000000"/>
                </a:solidFill>
                <a:latin typeface="Arial"/>
                <a:cs typeface="Arial"/>
              </a:rPr>
              <a:t>Liên quan tới câu hỏi của tôi?</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Tóm tắt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phút</a:t>
            </a:r>
          </a:p>
          <a:p>
            <a:pPr marL="0" indent="0" algn="ctr">
              <a:lnSpc>
                <a:spcPct val="104000"/>
              </a:lnSpc>
              <a:spcBef>
                <a:spcPts val="200"/>
              </a:spcBef>
              <a:buNone/>
            </a:pPr>
            <a:r>
              <a:rPr lang="en-US" sz="1650" dirty="0">
                <a:solidFill>
                  <a:srgbClr val="000000"/>
                </a:solidFill>
                <a:latin typeface="Arial"/>
                <a:cs typeface="Arial"/>
              </a:rPr>
              <a:t>PICO, thiết kế, kết quả chính</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Hình và bảng</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phút</a:t>
            </a:r>
          </a:p>
          <a:p>
            <a:pPr marL="0" indent="0" algn="ctr">
              <a:lnSpc>
                <a:spcPct val="104000"/>
              </a:lnSpc>
              <a:spcBef>
                <a:spcPts val="200"/>
              </a:spcBef>
              <a:buNone/>
            </a:pPr>
            <a:r>
              <a:rPr lang="en-US" sz="1650" dirty="0">
                <a:solidFill>
                  <a:srgbClr val="000000"/>
                </a:solidFill>
                <a:latin typeface="Arial"/>
                <a:cs typeface="Arial"/>
              </a:rPr>
              <a:t>Sơ đồ, Bảng 1, bảng kết quả chính</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Phương pháp</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phút</a:t>
            </a:r>
          </a:p>
          <a:p>
            <a:pPr marL="0" indent="0" algn="ctr">
              <a:lnSpc>
                <a:spcPct val="104000"/>
              </a:lnSpc>
              <a:spcBef>
                <a:spcPts val="200"/>
              </a:spcBef>
              <a:buNone/>
            </a:pPr>
            <a:r>
              <a:rPr lang="en-US" sz="1650" dirty="0">
                <a:solidFill>
                  <a:srgbClr val="000000"/>
                </a:solidFill>
                <a:latin typeface="Arial"/>
                <a:cs typeface="Arial"/>
              </a:rPr>
              <a:t>Ai, chọn thế nào, kết cục chính, chống sai lệch</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phút</a:t>
            </a:r>
          </a:p>
          <a:p>
            <a:pPr marL="0" indent="0" algn="ctr">
              <a:lnSpc>
                <a:spcPct val="104000"/>
              </a:lnSpc>
              <a:spcBef>
                <a:spcPts val="200"/>
              </a:spcBef>
              <a:buNone/>
            </a:pPr>
            <a:r>
              <a:rPr lang="en-US" sz="1650" dirty="0">
                <a:solidFill>
                  <a:srgbClr val="000000"/>
                </a:solidFill>
                <a:latin typeface="Arial"/>
                <a:cs typeface="Arial"/>
              </a:rPr>
              <a:t>Hạn chế. Kết luận có khớp với dữ liệu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Nội dung bắt buộc</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Bối cảnh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Vấn đề và mục tiêu (1-2 câu)</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Phương pháp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Thiết kế, bối cảnh, đối tượng, can thiệp/phơi nhiễm, so sánh, kết cục chính</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Kết quả</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sàng lọc và phân tích, kết quả chính dưới dạng cỡ tác động + KTC 95% (+ p), tác hại chính</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Trả lời câu hỏi chính, không hơn</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đăng ký thử nghiệm (với thử nghiệm)</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Thường 250-300 từ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Số liệu minh họa. Hỏi mọi tóm tắt: lớn cỡ nào, chắc đến đâu, lúc nào?</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kém</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thấp hơn có ý nghĩa ở nhóm can thiệp (p &lt; 0.05)."</a:t>
            </a:r>
          </a:p>
          <a:p>
            <a:pPr marL="0" indent="0" algn="ctr">
              <a:lnSpc>
                <a:spcPct val="104000"/>
              </a:lnSpc>
              <a:spcBef>
                <a:spcPts val="400"/>
              </a:spcBef>
              <a:buNone/>
            </a:pPr>
            <a:r>
              <a:rPr lang="en-US" sz="1750" dirty="0">
                <a:solidFill>
                  <a:srgbClr val="000000"/>
                </a:solidFill>
                <a:latin typeface="Arial"/>
                <a:cs typeface="Arial"/>
              </a:rPr>
              <a:t>Không có số mỗi nhóm</a:t>
            </a:r>
          </a:p>
          <a:p>
            <a:pPr marL="0" indent="0" algn="ctr">
              <a:lnSpc>
                <a:spcPct val="104000"/>
              </a:lnSpc>
              <a:spcBef>
                <a:spcPts val="400"/>
              </a:spcBef>
              <a:buNone/>
            </a:pPr>
            <a:r>
              <a:rPr lang="en-US" sz="1750" dirty="0">
                <a:solidFill>
                  <a:srgbClr val="000000"/>
                </a:solidFill>
                <a:latin typeface="Arial"/>
                <a:cs typeface="Arial"/>
              </a:rPr>
              <a:t>Không có cỡ tác động</a:t>
            </a:r>
          </a:p>
          <a:p>
            <a:pPr marL="0" indent="0" algn="ctr">
              <a:lnSpc>
                <a:spcPct val="104000"/>
              </a:lnSpc>
              <a:spcBef>
                <a:spcPts val="400"/>
              </a:spcBef>
              <a:buNone/>
            </a:pPr>
            <a:r>
              <a:rPr lang="en-US" sz="1750" dirty="0">
                <a:solidFill>
                  <a:srgbClr val="000000"/>
                </a:solidFill>
                <a:latin typeface="Arial"/>
                <a:cs typeface="Arial"/>
              </a:rPr>
              <a:t>Không có KTC 95%</a:t>
            </a:r>
          </a:p>
          <a:p>
            <a:pPr marL="0" indent="0" algn="ctr">
              <a:lnSpc>
                <a:spcPct val="104000"/>
              </a:lnSpc>
              <a:spcBef>
                <a:spcPts val="400"/>
              </a:spcBef>
              <a:buNone/>
            </a:pPr>
            <a:r>
              <a:rPr lang="en-US" sz="1750" dirty="0">
                <a:solidFill>
                  <a:srgbClr val="000000"/>
                </a:solidFill>
                <a:latin typeface="Arial"/>
                <a:cs typeface="Arial"/>
              </a:rPr>
              <a:t>Không có mốc thời gian</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tốt</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28 ngày là 30% ở nhóm hạn chế so với 38% ở nhóm thường quy (chênh lệch nguy cơ -8 điểm %, KTC 95% -15 đến -1)."</a:t>
            </a:r>
          </a:p>
          <a:p>
            <a:pPr marL="0" indent="0" algn="ctr">
              <a:lnSpc>
                <a:spcPct val="104000"/>
              </a:lnSpc>
              <a:spcBef>
                <a:spcPts val="400"/>
              </a:spcBef>
              <a:buNone/>
            </a:pPr>
            <a:r>
              <a:rPr lang="en-US" sz="1750" dirty="0">
                <a:solidFill>
                  <a:srgbClr val="000000"/>
                </a:solidFill>
                <a:latin typeface="Arial"/>
                <a:cs typeface="Arial"/>
              </a:rPr>
              <a:t>Có số mỗi nhóm</a:t>
            </a:r>
          </a:p>
          <a:p>
            <a:pPr marL="0" indent="0" algn="ctr">
              <a:lnSpc>
                <a:spcPct val="104000"/>
              </a:lnSpc>
              <a:spcBef>
                <a:spcPts val="400"/>
              </a:spcBef>
              <a:buNone/>
            </a:pPr>
            <a:r>
              <a:rPr lang="en-US" sz="1750" dirty="0">
                <a:solidFill>
                  <a:srgbClr val="000000"/>
                </a:solidFill>
                <a:latin typeface="Arial"/>
                <a:cs typeface="Arial"/>
              </a:rPr>
              <a:t>Có cỡ tác động</a:t>
            </a:r>
          </a:p>
          <a:p>
            <a:pPr marL="0" indent="0" algn="ctr">
              <a:lnSpc>
                <a:spcPct val="104000"/>
              </a:lnSpc>
              <a:spcBef>
                <a:spcPts val="400"/>
              </a:spcBef>
              <a:buNone/>
            </a:pPr>
            <a:r>
              <a:rPr lang="en-US" sz="1750" dirty="0">
                <a:solidFill>
                  <a:srgbClr val="000000"/>
                </a:solidFill>
                <a:latin typeface="Arial"/>
                <a:cs typeface="Arial"/>
              </a:rPr>
              <a:t>Có KTC 95%</a:t>
            </a:r>
          </a:p>
          <a:p>
            <a:pPr marL="0" indent="0" algn="ctr">
              <a:lnSpc>
                <a:spcPct val="104000"/>
              </a:lnSpc>
              <a:spcBef>
                <a:spcPts val="400"/>
              </a:spcBef>
              <a:buNone/>
            </a:pPr>
            <a:r>
              <a:rPr lang="en-US" sz="1750" dirty="0">
                <a:solidFill>
                  <a:srgbClr val="000000"/>
                </a:solidFill>
                <a:latin typeface="Arial"/>
                <a:cs typeface="Arial"/>
              </a:rPr>
              <a:t>Có mốc thời gian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Dữ liệu nói gì</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Lời văn nói gì (thổi phồng)</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Gặp ở</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Giá trị p</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"một xu hướng không có ý nghĩa"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1, Bàn luận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Kết cục</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Kết cục chính: không khác biệt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Tiêu điểm = một kết cục phụ có lợi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Liên quan trong quan sát</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"Tác động của...", "làm giảm"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2, tiêu đề</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So sánh</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Không so sánh giữa nhóm</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"Người bệnh cải thiện" (chỉ trước-sau)</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thuần tập: 'Cân bằng dịch dương làm tăng tử vong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p = 0.31: 'một xu hướng có lợi đầy hứa hẹn'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không khác biệt, nhưng tiêu điểm tóm tắt lại là 'cải thiện sự hài lòng của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giảm từ 30% xuống 22% sau quy trình dịch mới của chúng tôi'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giảng viên gọi 2-3 bạn bật micro: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Bài báo 1 (Boulet 2024, Crit Care): tóm tắt ở trang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Điền bảng đọc (Bài tập 3): thiết kế,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cục chính, số sàng lọc và số phân tích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quả chính kèm KTC 95% và giá trị 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luận có khớp với kết quả? Có thổi phồng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Gõ kết cục chính và kết quả chính vào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8 phút tự đọc</a:t>
            </a:r>
          </a:p>
          <a:p>
            <a:pPr marL="0" indent="0" algn="ctr">
              <a:lnSpc>
                <a:spcPct val="104000"/>
              </a:lnSpc>
              <a:spcBef>
                <a:spcPts val="300"/>
              </a:spcBef>
              <a:buNone/>
            </a:pPr>
            <a:r>
              <a:rPr lang="en-US" sz="1500" dirty="0">
                <a:solidFill>
                  <a:srgbClr val="000000"/>
                </a:solidFill>
                <a:latin typeface="Arial"/>
                <a:cs typeface="Arial"/>
              </a:rPr>
              <a:t>4 phút kiểm tra trong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Bài báo 1 ghi gì</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RCT thí điểm (pilot RCT), mù đơn (người bệnh và nhà thống kê), 3 ICU</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Người lớn 18-85 tuổi, sốc nhiễm khuẩn, 24 giờ đầu dùng vận mạch</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Hạn chế dịch duy trì và dịch pha thuốc (7 ngày) vs tiêu chuẩn</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cục chính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Cân bằng dịch tích lũy ngày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Số lượng</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sàng lọc, 50 phân nhóm, 48 phân tích (24 mỗi nhóm)</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Kết quả chính</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Trung vị 6.9 vs 35.0 ml/kg. Chênh lệch 13.2 (KTC 95% -15.2 đến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Không giảm cân bằng dịch ngày 5 (khớp với kết quả)</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Các bài báo bạn đọc trở thành trang đầu tiên của đề cương.</a:t>
            </a:r>
          </a:p>
          <a:p>
            <a:pPr marL="0" indent="0" algn="ctr">
              <a:spcBef>
                <a:spcPts val="1200"/>
              </a:spcBef>
              <a:buNone/>
            </a:pPr>
            <a:r>
              <a:rPr lang="en-US" sz="1900" i="1" dirty="0">
                <a:solidFill>
                  <a:srgbClr val="595959"/>
                </a:solidFill>
                <a:latin typeface="Arial"/>
                <a:cs typeface="Arial"/>
              </a:rPr>
              <a:t>15 phút: phiếu tổng quan tài liệu, phễu đặt vấn đề, một phần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05097"/>
          <a:ext cx="11277600" cy="3934708"/>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380000">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Thiết kế, cỡ mẫu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So sánh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Kết cục chính: kết quả</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Hạn chế chính</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thí điểm (pilot RCT), 3 ICU,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dịch "ẩn" vs tiêu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Cân bằng dịch ngày 5: khác biệt không ý nghĩa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Cỡ mẫu nhỏ, không đủ lực cho tử vong</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Thuần tập ghép cặp, sổ đăng ký, 20 BV</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dương vs âm</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Tử vong 28 ngày cao hơn nếu dương ở ngày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Quan sát: có thể có yếu tố gây nhiễu</a:t>
                      </a:r>
                    </a:p>
                  </a:txBody>
                  <a:tcPr marL="73152" marR="73152" marT="45720" marB="45720" anchor="ctr">
                    <a:solidFill>
                      <a:srgbClr val="F5F9FA"/>
                    </a:solidFill>
                  </a:tcPr>
                </a:tc>
              </a:tr>
              <a:tr h="888677">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lớn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vs dịch tĩnh mạch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Tử vong 90 ngày 42.3% vs 42.1%: không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Bác sĩ không được làm mù</a:t>
                      </a:r>
                    </a:p>
                  </a:txBody>
                  <a:tcPr marL="73152" marR="73152" marT="45720" marB="45720" anchor="ctr">
                    <a:solidFill>
                      <a:srgbClr val="FFFFFF"/>
                    </a:solidFill>
                  </a:tcPr>
                </a:tc>
              </a:tr>
              <a:tr h="888677">
                <a:tc>
                  <a:txBody>
                    <a:bodyPr/>
                    <a:lstStyle/>
                    <a:p>
                      <a:pPr algn="l"/>
                      <a:r>
                        <a:rPr lang="en-US" sz="1700" b="1" dirty="0">
                          <a:solidFill>
                            <a:srgbClr val="595959"/>
                          </a:solidFill>
                          <a:latin typeface="Arial"/>
                          <a:cs typeface="Arial"/>
                        </a:rPr>
                        <a:t>Bài báo 4 của bạn</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đã biết</a:t>
            </a:r>
          </a:p>
          <a:p>
            <a:pPr marL="0" indent="0" algn="ctr">
              <a:lnSpc>
                <a:spcPct val="100000"/>
              </a:lnSpc>
              <a:spcBef>
                <a:spcPts val="300"/>
              </a:spcBef>
              <a:buNone/>
            </a:pPr>
            <a:r>
              <a:rPr lang="en-US" sz="1500" dirty="0">
                <a:solidFill>
                  <a:srgbClr val="FFFFFF"/>
                </a:solidFill>
                <a:latin typeface="Arial"/>
                <a:cs typeface="Arial"/>
              </a:rPr>
              <a:t>Vấn đề và thực hành hiện nay, có trích dẫn</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chưa biết</a:t>
            </a:r>
          </a:p>
          <a:p>
            <a:pPr marL="0" indent="0" algn="ctr">
              <a:lnSpc>
                <a:spcPct val="100000"/>
              </a:lnSpc>
              <a:spcBef>
                <a:spcPts val="300"/>
              </a:spcBef>
              <a:buNone/>
            </a:pPr>
            <a:r>
              <a:rPr lang="en-US" sz="1500" dirty="0">
                <a:solidFill>
                  <a:srgbClr val="FFFFFF"/>
                </a:solidFill>
                <a:latin typeface="Arial"/>
                <a:cs typeface="Arial"/>
              </a:rPr>
              <a:t>Khoảng trống: nghiên cứu mâu thuẫn, quá nhỏ hoặc chưa đo</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Câu hỏi và mục tiêu</a:t>
            </a:r>
          </a:p>
          <a:p>
            <a:pPr marL="0" indent="0" algn="ctr">
              <a:lnSpc>
                <a:spcPct val="100000"/>
              </a:lnSpc>
              <a:spcBef>
                <a:spcPts val="300"/>
              </a:spcBef>
              <a:buNone/>
            </a:pPr>
            <a:r>
              <a:rPr lang="en-US" sz="1500" dirty="0">
                <a:solidFill>
                  <a:srgbClr val="FFFFFF"/>
                </a:solidFill>
                <a:latin typeface="Arial"/>
                <a:cs typeface="Arial"/>
              </a:rPr>
              <a:t>Câu hỏi PICO, mục đích và mục tiêu của bạn</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Phần Đặt vấn đề</a:t>
            </a:r>
          </a:p>
          <a:p>
            <a:pPr marL="0" indent="0" algn="ctr">
              <a:lnSpc>
                <a:spcPct val="100000"/>
              </a:lnSpc>
              <a:spcBef>
                <a:spcPts val="300"/>
              </a:spcBef>
              <a:buNone/>
            </a:pPr>
            <a:r>
              <a:rPr lang="en-US" sz="1600" dirty="0">
                <a:solidFill>
                  <a:srgbClr val="1A1A1A"/>
                </a:solidFill>
                <a:latin typeface="Arial"/>
                <a:cs typeface="Arial"/>
              </a:rPr>
              <a:t>3 đoạn ngắn</a:t>
            </a:r>
          </a:p>
          <a:p>
            <a:pPr marL="0" indent="0" algn="ctr">
              <a:lnSpc>
                <a:spcPct val="100000"/>
              </a:lnSpc>
              <a:spcBef>
                <a:spcPts val="300"/>
              </a:spcBef>
              <a:buNone/>
            </a:pPr>
            <a:r>
              <a:rPr lang="en-US" sz="1600" dirty="0">
                <a:solidFill>
                  <a:srgbClr val="1A1A1A"/>
                </a:solidFill>
                <a:latin typeface="Arial"/>
                <a:cs typeface="Arial"/>
              </a:rPr>
              <a:t>Khoảng 300 từ</a:t>
            </a:r>
          </a:p>
          <a:p>
            <a:pPr marL="0" indent="0" algn="ctr">
              <a:lnSpc>
                <a:spcPct val="100000"/>
              </a:lnSpc>
              <a:spcBef>
                <a:spcPts val="300"/>
              </a:spcBef>
              <a:buNone/>
            </a:pPr>
            <a:r>
              <a:rPr lang="en-US" sz="1600" dirty="0">
                <a:solidFill>
                  <a:srgbClr val="1A1A1A"/>
                </a:solidFill>
                <a:latin typeface="Arial"/>
                <a:cs typeface="Arial"/>
              </a:rPr>
              <a:t>Mỗi dữ kiện có trích dẫn</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Không đưa vào Đặt vấn đề</a:t>
            </a:r>
          </a:p>
          <a:p>
            <a:pPr marL="0" indent="0" algn="ctr">
              <a:lnSpc>
                <a:spcPct val="100000"/>
              </a:lnSpc>
              <a:spcBef>
                <a:spcPts val="300"/>
              </a:spcBef>
              <a:buNone/>
            </a:pPr>
            <a:r>
              <a:rPr lang="en-US" sz="1600" dirty="0">
                <a:solidFill>
                  <a:srgbClr val="1A1A1A"/>
                </a:solidFill>
                <a:latin typeface="Arial"/>
                <a:cs typeface="Arial"/>
              </a:rPr>
              <a:t>Số liệu hoặc kết quả của chính bạn</a:t>
            </a:r>
          </a:p>
          <a:p>
            <a:pPr marL="0" indent="0" algn="ctr">
              <a:lnSpc>
                <a:spcPct val="100000"/>
              </a:lnSpc>
              <a:spcBef>
                <a:spcPts val="300"/>
              </a:spcBef>
              <a:buNone/>
            </a:pPr>
            <a:r>
              <a:rPr lang="en-US" sz="1600" dirty="0">
                <a:solidFill>
                  <a:srgbClr val="1A1A1A"/>
                </a:solidFill>
                <a:latin typeface="Arial"/>
                <a:cs typeface="Arial"/>
              </a:rPr>
              <a:t>Số liệu địa phương chỉ khi đã công bố,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rồi chưa biết, rồi câu hỏi và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phần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Điều đã biết</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Sốc nhiễm khuẩn là nguyên nhân tử vong hàng đầu ở ICU. Dịch sớm cải thiện tưới máu, nhưng truyền tiếp thường gây cân bằng dịch dương, mà các nghiên cứu thuần tập thấy liên quan với tử vong cao hơn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Điều chưa biết</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Các thử nghiệm lớn về hạn chế dịch không thấy khác biệt tử vong [3, 4], và một thử nghiệm thí điểm nhắm vào dịch "ẩn" không giảm có ý nghĩa cân bằng dịch [1]. Hạn chế dịch có thật sự giảm được cân bằng dịch hay không vẫn chưa rõ.</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Câu hỏi và mục tiêu</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Vì vậy chúng tôi đặt câu hỏi: ở người lớn bị sốc nhiễm khuẩn, quy trình hạn chế dịch có làm giảm cân bằng dịch ngày 5 so với thường quy không? Mục tiêu chính: so sánh cân bằng dịch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ngắn, mỗi đoạn một nhiệm vụ, mỗi dữ kiện có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7623"/>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PICO</a:t>
            </a:r>
          </a:p>
        </p:txBody>
      </p:sp>
      <p:sp>
        <p:nvSpPr>
          <p:cNvPr id="71" name="CardBody"/>
          <p:cNvSpPr/>
          <p:nvPr/>
        </p:nvSpPr>
        <p:spPr>
          <a:xfrm>
            <a:off x="457200"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người lớn bị sốc nhiễm khuẩn</a:t>
            </a:r>
          </a:p>
          <a:p>
            <a:pPr marL="0" indent="0" algn="ctr">
              <a:lnSpc>
                <a:spcPct val="104000"/>
              </a:lnSpc>
              <a:spcBef>
                <a:spcPts val="400"/>
              </a:spcBef>
              <a:buNone/>
            </a:pPr>
            <a:r>
              <a:rPr lang="en-US" sz="1800" dirty="0">
                <a:solidFill>
                  <a:srgbClr val="000000"/>
                </a:solidFill>
                <a:latin typeface="Arial"/>
                <a:cs typeface="Arial"/>
              </a:rPr>
              <a:t>I: hạn chế dịch</a:t>
            </a:r>
          </a:p>
          <a:p>
            <a:pPr marL="0" indent="0" algn="ctr">
              <a:lnSpc>
                <a:spcPct val="104000"/>
              </a:lnSpc>
              <a:spcBef>
                <a:spcPts val="400"/>
              </a:spcBef>
              <a:buNone/>
            </a:pPr>
            <a:r>
              <a:rPr lang="en-US" sz="1800" dirty="0">
                <a:solidFill>
                  <a:srgbClr val="000000"/>
                </a:solidFill>
                <a:latin typeface="Arial"/>
                <a:cs typeface="Arial"/>
              </a:rPr>
              <a:t>C: dịch thường quy</a:t>
            </a:r>
          </a:p>
          <a:p>
            <a:pPr marL="0" indent="0" algn="ctr">
              <a:lnSpc>
                <a:spcPct val="104000"/>
              </a:lnSpc>
              <a:spcBef>
                <a:spcPts val="400"/>
              </a:spcBef>
              <a:buNone/>
            </a:pPr>
            <a:r>
              <a:rPr lang="en-US" sz="1800" dirty="0">
                <a:solidFill>
                  <a:srgbClr val="000000"/>
                </a:solidFill>
                <a:latin typeface="Arial"/>
                <a:cs typeface="Arial"/>
              </a:rPr>
              <a:t>O: cân bằng dịch</a:t>
            </a:r>
          </a:p>
          <a:p>
            <a:pPr marL="0" indent="0" algn="ctr">
              <a:lnSpc>
                <a:spcPct val="104000"/>
              </a:lnSpc>
              <a:spcBef>
                <a:spcPts val="400"/>
              </a:spcBef>
              <a:buNone/>
            </a:pPr>
            <a:r>
              <a:rPr lang="en-US" sz="1800" dirty="0">
                <a:solidFill>
                  <a:srgbClr val="000000"/>
                </a:solidFill>
                <a:latin typeface="Arial"/>
                <a:cs typeface="Arial"/>
              </a:rPr>
              <a:t>TK (thiết kế): RCT thí điểm (pilot RCT)</a:t>
            </a:r>
          </a:p>
        </p:txBody>
      </p:sp>
      <p:sp>
        <p:nvSpPr>
          <p:cNvPr id="72" name="CardHead"/>
          <p:cNvSpPr/>
          <p:nvPr/>
        </p:nvSpPr>
        <p:spPr>
          <a:xfrm>
            <a:off x="4004153" y="1487623"/>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Tên đề tài tạm (13 từ)</a:t>
            </a:r>
          </a:p>
        </p:txBody>
      </p:sp>
      <p:sp>
        <p:nvSpPr>
          <p:cNvPr id="73" name="CardBody"/>
          <p:cNvSpPr/>
          <p:nvPr/>
        </p:nvSpPr>
        <p:spPr>
          <a:xfrm>
            <a:off x="4004153" y="2127623"/>
            <a:ext cx="4183692"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từ, thấy rõ đối tượng, so sánh, thiết kế</a:t>
            </a:r>
          </a:p>
          <a:p>
            <a:pPr marL="0" indent="0" algn="ctr">
              <a:lnSpc>
                <a:spcPct val="104000"/>
              </a:lnSpc>
              <a:spcBef>
                <a:spcPts val="400"/>
              </a:spcBef>
              <a:buNone/>
            </a:pPr>
            <a:r>
              <a:rPr lang="en-US" sz="1800" dirty="0">
                <a:solidFill>
                  <a:srgbClr val="000000"/>
                </a:solidFill>
                <a:latin typeface="Arial"/>
                <a:cs typeface="Arial"/>
              </a:rPr>
              <a:t>Không viết tắt, không dùng 'tác động' cho dữ liệu quan sát</a:t>
            </a:r>
          </a:p>
        </p:txBody>
      </p:sp>
      <p:sp>
        <p:nvSpPr>
          <p:cNvPr id="74" name="CardHead"/>
          <p:cNvSpPr/>
          <p:nvPr/>
        </p:nvSpPr>
        <p:spPr>
          <a:xfrm>
            <a:off x="8387845" y="1487623"/>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khóa (3-6)</a:t>
            </a:r>
          </a:p>
        </p:txBody>
      </p:sp>
      <p:sp>
        <p:nvSpPr>
          <p:cNvPr id="75" name="CardBody"/>
          <p:cNvSpPr/>
          <p:nvPr/>
        </p:nvSpPr>
        <p:spPr>
          <a:xfrm>
            <a:off x="8387845"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Thuật ngữ MeSH chưa có trong tiêu đề</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tìm bằng chứng cho câu hỏi của riêng bạn: một chuỗi tìm kiếm, năm bài báo, một đoạn đặt vấn đề, một tên đề tài.</a:t>
            </a:r>
          </a:p>
          <a:p>
            <a:pPr marL="0" indent="0" algn="ctr">
              <a:spcBef>
                <a:spcPts val="1200"/>
              </a:spcBef>
              <a:buNone/>
            </a:pPr>
            <a:r>
              <a:rPr lang="en-US" sz="1900" i="1" dirty="0">
                <a:solidFill>
                  <a:srgbClr val="595959"/>
                </a:solidFill>
                <a:latin typeface="Arial"/>
                <a:cs typeface="Arial"/>
              </a:rPr>
              <a:t>35 phút: giảng viên tìm trực tiếp cho ví dụ xuyên suốt, rồi bạn tìm cho câu hỏi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 bằng chứng cho câu hỏi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sàng lọc trực tiếp kết quả tìm kiếm của ví dụ xuyên suốt, và gợi ý bài và từ khóa trong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Chạy chuỗi tìm kiếm của bạn trên PubMed. Ghi ngày và số kết quả</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Sàng lọc tiêu đề và tóm tắt, chọn 5 bài chính và lưu vào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mỗi bài một dòng trong phiếu tổng quan tài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nháp đặt vấn đề (đã biết, chưa biết, câu hỏi) và tên đề tài tạm</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tên đề tài và câu nêu khoảng trống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0-10 phút: giảng viên làm mẫu trực tiếp</a:t>
            </a:r>
          </a:p>
          <a:p>
            <a:pPr marL="0" indent="0" algn="ctr">
              <a:lnSpc>
                <a:spcPct val="104000"/>
              </a:lnSpc>
              <a:spcBef>
                <a:spcPts val="300"/>
              </a:spcBef>
              <a:buNone/>
            </a:pPr>
            <a:r>
              <a:rPr lang="en-US" sz="1500" dirty="0">
                <a:solidFill>
                  <a:srgbClr val="000000"/>
                </a:solidFill>
                <a:latin typeface="Arial"/>
                <a:cs typeface="Arial"/>
              </a:rPr>
              <a:t>10-30 phút: bạn tự tìm và viết phần của mình</a:t>
            </a:r>
          </a:p>
          <a:p>
            <a:pPr marL="0" indent="0" algn="ctr">
              <a:lnSpc>
                <a:spcPct val="104000"/>
              </a:lnSpc>
              <a:spcBef>
                <a:spcPts val="300"/>
              </a:spcBef>
              <a:buNone/>
            </a:pPr>
            <a:r>
              <a:rPr lang="en-US" sz="1500" dirty="0">
                <a:solidFill>
                  <a:srgbClr val="000000"/>
                </a:solidFill>
                <a:latin typeface="Arial"/>
                <a:cs typeface="Arial"/>
              </a:rPr>
              <a:t>30-35 phút: hai bạn tình nguyện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Tiếp tục Đề cương Phần 1 của bạn: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một nhãn chung cho nhiều cách viết của một ý</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hẹp / mở rộng / loại bỏ. OR trong khối, AND giữa các khối</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Phần mềm quản lý tài liệu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Lưu mỗi bài một lần và định dạng trích dẫn theo mọi kiểu</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Viết chắp vá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Chép và đổi vài từ: đạo văn dù có trích dẫn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Đặt vấn đề, Phương pháp, Kết quả và Bàn luận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Thổi phồng (spin)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Lời văn khẳng định nhiều hơn những gì con số cho thấy</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Tìm kiếm</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Khối PICO, MeSH và từ tự do</a:t>
            </a:r>
          </a:p>
          <a:p>
            <a:pPr marL="0" indent="0" algn="ctr">
              <a:lnSpc>
                <a:spcPct val="104000"/>
              </a:lnSpc>
              <a:spcBef>
                <a:spcPts val="400"/>
              </a:spcBef>
              <a:buNone/>
            </a:pPr>
            <a:r>
              <a:rPr lang="en-US" sz="1750" dirty="0">
                <a:solidFill>
                  <a:srgbClr val="000000"/>
                </a:solidFill>
                <a:latin typeface="Arial"/>
                <a:cs typeface="Arial"/>
              </a:rPr>
              <a:t>OR trong khối, AND giữa các khối</a:t>
            </a:r>
          </a:p>
          <a:p>
            <a:pPr marL="0" indent="0" algn="ctr">
              <a:lnSpc>
                <a:spcPct val="104000"/>
              </a:lnSpc>
              <a:spcBef>
                <a:spcPts val="400"/>
              </a:spcBef>
              <a:buNone/>
            </a:pPr>
            <a:r>
              <a:rPr lang="en-US" sz="1750" dirty="0">
                <a:solidFill>
                  <a:srgbClr val="000000"/>
                </a:solidFill>
                <a:latin typeface="Arial"/>
                <a:cs typeface="Arial"/>
              </a:rPr>
              <a:t>Ghi lại chiến lược tìm kiếm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Trích dẫn trung thực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từ ngày đầu</a:t>
            </a:r>
          </a:p>
          <a:p>
            <a:pPr marL="0" indent="0" algn="ctr">
              <a:lnSpc>
                <a:spcPct val="104000"/>
              </a:lnSpc>
              <a:spcBef>
                <a:spcPts val="400"/>
              </a:spcBef>
              <a:buNone/>
            </a:pPr>
            <a:r>
              <a:rPr lang="en-US" sz="1750" dirty="0">
                <a:solidFill>
                  <a:srgbClr val="000000"/>
                </a:solidFill>
                <a:latin typeface="Arial"/>
                <a:cs typeface="Arial"/>
              </a:rPr>
              <a:t>Lời của chính mình</a:t>
            </a:r>
          </a:p>
          <a:p>
            <a:pPr marL="0" indent="0" algn="ctr">
              <a:lnSpc>
                <a:spcPct val="104000"/>
              </a:lnSpc>
              <a:spcBef>
                <a:spcPts val="400"/>
              </a:spcBef>
              <a:buNone/>
            </a:pPr>
            <a:r>
              <a:rPr lang="en-US" sz="1750" dirty="0">
                <a:solidFill>
                  <a:srgbClr val="000000"/>
                </a:solidFill>
                <a:latin typeface="Arial"/>
                <a:cs typeface="Arial"/>
              </a:rPr>
              <a:t>Đọc bài mình trích dẫn</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thông minh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Tiêu đề, tóm tắt, hình bảng, phương pháp</a:t>
            </a:r>
          </a:p>
          <a:p>
            <a:pPr marL="0" indent="0" algn="ctr">
              <a:lnSpc>
                <a:spcPct val="104000"/>
              </a:lnSpc>
              <a:spcBef>
                <a:spcPts val="400"/>
              </a:spcBef>
              <a:buNone/>
            </a:pPr>
            <a:r>
              <a:rPr lang="en-US" sz="1750" dirty="0">
                <a:solidFill>
                  <a:srgbClr val="000000"/>
                </a:solidFill>
                <a:latin typeface="Arial"/>
                <a:cs typeface="Arial"/>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Xong Tuần 1-2: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chuỗi nào cho nhiều kết quả hơn: septic shock AND fluids, hay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kết cục chính của Bài báo 1 là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5 tài liệu chính, các dòng phiếu tổng quan và phần đặt vấn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một bài của bạn theo quy trình 15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tóm tắt Bài báo 2 (Hyun 2023) với bảng đọc (Bài tập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2 (diễn đạt lại), làm ở nhà</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tra Bài báo 1 (NCT04947904) trên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Sẵn sàng cho thứ Bảy tuần sau</a:t>
            </a:r>
          </a:p>
          <a:p>
            <a:pPr marL="0" indent="0" algn="ctr">
              <a:lnSpc>
                <a:spcPct val="104000"/>
              </a:lnSpc>
              <a:spcBef>
                <a:spcPts val="300"/>
              </a:spcBef>
              <a:buNone/>
            </a:pPr>
            <a:r>
              <a:rPr lang="en-US" sz="1500" dirty="0">
                <a:solidFill>
                  <a:srgbClr val="000000"/>
                </a:solidFill>
                <a:latin typeface="Arial"/>
                <a:cs typeface="Arial"/>
              </a:rPr>
              <a:t>Đề cương Phần 1 của bạn</a:t>
            </a:r>
          </a:p>
          <a:p>
            <a:pPr marL="0" indent="0" algn="ctr">
              <a:lnSpc>
                <a:spcPct val="104000"/>
              </a:lnSpc>
              <a:spcBef>
                <a:spcPts val="300"/>
              </a:spcBef>
              <a:buNone/>
            </a:pPr>
            <a:r>
              <a:rPr lang="en-US" sz="1500" dirty="0">
                <a:solidFill>
                  <a:srgbClr val="000000"/>
                </a:solidFill>
                <a:latin typeface="Arial"/>
                <a:cs typeface="Arial"/>
              </a:rPr>
              <a:t>Phiếu tổng quan tài liệu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2</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9853"/>
          <a:ext cx="11277600" cy="40204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Cơ sở dữ liệu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Phạm vi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Truy cập</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Thư viện Cochrane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của Cochrane (CDSR) và sổ thử nghiệm có đối chứng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Tìm và đọc tóm tắt 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Cơ sở dữ liệu y sinh lớn, mạnh về thuốc và tóm tắt hội nghị</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Nhiều ngành, có liên kết tới các bài trích dẫn mỗi bài</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Điều dưỡng và các ngành sức khỏe liên quan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về sức khỏe, nhiều ngôn ngữ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Sổ đăng ký</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Thử nghiệm: ClinicalTrials.gov, WHO ICTRP. Tổng quan: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Mở</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Trang chủ PubMed</a:t>
            </a:r>
          </a:p>
          <a:p>
            <a:pPr marL="0" indent="0" algn="ctr">
              <a:lnSpc>
                <a:spcPct val="104000"/>
              </a:lnSpc>
              <a:spcBef>
                <a:spcPts val="200"/>
              </a:spcBef>
              <a:buNone/>
            </a:pPr>
            <a:r>
              <a:rPr lang="en-US" sz="1500" dirty="0">
                <a:solidFill>
                  <a:srgbClr val="000000"/>
                </a:solidFill>
                <a:latin typeface="Arial"/>
                <a:cs typeface="Arial"/>
              </a:rPr>
              <a:t>Clinical Queries, 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Gõ</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khóa chủ đề</a:t>
            </a:r>
          </a:p>
          <a:p>
            <a:pPr marL="0" indent="0" algn="ctr">
              <a:lnSpc>
                <a:spcPct val="104000"/>
              </a:lnSpc>
              <a:spcBef>
                <a:spcPts val="200"/>
              </a:spcBef>
              <a:buNone/>
            </a:pPr>
            <a:r>
              <a:rPr lang="en-US" sz="1500" dirty="0">
                <a:solidFill>
                  <a:srgbClr val="000000"/>
                </a:solidFill>
                <a:latin typeface="Arial"/>
                <a:cs typeface="Arial"/>
              </a:rPr>
              <a:t>Ví dụ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Loại: điều trị, chẩn đoán, nguyên nhân hoặc 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Phạm vi</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Rộng: tìm được nhiều hơn</a:t>
            </a:r>
          </a:p>
          <a:p>
            <a:pPr marL="0" indent="0" algn="ctr">
              <a:lnSpc>
                <a:spcPct val="104000"/>
              </a:lnSpc>
              <a:spcBef>
                <a:spcPts val="200"/>
              </a:spcBef>
              <a:buNone/>
            </a:pPr>
            <a:r>
              <a:rPr lang="en-US" sz="1500" dirty="0">
                <a:solidFill>
                  <a:srgbClr val="000000"/>
                </a:solidFill>
                <a:latin typeface="Arial"/>
                <a:cs typeface="Arial"/>
              </a:rPr>
              <a:t>Hẹp: chính xác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tạp chí, luận văn, bản thảo trước in, xếp hạng bằng thuật toán ẩn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Dưới một thử nghiệm chính, bấm 'Cited by', rồi tìm trong các bài trích dẫn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lại câu chữ đã công bố của mình</a:t>
            </a:r>
          </a:p>
          <a:p>
            <a:pPr marL="0" indent="0" algn="ctr">
              <a:lnSpc>
                <a:spcPct val="104000"/>
              </a:lnSpc>
              <a:spcBef>
                <a:spcPts val="400"/>
              </a:spcBef>
              <a:buNone/>
            </a:pPr>
            <a:r>
              <a:rPr lang="en-US" sz="1600" dirty="0">
                <a:solidFill>
                  <a:srgbClr val="000000"/>
                </a:solidFill>
                <a:latin typeface="Arial"/>
                <a:cs typeface="Arial"/>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xóa được đạo văn</a:t>
            </a:r>
          </a:p>
          <a:p>
            <a:pPr marL="0" indent="0" algn="ctr">
              <a:lnSpc>
                <a:spcPct val="104000"/>
              </a:lnSpc>
              <a:spcBef>
                <a:spcPts val="400"/>
              </a:spcBef>
              <a:buNone/>
            </a:pPr>
            <a:r>
              <a:rPr lang="en-US" sz="1600" dirty="0">
                <a:solidFill>
                  <a:srgbClr val="000000"/>
                </a:solidFill>
                <a:latin typeface="Arial"/>
                <a:cs typeface="Arial"/>
              </a:rPr>
              <a:t>Bạn vẫn 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thể bị bịa</a:t>
            </a:r>
          </a:p>
          <a:p>
            <a:pPr marL="0" indent="0" algn="ctr">
              <a:lnSpc>
                <a:spcPct val="104000"/>
              </a:lnSpc>
              <a:spcBef>
                <a:spcPts val="400"/>
              </a:spcBef>
              <a:buNone/>
            </a:pPr>
            <a:r>
              <a:rPr lang="en-US" sz="1600" dirty="0">
                <a:solidFill>
                  <a:srgbClr val="000000"/>
                </a:solidFill>
                <a:latin typeface="Arial"/>
                <a:cs typeface="Arial"/>
              </a:rPr>
              <a:t>Tìm từng tài liệu 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sàng lọc bài nộp để tìm 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