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 id="301" r:id="rId145"/>
    <p:sldId id="302" r:id="rId146"/>
    <p:sldId id="303" r:id="rId147"/>
    <p:sldId id="304" r:id="rId148"/>
    <p:sldId id="305" r:id="rId149"/>
    <p:sldId id="306" r:id="rId15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 Id="rId145" Type="http://schemas.openxmlformats.org/officeDocument/2006/relationships/slide" Target="slides/slide46.xml"/><Relationship Id="rId146" Type="http://schemas.openxmlformats.org/officeDocument/2006/relationships/slide" Target="slides/slide47.xml"/><Relationship Id="rId147" Type="http://schemas.openxmlformats.org/officeDocument/2006/relationships/slide" Target="slides/slide48.xml"/><Relationship Id="rId148" Type="http://schemas.openxmlformats.org/officeDocument/2006/relationships/slide" Target="slides/slide49.xml"/><Relationship Id="rId149" Type="http://schemas.openxmlformats.org/officeDocument/2006/relationships/slide" Target="slides/slide50.xml"/><Relationship Id="rId150" Type="http://schemas.openxmlformats.org/officeDocument/2006/relationships/slide" Target="slides/slide51.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Bắt đầu 19:30. Nếu câu hỏi cuối Buổi 1 cho thấy nhiều động từ mơ hồ, dành một phút cho mục tiêu.</a:t>
            </a:r>
          </a:p>
          <a:p>
            <a:r>
              <a:rPr lang="en-US" sz="1400" b="0" dirty="0"/>
              <a:t>Kiểm tra trong chat: đã có câu hỏi PICO, danh sách từ đồng nghĩa và Zotero. Dán link phiếu bài tập Buổi 2 và tệp PDF gốc của Bài báo 1.</a:t>
            </a:r>
          </a:p>
          <a:p>
            <a:r>
              <a:rPr lang="en-US" sz="1400" b="0" dirty="0"/>
              <a:t>Thời gian: 1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Gõ câu trả lời vào chat: 6 phút, rồi mời 2-3 người. Đáp án ở slide sau.</a:t>
            </a:r>
          </a:p>
          <a:p>
            <a:r>
              <a:rPr lang="en-US" sz="1400" b="0" dirty="0"/>
              <a:t>Thời gian: 8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Bình chọn: đúng bao nhiêu câu (0-3, 4 hay 5)? Nếu nhiều người sai câu 4 hoặc 5, dành một phút cho động từ đo được và H0.</a:t>
            </a:r>
          </a:p>
          <a:p>
            <a:r>
              <a:rPr lang="en-US" sz="1400" b="0" dirty="0"/>
              <a:t>Thời gian: 2 phút. Phần 2.1 bắt đầu lúc 19:40.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2.1: 19:40-20:20.</a:t>
            </a:r>
          </a:p>
          <a:p>
            <a:r>
              <a:rPr lang="en-US" sz="1400" b="0" dirty="0"/>
              <a:t>Hỏi: 'Khi cần bằng chứng gấp, bạn thường làm gì?' Google, hỏi đồng nghiệp, hướng dẫn: được cho chăm sóc, nhưng đề cương cần một lần tìm kiếm có ghi chép.</a:t>
            </a:r>
          </a:p>
          <a:p>
            <a:r>
              <a:rPr lang="en-US" sz="1400" b="0" dirty="0"/>
              <a:t>Thời gian: 1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Hai bước cuối do người đọc làm, không phải máy tính.</a:t>
            </a:r>
          </a:p>
          <a:p>
            <a:r>
              <a:rPr lang="en-US" sz="1400" b="0" dirty="0"/>
              <a:t>Hỏi: 'Vì sao phải ghi ngày và chuỗi tìm kiếm?' Mong đợi: để lặp lại được.</a:t>
            </a:r>
          </a:p>
          <a:p>
            <a:r>
              <a:rPr lang="en-US" sz="1400" b="0" dirty="0"/>
              <a:t>Quy mô PubMed: 'hơn 40 triệu trích dẫn' (trang About của PubMed, kiểm tra ngày 19/10/2026). Kiểm tra lại trước khi dạy.</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NOT loại cả bài tốt chỉ nhắc thuật ngữ một lần, nên ít dùng. Gõ toán tử bằng chữ in hoa và dùng ngoặc.</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Đáp án: 1 AND. 2 OR. 3 Ít hơn. 4 Loại mọi bài có nhắc đến trẻ em, kể cả nghiên cứu tốt ở người lớn.</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Tìm một thuật ngữ MeSH thì tìm cả các thuật ngữ hẹp hơn bên dưới. Bài mới có thể chưa được gắn MeSH, nên thêm từ [tiab].</a:t>
            </a:r>
          </a:p>
          <a:p>
            <a:r>
              <a:rPr lang="en-US" sz="1400" b="0" dirty="0"/>
              <a:t>Hỏi: 'Vì sao MeSH giúp điều dưỡng tìm về loét tì đè?' Mong đợi: một tiêu đề gom pressure ulcer, bedsore, decubitus ulcer.</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Giới thiệu nhanh ba cách. Phần trình diễn dùng cách 2. Đọc định nghĩa của tiêu đề trước khi dùng.</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Ví dụ: child* tìm được child, children, childhood. Lưu ý: nó cũng tìm ra childbirth, và từ cắt cụt không được ánh xạ sang MeSH.</a:t>
            </a:r>
          </a:p>
          <a:p>
            <a:r>
              <a:rPr lang="en-US" sz="1400" b="0" dirty="0"/>
              <a:t>Không lọc 'free full text': sẽ mất bài quan trọng.</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Bỏ khối so sánh: cách viết quá khác nhau.</a:t>
            </a:r>
          </a:p>
          <a:p>
            <a:r>
              <a:rPr lang="en-US" sz="1400" b="0" dirty="0"/>
              <a:t>Hỏi: 'Tác giả còn dùng từ nào cho restrictive?' Mong đợi: conservative, limited, de-resuscitation, negative fluid balance.</a:t>
            </a:r>
          </a:p>
          <a:p>
            <a:r>
              <a:rPr lang="en-US" sz="1400" b="0" dirty="0"/>
              <a:t>Thời gian: 4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Ở đây P và O cùng một ý, nên một khối chứa cả hai.</a:t>
            </a:r>
          </a:p>
          <a:p>
            <a:r>
              <a:rPr lang="en-US" sz="1400" b="0" dirty="0"/>
              <a:t>Hỏi: 'Từ khác cho repositioning?' Mong đợi: turning, position change, offloading.</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Chạy và báo cáo tìm kiếm trên PubMed. Dùng 'Cited by' của Scholar để tìm bài mới hơn và kiểm tra không sót bài.</a:t>
            </a:r>
          </a:p>
          <a:p>
            <a:r>
              <a:rPr lang="en-US" sz="1400" b="0" dirty="0"/>
              <a:t>Hỏi: 'Đồng nghiệp tìm được một bài rất hợp trên Google Scholar. Cần kiểm tra gì?' Mong đợi: đã bình duyệt hay là preprint, tạp chí có uy tín không.</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Nếu đã có tổng quan tốt, gần đây trả lời câu hỏi của bạn, hãy dựa vào đó. Nếu chưa có hoặc đã cũ, khoảng trống đó là một phần lý do nghiên cứu.</a:t>
            </a:r>
          </a:p>
          <a:p>
            <a:r>
              <a:rPr lang="en-US" sz="1400" b="0" dirty="0"/>
              <a:t>Hỏi: 'Có ai từng bắt đầu một dự án rồi mới thấy người khác đã làm rồi không?'</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Kịch bản: s2_demo_VN.md, Phần A. Nói chậm để mọi người ghi số kết quả.</a:t>
            </a:r>
          </a:p>
          <a:p>
            <a:r>
              <a:rPr lang="en-US" sz="1400" b="0" dirty="0"/>
              <a:t>CLASSIC (lần đầu nhắc đến): Meyhoff, NEJM 2022, 1554 người lớn, tử vong 90 ngày không thay đổi. Nói điều này khi bài xuất hiện trong kết quả.</a:t>
            </a:r>
          </a:p>
          <a:p>
            <a:r>
              <a:rPr lang="en-US" sz="1400" b="0" dirty="0"/>
              <a:t>Không hứa trước số kết quả. Nếu mất mạng, chuyển sang ảnh chụp màn hình.</a:t>
            </a:r>
          </a:p>
          <a:p>
            <a:r>
              <a:rPr lang="en-US" sz="1400" b="0" dirty="0"/>
              <a:t>Thời gian: 10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Mỗi người tự viết chuỗi. Sau 4 phút, mời 2-3 người đọc. Gõ lên màn hình và hỏi lớp thêm một từ đồng nghĩa.</a:t>
            </a:r>
          </a:p>
          <a:p>
            <a:r>
              <a:rPr lang="en-US" sz="1400" b="0" dirty="0"/>
              <a:t>Chú ý: thiếu ngoặc, trộn AND và OR trong một khối, có khối so sánh, dùng NOT không có lý do.</a:t>
            </a:r>
          </a:p>
          <a:p>
            <a:r>
              <a:rPr lang="en-US" sz="1400" b="0" dirty="0"/>
              <a:t>Thời gian: 5 phút. Phần 2.1 kết thúc lúc 20:20.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2.2: 20:20-20:40. Thời gian: 30 giây.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Cả lớp dùng Zotero. Lưu ngay chỉ mất vài giây, làm lại danh sách mất hàng giờ.</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Tạp chí nào cũng nêu kiểu trích dẫn trong hướng dẫn cho tác giả. Trích dẫn nghiên cứu gốc cho dữ kiện, không trích tổng quan nhắc lại nó.</a:t>
            </a:r>
          </a:p>
          <a:p>
            <a:r>
              <a:rPr lang="en-US" sz="1400" b="0" dirty="0"/>
              <a:t>Hỏi: 'Kiểu nào dùng [1]?' Mong đợi: Vancouver.</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Kịch bản: s2_demo_VN.md, Phần B. Mọi người làm lại từng bước trên máy mình. Ai bị lỗi Zotero thì xem trước, sửa sau với giảng viên thứ hai.</a:t>
            </a:r>
          </a:p>
          <a:p>
            <a:r>
              <a:rPr lang="en-US" sz="1400" b="0" dirty="0"/>
              <a:t>Nếu Zotero của giảng viên lỗi, chiếu ảnh chụp màn hình.</a:t>
            </a:r>
          </a:p>
          <a:p>
            <a:r>
              <a:rPr lang="en-US" sz="1400" b="0" dirty="0"/>
              <a:t>Thời gian: 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Viết chắp vá (patchwriting) là đạo văn, dù có trích dẫn. Cách làm: đọc, gấp bài báo, viết theo trí nhớ, kiểm tra, trích dẫn.</a:t>
            </a:r>
          </a:p>
          <a:p>
            <a:r>
              <a:rPr lang="en-US" sz="1400" b="0" dirty="0"/>
              <a:t>Hỏi: 'Chép phần Phương pháp từ bài báo cũ của chính mình có được không?' Mong đợi: đó là tái sử dụng văn bản, xem chính sách của tạp chí.</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Kiến thức phổ thông không cần trích dẫn. Dữ kiện và con số cụ thể thì cần. Kiểm tra mọi tài liệu do AI gợi ý trên PubMed.</a:t>
            </a:r>
          </a:p>
          <a:p>
            <a:r>
              <a:rPr lang="en-US" sz="1400" b="0" dirty="0"/>
              <a:t>Thời gian: 1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Đáp án: 1 Không được (viết chắp vá). 2 Được, nhưng hiếm. 3 Không được, cần trích dẫn. 4 Không được, đọc và trích dẫn bài gốc.</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Kết quả âm tính ít được công bố hơn (sai lệch xuất bản), nên cần tìm cả phần dưới mặt nước.</a:t>
            </a:r>
          </a:p>
          <a:p>
            <a:r>
              <a:rPr lang="en-US" sz="1400" b="0" dirty="0"/>
              <a:t>So sánh kết cục chính đã đăng ký với bài báo. Bài báo 1 đăng ký NCT04947904, trước khi nhận người bệnh đầu tiên.</a:t>
            </a:r>
          </a:p>
          <a:p>
            <a:r>
              <a:rPr lang="en-US" sz="1400" b="0" dirty="0"/>
              <a:t>Hỏi: 'Vì sao kiểm tra sổ đăng ký trước khi làm thử nghiệm của mình?' Mong đợi: có thể người khác đang làm đúng nghiên cứu đó.</a:t>
            </a:r>
          </a:p>
          <a:p>
            <a:r>
              <a:rPr lang="en-US" sz="1400" b="0" dirty="0"/>
              <a:t>Thời gian: 3 phút. Phần 2.2 kết thúc lúc 20:40.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Giải lao 20:40-20:55. Dán giờ bắt đầu lại và link tệp PDF gốc của Bài báo 1 vào chat.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2.3: 20:55-21:35. Kiểm tra mọi người đã mở Bài báo 1.</a:t>
            </a:r>
          </a:p>
          <a:p>
            <a:r>
              <a:rPr lang="en-US" sz="1400" b="0" dirty="0"/>
              <a:t>Thời gian: 30 giây.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Câu hỏi ở cuối phần Đặt vấn đề, kết cục chính ở phần Phương pháp, con số chính ở phần Kết quả.</a:t>
            </a:r>
          </a:p>
          <a:p>
            <a:r>
              <a:rPr lang="en-US" sz="1400" b="0" dirty="0"/>
              <a:t>Bàn luận là diễn giải của tác giả. Kết quả mới là bằng chứng.</a:t>
            </a:r>
          </a:p>
          <a:p>
            <a:r>
              <a:rPr lang="en-US" sz="1400" b="0" dirty="0"/>
              <a:t>Hỏi: 'Tìm ai được đưa vào nghiên cứu ở đâu?' Mong đợi: Phương pháp và Kết quả (sơ đồ, Bảng 1).</a:t>
            </a:r>
          </a:p>
          <a:p>
            <a:r>
              <a:rPr lang="en-US" sz="1400" b="0" dirty="0"/>
              <a:t>Thời gian: 4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lớn bài bị loại ngay ở phần tóm tắt. Tóm tắt thường bỏ qua hạn chế và có thể thổi phồng.</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Hỏi: 'Tóm tắt chỉ ghi: tử vong thấp hơn có ý nghĩa (p &lt; 0.05). Thiếu gì?' Mong đợi: tỷ lệ, mức độ tác động và KTC 95%.</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Số liệu minh họa. Với mỗi kết quả, hỏi: lớn bao nhiêu, chắc đến đâu, đo lúc nào?</a:t>
            </a:r>
          </a:p>
          <a:p>
            <a:r>
              <a:rPr lang="en-US" sz="1400" b="0" dirty="0"/>
              <a:t>Bình chọn: 'Bạn tin câu nào?' Mong đợi: câu bên phải.</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Dòng 1: p = 0.42 không phải bằng chứng có khác biệt. Dòng 3: tiêu đề Bài báo 2 dùng 'Impact', nhưng kết luận tóm tắt viết đúng là 'associated'.</a:t>
            </a:r>
          </a:p>
          <a:p>
            <a:r>
              <a:rPr lang="en-US" sz="1400" b="0" dirty="0"/>
              <a:t>Bình duyệt giảm thổi phồng nhưng không loại bỏ hết.</a:t>
            </a:r>
          </a:p>
          <a:p>
            <a:r>
              <a:rPr lang="en-US" sz="1400" b="0" dirty="0"/>
              <a:t>Thời gian: 4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Từng câu một. 30 giây suy nghĩ, rồi mời một hai người.</a:t>
            </a:r>
          </a:p>
          <a:p>
            <a:r>
              <a:rPr lang="en-US" sz="1400" b="0" dirty="0"/>
              <a:t>Đáp án: 1 Viết 'có liên quan với'. 2 p = 0.31: không khác biệt có ý nghĩa, KTC rộng. 3 Nêu kết cục chính trước. 4 Không có nhóm chứng, nên không quy được thay đổi cho quy trình.</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8 phút tự làm, rồi 4 phút mọi người gõ kết cục chính và kết quả chính vào chat.</a:t>
            </a:r>
          </a:p>
          <a:p>
            <a:r>
              <a:rPr lang="en-US" sz="1400" b="0" dirty="0"/>
              <a:t>Ô khó nhất: kết cục chính là cân bằng dịch ngày 5, không phải tử vong. KTC 95% (-15.2 đến 41.6) cắt qua số 0.</a:t>
            </a:r>
          </a:p>
          <a:p>
            <a:r>
              <a:rPr lang="en-US" sz="1400" b="0" dirty="0"/>
              <a:t>Ai xong sớm: tìm từ nói quá trong tiêu đề Bài báo 2 ('Impact').</a:t>
            </a:r>
          </a:p>
          <a:p>
            <a:r>
              <a:rPr lang="en-US" sz="1400" b="0" dirty="0"/>
              <a:t>Thời gian: 12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Hỏi từng dòng trong chat trước khi hiện đáp án.</a:t>
            </a:r>
          </a:p>
          <a:p>
            <a:r>
              <a:rPr lang="en-US" sz="1400" b="0" dirty="0"/>
              <a:t>Ý chính: thí điểm, 48 người bệnh. Kết cục là cân bằng dịch, không phải tử vong. KTC chứa số 0. Kết luận khớp kết quả. Đã đăng ký.</a:t>
            </a:r>
          </a:p>
          <a:p>
            <a:r>
              <a:rPr lang="en-US" sz="1400" b="0" dirty="0"/>
              <a:t>Nếu có người hỏi: 13.2 là chênh lệch trung bình, không phải trung vị. Để sau.</a:t>
            </a:r>
          </a:p>
          <a:p>
            <a:r>
              <a:rPr lang="en-US" sz="1400" b="0" dirty="0"/>
              <a:t>Thời gian: 5 phút. Phần 2.3 kết thúc lúc 21:35.</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2.4: 21:35-21:50. Thời gian: 30 giây.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Ba bài đo kết cục khác nhau ở thời điểm khác nhau. Cột 'hạn chế chính' cho thấy khoảng trống.</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Đoạn 2 (khoảng trống) lấy từ cột 'hạn chế chính'.</a:t>
            </a:r>
          </a:p>
          <a:p>
            <a:r>
              <a:rPr lang="en-US" sz="1400" b="0" dirty="0"/>
              <a:t>Không đưa số liệu của mình hay 'kết quả audit của khoa' vào phần Đặt vấn đề. Số liệu địa phương chỉ dùng khi đã công bố và có trích dẫn.</a:t>
            </a:r>
          </a:p>
          <a:p>
            <a:r>
              <a:rPr lang="en-US" sz="1400" b="0" dirty="0"/>
              <a:t>Thời gian: 3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Mỗi câu nêu dữ kiện đều có số trích dẫn. Khoảng 300 từ là đủ. Viết bằng tiếng Anh, như đề cương.</a:t>
            </a:r>
          </a:p>
          <a:p>
            <a:r>
              <a:rPr lang="en-US" sz="1400" b="0" dirty="0"/>
              <a:t>Thời gian: 4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Tránh viết tắt và từ chỉ nhân quả ('impact', 'effect of'). Từ khóa: 3-6 thuật ngữ MeSH chưa có trong tên.</a:t>
            </a:r>
          </a:p>
          <a:p>
            <a:r>
              <a:rPr lang="en-US" sz="1400" b="0" dirty="0"/>
              <a:t>Hỏi: 'Fluids in the ICU có phải tên đề tài tốt không?' Mong đợi: không, thiếu đối tượng, so sánh và thiết kế.</a:t>
            </a:r>
          </a:p>
          <a:p>
            <a:r>
              <a:rPr lang="en-US" sz="1400" b="0" dirty="0"/>
              <a:t>Thời gian: 4 phút. Phần 2.4 kết thúc lúc 21:50.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Xây dựng đề cương 2: 21:50-22:25. Chuyển ngay sang slide sau.</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Phút 0-10: chạy lại chuỗi tìm kiếm trong phần trình diễn, cùng sàng lọc tiêu đề trong chat, lưu hai bài vào Zotero, điền một dòng phiếu.</a:t>
            </a:r>
          </a:p>
          <a:p>
            <a:r>
              <a:rPr lang="en-US" sz="1400" b="0" dirty="0"/>
              <a:t>Phút 10-30: mỗi người tự làm. Lỗi hay gặp: quá nhiều kết quả (thêm khối), quá ít (thêm từ đồng nghĩa), có khối so sánh.</a:t>
            </a:r>
          </a:p>
          <a:p>
            <a:r>
              <a:rPr lang="en-US" sz="1400" b="0" dirty="0"/>
              <a:t>Phút 30-35: hai bạn tình nguyện đọc tên đề tài và câu nêu khoảng trống.</a:t>
            </a:r>
          </a:p>
          <a:p>
            <a:r>
              <a:rPr lang="en-US" sz="1400" b="0" dirty="0"/>
              <a:t>Đáp án: s2_solutions_VN, Bài tập 4.</a:t>
            </a:r>
          </a:p>
          <a:p>
            <a:r>
              <a:rPr lang="en-US" sz="1400" b="0" dirty="0"/>
              <a:t>Thời gian: 35 phút. Tổng kết lúc 22:25.</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Đọc nhanh các từ khóa. Thời gian: 1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Hỏi một người: 'Điều đầu tiên bạn tìm trong tóm tắt là gì?' Mong đợi: kết cục chính và kết quả kèm KTC.</a:t>
            </a:r>
          </a:p>
          <a:p>
            <a:r>
              <a:rPr lang="en-US" sz="1400" b="0" dirty="0"/>
              <a:t>Thời gian: 1.5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Đáp án: Câu 1 OR. Câu 2 Cân bằng dịch tích lũy ngày 5, không phải tử vong.</a:t>
            </a:r>
          </a:p>
          <a:p>
            <a:r>
              <a:rPr lang="en-US" sz="1400" b="0" dirty="0"/>
              <a:t>Nếu hơn một phần tư sai một trong hai câu, mở đầu Buổi 3 bằng câu đó.</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Khoảng 60-90 phút trong tuần. Buổi 3 dùng tóm tắt của cả hai bài.</a:t>
            </a:r>
          </a:p>
          <a:p>
            <a:r>
              <a:rPr lang="en-US" sz="1400" b="0" dirty="0"/>
              <a:t>Thời gian: 1 phút. Kết thúc đúng giờ.</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Tùy chọn. Dùng nếu còn thời gian, hoặc để tự học.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Với đề cương Cấp độ 1, PubMed và một sổ đăng ký là đủ. Câu hỏi điều trị nên bắt đầu từ Cochrane Library. Phần lớn cơ sở dữ liệu khác cần tài khoản của cơ quan.</a:t>
            </a:r>
          </a:p>
          <a:p>
            <a:r>
              <a:rPr lang="en-US" sz="1400" b="0" dirty="0"/>
              <a:t>Thời gian: 2 phút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Hữu ích để kiểm tra chưa sót thử nghiệm quan trọng. Giao diện hay thay đổi, nên xem trước khi chiếu.</a:t>
            </a:r>
          </a:p>
          <a:p>
            <a:r>
              <a:rPr lang="en-US" sz="1400" b="0" dirty="0"/>
              <a:t>Thời gian: 2 phút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Kịch bản: s2_demo_VN.md, Phần C. Nếu Scholar hiện CAPTCHA, chuyển sang ảnh chụp màn hình.</a:t>
            </a:r>
          </a:p>
          <a:p>
            <a:r>
              <a:rPr lang="en-US" sz="1400" b="0" dirty="0"/>
              <a:t>Thời gian: 3 phút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Không bao giờ dùng lại câu chữ phần Kết quả hay Bàn luận. Phải công khai việc dùng AI (Buổi 7).</a:t>
            </a:r>
          </a:p>
          <a:p>
            <a:r>
              <a:rPr lang="en-US" sz="1400" b="0" dirty="0"/>
              <a:t>Thời gian: 2 phút nếu dùng.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Để trên màn hình khi học viên rời phòng họp.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_rels/slide4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6.xml"/>
<Relationship Id="rId3" Type="http://schemas.openxmlformats.org/officeDocument/2006/relationships/image" Target="../media/image1.jpg"/>
</Relationships>
</file>

<file path=ppt/slides/_rels/slide4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7.xml"/>
<Relationship Id="rId3" Type="http://schemas.openxmlformats.org/officeDocument/2006/relationships/image" Target="../media/image1.jpg"/>
</Relationships>
</file>

<file path=ppt/slides/_rels/slide4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8.xml"/>
<Relationship Id="rId3" Type="http://schemas.openxmlformats.org/officeDocument/2006/relationships/image" Target="../media/image1.jpg"/>
</Relationships>
</file>

<file path=ppt/slides/_rels/slide4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9.xml"/>
<Relationship Id="rId3" Type="http://schemas.openxmlformats.org/officeDocument/2006/relationships/image" Target="../media/image1.jpg"/>
</Relationships>
</file>

<file path=ppt/slides/_rels/slide5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0.xml"/>
<Relationship Id="rId3" Type="http://schemas.openxmlformats.org/officeDocument/2006/relationships/image" Target="../media/image1.jpg"/>
</Relationships>
</file>

<file path=ppt/slides/_rels/slide5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1.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3200" b="1" dirty="0">
                <a:solidFill>
                  <a:srgbClr val="0D7377"/>
                </a:solidFill>
                <a:latin typeface="Arial"/>
                <a:cs typeface="Arial"/>
              </a:rPr>
              <a:t>Buổi 2 · Tìm &amp; đọc bằng chứng</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Arial"/>
                <a:cs typeface="Arial"/>
              </a:rPr>
              <a:t>Tuần 2 · Thứ Bảy</a:t>
            </a:r>
          </a:p>
          <a:p>
            <a:pPr>
              <a:buNone/>
            </a:pPr>
            <a:endParaRPr sz="800"/>
          </a:p>
          <a:p>
            <a:pPr marL="274320" indent="-274320" algn="l">
              <a:spcBef>
                <a:spcPts val="440"/>
              </a:spcBef>
              <a:buFont typeface="Arial"/>
              <a:buChar char="•"/>
            </a:pPr>
            <a:r>
              <a:rPr lang="en-US" sz="1900" dirty="0">
                <a:solidFill>
                  <a:srgbClr val="000000"/>
                </a:solidFill>
                <a:latin typeface="Arial"/>
                <a:cs typeface="Arial"/>
              </a:rPr>
              <a:t>Câu hỏi ôn tập Buổi 1</a:t>
            </a:r>
          </a:p>
          <a:p>
            <a:pPr marL="274320" indent="-274320" algn="l">
              <a:spcBef>
                <a:spcPts val="440"/>
              </a:spcBef>
              <a:buFont typeface="Arial"/>
              <a:buChar char="•"/>
            </a:pPr>
            <a:r>
              <a:rPr lang="en-US" sz="1900" dirty="0">
                <a:solidFill>
                  <a:srgbClr val="000000"/>
                </a:solidFill>
                <a:latin typeface="Arial"/>
                <a:cs typeface="Arial"/>
              </a:rPr>
              <a:t>2.1  Tìm bằng chứng: logic Boolean, MeSH, khối tìm kiếm, trình diễn PubMed</a:t>
            </a:r>
          </a:p>
          <a:p>
            <a:pPr marL="274320" indent="-274320" algn="l">
              <a:spcBef>
                <a:spcPts val="440"/>
              </a:spcBef>
              <a:buFont typeface="Arial"/>
              <a:buChar char="•"/>
            </a:pPr>
            <a:r>
              <a:rPr lang="en-US" sz="1900" dirty="0">
                <a:solidFill>
                  <a:srgbClr val="000000"/>
                </a:solidFill>
                <a:latin typeface="Arial"/>
                <a:cs typeface="Arial"/>
              </a:rPr>
              <a:t>2.2  Quản lý và trích dẫn: trình diễn Zotero, kiểu trích dẫn, diễn đạt lại, tài liệu xám</a:t>
            </a:r>
          </a:p>
          <a:p>
            <a:pPr marL="274320" indent="-274320" algn="l">
              <a:spcBef>
                <a:spcPts val="440"/>
              </a:spcBef>
              <a:buFont typeface="Arial"/>
              <a:buChar char="•"/>
            </a:pPr>
            <a:r>
              <a:rPr lang="en-US" sz="1900" dirty="0">
                <a:solidFill>
                  <a:srgbClr val="000000"/>
                </a:solidFill>
                <a:latin typeface="Arial"/>
                <a:cs typeface="Arial"/>
              </a:rPr>
              <a:t>Giải lao</a:t>
            </a:r>
          </a:p>
          <a:p>
            <a:pPr marL="274320" indent="-274320" algn="l">
              <a:spcBef>
                <a:spcPts val="440"/>
              </a:spcBef>
              <a:buFont typeface="Arial"/>
              <a:buChar char="•"/>
            </a:pPr>
            <a:r>
              <a:rPr lang="en-US" sz="1900" dirty="0">
                <a:solidFill>
                  <a:srgbClr val="000000"/>
                </a:solidFill>
                <a:latin typeface="Arial"/>
                <a:cs typeface="Arial"/>
              </a:rPr>
              <a:t>2.3  Đọc một bài báo trong 15 phút và 2.4 từ y văn đến phần đặt vấn đề</a:t>
            </a:r>
          </a:p>
          <a:p>
            <a:pPr marL="274320" indent="-274320" algn="l">
              <a:spcBef>
                <a:spcPts val="440"/>
              </a:spcBef>
              <a:buFont typeface="Arial"/>
              <a:buChar char="•"/>
            </a:pPr>
            <a:r>
              <a:rPr lang="en-US" sz="1900" dirty="0">
                <a:solidFill>
                  <a:srgbClr val="000000"/>
                </a:solidFill>
                <a:latin typeface="Arial"/>
                <a:cs typeface="Arial"/>
              </a:rPr>
              <a:t>Xây dựng đề cương 2: tìm kiếm của riêng bạn, 5 tài liệu, đặt vấn đề, tên đề tài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Câu hỏi ôn tập: Buổi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8 phút</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Bài báo nào của khóa học là thử nghiệm, bài nào là thuần tập: Bài báo 1 (Boulet) hay Bài báo 2 (Hyun)?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'Ở người lớn bị nhiễm khuẩn huyết, cân bằng dịch dương đến ngày 3, so với không, có liên quan với tử vong đến ngày 28?' Nêu P, E, C, O, T</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Ví dụ xuyên suốt trượt tiêu chí FINER nào?</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Câu nào là mục tiêu cụ thể: 'tìm hiểu về cân bằng dịch' hay 'ước tính tỷ lệ có cân bằng dịch dương ở ngày 3'?</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Viết H0 cho: quy trình hạn chế dịch có làm giảm cân bằng dịch ngày 5 không?</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SẢN PHẨM   </a:t>
            </a:r>
            <a:r>
              <a:rPr lang="en-US" sz="1500" dirty="0">
                <a:solidFill>
                  <a:srgbClr val="000000"/>
                </a:solidFill>
                <a:latin typeface="Arial"/>
                <a:cs typeface="Arial"/>
              </a:rPr>
              <a:t>Trả lời trong khung chat, đối chiếu với slide sau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Câu hỏi ôn tập: đáp án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557473"/>
            <a:ext cx="209552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Thiết kế</a:t>
            </a:r>
          </a:p>
        </p:txBody>
      </p:sp>
      <p:sp>
        <p:nvSpPr>
          <p:cNvPr id="71" name="CardBody"/>
          <p:cNvSpPr/>
          <p:nvPr/>
        </p:nvSpPr>
        <p:spPr>
          <a:xfrm>
            <a:off x="457200" y="2197473"/>
            <a:ext cx="2095520" cy="23775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Bài báo 1 là thử nghiệm (RCT)</a:t>
            </a:r>
          </a:p>
          <a:p>
            <a:pPr marL="0" indent="0" algn="ctr">
              <a:lnSpc>
                <a:spcPct val="104000"/>
              </a:lnSpc>
              <a:spcBef>
                <a:spcPts val="400"/>
              </a:spcBef>
              <a:buNone/>
            </a:pPr>
            <a:r>
              <a:rPr lang="en-US" sz="1450" dirty="0">
                <a:solidFill>
                  <a:srgbClr val="000000"/>
                </a:solidFill>
                <a:latin typeface="Arial"/>
                <a:cs typeface="Arial"/>
              </a:rPr>
              <a:t>Bài báo 2 là thuần tập</a:t>
            </a:r>
          </a:p>
        </p:txBody>
      </p:sp>
      <p:sp>
        <p:nvSpPr>
          <p:cNvPr id="72" name="CardHead"/>
          <p:cNvSpPr/>
          <p:nvPr/>
        </p:nvSpPr>
        <p:spPr>
          <a:xfrm>
            <a:off x="2752720" y="1557473"/>
            <a:ext cx="209552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PECO(T)</a:t>
            </a:r>
          </a:p>
        </p:txBody>
      </p:sp>
      <p:sp>
        <p:nvSpPr>
          <p:cNvPr id="73" name="CardBody"/>
          <p:cNvSpPr/>
          <p:nvPr/>
        </p:nvSpPr>
        <p:spPr>
          <a:xfrm>
            <a:off x="2752720" y="2197473"/>
            <a:ext cx="2095520" cy="23775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P: người lớn bị nhiễm khuẩn huyết</a:t>
            </a:r>
          </a:p>
          <a:p>
            <a:pPr marL="0" indent="0" algn="ctr">
              <a:lnSpc>
                <a:spcPct val="104000"/>
              </a:lnSpc>
              <a:spcBef>
                <a:spcPts val="400"/>
              </a:spcBef>
              <a:buNone/>
            </a:pPr>
            <a:r>
              <a:rPr lang="en-US" sz="1450" dirty="0">
                <a:solidFill>
                  <a:srgbClr val="000000"/>
                </a:solidFill>
                <a:latin typeface="Arial"/>
                <a:cs typeface="Arial"/>
              </a:rPr>
              <a:t>E: cân bằng dương đến ngày 3</a:t>
            </a:r>
          </a:p>
          <a:p>
            <a:pPr marL="0" indent="0" algn="ctr">
              <a:lnSpc>
                <a:spcPct val="104000"/>
              </a:lnSpc>
              <a:spcBef>
                <a:spcPts val="400"/>
              </a:spcBef>
              <a:buNone/>
            </a:pPr>
            <a:r>
              <a:rPr lang="en-US" sz="1450" dirty="0">
                <a:solidFill>
                  <a:srgbClr val="000000"/>
                </a:solidFill>
                <a:latin typeface="Arial"/>
                <a:cs typeface="Arial"/>
              </a:rPr>
              <a:t>C: cân bằng trung tính hoặc âm</a:t>
            </a:r>
          </a:p>
          <a:p>
            <a:pPr marL="0" indent="0" algn="ctr">
              <a:lnSpc>
                <a:spcPct val="104000"/>
              </a:lnSpc>
              <a:spcBef>
                <a:spcPts val="400"/>
              </a:spcBef>
              <a:buNone/>
            </a:pPr>
            <a:r>
              <a:rPr lang="en-US" sz="1450" dirty="0">
                <a:solidFill>
                  <a:srgbClr val="000000"/>
                </a:solidFill>
                <a:latin typeface="Arial"/>
                <a:cs typeface="Arial"/>
              </a:rPr>
              <a:t>O và T: tử vong đến ngày 28</a:t>
            </a:r>
          </a:p>
        </p:txBody>
      </p:sp>
      <p:sp>
        <p:nvSpPr>
          <p:cNvPr id="74" name="CardHead"/>
          <p:cNvSpPr/>
          <p:nvPr/>
        </p:nvSpPr>
        <p:spPr>
          <a:xfrm>
            <a:off x="5048240" y="1557473"/>
            <a:ext cx="209552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Khả thi</a:t>
            </a:r>
          </a:p>
        </p:txBody>
      </p:sp>
      <p:sp>
        <p:nvSpPr>
          <p:cNvPr id="75" name="CardBody"/>
          <p:cNvSpPr/>
          <p:nvPr/>
        </p:nvSpPr>
        <p:spPr>
          <a:xfrm>
            <a:off x="5048240" y="2197473"/>
            <a:ext cx="2095520" cy="23775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Tử vong cần hơn 1000 người bệnh</a:t>
            </a:r>
          </a:p>
        </p:txBody>
      </p:sp>
      <p:sp>
        <p:nvSpPr>
          <p:cNvPr id="76" name="CardHead"/>
          <p:cNvSpPr/>
          <p:nvPr/>
        </p:nvSpPr>
        <p:spPr>
          <a:xfrm>
            <a:off x="7343760" y="1557473"/>
            <a:ext cx="209552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Ước tính</a:t>
            </a:r>
          </a:p>
        </p:txBody>
      </p:sp>
      <p:sp>
        <p:nvSpPr>
          <p:cNvPr id="77" name="CardBody"/>
          <p:cNvSpPr/>
          <p:nvPr/>
        </p:nvSpPr>
        <p:spPr>
          <a:xfrm>
            <a:off x="7343760" y="2197473"/>
            <a:ext cx="2095520" cy="23775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'Ước tính' đo được</a:t>
            </a:r>
          </a:p>
          <a:p>
            <a:pPr marL="0" indent="0" algn="ctr">
              <a:lnSpc>
                <a:spcPct val="104000"/>
              </a:lnSpc>
              <a:spcBef>
                <a:spcPts val="400"/>
              </a:spcBef>
              <a:buNone/>
            </a:pPr>
            <a:r>
              <a:rPr lang="en-US" sz="1450" dirty="0">
                <a:solidFill>
                  <a:srgbClr val="000000"/>
                </a:solidFill>
                <a:latin typeface="Arial"/>
                <a:cs typeface="Arial"/>
              </a:rPr>
              <a:t>'Tìm hiểu' thì không</a:t>
            </a:r>
          </a:p>
        </p:txBody>
      </p:sp>
      <p:sp>
        <p:nvSpPr>
          <p:cNvPr id="78" name="CardHead"/>
          <p:cNvSpPr/>
          <p:nvPr/>
        </p:nvSpPr>
        <p:spPr>
          <a:xfrm>
            <a:off x="9639280" y="1557473"/>
            <a:ext cx="2095520"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50" b="1" dirty="0">
                <a:solidFill>
                  <a:srgbClr val="FFFFFF"/>
                </a:solidFill>
                <a:latin typeface="Arial"/>
                <a:cs typeface="Arial"/>
              </a:rPr>
              <a:t>H0</a:t>
            </a:r>
          </a:p>
        </p:txBody>
      </p:sp>
      <p:sp>
        <p:nvSpPr>
          <p:cNvPr id="79" name="CardBody"/>
          <p:cNvSpPr/>
          <p:nvPr/>
        </p:nvSpPr>
        <p:spPr>
          <a:xfrm>
            <a:off x="9639280" y="2197473"/>
            <a:ext cx="2095520" cy="23775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Cân bằng dịch ngày 5 như nhau ở hai nhóm</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Nếu đúng 4 hoặc 5 câu, bạn đã sẵn sàng cho hôm nay.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2.1  Tìm bằng chứng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Trước khi nghiên cứu, hãy tìm xem điều gì đã được biết.</a:t>
            </a:r>
          </a:p>
          <a:p>
            <a:pPr marL="0" indent="0" algn="ctr">
              <a:spcBef>
                <a:spcPts val="1200"/>
              </a:spcBef>
              <a:buNone/>
            </a:pPr>
            <a:r>
              <a:rPr lang="en-US" sz="1900" i="1" dirty="0">
                <a:solidFill>
                  <a:srgbClr val="595959"/>
                </a:solidFill>
                <a:latin typeface="Arial"/>
                <a:cs typeface="Arial"/>
              </a:rPr>
              <a:t>40 phút: phễu tìm kiếm, logic Boolean, MeSH, công cụ tìm kiếm, khối tìm kiếm PICO, tổng quan hệ thống và trình diễn PubMed trực tiếp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Phễu tìm kiếm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Ghi lại mỗi bước: ngày, chuỗi tìm kiếm, bộ lọc và số kết quả.</a:t>
            </a:r>
          </a:p>
        </p:txBody>
      </p:sp>
      <p:sp>
        <p:nvSpPr>
          <p:cNvPr id="80" name="Step"/>
          <p:cNvSpPr/>
          <p:nvPr/>
        </p:nvSpPr>
        <p:spPr>
          <a:xfrm>
            <a:off x="457200" y="1660000"/>
            <a:ext cx="19296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Toàn bộ PubMed</a:t>
            </a:r>
          </a:p>
        </p:txBody>
      </p:sp>
      <p:sp>
        <p:nvSpPr>
          <p:cNvPr id="81" name="StepText"/>
          <p:cNvSpPr/>
          <p:nvPr/>
        </p:nvSpPr>
        <p:spPr>
          <a:xfrm>
            <a:off x="497200" y="2580000"/>
            <a:ext cx="178960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b="1" dirty="0">
                <a:solidFill>
                  <a:srgbClr val="000000"/>
                </a:solidFill>
                <a:latin typeface="Arial"/>
                <a:cs typeface="Arial"/>
              </a:rPr>
              <a:t>Hơn 40 triệu bài</a:t>
            </a:r>
          </a:p>
          <a:p>
            <a:pPr marL="0" indent="0" algn="ctr">
              <a:lnSpc>
                <a:spcPct val="104000"/>
              </a:lnSpc>
              <a:spcBef>
                <a:spcPts val="200"/>
              </a:spcBef>
              <a:buNone/>
            </a:pPr>
            <a:r>
              <a:rPr lang="en-US" sz="1500" dirty="0">
                <a:solidFill>
                  <a:srgbClr val="000000"/>
                </a:solidFill>
                <a:latin typeface="Arial"/>
                <a:cs typeface="Arial"/>
              </a:rPr>
              <a:t>Tính đến tháng 10/2026</a:t>
            </a:r>
          </a:p>
        </p:txBody>
      </p:sp>
      <p:sp>
        <p:nvSpPr>
          <p:cNvPr id="82" name="Step"/>
          <p:cNvSpPr/>
          <p:nvPr/>
        </p:nvSpPr>
        <p:spPr>
          <a:xfrm>
            <a:off x="2326800" y="1660000"/>
            <a:ext cx="19296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Một từ khóa</a:t>
            </a:r>
          </a:p>
        </p:txBody>
      </p:sp>
      <p:sp>
        <p:nvSpPr>
          <p:cNvPr id="83" name="StepText"/>
          <p:cNvSpPr/>
          <p:nvPr/>
        </p:nvSpPr>
        <p:spPr>
          <a:xfrm>
            <a:off x="2366800" y="2580000"/>
            <a:ext cx="178960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septic shock</a:t>
            </a:r>
          </a:p>
          <a:p>
            <a:pPr marL="0" indent="0" algn="ctr">
              <a:lnSpc>
                <a:spcPct val="104000"/>
              </a:lnSpc>
              <a:spcBef>
                <a:spcPts val="200"/>
              </a:spcBef>
              <a:buNone/>
            </a:pPr>
            <a:r>
              <a:rPr lang="en-US" sz="1500" b="1" dirty="0">
                <a:solidFill>
                  <a:srgbClr val="000000"/>
                </a:solidFill>
                <a:latin typeface="Arial"/>
                <a:cs typeface="Arial"/>
              </a:rPr>
              <a:t>Hàng chục nghìn</a:t>
            </a:r>
          </a:p>
        </p:txBody>
      </p:sp>
      <p:sp>
        <p:nvSpPr>
          <p:cNvPr id="84" name="Step"/>
          <p:cNvSpPr/>
          <p:nvPr/>
        </p:nvSpPr>
        <p:spPr>
          <a:xfrm>
            <a:off x="4196400" y="1660000"/>
            <a:ext cx="19296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Khối PICO</a:t>
            </a:r>
          </a:p>
        </p:txBody>
      </p:sp>
      <p:sp>
        <p:nvSpPr>
          <p:cNvPr id="85" name="StepText"/>
          <p:cNvSpPr/>
          <p:nvPr/>
        </p:nvSpPr>
        <p:spPr>
          <a:xfrm>
            <a:off x="4236400" y="2580000"/>
            <a:ext cx="178960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Mọi cách viết cho P, I và O</a:t>
            </a:r>
          </a:p>
          <a:p>
            <a:pPr marL="0" indent="0" algn="ctr">
              <a:lnSpc>
                <a:spcPct val="104000"/>
              </a:lnSpc>
              <a:spcBef>
                <a:spcPts val="200"/>
              </a:spcBef>
              <a:buNone/>
            </a:pPr>
            <a:r>
              <a:rPr lang="en-US" sz="1500" b="1" dirty="0">
                <a:solidFill>
                  <a:srgbClr val="000000"/>
                </a:solidFill>
                <a:latin typeface="Arial"/>
                <a:cs typeface="Arial"/>
              </a:rPr>
              <a:t>Vài nghìn</a:t>
            </a:r>
          </a:p>
        </p:txBody>
      </p:sp>
      <p:sp>
        <p:nvSpPr>
          <p:cNvPr id="86" name="Step"/>
          <p:cNvSpPr/>
          <p:nvPr/>
        </p:nvSpPr>
        <p:spPr>
          <a:xfrm>
            <a:off x="6066000" y="1660000"/>
            <a:ext cx="19296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Bộ lọc</a:t>
            </a:r>
          </a:p>
        </p:txBody>
      </p:sp>
      <p:sp>
        <p:nvSpPr>
          <p:cNvPr id="87" name="StepText"/>
          <p:cNvSpPr/>
          <p:nvPr/>
        </p:nvSpPr>
        <p:spPr>
          <a:xfrm>
            <a:off x="6106000" y="2580000"/>
            <a:ext cx="178960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RCT, tổng quan, người lớn, năm</a:t>
            </a:r>
          </a:p>
          <a:p>
            <a:pPr marL="0" indent="0" algn="ctr">
              <a:lnSpc>
                <a:spcPct val="104000"/>
              </a:lnSpc>
              <a:spcBef>
                <a:spcPts val="200"/>
              </a:spcBef>
              <a:buNone/>
            </a:pPr>
            <a:r>
              <a:rPr lang="en-US" sz="1500" b="1" dirty="0">
                <a:solidFill>
                  <a:srgbClr val="000000"/>
                </a:solidFill>
                <a:latin typeface="Arial"/>
                <a:cs typeface="Arial"/>
              </a:rPr>
              <a:t>Vài trăm</a:t>
            </a:r>
          </a:p>
        </p:txBody>
      </p:sp>
      <p:sp>
        <p:nvSpPr>
          <p:cNvPr id="88" name="Step"/>
          <p:cNvSpPr/>
          <p:nvPr/>
        </p:nvSpPr>
        <p:spPr>
          <a:xfrm>
            <a:off x="7935600" y="1660000"/>
            <a:ext cx="192960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Sàng lọc</a:t>
            </a:r>
          </a:p>
        </p:txBody>
      </p:sp>
      <p:sp>
        <p:nvSpPr>
          <p:cNvPr id="89" name="StepText"/>
          <p:cNvSpPr/>
          <p:nvPr/>
        </p:nvSpPr>
        <p:spPr>
          <a:xfrm>
            <a:off x="7975600" y="2580000"/>
            <a:ext cx="178960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Đọc tiêu đề và tóm tắt</a:t>
            </a:r>
          </a:p>
          <a:p>
            <a:pPr marL="0" indent="0" algn="ctr">
              <a:lnSpc>
                <a:spcPct val="104000"/>
              </a:lnSpc>
              <a:spcBef>
                <a:spcPts val="200"/>
              </a:spcBef>
              <a:buNone/>
            </a:pPr>
            <a:r>
              <a:rPr lang="en-US" sz="1500" b="1" dirty="0">
                <a:solidFill>
                  <a:srgbClr val="000000"/>
                </a:solidFill>
                <a:latin typeface="Arial"/>
                <a:cs typeface="Arial"/>
              </a:rPr>
              <a:t>Vài chục</a:t>
            </a:r>
          </a:p>
        </p:txBody>
      </p:sp>
      <p:sp>
        <p:nvSpPr>
          <p:cNvPr id="90" name="Step"/>
          <p:cNvSpPr/>
          <p:nvPr/>
        </p:nvSpPr>
        <p:spPr>
          <a:xfrm>
            <a:off x="9805200" y="1660000"/>
            <a:ext cx="1929600" cy="760000"/>
          </a:xfrm>
          <a:prstGeom prst="chevron">
            <a:avLst>
              <a:gd name="adj" fmla="val 28000"/>
            </a:avLst>
          </a:prstGeom>
          <a:solidFill>
            <a:srgbClr val="8A99A3"/>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Giữ lại</a:t>
            </a:r>
          </a:p>
        </p:txBody>
      </p:sp>
      <p:sp>
        <p:nvSpPr>
          <p:cNvPr id="91" name="StepText"/>
          <p:cNvSpPr/>
          <p:nvPr/>
        </p:nvSpPr>
        <p:spPr>
          <a:xfrm>
            <a:off x="9845200" y="2580000"/>
            <a:ext cx="178960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b="1" dirty="0">
                <a:solidFill>
                  <a:srgbClr val="000000"/>
                </a:solidFill>
                <a:latin typeface="Arial"/>
                <a:cs typeface="Arial"/>
              </a:rPr>
              <a:t>5-10 bài chính</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Tìm kiếm tốt bắt đầu rộng, thu hẹp từng bước và được ghi lại.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Logic Boolean bằng hình ảnh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00" name="Text"/>
          <p:cNvSpPr/>
          <p:nvPr/>
        </p:nvSpPr>
        <p:spPr>
          <a:xfrm>
            <a:off x="472440" y="1376200"/>
            <a:ext cx="3749040" cy="45720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2400" b="1" dirty="0">
                <a:solidFill>
                  <a:srgbClr val="055F56"/>
                </a:solidFill>
                <a:latin typeface="Arial"/>
                <a:cs typeface="Arial"/>
              </a:rPr>
              <a:t>AND</a:t>
            </a:r>
          </a:p>
        </p:txBody>
      </p:sp>
      <p:sp>
        <p:nvSpPr>
          <p:cNvPr id="101" name="Overlap"/>
          <p:cNvSpPr/>
          <p:nvPr/>
        </p:nvSpPr>
        <p:spPr>
          <a:xfrm>
            <a:off x="1981200" y="2153440"/>
            <a:ext cx="731520" cy="1463040"/>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02" name="Outline"/>
          <p:cNvSpPr/>
          <p:nvPr/>
        </p:nvSpPr>
        <p:spPr>
          <a:xfrm>
            <a:off x="929640" y="1970560"/>
            <a:ext cx="1828800" cy="1828800"/>
          </a:xfrm>
          <a:prstGeom prst="ellipse">
            <a:avLst/>
          </a:prstGeom>
          <a:noFill/>
          <a:ln w="28575">
            <a:solidFill>
              <a:srgbClr val="0B376C"/>
            </a:solidFill>
          </a:ln>
        </p:spPr>
        <p:txBody>
          <a:bodyPr wrap="square" lIns="54864" tIns="54864" rIns="54864" bIns="54864" rtlCol="0" anchor="ctr">
            <a:noAutofit/>
          </a:bodyPr>
          <a:lstStyle/>
          <a:p>
            <a:endParaRPr lang="en-US"/>
          </a:p>
        </p:txBody>
      </p:sp>
      <p:sp>
        <p:nvSpPr>
          <p:cNvPr id="103" name="Outline"/>
          <p:cNvSpPr/>
          <p:nvPr/>
        </p:nvSpPr>
        <p:spPr>
          <a:xfrm>
            <a:off x="1935480" y="1970560"/>
            <a:ext cx="1828800" cy="1828800"/>
          </a:xfrm>
          <a:prstGeom prst="ellipse">
            <a:avLst/>
          </a:prstGeom>
          <a:noFill/>
          <a:ln w="28575">
            <a:solidFill>
              <a:srgbClr val="0B376C"/>
            </a:solidFill>
          </a:ln>
        </p:spPr>
        <p:txBody>
          <a:bodyPr wrap="square" lIns="54864" tIns="54864" rIns="54864" bIns="54864" rtlCol="0" anchor="ctr">
            <a:noAutofit/>
          </a:bodyPr>
          <a:lstStyle/>
          <a:p>
            <a:endParaRPr lang="en-US"/>
          </a:p>
        </p:txBody>
      </p:sp>
      <p:sp>
        <p:nvSpPr>
          <p:cNvPr id="104" name="Text"/>
          <p:cNvSpPr/>
          <p:nvPr/>
        </p:nvSpPr>
        <p:spPr>
          <a:xfrm>
            <a:off x="883920" y="2519200"/>
            <a:ext cx="1005840" cy="73152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500" b="1" dirty="0">
                <a:solidFill>
                  <a:srgbClr val="1A1A1A"/>
                </a:solidFill>
                <a:latin typeface="Arial"/>
                <a:cs typeface="Arial"/>
              </a:rPr>
              <a:t>septic</a:t>
            </a:r>
          </a:p>
          <a:p>
            <a:pPr marL="0" indent="0" algn="ctr">
              <a:lnSpc>
                <a:spcPct val="100000"/>
              </a:lnSpc>
              <a:buNone/>
            </a:pPr>
            <a:r>
              <a:rPr lang="en-US" sz="1500" b="1" dirty="0">
                <a:solidFill>
                  <a:srgbClr val="1A1A1A"/>
                </a:solidFill>
                <a:latin typeface="Arial"/>
                <a:cs typeface="Arial"/>
              </a:rPr>
              <a:t>shock</a:t>
            </a:r>
          </a:p>
        </p:txBody>
      </p:sp>
      <p:sp>
        <p:nvSpPr>
          <p:cNvPr id="105" name="Text"/>
          <p:cNvSpPr/>
          <p:nvPr/>
        </p:nvSpPr>
        <p:spPr>
          <a:xfrm>
            <a:off x="2804160" y="2519200"/>
            <a:ext cx="1005840" cy="73152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500" b="1" dirty="0">
                <a:solidFill>
                  <a:srgbClr val="1A1A1A"/>
                </a:solidFill>
                <a:latin typeface="Arial"/>
                <a:cs typeface="Arial"/>
              </a:rPr>
              <a:t>fluids</a:t>
            </a:r>
          </a:p>
        </p:txBody>
      </p:sp>
      <p:sp>
        <p:nvSpPr>
          <p:cNvPr id="106" name="Text"/>
          <p:cNvSpPr/>
          <p:nvPr/>
        </p:nvSpPr>
        <p:spPr>
          <a:xfrm>
            <a:off x="472440" y="3982240"/>
            <a:ext cx="3749040" cy="41148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i="1" dirty="0">
                <a:solidFill>
                  <a:srgbClr val="1A1A1A"/>
                </a:solidFill>
                <a:latin typeface="Arial"/>
                <a:cs typeface="Arial"/>
              </a:rPr>
              <a:t>septic shock AND fluids</a:t>
            </a:r>
          </a:p>
        </p:txBody>
      </p:sp>
      <p:sp>
        <p:nvSpPr>
          <p:cNvPr id="107" name="Text"/>
          <p:cNvSpPr/>
          <p:nvPr/>
        </p:nvSpPr>
        <p:spPr>
          <a:xfrm>
            <a:off x="472440" y="4393720"/>
            <a:ext cx="3749040" cy="45720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b="1" dirty="0">
                <a:solidFill>
                  <a:srgbClr val="0D7377"/>
                </a:solidFill>
                <a:latin typeface="Arial"/>
                <a:cs typeface="Arial"/>
              </a:rPr>
              <a:t>có cả hai: ít kết quả hơn</a:t>
            </a:r>
          </a:p>
        </p:txBody>
      </p:sp>
      <p:sp>
        <p:nvSpPr>
          <p:cNvPr id="108" name="Text"/>
          <p:cNvSpPr/>
          <p:nvPr/>
        </p:nvSpPr>
        <p:spPr>
          <a:xfrm>
            <a:off x="4221480" y="1376200"/>
            <a:ext cx="3749040" cy="45720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2400" b="1" dirty="0">
                <a:solidFill>
                  <a:srgbClr val="055F56"/>
                </a:solidFill>
                <a:latin typeface="Arial"/>
                <a:cs typeface="Arial"/>
              </a:rPr>
              <a:t>OR</a:t>
            </a:r>
          </a:p>
        </p:txBody>
      </p:sp>
      <p:sp>
        <p:nvSpPr>
          <p:cNvPr id="109" name="Ellipse"/>
          <p:cNvSpPr/>
          <p:nvPr/>
        </p:nvSpPr>
        <p:spPr>
          <a:xfrm>
            <a:off x="4678680" y="1970560"/>
            <a:ext cx="1828800" cy="1828800"/>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10" name="Ellipse"/>
          <p:cNvSpPr/>
          <p:nvPr/>
        </p:nvSpPr>
        <p:spPr>
          <a:xfrm>
            <a:off x="5684520" y="1970560"/>
            <a:ext cx="1828800" cy="1828800"/>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11" name="Outline"/>
          <p:cNvSpPr/>
          <p:nvPr/>
        </p:nvSpPr>
        <p:spPr>
          <a:xfrm>
            <a:off x="4678680" y="1970560"/>
            <a:ext cx="1828800" cy="1828800"/>
          </a:xfrm>
          <a:prstGeom prst="ellipse">
            <a:avLst/>
          </a:prstGeom>
          <a:noFill/>
          <a:ln w="28575">
            <a:solidFill>
              <a:srgbClr val="0B376C"/>
            </a:solidFill>
          </a:ln>
        </p:spPr>
        <p:txBody>
          <a:bodyPr wrap="square" lIns="54864" tIns="54864" rIns="54864" bIns="54864" rtlCol="0" anchor="ctr">
            <a:noAutofit/>
          </a:bodyPr>
          <a:lstStyle/>
          <a:p>
            <a:endParaRPr lang="en-US"/>
          </a:p>
        </p:txBody>
      </p:sp>
      <p:sp>
        <p:nvSpPr>
          <p:cNvPr id="112" name="Outline"/>
          <p:cNvSpPr/>
          <p:nvPr/>
        </p:nvSpPr>
        <p:spPr>
          <a:xfrm>
            <a:off x="5684520" y="1970560"/>
            <a:ext cx="1828800" cy="1828800"/>
          </a:xfrm>
          <a:prstGeom prst="ellipse">
            <a:avLst/>
          </a:prstGeom>
          <a:noFill/>
          <a:ln w="28575">
            <a:solidFill>
              <a:srgbClr val="0B376C"/>
            </a:solidFill>
          </a:ln>
        </p:spPr>
        <p:txBody>
          <a:bodyPr wrap="square" lIns="54864" tIns="54864" rIns="54864" bIns="54864" rtlCol="0" anchor="ctr">
            <a:noAutofit/>
          </a:bodyPr>
          <a:lstStyle/>
          <a:p>
            <a:endParaRPr lang="en-US"/>
          </a:p>
        </p:txBody>
      </p:sp>
      <p:sp>
        <p:nvSpPr>
          <p:cNvPr id="113" name="Text"/>
          <p:cNvSpPr/>
          <p:nvPr/>
        </p:nvSpPr>
        <p:spPr>
          <a:xfrm>
            <a:off x="4632960" y="2519200"/>
            <a:ext cx="1005840" cy="73152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500" b="1" dirty="0">
                <a:solidFill>
                  <a:srgbClr val="FFFFFF"/>
                </a:solidFill>
                <a:latin typeface="Arial"/>
                <a:cs typeface="Arial"/>
              </a:rPr>
              <a:t>septic</a:t>
            </a:r>
          </a:p>
          <a:p>
            <a:pPr marL="0" indent="0" algn="ctr">
              <a:lnSpc>
                <a:spcPct val="100000"/>
              </a:lnSpc>
              <a:buNone/>
            </a:pPr>
            <a:r>
              <a:rPr lang="en-US" sz="1500" b="1" dirty="0">
                <a:solidFill>
                  <a:srgbClr val="FFFFFF"/>
                </a:solidFill>
                <a:latin typeface="Arial"/>
                <a:cs typeface="Arial"/>
              </a:rPr>
              <a:t>shock</a:t>
            </a:r>
          </a:p>
        </p:txBody>
      </p:sp>
      <p:sp>
        <p:nvSpPr>
          <p:cNvPr id="114" name="Text"/>
          <p:cNvSpPr/>
          <p:nvPr/>
        </p:nvSpPr>
        <p:spPr>
          <a:xfrm>
            <a:off x="6553200" y="2519200"/>
            <a:ext cx="1005840" cy="73152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500" b="1" dirty="0">
                <a:solidFill>
                  <a:srgbClr val="FFFFFF"/>
                </a:solidFill>
                <a:latin typeface="Arial"/>
                <a:cs typeface="Arial"/>
              </a:rPr>
              <a:t>sepsis</a:t>
            </a:r>
          </a:p>
        </p:txBody>
      </p:sp>
      <p:sp>
        <p:nvSpPr>
          <p:cNvPr id="115" name="Text"/>
          <p:cNvSpPr/>
          <p:nvPr/>
        </p:nvSpPr>
        <p:spPr>
          <a:xfrm>
            <a:off x="4221480" y="3982240"/>
            <a:ext cx="3749040" cy="41148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i="1" dirty="0">
                <a:solidFill>
                  <a:srgbClr val="1A1A1A"/>
                </a:solidFill>
                <a:latin typeface="Arial"/>
                <a:cs typeface="Arial"/>
              </a:rPr>
              <a:t>septic shock OR sepsis</a:t>
            </a:r>
          </a:p>
        </p:txBody>
      </p:sp>
      <p:sp>
        <p:nvSpPr>
          <p:cNvPr id="116" name="Text"/>
          <p:cNvSpPr/>
          <p:nvPr/>
        </p:nvSpPr>
        <p:spPr>
          <a:xfrm>
            <a:off x="4221480" y="4393720"/>
            <a:ext cx="3749040" cy="45720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b="1" dirty="0">
                <a:solidFill>
                  <a:srgbClr val="0D7377"/>
                </a:solidFill>
                <a:latin typeface="Arial"/>
                <a:cs typeface="Arial"/>
              </a:rPr>
              <a:t>một trong hai: nhiều kết quả hơn</a:t>
            </a:r>
          </a:p>
        </p:txBody>
      </p:sp>
      <p:sp>
        <p:nvSpPr>
          <p:cNvPr id="117" name="Text"/>
          <p:cNvSpPr/>
          <p:nvPr/>
        </p:nvSpPr>
        <p:spPr>
          <a:xfrm>
            <a:off x="7970520" y="1376200"/>
            <a:ext cx="3749040" cy="45720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2400" b="1" dirty="0">
                <a:solidFill>
                  <a:srgbClr val="055F56"/>
                </a:solidFill>
                <a:latin typeface="Arial"/>
                <a:cs typeface="Arial"/>
              </a:rPr>
              <a:t>NOT</a:t>
            </a:r>
          </a:p>
        </p:txBody>
      </p:sp>
      <p:sp>
        <p:nvSpPr>
          <p:cNvPr id="118" name="Ellipse"/>
          <p:cNvSpPr/>
          <p:nvPr/>
        </p:nvSpPr>
        <p:spPr>
          <a:xfrm>
            <a:off x="8427720" y="1970560"/>
            <a:ext cx="1828800" cy="1828800"/>
          </a:xfrm>
          <a:prstGeom prst="ellipse">
            <a:avLst/>
          </a:prstGeom>
          <a:solidFill>
            <a:srgbClr val="0D7377"/>
          </a:solidFill>
          <a:ln>
            <a:noFill/>
          </a:ln>
        </p:spPr>
        <p:txBody>
          <a:bodyPr wrap="square" lIns="54864" tIns="54864" rIns="54864" bIns="54864" rtlCol="0" anchor="ctr">
            <a:noAutofit/>
          </a:bodyPr>
          <a:lstStyle/>
          <a:p>
            <a:endParaRPr lang="en-US"/>
          </a:p>
        </p:txBody>
      </p:sp>
      <p:sp>
        <p:nvSpPr>
          <p:cNvPr id="119" name="Ellipse"/>
          <p:cNvSpPr/>
          <p:nvPr/>
        </p:nvSpPr>
        <p:spPr>
          <a:xfrm>
            <a:off x="9433560" y="1970560"/>
            <a:ext cx="1828800" cy="1828800"/>
          </a:xfrm>
          <a:prstGeom prst="ellipse">
            <a:avLst/>
          </a:prstGeom>
          <a:solidFill>
            <a:srgbClr val="FFFFFF"/>
          </a:solidFill>
          <a:ln>
            <a:noFill/>
          </a:ln>
        </p:spPr>
        <p:txBody>
          <a:bodyPr wrap="square" lIns="54864" tIns="54864" rIns="54864" bIns="54864" rtlCol="0" anchor="ctr">
            <a:noAutofit/>
          </a:bodyPr>
          <a:lstStyle/>
          <a:p>
            <a:endParaRPr lang="en-US"/>
          </a:p>
        </p:txBody>
      </p:sp>
      <p:sp>
        <p:nvSpPr>
          <p:cNvPr id="120" name="Outline"/>
          <p:cNvSpPr/>
          <p:nvPr/>
        </p:nvSpPr>
        <p:spPr>
          <a:xfrm>
            <a:off x="8427720" y="1970560"/>
            <a:ext cx="1828800" cy="1828800"/>
          </a:xfrm>
          <a:prstGeom prst="ellipse">
            <a:avLst/>
          </a:prstGeom>
          <a:noFill/>
          <a:ln w="28575">
            <a:solidFill>
              <a:srgbClr val="0B376C"/>
            </a:solidFill>
          </a:ln>
        </p:spPr>
        <p:txBody>
          <a:bodyPr wrap="square" lIns="54864" tIns="54864" rIns="54864" bIns="54864" rtlCol="0" anchor="ctr">
            <a:noAutofit/>
          </a:bodyPr>
          <a:lstStyle/>
          <a:p>
            <a:endParaRPr lang="en-US"/>
          </a:p>
        </p:txBody>
      </p:sp>
      <p:sp>
        <p:nvSpPr>
          <p:cNvPr id="121" name="Outline"/>
          <p:cNvSpPr/>
          <p:nvPr/>
        </p:nvSpPr>
        <p:spPr>
          <a:xfrm>
            <a:off x="9433560" y="1970560"/>
            <a:ext cx="1828800" cy="1828800"/>
          </a:xfrm>
          <a:prstGeom prst="ellipse">
            <a:avLst/>
          </a:prstGeom>
          <a:noFill/>
          <a:ln w="28575">
            <a:solidFill>
              <a:srgbClr val="0B376C"/>
            </a:solidFill>
          </a:ln>
        </p:spPr>
        <p:txBody>
          <a:bodyPr wrap="square" lIns="54864" tIns="54864" rIns="54864" bIns="54864" rtlCol="0" anchor="ctr">
            <a:noAutofit/>
          </a:bodyPr>
          <a:lstStyle/>
          <a:p>
            <a:endParaRPr lang="en-US"/>
          </a:p>
        </p:txBody>
      </p:sp>
      <p:sp>
        <p:nvSpPr>
          <p:cNvPr id="122" name="Text"/>
          <p:cNvSpPr/>
          <p:nvPr/>
        </p:nvSpPr>
        <p:spPr>
          <a:xfrm>
            <a:off x="8382000" y="2519200"/>
            <a:ext cx="1005840" cy="73152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500" b="1" dirty="0">
                <a:solidFill>
                  <a:srgbClr val="FFFFFF"/>
                </a:solidFill>
                <a:latin typeface="Arial"/>
                <a:cs typeface="Arial"/>
              </a:rPr>
              <a:t>sepsis</a:t>
            </a:r>
          </a:p>
        </p:txBody>
      </p:sp>
      <p:sp>
        <p:nvSpPr>
          <p:cNvPr id="123" name="Text"/>
          <p:cNvSpPr/>
          <p:nvPr/>
        </p:nvSpPr>
        <p:spPr>
          <a:xfrm>
            <a:off x="10302240" y="2519200"/>
            <a:ext cx="1005840" cy="73152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500" b="1" dirty="0">
                <a:solidFill>
                  <a:srgbClr val="1A1A1A"/>
                </a:solidFill>
                <a:latin typeface="Arial"/>
                <a:cs typeface="Arial"/>
              </a:rPr>
              <a:t>neonatal</a:t>
            </a:r>
          </a:p>
        </p:txBody>
      </p:sp>
      <p:sp>
        <p:nvSpPr>
          <p:cNvPr id="124" name="Text"/>
          <p:cNvSpPr/>
          <p:nvPr/>
        </p:nvSpPr>
        <p:spPr>
          <a:xfrm>
            <a:off x="7970520" y="3982240"/>
            <a:ext cx="3749040" cy="41148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i="1" dirty="0">
                <a:solidFill>
                  <a:srgbClr val="1A1A1A"/>
                </a:solidFill>
                <a:latin typeface="Arial"/>
                <a:cs typeface="Arial"/>
              </a:rPr>
              <a:t>sepsis NOT neonatal</a:t>
            </a:r>
          </a:p>
        </p:txBody>
      </p:sp>
      <p:sp>
        <p:nvSpPr>
          <p:cNvPr id="125" name="Text"/>
          <p:cNvSpPr/>
          <p:nvPr/>
        </p:nvSpPr>
        <p:spPr>
          <a:xfrm>
            <a:off x="7970520" y="4393720"/>
            <a:ext cx="3749040" cy="45720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b="1" dirty="0">
                <a:solidFill>
                  <a:srgbClr val="0D7377"/>
                </a:solidFill>
                <a:latin typeface="Arial"/>
                <a:cs typeface="Arial"/>
              </a:rPr>
              <a:t>loại bài: dùng thận trọng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AND thu hẹp, OR mở rộng, NOT loại bỏ. Hạn chế dùng NOT.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Kiểm tra hiểu bài: AND, OR hay NOT?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2 phút</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Bạn muốn bài có cả sốc nhiễm khuẩn và hạn chế dịch: dùng toán tử nào?</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Bạn muốn bài dùng 'restrictive' hoặc 'conservative' cho dịch: toán tử nào?</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Tìm kiếm ra 40 nghìn kết quả. Thêm khối AND thứ ba sẽ nhiều hơn hay ít hơn?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Vì sao 'sepsis NOT children' là rủi ro?</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SẢN PHẨM   </a:t>
            </a:r>
            <a:r>
              <a:rPr lang="en-US" sz="1500" dirty="0">
                <a:solidFill>
                  <a:srgbClr val="000000"/>
                </a:solidFill>
                <a:latin typeface="Arial"/>
                <a:cs typeface="Arial"/>
              </a:rPr>
              <a:t>Trả lời trong chat (hoặc bình chọn)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MeSH: một nhãn chung cho nhiều cách viết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MeSH (Medical Subject Headings): bộ nhãn chủ đề cố định mà PubMed gắn cho mỗi bài báo.</a:t>
            </a:r>
          </a:p>
        </p:txBody>
      </p:sp>
      <p:sp>
        <p:nvSpPr>
          <p:cNvPr id="100" name="Text"/>
          <p:cNvSpPr/>
          <p:nvPr/>
        </p:nvSpPr>
        <p:spPr>
          <a:xfrm>
            <a:off x="472440" y="1779080"/>
            <a:ext cx="274320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b="1" dirty="0">
                <a:solidFill>
                  <a:srgbClr val="8A99A3"/>
                </a:solidFill>
                <a:latin typeface="Arial"/>
                <a:cs typeface="Arial"/>
              </a:rPr>
              <a:t>Cách tác giả viết</a:t>
            </a:r>
          </a:p>
        </p:txBody>
      </p:sp>
      <p:sp>
        <p:nvSpPr>
          <p:cNvPr id="101" name="Box"/>
          <p:cNvSpPr/>
          <p:nvPr/>
        </p:nvSpPr>
        <p:spPr>
          <a:xfrm>
            <a:off x="472440" y="2236280"/>
            <a:ext cx="2743200" cy="457200"/>
          </a:xfrm>
          <a:prstGeom prst="roundRect">
            <a:avLst>
              <a:gd name="adj" fmla="val 12000"/>
            </a:avLst>
          </a:prstGeom>
          <a:solidFill>
            <a:srgbClr val="FFF4D6"/>
          </a:solidFill>
          <a:ln w="19050">
            <a:solidFill>
              <a:srgbClr val="E3B23C"/>
            </a:solidFill>
          </a:ln>
        </p:spPr>
        <p:txBody>
          <a:bodyPr wrap="square" lIns="54864" tIns="54864" rIns="54864" bIns="54864" rtlCol="0" anchor="ctr">
            <a:noAutofit/>
          </a:bodyPr>
          <a:lstStyle/>
          <a:p>
            <a:pPr marL="0" indent="0" algn="ctr">
              <a:lnSpc>
                <a:spcPct val="100000"/>
              </a:lnSpc>
              <a:buNone/>
            </a:pPr>
            <a:r>
              <a:rPr lang="en-US" sz="1500" dirty="0">
                <a:solidFill>
                  <a:srgbClr val="1A1A1A"/>
                </a:solidFill>
                <a:latin typeface="Arial"/>
                <a:cs typeface="Arial"/>
              </a:rPr>
              <a:t>septic shock</a:t>
            </a:r>
          </a:p>
        </p:txBody>
      </p:sp>
      <p:sp>
        <p:nvSpPr>
          <p:cNvPr id="102" name="Box"/>
          <p:cNvSpPr/>
          <p:nvPr/>
        </p:nvSpPr>
        <p:spPr>
          <a:xfrm>
            <a:off x="472440" y="2803208"/>
            <a:ext cx="2743200" cy="457200"/>
          </a:xfrm>
          <a:prstGeom prst="roundRect">
            <a:avLst>
              <a:gd name="adj" fmla="val 12000"/>
            </a:avLst>
          </a:prstGeom>
          <a:solidFill>
            <a:srgbClr val="FFF4D6"/>
          </a:solidFill>
          <a:ln w="19050">
            <a:solidFill>
              <a:srgbClr val="E3B23C"/>
            </a:solidFill>
          </a:ln>
        </p:spPr>
        <p:txBody>
          <a:bodyPr wrap="square" lIns="54864" tIns="54864" rIns="54864" bIns="54864" rtlCol="0" anchor="ctr">
            <a:noAutofit/>
          </a:bodyPr>
          <a:lstStyle/>
          <a:p>
            <a:pPr marL="0" indent="0" algn="ctr">
              <a:lnSpc>
                <a:spcPct val="100000"/>
              </a:lnSpc>
              <a:buNone/>
            </a:pPr>
            <a:r>
              <a:rPr lang="en-US" sz="1500" dirty="0">
                <a:solidFill>
                  <a:srgbClr val="1A1A1A"/>
                </a:solidFill>
                <a:latin typeface="Arial"/>
                <a:cs typeface="Arial"/>
              </a:rPr>
              <a:t>sepsis with shock</a:t>
            </a:r>
          </a:p>
        </p:txBody>
      </p:sp>
      <p:sp>
        <p:nvSpPr>
          <p:cNvPr id="103" name="Box"/>
          <p:cNvSpPr/>
          <p:nvPr/>
        </p:nvSpPr>
        <p:spPr>
          <a:xfrm>
            <a:off x="472440" y="3370136"/>
            <a:ext cx="2743200" cy="457200"/>
          </a:xfrm>
          <a:prstGeom prst="roundRect">
            <a:avLst>
              <a:gd name="adj" fmla="val 12000"/>
            </a:avLst>
          </a:prstGeom>
          <a:solidFill>
            <a:srgbClr val="FFF4D6"/>
          </a:solidFill>
          <a:ln w="19050">
            <a:solidFill>
              <a:srgbClr val="E3B23C"/>
            </a:solidFill>
          </a:ln>
        </p:spPr>
        <p:txBody>
          <a:bodyPr wrap="square" lIns="54864" tIns="54864" rIns="54864" bIns="54864" rtlCol="0" anchor="ctr">
            <a:noAutofit/>
          </a:bodyPr>
          <a:lstStyle/>
          <a:p>
            <a:pPr marL="0" indent="0" algn="ctr">
              <a:lnSpc>
                <a:spcPct val="100000"/>
              </a:lnSpc>
              <a:buNone/>
            </a:pPr>
            <a:r>
              <a:rPr lang="en-US" sz="1500" dirty="0">
                <a:solidFill>
                  <a:srgbClr val="1A1A1A"/>
                </a:solidFill>
                <a:latin typeface="Arial"/>
                <a:cs typeface="Arial"/>
              </a:rPr>
              <a:t>vasopressor-dependent sepsis</a:t>
            </a:r>
          </a:p>
        </p:txBody>
      </p:sp>
      <p:sp>
        <p:nvSpPr>
          <p:cNvPr id="104" name="Box"/>
          <p:cNvSpPr/>
          <p:nvPr/>
        </p:nvSpPr>
        <p:spPr>
          <a:xfrm>
            <a:off x="472440" y="3937064"/>
            <a:ext cx="2743200" cy="457200"/>
          </a:xfrm>
          <a:prstGeom prst="roundRect">
            <a:avLst>
              <a:gd name="adj" fmla="val 12000"/>
            </a:avLst>
          </a:prstGeom>
          <a:solidFill>
            <a:srgbClr val="FFF4D6"/>
          </a:solidFill>
          <a:ln w="19050">
            <a:solidFill>
              <a:srgbClr val="E3B23C"/>
            </a:solidFill>
          </a:ln>
        </p:spPr>
        <p:txBody>
          <a:bodyPr wrap="square" lIns="54864" tIns="54864" rIns="54864" bIns="54864" rtlCol="0" anchor="ctr">
            <a:noAutofit/>
          </a:bodyPr>
          <a:lstStyle/>
          <a:p>
            <a:pPr marL="0" indent="0" algn="ctr">
              <a:lnSpc>
                <a:spcPct val="100000"/>
              </a:lnSpc>
              <a:buNone/>
            </a:pPr>
            <a:r>
              <a:rPr lang="en-US" sz="1500" dirty="0">
                <a:solidFill>
                  <a:srgbClr val="1A1A1A"/>
                </a:solidFill>
                <a:latin typeface="Arial"/>
                <a:cs typeface="Arial"/>
              </a:rPr>
              <a:t>refractory septic shock</a:t>
            </a:r>
          </a:p>
        </p:txBody>
      </p:sp>
      <p:sp>
        <p:nvSpPr>
          <p:cNvPr id="105" name="Box"/>
          <p:cNvSpPr/>
          <p:nvPr/>
        </p:nvSpPr>
        <p:spPr>
          <a:xfrm>
            <a:off x="4130040" y="2739200"/>
            <a:ext cx="2377440" cy="868680"/>
          </a:xfrm>
          <a:prstGeom prst="roundRect">
            <a:avLst>
              <a:gd name="adj" fmla="val 12000"/>
            </a:avLst>
          </a:prstGeom>
          <a:solidFill>
            <a:srgbClr val="0D7377"/>
          </a:solidFill>
          <a:ln>
            <a:noFill/>
          </a:ln>
        </p:spPr>
        <p:txBody>
          <a:bodyPr wrap="square" lIns="54864" tIns="54864" rIns="54864" bIns="54864" rtlCol="0" anchor="ctr">
            <a:noAutofit/>
          </a:bodyPr>
          <a:lstStyle/>
          <a:p>
            <a:pPr marL="0" indent="0" algn="ctr">
              <a:lnSpc>
                <a:spcPct val="100000"/>
              </a:lnSpc>
              <a:buNone/>
            </a:pPr>
            <a:r>
              <a:rPr lang="en-US" sz="1600" b="1" dirty="0">
                <a:solidFill>
                  <a:srgbClr val="FFFFFF"/>
                </a:solidFill>
                <a:latin typeface="Arial"/>
                <a:cs typeface="Arial"/>
              </a:rPr>
              <a:t>Đề mục MeSH</a:t>
            </a:r>
          </a:p>
          <a:p>
            <a:pPr marL="0" indent="0" algn="ctr">
              <a:lnSpc>
                <a:spcPct val="100000"/>
              </a:lnSpc>
              <a:spcBef>
                <a:spcPts val="100"/>
              </a:spcBef>
              <a:buNone/>
            </a:pPr>
            <a:r>
              <a:rPr lang="en-US" sz="1600" b="1" dirty="0">
                <a:solidFill>
                  <a:srgbClr val="FFFFFF"/>
                </a:solidFill>
                <a:latin typeface="Arial"/>
                <a:cs typeface="Arial"/>
              </a:rPr>
              <a:t>"Shock, Septic"</a:t>
            </a:r>
          </a:p>
        </p:txBody>
      </p:sp>
      <p:cxnSp>
        <p:nvCxnSpPr>
          <p:cNvPr id="106" name="Arrow"/>
          <p:cNvCxnSpPr/>
          <p:nvPr/>
        </p:nvCxnSpPr>
        <p:spPr>
          <a:xfrm>
            <a:off x="3000756" y="2700789"/>
            <a:ext cx="1093446" cy="223005"/>
          </a:xfrm>
          <a:prstGeom prst="straightConnector1">
            <a:avLst/>
          </a:prstGeom>
          <a:ln w="25400" cap="rnd">
            <a:solidFill>
              <a:srgbClr val="E3B23C"/>
            </a:solidFill>
            <a:round/>
            <a:tailEnd type="triangle" w="med" len="med"/>
          </a:ln>
        </p:spPr>
      </p:cxnSp>
      <p:cxnSp>
        <p:nvCxnSpPr>
          <p:cNvPr id="107" name="Arrow"/>
          <p:cNvCxnSpPr/>
          <p:nvPr/>
        </p:nvCxnSpPr>
        <p:spPr>
          <a:xfrm>
            <a:off x="3252186" y="3089246"/>
            <a:ext cx="841309" cy="34317"/>
          </a:xfrm>
          <a:prstGeom prst="straightConnector1">
            <a:avLst/>
          </a:prstGeom>
          <a:ln w="25400" cap="rnd">
            <a:solidFill>
              <a:srgbClr val="E3B23C"/>
            </a:solidFill>
            <a:round/>
            <a:tailEnd type="triangle" w="med" len="med"/>
          </a:ln>
        </p:spPr>
      </p:cxnSp>
      <p:cxnSp>
        <p:nvCxnSpPr>
          <p:cNvPr id="108" name="Arrow"/>
          <p:cNvCxnSpPr/>
          <p:nvPr/>
        </p:nvCxnSpPr>
        <p:spPr>
          <a:xfrm flipV="1">
            <a:off x="3251945" y="3323444"/>
            <a:ext cx="841790" cy="103008"/>
          </a:xfrm>
          <a:prstGeom prst="straightConnector1">
            <a:avLst/>
          </a:prstGeom>
          <a:ln w="25400" cap="rnd">
            <a:solidFill>
              <a:srgbClr val="E3B23C"/>
            </a:solidFill>
            <a:round/>
            <a:tailEnd type="triangle" w="med" len="med"/>
          </a:ln>
        </p:spPr>
      </p:cxnSp>
      <p:cxnSp>
        <p:nvCxnSpPr>
          <p:cNvPr id="109" name="Arrow"/>
          <p:cNvCxnSpPr/>
          <p:nvPr/>
        </p:nvCxnSpPr>
        <p:spPr>
          <a:xfrm flipV="1">
            <a:off x="2679837" y="3522993"/>
            <a:ext cx="1415032" cy="404029"/>
          </a:xfrm>
          <a:prstGeom prst="straightConnector1">
            <a:avLst/>
          </a:prstGeom>
          <a:ln w="25400" cap="rnd">
            <a:solidFill>
              <a:srgbClr val="E3B23C"/>
            </a:solidFill>
            <a:round/>
            <a:tailEnd type="triangle" w="med" len="med"/>
          </a:ln>
        </p:spPr>
      </p:cxnSp>
      <p:sp>
        <p:nvSpPr>
          <p:cNvPr id="110" name="Text"/>
          <p:cNvSpPr/>
          <p:nvPr/>
        </p:nvSpPr>
        <p:spPr>
          <a:xfrm>
            <a:off x="3947160" y="3653600"/>
            <a:ext cx="2743200" cy="64008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500" i="1" dirty="0">
                <a:solidFill>
                  <a:srgbClr val="8A99A3"/>
                </a:solidFill>
                <a:latin typeface="Arial"/>
                <a:cs typeface="Arial"/>
              </a:rPr>
              <a:t>một nhãn chung cho mọi cách viết</a:t>
            </a:r>
          </a:p>
        </p:txBody>
      </p:sp>
      <p:sp>
        <p:nvSpPr>
          <p:cNvPr id="111" name="Text"/>
          <p:cNvSpPr/>
          <p:nvPr/>
        </p:nvSpPr>
        <p:spPr>
          <a:xfrm>
            <a:off x="472440" y="4568000"/>
            <a:ext cx="6217920" cy="45720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500" b="1" dirty="0">
                <a:solidFill>
                  <a:srgbClr val="D9822B"/>
                </a:solidFill>
                <a:latin typeface="Arial"/>
                <a:cs typeface="Arial"/>
              </a:rPr>
              <a:t>Bài mới có thể chưa được gắn MeSH: thêm từ tự do [tiab]</a:t>
            </a:r>
          </a:p>
        </p:txBody>
      </p:sp>
      <p:sp>
        <p:nvSpPr>
          <p:cNvPr id="112" name="Text"/>
          <p:cNvSpPr/>
          <p:nvPr/>
        </p:nvSpPr>
        <p:spPr>
          <a:xfrm>
            <a:off x="7421880" y="1779080"/>
            <a:ext cx="4297680" cy="36576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b="1" dirty="0">
                <a:solidFill>
                  <a:srgbClr val="8A99A3"/>
                </a:solidFill>
                <a:latin typeface="Arial"/>
                <a:cs typeface="Arial"/>
              </a:rPr>
              <a:t>Cây MeSH (từ rộng đến hẹp)</a:t>
            </a:r>
          </a:p>
        </p:txBody>
      </p:sp>
      <p:sp>
        <p:nvSpPr>
          <p:cNvPr id="113" name="Box"/>
          <p:cNvSpPr/>
          <p:nvPr/>
        </p:nvSpPr>
        <p:spPr>
          <a:xfrm>
            <a:off x="7421880" y="2236280"/>
            <a:ext cx="2377440" cy="457200"/>
          </a:xfrm>
          <a:prstGeom prst="roundRect">
            <a:avLst>
              <a:gd name="adj" fmla="val 12000"/>
            </a:avLst>
          </a:prstGeom>
          <a:solidFill>
            <a:srgbClr val="5FA39B"/>
          </a:solidFill>
          <a:ln>
            <a:noFill/>
          </a:ln>
        </p:spPr>
        <p:txBody>
          <a:bodyPr wrap="square" lIns="54864" tIns="54864" rIns="54864" bIns="54864" rtlCol="0" anchor="ctr">
            <a:noAutofit/>
          </a:bodyPr>
          <a:lstStyle/>
          <a:p>
            <a:pPr marL="0" indent="0" algn="ctr">
              <a:lnSpc>
                <a:spcPct val="100000"/>
              </a:lnSpc>
              <a:buNone/>
            </a:pPr>
            <a:r>
              <a:rPr lang="en-US" sz="1600" b="1" dirty="0">
                <a:solidFill>
                  <a:srgbClr val="FFFFFF"/>
                </a:solidFill>
                <a:latin typeface="Arial"/>
                <a:cs typeface="Arial"/>
              </a:rPr>
              <a:t>Infections</a:t>
            </a:r>
          </a:p>
        </p:txBody>
      </p:sp>
      <p:sp>
        <p:nvSpPr>
          <p:cNvPr id="114" name="Box"/>
          <p:cNvSpPr/>
          <p:nvPr/>
        </p:nvSpPr>
        <p:spPr>
          <a:xfrm>
            <a:off x="7879080" y="2830640"/>
            <a:ext cx="2377440" cy="457200"/>
          </a:xfrm>
          <a:prstGeom prst="roundRect">
            <a:avLst>
              <a:gd name="adj" fmla="val 12000"/>
            </a:avLst>
          </a:prstGeom>
          <a:solidFill>
            <a:srgbClr val="0070C0"/>
          </a:solidFill>
          <a:ln>
            <a:noFill/>
          </a:ln>
        </p:spPr>
        <p:txBody>
          <a:bodyPr wrap="square" lIns="54864" tIns="54864" rIns="54864" bIns="54864" rtlCol="0" anchor="ctr">
            <a:noAutofit/>
          </a:bodyPr>
          <a:lstStyle/>
          <a:p>
            <a:pPr marL="0" indent="0" algn="ctr">
              <a:lnSpc>
                <a:spcPct val="100000"/>
              </a:lnSpc>
              <a:buNone/>
            </a:pPr>
            <a:r>
              <a:rPr lang="en-US" sz="1600" b="1" dirty="0">
                <a:solidFill>
                  <a:srgbClr val="FFFFFF"/>
                </a:solidFill>
                <a:latin typeface="Arial"/>
                <a:cs typeface="Arial"/>
              </a:rPr>
              <a:t>Sepsis</a:t>
            </a:r>
          </a:p>
        </p:txBody>
      </p:sp>
      <p:sp>
        <p:nvSpPr>
          <p:cNvPr id="115" name="Box"/>
          <p:cNvSpPr/>
          <p:nvPr/>
        </p:nvSpPr>
        <p:spPr>
          <a:xfrm>
            <a:off x="8336280" y="3425000"/>
            <a:ext cx="2377440" cy="457200"/>
          </a:xfrm>
          <a:prstGeom prst="roundRect">
            <a:avLst>
              <a:gd name="adj" fmla="val 12000"/>
            </a:avLst>
          </a:prstGeom>
          <a:solidFill>
            <a:srgbClr val="0D7377"/>
          </a:solidFill>
          <a:ln>
            <a:noFill/>
          </a:ln>
        </p:spPr>
        <p:txBody>
          <a:bodyPr wrap="square" lIns="54864" tIns="54864" rIns="54864" bIns="54864" rtlCol="0" anchor="ctr">
            <a:noAutofit/>
          </a:bodyPr>
          <a:lstStyle/>
          <a:p>
            <a:pPr marL="0" indent="0" algn="ctr">
              <a:lnSpc>
                <a:spcPct val="100000"/>
              </a:lnSpc>
              <a:buNone/>
            </a:pPr>
            <a:r>
              <a:rPr lang="en-US" sz="1600" b="1" dirty="0">
                <a:solidFill>
                  <a:srgbClr val="FFFFFF"/>
                </a:solidFill>
                <a:latin typeface="Arial"/>
                <a:cs typeface="Arial"/>
              </a:rPr>
              <a:t>Shock, Septic</a:t>
            </a:r>
          </a:p>
        </p:txBody>
      </p:sp>
      <p:cxnSp>
        <p:nvCxnSpPr>
          <p:cNvPr id="116" name="Line"/>
          <p:cNvCxnSpPr/>
          <p:nvPr/>
        </p:nvCxnSpPr>
        <p:spPr>
          <a:xfrm>
            <a:off x="7650480" y="2693480"/>
            <a:ext cx="0" cy="365760"/>
          </a:xfrm>
          <a:prstGeom prst="straightConnector1">
            <a:avLst/>
          </a:prstGeom>
          <a:ln w="25400" cap="rnd">
            <a:solidFill>
              <a:srgbClr val="8A99A3"/>
            </a:solidFill>
            <a:round/>
          </a:ln>
        </p:spPr>
      </p:cxnSp>
      <p:cxnSp>
        <p:nvCxnSpPr>
          <p:cNvPr id="117" name="Line"/>
          <p:cNvCxnSpPr/>
          <p:nvPr/>
        </p:nvCxnSpPr>
        <p:spPr>
          <a:xfrm>
            <a:off x="7650480" y="3059240"/>
            <a:ext cx="228600" cy="0"/>
          </a:xfrm>
          <a:prstGeom prst="straightConnector1">
            <a:avLst/>
          </a:prstGeom>
          <a:ln w="25400" cap="rnd">
            <a:solidFill>
              <a:srgbClr val="8A99A3"/>
            </a:solidFill>
            <a:round/>
          </a:ln>
        </p:spPr>
      </p:cxnSp>
      <p:cxnSp>
        <p:nvCxnSpPr>
          <p:cNvPr id="118" name="Line"/>
          <p:cNvCxnSpPr/>
          <p:nvPr/>
        </p:nvCxnSpPr>
        <p:spPr>
          <a:xfrm>
            <a:off x="8107680" y="3287840"/>
            <a:ext cx="0" cy="365760"/>
          </a:xfrm>
          <a:prstGeom prst="straightConnector1">
            <a:avLst/>
          </a:prstGeom>
          <a:ln w="25400" cap="rnd">
            <a:solidFill>
              <a:srgbClr val="8A99A3"/>
            </a:solidFill>
            <a:round/>
          </a:ln>
        </p:spPr>
      </p:cxnSp>
      <p:cxnSp>
        <p:nvCxnSpPr>
          <p:cNvPr id="119" name="Line"/>
          <p:cNvCxnSpPr/>
          <p:nvPr/>
        </p:nvCxnSpPr>
        <p:spPr>
          <a:xfrm>
            <a:off x="8107680" y="3653600"/>
            <a:ext cx="228600" cy="0"/>
          </a:xfrm>
          <a:prstGeom prst="straightConnector1">
            <a:avLst/>
          </a:prstGeom>
          <a:ln w="25400" cap="rnd">
            <a:solidFill>
              <a:srgbClr val="8A99A3"/>
            </a:solidFill>
            <a:round/>
          </a:ln>
        </p:spPr>
      </p:cxnSp>
      <p:cxnSp>
        <p:nvCxnSpPr>
          <p:cNvPr id="120" name="Arrow"/>
          <p:cNvCxnSpPr/>
          <p:nvPr/>
        </p:nvCxnSpPr>
        <p:spPr>
          <a:xfrm>
            <a:off x="6553200" y="3379280"/>
            <a:ext cx="1737360" cy="274320"/>
          </a:xfrm>
          <a:prstGeom prst="straightConnector1">
            <a:avLst/>
          </a:prstGeom>
          <a:ln w="31750" cap="rnd">
            <a:solidFill>
              <a:srgbClr val="0D7377"/>
            </a:solidFill>
            <a:round/>
            <a:tailEnd type="triangle" w="med" len="med"/>
          </a:ln>
        </p:spPr>
      </p:cxnSp>
      <p:sp>
        <p:nvSpPr>
          <p:cNvPr id="121" name="Box"/>
          <p:cNvSpPr/>
          <p:nvPr/>
        </p:nvSpPr>
        <p:spPr>
          <a:xfrm>
            <a:off x="7421880" y="4156520"/>
            <a:ext cx="4297680" cy="868680"/>
          </a:xfrm>
          <a:prstGeom prst="roundRect">
            <a:avLst>
              <a:gd name="adj" fmla="val 8000"/>
            </a:avLst>
          </a:prstGeom>
          <a:solidFill>
            <a:srgbClr val="EAF2F5"/>
          </a:solidFill>
          <a:ln>
            <a:noFill/>
          </a:ln>
        </p:spPr>
        <p:txBody>
          <a:bodyPr wrap="square" lIns="91440" tIns="91440" rIns="91440" bIns="91440" rtlCol="0" anchor="ctr">
            <a:noAutofit/>
          </a:bodyPr>
          <a:lstStyle/>
          <a:p>
            <a:pPr marL="0" indent="0" algn="ctr">
              <a:lnSpc>
                <a:spcPct val="100000"/>
              </a:lnSpc>
              <a:buNone/>
            </a:pPr>
            <a:r>
              <a:rPr lang="en-US" sz="1500" dirty="0">
                <a:solidFill>
                  <a:srgbClr val="1A1A1A"/>
                </a:solidFill>
                <a:latin typeface="Arial"/>
                <a:cs typeface="Arial"/>
              </a:rPr>
              <a:t>Tìm Sepsis[MeSH] cũng ra các bài được xếp dưới Shock, Septic</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Tìm cả thuật ngữ MeSH và từ tự do, nối với nhau bằng OR.</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Cách tìm đúng thuật ngữ MeSH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725219"/>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MeSH Database</a:t>
            </a:r>
          </a:p>
        </p:txBody>
      </p:sp>
      <p:sp>
        <p:nvSpPr>
          <p:cNvPr id="71" name="CardBody"/>
          <p:cNvSpPr/>
          <p:nvPr/>
        </p:nvSpPr>
        <p:spPr>
          <a:xfrm>
            <a:off x="457200" y="2365219"/>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Trang chủ PubMed, mục Explore</a:t>
            </a:r>
          </a:p>
          <a:p>
            <a:pPr marL="0" indent="0" algn="ctr">
              <a:lnSpc>
                <a:spcPct val="104000"/>
              </a:lnSpc>
              <a:spcBef>
                <a:spcPts val="400"/>
              </a:spcBef>
              <a:buNone/>
            </a:pPr>
            <a:r>
              <a:rPr lang="en-US" sz="1750" dirty="0">
                <a:solidFill>
                  <a:srgbClr val="000000"/>
                </a:solidFill>
                <a:latin typeface="Arial"/>
                <a:cs typeface="Arial"/>
              </a:rPr>
              <a:t>Gõ một từ, ví dụ bedsore</a:t>
            </a:r>
          </a:p>
          <a:p>
            <a:pPr marL="0" indent="0" algn="ctr">
              <a:lnSpc>
                <a:spcPct val="104000"/>
              </a:lnSpc>
              <a:spcBef>
                <a:spcPts val="400"/>
              </a:spcBef>
              <a:buNone/>
            </a:pPr>
            <a:r>
              <a:rPr lang="en-US" sz="1750" dirty="0">
                <a:solidFill>
                  <a:srgbClr val="000000"/>
                </a:solidFill>
                <a:latin typeface="Arial"/>
                <a:cs typeface="Arial"/>
              </a:rPr>
              <a:t>Kết quả cho đề mục: Pressure Ulcer</a:t>
            </a:r>
          </a:p>
        </p:txBody>
      </p:sp>
      <p:sp>
        <p:nvSpPr>
          <p:cNvPr id="72" name="CardHead"/>
          <p:cNvSpPr/>
          <p:nvPr/>
        </p:nvSpPr>
        <p:spPr>
          <a:xfrm>
            <a:off x="4283066" y="1725219"/>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Một bài báo tin cậy</a:t>
            </a:r>
          </a:p>
        </p:txBody>
      </p:sp>
      <p:sp>
        <p:nvSpPr>
          <p:cNvPr id="73" name="CardBody"/>
          <p:cNvSpPr/>
          <p:nvPr/>
        </p:nvSpPr>
        <p:spPr>
          <a:xfrm>
            <a:off x="4283066" y="2365219"/>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Mở một bài liên quan trên PubMed</a:t>
            </a:r>
          </a:p>
          <a:p>
            <a:pPr marL="0" indent="0" algn="ctr">
              <a:lnSpc>
                <a:spcPct val="104000"/>
              </a:lnSpc>
              <a:spcBef>
                <a:spcPts val="400"/>
              </a:spcBef>
              <a:buNone/>
            </a:pPr>
            <a:r>
              <a:rPr lang="en-US" sz="1750" dirty="0">
                <a:solidFill>
                  <a:srgbClr val="000000"/>
                </a:solidFill>
                <a:latin typeface="Arial"/>
                <a:cs typeface="Arial"/>
              </a:rPr>
              <a:t>Kéo xuống phần 'MeSH terms'</a:t>
            </a:r>
          </a:p>
          <a:p>
            <a:pPr marL="0" indent="0" algn="ctr">
              <a:lnSpc>
                <a:spcPct val="104000"/>
              </a:lnSpc>
              <a:spcBef>
                <a:spcPts val="400"/>
              </a:spcBef>
              <a:buNone/>
            </a:pPr>
            <a:r>
              <a:rPr lang="en-US" sz="1750" dirty="0">
                <a:solidFill>
                  <a:srgbClr val="000000"/>
                </a:solidFill>
                <a:latin typeface="Arial"/>
                <a:cs typeface="Arial"/>
              </a:rPr>
              <a:t>Dùng lại các thuật ngữ phù hợp</a:t>
            </a:r>
          </a:p>
        </p:txBody>
      </p:sp>
      <p:sp>
        <p:nvSpPr>
          <p:cNvPr id="74" name="CardHead"/>
          <p:cNvSpPr/>
          <p:nvPr/>
        </p:nvSpPr>
        <p:spPr>
          <a:xfrm>
            <a:off x="8108932" y="1725219"/>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Search details</a:t>
            </a:r>
          </a:p>
        </p:txBody>
      </p:sp>
      <p:sp>
        <p:nvSpPr>
          <p:cNvPr id="75" name="CardBody"/>
          <p:cNvSpPr/>
          <p:nvPr/>
        </p:nvSpPr>
        <p:spPr>
          <a:xfrm>
            <a:off x="8108932" y="2365219"/>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PubMed tự gắn từ của bạn với MeSH</a:t>
            </a:r>
          </a:p>
          <a:p>
            <a:pPr marL="0" indent="0" algn="ctr">
              <a:lnSpc>
                <a:spcPct val="104000"/>
              </a:lnSpc>
              <a:spcBef>
                <a:spcPts val="400"/>
              </a:spcBef>
              <a:buNone/>
            </a:pPr>
            <a:r>
              <a:rPr lang="en-US" sz="1750" dirty="0">
                <a:solidFill>
                  <a:srgbClr val="000000"/>
                </a:solidFill>
                <a:latin typeface="Arial"/>
                <a:cs typeface="Arial"/>
              </a:rPr>
              <a:t>Xem PubMed đã dùng đề mục nào</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Hãy tra thuật ngữ MeSH, đừng đoán.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Bốn công cụ giúp tìm chính xác hơn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76490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"Ngoặc kép"</a:t>
            </a:r>
          </a:p>
        </p:txBody>
      </p:sp>
      <p:sp>
        <p:nvSpPr>
          <p:cNvPr id="71" name="CardBody"/>
          <p:cNvSpPr/>
          <p:nvPr/>
        </p:nvSpPr>
        <p:spPr>
          <a:xfrm>
            <a:off x="457200" y="2404906"/>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"septic shock" = đúng cụm từ</a:t>
            </a:r>
          </a:p>
          <a:p>
            <a:pPr marL="0" indent="0" algn="ctr">
              <a:lnSpc>
                <a:spcPct val="104000"/>
              </a:lnSpc>
              <a:spcBef>
                <a:spcPts val="400"/>
              </a:spcBef>
              <a:buNone/>
            </a:pPr>
            <a:r>
              <a:rPr lang="en-US" sz="1600" dirty="0">
                <a:solidFill>
                  <a:srgbClr val="000000"/>
                </a:solidFill>
                <a:latin typeface="Arial"/>
                <a:cs typeface="Arial"/>
              </a:rPr>
              <a:t>Không phải hai từ rời</a:t>
            </a:r>
          </a:p>
        </p:txBody>
      </p:sp>
      <p:sp>
        <p:nvSpPr>
          <p:cNvPr id="72" name="CardHead"/>
          <p:cNvSpPr/>
          <p:nvPr/>
        </p:nvSpPr>
        <p:spPr>
          <a:xfrm>
            <a:off x="3326600" y="176490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Cắt cụt *</a:t>
            </a:r>
          </a:p>
        </p:txBody>
      </p:sp>
      <p:sp>
        <p:nvSpPr>
          <p:cNvPr id="73" name="CardBody"/>
          <p:cNvSpPr/>
          <p:nvPr/>
        </p:nvSpPr>
        <p:spPr>
          <a:xfrm>
            <a:off x="3326600" y="2404906"/>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child* tìm child, children, childhood</a:t>
            </a:r>
          </a:p>
          <a:p>
            <a:pPr marL="0" indent="0" algn="ctr">
              <a:lnSpc>
                <a:spcPct val="104000"/>
              </a:lnSpc>
              <a:spcBef>
                <a:spcPts val="400"/>
              </a:spcBef>
              <a:buNone/>
            </a:pPr>
            <a:r>
              <a:rPr lang="en-US" sz="1600" dirty="0">
                <a:solidFill>
                  <a:srgbClr val="000000"/>
                </a:solidFill>
                <a:latin typeface="Arial"/>
                <a:cs typeface="Arial"/>
              </a:rPr>
              <a:t>Dùng khi một ý có nhiều đuôi từ</a:t>
            </a:r>
          </a:p>
        </p:txBody>
      </p:sp>
      <p:sp>
        <p:nvSpPr>
          <p:cNvPr id="74" name="CardHead"/>
          <p:cNvSpPr/>
          <p:nvPr/>
        </p:nvSpPr>
        <p:spPr>
          <a:xfrm>
            <a:off x="6196000" y="1764906"/>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Thẻ trường</a:t>
            </a:r>
          </a:p>
        </p:txBody>
      </p:sp>
      <p:sp>
        <p:nvSpPr>
          <p:cNvPr id="75" name="CardBody"/>
          <p:cNvSpPr/>
          <p:nvPr/>
        </p:nvSpPr>
        <p:spPr>
          <a:xfrm>
            <a:off x="6196000" y="2404906"/>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[tiab] tiêu đề hoặc tóm tắt</a:t>
            </a:r>
          </a:p>
          <a:p>
            <a:pPr marL="0" indent="0" algn="ctr">
              <a:lnSpc>
                <a:spcPct val="104000"/>
              </a:lnSpc>
              <a:spcBef>
                <a:spcPts val="400"/>
              </a:spcBef>
              <a:buNone/>
            </a:pPr>
            <a:r>
              <a:rPr lang="en-US" sz="1600" dirty="0">
                <a:solidFill>
                  <a:srgbClr val="000000"/>
                </a:solidFill>
                <a:latin typeface="Arial"/>
                <a:cs typeface="Arial"/>
              </a:rPr>
              <a:t>[mh] hoặc [MeSH] thuật ngữ MeSH</a:t>
            </a:r>
          </a:p>
          <a:p>
            <a:pPr marL="0" indent="0" algn="ctr">
              <a:lnSpc>
                <a:spcPct val="104000"/>
              </a:lnSpc>
              <a:spcBef>
                <a:spcPts val="400"/>
              </a:spcBef>
              <a:buNone/>
            </a:pPr>
            <a:r>
              <a:rPr lang="en-US" sz="1600" dirty="0">
                <a:solidFill>
                  <a:srgbClr val="000000"/>
                </a:solidFill>
                <a:latin typeface="Arial"/>
                <a:cs typeface="Arial"/>
              </a:rPr>
              <a:t>[pt] loại bài báo</a:t>
            </a:r>
          </a:p>
        </p:txBody>
      </p:sp>
      <p:sp>
        <p:nvSpPr>
          <p:cNvPr id="76" name="CardHead"/>
          <p:cNvSpPr/>
          <p:nvPr/>
        </p:nvSpPr>
        <p:spPr>
          <a:xfrm>
            <a:off x="9065400" y="176490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Bộ lọc</a:t>
            </a:r>
          </a:p>
        </p:txBody>
      </p:sp>
      <p:sp>
        <p:nvSpPr>
          <p:cNvPr id="77" name="CardBody"/>
          <p:cNvSpPr/>
          <p:nvPr/>
        </p:nvSpPr>
        <p:spPr>
          <a:xfrm>
            <a:off x="9065400" y="2404906"/>
            <a:ext cx="2669400" cy="1755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Loại bài (RCT, tổng quan hệ thống)</a:t>
            </a:r>
          </a:p>
          <a:p>
            <a:pPr marL="0" indent="0" algn="ctr">
              <a:lnSpc>
                <a:spcPct val="104000"/>
              </a:lnSpc>
              <a:spcBef>
                <a:spcPts val="400"/>
              </a:spcBef>
              <a:buNone/>
            </a:pPr>
            <a:r>
              <a:rPr lang="en-US" sz="1600" dirty="0">
                <a:solidFill>
                  <a:srgbClr val="000000"/>
                </a:solidFill>
                <a:latin typeface="Arial"/>
                <a:cs typeface="Arial"/>
              </a:rPr>
              <a:t>Năm, tuổi, người</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Xem 'Search details' để biết chính xác PubMed đã tìm gì.</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Từ PICO đến các khối tìm kiếm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Câu hỏi: ở người lớn bị sốc nhiễm khuẩn, hạn chế dịch so với thường quy có giảm tử vong 28 ngày không?</a:t>
            </a:r>
          </a:p>
        </p:txBody>
      </p:sp>
      <p:sp>
        <p:nvSpPr>
          <p:cNvPr id="100" name="Box"/>
          <p:cNvSpPr/>
          <p:nvPr/>
        </p:nvSpPr>
        <p:spPr>
          <a:xfrm>
            <a:off x="449580" y="2081078"/>
            <a:ext cx="3246120" cy="502920"/>
          </a:xfrm>
          <a:prstGeom prst="roundRect">
            <a:avLst>
              <a:gd name="adj" fmla="val 8000"/>
            </a:avLst>
          </a:prstGeom>
          <a:solidFill>
            <a:srgbClr val="0D7377"/>
          </a:solidFill>
          <a:ln>
            <a:noFill/>
          </a:ln>
        </p:spPr>
        <p:txBody>
          <a:bodyPr wrap="square" lIns="54864" tIns="54864" rIns="54864" bIns="54864" rtlCol="0" anchor="ctr">
            <a:noAutofit/>
          </a:bodyPr>
          <a:lstStyle/>
          <a:p>
            <a:pPr marL="0" indent="0" algn="ctr">
              <a:lnSpc>
                <a:spcPct val="100000"/>
              </a:lnSpc>
              <a:buNone/>
            </a:pPr>
            <a:r>
              <a:rPr lang="en-US" sz="1800" b="1" dirty="0">
                <a:solidFill>
                  <a:srgbClr val="FFFFFF"/>
                </a:solidFill>
                <a:latin typeface="Arial"/>
                <a:cs typeface="Arial"/>
              </a:rPr>
              <a:t>P:  sốc nhiễm khuẩn</a:t>
            </a:r>
          </a:p>
        </p:txBody>
      </p:sp>
      <p:sp>
        <p:nvSpPr>
          <p:cNvPr id="101" name="Box"/>
          <p:cNvSpPr/>
          <p:nvPr/>
        </p:nvSpPr>
        <p:spPr>
          <a:xfrm>
            <a:off x="449580" y="2583998"/>
            <a:ext cx="3246120" cy="1600200"/>
          </a:xfrm>
          <a:prstGeom prst="roundRect">
            <a:avLst>
              <a:gd name="adj" fmla="val 4000"/>
            </a:avLst>
          </a:prstGeom>
          <a:solidFill>
            <a:srgbClr val="EAF2F5"/>
          </a:solidFill>
          <a:ln>
            <a:noFill/>
          </a:ln>
        </p:spPr>
        <p:txBody>
          <a:bodyPr wrap="square" lIns="73152" tIns="73152" rIns="73152" bIns="73152" rtlCol="0" anchor="ctr">
            <a:noAutofit/>
          </a:bodyPr>
          <a:lstStyle/>
          <a:p>
            <a:pPr marL="0" indent="0" algn="ctr">
              <a:lnSpc>
                <a:spcPct val="100000"/>
              </a:lnSpc>
              <a:buNone/>
            </a:pPr>
            <a:r>
              <a:rPr lang="en-US" sz="1500" dirty="0">
                <a:solidFill>
                  <a:srgbClr val="1A1A1A"/>
                </a:solidFill>
                <a:latin typeface="Arial"/>
                <a:cs typeface="Arial"/>
              </a:rPr>
              <a:t>"Shock, Septic"[MeSH]</a:t>
            </a:r>
          </a:p>
          <a:p>
            <a:pPr marL="0" indent="0" algn="ctr">
              <a:lnSpc>
                <a:spcPct val="100000"/>
              </a:lnSpc>
              <a:spcBef>
                <a:spcPts val="200"/>
              </a:spcBef>
              <a:buNone/>
            </a:pPr>
            <a:r>
              <a:rPr lang="en-US" sz="1500" dirty="0">
                <a:solidFill>
                  <a:srgbClr val="1A1A1A"/>
                </a:solidFill>
                <a:latin typeface="Arial"/>
                <a:cs typeface="Arial"/>
              </a:rPr>
              <a:t>OR "septic shock"[tiab]</a:t>
            </a:r>
          </a:p>
          <a:p>
            <a:pPr marL="0" indent="0" algn="ctr">
              <a:lnSpc>
                <a:spcPct val="100000"/>
              </a:lnSpc>
              <a:spcBef>
                <a:spcPts val="200"/>
              </a:spcBef>
              <a:buNone/>
            </a:pPr>
            <a:r>
              <a:rPr lang="en-US" sz="1500" dirty="0">
                <a:solidFill>
                  <a:srgbClr val="1A1A1A"/>
                </a:solidFill>
                <a:latin typeface="Arial"/>
                <a:cs typeface="Arial"/>
              </a:rPr>
              <a:t>OR sepsis[tiab]</a:t>
            </a:r>
          </a:p>
        </p:txBody>
      </p:sp>
      <p:sp>
        <p:nvSpPr>
          <p:cNvPr id="102" name="Ellipse"/>
          <p:cNvSpPr/>
          <p:nvPr/>
        </p:nvSpPr>
        <p:spPr>
          <a:xfrm>
            <a:off x="3755136" y="3054914"/>
            <a:ext cx="658368" cy="658368"/>
          </a:xfrm>
          <a:prstGeom prst="ellipse">
            <a:avLst/>
          </a:prstGeom>
          <a:solidFill>
            <a:srgbClr val="055F56"/>
          </a:solidFill>
          <a:ln>
            <a:noFill/>
          </a:ln>
        </p:spPr>
        <p:txBody>
          <a:bodyPr wrap="square" lIns="0" tIns="0" rIns="0" bIns="0" rtlCol="0" anchor="ctr">
            <a:noAutofit/>
          </a:bodyPr>
          <a:lstStyle/>
          <a:p>
            <a:pPr marL="0" indent="0" algn="ctr">
              <a:lnSpc>
                <a:spcPct val="100000"/>
              </a:lnSpc>
              <a:buNone/>
            </a:pPr>
            <a:r>
              <a:rPr lang="en-US" sz="1500" b="1" dirty="0">
                <a:solidFill>
                  <a:srgbClr val="FFFFFF"/>
                </a:solidFill>
                <a:latin typeface="Arial"/>
                <a:cs typeface="Arial"/>
              </a:rPr>
              <a:t>AND</a:t>
            </a:r>
          </a:p>
        </p:txBody>
      </p:sp>
      <p:sp>
        <p:nvSpPr>
          <p:cNvPr id="103" name="Box"/>
          <p:cNvSpPr/>
          <p:nvPr/>
        </p:nvSpPr>
        <p:spPr>
          <a:xfrm>
            <a:off x="4472940" y="2081078"/>
            <a:ext cx="3246120" cy="502920"/>
          </a:xfrm>
          <a:prstGeom prst="roundRect">
            <a:avLst>
              <a:gd name="adj" fmla="val 8000"/>
            </a:avLst>
          </a:prstGeom>
          <a:solidFill>
            <a:srgbClr val="0B376C"/>
          </a:solidFill>
          <a:ln>
            <a:noFill/>
          </a:ln>
        </p:spPr>
        <p:txBody>
          <a:bodyPr wrap="square" lIns="54864" tIns="54864" rIns="54864" bIns="54864" rtlCol="0" anchor="ctr">
            <a:noAutofit/>
          </a:bodyPr>
          <a:lstStyle/>
          <a:p>
            <a:pPr marL="0" indent="0" algn="ctr">
              <a:lnSpc>
                <a:spcPct val="100000"/>
              </a:lnSpc>
              <a:buNone/>
            </a:pPr>
            <a:r>
              <a:rPr lang="en-US" sz="1800" b="1" dirty="0">
                <a:solidFill>
                  <a:srgbClr val="FFFFFF"/>
                </a:solidFill>
                <a:latin typeface="Arial"/>
                <a:cs typeface="Arial"/>
              </a:rPr>
              <a:t>I:  hạn chế dịch</a:t>
            </a:r>
          </a:p>
        </p:txBody>
      </p:sp>
      <p:sp>
        <p:nvSpPr>
          <p:cNvPr id="104" name="Box"/>
          <p:cNvSpPr/>
          <p:nvPr/>
        </p:nvSpPr>
        <p:spPr>
          <a:xfrm>
            <a:off x="4472940" y="2583998"/>
            <a:ext cx="3246120" cy="1600200"/>
          </a:xfrm>
          <a:prstGeom prst="roundRect">
            <a:avLst>
              <a:gd name="adj" fmla="val 4000"/>
            </a:avLst>
          </a:prstGeom>
          <a:solidFill>
            <a:srgbClr val="EAF2F5"/>
          </a:solidFill>
          <a:ln>
            <a:noFill/>
          </a:ln>
        </p:spPr>
        <p:txBody>
          <a:bodyPr wrap="square" lIns="73152" tIns="73152" rIns="73152" bIns="73152" rtlCol="0" anchor="ctr">
            <a:noAutofit/>
          </a:bodyPr>
          <a:lstStyle/>
          <a:p>
            <a:pPr marL="0" indent="0" algn="ctr">
              <a:lnSpc>
                <a:spcPct val="100000"/>
              </a:lnSpc>
              <a:buNone/>
            </a:pPr>
            <a:r>
              <a:rPr lang="en-US" sz="1500" dirty="0">
                <a:solidFill>
                  <a:srgbClr val="1A1A1A"/>
                </a:solidFill>
                <a:latin typeface="Arial"/>
                <a:cs typeface="Arial"/>
              </a:rPr>
              <a:t>"Fluid Therapy"[MeSH]</a:t>
            </a:r>
          </a:p>
          <a:p>
            <a:pPr marL="0" indent="0" algn="ctr">
              <a:lnSpc>
                <a:spcPct val="100000"/>
              </a:lnSpc>
              <a:spcBef>
                <a:spcPts val="200"/>
              </a:spcBef>
              <a:buNone/>
            </a:pPr>
            <a:r>
              <a:rPr lang="en-US" sz="1500" dirty="0">
                <a:solidFill>
                  <a:srgbClr val="1A1A1A"/>
                </a:solidFill>
                <a:latin typeface="Arial"/>
                <a:cs typeface="Arial"/>
              </a:rPr>
              <a:t>OR "fluid restrict*"[tiab]</a:t>
            </a:r>
          </a:p>
          <a:p>
            <a:pPr marL="0" indent="0" algn="ctr">
              <a:lnSpc>
                <a:spcPct val="100000"/>
              </a:lnSpc>
              <a:spcBef>
                <a:spcPts val="200"/>
              </a:spcBef>
              <a:buNone/>
            </a:pPr>
            <a:r>
              <a:rPr lang="en-US" sz="1500" dirty="0">
                <a:solidFill>
                  <a:srgbClr val="1A1A1A"/>
                </a:solidFill>
                <a:latin typeface="Arial"/>
                <a:cs typeface="Arial"/>
              </a:rPr>
              <a:t>OR "restrictive fluid*"[tiab]</a:t>
            </a:r>
          </a:p>
          <a:p>
            <a:pPr marL="0" indent="0" algn="ctr">
              <a:lnSpc>
                <a:spcPct val="100000"/>
              </a:lnSpc>
              <a:spcBef>
                <a:spcPts val="200"/>
              </a:spcBef>
              <a:buNone/>
            </a:pPr>
            <a:r>
              <a:rPr lang="en-US" sz="1500" dirty="0">
                <a:solidFill>
                  <a:srgbClr val="1A1A1A"/>
                </a:solidFill>
                <a:latin typeface="Arial"/>
                <a:cs typeface="Arial"/>
              </a:rPr>
              <a:t>OR "conservative fluid*"[tiab]</a:t>
            </a:r>
          </a:p>
        </p:txBody>
      </p:sp>
      <p:sp>
        <p:nvSpPr>
          <p:cNvPr id="105" name="Ellipse"/>
          <p:cNvSpPr/>
          <p:nvPr/>
        </p:nvSpPr>
        <p:spPr>
          <a:xfrm>
            <a:off x="7778496" y="3054914"/>
            <a:ext cx="658368" cy="658368"/>
          </a:xfrm>
          <a:prstGeom prst="ellipse">
            <a:avLst/>
          </a:prstGeom>
          <a:solidFill>
            <a:srgbClr val="055F56"/>
          </a:solidFill>
          <a:ln>
            <a:noFill/>
          </a:ln>
        </p:spPr>
        <p:txBody>
          <a:bodyPr wrap="square" lIns="0" tIns="0" rIns="0" bIns="0" rtlCol="0" anchor="ctr">
            <a:noAutofit/>
          </a:bodyPr>
          <a:lstStyle/>
          <a:p>
            <a:pPr marL="0" indent="0" algn="ctr">
              <a:lnSpc>
                <a:spcPct val="100000"/>
              </a:lnSpc>
              <a:buNone/>
            </a:pPr>
            <a:r>
              <a:rPr lang="en-US" sz="1500" b="1" dirty="0">
                <a:solidFill>
                  <a:srgbClr val="FFFFFF"/>
                </a:solidFill>
                <a:latin typeface="Arial"/>
                <a:cs typeface="Arial"/>
              </a:rPr>
              <a:t>AND</a:t>
            </a:r>
          </a:p>
        </p:txBody>
      </p:sp>
      <p:sp>
        <p:nvSpPr>
          <p:cNvPr id="106" name="Box"/>
          <p:cNvSpPr/>
          <p:nvPr/>
        </p:nvSpPr>
        <p:spPr>
          <a:xfrm>
            <a:off x="8496300" y="2081078"/>
            <a:ext cx="3246120" cy="502920"/>
          </a:xfrm>
          <a:prstGeom prst="roundRect">
            <a:avLst>
              <a:gd name="adj" fmla="val 8000"/>
            </a:avLst>
          </a:prstGeom>
          <a:solidFill>
            <a:srgbClr val="0070C0"/>
          </a:solidFill>
          <a:ln>
            <a:noFill/>
          </a:ln>
        </p:spPr>
        <p:txBody>
          <a:bodyPr wrap="square" lIns="54864" tIns="54864" rIns="54864" bIns="54864" rtlCol="0" anchor="ctr">
            <a:noAutofit/>
          </a:bodyPr>
          <a:lstStyle/>
          <a:p>
            <a:pPr marL="0" indent="0" algn="ctr">
              <a:lnSpc>
                <a:spcPct val="100000"/>
              </a:lnSpc>
              <a:buNone/>
            </a:pPr>
            <a:r>
              <a:rPr lang="en-US" sz="1800" b="1" dirty="0">
                <a:solidFill>
                  <a:srgbClr val="FFFFFF"/>
                </a:solidFill>
                <a:latin typeface="Arial"/>
                <a:cs typeface="Arial"/>
              </a:rPr>
              <a:t>O:  tử vong</a:t>
            </a:r>
          </a:p>
        </p:txBody>
      </p:sp>
      <p:sp>
        <p:nvSpPr>
          <p:cNvPr id="107" name="Box"/>
          <p:cNvSpPr/>
          <p:nvPr/>
        </p:nvSpPr>
        <p:spPr>
          <a:xfrm>
            <a:off x="8496300" y="2583998"/>
            <a:ext cx="3246120" cy="1600200"/>
          </a:xfrm>
          <a:prstGeom prst="roundRect">
            <a:avLst>
              <a:gd name="adj" fmla="val 4000"/>
            </a:avLst>
          </a:prstGeom>
          <a:solidFill>
            <a:srgbClr val="EAF2F5"/>
          </a:solidFill>
          <a:ln>
            <a:noFill/>
          </a:ln>
        </p:spPr>
        <p:txBody>
          <a:bodyPr wrap="square" lIns="73152" tIns="73152" rIns="73152" bIns="73152" rtlCol="0" anchor="ctr">
            <a:noAutofit/>
          </a:bodyPr>
          <a:lstStyle/>
          <a:p>
            <a:pPr marL="0" indent="0" algn="ctr">
              <a:lnSpc>
                <a:spcPct val="100000"/>
              </a:lnSpc>
              <a:buNone/>
            </a:pPr>
            <a:r>
              <a:rPr lang="en-US" sz="1500" dirty="0">
                <a:solidFill>
                  <a:srgbClr val="1A1A1A"/>
                </a:solidFill>
                <a:latin typeface="Arial"/>
                <a:cs typeface="Arial"/>
              </a:rPr>
              <a:t>Mortality[MeSH]</a:t>
            </a:r>
          </a:p>
          <a:p>
            <a:pPr marL="0" indent="0" algn="ctr">
              <a:lnSpc>
                <a:spcPct val="100000"/>
              </a:lnSpc>
              <a:spcBef>
                <a:spcPts val="200"/>
              </a:spcBef>
              <a:buNone/>
            </a:pPr>
            <a:r>
              <a:rPr lang="en-US" sz="1500" dirty="0">
                <a:solidFill>
                  <a:srgbClr val="1A1A1A"/>
                </a:solidFill>
                <a:latin typeface="Arial"/>
                <a:cs typeface="Arial"/>
              </a:rPr>
              <a:t>OR mortality[tiab]</a:t>
            </a:r>
          </a:p>
          <a:p>
            <a:pPr marL="0" indent="0" algn="ctr">
              <a:lnSpc>
                <a:spcPct val="100000"/>
              </a:lnSpc>
              <a:spcBef>
                <a:spcPts val="200"/>
              </a:spcBef>
              <a:buNone/>
            </a:pPr>
            <a:r>
              <a:rPr lang="en-US" sz="1500" dirty="0">
                <a:solidFill>
                  <a:srgbClr val="1A1A1A"/>
                </a:solidFill>
                <a:latin typeface="Arial"/>
                <a:cs typeface="Arial"/>
              </a:rPr>
              <a:t>OR death[tiab]</a:t>
            </a:r>
          </a:p>
        </p:txBody>
      </p:sp>
      <p:sp>
        <p:nvSpPr>
          <p:cNvPr id="108" name="Text"/>
          <p:cNvSpPr/>
          <p:nvPr/>
        </p:nvSpPr>
        <p:spPr>
          <a:xfrm>
            <a:off x="746760" y="4412798"/>
            <a:ext cx="10698480" cy="45720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i="1" dirty="0">
                <a:solidFill>
                  <a:srgbClr val="595959"/>
                </a:solidFill>
                <a:latin typeface="Arial"/>
                <a:cs typeface="Arial"/>
              </a:rPr>
              <a:t>C (thường quy) thường không đưa vào tìm kiếm: cách viết quá đa dạng.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Mỗi thành phần PICO một khối: OR trong khối, AND giữa các khối.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Thêm một ví dụ: câu hỏi tại khoa phòng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Câu hỏi: ở người lớn có nguy cơ tại khoa phòng, xoay trở mỗi 2 giờ có làm giảm tổn thương do tì đè mới không?</a:t>
            </a:r>
          </a:p>
        </p:txBody>
      </p:sp>
      <p:sp>
        <p:nvSpPr>
          <p:cNvPr id="100" name="Box"/>
          <p:cNvSpPr/>
          <p:nvPr/>
        </p:nvSpPr>
        <p:spPr>
          <a:xfrm>
            <a:off x="2461260" y="2081078"/>
            <a:ext cx="3246120" cy="502920"/>
          </a:xfrm>
          <a:prstGeom prst="roundRect">
            <a:avLst>
              <a:gd name="adj" fmla="val 8000"/>
            </a:avLst>
          </a:prstGeom>
          <a:solidFill>
            <a:srgbClr val="0D7377"/>
          </a:solidFill>
          <a:ln>
            <a:noFill/>
          </a:ln>
        </p:spPr>
        <p:txBody>
          <a:bodyPr wrap="square" lIns="54864" tIns="54864" rIns="54864" bIns="54864" rtlCol="0" anchor="ctr">
            <a:noAutofit/>
          </a:bodyPr>
          <a:lstStyle/>
          <a:p>
            <a:pPr marL="0" indent="0" algn="ctr">
              <a:lnSpc>
                <a:spcPct val="100000"/>
              </a:lnSpc>
              <a:buNone/>
            </a:pPr>
            <a:r>
              <a:rPr lang="en-US" sz="1800" b="1" dirty="0">
                <a:solidFill>
                  <a:srgbClr val="FFFFFF"/>
                </a:solidFill>
                <a:latin typeface="Arial"/>
                <a:cs typeface="Arial"/>
              </a:rPr>
              <a:t>P + O:  tổn thương do tì đè</a:t>
            </a:r>
          </a:p>
        </p:txBody>
      </p:sp>
      <p:sp>
        <p:nvSpPr>
          <p:cNvPr id="101" name="Box"/>
          <p:cNvSpPr/>
          <p:nvPr/>
        </p:nvSpPr>
        <p:spPr>
          <a:xfrm>
            <a:off x="2461260" y="2583998"/>
            <a:ext cx="3246120" cy="1600200"/>
          </a:xfrm>
          <a:prstGeom prst="roundRect">
            <a:avLst>
              <a:gd name="adj" fmla="val 4000"/>
            </a:avLst>
          </a:prstGeom>
          <a:solidFill>
            <a:srgbClr val="EAF2F5"/>
          </a:solidFill>
          <a:ln>
            <a:noFill/>
          </a:ln>
        </p:spPr>
        <p:txBody>
          <a:bodyPr wrap="square" lIns="73152" tIns="73152" rIns="73152" bIns="73152" rtlCol="0" anchor="ctr">
            <a:noAutofit/>
          </a:bodyPr>
          <a:lstStyle/>
          <a:p>
            <a:pPr marL="0" indent="0" algn="ctr">
              <a:lnSpc>
                <a:spcPct val="100000"/>
              </a:lnSpc>
              <a:buNone/>
            </a:pPr>
            <a:r>
              <a:rPr lang="en-US" sz="1500" dirty="0">
                <a:solidFill>
                  <a:srgbClr val="1A1A1A"/>
                </a:solidFill>
                <a:latin typeface="Arial"/>
                <a:cs typeface="Arial"/>
              </a:rPr>
              <a:t>"Pressure Ulcer"[MeSH]</a:t>
            </a:r>
          </a:p>
          <a:p>
            <a:pPr marL="0" indent="0" algn="ctr">
              <a:lnSpc>
                <a:spcPct val="100000"/>
              </a:lnSpc>
              <a:spcBef>
                <a:spcPts val="200"/>
              </a:spcBef>
              <a:buNone/>
            </a:pPr>
            <a:r>
              <a:rPr lang="en-US" sz="1500" dirty="0">
                <a:solidFill>
                  <a:srgbClr val="1A1A1A"/>
                </a:solidFill>
                <a:latin typeface="Arial"/>
                <a:cs typeface="Arial"/>
              </a:rPr>
              <a:t>OR "pressure injur*"[tiab]</a:t>
            </a:r>
          </a:p>
          <a:p>
            <a:pPr marL="0" indent="0" algn="ctr">
              <a:lnSpc>
                <a:spcPct val="100000"/>
              </a:lnSpc>
              <a:spcBef>
                <a:spcPts val="200"/>
              </a:spcBef>
              <a:buNone/>
            </a:pPr>
            <a:r>
              <a:rPr lang="en-US" sz="1500" dirty="0">
                <a:solidFill>
                  <a:srgbClr val="1A1A1A"/>
                </a:solidFill>
                <a:latin typeface="Arial"/>
                <a:cs typeface="Arial"/>
              </a:rPr>
              <a:t>OR "pressure ulcer*"[tiab]</a:t>
            </a:r>
          </a:p>
          <a:p>
            <a:pPr marL="0" indent="0" algn="ctr">
              <a:lnSpc>
                <a:spcPct val="100000"/>
              </a:lnSpc>
              <a:spcBef>
                <a:spcPts val="200"/>
              </a:spcBef>
              <a:buNone/>
            </a:pPr>
            <a:r>
              <a:rPr lang="en-US" sz="1500" dirty="0">
                <a:solidFill>
                  <a:srgbClr val="1A1A1A"/>
                </a:solidFill>
                <a:latin typeface="Arial"/>
                <a:cs typeface="Arial"/>
              </a:rPr>
              <a:t>OR bedsore*[tiab]</a:t>
            </a:r>
          </a:p>
        </p:txBody>
      </p:sp>
      <p:sp>
        <p:nvSpPr>
          <p:cNvPr id="102" name="Ellipse"/>
          <p:cNvSpPr/>
          <p:nvPr/>
        </p:nvSpPr>
        <p:spPr>
          <a:xfrm>
            <a:off x="5766816" y="3054914"/>
            <a:ext cx="658368" cy="658368"/>
          </a:xfrm>
          <a:prstGeom prst="ellipse">
            <a:avLst/>
          </a:prstGeom>
          <a:solidFill>
            <a:srgbClr val="055F56"/>
          </a:solidFill>
          <a:ln>
            <a:noFill/>
          </a:ln>
        </p:spPr>
        <p:txBody>
          <a:bodyPr wrap="square" lIns="0" tIns="0" rIns="0" bIns="0" rtlCol="0" anchor="ctr">
            <a:noAutofit/>
          </a:bodyPr>
          <a:lstStyle/>
          <a:p>
            <a:pPr marL="0" indent="0" algn="ctr">
              <a:lnSpc>
                <a:spcPct val="100000"/>
              </a:lnSpc>
              <a:buNone/>
            </a:pPr>
            <a:r>
              <a:rPr lang="en-US" sz="1500" b="1" dirty="0">
                <a:solidFill>
                  <a:srgbClr val="FFFFFF"/>
                </a:solidFill>
                <a:latin typeface="Arial"/>
                <a:cs typeface="Arial"/>
              </a:rPr>
              <a:t>AND</a:t>
            </a:r>
          </a:p>
        </p:txBody>
      </p:sp>
      <p:sp>
        <p:nvSpPr>
          <p:cNvPr id="103" name="Box"/>
          <p:cNvSpPr/>
          <p:nvPr/>
        </p:nvSpPr>
        <p:spPr>
          <a:xfrm>
            <a:off x="6484620" y="2081078"/>
            <a:ext cx="3246120" cy="502920"/>
          </a:xfrm>
          <a:prstGeom prst="roundRect">
            <a:avLst>
              <a:gd name="adj" fmla="val 8000"/>
            </a:avLst>
          </a:prstGeom>
          <a:solidFill>
            <a:srgbClr val="0B376C"/>
          </a:solidFill>
          <a:ln>
            <a:noFill/>
          </a:ln>
        </p:spPr>
        <p:txBody>
          <a:bodyPr wrap="square" lIns="54864" tIns="54864" rIns="54864" bIns="54864" rtlCol="0" anchor="ctr">
            <a:noAutofit/>
          </a:bodyPr>
          <a:lstStyle/>
          <a:p>
            <a:pPr marL="0" indent="0" algn="ctr">
              <a:lnSpc>
                <a:spcPct val="100000"/>
              </a:lnSpc>
              <a:buNone/>
            </a:pPr>
            <a:r>
              <a:rPr lang="en-US" sz="1800" b="1" dirty="0">
                <a:solidFill>
                  <a:srgbClr val="FFFFFF"/>
                </a:solidFill>
                <a:latin typeface="Arial"/>
                <a:cs typeface="Arial"/>
              </a:rPr>
              <a:t>I:  xoay trở</a:t>
            </a:r>
          </a:p>
        </p:txBody>
      </p:sp>
      <p:sp>
        <p:nvSpPr>
          <p:cNvPr id="104" name="Box"/>
          <p:cNvSpPr/>
          <p:nvPr/>
        </p:nvSpPr>
        <p:spPr>
          <a:xfrm>
            <a:off x="6484620" y="2583998"/>
            <a:ext cx="3246120" cy="1600200"/>
          </a:xfrm>
          <a:prstGeom prst="roundRect">
            <a:avLst>
              <a:gd name="adj" fmla="val 4000"/>
            </a:avLst>
          </a:prstGeom>
          <a:solidFill>
            <a:srgbClr val="EAF2F5"/>
          </a:solidFill>
          <a:ln>
            <a:noFill/>
          </a:ln>
        </p:spPr>
        <p:txBody>
          <a:bodyPr wrap="square" lIns="73152" tIns="73152" rIns="73152" bIns="73152" rtlCol="0" anchor="ctr">
            <a:noAutofit/>
          </a:bodyPr>
          <a:lstStyle/>
          <a:p>
            <a:pPr marL="0" indent="0" algn="ctr">
              <a:lnSpc>
                <a:spcPct val="100000"/>
              </a:lnSpc>
              <a:buNone/>
            </a:pPr>
            <a:r>
              <a:rPr lang="en-US" sz="1500" dirty="0">
                <a:solidFill>
                  <a:srgbClr val="1A1A1A"/>
                </a:solidFill>
                <a:latin typeface="Arial"/>
                <a:cs typeface="Arial"/>
              </a:rPr>
              <a:t>"Patient Positioning"[MeSH]</a:t>
            </a:r>
          </a:p>
          <a:p>
            <a:pPr marL="0" indent="0" algn="ctr">
              <a:lnSpc>
                <a:spcPct val="100000"/>
              </a:lnSpc>
              <a:spcBef>
                <a:spcPts val="200"/>
              </a:spcBef>
              <a:buNone/>
            </a:pPr>
            <a:r>
              <a:rPr lang="en-US" sz="1500" dirty="0">
                <a:solidFill>
                  <a:srgbClr val="1A1A1A"/>
                </a:solidFill>
                <a:latin typeface="Arial"/>
                <a:cs typeface="Arial"/>
              </a:rPr>
              <a:t>OR reposition*[tiab]</a:t>
            </a:r>
          </a:p>
          <a:p>
            <a:pPr marL="0" indent="0" algn="ctr">
              <a:lnSpc>
                <a:spcPct val="100000"/>
              </a:lnSpc>
              <a:spcBef>
                <a:spcPts val="200"/>
              </a:spcBef>
              <a:buNone/>
            </a:pPr>
            <a:r>
              <a:rPr lang="en-US" sz="1500" dirty="0">
                <a:solidFill>
                  <a:srgbClr val="1A1A1A"/>
                </a:solidFill>
                <a:latin typeface="Arial"/>
                <a:cs typeface="Arial"/>
              </a:rPr>
              <a:t>OR turning[tiab]</a:t>
            </a:r>
          </a:p>
        </p:txBody>
      </p:sp>
      <p:sp>
        <p:nvSpPr>
          <p:cNvPr id="105" name="Text"/>
          <p:cNvSpPr/>
          <p:nvPr/>
        </p:nvSpPr>
        <p:spPr>
          <a:xfrm>
            <a:off x="746760" y="4412798"/>
            <a:ext cx="10698480" cy="45720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600" i="1" dirty="0">
                <a:solidFill>
                  <a:srgbClr val="595959"/>
                </a:solidFill>
                <a:latin typeface="Arial"/>
                <a:cs typeface="Arial"/>
              </a:rPr>
              <a:t>Ở đây P và O là một ý (tổn thương do tì đè), nên một khối chứa cả hai.</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Cùng một cách cho mọi chủ đề: OR trong khối, AND giữa các khối.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PubMed và Google Scholar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389883"/>
          <a:ext cx="11277600" cy="3380351"/>
        </p:xfrm>
        <a:graphic>
          <a:graphicData uri="http://schemas.openxmlformats.org/drawingml/2006/table">
            <a:tbl>
              <a:tblPr firstRow="1" bandRow="1">
                <a:tableStyleId>{5C22544A-7EE6-4342-B048-85BDC9FD1C3A}</a:tableStyleId>
              </a:tblPr>
              <a:tblGrid>
                <a:gridCol w="3814482"/>
                <a:gridCol w="3648635"/>
                <a:gridCol w="3814483"/>
              </a:tblGrid>
              <a:tr h="380000">
                <a:tc>
                  <a:txBody>
                    <a:bodyPr/>
                    <a:lstStyle/>
                    <a:p>
                      <a:pPr algn="l"/>
                      <a:r>
                        <a:rPr lang="en-US" sz="1700" b="1" dirty="0">
                          <a:solidFill>
                            <a:srgbClr val="FFFFFF"/>
                          </a:solidFill>
                          <a:latin typeface="Arial"/>
                          <a:cs typeface="Arial"/>
                        </a:rPr>
                        <a:t> </a:t>
                      </a:r>
                    </a:p>
                  </a:txBody>
                  <a:tcPr marL="73152" marR="73152" marT="45720" marB="45720" anchor="ctr">
                    <a:solidFill>
                      <a:srgbClr val="FFFFFF"/>
                    </a:solidFill>
                  </a:tcPr>
                </a:tc>
                <a:tc>
                  <a:txBody>
                    <a:bodyPr/>
                    <a:lstStyle/>
                    <a:p>
                      <a:pPr algn="l"/>
                      <a:r>
                        <a:rPr lang="en-US" sz="1700" b="1" dirty="0">
                          <a:solidFill>
                            <a:srgbClr val="FFFFFF"/>
                          </a:solidFill>
                          <a:latin typeface="Arial"/>
                          <a:cs typeface="Arial"/>
                        </a:rPr>
                        <a:t>PubMed</a:t>
                      </a:r>
                    </a:p>
                  </a:txBody>
                  <a:tcPr marL="73152" marR="73152" marT="45720" marB="45720" anchor="ctr">
                    <a:solidFill>
                      <a:srgbClr val="0D7377"/>
                    </a:solidFill>
                  </a:tcPr>
                </a:tc>
                <a:tc>
                  <a:txBody>
                    <a:bodyPr/>
                    <a:lstStyle/>
                    <a:p>
                      <a:pPr algn="l"/>
                      <a:r>
                        <a:rPr lang="en-US" sz="1700" b="1" dirty="0">
                          <a:solidFill>
                            <a:srgbClr val="FFFFFF"/>
                          </a:solidFill>
                          <a:latin typeface="Arial"/>
                          <a:cs typeface="Arial"/>
                        </a:rPr>
                        <a:t>Google Scholar</a:t>
                      </a:r>
                    </a:p>
                  </a:txBody>
                  <a:tcPr marL="73152" marR="73152" marT="45720" marB="45720" anchor="ctr">
                    <a:solidFill>
                      <a:srgbClr val="0B376C"/>
                    </a:solidFill>
                  </a:tcPr>
                </a:tc>
              </a:tr>
              <a:tr h="629598">
                <a:tc>
                  <a:txBody>
                    <a:bodyPr/>
                    <a:lstStyle/>
                    <a:p>
                      <a:pPr algn="l"/>
                      <a:r>
                        <a:rPr lang="en-US" sz="1700" b="1" dirty="0">
                          <a:solidFill>
                            <a:srgbClr val="000000"/>
                          </a:solidFill>
                          <a:latin typeface="Arial"/>
                          <a:cs typeface="Arial"/>
                        </a:rPr>
                        <a:t>Phạm vi tìm</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Tạp chí y sinh</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Gần như mọi thứ: tạp chí, luận văn, sách, bản thảo trước in</a:t>
                      </a:r>
                    </a:p>
                  </a:txBody>
                  <a:tcPr marL="73152" marR="73152" marT="45720" marB="45720" anchor="ctr">
                    <a:solidFill>
                      <a:srgbClr val="FFFFFF"/>
                    </a:solidFill>
                  </a:tcPr>
                </a:tc>
              </a:tr>
              <a:tr h="370519">
                <a:tc>
                  <a:txBody>
                    <a:bodyPr/>
                    <a:lstStyle/>
                    <a:p>
                      <a:pPr algn="l"/>
                      <a:r>
                        <a:rPr lang="en-US" sz="1700" b="1" dirty="0">
                          <a:solidFill>
                            <a:srgbClr val="000000"/>
                          </a:solidFill>
                          <a:latin typeface="Arial"/>
                          <a:cs typeface="Arial"/>
                        </a:rPr>
                        <a:t>Nhãn MeSH</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Có</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Không</a:t>
                      </a:r>
                    </a:p>
                  </a:txBody>
                  <a:tcPr marL="73152" marR="73152" marT="45720" marB="45720" anchor="ctr">
                    <a:solidFill>
                      <a:srgbClr val="F5F9FA"/>
                    </a:solidFill>
                  </a:tcPr>
                </a:tc>
              </a:tr>
              <a:tr h="370519">
                <a:tc>
                  <a:txBody>
                    <a:bodyPr/>
                    <a:lstStyle/>
                    <a:p>
                      <a:pPr algn="l"/>
                      <a:r>
                        <a:rPr lang="en-US" sz="1700" b="1" dirty="0">
                          <a:solidFill>
                            <a:srgbClr val="000000"/>
                          </a:solidFill>
                          <a:latin typeface="Arial"/>
                          <a:cs typeface="Arial"/>
                        </a:rPr>
                        <a:t>Bộ lọc (thiết kế, tuổi, năm)</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Nhiều</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Ít (năm, tổng quan)</a:t>
                      </a:r>
                    </a:p>
                  </a:txBody>
                  <a:tcPr marL="73152" marR="73152" marT="45720" marB="45720" anchor="ctr">
                    <a:solidFill>
                      <a:srgbClr val="FFFFFF"/>
                    </a:solidFill>
                  </a:tcPr>
                </a:tc>
              </a:tr>
              <a:tr h="370519">
                <a:tc>
                  <a:txBody>
                    <a:bodyPr/>
                    <a:lstStyle/>
                    <a:p>
                      <a:pPr algn="l"/>
                      <a:r>
                        <a:rPr lang="en-US" sz="1700" b="1" dirty="0">
                          <a:solidFill>
                            <a:srgbClr val="000000"/>
                          </a:solidFill>
                          <a:latin typeface="Arial"/>
                          <a:cs typeface="Arial"/>
                        </a:rPr>
                        <a:t>Tìm lại sau, kết quả như cũ</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Có</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Không: cách xếp hạng bị ẩn</a:t>
                      </a:r>
                    </a:p>
                  </a:txBody>
                  <a:tcPr marL="73152" marR="73152" marT="45720" marB="45720" anchor="ctr">
                    <a:solidFill>
                      <a:srgbClr val="F5F9FA"/>
                    </a:solidFill>
                  </a:tcPr>
                </a:tc>
              </a:tr>
              <a:tr h="629598">
                <a:tc>
                  <a:txBody>
                    <a:bodyPr/>
                    <a:lstStyle/>
                    <a:p>
                      <a:pPr algn="l"/>
                      <a:r>
                        <a:rPr lang="en-US" sz="1700" b="1" dirty="0">
                          <a:solidFill>
                            <a:srgbClr val="000000"/>
                          </a:solidFill>
                          <a:latin typeface="Arial"/>
                          <a:cs typeface="Arial"/>
                        </a:rPr>
                        <a:t>Tìm bài mới hơn có trích dẫn một bài</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Một phần</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Có ('Cited by')</a:t>
                      </a:r>
                    </a:p>
                  </a:txBody>
                  <a:tcPr marL="73152" marR="73152" marT="45720" marB="45720" anchor="ctr">
                    <a:solidFill>
                      <a:srgbClr val="FFFFFF"/>
                    </a:solidFill>
                  </a:tcPr>
                </a:tc>
              </a:tr>
              <a:tr h="629598">
                <a:tc>
                  <a:txBody>
                    <a:bodyPr/>
                    <a:lstStyle/>
                    <a:p>
                      <a:pPr algn="l"/>
                      <a:r>
                        <a:rPr lang="en-US" sz="1700" b="1" dirty="0">
                          <a:solidFill>
                            <a:srgbClr val="000000"/>
                          </a:solidFill>
                          <a:latin typeface="Arial"/>
                          <a:cs typeface="Arial"/>
                        </a:rPr>
                        <a:t>Dùng để</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Tìm kiếm chính, có ghi lại</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Kiểm tra xem có sót bài nào không</a:t>
                      </a:r>
                    </a:p>
                  </a:txBody>
                  <a:tcPr marL="73152" marR="73152" marT="45720" marB="45720" anchor="ctr">
                    <a:solidFill>
                      <a:srgbClr val="F5F9FA"/>
                    </a:solidFill>
                  </a:tcPr>
                </a:tc>
              </a:tr>
            </a:tbl>
          </a:graphicData>
        </a:graphic>
      </p:graphicFrame>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PubMed cho tìm kiếm chính. Google Scholar để kiểm tra xem có sót bài nào không.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Kiểm tra trước: đã có tổng quan hệ thống chưa?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6650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Tìm tổng quan</a:t>
            </a:r>
          </a:p>
        </p:txBody>
      </p:sp>
      <p:sp>
        <p:nvSpPr>
          <p:cNvPr id="71" name="CardBody"/>
          <p:cNvSpPr/>
          <p:nvPr/>
        </p:nvSpPr>
        <p:spPr>
          <a:xfrm>
            <a:off x="457200" y="2506506"/>
            <a:ext cx="2669400" cy="1450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Thư viện Cochrane</a:t>
            </a:r>
          </a:p>
          <a:p>
            <a:pPr marL="0" indent="0" algn="ctr">
              <a:lnSpc>
                <a:spcPct val="104000"/>
              </a:lnSpc>
              <a:spcBef>
                <a:spcPts val="400"/>
              </a:spcBef>
              <a:buNone/>
            </a:pPr>
            <a:r>
              <a:rPr lang="en-US" sz="1600" dirty="0">
                <a:solidFill>
                  <a:srgbClr val="000000"/>
                </a:solidFill>
                <a:latin typeface="Arial"/>
                <a:cs typeface="Arial"/>
              </a:rPr>
              <a:t>Bộ lọc PubMed: Systematic Review</a:t>
            </a:r>
          </a:p>
        </p:txBody>
      </p:sp>
      <p:sp>
        <p:nvSpPr>
          <p:cNvPr id="72" name="CardHead"/>
          <p:cNvSpPr/>
          <p:nvPr/>
        </p:nvSpPr>
        <p:spPr>
          <a:xfrm>
            <a:off x="3326600" y="186650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Tổng quan đang làm</a:t>
            </a:r>
          </a:p>
        </p:txBody>
      </p:sp>
      <p:sp>
        <p:nvSpPr>
          <p:cNvPr id="73" name="CardBody"/>
          <p:cNvSpPr/>
          <p:nvPr/>
        </p:nvSpPr>
        <p:spPr>
          <a:xfrm>
            <a:off x="3326600" y="2506506"/>
            <a:ext cx="2669400" cy="1450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PROSPERO liệt kê các tổng quan hệ thống đã đăng ký</a:t>
            </a:r>
          </a:p>
        </p:txBody>
      </p:sp>
      <p:sp>
        <p:nvSpPr>
          <p:cNvPr id="74" name="CardHead"/>
          <p:cNvSpPr/>
          <p:nvPr/>
        </p:nvSpPr>
        <p:spPr>
          <a:xfrm>
            <a:off x="6196000" y="1866506"/>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Rồi quyết định</a:t>
            </a:r>
          </a:p>
        </p:txBody>
      </p:sp>
      <p:sp>
        <p:nvSpPr>
          <p:cNvPr id="75" name="CardBody"/>
          <p:cNvSpPr/>
          <p:nvPr/>
        </p:nvSpPr>
        <p:spPr>
          <a:xfrm>
            <a:off x="6196000" y="2506506"/>
            <a:ext cx="2669400" cy="1450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Có tổng quan mới và tốt: dựa vào đó</a:t>
            </a:r>
          </a:p>
          <a:p>
            <a:pPr marL="0" indent="0" algn="ctr">
              <a:lnSpc>
                <a:spcPct val="104000"/>
              </a:lnSpc>
              <a:spcBef>
                <a:spcPts val="400"/>
              </a:spcBef>
              <a:buNone/>
            </a:pPr>
            <a:r>
              <a:rPr lang="en-US" sz="1600" dirty="0">
                <a:solidFill>
                  <a:srgbClr val="000000"/>
                </a:solidFill>
                <a:latin typeface="Arial"/>
                <a:cs typeface="Arial"/>
              </a:rPr>
              <a:t>Chưa có, hoặc đã cũ: đó là khoảng trống</a:t>
            </a:r>
          </a:p>
        </p:txBody>
      </p:sp>
      <p:sp>
        <p:nvSpPr>
          <p:cNvPr id="76" name="CardHead"/>
          <p:cNvSpPr/>
          <p:nvPr/>
        </p:nvSpPr>
        <p:spPr>
          <a:xfrm>
            <a:off x="9065400" y="186650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Học cách làm</a:t>
            </a:r>
          </a:p>
        </p:txBody>
      </p:sp>
      <p:sp>
        <p:nvSpPr>
          <p:cNvPr id="77" name="CardBody"/>
          <p:cNvSpPr/>
          <p:nvPr/>
        </p:nvSpPr>
        <p:spPr>
          <a:xfrm>
            <a:off x="9065400" y="2506506"/>
            <a:ext cx="2669400" cy="1450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Cấp độ 3, Học phần A: tổng quan hệ thống và phân tích gộp</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Trước khi lập kế hoạch nghiên cứu, hãy tìm xem điều gì đã được làm, bắt đầu từ tổng quan hệ thống.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Trình diễn: tìm trên PubMed cho ví dụ xuyên suốt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TRÌNH DIỄN TRỰC TIẾP   |   10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Tìm một từ khóa, septic shock, và ghi lại số kết quả</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Dán chuỗi PICO đầy đủ: khối P, I và O nối bằng AND</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Xem 'Search details': PubMed thực sự đã tìm gì?</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Thêm bộ lọc: RCT và tổng quan hệ thống, người lớn, 10 năm gần đây</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Mở một kết quả: tóm tắt, MeSH, 'Similar articles', 'Cited by'</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Bấm 'Send to', rồi 'Citation manager' (sẽ nhập vào ở phần 2.2)</a:t>
            </a:r>
          </a:p>
        </p:txBody>
      </p:sp>
      <p:sp>
        <p:nvSpPr>
          <p:cNvPr id="52" name="Side"/>
          <p:cNvSpPr/>
          <p:nvPr/>
        </p:nvSpPr>
        <p:spPr>
          <a:xfrm>
            <a:off x="7423760" y="1720000"/>
            <a:ext cx="4311040" cy="16917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B5651D"/>
                </a:solidFill>
                <a:latin typeface="Arial"/>
                <a:cs typeface="Arial"/>
              </a:rPr>
              <a:t>Hãy để ý</a:t>
            </a:r>
          </a:p>
          <a:p>
            <a:pPr marL="0" indent="0" algn="ctr">
              <a:lnSpc>
                <a:spcPct val="104000"/>
              </a:lnSpc>
              <a:spcBef>
                <a:spcPts val="300"/>
              </a:spcBef>
              <a:buNone/>
            </a:pPr>
            <a:r>
              <a:rPr lang="en-US" sz="1500" dirty="0">
                <a:solidFill>
                  <a:srgbClr val="000000"/>
                </a:solidFill>
                <a:latin typeface="Arial"/>
                <a:cs typeface="Arial"/>
              </a:rPr>
              <a:t>Số kết quả giảm thế nào sau mỗi bước</a:t>
            </a:r>
          </a:p>
          <a:p>
            <a:pPr marL="0" indent="0" algn="ctr">
              <a:lnSpc>
                <a:spcPct val="104000"/>
              </a:lnSpc>
              <a:spcBef>
                <a:spcPts val="300"/>
              </a:spcBef>
              <a:buNone/>
            </a:pPr>
            <a:r>
              <a:rPr lang="en-US" sz="1500" dirty="0">
                <a:solidFill>
                  <a:srgbClr val="000000"/>
                </a:solidFill>
                <a:latin typeface="Arial"/>
                <a:cs typeface="Arial"/>
              </a:rPr>
              <a:t>Bài nào cứ xuất hiện lại</a:t>
            </a:r>
          </a:p>
          <a:p>
            <a:pPr marL="0" indent="0" algn="ctr">
              <a:lnSpc>
                <a:spcPct val="104000"/>
              </a:lnSpc>
              <a:spcBef>
                <a:spcPts val="300"/>
              </a:spcBef>
              <a:buNone/>
            </a:pPr>
            <a:r>
              <a:rPr lang="en-US" sz="1500" dirty="0">
                <a:solidFill>
                  <a:srgbClr val="000000"/>
                </a:solidFill>
                <a:latin typeface="Arial"/>
                <a:cs typeface="Arial"/>
              </a:rPr>
              <a:t>Bạn có tìm thấy Bài báo 1 và thử nghiệm CLASSIC (Meyhoff 2022)?</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ctr">
              <a:buNone/>
            </a:pPr>
            <a:r>
              <a:rPr lang="en-US" sz="1300" b="1" dirty="0">
                <a:solidFill>
                  <a:srgbClr val="B5651D"/>
                </a:solidFill>
                <a:latin typeface="Arial"/>
                <a:cs typeface="Arial"/>
              </a:rPr>
              <a:t>SẢN PHẨM   </a:t>
            </a:r>
            <a:r>
              <a:rPr lang="en-US" sz="1500" dirty="0">
                <a:solidFill>
                  <a:srgbClr val="000000"/>
                </a:solidFill>
                <a:latin typeface="Arial"/>
                <a:cs typeface="Arial"/>
              </a:rPr>
              <a:t>Một chuỗi tìm kiếm cả lớp có thể chép lại (Bài tập 1 trong phiếu)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Đến lượt bạn: xây chuỗi tìm kiếm Boolean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BÀI TẬP CÁ NHÂN   |   5 phút</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Lấy câu hỏi PICO của riêng bạn và danh sách từ đồng nghĩa (bài về nhà Buổi 1)</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Bài tập 1: viết 2-4 từ đồng nghĩa (tiếng Anh) cho P, I (hoặc E) và O</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Nối từ đồng nghĩa bằng OR trong ngoặc, các khối bằng AND</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Kiểm tra từ nào là thuật ngữ MeSH: MeSH Database hoặc một bài đã biết</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Giảng viên gọi 2-3 bạn bật micro đọc to chuỗi tìm kiếm của mình</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ctr">
              <a:buNone/>
            </a:pPr>
            <a:r>
              <a:rPr lang="en-US" sz="1300" b="1" dirty="0">
                <a:solidFill>
                  <a:srgbClr val="0B376C"/>
                </a:solidFill>
                <a:latin typeface="Arial"/>
                <a:cs typeface="Arial"/>
              </a:rPr>
              <a:t>SẢN PHẨM   </a:t>
            </a:r>
            <a:r>
              <a:rPr lang="en-US" sz="1500" dirty="0">
                <a:solidFill>
                  <a:srgbClr val="000000"/>
                </a:solidFill>
                <a:latin typeface="Arial"/>
                <a:cs typeface="Arial"/>
              </a:rPr>
              <a:t>Một chuỗi tìm kiếm cho câu hỏi của bạn, để chạy trên PubMed ở cuối buổi hôm nay</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2.2  Quản lý và trích dẫn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Giữ lại mọi tài liệu bạn tìm được, và dùng công trình của người khác một cách trung thực.</a:t>
            </a:r>
          </a:p>
          <a:p>
            <a:pPr marL="0" indent="0" algn="ctr">
              <a:spcBef>
                <a:spcPts val="1200"/>
              </a:spcBef>
              <a:buNone/>
            </a:pPr>
            <a:r>
              <a:rPr lang="en-US" sz="1900" i="1" dirty="0">
                <a:solidFill>
                  <a:srgbClr val="595959"/>
                </a:solidFill>
                <a:latin typeface="Arial"/>
                <a:cs typeface="Arial"/>
              </a:rPr>
              <a:t>20 phút: phần mềm quản lý tài liệu, kiểu trích dẫn, trình diễn Zotero, diễn đạt lại an toàn, tài liệu xám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Phần mềm quản lý tài liệu: lưu ngay khi tìm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Gom</a:t>
            </a:r>
          </a:p>
        </p:txBody>
      </p:sp>
      <p:sp>
        <p:nvSpPr>
          <p:cNvPr id="81" name="StepText"/>
          <p:cNvSpPr/>
          <p:nvPr/>
        </p:nvSpPr>
        <p:spPr>
          <a:xfrm>
            <a:off x="497200" y="2140000"/>
            <a:ext cx="216352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Đánh dấu bài trên PubMed</a:t>
            </a:r>
          </a:p>
          <a:p>
            <a:pPr marL="0" indent="0" algn="ctr">
              <a:lnSpc>
                <a:spcPct val="104000"/>
              </a:lnSpc>
              <a:spcBef>
                <a:spcPts val="200"/>
              </a:spcBef>
              <a:buNone/>
            </a:pPr>
            <a:r>
              <a:rPr lang="en-US" sz="1500" dirty="0">
                <a:solidFill>
                  <a:srgbClr val="000000"/>
                </a:solidFill>
                <a:latin typeface="Arial"/>
                <a:cs typeface="Arial"/>
              </a:rPr>
              <a:t>Clipboard hoặc Collections</a:t>
            </a:r>
          </a:p>
        </p:txBody>
      </p:sp>
      <p:sp>
        <p:nvSpPr>
          <p:cNvPr id="82" name="Step"/>
          <p:cNvSpPr/>
          <p:nvPr/>
        </p:nvSpPr>
        <p:spPr>
          <a:xfrm>
            <a:off x="2700720" y="122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Xuất</a:t>
            </a:r>
          </a:p>
        </p:txBody>
      </p:sp>
      <p:sp>
        <p:nvSpPr>
          <p:cNvPr id="83" name="StepText"/>
          <p:cNvSpPr/>
          <p:nvPr/>
        </p:nvSpPr>
        <p:spPr>
          <a:xfrm>
            <a:off x="2740720" y="2140000"/>
            <a:ext cx="216352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'Send to', rồi 'Citation manager'</a:t>
            </a:r>
          </a:p>
          <a:p>
            <a:pPr marL="0" indent="0" algn="ctr">
              <a:lnSpc>
                <a:spcPct val="104000"/>
              </a:lnSpc>
              <a:spcBef>
                <a:spcPts val="200"/>
              </a:spcBef>
              <a:buNone/>
            </a:pPr>
            <a:r>
              <a:rPr lang="en-US" sz="1500" dirty="0">
                <a:solidFill>
                  <a:srgbClr val="000000"/>
                </a:solidFill>
                <a:latin typeface="Arial"/>
                <a:cs typeface="Arial"/>
              </a:rPr>
              <a:t>Tạo tệp .nbib</a:t>
            </a:r>
          </a:p>
        </p:txBody>
      </p:sp>
      <p:sp>
        <p:nvSpPr>
          <p:cNvPr id="84" name="Step"/>
          <p:cNvSpPr/>
          <p:nvPr/>
        </p:nvSpPr>
        <p:spPr>
          <a:xfrm>
            <a:off x="4944240" y="122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Nhập</a:t>
            </a:r>
          </a:p>
        </p:txBody>
      </p:sp>
      <p:sp>
        <p:nvSpPr>
          <p:cNvPr id="85" name="StepText"/>
          <p:cNvSpPr/>
          <p:nvPr/>
        </p:nvSpPr>
        <p:spPr>
          <a:xfrm>
            <a:off x="4984240" y="2140000"/>
            <a:ext cx="216352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Zotero hoặc Mendeley (miễn phí)</a:t>
            </a:r>
          </a:p>
          <a:p>
            <a:pPr marL="0" indent="0" algn="ctr">
              <a:lnSpc>
                <a:spcPct val="104000"/>
              </a:lnSpc>
              <a:spcBef>
                <a:spcPts val="200"/>
              </a:spcBef>
              <a:buNone/>
            </a:pPr>
            <a:r>
              <a:rPr lang="en-US" sz="1500" dirty="0">
                <a:solidFill>
                  <a:srgbClr val="000000"/>
                </a:solidFill>
                <a:latin typeface="Arial"/>
                <a:cs typeface="Arial"/>
              </a:rPr>
              <a:t>EndNote (trả phí)</a:t>
            </a:r>
          </a:p>
        </p:txBody>
      </p:sp>
      <p:sp>
        <p:nvSpPr>
          <p:cNvPr id="86" name="Step"/>
          <p:cNvSpPr/>
          <p:nvPr/>
        </p:nvSpPr>
        <p:spPr>
          <a:xfrm>
            <a:off x="7187760" y="122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Trích dẫn</a:t>
            </a:r>
          </a:p>
        </p:txBody>
      </p:sp>
      <p:sp>
        <p:nvSpPr>
          <p:cNvPr id="87" name="StepText"/>
          <p:cNvSpPr/>
          <p:nvPr/>
        </p:nvSpPr>
        <p:spPr>
          <a:xfrm>
            <a:off x="7227760" y="2140000"/>
            <a:ext cx="216352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Chèn trích dẫn trong Word bằng plug-in</a:t>
            </a:r>
          </a:p>
        </p:txBody>
      </p:sp>
      <p:sp>
        <p:nvSpPr>
          <p:cNvPr id="88" name="Step"/>
          <p:cNvSpPr/>
          <p:nvPr/>
        </p:nvSpPr>
        <p:spPr>
          <a:xfrm>
            <a:off x="9431280" y="122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Danh mục</a:t>
            </a:r>
          </a:p>
        </p:txBody>
      </p:sp>
      <p:sp>
        <p:nvSpPr>
          <p:cNvPr id="89" name="StepText"/>
          <p:cNvSpPr/>
          <p:nvPr/>
        </p:nvSpPr>
        <p:spPr>
          <a:xfrm>
            <a:off x="9471280" y="2140000"/>
            <a:ext cx="216352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Danh mục tài liệu tự động</a:t>
            </a:r>
          </a:p>
          <a:p>
            <a:pPr marL="0" indent="0" algn="ctr">
              <a:lnSpc>
                <a:spcPct val="104000"/>
              </a:lnSpc>
              <a:spcBef>
                <a:spcPts val="200"/>
              </a:spcBef>
              <a:buNone/>
            </a:pPr>
            <a:r>
              <a:rPr lang="en-US" sz="1500" dirty="0">
                <a:solidFill>
                  <a:srgbClr val="000000"/>
                </a:solidFill>
                <a:latin typeface="Arial"/>
                <a:cs typeface="Arial"/>
              </a:rPr>
              <a:t>Theo mọi kiểu trích dẫn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Phần mềm quản lý tài liệu ngăn lỗi phổ biến nhất trong đề cương: trích dẫn sai.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Kiểu trích dẫn: một bài, hai cách trình bày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Dùng kiểu tạp chí yêu cầu. Phần mềm quản lý tài liệu đổi kiểu chỉ bằng một cú nhấp.</a:t>
            </a:r>
          </a:p>
        </p:txBody>
      </p:sp>
      <p:sp>
        <p:nvSpPr>
          <p:cNvPr id="70" name="CardHead"/>
          <p:cNvSpPr/>
          <p:nvPr/>
        </p:nvSpPr>
        <p:spPr>
          <a:xfrm>
            <a:off x="457200" y="1834931"/>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Vancouver</a:t>
            </a:r>
          </a:p>
        </p:txBody>
      </p:sp>
      <p:sp>
        <p:nvSpPr>
          <p:cNvPr id="71" name="CardBody"/>
          <p:cNvSpPr/>
          <p:nvPr/>
        </p:nvSpPr>
        <p:spPr>
          <a:xfrm>
            <a:off x="457200" y="2474931"/>
            <a:ext cx="5538800" cy="242520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00" i="1" dirty="0">
                <a:solidFill>
                  <a:srgbClr val="000000"/>
                </a:solidFill>
                <a:latin typeface="Arial"/>
                <a:cs typeface="Arial"/>
              </a:rPr>
              <a:t>Hạn chế dịch truyền không làm thay đổi tử vong 90 ngày [1].</a:t>
            </a:r>
          </a:p>
          <a:p>
            <a:pPr marL="0" indent="0" algn="ctr">
              <a:lnSpc>
                <a:spcPct val="104000"/>
              </a:lnSpc>
              <a:spcBef>
                <a:spcPts val="400"/>
              </a:spcBef>
              <a:buNone/>
            </a:pPr>
            <a:r>
              <a:rPr lang="en-US" sz="1700" b="1" dirty="0">
                <a:solidFill>
                  <a:srgbClr val="000000"/>
                </a:solidFill>
                <a:latin typeface="Arial"/>
                <a:cs typeface="Arial"/>
              </a:rPr>
              <a:t>Danh mục tài liệu:</a:t>
            </a:r>
          </a:p>
          <a:p>
            <a:pPr marL="0" indent="0" algn="ctr">
              <a:lnSpc>
                <a:spcPct val="104000"/>
              </a:lnSpc>
              <a:spcBef>
                <a:spcPts val="400"/>
              </a:spcBef>
              <a:buNone/>
            </a:pPr>
            <a:r>
              <a:rPr lang="en-US" sz="1700" dirty="0">
                <a:solidFill>
                  <a:srgbClr val="000000"/>
                </a:solidFill>
                <a:latin typeface="Arial"/>
                <a:cs typeface="Arial"/>
              </a:rPr>
              <a:t>Author AA, Author BB, et al. Title. J Abbrev. Year;Vol(Issue):pages.</a:t>
            </a:r>
          </a:p>
          <a:p>
            <a:pPr marL="0" indent="0" algn="ctr">
              <a:lnSpc>
                <a:spcPct val="104000"/>
              </a:lnSpc>
              <a:spcBef>
                <a:spcPts val="400"/>
              </a:spcBef>
              <a:buNone/>
            </a:pPr>
            <a:r>
              <a:rPr lang="en-US" sz="1700" i="1" dirty="0">
                <a:solidFill>
                  <a:srgbClr val="595959"/>
                </a:solidFill>
                <a:latin typeface="Arial"/>
                <a:cs typeface="Arial"/>
              </a:rPr>
              <a:t>Đánh số theo thứ tự trích dẫn. Đa số tạp chí y khoa dùng.</a:t>
            </a:r>
          </a:p>
        </p:txBody>
      </p:sp>
      <p:sp>
        <p:nvSpPr>
          <p:cNvPr id="72" name="CardHead"/>
          <p:cNvSpPr/>
          <p:nvPr/>
        </p:nvSpPr>
        <p:spPr>
          <a:xfrm>
            <a:off x="6196000" y="1834931"/>
            <a:ext cx="55388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APA</a:t>
            </a:r>
          </a:p>
        </p:txBody>
      </p:sp>
      <p:sp>
        <p:nvSpPr>
          <p:cNvPr id="73" name="CardBody"/>
          <p:cNvSpPr/>
          <p:nvPr/>
        </p:nvSpPr>
        <p:spPr>
          <a:xfrm>
            <a:off x="6196000" y="2474931"/>
            <a:ext cx="5538800" cy="242520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00" i="1" dirty="0">
                <a:solidFill>
                  <a:srgbClr val="000000"/>
                </a:solidFill>
                <a:latin typeface="Arial"/>
                <a:cs typeface="Arial"/>
              </a:rPr>
              <a:t>Hạn chế dịch truyền không làm thay đổi tử vong 90 ngày (Meyhoff et al., 2022).</a:t>
            </a:r>
          </a:p>
          <a:p>
            <a:pPr marL="0" indent="0" algn="ctr">
              <a:lnSpc>
                <a:spcPct val="104000"/>
              </a:lnSpc>
              <a:spcBef>
                <a:spcPts val="400"/>
              </a:spcBef>
              <a:buNone/>
            </a:pPr>
            <a:r>
              <a:rPr lang="en-US" sz="1700" b="1" dirty="0">
                <a:solidFill>
                  <a:srgbClr val="000000"/>
                </a:solidFill>
                <a:latin typeface="Arial"/>
                <a:cs typeface="Arial"/>
              </a:rPr>
              <a:t>Danh mục tài liệu:</a:t>
            </a:r>
          </a:p>
          <a:p>
            <a:pPr marL="0" indent="0" algn="ctr">
              <a:lnSpc>
                <a:spcPct val="104000"/>
              </a:lnSpc>
              <a:spcBef>
                <a:spcPts val="400"/>
              </a:spcBef>
              <a:buNone/>
            </a:pPr>
            <a:r>
              <a:rPr lang="en-US" sz="1700" dirty="0">
                <a:solidFill>
                  <a:srgbClr val="000000"/>
                </a:solidFill>
                <a:latin typeface="Arial"/>
                <a:cs typeface="Arial"/>
              </a:rPr>
              <a:t>Author, A. A., &amp; Author, B. B. (Year). Title. Journal, Vol(Issue), pages.</a:t>
            </a:r>
          </a:p>
          <a:p>
            <a:pPr marL="0" indent="0" algn="ctr">
              <a:lnSpc>
                <a:spcPct val="104000"/>
              </a:lnSpc>
              <a:spcBef>
                <a:spcPts val="400"/>
              </a:spcBef>
              <a:buNone/>
            </a:pPr>
            <a:r>
              <a:rPr lang="en-US" sz="1700" i="1" dirty="0">
                <a:solidFill>
                  <a:srgbClr val="595959"/>
                </a:solidFill>
                <a:latin typeface="Arial"/>
                <a:cs typeface="Arial"/>
              </a:rPr>
              <a:t>Tác giả và năm trong bài. Phổ biến ở điều dưỡng, khoa học xã hội.</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Chọn kiểu tạp chí đích dùng, và để phần mềm lo việc định dạng.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Trình diễn: từ PubMed sang Zotero đến Word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TRÌNH DIỄN TRỰC TIẾP   |   5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Trong Zotero: File, Import, rồi chọn tệp .nbib đã lưu ở phần trình diễn PubMed</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Kiểm tra mục vừa nhập: tác giả, tiêu đề, tạp chí, năm, DOI, không gõ tay gì cả</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Trong Word, thẻ Zotero: 'Add/Edit Citation', rồi gõ Meyhoff (tác giả đầu của CLASSIC)</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Bấm 'Add/Edit Bibliography': danh mục tài liệu xuất hiện</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Bấm 'Document Preferences': đổi Vancouver sang APA rồi đổi lại</a:t>
            </a:r>
          </a:p>
        </p:txBody>
      </p:sp>
      <p:sp>
        <p:nvSpPr>
          <p:cNvPr id="52" name="Side"/>
          <p:cNvSpPr/>
          <p:nvPr/>
        </p:nvSpPr>
        <p:spPr>
          <a:xfrm>
            <a:off x="7423760" y="1720000"/>
            <a:ext cx="4311040" cy="120000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B5651D"/>
                </a:solidFill>
                <a:latin typeface="Arial"/>
                <a:cs typeface="Arial"/>
              </a:rPr>
              <a:t>Hãy để ý</a:t>
            </a:r>
          </a:p>
          <a:p>
            <a:pPr marL="0" indent="0" algn="ctr">
              <a:lnSpc>
                <a:spcPct val="104000"/>
              </a:lnSpc>
              <a:spcBef>
                <a:spcPts val="300"/>
              </a:spcBef>
              <a:buNone/>
            </a:pPr>
            <a:r>
              <a:rPr lang="en-US" sz="1500" dirty="0">
                <a:solidFill>
                  <a:srgbClr val="000000"/>
                </a:solidFill>
                <a:latin typeface="Arial"/>
                <a:cs typeface="Arial"/>
              </a:rPr>
              <a:t>[1] thành (Meyhoff et al., 2022)</a:t>
            </a:r>
          </a:p>
          <a:p>
            <a:pPr marL="0" indent="0" algn="ctr">
              <a:lnSpc>
                <a:spcPct val="104000"/>
              </a:lnSpc>
              <a:spcBef>
                <a:spcPts val="300"/>
              </a:spcBef>
              <a:buNone/>
            </a:pPr>
            <a:r>
              <a:rPr lang="en-US" sz="1500" dirty="0">
                <a:solidFill>
                  <a:srgbClr val="000000"/>
                </a:solidFill>
                <a:latin typeface="Arial"/>
                <a:cs typeface="Arial"/>
              </a:rPr>
              <a:t>Danh mục tự định dạng lại</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ctr">
              <a:buNone/>
            </a:pPr>
            <a:r>
              <a:rPr lang="en-US" sz="1300" b="1" dirty="0">
                <a:solidFill>
                  <a:srgbClr val="B5651D"/>
                </a:solidFill>
                <a:latin typeface="Arial"/>
                <a:cs typeface="Arial"/>
              </a:rPr>
              <a:t>SẢN PHẨM   </a:t>
            </a:r>
            <a:r>
              <a:rPr lang="en-US" sz="1500" dirty="0">
                <a:solidFill>
                  <a:srgbClr val="000000"/>
                </a:solidFill>
                <a:latin typeface="Arial"/>
                <a:cs typeface="Arial"/>
              </a:rPr>
              <a:t>Mọi người đã thấy trọn chu trình: gom, xuất, nhập, trích dẫn, lập danh mục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Trích dẫn và sao chép: diễn đạt lại an toàn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Cách làm: đọc, gấp bài báo, viết theo trí nhớ, kiểm tra lại, trích dẫn.</a:t>
            </a:r>
          </a:p>
        </p:txBody>
      </p:sp>
      <p:sp>
        <p:nvSpPr>
          <p:cNvPr id="70" name="CardHead"/>
          <p:cNvSpPr/>
          <p:nvPr/>
        </p:nvSpPr>
        <p:spPr>
          <a:xfrm>
            <a:off x="457200" y="1800006"/>
            <a:ext cx="3625866" cy="640000"/>
          </a:xfrm>
          <a:prstGeom prst="rect">
            <a:avLst/>
          </a:prstGeom>
          <a:solidFill>
            <a:srgbClr val="8A99A3"/>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Nguồn (Boulet và cs. 2024, tóm tắt)</a:t>
            </a:r>
          </a:p>
        </p:txBody>
      </p:sp>
      <p:sp>
        <p:nvSpPr>
          <p:cNvPr id="71" name="CardBody"/>
          <p:cNvSpPr/>
          <p:nvPr/>
        </p:nvSpPr>
        <p:spPr>
          <a:xfrm>
            <a:off x="457200" y="2440006"/>
            <a:ext cx="3625866" cy="25299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50" i="1" dirty="0">
                <a:solidFill>
                  <a:srgbClr val="000000"/>
                </a:solidFill>
                <a:latin typeface="Arial"/>
                <a:cs typeface="Arial"/>
              </a:rPr>
              <a:t>"In ICU patients with septic shock, an optimized restrictive fluid strategy targeting hidden fluid intakes did not reduce the overall fluid balance at day 5."</a:t>
            </a:r>
          </a:p>
        </p:txBody>
      </p:sp>
      <p:sp>
        <p:nvSpPr>
          <p:cNvPr id="72" name="CardHead"/>
          <p:cNvSpPr/>
          <p:nvPr/>
        </p:nvSpPr>
        <p:spPr>
          <a:xfrm>
            <a:off x="4283066" y="1800006"/>
            <a:ext cx="3625866"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Thay vài từ ("chắp vá")</a:t>
            </a:r>
          </a:p>
        </p:txBody>
      </p:sp>
      <p:sp>
        <p:nvSpPr>
          <p:cNvPr id="73" name="CardBody"/>
          <p:cNvSpPr/>
          <p:nvPr/>
        </p:nvSpPr>
        <p:spPr>
          <a:xfrm>
            <a:off x="4283066" y="2440006"/>
            <a:ext cx="3625866" cy="25299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50" i="1" dirty="0">
                <a:solidFill>
                  <a:srgbClr val="000000"/>
                </a:solidFill>
                <a:latin typeface="Arial"/>
                <a:cs typeface="Arial"/>
              </a:rPr>
              <a:t>"In septic shock ICU patients, an optimised restrictive approach targeting hidden fluid intakes did not lower the total fluid balance at day 5."</a:t>
            </a:r>
          </a:p>
          <a:p>
            <a:pPr marL="0" indent="0" algn="ctr">
              <a:lnSpc>
                <a:spcPct val="104000"/>
              </a:lnSpc>
              <a:spcBef>
                <a:spcPts val="400"/>
              </a:spcBef>
              <a:buNone/>
            </a:pPr>
            <a:r>
              <a:rPr lang="en-US" sz="1650" b="1" dirty="0">
                <a:solidFill>
                  <a:srgbClr val="B23B2E"/>
                </a:solidFill>
                <a:latin typeface="Arial"/>
                <a:cs typeface="Arial"/>
              </a:rPr>
              <a:t>Cùng cấu trúc, cùng từ = đạo văn, dù có trích dẫn</a:t>
            </a:r>
          </a:p>
        </p:txBody>
      </p:sp>
      <p:sp>
        <p:nvSpPr>
          <p:cNvPr id="74" name="CardHead"/>
          <p:cNvSpPr/>
          <p:nvPr/>
        </p:nvSpPr>
        <p:spPr>
          <a:xfrm>
            <a:off x="8108932" y="1800006"/>
            <a:ext cx="3625866" cy="640000"/>
          </a:xfrm>
          <a:prstGeom prst="rect">
            <a:avLst/>
          </a:prstGeom>
          <a:solidFill>
            <a:srgbClr val="2E8B5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Lời của mình + trích dẫn</a:t>
            </a:r>
          </a:p>
        </p:txBody>
      </p:sp>
      <p:sp>
        <p:nvSpPr>
          <p:cNvPr id="75" name="CardBody"/>
          <p:cNvSpPr/>
          <p:nvPr/>
        </p:nvSpPr>
        <p:spPr>
          <a:xfrm>
            <a:off x="8108932" y="2440006"/>
            <a:ext cx="3625866" cy="25299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50" i="1" dirty="0">
                <a:solidFill>
                  <a:srgbClr val="000000"/>
                </a:solidFill>
                <a:latin typeface="Arial"/>
                <a:cs typeface="Arial"/>
              </a:rPr>
              <a:t>"A pilot trial in 48 patients found that limiting maintenance and drug-dilution fluids did not significantly change fluid balance after five days [1]."</a:t>
            </a:r>
          </a:p>
          <a:p>
            <a:pPr marL="0" indent="0" algn="ctr">
              <a:lnSpc>
                <a:spcPct val="104000"/>
              </a:lnSpc>
              <a:spcBef>
                <a:spcPts val="400"/>
              </a:spcBef>
              <a:buNone/>
            </a:pPr>
            <a:r>
              <a:rPr lang="en-US" sz="1650" b="1" dirty="0">
                <a:solidFill>
                  <a:srgbClr val="2E8B57"/>
                </a:solidFill>
                <a:latin typeface="Arial"/>
                <a:cs typeface="Arial"/>
              </a:rPr>
              <a:t>Cấu trúc mới, thêm bối cảnh, có trích dẫn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Thay đổi cả cấu trúc lẫn từ ngữ, và luôn trích dẫn nguồn.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Bốn quy tắc trích dẫn an toàn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6650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Trích dữ kiện</a:t>
            </a:r>
          </a:p>
        </p:txBody>
      </p:sp>
      <p:sp>
        <p:nvSpPr>
          <p:cNvPr id="71" name="CardBody"/>
          <p:cNvSpPr/>
          <p:nvPr/>
        </p:nvSpPr>
        <p:spPr>
          <a:xfrm>
            <a:off x="457200" y="2506506"/>
            <a:ext cx="2669400" cy="1450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Con số, phát hiện và ý tưởng của người khác cần trích dẫn</a:t>
            </a:r>
          </a:p>
        </p:txBody>
      </p:sp>
      <p:sp>
        <p:nvSpPr>
          <p:cNvPr id="72" name="CardHead"/>
          <p:cNvSpPr/>
          <p:nvPr/>
        </p:nvSpPr>
        <p:spPr>
          <a:xfrm>
            <a:off x="3326600" y="186650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Trích nguồn gốc</a:t>
            </a:r>
          </a:p>
        </p:txBody>
      </p:sp>
      <p:sp>
        <p:nvSpPr>
          <p:cNvPr id="73" name="CardBody"/>
          <p:cNvSpPr/>
          <p:nvPr/>
        </p:nvSpPr>
        <p:spPr>
          <a:xfrm>
            <a:off x="3326600" y="2506506"/>
            <a:ext cx="2669400" cy="1450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Đọc và trích bài báo gốc</a:t>
            </a:r>
          </a:p>
          <a:p>
            <a:pPr marL="0" indent="0" algn="ctr">
              <a:lnSpc>
                <a:spcPct val="104000"/>
              </a:lnSpc>
              <a:spcBef>
                <a:spcPts val="400"/>
              </a:spcBef>
              <a:buNone/>
            </a:pPr>
            <a:r>
              <a:rPr lang="en-US" sz="1600" dirty="0">
                <a:solidFill>
                  <a:srgbClr val="000000"/>
                </a:solidFill>
                <a:latin typeface="Arial"/>
                <a:cs typeface="Arial"/>
              </a:rPr>
              <a:t>Không trích bản tóm lược</a:t>
            </a:r>
          </a:p>
        </p:txBody>
      </p:sp>
      <p:sp>
        <p:nvSpPr>
          <p:cNvPr id="74" name="CardHead"/>
          <p:cNvSpPr/>
          <p:nvPr/>
        </p:nvSpPr>
        <p:spPr>
          <a:xfrm>
            <a:off x="6196000" y="1866506"/>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Lời của mình</a:t>
            </a:r>
          </a:p>
        </p:txBody>
      </p:sp>
      <p:sp>
        <p:nvSpPr>
          <p:cNvPr id="75" name="CardBody"/>
          <p:cNvSpPr/>
          <p:nvPr/>
        </p:nvSpPr>
        <p:spPr>
          <a:xfrm>
            <a:off x="6196000" y="2506506"/>
            <a:ext cx="2669400" cy="1450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Dùng cấu trúc mới</a:t>
            </a:r>
          </a:p>
          <a:p>
            <a:pPr marL="0" indent="0" algn="ctr">
              <a:lnSpc>
                <a:spcPct val="104000"/>
              </a:lnSpc>
              <a:spcBef>
                <a:spcPts val="400"/>
              </a:spcBef>
              <a:buNone/>
            </a:pPr>
            <a:r>
              <a:rPr lang="en-US" sz="1600" dirty="0">
                <a:solidFill>
                  <a:srgbClr val="000000"/>
                </a:solidFill>
                <a:latin typeface="Arial"/>
                <a:cs typeface="Arial"/>
              </a:rPr>
              <a:t>Nguyên văn phải có ngoặc kép</a:t>
            </a:r>
          </a:p>
        </p:txBody>
      </p:sp>
      <p:sp>
        <p:nvSpPr>
          <p:cNvPr id="76" name="CardHead"/>
          <p:cNvSpPr/>
          <p:nvPr/>
        </p:nvSpPr>
        <p:spPr>
          <a:xfrm>
            <a:off x="9065400" y="186650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Kiểm tra</a:t>
            </a:r>
          </a:p>
        </p:txBody>
      </p:sp>
      <p:sp>
        <p:nvSpPr>
          <p:cNvPr id="77" name="CardBody"/>
          <p:cNvSpPr/>
          <p:nvPr/>
        </p:nvSpPr>
        <p:spPr>
          <a:xfrm>
            <a:off x="9065400" y="2506506"/>
            <a:ext cx="2669400" cy="14504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Mỗi tài liệu nói đúng điều bạn dẫn ra</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Không bao giờ trích dẫn một bài báo bạn chưa đọc.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Kiểm tra hiểu bài: được hay không được?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2 phút</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Bạn chép một câu từ tóm tắt, đổi hai từ và thêm [3]</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Bạn trích nguyên văn một câu, trong ngoặc kép, có [3]</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Bạn viết một phát hiện bằng lời của mình nhưng quên trích dẫn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Bạn trích dẫn một bài thấy được nhắc trong bài tổng quan, mà không đọc</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SẢN PHẨM   </a:t>
            </a:r>
            <a:r>
              <a:rPr lang="en-US" sz="1500" dirty="0">
                <a:solidFill>
                  <a:srgbClr val="000000"/>
                </a:solidFill>
                <a:latin typeface="Arial"/>
                <a:cs typeface="Arial"/>
              </a:rPr>
              <a:t>Mỗi câu: biểu tượng ngón cái lên (được) hoặc xuống (không được), hoặc bình chọn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Tài liệu xám, kể cả sổ đăng ký thử nghiệm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00" name="Box"/>
          <p:cNvSpPr/>
          <p:nvPr/>
        </p:nvSpPr>
        <p:spPr>
          <a:xfrm>
            <a:off x="472440" y="2519200"/>
            <a:ext cx="6035040" cy="2606040"/>
          </a:xfrm>
          <a:prstGeom prst="rect">
            <a:avLst/>
          </a:prstGeom>
          <a:solidFill>
            <a:srgbClr val="DCEBF2"/>
          </a:solidFill>
          <a:ln>
            <a:noFill/>
          </a:ln>
        </p:spPr>
        <p:txBody>
          <a:bodyPr wrap="square" lIns="54864" tIns="54864" rIns="54864" bIns="54864" rtlCol="0" anchor="ctr">
            <a:noAutofit/>
          </a:bodyPr>
          <a:lstStyle/>
          <a:p>
            <a:endParaRPr lang="en-US"/>
          </a:p>
        </p:txBody>
      </p:sp>
      <p:cxnSp>
        <p:nvCxnSpPr>
          <p:cNvPr id="101" name="Line"/>
          <p:cNvCxnSpPr/>
          <p:nvPr/>
        </p:nvCxnSpPr>
        <p:spPr>
          <a:xfrm>
            <a:off x="472440" y="2519200"/>
            <a:ext cx="6035040" cy="0"/>
          </a:xfrm>
          <a:prstGeom prst="straightConnector1">
            <a:avLst/>
          </a:prstGeom>
          <a:ln w="31750" cap="rnd">
            <a:solidFill>
              <a:srgbClr val="0070C0"/>
            </a:solidFill>
            <a:round/>
          </a:ln>
        </p:spPr>
      </p:cxnSp>
      <p:sp>
        <p:nvSpPr>
          <p:cNvPr id="102" name="Box"/>
          <p:cNvSpPr/>
          <p:nvPr/>
        </p:nvSpPr>
        <p:spPr>
          <a:xfrm>
            <a:off x="1935480" y="1284760"/>
            <a:ext cx="3108960" cy="1234440"/>
          </a:xfrm>
          <a:prstGeom prst="trapezoid">
            <a:avLst>
              <a:gd name="adj" fmla="val 124000"/>
            </a:avLst>
          </a:prstGeom>
          <a:solidFill>
            <a:srgbClr val="FFFFFF"/>
          </a:solidFill>
          <a:ln w="25400">
            <a:solidFill>
              <a:srgbClr val="0070C0"/>
            </a:solidFill>
          </a:ln>
        </p:spPr>
        <p:txBody>
          <a:bodyPr wrap="square" lIns="54864" tIns="54864" rIns="54864" bIns="54864" rtlCol="0" anchor="ctr">
            <a:noAutofit/>
          </a:bodyPr>
          <a:lstStyle/>
          <a:p>
            <a:endParaRPr lang="en-US"/>
          </a:p>
        </p:txBody>
      </p:sp>
      <p:sp>
        <p:nvSpPr>
          <p:cNvPr id="103" name="Text"/>
          <p:cNvSpPr/>
          <p:nvPr/>
        </p:nvSpPr>
        <p:spPr>
          <a:xfrm>
            <a:off x="2301240" y="1943128"/>
            <a:ext cx="2377440" cy="54864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400" b="1" dirty="0">
                <a:solidFill>
                  <a:srgbClr val="0B376C"/>
                </a:solidFill>
                <a:latin typeface="Arial"/>
                <a:cs typeface="Arial"/>
              </a:rPr>
              <a:t>Bài báo tạp chí</a:t>
            </a:r>
          </a:p>
          <a:p>
            <a:pPr marL="0" indent="0" algn="ctr">
              <a:lnSpc>
                <a:spcPct val="100000"/>
              </a:lnSpc>
              <a:buNone/>
            </a:pPr>
            <a:r>
              <a:rPr lang="en-US" sz="1400" b="1" dirty="0">
                <a:solidFill>
                  <a:srgbClr val="0B376C"/>
                </a:solidFill>
                <a:latin typeface="Arial"/>
                <a:cs typeface="Arial"/>
              </a:rPr>
              <a:t>(PubMed)</a:t>
            </a:r>
          </a:p>
        </p:txBody>
      </p:sp>
      <p:sp>
        <p:nvSpPr>
          <p:cNvPr id="104" name="Box"/>
          <p:cNvSpPr/>
          <p:nvPr/>
        </p:nvSpPr>
        <p:spPr>
          <a:xfrm>
            <a:off x="883920" y="2610640"/>
            <a:ext cx="5212080" cy="2423160"/>
          </a:xfrm>
          <a:prstGeom prst="roundRect">
            <a:avLst>
              <a:gd name="adj" fmla="val 30000"/>
            </a:avLst>
          </a:prstGeom>
          <a:solidFill>
            <a:srgbClr val="F4FAFC"/>
          </a:solidFill>
          <a:ln w="25400">
            <a:solidFill>
              <a:srgbClr val="0070C0"/>
            </a:solidFill>
          </a:ln>
        </p:spPr>
        <p:txBody>
          <a:bodyPr wrap="square" lIns="54864" tIns="54864" rIns="54864" bIns="54864" rtlCol="0" anchor="ctr">
            <a:noAutofit/>
          </a:bodyPr>
          <a:lstStyle/>
          <a:p>
            <a:endParaRPr lang="en-US"/>
          </a:p>
        </p:txBody>
      </p:sp>
      <p:sp>
        <p:nvSpPr>
          <p:cNvPr id="105" name="Text"/>
          <p:cNvSpPr/>
          <p:nvPr/>
        </p:nvSpPr>
        <p:spPr>
          <a:xfrm>
            <a:off x="883920" y="2702080"/>
            <a:ext cx="5212080" cy="411480"/>
          </a:xfrm>
          <a:prstGeom prst="rect">
            <a:avLst/>
          </a:prstGeom>
          <a:noFill/>
          <a:ln>
            <a:noFill/>
          </a:ln>
        </p:spPr>
        <p:txBody>
          <a:bodyPr wrap="square" lIns="54864" tIns="54864" rIns="54864" bIns="54864" rtlCol="0" anchor="ctr">
            <a:noAutofit/>
          </a:bodyPr>
          <a:lstStyle/>
          <a:p>
            <a:pPr marL="0" indent="0" algn="ctr">
              <a:lnSpc>
                <a:spcPct val="100000"/>
              </a:lnSpc>
              <a:buNone/>
            </a:pPr>
            <a:r>
              <a:rPr lang="en-US" sz="1700" b="1" dirty="0">
                <a:solidFill>
                  <a:srgbClr val="055F56"/>
                </a:solidFill>
                <a:latin typeface="Arial"/>
                <a:cs typeface="Arial"/>
              </a:rPr>
              <a:t>Tài liệu xám</a:t>
            </a:r>
          </a:p>
        </p:txBody>
      </p:sp>
      <p:sp>
        <p:nvSpPr>
          <p:cNvPr id="106" name="Text"/>
          <p:cNvSpPr/>
          <p:nvPr/>
        </p:nvSpPr>
        <p:spPr>
          <a:xfrm>
            <a:off x="1112520" y="3159280"/>
            <a:ext cx="4754880" cy="1737360"/>
          </a:xfrm>
          <a:prstGeom prst="rect">
            <a:avLst/>
          </a:prstGeom>
          <a:noFill/>
          <a:ln>
            <a:noFill/>
          </a:ln>
        </p:spPr>
        <p:txBody>
          <a:bodyPr wrap="square" lIns="54864" tIns="54864" rIns="54864" bIns="54864" rtlCol="0" anchor="t">
            <a:noAutofit/>
          </a:bodyPr>
          <a:lstStyle/>
          <a:p>
            <a:pPr marL="0" indent="0" algn="ctr">
              <a:lnSpc>
                <a:spcPct val="100000"/>
              </a:lnSpc>
              <a:buNone/>
            </a:pPr>
            <a:r>
              <a:rPr lang="en-US" sz="1500" dirty="0">
                <a:solidFill>
                  <a:srgbClr val="1A1A1A"/>
                </a:solidFill>
                <a:latin typeface="Arial"/>
                <a:cs typeface="Arial"/>
              </a:rPr>
              <a:t>Sổ đăng ký thử nghiệm (ClinicalTrials.gov, WHO ICTRP)</a:t>
            </a:r>
          </a:p>
          <a:p>
            <a:pPr marL="0" indent="0" algn="ctr">
              <a:lnSpc>
                <a:spcPct val="100000"/>
              </a:lnSpc>
              <a:spcBef>
                <a:spcPts val="500"/>
              </a:spcBef>
              <a:buNone/>
            </a:pPr>
            <a:r>
              <a:rPr lang="en-US" sz="1500" dirty="0">
                <a:solidFill>
                  <a:srgbClr val="1A1A1A"/>
                </a:solidFill>
                <a:latin typeface="Arial"/>
                <a:cs typeface="Arial"/>
              </a:rPr>
              <a:t>Tóm tắt hội nghị</a:t>
            </a:r>
          </a:p>
          <a:p>
            <a:pPr marL="0" indent="0" algn="ctr">
              <a:lnSpc>
                <a:spcPct val="100000"/>
              </a:lnSpc>
              <a:spcBef>
                <a:spcPts val="500"/>
              </a:spcBef>
              <a:buNone/>
            </a:pPr>
            <a:r>
              <a:rPr lang="en-US" sz="1500" dirty="0">
                <a:solidFill>
                  <a:srgbClr val="1A1A1A"/>
                </a:solidFill>
                <a:latin typeface="Arial"/>
                <a:cs typeface="Arial"/>
              </a:rPr>
              <a:t>Luận văn, luận án</a:t>
            </a:r>
          </a:p>
          <a:p>
            <a:pPr marL="0" indent="0" algn="ctr">
              <a:lnSpc>
                <a:spcPct val="100000"/>
              </a:lnSpc>
              <a:spcBef>
                <a:spcPts val="500"/>
              </a:spcBef>
              <a:buNone/>
            </a:pPr>
            <a:r>
              <a:rPr lang="en-US" sz="1500" dirty="0">
                <a:solidFill>
                  <a:srgbClr val="1A1A1A"/>
                </a:solidFill>
                <a:latin typeface="Arial"/>
                <a:cs typeface="Arial"/>
              </a:rPr>
              <a:t>Báo cáo, hướng dẫn, bản thảo trước in (preprint)</a:t>
            </a:r>
          </a:p>
        </p:txBody>
      </p:sp>
      <p:sp>
        <p:nvSpPr>
          <p:cNvPr id="107" name="Box"/>
          <p:cNvSpPr/>
          <p:nvPr/>
        </p:nvSpPr>
        <p:spPr>
          <a:xfrm>
            <a:off x="6964680" y="1330480"/>
            <a:ext cx="4754880" cy="1600200"/>
          </a:xfrm>
          <a:prstGeom prst="roundRect">
            <a:avLst>
              <a:gd name="adj" fmla="val 8000"/>
            </a:avLst>
          </a:prstGeom>
          <a:solidFill>
            <a:srgbClr val="FFFFFF"/>
          </a:solidFill>
          <a:ln w="25400">
            <a:solidFill>
              <a:srgbClr val="055F56"/>
            </a:solidFill>
          </a:ln>
        </p:spPr>
        <p:txBody>
          <a:bodyPr wrap="square" lIns="109728" tIns="109728" rIns="109728" bIns="109728" rtlCol="0" anchor="ctr">
            <a:noAutofit/>
          </a:bodyPr>
          <a:lstStyle/>
          <a:p>
            <a:pPr marL="0" indent="0" algn="ctr">
              <a:lnSpc>
                <a:spcPct val="100000"/>
              </a:lnSpc>
              <a:buNone/>
            </a:pPr>
            <a:r>
              <a:rPr lang="en-US" sz="1500" b="1" dirty="0">
                <a:solidFill>
                  <a:srgbClr val="055F56"/>
                </a:solidFill>
                <a:latin typeface="Arial"/>
                <a:cs typeface="Arial"/>
              </a:rPr>
              <a:t>Vì sao cần tìm dưới mặt nước?</a:t>
            </a:r>
          </a:p>
          <a:p>
            <a:pPr marL="0" indent="0" algn="ctr">
              <a:lnSpc>
                <a:spcPct val="100000"/>
              </a:lnSpc>
              <a:spcBef>
                <a:spcPts val="300"/>
              </a:spcBef>
              <a:buNone/>
            </a:pPr>
            <a:r>
              <a:rPr lang="en-US" sz="1500" dirty="0">
                <a:solidFill>
                  <a:srgbClr val="1A1A1A"/>
                </a:solidFill>
                <a:latin typeface="Arial"/>
                <a:cs typeface="Arial"/>
              </a:rPr>
              <a:t>Thử nghiệm có kết quả âm tính ít được công bố hơn (sai lệch xuất bản).</a:t>
            </a:r>
          </a:p>
        </p:txBody>
      </p:sp>
      <p:sp>
        <p:nvSpPr>
          <p:cNvPr id="108" name="Box"/>
          <p:cNvSpPr/>
          <p:nvPr/>
        </p:nvSpPr>
        <p:spPr>
          <a:xfrm>
            <a:off x="6964680" y="3159280"/>
            <a:ext cx="4754880" cy="1920240"/>
          </a:xfrm>
          <a:prstGeom prst="roundRect">
            <a:avLst>
              <a:gd name="adj" fmla="val 8000"/>
            </a:avLst>
          </a:prstGeom>
          <a:solidFill>
            <a:srgbClr val="FFFFFF"/>
          </a:solidFill>
          <a:ln w="25400">
            <a:solidFill>
              <a:srgbClr val="055F56"/>
            </a:solidFill>
          </a:ln>
        </p:spPr>
        <p:txBody>
          <a:bodyPr wrap="square" lIns="109728" tIns="109728" rIns="109728" bIns="109728" rtlCol="0" anchor="ctr">
            <a:noAutofit/>
          </a:bodyPr>
          <a:lstStyle/>
          <a:p>
            <a:pPr marL="0" indent="0" algn="ctr">
              <a:lnSpc>
                <a:spcPct val="100000"/>
              </a:lnSpc>
              <a:buNone/>
            </a:pPr>
            <a:r>
              <a:rPr lang="en-US" sz="1500" b="1" dirty="0">
                <a:solidFill>
                  <a:srgbClr val="055F56"/>
                </a:solidFill>
                <a:latin typeface="Arial"/>
                <a:cs typeface="Arial"/>
              </a:rPr>
              <a:t>Sổ đăng ký thử nghiệm</a:t>
            </a:r>
          </a:p>
          <a:p>
            <a:pPr marL="0" indent="0" algn="ctr">
              <a:lnSpc>
                <a:spcPct val="100000"/>
              </a:lnSpc>
              <a:spcBef>
                <a:spcPts val="300"/>
              </a:spcBef>
              <a:buNone/>
            </a:pPr>
            <a:r>
              <a:rPr lang="en-US" sz="1500" dirty="0">
                <a:solidFill>
                  <a:srgbClr val="1A1A1A"/>
                </a:solidFill>
                <a:latin typeface="Arial"/>
                <a:cs typeface="Arial"/>
              </a:rPr>
              <a:t>Hồ sơ công khai của một thử nghiệm, lập trước khi tuyển người bệnh đầu tiên.</a:t>
            </a:r>
          </a:p>
          <a:p>
            <a:pPr marL="0" indent="0" algn="ctr">
              <a:lnSpc>
                <a:spcPct val="100000"/>
              </a:lnSpc>
              <a:spcBef>
                <a:spcPts val="300"/>
              </a:spcBef>
              <a:buNone/>
            </a:pPr>
            <a:r>
              <a:rPr lang="en-US" sz="1500" dirty="0">
                <a:solidFill>
                  <a:srgbClr val="1A1A1A"/>
                </a:solidFill>
                <a:latin typeface="Arial"/>
                <a:cs typeface="Arial"/>
              </a:rPr>
              <a:t>So sánh kết cục chính dự kiến với bài báo.</a:t>
            </a:r>
          </a:p>
          <a:p>
            <a:pPr marL="0" indent="0" algn="ctr">
              <a:lnSpc>
                <a:spcPct val="100000"/>
              </a:lnSpc>
              <a:spcBef>
                <a:spcPts val="300"/>
              </a:spcBef>
              <a:buNone/>
            </a:pPr>
            <a:r>
              <a:rPr lang="en-US" sz="1500" dirty="0">
                <a:solidFill>
                  <a:srgbClr val="1A1A1A"/>
                </a:solidFill>
                <a:latin typeface="Arial"/>
                <a:cs typeface="Arial"/>
              </a:rPr>
              <a:t>Bài báo 1: NCT04947904</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Tìm cả phần dưới mặt nước: tài liệu xám và sổ đăng ký thử nghiệm.</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 name="BreakCup"/>
          <p:cNvSpPr/>
          <p:nvPr/>
        </p:nvSpPr>
        <p:spPr>
          <a:xfrm>
            <a:off x="4976000" y="3180000"/>
            <a:ext cx="2408000" cy="308000"/>
          </a:xfrm>
          <a:prstGeom prst="ellipse">
            <a:avLst/>
          </a:prstGeom>
          <a:solidFill>
            <a:srgbClr val="D5DDE1"/>
          </a:solidFill>
          <a:ln>
            <a:noFill/>
          </a:ln>
        </p:spPr>
      </p:sp>
      <p:sp>
        <p:nvSpPr>
          <p:cNvPr id="31" name="BreakCup"/>
          <p:cNvSpPr/>
          <p:nvPr/>
        </p:nvSpPr>
        <p:spPr>
          <a:xfrm>
            <a:off x="4780000" y="800000"/>
            <a:ext cx="2800000" cy="2800000"/>
          </a:xfrm>
          <a:custGeom>
            <a:avLst/>
            <a:gdLst/>
            <a:ahLst/>
            <a:cxnLst/>
            <a:rect l="0" t="0" r="r" b="b"/>
            <a:pathLst>
              <a:path w="1000" h="1000" fill="none">
                <a:moveTo>
                  <a:pt x="735" y="500"/>
                </a:moveTo>
                <a:cubicBezTo>
                  <a:pt x="930" y="450"/>
                  <a:pt x="940" y="740"/>
                  <a:pt x="700" y="760"/>
                </a:cubicBezTo>
              </a:path>
            </a:pathLst>
          </a:custGeom>
          <a:noFill/>
          <a:ln w="168000" cap="rnd">
            <a:solidFill>
              <a:srgbClr val="0D7377"/>
            </a:solidFill>
            <a:round/>
          </a:ln>
        </p:spPr>
      </p:sp>
      <p:sp>
        <p:nvSpPr>
          <p:cNvPr id="32" name="BreakCup"/>
          <p:cNvSpPr/>
          <p:nvPr/>
        </p:nvSpPr>
        <p:spPr>
          <a:xfrm>
            <a:off x="4780000" y="800000"/>
            <a:ext cx="2800000" cy="2800000"/>
          </a:xfrm>
          <a:custGeom>
            <a:avLst/>
            <a:gdLst/>
            <a:ahLst/>
            <a:cxnLst/>
            <a:rect l="0" t="0" r="r" b="b"/>
            <a:pathLst>
              <a:path w="1000" h="1000">
                <a:moveTo>
                  <a:pt x="170" y="420"/>
                </a:moveTo>
                <a:lnTo>
                  <a:pt x="790" y="420"/>
                </a:lnTo>
                <a:cubicBezTo>
                  <a:pt x="790" y="700"/>
                  <a:pt x="690" y="885"/>
                  <a:pt x="480" y="885"/>
                </a:cubicBezTo>
                <a:cubicBezTo>
                  <a:pt x="270" y="885"/>
                  <a:pt x="170" y="700"/>
                  <a:pt x="170" y="420"/>
                </a:cubicBezTo>
                <a:close/>
              </a:path>
            </a:pathLst>
          </a:custGeom>
          <a:solidFill>
            <a:srgbClr val="0D7377"/>
          </a:solidFill>
          <a:ln>
            <a:noFill/>
          </a:ln>
        </p:spPr>
      </p:sp>
      <p:sp>
        <p:nvSpPr>
          <p:cNvPr id="33" name="BreakCup"/>
          <p:cNvSpPr/>
          <p:nvPr/>
        </p:nvSpPr>
        <p:spPr>
          <a:xfrm>
            <a:off x="5256000" y="1864000"/>
            <a:ext cx="1736000" cy="224000"/>
          </a:xfrm>
          <a:prstGeom prst="ellipse">
            <a:avLst/>
          </a:prstGeom>
          <a:solidFill>
            <a:srgbClr val="5FA39B"/>
          </a:solidFill>
          <a:ln>
            <a:noFill/>
          </a:ln>
        </p:spPr>
      </p:sp>
      <p:sp>
        <p:nvSpPr>
          <p:cNvPr id="34" name="BreakCup"/>
          <p:cNvSpPr/>
          <p:nvPr/>
        </p:nvSpPr>
        <p:spPr>
          <a:xfrm>
            <a:off x="5354000" y="1900400"/>
            <a:ext cx="1540000" cy="151200"/>
          </a:xfrm>
          <a:prstGeom prst="ellipse">
            <a:avLst/>
          </a:prstGeom>
          <a:solidFill>
            <a:srgbClr val="5B4032"/>
          </a:solidFill>
          <a:ln>
            <a:noFill/>
          </a:ln>
        </p:spPr>
      </p:sp>
      <p:sp>
        <p:nvSpPr>
          <p:cNvPr id="35" name="BreakCup"/>
          <p:cNvSpPr/>
          <p:nvPr/>
        </p:nvSpPr>
        <p:spPr>
          <a:xfrm>
            <a:off x="4780000" y="800000"/>
            <a:ext cx="2800000" cy="2800000"/>
          </a:xfrm>
          <a:custGeom>
            <a:avLst/>
            <a:gdLst/>
            <a:ahLst/>
            <a:cxnLst/>
            <a:rect l="0" t="0" r="r" b="b"/>
            <a:pathLst>
              <a:path w="1000" h="1000" fill="none">
                <a:moveTo>
                  <a:pt x="370" y="330"/>
                </a:moveTo>
                <a:cubicBezTo>
                  <a:pt x="325" y="280"/>
                  <a:pt x="415" y="230"/>
                  <a:pt x="370" y="180"/>
                </a:cubicBezTo>
                <a:cubicBezTo>
                  <a:pt x="325" y="130"/>
                  <a:pt x="405" y="90"/>
                  <a:pt x="370" y="50"/>
                </a:cubicBezTo>
              </a:path>
            </a:pathLst>
          </a:custGeom>
          <a:noFill/>
          <a:ln w="61600" cap="rnd">
            <a:solidFill>
              <a:srgbClr val="8A99A3"/>
            </a:solidFill>
            <a:round/>
          </a:ln>
        </p:spPr>
      </p:sp>
      <p:sp>
        <p:nvSpPr>
          <p:cNvPr id="36" name="BreakCup"/>
          <p:cNvSpPr/>
          <p:nvPr/>
        </p:nvSpPr>
        <p:spPr>
          <a:xfrm>
            <a:off x="4780000" y="800000"/>
            <a:ext cx="2800000" cy="2800000"/>
          </a:xfrm>
          <a:custGeom>
            <a:avLst/>
            <a:gdLst/>
            <a:ahLst/>
            <a:cxnLst/>
            <a:rect l="0" t="0" r="r" b="b"/>
            <a:pathLst>
              <a:path w="1000" h="1000" fill="none">
                <a:moveTo>
                  <a:pt x="480" y="330"/>
                </a:moveTo>
                <a:cubicBezTo>
                  <a:pt x="435" y="280"/>
                  <a:pt x="525" y="230"/>
                  <a:pt x="480" y="180"/>
                </a:cubicBezTo>
                <a:cubicBezTo>
                  <a:pt x="435" y="130"/>
                  <a:pt x="515" y="90"/>
                  <a:pt x="480" y="50"/>
                </a:cubicBezTo>
              </a:path>
            </a:pathLst>
          </a:custGeom>
          <a:noFill/>
          <a:ln w="61600" cap="rnd">
            <a:solidFill>
              <a:srgbClr val="8A99A3"/>
            </a:solidFill>
            <a:round/>
          </a:ln>
        </p:spPr>
      </p:sp>
      <p:sp>
        <p:nvSpPr>
          <p:cNvPr id="37" name="BreakCup"/>
          <p:cNvSpPr/>
          <p:nvPr/>
        </p:nvSpPr>
        <p:spPr>
          <a:xfrm>
            <a:off x="4780000" y="800000"/>
            <a:ext cx="2800000" cy="2800000"/>
          </a:xfrm>
          <a:custGeom>
            <a:avLst/>
            <a:gdLst/>
            <a:ahLst/>
            <a:cxnLst/>
            <a:rect l="0" t="0" r="r" b="b"/>
            <a:pathLst>
              <a:path w="1000" h="1000" fill="none">
                <a:moveTo>
                  <a:pt x="590" y="330"/>
                </a:moveTo>
                <a:cubicBezTo>
                  <a:pt x="545" y="280"/>
                  <a:pt x="635" y="230"/>
                  <a:pt x="590" y="180"/>
                </a:cubicBezTo>
                <a:cubicBezTo>
                  <a:pt x="545" y="130"/>
                  <a:pt x="625" y="90"/>
                  <a:pt x="590" y="50"/>
                </a:cubicBezTo>
              </a:path>
            </a:pathLst>
          </a:custGeom>
          <a:noFill/>
          <a:ln w="61600" cap="rnd">
            <a:solidFill>
              <a:srgbClr val="8A99A3"/>
            </a:solidFill>
            <a:round/>
          </a:ln>
        </p:spPr>
      </p:sp>
      <p:sp>
        <p:nvSpPr>
          <p:cNvPr id="45" name="BreakLabel"/>
          <p:cNvSpPr txBox="1"/>
          <p:nvPr/>
        </p:nvSpPr>
        <p:spPr>
          <a:xfrm>
            <a:off x="457200" y="3720000"/>
            <a:ext cx="11277600" cy="1250000"/>
          </a:xfrm>
          <a:prstGeom prst="rect">
            <a:avLst/>
          </a:prstGeom>
          <a:noFill/>
          <a:ln>
            <a:noFill/>
          </a:ln>
        </p:spPr>
        <p:txBody>
          <a:bodyPr wrap="square" lIns="91440" tIns="45720" rIns="91440" bIns="45720" rtlCol="0" anchor="t"/>
          <a:lstStyle/>
          <a:p>
            <a:pPr marL="0" indent="0" algn="ctr">
              <a:buNone/>
            </a:pPr>
            <a:r>
              <a:rPr lang="en-US" sz="4400" b="1" dirty="0">
                <a:solidFill>
                  <a:srgbClr val="0D7377"/>
                </a:solidFill>
                <a:latin typeface="Arial"/>
                <a:cs typeface="Arial"/>
              </a:rPr>
              <a:t>Giải lao</a:t>
            </a:r>
          </a:p>
          <a:p>
            <a:pPr marL="0" indent="0" algn="ctr">
              <a:spcBef>
                <a:spcPts val="600"/>
              </a:spcBef>
              <a:buNone/>
            </a:pPr>
            <a:r>
              <a:rPr lang="en-US" sz="2400" dirty="0">
                <a:solidFill>
                  <a:srgbClr val="595959"/>
                </a:solidFill>
                <a:latin typeface="Arial"/>
                <a:cs typeface="Arial"/>
              </a:rPr>
              <a:t>15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2.3  Đọc một bài báo trong 15 phút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Không cần đọc từng chữ. Hãy đọc đúng chỗ, theo đúng thứ tự.</a:t>
            </a:r>
          </a:p>
          <a:p>
            <a:pPr marL="0" indent="0" algn="ctr">
              <a:spcBef>
                <a:spcPts val="1200"/>
              </a:spcBef>
              <a:buNone/>
            </a:pPr>
            <a:r>
              <a:rPr lang="en-US" sz="1900" i="1" dirty="0">
                <a:solidFill>
                  <a:srgbClr val="595959"/>
                </a:solidFill>
                <a:latin typeface="Arial"/>
                <a:cs typeface="Arial"/>
              </a:rPr>
              <a:t>40 phút: cấu trúc bài báo, thứ tự đọc, phần tóm tắt, thổi phồng, và bài tập đọc Bài báo 1</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Cấu trúc bài báo: IMRaD</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00" name="Box"/>
          <p:cNvSpPr/>
          <p:nvPr/>
        </p:nvSpPr>
        <p:spPr>
          <a:xfrm>
            <a:off x="655320" y="1239040"/>
            <a:ext cx="3840480" cy="502920"/>
          </a:xfrm>
          <a:prstGeom prst="roundRect">
            <a:avLst>
              <a:gd name="adj" fmla="val 20000"/>
            </a:avLst>
          </a:prstGeom>
          <a:solidFill>
            <a:srgbClr val="055F56"/>
          </a:solidFill>
          <a:ln>
            <a:noFill/>
          </a:ln>
        </p:spPr>
        <p:txBody>
          <a:bodyPr wrap="square" lIns="54864" tIns="54864" rIns="54864" bIns="54864" rtlCol="0" anchor="ctr">
            <a:noAutofit/>
          </a:bodyPr>
          <a:lstStyle/>
          <a:p>
            <a:pPr marL="0" indent="0" algn="ctr">
              <a:lnSpc>
                <a:spcPct val="100000"/>
              </a:lnSpc>
              <a:buNone/>
            </a:pPr>
            <a:r>
              <a:rPr lang="en-US" sz="1700" b="1" dirty="0">
                <a:solidFill>
                  <a:srgbClr val="FFFFFF"/>
                </a:solidFill>
                <a:latin typeface="Arial"/>
                <a:cs typeface="Arial"/>
              </a:rPr>
              <a:t>Tiêu đề + tóm tắt</a:t>
            </a:r>
          </a:p>
        </p:txBody>
      </p:sp>
      <p:cxnSp>
        <p:nvCxnSpPr>
          <p:cNvPr id="101" name="Line"/>
          <p:cNvCxnSpPr/>
          <p:nvPr/>
        </p:nvCxnSpPr>
        <p:spPr>
          <a:xfrm>
            <a:off x="4587240" y="1490500"/>
            <a:ext cx="1188720" cy="0"/>
          </a:xfrm>
          <a:prstGeom prst="straightConnector1">
            <a:avLst/>
          </a:prstGeom>
          <a:ln w="25400" cap="rnd">
            <a:solidFill>
              <a:srgbClr val="055F56"/>
            </a:solidFill>
            <a:prstDash val="sysDot"/>
            <a:round/>
          </a:ln>
        </p:spPr>
      </p:cxnSp>
      <p:sp>
        <p:nvSpPr>
          <p:cNvPr id="102" name="Text"/>
          <p:cNvSpPr/>
          <p:nvPr/>
        </p:nvSpPr>
        <p:spPr>
          <a:xfrm>
            <a:off x="5913120" y="1216180"/>
            <a:ext cx="5806440" cy="548640"/>
          </a:xfrm>
          <a:prstGeom prst="rect">
            <a:avLst/>
          </a:prstGeom>
          <a:noFill/>
          <a:ln>
            <a:noFill/>
          </a:ln>
        </p:spPr>
        <p:txBody>
          <a:bodyPr wrap="square" lIns="54864" tIns="54864" rIns="54864" bIns="54864" rtlCol="0" anchor="ctr">
            <a:noAutofit/>
          </a:bodyPr>
          <a:lstStyle/>
          <a:p>
            <a:pPr marL="0" indent="0" algn="l">
              <a:lnSpc>
                <a:spcPct val="100000"/>
              </a:lnSpc>
              <a:buNone/>
            </a:pPr>
            <a:r>
              <a:rPr lang="en-US" sz="1700" dirty="0">
                <a:solidFill>
                  <a:srgbClr val="1A1A1A"/>
                </a:solidFill>
                <a:latin typeface="Arial"/>
                <a:cs typeface="Arial"/>
              </a:rPr>
              <a:t>Đọc đầu tiên: bài báo nói về gì?</a:t>
            </a:r>
          </a:p>
        </p:txBody>
      </p:sp>
      <p:sp>
        <p:nvSpPr>
          <p:cNvPr id="103" name="Box"/>
          <p:cNvSpPr/>
          <p:nvPr/>
        </p:nvSpPr>
        <p:spPr>
          <a:xfrm>
            <a:off x="655320" y="1815112"/>
            <a:ext cx="3840480" cy="868680"/>
          </a:xfrm>
          <a:prstGeom prst="flowChartManualOperation">
            <a:avLst/>
          </a:prstGeom>
          <a:solidFill>
            <a:srgbClr val="0D7377"/>
          </a:solidFill>
          <a:ln>
            <a:noFill/>
          </a:ln>
        </p:spPr>
        <p:txBody>
          <a:bodyPr wrap="square" lIns="54864" tIns="54864" rIns="54864" bIns="54864" rtlCol="0" anchor="ctr">
            <a:noAutofit/>
          </a:bodyPr>
          <a:lstStyle/>
          <a:p>
            <a:pPr marL="0" indent="0" algn="ctr">
              <a:lnSpc>
                <a:spcPct val="100000"/>
              </a:lnSpc>
              <a:buNone/>
            </a:pPr>
            <a:r>
              <a:rPr lang="en-US" sz="1700" b="1" dirty="0">
                <a:solidFill>
                  <a:srgbClr val="FFFFFF"/>
                </a:solidFill>
                <a:latin typeface="Arial"/>
                <a:cs typeface="Arial"/>
              </a:rPr>
              <a:t>Đặt vấn đề</a:t>
            </a:r>
          </a:p>
        </p:txBody>
      </p:sp>
      <p:cxnSp>
        <p:nvCxnSpPr>
          <p:cNvPr id="104" name="Line"/>
          <p:cNvCxnSpPr/>
          <p:nvPr/>
        </p:nvCxnSpPr>
        <p:spPr>
          <a:xfrm>
            <a:off x="4139184" y="2249452"/>
            <a:ext cx="1042416" cy="0"/>
          </a:xfrm>
          <a:prstGeom prst="straightConnector1">
            <a:avLst/>
          </a:prstGeom>
          <a:ln w="25400" cap="rnd">
            <a:solidFill>
              <a:srgbClr val="0D7377"/>
            </a:solidFill>
            <a:prstDash val="sysDot"/>
            <a:round/>
          </a:ln>
        </p:spPr>
      </p:cxnSp>
      <p:sp>
        <p:nvSpPr>
          <p:cNvPr id="105" name="Ellipse"/>
          <p:cNvSpPr/>
          <p:nvPr/>
        </p:nvSpPr>
        <p:spPr>
          <a:xfrm>
            <a:off x="5227320" y="2002564"/>
            <a:ext cx="493776" cy="493776"/>
          </a:xfrm>
          <a:prstGeom prst="ellipse">
            <a:avLst/>
          </a:prstGeom>
          <a:solidFill>
            <a:srgbClr val="0D7377"/>
          </a:solidFill>
          <a:ln>
            <a:noFill/>
          </a:ln>
        </p:spPr>
        <p:txBody>
          <a:bodyPr wrap="square" lIns="0" tIns="0" rIns="0" bIns="0" rtlCol="0" anchor="ctr">
            <a:noAutofit/>
          </a:bodyPr>
          <a:lstStyle/>
          <a:p>
            <a:pPr marL="0" indent="0" algn="ctr">
              <a:lnSpc>
                <a:spcPct val="100000"/>
              </a:lnSpc>
              <a:buNone/>
            </a:pPr>
            <a:r>
              <a:rPr lang="en-US" sz="1800" b="1" dirty="0">
                <a:solidFill>
                  <a:srgbClr val="FFFFFF"/>
                </a:solidFill>
                <a:latin typeface="Arial"/>
                <a:cs typeface="Arial"/>
              </a:rPr>
              <a:t>I</a:t>
            </a:r>
          </a:p>
        </p:txBody>
      </p:sp>
      <p:sp>
        <p:nvSpPr>
          <p:cNvPr id="106" name="Text"/>
          <p:cNvSpPr/>
          <p:nvPr/>
        </p:nvSpPr>
        <p:spPr>
          <a:xfrm>
            <a:off x="5913120" y="1975132"/>
            <a:ext cx="5806440" cy="548640"/>
          </a:xfrm>
          <a:prstGeom prst="rect">
            <a:avLst/>
          </a:prstGeom>
          <a:noFill/>
          <a:ln>
            <a:noFill/>
          </a:ln>
        </p:spPr>
        <p:txBody>
          <a:bodyPr wrap="square" lIns="54864" tIns="54864" rIns="54864" bIns="54864" rtlCol="0" anchor="ctr">
            <a:noAutofit/>
          </a:bodyPr>
          <a:lstStyle/>
          <a:p>
            <a:pPr marL="0" indent="0" algn="l">
              <a:lnSpc>
                <a:spcPct val="100000"/>
              </a:lnSpc>
              <a:buNone/>
            </a:pPr>
            <a:r>
              <a:rPr lang="en-US" sz="1700" dirty="0">
                <a:solidFill>
                  <a:srgbClr val="1A1A1A"/>
                </a:solidFill>
                <a:latin typeface="Arial"/>
                <a:cs typeface="Arial"/>
              </a:rPr>
              <a:t>Vì sao? Từ rộng đến hẹp, kết thúc bằng câu hỏi</a:t>
            </a:r>
          </a:p>
        </p:txBody>
      </p:sp>
      <p:sp>
        <p:nvSpPr>
          <p:cNvPr id="107" name="Box"/>
          <p:cNvSpPr/>
          <p:nvPr/>
        </p:nvSpPr>
        <p:spPr>
          <a:xfrm>
            <a:off x="1423416" y="2756944"/>
            <a:ext cx="2304288" cy="685800"/>
          </a:xfrm>
          <a:prstGeom prst="rect">
            <a:avLst/>
          </a:prstGeom>
          <a:solidFill>
            <a:srgbClr val="0B376C"/>
          </a:solidFill>
          <a:ln>
            <a:noFill/>
          </a:ln>
        </p:spPr>
        <p:txBody>
          <a:bodyPr wrap="square" lIns="54864" tIns="54864" rIns="54864" bIns="54864" rtlCol="0" anchor="ctr">
            <a:noAutofit/>
          </a:bodyPr>
          <a:lstStyle/>
          <a:p>
            <a:pPr marL="0" indent="0" algn="ctr">
              <a:lnSpc>
                <a:spcPct val="100000"/>
              </a:lnSpc>
              <a:buNone/>
            </a:pPr>
            <a:r>
              <a:rPr lang="en-US" sz="1700" b="1" dirty="0">
                <a:solidFill>
                  <a:srgbClr val="FFFFFF"/>
                </a:solidFill>
                <a:latin typeface="Arial"/>
                <a:cs typeface="Arial"/>
              </a:rPr>
              <a:t>Phương pháp</a:t>
            </a:r>
          </a:p>
        </p:txBody>
      </p:sp>
      <p:cxnSp>
        <p:nvCxnSpPr>
          <p:cNvPr id="108" name="Line"/>
          <p:cNvCxnSpPr/>
          <p:nvPr/>
        </p:nvCxnSpPr>
        <p:spPr>
          <a:xfrm>
            <a:off x="3819144" y="3099844"/>
            <a:ext cx="1362456" cy="0"/>
          </a:xfrm>
          <a:prstGeom prst="straightConnector1">
            <a:avLst/>
          </a:prstGeom>
          <a:ln w="25400" cap="rnd">
            <a:solidFill>
              <a:srgbClr val="0B376C"/>
            </a:solidFill>
            <a:prstDash val="sysDot"/>
            <a:round/>
          </a:ln>
        </p:spPr>
      </p:cxnSp>
      <p:sp>
        <p:nvSpPr>
          <p:cNvPr id="109" name="Ellipse"/>
          <p:cNvSpPr/>
          <p:nvPr/>
        </p:nvSpPr>
        <p:spPr>
          <a:xfrm>
            <a:off x="5227320" y="2852956"/>
            <a:ext cx="493776" cy="493776"/>
          </a:xfrm>
          <a:prstGeom prst="ellipse">
            <a:avLst/>
          </a:prstGeom>
          <a:solidFill>
            <a:srgbClr val="0B376C"/>
          </a:solidFill>
          <a:ln>
            <a:noFill/>
          </a:ln>
        </p:spPr>
        <p:txBody>
          <a:bodyPr wrap="square" lIns="0" tIns="0" rIns="0" bIns="0" rtlCol="0" anchor="ctr">
            <a:noAutofit/>
          </a:bodyPr>
          <a:lstStyle/>
          <a:p>
            <a:pPr marL="0" indent="0" algn="ctr">
              <a:lnSpc>
                <a:spcPct val="100000"/>
              </a:lnSpc>
              <a:buNone/>
            </a:pPr>
            <a:r>
              <a:rPr lang="en-US" sz="1800" b="1" dirty="0">
                <a:solidFill>
                  <a:srgbClr val="FFFFFF"/>
                </a:solidFill>
                <a:latin typeface="Arial"/>
                <a:cs typeface="Arial"/>
              </a:rPr>
              <a:t>M</a:t>
            </a:r>
          </a:p>
        </p:txBody>
      </p:sp>
      <p:sp>
        <p:nvSpPr>
          <p:cNvPr id="110" name="Text"/>
          <p:cNvSpPr/>
          <p:nvPr/>
        </p:nvSpPr>
        <p:spPr>
          <a:xfrm>
            <a:off x="5913120" y="2825524"/>
            <a:ext cx="5806440" cy="548640"/>
          </a:xfrm>
          <a:prstGeom prst="rect">
            <a:avLst/>
          </a:prstGeom>
          <a:noFill/>
          <a:ln>
            <a:noFill/>
          </a:ln>
        </p:spPr>
        <p:txBody>
          <a:bodyPr wrap="square" lIns="54864" tIns="54864" rIns="54864" bIns="54864" rtlCol="0" anchor="ctr">
            <a:noAutofit/>
          </a:bodyPr>
          <a:lstStyle/>
          <a:p>
            <a:pPr marL="0" indent="0" algn="l">
              <a:lnSpc>
                <a:spcPct val="100000"/>
              </a:lnSpc>
              <a:buNone/>
            </a:pPr>
            <a:r>
              <a:rPr lang="en-US" sz="1700" dirty="0">
                <a:solidFill>
                  <a:srgbClr val="1A1A1A"/>
                </a:solidFill>
                <a:latin typeface="Arial"/>
                <a:cs typeface="Arial"/>
              </a:rPr>
              <a:t>Đã làm gì? Đủ chi tiết để làm lại</a:t>
            </a:r>
          </a:p>
        </p:txBody>
      </p:sp>
      <p:sp>
        <p:nvSpPr>
          <p:cNvPr id="111" name="Box"/>
          <p:cNvSpPr/>
          <p:nvPr/>
        </p:nvSpPr>
        <p:spPr>
          <a:xfrm>
            <a:off x="1423416" y="3515896"/>
            <a:ext cx="2304288" cy="685800"/>
          </a:xfrm>
          <a:prstGeom prst="rect">
            <a:avLst/>
          </a:prstGeom>
          <a:solidFill>
            <a:srgbClr val="0070C0"/>
          </a:solidFill>
          <a:ln>
            <a:noFill/>
          </a:ln>
        </p:spPr>
        <p:txBody>
          <a:bodyPr wrap="square" lIns="54864" tIns="54864" rIns="54864" bIns="54864" rtlCol="0" anchor="ctr">
            <a:noAutofit/>
          </a:bodyPr>
          <a:lstStyle/>
          <a:p>
            <a:pPr marL="0" indent="0" algn="ctr">
              <a:lnSpc>
                <a:spcPct val="100000"/>
              </a:lnSpc>
              <a:buNone/>
            </a:pPr>
            <a:r>
              <a:rPr lang="en-US" sz="1700" b="1" dirty="0">
                <a:solidFill>
                  <a:srgbClr val="FFFFFF"/>
                </a:solidFill>
                <a:latin typeface="Arial"/>
                <a:cs typeface="Arial"/>
              </a:rPr>
              <a:t>Kết quả</a:t>
            </a:r>
          </a:p>
        </p:txBody>
      </p:sp>
      <p:cxnSp>
        <p:nvCxnSpPr>
          <p:cNvPr id="112" name="Line"/>
          <p:cNvCxnSpPr/>
          <p:nvPr/>
        </p:nvCxnSpPr>
        <p:spPr>
          <a:xfrm>
            <a:off x="3819144" y="3858796"/>
            <a:ext cx="1362456" cy="0"/>
          </a:xfrm>
          <a:prstGeom prst="straightConnector1">
            <a:avLst/>
          </a:prstGeom>
          <a:ln w="25400" cap="rnd">
            <a:solidFill>
              <a:srgbClr val="0070C0"/>
            </a:solidFill>
            <a:prstDash val="sysDot"/>
            <a:round/>
          </a:ln>
        </p:spPr>
      </p:cxnSp>
      <p:sp>
        <p:nvSpPr>
          <p:cNvPr id="113" name="Ellipse"/>
          <p:cNvSpPr/>
          <p:nvPr/>
        </p:nvSpPr>
        <p:spPr>
          <a:xfrm>
            <a:off x="5227320" y="3611908"/>
            <a:ext cx="493776" cy="493776"/>
          </a:xfrm>
          <a:prstGeom prst="ellipse">
            <a:avLst/>
          </a:prstGeom>
          <a:solidFill>
            <a:srgbClr val="0070C0"/>
          </a:solidFill>
          <a:ln>
            <a:noFill/>
          </a:ln>
        </p:spPr>
        <p:txBody>
          <a:bodyPr wrap="square" lIns="0" tIns="0" rIns="0" bIns="0" rtlCol="0" anchor="ctr">
            <a:noAutofit/>
          </a:bodyPr>
          <a:lstStyle/>
          <a:p>
            <a:pPr marL="0" indent="0" algn="ctr">
              <a:lnSpc>
                <a:spcPct val="100000"/>
              </a:lnSpc>
              <a:buNone/>
            </a:pPr>
            <a:r>
              <a:rPr lang="en-US" sz="1800" b="1" dirty="0">
                <a:solidFill>
                  <a:srgbClr val="FFFFFF"/>
                </a:solidFill>
                <a:latin typeface="Arial"/>
                <a:cs typeface="Arial"/>
              </a:rPr>
              <a:t>R</a:t>
            </a:r>
          </a:p>
        </p:txBody>
      </p:sp>
      <p:sp>
        <p:nvSpPr>
          <p:cNvPr id="114" name="Text"/>
          <p:cNvSpPr/>
          <p:nvPr/>
        </p:nvSpPr>
        <p:spPr>
          <a:xfrm>
            <a:off x="5913120" y="3584476"/>
            <a:ext cx="5806440" cy="548640"/>
          </a:xfrm>
          <a:prstGeom prst="rect">
            <a:avLst/>
          </a:prstGeom>
          <a:noFill/>
          <a:ln>
            <a:noFill/>
          </a:ln>
        </p:spPr>
        <p:txBody>
          <a:bodyPr wrap="square" lIns="54864" tIns="54864" rIns="54864" bIns="54864" rtlCol="0" anchor="ctr">
            <a:noAutofit/>
          </a:bodyPr>
          <a:lstStyle/>
          <a:p>
            <a:pPr marL="0" indent="0" algn="l">
              <a:lnSpc>
                <a:spcPct val="100000"/>
              </a:lnSpc>
              <a:buNone/>
            </a:pPr>
            <a:r>
              <a:rPr lang="en-US" sz="1700" dirty="0">
                <a:solidFill>
                  <a:srgbClr val="1A1A1A"/>
                </a:solidFill>
                <a:latin typeface="Arial"/>
                <a:cs typeface="Arial"/>
              </a:rPr>
              <a:t>Tìm thấy gì? Con số, không bình luận</a:t>
            </a:r>
          </a:p>
        </p:txBody>
      </p:sp>
      <p:sp>
        <p:nvSpPr>
          <p:cNvPr id="115" name="Box"/>
          <p:cNvSpPr/>
          <p:nvPr/>
        </p:nvSpPr>
        <p:spPr>
          <a:xfrm>
            <a:off x="655320" y="4274848"/>
            <a:ext cx="3840480" cy="868680"/>
          </a:xfrm>
          <a:prstGeom prst="trapezoid">
            <a:avLst>
              <a:gd name="adj" fmla="val 88421"/>
            </a:avLst>
          </a:prstGeom>
          <a:solidFill>
            <a:srgbClr val="5FA39B"/>
          </a:solidFill>
          <a:ln>
            <a:noFill/>
          </a:ln>
        </p:spPr>
        <p:txBody>
          <a:bodyPr wrap="square" lIns="54864" tIns="54864" rIns="54864" bIns="54864" rtlCol="0" anchor="ctr">
            <a:noAutofit/>
          </a:bodyPr>
          <a:lstStyle/>
          <a:p>
            <a:pPr marL="0" indent="0" algn="ctr">
              <a:lnSpc>
                <a:spcPct val="100000"/>
              </a:lnSpc>
              <a:buNone/>
            </a:pPr>
            <a:r>
              <a:rPr lang="en-US" sz="1700" b="1" dirty="0">
                <a:solidFill>
                  <a:srgbClr val="FFFFFF"/>
                </a:solidFill>
                <a:latin typeface="Arial"/>
                <a:cs typeface="Arial"/>
              </a:rPr>
              <a:t>Bàn luận</a:t>
            </a:r>
          </a:p>
        </p:txBody>
      </p:sp>
      <p:cxnSp>
        <p:nvCxnSpPr>
          <p:cNvPr id="116" name="Line"/>
          <p:cNvCxnSpPr/>
          <p:nvPr/>
        </p:nvCxnSpPr>
        <p:spPr>
          <a:xfrm>
            <a:off x="4139184" y="4709188"/>
            <a:ext cx="1042416" cy="0"/>
          </a:xfrm>
          <a:prstGeom prst="straightConnector1">
            <a:avLst/>
          </a:prstGeom>
          <a:ln w="25400" cap="rnd">
            <a:solidFill>
              <a:srgbClr val="5FA39B"/>
            </a:solidFill>
            <a:prstDash val="sysDot"/>
            <a:round/>
          </a:ln>
        </p:spPr>
      </p:cxnSp>
      <p:sp>
        <p:nvSpPr>
          <p:cNvPr id="117" name="Ellipse"/>
          <p:cNvSpPr/>
          <p:nvPr/>
        </p:nvSpPr>
        <p:spPr>
          <a:xfrm>
            <a:off x="5227320" y="4462300"/>
            <a:ext cx="493776" cy="493776"/>
          </a:xfrm>
          <a:prstGeom prst="ellipse">
            <a:avLst/>
          </a:prstGeom>
          <a:solidFill>
            <a:srgbClr val="5FA39B"/>
          </a:solidFill>
          <a:ln>
            <a:noFill/>
          </a:ln>
        </p:spPr>
        <p:txBody>
          <a:bodyPr wrap="square" lIns="0" tIns="0" rIns="0" bIns="0" rtlCol="0" anchor="ctr">
            <a:noAutofit/>
          </a:bodyPr>
          <a:lstStyle/>
          <a:p>
            <a:pPr marL="0" indent="0" algn="ctr">
              <a:lnSpc>
                <a:spcPct val="100000"/>
              </a:lnSpc>
              <a:buNone/>
            </a:pPr>
            <a:r>
              <a:rPr lang="en-US" sz="1800" b="1" dirty="0">
                <a:solidFill>
                  <a:srgbClr val="FFFFFF"/>
                </a:solidFill>
                <a:latin typeface="Arial"/>
                <a:cs typeface="Arial"/>
              </a:rPr>
              <a:t>D</a:t>
            </a:r>
          </a:p>
        </p:txBody>
      </p:sp>
      <p:sp>
        <p:nvSpPr>
          <p:cNvPr id="118" name="Text"/>
          <p:cNvSpPr/>
          <p:nvPr/>
        </p:nvSpPr>
        <p:spPr>
          <a:xfrm>
            <a:off x="5913120" y="4434868"/>
            <a:ext cx="5806440" cy="548640"/>
          </a:xfrm>
          <a:prstGeom prst="rect">
            <a:avLst/>
          </a:prstGeom>
          <a:noFill/>
          <a:ln>
            <a:noFill/>
          </a:ln>
        </p:spPr>
        <p:txBody>
          <a:bodyPr wrap="square" lIns="54864" tIns="54864" rIns="54864" bIns="54864" rtlCol="0" anchor="ctr">
            <a:noAutofit/>
          </a:bodyPr>
          <a:lstStyle/>
          <a:p>
            <a:pPr marL="0" indent="0" algn="l">
              <a:lnSpc>
                <a:spcPct val="100000"/>
              </a:lnSpc>
              <a:buNone/>
            </a:pPr>
            <a:r>
              <a:rPr lang="en-US" sz="1700" dirty="0">
                <a:solidFill>
                  <a:srgbClr val="1A1A1A"/>
                </a:solidFill>
                <a:latin typeface="Arial"/>
                <a:cs typeface="Arial"/>
              </a:rPr>
              <a:t>Ý nghĩa là gì? Từ hẹp ra rộng, nêu hạn chế</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Mọi bài báo gốc có cùng hình dạng: vì sao, làm gì, thấy gì, ý nghĩa gì.</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Thứ tự đọc trong 15 phút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Dừng sau bước 1 hoặc 2 nếu bài không trả lời câu hỏi. Tổng: khoảng 15 phút.</a:t>
            </a:r>
          </a:p>
        </p:txBody>
      </p:sp>
      <p:sp>
        <p:nvSpPr>
          <p:cNvPr id="80" name="Step"/>
          <p:cNvSpPr/>
          <p:nvPr/>
        </p:nvSpPr>
        <p:spPr>
          <a:xfrm>
            <a:off x="457200" y="1660000"/>
            <a:ext cx="2303520" cy="760000"/>
          </a:xfrm>
          <a:prstGeom prst="homePlate">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1  Tiêu đề</a:t>
            </a:r>
          </a:p>
        </p:txBody>
      </p:sp>
      <p:sp>
        <p:nvSpPr>
          <p:cNvPr id="81" name="StepText"/>
          <p:cNvSpPr/>
          <p:nvPr/>
        </p:nvSpPr>
        <p:spPr>
          <a:xfrm>
            <a:off x="497200" y="2580000"/>
            <a:ext cx="2163520" cy="1431429"/>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650" b="1" dirty="0">
                <a:solidFill>
                  <a:srgbClr val="000000"/>
                </a:solidFill>
                <a:latin typeface="Arial"/>
                <a:cs typeface="Arial"/>
              </a:rPr>
              <a:t>30 giây</a:t>
            </a:r>
          </a:p>
          <a:p>
            <a:pPr marL="0" indent="0" algn="ctr">
              <a:lnSpc>
                <a:spcPct val="104000"/>
              </a:lnSpc>
              <a:spcBef>
                <a:spcPts val="200"/>
              </a:spcBef>
              <a:buNone/>
            </a:pPr>
            <a:r>
              <a:rPr lang="en-US" sz="1650" dirty="0">
                <a:solidFill>
                  <a:srgbClr val="000000"/>
                </a:solidFill>
                <a:latin typeface="Arial"/>
                <a:cs typeface="Arial"/>
              </a:rPr>
              <a:t>Liên quan tới câu hỏi của tôi?</a:t>
            </a:r>
          </a:p>
        </p:txBody>
      </p:sp>
      <p:sp>
        <p:nvSpPr>
          <p:cNvPr id="82" name="Step"/>
          <p:cNvSpPr/>
          <p:nvPr/>
        </p:nvSpPr>
        <p:spPr>
          <a:xfrm>
            <a:off x="2700720" y="1660000"/>
            <a:ext cx="2303520" cy="760000"/>
          </a:xfrm>
          <a:prstGeom prst="chevron">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2  Tóm tắt</a:t>
            </a:r>
          </a:p>
        </p:txBody>
      </p:sp>
      <p:sp>
        <p:nvSpPr>
          <p:cNvPr id="83" name="StepText"/>
          <p:cNvSpPr/>
          <p:nvPr/>
        </p:nvSpPr>
        <p:spPr>
          <a:xfrm>
            <a:off x="2740720" y="2580000"/>
            <a:ext cx="2163520" cy="1431429"/>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650" b="1" dirty="0">
                <a:solidFill>
                  <a:srgbClr val="000000"/>
                </a:solidFill>
                <a:latin typeface="Arial"/>
                <a:cs typeface="Arial"/>
              </a:rPr>
              <a:t>3 phút</a:t>
            </a:r>
          </a:p>
          <a:p>
            <a:pPr marL="0" indent="0" algn="ctr">
              <a:lnSpc>
                <a:spcPct val="104000"/>
              </a:lnSpc>
              <a:spcBef>
                <a:spcPts val="200"/>
              </a:spcBef>
              <a:buNone/>
            </a:pPr>
            <a:r>
              <a:rPr lang="en-US" sz="1650" dirty="0">
                <a:solidFill>
                  <a:srgbClr val="000000"/>
                </a:solidFill>
                <a:latin typeface="Arial"/>
                <a:cs typeface="Arial"/>
              </a:rPr>
              <a:t>PICO, thiết kế, kết quả chính</a:t>
            </a:r>
          </a:p>
        </p:txBody>
      </p:sp>
      <p:sp>
        <p:nvSpPr>
          <p:cNvPr id="84" name="Step"/>
          <p:cNvSpPr/>
          <p:nvPr/>
        </p:nvSpPr>
        <p:spPr>
          <a:xfrm>
            <a:off x="4944240" y="166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3  Hình và bảng</a:t>
            </a:r>
          </a:p>
        </p:txBody>
      </p:sp>
      <p:sp>
        <p:nvSpPr>
          <p:cNvPr id="85" name="StepText"/>
          <p:cNvSpPr/>
          <p:nvPr/>
        </p:nvSpPr>
        <p:spPr>
          <a:xfrm>
            <a:off x="4984240" y="2580000"/>
            <a:ext cx="2163520" cy="1431429"/>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650" b="1" dirty="0">
                <a:solidFill>
                  <a:srgbClr val="000000"/>
                </a:solidFill>
                <a:latin typeface="Arial"/>
                <a:cs typeface="Arial"/>
              </a:rPr>
              <a:t>4 phút</a:t>
            </a:r>
          </a:p>
          <a:p>
            <a:pPr marL="0" indent="0" algn="ctr">
              <a:lnSpc>
                <a:spcPct val="104000"/>
              </a:lnSpc>
              <a:spcBef>
                <a:spcPts val="200"/>
              </a:spcBef>
              <a:buNone/>
            </a:pPr>
            <a:r>
              <a:rPr lang="en-US" sz="1650" dirty="0">
                <a:solidFill>
                  <a:srgbClr val="000000"/>
                </a:solidFill>
                <a:latin typeface="Arial"/>
                <a:cs typeface="Arial"/>
              </a:rPr>
              <a:t>Sơ đồ, Bảng 1, bảng kết quả chính</a:t>
            </a:r>
          </a:p>
        </p:txBody>
      </p:sp>
      <p:sp>
        <p:nvSpPr>
          <p:cNvPr id="86" name="Step"/>
          <p:cNvSpPr/>
          <p:nvPr/>
        </p:nvSpPr>
        <p:spPr>
          <a:xfrm>
            <a:off x="7187760" y="166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4  Phương pháp</a:t>
            </a:r>
          </a:p>
        </p:txBody>
      </p:sp>
      <p:sp>
        <p:nvSpPr>
          <p:cNvPr id="87" name="StepText"/>
          <p:cNvSpPr/>
          <p:nvPr/>
        </p:nvSpPr>
        <p:spPr>
          <a:xfrm>
            <a:off x="7227760" y="2580000"/>
            <a:ext cx="2163520" cy="1431429"/>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650" b="1" dirty="0">
                <a:solidFill>
                  <a:srgbClr val="000000"/>
                </a:solidFill>
                <a:latin typeface="Arial"/>
                <a:cs typeface="Arial"/>
              </a:rPr>
              <a:t>5 phút</a:t>
            </a:r>
          </a:p>
          <a:p>
            <a:pPr marL="0" indent="0" algn="ctr">
              <a:lnSpc>
                <a:spcPct val="104000"/>
              </a:lnSpc>
              <a:spcBef>
                <a:spcPts val="200"/>
              </a:spcBef>
              <a:buNone/>
            </a:pPr>
            <a:r>
              <a:rPr lang="en-US" sz="1650" dirty="0">
                <a:solidFill>
                  <a:srgbClr val="000000"/>
                </a:solidFill>
                <a:latin typeface="Arial"/>
                <a:cs typeface="Arial"/>
              </a:rPr>
              <a:t>Ai, chọn thế nào, kết cục chính, chống sai lệch</a:t>
            </a:r>
          </a:p>
        </p:txBody>
      </p:sp>
      <p:sp>
        <p:nvSpPr>
          <p:cNvPr id="88" name="Step"/>
          <p:cNvSpPr/>
          <p:nvPr/>
        </p:nvSpPr>
        <p:spPr>
          <a:xfrm>
            <a:off x="9431280" y="166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5  Bàn luận</a:t>
            </a:r>
          </a:p>
        </p:txBody>
      </p:sp>
      <p:sp>
        <p:nvSpPr>
          <p:cNvPr id="89" name="StepText"/>
          <p:cNvSpPr/>
          <p:nvPr/>
        </p:nvSpPr>
        <p:spPr>
          <a:xfrm>
            <a:off x="9471280" y="2580000"/>
            <a:ext cx="2163520" cy="1431429"/>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650" b="1" dirty="0">
                <a:solidFill>
                  <a:srgbClr val="000000"/>
                </a:solidFill>
                <a:latin typeface="Arial"/>
                <a:cs typeface="Arial"/>
              </a:rPr>
              <a:t>2-3 phút</a:t>
            </a:r>
          </a:p>
          <a:p>
            <a:pPr marL="0" indent="0" algn="ctr">
              <a:lnSpc>
                <a:spcPct val="104000"/>
              </a:lnSpc>
              <a:spcBef>
                <a:spcPts val="200"/>
              </a:spcBef>
              <a:buNone/>
            </a:pPr>
            <a:r>
              <a:rPr lang="en-US" sz="1650" dirty="0">
                <a:solidFill>
                  <a:srgbClr val="000000"/>
                </a:solidFill>
                <a:latin typeface="Arial"/>
                <a:cs typeface="Arial"/>
              </a:rPr>
              <a:t>Hạn chế. Kết luận có khớp với dữ liệu không?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Tiêu đề, tóm tắt, hình và bảng, phương pháp. Dừng sớm nếu không liên quan.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Phần tóm tắt phải có gì</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402835"/>
          <a:ext cx="11277600" cy="2985120"/>
        </p:xfrm>
        <a:graphic>
          <a:graphicData uri="http://schemas.openxmlformats.org/drawingml/2006/table">
            <a:tbl>
              <a:tblPr firstRow="1" bandRow="1">
                <a:tableStyleId>{5C22544A-7EE6-4342-B048-85BDC9FD1C3A}</a:tableStyleId>
              </a:tblPr>
              <a:tblGrid>
                <a:gridCol w="2451652"/>
                <a:gridCol w="8825948"/>
              </a:tblGrid>
              <a:tr h="401000">
                <a:tc>
                  <a:txBody>
                    <a:bodyPr/>
                    <a:lstStyle/>
                    <a:p>
                      <a:pPr algn="l"/>
                      <a:r>
                        <a:rPr lang="en-US" sz="1900" b="1" dirty="0">
                          <a:solidFill>
                            <a:srgbClr val="FFFFFF"/>
                          </a:solidFill>
                          <a:latin typeface="Arial"/>
                          <a:cs typeface="Arial"/>
                        </a:rPr>
                        <a:t>Phần</a:t>
                      </a:r>
                    </a:p>
                  </a:txBody>
                  <a:tcPr marL="73152" marR="73152" marT="45720" marB="45720" anchor="ctr">
                    <a:solidFill>
                      <a:srgbClr val="0D7377"/>
                    </a:solidFill>
                  </a:tcPr>
                </a:tc>
                <a:tc>
                  <a:txBody>
                    <a:bodyPr/>
                    <a:lstStyle/>
                    <a:p>
                      <a:pPr algn="l"/>
                      <a:r>
                        <a:rPr lang="en-US" sz="1900" b="1" dirty="0">
                          <a:solidFill>
                            <a:srgbClr val="FFFFFF"/>
                          </a:solidFill>
                          <a:latin typeface="Arial"/>
                          <a:cs typeface="Arial"/>
                        </a:rPr>
                        <a:t>Nội dung bắt buộc</a:t>
                      </a:r>
                    </a:p>
                  </a:txBody>
                  <a:tcPr marL="73152" marR="73152" marT="45720" marB="45720" anchor="ctr">
                    <a:solidFill>
                      <a:srgbClr val="0D7377"/>
                    </a:solidFill>
                  </a:tcPr>
                </a:tc>
              </a:tr>
              <a:tr h="401000">
                <a:tc>
                  <a:txBody>
                    <a:bodyPr/>
                    <a:lstStyle/>
                    <a:p>
                      <a:pPr algn="l"/>
                      <a:r>
                        <a:rPr lang="en-US" sz="1900" b="1" dirty="0">
                          <a:solidFill>
                            <a:srgbClr val="000000"/>
                          </a:solidFill>
                          <a:latin typeface="Arial"/>
                          <a:cs typeface="Arial"/>
                        </a:rPr>
                        <a:t>Bối cảnh</a:t>
                      </a:r>
                    </a:p>
                  </a:txBody>
                  <a:tcPr marL="73152" marR="73152" marT="45720" marB="45720" anchor="ctr">
                    <a:solidFill>
                      <a:srgbClr val="EAF2F5"/>
                    </a:solidFill>
                  </a:tcPr>
                </a:tc>
                <a:tc>
                  <a:txBody>
                    <a:bodyPr/>
                    <a:lstStyle/>
                    <a:p>
                      <a:pPr algn="l"/>
                      <a:r>
                        <a:rPr lang="en-US" sz="1900" dirty="0">
                          <a:solidFill>
                            <a:srgbClr val="000000"/>
                          </a:solidFill>
                          <a:latin typeface="Arial"/>
                          <a:cs typeface="Arial"/>
                        </a:rPr>
                        <a:t>Vấn đề và mục tiêu (1-2 câu)</a:t>
                      </a:r>
                    </a:p>
                  </a:txBody>
                  <a:tcPr marL="73152" marR="73152" marT="45720" marB="45720" anchor="ctr">
                    <a:solidFill>
                      <a:srgbClr val="FFFFFF"/>
                    </a:solidFill>
                  </a:tcPr>
                </a:tc>
              </a:tr>
              <a:tr h="690560">
                <a:tc>
                  <a:txBody>
                    <a:bodyPr/>
                    <a:lstStyle/>
                    <a:p>
                      <a:pPr algn="l"/>
                      <a:r>
                        <a:rPr lang="en-US" sz="1900" b="1" dirty="0">
                          <a:solidFill>
                            <a:srgbClr val="000000"/>
                          </a:solidFill>
                          <a:latin typeface="Arial"/>
                          <a:cs typeface="Arial"/>
                        </a:rPr>
                        <a:t>Phương pháp</a:t>
                      </a:r>
                    </a:p>
                  </a:txBody>
                  <a:tcPr marL="73152" marR="73152" marT="45720" marB="45720" anchor="ctr">
                    <a:solidFill>
                      <a:srgbClr val="EAF2F5"/>
                    </a:solidFill>
                  </a:tcPr>
                </a:tc>
                <a:tc>
                  <a:txBody>
                    <a:bodyPr/>
                    <a:lstStyle/>
                    <a:p>
                      <a:pPr algn="l"/>
                      <a:r>
                        <a:rPr lang="en-US" sz="1900" dirty="0">
                          <a:solidFill>
                            <a:srgbClr val="000000"/>
                          </a:solidFill>
                          <a:latin typeface="Arial"/>
                          <a:cs typeface="Arial"/>
                        </a:rPr>
                        <a:t>Thiết kế, bối cảnh, đối tượng, can thiệp/phơi nhiễm, so sánh, kết cục chính</a:t>
                      </a:r>
                    </a:p>
                  </a:txBody>
                  <a:tcPr marL="73152" marR="73152" marT="45720" marB="45720" anchor="ctr">
                    <a:solidFill>
                      <a:srgbClr val="F5F9FA"/>
                    </a:solidFill>
                  </a:tcPr>
                </a:tc>
              </a:tr>
              <a:tr h="690560">
                <a:tc>
                  <a:txBody>
                    <a:bodyPr/>
                    <a:lstStyle/>
                    <a:p>
                      <a:pPr algn="l"/>
                      <a:r>
                        <a:rPr lang="en-US" sz="1900" b="1" dirty="0">
                          <a:solidFill>
                            <a:srgbClr val="000000"/>
                          </a:solidFill>
                          <a:latin typeface="Arial"/>
                          <a:cs typeface="Arial"/>
                        </a:rPr>
                        <a:t>Kết quả</a:t>
                      </a:r>
                    </a:p>
                  </a:txBody>
                  <a:tcPr marL="73152" marR="73152" marT="45720" marB="45720" anchor="ctr">
                    <a:solidFill>
                      <a:srgbClr val="EAF2F5"/>
                    </a:solidFill>
                  </a:tcPr>
                </a:tc>
                <a:tc>
                  <a:txBody>
                    <a:bodyPr/>
                    <a:lstStyle/>
                    <a:p>
                      <a:pPr algn="l"/>
                      <a:r>
                        <a:rPr lang="en-US" sz="1900" dirty="0">
                          <a:solidFill>
                            <a:srgbClr val="000000"/>
                          </a:solidFill>
                          <a:latin typeface="Arial"/>
                          <a:cs typeface="Arial"/>
                        </a:rPr>
                        <a:t>Số sàng lọc và phân tích, kết quả chính dưới dạng cỡ tác động + KTC 95% (+ p), tác hại chính</a:t>
                      </a:r>
                    </a:p>
                  </a:txBody>
                  <a:tcPr marL="73152" marR="73152" marT="45720" marB="45720" anchor="ctr">
                    <a:solidFill>
                      <a:srgbClr val="FFFFFF"/>
                    </a:solidFill>
                  </a:tcPr>
                </a:tc>
              </a:tr>
              <a:tr h="401000">
                <a:tc>
                  <a:txBody>
                    <a:bodyPr/>
                    <a:lstStyle/>
                    <a:p>
                      <a:pPr algn="l"/>
                      <a:r>
                        <a:rPr lang="en-US" sz="1900" b="1" dirty="0">
                          <a:solidFill>
                            <a:srgbClr val="000000"/>
                          </a:solidFill>
                          <a:latin typeface="Arial"/>
                          <a:cs typeface="Arial"/>
                        </a:rPr>
                        <a:t>Kết luận</a:t>
                      </a:r>
                    </a:p>
                  </a:txBody>
                  <a:tcPr marL="73152" marR="73152" marT="45720" marB="45720" anchor="ctr">
                    <a:solidFill>
                      <a:srgbClr val="EAF2F5"/>
                    </a:solidFill>
                  </a:tcPr>
                </a:tc>
                <a:tc>
                  <a:txBody>
                    <a:bodyPr/>
                    <a:lstStyle/>
                    <a:p>
                      <a:pPr algn="l"/>
                      <a:r>
                        <a:rPr lang="en-US" sz="1900" dirty="0">
                          <a:solidFill>
                            <a:srgbClr val="000000"/>
                          </a:solidFill>
                          <a:latin typeface="Arial"/>
                          <a:cs typeface="Arial"/>
                        </a:rPr>
                        <a:t>Trả lời câu hỏi chính, không hơn</a:t>
                      </a:r>
                    </a:p>
                  </a:txBody>
                  <a:tcPr marL="73152" marR="73152" marT="45720" marB="45720" anchor="ctr">
                    <a:solidFill>
                      <a:srgbClr val="F5F9FA"/>
                    </a:solidFill>
                  </a:tcPr>
                </a:tc>
              </a:tr>
              <a:tr h="401000">
                <a:tc>
                  <a:txBody>
                    <a:bodyPr/>
                    <a:lstStyle/>
                    <a:p>
                      <a:pPr algn="l"/>
                      <a:r>
                        <a:rPr lang="en-US" sz="1900" b="1" dirty="0">
                          <a:solidFill>
                            <a:srgbClr val="000000"/>
                          </a:solidFill>
                          <a:latin typeface="Arial"/>
                          <a:cs typeface="Arial"/>
                        </a:rPr>
                        <a:t>Đăng ký</a:t>
                      </a:r>
                    </a:p>
                  </a:txBody>
                  <a:tcPr marL="73152" marR="73152" marT="45720" marB="45720" anchor="ctr">
                    <a:solidFill>
                      <a:srgbClr val="EAF2F5"/>
                    </a:solidFill>
                  </a:tcPr>
                </a:tc>
                <a:tc>
                  <a:txBody>
                    <a:bodyPr/>
                    <a:lstStyle/>
                    <a:p>
                      <a:pPr algn="l"/>
                      <a:r>
                        <a:rPr lang="en-US" sz="1900" dirty="0">
                          <a:solidFill>
                            <a:srgbClr val="000000"/>
                          </a:solidFill>
                          <a:latin typeface="Arial"/>
                          <a:cs typeface="Arial"/>
                        </a:rPr>
                        <a:t>Số đăng ký thử nghiệm (với thử nghiệm)</a:t>
                      </a:r>
                    </a:p>
                  </a:txBody>
                  <a:tcPr marL="73152" marR="73152" marT="45720" marB="45720" anchor="ctr">
                    <a:solidFill>
                      <a:srgbClr val="FFFFFF"/>
                    </a:solidFill>
                  </a:tcPr>
                </a:tc>
              </a:tr>
            </a:tbl>
          </a:graphicData>
        </a:graphic>
      </p:graphicFrame>
      <p:sp>
        <p:nvSpPr>
          <p:cNvPr id="31" name="Caption"/>
          <p:cNvSpPr txBox="1"/>
          <p:nvPr/>
        </p:nvSpPr>
        <p:spPr>
          <a:xfrm>
            <a:off x="457200" y="4477955"/>
            <a:ext cx="11277600" cy="356375"/>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Thường 250-300 từ</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Tóm tắt tốt giúp bạn viết PICO và kết quả chính mà không cần mở bài báo.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Một câu kết quả: kém và tốt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Số liệu minh họa. Hỏi mọi tóm tắt: lớn cỡ nào, chắc đến đâu, lúc nào?</a:t>
            </a:r>
          </a:p>
        </p:txBody>
      </p:sp>
      <p:sp>
        <p:nvSpPr>
          <p:cNvPr id="70" name="CardHead"/>
          <p:cNvSpPr/>
          <p:nvPr/>
        </p:nvSpPr>
        <p:spPr>
          <a:xfrm>
            <a:off x="457200" y="1799478"/>
            <a:ext cx="5538800" cy="640000"/>
          </a:xfrm>
          <a:prstGeom prst="rect">
            <a:avLst/>
          </a:prstGeom>
          <a:solidFill>
            <a:srgbClr val="B23B2E"/>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Câu kết quả kém</a:t>
            </a:r>
          </a:p>
        </p:txBody>
      </p:sp>
      <p:sp>
        <p:nvSpPr>
          <p:cNvPr id="71" name="CardBody"/>
          <p:cNvSpPr/>
          <p:nvPr/>
        </p:nvSpPr>
        <p:spPr>
          <a:xfrm>
            <a:off x="457200" y="2439478"/>
            <a:ext cx="5538800" cy="253156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i="1" dirty="0">
                <a:solidFill>
                  <a:srgbClr val="000000"/>
                </a:solidFill>
                <a:latin typeface="Arial"/>
                <a:cs typeface="Arial"/>
              </a:rPr>
              <a:t>"Tử vong thấp hơn có ý nghĩa ở nhóm can thiệp (p &lt; 0.05)."</a:t>
            </a:r>
          </a:p>
          <a:p>
            <a:pPr marL="0" indent="0" algn="ctr">
              <a:lnSpc>
                <a:spcPct val="104000"/>
              </a:lnSpc>
              <a:spcBef>
                <a:spcPts val="400"/>
              </a:spcBef>
              <a:buNone/>
            </a:pPr>
            <a:r>
              <a:rPr lang="en-US" sz="1750" dirty="0">
                <a:solidFill>
                  <a:srgbClr val="000000"/>
                </a:solidFill>
                <a:latin typeface="Arial"/>
                <a:cs typeface="Arial"/>
              </a:rPr>
              <a:t>Không có số mỗi nhóm</a:t>
            </a:r>
          </a:p>
          <a:p>
            <a:pPr marL="0" indent="0" algn="ctr">
              <a:lnSpc>
                <a:spcPct val="104000"/>
              </a:lnSpc>
              <a:spcBef>
                <a:spcPts val="400"/>
              </a:spcBef>
              <a:buNone/>
            </a:pPr>
            <a:r>
              <a:rPr lang="en-US" sz="1750" dirty="0">
                <a:solidFill>
                  <a:srgbClr val="000000"/>
                </a:solidFill>
                <a:latin typeface="Arial"/>
                <a:cs typeface="Arial"/>
              </a:rPr>
              <a:t>Không có cỡ tác động</a:t>
            </a:r>
          </a:p>
          <a:p>
            <a:pPr marL="0" indent="0" algn="ctr">
              <a:lnSpc>
                <a:spcPct val="104000"/>
              </a:lnSpc>
              <a:spcBef>
                <a:spcPts val="400"/>
              </a:spcBef>
              <a:buNone/>
            </a:pPr>
            <a:r>
              <a:rPr lang="en-US" sz="1750" dirty="0">
                <a:solidFill>
                  <a:srgbClr val="000000"/>
                </a:solidFill>
                <a:latin typeface="Arial"/>
                <a:cs typeface="Arial"/>
              </a:rPr>
              <a:t>Không có KTC 95%</a:t>
            </a:r>
          </a:p>
          <a:p>
            <a:pPr marL="0" indent="0" algn="ctr">
              <a:lnSpc>
                <a:spcPct val="104000"/>
              </a:lnSpc>
              <a:spcBef>
                <a:spcPts val="400"/>
              </a:spcBef>
              <a:buNone/>
            </a:pPr>
            <a:r>
              <a:rPr lang="en-US" sz="1750" dirty="0">
                <a:solidFill>
                  <a:srgbClr val="000000"/>
                </a:solidFill>
                <a:latin typeface="Arial"/>
                <a:cs typeface="Arial"/>
              </a:rPr>
              <a:t>Không có mốc thời gian</a:t>
            </a:r>
          </a:p>
        </p:txBody>
      </p:sp>
      <p:sp>
        <p:nvSpPr>
          <p:cNvPr id="72" name="CardHead"/>
          <p:cNvSpPr/>
          <p:nvPr/>
        </p:nvSpPr>
        <p:spPr>
          <a:xfrm>
            <a:off x="6196000" y="1799478"/>
            <a:ext cx="5538800" cy="640000"/>
          </a:xfrm>
          <a:prstGeom prst="rect">
            <a:avLst/>
          </a:prstGeom>
          <a:solidFill>
            <a:srgbClr val="2E8B5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Câu kết quả tốt</a:t>
            </a:r>
          </a:p>
        </p:txBody>
      </p:sp>
      <p:sp>
        <p:nvSpPr>
          <p:cNvPr id="73" name="CardBody"/>
          <p:cNvSpPr/>
          <p:nvPr/>
        </p:nvSpPr>
        <p:spPr>
          <a:xfrm>
            <a:off x="6196000" y="2439478"/>
            <a:ext cx="5538800" cy="253156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i="1" dirty="0">
                <a:solidFill>
                  <a:srgbClr val="000000"/>
                </a:solidFill>
                <a:latin typeface="Arial"/>
                <a:cs typeface="Arial"/>
              </a:rPr>
              <a:t>"Tử vong 28 ngày là 30% ở nhóm hạn chế so với 38% ở nhóm thường quy (chênh lệch nguy cơ -8 điểm %, KTC 95% -15 đến -1)."</a:t>
            </a:r>
          </a:p>
          <a:p>
            <a:pPr marL="0" indent="0" algn="ctr">
              <a:lnSpc>
                <a:spcPct val="104000"/>
              </a:lnSpc>
              <a:spcBef>
                <a:spcPts val="400"/>
              </a:spcBef>
              <a:buNone/>
            </a:pPr>
            <a:r>
              <a:rPr lang="en-US" sz="1750" dirty="0">
                <a:solidFill>
                  <a:srgbClr val="000000"/>
                </a:solidFill>
                <a:latin typeface="Arial"/>
                <a:cs typeface="Arial"/>
              </a:rPr>
              <a:t>Có số mỗi nhóm</a:t>
            </a:r>
          </a:p>
          <a:p>
            <a:pPr marL="0" indent="0" algn="ctr">
              <a:lnSpc>
                <a:spcPct val="104000"/>
              </a:lnSpc>
              <a:spcBef>
                <a:spcPts val="400"/>
              </a:spcBef>
              <a:buNone/>
            </a:pPr>
            <a:r>
              <a:rPr lang="en-US" sz="1750" dirty="0">
                <a:solidFill>
                  <a:srgbClr val="000000"/>
                </a:solidFill>
                <a:latin typeface="Arial"/>
                <a:cs typeface="Arial"/>
              </a:rPr>
              <a:t>Có cỡ tác động</a:t>
            </a:r>
          </a:p>
          <a:p>
            <a:pPr marL="0" indent="0" algn="ctr">
              <a:lnSpc>
                <a:spcPct val="104000"/>
              </a:lnSpc>
              <a:spcBef>
                <a:spcPts val="400"/>
              </a:spcBef>
              <a:buNone/>
            </a:pPr>
            <a:r>
              <a:rPr lang="en-US" sz="1750" dirty="0">
                <a:solidFill>
                  <a:srgbClr val="000000"/>
                </a:solidFill>
                <a:latin typeface="Arial"/>
                <a:cs typeface="Arial"/>
              </a:rPr>
              <a:t>Có KTC 95%</a:t>
            </a:r>
          </a:p>
          <a:p>
            <a:pPr marL="0" indent="0" algn="ctr">
              <a:lnSpc>
                <a:spcPct val="104000"/>
              </a:lnSpc>
              <a:spcBef>
                <a:spcPts val="400"/>
              </a:spcBef>
              <a:buNone/>
            </a:pPr>
            <a:r>
              <a:rPr lang="en-US" sz="1750" dirty="0">
                <a:solidFill>
                  <a:srgbClr val="000000"/>
                </a:solidFill>
                <a:latin typeface="Arial"/>
                <a:cs typeface="Arial"/>
              </a:rPr>
              <a:t>Có mốc thời gian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Mỗi kết quả chính cần: số mỗi nhóm, cỡ tác động, KTC 95% và mốc thời gian.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Thổi phồng (spin): khi lời văn vượt quá dữ liệu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507973"/>
          <a:ext cx="11277600" cy="3026080"/>
        </p:xfrm>
        <a:graphic>
          <a:graphicData uri="http://schemas.openxmlformats.org/drawingml/2006/table">
            <a:tbl>
              <a:tblPr firstRow="1" bandRow="1">
                <a:tableStyleId>{5C22544A-7EE6-4342-B048-85BDC9FD1C3A}</a:tableStyleId>
              </a:tblPr>
              <a:tblGrid>
                <a:gridCol w="1922318"/>
                <a:gridCol w="3332018"/>
                <a:gridCol w="3844636"/>
                <a:gridCol w="2178628"/>
              </a:tblGrid>
              <a:tr h="385760">
                <a:tc>
                  <a:txBody>
                    <a:bodyPr/>
                    <a:lstStyle/>
                    <a:p>
                      <a:pPr algn="l"/>
                      <a:r>
                        <a:rPr lang="en-US" sz="1800" b="1" dirty="0">
                          <a:solidFill>
                            <a:srgbClr val="FFFFFF"/>
                          </a:solidFill>
                          <a:latin typeface="Arial"/>
                          <a:cs typeface="Arial"/>
                        </a:rPr>
                        <a:t> </a:t>
                      </a:r>
                    </a:p>
                  </a:txBody>
                  <a:tcPr marL="73152" marR="73152" marT="45720" marB="45720" anchor="ctr">
                    <a:solidFill>
                      <a:srgbClr val="FFFFFF"/>
                    </a:solidFill>
                  </a:tcPr>
                </a:tc>
                <a:tc>
                  <a:txBody>
                    <a:bodyPr/>
                    <a:lstStyle/>
                    <a:p>
                      <a:pPr algn="l"/>
                      <a:r>
                        <a:rPr lang="en-US" sz="1800" b="1" dirty="0">
                          <a:solidFill>
                            <a:srgbClr val="FFFFFF"/>
                          </a:solidFill>
                          <a:latin typeface="Arial"/>
                          <a:cs typeface="Arial"/>
                        </a:rPr>
                        <a:t>Dữ liệu nói gì</a:t>
                      </a:r>
                    </a:p>
                  </a:txBody>
                  <a:tcPr marL="73152" marR="73152" marT="45720" marB="45720" anchor="ctr">
                    <a:solidFill>
                      <a:srgbClr val="0D7377"/>
                    </a:solidFill>
                  </a:tcPr>
                </a:tc>
                <a:tc>
                  <a:txBody>
                    <a:bodyPr/>
                    <a:lstStyle/>
                    <a:p>
                      <a:pPr algn="l"/>
                      <a:r>
                        <a:rPr lang="en-US" sz="1800" b="1" dirty="0">
                          <a:solidFill>
                            <a:srgbClr val="FFFFFF"/>
                          </a:solidFill>
                          <a:latin typeface="Arial"/>
                          <a:cs typeface="Arial"/>
                        </a:rPr>
                        <a:t>Lời văn nói gì (thổi phồng)</a:t>
                      </a:r>
                    </a:p>
                  </a:txBody>
                  <a:tcPr marL="73152" marR="73152" marT="45720" marB="45720" anchor="ctr">
                    <a:solidFill>
                      <a:srgbClr val="B23B2E"/>
                    </a:solidFill>
                  </a:tcPr>
                </a:tc>
                <a:tc>
                  <a:txBody>
                    <a:bodyPr/>
                    <a:lstStyle/>
                    <a:p>
                      <a:pPr algn="l"/>
                      <a:r>
                        <a:rPr lang="en-US" sz="1800" b="1" dirty="0">
                          <a:solidFill>
                            <a:srgbClr val="FFFFFF"/>
                          </a:solidFill>
                          <a:latin typeface="Arial"/>
                          <a:cs typeface="Arial"/>
                        </a:rPr>
                        <a:t>Gặp ở</a:t>
                      </a:r>
                    </a:p>
                  </a:txBody>
                  <a:tcPr marL="73152" marR="73152" marT="45720" marB="45720" anchor="ctr">
                    <a:solidFill>
                      <a:srgbClr val="8A99A3"/>
                    </a:solidFill>
                  </a:tcPr>
                </a:tc>
              </a:tr>
              <a:tr h="660080">
                <a:tc>
                  <a:txBody>
                    <a:bodyPr/>
                    <a:lstStyle/>
                    <a:p>
                      <a:pPr algn="l"/>
                      <a:r>
                        <a:rPr lang="en-US" sz="1800" b="1" dirty="0">
                          <a:solidFill>
                            <a:srgbClr val="000000"/>
                          </a:solidFill>
                          <a:latin typeface="Arial"/>
                          <a:cs typeface="Arial"/>
                        </a:rPr>
                        <a:t>Giá trị p</a:t>
                      </a:r>
                    </a:p>
                  </a:txBody>
                  <a:tcPr marL="73152" marR="73152" marT="45720" marB="45720" anchor="ctr">
                    <a:solidFill>
                      <a:srgbClr val="EAF2F5"/>
                    </a:solidFill>
                  </a:tcPr>
                </a:tc>
                <a:tc>
                  <a:txBody>
                    <a:bodyPr/>
                    <a:lstStyle/>
                    <a:p>
                      <a:pPr algn="l"/>
                      <a:r>
                        <a:rPr lang="en-US" sz="1800" dirty="0">
                          <a:solidFill>
                            <a:srgbClr val="000000"/>
                          </a:solidFill>
                          <a:latin typeface="Arial"/>
                          <a:cs typeface="Arial"/>
                        </a:rPr>
                        <a:t>p = 0.42</a:t>
                      </a:r>
                    </a:p>
                  </a:txBody>
                  <a:tcPr marL="73152" marR="73152" marT="45720" marB="45720" anchor="ctr">
                    <a:solidFill>
                      <a:srgbClr val="FFFFFF"/>
                    </a:solidFill>
                  </a:tcPr>
                </a:tc>
                <a:tc>
                  <a:txBody>
                    <a:bodyPr/>
                    <a:lstStyle/>
                    <a:p>
                      <a:pPr algn="l"/>
                      <a:r>
                        <a:rPr lang="en-US" sz="1800" i="1" dirty="0">
                          <a:solidFill>
                            <a:srgbClr val="B23B2E"/>
                          </a:solidFill>
                          <a:latin typeface="Arial"/>
                          <a:cs typeface="Arial"/>
                        </a:rPr>
                        <a:t>"một xu hướng không có ý nghĩa"</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Bài báo 1, Bàn luận</a:t>
                      </a:r>
                    </a:p>
                  </a:txBody>
                  <a:tcPr marL="73152" marR="73152" marT="45720" marB="45720" anchor="ctr">
                    <a:solidFill>
                      <a:srgbClr val="FFFFFF"/>
                    </a:solidFill>
                  </a:tcPr>
                </a:tc>
              </a:tr>
              <a:tr h="660080">
                <a:tc>
                  <a:txBody>
                    <a:bodyPr/>
                    <a:lstStyle/>
                    <a:p>
                      <a:pPr algn="l"/>
                      <a:r>
                        <a:rPr lang="en-US" sz="1800" b="1" dirty="0">
                          <a:solidFill>
                            <a:srgbClr val="000000"/>
                          </a:solidFill>
                          <a:latin typeface="Arial"/>
                          <a:cs typeface="Arial"/>
                        </a:rPr>
                        <a:t>Kết cục</a:t>
                      </a:r>
                    </a:p>
                  </a:txBody>
                  <a:tcPr marL="73152" marR="73152" marT="45720" marB="45720" anchor="ctr">
                    <a:solidFill>
                      <a:srgbClr val="EAF2F5"/>
                    </a:solidFill>
                  </a:tcPr>
                </a:tc>
                <a:tc>
                  <a:txBody>
                    <a:bodyPr/>
                    <a:lstStyle/>
                    <a:p>
                      <a:pPr algn="l"/>
                      <a:r>
                        <a:rPr lang="en-US" sz="1800" dirty="0">
                          <a:solidFill>
                            <a:srgbClr val="000000"/>
                          </a:solidFill>
                          <a:latin typeface="Arial"/>
                          <a:cs typeface="Arial"/>
                        </a:rPr>
                        <a:t>Kết cục chính: không khác biệt</a:t>
                      </a:r>
                    </a:p>
                  </a:txBody>
                  <a:tcPr marL="73152" marR="73152" marT="45720" marB="45720" anchor="ctr">
                    <a:solidFill>
                      <a:srgbClr val="F5F9FA"/>
                    </a:solidFill>
                  </a:tcPr>
                </a:tc>
                <a:tc>
                  <a:txBody>
                    <a:bodyPr/>
                    <a:lstStyle/>
                    <a:p>
                      <a:pPr algn="l"/>
                      <a:r>
                        <a:rPr lang="en-US" sz="1800" i="1" dirty="0">
                          <a:solidFill>
                            <a:srgbClr val="B23B2E"/>
                          </a:solidFill>
                          <a:latin typeface="Arial"/>
                          <a:cs typeface="Arial"/>
                        </a:rPr>
                        <a:t>Tiêu điểm = một kết cục phụ có lợi</a:t>
                      </a:r>
                    </a:p>
                  </a:txBody>
                  <a:tcPr marL="73152" marR="73152" marT="45720" marB="45720" anchor="ctr">
                    <a:solidFill>
                      <a:srgbClr val="F5F9FA"/>
                    </a:solidFill>
                  </a:tcPr>
                </a:tc>
                <a:tc>
                  <a:txBody>
                    <a:bodyPr/>
                    <a:lstStyle/>
                    <a:p>
                      <a:pPr algn="l"/>
                      <a:r>
                        <a:rPr lang="en-US" sz="1800" dirty="0">
                          <a:solidFill>
                            <a:srgbClr val="000000"/>
                          </a:solidFill>
                          <a:latin typeface="Arial"/>
                          <a:cs typeface="Arial"/>
                        </a:rPr>
                        <a:t> </a:t>
                      </a:r>
                    </a:p>
                  </a:txBody>
                  <a:tcPr marL="73152" marR="73152" marT="45720" marB="45720" anchor="ctr">
                    <a:solidFill>
                      <a:srgbClr val="F5F9FA"/>
                    </a:solidFill>
                  </a:tcPr>
                </a:tc>
              </a:tr>
              <a:tr h="660080">
                <a:tc>
                  <a:txBody>
                    <a:bodyPr/>
                    <a:lstStyle/>
                    <a:p>
                      <a:pPr algn="l"/>
                      <a:r>
                        <a:rPr lang="en-US" sz="1800" b="1" dirty="0">
                          <a:solidFill>
                            <a:srgbClr val="000000"/>
                          </a:solidFill>
                          <a:latin typeface="Arial"/>
                          <a:cs typeface="Arial"/>
                        </a:rPr>
                        <a:t>Thiết kế</a:t>
                      </a:r>
                    </a:p>
                  </a:txBody>
                  <a:tcPr marL="73152" marR="73152" marT="45720" marB="45720" anchor="ctr">
                    <a:solidFill>
                      <a:srgbClr val="EAF2F5"/>
                    </a:solidFill>
                  </a:tcPr>
                </a:tc>
                <a:tc>
                  <a:txBody>
                    <a:bodyPr/>
                    <a:lstStyle/>
                    <a:p>
                      <a:pPr algn="l"/>
                      <a:r>
                        <a:rPr lang="en-US" sz="1800" dirty="0">
                          <a:solidFill>
                            <a:srgbClr val="000000"/>
                          </a:solidFill>
                          <a:latin typeface="Arial"/>
                          <a:cs typeface="Arial"/>
                        </a:rPr>
                        <a:t>Liên quan trong quan sát</a:t>
                      </a:r>
                    </a:p>
                  </a:txBody>
                  <a:tcPr marL="73152" marR="73152" marT="45720" marB="45720" anchor="ctr">
                    <a:solidFill>
                      <a:srgbClr val="FFFFFF"/>
                    </a:solidFill>
                  </a:tcPr>
                </a:tc>
                <a:tc>
                  <a:txBody>
                    <a:bodyPr/>
                    <a:lstStyle/>
                    <a:p>
                      <a:pPr algn="l"/>
                      <a:r>
                        <a:rPr lang="en-US" sz="1800" i="1" dirty="0">
                          <a:solidFill>
                            <a:srgbClr val="B23B2E"/>
                          </a:solidFill>
                          <a:latin typeface="Arial"/>
                          <a:cs typeface="Arial"/>
                        </a:rPr>
                        <a:t>"Tác động của...", "làm giảm"</a:t>
                      </a:r>
                    </a:p>
                  </a:txBody>
                  <a:tcPr marL="73152" marR="73152" marT="45720" marB="45720" anchor="ctr">
                    <a:solidFill>
                      <a:srgbClr val="FFFFFF"/>
                    </a:solidFill>
                  </a:tcPr>
                </a:tc>
                <a:tc>
                  <a:txBody>
                    <a:bodyPr/>
                    <a:lstStyle/>
                    <a:p>
                      <a:pPr algn="l"/>
                      <a:r>
                        <a:rPr lang="en-US" sz="1800" dirty="0">
                          <a:solidFill>
                            <a:srgbClr val="000000"/>
                          </a:solidFill>
                          <a:latin typeface="Arial"/>
                          <a:cs typeface="Arial"/>
                        </a:rPr>
                        <a:t>Bài báo 2, tiêu đề</a:t>
                      </a:r>
                    </a:p>
                  </a:txBody>
                  <a:tcPr marL="73152" marR="73152" marT="45720" marB="45720" anchor="ctr">
                    <a:solidFill>
                      <a:srgbClr val="FFFFFF"/>
                    </a:solidFill>
                  </a:tcPr>
                </a:tc>
              </a:tr>
              <a:tr h="660080">
                <a:tc>
                  <a:txBody>
                    <a:bodyPr/>
                    <a:lstStyle/>
                    <a:p>
                      <a:pPr algn="l"/>
                      <a:r>
                        <a:rPr lang="en-US" sz="1800" b="1" dirty="0">
                          <a:solidFill>
                            <a:srgbClr val="000000"/>
                          </a:solidFill>
                          <a:latin typeface="Arial"/>
                          <a:cs typeface="Arial"/>
                        </a:rPr>
                        <a:t>So sánh</a:t>
                      </a:r>
                    </a:p>
                  </a:txBody>
                  <a:tcPr marL="73152" marR="73152" marT="45720" marB="45720" anchor="ctr">
                    <a:solidFill>
                      <a:srgbClr val="EAF2F5"/>
                    </a:solidFill>
                  </a:tcPr>
                </a:tc>
                <a:tc>
                  <a:txBody>
                    <a:bodyPr/>
                    <a:lstStyle/>
                    <a:p>
                      <a:pPr algn="l"/>
                      <a:r>
                        <a:rPr lang="en-US" sz="1800" dirty="0">
                          <a:solidFill>
                            <a:srgbClr val="000000"/>
                          </a:solidFill>
                          <a:latin typeface="Arial"/>
                          <a:cs typeface="Arial"/>
                        </a:rPr>
                        <a:t>Không so sánh giữa nhóm</a:t>
                      </a:r>
                    </a:p>
                  </a:txBody>
                  <a:tcPr marL="73152" marR="73152" marT="45720" marB="45720" anchor="ctr">
                    <a:solidFill>
                      <a:srgbClr val="F5F9FA"/>
                    </a:solidFill>
                  </a:tcPr>
                </a:tc>
                <a:tc>
                  <a:txBody>
                    <a:bodyPr/>
                    <a:lstStyle/>
                    <a:p>
                      <a:pPr algn="l"/>
                      <a:r>
                        <a:rPr lang="en-US" sz="1800" i="1" dirty="0">
                          <a:solidFill>
                            <a:srgbClr val="B23B2E"/>
                          </a:solidFill>
                          <a:latin typeface="Arial"/>
                          <a:cs typeface="Arial"/>
                        </a:rPr>
                        <a:t>"Người bệnh cải thiện" (chỉ trước-sau)</a:t>
                      </a:r>
                    </a:p>
                  </a:txBody>
                  <a:tcPr marL="73152" marR="73152" marT="45720" marB="45720" anchor="ctr">
                    <a:solidFill>
                      <a:srgbClr val="F5F9FA"/>
                    </a:solidFill>
                  </a:tcPr>
                </a:tc>
                <a:tc>
                  <a:txBody>
                    <a:bodyPr/>
                    <a:lstStyle/>
                    <a:p>
                      <a:pPr algn="l"/>
                      <a:r>
                        <a:rPr lang="en-US" sz="1800" dirty="0">
                          <a:solidFill>
                            <a:srgbClr val="000000"/>
                          </a:solidFill>
                          <a:latin typeface="Arial"/>
                          <a:cs typeface="Arial"/>
                        </a:rPr>
                        <a:t> </a:t>
                      </a:r>
                    </a:p>
                  </a:txBody>
                  <a:tcPr marL="73152" marR="73152" marT="45720" marB="45720" anchor="ctr">
                    <a:solidFill>
                      <a:srgbClr val="F5F9FA"/>
                    </a:solidFill>
                  </a:tcPr>
                </a:tc>
              </a:tr>
            </a:tbl>
          </a:graphicData>
        </a:graphic>
      </p:graphicFrame>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Đọc con số trước, rồi kiểm tra lời văn có khớp với chúng không.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Kiểm tra hiểu bài: tìm chỗ thổi phồng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3 phút</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Một nghiên cứu thuần tập: 'Cân bằng dịch dương làm tăng tử vong trong nhiễm khuẩn huyết'</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Kết cục chính p = 0.31: 'một xu hướng có lợi đầy hứa hẹn'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Kết cục chính không khác biệt, nhưng tiêu điểm tóm tắt lại là 'cải thiện sự hài lòng của người bệnh'</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'Tử vong giảm từ 30% xuống 22% sau quy trình dịch mới của chúng tôi' (không có nhóm chứng)</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SẢN PHẨM   </a:t>
            </a:r>
            <a:r>
              <a:rPr lang="en-US" sz="1500" dirty="0">
                <a:solidFill>
                  <a:srgbClr val="000000"/>
                </a:solidFill>
                <a:latin typeface="Arial"/>
                <a:cs typeface="Arial"/>
              </a:rPr>
              <a:t>Mỗi câu, giảng viên gọi 2-3 bạn bật micro: thổi phồng ở đâu, và bạn viết lại thế nào?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Đến lượt bạn: đọc tóm tắt Bài báo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BÀI TẬP CÁ NHÂN   |   12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Mở Bài báo 1 (Boulet 2024, Crit Care): tóm tắt ở trang 1</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Điền bảng đọc (Bài tập 3): thiết kế, P, I vs C</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Kết cục chính, số sàng lọc và số phân tích</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Kết quả chính kèm KTC 95% và giá trị p</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Kết luận có khớp với kết quả? Có thổi phồng không?</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Gõ kết cục chính và kết quả chính vào chat</a:t>
            </a:r>
          </a:p>
        </p:txBody>
      </p:sp>
      <p:sp>
        <p:nvSpPr>
          <p:cNvPr id="52" name="Side"/>
          <p:cNvSpPr/>
          <p:nvPr/>
        </p:nvSpPr>
        <p:spPr>
          <a:xfrm>
            <a:off x="7423760" y="1720000"/>
            <a:ext cx="4311040" cy="120000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B376C"/>
                </a:solidFill>
                <a:latin typeface="Arial"/>
                <a:cs typeface="Arial"/>
              </a:rPr>
              <a:t>Thời gian</a:t>
            </a:r>
          </a:p>
          <a:p>
            <a:pPr marL="0" indent="0" algn="ctr">
              <a:lnSpc>
                <a:spcPct val="104000"/>
              </a:lnSpc>
              <a:spcBef>
                <a:spcPts val="300"/>
              </a:spcBef>
              <a:buNone/>
            </a:pPr>
            <a:r>
              <a:rPr lang="en-US" sz="1500" dirty="0">
                <a:solidFill>
                  <a:srgbClr val="000000"/>
                </a:solidFill>
                <a:latin typeface="Arial"/>
                <a:cs typeface="Arial"/>
              </a:rPr>
              <a:t>8 phút tự đọc</a:t>
            </a:r>
          </a:p>
          <a:p>
            <a:pPr marL="0" indent="0" algn="ctr">
              <a:lnSpc>
                <a:spcPct val="104000"/>
              </a:lnSpc>
              <a:spcBef>
                <a:spcPts val="300"/>
              </a:spcBef>
              <a:buNone/>
            </a:pPr>
            <a:r>
              <a:rPr lang="en-US" sz="1500" dirty="0">
                <a:solidFill>
                  <a:srgbClr val="000000"/>
                </a:solidFill>
                <a:latin typeface="Arial"/>
                <a:cs typeface="Arial"/>
              </a:rPr>
              <a:t>4 phút kiểm tra trong chat</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ctr">
              <a:buNone/>
            </a:pPr>
            <a:r>
              <a:rPr lang="en-US" sz="1300" b="1" dirty="0">
                <a:solidFill>
                  <a:srgbClr val="0B376C"/>
                </a:solidFill>
                <a:latin typeface="Arial"/>
                <a:cs typeface="Arial"/>
              </a:rPr>
              <a:t>SẢN PHẨM   </a:t>
            </a:r>
            <a:r>
              <a:rPr lang="en-US" sz="1500" dirty="0">
                <a:solidFill>
                  <a:srgbClr val="000000"/>
                </a:solidFill>
                <a:latin typeface="Arial"/>
                <a:cs typeface="Arial"/>
              </a:rPr>
              <a:t>Một bảng đọc tóm tắt đã điền đủ</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Tóm tắt Bài báo 1: đáp án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217146"/>
          <a:ext cx="11277600" cy="3898560"/>
        </p:xfrm>
        <a:graphic>
          <a:graphicData uri="http://schemas.openxmlformats.org/drawingml/2006/table">
            <a:tbl>
              <a:tblPr firstRow="1" bandRow="1">
                <a:tableStyleId>{5C22544A-7EE6-4342-B048-85BDC9FD1C3A}</a:tableStyleId>
              </a:tblPr>
              <a:tblGrid>
                <a:gridCol w="2301551"/>
                <a:gridCol w="8976049"/>
              </a:tblGrid>
              <a:tr h="401000">
                <a:tc>
                  <a:txBody>
                    <a:bodyPr/>
                    <a:lstStyle/>
                    <a:p>
                      <a:pPr algn="l"/>
                      <a:r>
                        <a:rPr lang="en-US" sz="1900" b="1" dirty="0">
                          <a:solidFill>
                            <a:srgbClr val="FFFFFF"/>
                          </a:solidFill>
                          <a:latin typeface="Arial"/>
                          <a:cs typeface="Arial"/>
                        </a:rPr>
                        <a:t>Mục</a:t>
                      </a:r>
                    </a:p>
                  </a:txBody>
                  <a:tcPr marL="73152" marR="73152" marT="45720" marB="45720" anchor="ctr">
                    <a:solidFill>
                      <a:srgbClr val="0D7377"/>
                    </a:solidFill>
                  </a:tcPr>
                </a:tc>
                <a:tc>
                  <a:txBody>
                    <a:bodyPr/>
                    <a:lstStyle/>
                    <a:p>
                      <a:pPr algn="l"/>
                      <a:r>
                        <a:rPr lang="en-US" sz="1900" b="1" dirty="0">
                          <a:solidFill>
                            <a:srgbClr val="FFFFFF"/>
                          </a:solidFill>
                          <a:latin typeface="Arial"/>
                          <a:cs typeface="Arial"/>
                        </a:rPr>
                        <a:t>Bài báo 1 ghi gì</a:t>
                      </a:r>
                    </a:p>
                  </a:txBody>
                  <a:tcPr marL="73152" marR="73152" marT="45720" marB="45720" anchor="ctr">
                    <a:solidFill>
                      <a:srgbClr val="0D7377"/>
                    </a:solidFill>
                  </a:tcPr>
                </a:tc>
              </a:tr>
              <a:tr h="401000">
                <a:tc>
                  <a:txBody>
                    <a:bodyPr/>
                    <a:lstStyle/>
                    <a:p>
                      <a:pPr algn="l"/>
                      <a:r>
                        <a:rPr lang="en-US" sz="1900" b="1" dirty="0">
                          <a:solidFill>
                            <a:srgbClr val="000000"/>
                          </a:solidFill>
                          <a:latin typeface="Arial"/>
                          <a:cs typeface="Arial"/>
                        </a:rPr>
                        <a:t>Thiết kế</a:t>
                      </a:r>
                    </a:p>
                  </a:txBody>
                  <a:tcPr marL="73152" marR="73152" marT="45720" marB="45720" anchor="ctr">
                    <a:solidFill>
                      <a:srgbClr val="EAF2F5"/>
                    </a:solidFill>
                  </a:tcPr>
                </a:tc>
                <a:tc>
                  <a:txBody>
                    <a:bodyPr/>
                    <a:lstStyle/>
                    <a:p>
                      <a:pPr algn="l"/>
                      <a:r>
                        <a:rPr lang="en-US" sz="1900" dirty="0">
                          <a:solidFill>
                            <a:srgbClr val="000000"/>
                          </a:solidFill>
                          <a:latin typeface="Arial"/>
                          <a:cs typeface="Arial"/>
                        </a:rPr>
                        <a:t>RCT thí điểm (pilot RCT), mù đơn (người bệnh và nhà thống kê), 3 ICU</a:t>
                      </a:r>
                    </a:p>
                  </a:txBody>
                  <a:tcPr marL="73152" marR="73152" marT="45720" marB="45720" anchor="ctr">
                    <a:solidFill>
                      <a:srgbClr val="FFFFFF"/>
                    </a:solidFill>
                  </a:tcPr>
                </a:tc>
              </a:tr>
              <a:tr h="401000">
                <a:tc>
                  <a:txBody>
                    <a:bodyPr/>
                    <a:lstStyle/>
                    <a:p>
                      <a:pPr algn="l"/>
                      <a:r>
                        <a:rPr lang="en-US" sz="1900" b="1" dirty="0">
                          <a:solidFill>
                            <a:srgbClr val="000000"/>
                          </a:solidFill>
                          <a:latin typeface="Arial"/>
                          <a:cs typeface="Arial"/>
                        </a:rPr>
                        <a:t>P</a:t>
                      </a:r>
                    </a:p>
                  </a:txBody>
                  <a:tcPr marL="73152" marR="73152" marT="45720" marB="45720" anchor="ctr">
                    <a:solidFill>
                      <a:srgbClr val="EAF2F5"/>
                    </a:solidFill>
                  </a:tcPr>
                </a:tc>
                <a:tc>
                  <a:txBody>
                    <a:bodyPr/>
                    <a:lstStyle/>
                    <a:p>
                      <a:pPr algn="l"/>
                      <a:r>
                        <a:rPr lang="en-US" sz="1900" dirty="0">
                          <a:solidFill>
                            <a:srgbClr val="000000"/>
                          </a:solidFill>
                          <a:latin typeface="Arial"/>
                          <a:cs typeface="Arial"/>
                        </a:rPr>
                        <a:t>Người lớn 18-85 tuổi, sốc nhiễm khuẩn, 24 giờ đầu dùng vận mạch</a:t>
                      </a:r>
                    </a:p>
                  </a:txBody>
                  <a:tcPr marL="73152" marR="73152" marT="45720" marB="45720" anchor="ctr">
                    <a:solidFill>
                      <a:srgbClr val="F5F9FA"/>
                    </a:solidFill>
                  </a:tcPr>
                </a:tc>
              </a:tr>
              <a:tr h="401000">
                <a:tc>
                  <a:txBody>
                    <a:bodyPr/>
                    <a:lstStyle/>
                    <a:p>
                      <a:pPr algn="l"/>
                      <a:r>
                        <a:rPr lang="en-US" sz="1900" b="1" dirty="0">
                          <a:solidFill>
                            <a:srgbClr val="000000"/>
                          </a:solidFill>
                          <a:latin typeface="Arial"/>
                          <a:cs typeface="Arial"/>
                        </a:rPr>
                        <a:t>I vs C</a:t>
                      </a:r>
                    </a:p>
                  </a:txBody>
                  <a:tcPr marL="73152" marR="73152" marT="45720" marB="45720" anchor="ctr">
                    <a:solidFill>
                      <a:srgbClr val="EAF2F5"/>
                    </a:solidFill>
                  </a:tcPr>
                </a:tc>
                <a:tc>
                  <a:txBody>
                    <a:bodyPr/>
                    <a:lstStyle/>
                    <a:p>
                      <a:pPr algn="l"/>
                      <a:r>
                        <a:rPr lang="en-US" sz="1900" dirty="0">
                          <a:solidFill>
                            <a:srgbClr val="000000"/>
                          </a:solidFill>
                          <a:latin typeface="Arial"/>
                          <a:cs typeface="Arial"/>
                        </a:rPr>
                        <a:t>Hạn chế dịch duy trì và dịch pha thuốc (7 ngày) vs tiêu chuẩn</a:t>
                      </a:r>
                    </a:p>
                  </a:txBody>
                  <a:tcPr marL="73152" marR="73152" marT="45720" marB="45720" anchor="ctr">
                    <a:solidFill>
                      <a:srgbClr val="FFFFFF"/>
                    </a:solidFill>
                  </a:tcPr>
                </a:tc>
              </a:tr>
              <a:tr h="401000">
                <a:tc>
                  <a:txBody>
                    <a:bodyPr/>
                    <a:lstStyle/>
                    <a:p>
                      <a:pPr algn="l"/>
                      <a:r>
                        <a:rPr lang="en-US" sz="1900" b="1" dirty="0">
                          <a:solidFill>
                            <a:srgbClr val="000000"/>
                          </a:solidFill>
                          <a:latin typeface="Arial"/>
                          <a:cs typeface="Arial"/>
                        </a:rPr>
                        <a:t>Kết cục chính</a:t>
                      </a:r>
                    </a:p>
                  </a:txBody>
                  <a:tcPr marL="73152" marR="73152" marT="45720" marB="45720" anchor="ctr">
                    <a:solidFill>
                      <a:srgbClr val="EAF2F5"/>
                    </a:solidFill>
                  </a:tcPr>
                </a:tc>
                <a:tc>
                  <a:txBody>
                    <a:bodyPr/>
                    <a:lstStyle/>
                    <a:p>
                      <a:pPr algn="l"/>
                      <a:r>
                        <a:rPr lang="en-US" sz="1900" dirty="0">
                          <a:solidFill>
                            <a:srgbClr val="000000"/>
                          </a:solidFill>
                          <a:latin typeface="Arial"/>
                          <a:cs typeface="Arial"/>
                        </a:rPr>
                        <a:t>Cân bằng dịch tích lũy ngày 5 (ml/kg)</a:t>
                      </a:r>
                    </a:p>
                  </a:txBody>
                  <a:tcPr marL="73152" marR="73152" marT="45720" marB="45720" anchor="ctr">
                    <a:solidFill>
                      <a:srgbClr val="F5F9FA"/>
                    </a:solidFill>
                  </a:tcPr>
                </a:tc>
              </a:tr>
              <a:tr h="401000">
                <a:tc>
                  <a:txBody>
                    <a:bodyPr/>
                    <a:lstStyle/>
                    <a:p>
                      <a:pPr algn="l"/>
                      <a:r>
                        <a:rPr lang="en-US" sz="1900" b="1" dirty="0">
                          <a:solidFill>
                            <a:srgbClr val="000000"/>
                          </a:solidFill>
                          <a:latin typeface="Arial"/>
                          <a:cs typeface="Arial"/>
                        </a:rPr>
                        <a:t>Số lượng</a:t>
                      </a:r>
                    </a:p>
                  </a:txBody>
                  <a:tcPr marL="73152" marR="73152" marT="45720" marB="45720" anchor="ctr">
                    <a:solidFill>
                      <a:srgbClr val="EAF2F5"/>
                    </a:solidFill>
                  </a:tcPr>
                </a:tc>
                <a:tc>
                  <a:txBody>
                    <a:bodyPr/>
                    <a:lstStyle/>
                    <a:p>
                      <a:pPr algn="l"/>
                      <a:r>
                        <a:rPr lang="en-US" sz="1900" dirty="0">
                          <a:solidFill>
                            <a:srgbClr val="000000"/>
                          </a:solidFill>
                          <a:latin typeface="Arial"/>
                          <a:cs typeface="Arial"/>
                        </a:rPr>
                        <a:t>1201 sàng lọc, 50 phân nhóm, 48 phân tích (24 mỗi nhóm)</a:t>
                      </a:r>
                    </a:p>
                  </a:txBody>
                  <a:tcPr marL="73152" marR="73152" marT="45720" marB="45720" anchor="ctr">
                    <a:solidFill>
                      <a:srgbClr val="FFFFFF"/>
                    </a:solidFill>
                  </a:tcPr>
                </a:tc>
              </a:tr>
              <a:tr h="690560">
                <a:tc>
                  <a:txBody>
                    <a:bodyPr/>
                    <a:lstStyle/>
                    <a:p>
                      <a:pPr algn="l"/>
                      <a:r>
                        <a:rPr lang="en-US" sz="1900" b="1" dirty="0">
                          <a:solidFill>
                            <a:srgbClr val="000000"/>
                          </a:solidFill>
                          <a:latin typeface="Arial"/>
                          <a:cs typeface="Arial"/>
                        </a:rPr>
                        <a:t>Kết quả chính</a:t>
                      </a:r>
                    </a:p>
                  </a:txBody>
                  <a:tcPr marL="73152" marR="73152" marT="45720" marB="45720" anchor="ctr">
                    <a:solidFill>
                      <a:srgbClr val="EAF2F5"/>
                    </a:solidFill>
                  </a:tcPr>
                </a:tc>
                <a:tc>
                  <a:txBody>
                    <a:bodyPr/>
                    <a:lstStyle/>
                    <a:p>
                      <a:pPr algn="l"/>
                      <a:r>
                        <a:rPr lang="en-US" sz="1900" b="1" dirty="0">
                          <a:solidFill>
                            <a:srgbClr val="000000"/>
                          </a:solidFill>
                          <a:latin typeface="Arial"/>
                          <a:cs typeface="Arial"/>
                        </a:rPr>
                        <a:t>Trung vị 6.9 vs 35.0 ml/kg. Chênh lệch 13.2 (KTC 95% -15.2 đến 41.6), p = 0.42</a:t>
                      </a:r>
                    </a:p>
                  </a:txBody>
                  <a:tcPr marL="73152" marR="73152" marT="45720" marB="45720" anchor="ctr">
                    <a:solidFill>
                      <a:srgbClr val="F5F9FA"/>
                    </a:solidFill>
                  </a:tcPr>
                </a:tc>
              </a:tr>
              <a:tr h="401000">
                <a:tc>
                  <a:txBody>
                    <a:bodyPr/>
                    <a:lstStyle/>
                    <a:p>
                      <a:pPr algn="l"/>
                      <a:r>
                        <a:rPr lang="en-US" sz="1900" b="1" dirty="0">
                          <a:solidFill>
                            <a:srgbClr val="000000"/>
                          </a:solidFill>
                          <a:latin typeface="Arial"/>
                          <a:cs typeface="Arial"/>
                        </a:rPr>
                        <a:t>Kết luận</a:t>
                      </a:r>
                    </a:p>
                  </a:txBody>
                  <a:tcPr marL="73152" marR="73152" marT="45720" marB="45720" anchor="ctr">
                    <a:solidFill>
                      <a:srgbClr val="EAF2F5"/>
                    </a:solidFill>
                  </a:tcPr>
                </a:tc>
                <a:tc>
                  <a:txBody>
                    <a:bodyPr/>
                    <a:lstStyle/>
                    <a:p>
                      <a:pPr algn="l"/>
                      <a:r>
                        <a:rPr lang="en-US" sz="1900" dirty="0">
                          <a:solidFill>
                            <a:srgbClr val="000000"/>
                          </a:solidFill>
                          <a:latin typeface="Arial"/>
                          <a:cs typeface="Arial"/>
                        </a:rPr>
                        <a:t>Không giảm cân bằng dịch ngày 5 (khớp với kết quả)</a:t>
                      </a:r>
                    </a:p>
                  </a:txBody>
                  <a:tcPr marL="73152" marR="73152" marT="45720" marB="45720" anchor="ctr">
                    <a:solidFill>
                      <a:srgbClr val="FFFFFF"/>
                    </a:solidFill>
                  </a:tcPr>
                </a:tc>
              </a:tr>
              <a:tr h="401000">
                <a:tc>
                  <a:txBody>
                    <a:bodyPr/>
                    <a:lstStyle/>
                    <a:p>
                      <a:pPr algn="l"/>
                      <a:r>
                        <a:rPr lang="en-US" sz="1900" b="1" dirty="0">
                          <a:solidFill>
                            <a:srgbClr val="000000"/>
                          </a:solidFill>
                          <a:latin typeface="Arial"/>
                          <a:cs typeface="Arial"/>
                        </a:rPr>
                        <a:t>Đăng ký</a:t>
                      </a:r>
                    </a:p>
                  </a:txBody>
                  <a:tcPr marL="73152" marR="73152" marT="45720" marB="45720" anchor="ctr">
                    <a:solidFill>
                      <a:srgbClr val="EAF2F5"/>
                    </a:solidFill>
                  </a:tcPr>
                </a:tc>
                <a:tc>
                  <a:txBody>
                    <a:bodyPr/>
                    <a:lstStyle/>
                    <a:p>
                      <a:pPr algn="l"/>
                      <a:r>
                        <a:rPr lang="en-US" sz="1900" dirty="0">
                          <a:solidFill>
                            <a:srgbClr val="000000"/>
                          </a:solidFill>
                          <a:latin typeface="Arial"/>
                          <a:cs typeface="Arial"/>
                        </a:rPr>
                        <a:t>ClinicalTrials.gov NCT04947904</a:t>
                      </a:r>
                    </a:p>
                  </a:txBody>
                  <a:tcPr marL="73152" marR="73152" marT="45720" marB="45720" anchor="ctr">
                    <a:solidFill>
                      <a:srgbClr val="F5F9FA"/>
                    </a:solidFill>
                  </a:tcPr>
                </a:tc>
              </a:tr>
            </a:tbl>
          </a:graphicData>
        </a:graphic>
      </p:graphicFrame>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Kết cục chính là cân bằng dịch, không phải tử vong. Hãy đọc đúng điều nghiên cứu đã đo.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2.4  Từ y văn đến phần đặt vấn đề</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Các bài báo bạn đọc trở thành trang đầu tiên của đề cương.</a:t>
            </a:r>
          </a:p>
          <a:p>
            <a:pPr marL="0" indent="0" algn="ctr">
              <a:spcBef>
                <a:spcPts val="1200"/>
              </a:spcBef>
              <a:buNone/>
            </a:pPr>
            <a:r>
              <a:rPr lang="en-US" sz="1900" i="1" dirty="0">
                <a:solidFill>
                  <a:srgbClr val="595959"/>
                </a:solidFill>
                <a:latin typeface="Arial"/>
                <a:cs typeface="Arial"/>
              </a:rPr>
              <a:t>15 phút: phiếu tổng quan tài liệu, phễu đặt vấn đề, một phần đặt vấn đề mẫu, tên đề tài tạm và từ khóa</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Phiếu tổng quan tài liệu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205097"/>
          <a:ext cx="11277600" cy="3934708"/>
        </p:xfrm>
        <a:graphic>
          <a:graphicData uri="http://schemas.openxmlformats.org/drawingml/2006/table">
            <a:tbl>
              <a:tblPr firstRow="1" bandRow="1">
                <a:tableStyleId>{5C22544A-7EE6-4342-B048-85BDC9FD1C3A}</a:tableStyleId>
              </a:tblPr>
              <a:tblGrid>
                <a:gridCol w="1863255"/>
                <a:gridCol w="2157453"/>
                <a:gridCol w="2255519"/>
                <a:gridCol w="2745850"/>
                <a:gridCol w="2255523"/>
              </a:tblGrid>
              <a:tr h="380000">
                <a:tc>
                  <a:txBody>
                    <a:bodyPr/>
                    <a:lstStyle/>
                    <a:p>
                      <a:pPr algn="l"/>
                      <a:r>
                        <a:rPr lang="en-US" sz="1700" b="1" dirty="0">
                          <a:solidFill>
                            <a:srgbClr val="FFFFFF"/>
                          </a:solidFill>
                          <a:latin typeface="Arial"/>
                          <a:cs typeface="Arial"/>
                        </a:rPr>
                        <a:t>Nghiên cứu</a:t>
                      </a:r>
                    </a:p>
                  </a:txBody>
                  <a:tcPr marL="73152" marR="73152" marT="45720" marB="45720" anchor="ctr">
                    <a:solidFill>
                      <a:srgbClr val="0D7377"/>
                    </a:solidFill>
                  </a:tcPr>
                </a:tc>
                <a:tc>
                  <a:txBody>
                    <a:bodyPr/>
                    <a:lstStyle/>
                    <a:p>
                      <a:pPr algn="l"/>
                      <a:r>
                        <a:rPr lang="en-US" sz="1700" b="1" dirty="0">
                          <a:solidFill>
                            <a:srgbClr val="FFFFFF"/>
                          </a:solidFill>
                          <a:latin typeface="Arial"/>
                          <a:cs typeface="Arial"/>
                        </a:rPr>
                        <a:t>Thiết kế, cỡ mẫu</a:t>
                      </a:r>
                    </a:p>
                  </a:txBody>
                  <a:tcPr marL="73152" marR="73152" marT="45720" marB="45720" anchor="ctr">
                    <a:solidFill>
                      <a:srgbClr val="0D7377"/>
                    </a:solidFill>
                  </a:tcPr>
                </a:tc>
                <a:tc>
                  <a:txBody>
                    <a:bodyPr/>
                    <a:lstStyle/>
                    <a:p>
                      <a:pPr algn="l"/>
                      <a:r>
                        <a:rPr lang="en-US" sz="1700" b="1" dirty="0">
                          <a:solidFill>
                            <a:srgbClr val="FFFFFF"/>
                          </a:solidFill>
                          <a:latin typeface="Arial"/>
                          <a:cs typeface="Arial"/>
                        </a:rPr>
                        <a:t>So sánh</a:t>
                      </a:r>
                    </a:p>
                  </a:txBody>
                  <a:tcPr marL="73152" marR="73152" marT="45720" marB="45720" anchor="ctr">
                    <a:solidFill>
                      <a:srgbClr val="0D7377"/>
                    </a:solidFill>
                  </a:tcPr>
                </a:tc>
                <a:tc>
                  <a:txBody>
                    <a:bodyPr/>
                    <a:lstStyle/>
                    <a:p>
                      <a:pPr algn="l"/>
                      <a:r>
                        <a:rPr lang="en-US" sz="1700" b="1" dirty="0">
                          <a:solidFill>
                            <a:srgbClr val="FFFFFF"/>
                          </a:solidFill>
                          <a:latin typeface="Arial"/>
                          <a:cs typeface="Arial"/>
                        </a:rPr>
                        <a:t>Kết cục chính: kết quả</a:t>
                      </a:r>
                    </a:p>
                  </a:txBody>
                  <a:tcPr marL="73152" marR="73152" marT="45720" marB="45720" anchor="ctr">
                    <a:solidFill>
                      <a:srgbClr val="0D7377"/>
                    </a:solidFill>
                  </a:tcPr>
                </a:tc>
                <a:tc>
                  <a:txBody>
                    <a:bodyPr/>
                    <a:lstStyle/>
                    <a:p>
                      <a:pPr algn="l"/>
                      <a:r>
                        <a:rPr lang="en-US" sz="1700" b="1" dirty="0">
                          <a:solidFill>
                            <a:srgbClr val="FFFFFF"/>
                          </a:solidFill>
                          <a:latin typeface="Arial"/>
                          <a:cs typeface="Arial"/>
                        </a:rPr>
                        <a:t>Hạn chế chính</a:t>
                      </a:r>
                    </a:p>
                  </a:txBody>
                  <a:tcPr marL="73152" marR="73152" marT="45720" marB="45720" anchor="ctr">
                    <a:solidFill>
                      <a:srgbClr val="0D7377"/>
                    </a:solidFill>
                  </a:tcPr>
                </a:tc>
              </a:tr>
              <a:tr h="888677">
                <a:tc>
                  <a:txBody>
                    <a:bodyPr/>
                    <a:lstStyle/>
                    <a:p>
                      <a:pPr algn="l"/>
                      <a:r>
                        <a:rPr lang="en-US" sz="1700" b="1" dirty="0">
                          <a:solidFill>
                            <a:srgbClr val="000000"/>
                          </a:solidFill>
                          <a:latin typeface="Arial"/>
                          <a:cs typeface="Arial"/>
                        </a:rPr>
                        <a:t>Boulet 2024</a:t>
                      </a:r>
                    </a:p>
                    <a:p>
                      <a:pPr algn="l"/>
                      <a:r>
                        <a:rPr lang="en-US" sz="1700" b="1" dirty="0">
                          <a:solidFill>
                            <a:srgbClr val="000000"/>
                          </a:solidFill>
                          <a:latin typeface="Arial"/>
                          <a:cs typeface="Arial"/>
                        </a:rPr>
                        <a:t>Crit Care</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RCT thí điểm (pilot RCT), 3 ICU, n = 48</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Hạn chế dịch "ẩn" vs tiêu chuẩn</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Cân bằng dịch ngày 5: khác biệt không ý nghĩa</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Cỡ mẫu nhỏ, không đủ lực cho tử vong</a:t>
                      </a:r>
                    </a:p>
                  </a:txBody>
                  <a:tcPr marL="73152" marR="73152" marT="45720" marB="45720" anchor="ctr">
                    <a:solidFill>
                      <a:srgbClr val="FFFFFF"/>
                    </a:solidFill>
                  </a:tcPr>
                </a:tc>
              </a:tr>
              <a:tr h="888677">
                <a:tc>
                  <a:txBody>
                    <a:bodyPr/>
                    <a:lstStyle/>
                    <a:p>
                      <a:pPr algn="l"/>
                      <a:r>
                        <a:rPr lang="en-US" sz="1700" b="1" dirty="0">
                          <a:solidFill>
                            <a:srgbClr val="000000"/>
                          </a:solidFill>
                          <a:latin typeface="Arial"/>
                          <a:cs typeface="Arial"/>
                        </a:rPr>
                        <a:t>Hyun 2023</a:t>
                      </a:r>
                    </a:p>
                    <a:p>
                      <a:pPr algn="l"/>
                      <a:r>
                        <a:rPr lang="en-US" sz="1700" b="1" dirty="0">
                          <a:solidFill>
                            <a:srgbClr val="000000"/>
                          </a:solidFill>
                          <a:latin typeface="Arial"/>
                          <a:cs typeface="Arial"/>
                        </a:rPr>
                        <a:t>Ann Intensive Care</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Thuần tập ghép cặp, sổ đăng ký, 20 BV</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Cân bằng dịch dương vs âm</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Tử vong 28 ngày cao hơn nếu dương ở ngày 2-3</a:t>
                      </a:r>
                    </a:p>
                  </a:txBody>
                  <a:tcPr marL="73152" marR="73152" marT="45720" marB="45720" anchor="ctr">
                    <a:solidFill>
                      <a:srgbClr val="F5F9FA"/>
                    </a:solidFill>
                  </a:tcPr>
                </a:tc>
                <a:tc>
                  <a:txBody>
                    <a:bodyPr/>
                    <a:lstStyle/>
                    <a:p>
                      <a:pPr algn="l"/>
                      <a:r>
                        <a:rPr lang="en-US" sz="1700" dirty="0">
                          <a:solidFill>
                            <a:srgbClr val="000000"/>
                          </a:solidFill>
                          <a:latin typeface="Arial"/>
                          <a:cs typeface="Arial"/>
                        </a:rPr>
                        <a:t>Quan sát: có thể có yếu tố gây nhiễu</a:t>
                      </a:r>
                    </a:p>
                  </a:txBody>
                  <a:tcPr marL="73152" marR="73152" marT="45720" marB="45720" anchor="ctr">
                    <a:solidFill>
                      <a:srgbClr val="F5F9FA"/>
                    </a:solidFill>
                  </a:tcPr>
                </a:tc>
              </a:tr>
              <a:tr h="888677">
                <a:tc>
                  <a:txBody>
                    <a:bodyPr/>
                    <a:lstStyle/>
                    <a:p>
                      <a:pPr algn="l"/>
                      <a:r>
                        <a:rPr lang="en-US" sz="1700" b="1" dirty="0">
                          <a:solidFill>
                            <a:srgbClr val="000000"/>
                          </a:solidFill>
                          <a:latin typeface="Arial"/>
                          <a:cs typeface="Arial"/>
                        </a:rPr>
                        <a:t>Meyhoff 2022</a:t>
                      </a:r>
                    </a:p>
                    <a:p>
                      <a:pPr algn="l"/>
                      <a:r>
                        <a:rPr lang="en-US" sz="1700" b="1" dirty="0">
                          <a:solidFill>
                            <a:srgbClr val="000000"/>
                          </a:solidFill>
                          <a:latin typeface="Arial"/>
                          <a:cs typeface="Arial"/>
                        </a:rPr>
                        <a:t>N Engl J Med</a:t>
                      </a:r>
                    </a:p>
                  </a:txBody>
                  <a:tcPr marL="73152" marR="73152" marT="45720" marB="45720" anchor="ctr">
                    <a:solidFill>
                      <a:srgbClr val="EAF2F5"/>
                    </a:solidFill>
                  </a:tcPr>
                </a:tc>
                <a:tc>
                  <a:txBody>
                    <a:bodyPr/>
                    <a:lstStyle/>
                    <a:p>
                      <a:pPr algn="l"/>
                      <a:r>
                        <a:rPr lang="en-US" sz="1700" dirty="0">
                          <a:solidFill>
                            <a:srgbClr val="000000"/>
                          </a:solidFill>
                          <a:latin typeface="Arial"/>
                          <a:cs typeface="Arial"/>
                        </a:rPr>
                        <a:t>RCT lớn (CLASSIC), n = 1554</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Hạn chế vs dịch tĩnh mạch chuẩn</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Tử vong 90 ngày 42.3% vs 42.1%: không khác</a:t>
                      </a:r>
                    </a:p>
                  </a:txBody>
                  <a:tcPr marL="73152" marR="73152" marT="45720" marB="45720" anchor="ctr">
                    <a:solidFill>
                      <a:srgbClr val="FFFFFF"/>
                    </a:solidFill>
                  </a:tcPr>
                </a:tc>
                <a:tc>
                  <a:txBody>
                    <a:bodyPr/>
                    <a:lstStyle/>
                    <a:p>
                      <a:pPr algn="l"/>
                      <a:r>
                        <a:rPr lang="en-US" sz="1700" dirty="0">
                          <a:solidFill>
                            <a:srgbClr val="000000"/>
                          </a:solidFill>
                          <a:latin typeface="Arial"/>
                          <a:cs typeface="Arial"/>
                        </a:rPr>
                        <a:t>Bác sĩ không được làm mù</a:t>
                      </a:r>
                    </a:p>
                  </a:txBody>
                  <a:tcPr marL="73152" marR="73152" marT="45720" marB="45720" anchor="ctr">
                    <a:solidFill>
                      <a:srgbClr val="FFFFFF"/>
                    </a:solidFill>
                  </a:tcPr>
                </a:tc>
              </a:tr>
              <a:tr h="888677">
                <a:tc>
                  <a:txBody>
                    <a:bodyPr/>
                    <a:lstStyle/>
                    <a:p>
                      <a:pPr algn="l"/>
                      <a:r>
                        <a:rPr lang="en-US" sz="1700" b="1" dirty="0">
                          <a:solidFill>
                            <a:srgbClr val="595959"/>
                          </a:solidFill>
                          <a:latin typeface="Arial"/>
                          <a:cs typeface="Arial"/>
                        </a:rPr>
                        <a:t>Bài báo 4 của bạn</a:t>
                      </a:r>
                    </a:p>
                  </a:txBody>
                  <a:tcPr marL="73152" marR="73152" marT="45720" marB="45720" anchor="ctr">
                    <a:solidFill>
                      <a:srgbClr val="EAF2F5"/>
                    </a:solidFill>
                  </a:tcPr>
                </a:tc>
                <a:tc>
                  <a:txBody>
                    <a:bodyPr/>
                    <a:lstStyle/>
                    <a:p>
                      <a:pPr algn="l"/>
                      <a:r>
                        <a:rPr lang="en-US" sz="1700" dirty="0">
                          <a:solidFill>
                            <a:srgbClr val="595959"/>
                          </a:solidFill>
                          <a:latin typeface="Arial"/>
                          <a:cs typeface="Arial"/>
                        </a:rPr>
                        <a:t>...</a:t>
                      </a:r>
                    </a:p>
                  </a:txBody>
                  <a:tcPr marL="73152" marR="73152" marT="45720" marB="45720" anchor="ctr">
                    <a:solidFill>
                      <a:srgbClr val="F5F9FA"/>
                    </a:solidFill>
                  </a:tcPr>
                </a:tc>
                <a:tc>
                  <a:txBody>
                    <a:bodyPr/>
                    <a:lstStyle/>
                    <a:p>
                      <a:pPr algn="l"/>
                      <a:r>
                        <a:rPr lang="en-US" sz="1700" dirty="0">
                          <a:solidFill>
                            <a:srgbClr val="595959"/>
                          </a:solidFill>
                          <a:latin typeface="Arial"/>
                          <a:cs typeface="Arial"/>
                        </a:rPr>
                        <a:t>...</a:t>
                      </a:r>
                    </a:p>
                  </a:txBody>
                  <a:tcPr marL="73152" marR="73152" marT="45720" marB="45720" anchor="ctr">
                    <a:solidFill>
                      <a:srgbClr val="F5F9FA"/>
                    </a:solidFill>
                  </a:tcPr>
                </a:tc>
                <a:tc>
                  <a:txBody>
                    <a:bodyPr/>
                    <a:lstStyle/>
                    <a:p>
                      <a:pPr algn="l"/>
                      <a:r>
                        <a:rPr lang="en-US" sz="1700" dirty="0">
                          <a:solidFill>
                            <a:srgbClr val="595959"/>
                          </a:solidFill>
                          <a:latin typeface="Arial"/>
                          <a:cs typeface="Arial"/>
                        </a:rPr>
                        <a:t>...</a:t>
                      </a:r>
                    </a:p>
                  </a:txBody>
                  <a:tcPr marL="73152" marR="73152" marT="45720" marB="45720" anchor="ctr">
                    <a:solidFill>
                      <a:srgbClr val="F5F9FA"/>
                    </a:solidFill>
                  </a:tcPr>
                </a:tc>
                <a:tc>
                  <a:txBody>
                    <a:bodyPr/>
                    <a:lstStyle/>
                    <a:p>
                      <a:pPr algn="l"/>
                      <a:r>
                        <a:rPr lang="en-US" sz="1700" dirty="0">
                          <a:solidFill>
                            <a:srgbClr val="595959"/>
                          </a:solidFill>
                          <a:latin typeface="Arial"/>
                          <a:cs typeface="Arial"/>
                        </a:rPr>
                        <a:t>...</a:t>
                      </a:r>
                    </a:p>
                  </a:txBody>
                  <a:tcPr marL="73152" marR="73152" marT="45720" marB="45720" anchor="ctr">
                    <a:solidFill>
                      <a:srgbClr val="F5F9FA"/>
                    </a:solidFill>
                  </a:tcPr>
                </a:tc>
              </a:tr>
            </a:tbl>
          </a:graphicData>
        </a:graphic>
      </p:graphicFrame>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Mỗi bài một dòng: hôm nay 5 dòng, mọi bài cùng các cột.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Từ y văn đến phần Đặt vấn đề</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00" name="Box"/>
          <p:cNvSpPr/>
          <p:nvPr/>
        </p:nvSpPr>
        <p:spPr>
          <a:xfrm>
            <a:off x="472440" y="1284760"/>
            <a:ext cx="7315200" cy="1005840"/>
          </a:xfrm>
          <a:prstGeom prst="roundRect">
            <a:avLst>
              <a:gd name="adj" fmla="val 15000"/>
            </a:avLst>
          </a:prstGeom>
          <a:solidFill>
            <a:srgbClr val="5FA39B"/>
          </a:solidFill>
          <a:ln>
            <a:noFill/>
          </a:ln>
        </p:spPr>
        <p:txBody>
          <a:bodyPr wrap="square" lIns="54864" tIns="54864" rIns="54864" bIns="54864" rtlCol="0" anchor="ctr">
            <a:noAutofit/>
          </a:bodyPr>
          <a:lstStyle/>
          <a:p>
            <a:pPr marL="0" indent="0" algn="ctr">
              <a:lnSpc>
                <a:spcPct val="100000"/>
              </a:lnSpc>
              <a:buNone/>
            </a:pPr>
            <a:r>
              <a:rPr lang="en-US" sz="1800" b="1" dirty="0">
                <a:solidFill>
                  <a:srgbClr val="FFFFFF"/>
                </a:solidFill>
                <a:latin typeface="Arial"/>
                <a:cs typeface="Arial"/>
              </a:rPr>
              <a:t>Điều đã biết</a:t>
            </a:r>
          </a:p>
          <a:p>
            <a:pPr marL="0" indent="0" algn="ctr">
              <a:lnSpc>
                <a:spcPct val="100000"/>
              </a:lnSpc>
              <a:spcBef>
                <a:spcPts val="300"/>
              </a:spcBef>
              <a:buNone/>
            </a:pPr>
            <a:r>
              <a:rPr lang="en-US" sz="1500" dirty="0">
                <a:solidFill>
                  <a:srgbClr val="FFFFFF"/>
                </a:solidFill>
                <a:latin typeface="Arial"/>
                <a:cs typeface="Arial"/>
              </a:rPr>
              <a:t>Vấn đề và thực hành hiện nay, có trích dẫn</a:t>
            </a:r>
          </a:p>
        </p:txBody>
      </p:sp>
      <p:cxnSp>
        <p:nvCxnSpPr>
          <p:cNvPr id="101" name="Arrow"/>
          <p:cNvCxnSpPr/>
          <p:nvPr/>
        </p:nvCxnSpPr>
        <p:spPr>
          <a:xfrm>
            <a:off x="4130040" y="2318032"/>
            <a:ext cx="0" cy="265176"/>
          </a:xfrm>
          <a:prstGeom prst="straightConnector1">
            <a:avLst/>
          </a:prstGeom>
          <a:ln w="38100" cap="rnd">
            <a:solidFill>
              <a:srgbClr val="8A99A3"/>
            </a:solidFill>
            <a:round/>
            <a:tailEnd type="triangle" w="med" len="med"/>
          </a:ln>
        </p:spPr>
      </p:cxnSp>
      <p:sp>
        <p:nvSpPr>
          <p:cNvPr id="102" name="Box"/>
          <p:cNvSpPr/>
          <p:nvPr/>
        </p:nvSpPr>
        <p:spPr>
          <a:xfrm>
            <a:off x="1066800" y="2610640"/>
            <a:ext cx="6126480" cy="1005840"/>
          </a:xfrm>
          <a:prstGeom prst="roundRect">
            <a:avLst>
              <a:gd name="adj" fmla="val 15000"/>
            </a:avLst>
          </a:prstGeom>
          <a:solidFill>
            <a:srgbClr val="0070C0"/>
          </a:solidFill>
          <a:ln>
            <a:noFill/>
          </a:ln>
        </p:spPr>
        <p:txBody>
          <a:bodyPr wrap="square" lIns="54864" tIns="54864" rIns="54864" bIns="54864" rtlCol="0" anchor="ctr">
            <a:noAutofit/>
          </a:bodyPr>
          <a:lstStyle/>
          <a:p>
            <a:pPr marL="0" indent="0" algn="ctr">
              <a:lnSpc>
                <a:spcPct val="100000"/>
              </a:lnSpc>
              <a:buNone/>
            </a:pPr>
            <a:r>
              <a:rPr lang="en-US" sz="1800" b="1" dirty="0">
                <a:solidFill>
                  <a:srgbClr val="FFFFFF"/>
                </a:solidFill>
                <a:latin typeface="Arial"/>
                <a:cs typeface="Arial"/>
              </a:rPr>
              <a:t>Điều chưa biết</a:t>
            </a:r>
          </a:p>
          <a:p>
            <a:pPr marL="0" indent="0" algn="ctr">
              <a:lnSpc>
                <a:spcPct val="100000"/>
              </a:lnSpc>
              <a:spcBef>
                <a:spcPts val="300"/>
              </a:spcBef>
              <a:buNone/>
            </a:pPr>
            <a:r>
              <a:rPr lang="en-US" sz="1500" dirty="0">
                <a:solidFill>
                  <a:srgbClr val="FFFFFF"/>
                </a:solidFill>
                <a:latin typeface="Arial"/>
                <a:cs typeface="Arial"/>
              </a:rPr>
              <a:t>Khoảng trống: nghiên cứu mâu thuẫn, quá nhỏ hoặc chưa đo</a:t>
            </a:r>
          </a:p>
        </p:txBody>
      </p:sp>
      <p:cxnSp>
        <p:nvCxnSpPr>
          <p:cNvPr id="103" name="Arrow"/>
          <p:cNvCxnSpPr/>
          <p:nvPr/>
        </p:nvCxnSpPr>
        <p:spPr>
          <a:xfrm>
            <a:off x="4130040" y="3643912"/>
            <a:ext cx="0" cy="265176"/>
          </a:xfrm>
          <a:prstGeom prst="straightConnector1">
            <a:avLst/>
          </a:prstGeom>
          <a:ln w="38100" cap="rnd">
            <a:solidFill>
              <a:srgbClr val="8A99A3"/>
            </a:solidFill>
            <a:round/>
            <a:tailEnd type="triangle" w="med" len="med"/>
          </a:ln>
        </p:spPr>
      </p:cxnSp>
      <p:sp>
        <p:nvSpPr>
          <p:cNvPr id="104" name="Box"/>
          <p:cNvSpPr/>
          <p:nvPr/>
        </p:nvSpPr>
        <p:spPr>
          <a:xfrm>
            <a:off x="1661160" y="3936520"/>
            <a:ext cx="4937760" cy="1005840"/>
          </a:xfrm>
          <a:prstGeom prst="roundRect">
            <a:avLst>
              <a:gd name="adj" fmla="val 15000"/>
            </a:avLst>
          </a:prstGeom>
          <a:solidFill>
            <a:srgbClr val="055F56"/>
          </a:solidFill>
          <a:ln>
            <a:noFill/>
          </a:ln>
        </p:spPr>
        <p:txBody>
          <a:bodyPr wrap="square" lIns="54864" tIns="54864" rIns="54864" bIns="54864" rtlCol="0" anchor="ctr">
            <a:noAutofit/>
          </a:bodyPr>
          <a:lstStyle/>
          <a:p>
            <a:pPr marL="0" indent="0" algn="ctr">
              <a:lnSpc>
                <a:spcPct val="100000"/>
              </a:lnSpc>
              <a:buNone/>
            </a:pPr>
            <a:r>
              <a:rPr lang="en-US" sz="1800" b="1" dirty="0">
                <a:solidFill>
                  <a:srgbClr val="FFFFFF"/>
                </a:solidFill>
                <a:latin typeface="Arial"/>
                <a:cs typeface="Arial"/>
              </a:rPr>
              <a:t>Câu hỏi và mục tiêu</a:t>
            </a:r>
          </a:p>
          <a:p>
            <a:pPr marL="0" indent="0" algn="ctr">
              <a:lnSpc>
                <a:spcPct val="100000"/>
              </a:lnSpc>
              <a:spcBef>
                <a:spcPts val="300"/>
              </a:spcBef>
              <a:buNone/>
            </a:pPr>
            <a:r>
              <a:rPr lang="en-US" sz="1500" dirty="0">
                <a:solidFill>
                  <a:srgbClr val="FFFFFF"/>
                </a:solidFill>
                <a:latin typeface="Arial"/>
                <a:cs typeface="Arial"/>
              </a:rPr>
              <a:t>Câu hỏi PICO, mục đích và mục tiêu của bạn</a:t>
            </a:r>
          </a:p>
        </p:txBody>
      </p:sp>
      <p:sp>
        <p:nvSpPr>
          <p:cNvPr id="105" name="Box"/>
          <p:cNvSpPr/>
          <p:nvPr/>
        </p:nvSpPr>
        <p:spPr>
          <a:xfrm>
            <a:off x="8427720" y="1284760"/>
            <a:ext cx="3291840" cy="1737360"/>
          </a:xfrm>
          <a:prstGeom prst="roundRect">
            <a:avLst>
              <a:gd name="adj" fmla="val 8000"/>
            </a:avLst>
          </a:prstGeom>
          <a:solidFill>
            <a:srgbClr val="EAF2F5"/>
          </a:solidFill>
          <a:ln>
            <a:noFill/>
          </a:ln>
        </p:spPr>
        <p:txBody>
          <a:bodyPr wrap="square" lIns="109728" tIns="109728" rIns="109728" bIns="109728" rtlCol="0" anchor="ctr">
            <a:noAutofit/>
          </a:bodyPr>
          <a:lstStyle/>
          <a:p>
            <a:pPr marL="0" indent="0" algn="ctr">
              <a:lnSpc>
                <a:spcPct val="100000"/>
              </a:lnSpc>
              <a:buNone/>
            </a:pPr>
            <a:r>
              <a:rPr lang="en-US" sz="1600" b="1" dirty="0">
                <a:solidFill>
                  <a:srgbClr val="055F56"/>
                </a:solidFill>
                <a:latin typeface="Arial"/>
                <a:cs typeface="Arial"/>
              </a:rPr>
              <a:t>Phần Đặt vấn đề</a:t>
            </a:r>
          </a:p>
          <a:p>
            <a:pPr marL="0" indent="0" algn="ctr">
              <a:lnSpc>
                <a:spcPct val="100000"/>
              </a:lnSpc>
              <a:spcBef>
                <a:spcPts val="300"/>
              </a:spcBef>
              <a:buNone/>
            </a:pPr>
            <a:r>
              <a:rPr lang="en-US" sz="1600" dirty="0">
                <a:solidFill>
                  <a:srgbClr val="1A1A1A"/>
                </a:solidFill>
                <a:latin typeface="Arial"/>
                <a:cs typeface="Arial"/>
              </a:rPr>
              <a:t>3 đoạn ngắn</a:t>
            </a:r>
          </a:p>
          <a:p>
            <a:pPr marL="0" indent="0" algn="ctr">
              <a:lnSpc>
                <a:spcPct val="100000"/>
              </a:lnSpc>
              <a:spcBef>
                <a:spcPts val="300"/>
              </a:spcBef>
              <a:buNone/>
            </a:pPr>
            <a:r>
              <a:rPr lang="en-US" sz="1600" dirty="0">
                <a:solidFill>
                  <a:srgbClr val="1A1A1A"/>
                </a:solidFill>
                <a:latin typeface="Arial"/>
                <a:cs typeface="Arial"/>
              </a:rPr>
              <a:t>Khoảng 300 từ</a:t>
            </a:r>
          </a:p>
          <a:p>
            <a:pPr marL="0" indent="0" algn="ctr">
              <a:lnSpc>
                <a:spcPct val="100000"/>
              </a:lnSpc>
              <a:spcBef>
                <a:spcPts val="300"/>
              </a:spcBef>
              <a:buNone/>
            </a:pPr>
            <a:r>
              <a:rPr lang="en-US" sz="1600" dirty="0">
                <a:solidFill>
                  <a:srgbClr val="1A1A1A"/>
                </a:solidFill>
                <a:latin typeface="Arial"/>
                <a:cs typeface="Arial"/>
              </a:rPr>
              <a:t>Mỗi dữ kiện có trích dẫn</a:t>
            </a:r>
          </a:p>
        </p:txBody>
      </p:sp>
      <p:sp>
        <p:nvSpPr>
          <p:cNvPr id="106" name="Box"/>
          <p:cNvSpPr/>
          <p:nvPr/>
        </p:nvSpPr>
        <p:spPr>
          <a:xfrm>
            <a:off x="8427720" y="3250720"/>
            <a:ext cx="3291840" cy="1874520"/>
          </a:xfrm>
          <a:prstGeom prst="roundRect">
            <a:avLst>
              <a:gd name="adj" fmla="val 8000"/>
            </a:avLst>
          </a:prstGeom>
          <a:solidFill>
            <a:srgbClr val="FFFFFF"/>
          </a:solidFill>
          <a:ln w="25400">
            <a:solidFill>
              <a:srgbClr val="D9822B"/>
            </a:solidFill>
          </a:ln>
        </p:spPr>
        <p:txBody>
          <a:bodyPr wrap="square" lIns="109728" tIns="109728" rIns="109728" bIns="109728" rtlCol="0" anchor="ctr">
            <a:noAutofit/>
          </a:bodyPr>
          <a:lstStyle/>
          <a:p>
            <a:pPr marL="0" indent="0" algn="ctr">
              <a:lnSpc>
                <a:spcPct val="100000"/>
              </a:lnSpc>
              <a:buNone/>
            </a:pPr>
            <a:r>
              <a:rPr lang="en-US" sz="1600" b="1" dirty="0">
                <a:solidFill>
                  <a:srgbClr val="D9822B"/>
                </a:solidFill>
                <a:latin typeface="Arial"/>
                <a:cs typeface="Arial"/>
              </a:rPr>
              <a:t>Không đưa vào Đặt vấn đề</a:t>
            </a:r>
          </a:p>
          <a:p>
            <a:pPr marL="0" indent="0" algn="ctr">
              <a:lnSpc>
                <a:spcPct val="100000"/>
              </a:lnSpc>
              <a:spcBef>
                <a:spcPts val="300"/>
              </a:spcBef>
              <a:buNone/>
            </a:pPr>
            <a:r>
              <a:rPr lang="en-US" sz="1600" dirty="0">
                <a:solidFill>
                  <a:srgbClr val="1A1A1A"/>
                </a:solidFill>
                <a:latin typeface="Arial"/>
                <a:cs typeface="Arial"/>
              </a:rPr>
              <a:t>Số liệu hoặc kết quả của chính bạn</a:t>
            </a:r>
          </a:p>
          <a:p>
            <a:pPr marL="0" indent="0" algn="ctr">
              <a:lnSpc>
                <a:spcPct val="100000"/>
              </a:lnSpc>
              <a:spcBef>
                <a:spcPts val="300"/>
              </a:spcBef>
              <a:buNone/>
            </a:pPr>
            <a:r>
              <a:rPr lang="en-US" sz="1600" dirty="0">
                <a:solidFill>
                  <a:srgbClr val="1A1A1A"/>
                </a:solidFill>
                <a:latin typeface="Arial"/>
                <a:cs typeface="Arial"/>
              </a:rPr>
              <a:t>Số liệu địa phương chỉ khi đã công bố, có trích dẫn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Đã biết, rồi chưa biết, rồi câu hỏi và mục tiêu.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Một phần đặt vấn đề mẫu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00" name="Box"/>
          <p:cNvSpPr/>
          <p:nvPr/>
        </p:nvSpPr>
        <p:spPr>
          <a:xfrm>
            <a:off x="472440" y="1284760"/>
            <a:ext cx="2468880" cy="1143000"/>
          </a:xfrm>
          <a:prstGeom prst="roundRect">
            <a:avLst>
              <a:gd name="adj" fmla="val 12000"/>
            </a:avLst>
          </a:prstGeom>
          <a:solidFill>
            <a:srgbClr val="5FA39B"/>
          </a:solidFill>
          <a:ln>
            <a:noFill/>
          </a:ln>
        </p:spPr>
        <p:txBody>
          <a:bodyPr wrap="square" lIns="54864" tIns="54864" rIns="54864" bIns="54864" rtlCol="0" anchor="ctr">
            <a:noAutofit/>
          </a:bodyPr>
          <a:lstStyle/>
          <a:p>
            <a:pPr marL="0" indent="0" algn="ctr">
              <a:lnSpc>
                <a:spcPct val="100000"/>
              </a:lnSpc>
              <a:buNone/>
            </a:pPr>
            <a:r>
              <a:rPr lang="en-US" sz="1700" b="1" dirty="0">
                <a:solidFill>
                  <a:srgbClr val="FFFFFF"/>
                </a:solidFill>
                <a:latin typeface="Arial"/>
                <a:cs typeface="Arial"/>
              </a:rPr>
              <a:t>1</a:t>
            </a:r>
          </a:p>
          <a:p>
            <a:pPr marL="0" indent="0" algn="ctr">
              <a:lnSpc>
                <a:spcPct val="100000"/>
              </a:lnSpc>
              <a:spcBef>
                <a:spcPts val="100"/>
              </a:spcBef>
              <a:buNone/>
            </a:pPr>
            <a:r>
              <a:rPr lang="en-US" sz="1700" b="1" dirty="0">
                <a:solidFill>
                  <a:srgbClr val="FFFFFF"/>
                </a:solidFill>
                <a:latin typeface="Arial"/>
                <a:cs typeface="Arial"/>
              </a:rPr>
              <a:t>Điều đã biết</a:t>
            </a:r>
          </a:p>
        </p:txBody>
      </p:sp>
      <p:sp>
        <p:nvSpPr>
          <p:cNvPr id="101" name="Box"/>
          <p:cNvSpPr/>
          <p:nvPr/>
        </p:nvSpPr>
        <p:spPr>
          <a:xfrm>
            <a:off x="3078480" y="1284760"/>
            <a:ext cx="8641080" cy="1143000"/>
          </a:xfrm>
          <a:prstGeom prst="roundRect">
            <a:avLst>
              <a:gd name="adj" fmla="val 8000"/>
            </a:avLst>
          </a:prstGeom>
          <a:solidFill>
            <a:srgbClr val="EAF2F5"/>
          </a:solidFill>
          <a:ln>
            <a:noFill/>
          </a:ln>
        </p:spPr>
        <p:txBody>
          <a:bodyPr wrap="square" lIns="128016" tIns="128016" rIns="128016" bIns="128016" rtlCol="0" anchor="ctr">
            <a:noAutofit/>
          </a:bodyPr>
          <a:lstStyle/>
          <a:p>
            <a:pPr marL="0" indent="0" algn="ctr">
              <a:lnSpc>
                <a:spcPct val="100000"/>
              </a:lnSpc>
              <a:buNone/>
            </a:pPr>
            <a:r>
              <a:rPr lang="en-US" sz="1500" dirty="0">
                <a:solidFill>
                  <a:srgbClr val="1A1A1A"/>
                </a:solidFill>
                <a:latin typeface="Arial"/>
                <a:cs typeface="Arial"/>
              </a:rPr>
              <a:t>Sốc nhiễm khuẩn là nguyên nhân tử vong hàng đầu ở ICU. Dịch sớm cải thiện tưới máu, nhưng truyền tiếp thường gây cân bằng dịch dương, mà các nghiên cứu thuần tập thấy liên quan với tử vong cao hơn [2].</a:t>
            </a:r>
          </a:p>
        </p:txBody>
      </p:sp>
      <p:sp>
        <p:nvSpPr>
          <p:cNvPr id="102" name="Box"/>
          <p:cNvSpPr/>
          <p:nvPr/>
        </p:nvSpPr>
        <p:spPr>
          <a:xfrm>
            <a:off x="472440" y="2610640"/>
            <a:ext cx="2468880" cy="1143000"/>
          </a:xfrm>
          <a:prstGeom prst="roundRect">
            <a:avLst>
              <a:gd name="adj" fmla="val 12000"/>
            </a:avLst>
          </a:prstGeom>
          <a:solidFill>
            <a:srgbClr val="0070C0"/>
          </a:solidFill>
          <a:ln>
            <a:noFill/>
          </a:ln>
        </p:spPr>
        <p:txBody>
          <a:bodyPr wrap="square" lIns="54864" tIns="54864" rIns="54864" bIns="54864" rtlCol="0" anchor="ctr">
            <a:noAutofit/>
          </a:bodyPr>
          <a:lstStyle/>
          <a:p>
            <a:pPr marL="0" indent="0" algn="ctr">
              <a:lnSpc>
                <a:spcPct val="100000"/>
              </a:lnSpc>
              <a:buNone/>
            </a:pPr>
            <a:r>
              <a:rPr lang="en-US" sz="1700" b="1" dirty="0">
                <a:solidFill>
                  <a:srgbClr val="FFFFFF"/>
                </a:solidFill>
                <a:latin typeface="Arial"/>
                <a:cs typeface="Arial"/>
              </a:rPr>
              <a:t>2</a:t>
            </a:r>
          </a:p>
          <a:p>
            <a:pPr marL="0" indent="0" algn="ctr">
              <a:lnSpc>
                <a:spcPct val="100000"/>
              </a:lnSpc>
              <a:spcBef>
                <a:spcPts val="100"/>
              </a:spcBef>
              <a:buNone/>
            </a:pPr>
            <a:r>
              <a:rPr lang="en-US" sz="1700" b="1" dirty="0">
                <a:solidFill>
                  <a:srgbClr val="FFFFFF"/>
                </a:solidFill>
                <a:latin typeface="Arial"/>
                <a:cs typeface="Arial"/>
              </a:rPr>
              <a:t>Điều chưa biết</a:t>
            </a:r>
          </a:p>
        </p:txBody>
      </p:sp>
      <p:sp>
        <p:nvSpPr>
          <p:cNvPr id="103" name="Box"/>
          <p:cNvSpPr/>
          <p:nvPr/>
        </p:nvSpPr>
        <p:spPr>
          <a:xfrm>
            <a:off x="3078480" y="2610640"/>
            <a:ext cx="8641080" cy="1143000"/>
          </a:xfrm>
          <a:prstGeom prst="roundRect">
            <a:avLst>
              <a:gd name="adj" fmla="val 8000"/>
            </a:avLst>
          </a:prstGeom>
          <a:solidFill>
            <a:srgbClr val="EAF2F5"/>
          </a:solidFill>
          <a:ln>
            <a:noFill/>
          </a:ln>
        </p:spPr>
        <p:txBody>
          <a:bodyPr wrap="square" lIns="128016" tIns="128016" rIns="128016" bIns="128016" rtlCol="0" anchor="ctr">
            <a:noAutofit/>
          </a:bodyPr>
          <a:lstStyle/>
          <a:p>
            <a:pPr marL="0" indent="0" algn="ctr">
              <a:lnSpc>
                <a:spcPct val="100000"/>
              </a:lnSpc>
              <a:buNone/>
            </a:pPr>
            <a:r>
              <a:rPr lang="en-US" sz="1500" dirty="0">
                <a:solidFill>
                  <a:srgbClr val="1A1A1A"/>
                </a:solidFill>
                <a:latin typeface="Arial"/>
                <a:cs typeface="Arial"/>
              </a:rPr>
              <a:t>Các thử nghiệm lớn về hạn chế dịch không thấy khác biệt tử vong [3, 4], và một thử nghiệm thí điểm nhắm vào dịch "ẩn" không giảm có ý nghĩa cân bằng dịch [1]. Hạn chế dịch có thật sự giảm được cân bằng dịch hay không vẫn chưa rõ.</a:t>
            </a:r>
          </a:p>
        </p:txBody>
      </p:sp>
      <p:sp>
        <p:nvSpPr>
          <p:cNvPr id="104" name="Box"/>
          <p:cNvSpPr/>
          <p:nvPr/>
        </p:nvSpPr>
        <p:spPr>
          <a:xfrm>
            <a:off x="472440" y="3936520"/>
            <a:ext cx="2468880" cy="1143000"/>
          </a:xfrm>
          <a:prstGeom prst="roundRect">
            <a:avLst>
              <a:gd name="adj" fmla="val 12000"/>
            </a:avLst>
          </a:prstGeom>
          <a:solidFill>
            <a:srgbClr val="055F56"/>
          </a:solidFill>
          <a:ln>
            <a:noFill/>
          </a:ln>
        </p:spPr>
        <p:txBody>
          <a:bodyPr wrap="square" lIns="54864" tIns="54864" rIns="54864" bIns="54864" rtlCol="0" anchor="ctr">
            <a:noAutofit/>
          </a:bodyPr>
          <a:lstStyle/>
          <a:p>
            <a:pPr marL="0" indent="0" algn="ctr">
              <a:lnSpc>
                <a:spcPct val="100000"/>
              </a:lnSpc>
              <a:buNone/>
            </a:pPr>
            <a:r>
              <a:rPr lang="en-US" sz="1700" b="1" dirty="0">
                <a:solidFill>
                  <a:srgbClr val="FFFFFF"/>
                </a:solidFill>
                <a:latin typeface="Arial"/>
                <a:cs typeface="Arial"/>
              </a:rPr>
              <a:t>3</a:t>
            </a:r>
          </a:p>
          <a:p>
            <a:pPr marL="0" indent="0" algn="ctr">
              <a:lnSpc>
                <a:spcPct val="100000"/>
              </a:lnSpc>
              <a:spcBef>
                <a:spcPts val="100"/>
              </a:spcBef>
              <a:buNone/>
            </a:pPr>
            <a:r>
              <a:rPr lang="en-US" sz="1700" b="1" dirty="0">
                <a:solidFill>
                  <a:srgbClr val="FFFFFF"/>
                </a:solidFill>
                <a:latin typeface="Arial"/>
                <a:cs typeface="Arial"/>
              </a:rPr>
              <a:t>Câu hỏi và mục tiêu</a:t>
            </a:r>
          </a:p>
        </p:txBody>
      </p:sp>
      <p:sp>
        <p:nvSpPr>
          <p:cNvPr id="105" name="Box"/>
          <p:cNvSpPr/>
          <p:nvPr/>
        </p:nvSpPr>
        <p:spPr>
          <a:xfrm>
            <a:off x="3078480" y="3936520"/>
            <a:ext cx="8641080" cy="1143000"/>
          </a:xfrm>
          <a:prstGeom prst="roundRect">
            <a:avLst>
              <a:gd name="adj" fmla="val 8000"/>
            </a:avLst>
          </a:prstGeom>
          <a:solidFill>
            <a:srgbClr val="EAF2F5"/>
          </a:solidFill>
          <a:ln>
            <a:noFill/>
          </a:ln>
        </p:spPr>
        <p:txBody>
          <a:bodyPr wrap="square" lIns="128016" tIns="128016" rIns="128016" bIns="128016" rtlCol="0" anchor="ctr">
            <a:noAutofit/>
          </a:bodyPr>
          <a:lstStyle/>
          <a:p>
            <a:pPr marL="0" indent="0" algn="ctr">
              <a:lnSpc>
                <a:spcPct val="100000"/>
              </a:lnSpc>
              <a:buNone/>
            </a:pPr>
            <a:r>
              <a:rPr lang="en-US" sz="1500" dirty="0">
                <a:solidFill>
                  <a:srgbClr val="1A1A1A"/>
                </a:solidFill>
                <a:latin typeface="Arial"/>
                <a:cs typeface="Arial"/>
              </a:rPr>
              <a:t>Vì vậy chúng tôi đặt câu hỏi: ở người lớn bị sốc nhiễm khuẩn, quy trình hạn chế dịch có làm giảm cân bằng dịch ngày 5 so với thường quy không? Mục tiêu chính: so sánh cân bằng dịch ngày 5 giữa hai nhóm.</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Ba đoạn ngắn, mỗi đoạn một nhiệm vụ, mỗi dữ kiện có trích dẫn.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Tên đề tài tạm và từ khóa từ PICO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487623"/>
            <a:ext cx="3346953"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Từ PICO</a:t>
            </a:r>
          </a:p>
        </p:txBody>
      </p:sp>
      <p:sp>
        <p:nvSpPr>
          <p:cNvPr id="71" name="CardBody"/>
          <p:cNvSpPr/>
          <p:nvPr/>
        </p:nvSpPr>
        <p:spPr>
          <a:xfrm>
            <a:off x="457200" y="2127623"/>
            <a:ext cx="3346953" cy="25871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800" dirty="0">
                <a:solidFill>
                  <a:srgbClr val="000000"/>
                </a:solidFill>
                <a:latin typeface="Arial"/>
                <a:cs typeface="Arial"/>
              </a:rPr>
              <a:t>P: người lớn bị sốc nhiễm khuẩn</a:t>
            </a:r>
          </a:p>
          <a:p>
            <a:pPr marL="0" indent="0" algn="ctr">
              <a:lnSpc>
                <a:spcPct val="104000"/>
              </a:lnSpc>
              <a:spcBef>
                <a:spcPts val="400"/>
              </a:spcBef>
              <a:buNone/>
            </a:pPr>
            <a:r>
              <a:rPr lang="en-US" sz="1800" dirty="0">
                <a:solidFill>
                  <a:srgbClr val="000000"/>
                </a:solidFill>
                <a:latin typeface="Arial"/>
                <a:cs typeface="Arial"/>
              </a:rPr>
              <a:t>I: hạn chế dịch</a:t>
            </a:r>
          </a:p>
          <a:p>
            <a:pPr marL="0" indent="0" algn="ctr">
              <a:lnSpc>
                <a:spcPct val="104000"/>
              </a:lnSpc>
              <a:spcBef>
                <a:spcPts val="400"/>
              </a:spcBef>
              <a:buNone/>
            </a:pPr>
            <a:r>
              <a:rPr lang="en-US" sz="1800" dirty="0">
                <a:solidFill>
                  <a:srgbClr val="000000"/>
                </a:solidFill>
                <a:latin typeface="Arial"/>
                <a:cs typeface="Arial"/>
              </a:rPr>
              <a:t>C: dịch thường quy</a:t>
            </a:r>
          </a:p>
          <a:p>
            <a:pPr marL="0" indent="0" algn="ctr">
              <a:lnSpc>
                <a:spcPct val="104000"/>
              </a:lnSpc>
              <a:spcBef>
                <a:spcPts val="400"/>
              </a:spcBef>
              <a:buNone/>
            </a:pPr>
            <a:r>
              <a:rPr lang="en-US" sz="1800" dirty="0">
                <a:solidFill>
                  <a:srgbClr val="000000"/>
                </a:solidFill>
                <a:latin typeface="Arial"/>
                <a:cs typeface="Arial"/>
              </a:rPr>
              <a:t>O: cân bằng dịch</a:t>
            </a:r>
          </a:p>
          <a:p>
            <a:pPr marL="0" indent="0" algn="ctr">
              <a:lnSpc>
                <a:spcPct val="104000"/>
              </a:lnSpc>
              <a:spcBef>
                <a:spcPts val="400"/>
              </a:spcBef>
              <a:buNone/>
            </a:pPr>
            <a:r>
              <a:rPr lang="en-US" sz="1800" dirty="0">
                <a:solidFill>
                  <a:srgbClr val="000000"/>
                </a:solidFill>
                <a:latin typeface="Arial"/>
                <a:cs typeface="Arial"/>
              </a:rPr>
              <a:t>TK (thiết kế): RCT thí điểm (pilot RCT)</a:t>
            </a:r>
          </a:p>
        </p:txBody>
      </p:sp>
      <p:sp>
        <p:nvSpPr>
          <p:cNvPr id="72" name="CardHead"/>
          <p:cNvSpPr/>
          <p:nvPr/>
        </p:nvSpPr>
        <p:spPr>
          <a:xfrm>
            <a:off x="4004153" y="1487623"/>
            <a:ext cx="4183692"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Tên đề tài tạm (13 từ)</a:t>
            </a:r>
          </a:p>
        </p:txBody>
      </p:sp>
      <p:sp>
        <p:nvSpPr>
          <p:cNvPr id="73" name="CardBody"/>
          <p:cNvSpPr/>
          <p:nvPr/>
        </p:nvSpPr>
        <p:spPr>
          <a:xfrm>
            <a:off x="4004153" y="2127623"/>
            <a:ext cx="4183692" cy="25871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800" i="1" dirty="0">
                <a:solidFill>
                  <a:srgbClr val="000000"/>
                </a:solidFill>
                <a:latin typeface="Arial"/>
                <a:cs typeface="Arial"/>
              </a:rPr>
              <a:t>"Restrictive versus usual fluids in adults with septic shock: a pilot randomised trial"</a:t>
            </a:r>
          </a:p>
          <a:p>
            <a:pPr marL="0" indent="0" algn="ctr">
              <a:lnSpc>
                <a:spcPct val="104000"/>
              </a:lnSpc>
              <a:spcBef>
                <a:spcPts val="400"/>
              </a:spcBef>
              <a:buNone/>
            </a:pPr>
            <a:r>
              <a:rPr lang="en-US" sz="1800" dirty="0">
                <a:solidFill>
                  <a:srgbClr val="000000"/>
                </a:solidFill>
                <a:latin typeface="Arial"/>
                <a:cs typeface="Arial"/>
              </a:rPr>
              <a:t>10-16 từ, thấy rõ đối tượng, so sánh, thiết kế</a:t>
            </a:r>
          </a:p>
          <a:p>
            <a:pPr marL="0" indent="0" algn="ctr">
              <a:lnSpc>
                <a:spcPct val="104000"/>
              </a:lnSpc>
              <a:spcBef>
                <a:spcPts val="400"/>
              </a:spcBef>
              <a:buNone/>
            </a:pPr>
            <a:r>
              <a:rPr lang="en-US" sz="1800" dirty="0">
                <a:solidFill>
                  <a:srgbClr val="000000"/>
                </a:solidFill>
                <a:latin typeface="Arial"/>
                <a:cs typeface="Arial"/>
              </a:rPr>
              <a:t>Không viết tắt, không dùng 'tác động' cho dữ liệu quan sát</a:t>
            </a:r>
          </a:p>
        </p:txBody>
      </p:sp>
      <p:sp>
        <p:nvSpPr>
          <p:cNvPr id="74" name="CardHead"/>
          <p:cNvSpPr/>
          <p:nvPr/>
        </p:nvSpPr>
        <p:spPr>
          <a:xfrm>
            <a:off x="8387845" y="1487623"/>
            <a:ext cx="3346953" cy="64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Từ khóa (3-6)</a:t>
            </a:r>
          </a:p>
        </p:txBody>
      </p:sp>
      <p:sp>
        <p:nvSpPr>
          <p:cNvPr id="75" name="CardBody"/>
          <p:cNvSpPr/>
          <p:nvPr/>
        </p:nvSpPr>
        <p:spPr>
          <a:xfrm>
            <a:off x="8387845" y="2127623"/>
            <a:ext cx="3346953" cy="25871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800" b="1" dirty="0">
                <a:solidFill>
                  <a:srgbClr val="000000"/>
                </a:solidFill>
                <a:latin typeface="Arial"/>
                <a:cs typeface="Arial"/>
              </a:rPr>
              <a:t>Thuật ngữ MeSH chưa có trong tiêu đề</a:t>
            </a:r>
          </a:p>
          <a:p>
            <a:pPr marL="0" indent="0" algn="ctr">
              <a:lnSpc>
                <a:spcPct val="104000"/>
              </a:lnSpc>
              <a:spcBef>
                <a:spcPts val="400"/>
              </a:spcBef>
              <a:buNone/>
            </a:pPr>
            <a:r>
              <a:rPr lang="en-US" sz="1800" dirty="0">
                <a:solidFill>
                  <a:srgbClr val="000000"/>
                </a:solidFill>
                <a:latin typeface="Arial"/>
                <a:cs typeface="Arial"/>
              </a:rPr>
              <a:t>Fluid Therapy</a:t>
            </a:r>
          </a:p>
          <a:p>
            <a:pPr marL="0" indent="0" algn="ctr">
              <a:lnSpc>
                <a:spcPct val="104000"/>
              </a:lnSpc>
              <a:spcBef>
                <a:spcPts val="400"/>
              </a:spcBef>
              <a:buNone/>
            </a:pPr>
            <a:r>
              <a:rPr lang="en-US" sz="1800" dirty="0">
                <a:solidFill>
                  <a:srgbClr val="000000"/>
                </a:solidFill>
                <a:latin typeface="Arial"/>
                <a:cs typeface="Arial"/>
              </a:rPr>
              <a:t>Water-Electrolyte Balance</a:t>
            </a:r>
          </a:p>
          <a:p>
            <a:pPr marL="0" indent="0" algn="ctr">
              <a:lnSpc>
                <a:spcPct val="104000"/>
              </a:lnSpc>
              <a:spcBef>
                <a:spcPts val="400"/>
              </a:spcBef>
              <a:buNone/>
            </a:pPr>
            <a:r>
              <a:rPr lang="en-US" sz="1800" dirty="0">
                <a:solidFill>
                  <a:srgbClr val="000000"/>
                </a:solidFill>
                <a:latin typeface="Arial"/>
                <a:cs typeface="Arial"/>
              </a:rPr>
              <a:t>Critical Care</a:t>
            </a:r>
          </a:p>
          <a:p>
            <a:pPr marL="0" indent="0" algn="ctr">
              <a:lnSpc>
                <a:spcPct val="104000"/>
              </a:lnSpc>
              <a:spcBef>
                <a:spcPts val="400"/>
              </a:spcBef>
              <a:buNone/>
            </a:pPr>
            <a:r>
              <a:rPr lang="en-US" sz="1800" dirty="0">
                <a:solidFill>
                  <a:srgbClr val="000000"/>
                </a:solidFill>
                <a:latin typeface="Arial"/>
                <a:cs typeface="Arial"/>
              </a:rPr>
              <a:t>Vasoconstrictor Agents</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PICO đã chứa sẵn tên đề tài: thêm thiết kế và giữ ngắn gọn.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Xây dựng đề cương 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Giờ hãy tìm bằng chứng cho câu hỏi của riêng bạn: một chuỗi tìm kiếm, năm bài báo, một đoạn đặt vấn đề, một tên đề tài.</a:t>
            </a:r>
          </a:p>
          <a:p>
            <a:pPr marL="0" indent="0" algn="ctr">
              <a:spcBef>
                <a:spcPts val="1200"/>
              </a:spcBef>
              <a:buNone/>
            </a:pPr>
            <a:r>
              <a:rPr lang="en-US" sz="1900" i="1" dirty="0">
                <a:solidFill>
                  <a:srgbClr val="595959"/>
                </a:solidFill>
                <a:latin typeface="Arial"/>
                <a:cs typeface="Arial"/>
              </a:rPr>
              <a:t>35 phút: giảng viên tìm trực tiếp cho ví dụ xuyên suốt, rồi bạn tìm cho câu hỏi của mình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Xây dựng đề cương 2: bằng chứng cho câu hỏi của bạn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55F56"/>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XÂY DỰNG ĐỀ CƯƠNG   |   35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Xem giảng viên sàng lọc trực tiếp kết quả tìm kiếm của ví dụ xuyên suốt, và gợi ý bài và từ khóa trong chat</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Chạy chuỗi tìm kiếm của bạn trên PubMed. Ghi ngày và số kết quả</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Sàng lọc tiêu đề và tóm tắt, chọn 5 bài chính và lưu vào Zotero</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Điền mỗi bài một dòng trong phiếu tổng quan tài liệu</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Viết nháp đặt vấn đề (đã biết, chưa biết, câu hỏi) và tên đề tài tạm</a:t>
            </a:r>
          </a:p>
          <a:p>
            <a:pPr marL="380000" indent="-380000" algn="l">
              <a:lnSpc>
                <a:spcPct val="104000"/>
              </a:lnSpc>
              <a:spcBef>
                <a:spcPts val="450"/>
              </a:spcBef>
              <a:buClr>
                <a:srgbClr val="055F56"/>
              </a:buClr>
              <a:buFont typeface="Arial"/>
              <a:buChar char="•"/>
            </a:pPr>
            <a:r>
              <a:rPr lang="en-US" sz="1650" dirty="0">
                <a:solidFill>
                  <a:srgbClr val="000000"/>
                </a:solidFill>
                <a:latin typeface="Arial"/>
                <a:cs typeface="Arial"/>
              </a:rPr>
              <a:t>Hai bạn tình nguyện đọc to tên đề tài và câu nêu khoảng trống</a:t>
            </a:r>
          </a:p>
        </p:txBody>
      </p:sp>
      <p:sp>
        <p:nvSpPr>
          <p:cNvPr id="52" name="Side"/>
          <p:cNvSpPr/>
          <p:nvPr/>
        </p:nvSpPr>
        <p:spPr>
          <a:xfrm>
            <a:off x="7423760" y="1720000"/>
            <a:ext cx="4311040" cy="16917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55F56"/>
                </a:solidFill>
                <a:latin typeface="Arial"/>
                <a:cs typeface="Arial"/>
              </a:rPr>
              <a:t>Thời gian</a:t>
            </a:r>
          </a:p>
          <a:p>
            <a:pPr marL="0" indent="0" algn="ctr">
              <a:lnSpc>
                <a:spcPct val="104000"/>
              </a:lnSpc>
              <a:spcBef>
                <a:spcPts val="300"/>
              </a:spcBef>
              <a:buNone/>
            </a:pPr>
            <a:r>
              <a:rPr lang="en-US" sz="1500" dirty="0">
                <a:solidFill>
                  <a:srgbClr val="000000"/>
                </a:solidFill>
                <a:latin typeface="Arial"/>
                <a:cs typeface="Arial"/>
              </a:rPr>
              <a:t>0-10 phút: giảng viên làm mẫu trực tiếp</a:t>
            </a:r>
          </a:p>
          <a:p>
            <a:pPr marL="0" indent="0" algn="ctr">
              <a:lnSpc>
                <a:spcPct val="104000"/>
              </a:lnSpc>
              <a:spcBef>
                <a:spcPts val="300"/>
              </a:spcBef>
              <a:buNone/>
            </a:pPr>
            <a:r>
              <a:rPr lang="en-US" sz="1500" dirty="0">
                <a:solidFill>
                  <a:srgbClr val="000000"/>
                </a:solidFill>
                <a:latin typeface="Arial"/>
                <a:cs typeface="Arial"/>
              </a:rPr>
              <a:t>10-30 phút: bạn tự tìm và viết phần của mình</a:t>
            </a:r>
          </a:p>
          <a:p>
            <a:pPr marL="0" indent="0" algn="ctr">
              <a:lnSpc>
                <a:spcPct val="104000"/>
              </a:lnSpc>
              <a:spcBef>
                <a:spcPts val="300"/>
              </a:spcBef>
              <a:buNone/>
            </a:pPr>
            <a:r>
              <a:rPr lang="en-US" sz="1500" dirty="0">
                <a:solidFill>
                  <a:srgbClr val="000000"/>
                </a:solidFill>
                <a:latin typeface="Arial"/>
                <a:cs typeface="Arial"/>
              </a:rPr>
              <a:t>30-35 phút: hai bạn tình nguyện chia sẻ</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55F56"/>
            </a:solidFill>
          </a:ln>
        </p:spPr>
        <p:txBody>
          <a:bodyPr wrap="square" lIns="182880" tIns="45720" rIns="182880" bIns="45720" rtlCol="0" anchor="ctr">
            <a:normAutofit/>
          </a:bodyPr>
          <a:lstStyle/>
          <a:p>
            <a:pPr marL="0" indent="0" algn="ctr">
              <a:buNone/>
            </a:pPr>
            <a:r>
              <a:rPr lang="en-US" sz="1300" b="1" dirty="0">
                <a:solidFill>
                  <a:srgbClr val="055F56"/>
                </a:solidFill>
                <a:latin typeface="Arial"/>
                <a:cs typeface="Arial"/>
              </a:rPr>
              <a:t>SẢN PHẨM   </a:t>
            </a:r>
            <a:r>
              <a:rPr lang="en-US" sz="1500" dirty="0">
                <a:solidFill>
                  <a:srgbClr val="000000"/>
                </a:solidFill>
                <a:latin typeface="Arial"/>
                <a:cs typeface="Arial"/>
              </a:rPr>
              <a:t>Tiếp tục Đề cương Phần 1 của bạn: tìm kiếm, 5 tài liệu, đặt vấn đề, tên đề tài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Từ khóa của buổi học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486053"/>
          <a:ext cx="11277600" cy="3791840"/>
        </p:xfrm>
        <a:graphic>
          <a:graphicData uri="http://schemas.openxmlformats.org/drawingml/2006/table">
            <a:tbl>
              <a:tblPr firstRow="1" bandRow="1">
                <a:tableStyleId>{5C22544A-7EE6-4342-B048-85BDC9FD1C3A}</a:tableStyleId>
              </a:tblPr>
              <a:tblGrid>
                <a:gridCol w="5638800"/>
                <a:gridCol w="5638800"/>
              </a:tblGrid>
              <a:tr h="380000">
                <a:tc>
                  <a:txBody>
                    <a:bodyPr/>
                    <a:lstStyle/>
                    <a:p>
                      <a:pPr algn="l"/>
                      <a:r>
                        <a:rPr lang="en-US" sz="1500" b="1" dirty="0">
                          <a:solidFill>
                            <a:srgbClr val="FFFFFF"/>
                          </a:solidFill>
                          <a:latin typeface="Arial"/>
                          <a:cs typeface="Arial"/>
                        </a:rPr>
                        <a:t>Từ khóa</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Trong một câu</a:t>
                      </a:r>
                    </a:p>
                  </a:txBody>
                  <a:tcPr marL="73152" marR="73152" marT="45720" marB="45720" anchor="ctr">
                    <a:solidFill>
                      <a:srgbClr val="0D7377"/>
                    </a:solidFill>
                  </a:tcPr>
                </a:tc>
              </a:tr>
              <a:tr h="568640">
                <a:tc>
                  <a:txBody>
                    <a:bodyPr/>
                    <a:lstStyle/>
                    <a:p>
                      <a:pPr algn="l"/>
                      <a:r>
                        <a:rPr lang="en-US" sz="1500" dirty="0">
                          <a:solidFill>
                            <a:srgbClr val="000000"/>
                          </a:solidFill>
                          <a:latin typeface="Arial"/>
                          <a:cs typeface="Arial"/>
                        </a:rPr>
                        <a:t>MeSH</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Medical Subject Headings: một nhãn chung cho nhiều cách viết của một ý</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AND / OR / NOT</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Thu hẹp / mở rộng / loại bỏ. OR trong khối, AND giữa các khối</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Phần mềm quản lý tài liệu</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Lưu mỗi bài một lần và định dạng trích dẫn theo mọi kiểu</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Viết chắp vá</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Chép và đổi vài từ: đạo văn dù có trích dẫn</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IMRaD</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Đặt vấn đề, Phương pháp, Kết quả và Bàn luận</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Thổi phồng (spin)</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Lời văn khẳng định nhiều hơn những gì con số cho thấy</a:t>
                      </a:r>
                    </a:p>
                  </a:txBody>
                  <a:tcPr marL="73152" marR="73152" marT="45720" marB="45720" anchor="ctr">
                    <a:solidFill>
                      <a:srgbClr val="F5F9FA"/>
                    </a:solidFill>
                  </a:tcPr>
                </a:tc>
              </a:tr>
            </a:tbl>
          </a:graphicData>
        </a:graphic>
      </p:graphicFrame>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Ôn tập Buổi 2</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17823"/>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Tìm kiếm</a:t>
            </a:r>
          </a:p>
        </p:txBody>
      </p:sp>
      <p:sp>
        <p:nvSpPr>
          <p:cNvPr id="71" name="CardBody"/>
          <p:cNvSpPr/>
          <p:nvPr/>
        </p:nvSpPr>
        <p:spPr>
          <a:xfrm>
            <a:off x="457200" y="2457823"/>
            <a:ext cx="3625866" cy="15965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Khối PICO, MeSH và từ tự do</a:t>
            </a:r>
          </a:p>
          <a:p>
            <a:pPr marL="0" indent="0" algn="ctr">
              <a:lnSpc>
                <a:spcPct val="104000"/>
              </a:lnSpc>
              <a:spcBef>
                <a:spcPts val="400"/>
              </a:spcBef>
              <a:buNone/>
            </a:pPr>
            <a:r>
              <a:rPr lang="en-US" sz="1750" dirty="0">
                <a:solidFill>
                  <a:srgbClr val="000000"/>
                </a:solidFill>
                <a:latin typeface="Arial"/>
                <a:cs typeface="Arial"/>
              </a:rPr>
              <a:t>OR trong khối, AND giữa các khối</a:t>
            </a:r>
          </a:p>
          <a:p>
            <a:pPr marL="0" indent="0" algn="ctr">
              <a:lnSpc>
                <a:spcPct val="104000"/>
              </a:lnSpc>
              <a:spcBef>
                <a:spcPts val="400"/>
              </a:spcBef>
              <a:buNone/>
            </a:pPr>
            <a:r>
              <a:rPr lang="en-US" sz="1750" dirty="0">
                <a:solidFill>
                  <a:srgbClr val="000000"/>
                </a:solidFill>
                <a:latin typeface="Arial"/>
                <a:cs typeface="Arial"/>
              </a:rPr>
              <a:t>Ghi lại chiến lược tìm kiếm</a:t>
            </a:r>
          </a:p>
        </p:txBody>
      </p:sp>
      <p:sp>
        <p:nvSpPr>
          <p:cNvPr id="72" name="CardHead"/>
          <p:cNvSpPr/>
          <p:nvPr/>
        </p:nvSpPr>
        <p:spPr>
          <a:xfrm>
            <a:off x="4283066" y="1817823"/>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Trích dẫn trung thực</a:t>
            </a:r>
          </a:p>
        </p:txBody>
      </p:sp>
      <p:sp>
        <p:nvSpPr>
          <p:cNvPr id="73" name="CardBody"/>
          <p:cNvSpPr/>
          <p:nvPr/>
        </p:nvSpPr>
        <p:spPr>
          <a:xfrm>
            <a:off x="4283066" y="2457823"/>
            <a:ext cx="3625866" cy="15965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Zotero từ ngày đầu</a:t>
            </a:r>
          </a:p>
          <a:p>
            <a:pPr marL="0" indent="0" algn="ctr">
              <a:lnSpc>
                <a:spcPct val="104000"/>
              </a:lnSpc>
              <a:spcBef>
                <a:spcPts val="400"/>
              </a:spcBef>
              <a:buNone/>
            </a:pPr>
            <a:r>
              <a:rPr lang="en-US" sz="1750" dirty="0">
                <a:solidFill>
                  <a:srgbClr val="000000"/>
                </a:solidFill>
                <a:latin typeface="Arial"/>
                <a:cs typeface="Arial"/>
              </a:rPr>
              <a:t>Lời của chính mình</a:t>
            </a:r>
          </a:p>
          <a:p>
            <a:pPr marL="0" indent="0" algn="ctr">
              <a:lnSpc>
                <a:spcPct val="104000"/>
              </a:lnSpc>
              <a:spcBef>
                <a:spcPts val="400"/>
              </a:spcBef>
              <a:buNone/>
            </a:pPr>
            <a:r>
              <a:rPr lang="en-US" sz="1750" dirty="0">
                <a:solidFill>
                  <a:srgbClr val="000000"/>
                </a:solidFill>
                <a:latin typeface="Arial"/>
                <a:cs typeface="Arial"/>
              </a:rPr>
              <a:t>Đọc bài mình trích dẫn</a:t>
            </a:r>
          </a:p>
        </p:txBody>
      </p:sp>
      <p:sp>
        <p:nvSpPr>
          <p:cNvPr id="74" name="CardHead"/>
          <p:cNvSpPr/>
          <p:nvPr/>
        </p:nvSpPr>
        <p:spPr>
          <a:xfrm>
            <a:off x="8108932" y="1817823"/>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Đọc thông minh</a:t>
            </a:r>
          </a:p>
        </p:txBody>
      </p:sp>
      <p:sp>
        <p:nvSpPr>
          <p:cNvPr id="75" name="CardBody"/>
          <p:cNvSpPr/>
          <p:nvPr/>
        </p:nvSpPr>
        <p:spPr>
          <a:xfrm>
            <a:off x="8108932" y="2457823"/>
            <a:ext cx="3625866" cy="159652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Tiêu đề, tóm tắt, hình bảng, phương pháp</a:t>
            </a:r>
          </a:p>
          <a:p>
            <a:pPr marL="0" indent="0" algn="ctr">
              <a:lnSpc>
                <a:spcPct val="104000"/>
              </a:lnSpc>
              <a:spcBef>
                <a:spcPts val="400"/>
              </a:spcBef>
              <a:buNone/>
            </a:pPr>
            <a:r>
              <a:rPr lang="en-US" sz="1750" dirty="0">
                <a:solidFill>
                  <a:srgbClr val="000000"/>
                </a:solidFill>
                <a:latin typeface="Arial"/>
                <a:cs typeface="Arial"/>
              </a:rPr>
              <a:t>Con số trước lời văn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Xong Tuần 1-2: bạn có câu hỏi, năm bài báo và tên đề tài.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Câu hỏi cuối buổi (trong chat)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2 phút</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Trả lời trong chat trước khi rời lớp</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Câu 1: chuỗi nào cho nhiều kết quả hơn: septic shock AND fluids, hay septic shock OR fluids?</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Câu 2: kết cục chính của Bài báo 1 là gì?</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SẢN PHẨM   </a:t>
            </a:r>
            <a:r>
              <a:rPr lang="en-US" sz="1500" dirty="0">
                <a:solidFill>
                  <a:srgbClr val="000000"/>
                </a:solidFill>
                <a:latin typeface="Arial"/>
                <a:cs typeface="Arial"/>
              </a:rPr>
              <a:t>Mỗi người một câu trả lời ngắn trong chat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Bài về nhà trước Buổi 3 (thứ Bảy tuần sau)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BÀI TẬP CÁ NHÂN</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Hoàn thành 5 tài liệu chính, các dòng phiếu tổng quan và phần đặt vấn đề</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Đọc một bài của bạn theo quy trình 15 phút</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Đọc tóm tắt Bài báo 2 (Hyun 2023) với bảng đọc (Bài tập 3)</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Bài tập 2 (diễn đạt lại), làm ở nhà</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Không bắt buộc: tra Bài báo 1 (NCT04947904) trên ClinicalTrials.gov</a:t>
            </a:r>
          </a:p>
        </p:txBody>
      </p:sp>
      <p:sp>
        <p:nvSpPr>
          <p:cNvPr id="52" name="Side"/>
          <p:cNvSpPr/>
          <p:nvPr/>
        </p:nvSpPr>
        <p:spPr>
          <a:xfrm>
            <a:off x="7423760" y="1720000"/>
            <a:ext cx="4311040" cy="120000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B376C"/>
                </a:solidFill>
                <a:latin typeface="Arial"/>
                <a:cs typeface="Arial"/>
              </a:rPr>
              <a:t>Sẵn sàng cho thứ Bảy tuần sau</a:t>
            </a:r>
          </a:p>
          <a:p>
            <a:pPr marL="0" indent="0" algn="ctr">
              <a:lnSpc>
                <a:spcPct val="104000"/>
              </a:lnSpc>
              <a:spcBef>
                <a:spcPts val="300"/>
              </a:spcBef>
              <a:buNone/>
            </a:pPr>
            <a:r>
              <a:rPr lang="en-US" sz="1500" dirty="0">
                <a:solidFill>
                  <a:srgbClr val="000000"/>
                </a:solidFill>
                <a:latin typeface="Arial"/>
                <a:cs typeface="Arial"/>
              </a:rPr>
              <a:t>Đề cương Phần 1 của bạn</a:t>
            </a:r>
          </a:p>
          <a:p>
            <a:pPr marL="0" indent="0" algn="ctr">
              <a:lnSpc>
                <a:spcPct val="104000"/>
              </a:lnSpc>
              <a:spcBef>
                <a:spcPts val="300"/>
              </a:spcBef>
              <a:buNone/>
            </a:pPr>
            <a:r>
              <a:rPr lang="en-US" sz="1500" dirty="0">
                <a:solidFill>
                  <a:srgbClr val="000000"/>
                </a:solidFill>
                <a:latin typeface="Arial"/>
                <a:cs typeface="Arial"/>
              </a:rPr>
              <a:t>Phiếu tổng quan tài liệu của bạn</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ctr">
              <a:buNone/>
            </a:pPr>
            <a:r>
              <a:rPr lang="en-US" sz="1300" b="1" dirty="0">
                <a:solidFill>
                  <a:srgbClr val="0B376C"/>
                </a:solidFill>
                <a:latin typeface="Arial"/>
                <a:cs typeface="Arial"/>
              </a:rPr>
              <a:t>SẢN PHẨM   </a:t>
            </a:r>
            <a:r>
              <a:rPr lang="en-US" sz="1500" dirty="0">
                <a:solidFill>
                  <a:srgbClr val="000000"/>
                </a:solidFill>
                <a:latin typeface="Arial"/>
                <a:cs typeface="Arial"/>
              </a:rPr>
              <a:t>Đề cương Phần 1 hoàn chỉnh trước Buổi 3</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Slide bổ sung: Buổi 2</a:t>
            </a:r>
          </a:p>
          <a:p>
            <a:pPr marL="0" indent="0" algn="ctr">
              <a:spcBef>
                <a:spcPts val="1200"/>
              </a:spcBef>
              <a:buNone/>
            </a:pPr>
            <a:r>
              <a:rPr lang="en-US" sz="1900" i="1" dirty="0">
                <a:solidFill>
                  <a:srgbClr val="595959"/>
                </a:solidFill>
                <a:latin typeface="Arial"/>
                <a:cs typeface="Arial"/>
              </a:rPr>
              <a:t>Dùng nếu còn thời gian, hoặc để tự học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Ngoài PubMed: những nơi khác để tìm</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409853"/>
          <a:ext cx="11277600" cy="402044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500" b="1" dirty="0">
                          <a:solidFill>
                            <a:srgbClr val="FFFFFF"/>
                          </a:solidFill>
                          <a:latin typeface="Arial"/>
                          <a:cs typeface="Arial"/>
                        </a:rPr>
                        <a:t>Cơ sở dữ liệu</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Phạm vi</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Truy cập</a:t>
                      </a:r>
                    </a:p>
                  </a:txBody>
                  <a:tcPr marL="73152" marR="73152" marT="45720" marB="45720" anchor="ctr">
                    <a:solidFill>
                      <a:srgbClr val="0D7377"/>
                    </a:solidFill>
                  </a:tcPr>
                </a:tc>
              </a:tr>
              <a:tr h="797240">
                <a:tc>
                  <a:txBody>
                    <a:bodyPr/>
                    <a:lstStyle/>
                    <a:p>
                      <a:pPr algn="l"/>
                      <a:r>
                        <a:rPr lang="en-US" sz="1500" dirty="0">
                          <a:solidFill>
                            <a:srgbClr val="000000"/>
                          </a:solidFill>
                          <a:latin typeface="Arial"/>
                          <a:cs typeface="Arial"/>
                        </a:rPr>
                        <a:t>Thư viện Cochrane</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Tổng quan hệ thống của Cochrane (CDSR) và sổ thử nghiệm có đối chứng (CENTRAL)</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Tìm và đọc tóm tắt miễn phí</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Embase</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Cơ sở dữ liệu y sinh lớn, mạnh về thuốc và tóm tắt hội nghị</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Trả phí</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Web of Science, Scopus</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Nhiều ngành, có liên kết tới các bài trích dẫn mỗi bài</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Trả phí</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CINAHL</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Điều dưỡng và các ngành sức khỏe liên quan</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Trả phí</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Epistemonikos</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Tổng quan hệ thống về sức khỏe, nhiều ngôn ngữ</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Miễn phí</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Sổ đăng ký</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Thử nghiệm: ClinicalTrials.gov, WHO ICTRP. Tổng quan: PROSPERO</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Miễn phí</a:t>
                      </a:r>
                    </a:p>
                  </a:txBody>
                  <a:tcPr marL="73152" marR="73152" marT="45720" marB="45720" anchor="ctr">
                    <a:solidFill>
                      <a:srgbClr val="F5F9FA"/>
                    </a:solidFill>
                  </a:tcPr>
                </a:tc>
              </a:tr>
            </a:tbl>
          </a:graphicData>
        </a:graphic>
      </p:graphicFrame>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PubMed Clinical Queries: bộ lọc có sẵn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28644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Mở</a:t>
            </a:r>
          </a:p>
        </p:txBody>
      </p:sp>
      <p:sp>
        <p:nvSpPr>
          <p:cNvPr id="81" name="StepText"/>
          <p:cNvSpPr/>
          <p:nvPr/>
        </p:nvSpPr>
        <p:spPr>
          <a:xfrm>
            <a:off x="497200" y="2140000"/>
            <a:ext cx="27244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Trang chủ PubMed</a:t>
            </a:r>
          </a:p>
          <a:p>
            <a:pPr marL="0" indent="0" algn="ctr">
              <a:lnSpc>
                <a:spcPct val="104000"/>
              </a:lnSpc>
              <a:spcBef>
                <a:spcPts val="200"/>
              </a:spcBef>
              <a:buNone/>
            </a:pPr>
            <a:r>
              <a:rPr lang="en-US" sz="1500" dirty="0">
                <a:solidFill>
                  <a:srgbClr val="000000"/>
                </a:solidFill>
                <a:latin typeface="Arial"/>
                <a:cs typeface="Arial"/>
              </a:rPr>
              <a:t>Clinical Queries, mục Find</a:t>
            </a:r>
          </a:p>
        </p:txBody>
      </p:sp>
      <p:sp>
        <p:nvSpPr>
          <p:cNvPr id="82" name="Step"/>
          <p:cNvSpPr/>
          <p:nvPr/>
        </p:nvSpPr>
        <p:spPr>
          <a:xfrm>
            <a:off x="3261600" y="1220000"/>
            <a:ext cx="28644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Gõ</a:t>
            </a:r>
          </a:p>
        </p:txBody>
      </p:sp>
      <p:sp>
        <p:nvSpPr>
          <p:cNvPr id="83" name="StepText"/>
          <p:cNvSpPr/>
          <p:nvPr/>
        </p:nvSpPr>
        <p:spPr>
          <a:xfrm>
            <a:off x="3301600" y="2140000"/>
            <a:ext cx="27244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Từ khóa chủ đề</a:t>
            </a:r>
          </a:p>
          <a:p>
            <a:pPr marL="0" indent="0" algn="ctr">
              <a:lnSpc>
                <a:spcPct val="104000"/>
              </a:lnSpc>
              <a:spcBef>
                <a:spcPts val="200"/>
              </a:spcBef>
              <a:buNone/>
            </a:pPr>
            <a:r>
              <a:rPr lang="en-US" sz="1500" dirty="0">
                <a:solidFill>
                  <a:srgbClr val="000000"/>
                </a:solidFill>
                <a:latin typeface="Arial"/>
                <a:cs typeface="Arial"/>
              </a:rPr>
              <a:t>Ví dụ septic shock fluid restriction</a:t>
            </a:r>
          </a:p>
        </p:txBody>
      </p:sp>
      <p:sp>
        <p:nvSpPr>
          <p:cNvPr id="84" name="Step"/>
          <p:cNvSpPr/>
          <p:nvPr/>
        </p:nvSpPr>
        <p:spPr>
          <a:xfrm>
            <a:off x="6066000" y="1220000"/>
            <a:ext cx="28644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Chọn</a:t>
            </a:r>
          </a:p>
        </p:txBody>
      </p:sp>
      <p:sp>
        <p:nvSpPr>
          <p:cNvPr id="85" name="StepText"/>
          <p:cNvSpPr/>
          <p:nvPr/>
        </p:nvSpPr>
        <p:spPr>
          <a:xfrm>
            <a:off x="6106000" y="2140000"/>
            <a:ext cx="27244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Loại: điều trị, chẩn đoán, nguyên nhân hoặc tiên lượng</a:t>
            </a:r>
          </a:p>
        </p:txBody>
      </p:sp>
      <p:sp>
        <p:nvSpPr>
          <p:cNvPr id="86" name="Step"/>
          <p:cNvSpPr/>
          <p:nvPr/>
        </p:nvSpPr>
        <p:spPr>
          <a:xfrm>
            <a:off x="8870400" y="1220000"/>
            <a:ext cx="28644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Phạm vi</a:t>
            </a:r>
          </a:p>
        </p:txBody>
      </p:sp>
      <p:sp>
        <p:nvSpPr>
          <p:cNvPr id="87" name="StepText"/>
          <p:cNvSpPr/>
          <p:nvPr/>
        </p:nvSpPr>
        <p:spPr>
          <a:xfrm>
            <a:off x="8910400" y="2140000"/>
            <a:ext cx="272440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Rộng: tìm được nhiều hơn</a:t>
            </a:r>
          </a:p>
          <a:p>
            <a:pPr marL="0" indent="0" algn="ctr">
              <a:lnSpc>
                <a:spcPct val="104000"/>
              </a:lnSpc>
              <a:spcBef>
                <a:spcPts val="200"/>
              </a:spcBef>
              <a:buNone/>
            </a:pPr>
            <a:r>
              <a:rPr lang="en-US" sz="1500" dirty="0">
                <a:solidFill>
                  <a:srgbClr val="000000"/>
                </a:solidFill>
                <a:latin typeface="Arial"/>
                <a:cs typeface="Arial"/>
              </a:rPr>
              <a:t>Hẹp: chính xác hơn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Lối tắt nhanh để hỏi 'có bằng chứng tốt không?', không thay thế tìm kiếm của bạn.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Trình diễn tùy chọn: Google Scholar và 'Cited by'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TRÌNH DIỄN TRỰC TIẾP   |   3 phút</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Tìm: restrictive fluid septic shock mortality</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Xem: tạp chí, luận văn, bản thảo trước in, xếp hạng bằng thuật toán ẩn</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Dưới một thử nghiệm chính, bấm 'Cited by', rồi tìm trong các bài trích dẫn</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Bấm biểu tượng ngoặc kép để xem các định dạng xuất</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ctr">
              <a:buNone/>
            </a:pPr>
            <a:r>
              <a:rPr lang="en-US" sz="1300" b="1" dirty="0">
                <a:solidFill>
                  <a:srgbClr val="B5651D"/>
                </a:solidFill>
                <a:latin typeface="Arial"/>
                <a:cs typeface="Arial"/>
              </a:rPr>
              <a:t>SẢN PHẨM   </a:t>
            </a:r>
            <a:r>
              <a:rPr lang="en-US" sz="1500" dirty="0">
                <a:solidFill>
                  <a:srgbClr val="000000"/>
                </a:solidFill>
                <a:latin typeface="Arial"/>
                <a:cs typeface="Arial"/>
              </a:rPr>
              <a:t>Học viên thấy Scholar bổ sung gì và thiếu gì</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Tái sử dụng văn bản, công cụ AI và kiểm tra trùng lặp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16666"/>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Tái sử dụng văn bản</a:t>
            </a:r>
          </a:p>
        </p:txBody>
      </p:sp>
      <p:sp>
        <p:nvSpPr>
          <p:cNvPr id="71" name="CardBody"/>
          <p:cNvSpPr/>
          <p:nvPr/>
        </p:nvSpPr>
        <p:spPr>
          <a:xfrm>
            <a:off x="457200" y="2556666"/>
            <a:ext cx="2669400"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Dùng lại câu chữ đã công bố của mình</a:t>
            </a:r>
          </a:p>
          <a:p>
            <a:pPr marL="0" indent="0" algn="ctr">
              <a:lnSpc>
                <a:spcPct val="104000"/>
              </a:lnSpc>
              <a:spcBef>
                <a:spcPts val="400"/>
              </a:spcBef>
              <a:buNone/>
            </a:pPr>
            <a:r>
              <a:rPr lang="en-US" sz="1600" dirty="0">
                <a:solidFill>
                  <a:srgbClr val="000000"/>
                </a:solidFill>
                <a:latin typeface="Arial"/>
                <a:cs typeface="Arial"/>
              </a:rPr>
              <a:t>Xem chính sách tạp chí</a:t>
            </a:r>
          </a:p>
        </p:txBody>
      </p:sp>
      <p:sp>
        <p:nvSpPr>
          <p:cNvPr id="72" name="CardHead"/>
          <p:cNvSpPr/>
          <p:nvPr/>
        </p:nvSpPr>
        <p:spPr>
          <a:xfrm>
            <a:off x="3326600" y="1916666"/>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AI viết lại câu</a:t>
            </a:r>
          </a:p>
        </p:txBody>
      </p:sp>
      <p:sp>
        <p:nvSpPr>
          <p:cNvPr id="73" name="CardBody"/>
          <p:cNvSpPr/>
          <p:nvPr/>
        </p:nvSpPr>
        <p:spPr>
          <a:xfrm>
            <a:off x="3326600" y="2556666"/>
            <a:ext cx="2669400"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Không xóa được đạo văn</a:t>
            </a:r>
          </a:p>
          <a:p>
            <a:pPr marL="0" indent="0" algn="ctr">
              <a:lnSpc>
                <a:spcPct val="104000"/>
              </a:lnSpc>
              <a:spcBef>
                <a:spcPts val="400"/>
              </a:spcBef>
              <a:buNone/>
            </a:pPr>
            <a:r>
              <a:rPr lang="en-US" sz="1600" dirty="0">
                <a:solidFill>
                  <a:srgbClr val="000000"/>
                </a:solidFill>
                <a:latin typeface="Arial"/>
                <a:cs typeface="Arial"/>
              </a:rPr>
              <a:t>Bạn vẫn chịu trách nhiệm</a:t>
            </a:r>
          </a:p>
        </p:txBody>
      </p:sp>
      <p:sp>
        <p:nvSpPr>
          <p:cNvPr id="74" name="CardHead"/>
          <p:cNvSpPr/>
          <p:nvPr/>
        </p:nvSpPr>
        <p:spPr>
          <a:xfrm>
            <a:off x="6196000" y="1916666"/>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Tài liệu do AI</a:t>
            </a:r>
          </a:p>
        </p:txBody>
      </p:sp>
      <p:sp>
        <p:nvSpPr>
          <p:cNvPr id="75" name="CardBody"/>
          <p:cNvSpPr/>
          <p:nvPr/>
        </p:nvSpPr>
        <p:spPr>
          <a:xfrm>
            <a:off x="6196000" y="2556666"/>
            <a:ext cx="2669400"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Có thể bị bịa</a:t>
            </a:r>
          </a:p>
          <a:p>
            <a:pPr marL="0" indent="0" algn="ctr">
              <a:lnSpc>
                <a:spcPct val="104000"/>
              </a:lnSpc>
              <a:spcBef>
                <a:spcPts val="400"/>
              </a:spcBef>
              <a:buNone/>
            </a:pPr>
            <a:r>
              <a:rPr lang="en-US" sz="1600" dirty="0">
                <a:solidFill>
                  <a:srgbClr val="000000"/>
                </a:solidFill>
                <a:latin typeface="Arial"/>
                <a:cs typeface="Arial"/>
              </a:rPr>
              <a:t>Tìm từng tài liệu trên PubMed</a:t>
            </a:r>
          </a:p>
        </p:txBody>
      </p:sp>
      <p:sp>
        <p:nvSpPr>
          <p:cNvPr id="76" name="CardHead"/>
          <p:cNvSpPr/>
          <p:nvPr/>
        </p:nvSpPr>
        <p:spPr>
          <a:xfrm>
            <a:off x="9065400" y="1916666"/>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Kiểm tra trùng lặp</a:t>
            </a:r>
          </a:p>
        </p:txBody>
      </p:sp>
      <p:sp>
        <p:nvSpPr>
          <p:cNvPr id="77" name="CardBody"/>
          <p:cNvSpPr/>
          <p:nvPr/>
        </p:nvSpPr>
        <p:spPr>
          <a:xfrm>
            <a:off x="9065400" y="2556666"/>
            <a:ext cx="2669400" cy="130000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Tạp chí sàng lọc bài nộp để tìm văn bản sao chép</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Viết từ hiểu biết, trích dẫn những gì bạn dùng, và tự kiểm tra mọi tài liệu.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Arial"/>
                <a:cs typeface="Arial"/>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