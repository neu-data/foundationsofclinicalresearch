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MỞ ĐẦU BUỔI 2 (0:00).</a:t>
            </a:r>
          </a:p>
          <a:p>
            <a:r>
              <a:rPr lang="en-US" sz="1400" b="0" dirty="0"/>
              <a:t>Ý chính: thứ Bảy tuần trước mỗi nhóm đã viết một câu hỏi; hôm nay ta tìm xem điều gì đã được biết về câu hỏi đó, lưu tài liệu tham khảo an toàn, và đọc bài báo hiệu quả.</a:t>
            </a:r>
          </a:p>
          <a:p>
            <a:r>
              <a:rPr lang="en-US" sz="1400" b="0" dirty="0"/>
              <a:t>Nhịp độ: chậm hơn vẻ ngoài. Phần nào cũng có trình diễn hoặc bài tập. Dùng các slide 'Kiểm tra hiểu bài': đó là lúc phát hiện ai bị lạc.</a:t>
            </a:r>
          </a:p>
          <a:p>
            <a:r>
              <a:rPr lang="en-US" sz="1400" b="0" dirty="0"/>
              <a:t>Kiểm tra thực tế trước khi bắt đầu: mỗi nhóm có câu hỏi PICO, danh sách từ đồng nghĩa (bài về nhà) và ít nhất một laptop hoặc điện thoại.</a:t>
            </a:r>
          </a:p>
          <a:p>
            <a:r>
              <a:rPr lang="en-US" sz="1400" b="0" dirty="0"/>
              <a:t>Thời gian: 1 phút, rồi câu hỏi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ÔN TẬP (0:00-0:10). Làm cá nhân trên giấy, 6 phút; rồi 2 phút so sánh với người bên cạnh. Đáp án ở slide sau.</a:t>
            </a:r>
          </a:p>
          <a:p>
            <a:r>
              <a:rPr lang="en-US" sz="1400" b="0" dirty="0"/>
              <a:t>Bài này cũng khơi lại từ vựng thứ Bảy tuần trước cho buổi tìm kiếm hôm nay.</a:t>
            </a:r>
          </a:p>
          <a:p>
            <a:r>
              <a:rPr lang="en-US" sz="1400" b="0" dirty="0"/>
              <a:t>Người đến muộn: cho tham gia từ câu 2.</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đáp án trong 2 phút. Hỏi giơ tay: ai đúng 4 hoặc 5 câu?</a:t>
            </a:r>
          </a:p>
          <a:p>
            <a:r>
              <a:rPr lang="en-US" sz="1400" b="0" dirty="0"/>
              <a:t>Nếu nhiều người sai câu 4 hoặc 5, dành thêm một phút: mục tiêu dùng động từ đo được; H0 luôn nói 'không khác biệt'.</a:t>
            </a:r>
          </a:p>
          <a:p>
            <a:r>
              <a:rPr lang="en-US" sz="1400" b="0" dirty="0"/>
              <a:t>Thời gian: 2 phút. Phần 2.1 bắt đầu lúc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2.1 (0:10-0:50).</a:t>
            </a:r>
          </a:p>
          <a:p>
            <a:r>
              <a:rPr lang="en-US" sz="1400" b="0" dirty="0"/>
              <a:t>Ý chính: tìm y văn quyết định câu hỏi có mới không, cung cấp tổng quan cho phần đặt vấn đề, và cho thấy người khác đo kết cục thế nào.</a:t>
            </a:r>
          </a:p>
          <a:p>
            <a:r>
              <a:rPr lang="en-US" sz="1400" b="0" dirty="0"/>
              <a:t>Hỏi cả lớp: 'Khi cần bằng chứng nhanh, bạn thường làm gì?' Trả lời thật: Google, hỏi đồng nghiệp, UpToDate, hướng dẫn điều trị. Đều ổn cho chăm sóc, nhưng đề cương cần một chiến lược tìm kiếm được ghi lại.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xuống theo phễu: toàn bộ PubMed, một từ khóa, các khối PICO có cấu trúc, bộ lọc, người đọc sàng lọc, còn lại vài bài chính.</a:t>
            </a:r>
          </a:p>
          <a:p>
            <a:r>
              <a:rPr lang="en-US" sz="1400" b="0" dirty="0"/>
              <a:t>Các con số chỉ là bậc độ lớn và thay đổi hằng ngày.</a:t>
            </a:r>
          </a:p>
          <a:p>
            <a:r>
              <a:rPr lang="en-US" sz="1400" b="0" dirty="0"/>
              <a:t>Ý chính: hai bước cuối do con người đọc, không phải máy tính.</a:t>
            </a:r>
          </a:p>
          <a:p>
            <a:r>
              <a:rPr lang="en-US" sz="1400" b="0" dirty="0"/>
              <a:t>Hỏi cả lớp: 'Vì sao phải ghi ngày và chuỗi tìm kiếm?' Mong đợi: để lặp lại được. Tạp chí và người phản biện sẽ yêu cầu.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Chuyển mỗi thành phần PICO thành một khối khái niệm: thuật ngữ MeSH cộng với từ tự do.</a:t>
            </a:r>
          </a:p>
          <a:p>
            <a:r>
              <a:rPr lang="en-US" sz="1400" b="0" dirty="0"/>
              <a:t>[tiab] = tiêu đề và tóm tắt. Dấu sao (*) là cắt cụt (truncation): restrictive fluid* tìm cả 'restrictive fluids'.</a:t>
            </a:r>
          </a:p>
          <a:p>
            <a:r>
              <a:rPr lang="en-US" sz="1400" b="0" dirty="0"/>
              <a:t>Nhóm so sánh (thường quy) thường bỏ ra vì cách viết quá đa dạng.</a:t>
            </a:r>
          </a:p>
          <a:p>
            <a:r>
              <a:rPr lang="en-US" sz="1400" b="0" dirty="0"/>
              <a:t>Lưu ý: PubMed là cơ sở dữ liệu tiếng Anh, nên luôn tìm bằng thuật ngữ tiếng Anh.</a:t>
            </a:r>
          </a:p>
          <a:p>
            <a:r>
              <a:rPr lang="en-US" sz="1400" b="0" dirty="0"/>
              <a:t>Quan niệm sai: 'cứ gõ cả câu hỏi vào PubMed'. Bạn mất kiểm soát từ đồng nghĩa và logic.</a:t>
            </a:r>
          </a:p>
          <a:p>
            <a:r>
              <a:rPr lang="en-US" sz="1400" b="0" dirty="0"/>
              <a:t>Hỏi cả lớp: 'Tác giả còn dùng từ nào cho restrictive?' Mong đợi: conservative, limited, de-resuscitation, fluid removal, negative fluid balance.</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thứ hai, từ khoa phòng, để điều dưỡng và dược sĩ thấy phương pháp dùng được ngoài ICU.</a:t>
            </a:r>
          </a:p>
          <a:p>
            <a:r>
              <a:rPr lang="en-US" sz="1400" b="0" dirty="0"/>
              <a:t>Câu hỏi: ở người lớn có nguy cơ tại khoa, xoay trở mỗi 2 giờ có giảm tổn thương do tì đè mới không?</a:t>
            </a:r>
          </a:p>
          <a:p>
            <a:r>
              <a:rPr lang="en-US" sz="1400" b="0" dirty="0"/>
              <a:t>Ở đây P và O cùng một ý (tổn thương do tì đè) nên một khối chứa cả hai. Khối thứ hai là can thiệp.</a:t>
            </a:r>
          </a:p>
          <a:p>
            <a:r>
              <a:rPr lang="en-US" sz="1400" b="0" dirty="0"/>
              <a:t>MeSH: tác giả viết pressure ulcer, pressure injury, bedsore, decubitus. Đề mục MeSH 'Pressure Ulcer' gom tất cả.</a:t>
            </a:r>
          </a:p>
          <a:p>
            <a:r>
              <a:rPr lang="en-US" sz="1400" b="0" dirty="0"/>
              <a:t>Hỏi cả lớp: 'Tác giả còn dùng từ nào cho xoay trở?' Mong đợi: turning, position change, mobilisation, offloading.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chỉ bài có cả hai khái niệm, nên ít kết quả hơn. OR: một trong hai từ, nên nhiều hơn. Dùng OR cho từ đồng nghĩa.</a:t>
            </a:r>
          </a:p>
          <a:p>
            <a:r>
              <a:rPr lang="en-US" sz="1400" b="0" dirty="0"/>
              <a:t>NOT loại mọi bài có nhắc từ thứ hai, kể cả bài tốt chỉ nhắc trẻ sơ sinh một lần. Vì vậy NOT rủi ro.</a:t>
            </a:r>
          </a:p>
          <a:p>
            <a:r>
              <a:rPr lang="en-US" sz="1400" b="0" dirty="0"/>
              <a:t>Mẹo: toán tử viết HOA; dấu ngoặc quyết định thứ tự.</a:t>
            </a:r>
          </a:p>
          <a:p>
            <a:r>
              <a:rPr lang="en-US" sz="1400" b="0" dirty="0"/>
              <a:t>Hỏi cả lớp: 'septic shock AND fluids so với septic shock OR fluids: cái nào nhiều kết quả hơn?' Mong đợi: OR.</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AND. 2 OR. 3 Ít hơn (AND thu hẹp). 4 Nó loại mọi bài có nhắc trẻ em ở bất kỳ đâu, kể cả nghiên cứu tốt ở người lớn chỉ nhắc trẻ em một lần.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Đề mục chủ đề y học) là bộ từ vựng chuẩn của Thư viện Y khoa Quốc gia Hoa Kỳ. Mỗi bài MEDLINE được gắn thuật ngữ MeSH, bất kể tác giả dùng từ gì.</a:t>
            </a:r>
          </a:p>
          <a:p>
            <a:r>
              <a:rPr lang="en-US" sz="1400" b="0" dirty="0"/>
              <a:t>Tìm một thuật ngữ MeSH sẽ gồm luôn các thuật ngữ hẹp hơn bên dưới ('explode', mở rộng). Ví dụ, Sepsis[MeSH] bao gồm Shock, Septic.</a:t>
            </a:r>
          </a:p>
          <a:p>
            <a:r>
              <a:rPr lang="en-US" sz="1400" b="0" dirty="0"/>
              <a:t>Bài mới nhất có thể chưa được gắn MeSH, nên luôn thêm từ tự do [tiab].</a:t>
            </a:r>
          </a:p>
          <a:p>
            <a:r>
              <a:rPr lang="en-US" sz="1400" b="0" dirty="0"/>
              <a:t>Hỏi cả lớp: 'MeSH giúp gì cho điều dưỡng tìm về tổn thương do tì đè?' Mong đợi: tác giả viết pressure ulcer, bedsore, decubitus ulcer, và MeSH gom dưới một đề mục.</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Ngoặc kép giữ nguyên cụm từ. Cắt cụt tìm mọi đuôi từ, nhưng gốc quá ngắn (flu*) sẽ ra cả influenza và fluoride.</a:t>
            </a:r>
          </a:p>
          <a:p>
            <a:r>
              <a:rPr lang="en-US" sz="1400" b="0" dirty="0"/>
              <a:t>Thẻ trường giới hạn nơi PubMed tìm; bộ lọc (bên trái trang kết quả) thu hẹp theo loại bài, năm, tuổi. Mỗi bộ lọc cần lý do ghi lại được.</a:t>
            </a:r>
          </a:p>
          <a:p>
            <a:r>
              <a:rPr lang="en-US" sz="1400" b="0" dirty="0"/>
              <a:t>Quan niệm sai: 'lọc lấy toàn văn miễn phí'. Làm vậy bỏ mất bài quan trọng.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miễn phí, do Thư viện Y khoa Quốc gia Hoa Kỳ vận hành, tạp chí y sinh, MeSH, nhiều bộ lọc, tìm kiếm minh bạch, lặp lại được.</a:t>
            </a:r>
          </a:p>
          <a:p>
            <a:r>
              <a:rPr lang="en-US" sz="1400" b="0" dirty="0"/>
              <a:t>Google Scholar: rất rộng (luận văn, sách, bản thảo trước in), tốt cho y văn xám và 'Cited by'; nhưng xếp hạng bị ẩn, ít bộ lọc, khó lặp lại.</a:t>
            </a:r>
          </a:p>
          <a:p>
            <a:r>
              <a:rPr lang="en-US" sz="1400" b="0" dirty="0"/>
              <a:t>Còn các cơ sở dữ liệu khác (Embase, CINAHL cho điều dưỡng, Thư viện Cochrane), nhưng không cần ở Cấp độ 1.</a:t>
            </a:r>
          </a:p>
          <a:p>
            <a:r>
              <a:rPr lang="en-US" sz="1400" b="0" dirty="0"/>
              <a:t>Hỏi cả lớp: 'Đồng nghiệp tìm được bài hoàn hảo trên Google Scholar. Cần kiểm tra gì?' Mong đợi: đã bình duyệt chưa hay chỉ là preprint? Tạp chí có uy tín không? (Tạp chí săn mồi: Buổi 8.)</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theo Course/Demos/s2_demo.md, Phần A (PubMed): chuỗi tìm kiếm chính xác, chỗ cần bấm và phương án dự phòng.</a:t>
            </a:r>
          </a:p>
          <a:p>
            <a:r>
              <a:rPr lang="en-US" sz="1400" b="0" dirty="0"/>
              <a:t>Không hứa số kết quả. Dự kiến hàng chục nghìn cho 'septic shock' và vài nghìn cho chuỗi PICO đầy đủ; con số thay đổi hằng ngày.</a:t>
            </a:r>
          </a:p>
          <a:p>
            <a:r>
              <a:rPr lang="en-US" sz="1400" b="0" dirty="0"/>
              <a:t>Nói chậm và dừng sau mỗi bước để học viên ghi số kết quả vào phiếu.</a:t>
            </a:r>
          </a:p>
          <a:p>
            <a:r>
              <a:rPr lang="en-US" sz="1400" b="0" dirty="0"/>
              <a:t>Nếu mất internet, chuyển sang ảnh chụp màn hình. Không sửa lỗi mạng trước lớp.</a:t>
            </a:r>
          </a:p>
          <a:p>
            <a:r>
              <a:rPr lang="en-US" sz="1400" b="0" dirty="0"/>
              <a:t>Thời gian: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cần máy tính: đây là bài tập trên giấy với bảng xây dựng tìm kiếm Boolean.</a:t>
            </a:r>
          </a:p>
          <a:p>
            <a:r>
              <a:rPr lang="en-US" sz="1400" b="0" dirty="0"/>
              <a:t>Đi vòng và tìm: thiếu ngoặc, trộn AND và OR trong cùng khối, đưa nhóm so sánh thành một khối, dùng NOT không có lý do.</a:t>
            </a:r>
          </a:p>
          <a:p>
            <a:r>
              <a:rPr lang="en-US" sz="1400" b="0" dirty="0"/>
              <a:t>Ai xong sớm: thêm một bộ lọc và ghi lý do.</a:t>
            </a:r>
          </a:p>
          <a:p>
            <a:r>
              <a:rPr lang="en-US" sz="1400" b="0" dirty="0"/>
              <a:t>Thời gian: 5 phút. Phần 2.1 kết thúc lúc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2.2 (0:50-1:10).</a:t>
            </a:r>
          </a:p>
          <a:p>
            <a:r>
              <a:rPr lang="en-US" sz="1400" b="0" dirty="0"/>
              <a:t>Ý chính: hai thói quen bảo vệ mọi đề cương và bài báo: lưu tài liệu vào phần mềm quản lý tài liệu ngay từ ngày đầu, và không bao giờ sao chép câu chữ từ nguồn.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không bao giờ gõ tay tài liệu tham khảo. Phần mềm quản lý tài liệu lưu mỗi bài một lần và định dạng theo mọi kiểu tạp chí.</a:t>
            </a:r>
          </a:p>
          <a:p>
            <a:r>
              <a:rPr lang="en-US" sz="1400" b="0" dirty="0"/>
              <a:t>Zotero (miễn phí, mã nguồn mở) và Mendeley (miễn phí) tích hợp với Word; EndNote phổ biến ở đại học nhưng trả phí. Phần mềm tốt nhất là phần mềm cả nhóm cùng dùng.</a:t>
            </a:r>
          </a:p>
          <a:p>
            <a:r>
              <a:rPr lang="en-US" sz="1400" b="0" dirty="0"/>
              <a:t>Tiện ích trình duyệt (ví dụ Zotero Connector) lưu bài từ trang tạp chí bằng một cú nhấp, thường kèm PDF.</a:t>
            </a:r>
          </a:p>
          <a:p>
            <a:r>
              <a:rPr lang="en-US" sz="1400" b="0" dirty="0"/>
              <a:t>Quan niệm sai: 'cuối cùng mới xử lý tài liệu tham khảo'. Lưu ngay mất vài giây; dựng lại danh mục mất hàng giờ và dễ sai.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theo Course/Demos/s2_demo.md, Phần B (Zotero).</a:t>
            </a:r>
          </a:p>
          <a:p>
            <a:r>
              <a:rPr lang="en-US" sz="1400" b="0" dirty="0"/>
              <a:t>Chuẩn bị: Zotero desktop và plug-in Word đã cài, một thư viện thử trống, một tài liệu Word trắng.</a:t>
            </a:r>
          </a:p>
          <a:p>
            <a:r>
              <a:rPr lang="en-US" sz="1400" b="0" dirty="0"/>
              <a:t>Học viên không cài gì trong buổi học; ai đã cài Zotero ở nhà có thể làm theo.</a:t>
            </a:r>
          </a:p>
          <a:p>
            <a:r>
              <a:rPr lang="en-US" sz="1400" b="0" dirty="0"/>
              <a:t>Nếu Zotero lỗi, dùng ảnh chụp màn hình và nói 'cùng tệp này dùng được trong Mendeley và EndNote'.</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(đánh số theo thứ tự trích dẫn) được đa số tạp chí y khoa dùng và theo khuyến nghị ICMJE. APA (tác giả và năm) phổ biến ở điều dưỡng, tâm lý và khoa học xã hội.</a:t>
            </a:r>
          </a:p>
          <a:p>
            <a:r>
              <a:rPr lang="en-US" sz="1400" b="0" dirty="0"/>
              <a:t>Mỗi tạp chí nêu kiểu trích dẫn trong 'Hướng dẫn cho tác giả' (Guide for authors). Phần mềm quản lý tài liệu đổi giữa hàng nghìn kiểu bằng một cú nhấp.</a:t>
            </a:r>
          </a:p>
          <a:p>
            <a:r>
              <a:rPr lang="en-US" sz="1400" b="0" dirty="0"/>
              <a:t>Ý chính: trích dẫn giúp người đọc kiểm tra nhận định của bạn. Khi có thể, hãy trích nghiên cứu gốc cho dữ kiện và con số, không trích bài tổng quan nhắc lại nó.</a:t>
            </a:r>
          </a:p>
          <a:p>
            <a:r>
              <a:rPr lang="en-US" sz="1400" b="0" dirty="0"/>
              <a:t>Hỏi cả lớp: 'Kiểu nào dùng [1]?' Mong đợi: Vancouver.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Trên cùng: một câu trong phần kết luận của tóm tắt Bài báo 1 (trích nguyên văn có ghi nguồn). Câu ví dụ để nguyên tiếng Anh vì đạo văn được kiểm tra trên ngôn ngữ của bài báo.</a:t>
            </a:r>
          </a:p>
          <a:p>
            <a:r>
              <a:rPr lang="en-US" sz="1400" b="0" dirty="0"/>
              <a:t>Bên trái: 'viết chắp vá' (patchwriting): cùng câu đó chỉ thay vài từ. Dù có trích dẫn, đây vẫn là đạo văn vì cấu trúc và phần lớn từ ngữ bị sao chép. Phần mềm kiểm tra trùng lặp của tạp chí phát hiện dễ dàng.</a:t>
            </a:r>
          </a:p>
          <a:p>
            <a:r>
              <a:rPr lang="en-US" sz="1400" b="0" dirty="0"/>
              <a:t>Bên phải: diễn đạt lại thật sự, với cấu trúc mới, thêm bối cảnh từ bài báo (pilot, 48 bệnh nhân, loại dịch nào) và có trích dẫn.</a:t>
            </a:r>
          </a:p>
          <a:p>
            <a:r>
              <a:rPr lang="en-US" sz="1400" b="0" dirty="0"/>
              <a:t>Cách làm: đọc, gấp bài báo, viết theo trí nhớ, kiểm tra lại dữ kiện, trích dẫn. Nếu cần nguyên văn, dùng ngoặc kép kèm trích dẫn. Tuy vậy, trong viết y khoa hiếm khi trích nguyên văn.</a:t>
            </a:r>
          </a:p>
          <a:p>
            <a:r>
              <a:rPr lang="en-US" sz="1400" b="0" dirty="0"/>
              <a:t>Quan niệm sai: 'đã trích dẫn thì được chép'. Trích dẫn ghi công cho ý tưởng; không cho phép chép câu chữ. Công cụ AI viết lại câu cũng không giải quyết được. Bạn vẫn chịu trách nhiệm (Buổi 7).</a:t>
            </a:r>
          </a:p>
          <a:p>
            <a:r>
              <a:rPr lang="en-US" sz="1400" b="0" dirty="0"/>
              <a:t>Hỏi cả lớp: 'Chép phần Phương pháp từ bài báo cũ của chính mình có được không?' Mong đợi: đó là tái sử dụng văn bản. Xem chính sách của tạp chí, và thường phải viết lại hoặc trích dẫn.</a:t>
            </a:r>
          </a:p>
          <a:p>
            <a:r>
              <a:rPr lang="en-US" sz="1400" b="0" dirty="0"/>
              <a:t>Thời gian: 3 phút. Bài tập 2 trong phiếu luyện kỹ năng này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Kiến thức phổ thông ('nhiễm khuẩn huyết là một cấp cứu') không cần trích dẫn; dữ kiện và con số cụ thể thì cần.</a:t>
            </a:r>
          </a:p>
          <a:p>
            <a:r>
              <a:rPr lang="en-US" sz="1400" b="0" dirty="0"/>
              <a:t>Trích một bài chỉ thấy được nhắc lại ở nơi khác sẽ lan truyền lỗi. Hãy kiểm tra bài gốc.</a:t>
            </a:r>
          </a:p>
          <a:p>
            <a:r>
              <a:rPr lang="en-US" sz="1400" b="0" dirty="0"/>
              <a:t>Công cụ trò chuyện AI có thể bịa ra tài liệu tham khảo trông như thật. Mọi tài liệu phải tìm được trên PubMed hoặc trang tạp chí.</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Không được: viết chắp vá là đạo văn dù có trích dẫn. 2 Được (nhưng hiếm trong viết y khoa). 3 Không được: phát hiện của người khác cần trích dẫn. 4 Không được: có thể lặp lại lỗi, nên hãy đọc và trích bài gốc.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báo tạp chí trên PubMed chỉ là phần nổi của tảng băng. Dưới mặt nước: thử nghiệm đã đăng ký nhưng chưa công bố kết quả, tóm tắt hội nghị, luận văn, báo cáo, hướng dẫn và bản thảo trước in (preprint).</a:t>
            </a:r>
          </a:p>
          <a:p>
            <a:r>
              <a:rPr lang="en-US" sz="1400" b="0" dirty="0"/>
              <a:t>Vì sao quan trọng: nghiên cứu có kết quả âm tính hoặc gây thất vọng ít được công bố hơn (sai lệch xuất bản, publication bias), nên y văn đã công bố có thể trông tích cực hơn sự thật.</a:t>
            </a:r>
          </a:p>
          <a:p>
            <a:r>
              <a:rPr lang="en-US" sz="1400" b="0" dirty="0"/>
              <a:t>Sổ đăng ký thử nghiệm (ClinicalTrials.gov và Nền tảng Đăng ký Thử nghiệm Lâm sàng Quốc tế của WHO, ICTRP) liệt kê các thử nghiệm đang và đã làm kèm kết cục chính DỰ KIẾN. Hãy so sánh với bài báo: đổi kết cục là dấu hiệu cảnh báo.</a:t>
            </a:r>
          </a:p>
          <a:p>
            <a:r>
              <a:rPr lang="en-US" sz="1400" b="0" dirty="0"/>
              <a:t>Bài báo 1 được đăng ký số NCT04947904, trước khi tuyển bệnh nhân đầu tiên. Thói quen tốt khi làm bài về nhà: mở hồ sơ đăng ký và so sánh kết cục chính dự kiến với bài báo.</a:t>
            </a:r>
          </a:p>
          <a:p>
            <a:r>
              <a:rPr lang="en-US" sz="1400" b="0" dirty="0"/>
              <a:t>Bản thảo trước in (ví dụ medRxiv) chưa qua bình duyệt. Hãy đọc thật cẩn thận.</a:t>
            </a:r>
          </a:p>
          <a:p>
            <a:r>
              <a:rPr lang="en-US" sz="1400" b="0" dirty="0"/>
              <a:t>Hỏi cả lớp: 'Vì sao nên xem sổ đăng ký trước khi bắt đầu thử nghiệm của mình?' Mong đợi: có thể ai đó đang làm đúng nghiên cứu đó.</a:t>
            </a:r>
          </a:p>
          <a:p>
            <a:r>
              <a:rPr lang="en-US" sz="1400" b="0" dirty="0"/>
              <a:t>Thời gian: 3 phút. Phần 2.2 kết thúc lúc 1:10, rồi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(1:10-1:25).</a:t>
            </a:r>
          </a:p>
          <a:p>
            <a:r>
              <a:rPr lang="en-US" sz="1400" b="0" dirty="0"/>
              <a:t>Trong giờ giải lao: đặt bản in tóm tắt Bài báo 1 (bản gốc, không chú giải) lên mỗi chỗ ngồi cho bài tập đọc.</a:t>
            </a:r>
          </a:p>
          <a:p>
            <a:r>
              <a:rPr lang="en-US" sz="1400" b="0" dirty="0"/>
              <a:t>Bắt đầu lại đúng giờ. Nói rõ giờ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2.3 (1:25-2:05).</a:t>
            </a:r>
          </a:p>
          <a:p>
            <a:r>
              <a:rPr lang="en-US" sz="1400" b="0" dirty="0"/>
              <a:t>Ý chính: người thầy thuốc bận rộn cần một quy trình đọc. Trong 15 phút có thể quyết định bài báo có liên quan không, tìm thấy gì và có đáng tin không.</a:t>
            </a:r>
          </a:p>
          <a:p>
            <a:r>
              <a:rPr lang="en-US" sz="1400" b="0" dirty="0"/>
              <a:t>Kiểm tra mọi học viên đã có bản in tóm tắt Bài báo 1 trước bài tập.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Đặt vấn đề (Introduction), Phương pháp (Methods), Kết quả (Results) và Bàn luận (Discussion): cấu trúc chuẩn của bài báo nghiên cứu gốc, với tiêu đề và tóm tắt ở trên cùng.</a:t>
            </a:r>
          </a:p>
          <a:p>
            <a:r>
              <a:rPr lang="en-US" sz="1400" b="0" dirty="0"/>
              <a:t>Đồng hồ cát: Đặt vấn đề thu hẹp từ vấn đề rộng đến câu hỏi cụ thể; Phương pháp và Kết quả hẹp và thuần dữ kiện; Bàn luận mở rộng lại tới ý nghĩa cho thực hành.</a:t>
            </a:r>
          </a:p>
          <a:p>
            <a:r>
              <a:rPr lang="en-US" sz="1400" b="0" dirty="0"/>
              <a:t>Ý chính: biết hình dạng là biết chỗ cần nhìn. Câu hỏi ở CUỐI phần Đặt vấn đề; kết cục chính ở Phương pháp; con số chính ở Kết quả (và tóm tắt).</a:t>
            </a:r>
          </a:p>
          <a:p>
            <a:r>
              <a:rPr lang="en-US" sz="1400" b="0" dirty="0"/>
              <a:t>Quan niệm sai: 'phần Bàn luận cho biết kết quả'. Bàn luận là diễn giải của tác giả; Kết quả mới là bằng chứng.</a:t>
            </a:r>
          </a:p>
          <a:p>
            <a:r>
              <a:rPr lang="en-US" sz="1400" b="0" dirty="0"/>
              <a:t>Hỏi cả lớp: 'Tìm ai được đưa vào nghiên cứu ở đâu?' Mong đợi: Phương pháp (tiêu chuẩn chọn) và Kết quả (sơ đồ, Bảng 1).</a:t>
            </a:r>
          </a:p>
          <a:p>
            <a:r>
              <a:rPr lang="en-US" sz="1400" b="0" dirty="0"/>
              <a:t>Thời gian: 4 phút. Buổi 7 và 8 dạy cách VIẾT từng phần.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 đầu đến cuối. Bước 1, tiêu đề (30 giây): có liên quan đến câu hỏi của tôi? Bước 2, tóm tắt (3 phút): PICO, thiết kế, kết quả chính. Đa số bài bị loại ở đây.</a:t>
            </a:r>
          </a:p>
          <a:p>
            <a:r>
              <a:rPr lang="en-US" sz="1400" b="0" dirty="0"/>
              <a:t>Bước 3, hình và bảng (4 phút): sơ đồ tuyển chọn (mất ai), Bảng 1 (các nhóm có tương đồng không), bảng kết quả chính.</a:t>
            </a:r>
          </a:p>
          <a:p>
            <a:r>
              <a:rPr lang="en-US" sz="1400" b="0" dirty="0"/>
              <a:t>Bước 4, phương pháp (5 phút): ai, chọn thế nào, kết cục chính, chống sai lệch ra sao. Bước 5, bàn luận (2-3 phút): hạn chế, và kết luận có khớp với dữ liệu không?</a:t>
            </a:r>
          </a:p>
          <a:p>
            <a:r>
              <a:rPr lang="en-US" sz="1400" b="0" dirty="0"/>
              <a:t>Ý chính: chỉ đọc toàn bộ Đặt vấn đề và Bàn luận với bài sẽ trích dẫn hoặc thẩm định sâu.</a:t>
            </a:r>
          </a:p>
          <a:p>
            <a:r>
              <a:rPr lang="en-US" sz="1400" b="0" dirty="0"/>
              <a:t>Quan niệm sai: 'chỉ đọc tóm tắt là đủ'. Tóm tắt bỏ qua hạn chế và có thể bị thổi phồng (các slide tiếp).</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Đa số tạp chí lâm sàng yêu cầu tóm tắt có cấu trúc: Bối cảnh, Phương pháp, Kết quả, Kết luận (cộng số đăng ký với thử nghiệm).</a:t>
            </a:r>
          </a:p>
          <a:p>
            <a:r>
              <a:rPr lang="en-US" sz="1400" b="0" dirty="0"/>
              <a:t>Phương pháp phải nêu thiết kế, bối cảnh, đối tượng, can thiệp hoặc phơi nhiễm, so sánh và kết cục CHÍNH.</a:t>
            </a:r>
          </a:p>
          <a:p>
            <a:r>
              <a:rPr lang="en-US" sz="1400" b="0" dirty="0"/>
              <a:t>Kết quả phải có số sàng lọc và phân tích, và kết quả chính dưới dạng cỡ tác động kèm khoảng tin cậy (KTC) 95%, không chỉ giá trị p hay chữ 'có ý nghĩa'.</a:t>
            </a:r>
          </a:p>
          <a:p>
            <a:r>
              <a:rPr lang="en-US" sz="1400" b="0" dirty="0"/>
              <a:t>Kết luận trả lời câu hỏi chính, không hơn, không kém. Các hướng dẫn báo cáo có bảng kiểm cho tóm tắt (CONSORT for Abstracts, STROBE), học ở Buổi 8.</a:t>
            </a:r>
          </a:p>
          <a:p>
            <a:r>
              <a:rPr lang="en-US" sz="1400" b="0" dirty="0"/>
              <a:t>Hỏi cả lớp: 'Tóm tắt chỉ viết: tử vong thấp hơn có ý nghĩa (p &lt; 0,05). Thiếu gì?' Mong đợi: tỷ lệ thực tế, cỡ tác động và khoảng tin cậy.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(số liệu minh họa, không từ thử nghiệm thật).</a:t>
            </a:r>
          </a:p>
          <a:p>
            <a:r>
              <a:rPr lang="en-US" sz="1400" b="0" dirty="0"/>
              <a:t>Bên trái: 'thấp hơn có ý nghĩa (p &lt; 0,05)' không cho biết khác biệt lớn cỡ nào, chắc chắn đến đâu, hay đo lúc nào.</a:t>
            </a:r>
          </a:p>
          <a:p>
            <a:r>
              <a:rPr lang="en-US" sz="1400" b="0" dirty="0"/>
              <a:t>Bên phải: tỷ lệ mỗi nhóm, độ lớn khác biệt (8 điểm phần trăm), khoảng tin cậy (KTC) 95% và mốc thời gian (28 ngày). Người đọc có thể đánh giá khác biệt có ý nghĩa lâm sàng không.</a:t>
            </a:r>
          </a:p>
          <a:p>
            <a:r>
              <a:rPr lang="en-US" sz="1400" b="0" dirty="0"/>
              <a:t>Ý chính: hỏi 'lớn cỡ nào, chắc đến đâu, lúc nào?' với mọi kết quả bạn đọc. Khoảng tin cậy được giải thích kỹ ở Buổi 6.</a:t>
            </a:r>
          </a:p>
          <a:p>
            <a:r>
              <a:rPr lang="en-US" sz="1400" b="0" dirty="0"/>
              <a:t>Hỏi cả lớp: 'Câu nào đủ tin cậy để thay đổi thực hành?' Mong đợi: câu bên phải, vì thấy được độ lớn và độ không chắc chắn.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Thổi phồng (spin) = trình bày làm kết quả trông tốt hơn mức dữ liệu cho phép. Hay gặp trong tóm tắt của thử nghiệm có kết cục chính không có ý nghĩa.</a:t>
            </a:r>
          </a:p>
          <a:p>
            <a:r>
              <a:rPr lang="en-US" sz="1400" b="0" dirty="0"/>
              <a:t>Dòng 1: phần Bàn luận của Bài báo 1 gọi p = 0,42 của kết cục chính là 'xu hướng không có ý nghĩa'. p = 0,42 không phải bằng chứng có khác biệt; cách viết đúng là 'không có khác biệt có ý nghĩa; khoảng tin cậy rộng'. Đáng khen là kết luận trong TÓM TẮT của Bài báo 1 không thổi phồng.</a:t>
            </a:r>
          </a:p>
          <a:p>
            <a:r>
              <a:rPr lang="en-US" sz="1400" b="0" dirty="0"/>
              <a:t>Dòng 2: nhấn mạnh một kết cục phụ có lợi khi kết cục chính không cho thấy gì.</a:t>
            </a:r>
          </a:p>
          <a:p>
            <a:r>
              <a:rPr lang="en-US" sz="1400" b="0" dirty="0"/>
              <a:t>Dòng 3: từ ngữ nhân quả cho dữ liệu quan sát. Tiêu đề Bài báo 2 viết 'Impact of...' (tác động) dù đoàn hệ chỉ cho thấy liên quan (phần kết luận tóm tắt viết đúng là 'associated').</a:t>
            </a:r>
          </a:p>
          <a:p>
            <a:r>
              <a:rPr lang="en-US" sz="1400" b="0" dirty="0"/>
              <a:t>Dòng 4: tuyên bố cải thiện dựa trên thay đổi trước-sau trong một nhóm, không so sánh giữa các nhóm.</a:t>
            </a:r>
          </a:p>
          <a:p>
            <a:r>
              <a:rPr lang="en-US" sz="1400" b="0" dirty="0"/>
              <a:t>Quan niệm sai: 'bình duyệt loại bỏ hết thổi phồng'. Bình duyệt giảm bớt, nhưng thổi phồng vẫn thường gặp trong bài đã công bố.</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Từ nhân quả cho thiết kế quan sát: viết 'có liên quan với viêm phổi thấp hơn'. 2 p = 0,31 không phải bằng chứng có khác biệt: viết 'không có khác biệt có ý nghĩa; KTC rộng'. 3 Tiêu điểm là kết cục phụ: nêu kết quả chính trước. 4 Thay đổi trước-sau không có nhóm so sánh, và các yếu tố khác có thể đã thay đổi: viết 'tử vong thấp hơn sau khi áp dụng; không có nhóm chứng nên không thể quy cho quy trình'.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yên lặng trong 8 phút, rồi 4 phút so sánh với người bên cạnh. Người mới cần thêm thời gian. Đừng vội.</a:t>
            </a:r>
          </a:p>
          <a:p>
            <a:r>
              <a:rPr lang="en-US" sz="1400" b="0" dirty="0"/>
              <a:t>Học viên đọc tóm tắt thật từ bản phát tay (Course/Papers có bản chú giải tiếng Anh và tiếng Việt, nhưng nên dùng tóm tắt gốc không chú giải cho bài tập này).</a:t>
            </a:r>
          </a:p>
          <a:p>
            <a:r>
              <a:rPr lang="en-US" sz="1400" b="0" dirty="0"/>
              <a:t>Đi vòng. Ô khó nhất: kết cục chính (nhiều người ghi 'tử vong', nhưng thực ra là cân bằng dịch tích lũy ngày 5) và kết quả chính (cần chép chênh lệch kèm KTC 95%, -15,2 đến 41,6, cắt qua số 0).</a:t>
            </a:r>
          </a:p>
          <a:p>
            <a:r>
              <a:rPr lang="en-US" sz="1400" b="0" dirty="0"/>
              <a:t>Ai xong sớm: đọc tóm tắt Bài báo 2 và tìm từ trong tiêu đề nói quá so với thiết kế ('Impact').</a:t>
            </a:r>
          </a:p>
          <a:p>
            <a:r>
              <a:rPr lang="en-US" sz="1400" b="0" dirty="0"/>
              <a:t>Thời gian: 12 phút. Đáp án ở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bảng; mỗi dòng hỏi một bàn khác nhau.</a:t>
            </a:r>
          </a:p>
          <a:p>
            <a:r>
              <a:rPr lang="en-US" sz="1400" b="0" dirty="0"/>
              <a:t>Điểm chính: (1) thử nghiệm PILOT với 48 bệnh nhân được phân tích; (2) kết cục chính là cân bằng dịch tích lũy ngày 5, không phải tử vong; (3) KTC của chênh lệch (-15,2 đến 41,6 ml/kg) chứa số 0, nên không có bằng chứng khác biệt; (4) kết luận tóm tắt khớp với kết quả (thực hành tốt); (5) thử nghiệm đã được đăng ký.</a:t>
            </a:r>
          </a:p>
          <a:p>
            <a:r>
              <a:rPr lang="en-US" sz="1400" b="0" dirty="0"/>
              <a:t>Nếu có học viên tinh ý hỏi: trung vị (6,9 vs 35,0 ml/kg) chênh nhau nhiều hơn mức chênh lệch được báo cáo 13,2 vì 13,2 là chênh lệch giữa hai trung bình (phần Phương pháp báo cáo chênh lệch trung bình kèm KTC 95%), không phải chênh lệch giữa hai trung vị. Bản chú giải của khóa học có nêu điểm không khớp này. Để dành cho Buổi 6-8.</a:t>
            </a:r>
          </a:p>
          <a:p>
            <a:r>
              <a:rPr lang="en-US" sz="1400" b="0" dirty="0"/>
              <a:t>Liên hệ câu hỏi của ta: thử nghiệm này KHÔNG trả lời câu hỏi tử vong 28 ngày. Nó trả lời câu hỏi kiểu khả thi về cân bằng dịch. Đó chính là 'phiên bản khả thi' ở slide FINER.</a:t>
            </a:r>
          </a:p>
          <a:p>
            <a:r>
              <a:rPr lang="en-US" sz="1400" b="0" dirty="0"/>
              <a:t>Thời gian: 5 phút, đi từng dòng. Phần 2.3 kết thúc lúc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2.4 (2:05-2:20).</a:t>
            </a:r>
          </a:p>
          <a:p>
            <a:r>
              <a:rPr lang="en-US" sz="1400" b="0" dirty="0"/>
              <a:t>Ý chính: đọc chưa phải là xong. Bảng ma trận tài liệu biến các bài báo thành khoảng trống, khoảng trống thành phần đặt vấn đề, và PICO thành tên đề tài tạm.</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nằm trong Course/Templates (phiếu tổng quan tài liệu, literature review worksheet). Mỗi bài một dòng, các cột giống nhau.</a:t>
            </a:r>
          </a:p>
          <a:p>
            <a:r>
              <a:rPr lang="en-US" sz="1400" b="0" dirty="0"/>
              <a:t>Dòng 1-3 là các bài của khóa học: Bài báo 1 (Boulet 2024, RCT thử nghiệm: cân bằng dịch, khác biệt không có ý nghĩa), Bài báo 2 (Hyun 2023, đoàn hệ ghép cặp: cân bằng dương ở ngày 2-3 liên quan với tử vong 28 ngày cao hơn), và CLASSIC (Meyhoff 2022: không khác biệt tử vong 90 ngày).</a:t>
            </a:r>
          </a:p>
          <a:p>
            <a:r>
              <a:rPr lang="en-US" sz="1400" b="0" dirty="0"/>
              <a:t>Lưu ý: ba bài đo kết cục khác nhau ở thời điểm khác nhau. Bảng ma trận làm điều này lộ ra ngay.</a:t>
            </a:r>
          </a:p>
          <a:p>
            <a:r>
              <a:rPr lang="en-US" sz="1400" b="0" dirty="0"/>
              <a:t>Ý chính: cột 'hạn chế chính' là nơi khoảng trống, và lý do cho nghiên cứu của bạn, xuất hiện.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bài báo bạn đọc trở thành phần Đặt vấn đề của đề cương. Đó là cùng cái phễu như phần trên của đồng hồ cát IMRaD.</a:t>
            </a:r>
          </a:p>
          <a:p>
            <a:r>
              <a:rPr lang="en-US" sz="1400" b="0" dirty="0"/>
              <a:t>Đoạn 1, điều đã biết: quy mô vấn đề và thực hành hiện tại, có trích dẫn.</a:t>
            </a:r>
          </a:p>
          <a:p>
            <a:r>
              <a:rPr lang="en-US" sz="1400" b="0" dirty="0"/>
              <a:t>Đoạn 2, điều chưa biết: khoảng trống (nghiên cứu mâu thuẫn, chưa có nghiên cứu trên bệnh nhân như của ta, kết cục chưa được đo). Cột 'hạn chế' trong bảng ma trận tài liệu nuôi đoạn này.</a:t>
            </a:r>
          </a:p>
          <a:p>
            <a:r>
              <a:rPr lang="en-US" sz="1400" b="0" dirty="0"/>
              <a:t>Đoạn 3, vì sao quan trọng ở đây: số liệu tại chỗ (audit, phân tích sự cố, một con số của khoa). Sau đó nêu câu hỏi và mục đích.</a:t>
            </a:r>
          </a:p>
          <a:p>
            <a:r>
              <a:rPr lang="en-US" sz="1400" b="0" dirty="0"/>
              <a:t>Quan niệm sai: 'phần tổng quan phải điểm lại mọi thứ đã viết'. Phần mở đầu Bài báo 1 đi hết cái phễu trong chưa đến 500 từ.</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cái phễu khi viết thành văn bản thật, cho phiên bản khả thi của ví dụ xuyên suốt.</a:t>
            </a:r>
          </a:p>
          <a:p>
            <a:r>
              <a:rPr lang="en-US" sz="1400" b="0" dirty="0"/>
              <a:t>Đoạn 1 (đã biết) trích Bài báo 2. Đoạn 2 (chưa biết) trích CLASSIC, CLOVERS và Bài báo 1, kết thúc bằng khoảng trống. Đoạn 3 (vì sao ở đây) dùng số liệu TẠI CHỖ (thay câu về audit bằng số liệu của bạn) và kết thúc bằng câu hỏi.</a:t>
            </a:r>
          </a:p>
          <a:p>
            <a:r>
              <a:rPr lang="en-US" sz="1400" b="0" dirty="0"/>
              <a:t>Ý chính: mỗi câu nêu dữ kiện đều có số trích dẫn; câu cuối dẫn thẳng vào câu hỏi PICO.</a:t>
            </a:r>
          </a:p>
          <a:p>
            <a:r>
              <a:rPr lang="en-US" sz="1400" b="0" dirty="0"/>
              <a:t>Quan niệm sai: 'phần đặt vấn đề phải dài và ấn tượng'. Khoảng 300 từ là đủ cho một đề cương.</a:t>
            </a:r>
          </a:p>
          <a:p>
            <a:r>
              <a:rPr lang="en-US" sz="1400" b="0" dirty="0"/>
              <a:t>Nhóm có thể viết đề cương bằng tiếng Việt, nhưng tìm kiếm và trích dẫn bằng tiếng Anh.</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Tên tốt nêu đối tượng, can thiệp và so sánh (hoặc phơi nhiễm), và thiết kế, khoảng 10 đến 16 từ.</a:t>
            </a:r>
          </a:p>
          <a:p>
            <a:r>
              <a:rPr lang="en-US" sz="1400" b="0" dirty="0"/>
              <a:t>Ví dụ từ phiên bản khả thi: 'Restrictive versus usual fluids in adults with septic shock: a pilot randomised trial' (13 từ tiếng Anh). Tiếng Việt: 'Hạn chế dịch so với dịch thường quy ở người lớn bị sốc nhiễm khuẩn: thử nghiệm ngẫu nhiên thí điểm'.</a:t>
            </a:r>
          </a:p>
          <a:p>
            <a:r>
              <a:rPr lang="en-US" sz="1400" b="0" dirty="0"/>
              <a:t>Tránh viết tắt và từ quảng cáo hay nhân quả ('tác động', 'mới', 'hiệu quả của'), nhất là với thiết kế quan sát (so sánh tiêu đề Bài báo 2).</a:t>
            </a:r>
          </a:p>
          <a:p>
            <a:r>
              <a:rPr lang="en-US" sz="1400" b="0" dirty="0"/>
              <a:t>Từ khóa: 3 đến 6, tốt nhất là thuật ngữ MeSH CHƯA có trong tiêu đề, để bài được tìm thấy qua nhiều chuỗi tìm kiếm hơn (bản chú giải Bài báo 1 cũng nêu điểm này).</a:t>
            </a:r>
          </a:p>
          <a:p>
            <a:r>
              <a:rPr lang="en-US" sz="1400" b="0" dirty="0"/>
              <a:t>Hỏi cả lớp: 'Dịch truyền ở ICU có phải tên đề tài tốt?' Mong đợi: không. Thiếu đối tượng, so sánh và thiết kế.</a:t>
            </a:r>
          </a:p>
          <a:p>
            <a:r>
              <a:rPr lang="en-US" sz="1400" b="0" dirty="0"/>
              <a:t>Thời gian: 4 phút. Phần 2.4 kết thúc lúc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XÂY DỰNG ĐỀ CƯƠNG 2 (2:20-2:55).</a:t>
            </a:r>
          </a:p>
          <a:p>
            <a:r>
              <a:rPr lang="en-US" sz="1400" b="0" dirty="0"/>
              <a:t>Ý chính: mọi điều học hôm nay được áp dụng cho câu hỏi của nhóm từ thứ Bảy tuần trước. Đến 2:55 mỗi nhóm có một chuỗi tìm kiếm được ghi lại, ít nhất 3-5 tài liệu trong bảng ma trận, bản nháp đặt vấn đề và tên đề tài tạm.</a:t>
            </a:r>
          </a:p>
          <a:p>
            <a:r>
              <a:rPr lang="en-US" sz="1400" b="0" dirty="0"/>
              <a:t>Đảm bảo mỗi nhóm có laptop hoặc điện thoại cho người tìm kiếm.</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Vai trò: người tìm kiếm chạy PubMed và xuất tài liệu; thư ký điền bảng ma trận và mẫu; các thành viên khác đọc tóm tắt song song (chia nhau 5 bài).</a:t>
            </a:r>
          </a:p>
          <a:p>
            <a:r>
              <a:rPr lang="en-US" sz="1400" b="0" dirty="0"/>
              <a:t>Giảng viên đi vòng. Lần ghé đầu: chuỗi tìm kiếm có hợp lý không (ngoặc, OR trong khối, AND giữa khối, không có khối so sánh)? Quá nhiều kết quả: thêm khối hoặc bộ lọc. Quá ít: thêm từ đồng nghĩa.</a:t>
            </a:r>
          </a:p>
          <a:p>
            <a:r>
              <a:rPr lang="en-US" sz="1400" b="0" dirty="0"/>
              <a:t>Lần ghé thứ hai: phần đặt vấn đề có kết thúc bằng câu hỏi của nhóm không, và đoạn 2 có thật sự nêu khoảng trống không?</a:t>
            </a:r>
          </a:p>
          <a:p>
            <a:r>
              <a:rPr lang="en-US" sz="1400" b="0" dirty="0"/>
              <a:t>Nếu nhóm chưa xong 5 tài liệu, ghi lại chuỗi tìm kiếm, cơ sở dữ liệu và ngày; phần còn lại thành bài về nhà.</a:t>
            </a:r>
          </a:p>
          <a:p>
            <a:r>
              <a:rPr lang="en-US" sz="1400" b="0" dirty="0"/>
              <a:t>Lúc 2:51 (phút thứ 31), dừng; một nhóm đọc to tên đề tài và câu nêu khoảng trống; mời lớp góp một ý cải thiện.</a:t>
            </a:r>
          </a:p>
          <a:p>
            <a:r>
              <a:rPr lang="en-US" sz="1400" b="0" dirty="0"/>
              <a:t>Thế nào là tốt: Course/Solutions/s2_solutions.md (Bài tập 4).</a:t>
            </a:r>
          </a:p>
          <a:p>
            <a:r>
              <a:rPr lang="en-US" sz="1400" b="0" dirty="0"/>
              <a:t>Thời gian: 33 phút. Tổng kết bắt đầu lúc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TỔNG KẾT (2:55-3:00).</a:t>
            </a:r>
          </a:p>
          <a:p>
            <a:r>
              <a:rPr lang="en-US" sz="1400" b="0" dirty="0"/>
              <a:t>Đọc nhanh sáu từ khóa; chúng cũng có trong bảng thuật ngữ của khóa học (Anh-Việt).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 rồi hỏi một học viên: 'Điều đầu tiên bạn tìm trong phần tóm tắt là gì?' Mong đợi: kết cục chính và kết quả của nó kèm KTC.</a:t>
            </a:r>
          </a:p>
          <a:p>
            <a:r>
              <a:rPr lang="en-US" sz="1400" b="0" dirty="0"/>
              <a:t>Nối sang buổi sau: hai thứ Bảy tới (Buổi 3 và 4) ta chọn THIẾT KẾ phù hợp cho câu hỏi của từng nhóm, và tìm hiểu sai lệch, yếu tố gây nhiễu và các số đo tác động qua hai bài báo về dịch truyền.</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OR (một trong hai từ). (2) Cân bằng dịch tích lũy ngày 5 (ml/kg), không phải tử vong.</a:t>
            </a:r>
          </a:p>
          <a:p>
            <a:r>
              <a:rPr lang="en-US" sz="1400" b="0" dirty="0"/>
              <a:t>Đọc các tờ giấy sau buổi học. Nếu hơn một phần tư trả lời sai câu nào, ôn lại trong câu hỏi ôn tập đầu Buổi 3.</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Nói rõ khối lượng: khoảng 60-90 phút mỗi người trong tuần, chia sẻ trong nhóm.</a:t>
            </a:r>
          </a:p>
          <a:p>
            <a:r>
              <a:rPr lang="en-US" sz="1400" b="0" dirty="0"/>
              <a:t>Hai bài báo nằm trong Course/Papers (có bản chú giải tiếng Anh và tiếng Việt). Buổi 3 dùng cả hai tóm tắt để so sánh RCT với đoàn hệ.</a:t>
            </a:r>
          </a:p>
          <a:p>
            <a:r>
              <a:rPr lang="en-US" sz="1400" b="0" dirty="0"/>
              <a:t>Nhắc các nhóm gửi Phần 1 cho giảng viên nếu khóa học có nhận xét bằng văn bản giữa các buổi.</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2).</a:t>
            </a:r>
          </a:p>
          <a:p>
            <a:r>
              <a:rPr lang="en-US" sz="1400" b="0" dirty="0"/>
              <a:t>Mọi slide sau slide này là tùy chọn. Dùng nếu lớp đi nhanh, nếu một nhóm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cơ sở dữ liệu khác.</a:t>
            </a:r>
          </a:p>
          <a:p>
            <a:r>
              <a:rPr lang="en-US" sz="1400" b="0" dirty="0"/>
              <a:t>Thư viện Cochrane: bắt đầu từ đây với câu hỏi điều trị. Một tổng quan hệ thống tốt có thể đã trả lời câu hỏi của bạn.</a:t>
            </a:r>
          </a:p>
          <a:p>
            <a:r>
              <a:rPr lang="en-US" sz="1400" b="0" dirty="0"/>
              <a:t>Embase và CINAHL thường cần tài khoản của cơ sở; hỏi thư viện.</a:t>
            </a:r>
          </a:p>
          <a:p>
            <a:r>
              <a:rPr lang="en-US" sz="1400" b="0" dirty="0"/>
              <a:t>Cơ sở dữ liệu quốc gia và khu vực có thể quan trọng với các tạp chí tiếng địa phương.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áp dụng các bộ lọc tìm kiếm đã được kiểm định cho các loại nghiên cứu trả lời câu hỏi lâm sàng.</a:t>
            </a:r>
          </a:p>
          <a:p>
            <a:r>
              <a:rPr lang="en-US" sz="1400" b="0" dirty="0"/>
              <a:t>Hữu ích để xem nhanh trước giao ban hoặc kiểm tra tìm kiếm của mình có bỏ sót thử nghiệm rõ ràng nào không.</a:t>
            </a:r>
          </a:p>
          <a:p>
            <a:r>
              <a:rPr lang="en-US" sz="1400" b="0" dirty="0"/>
              <a:t>Giao diện thỉnh thoảng thay đổi. Hãy kiểm tra trước khi trình diễn trực tiếp.</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trình diễn Google Scholar.</a:t>
            </a:r>
          </a:p>
          <a:p>
            <a:r>
              <a:rPr lang="en-US" sz="1400" b="0" dirty="0"/>
              <a:t>Course/Demos/s2_demo.md, Phần C.</a:t>
            </a:r>
          </a:p>
          <a:p>
            <a:r>
              <a:rPr lang="en-US" sz="1400" b="0" dirty="0"/>
              <a:t>Nói: 'Scholar rất tốt để lần theo trích dẫn và tìm y văn xám, nhưng không có MeSH, ít bộ lọc, và cùng một tìm kiếm tháng sau có thể ra kết quả khác.'</a:t>
            </a:r>
          </a:p>
          <a:p>
            <a:r>
              <a:rPr lang="en-US" sz="1400" b="0" dirty="0"/>
              <a:t>Nếu Scholar hiện CAPTCHA, đừng cố giải trên máy dùng chung; chuyển sang ảnh chụp màn hình.</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tái sử dụng văn bản, AI và kiểm tra trùng lặp.</a:t>
            </a:r>
          </a:p>
          <a:p>
            <a:r>
              <a:rPr lang="en-US" sz="1400" b="0" dirty="0"/>
              <a:t>Tái sử dụng văn bản ('tự đạo văn'): dùng lại một phần câu chữ chuẩn ở phần Phương pháp có thể được chấp nhận nếu có trích dẫn và tạp chí cho phép; không bao giờ dùng lại phần Kết quả hay Bàn luận.</a:t>
            </a:r>
          </a:p>
          <a:p>
            <a:r>
              <a:rPr lang="en-US" sz="1400" b="0" dirty="0"/>
              <a:t>Công cụ AI: tạp chí yêu cầu công khai việc dùng AI (Buổi 7 học kỹ về liêm chính và AI).</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8.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9.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2.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6.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8.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0.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2 · Tìm &amp; đọc: bằng chứng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2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1</a:t>
            </a:r>
          </a:p>
          <a:p>
            <a:pPr marL="274320" indent="-274320" algn="l">
              <a:spcBef>
                <a:spcPts val="440"/>
              </a:spcBef>
              <a:buFont typeface="Arial"/>
              <a:buChar char="•"/>
            </a:pPr>
            <a:r>
              <a:rPr lang="en-US" sz="1900" dirty="0">
                <a:solidFill>
                  <a:srgbClr val="000000"/>
                </a:solidFill>
                <a:latin typeface="Arial"/>
                <a:cs typeface="Arial"/>
              </a:rPr>
              <a:t>2.1  Tìm bằng chứng: từ PICO đến tìm kiếm, Boolean, MeSH, trình diễn PubMed</a:t>
            </a:r>
          </a:p>
          <a:p>
            <a:pPr marL="274320" indent="-274320" algn="l">
              <a:spcBef>
                <a:spcPts val="440"/>
              </a:spcBef>
              <a:buFont typeface="Arial"/>
              <a:buChar char="•"/>
            </a:pPr>
            <a:r>
              <a:rPr lang="en-US" sz="1900" dirty="0">
                <a:solidFill>
                  <a:srgbClr val="000000"/>
                </a:solidFill>
                <a:latin typeface="Arial"/>
                <a:cs typeface="Arial"/>
              </a:rPr>
              <a:t>2.2  Quản lý và trích dẫn: trình diễn Zotero, kiểu trích dẫn, diễn đạt lại, y văn xám</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2.3  Đọc một bài báo trong 15 phút và 2.4 từ y văn đến phần đặt vấn đề</a:t>
            </a:r>
          </a:p>
          <a:p>
            <a:pPr marL="274320" indent="-274320" algn="l">
              <a:spcBef>
                <a:spcPts val="440"/>
              </a:spcBef>
              <a:buFont typeface="Arial"/>
              <a:buChar char="•"/>
            </a:pPr>
            <a:r>
              <a:rPr lang="en-US" sz="1900" dirty="0">
                <a:solidFill>
                  <a:srgbClr val="000000"/>
                </a:solidFill>
                <a:latin typeface="Arial"/>
                <a:cs typeface="Arial"/>
              </a:rPr>
              <a:t>Xây dựng đề cương 2: chuỗi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Kiểm tra cân bằng dịch có được ghi hằng ngày theo quy trình: nghiên cứu, audit hay QI?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'Ở nhân viên ICU, phản hồi vệ sinh tay so với không phản hồi có tăng tuân thủ sau 3 tháng?' Nêu P, I,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Ví dụ xuyên suốt trượt tiêu chí FINER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nào là mục tiêu: 'tìm hiểu về mê sảng' hay 'ước tính tỷ lệ mê sảng'?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Viết H0 cho: vận động sớm có rút ngắn thời gian nằm ICU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trên giấy, đối chiếu với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43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Audit</a:t>
            </a:r>
          </a:p>
        </p:txBody>
      </p:sp>
      <p:sp>
        <p:nvSpPr>
          <p:cNvPr id="71" name="CardBody"/>
          <p:cNvSpPr/>
          <p:nvPr/>
        </p:nvSpPr>
        <p:spPr>
          <a:xfrm>
            <a:off x="45720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Kiểm tra thực hành</a:t>
            </a:r>
          </a:p>
          <a:p>
            <a:pPr marL="0" indent="0" algn="l">
              <a:lnSpc>
                <a:spcPct val="104000"/>
              </a:lnSpc>
              <a:spcBef>
                <a:spcPts val="400"/>
              </a:spcBef>
              <a:buNone/>
            </a:pPr>
            <a:r>
              <a:rPr lang="en-US" sz="1450" dirty="0">
                <a:solidFill>
                  <a:srgbClr val="000000"/>
                </a:solidFill>
                <a:latin typeface="Arial"/>
                <a:cs typeface="Arial"/>
              </a:rPr>
              <a:t>so với tiêu chuẩn</a:t>
            </a:r>
          </a:p>
        </p:txBody>
      </p:sp>
      <p:sp>
        <p:nvSpPr>
          <p:cNvPr id="72" name="CardHead"/>
          <p:cNvSpPr/>
          <p:nvPr/>
        </p:nvSpPr>
        <p:spPr>
          <a:xfrm>
            <a:off x="2752720" y="18643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PICO(T)</a:t>
            </a:r>
          </a:p>
        </p:txBody>
      </p:sp>
      <p:sp>
        <p:nvSpPr>
          <p:cNvPr id="73" name="CardBody"/>
          <p:cNvSpPr/>
          <p:nvPr/>
        </p:nvSpPr>
        <p:spPr>
          <a:xfrm>
            <a:off x="275272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nhân viên ICU</a:t>
            </a:r>
          </a:p>
          <a:p>
            <a:pPr marL="0" indent="0" algn="l">
              <a:lnSpc>
                <a:spcPct val="104000"/>
              </a:lnSpc>
              <a:spcBef>
                <a:spcPts val="400"/>
              </a:spcBef>
              <a:buNone/>
            </a:pPr>
            <a:r>
              <a:rPr lang="en-US" sz="1450" dirty="0">
                <a:solidFill>
                  <a:srgbClr val="000000"/>
                </a:solidFill>
                <a:latin typeface="Arial"/>
                <a:cs typeface="Arial"/>
              </a:rPr>
              <a:t>I phản hồi  C không</a:t>
            </a:r>
          </a:p>
          <a:p>
            <a:pPr marL="0" indent="0" algn="l">
              <a:lnSpc>
                <a:spcPct val="104000"/>
              </a:lnSpc>
              <a:spcBef>
                <a:spcPts val="400"/>
              </a:spcBef>
              <a:buNone/>
            </a:pPr>
            <a:r>
              <a:rPr lang="en-US" sz="1450" dirty="0">
                <a:solidFill>
                  <a:srgbClr val="000000"/>
                </a:solidFill>
                <a:latin typeface="Arial"/>
                <a:cs typeface="Arial"/>
              </a:rPr>
              <a:t>O tuân thủ</a:t>
            </a:r>
          </a:p>
          <a:p>
            <a:pPr marL="0" indent="0" algn="l">
              <a:lnSpc>
                <a:spcPct val="104000"/>
              </a:lnSpc>
              <a:spcBef>
                <a:spcPts val="400"/>
              </a:spcBef>
              <a:buNone/>
            </a:pPr>
            <a:r>
              <a:rPr lang="en-US" sz="1450" dirty="0">
                <a:solidFill>
                  <a:srgbClr val="000000"/>
                </a:solidFill>
                <a:latin typeface="Arial"/>
                <a:cs typeface="Arial"/>
              </a:rPr>
              <a:t>T 3 tháng</a:t>
            </a:r>
          </a:p>
        </p:txBody>
      </p:sp>
      <p:sp>
        <p:nvSpPr>
          <p:cNvPr id="74" name="CardHead"/>
          <p:cNvSpPr/>
          <p:nvPr/>
        </p:nvSpPr>
        <p:spPr>
          <a:xfrm>
            <a:off x="5048240" y="18643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Khả thi</a:t>
            </a:r>
          </a:p>
        </p:txBody>
      </p:sp>
      <p:sp>
        <p:nvSpPr>
          <p:cNvPr id="75" name="CardBody"/>
          <p:cNvSpPr/>
          <p:nvPr/>
        </p:nvSpPr>
        <p:spPr>
          <a:xfrm>
            <a:off x="504824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Tử vong cần</a:t>
            </a:r>
          </a:p>
          <a:p>
            <a:pPr marL="0" indent="0" algn="l">
              <a:lnSpc>
                <a:spcPct val="104000"/>
              </a:lnSpc>
              <a:spcBef>
                <a:spcPts val="400"/>
              </a:spcBef>
              <a:buNone/>
            </a:pPr>
            <a:r>
              <a:rPr lang="en-US" sz="1450" dirty="0">
                <a:solidFill>
                  <a:srgbClr val="000000"/>
                </a:solidFill>
                <a:latin typeface="Arial"/>
                <a:cs typeface="Arial"/>
              </a:rPr>
              <a:t>&gt;1.000 bệnh nhân</a:t>
            </a:r>
          </a:p>
        </p:txBody>
      </p:sp>
      <p:sp>
        <p:nvSpPr>
          <p:cNvPr id="76" name="CardHead"/>
          <p:cNvSpPr/>
          <p:nvPr/>
        </p:nvSpPr>
        <p:spPr>
          <a:xfrm>
            <a:off x="7343760" y="18643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Ước tính</a:t>
            </a:r>
          </a:p>
        </p:txBody>
      </p:sp>
      <p:sp>
        <p:nvSpPr>
          <p:cNvPr id="77" name="CardBody"/>
          <p:cNvSpPr/>
          <p:nvPr/>
        </p:nvSpPr>
        <p:spPr>
          <a:xfrm>
            <a:off x="734376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Động từ đo được;</a:t>
            </a:r>
          </a:p>
          <a:p>
            <a:pPr marL="0" indent="0" algn="l">
              <a:lnSpc>
                <a:spcPct val="104000"/>
              </a:lnSpc>
              <a:spcBef>
                <a:spcPts val="400"/>
              </a:spcBef>
              <a:buNone/>
            </a:pPr>
            <a:r>
              <a:rPr lang="en-US" sz="1450" dirty="0">
                <a:solidFill>
                  <a:srgbClr val="000000"/>
                </a:solidFill>
                <a:latin typeface="Arial"/>
                <a:cs typeface="Arial"/>
              </a:rPr>
              <a:t>'tìm hiểu' thì không</a:t>
            </a:r>
          </a:p>
        </p:txBody>
      </p:sp>
      <p:sp>
        <p:nvSpPr>
          <p:cNvPr id="78" name="CardHead"/>
          <p:cNvSpPr/>
          <p:nvPr/>
        </p:nvSpPr>
        <p:spPr>
          <a:xfrm>
            <a:off x="9639280" y="18643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H0</a:t>
            </a:r>
          </a:p>
        </p:txBody>
      </p:sp>
      <p:sp>
        <p:nvSpPr>
          <p:cNvPr id="79" name="CardBody"/>
          <p:cNvSpPr/>
          <p:nvPr/>
        </p:nvSpPr>
        <p:spPr>
          <a:xfrm>
            <a:off x="963928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Thời gian nằm ICU</a:t>
            </a:r>
          </a:p>
          <a:p>
            <a:pPr marL="0" indent="0" algn="l">
              <a:lnSpc>
                <a:spcPct val="104000"/>
              </a:lnSpc>
              <a:spcBef>
                <a:spcPts val="400"/>
              </a:spcBef>
              <a:buNone/>
            </a:pPr>
            <a:r>
              <a:rPr lang="en-US" sz="1450" dirty="0">
                <a:solidFill>
                  <a:srgbClr val="000000"/>
                </a:solidFill>
                <a:latin typeface="Arial"/>
                <a:cs typeface="Arial"/>
              </a:rPr>
              <a:t>như nhau giữa vận</a:t>
            </a:r>
          </a:p>
          <a:p>
            <a:pPr marL="0" indent="0" algn="l">
              <a:lnSpc>
                <a:spcPct val="104000"/>
              </a:lnSpc>
              <a:spcBef>
                <a:spcPts val="400"/>
              </a:spcBef>
              <a:buNone/>
            </a:pPr>
            <a:r>
              <a:rPr lang="en-US" sz="1450" dirty="0">
                <a:solidFill>
                  <a:srgbClr val="000000"/>
                </a:solidFill>
                <a:latin typeface="Arial"/>
                <a:cs typeface="Arial"/>
              </a:rPr>
              <a:t>động sớm và</a:t>
            </a:r>
          </a:p>
          <a:p>
            <a:pPr marL="0" indent="0" algn="l">
              <a:lnSpc>
                <a:spcPct val="104000"/>
              </a:lnSpc>
              <a:spcBef>
                <a:spcPts val="400"/>
              </a:spcBef>
              <a:buNone/>
            </a:pPr>
            <a:r>
              <a:rPr lang="en-US" sz="1450" dirty="0">
                <a:solidFill>
                  <a:srgbClr val="000000"/>
                </a:solidFill>
                <a:latin typeface="Arial"/>
                <a:cs typeface="Arial"/>
              </a:rPr>
              <a:t>thường quy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đúng 4 hoặc 5 câu, bạn đã sẵn sàng cho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2.1  Tìm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nghiên cứu, hãy tìm xem điều gì đã được biết.</a:t>
            </a:r>
          </a:p>
          <a:p>
            <a:pPr marL="0" indent="0" algn="ctr">
              <a:spcBef>
                <a:spcPts val="1200"/>
              </a:spcBef>
              <a:buNone/>
            </a:pPr>
            <a:r>
              <a:rPr lang="en-US" sz="1900" i="1" dirty="0">
                <a:solidFill>
                  <a:srgbClr val="595959"/>
                </a:solidFill>
                <a:latin typeface="Arial"/>
                <a:cs typeface="Arial"/>
              </a:rPr>
              <a:t>40 phút: phễu tìm kiếm, từ PICO đến khối tìm kiếm, Boolean, MeSH, công cụ tìm kiếm và trình diễn PubMed trực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Phễu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kiếm tốt bắt đầu rộng, thu hẹp từng bước và được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PICO đến các khối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khái niệm PICO một khối: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2: một câu hỏi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một cách cho mọi chủ đề: khái niệm thành khối, từ đồng nghĩa nối bằng OR, các khối nối bằng 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Logic Boolean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AND thu hẹp, OR mở rộng, NOT loại bỏ. Hạn chế dùng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AND, OR hay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có CẢ mê sảng VÀ gãy cổ xương đùi: dùng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dùng HOẶC 'pressure ulcer' HOẶC 'bedsore':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Tìm kiếm ra 40.000 kết quả. Thêm khối AND thứ ba sẽ nhiều hơn hay ít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Vì sao 'sepsis NOT children' là rủi 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MeSH: nhãn chung cho nhiều cách viết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cả thuật ngữ MeSH VÀ từ tự do, nối với nhau bằng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công cụ giúp tìm chính xác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"Ngoặc kép"</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"septic shock"</a:t>
            </a:r>
          </a:p>
          <a:p>
            <a:pPr marL="0" indent="0" algn="l">
              <a:lnSpc>
                <a:spcPct val="104000"/>
              </a:lnSpc>
              <a:spcBef>
                <a:spcPts val="400"/>
              </a:spcBef>
              <a:buNone/>
            </a:pPr>
            <a:r>
              <a:rPr lang="en-US" sz="1600" dirty="0">
                <a:solidFill>
                  <a:srgbClr val="000000"/>
                </a:solidFill>
                <a:latin typeface="Arial"/>
                <a:cs typeface="Arial"/>
              </a:rPr>
              <a:t>= đúng cụm từ,</a:t>
            </a:r>
          </a:p>
          <a:p>
            <a:pPr marL="0" indent="0" algn="l">
              <a:lnSpc>
                <a:spcPct val="104000"/>
              </a:lnSpc>
              <a:spcBef>
                <a:spcPts val="400"/>
              </a:spcBef>
              <a:buNone/>
            </a:pPr>
            <a:r>
              <a:rPr lang="en-US" sz="1600" dirty="0">
                <a:solidFill>
                  <a:srgbClr val="000000"/>
                </a:solidFill>
                <a:latin typeface="Arial"/>
                <a:cs typeface="Arial"/>
              </a:rPr>
              <a:t>không phải hai từ rời</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Cắt cụt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restrict*</a:t>
            </a:r>
          </a:p>
          <a:p>
            <a:pPr marL="0" indent="0" algn="l">
              <a:lnSpc>
                <a:spcPct val="104000"/>
              </a:lnSpc>
              <a:spcBef>
                <a:spcPts val="400"/>
              </a:spcBef>
              <a:buNone/>
            </a:pPr>
            <a:r>
              <a:rPr lang="en-US" sz="1600" dirty="0">
                <a:solidFill>
                  <a:srgbClr val="000000"/>
                </a:solidFill>
                <a:latin typeface="Arial"/>
                <a:cs typeface="Arial"/>
              </a:rPr>
              <a:t>= restrict, restricted,</a:t>
            </a:r>
          </a:p>
          <a:p>
            <a:pPr marL="0" indent="0" algn="l">
              <a:lnSpc>
                <a:spcPct val="104000"/>
              </a:lnSpc>
              <a:spcBef>
                <a:spcPts val="400"/>
              </a:spcBef>
              <a:buNone/>
            </a:pPr>
            <a:r>
              <a:rPr lang="en-US" sz="1600" dirty="0">
                <a:solidFill>
                  <a:srgbClr val="000000"/>
                </a:solidFill>
                <a:latin typeface="Arial"/>
                <a:cs typeface="Arial"/>
              </a:rPr>
              <a:t>restriction, restrictive</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Thẻ trường</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[tiab] tiêu đề/tóm tắt</a:t>
            </a:r>
          </a:p>
          <a:p>
            <a:pPr marL="0" indent="0" algn="l">
              <a:lnSpc>
                <a:spcPct val="104000"/>
              </a:lnSpc>
              <a:spcBef>
                <a:spcPts val="400"/>
              </a:spcBef>
              <a:buNone/>
            </a:pPr>
            <a:r>
              <a:rPr lang="en-US" sz="1600" dirty="0">
                <a:solidFill>
                  <a:srgbClr val="000000"/>
                </a:solidFill>
                <a:latin typeface="Arial"/>
                <a:cs typeface="Arial"/>
              </a:rPr>
              <a:t>[mh] thuật ngữ MeSH</a:t>
            </a:r>
          </a:p>
          <a:p>
            <a:pPr marL="0" indent="0" algn="l">
              <a:lnSpc>
                <a:spcPct val="104000"/>
              </a:lnSpc>
              <a:spcBef>
                <a:spcPts val="400"/>
              </a:spcBef>
              <a:buNone/>
            </a:pPr>
            <a:r>
              <a:rPr lang="en-US" sz="1600" dirty="0">
                <a:solidFill>
                  <a:srgbClr val="000000"/>
                </a:solidFill>
                <a:latin typeface="Arial"/>
                <a:cs typeface="Arial"/>
              </a:rPr>
              <a:t>[pt] loại bài báo</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Bộ lọc</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Loại bài (RCT,</a:t>
            </a:r>
          </a:p>
          <a:p>
            <a:pPr marL="0" indent="0" algn="l">
              <a:lnSpc>
                <a:spcPct val="104000"/>
              </a:lnSpc>
              <a:spcBef>
                <a:spcPts val="400"/>
              </a:spcBef>
              <a:buNone/>
            </a:pPr>
            <a:r>
              <a:rPr lang="en-US" sz="1600" dirty="0">
                <a:solidFill>
                  <a:srgbClr val="000000"/>
                </a:solidFill>
                <a:latin typeface="Arial"/>
                <a:cs typeface="Arial"/>
              </a:rPr>
              <a:t>tổng quan hệ thống)</a:t>
            </a:r>
          </a:p>
          <a:p>
            <a:pPr marL="0" indent="0" algn="l">
              <a:lnSpc>
                <a:spcPct val="104000"/>
              </a:lnSpc>
              <a:spcBef>
                <a:spcPts val="400"/>
              </a:spcBef>
              <a:buNone/>
            </a:pPr>
            <a:r>
              <a:rPr lang="en-US" sz="1600" dirty="0">
                <a:solidFill>
                  <a:srgbClr val="000000"/>
                </a:solidFill>
                <a:latin typeface="Arial"/>
                <a:cs typeface="Arial"/>
              </a:rPr>
              <a:t>Năm, tuổi, người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Xem 'Search details' để biết chính xác PubMed đã tìm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và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PubMed cho tìm kiếm chính; Google Scholar để kiểm tra và theo dấu trích dẫn.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câu hỏi của chúng ta trên PubMed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một từ khóa, septic shock, và ghi lại số kết quả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Dán chuỗi PICO đầy đủ: khối P, I và O nối bằng 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'Search details': PubMed thực sự đã tìm gì?</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Thêm bộ lọc: RCT và tổng quan hệ thống, người lớn, 10 năm gần đây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kết quả: tóm tắt, MeSH, 'Similar articles', 'Cited by'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Send to: Citation manager (sẽ nhập vào ở phần 2.2)</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Hãy để ý</a:t>
            </a:r>
          </a:p>
          <a:p>
            <a:pPr marL="274320" indent="-274320" algn="l">
              <a:lnSpc>
                <a:spcPct val="104000"/>
              </a:lnSpc>
              <a:spcBef>
                <a:spcPts val="300"/>
              </a:spcBef>
              <a:buFont typeface="Arial"/>
              <a:buChar char="•"/>
            </a:pPr>
            <a:r>
              <a:rPr lang="en-US" sz="1500" dirty="0">
                <a:solidFill>
                  <a:srgbClr val="000000"/>
                </a:solidFill>
                <a:latin typeface="Arial"/>
                <a:cs typeface="Arial"/>
              </a:rPr>
              <a:t>Số kết quả giảm thế nào sau mỗi bước</a:t>
            </a:r>
          </a:p>
          <a:p>
            <a:pPr marL="274320" indent="-274320" algn="l">
              <a:lnSpc>
                <a:spcPct val="104000"/>
              </a:lnSpc>
              <a:spcBef>
                <a:spcPts val="300"/>
              </a:spcBef>
              <a:buFont typeface="Arial"/>
              <a:buChar char="•"/>
            </a:pPr>
            <a:r>
              <a:rPr lang="en-US" sz="1500" dirty="0">
                <a:solidFill>
                  <a:srgbClr val="000000"/>
                </a:solidFill>
                <a:latin typeface="Arial"/>
                <a:cs typeface="Arial"/>
              </a:rPr>
              <a:t>Bài nào cứ xuất hiện lại</a:t>
            </a:r>
          </a:p>
          <a:p>
            <a:pPr marL="274320" indent="-274320" algn="l">
              <a:lnSpc>
                <a:spcPct val="104000"/>
              </a:lnSpc>
              <a:spcBef>
                <a:spcPts val="300"/>
              </a:spcBef>
              <a:buFont typeface="Arial"/>
              <a:buChar char="•"/>
            </a:pPr>
            <a:r>
              <a:rPr lang="en-US" sz="1500" dirty="0">
                <a:solidFill>
                  <a:srgbClr val="000000"/>
                </a:solidFill>
                <a:latin typeface="Arial"/>
                <a:cs typeface="Arial"/>
              </a:rPr>
              <a:t>Bạn có tìm thấy Bài báo 1 và CLASSIC?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SẢN PHẨM   </a:t>
            </a:r>
            <a:r>
              <a:rPr lang="en-US" sz="1500" dirty="0">
                <a:solidFill>
                  <a:srgbClr val="000000"/>
                </a:solidFill>
                <a:latin typeface="Arial"/>
                <a:cs typeface="Arial"/>
              </a:rPr>
              <a:t>Một chuỗi tìm kiếm cả lớp có thể chép lại (Bài tập 1 trong phiếu)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xây chuỗi tìm kiếm Boolean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Lấy câu hỏi PICO của nhóm và danh sách từ đồng nghĩa</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1: viết 2-4 từ đồng nghĩa (tiếng Anh) cho P, I (hoặc E) và 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Nối từ đồng nghĩa bằng OR trong ngoặc, các khối bằng AND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Đánh dấu từ nào có thể là thuật ngữ MeSH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Đổi phiếu với người bên cạnh: tìm một từ đồng nghĩa còn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SẢN PHẨM   </a:t>
            </a:r>
            <a:r>
              <a:rPr lang="en-US" sz="1500" dirty="0">
                <a:solidFill>
                  <a:srgbClr val="000000"/>
                </a:solidFill>
                <a:latin typeface="Arial"/>
                <a:cs typeface="Arial"/>
              </a:rPr>
              <a:t>Một chuỗi tìm kiếm trên giấy, để nhóm chạy trong Xây dựng đề cương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2.2  Quản lý và trích dẫn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Giữ lại mọi tài liệu bạn tìm được, và dùng công trình của người khác một cách trung thực.</a:t>
            </a:r>
          </a:p>
          <a:p>
            <a:pPr marL="0" indent="0" algn="ctr">
              <a:spcBef>
                <a:spcPts val="1200"/>
              </a:spcBef>
              <a:buNone/>
            </a:pPr>
            <a:r>
              <a:rPr lang="en-US" sz="1900" i="1" dirty="0">
                <a:solidFill>
                  <a:srgbClr val="595959"/>
                </a:solidFill>
                <a:latin typeface="Arial"/>
                <a:cs typeface="Arial"/>
              </a:rPr>
              <a:t>20 phút: phần mềm quản lý tài liệu (trình diễn Zotero), kiểu trích dẫn, diễn đạt lại an toàn, y văn xám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mềm quản lý tài liệu: lưu ngay khi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Gom</a:t>
            </a:r>
          </a:p>
        </p:txBody>
      </p:sp>
      <p:sp>
        <p:nvSpPr>
          <p:cNvPr id="81" name="StepText"/>
          <p:cNvSpPr/>
          <p:nvPr/>
        </p:nvSpPr>
        <p:spPr>
          <a:xfrm>
            <a:off x="49720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Đánh dấu bài trên</a:t>
            </a:r>
          </a:p>
          <a:p>
            <a:pPr marL="0" indent="0" algn="l">
              <a:lnSpc>
                <a:spcPct val="104000"/>
              </a:lnSpc>
              <a:spcBef>
                <a:spcPts val="200"/>
              </a:spcBef>
              <a:buNone/>
            </a:pPr>
            <a:r>
              <a:rPr lang="en-US" sz="1500" dirty="0">
                <a:solidFill>
                  <a:srgbClr val="000000"/>
                </a:solidFill>
                <a:latin typeface="Arial"/>
                <a:cs typeface="Arial"/>
              </a:rPr>
              <a:t>PubMed: Clipboard</a:t>
            </a:r>
          </a:p>
          <a:p>
            <a:pPr marL="0" indent="0" algn="l">
              <a:lnSpc>
                <a:spcPct val="104000"/>
              </a:lnSpc>
              <a:spcBef>
                <a:spcPts val="200"/>
              </a:spcBef>
              <a:buNone/>
            </a:pPr>
            <a:r>
              <a:rPr lang="en-US" sz="1500" dirty="0">
                <a:solidFill>
                  <a:srgbClr val="000000"/>
                </a:solidFill>
                <a:latin typeface="Arial"/>
                <a:cs typeface="Arial"/>
              </a:rPr>
              <a:t>hoặc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a:t>
            </a:r>
          </a:p>
        </p:txBody>
      </p:sp>
      <p:sp>
        <p:nvSpPr>
          <p:cNvPr id="83" name="StepText"/>
          <p:cNvSpPr/>
          <p:nvPr/>
        </p:nvSpPr>
        <p:spPr>
          <a:xfrm>
            <a:off x="274072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Send to:</a:t>
            </a:r>
          </a:p>
          <a:p>
            <a:pPr marL="0" indent="0" algn="l">
              <a:lnSpc>
                <a:spcPct val="104000"/>
              </a:lnSpc>
              <a:spcBef>
                <a:spcPts val="200"/>
              </a:spcBef>
              <a:buNone/>
            </a:pPr>
            <a:r>
              <a:rPr lang="en-US" sz="1500" dirty="0">
                <a:solidFill>
                  <a:srgbClr val="000000"/>
                </a:solidFill>
                <a:latin typeface="Arial"/>
                <a:cs typeface="Arial"/>
              </a:rPr>
              <a:t>Citation manager</a:t>
            </a:r>
          </a:p>
          <a:p>
            <a:pPr marL="0" indent="0" algn="l">
              <a:lnSpc>
                <a:spcPct val="104000"/>
              </a:lnSpc>
              <a:spcBef>
                <a:spcPts val="200"/>
              </a:spcBef>
              <a:buNone/>
            </a:pPr>
            <a:r>
              <a:rPr lang="en-US" sz="1500" dirty="0">
                <a:solidFill>
                  <a:srgbClr val="000000"/>
                </a:solidFill>
                <a:latin typeface="Arial"/>
                <a:cs typeface="Arial"/>
              </a:rPr>
              <a:t>(tệp .nbib)</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Nhập</a:t>
            </a:r>
          </a:p>
        </p:txBody>
      </p:sp>
      <p:sp>
        <p:nvSpPr>
          <p:cNvPr id="85" name="StepText"/>
          <p:cNvSpPr/>
          <p:nvPr/>
        </p:nvSpPr>
        <p:spPr>
          <a:xfrm>
            <a:off x="498424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Zotero hoặc Mendeley</a:t>
            </a:r>
          </a:p>
          <a:p>
            <a:pPr marL="0" indent="0" algn="l">
              <a:lnSpc>
                <a:spcPct val="104000"/>
              </a:lnSpc>
              <a:spcBef>
                <a:spcPts val="200"/>
              </a:spcBef>
              <a:buNone/>
            </a:pPr>
            <a:r>
              <a:rPr lang="en-US" sz="1500" dirty="0">
                <a:solidFill>
                  <a:srgbClr val="000000"/>
                </a:solidFill>
                <a:latin typeface="Arial"/>
                <a:cs typeface="Arial"/>
              </a:rPr>
              <a:t>(miễn phí), EndNote</a:t>
            </a:r>
          </a:p>
          <a:p>
            <a:pPr marL="0" indent="0" algn="l">
              <a:lnSpc>
                <a:spcPct val="104000"/>
              </a:lnSpc>
              <a:spcBef>
                <a:spcPts val="200"/>
              </a:spcBef>
              <a:buNone/>
            </a:pPr>
            <a:r>
              <a:rPr lang="en-US" sz="1500" dirty="0">
                <a:solidFill>
                  <a:srgbClr val="000000"/>
                </a:solidFill>
                <a:latin typeface="Arial"/>
                <a:cs typeface="Arial"/>
              </a:rPr>
              <a:t>(trả phí)</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Trích dẫn</a:t>
            </a:r>
          </a:p>
        </p:txBody>
      </p:sp>
      <p:sp>
        <p:nvSpPr>
          <p:cNvPr id="87" name="StepText"/>
          <p:cNvSpPr/>
          <p:nvPr/>
        </p:nvSpPr>
        <p:spPr>
          <a:xfrm>
            <a:off x="722776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Chèn trích dẫn</a:t>
            </a:r>
          </a:p>
          <a:p>
            <a:pPr marL="0" indent="0" algn="l">
              <a:lnSpc>
                <a:spcPct val="104000"/>
              </a:lnSpc>
              <a:spcBef>
                <a:spcPts val="200"/>
              </a:spcBef>
              <a:buNone/>
            </a:pPr>
            <a:r>
              <a:rPr lang="en-US" sz="1500" dirty="0">
                <a:solidFill>
                  <a:srgbClr val="000000"/>
                </a:solidFill>
                <a:latin typeface="Arial"/>
                <a:cs typeface="Arial"/>
              </a:rPr>
              <a:t>trong Word bằng</a:t>
            </a:r>
          </a:p>
          <a:p>
            <a:pPr marL="0" indent="0" algn="l">
              <a:lnSpc>
                <a:spcPct val="104000"/>
              </a:lnSpc>
              <a:spcBef>
                <a:spcPts val="200"/>
              </a:spcBef>
              <a:buNone/>
            </a:pPr>
            <a:r>
              <a:rPr lang="en-US" sz="1500" dirty="0">
                <a:solidFill>
                  <a:srgbClr val="000000"/>
                </a:solidFill>
                <a:latin typeface="Arial"/>
                <a:cs typeface="Arial"/>
              </a:rPr>
              <a:t>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Danh mục</a:t>
            </a:r>
          </a:p>
        </p:txBody>
      </p:sp>
      <p:sp>
        <p:nvSpPr>
          <p:cNvPr id="89" name="StepText"/>
          <p:cNvSpPr/>
          <p:nvPr/>
        </p:nvSpPr>
        <p:spPr>
          <a:xfrm>
            <a:off x="947128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Danh mục tài liệu</a:t>
            </a:r>
          </a:p>
          <a:p>
            <a:pPr marL="0" indent="0" algn="l">
              <a:lnSpc>
                <a:spcPct val="104000"/>
              </a:lnSpc>
              <a:spcBef>
                <a:spcPts val="200"/>
              </a:spcBef>
              <a:buNone/>
            </a:pPr>
            <a:r>
              <a:rPr lang="en-US" sz="1500" dirty="0">
                <a:solidFill>
                  <a:srgbClr val="000000"/>
                </a:solidFill>
                <a:latin typeface="Arial"/>
                <a:cs typeface="Arial"/>
              </a:rPr>
              <a:t>tự động, theo</a:t>
            </a:r>
          </a:p>
          <a:p>
            <a:pPr marL="0" indent="0" algn="l">
              <a:lnSpc>
                <a:spcPct val="104000"/>
              </a:lnSpc>
              <a:spcBef>
                <a:spcPts val="200"/>
              </a:spcBef>
              <a:buNone/>
            </a:pPr>
            <a:r>
              <a:rPr lang="en-US" sz="1500" dirty="0">
                <a:solidFill>
                  <a:srgbClr val="000000"/>
                </a:solidFill>
                <a:latin typeface="Arial"/>
                <a:cs typeface="Arial"/>
              </a:rPr>
              <a:t>mọi kiểu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mềm quản lý tài liệu ngăn lỗi phổ biến nhất trong đề cương: trích dẫn sai.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từ PubMed sang Zotero đến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Nhập tệp .nbib từ phần trình diễn PubMed vào Zotero</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tác giả, tiêu đề, tạp chí, năm, DOI, không gõ tay gì cả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Trong Word: thẻ Zotero, Add/Edit Citation, gõ 'Meyhoff'</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Add/Edit Bibliography: danh mục tài liệu xuất hiện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Document Preferences: đổi Vancouver sang APA rồi đổi lại</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Hãy để ý</a:t>
            </a:r>
          </a:p>
          <a:p>
            <a:pPr marL="274320" indent="-274320" algn="l">
              <a:lnSpc>
                <a:spcPct val="104000"/>
              </a:lnSpc>
              <a:spcBef>
                <a:spcPts val="300"/>
              </a:spcBef>
              <a:buFont typeface="Arial"/>
              <a:buChar char="•"/>
            </a:pPr>
            <a:r>
              <a:rPr lang="en-US" sz="1500" dirty="0">
                <a:solidFill>
                  <a:srgbClr val="000000"/>
                </a:solidFill>
                <a:latin typeface="Arial"/>
                <a:cs typeface="Arial"/>
              </a:rPr>
              <a:t>[1] thành (Meyhoff et al., 2022)</a:t>
            </a:r>
          </a:p>
          <a:p>
            <a:pPr marL="274320" indent="-274320" algn="l">
              <a:lnSpc>
                <a:spcPct val="104000"/>
              </a:lnSpc>
              <a:spcBef>
                <a:spcPts val="300"/>
              </a:spcBef>
              <a:buFont typeface="Arial"/>
              <a:buChar char="•"/>
            </a:pPr>
            <a:r>
              <a:rPr lang="en-US" sz="1500" dirty="0">
                <a:solidFill>
                  <a:srgbClr val="000000"/>
                </a:solidFill>
                <a:latin typeface="Arial"/>
                <a:cs typeface="Arial"/>
              </a:rPr>
              <a:t>Danh mục tự định dạng lại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đã thấy trọn chu trình gom → trích dẫn → danh mục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Kiểu trích dẫn: một bài, hai cách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kiểu tạp chí đích dùng; để phần mềm lo việc định dạng.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Trích dẫn và sao chép: diễn đạt lại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Thay đổi cả cấu trúc lẫn từ ngữ, và luôn trích dẫn nguồn.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quy tắc trích dẫn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dữ kiện</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Con số, phát hiện</a:t>
            </a:r>
          </a:p>
          <a:p>
            <a:pPr marL="0" indent="0" algn="l">
              <a:lnSpc>
                <a:spcPct val="104000"/>
              </a:lnSpc>
              <a:spcBef>
                <a:spcPts val="400"/>
              </a:spcBef>
              <a:buNone/>
            </a:pPr>
            <a:r>
              <a:rPr lang="en-US" sz="1600" dirty="0">
                <a:solidFill>
                  <a:srgbClr val="000000"/>
                </a:solidFill>
                <a:latin typeface="Arial"/>
                <a:cs typeface="Arial"/>
              </a:rPr>
              <a:t>và ý tưởng của người</a:t>
            </a:r>
          </a:p>
          <a:p>
            <a:pPr marL="0" indent="0" algn="l">
              <a:lnSpc>
                <a:spcPct val="104000"/>
              </a:lnSpc>
              <a:spcBef>
                <a:spcPts val="400"/>
              </a:spcBef>
              <a:buNone/>
            </a:pPr>
            <a:r>
              <a:rPr lang="en-US" sz="1600" dirty="0">
                <a:solidFill>
                  <a:srgbClr val="000000"/>
                </a:solidFill>
                <a:latin typeface="Arial"/>
                <a:cs typeface="Arial"/>
              </a:rPr>
              <a:t>khác cần trích dẫn</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nguồn gốc</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Đọc và trích</a:t>
            </a:r>
          </a:p>
          <a:p>
            <a:pPr marL="0" indent="0" algn="l">
              <a:lnSpc>
                <a:spcPct val="104000"/>
              </a:lnSpc>
              <a:spcBef>
                <a:spcPts val="400"/>
              </a:spcBef>
              <a:buNone/>
            </a:pPr>
            <a:r>
              <a:rPr lang="en-US" sz="1600" dirty="0">
                <a:solidFill>
                  <a:srgbClr val="000000"/>
                </a:solidFill>
                <a:latin typeface="Arial"/>
                <a:cs typeface="Arial"/>
              </a:rPr>
              <a:t>bài báo gốc,</a:t>
            </a:r>
          </a:p>
          <a:p>
            <a:pPr marL="0" indent="0" algn="l">
              <a:lnSpc>
                <a:spcPct val="104000"/>
              </a:lnSpc>
              <a:spcBef>
                <a:spcPts val="400"/>
              </a:spcBef>
              <a:buNone/>
            </a:pPr>
            <a:r>
              <a:rPr lang="en-US" sz="1600" dirty="0">
                <a:solidFill>
                  <a:srgbClr val="000000"/>
                </a:solidFill>
                <a:latin typeface="Arial"/>
                <a:cs typeface="Arial"/>
              </a:rPr>
              <a:t>không trích bản tóm lược</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Lời của mình</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Cấu trúc mới;</a:t>
            </a:r>
          </a:p>
          <a:p>
            <a:pPr marL="0" indent="0" algn="l">
              <a:lnSpc>
                <a:spcPct val="104000"/>
              </a:lnSpc>
              <a:spcBef>
                <a:spcPts val="400"/>
              </a:spcBef>
              <a:buNone/>
            </a:pPr>
            <a:r>
              <a:rPr lang="en-US" sz="1600" dirty="0">
                <a:solidFill>
                  <a:srgbClr val="000000"/>
                </a:solidFill>
                <a:latin typeface="Arial"/>
                <a:cs typeface="Arial"/>
              </a:rPr>
              <a:t>nguyên văn phải</a:t>
            </a:r>
          </a:p>
          <a:p>
            <a:pPr marL="0" indent="0" algn="l">
              <a:lnSpc>
                <a:spcPct val="104000"/>
              </a:lnSpc>
              <a:spcBef>
                <a:spcPts val="400"/>
              </a:spcBef>
              <a:buNone/>
            </a:pPr>
            <a:r>
              <a:rPr lang="en-US" sz="1600" dirty="0">
                <a:solidFill>
                  <a:srgbClr val="000000"/>
                </a:solidFill>
                <a:latin typeface="Arial"/>
                <a:cs typeface="Arial"/>
              </a:rPr>
              <a:t>có ngoặc kép</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Mỗi tài liệu</a:t>
            </a:r>
          </a:p>
          <a:p>
            <a:pPr marL="0" indent="0" algn="l">
              <a:lnSpc>
                <a:spcPct val="104000"/>
              </a:lnSpc>
              <a:spcBef>
                <a:spcPts val="400"/>
              </a:spcBef>
              <a:buNone/>
            </a:pPr>
            <a:r>
              <a:rPr lang="en-US" sz="1600" dirty="0">
                <a:solidFill>
                  <a:srgbClr val="000000"/>
                </a:solidFill>
                <a:latin typeface="Arial"/>
                <a:cs typeface="Arial"/>
              </a:rPr>
              <a:t>nói đúng điều</a:t>
            </a:r>
          </a:p>
          <a:p>
            <a:pPr marL="0" indent="0" algn="l">
              <a:lnSpc>
                <a:spcPct val="104000"/>
              </a:lnSpc>
              <a:spcBef>
                <a:spcPts val="400"/>
              </a:spcBef>
              <a:buNone/>
            </a:pPr>
            <a:r>
              <a:rPr lang="en-US" sz="1600" dirty="0">
                <a:solidFill>
                  <a:srgbClr val="000000"/>
                </a:solidFill>
                <a:latin typeface="Arial"/>
                <a:cs typeface="Arial"/>
              </a:rPr>
              <a:t>bạn dẫn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bao giờ trích dẫn một bài báo bạn chưa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được hay không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chép một câu từ tóm tắt, đổi hai từ và thêm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nguyên văn một câu, trong ngoặc kép, có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viết một phát hiện bằng lời của mình nhưng quên trích dẫn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dẫn một bài thấy được nhắc trong bài tổng quan, mà không đọc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Giơ ngón cái lên (được) hoặc xuống (không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 văn xám và sổ đăng ký thử nghiệm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nhìn dưới mặt nước: sổ đăng ký và y văn xám giảm sai lệch xuất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Thư giãn, uống cà phê, trò chuyện với người khác nghề</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Suy nghĩ: nhóm bạn có thể làm vấn đề nào từ khoa mình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2.3  Đọc một bài báo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đọc từng chữ. Hãy đọc đúng chỗ, theo đúng thứ tự.</a:t>
            </a:r>
          </a:p>
          <a:p>
            <a:pPr marL="0" indent="0" algn="ctr">
              <a:spcBef>
                <a:spcPts val="1200"/>
              </a:spcBef>
              <a:buNone/>
            </a:pPr>
            <a:r>
              <a:rPr lang="en-US" sz="1900" i="1" dirty="0">
                <a:solidFill>
                  <a:srgbClr val="595959"/>
                </a:solidFill>
                <a:latin typeface="Arial"/>
                <a:cs typeface="Arial"/>
              </a:rPr>
              <a:t>40 phút: cấu trúc bài báo, thứ tự đọc, phần tóm tắt, thổi phồng, và bài tập đọc Bài báo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Cấu trúc bài báo: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bài báo gốc có cùng hình dạng: vì sao, làm gì, thấy gì, ý nghĩa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Thứ tự đọc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đề, tóm tắt, hình và bảng, phương pháp. Dừng sớm nếu không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tóm tắt phải có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Tóm tắt tốt giúp bạn viết PICO và kết quả chính mà không cần mở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câu kết quả: kém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kết quả chính cần: số mỗi nhóm, cỡ tác động, KTC 95% và mốc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Thổi phồng (spin): khi lời văn vượt quá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con số trước, rồi kiểm tra lời văn có khớp với chúng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chỗ thổi phồng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nghiên cứu đoàn hệ: 'Cho ăn sớm LÀM GIẢM viêm phổi ở bệnh nhân đột quỵ'</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p = 0,31: 'một xu hướng có lợi đầy hứa hẹn'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không khác biệt; tiêu điểm tóm tắt: 'cải thiện sự hài lòng của bệnh nhân'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giảm từ 30% xuống 22% sau quy trình mới' (không có nhóm chứng)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thổi phồng ở đâu, và bạn viết lại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đọc tóm tắt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Lấy phần tóm tắt của Bài báo 1 (Boulet 2024, Crit Care)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Điền bảng đọc (Bài tập 3): thiết kế, P, I vs 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cục chính, số sàng lọc và số phân tích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quả chính kèm KTC 95% và giá trị p</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luận có khớp với kết quả? Có thổi phồng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So sánh bảng của bạn với người bên cạnh</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Thời gian</a:t>
            </a:r>
          </a:p>
          <a:p>
            <a:pPr marL="0" indent="0" algn="l">
              <a:lnSpc>
                <a:spcPct val="104000"/>
              </a:lnSpc>
              <a:spcBef>
                <a:spcPts val="300"/>
              </a:spcBef>
              <a:buNone/>
            </a:pPr>
            <a:r>
              <a:rPr lang="en-US" sz="1500" dirty="0">
                <a:solidFill>
                  <a:srgbClr val="000000"/>
                </a:solidFill>
                <a:latin typeface="Arial"/>
                <a:cs typeface="Arial"/>
              </a:rPr>
              <a:t>8 phút đọc</a:t>
            </a:r>
          </a:p>
          <a:p>
            <a:pPr marL="0" indent="0" algn="l">
              <a:lnSpc>
                <a:spcPct val="104000"/>
              </a:lnSpc>
              <a:spcBef>
                <a:spcPts val="300"/>
              </a:spcBef>
              <a:buNone/>
            </a:pPr>
            <a:r>
              <a:rPr lang="en-US" sz="1500" dirty="0">
                <a:solidFill>
                  <a:srgbClr val="000000"/>
                </a:solidFill>
                <a:latin typeface="Arial"/>
                <a:cs typeface="Arial"/>
              </a:rPr>
              <a:t>4 phút so sánh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SẢN PHẨM   </a:t>
            </a:r>
            <a:r>
              <a:rPr lang="en-US" sz="1500" dirty="0">
                <a:solidFill>
                  <a:srgbClr val="000000"/>
                </a:solidFill>
                <a:latin typeface="Arial"/>
                <a:cs typeface="Arial"/>
              </a:rPr>
              <a:t>Một bảng đọc tóm tắt đã điền đủ</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Bài báo 1: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cục chính là cân bằng dịch, không phải tử vong. Hãy đọc đúng điều nghiên cứu đã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2.4  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Các bài báo bạn đọc trở thành trang đầu tiên của đề cương.</a:t>
            </a:r>
          </a:p>
          <a:p>
            <a:pPr marL="0" indent="0" algn="ctr">
              <a:spcBef>
                <a:spcPts val="1200"/>
              </a:spcBef>
              <a:buNone/>
            </a:pPr>
            <a:r>
              <a:rPr lang="en-US" sz="1900" i="1" dirty="0">
                <a:solidFill>
                  <a:srgbClr val="595959"/>
                </a:solidFill>
                <a:latin typeface="Arial"/>
                <a:cs typeface="Arial"/>
              </a:rPr>
              <a:t>15 phút: bảng ma trận tài liệu, phễu đặt vấn đề, một đoạn đặt vấn đề mẫu, tên đề tài tạm và từ khóa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Phiếu tổng quan tài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bài một dòng: hôm nay 5 dòng, mọi bài cùng các cột.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chưa biết, vì sao ở đây: rồi câu hỏi tự nhiên xuất hiện.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đoạn đặt vấn đề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ngắn, mỗi đoạn một nhiệm vụ, và tài liệu tham khảo trong ngoặc.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Tên đề tài tạm và từ khóa từ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PICO đã chứa sẵn tên đề tài: thêm thiết kế và giữ ngắn gọn.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tìm bằng chứng cho nhóm: một chuỗi tìm kiếm, năm bài báo, một đoạn đặt vấn đề, một tên đề tài.</a:t>
            </a:r>
          </a:p>
          <a:p>
            <a:pPr marL="0" indent="0" algn="ctr">
              <a:spcBef>
                <a:spcPts val="1200"/>
              </a:spcBef>
              <a:buNone/>
            </a:pPr>
            <a:r>
              <a:rPr lang="en-US" sz="1900" i="1" dirty="0">
                <a:solidFill>
                  <a:srgbClr val="595959"/>
                </a:solidFill>
                <a:latin typeface="Arial"/>
                <a:cs typeface="Arial"/>
              </a:rPr>
              <a:t>35 phút làm việc nhóm để hoàn thành Phần 1 của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 bằng chứng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Chạy chuỗi tìm kiếm trên PubMed; ghi ngày và số kết quả</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Sàng lọc tiêu đề và tóm tắt; chọn 5 bài chính; xuất sang Zotero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Điền mỗi bài một dòng trong bảng ma trận tài liệu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nháp đặt vấn đề: đã biết, chưa biết, vì sao ở đây</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Tên đề tài tạm (10-16 từ) + 3-6 từ khóa</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Một nhóm đọc to tên đề tài và khoảng trống</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Thời gian</a:t>
            </a:r>
          </a:p>
          <a:p>
            <a:pPr marL="0" indent="0" algn="l">
              <a:lnSpc>
                <a:spcPct val="104000"/>
              </a:lnSpc>
              <a:spcBef>
                <a:spcPts val="300"/>
              </a:spcBef>
              <a:buNone/>
            </a:pPr>
            <a:r>
              <a:rPr lang="en-US" sz="1500" dirty="0">
                <a:solidFill>
                  <a:srgbClr val="000000"/>
                </a:solidFill>
                <a:latin typeface="Arial"/>
                <a:cs typeface="Arial"/>
              </a:rPr>
              <a:t>0-8 phút: chạy tìm kiếm</a:t>
            </a:r>
          </a:p>
          <a:p>
            <a:pPr marL="0" indent="0" algn="l">
              <a:lnSpc>
                <a:spcPct val="104000"/>
              </a:lnSpc>
              <a:spcBef>
                <a:spcPts val="300"/>
              </a:spcBef>
              <a:buNone/>
            </a:pPr>
            <a:r>
              <a:rPr lang="en-US" sz="1500" dirty="0">
                <a:solidFill>
                  <a:srgbClr val="000000"/>
                </a:solidFill>
                <a:latin typeface="Arial"/>
                <a:cs typeface="Arial"/>
              </a:rPr>
              <a:t>8-16: sàng lọc + chọn 5 bài</a:t>
            </a:r>
          </a:p>
          <a:p>
            <a:pPr marL="0" indent="0" algn="l">
              <a:lnSpc>
                <a:spcPct val="104000"/>
              </a:lnSpc>
              <a:spcBef>
                <a:spcPts val="300"/>
              </a:spcBef>
              <a:buNone/>
            </a:pPr>
            <a:r>
              <a:rPr lang="en-US" sz="1500" dirty="0">
                <a:solidFill>
                  <a:srgbClr val="000000"/>
                </a:solidFill>
                <a:latin typeface="Arial"/>
                <a:cs typeface="Arial"/>
              </a:rPr>
              <a:t>16-22: các dòng ma trận</a:t>
            </a:r>
          </a:p>
          <a:p>
            <a:pPr marL="0" indent="0" algn="l">
              <a:lnSpc>
                <a:spcPct val="104000"/>
              </a:lnSpc>
              <a:spcBef>
                <a:spcPts val="300"/>
              </a:spcBef>
              <a:buNone/>
            </a:pPr>
            <a:r>
              <a:rPr lang="en-US" sz="1500" dirty="0">
                <a:solidFill>
                  <a:srgbClr val="000000"/>
                </a:solidFill>
                <a:latin typeface="Arial"/>
                <a:cs typeface="Arial"/>
              </a:rPr>
              <a:t>22-28: đặt vấn đề</a:t>
            </a:r>
          </a:p>
          <a:p>
            <a:pPr marL="0" indent="0" algn="l">
              <a:lnSpc>
                <a:spcPct val="104000"/>
              </a:lnSpc>
              <a:spcBef>
                <a:spcPts val="300"/>
              </a:spcBef>
              <a:buNone/>
            </a:pPr>
            <a:r>
              <a:rPr lang="en-US" sz="1500" dirty="0">
                <a:solidFill>
                  <a:srgbClr val="000000"/>
                </a:solidFill>
                <a:latin typeface="Arial"/>
                <a:cs typeface="Arial"/>
              </a:rPr>
              <a:t>28-31: tên đề tài + từ khóa</a:t>
            </a:r>
          </a:p>
          <a:p>
            <a:pPr marL="0" indent="0" algn="l">
              <a:lnSpc>
                <a:spcPct val="104000"/>
              </a:lnSpc>
              <a:spcBef>
                <a:spcPts val="300"/>
              </a:spcBef>
              <a:buNone/>
            </a:pPr>
            <a:r>
              <a:rPr lang="en-US" sz="1500" dirty="0">
                <a:solidFill>
                  <a:srgbClr val="000000"/>
                </a:solidFill>
                <a:latin typeface="Arial"/>
                <a:cs typeface="Arial"/>
              </a:rPr>
              <a:t>31-33: 1 nhóm đọc to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SẢN PHẨM   </a:t>
            </a:r>
            <a:r>
              <a:rPr lang="en-US" sz="1500" dirty="0">
                <a:solidFill>
                  <a:srgbClr val="000000"/>
                </a:solidFill>
                <a:latin typeface="Arial"/>
                <a:cs typeface="Arial"/>
              </a:rPr>
              <a:t>Hoàn thành Đề cương Phần 1: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rPr>
                        <a:t>Từ khóa</a:t>
                      </a:r>
                    </a:p>
                  </a:txBody>
                  <a:tcPr marL="73152" marR="73152" marT="36576" marB="36576" anchor="ctr">
                    <a:solidFill>
                      <a:srgbClr val="0D7377"/>
                    </a:solidFill>
                  </a:tcPr>
                </a:tc>
                <a:tc>
                  <a:txBody>
                    <a:bodyPr/>
                    <a:lstStyle/>
                    <a:p>
                      <a:pPr algn="l"/>
                      <a:r>
                        <a:rPr lang="en-US" sz="1500" b="1" dirty="0">
                          <a:solidFill>
                            <a:srgbClr val="FFFFFF"/>
                          </a:solidFill>
                          <a:latin typeface="Arial"/>
                        </a:rPr>
                        <a:t>Trong một câu</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MeSH</a:t>
                      </a:r>
                    </a:p>
                  </a:txBody>
                  <a:tcPr marL="73152" marR="73152" marT="36576" marB="36576" anchor="ctr">
                    <a:solidFill>
                      <a:srgbClr val="FFFFFF"/>
                    </a:solidFill>
                  </a:tcPr>
                </a:tc>
                <a:tc>
                  <a:txBody>
                    <a:bodyPr/>
                    <a:lstStyle/>
                    <a:p>
                      <a:pPr algn="l"/>
                      <a:r>
                        <a:rPr lang="en-US" sz="1500" b="0" dirty="0">
                          <a:solidFill>
                            <a:srgbClr val="000000"/>
                          </a:solidFill>
                          <a:latin typeface="Arial"/>
                        </a:rPr>
                        <a:t>Nhãn chung PubMed gán cho nhiều cách viết của một ý</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AND / OR / NOT</a:t>
                      </a:r>
                    </a:p>
                  </a:txBody>
                  <a:tcPr marL="73152" marR="73152" marT="36576" marB="36576" anchor="ctr">
                    <a:solidFill>
                      <a:srgbClr val="FFFFFF"/>
                    </a:solidFill>
                  </a:tcPr>
                </a:tc>
                <a:tc>
                  <a:txBody>
                    <a:bodyPr/>
                    <a:lstStyle/>
                    <a:p>
                      <a:pPr algn="l"/>
                      <a:r>
                        <a:rPr lang="en-US" sz="1500" b="0" dirty="0">
                          <a:solidFill>
                            <a:srgbClr val="000000"/>
                          </a:solidFill>
                          <a:latin typeface="Arial"/>
                        </a:rPr>
                        <a:t>Thu hẹp / mở rộng / loại bỏ. OR trong khối, AND giữa các khối</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Phần mềm quản lý tài liệu</a:t>
                      </a:r>
                    </a:p>
                  </a:txBody>
                  <a:tcPr marL="73152" marR="73152" marT="36576" marB="36576" anchor="ctr">
                    <a:solidFill>
                      <a:srgbClr val="FFFFFF"/>
                    </a:solidFill>
                  </a:tcPr>
                </a:tc>
                <a:tc>
                  <a:txBody>
                    <a:bodyPr/>
                    <a:lstStyle/>
                    <a:p>
                      <a:pPr algn="l"/>
                      <a:r>
                        <a:rPr lang="en-US" sz="1500" b="0" dirty="0">
                          <a:solidFill>
                            <a:srgbClr val="000000"/>
                          </a:solidFill>
                          <a:latin typeface="Arial"/>
                        </a:rPr>
                        <a:t>Lưu mỗi bài một lần và định dạng trích dẫn theo mọi kiểu</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Viết chắp vá</a:t>
                      </a:r>
                    </a:p>
                  </a:txBody>
                  <a:tcPr marL="73152" marR="73152" marT="36576" marB="36576" anchor="ctr">
                    <a:solidFill>
                      <a:srgbClr val="FFFFFF"/>
                    </a:solidFill>
                  </a:tcPr>
                </a:tc>
                <a:tc>
                  <a:txBody>
                    <a:bodyPr/>
                    <a:lstStyle/>
                    <a:p>
                      <a:pPr algn="l"/>
                      <a:r>
                        <a:rPr lang="en-US" sz="1500" b="0" dirty="0">
                          <a:solidFill>
                            <a:srgbClr val="000000"/>
                          </a:solidFill>
                          <a:latin typeface="Arial"/>
                        </a:rPr>
                        <a:t>Chép và đổi vài từ: đạo văn dù có trích dẫn</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IMRaD</a:t>
                      </a:r>
                    </a:p>
                  </a:txBody>
                  <a:tcPr marL="73152" marR="73152" marT="36576" marB="36576" anchor="ctr">
                    <a:solidFill>
                      <a:srgbClr val="FFFFFF"/>
                    </a:solidFill>
                  </a:tcPr>
                </a:tc>
                <a:tc>
                  <a:txBody>
                    <a:bodyPr/>
                    <a:lstStyle/>
                    <a:p>
                      <a:pPr algn="l"/>
                      <a:r>
                        <a:rPr lang="en-US" sz="1500" b="0" dirty="0">
                          <a:solidFill>
                            <a:srgbClr val="000000"/>
                          </a:solidFill>
                          <a:latin typeface="Arial"/>
                        </a:rPr>
                        <a:t>Đặt vấn đề, Phương pháp, Kết quả và Bàn luận</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Thổi phồng (spin)</a:t>
                      </a:r>
                    </a:p>
                  </a:txBody>
                  <a:tcPr marL="73152" marR="73152" marT="36576" marB="36576" anchor="ctr">
                    <a:solidFill>
                      <a:srgbClr val="FFFFFF"/>
                    </a:solidFill>
                  </a:tcPr>
                </a:tc>
                <a:tc>
                  <a:txBody>
                    <a:bodyPr/>
                    <a:lstStyle/>
                    <a:p>
                      <a:pPr algn="l"/>
                      <a:r>
                        <a:rPr lang="en-US" sz="1500" b="0" dirty="0">
                          <a:solidFill>
                            <a:srgbClr val="000000"/>
                          </a:solidFill>
                          <a:latin typeface="Arial"/>
                        </a:rPr>
                        <a:t>Lời văn khẳng định nhiều hơn những gì con số cho thấy</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Tìm kiếm</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Khối PICO, MeSH +</a:t>
            </a:r>
          </a:p>
          <a:p>
            <a:pPr marL="0" indent="0" algn="l">
              <a:lnSpc>
                <a:spcPct val="104000"/>
              </a:lnSpc>
              <a:spcBef>
                <a:spcPts val="400"/>
              </a:spcBef>
              <a:buNone/>
            </a:pPr>
            <a:r>
              <a:rPr lang="en-US" sz="1750" dirty="0">
                <a:solidFill>
                  <a:srgbClr val="000000"/>
                </a:solidFill>
                <a:latin typeface="Arial"/>
                <a:cs typeface="Arial"/>
              </a:rPr>
              <a:t>từ tự do; OR trong khối,</a:t>
            </a:r>
          </a:p>
          <a:p>
            <a:pPr marL="0" indent="0" algn="l">
              <a:lnSpc>
                <a:spcPct val="104000"/>
              </a:lnSpc>
              <a:spcBef>
                <a:spcPts val="400"/>
              </a:spcBef>
              <a:buNone/>
            </a:pPr>
            <a:r>
              <a:rPr lang="en-US" sz="1750" dirty="0">
                <a:solidFill>
                  <a:srgbClr val="000000"/>
                </a:solidFill>
                <a:latin typeface="Arial"/>
                <a:cs typeface="Arial"/>
              </a:rPr>
              <a:t>AND giữa khối; ghi lại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Trích dẫn trung thực</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Phần mềm quản lý tài</a:t>
            </a:r>
          </a:p>
          <a:p>
            <a:pPr marL="0" indent="0" algn="l">
              <a:lnSpc>
                <a:spcPct val="104000"/>
              </a:lnSpc>
              <a:spcBef>
                <a:spcPts val="400"/>
              </a:spcBef>
              <a:buNone/>
            </a:pPr>
            <a:r>
              <a:rPr lang="en-US" sz="1750" dirty="0">
                <a:solidFill>
                  <a:srgbClr val="000000"/>
                </a:solidFill>
                <a:latin typeface="Arial"/>
                <a:cs typeface="Arial"/>
              </a:rPr>
              <a:t>liệu từ ngày đầu; lời</a:t>
            </a:r>
          </a:p>
          <a:p>
            <a:pPr marL="0" indent="0" algn="l">
              <a:lnSpc>
                <a:spcPct val="104000"/>
              </a:lnSpc>
              <a:spcBef>
                <a:spcPts val="400"/>
              </a:spcBef>
              <a:buNone/>
            </a:pPr>
            <a:r>
              <a:rPr lang="en-US" sz="1750" dirty="0">
                <a:solidFill>
                  <a:srgbClr val="000000"/>
                </a:solidFill>
                <a:latin typeface="Arial"/>
                <a:cs typeface="Arial"/>
              </a:rPr>
              <a:t>của mình; đọc bài mình trích</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thông minh</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Tiêu đề, tóm tắt,</a:t>
            </a:r>
          </a:p>
          <a:p>
            <a:pPr marL="0" indent="0" algn="l">
              <a:lnSpc>
                <a:spcPct val="104000"/>
              </a:lnSpc>
              <a:spcBef>
                <a:spcPts val="400"/>
              </a:spcBef>
              <a:buNone/>
            </a:pPr>
            <a:r>
              <a:rPr lang="en-US" sz="1750" dirty="0">
                <a:solidFill>
                  <a:srgbClr val="000000"/>
                </a:solidFill>
                <a:latin typeface="Arial"/>
                <a:cs typeface="Arial"/>
              </a:rPr>
              <a:t>hình bảng, phương pháp;</a:t>
            </a:r>
          </a:p>
          <a:p>
            <a:pPr marL="0" indent="0" algn="l">
              <a:lnSpc>
                <a:spcPct val="104000"/>
              </a:lnSpc>
              <a:spcBef>
                <a:spcPts val="400"/>
              </a:spcBef>
              <a:buNone/>
            </a:pPr>
            <a:r>
              <a:rPr lang="en-US" sz="1750" dirty="0">
                <a:solidFill>
                  <a:srgbClr val="000000"/>
                </a:solidFill>
                <a:latin typeface="Arial"/>
                <a:cs typeface="Arial"/>
              </a:rPr>
              <a:t>con số trước lời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Xong Tuần 1-2: nhóm bạn có câu hỏi, năm bài báo và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Chuỗi nào cho NHIỀU kết quả hơn: septic shock AND fluids, hay septic shock OR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của Bài báo 1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Viết cả hai câu trả lời lên giấy dán (không cần ghi tên) và dán lên cửa khi ra về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tờ giấy dán (giảng viên đọc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trước Buổi 3 (thứ Bảy tuần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Nhóm: hoàn thành 5 tài liệu chính và phần đặt vấn đề</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Mỗi thành viên: đọc một bài (quy trình 15 phút) và điền dòng của bài đó</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Mọi người: đọc tóm tắt Bài báo 2 (Hyun) với bảng đọc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2 (diễn đạt lại) nếu chưa làm trên lớp</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Không bắt buộc: tra Bài báo 1 (NCT04947904) trên ClinicalTrials.gov</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Mang theo thứ Bảy tuần sau</a:t>
            </a:r>
          </a:p>
          <a:p>
            <a:pPr marL="274320" indent="-274320" algn="l">
              <a:lnSpc>
                <a:spcPct val="104000"/>
              </a:lnSpc>
              <a:spcBef>
                <a:spcPts val="300"/>
              </a:spcBef>
              <a:buFont typeface="Arial"/>
              <a:buChar char="•"/>
            </a:pPr>
            <a:r>
              <a:rPr lang="en-US" sz="1500" dirty="0">
                <a:solidFill>
                  <a:srgbClr val="000000"/>
                </a:solidFill>
                <a:latin typeface="Arial"/>
                <a:cs typeface="Arial"/>
              </a:rPr>
              <a:t>Đề cương Phần 1 (bản in hoặc trên laptop)</a:t>
            </a:r>
          </a:p>
          <a:p>
            <a:pPr marL="274320" indent="-274320" algn="l">
              <a:lnSpc>
                <a:spcPct val="104000"/>
              </a:lnSpc>
              <a:spcBef>
                <a:spcPts val="300"/>
              </a:spcBef>
              <a:buFont typeface="Arial"/>
              <a:buChar char="•"/>
            </a:pPr>
            <a:r>
              <a:rPr lang="en-US" sz="1500" dirty="0">
                <a:solidFill>
                  <a:srgbClr val="000000"/>
                </a:solidFill>
                <a:latin typeface="Arial"/>
                <a:cs typeface="Arial"/>
              </a:rPr>
              <a:t>Bảng ma trận tài liệu đã hoàn thành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SẢN PHẨM   </a:t>
            </a:r>
            <a:r>
              <a:rPr lang="en-US" sz="1500" dirty="0">
                <a:solidFill>
                  <a:srgbClr val="000000"/>
                </a:solidFill>
                <a:latin typeface="Arial"/>
                <a:cs typeface="Arial"/>
              </a:rPr>
              <a:t>Đề cương Phần 1 hoàn chỉnh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2</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Ngoài PubMed: những nơi khác để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Thư viện Cochrane</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Tổng quan hệ thống</a:t>
            </a:r>
          </a:p>
          <a:p>
            <a:pPr marL="0" indent="0" algn="l">
              <a:lnSpc>
                <a:spcPct val="104000"/>
              </a:lnSpc>
              <a:spcBef>
                <a:spcPts val="400"/>
              </a:spcBef>
              <a:buNone/>
            </a:pPr>
            <a:r>
              <a:rPr lang="en-US" sz="1600" dirty="0">
                <a:solidFill>
                  <a:srgbClr val="000000"/>
                </a:solidFill>
                <a:latin typeface="Arial"/>
                <a:cs typeface="Arial"/>
              </a:rPr>
              <a:t>và sổ đăng ký</a:t>
            </a:r>
          </a:p>
          <a:p>
            <a:pPr marL="0" indent="0" algn="l">
              <a:lnSpc>
                <a:spcPct val="104000"/>
              </a:lnSpc>
              <a:spcBef>
                <a:spcPts val="400"/>
              </a:spcBef>
              <a:buNone/>
            </a:pPr>
            <a:r>
              <a:rPr lang="en-US" sz="1600" dirty="0">
                <a:solidFill>
                  <a:srgbClr val="000000"/>
                </a:solidFill>
                <a:latin typeface="Arial"/>
                <a:cs typeface="Arial"/>
              </a:rPr>
              <a:t>thử nghiệm</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Embase</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Cơ sở dữ liệu y sinh</a:t>
            </a:r>
          </a:p>
          <a:p>
            <a:pPr marL="0" indent="0" algn="l">
              <a:lnSpc>
                <a:spcPct val="104000"/>
              </a:lnSpc>
              <a:spcBef>
                <a:spcPts val="400"/>
              </a:spcBef>
              <a:buNone/>
            </a:pPr>
            <a:r>
              <a:rPr lang="en-US" sz="1600" dirty="0">
                <a:solidFill>
                  <a:srgbClr val="000000"/>
                </a:solidFill>
                <a:latin typeface="Arial"/>
                <a:cs typeface="Arial"/>
              </a:rPr>
              <a:t>lớn; mạnh về thuốc</a:t>
            </a:r>
          </a:p>
          <a:p>
            <a:pPr marL="0" indent="0" algn="l">
              <a:lnSpc>
                <a:spcPct val="104000"/>
              </a:lnSpc>
              <a:spcBef>
                <a:spcPts val="400"/>
              </a:spcBef>
              <a:buNone/>
            </a:pPr>
            <a:r>
              <a:rPr lang="en-US" sz="1600" dirty="0">
                <a:solidFill>
                  <a:srgbClr val="000000"/>
                </a:solidFill>
                <a:latin typeface="Arial"/>
                <a:cs typeface="Arial"/>
              </a:rPr>
              <a:t>(cần đăng ký)</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CINAHL</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Y văn điều dưỡng</a:t>
            </a:r>
          </a:p>
          <a:p>
            <a:pPr marL="0" indent="0" algn="l">
              <a:lnSpc>
                <a:spcPct val="104000"/>
              </a:lnSpc>
              <a:spcBef>
                <a:spcPts val="400"/>
              </a:spcBef>
              <a:buNone/>
            </a:pPr>
            <a:r>
              <a:rPr lang="en-US" sz="1600" dirty="0">
                <a:solidFill>
                  <a:srgbClr val="000000"/>
                </a:solidFill>
                <a:latin typeface="Arial"/>
                <a:cs typeface="Arial"/>
              </a:rPr>
              <a:t>và các ngành sức khỏe</a:t>
            </a:r>
          </a:p>
          <a:p>
            <a:pPr marL="0" indent="0" algn="l">
              <a:lnSpc>
                <a:spcPct val="104000"/>
              </a:lnSpc>
              <a:spcBef>
                <a:spcPts val="400"/>
              </a:spcBef>
              <a:buNone/>
            </a:pPr>
            <a:r>
              <a:rPr lang="en-US" sz="1600" dirty="0">
                <a:solidFill>
                  <a:srgbClr val="000000"/>
                </a:solidFill>
                <a:latin typeface="Arial"/>
                <a:cs typeface="Arial"/>
              </a:rPr>
              <a:t>(cần đăng ký)</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Sổ đăng ký thử nghiệm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ClinicalTrials.gov,</a:t>
            </a:r>
          </a:p>
          <a:p>
            <a:pPr marL="0" indent="0" algn="l">
              <a:lnSpc>
                <a:spcPct val="104000"/>
              </a:lnSpc>
              <a:spcBef>
                <a:spcPts val="400"/>
              </a:spcBef>
              <a:buNone/>
            </a:pPr>
            <a:r>
              <a:rPr lang="en-US" sz="1600" dirty="0">
                <a:solidFill>
                  <a:srgbClr val="000000"/>
                </a:solidFill>
                <a:latin typeface="Arial"/>
                <a:cs typeface="Arial"/>
              </a:rPr>
              <a:t>WHO ICTRP: thử nghiệm</a:t>
            </a:r>
          </a:p>
          <a:p>
            <a:pPr marL="0" indent="0" algn="l">
              <a:lnSpc>
                <a:spcPct val="104000"/>
              </a:lnSpc>
              <a:spcBef>
                <a:spcPts val="400"/>
              </a:spcBef>
              <a:buNone/>
            </a:pPr>
            <a:r>
              <a:rPr lang="en-US" sz="1600" dirty="0">
                <a:solidFill>
                  <a:srgbClr val="000000"/>
                </a:solidFill>
                <a:latin typeface="Arial"/>
                <a:cs typeface="Arial"/>
              </a:rPr>
              <a:t>đang làm, chưa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Với đề cương, PubMed + một sổ đăng ký là đủ; tổng quan hệ thống tìm trên nhiều cơ sở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Clinical Queries: bộ lọc có sẵn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Mở</a:t>
            </a:r>
          </a:p>
        </p:txBody>
      </p:sp>
      <p:sp>
        <p:nvSpPr>
          <p:cNvPr id="81" name="StepText"/>
          <p:cNvSpPr/>
          <p:nvPr/>
        </p:nvSpPr>
        <p:spPr>
          <a:xfrm>
            <a:off x="4972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Trang chủ PubMed:</a:t>
            </a:r>
          </a:p>
          <a:p>
            <a:pPr marL="0" indent="0" algn="l">
              <a:lnSpc>
                <a:spcPct val="104000"/>
              </a:lnSpc>
              <a:spcBef>
                <a:spcPts val="200"/>
              </a:spcBef>
              <a:buNone/>
            </a:pPr>
            <a:r>
              <a:rPr lang="en-US" sz="1500" dirty="0">
                <a:solidFill>
                  <a:srgbClr val="000000"/>
                </a:solidFill>
                <a:latin typeface="Arial"/>
                <a:cs typeface="Arial"/>
              </a:rPr>
              <a:t>Clinical Queries</a:t>
            </a:r>
          </a:p>
          <a:p>
            <a:pPr marL="0" indent="0" algn="l">
              <a:lnSpc>
                <a:spcPct val="104000"/>
              </a:lnSpc>
              <a:spcBef>
                <a:spcPts val="200"/>
              </a:spcBef>
              <a:buNone/>
            </a:pPr>
            <a:r>
              <a:rPr lang="en-US" sz="1500" dirty="0">
                <a:solidFill>
                  <a:srgbClr val="000000"/>
                </a:solidFill>
                <a:latin typeface="Arial"/>
                <a:cs typeface="Arial"/>
              </a:rPr>
              <a:t>(mục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Gõ</a:t>
            </a:r>
          </a:p>
        </p:txBody>
      </p:sp>
      <p:sp>
        <p:nvSpPr>
          <p:cNvPr id="83" name="StepText"/>
          <p:cNvSpPr/>
          <p:nvPr/>
        </p:nvSpPr>
        <p:spPr>
          <a:xfrm>
            <a:off x="33016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Từ khóa chủ đề,</a:t>
            </a:r>
          </a:p>
          <a:p>
            <a:pPr marL="0" indent="0" algn="l">
              <a:lnSpc>
                <a:spcPct val="104000"/>
              </a:lnSpc>
              <a:spcBef>
                <a:spcPts val="200"/>
              </a:spcBef>
              <a:buNone/>
            </a:pPr>
            <a:r>
              <a:rPr lang="en-US" sz="1500" dirty="0">
                <a:solidFill>
                  <a:srgbClr val="000000"/>
                </a:solidFill>
                <a:latin typeface="Arial"/>
                <a:cs typeface="Arial"/>
              </a:rPr>
              <a:t>ví dụ septic shock</a:t>
            </a:r>
          </a:p>
          <a:p>
            <a:pPr marL="0" indent="0" algn="l">
              <a:lnSpc>
                <a:spcPct val="104000"/>
              </a:lnSpc>
              <a:spcBef>
                <a:spcPts val="200"/>
              </a:spcBef>
              <a:buNone/>
            </a:pPr>
            <a:r>
              <a:rPr lang="en-US" sz="1500" dirty="0">
                <a:solidFill>
                  <a:srgbClr val="000000"/>
                </a:solidFill>
                <a:latin typeface="Arial"/>
                <a:cs typeface="Arial"/>
              </a:rPr>
              <a:t>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Chọn</a:t>
            </a:r>
          </a:p>
        </p:txBody>
      </p:sp>
      <p:sp>
        <p:nvSpPr>
          <p:cNvPr id="85" name="StepText"/>
          <p:cNvSpPr/>
          <p:nvPr/>
        </p:nvSpPr>
        <p:spPr>
          <a:xfrm>
            <a:off x="61060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Loại: điều trị,</a:t>
            </a:r>
          </a:p>
          <a:p>
            <a:pPr marL="0" indent="0" algn="l">
              <a:lnSpc>
                <a:spcPct val="104000"/>
              </a:lnSpc>
              <a:spcBef>
                <a:spcPts val="200"/>
              </a:spcBef>
              <a:buNone/>
            </a:pPr>
            <a:r>
              <a:rPr lang="en-US" sz="1500" dirty="0">
                <a:solidFill>
                  <a:srgbClr val="000000"/>
                </a:solidFill>
                <a:latin typeface="Arial"/>
                <a:cs typeface="Arial"/>
              </a:rPr>
              <a:t>chẩn đoán, nguyên nhân,</a:t>
            </a:r>
          </a:p>
          <a:p>
            <a:pPr marL="0" indent="0" algn="l">
              <a:lnSpc>
                <a:spcPct val="104000"/>
              </a:lnSpc>
              <a:spcBef>
                <a:spcPts val="200"/>
              </a:spcBef>
              <a:buNone/>
            </a:pPr>
            <a:r>
              <a:rPr lang="en-US" sz="1500" dirty="0">
                <a:solidFill>
                  <a:srgbClr val="000000"/>
                </a:solidFill>
                <a:latin typeface="Arial"/>
                <a:cs typeface="Arial"/>
              </a:rPr>
              <a:t>tiên lượng...</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Phạm vi</a:t>
            </a:r>
          </a:p>
        </p:txBody>
      </p:sp>
      <p:sp>
        <p:nvSpPr>
          <p:cNvPr id="87" name="StepText"/>
          <p:cNvSpPr/>
          <p:nvPr/>
        </p:nvSpPr>
        <p:spPr>
          <a:xfrm>
            <a:off x="89104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Rộng (tìm nhiều hơn)</a:t>
            </a:r>
          </a:p>
          <a:p>
            <a:pPr marL="0" indent="0" algn="l">
              <a:lnSpc>
                <a:spcPct val="104000"/>
              </a:lnSpc>
              <a:spcBef>
                <a:spcPts val="200"/>
              </a:spcBef>
              <a:buNone/>
            </a:pPr>
            <a:r>
              <a:rPr lang="en-US" sz="1500" dirty="0">
                <a:solidFill>
                  <a:srgbClr val="000000"/>
                </a:solidFill>
                <a:latin typeface="Arial"/>
                <a:cs typeface="Arial"/>
              </a:rPr>
              <a:t>hoặc hẹp (chính xác</a:t>
            </a:r>
          </a:p>
          <a:p>
            <a:pPr marL="0" indent="0" algn="l">
              <a:lnSpc>
                <a:spcPct val="104000"/>
              </a:lnSpc>
              <a:spcBef>
                <a:spcPts val="200"/>
              </a:spcBef>
              <a:buNone/>
            </a:pPr>
            <a:r>
              <a:rPr lang="en-US" sz="1500" dirty="0">
                <a:solidFill>
                  <a:srgbClr val="000000"/>
                </a:solidFill>
                <a:latin typeface="Arial"/>
                <a:cs typeface="Arial"/>
              </a:rPr>
              <a:t>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Lối tắt nhanh để hỏi 'có bằng chứng tốt không?', không thay thế tìm kiếm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tùy chọn: Google Scholar và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restrictive fluid septic shock mortality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tạp chí, luận văn, bản thảo trước in, xếp hạng bằng thuật toán ẩn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Dưới một thử nghiệm chính, bấm 'Cited by', rồi tìm trong các bài trích dẫn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biểu tượng ngoặc kép để xem các định dạng xuất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SẢN PHẨM   </a:t>
            </a:r>
            <a:r>
              <a:rPr lang="en-US" sz="1500" dirty="0">
                <a:solidFill>
                  <a:srgbClr val="000000"/>
                </a:solidFill>
                <a:latin typeface="Arial"/>
                <a:cs typeface="Arial"/>
              </a:rPr>
              <a:t>Học viên thấy Scholar bổ sung gì và thiếu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Tái sử dụng văn bản, công cụ AI và kiểm tra trùng lặp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Tái sử dụng văn bản</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Dùng lại câu chữ đã</a:t>
            </a:r>
          </a:p>
          <a:p>
            <a:pPr marL="0" indent="0" algn="l">
              <a:lnSpc>
                <a:spcPct val="104000"/>
              </a:lnSpc>
              <a:spcBef>
                <a:spcPts val="400"/>
              </a:spcBef>
              <a:buNone/>
            </a:pPr>
            <a:r>
              <a:rPr lang="en-US" sz="1600" dirty="0">
                <a:solidFill>
                  <a:srgbClr val="000000"/>
                </a:solidFill>
                <a:latin typeface="Arial"/>
                <a:cs typeface="Arial"/>
              </a:rPr>
              <a:t>công bố của mình:</a:t>
            </a:r>
          </a:p>
          <a:p>
            <a:pPr marL="0" indent="0" algn="l">
              <a:lnSpc>
                <a:spcPct val="104000"/>
              </a:lnSpc>
              <a:spcBef>
                <a:spcPts val="400"/>
              </a:spcBef>
              <a:buNone/>
            </a:pPr>
            <a:r>
              <a:rPr lang="en-US" sz="1600" dirty="0">
                <a:solidFill>
                  <a:srgbClr val="000000"/>
                </a:solidFill>
                <a:latin typeface="Arial"/>
                <a:cs typeface="Arial"/>
              </a:rPr>
              <a:t>xem chính sách tạp chí</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viết lại câu</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Không xóa được</a:t>
            </a:r>
          </a:p>
          <a:p>
            <a:pPr marL="0" indent="0" algn="l">
              <a:lnSpc>
                <a:spcPct val="104000"/>
              </a:lnSpc>
              <a:spcBef>
                <a:spcPts val="400"/>
              </a:spcBef>
              <a:buNone/>
            </a:pPr>
            <a:r>
              <a:rPr lang="en-US" sz="1600" dirty="0">
                <a:solidFill>
                  <a:srgbClr val="000000"/>
                </a:solidFill>
                <a:latin typeface="Arial"/>
                <a:cs typeface="Arial"/>
              </a:rPr>
              <a:t>đạo văn; bạn vẫn</a:t>
            </a:r>
          </a:p>
          <a:p>
            <a:pPr marL="0" indent="0" algn="l">
              <a:lnSpc>
                <a:spcPct val="104000"/>
              </a:lnSpc>
              <a:spcBef>
                <a:spcPts val="400"/>
              </a:spcBef>
              <a:buNone/>
            </a:pPr>
            <a:r>
              <a:rPr lang="en-US" sz="1600" dirty="0">
                <a:solidFill>
                  <a:srgbClr val="000000"/>
                </a:solidFill>
                <a:latin typeface="Arial"/>
                <a:cs typeface="Arial"/>
              </a:rPr>
              <a:t>chịu trách nhiệm</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Tài liệu do AI</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Có thể bị bịa;</a:t>
            </a:r>
          </a:p>
          <a:p>
            <a:pPr marL="0" indent="0" algn="l">
              <a:lnSpc>
                <a:spcPct val="104000"/>
              </a:lnSpc>
              <a:spcBef>
                <a:spcPts val="400"/>
              </a:spcBef>
              <a:buNone/>
            </a:pPr>
            <a:r>
              <a:rPr lang="en-US" sz="1600" dirty="0">
                <a:solidFill>
                  <a:srgbClr val="000000"/>
                </a:solidFill>
                <a:latin typeface="Arial"/>
                <a:cs typeface="Arial"/>
              </a:rPr>
              <a:t>tìm từng tài liệu</a:t>
            </a:r>
          </a:p>
          <a:p>
            <a:pPr marL="0" indent="0" algn="l">
              <a:lnSpc>
                <a:spcPct val="104000"/>
              </a:lnSpc>
              <a:spcBef>
                <a:spcPts val="400"/>
              </a:spcBef>
              <a:buNone/>
            </a:pPr>
            <a:r>
              <a:rPr lang="en-US" sz="1600" dirty="0">
                <a:solidFill>
                  <a:srgbClr val="000000"/>
                </a:solidFill>
                <a:latin typeface="Arial"/>
                <a:cs typeface="Arial"/>
              </a:rPr>
              <a:t>trên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trùng lặp</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Tạp chí sàng lọc</a:t>
            </a:r>
          </a:p>
          <a:p>
            <a:pPr marL="0" indent="0" algn="l">
              <a:lnSpc>
                <a:spcPct val="104000"/>
              </a:lnSpc>
              <a:spcBef>
                <a:spcPts val="400"/>
              </a:spcBef>
              <a:buNone/>
            </a:pPr>
            <a:r>
              <a:rPr lang="en-US" sz="1600" dirty="0">
                <a:solidFill>
                  <a:srgbClr val="000000"/>
                </a:solidFill>
                <a:latin typeface="Arial"/>
                <a:cs typeface="Arial"/>
              </a:rPr>
              <a:t>bài nộp để tìm</a:t>
            </a:r>
          </a:p>
          <a:p>
            <a:pPr marL="0" indent="0" algn="l">
              <a:lnSpc>
                <a:spcPct val="104000"/>
              </a:lnSpc>
              <a:spcBef>
                <a:spcPts val="400"/>
              </a:spcBef>
              <a:buNone/>
            </a:pPr>
            <a:r>
              <a:rPr lang="en-US" sz="1600" dirty="0">
                <a:solidFill>
                  <a:srgbClr val="000000"/>
                </a:solidFill>
                <a:latin typeface="Arial"/>
                <a:cs typeface="Arial"/>
              </a:rPr>
              <a:t>văn bản sao chép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Viết từ hiểu biết, trích dẫn những gì bạn dùng, và tự kiểm tra mọi tài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