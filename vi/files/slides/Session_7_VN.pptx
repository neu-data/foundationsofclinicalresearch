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7.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(19:30-22:30, giải lao 20:45-21:00). Trước giải lao: đạo đức, liêm chính và Phần 4 đề cương. Sau giải lao: IMRaD, Phương pháp và Kết quả.</a:t>
            </a:r>
          </a:p>
          <a:p>
            <a:r>
              <a:rPr lang="en-US" sz="1400" b="0" dirty="0"/>
              <a:t>Trước buổi học, gửi email phiếu bài tập, năm gói kết quả, mẫu bản thảo và danh sách cặp bình duyệt.</a:t>
            </a:r>
          </a:p>
          <a:p>
            <a:r>
              <a:rPr lang="en-US" sz="1400" b="0" dirty="0"/>
              <a:t>Nếu thiếu giờ, bỏ slide bổ sung, không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Mở đầu bằng hai hoặc ba câu trả lời cuối Buổi 6.</a:t>
            </a:r>
          </a:p>
          <a:p>
            <a:r>
              <a:rPr lang="en-US" sz="1400" b="0" dirty="0"/>
              <a:t>Câu 1-4: mỗi câu 30 giây, mời hai hoặc ba người, rồi mở đáp án. Câu 1 dẫn vào bài hôm nay: phần Kết quả báo cáo cả ước lượng thô và đã hiệu chỉnh.</a:t>
            </a:r>
          </a:p>
          <a:p>
            <a:r>
              <a:rPr lang="en-US" sz="1400" b="0" dirty="0"/>
              <a:t>Câu 5 trong khung chat: kết quả chính của câu hỏi mỗi người đã chọn. Ai chưa chọn thì chọn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cá nhân. Đề cương: Phần 4 hôm nay, nộp vào thứ Bảy tuần sau.</a:t>
            </a:r>
          </a:p>
          <a:p>
            <a:r>
              <a:rPr lang="en-US" sz="1400" b="0" dirty="0"/>
              <a:t>Phần Kết quả: chúng tôi đưa kết quả cho câu hỏi của mỗi người, họ viết một phần Kết quả sẵn sàng để nộp.</a:t>
            </a:r>
          </a:p>
          <a:p>
            <a:r>
              <a:rPr lang="en-US" sz="1400" b="0" dirty="0"/>
              <a:t>Mọi phần đều được dạy: hôm nay Phương pháp và Kết quả, tuần sau Đặt vấn đề, Bàn luận, Tóm tắt và tên bài. Chỉ bắt buộc nộp phần Kết quả.</a:t>
            </a:r>
          </a:p>
          <a:p>
            <a:r>
              <a:rPr lang="en-US" sz="1400" b="0" dirty="0"/>
              <a:t>Hỏi: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a:t>
            </a:r>
          </a:p>
          <a:p>
            <a:r>
              <a:rPr lang="en-US" sz="1400" b="0" dirty="0"/>
              <a:t>Dành nhiều thời gian nhất cho sự đồng ý ở ICU: đó là vấn đề thật ở khoa của chúng ta.</a:t>
            </a:r>
          </a:p>
          <a:p>
            <a:r>
              <a:rPr lang="en-US" sz="1400" b="0" dirty="0"/>
              <a:t>Mọi nội dung ở đây trở thành một đoạn trong Phần 4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chi tiết là toàn bộ kế hoạch, được duyệt trước người bệnh đầu tiên. SPIRIT 2025 là bảng kiểm cho đề cương thử nghiệm.</a:t>
            </a:r>
          </a:p>
          <a:p>
            <a:r>
              <a:rPr lang="en-US" sz="1400" b="0" dirty="0"/>
              <a:t>Đi qua bốn thẻ: đó chính là bốn phần của đề cương.</a:t>
            </a:r>
          </a:p>
          <a:p>
            <a:r>
              <a:rPr lang="en-US" sz="1400" b="0" dirty="0"/>
              <a:t>Bài 1 đăng ký đề cương và SAP trước người bệnh đầu tiên (NCT04947904).</a:t>
            </a:r>
          </a:p>
          <a:p>
            <a:r>
              <a:rPr lang="en-US" sz="1400" b="0" dirty="0"/>
              <a:t>Thăm dò: phần nào trong đề cương của bạn yếu nhất? Kỳ vọng: cỡ mẫu hoặc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người tham gia đặt trên mục tiêu tạo tri thức mới. Phê duyệt đạo đức, đồng ý tự nguyện, quyền riêng tư, đăng ký, công bố mọi kết quả.</a:t>
            </a:r>
          </a:p>
          <a:p>
            <a:r>
              <a:rPr lang="en-US" sz="1400" b="0" dirty="0"/>
              <a:t>GCP (ICH E6(R3), 2025): tiêu chuẩn chất lượng cho thử nghiệm. Bài 1, một thử nghiệm học thuật, đã tuân theo.</a:t>
            </a:r>
          </a:p>
          <a:p>
            <a:r>
              <a:rPr lang="en-US" sz="1400" b="0" dirty="0"/>
              <a:t>Thăm dò: điểm nào trong 12 điểm khó nhất ở khoa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Phần lớn cơ sở yêu cầu duyệt khoa học trước.</a:t>
            </a:r>
          </a:p>
          <a:p>
            <a:r>
              <a:rPr lang="en-US" sz="1400" b="0" dirty="0"/>
              <a:t>Hội đồng quyết định hình thức xét duyệt, không phải bạn. Dự trù 1 đến 3 tháng.</a:t>
            </a:r>
          </a:p>
          <a:p>
            <a:r>
              <a:rPr lang="en-US" sz="1400" b="0" dirty="0"/>
              <a:t>Hiểu lầm: 'thu trước, xin sau'. Hội đồng không thể duyệt hồi tố.</a:t>
            </a:r>
          </a:p>
          <a:p>
            <a:r>
              <a:rPr lang="en-US" sz="1400" b="0" dirty="0"/>
              <a:t>Bài 1 ghi số phê duyệt trong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Đăng ký công khai nghiên cứu và kết cục chính trước khi có người tham gia.</a:t>
            </a:r>
          </a:p>
          <a:p>
            <a:r>
              <a:rPr lang="en-US" sz="1400" b="0" dirty="0"/>
              <a:t>Thử nghiệm: bắt buộc. Tổng quan: PROSPERO. Quan sát: khuyến khích.</a:t>
            </a:r>
          </a:p>
          <a:p>
            <a:r>
              <a:rPr lang="en-US" sz="1400" b="0" dirty="0"/>
              <a:t>Bài 1: đăng ký ngày 1/7/2021, người bệnh đầu tiên tháng 9/2021.</a:t>
            </a:r>
          </a:p>
          <a:p>
            <a:r>
              <a:rPr lang="en-US" sz="1400" b="0" dirty="0"/>
              <a:t>Hỏi: nghiên cứu của bạn có cần đăng ký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Đồng ý hợp lệ cần đủ bốn: thông tin, hiểu, tự nguyện, có văn bản.</a:t>
            </a:r>
          </a:p>
          <a:p>
            <a:r>
              <a:rPr lang="en-US" sz="1400" b="0" dirty="0"/>
              <a:t>Trong Bài 1, hai người bệnh nhóm chứng rút lui và không được phân tích: quyền của họ được tôn trọng.</a:t>
            </a:r>
          </a:p>
          <a:p>
            <a:r>
              <a:rPr lang="en-US" sz="1400" b="0" dirty="0"/>
              <a:t>Hỏi: ai lấy đồng ý trong nghiên cứu của bạn, và khi nào? Kỳ vọng: một thành viên đã được tập huấn,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người bệnh ICU không tự quyết định được khi đủ tiêu chuẩn.</a:t>
            </a:r>
          </a:p>
          <a:p>
            <a:r>
              <a:rPr lang="en-US" sz="1400" b="0" dirty="0"/>
              <a:t>Người bệnh, rồi người đại diện hợp pháp, rồi đồng ý trì hoãn chỉ khi hội đồng đã duyệt trước. Bài 1 dùng cách này. Bài 2 được miễn đồng ý vì dùng dữ liệu sổ bộ.</a:t>
            </a:r>
          </a:p>
          <a:p>
            <a:r>
              <a:rPr lang="en-US" sz="1400" b="0" dirty="0"/>
              <a:t>Luật địa phương quy định ai được làm người đại diện.</a:t>
            </a:r>
          </a:p>
          <a:p>
            <a:r>
              <a:rPr lang="en-US" sz="1400" b="0" dirty="0"/>
              <a:t>Hỏi: gia đình từ chối sau khi đã đưa vào? Kỳ vọng: người bệnh rời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một người trả lời cho từng người bệnh trước khi mở đáp án.</a:t>
            </a:r>
          </a:p>
          <a:p>
            <a:r>
              <a:rPr lang="en-US" sz="1400" b="0" dirty="0"/>
              <a:t>Ông A: tự đồng ý. Bà B: người đại diện đồng ý, hỏi lại bà khi bà tự quyết được. Ông C: đồng ý trì hoãn, chỉ khi đã được duyệt.</a:t>
            </a:r>
          </a:p>
          <a:p>
            <a:r>
              <a:rPr lang="en-US" sz="1400" b="0" dirty="0"/>
              <a:t>Hiểu lầm: bác sĩ điều trị có thể đồng ý thay người bệnh.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Bảo mật ngay từ thiết kế: mã nghiên cứu, tuổi thay ngày sinh, tháng thay ngày cụ thể.</a:t>
            </a:r>
          </a:p>
          <a:p>
            <a:r>
              <a:rPr lang="en-US" sz="1400" b="0" dirty="0"/>
              <a:t>Tệp khóa mã được giữ riêng, có khóa, chỉ một hoặc hai người có tên được mở.</a:t>
            </a:r>
          </a:p>
          <a:p>
            <a:r>
              <a:rPr lang="en-US" sz="1400" b="0" dirty="0"/>
              <a:t>Không để dữ liệu người bệnh trên điện thoại cá nhân, ứng dụng nhắn tin hay công cụ AI công cộng.</a:t>
            </a:r>
          </a:p>
          <a:p>
            <a:r>
              <a:rPr lang="en-US" sz="1400" b="0" dirty="0"/>
              <a:t>Hỏi: tệp khóa mã của bạn sẽ được giữ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FLUID-ICU là thật, đoạn đạo đức sẽ trả lời bốn câu hỏi này bằng bốn câu.</a:t>
            </a:r>
          </a:p>
          <a:p>
            <a:r>
              <a:rPr lang="en-US" sz="1400" b="0" dirty="0"/>
              <a:t>Hỏi: trong bài báo thật, đoạn này nằm ở đâu? Kỳ vọng: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Thủ tục đạo đức mất 1-3 tháng. Tuyển chọn luôn lâu hơn dự kiến: Bài 1 sàng lọc 1201 người bệnh để phân nhóm ngẫu nhiên 50.</a:t>
            </a:r>
          </a:p>
          <a:p>
            <a:r>
              <a:rPr lang="en-US" sz="1400" b="0" dirty="0"/>
              <a:t>Quy tắc nhanh: đếm số người bệnh đủ tiêu chuẩn năm ngoái và dự kiến chỉ đưa vào được một phần.</a:t>
            </a:r>
          </a:p>
          <a:p>
            <a:r>
              <a:rPr lang="en-US" sz="1400" b="0" dirty="0"/>
              <a:t>Thăm dò: thẻ nào là rủi ro lớn nhất cho nghiên cứu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rồi 5 phút thăm dò tình huống.</a:t>
            </a:r>
          </a:p>
          <a:p>
            <a:r>
              <a:rPr lang="en-US" sz="1400" b="0" dirty="0"/>
              <a:t>Giọng điệu: phần lớn vấn đề liêm chính bắt đầu từ những lối tắt nhỏ khi bị áp lực.</a:t>
            </a:r>
          </a:p>
          <a:p>
            <a:r>
              <a:rPr lang="en-US" sz="1400" b="0" dirty="0"/>
              <a:t>Mọi bản nháp phần Kết quả cần có câu công khai sử dụng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Bịa đặt, làm sai lệch, đạo văn. Sai sót trung thực không phải là vi phạm: hãy sửa công khai.</a:t>
            </a:r>
          </a:p>
          <a:p>
            <a:r>
              <a:rPr lang="en-US" sz="1400" b="0" dirty="0"/>
              <a:t>Kế hoạch chất lượng dữ liệu ở Buổi 5 giúp tránh vô tình làm sai lệch.</a:t>
            </a:r>
          </a:p>
          <a:p>
            <a:r>
              <a:rPr lang="en-US" sz="1400" b="0" dirty="0"/>
              <a:t>Thăm dò: lỗi nào hay gặp nhất trong luận văn? Kỳ vọng: đạo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bố trùng lặp đếm cùng người bệnh hai lần. Cắt lát xúc xích che mất bức tranh toàn cảnh. Báo cáo chọn lọc là lý do thử nghiệm phải đăng ký một kết cục chính.</a:t>
            </a:r>
          </a:p>
          <a:p>
            <a:r>
              <a:rPr lang="en-US" sz="1400" b="0" dirty="0"/>
              <a:t>Bài 1 báo cáo thẳng kết cục chính âm tính.</a:t>
            </a:r>
          </a:p>
          <a:p>
            <a:r>
              <a:rPr lang="en-US" sz="1400" b="0" dirty="0"/>
              <a:t>Hỏi: vì sao một thử nghiệm âm tính cần được công bố? Kỳ vọng: sai lệch công bố.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Tác giả phải đáp ứng đủ bốn tiêu chí ICMJE. Những người khác được ghi trong phần Lời cảm ơn.</a:t>
            </a:r>
          </a:p>
          <a:p>
            <a:r>
              <a:rPr lang="en-US" sz="1400" b="0" dirty="0"/>
              <a:t>Tác giả danh dự: có tên mà không làm. Tác giả ma: làm mà không có tên.</a:t>
            </a:r>
          </a:p>
          <a:p>
            <a:r>
              <a:rPr lang="en-US" sz="1400" b="0" dirty="0"/>
              <a:t>Thăm dò: chỉ thu thập dữ liệu có đủ làm tác giả không? Kỳ vọng: không.</a:t>
            </a:r>
          </a:p>
          <a:p>
            <a:r>
              <a:rPr lang="en-US" sz="1400" b="0" dirty="0"/>
              <a:t>Thống nhất danh sách tác giả ngay từ giai đoạn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lợi ích là chuyện thường. Che giấu mới là vấn đề. Phần lớn tạp chí dùng mẫu khai báo ICMJE.</a:t>
            </a:r>
          </a:p>
          <a:p>
            <a:r>
              <a:rPr lang="en-US" sz="1400" b="0" dirty="0"/>
              <a:t>Bài 2 nêu nhà tài trợ không tham gia. Bài 1 nêu một khoản tài trợ nội bộ.</a:t>
            </a:r>
          </a:p>
          <a:p>
            <a:r>
              <a:rPr lang="en-US" sz="1400" b="0" dirty="0"/>
              <a:t>Hỏi: năm ngoái một công ty trả tiền đi lại cho bạn. Có khai báo không? Kỳ vọng: còn băn khoăn thì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'cung cấp khi có yêu cầu' (cả hai bài) đến kho lưu trữ mở có DOI.</a:t>
            </a:r>
          </a:p>
          <a:p>
            <a:r>
              <a:rPr lang="en-US" sz="1400" b="0" dirty="0"/>
              <a:t>Trước khi chia sẻ: phiếu đồng ý và phê duyệt đạo đức phải cho phép, dữ liệu đã khử định danh, kèm từ điển dữ liệu và mã phân tích.</a:t>
            </a:r>
          </a:p>
          <a:p>
            <a:r>
              <a:rPr lang="en-US" sz="1400" b="0" dirty="0"/>
              <a:t>Hỏi: phiếu đồng ý hôm nay phải ghi gì để mai bạn được chia sẻ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không thể là tác giả. Công khai việc dùng AI và kiểm tra mọi nhận định và tài liệu tham khảo.</a:t>
            </a:r>
          </a:p>
          <a:p>
            <a:r>
              <a:rPr lang="en-US" sz="1400" b="0" dirty="0"/>
              <a:t>Không bao giờ dán dữ liệu người bệnh hay bản thảo bạn đang bình duyệt vào công cụ AI công cộng.</a:t>
            </a:r>
          </a:p>
          <a:p>
            <a:r>
              <a:rPr lang="en-US" sz="1400" b="0" dirty="0"/>
              <a:t>Hỏi: một đồng nghiệp nhờ chatbot viết phần Bàn luận và nộp mà không đọc. Vi phạm những quy tắc nào?</a:t>
            </a:r>
          </a:p>
          <a:p>
            <a:r>
              <a:rPr lang="en-US" sz="1400" b="0" dirty="0"/>
              <a:t>Hướng dẫn cho học viên về quy định của các tạp chí, kèm đường dẫn: AI_Use_Guidance_VN.pdf (gửi qua email).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đố (20:25-20:30). Tình huống và đáp án: s7_exercises_VN Phần A và s7_solutions_VN.</a:t>
            </a:r>
          </a:p>
          <a:p>
            <a:r>
              <a:rPr lang="en-US" sz="1400" b="0" dirty="0"/>
              <a:t>Dùng tình huống 1 (đỏ, bịa đặt), 3 (đỏ, tác giả danh dự) và 4 (xanh nếu chỉnh tiếng Anh có kiểm tra và công khai, đỏ với bảng tính người bệnh).</a:t>
            </a:r>
          </a:p>
          <a:p>
            <a:r>
              <a:rPr lang="en-US" sz="1400" b="0" dirty="0"/>
              <a:t>Mời một người ở màu đông nhất và một người ở màu ít nhất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Điền trực tiếp Phần B cho ví dụ xuyên suốt. Đáp án: s7_solutions_VN Phần B.</a:t>
            </a:r>
          </a:p>
          <a:p>
            <a:r>
              <a:rPr lang="en-US" sz="1400" b="0" dirty="0"/>
              <a:t>Chú ý: 'sẽ lấy đồng ý' mà không nói ai và khi nào, cho rằng hồi cứu hồ sơ được miễn duyệt, lấy số tuyển chọn từ cỡ mẫu, chọn CONSORT cho thuần tập.</a:t>
            </a:r>
          </a:p>
          <a:p>
            <a:r>
              <a:rPr lang="en-US" sz="1400" b="0" dirty="0"/>
              <a:t>Về nhà: Phần 4 đề cương của mình. Ai muốn trình bày thì gửi email cho giảng viên trước thứ Tư 16/12.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(20:45-21:00). Nói: 21:00 bắt đầu lại với phần Kết quả. Mở gói kết quả của bạn và mẫu bản thảo.</a:t>
            </a:r>
          </a:p>
          <a:p>
            <a:r>
              <a:rPr lang="en-US" sz="1400" b="0" dirty="0"/>
              <a:t>Chuẩn bị màn hình: mẫu bản thảo và gói kết quả Q1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Mười slide và 3 phút kiểm tra.</a:t>
            </a:r>
          </a:p>
          <a:p>
            <a:r>
              <a:rPr lang="en-US" sz="1400" b="0" dirty="0"/>
              <a:t>IMRaD trước, rồi Phương pháp và Kết quả, mỗi phần có ví dụ mẫu trên Q1. Phần kiểm tra luyện cả 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Đặt vấn đề (vì sao), Phương pháp (đã làm gì), Kết quả (đã thấy gì), Bàn luận (điều đó có nghĩa gì). Tóm tắt và tên bài tóm lược toàn bài.</a:t>
            </a:r>
          </a:p>
          <a:p>
            <a:r>
              <a:rPr lang="en-US" sz="1400" b="0" dirty="0"/>
              <a:t>Đặt vấn đề thu hẹp về câu hỏi, Bàn luận mở rộng trở lại thực hành. Đặt vấn đề của Bài 1 là hình phễu ba đoạn, và Bàn luận mở đầu bằng câu trả lời cho câu hỏi.</a:t>
            </a:r>
          </a:p>
          <a:p>
            <a:r>
              <a:rPr lang="en-US" sz="1400" b="0" dirty="0"/>
              <a:t>Hôm nay: Phương pháp và Kết quả. Thứ Bảy tuần sau: Đặt vấn đề, Bàn luận, Tóm tắt và tên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Người viết bắt đầu từ bằng chứng: bảng trước, tên bài sau cùng.</a:t>
            </a:r>
          </a:p>
          <a:p>
            <a:r>
              <a:rPr lang="en-US" sz="1400" b="0" dirty="0"/>
              <a:t>Với FLUID-ICU, các bảng đã có trong gói kết quả, nên phần Kết quả của bạn bắt đầu từ đó.</a:t>
            </a:r>
          </a:p>
          <a:p>
            <a:r>
              <a:rPr lang="en-US" sz="1400" b="0" dirty="0"/>
              <a:t>Hiểu lầm: 'phải viết xong Đặt vấn đề mới bắt đầu được'.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Phương pháp: đủ chi tiết để làm lại nghiên cứu, theo thứ tự STROBE.</a:t>
            </a:r>
          </a:p>
          <a:p>
            <a:r>
              <a:rPr lang="en-US" sz="1400" b="0" dirty="0"/>
              <a:t>Tốt: Bài 1 mô tả can thiệp đủ để làm lại. Cần sửa: Bài 2 không nói biến hiệu chỉnh bị thiếu được xử lý thế nào.</a:t>
            </a:r>
          </a:p>
          <a:p>
            <a:r>
              <a:rPr lang="en-US" sz="1400" b="0" dirty="0"/>
              <a:t>Với FLUID-ICU, mọi thông tin có trong gói kết quả, SAP và từ điển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mục STROBE một câu, tất cả từ gói kết quả Q1, mục 2.</a:t>
            </a:r>
          </a:p>
          <a:p>
            <a:r>
              <a:rPr lang="en-US" sz="1400" b="0" dirty="0"/>
              <a:t>Mục 10: với thuần tập có sẵn, ghi là mọi người bệnh đủ tiêu chuẩn đều được đưa vào.</a:t>
            </a:r>
          </a:p>
          <a:p>
            <a:r>
              <a:rPr lang="en-US" sz="1400" b="0" dirty="0"/>
              <a:t>Hỏi: câu nào người đọc cần để làm lại nghiên cứu? Kỳ vọng: cách tính cân bằng dịch.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STROBE 12 cho Q1. Các biến hiệu chỉnh được chọn trong SAP trước khi xem dữ liệu.</a:t>
            </a:r>
          </a:p>
          <a:p>
            <a:r>
              <a:rPr lang="en-US" sz="1400" b="0" dirty="0"/>
              <a:t>Mỗi con số trong phần Kết quả phải truy được về một câu ở đây. Người phản biện đọc đoạn này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Người tham gia trước, kèm lưu đồ. Tác động kèm KTC 95%, không viết 'p = 0.42, không có ý nghĩa'. Không bình luận. Mỗi số một chỗ, và văn bản phải khớp với bảng: văn bản và Bảng 1 của Bài 1 mâu thuẫn về creatinine.</a:t>
            </a:r>
          </a:p>
          <a:p>
            <a:r>
              <a:rPr lang="en-US" sz="1400" b="0" dirty="0"/>
              <a:t>Trước khi nộp, đối chiếu mọi con số với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Mọi con số từ gói kết quả Q1 (mô phỏng). Mỗi mục STROBE một câu, từ 13 đến 17.</a:t>
            </a:r>
          </a:p>
          <a:p>
            <a:r>
              <a:rPr lang="en-US" sz="1400" b="0" dirty="0"/>
              <a:t>Chỉ ra những gì không có: không 'vì', không 'có ý nghĩa', không giải thích vì sao OR nhỏ lại. Điều đó thuộc về phần Bàn luận.</a:t>
            </a:r>
          </a:p>
          <a:p>
            <a:r>
              <a:rPr lang="en-US" sz="1400" b="0" dirty="0"/>
              <a:t>Thăm dò: mục nào yêu cầu ước lượng thô và đã hiệu chỉnh? Kỳ vọng: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phải tự đọc hiểu được: tên bảng nói cái gì, ai, khi nào, n mỗi cột, đơn vị và cách tóm tắt ở mỗi dòng, chú thích chữ viết tắt và dữ liệu thiếu.</a:t>
            </a:r>
          </a:p>
          <a:p>
            <a:r>
              <a:rPr lang="en-US" sz="1400" b="0" dirty="0"/>
              <a:t>Lỗi trong hai bài: sai đơn vị (Bài 1), không có số người còn nguy cơ dưới đường Kaplan-Meier (Bài 2).</a:t>
            </a:r>
          </a:p>
          <a:p>
            <a:r>
              <a:rPr lang="en-US" sz="1400" b="0" dirty="0"/>
              <a:t>Hỏi: bảng có tên 'Kết quả' thì sai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Bảng 1 thành một câu Kết quả (STROBE 14): 'Người bệnh có cân bằng dương nặng hơn lúc ban đầu (trung vị SOFA 8 so với 6, vận mạch 55.0% so với 24.9%) và ít bị suy tim hơn (11.5% so với 22.0%).'</a:t>
            </a:r>
          </a:p>
          <a:p>
            <a:r>
              <a:rPr lang="en-US" sz="1400" b="0" dirty="0"/>
              <a:t>Câu này mô tả, không kiểm định: không cần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là thuần tập, nên theo STROBE. Phần Kết quả gồm mục 13 đến 17.</a:t>
            </a:r>
          </a:p>
          <a:p>
            <a:r>
              <a:rPr lang="en-US" sz="1400" b="0" dirty="0"/>
              <a:t>Hay bị quên nhất: mục 16 (thô và đã hiệu chỉnh, kèm các biến hiệu chỉnh) và dữ liệu thiếu.</a:t>
            </a:r>
          </a:p>
          <a:p>
            <a:r>
              <a:rPr lang="en-US" sz="1400" b="0" dirty="0"/>
              <a:t>Thăm dò: mục nào ứng với Bảng 1? Kỳ vọng: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thăm dò.</a:t>
            </a:r>
          </a:p>
          <a:p>
            <a:r>
              <a:rPr lang="en-US" sz="1400" b="0" dirty="0"/>
              <a:t>Câu 4 là câu bẫy: xử lý dữ liệu thiếu thế nào thuộc Phương pháp, thiếu bao nhiêu thuộc Kết quả.</a:t>
            </a:r>
          </a:p>
          <a:p>
            <a:r>
              <a:rPr lang="en-US" sz="1400" b="0" dirty="0"/>
              <a:t>Câu 3 là lỗi kinh điển: bình luận trong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a:t>
            </a:r>
          </a:p>
          <a:p>
            <a:r>
              <a:rPr lang="en-US" sz="1400" b="0" dirty="0"/>
              <a:t>Phần 1: bạn viết trực tiếp phần Kết quả của Q1, mời học viên đề xuất từng câu. Phần 2: mỗi học viên bắt đầu phần Kết quả cho câu hỏi của mình.</a:t>
            </a:r>
          </a:p>
          <a:p>
            <a:r>
              <a:rPr lang="en-US" sz="1400" b="0" dirty="0"/>
              <a:t>Hướng dẫn: s7_exercises_VN Phần C. Văn bản mẫu: s7_solutions_VN Phần C (dùng để định hướng, không dán vào).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Để đồng hồ đếm giờ trên màn hình.</a:t>
            </a:r>
          </a:p>
          <a:p>
            <a:r>
              <a:rPr lang="en-US" sz="1400" b="0" dirty="0"/>
              <a:t>Thứ tự: lưu đồ, câu về Bảng 1, số tử vong mỗi nhóm, OR thô và hiệu chỉnh, HR Cox và quy gán.</a:t>
            </a:r>
          </a:p>
          <a:p>
            <a:r>
              <a:rPr lang="en-US" sz="1400" b="0" dirty="0"/>
              <a:t>Câu gợi ý: 'Có con số nào thiếu KTC không?' 'Có tính từ nào nên thay bằng con số?' 'Có bình luận nào không?'</a:t>
            </a:r>
          </a:p>
          <a:p>
            <a:r>
              <a:rPr lang="en-US" sz="1400" b="0" dirty="0"/>
              <a:t>Khoảng 300 từ. Gửi bản nháp của lớp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Mỗi người tự viết. Trả lời câu hỏi trong khung chat.</a:t>
            </a:r>
          </a:p>
          <a:p>
            <a:r>
              <a:rPr lang="en-US" sz="1400" b="0" dirty="0"/>
              <a:t>Q1: viết lại bằng lời của mình, không chép bản nháp của lớp. Q3: số ngày không thở máy tính tử vong là 0. Q4: báo cáo cả ước lượng trường hợp đầy đủ và quy gán. Q5: chỉ người sống sót, trung vị và IQR.</a:t>
            </a:r>
          </a:p>
          <a:p>
            <a:r>
              <a:rPr lang="en-US" sz="1400" b="0" dirty="0"/>
              <a:t>Có thể thêm các phần khác, nhưng chỉ bắt buộc nộp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(22:20-22:22). Chiếu thuật ngữ, mời một người giải thích, rồi mở cột bên phải.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duyệt (22:22-22:24). Chiếu danh sách cặp bình duyệt và nói rõ đã bốc thăm ngẫu nhiên. Mỗi người bình duyệt một bản nháp và nhận một bản bình duyệt.</a:t>
            </a:r>
          </a:p>
          <a:p>
            <a:r>
              <a:rPr lang="en-US" sz="1400" b="0" dirty="0"/>
              <a:t>Gửi bản nháp thẳng cho người bình duyệt giúp tiết kiệm thời gian: bản bình duyệt nộp sau mười ngày, bản sửa mười ngày sau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(22:24-22:30). Đọc ba thông điệp và mời một người thêm thông điệp thứ tư.</a:t>
            </a:r>
          </a:p>
          <a:p>
            <a:r>
              <a:rPr lang="en-US" sz="1400" b="0" dirty="0"/>
              <a:t>Đọc các câu trả lời cuối buổi trước Buổi 8 và mở đầu bằng chúng.</a:t>
            </a:r>
          </a:p>
          <a:p>
            <a:r>
              <a:rPr lang="en-US" sz="1400" b="0" dirty="0"/>
              <a:t>Về nhà: Phần 4 đề cương, bản nháp phần Kết quả, 6 slide (Presentation_Guide_VN).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Mỗi tình huống một thăm dò: bắt buộc, nên, hay không cần.</a:t>
            </a:r>
          </a:p>
          <a:p>
            <a:r>
              <a:rPr lang="en-US" sz="1400" b="0" dirty="0"/>
              <a:t>Tình huống 4: kiểm định chất lượng (audit) đi qua phòng quản lý chất lượng, không đăng ký. Nếu muốn công bố như nghiên cứu, hỏi hội đồng đạo đức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CRediT nêu ai làm gì (14 vai trò). Nó không thay thế tiêu chí ICMJE.</a:t>
            </a:r>
          </a:p>
          <a:p>
            <a:r>
              <a:rPr lang="en-US" sz="1400" b="0" dirty="0"/>
              <a:t>Bài 1 có tuyên bố CRediT.</a:t>
            </a:r>
          </a:p>
          <a:p>
            <a:r>
              <a:rPr lang="en-US" sz="1400" b="0" dirty="0"/>
              <a:t>Đề nghị mỗi học viên ghi trong đề cương ai sẽ làm gì.</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2.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4.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12/12/2026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IMRaD, Phương pháp và Kết quả</a:t>
            </a:r>
          </a:p>
          <a:p>
            <a:pPr marL="274320" indent="-274320" algn="l">
              <a:spcBef>
                <a:spcPts val="440"/>
              </a:spcBef>
              <a:buFont typeface="Arial"/>
              <a:buChar char="•"/>
            </a:pPr>
            <a:r>
              <a:rPr lang="en-US" sz="1900" dirty="0">
                <a:solidFill>
                  <a:srgbClr val="000000"/>
                </a:solidFill>
                <a:latin typeface="Arial"/>
                <a:cs typeface="Arial"/>
              </a:rPr>
              <a:t>21:35  Thực hành bản thảo 1: phần Kết quả,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Nhiễu: một phần liên quan thô là do mức độ nặng</a:t>
            </a:r>
          </a:p>
          <a:p>
            <a:pPr marL="0" indent="0" algn="ctr">
              <a:lnSpc>
                <a:spcPct val="104000"/>
              </a:lnSpc>
              <a:spcBef>
                <a:spcPts val="300"/>
              </a:spcBef>
              <a:buNone/>
            </a:pPr>
            <a:r>
              <a:rPr lang="en-US" sz="1500" dirty="0">
                <a:solidFill>
                  <a:srgbClr val="000000"/>
                </a:solidFill>
                <a:latin typeface="Arial"/>
                <a:cs typeface="Arial"/>
              </a:rPr>
              <a:t>Không: KTC chứa giá trị 1</a:t>
            </a:r>
          </a:p>
          <a:p>
            <a:pPr marL="0" indent="0" algn="ctr">
              <a:lnSpc>
                <a:spcPct val="104000"/>
              </a:lnSpc>
              <a:spcBef>
                <a:spcPts val="300"/>
              </a:spcBef>
              <a:buNone/>
            </a:pPr>
            <a:r>
              <a:rPr lang="en-US" sz="1500" dirty="0">
                <a:solidFill>
                  <a:srgbClr val="000000"/>
                </a:solidFill>
                <a:latin typeface="Arial"/>
                <a:cs typeface="Arial"/>
              </a:rPr>
              <a:t>Phân tích các trường hợp đầy đủ, hoặc quy gán đa bội kèm phân tích độ nhạy</a:t>
            </a:r>
          </a:p>
          <a:p>
            <a:pPr marL="0" indent="0" algn="ctr">
              <a:lnSpc>
                <a:spcPct val="104000"/>
              </a:lnSpc>
              <a:spcBef>
                <a:spcPts val="300"/>
              </a:spcBef>
              <a:buNone/>
            </a:pPr>
            <a:r>
              <a:rPr lang="en-US" sz="1500" dirty="0">
                <a:solidFill>
                  <a:srgbClr val="000000"/>
                </a:solidFill>
                <a:latin typeface="Arial"/>
                <a:cs typeface="Arial"/>
              </a:rPr>
              <a:t>Rời nghiên cứu khi còn sống. Sau đó không biết kết cục</a:t>
            </a:r>
          </a:p>
          <a:p>
            <a:pPr marL="0" indent="0" algn="ctr">
              <a:lnSpc>
                <a:spcPct val="104000"/>
              </a:lnSpc>
              <a:spcBef>
                <a:spcPts val="300"/>
              </a:spcBef>
              <a:buNone/>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của chính bạn</a:t>
            </a:r>
          </a:p>
          <a:p>
            <a:pPr marL="0" indent="0" algn="ctr">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ctr">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phần Kết quả của bạn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FLUID-ICU của bạn (Q1 đến Q5)</a:t>
            </a:r>
          </a:p>
          <a:p>
            <a:pPr marL="0" indent="0" algn="ctr">
              <a:lnSpc>
                <a:spcPct val="104000"/>
              </a:lnSpc>
              <a:spcBef>
                <a:spcPts val="400"/>
              </a:spcBef>
              <a:buNone/>
            </a:pPr>
            <a:r>
              <a:rPr lang="en-US" sz="1750" dirty="0">
                <a:solidFill>
                  <a:srgbClr val="000000"/>
                </a:solidFill>
                <a:latin typeface="Arial"/>
                <a:cs typeface="Arial"/>
              </a:rPr>
              <a:t>Chúng tôi đưa kết quả. Bạn viết</a:t>
            </a:r>
          </a:p>
          <a:p>
            <a:pPr marL="0" indent="0" algn="ctr">
              <a:lnSpc>
                <a:spcPct val="104000"/>
              </a:lnSpc>
              <a:spcBef>
                <a:spcPts val="400"/>
              </a:spcBef>
              <a:buNone/>
            </a:pPr>
            <a:r>
              <a:rPr lang="en-US" sz="1750" dirty="0">
                <a:solidFill>
                  <a:srgbClr val="000000"/>
                </a:solidFill>
                <a:latin typeface="Arial"/>
                <a:cs typeface="Arial"/>
              </a:rPr>
              <a:t>Hôm nay: Phương pháp, Kết quả (viết trên Q1)</a:t>
            </a:r>
          </a:p>
          <a:p>
            <a:pPr marL="0" indent="0" algn="ctr">
              <a:lnSpc>
                <a:spcPct val="104000"/>
              </a:lnSpc>
              <a:spcBef>
                <a:spcPts val="400"/>
              </a:spcBef>
              <a:buNone/>
            </a:pPr>
            <a:r>
              <a:rPr lang="en-US" sz="1750" dirty="0">
                <a:solidFill>
                  <a:srgbClr val="000000"/>
                </a:solidFill>
                <a:latin typeface="Arial"/>
                <a:cs typeface="Arial"/>
              </a:rPr>
              <a:t>Buổi 8: Đặt vấn đề, Bàn luận, Tóm tắt, tên bài</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ctr">
              <a:lnSpc>
                <a:spcPct val="104000"/>
              </a:lnSpc>
              <a:spcBef>
                <a:spcPts val="400"/>
              </a:spcBef>
              <a:buNone/>
            </a:pPr>
            <a:r>
              <a:rPr lang="en-US" sz="1750" dirty="0">
                <a:solidFill>
                  <a:srgbClr val="000000"/>
                </a:solidFill>
                <a:latin typeface="Arial"/>
                <a:cs typeface="Arial"/>
              </a:rPr>
              <a:t>Bài 2: Hyun 2023, thuần tập, 2516 người bệnh</a:t>
            </a:r>
          </a:p>
          <a:p>
            <a:pPr marL="0" indent="0" algn="ctr">
              <a:lnSpc>
                <a:spcPct val="104000"/>
              </a:lnSpc>
              <a:spcBef>
                <a:spcPts val="400"/>
              </a:spcBef>
              <a:buNone/>
            </a:pPr>
            <a:r>
              <a:rPr lang="en-US" sz="1750" dirty="0">
                <a:solidFill>
                  <a:srgbClr val="000000"/>
                </a:solidFill>
                <a:latin typeface="Arial"/>
                <a:cs typeface="Arial"/>
              </a:rPr>
              <a:t>Tệp PDF gửi qua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Trang bìa</a:t>
            </a:r>
          </a:p>
          <a:p>
            <a:pPr marL="0" indent="0" algn="ctr">
              <a:lnSpc>
                <a:spcPct val="104000"/>
              </a:lnSpc>
              <a:spcBef>
                <a:spcPts val="400"/>
              </a:spcBef>
              <a:buNone/>
            </a:pPr>
            <a:r>
              <a:rPr lang="en-US" sz="1600" dirty="0">
                <a:solidFill>
                  <a:srgbClr val="000000"/>
                </a:solidFill>
                <a:latin typeface="Arial"/>
                <a:cs typeface="Arial"/>
              </a:rPr>
              <a:t>Tên đề tài, phiên bản, ngày</a:t>
            </a:r>
          </a:p>
          <a:p>
            <a:pPr marL="0" indent="0" algn="ctr">
              <a:lnSpc>
                <a:spcPct val="104000"/>
              </a:lnSpc>
              <a:spcBef>
                <a:spcPts val="400"/>
              </a:spcBef>
              <a:buNone/>
            </a:pPr>
            <a:r>
              <a:rPr lang="en-US" sz="1600" dirty="0">
                <a:solidFill>
                  <a:srgbClr val="000000"/>
                </a:solidFill>
                <a:latin typeface="Arial"/>
                <a:cs typeface="Arial"/>
              </a:rPr>
              <a:t>Số đăng ký</a:t>
            </a:r>
          </a:p>
          <a:p>
            <a:pPr marL="0" indent="0" algn="ctr">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1</a:t>
            </a:r>
          </a:p>
          <a:p>
            <a:pPr marL="0" indent="0" algn="ctr">
              <a:lnSpc>
                <a:spcPct val="104000"/>
              </a:lnSpc>
              <a:spcBef>
                <a:spcPts val="400"/>
              </a:spcBef>
              <a:buNone/>
            </a:pPr>
            <a:r>
              <a:rPr lang="en-US" sz="1600" dirty="0">
                <a:solidFill>
                  <a:srgbClr val="000000"/>
                </a:solidFill>
                <a:latin typeface="Arial"/>
                <a:cs typeface="Arial"/>
              </a:rPr>
              <a:t>Vấn đề và lý do</a:t>
            </a:r>
          </a:p>
          <a:p>
            <a:pPr marL="0" indent="0" algn="ctr">
              <a:lnSpc>
                <a:spcPct val="104000"/>
              </a:lnSpc>
              <a:spcBef>
                <a:spcPts val="400"/>
              </a:spcBef>
              <a:buNone/>
            </a:pPr>
            <a:r>
              <a:rPr lang="en-US" sz="1600" dirty="0">
                <a:solidFill>
                  <a:srgbClr val="000000"/>
                </a:solidFill>
                <a:latin typeface="Arial"/>
                <a:cs typeface="Arial"/>
              </a:rPr>
              <a:t>Câu hỏi (PICO)</a:t>
            </a:r>
          </a:p>
          <a:p>
            <a:pPr marL="0" indent="0" algn="ctr">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2-3</a:t>
            </a:r>
          </a:p>
          <a:p>
            <a:pPr marL="0" indent="0" algn="ctr">
              <a:lnSpc>
                <a:spcPct val="104000"/>
              </a:lnSpc>
              <a:spcBef>
                <a:spcPts val="400"/>
              </a:spcBef>
              <a:buNone/>
            </a:pPr>
            <a:r>
              <a:rPr lang="en-US" sz="1600" dirty="0">
                <a:solidFill>
                  <a:srgbClr val="000000"/>
                </a:solidFill>
                <a:latin typeface="Arial"/>
                <a:cs typeface="Arial"/>
              </a:rPr>
              <a:t>Thiết kế, bối cảnh, đối tượng</a:t>
            </a:r>
          </a:p>
          <a:p>
            <a:pPr marL="0" indent="0" algn="ctr">
              <a:lnSpc>
                <a:spcPct val="104000"/>
              </a:lnSpc>
              <a:spcBef>
                <a:spcPts val="400"/>
              </a:spcBef>
              <a:buNone/>
            </a:pPr>
            <a:r>
              <a:rPr lang="en-US" sz="1600" dirty="0">
                <a:solidFill>
                  <a:srgbClr val="000000"/>
                </a:solidFill>
                <a:latin typeface="Arial"/>
                <a:cs typeface="Arial"/>
              </a:rPr>
              <a:t>Phơi nhiễm, kết cục</a:t>
            </a:r>
          </a:p>
          <a:p>
            <a:pPr marL="0" indent="0" algn="ctr">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4 (hôm nay)</a:t>
            </a:r>
          </a:p>
          <a:p>
            <a:pPr marL="0" indent="0" algn="ctr">
              <a:lnSpc>
                <a:spcPct val="104000"/>
              </a:lnSpc>
              <a:spcBef>
                <a:spcPts val="400"/>
              </a:spcBef>
              <a:buNone/>
            </a:pPr>
            <a:r>
              <a:rPr lang="en-US" sz="1600" dirty="0">
                <a:solidFill>
                  <a:srgbClr val="000000"/>
                </a:solidFill>
                <a:latin typeface="Arial"/>
                <a:cs typeface="Arial"/>
              </a:rPr>
              <a:t>Phê duyệt đạo đức, sự đồng ý</a:t>
            </a:r>
          </a:p>
          <a:p>
            <a:pPr marL="0" indent="0" algn="ctr">
              <a:lnSpc>
                <a:spcPct val="104000"/>
              </a:lnSpc>
              <a:spcBef>
                <a:spcPts val="400"/>
              </a:spcBef>
              <a:buNone/>
            </a:pPr>
            <a:r>
              <a:rPr lang="en-US" sz="1600" dirty="0">
                <a:solidFill>
                  <a:srgbClr val="000000"/>
                </a:solidFill>
                <a:latin typeface="Arial"/>
                <a:cs typeface="Arial"/>
              </a:rPr>
              <a:t>Bảo mật, an toàn dữ liệu</a:t>
            </a:r>
          </a:p>
          <a:p>
            <a:pPr marL="0" indent="0" algn="ctr">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Xét duyệt đạo đức: phê duyệt trước khi thu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a:t>
            </a:r>
          </a:p>
          <a:p>
            <a:pPr marL="0" indent="0" algn="ctr">
              <a:lnSpc>
                <a:spcPct val="104000"/>
              </a:lnSpc>
              <a:spcBef>
                <a:spcPts val="200"/>
              </a:spcBef>
              <a:buNone/>
            </a:pPr>
            <a:r>
              <a:rPr lang="en-US" sz="1500" dirty="0">
                <a:solidFill>
                  <a:srgbClr val="000000"/>
                </a:solidFill>
                <a:latin typeface="Arial"/>
                <a:cs typeface="Arial"/>
              </a:rPr>
              <a:t>Phiếu đồng ý tham gia</a:t>
            </a:r>
          </a:p>
          <a:p>
            <a:pPr marL="0" indent="0" algn="ctr">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ctr">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Thử nghiệm: đăng ký trước</a:t>
            </a:r>
          </a:p>
          <a:p>
            <a:pPr marL="0" indent="0" algn="ctr">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Bắt buộc</a:t>
            </a:r>
          </a:p>
          <a:p>
            <a:pPr marL="0" indent="0" algn="ctr">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ctr">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Được yêu cầu</a:t>
            </a:r>
          </a:p>
          <a:p>
            <a:pPr marL="0" indent="0" algn="ctr">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ctr">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Khuyến khích</a:t>
            </a:r>
          </a:p>
          <a:p>
            <a:pPr marL="0" indent="0" algn="ctr">
              <a:lnSpc>
                <a:spcPct val="104000"/>
              </a:lnSpc>
              <a:spcBef>
                <a:spcPts val="400"/>
              </a:spcBef>
              <a:buNone/>
            </a:pPr>
            <a:r>
              <a:rPr lang="en-US" sz="1750" dirty="0">
                <a:solidFill>
                  <a:srgbClr val="000000"/>
                </a:solidFill>
                <a:latin typeface="Arial"/>
                <a:cs typeface="Arial"/>
              </a:rPr>
              <a:t>Ví dụ trên ClinicalTrials.gov</a:t>
            </a:r>
          </a:p>
          <a:p>
            <a:pPr marL="0" indent="0" algn="ctr">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Mục đích, những gì sẽ diễn ra</a:t>
            </a:r>
          </a:p>
          <a:p>
            <a:pPr marL="0" indent="0" algn="ctr">
              <a:lnSpc>
                <a:spcPct val="104000"/>
              </a:lnSpc>
              <a:spcBef>
                <a:spcPts val="400"/>
              </a:spcBef>
              <a:buNone/>
            </a:pPr>
            <a:r>
              <a:rPr lang="en-US" sz="1600" dirty="0">
                <a:solidFill>
                  <a:srgbClr val="000000"/>
                </a:solidFill>
                <a:latin typeface="Arial"/>
                <a:cs typeface="Arial"/>
              </a:rPr>
              <a:t>Rủi ro, lợi ích, lựa chọn khác</a:t>
            </a:r>
          </a:p>
          <a:p>
            <a:pPr marL="0" indent="0" algn="ctr">
              <a:lnSpc>
                <a:spcPct val="104000"/>
              </a:lnSpc>
              <a:spcBef>
                <a:spcPts val="400"/>
              </a:spcBef>
              <a:buNone/>
            </a:pPr>
            <a:r>
              <a:rPr lang="en-US" sz="1600" dirty="0">
                <a:solidFill>
                  <a:srgbClr val="000000"/>
                </a:solidFill>
                <a:latin typeface="Arial"/>
                <a:cs typeface="Arial"/>
              </a:rPr>
              <a:t>Dữ liệu được bảo vệ ra sao</a:t>
            </a:r>
          </a:p>
          <a:p>
            <a:pPr marL="0" indent="0" algn="ctr">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Ngôn ngữ đơn giản, quen thuộc</a:t>
            </a:r>
          </a:p>
          <a:p>
            <a:pPr marL="0" indent="0" algn="ctr">
              <a:lnSpc>
                <a:spcPct val="104000"/>
              </a:lnSpc>
              <a:spcBef>
                <a:spcPts val="400"/>
              </a:spcBef>
              <a:buNone/>
            </a:pPr>
            <a:r>
              <a:rPr lang="en-US" sz="1600" dirty="0">
                <a:solidFill>
                  <a:srgbClr val="000000"/>
                </a:solidFill>
                <a:latin typeface="Arial"/>
                <a:cs typeface="Arial"/>
              </a:rPr>
              <a:t>Có thời gian để hỏi</a:t>
            </a:r>
          </a:p>
          <a:p>
            <a:pPr marL="0" indent="0" algn="ctr">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ép buộc</a:t>
            </a:r>
          </a:p>
          <a:p>
            <a:pPr marL="0" indent="0" algn="ctr">
              <a:lnSpc>
                <a:spcPct val="104000"/>
              </a:lnSpc>
              <a:spcBef>
                <a:spcPts val="400"/>
              </a:spcBef>
              <a:buNone/>
            </a:pPr>
            <a:r>
              <a:rPr lang="en-US" sz="1600" dirty="0">
                <a:solidFill>
                  <a:srgbClr val="000000"/>
                </a:solidFill>
                <a:latin typeface="Arial"/>
                <a:cs typeface="Arial"/>
              </a:rPr>
              <a:t>Được từ chối hoặc rút lui</a:t>
            </a:r>
          </a:p>
          <a:p>
            <a:pPr marL="0" indent="0" algn="ctr">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Phiếu ký tên, ghi ngày</a:t>
            </a:r>
          </a:p>
          <a:p>
            <a:pPr marL="0" indent="0" algn="ctr">
              <a:lnSpc>
                <a:spcPct val="104000"/>
              </a:lnSpc>
              <a:spcBef>
                <a:spcPts val="400"/>
              </a:spcBef>
              <a:buNone/>
            </a:pPr>
            <a:r>
              <a:rPr lang="en-US" sz="1600" dirty="0">
                <a:solidFill>
                  <a:srgbClr val="000000"/>
                </a:solidFill>
                <a:latin typeface="Arial"/>
                <a:cs typeface="Arial"/>
              </a:rPr>
              <a:t>Một bản cho người tham gia</a:t>
            </a:r>
          </a:p>
          <a:p>
            <a:pPr marL="0" indent="0" algn="ctr">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Viêm phổi, tỉnh, định hướng tốt</a:t>
            </a:r>
          </a:p>
          <a:p>
            <a:pPr marL="0" indent="0" algn="ctr">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ctr">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đang an thần</a:t>
            </a:r>
          </a:p>
          <a:p>
            <a:pPr marL="0" indent="0" algn="ctr">
              <a:lnSpc>
                <a:spcPct val="104000"/>
              </a:lnSpc>
              <a:spcBef>
                <a:spcPts val="400"/>
              </a:spcBef>
              <a:buNone/>
            </a:pPr>
            <a:r>
              <a:rPr lang="en-US" sz="1750" dirty="0">
                <a:solidFill>
                  <a:srgbClr val="000000"/>
                </a:solidFill>
                <a:latin typeface="Arial"/>
                <a:cs typeface="Arial"/>
              </a:rPr>
              <a:t>Con gái ở cạnh giường</a:t>
            </a:r>
          </a:p>
          <a:p>
            <a:pPr marL="0" indent="0" algn="ctr">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ctr">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ctr">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Hội đồng đạo đức của từng ICU</a:t>
            </a:r>
          </a:p>
          <a:p>
            <a:pPr marL="0" indent="0" algn="ctr">
              <a:lnSpc>
                <a:spcPct val="104000"/>
              </a:lnSpc>
              <a:spcBef>
                <a:spcPts val="400"/>
              </a:spcBef>
              <a:buNone/>
            </a:pPr>
            <a:r>
              <a:rPr lang="en-US" sz="1600" dirty="0">
                <a:solidFill>
                  <a:srgbClr val="000000"/>
                </a:solidFill>
                <a:latin typeface="Arial"/>
                <a:cs typeface="Arial"/>
              </a:rPr>
              <a:t>Số và ngày phê duyệt</a:t>
            </a:r>
          </a:p>
          <a:p>
            <a:pPr marL="0" indent="0" algn="ctr">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Dữ liệu thường quy, nguy cơ tối thiểu</a:t>
            </a:r>
          </a:p>
          <a:p>
            <a:pPr marL="0" indent="0" algn="ctr">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Chỉ dùng mã nghiên cứu</a:t>
            </a:r>
          </a:p>
          <a:p>
            <a:pPr marL="0" indent="0" algn="ctr">
              <a:lnSpc>
                <a:spcPct val="104000"/>
              </a:lnSpc>
              <a:spcBef>
                <a:spcPts val="400"/>
              </a:spcBef>
              <a:buNone/>
            </a:pPr>
            <a:r>
              <a:rPr lang="en-US" sz="1600" dirty="0">
                <a:solidFill>
                  <a:srgbClr val="000000"/>
                </a:solidFill>
                <a:latin typeface="Arial"/>
                <a:cs typeface="Arial"/>
              </a:rPr>
              <a:t>Tệp khóa lưu ở từng ICU</a:t>
            </a:r>
          </a:p>
          <a:p>
            <a:pPr marL="0" indent="0" algn="ctr">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Khuyến khích đăng ký</a:t>
            </a:r>
          </a:p>
          <a:p>
            <a:pPr marL="0" indent="0" algn="ctr">
              <a:lnSpc>
                <a:spcPct val="104000"/>
              </a:lnSpc>
              <a:spcBef>
                <a:spcPts val="400"/>
              </a:spcBef>
              <a:buNone/>
            </a:pPr>
            <a:r>
              <a:rPr lang="en-US" sz="1600" dirty="0">
                <a:solidFill>
                  <a:srgbClr val="000000"/>
                </a:solidFill>
                <a:latin typeface="Arial"/>
                <a:cs typeface="Arial"/>
              </a:rPr>
              <a:t>Tuyên bố chia sẻ dữ liệu</a:t>
            </a:r>
          </a:p>
          <a:p>
            <a:pPr marL="0" indent="0" algn="ctr">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ctr">
              <a:lnSpc>
                <a:spcPct val="104000"/>
              </a:lnSpc>
              <a:spcBef>
                <a:spcPts val="400"/>
              </a:spcBef>
              <a:buNone/>
            </a:pPr>
            <a:r>
              <a:rPr lang="en-US" sz="1450" dirty="0">
                <a:solidFill>
                  <a:srgbClr val="000000"/>
                </a:solidFill>
                <a:latin typeface="Arial"/>
                <a:cs typeface="Arial"/>
              </a:rPr>
              <a:t>Tuyển chọn luôn lâu hơn dự kiến</a:t>
            </a:r>
          </a:p>
          <a:p>
            <a:pPr marL="0" indent="0" algn="ctr">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Thời gian nhân sự</a:t>
            </a:r>
          </a:p>
          <a:p>
            <a:pPr marL="0" indent="0" algn="ctr">
              <a:lnSpc>
                <a:spcPct val="104000"/>
              </a:lnSpc>
              <a:spcBef>
                <a:spcPts val="400"/>
              </a:spcBef>
              <a:buNone/>
            </a:pPr>
            <a:r>
              <a:rPr lang="en-US" sz="1450" dirty="0">
                <a:solidFill>
                  <a:srgbClr val="000000"/>
                </a:solidFill>
                <a:latin typeface="Arial"/>
                <a:cs typeface="Arial"/>
              </a:rPr>
              <a:t>Vật tư và xét nghiệm</a:t>
            </a:r>
          </a:p>
          <a:p>
            <a:pPr marL="0" indent="0" algn="ctr">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Ai thu thập số liệu ca đêm?</a:t>
            </a:r>
          </a:p>
          <a:p>
            <a:pPr marL="0" indent="0" algn="ctr">
              <a:lnSpc>
                <a:spcPct val="104000"/>
              </a:lnSpc>
              <a:spcBef>
                <a:spcPts val="400"/>
              </a:spcBef>
              <a:buNone/>
            </a:pPr>
            <a:r>
              <a:rPr lang="en-US" sz="1450" dirty="0">
                <a:solidFill>
                  <a:srgbClr val="000000"/>
                </a:solidFill>
                <a:latin typeface="Arial"/>
                <a:cs typeface="Arial"/>
              </a:rPr>
              <a:t>Ai phân tích?</a:t>
            </a:r>
          </a:p>
          <a:p>
            <a:pPr marL="0" indent="0" algn="ctr">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1: sàng lọc 1201, phân nhóm 50 (4%)</a:t>
            </a:r>
          </a:p>
          <a:p>
            <a:pPr marL="0" indent="0" algn="ctr">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Có ghi thường quy không?</a:t>
            </a:r>
          </a:p>
          <a:p>
            <a:pPr marL="0" indent="0" algn="ctr">
              <a:lnSpc>
                <a:spcPct val="104000"/>
              </a:lnSpc>
              <a:spcBef>
                <a:spcPts val="400"/>
              </a:spcBef>
              <a:buNone/>
            </a:pPr>
            <a:r>
              <a:rPr lang="en-US" sz="1450" dirty="0">
                <a:solidFill>
                  <a:srgbClr val="000000"/>
                </a:solidFill>
                <a:latin typeface="Arial"/>
                <a:cs typeface="Arial"/>
              </a:rPr>
              <a:t>Sẽ thiếu bao nhiêu?</a:t>
            </a:r>
          </a:p>
          <a:p>
            <a:pPr marL="0" indent="0" algn="ctr">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Tự tạo ra dữ liệu hoặc người bệnh</a:t>
            </a:r>
          </a:p>
          <a:p>
            <a:pPr marL="0" indent="0" algn="ctr">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Sửa hoặc bỏ bớt dữ liệu cho hợp ý</a:t>
            </a:r>
          </a:p>
          <a:p>
            <a:pPr marL="0" indent="0" algn="ctr">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ctr">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Cũng không được làm: những cách làm sai lệch bằng chứng đã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được báo cáo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kết quả đăng hai lần</a:t>
            </a:r>
          </a:p>
          <a:p>
            <a:pPr marL="0" indent="0" algn="ctr">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ctr">
              <a:lnSpc>
                <a:spcPct val="104000"/>
              </a:lnSpc>
              <a:spcBef>
                <a:spcPts val="400"/>
              </a:spcBef>
              <a:buNone/>
            </a:pPr>
            <a:r>
              <a:rPr lang="en-US" sz="1750" dirty="0">
                <a:solidFill>
                  <a:srgbClr val="000000"/>
                </a:solidFill>
                <a:latin typeface="Arial"/>
                <a:cs typeface="Arial"/>
              </a:rPr>
              <a:t>Để tăng số bài báo</a:t>
            </a:r>
          </a:p>
          <a:p>
            <a:pPr marL="0" indent="0" algn="ctr">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Chỉ báo cáo kết cục 'có ý nghĩa'</a:t>
            </a:r>
          </a:p>
          <a:p>
            <a:pPr marL="0" indent="0" algn="ctr">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Cảm ơn trong phần Lời cảm ơn</a:t>
            </a:r>
          </a:p>
          <a:p>
            <a:pPr marL="0" indent="0" algn="ctr">
              <a:lnSpc>
                <a:spcPct val="104000"/>
              </a:lnSpc>
              <a:spcBef>
                <a:spcPts val="400"/>
              </a:spcBef>
              <a:buNone/>
            </a:pPr>
            <a:r>
              <a:rPr lang="en-US" sz="1450" dirty="0">
                <a:solidFill>
                  <a:srgbClr val="000000"/>
                </a:solidFill>
                <a:latin typeface="Arial"/>
                <a:cs typeface="Arial"/>
              </a:rPr>
              <a:t>Tác giả 'danh dự': có tên nhưng không làm</a:t>
            </a:r>
          </a:p>
          <a:p>
            <a:pPr marL="0" indent="0" algn="ctr">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Tư vấn, thù lao báo cáo</a:t>
            </a:r>
          </a:p>
          <a:p>
            <a:pPr marL="0" indent="0" algn="ctr">
              <a:lnSpc>
                <a:spcPct val="104000"/>
              </a:lnSpc>
              <a:spcBef>
                <a:spcPts val="400"/>
              </a:spcBef>
              <a:buNone/>
            </a:pPr>
            <a:r>
              <a:rPr lang="en-US" sz="1750" dirty="0">
                <a:solidFill>
                  <a:srgbClr val="000000"/>
                </a:solidFill>
                <a:latin typeface="Arial"/>
                <a:cs typeface="Arial"/>
              </a:rPr>
              <a:t>Tài trợ, hỗ trợ đi lại</a:t>
            </a:r>
          </a:p>
          <a:p>
            <a:pPr marL="0" indent="0" algn="ctr">
              <a:lnSpc>
                <a:spcPct val="104000"/>
              </a:lnSpc>
              <a:spcBef>
                <a:spcPts val="400"/>
              </a:spcBef>
              <a:buNone/>
            </a:pPr>
            <a:r>
              <a:rPr lang="en-US" sz="1750" dirty="0">
                <a:solidFill>
                  <a:srgbClr val="000000"/>
                </a:solidFill>
                <a:latin typeface="Arial"/>
                <a:cs typeface="Arial"/>
              </a:rPr>
              <a:t>Cổ phần, bằng sáng chế</a:t>
            </a:r>
          </a:p>
          <a:p>
            <a:pPr marL="0" indent="0" algn="ctr">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Quan hệ cá nhân</a:t>
            </a:r>
          </a:p>
          <a:p>
            <a:pPr marL="0" indent="0" algn="ctr">
              <a:lnSpc>
                <a:spcPct val="104000"/>
              </a:lnSpc>
              <a:spcBef>
                <a:spcPts val="400"/>
              </a:spcBef>
              <a:buNone/>
            </a:pPr>
            <a:r>
              <a:rPr lang="en-US" sz="1750" dirty="0">
                <a:solidFill>
                  <a:srgbClr val="000000"/>
                </a:solidFill>
                <a:latin typeface="Arial"/>
                <a:cs typeface="Arial"/>
              </a:rPr>
              <a:t>Thành viên nhóm soạn hướng dẫn</a:t>
            </a:r>
          </a:p>
          <a:p>
            <a:pPr marL="0" indent="0" algn="ctr">
              <a:lnSpc>
                <a:spcPct val="104000"/>
              </a:lnSpc>
              <a:spcBef>
                <a:spcPts val="400"/>
              </a:spcBef>
              <a:buNone/>
            </a:pPr>
            <a:r>
              <a:rPr lang="en-US" sz="1750" dirty="0">
                <a:solidFill>
                  <a:srgbClr val="000000"/>
                </a:solidFill>
                <a:latin typeface="Arial"/>
                <a:cs typeface="Arial"/>
              </a:rPr>
              <a:t>Niềm tin định sẵn mạnh</a:t>
            </a:r>
          </a:p>
          <a:p>
            <a:pPr marL="0" indent="0" algn="ctr">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tài trợ. Mã số tài trợ</a:t>
            </a:r>
          </a:p>
          <a:p>
            <a:pPr marL="0" indent="0" algn="ctr">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ctr">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Tình huống 1</a:t>
            </a:r>
          </a:p>
          <a:p>
            <a:pPr marL="0" indent="0" algn="ctr">
              <a:lnSpc>
                <a:spcPct val="104000"/>
              </a:lnSpc>
              <a:spcBef>
                <a:spcPts val="300"/>
              </a:spcBef>
              <a:buNone/>
            </a:pPr>
            <a:r>
              <a:rPr lang="en-US" sz="1500" dirty="0">
                <a:solidFill>
                  <a:srgbClr val="000000"/>
                </a:solidFill>
                <a:latin typeface="Arial"/>
                <a:cs typeface="Arial"/>
              </a:rPr>
              <a:t>Mất ba phiếu theo dõi dịch ngày 3. Một bác sĩ nội trú điền cân bằng dịch 'theo trí nhớ'.</a:t>
            </a:r>
          </a:p>
          <a:p>
            <a:pPr marL="0" indent="0" algn="ctr">
              <a:lnSpc>
                <a:spcPct val="104000"/>
              </a:lnSpc>
              <a:spcBef>
                <a:spcPts val="300"/>
              </a:spcBef>
              <a:buNone/>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Sau đó, ở nhà</a:t>
            </a:r>
          </a:p>
          <a:p>
            <a:pPr marL="0" indent="0" algn="ctr">
              <a:lnSpc>
                <a:spcPct val="104000"/>
              </a:lnSpc>
              <a:spcBef>
                <a:spcPts val="300"/>
              </a:spcBef>
              <a:buNone/>
            </a:pPr>
            <a:r>
              <a:rPr lang="en-US" sz="1500" dirty="0">
                <a:solidFill>
                  <a:srgbClr val="000000"/>
                </a:solidFill>
                <a:latin typeface="Arial"/>
                <a:cs typeface="Arial"/>
              </a:rPr>
              <a:t>Viết Phần 4 cho đề cương của bạn</a:t>
            </a:r>
          </a:p>
          <a:p>
            <a:pPr marL="0" indent="0" algn="ctr">
              <a:lnSpc>
                <a:spcPct val="104000"/>
              </a:lnSpc>
              <a:spcBef>
                <a:spcPts val="300"/>
              </a:spcBef>
              <a:buNone/>
            </a:pPr>
            <a:r>
              <a:rPr lang="en-US" sz="1500" dirty="0">
                <a:solidFill>
                  <a:srgbClr val="000000"/>
                </a:solidFill>
                <a:latin typeface="Arial"/>
                <a:cs typeface="Arial"/>
              </a:rPr>
              <a:t>Phiếu: phiếu bài tập Buổi 7, Phần B (PDF)</a:t>
            </a:r>
          </a:p>
          <a:p>
            <a:pPr marL="0" indent="0" algn="ctr">
              <a:lnSpc>
                <a:spcPct val="104000"/>
              </a:lnSpc>
              <a:spcBef>
                <a:spcPts val="300"/>
              </a:spcBef>
              <a:buNone/>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IMRaD, Phương pháp và Kết quả</a:t>
            </a:r>
          </a:p>
          <a:p>
            <a:pPr marL="0" indent="0" algn="ctr">
              <a:spcBef>
                <a:spcPts val="1200"/>
              </a:spcBef>
              <a:buNone/>
            </a:pPr>
            <a:r>
              <a:rPr lang="en-US" sz="1900" i="1" dirty="0">
                <a:solidFill>
                  <a:srgbClr val="595959"/>
                </a:solidFill>
                <a:latin typeface="Arial"/>
                <a:cs typeface="Arial"/>
              </a:rPr>
              <a:t>Nói rõ đã làm gì, rồi báo cáo những gì đã thấy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Phương pháp nói rõ bạn đã làm gì. Nếu đồng nghiệp không làm lại được nghiên cứu từ phần này, hãy thêm chi tiết.</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Thiết kế, bối cảnh, thời gian</a:t>
            </a:r>
          </a:p>
          <a:p>
            <a:pPr marL="0" indent="0" algn="ctr">
              <a:lnSpc>
                <a:spcPct val="104000"/>
              </a:lnSpc>
              <a:spcBef>
                <a:spcPts val="400"/>
              </a:spcBef>
              <a:buNone/>
            </a:pPr>
            <a:r>
              <a:rPr lang="en-US" sz="1600" dirty="0">
                <a:solidFill>
                  <a:srgbClr val="000000"/>
                </a:solidFill>
                <a:latin typeface="Arial"/>
                <a:cs typeface="Arial"/>
              </a:rPr>
              <a:t>Tiêu chuẩn chọn</a:t>
            </a:r>
          </a:p>
          <a:p>
            <a:pPr marL="0" indent="0" algn="ctr">
              <a:lnSpc>
                <a:spcPct val="104000"/>
              </a:lnSpc>
              <a:spcBef>
                <a:spcPts val="400"/>
              </a:spcBef>
              <a:buNone/>
            </a:pPr>
            <a:r>
              <a:rPr lang="en-US" sz="1600" dirty="0">
                <a:solidFill>
                  <a:srgbClr val="000000"/>
                </a:solidFill>
                <a:latin typeface="Arial"/>
                <a:cs typeface="Arial"/>
              </a:rPr>
              <a:t>Phê duyệt đạo đức và sự đồng ý</a:t>
            </a:r>
          </a:p>
          <a:p>
            <a:pPr marL="0" indent="0" algn="ctr">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ctr">
              <a:lnSpc>
                <a:spcPct val="104000"/>
              </a:lnSpc>
              <a:spcBef>
                <a:spcPts val="400"/>
              </a:spcBef>
              <a:buNone/>
            </a:pPr>
            <a:r>
              <a:rPr lang="en-US" sz="1600" dirty="0">
                <a:solidFill>
                  <a:srgbClr val="000000"/>
                </a:solidFill>
                <a:latin typeface="Arial"/>
                <a:cs typeface="Arial"/>
              </a:rPr>
              <a:t>Định nghĩa các biến</a:t>
            </a:r>
          </a:p>
          <a:p>
            <a:pPr marL="0" indent="0" algn="ctr">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Một kết cục chính: đo thế nào, khi nào</a:t>
            </a:r>
          </a:p>
          <a:p>
            <a:pPr marL="0" indent="0" algn="ctr">
              <a:lnSpc>
                <a:spcPct val="104000"/>
              </a:lnSpc>
              <a:spcBef>
                <a:spcPts val="400"/>
              </a:spcBef>
              <a:buNone/>
            </a:pPr>
            <a:r>
              <a:rPr lang="en-US" sz="1600" dirty="0">
                <a:solidFill>
                  <a:srgbClr val="000000"/>
                </a:solidFill>
                <a:latin typeface="Arial"/>
                <a:cs typeface="Arial"/>
              </a:rPr>
              <a:t>Cỡ mẫu: giả định và nguồn</a:t>
            </a:r>
          </a:p>
          <a:p>
            <a:pPr marL="0" indent="0" algn="ctr">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so sánh có một phương pháp</a:t>
            </a:r>
          </a:p>
          <a:p>
            <a:pPr marL="0" indent="0" algn="ctr">
              <a:lnSpc>
                <a:spcPct val="104000"/>
              </a:lnSpc>
              <a:spcBef>
                <a:spcPts val="400"/>
              </a:spcBef>
              <a:buNone/>
            </a:pPr>
            <a:r>
              <a:rPr lang="en-US" sz="1600" dirty="0">
                <a:solidFill>
                  <a:srgbClr val="000000"/>
                </a:solidFill>
                <a:latin typeface="Arial"/>
                <a:cs typeface="Arial"/>
              </a:rPr>
              <a:t>Ước lượng khớp với kiểm định</a:t>
            </a:r>
          </a:p>
          <a:p>
            <a:pPr marL="0" indent="0" algn="ctr">
              <a:lnSpc>
                <a:spcPct val="104000"/>
              </a:lnSpc>
              <a:spcBef>
                <a:spcPts val="400"/>
              </a:spcBef>
              <a:buNone/>
            </a:pPr>
            <a:r>
              <a:rPr lang="en-US" sz="1600" dirty="0">
                <a:solidFill>
                  <a:srgbClr val="000000"/>
                </a:solidFill>
                <a:latin typeface="Arial"/>
                <a:cs typeface="Arial"/>
              </a:rPr>
              <a:t>Dữ liệu bị thiếu, so sánh bội</a:t>
            </a:r>
          </a:p>
          <a:p>
            <a:pPr marL="0" indent="0" algn="ctr">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ctr">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ctr">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quả báo cáo. Bàn luận diễn giải</a:t>
            </a:r>
          </a:p>
          <a:p>
            <a:pPr marL="0" indent="0" algn="ctr">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ctr">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giải thích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Thiết kế</a:t>
            </a:r>
          </a:p>
          <a:p>
            <a:pPr marL="0" indent="0" algn="ctr">
              <a:lnSpc>
                <a:spcPct val="104000"/>
              </a:lnSpc>
              <a:spcBef>
                <a:spcPts val="400"/>
              </a:spcBef>
              <a:buNone/>
            </a:pPr>
            <a:r>
              <a:rPr lang="en-US" sz="1500" dirty="0">
                <a:solidFill>
                  <a:srgbClr val="000000"/>
                </a:solidFill>
                <a:latin typeface="Arial"/>
                <a:cs typeface="Arial"/>
              </a:rPr>
              <a:t>5  Bối cảnh, thời gian</a:t>
            </a:r>
          </a:p>
          <a:p>
            <a:pPr marL="0" indent="0" algn="ctr">
              <a:lnSpc>
                <a:spcPct val="104000"/>
              </a:lnSpc>
              <a:spcBef>
                <a:spcPts val="400"/>
              </a:spcBef>
              <a:buNone/>
            </a:pPr>
            <a:r>
              <a:rPr lang="en-US" sz="1500" dirty="0">
                <a:solidFill>
                  <a:srgbClr val="000000"/>
                </a:solidFill>
                <a:latin typeface="Arial"/>
                <a:cs typeface="Arial"/>
              </a:rPr>
              <a:t>6  Đối tượng</a:t>
            </a:r>
          </a:p>
          <a:p>
            <a:pPr marL="0" indent="0" algn="ctr">
              <a:lnSpc>
                <a:spcPct val="104000"/>
              </a:lnSpc>
              <a:spcBef>
                <a:spcPts val="400"/>
              </a:spcBef>
              <a:buNone/>
            </a:pPr>
            <a:r>
              <a:rPr lang="en-US" sz="1500" dirty="0">
                <a:solidFill>
                  <a:srgbClr val="000000"/>
                </a:solidFill>
                <a:latin typeface="Arial"/>
                <a:cs typeface="Arial"/>
              </a:rPr>
              <a:t>7  Biến số</a:t>
            </a:r>
          </a:p>
          <a:p>
            <a:pPr marL="0" indent="0" algn="ctr">
              <a:lnSpc>
                <a:spcPct val="104000"/>
              </a:lnSpc>
              <a:spcBef>
                <a:spcPts val="400"/>
              </a:spcBef>
              <a:buNone/>
            </a:pPr>
            <a:r>
              <a:rPr lang="en-US" sz="1500" dirty="0">
                <a:solidFill>
                  <a:srgbClr val="000000"/>
                </a:solidFill>
                <a:latin typeface="Arial"/>
                <a:cs typeface="Arial"/>
              </a:rPr>
              <a:t>8  Nguồn dữ liệu</a:t>
            </a:r>
          </a:p>
          <a:p>
            <a:pPr marL="0" indent="0" algn="ctr">
              <a:lnSpc>
                <a:spcPct val="104000"/>
              </a:lnSpc>
              <a:spcBef>
                <a:spcPts val="400"/>
              </a:spcBef>
              <a:buNone/>
            </a:pPr>
            <a:r>
              <a:rPr lang="en-US" sz="1500" dirty="0">
                <a:solidFill>
                  <a:srgbClr val="000000"/>
                </a:solidFill>
                <a:latin typeface="Arial"/>
                <a:cs typeface="Arial"/>
              </a:rPr>
              <a:t>9  Sai lệch</a:t>
            </a:r>
          </a:p>
          <a:p>
            <a:pPr marL="0" indent="0" algn="ctr">
              <a:lnSpc>
                <a:spcPct val="104000"/>
              </a:lnSpc>
              <a:spcBef>
                <a:spcPts val="400"/>
              </a:spcBef>
              <a:buNone/>
            </a:pPr>
            <a:r>
              <a:rPr lang="en-US" sz="1500" dirty="0">
                <a:solidFill>
                  <a:srgbClr val="000000"/>
                </a:solidFill>
                <a:latin typeface="Arial"/>
                <a:cs typeface="Arial"/>
              </a:rPr>
              <a:t>10  Cỡ mẫu</a:t>
            </a:r>
          </a:p>
          <a:p>
            <a:pPr marL="0" indent="0" algn="ctr">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Đối tượng và sơ đồ</a:t>
            </a:r>
          </a:p>
          <a:p>
            <a:pPr marL="0" indent="0" algn="ctr">
              <a:lnSpc>
                <a:spcPct val="104000"/>
              </a:lnSpc>
              <a:spcBef>
                <a:spcPts val="400"/>
              </a:spcBef>
              <a:buNone/>
            </a:pPr>
            <a:r>
              <a:rPr lang="en-US" sz="1500" dirty="0">
                <a:solidFill>
                  <a:srgbClr val="000000"/>
                </a:solidFill>
                <a:latin typeface="Arial"/>
                <a:cs typeface="Arial"/>
              </a:rPr>
              <a:t>14  Dữ liệu mô tả (Bảng 1)</a:t>
            </a:r>
          </a:p>
          <a:p>
            <a:pPr marL="0" indent="0" algn="ctr">
              <a:lnSpc>
                <a:spcPct val="104000"/>
              </a:lnSpc>
              <a:spcBef>
                <a:spcPts val="400"/>
              </a:spcBef>
              <a:buNone/>
            </a:pPr>
            <a:r>
              <a:rPr lang="en-US" sz="1500" dirty="0">
                <a:solidFill>
                  <a:srgbClr val="000000"/>
                </a:solidFill>
                <a:latin typeface="Arial"/>
                <a:cs typeface="Arial"/>
              </a:rPr>
              <a:t>15  Dữ liệu kết cục</a:t>
            </a:r>
          </a:p>
          <a:p>
            <a:pPr marL="0" indent="0" algn="ctr">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ctr">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Phương pháp: mục 4 đến 12. Kết quả: mục 13 đến 17.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Phương pháp</a:t>
            </a:r>
          </a:p>
          <a:p>
            <a:pPr marL="0" indent="0" algn="ctr">
              <a:lnSpc>
                <a:spcPct val="104000"/>
              </a:lnSpc>
              <a:spcBef>
                <a:spcPts val="300"/>
              </a:spcBef>
              <a:buNone/>
            </a:pPr>
            <a:r>
              <a:rPr lang="en-US" sz="1500" dirty="0">
                <a:solidFill>
                  <a:srgbClr val="000000"/>
                </a:solidFill>
                <a:latin typeface="Arial"/>
                <a:cs typeface="Arial"/>
              </a:rPr>
              <a:t>Kết quả (đối tượng)</a:t>
            </a:r>
          </a:p>
          <a:p>
            <a:pPr marL="0" indent="0" algn="ctr">
              <a:lnSpc>
                <a:spcPct val="104000"/>
              </a:lnSpc>
              <a:spcBef>
                <a:spcPts val="300"/>
              </a:spcBef>
              <a:buNone/>
            </a:pPr>
            <a:r>
              <a:rPr lang="en-US" sz="1500" dirty="0">
                <a:solidFill>
                  <a:srgbClr val="000000"/>
                </a:solidFill>
                <a:latin typeface="Arial"/>
                <a:cs typeface="Arial"/>
              </a:rPr>
              <a:t>Bàn luận (giải thích)</a:t>
            </a:r>
          </a:p>
          <a:p>
            <a:pPr marL="0" indent="0" algn="ctr">
              <a:lnSpc>
                <a:spcPct val="104000"/>
              </a:lnSpc>
              <a:spcBef>
                <a:spcPts val="300"/>
              </a:spcBef>
              <a:buNone/>
            </a:pPr>
            <a:r>
              <a:rPr lang="en-US" sz="1500" dirty="0">
                <a:solidFill>
                  <a:srgbClr val="000000"/>
                </a:solidFill>
                <a:latin typeface="Arial"/>
                <a:cs typeface="Arial"/>
              </a:rPr>
              <a:t>Phương pháp (cách xử lý) và Kết quả (bao nhiêu)</a:t>
            </a:r>
          </a:p>
          <a:p>
            <a:pPr marL="0" indent="0" algn="ctr">
              <a:lnSpc>
                <a:spcPct val="104000"/>
              </a:lnSpc>
              <a:spcBef>
                <a:spcPts val="300"/>
              </a:spcBef>
              <a:buNone/>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phần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viết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Người tham gia và Bảng 1 (10 phút): khi được mời, bạn đề xuất từng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chính (12 phút): số tử vong mỗi nhóm, OR thô và hiệu chỉnh kèm KTC 95%</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phân tích khác (5 phút): mô hình Cox và quy gán đa bội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Mẫu bản thảo</a:t>
            </a:r>
          </a:p>
          <a:p>
            <a:pPr marL="0" indent="0" algn="ctr">
              <a:lnSpc>
                <a:spcPct val="104000"/>
              </a:lnSpc>
              <a:spcBef>
                <a:spcPts val="300"/>
              </a:spcBef>
              <a:buNone/>
            </a:pPr>
            <a:r>
              <a:rPr lang="en-US" sz="1500" dirty="0">
                <a:solidFill>
                  <a:srgbClr val="000000"/>
                </a:solidFill>
                <a:latin typeface="Arial"/>
                <a:cs typeface="Arial"/>
              </a:rPr>
              <a:t>Mục STROBE 13-17</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người tham gia và câu về Bảng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phần Kết quả, Bảng 1 và một bảng hoặc hình chính</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Năm câu hỏi</a:t>
            </a:r>
          </a:p>
          <a:p>
            <a:pPr marL="0" indent="0" algn="ctr">
              <a:lnSpc>
                <a:spcPct val="104000"/>
              </a:lnSpc>
              <a:spcBef>
                <a:spcPts val="300"/>
              </a:spcBef>
              <a:buNone/>
            </a:pPr>
            <a:r>
              <a:rPr lang="en-US" sz="1500" dirty="0">
                <a:solidFill>
                  <a:srgbClr val="000000"/>
                </a:solidFill>
                <a:latin typeface="Arial"/>
                <a:cs typeface="Arial"/>
              </a:rPr>
              <a:t>Q1 Cân bằng dịch và tử vong 28 ngày</a:t>
            </a:r>
          </a:p>
          <a:p>
            <a:pPr marL="0" indent="0" algn="ctr">
              <a:lnSpc>
                <a:spcPct val="104000"/>
              </a:lnSpc>
              <a:spcBef>
                <a:spcPts val="300"/>
              </a:spcBef>
              <a:buNone/>
            </a:pPr>
            <a:r>
              <a:rPr lang="en-US" sz="1500" dirty="0">
                <a:solidFill>
                  <a:srgbClr val="000000"/>
                </a:solidFill>
                <a:latin typeface="Arial"/>
                <a:cs typeface="Arial"/>
              </a:rPr>
              <a:t>Q2 Cân bằng dịch và AKI (tổn thương thận cấp)</a:t>
            </a:r>
          </a:p>
          <a:p>
            <a:pPr marL="0" indent="0" algn="ctr">
              <a:lnSpc>
                <a:spcPct val="104000"/>
              </a:lnSpc>
              <a:spcBef>
                <a:spcPts val="300"/>
              </a:spcBef>
              <a:buNone/>
            </a:pPr>
            <a:r>
              <a:rPr lang="en-US" sz="1500" dirty="0">
                <a:solidFill>
                  <a:srgbClr val="000000"/>
                </a:solidFill>
                <a:latin typeface="Arial"/>
                <a:cs typeface="Arial"/>
              </a:rPr>
              <a:t>Q3 Cân bằng dịch và số ngày không thở máy</a:t>
            </a:r>
          </a:p>
          <a:p>
            <a:pPr marL="0" indent="0" algn="ctr">
              <a:lnSpc>
                <a:spcPct val="104000"/>
              </a:lnSpc>
              <a:spcBef>
                <a:spcPts val="300"/>
              </a:spcBef>
              <a:buNone/>
            </a:pPr>
            <a:r>
              <a:rPr lang="en-US" sz="1500" dirty="0">
                <a:solidFill>
                  <a:srgbClr val="000000"/>
                </a:solidFill>
                <a:latin typeface="Arial"/>
                <a:cs typeface="Arial"/>
              </a:rPr>
              <a:t>Q4 Lactat, tử vong và dữ liệu bị thiếu</a:t>
            </a:r>
          </a:p>
          <a:p>
            <a:pPr marL="0" indent="0" algn="ctr">
              <a:lnSpc>
                <a:spcPct val="104000"/>
              </a:lnSpc>
              <a:spcBef>
                <a:spcPts val="300"/>
              </a:spcBef>
              <a:buNone/>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Phần Kết quả của bạn, hạn 23:59 Chủ nhật 20/12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Bình duyệt: người bình duyệt và các hạn nộp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67110"/>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Khi nào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Bạn làm gì</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Chủ nhật 20/12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cho người bình duyệt của bạn và giảng viên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Thứ Tư 30/12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bình duyệt gửi email bản bình duyệt cho tác giả và giảng viên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Thứ Bảy 9/1/2027</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đã sửa và thư phản hồi cho giảng viên</a:t>
                      </a:r>
                    </a:p>
                  </a:txBody>
                  <a:tcPr marL="73152" marR="73152" marT="45720" marB="45720" anchor="ctr">
                    <a:solidFill>
                      <a:srgbClr val="FFFFFF"/>
                    </a:solidFill>
                  </a:tcPr>
                </a:tc>
              </a:tr>
            </a:tbl>
          </a:graphicData>
        </a:graphic>
      </p:graphicFrame>
      <p:sp>
        <p:nvSpPr>
          <p:cNvPr id="31" name="Caption"/>
          <p:cNvSpPr txBox="1"/>
          <p:nvPr/>
        </p:nvSpPr>
        <p:spPr>
          <a:xfrm>
            <a:off x="457200" y="40430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Người bình duyệt được phân công ngẫu nhiên: xem danh sách trên màn hình và trong email. Email giảng viên Vương Mỹ Lượng: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viết phần Kết quả (hạn 23:59 Chủ nhật 20/12)</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Mang về</a:t>
            </a:r>
          </a:p>
          <a:p>
            <a:pPr marL="0" indent="0" algn="ctr">
              <a:lnSpc>
                <a:spcPct val="104000"/>
              </a:lnSpc>
              <a:spcBef>
                <a:spcPts val="300"/>
              </a:spcBef>
              <a:buNone/>
            </a:pPr>
            <a:r>
              <a:rPr lang="en-US" sz="1500" dirty="0">
                <a:solidFill>
                  <a:srgbClr val="000000"/>
                </a:solidFill>
                <a:latin typeface="Arial"/>
                <a:cs typeface="Arial"/>
              </a:rPr>
              <a:t>Chưa phê duyệt thì không có dữ liệu, kể cả 'vài ca'</a:t>
            </a:r>
          </a:p>
          <a:p>
            <a:pPr marL="0" indent="0" algn="ctr">
              <a:lnSpc>
                <a:spcPct val="104000"/>
              </a:lnSpc>
              <a:spcBef>
                <a:spcPts val="300"/>
              </a:spcBef>
              <a:buNone/>
            </a:pPr>
            <a:r>
              <a:rPr lang="en-US" sz="1500" dirty="0">
                <a:solidFill>
                  <a:srgbClr val="000000"/>
                </a:solidFill>
                <a:latin typeface="Arial"/>
                <a:cs typeface="Arial"/>
              </a:rPr>
              <a:t>Mọi tác giả đủ bốn tiêu chí. Khai báo mọi lợi ích</a:t>
            </a:r>
          </a:p>
          <a:p>
            <a:pPr marL="0" indent="0" algn="ctr">
              <a:lnSpc>
                <a:spcPct val="104000"/>
              </a:lnSpc>
              <a:spcBef>
                <a:spcPts val="300"/>
              </a:spcBef>
              <a:buNone/>
            </a:pPr>
            <a:r>
              <a:rPr lang="en-US" sz="1500" dirty="0">
                <a:solidFill>
                  <a:srgbClr val="000000"/>
                </a:solidFill>
                <a:latin typeface="Arial"/>
                <a:cs typeface="Arial"/>
              </a:rPr>
              <a:t>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phần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Bắt buộc: cơ sở đăng ký thử nghiệm, trước người bệnh đầu tiên</a:t>
            </a:r>
          </a:p>
          <a:p>
            <a:pPr marL="0" indent="0" algn="ctr">
              <a:lnSpc>
                <a:spcPct val="104000"/>
              </a:lnSpc>
              <a:spcBef>
                <a:spcPts val="300"/>
              </a:spcBef>
              <a:buNone/>
            </a:pPr>
            <a:r>
              <a:rPr lang="en-US" sz="1500" dirty="0">
                <a:solidFill>
                  <a:srgbClr val="000000"/>
                </a:solidFill>
                <a:latin typeface="Arial"/>
                <a:cs typeface="Arial"/>
              </a:rPr>
              <a:t>Nên: PROSPERO</a:t>
            </a:r>
          </a:p>
          <a:p>
            <a:pPr marL="0" indent="0" algn="ctr">
              <a:lnSpc>
                <a:spcPct val="104000"/>
              </a:lnSpc>
              <a:spcBef>
                <a:spcPts val="300"/>
              </a:spcBef>
              <a:buNone/>
            </a:pPr>
            <a:r>
              <a:rPr lang="en-US" sz="1500" dirty="0">
                <a:solidFill>
                  <a:srgbClr val="000000"/>
                </a:solidFill>
                <a:latin typeface="Arial"/>
                <a:cs typeface="Arial"/>
              </a:rPr>
              <a:t>Khuyến khích, không bắt buộc</a:t>
            </a:r>
          </a:p>
          <a:p>
            <a:pPr marL="0" indent="0" algn="ctr">
              <a:lnSpc>
                <a:spcPct val="104000"/>
              </a:lnSpc>
              <a:spcBef>
                <a:spcPts val="300"/>
              </a:spcBef>
              <a:buNone/>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Thống nhất danh sách tác giả ngay</a:t>
            </a:r>
          </a:p>
          <a:p>
            <a:pPr marL="0" indent="0" algn="ctr">
              <a:lnSpc>
                <a:spcPct val="104000"/>
              </a:lnSpc>
              <a:spcBef>
                <a:spcPts val="400"/>
              </a:spcBef>
              <a:buNone/>
            </a:pPr>
            <a:r>
              <a:rPr lang="en-US" sz="1750" dirty="0">
                <a:solidFill>
                  <a:srgbClr val="000000"/>
                </a:solidFill>
                <a:latin typeface="Arial"/>
                <a:cs typeface="Arial"/>
              </a:rPr>
              <a:t>Ghi vai trò từng người</a:t>
            </a:r>
          </a:p>
          <a:p>
            <a:pPr marL="0" indent="0" algn="ctr">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