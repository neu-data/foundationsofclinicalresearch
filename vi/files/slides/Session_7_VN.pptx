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(0:00). Tuần 7, Thứ Bảy. Hôm nay có hai nửa: trước giải lao chúng ta bảo vệ người bệnh và khoa học (đạo đức, liêm chính) và hoàn thành Đề cương Phần 4; sau giải lao chúng ta bắt đầu VIẾT bản thảo FLUID-ICU.</a:t>
            </a:r>
          </a:p>
          <a:p>
            <a:r>
              <a:rPr lang="en-US" sz="1400" b="0" dirty="0"/>
              <a:t>Nhịp: chậm. Mỗi phần có một ví dụ mẫu và 1 phút kiểm tra hiểu bài. Nếu thiếu thời gian, bỏ các slide trong mục 'Slide bổ sung: Buổi 7' ở cuối, không bao giờ bỏ phần thực hành.</a:t>
            </a:r>
          </a:p>
          <a:p>
            <a:r>
              <a:rPr lang="en-US" sz="1400" b="0" dirty="0"/>
              <a:t>Trước khi bắt đầu: in gói kết quả (Course/Data/results_packs/Q1-Q5), mỗi nhóm một bản; mở mẫu bản thảo trên máy tính của nhóm nếu có.</a:t>
            </a:r>
          </a:p>
          <a:p>
            <a:r>
              <a:rPr lang="en-US" sz="1400" b="0" dirty="0"/>
              <a:t>Thời gian: slide này 1 phút, sau đó 10 phút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(0:01-0:10). Hỏi, chờ, rồi mới mở khung đáp án.</a:t>
            </a:r>
          </a:p>
          <a:p>
            <a:r>
              <a:rPr lang="en-US" sz="1400" b="0" dirty="0"/>
              <a:t>Câu 1 nối thẳng với phần viết hôm nay: trong Kết quả ta báo cáo CẢ ước lượng thô và hiệu chỉnh (mục STROBE 16), và trong Bàn luận ta giải thích vì sao chúng khác nhau.</a:t>
            </a:r>
          </a:p>
          <a:p>
            <a:r>
              <a:rPr lang="en-US" sz="1400" b="0" dirty="0"/>
              <a:t>Câu 5: hỏi mỗi nhóm một người. Đây là con số họ sẽ viết sau giải lao. Nếu nhóm nào không nói được, ngồi với nhóm đó trong giờ giải lao và cùng xem gói kết quả.</a:t>
            </a:r>
          </a:p>
          <a:p>
            <a:r>
              <a:rPr lang="en-US" sz="1400" b="0" dirty="0"/>
              <a:t>Giơ tay cho từng câu; dành nhiều thời gian nhất cho câu mà lớp chia rẽ.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hai hàng. Sản phẩm 1, đề cương nghiên cứu của chính nhóm, hôm nay có phần cuối cùng (đạo đức, đăng ký, khả thi, kế hoạch công bố) và được trình bày thứ Bảy tuần sau.</a:t>
            </a:r>
          </a:p>
          <a:p>
            <a:r>
              <a:rPr lang="en-US" sz="1400" b="0" dirty="0"/>
              <a:t>Sản phẩm 2, bản thảo FLUID-ICU, chuyển từ 'đọc kết quả phân tích' (Buổi 6) sang VIẾT: hôm nay Phương pháp và Kết quả, thứ Bảy tuần sau Đặt vấn đề, Bàn luận, Tóm tắt và Tiêu đề.</a:t>
            </a:r>
          </a:p>
          <a:p>
            <a:r>
              <a:rPr lang="en-US" sz="1400" b="0" dirty="0"/>
              <a:t>Hỏi: nhóm bạn có câu hỏi nào (Q1-Q5)? Bảo đảm mọi người đều biết.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(0:10-0:40). Mười một slide gồm hai ví dụ mẫu và 1 phút kiểm tra.</a:t>
            </a:r>
          </a:p>
          <a:p>
            <a:r>
              <a:rPr lang="en-US" sz="1400" b="0" dirty="0"/>
              <a:t>Khoảng 2,5 phút mỗi slide. Slide chấp thuận trong ICU và ví dụ mẫu đi kèm cần nhiều thời gian nhất: đó là vấn đề thực tế của khoa.</a:t>
            </a:r>
          </a:p>
          <a:p>
            <a:r>
              <a:rPr lang="en-US" sz="1400" b="0" dirty="0"/>
              <a:t>Liên hệ: mọi nội dung của phần này sẽ thành một đoạn trong Đề cương Phần 4 (Xây dựng đề cương 7 lúc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là kế hoạch đầy đủ bằng văn bản, được viết và phê duyệt TRƯỚC khi đưa người bệnh đầu tiên vào nghiên cứu. SPIRIT 2025 là bảng kiểm quốc tế về nội dung đề cương thử nghiệm lâm sàng; nghiên cứu quan sát cũng theo cùng logic.</a:t>
            </a:r>
          </a:p>
          <a:p>
            <a:r>
              <a:rPr lang="en-US" sz="1400" b="0" dirty="0"/>
              <a:t>Đi qua bốn cột: AI &amp; CÁI GÌ (trang bìa, số đăng ký, nhóm, kinh phí), TẠI SAO (Phần 1), NHƯ THẾ NÀO (Phần 2 và 3), BẢO VỆ &amp; CHIA SẺ (Phần 4, hôm nay).</a:t>
            </a:r>
          </a:p>
          <a:p>
            <a:r>
              <a:rPr lang="en-US" sz="1400" b="0" dirty="0"/>
              <a:t>Chỉ vào thanh nền: mọi thay đổi sau khi phê duyệt phải là sửa đổi chính thức, được duyệt trước khi áp dụng, không được lặng lẽ thay đổi.</a:t>
            </a:r>
          </a:p>
          <a:p>
            <a:r>
              <a:rPr lang="en-US" sz="1400" b="0" dirty="0"/>
              <a:t>Ví dụ xuyên suốt: Bài 1 cho biết đề cương và kế hoạch phân tích thống kê đã đăng ký trên ClinicalTrials.gov (NCT04947904) trước bệnh nhân đầu tiên. Nhờ vậy người đọc kiểm tra được tác giả có làm đúng kế hoạch hay không.</a:t>
            </a:r>
          </a:p>
          <a:p>
            <a:r>
              <a:rPr lang="en-US" sz="1400" b="0" dirty="0"/>
              <a:t>Hỏi: cột nào trong đề cương của nhóm bạn đang yếu nhất? Thường là NHƯ THẾ NÀO (cỡ mẫu hoặc kế hoạch phân tích). Trấn an: mẫu đề cương trong thư mục Templates/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chấp thuận tự nguyện, có hiểu biết; rủi ro tối thiểu và có lý do chính đáng; bảo vệ quyền riêng tư; mọi nghiên cứu đăng ký trước người tham gia đầu tiên và công bố TẤT CẢ kết quả, kể cả âm tính hoặc chưa kết luận được.</a:t>
            </a:r>
          </a:p>
          <a:p>
            <a:r>
              <a:rPr lang="en-US" sz="1400" b="0" dirty="0"/>
              <a:t>Bản 2024 dùng từ 'người tham gia' thay cho 'đối tượng', tăng cường bảo vệ nhóm dễ bị tổn thương và người không thể tự chấp thuận, và nhấn mạnh liêm chính khoa học.</a:t>
            </a:r>
          </a:p>
          <a:p>
            <a:r>
              <a:rPr lang="en-US" sz="1400" b="0" dirty="0"/>
              <a:t>ICH E6(R3) Thực hành lâm sàng tốt (ICH thông qua tháng 1/2025) là chuẩn chất lượng quốc tế cho thử nghiệm lâm sàng: nhân lực đủ năng lực, chất lượng được thiết kế từ đầu, giám sát tương xứng với rủi ro, dữ liệu tin cậy và truy xuất được, vai trò rõ ràng. Tinh thần này áp dụng cho mọi nghiên cứu.</a:t>
            </a:r>
          </a:p>
          <a:p>
            <a:r>
              <a:rPr lang="en-US" sz="1400" b="0" dirty="0"/>
              <a:t>Quan niệm sai: 'GCP chỉ dành cho công ty dược'. Bài 1, một thử nghiệm ICU học thuật, ghi rõ phân tích theo ICH-GCP.</a:t>
            </a:r>
          </a:p>
          <a:p>
            <a:r>
              <a:rPr lang="en-US" sz="1400" b="0" dirty="0"/>
              <a:t>Hỏi: biểu tượng nào khó thực hiện nhất ở khoa ta?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từ trái sang phải. Phần lớn cơ sở yêu cầu thẩm định khoa học hoặc cấp khoa trước; sau đó hồ sơ được nộp cho hội đồng đạo đức trong nghiên cứu (còn gọi là IRB hoặc IEC).</a:t>
            </a:r>
          </a:p>
          <a:p>
            <a:r>
              <a:rPr lang="en-US" sz="1400" b="0" dirty="0"/>
              <a:t>Hồ sơ gồm: đề cương, bản thông tin và phiếu chấp thuận cho người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không phải nghiên cứu viên.</a:t>
            </a:r>
          </a:p>
          <a:p>
            <a:r>
              <a:rPr lang="en-US" sz="1400" b="0" dirty="0"/>
              <a:t>Có câu hỏi và yêu cầu chỉnh sửa là bình thường. Dự kiến 1-3 tháng cho cả hành trình.</a:t>
            </a:r>
          </a:p>
          <a:p>
            <a:r>
              <a:rPr lang="en-US" sz="1400" b="0" dirty="0"/>
              <a:t>Thử nghiệm lâm sàng phải đăng ký ở cơ sở dữ liệu công khai (VD: ClinicalTrials.gov hoặc một cơ sở đăng ký được WHO công nhận) trước bệnh nhân đầu tiên; tạp chí từ chối thử nghiệm không đăng ký.</a:t>
            </a:r>
          </a:p>
          <a:p>
            <a:r>
              <a:rPr lang="en-US" sz="1400" b="0" dirty="0"/>
              <a:t>Quan niệm sai cần xóa bỏ: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không đăng thử nghiệm không được đăng ký trước người tham gia đầu tiên, và nhiều quốc gia quy định bằng luật. Dùng ClinicalTrials.gov hoặc một cơ sở đăng ký chính thức khác của WHO. Cổng WHO ICTRP tra cứu tất cả cùng lúc;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Kiểm tra yêu cầu của tạp chí và quy định địa phương. Tuyên bố Helsinki yêu cầu mọi nghiên cứu trên người được đăng ký.</a:t>
            </a:r>
          </a:p>
          <a:p>
            <a:r>
              <a:rPr lang="en-US" sz="1400" b="0" dirty="0"/>
              <a:t>Ví dụ xuyên suốt: Bài 1 đăng ký NCT04947904 ngày 1/7/2021, bệnh nhân đầu tiên vào tháng 9/2021, tức là đăng ký tiến cứu. Số đăng ký có ngay trong phần tóm tắt.</a:t>
            </a:r>
          </a:p>
          <a:p>
            <a:r>
              <a:rPr lang="en-US" sz="1400" b="0" dirty="0"/>
              <a:t>Hỏi: nghiên cứu của nhóm bạn có cần đăng ký không? Đáp án: thử nghiệm thì có; phần lớn đề cương đoàn hệ là 'khuyến khích'.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 phút + 1 phút đáp án). Đọc từng tình huống, đếm ngón tay, rồi mở đáp án.</a:t>
            </a:r>
          </a:p>
          <a:p>
            <a:r>
              <a:rPr lang="en-US" sz="1400" b="0" dirty="0"/>
              <a:t>Tình huống 4 mở ra một thảo luận hữu ích: audit so sánh thực hành với một chuẩn và thường được phê duyệt qua phòng quản lý chất lượng, không đăng ký.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chấp thuận hợp lệ cần đủ bốn yếu tố: thông tin, hiểu biết, tự nguyện và có văn bản.</a:t>
            </a:r>
          </a:p>
          <a:p>
            <a:r>
              <a:rPr lang="en-US" sz="1400" b="0" dirty="0"/>
              <a:t>Điều dưỡng và dược sĩ thường là người được bệnh nhân hỏi lại 'tôi đã ký cái gì?', nên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bệnh nhân nhóm chứng rút lại chấp thuận và không được đưa vào phân tích. Quyền đó được tôn trọng, và vì vậy thử nghiệm phân tích 48 trên 50 người.</a:t>
            </a:r>
          </a:p>
          <a:p>
            <a:r>
              <a:rPr lang="en-US" sz="1400" b="0" dirty="0"/>
              <a:t>Lỗi thường gặp: phiếu chấp thuận viết như văn bản học thuật, bằng ngôn ngữ mà gia đình không đọc thành thạo. Hãy xin mẫu của hội đồng (có một mẫu trong Templates/).</a:t>
            </a:r>
          </a:p>
          <a:p>
            <a:r>
              <a:rPr lang="en-US" sz="1400" b="0" dirty="0"/>
              <a:t>Hỏi: trong nghiên cứu của nhóm, ai sẽ xin chấp thuận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a:t>
            </a:r>
          </a:p>
          <a:p>
            <a:r>
              <a:rPr lang="en-US" sz="1400" b="0" dirty="0"/>
              <a:t>Đọc sơ đồ từ trái sang phải. 1) Người bệnh có tự quyết định được không? Nếu có, người bệnh ký chấp thuận. 2) Nếu không, người đại diện hợp pháp (thường là gia đình, theo quy định pháp luật) chấp thuận,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chấp thuận tiếp tục sớm nhất có thể. Đó là 'chấp thuận trì hoãn'. Tuyên bố Helsinki 2024 cho phép đúng điều này, với các điều kiện trên.</a:t>
            </a:r>
          </a:p>
          <a:p>
            <a:r>
              <a:rPr lang="en-US" sz="1400" b="0" dirty="0"/>
              <a:t>Bài 1 áp dụng cách này: chấp thuận bằng văn bản của bệnh nhân hoặc người đại diện hợp pháp 'trước khi phân nhóm ngẫu nhiên hoặc sớm nhất có thể sau đó' (trang 3).</a:t>
            </a:r>
          </a:p>
          <a:p>
            <a:r>
              <a:rPr lang="en-US" sz="1400" b="0" dirty="0"/>
              <a:t>Bài 2 khác: một sổ bộ dùng dữ liệu thường quy. Hội đồng miễn chấp thuận cá nhân và dữ liệu được ẩn danh trước khi phân tích (trang 8).</a:t>
            </a:r>
          </a:p>
          <a:p>
            <a:r>
              <a:rPr lang="en-US" sz="1400" b="0" dirty="0"/>
              <a:t>Luật địa phương quy định ai được làm người đại diện và có cho phép chấp thuận trì hoãn hay không. Hãy hỏi hội đồng trước khi viết đề cương.</a:t>
            </a:r>
          </a:p>
          <a:p>
            <a:r>
              <a:rPr lang="en-US" sz="1400" b="0" dirty="0"/>
              <a:t>Hỏi: nếu gia đình từ chối sau khi bệnh nhân đã được đưa vào theo chấp thuận trì hoãn thì sao? Đáp án: bệnh nhân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Hỏi lớp cho từng thẻ TRƯỚC khi mở dòng cuối (che lại hoặc bấm chậm).</a:t>
            </a:r>
          </a:p>
          <a:p>
            <a:r>
              <a:rPr lang="en-US" sz="1400" b="0" dirty="0"/>
              <a:t>Ông A: có năng lực quyết định, nên bệnh nhân tự quyết định.</a:t>
            </a:r>
          </a:p>
          <a:p>
            <a:r>
              <a:rPr lang="en-US" sz="1400" b="0" dirty="0"/>
              <a:t>Bà B: hiện không có năng lực. Người đại diện hợp pháp (ở đây là con gái, nếu luật địa phương cho phép) chấp thuận. Bà B được hỏi lại khi có năng lực, và bà có thể rút lui.</a:t>
            </a:r>
          </a:p>
          <a:p>
            <a:r>
              <a:rPr lang="en-US" sz="1400" b="0" dirty="0"/>
              <a:t>Ông C: không liên lạc kịp người đại diện và điều trị không thể chờ. Chấp thuận trì hoãn CHỈ áp dụng khi đề cương mô tả và hội đồng đã phê duyệt; xin chấp thuận của gia đình hoặc bệnh nhân sớm nhất có thể. Bài 1 dùng cách này.</a:t>
            </a:r>
          </a:p>
          <a:p>
            <a:r>
              <a:rPr lang="en-US" sz="1400" b="0" dirty="0"/>
              <a:t>Quan niệm sai: 'bác sĩ điều trị có thể chấp thuận thay bệnh nhân'. Không.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định danh trực tiếp như họ tên, mã bệnh án, ngày sinh chính xác, địa chỉ, số điện thoại, ảnh. Sau: mã nghiên cứu, tuổi thay cho ngày sinh, tháng thay cho ngày chính xác, và chỉ các biến có trong từ điển dữ liệu.</a:t>
            </a:r>
          </a:p>
          <a:p>
            <a:r>
              <a:rPr lang="en-US" sz="1400" b="0" dirty="0"/>
              <a:t>Tệp khóa nối mã với danh tính được lưu riêng, có mật khẩu, chỉ một hai người có tên được truy cập.</a:t>
            </a:r>
          </a:p>
          <a:p>
            <a:r>
              <a:rPr lang="en-US" sz="1400" b="0" dirty="0"/>
              <a:t>Cẩn thận nhận diện gián tiếp: 'bệnh nhân 19 tuổi duy nhất chạy ECMO trong tháng 3' vẫn nhận ra được dù không có tên. Báo cáo các nhóm rất nhỏ một cách thận trọng.</a:t>
            </a:r>
          </a:p>
          <a:p>
            <a:r>
              <a:rPr lang="en-US" sz="1400" b="0" dirty="0"/>
              <a:t>Quy tắc thực hành: không lưu dữ liệu bệnh nhân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trước khi phân tích.</a:t>
            </a:r>
          </a:p>
          <a:p>
            <a:r>
              <a:rPr lang="en-US" sz="1400" b="0" dirty="0"/>
              <a:t>Hỏi: tệp khóa của nhóm bạn sẽ nằm ở đâu? Đáp án: nơi lưu trữ được cơ sở phê duyệt, có mật khẩu,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không có phê duyệt thật, nên trong bản thảo của khóa học các nhóm viết: 'Phân tích này dùng bộ dữ liệu giảng dạy mô phỏng; không cần phê duyệt đạo đức.' Với một đoàn hệ thật, đoạn văn sẽ như bốn thẻ trên.</a:t>
            </a:r>
          </a:p>
          <a:p>
            <a:r>
              <a:rPr lang="en-US" sz="1400" b="0" dirty="0"/>
              <a:t>Câu mẫu (nghiên cứu thật): 'Nghiên cứu được hội đồng đạo đức của bốn bệnh viện tham gia phê duyệt (số, ngày); hội đồng miễn chấp thuận cá nhân vì dữ liệu được thu thập trong chăm sóc thường quy và phân tích sau khi ẩn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ô. THỜI GIAN: riêng phê duyệt đạo đức có thể mất 1-3 tháng; tuyển bệnh luôn lâu hơn dự kiến. KINH PHÍ: ghi các khoản dù số tiền nhỏ (thời gian nhân sự, vật tư hoặc xét nghiệm, phí công bố). NHÂN LỰC: ai thu thập số liệu ca đêm và cuối tuần, ai phân tích, có thời gian dành riêng không? TUYỂN CHỌN: Bài 1 sàng lọc 1201 bệnh nhân ở ba ICU trong 17 tháng để phân nhóm được 50 (khoảng 4%). Phần lớn bệnh nhân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bệnh nhân thỏa tiêu chuẩn mà khoa đã gặp năm ngoái, rồi giả định bạn chỉ đưa vào được một phần nhỏ.</a:t>
            </a:r>
          </a:p>
          <a:p>
            <a:r>
              <a:rPr lang="en-US" sz="1400" b="0" dirty="0"/>
              <a:t>Hỏi: ô nào là rủi ro lớn nhất cho nghiên cứu của nhóm bạn? Thường là tuyển chọn và nhân lực (thu thập số liệu ca đêm).</a:t>
            </a:r>
          </a:p>
          <a:p>
            <a:r>
              <a:rPr lang="en-US" sz="1400" b="0" dirty="0"/>
              <a:t>Đây là slide khả thi duy nhất của Cấp độ 1.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(0:40-1:00). Sáu slide (khoảng 2 phút mỗi slide) và 5 phút câu hỏi tình huống.</a:t>
            </a:r>
          </a:p>
          <a:p>
            <a:r>
              <a:rPr lang="en-US" sz="1400" b="0" dirty="0"/>
              <a:t>Giọng điệu: không phải để 'bắt lỗi'. Phần lớn vấn đề liêm chính bắt đầu từ những lối tắt nhỏ khi bị áp lực: một giá trị thiếu 'được điền vào', một giá trị ngoại lai 'được làm sạch', thêm sếp vào danh sách tác giả.</a:t>
            </a:r>
          </a:p>
          <a:p>
            <a:r>
              <a:rPr lang="en-US" sz="1400" b="0" dirty="0"/>
              <a:t>Liên hệ bản thảo: mỗi bản thảo của nhóm cần tuyên bố về tác giả (CRediT),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sai phạm nghiên cứu kinh điển (FFP).</a:t>
            </a:r>
          </a:p>
          <a:p>
            <a:r>
              <a:rPr lang="en-US" sz="1400" b="0" dirty="0"/>
              <a:t>Bịa đặt: tạo ra dữ liệu hoặc bệnh nhân (VD: điền cân bằng dịch ngày 3 'theo trí nhớ' vì mất phiếu theo dõi).</a:t>
            </a:r>
          </a:p>
          <a:p>
            <a:r>
              <a:rPr lang="en-US" sz="1400" b="0" dirty="0"/>
              <a:t>Xuyên tạc: sửa, chọn lọc hoặc bỏ bớt dữ liệu, hình ảnh hay kết quả cho đẹp (VD: loại hai bệnh nhân 'lạ' sau khi thấy họ làm yếu kết quả).</a:t>
            </a:r>
          </a:p>
          <a:p>
            <a:r>
              <a:rPr lang="en-US" sz="1400" b="0" dirty="0"/>
              <a:t>Đạo văn: dùng câu chữ, ý tưởng hoặc hình ảnh của người khác mà không ghi nguồn, kể cả chép nguyên đoạn CÓ trích dẫn nhưng không đặt trong ngoặc kép.</a:t>
            </a:r>
          </a:p>
          <a:p>
            <a:r>
              <a:rPr lang="en-US" sz="1400" b="0" dirty="0"/>
              <a:t>Sai sót trung thực không phải sai phạm, nhưng phải được đính chính công khai.</a:t>
            </a:r>
          </a:p>
          <a:p>
            <a:r>
              <a:rPr lang="en-US" sz="1400" b="0" dirty="0"/>
              <a:t>Liên hệ Buổi 5: kế hoạch chất lượng dữ liệu (kiểm tra khoảng giá trị, quy tắc xử lý giá trị ngoại lai định trước) bảo vệ bạn khỏi xuyên tạc vô tình.</a:t>
            </a:r>
          </a:p>
          <a:p>
            <a:r>
              <a:rPr lang="en-US" sz="1400" b="0" dirty="0"/>
              <a:t>Hỏi: trong ba loại này, loại nào hay gặp nhất trong luận văn? Đáp án: đạo văn,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Công bố trùng lặp làm cùng một nhóm bệnh nhân bị tính hai lần trong phân tích gộp và có thể phóng đại tác dụng. Một bài phân tích thứ cấp hợp lệ vẫn được chấp nhận nếu trích dẫn chéo rõ ràng và có thêm điều mới.</a:t>
            </a:r>
          </a:p>
          <a:p>
            <a:r>
              <a:rPr lang="en-US" sz="1400" b="0" dirty="0"/>
              <a:t>Cắt lát salami: VD tử vong ở một bài, thời gian nằm viện ở bài khác, số ngày thở máy ở bài thứ ba, cùng một đoàn hệ, không bài nào nhắc đến bài kia.</a:t>
            </a:r>
          </a:p>
          <a:p>
            <a:r>
              <a:rPr lang="en-US" sz="1400" b="0" dirty="0"/>
              <a:t>Báo cáo chọn lọc và đổi kết cục là lý do thử nghiệm phải đăng ký với MỘT kết cục chính trước bệnh nhân đầu tiên. Ví dụ xuyên suốt: Bài 1 đăng ký đề cương trên ClinicalTrials.gov ngày 1/7/2021, trước khi tuyển bệnh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Nếu chỉ thử nghiệm dương tính được đăng, y văn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dược sĩ kiểm tra tuân thủ, trưởng khoa hỗ trợ).</a:t>
            </a:r>
          </a:p>
          <a:p>
            <a:r>
              <a:rPr lang="en-US" sz="1400" b="0" dirty="0"/>
              <a:t>Tác giả 'quà tặng': tên được thêm vì thâm niên hay quan hệ. Tác giả 'ma': người thực sự làm (thường là người trẻ hoặc người viết thuê) nhưng không có tên. Cả hai đều là sai phạm.</a:t>
            </a:r>
          </a:p>
          <a:p>
            <a:r>
              <a:rPr lang="en-US" sz="1400" b="0" dirty="0"/>
              <a:t>Ví dụ xuyên suốt: Bài 2 được công bố 'thay mặt' một nhóm nghiên cứu, và các thành viên được liệt kê trong Lời cảm ơn. Đó là cách ghi công đúng cho một mạng lưới lớn.</a:t>
            </a:r>
          </a:p>
          <a:p>
            <a:r>
              <a:rPr lang="en-US" sz="1400" b="0" dirty="0"/>
              <a:t>Hỏi: chỉ thu thập số liệu,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tài chính hoặc phi tài chính. Có xung đột lợi ích là chuyện thường gặp và không sai; che giấu mới là sai.</a:t>
            </a:r>
          </a:p>
          <a:p>
            <a:r>
              <a:rPr lang="en-US" sz="1400" b="0" dirty="0"/>
              <a:t>Tài chính: tư vấn, thù lao báo cáo, tài trợ, hỗ trợ đi lại, cổ phần, bằng sáng chế, việc làm. Phi tài chính: quan hệ cá nhân, tham gia nhóm soạn hướng dẫn, niềm tin định sẵn mạnh, cạnh tranh học thuật.</a:t>
            </a:r>
          </a:p>
          <a:p>
            <a:r>
              <a:rPr lang="en-US" sz="1400" b="0" dirty="0"/>
              <a:t>Mỗi tác giả điền mẫu khai báo của tạp chí (đa số dùng mẫu khai báo của ICMJE), thường cho 36 tháng gần nhất.</a:t>
            </a:r>
          </a:p>
          <a:p>
            <a:r>
              <a:rPr lang="en-US" sz="1400" b="0" dirty="0"/>
              <a:t>Tuyên bố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Khi nghi ngờ,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cả hai bài đều dùng, trang 12 và 8); kho dữ liệu có kiểm soát (nhà nghiên cứu nộp đơn xin); kho mở có mã DOI (cho dữ liệu đã ẩn danh hoàn toàn).</a:t>
            </a:r>
          </a:p>
          <a:p>
            <a:r>
              <a:rPr lang="en-US" sz="1400" b="0" dirty="0"/>
              <a:t>Trước khi chia sẻ: phiếu chấp thuận và phê duyệt đạo đức phải cho phép, dữ liệu đã ẩn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hôm nay cần viết gì trong phiếu chấp thuận để ngày mai dữ liệu có thể được chia sẻ? Đáp án: một câu xin phép chia sẻ dữ liệu đã ẩn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quan điểm hiện nay của ICMJE và COPE (Ủy ban Đạo đức Xuất bản). Công cụ AI không thể là tác giả, vì không thể nhận trách nhiệm về công trình. Tác giả dùng AI phải khai báo (hỗ trợ viết thường ghi ở Lời cảm ơn, dùng trong thu thập, phân tích dữ liệu hay tạo hình ghi ở phần Phương pháp)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vì chính sách thay đổi liên tục.</a:t>
            </a:r>
          </a:p>
          <a:p>
            <a:r>
              <a:rPr lang="en-US" sz="1400" b="0" dirty="0"/>
              <a:t>Hỏi: một đồng nghiệp nhờ chatbot 'viết phần bàn luận' rồi nộp mà không đọc. Vi phạm ô KHÔNG BAO GIỜ nào? Đáp án: tài liệu tham khảo có thể bị bịa, văn bản không ai chịu trách nhiệm, và không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(0:55-1:00). Tình huống và đáp án: Practicals/s7_exercises.md (Phần A) và Solutions/s7_solutions.md.</a:t>
            </a:r>
          </a:p>
          <a:p>
            <a:r>
              <a:rPr lang="en-US" sz="1400" b="0" dirty="0"/>
              <a:t>Chọn ba: 1 (dữ liệu thiếu 'điền theo trí nhớ': ĐỎ, bịa đặt), 3 (trưởng khoa đứng tác giả cuối mà không đóng góp: ĐỎ, tác giả quà tặng, đề nghị ghi Lời cảm ơn), 4 (dùng AI sửa tiếng Anh, có kiểm tra và khai báo: XANH; cũng chatbot đó nhưng được đưa bảng dữ liệu bệnh nhân: ĐỎ).</a:t>
            </a:r>
          </a:p>
          <a:p>
            <a:r>
              <a:rPr lang="en-US" sz="1400" b="0" dirty="0"/>
              <a:t>Ví dụ trên slide: cho mượn thiết bị không phải là quyền tác giả (VÀNG/ĐỎ). Cảm ơn trong Lời cảm ơn.</a:t>
            </a:r>
          </a:p>
          <a:p>
            <a:r>
              <a:rPr lang="en-US" sz="1400" b="0" dirty="0"/>
              <a:t>Tổ chức: thẻ hoặc giấy màu trên mỗi bàn; nếu không có, giơ ngón tay: 1 = xanh, 2 = vàng, 3 = đỏ.</a:t>
            </a:r>
          </a:p>
          <a:p>
            <a:r>
              <a:rPr lang="en-US" sz="1400" b="0" dirty="0"/>
              <a:t>Nếu các nhóm bất đồng, đó chính là lúc dạy. Mời mỗi bên nêu một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(1:00-1:15). Nhắc to từng mốc thời gian.</a:t>
            </a:r>
          </a:p>
          <a:p>
            <a:r>
              <a:rPr lang="en-US" sz="1400" b="0" dirty="0"/>
              <a:t>Đi quanh các bàn. Vấn đề thường gặp: (1) 'sẽ xin chấp thuận' mà không nói ai, khi nào, thế nào (hướng theo sơ đồ ICU); (2) nghiên cứu hồi cứu hồ sơ cho rằng không cần hội đồng (sai: hội đồng quyết định và có thể miễn chấp thuận); (3) số bệnh nhân lấy từ tính cỡ mẫu thay vì từ số nhập viện của khoa; (4) chọn CONSORT cho đề cương quan sát.</a:t>
            </a:r>
          </a:p>
          <a:p>
            <a:r>
              <a:rPr lang="en-US" sz="1400" b="0" dirty="0"/>
              <a:t>Tạp chí và bảng kiểm EQUATOR sẽ được kiểm tra lại ở 8.2 thứ Bảy tuần sau. Hôm nay trả lời tạm là được.</a:t>
            </a:r>
          </a:p>
          <a:p>
            <a:r>
              <a:rPr lang="en-US" sz="1400" b="0" dirty="0"/>
              <a:t>Nhắc: thứ Bảy tuần sau mỗi nhóm trình bày (6 phút, 6 slide). Slide 5 (đạo đức &amp; khả thi) và 6 (kế hoạch công bố) lấy từ phiếu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(1:15-1:30).</a:t>
            </a:r>
          </a:p>
          <a:p>
            <a:r>
              <a:rPr lang="en-US" sz="1400" b="0" dirty="0"/>
              <a:t>Trong giờ giải lao: đặt một gói kết quả in trên mỗi bàn (Q1 ở bàn 1 ... Q5 ở bàn 5) và phiếu bài tập s7 (Phần C, hướng dẫn thực hành).</a:t>
            </a:r>
          </a:p>
          <a:p>
            <a:r>
              <a:rPr lang="en-US" sz="1400" b="0" dirty="0"/>
              <a:t>Tranh thủ ghé những nhóm chưa nói được kết quả chính trong phần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(1:30-2:05). Mười slide: thứ tự viết, Phương pháp, ví dụ mẫu Phương pháp từ FLUID-ICU, Kết quả, ví dụ mẫu Kết quả, bảng, STROBE, và 3 phút kiểm tra.</a:t>
            </a:r>
          </a:p>
          <a:p>
            <a:r>
              <a:rPr lang="en-US" sz="1400" b="0" dirty="0"/>
              <a:t>Mọi ví dụ nay lấy từ bộ dữ liệu của khóa học (Q1, câu hỏi chính) hoặc từ hai bài báo.</a:t>
            </a:r>
          </a:p>
          <a:p>
            <a:r>
              <a:rPr lang="en-US" sz="1400" b="0" dirty="0"/>
              <a:t>Nhịp: 3 phút mỗi slide. Hai ví dụ mẫu là trọng tâm.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đến tóm tắt, đặt vấn đề, phương pháp, kết quả và bàn luận. Người viết thì không nên. Hãy bắt đầu từ bằng chứng: soạn bảng và hình (câu chuyện nằm trong dữ liệu), rồi Phương pháp (bạn biết mình đã làm gì, nên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Hỏi: phần nào trong đề cương của bạn đã có thể thành phần Phương pháp của bài báo? Đáp án: Phần 2 và 3 (thiết kế, đối tượng, biến số,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hoặc STROBE).</a:t>
            </a:r>
          </a:p>
          <a:p>
            <a:r>
              <a:rPr lang="en-US" sz="1400" b="0" dirty="0"/>
              <a:t>Thực hành tốt: Bài 1 đặt tên hội đồng đạo đức, số phê duyệt, quy trình chấp thuận và nguồn tài trợ ngay trong Phương pháp (chú giải #13); mô tả can thiệp đủ để làm lại: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đoàn hệ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thiếu thế nào? Phân cụm theo gì? (#15, #17); không có câu về cỡ mẫu (#19).</a:t>
            </a:r>
          </a:p>
          <a:p>
            <a:r>
              <a:rPr lang="en-US" sz="1400" b="0" dirty="0"/>
              <a:t>Đoạn phân tích thống kê: với mỗi so sánh, nêu cách tóm tắt, kiểm định hoặc mô hình, số đo tác động kèm KTC 95%, cách xử lý dữ liệu thiếu và so sánh bội, và phần mềm.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chỉ vào mục STROBE bên phải.</a:t>
            </a:r>
          </a:p>
          <a:p>
            <a:r>
              <a:rPr lang="en-US" sz="1400" b="0" dirty="0"/>
              <a:t>Mọi thông tin lấy từ gói kết quả Q1, mục 2: đoàn hệ tiến cứu đa trung tâm, 4 ICU, người lớn nhiễm khuẩn huyết liên tiếp, từ 1/2023 đến 12/2024; phơi nhiễm = cân bằng tích lũy (vào trừ ra, ngày 1-3) &gt; 0 ml/kg; kết cục = tử vong trong 28 ngày sau nhập ICU.</a:t>
            </a:r>
          </a:p>
          <a:p>
            <a:r>
              <a:rPr lang="en-US" sz="1400" b="0" dirty="0"/>
              <a:t>STROBE 10 (cỡ mẫu): với một đoàn hệ cố định ta không bịa ra phép tính cỡ mẫu; chỉ nói đã đưa vào toàn bộ bệnh nhân đủ tiêu chuẩn.</a:t>
            </a:r>
          </a:p>
          <a:p>
            <a:r>
              <a:rPr lang="en-US" sz="1400" b="0" dirty="0"/>
              <a:t>Câu đạo đức là riêng của khóa học: FLUID-ICU là dữ liệu MÔ PHỎNG, và mọi bản thảo phải nói rõ.</a:t>
            </a:r>
          </a:p>
          <a:p>
            <a:r>
              <a:rPr lang="en-US" sz="1400" b="0" dirty="0"/>
              <a:t>Hỏi: câu nào người đọc cần để lặp lại nghiên cứu? Đáp án: định nghĩa phơi nhiễm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a:t>
            </a:r>
          </a:p>
          <a:p>
            <a:r>
              <a:rPr lang="en-US" sz="1400" b="0" dirty="0"/>
              <a:t>Biến hiệu chỉnh: tuổi, SOFA, lactat, vận mạch, thở máy, bệnh thận mạn. Tất cả được định trước trong kế hoạch phân tích thống kê (Buổi 6), không chọn theo giá trị p.</a:t>
            </a:r>
          </a:p>
          <a:p>
            <a:r>
              <a:rPr lang="en-US" sz="1400" b="0" dirty="0"/>
              <a:t>Dữ liệu thiếu: lactat thiếu ở 93/620 (15,0%); phân tích chính trên ca đầy đủ (n = 527), quy gán đa bội (m = 20) là phân tích độ nhạy.</a:t>
            </a:r>
          </a:p>
          <a:p>
            <a:r>
              <a:rPr lang="en-US" sz="1400" b="0" dirty="0"/>
              <a:t>Biến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kèm sơ đồ. Bài 1 có sơ đồ CONSORT trong bài chính (chú giải #23, #27); Bài 2 để trong phụ lục dù 79% sổ bộ bị loại (#20).</a:t>
            </a:r>
          </a:p>
          <a:p>
            <a:r>
              <a:rPr lang="en-US" sz="1400" b="0" dirty="0"/>
              <a:t>2) Con số kèm khoảng tin cậy, không phải 'p = 0,42, KCYN'. Phân tích 48 trên 50 bệnh nhân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và phải khớp nhau. Văn bản Bài 1 nói creatinine cao hơn ở nhóm can thiệp; Bảng 1 cho thấy ngược lại (#25). Mâu thuẫn giữa văn bản và bảng là lý do bị từ chối kinh điển.</a:t>
            </a:r>
          </a:p>
          <a:p>
            <a:r>
              <a:rPr lang="en-US" sz="1400" b="0" dirty="0"/>
              <a:t>Hỏi: ai trong nhóm sẽ đối chiếu từng con số trong văn bản với bảng trước khi nộp? Chỉ định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Mọi con số lấy từ Course/Data/key_results.md (dữ liệu MÔ PHỎNG):</a:t>
            </a:r>
          </a:p>
          <a:p>
            <a:r>
              <a:rPr lang="en-US" sz="1400" b="0" dirty="0"/>
              <a:t>Luồng: 620 đưa vào → 618 có cân bằng ngày 3 → 527 trong mô hình hiệu chỉnh ca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Đó là việc của Bàn luận thứ Bảy tuần sau.</a:t>
            </a:r>
          </a:p>
          <a:p>
            <a:r>
              <a:rPr lang="en-US" sz="1400" b="0" dirty="0"/>
              <a:t>Hỏi: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đứng được: tiêu đề nói cái gì, ở ai, khi nào; n ở mỗi tiêu đề cột; đơn vị và cách tóm tắt ở mỗi dòng; chú thích giải nghĩa viết tắt và dữ liệu thiếu.</a:t>
            </a:r>
          </a:p>
          <a:p>
            <a:r>
              <a:rPr lang="en-US" sz="1400" b="0" dirty="0"/>
              <a:t>Thực hành tốt: Bảng 1 Bài 1 có n mỗi cột, ĐLC hoặc KTPV mỗi dòng và không có giá trị p ban đầu, đúng cho thử nghiệm ngẫu nhiên (chú giải #31). Bảng 1 Bài 2 thêm SMD và chú thích số bệnh nhân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Kaplan-Meier nên có số còn nguy cơ (Bài 2, #31).</a:t>
            </a:r>
          </a:p>
          <a:p>
            <a:r>
              <a:rPr lang="en-US" sz="1400" b="0" dirty="0"/>
              <a:t>Liên hệ Buổi 5: quy tắc bảng đạt chuẩn công bố. Bảng 1 FLUID-ICU trong gói kết quả đã theo các quy tắc này. Hãy đối chiếu trong buổi thực hành.</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'Bệnh nhân cân bằng dương nặng hơn lúc ban đầu (SOFA trung vị 8 so với 6; vận mạch 55,0% so với 24,9%) và ít suy tim hơn (11,5% so với 22,0%).'</a:t>
            </a:r>
          </a:p>
          <a:p>
            <a:r>
              <a:rPr lang="en-US" sz="1400" b="0" dirty="0"/>
              <a:t>Ý chính: câu về Bảng 1 mô tả, không kiểm định, nên không cần giá trị p (Bảng 1 của nghiên cứu quan sát thường dùng SMD).</a:t>
            </a:r>
          </a:p>
          <a:p>
            <a:r>
              <a:rPr lang="en-US" sz="1400" b="0" dirty="0"/>
              <a:t>Suy tim thấp hơn ở nhóm dương vì bác sĩ truyền ít dịch cho bệnh nhân suy tim: ví dụ hay về việc quyết định điều trị định hình dữ liệu.</a:t>
            </a:r>
          </a:p>
          <a:p>
            <a:r>
              <a:rPr lang="en-US" sz="1400" b="0" dirty="0"/>
              <a:t>Bảng 1 đầy đủ, có các dòng dữ liệu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đoàn hệ, nên bài báo theo STROBE (bản cho đoàn hệ). Các số trong ô là số mục STROBE của Phương pháp (4-12) và Kết quả (13-17).</a:t>
            </a:r>
          </a:p>
          <a:p>
            <a:r>
              <a:rPr lang="en-US" sz="1400" b="0" dirty="0"/>
              <a:t>Các mục hay bị quên: 9 (sai lệch: nói rõ cách xử lý nhiễu do chỉ định, tức là hiệu chỉnh theo mức độ nặng); 10 (cỡ mẫu: với bộ dữ liệu cố định ghi 'đưa vào toàn bộ bệnh nhân đủ tiêu chuẩn trong đoàn hệ'); 12 (dữ liệu thiếu: xử lý lactat thiếu thế nào); 16 (báo cáo CẢ ước lượng thô và hiệu chỉnh, kèm các biến hiệu chỉnh).</a:t>
            </a:r>
          </a:p>
          <a:p>
            <a:r>
              <a:rPr lang="en-US" sz="1400" b="0" dirty="0"/>
              <a:t>Bảng kiểm đầy đủ có trong phiếu bài tập s7 và trên equator-network.org (trình diễn thứ Bảy tuần sau).</a:t>
            </a:r>
          </a:p>
          <a:p>
            <a:r>
              <a:rPr lang="en-US" sz="1400" b="0" dirty="0"/>
              <a:t>Hỏi: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(2:02-2:05). Đọc từng câu; lớp hô P, K hoặc B.</a:t>
            </a:r>
          </a:p>
          <a:p>
            <a:r>
              <a:rPr lang="en-US" sz="1400" b="0" dirty="0"/>
              <a:t>Các con số ở câu 2, 4 và 5 là minh họa ('...'), không phải kết quả FLUID-ICU.</a:t>
            </a:r>
          </a:p>
          <a:p>
            <a:r>
              <a:rPr lang="en-US" sz="1400" b="0" dirty="0"/>
              <a:t>Câu 4 là bẫy: CÁCH xử lý dữ liệu thiếu thuộc Phương pháp; BAO NHIÊU bị thiếu thuộc Kết quả.</a:t>
            </a:r>
          </a:p>
          <a:p>
            <a:r>
              <a:rPr lang="en-US" sz="1400" b="0" dirty="0"/>
              <a:t>Câu 3 là lỗi kinh điển: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(2:05-2:55). Bộ dữ liệu khóa học. Mỗi nhóm viết Phương pháp và Kết quả cho bài báo FLUID-ICU của mình (Q1-Q5) từ gói kết quả.</a:t>
            </a:r>
          </a:p>
          <a:p>
            <a:r>
              <a:rPr lang="en-US" sz="1400" b="0" dirty="0"/>
              <a:t>Hướng dẫn cho học viên: Practicals/s7_exercises.md, Phần C. Đoạn văn mẫu cho Q1: Solutions/s7_solutions.md. KHÔNG phát trước buổi thực hành; chỉ chiếu các ví dụ mẫu trên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kế hoạch và phân vai trong 1 phút: hai người viết Phương pháp, hai người viết Kết quả, một người chuẩn bị Bảng 1 và một hình hoặc bảng (tiêu đề, tiêu đề cột có n, đơn vị, chú thích), và một 'người kiểm số' đối chiếu mọi con số trong bài với gói kết quả.</a:t>
            </a:r>
          </a:p>
          <a:p>
            <a:r>
              <a:rPr lang="en-US" sz="1400" b="0" dirty="0"/>
              <a:t>Ngân sách chữ: Phương pháp ~300 từ (thiết kế và bối cảnh, đối tượng, biến số, phân tích thống kê); Kết quả ~300 từ (đối tượng, Bảng 1 trong một câu, kết quả chính thô và hiệu chỉnh, một kết quả phụ hoặc phân tích độ nhạy).</a:t>
            </a:r>
          </a:p>
          <a:p>
            <a:r>
              <a:rPr lang="en-US" sz="1400" b="0" dirty="0"/>
              <a:t>Giảng viên đi quanh từ phút 5: kiểm tra mỗi phần Phương pháp có đoạn thống kê và mỗi phần Kết quả bắt đầu bằng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(2:05-2:55). Bật đồng hồ 50 phút; nhắc từng giai đoạn.</a:t>
            </a:r>
          </a:p>
          <a:p>
            <a:r>
              <a:rPr lang="en-US" sz="1400" b="0" dirty="0"/>
              <a:t>Đi quanh theo thứ tự cố định (bàn 1 đến 5) để mỗi nhóm được ghé hai lần.</a:t>
            </a:r>
          </a:p>
          <a:p>
            <a:r>
              <a:rPr lang="en-US" sz="1400" b="0" dirty="0"/>
              <a:t>Câu gợi ý: 'Đoạn phân tích thống kê ở đâu?' 'Đã hiệu chỉnh theo gì?' 'Đối tượng nghiên cứu ở đâu?' 'Có con số nào không có khoảng tin cậy?' 'Có tính từ ("có ý nghĩa", "mạnh") nào lẽ ra phải là con số?' 'Có lời diễn giải nào trong phần Kết quả không?'</a:t>
            </a:r>
          </a:p>
          <a:p>
            <a:r>
              <a:rPr lang="en-US" sz="1400" b="0" dirty="0"/>
              <a:t>Nhóm Q4 (lactat): bảo đảm báo cáo CẢ ước lượng phân tích ca đầy đủ và quy gán. Nhóm Q5 (thời gian nằm ICU): trung vị và KTPV, không dùng trung bình. Nhóm Q3: số ngày không thở máy bị lệch, nên kiểm tra cách tóm tắt.</a:t>
            </a:r>
          </a:p>
          <a:p>
            <a:r>
              <a:rPr lang="en-US" sz="1400" b="0" dirty="0"/>
              <a:t>Lúc 2:52 đề nghị mỗi nhóm lưu và gửi bản nháp (email hoặc thư mục chung). Đây là tệp khởi đầu cho thực hành 2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Mời một người giải thích bằng lời của mình trước khi đọc cột bên phải.</a:t>
            </a:r>
          </a:p>
          <a:p>
            <a:r>
              <a:rPr lang="en-US" sz="1400" b="0" dirty="0"/>
              <a:t>Đây cũng là những từ dễ xuất hiện nhất trong bài kiểm tra cuối khóa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Đọc ba thông điệp; mời một người thêm thông điệp thứ tư.</a:t>
            </a:r>
          </a:p>
          <a:p>
            <a:r>
              <a:rPr lang="en-US" sz="1400" b="0" dirty="0"/>
              <a:t>Bài về nhà: slide đề cương (hướng dẫn trình bày: 6 phút, 6 slide) và đọc lại bản nháp. Thứ Bảy tuần sau bắt đầu bằng 5 phút ôn tập và đi thẳng vào phần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(Đặt vấn đề, Phương pháp, Kết quả, Bàn luận),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bài thẩm định sau giải lao: đồng hồ cát chỉ chỗ cần tìm. PICO ở đoạn cuối Đặt vấn đề, thiết kế và kết cục ở Phương pháp, tác dụng chính ở đoạn đầu Kết quả, hạn chế ở gần cuối Bàn luận.</a:t>
            </a:r>
          </a:p>
          <a:p>
            <a:r>
              <a:rPr lang="en-US" sz="1400" b="0" dirty="0"/>
              <a:t>Hỏi: bạn đọc phần nào trước? Nhiều người nói tóm tắt và kết luận. Không sao, nhưng câu trả lời cho 'có tin được không?' nằm ở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phân loại vai trò người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VD nhà thống kê được ghi công Methodology và Formal analysis. Bài 2 (trang 8) mô tả đóng góp bằng văn xuôi và ghi tất cả tác giả đã đọc và duyệt bản thảo cuối. Cách này chấp nhận được, nhưng CRediT là định dạng đa số tạp chí đang yêu cầu.</a:t>
            </a:r>
          </a:p>
          <a:p>
            <a:r>
              <a:rPr lang="en-US" sz="1400" b="0" dirty="0"/>
              <a:t>Tổ chức: đề nghị mỗi nhóm ghi vào đề cương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Hợp lệ nếu đủ bốn tiêu chí, là 'quà tặng'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Segoe UI"/>
                <a:cs typeface="Segoe UI"/>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7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6</a:t>
            </a:r>
          </a:p>
          <a:p>
            <a:pPr marL="274320" indent="-274320" algn="l">
              <a:spcBef>
                <a:spcPts val="440"/>
              </a:spcBef>
              <a:buFont typeface="Arial"/>
              <a:buChar char="•"/>
            </a:pPr>
            <a:r>
              <a:rPr lang="en-US" sz="1900" dirty="0">
                <a:solidFill>
                  <a:srgbClr val="000000"/>
                </a:solidFill>
                <a:latin typeface="Segoe UI"/>
                <a:cs typeface="Segoe UI"/>
              </a:rPr>
              <a:t>7.1  Đề cương, đạo đức, chấp thuận, đăng ký, tính khả thi</a:t>
            </a:r>
          </a:p>
          <a:p>
            <a:pPr marL="274320" indent="-274320" algn="l">
              <a:spcBef>
                <a:spcPts val="440"/>
              </a:spcBef>
              <a:buFont typeface="Arial"/>
              <a:buChar char="•"/>
            </a:pPr>
            <a:r>
              <a:rPr lang="en-US" sz="1900" dirty="0">
                <a:solidFill>
                  <a:srgbClr val="000000"/>
                </a:solidFill>
                <a:latin typeface="Segoe UI"/>
                <a:cs typeface="Segoe UI"/>
              </a:rPr>
              <a:t>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Segoe UI"/>
                <a:cs typeface="Segoe UI"/>
              </a:rPr>
              <a:t>Xây dựng đề cương 7: đạo đức + kế hoạch công bố</a:t>
            </a:r>
          </a:p>
          <a:p>
            <a:pPr marL="274320" indent="-274320" algn="l">
              <a:spcBef>
                <a:spcPts val="440"/>
              </a:spcBef>
              <a:buFont typeface="Arial"/>
              <a:buChar char="•"/>
            </a:pPr>
            <a:r>
              <a:rPr lang="en-US" sz="1900" dirty="0">
                <a:solidFill>
                  <a:srgbClr val="000000"/>
                </a:solidFill>
                <a:latin typeface="Segoe UI"/>
                <a:cs typeface="Segoe UI"/>
              </a:rPr>
              <a:t>7.3  Viết bài báo (I): Phương pháp, Kết quả, bảng, STROBE</a:t>
            </a:r>
          </a:p>
          <a:p>
            <a:pPr marL="274320" indent="-274320" algn="l">
              <a:spcBef>
                <a:spcPts val="440"/>
              </a:spcBef>
              <a:buFont typeface="Arial"/>
              <a:buChar char="•"/>
            </a:pPr>
            <a:r>
              <a:rPr lang="en-US" sz="1900" dirty="0">
                <a:solidFill>
                  <a:srgbClr val="000000"/>
                </a:solidFill>
                <a:latin typeface="Segoe UI"/>
                <a:cs typeface="Segoe UI"/>
              </a:rPr>
              <a:t>Thực hành bản thảo 1: soạn Phương pháp +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OR thô là 2,1; OR hiệu chỉnh là 1,4. Điều gì đã xảy ra?</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HR 0,85 (KTC 95% 0,60 đến 1,20): có lợi rõ ràng không?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thiếu ở 15% bệnh nhân. Nêu một cách xử lý</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Kaplan-Meier: bệnh nhân 'bị kiểm duyệt' nghĩa là gì?</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Câu hỏi FLUID-ICU của nhóm bạn: kết quả chính là gì?</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Nhiễu: một phần liên quan thô là do mức độ nặng</a:t>
            </a:r>
          </a:p>
          <a:p>
            <a:pPr marL="274320" indent="-274320" algn="l">
              <a:lnSpc>
                <a:spcPct val="104000"/>
              </a:lnSpc>
              <a:spcBef>
                <a:spcPts val="300"/>
              </a:spcBef>
              <a:buFont typeface="Arial"/>
              <a:buChar char="•"/>
            </a:pPr>
            <a:r>
              <a:rPr lang="en-US" sz="1500" dirty="0">
                <a:solidFill>
                  <a:srgbClr val="000000"/>
                </a:solidFill>
                <a:latin typeface="Segoe UI"/>
                <a:cs typeface="Segoe UI"/>
              </a:rPr>
              <a:t>2. Không: KTC chứa giá trị 1</a:t>
            </a:r>
          </a:p>
          <a:p>
            <a:pPr marL="274320" indent="-274320" algn="l">
              <a:lnSpc>
                <a:spcPct val="104000"/>
              </a:lnSpc>
              <a:spcBef>
                <a:spcPts val="300"/>
              </a:spcBef>
              <a:buFont typeface="Arial"/>
              <a:buChar char="•"/>
            </a:pPr>
            <a:r>
              <a:rPr lang="en-US" sz="1500" dirty="0">
                <a:solidFill>
                  <a:srgbClr val="000000"/>
                </a:solidFill>
                <a:latin typeface="Segoe UI"/>
                <a:cs typeface="Segoe UI"/>
              </a:rPr>
              <a:t>3. Phân tích ca đầy đủ, hoặc quy gán đa bội + phân tích độ nhạy</a:t>
            </a:r>
          </a:p>
          <a:p>
            <a:pPr marL="274320" indent="-274320" algn="l">
              <a:lnSpc>
                <a:spcPct val="104000"/>
              </a:lnSpc>
              <a:spcBef>
                <a:spcPts val="300"/>
              </a:spcBef>
              <a:buFont typeface="Arial"/>
              <a:buChar char="•"/>
            </a:pPr>
            <a:r>
              <a:rPr lang="en-US" sz="1500" dirty="0">
                <a:solidFill>
                  <a:srgbClr val="000000"/>
                </a:solidFill>
                <a:latin typeface="Segoe UI"/>
                <a:cs typeface="Segoe UI"/>
              </a:rPr>
              <a:t>4. Rời nghiên cứu khi còn sống, sau đó không biết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5. Theo gói kết quả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nhớ lại: hiệu chỉnh, KTC, dữ liệu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đạo đức và chấp thuận tham gia</a:t>
            </a:r>
          </a:p>
          <a:p>
            <a:pPr marL="0" indent="0" algn="ctr">
              <a:spcBef>
                <a:spcPts val="1200"/>
              </a:spcBef>
              <a:buNone/>
            </a:pPr>
            <a:r>
              <a:rPr lang="en-US" sz="1900" i="1" dirty="0">
                <a:solidFill>
                  <a:srgbClr val="595959"/>
                </a:solidFill>
                <a:latin typeface="Segoe UI"/>
                <a:cs typeface="Segoe UI"/>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Đề cương: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Bốn phần đề cương của bạn CHÍNH LÀ khung của một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bộ nguyên tắc: Helsinki và Thực hành lâm sàng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Hành trình qua hội đồng đạo đức: phê duyệt trước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Thử nghiệm: không đăng ký trước bệnh nhân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Thử nghiệm ngẫu nhiên so sánh hai loại băng cho loét tì đè</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Tổng quan hệ thống về chiến lược dịch truyền trong nhiễm khuẩn huyết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Đoàn hệ hồi cứu từ hồ sơ ICU (như FLUID-ICU)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Đánh giá tuân thủ vệ sinh tay (audit lâm sàng)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Giơ: 1 ngón = bắt buộc, 2 = nên, 3 = không cần</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Bắt buộc: cơ sở đăng ký thử nghiệm, trước bệnh nhân 1</a:t>
            </a:r>
          </a:p>
          <a:p>
            <a:pPr marL="274320" indent="-274320" algn="l">
              <a:lnSpc>
                <a:spcPct val="104000"/>
              </a:lnSpc>
              <a:spcBef>
                <a:spcPts val="300"/>
              </a:spcBef>
              <a:buFont typeface="Arial"/>
              <a:buChar char="•"/>
            </a:pPr>
            <a:r>
              <a:rPr lang="en-US" sz="1500" dirty="0">
                <a:solidFill>
                  <a:srgbClr val="000000"/>
                </a:solidFill>
                <a:latin typeface="Segoe UI"/>
                <a:cs typeface="Segoe UI"/>
              </a:rPr>
              <a:t>2. Nên: PROSPERO</a:t>
            </a:r>
          </a:p>
          <a:p>
            <a:pPr marL="274320" indent="-274320" algn="l">
              <a:lnSpc>
                <a:spcPct val="104000"/>
              </a:lnSpc>
              <a:spcBef>
                <a:spcPts val="300"/>
              </a:spcBef>
              <a:buFont typeface="Arial"/>
              <a:buChar char="•"/>
            </a:pPr>
            <a:r>
              <a:rPr lang="en-US" sz="1500" dirty="0">
                <a:solidFill>
                  <a:srgbClr val="000000"/>
                </a:solidFill>
                <a:latin typeface="Segoe UI"/>
                <a:cs typeface="Segoe UI"/>
              </a:rPr>
              <a:t>3. Khuyến khích, không bắt buộc</a:t>
            </a:r>
          </a:p>
          <a:p>
            <a:pPr marL="274320" indent="-274320" algn="l">
              <a:lnSpc>
                <a:spcPct val="104000"/>
              </a:lnSpc>
              <a:spcBef>
                <a:spcPts val="300"/>
              </a:spcBef>
              <a:buFont typeface="Arial"/>
              <a:buChar char="•"/>
            </a:pPr>
            <a:r>
              <a:rPr lang="en-US" sz="1500" dirty="0">
                <a:solidFill>
                  <a:srgbClr val="000000"/>
                </a:solidFill>
                <a:latin typeface="Segoe UI"/>
                <a:cs typeface="Segoe UI"/>
              </a:rPr>
              <a:t>4. 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Chấp thuận tham gia: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Chấp thuận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Mục đích, những gì sẽ diễn ra</a:t>
            </a:r>
          </a:p>
          <a:p>
            <a:pPr marL="0" indent="0" algn="l">
              <a:lnSpc>
                <a:spcPct val="104000"/>
              </a:lnSpc>
              <a:spcBef>
                <a:spcPts val="400"/>
              </a:spcBef>
              <a:buNone/>
            </a:pPr>
            <a:r>
              <a:rPr lang="en-US" sz="1600" dirty="0">
                <a:solidFill>
                  <a:srgbClr val="000000"/>
                </a:solidFill>
                <a:latin typeface="Segoe UI"/>
                <a:cs typeface="Segoe UI"/>
              </a:rPr>
              <a:t>Rủi ro, lợi ích, lựa chọn khác</a:t>
            </a:r>
          </a:p>
          <a:p>
            <a:pPr marL="0" indent="0" algn="l">
              <a:lnSpc>
                <a:spcPct val="104000"/>
              </a:lnSpc>
              <a:spcBef>
                <a:spcPts val="400"/>
              </a:spcBef>
              <a:buNone/>
            </a:pPr>
            <a:r>
              <a:rPr lang="en-US" sz="1600" dirty="0">
                <a:solidFill>
                  <a:srgbClr val="000000"/>
                </a:solidFill>
                <a:latin typeface="Segoe UI"/>
                <a:cs typeface="Segoe UI"/>
              </a:rPr>
              <a:t>Dữ liệu được bảo vệ ra sao</a:t>
            </a:r>
          </a:p>
          <a:p>
            <a:pPr marL="0" indent="0" algn="l">
              <a:lnSpc>
                <a:spcPct val="104000"/>
              </a:lnSpc>
              <a:spcBef>
                <a:spcPts val="400"/>
              </a:spcBef>
              <a:buNone/>
            </a:pPr>
            <a:r>
              <a:rPr lang="en-US" sz="1600" dirty="0">
                <a:solidFill>
                  <a:srgbClr val="000000"/>
                </a:solidFill>
                <a:latin typeface="Segoe UI"/>
                <a:cs typeface="Segoe UI"/>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Ngôn ngữ đơn giản, quen thuộc</a:t>
            </a:r>
          </a:p>
          <a:p>
            <a:pPr marL="0" indent="0" algn="l">
              <a:lnSpc>
                <a:spcPct val="104000"/>
              </a:lnSpc>
              <a:spcBef>
                <a:spcPts val="400"/>
              </a:spcBef>
              <a:buNone/>
            </a:pPr>
            <a:r>
              <a:rPr lang="en-US" sz="1600" dirty="0">
                <a:solidFill>
                  <a:srgbClr val="000000"/>
                </a:solidFill>
                <a:latin typeface="Segoe UI"/>
                <a:cs typeface="Segoe UI"/>
              </a:rPr>
              <a:t>Có thời gian để hỏi</a:t>
            </a:r>
          </a:p>
          <a:p>
            <a:pPr marL="0" indent="0" algn="l">
              <a:lnSpc>
                <a:spcPct val="104000"/>
              </a:lnSpc>
              <a:spcBef>
                <a:spcPts val="400"/>
              </a:spcBef>
              <a:buNone/>
            </a:pPr>
            <a:r>
              <a:rPr lang="en-US" sz="1600" dirty="0">
                <a:solidFill>
                  <a:srgbClr val="000000"/>
                </a:solidFill>
                <a:latin typeface="Segoe UI"/>
                <a:cs typeface="Segoe UI"/>
              </a:rPr>
              <a:t>Nhắc lại: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ép buộc</a:t>
            </a:r>
          </a:p>
          <a:p>
            <a:pPr marL="0" indent="0" algn="l">
              <a:lnSpc>
                <a:spcPct val="104000"/>
              </a:lnSpc>
              <a:spcBef>
                <a:spcPts val="400"/>
              </a:spcBef>
              <a:buNone/>
            </a:pPr>
            <a:r>
              <a:rPr lang="en-US" sz="1600" dirty="0">
                <a:solidFill>
                  <a:srgbClr val="000000"/>
                </a:solidFill>
                <a:latin typeface="Segoe UI"/>
                <a:cs typeface="Segoe UI"/>
              </a:rPr>
              <a:t>Được từ chối hoặc rút lui</a:t>
            </a:r>
          </a:p>
          <a:p>
            <a:pPr marL="0" indent="0" algn="l">
              <a:lnSpc>
                <a:spcPct val="104000"/>
              </a:lnSpc>
              <a:spcBef>
                <a:spcPts val="400"/>
              </a:spcBef>
              <a:buNone/>
            </a:pPr>
            <a:r>
              <a:rPr lang="en-US" sz="1600" dirty="0">
                <a:solidFill>
                  <a:srgbClr val="000000"/>
                </a:solidFill>
                <a:latin typeface="Segoe UI"/>
                <a:cs typeface="Segoe UI"/>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Phiếu ký tên, ghi ngày</a:t>
            </a:r>
          </a:p>
          <a:p>
            <a:pPr marL="0" indent="0" algn="l">
              <a:lnSpc>
                <a:spcPct val="104000"/>
              </a:lnSpc>
              <a:spcBef>
                <a:spcPts val="400"/>
              </a:spcBef>
              <a:buNone/>
            </a:pPr>
            <a:r>
              <a:rPr lang="en-US" sz="1600" dirty="0">
                <a:solidFill>
                  <a:srgbClr val="000000"/>
                </a:solidFill>
                <a:latin typeface="Segoe UI"/>
                <a:cs typeface="Segoe UI"/>
              </a:rPr>
              <a:t>Một bản cho người tham gia</a:t>
            </a:r>
          </a:p>
          <a:p>
            <a:pPr marL="0" indent="0" algn="l">
              <a:lnSpc>
                <a:spcPct val="104000"/>
              </a:lnSpc>
              <a:spcBef>
                <a:spcPts val="400"/>
              </a:spcBef>
              <a:buNone/>
            </a:pPr>
            <a:r>
              <a:rPr lang="en-US" sz="1600" dirty="0">
                <a:solidFill>
                  <a:srgbClr val="000000"/>
                </a:solidFill>
                <a:latin typeface="Segoe UI"/>
                <a:cs typeface="Segoe UI"/>
              </a:rPr>
              <a:t>Xin lại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người bệnh không giải thích lại được nghiên cứu, chấp thuận chưa có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Chấp thuận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bệnh, rồi người đại diện hợp pháp, rồi chấp thuận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ai chấp thuận cho ba bệnh nhân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Đưa từng bệnh nhân qua sơ đồ.</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Viêm phổi, tỉnh, định hướng tốt</a:t>
            </a:r>
          </a:p>
          <a:p>
            <a:pPr marL="0" indent="0" algn="l">
              <a:lnSpc>
                <a:spcPct val="104000"/>
              </a:lnSpc>
              <a:spcBef>
                <a:spcPts val="400"/>
              </a:spcBef>
              <a:buNone/>
            </a:pPr>
            <a:r>
              <a:rPr lang="en-US" sz="1750" dirty="0">
                <a:solidFill>
                  <a:srgbClr val="000000"/>
                </a:solidFill>
                <a:latin typeface="Segoe UI"/>
                <a:cs typeface="Segoe UI"/>
              </a:rPr>
              <a:t>Đủ tiêu chuẩn thử nghiệm dịch</a:t>
            </a:r>
          </a:p>
          <a:p>
            <a:pPr marL="0" indent="0" algn="l">
              <a:lnSpc>
                <a:spcPct val="104000"/>
              </a:lnSpc>
              <a:spcBef>
                <a:spcPts val="400"/>
              </a:spcBef>
              <a:buNone/>
            </a:pPr>
            <a:r>
              <a:rPr lang="en-US" sz="1750" b="1" dirty="0">
                <a:solidFill>
                  <a:srgbClr val="2E8B57"/>
                </a:solidFill>
                <a:latin typeface="Segoe UI"/>
                <a:cs typeface="Segoe UI"/>
              </a:rPr>
              <a:t>Bệnh nhân tự chấp thuận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nhiễm khuẩn, đang an thần</a:t>
            </a:r>
          </a:p>
          <a:p>
            <a:pPr marL="0" indent="0" algn="l">
              <a:lnSpc>
                <a:spcPct val="104000"/>
              </a:lnSpc>
              <a:spcBef>
                <a:spcPts val="400"/>
              </a:spcBef>
              <a:buNone/>
            </a:pPr>
            <a:r>
              <a:rPr lang="en-US" sz="1750" dirty="0">
                <a:solidFill>
                  <a:srgbClr val="000000"/>
                </a:solidFill>
                <a:latin typeface="Segoe UI"/>
                <a:cs typeface="Segoe UI"/>
              </a:rPr>
              <a:t>Con gái ở cạnh giường</a:t>
            </a:r>
          </a:p>
          <a:p>
            <a:pPr marL="0" indent="0" algn="l">
              <a:lnSpc>
                <a:spcPct val="104000"/>
              </a:lnSpc>
              <a:spcBef>
                <a:spcPts val="400"/>
              </a:spcBef>
              <a:buNone/>
            </a:pPr>
            <a:r>
              <a:rPr lang="en-US" sz="1750" b="1" dirty="0">
                <a:solidFill>
                  <a:srgbClr val="2E8B57"/>
                </a:solidFill>
                <a:latin typeface="Segoe UI"/>
                <a:cs typeface="Segoe UI"/>
              </a:rPr>
              <a:t>Người đại diện chấp thuận;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lúc 3 giờ sáng, chưa có người nhà</a:t>
            </a:r>
          </a:p>
          <a:p>
            <a:pPr marL="0" indent="0" algn="l">
              <a:lnSpc>
                <a:spcPct val="104000"/>
              </a:lnSpc>
              <a:spcBef>
                <a:spcPts val="400"/>
              </a:spcBef>
              <a:buNone/>
            </a:pPr>
            <a:r>
              <a:rPr lang="en-US" sz="1750" dirty="0">
                <a:solidFill>
                  <a:srgbClr val="000000"/>
                </a:solidFill>
                <a:latin typeface="Segoe UI"/>
                <a:cs typeface="Segoe UI"/>
              </a:rPr>
              <a:t>Điều trị không thể chờ; hội đồng đã duyệt</a:t>
            </a:r>
          </a:p>
          <a:p>
            <a:pPr marL="0" indent="0" algn="l">
              <a:lnSpc>
                <a:spcPct val="104000"/>
              </a:lnSpc>
              <a:spcBef>
                <a:spcPts val="400"/>
              </a:spcBef>
              <a:buNone/>
            </a:pPr>
            <a:r>
              <a:rPr lang="en-US" sz="1750" b="1" dirty="0">
                <a:solidFill>
                  <a:srgbClr val="D9822B"/>
                </a:solidFill>
                <a:latin typeface="Segoe UI"/>
                <a:cs typeface="Segoe UI"/>
              </a:rPr>
              <a:t>Chấp thuận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Quy trình và thời điểm được ghi trong đề cương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Bảo mật: ẩn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Họ tên ở lại khoa; chỉ mã nghiên cứu được mang 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đạo đức cho một đoàn hệ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Hội đồng đạo đức của từng ICU</a:t>
            </a:r>
          </a:p>
          <a:p>
            <a:pPr marL="0" indent="0" algn="l">
              <a:lnSpc>
                <a:spcPct val="104000"/>
              </a:lnSpc>
              <a:spcBef>
                <a:spcPts val="400"/>
              </a:spcBef>
              <a:buNone/>
            </a:pPr>
            <a:r>
              <a:rPr lang="en-US" sz="1600" dirty="0">
                <a:solidFill>
                  <a:srgbClr val="000000"/>
                </a:solidFill>
                <a:latin typeface="Segoe UI"/>
                <a:cs typeface="Segoe UI"/>
              </a:rPr>
              <a:t>Số và ngày phê duyệt</a:t>
            </a:r>
          </a:p>
          <a:p>
            <a:pPr marL="0" indent="0" algn="l">
              <a:lnSpc>
                <a:spcPct val="104000"/>
              </a:lnSpc>
              <a:spcBef>
                <a:spcPts val="400"/>
              </a:spcBef>
              <a:buNone/>
            </a:pPr>
            <a:r>
              <a:rPr lang="en-US" sz="1600" dirty="0">
                <a:solidFill>
                  <a:srgbClr val="000000"/>
                </a:solidFill>
                <a:latin typeface="Segoe UI"/>
                <a:cs typeface="Segoe UI"/>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Chấp thuận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Dữ liệu thường quy, nguy cơ tối thiểu</a:t>
            </a:r>
          </a:p>
          <a:p>
            <a:pPr marL="0" indent="0" algn="l">
              <a:lnSpc>
                <a:spcPct val="104000"/>
              </a:lnSpc>
              <a:spcBef>
                <a:spcPts val="400"/>
              </a:spcBef>
              <a:buNone/>
            </a:pPr>
            <a:r>
              <a:rPr lang="en-US" sz="1600" dirty="0">
                <a:solidFill>
                  <a:srgbClr val="000000"/>
                </a:solidFill>
                <a:latin typeface="Segoe UI"/>
                <a:cs typeface="Segoe UI"/>
              </a:rPr>
              <a:t>Hội đồng có thể MIỄN chấp thuận</a:t>
            </a:r>
          </a:p>
          <a:p>
            <a:pPr marL="0" indent="0" algn="l">
              <a:lnSpc>
                <a:spcPct val="104000"/>
              </a:lnSpc>
              <a:spcBef>
                <a:spcPts val="400"/>
              </a:spcBef>
              <a:buNone/>
            </a:pPr>
            <a:r>
              <a:rPr lang="en-US" sz="1600" dirty="0">
                <a:solidFill>
                  <a:srgbClr val="000000"/>
                </a:solidFill>
                <a:latin typeface="Segoe UI"/>
                <a:cs typeface="Segoe UI"/>
              </a:rPr>
              <a:t>(như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Chỉ dùng mã nghiên cứu</a:t>
            </a:r>
          </a:p>
          <a:p>
            <a:pPr marL="0" indent="0" algn="l">
              <a:lnSpc>
                <a:spcPct val="104000"/>
              </a:lnSpc>
              <a:spcBef>
                <a:spcPts val="400"/>
              </a:spcBef>
              <a:buNone/>
            </a:pPr>
            <a:r>
              <a:rPr lang="en-US" sz="1600" dirty="0">
                <a:solidFill>
                  <a:srgbClr val="000000"/>
                </a:solidFill>
                <a:latin typeface="Segoe UI"/>
                <a:cs typeface="Segoe UI"/>
              </a:rPr>
              <a:t>Tệp khóa lưu ở từng ICU</a:t>
            </a:r>
          </a:p>
          <a:p>
            <a:pPr marL="0" indent="0" algn="l">
              <a:lnSpc>
                <a:spcPct val="104000"/>
              </a:lnSpc>
              <a:spcBef>
                <a:spcPts val="400"/>
              </a:spcBef>
              <a:buNone/>
            </a:pPr>
            <a:r>
              <a:rPr lang="en-US" sz="1600" dirty="0">
                <a:solidFill>
                  <a:srgbClr val="000000"/>
                </a:solidFill>
                <a:latin typeface="Segoe UI"/>
                <a:cs typeface="Segoe UI"/>
              </a:rPr>
              <a:t>Ẩn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Đăng ký &amp;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Khuyến khích đăng ký</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đạo đức của bản thảo trả lời bốn câu hỏi trong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khả thi trong một hình: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Đếm số bệnh nhân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Liêm chính nghiên cứu</a:t>
            </a:r>
          </a:p>
          <a:p>
            <a:pPr marL="0" indent="0" algn="ctr">
              <a:spcBef>
                <a:spcPts val="1200"/>
              </a:spcBef>
              <a:buNone/>
            </a:pPr>
            <a:r>
              <a:rPr lang="en-US" sz="1900" i="1" dirty="0">
                <a:solidFill>
                  <a:srgbClr val="595959"/>
                </a:solidFill>
                <a:latin typeface="Segoe UI"/>
                <a:cs typeface="Segoe UI"/>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phạm nghiên cứu: bịa đặt, xuyên tạc,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Cũng không được làm: những mẹo làm sai lệch y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nên kể một câu chuyện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Công bố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nghiên cứu, cùng kết quả</a:t>
            </a:r>
          </a:p>
          <a:p>
            <a:pPr marL="0" indent="0" algn="l">
              <a:lnSpc>
                <a:spcPct val="104000"/>
              </a:lnSpc>
              <a:spcBef>
                <a:spcPts val="400"/>
              </a:spcBef>
              <a:buNone/>
            </a:pPr>
            <a:r>
              <a:rPr lang="en-US" sz="1750" dirty="0">
                <a:solidFill>
                  <a:srgbClr val="000000"/>
                </a:solidFill>
                <a:latin typeface="Segoe UI"/>
                <a:cs typeface="Segoe UI"/>
              </a:rPr>
              <a:t>đăng ở tạp chí thứ hai</a:t>
            </a:r>
          </a:p>
          <a:p>
            <a:pPr marL="0" indent="0" algn="l">
              <a:lnSpc>
                <a:spcPct val="104000"/>
              </a:lnSpc>
              <a:spcBef>
                <a:spcPts val="400"/>
              </a:spcBef>
              <a:buNone/>
            </a:pPr>
            <a:r>
              <a:rPr lang="en-US" sz="1750" dirty="0">
                <a:solidFill>
                  <a:srgbClr val="000000"/>
                </a:solidFill>
                <a:latin typeface="Segoe UI"/>
                <a:cs typeface="Segoe UI"/>
              </a:rPr>
              <a:t>mà không nói rõ</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Cắt lát salami</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Cắt một nghiên cứu thành nhiều bài</a:t>
            </a:r>
          </a:p>
          <a:p>
            <a:pPr marL="0" indent="0" algn="l">
              <a:lnSpc>
                <a:spcPct val="104000"/>
              </a:lnSpc>
              <a:spcBef>
                <a:spcPts val="400"/>
              </a:spcBef>
              <a:buNone/>
            </a:pPr>
            <a:r>
              <a:rPr lang="en-US" sz="1750" dirty="0">
                <a:solidFill>
                  <a:srgbClr val="000000"/>
                </a:solidFill>
                <a:latin typeface="Segoe UI"/>
                <a:cs typeface="Segoe UI"/>
              </a:rPr>
              <a:t>để tăng số bài báo</a:t>
            </a:r>
          </a:p>
          <a:p>
            <a:pPr marL="0" indent="0" algn="l">
              <a:lnSpc>
                <a:spcPct val="104000"/>
              </a:lnSpc>
              <a:spcBef>
                <a:spcPts val="400"/>
              </a:spcBef>
              <a:buNone/>
            </a:pPr>
            <a:r>
              <a:rPr lang="en-US" sz="1750" dirty="0">
                <a:solidFill>
                  <a:srgbClr val="000000"/>
                </a:solidFill>
                <a:latin typeface="Segoe UI"/>
                <a:cs typeface="Segoe UI"/>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Chỉ báo cáo kết cục 'có ý nghĩa'</a:t>
            </a:r>
          </a:p>
          <a:p>
            <a:pPr marL="0" indent="0" algn="l">
              <a:lnSpc>
                <a:spcPct val="104000"/>
              </a:lnSpc>
              <a:spcBef>
                <a:spcPts val="400"/>
              </a:spcBef>
              <a:buNone/>
            </a:pPr>
            <a:r>
              <a:rPr lang="en-US" sz="1750" dirty="0">
                <a:solidFill>
                  <a:srgbClr val="000000"/>
                </a:solidFill>
                <a:latin typeface="Segoe UI"/>
                <a:cs typeface="Segoe UI"/>
              </a:rPr>
              <a:t>Đổi kết cục chính</a:t>
            </a:r>
          </a:p>
          <a:p>
            <a:pPr marL="0" indent="0" algn="l">
              <a:lnSpc>
                <a:spcPct val="104000"/>
              </a:lnSpc>
              <a:spcBef>
                <a:spcPts val="400"/>
              </a:spcBef>
              <a:buNone/>
            </a:pPr>
            <a:r>
              <a:rPr lang="en-US" sz="1750" dirty="0">
                <a:solidFill>
                  <a:srgbClr val="000000"/>
                </a:solidFill>
                <a:latin typeface="Segoe UI"/>
                <a:cs typeface="Segoe UI"/>
              </a:rPr>
              <a:t>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Lên kế hoạch chia sẻ dữ liệu từ đề cương: phiếu chấp thuận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Dùng AI như một trợ lý mới: kiểm tra mọi thứ, khai báo, giữ dữ liệu bệnh nhân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tình huống trên màn hình hoặc trong tài liệu phát tay (6 tình huống)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Mỗi nhóm giơ thẻ XANH (ổn), VÀNG (chỉ ổn nếu sửa hoặc khai báo) hoặc ĐỎ (sai phạm)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Giảng viên mời một nhóm giải thích màu đã chọn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Làm 3 tình huống cùng nhau; phần còn lại trong tài liệu</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Ví dụ</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đồng nghiệp cho mượn máy siêu âm và đề nghị được đứng tên tác giả.</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học viên gọi tên được FFP, tác giả 'quà tặng'/'ma'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Ai chấp thuận trong nghiên cứu của bạn? Dùng sơ đồ ICU (5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Đăng ký: có cần? ở đâu? Tệp khóa để ở đâu?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Khả thi: rủi ro lớn nhất và một cách khắc phục (3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công bố: tạp chí, hướng dẫn, tác giả + CRediT (5 phút)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Tiêu đề tạm từ PICO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Phiếu bài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Practicals/s7_exercises.md, Phần B</a:t>
            </a:r>
          </a:p>
          <a:p>
            <a:pPr marL="274320" indent="-274320" algn="l">
              <a:lnSpc>
                <a:spcPct val="104000"/>
              </a:lnSpc>
              <a:spcBef>
                <a:spcPts val="300"/>
              </a:spcBef>
              <a:buFont typeface="Arial"/>
              <a:buChar char="•"/>
            </a:pPr>
            <a:r>
              <a:rPr lang="en-US" sz="1500" dirty="0">
                <a:solidFill>
                  <a:srgbClr val="000000"/>
                </a:solidFill>
                <a:latin typeface="Segoe UI"/>
                <a:cs typeface="Segoe UI"/>
              </a:rPr>
              <a:t>Slide 5 và 6 cho thứ Bảy tuần sau</a:t>
            </a:r>
          </a:p>
          <a:p>
            <a:pPr marL="274320" indent="-274320" algn="l">
              <a:lnSpc>
                <a:spcPct val="104000"/>
              </a:lnSpc>
              <a:spcBef>
                <a:spcPts val="300"/>
              </a:spcBef>
              <a:buFont typeface="Arial"/>
              <a:buChar char="•"/>
            </a:pPr>
            <a:r>
              <a:rPr lang="en-US" sz="1500" dirty="0">
                <a:solidFill>
                  <a:srgbClr val="000000"/>
                </a:solidFill>
                <a:latin typeface="Segoe UI"/>
                <a:cs typeface="Segoe UI"/>
              </a:rPr>
              <a:t>Hoàn thiện ở nhà trong tuần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Bản nháp Đề cương Phần 4; dàn ý slide 5-6 của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Nhận gói kết quả FLUID-ICU của nhóm</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Mở mẫu bản thảo (hoặc dùng giấy)</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Phân công ai viết Phương pháp, ai viết Kết quả</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Quay lại đúng 1:30</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7.3 Viết bài báo (35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Thực hành bản thảo 1 (50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 Phương pháp và Kết quả</a:t>
            </a:r>
          </a:p>
          <a:p>
            <a:pPr marL="0" indent="0" algn="ctr">
              <a:spcBef>
                <a:spcPts val="1200"/>
              </a:spcBef>
              <a:buNone/>
            </a:pPr>
            <a:r>
              <a:rPr lang="en-US" sz="1900" i="1" dirty="0">
                <a:solidFill>
                  <a:srgbClr val="595959"/>
                </a:solidFill>
                <a:latin typeface="Segoe UI"/>
                <a:cs typeface="Segoe UI"/>
              </a:rPr>
              <a:t>Viết những gì đã làm và đã thấy,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Thiết kế, bối cảnh, thời gian</a:t>
            </a:r>
          </a:p>
          <a:p>
            <a:pPr marL="0" indent="0" algn="l">
              <a:lnSpc>
                <a:spcPct val="104000"/>
              </a:lnSpc>
              <a:spcBef>
                <a:spcPts val="400"/>
              </a:spcBef>
              <a:buNone/>
            </a:pPr>
            <a:r>
              <a:rPr lang="en-US" sz="1600" dirty="0">
                <a:solidFill>
                  <a:srgbClr val="000000"/>
                </a:solidFill>
                <a:latin typeface="Segoe UI"/>
                <a:cs typeface="Segoe UI"/>
              </a:rPr>
              <a:t>Tiêu chuẩn chọn</a:t>
            </a:r>
          </a:p>
          <a:p>
            <a:pPr marL="0" indent="0" algn="l">
              <a:lnSpc>
                <a:spcPct val="104000"/>
              </a:lnSpc>
              <a:spcBef>
                <a:spcPts val="400"/>
              </a:spcBef>
              <a:buNone/>
            </a:pPr>
            <a:r>
              <a:rPr lang="en-US" sz="1600" dirty="0">
                <a:solidFill>
                  <a:srgbClr val="000000"/>
                </a:solidFill>
                <a:latin typeface="Segoe UI"/>
                <a:cs typeface="Segoe UI"/>
              </a:rPr>
              <a:t>Số phê duyệt, chấp thuận</a:t>
            </a:r>
          </a:p>
          <a:p>
            <a:pPr marL="0" indent="0" algn="l">
              <a:lnSpc>
                <a:spcPct val="104000"/>
              </a:lnSpc>
              <a:spcBef>
                <a:spcPts val="400"/>
              </a:spcBef>
              <a:buNone/>
            </a:pPr>
            <a:r>
              <a:rPr lang="en-US" sz="1600" dirty="0">
                <a:solidFill>
                  <a:srgbClr val="000000"/>
                </a:solidFill>
                <a:latin typeface="Segoe UI"/>
                <a:cs typeface="Segoe UI"/>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đầy đủ can thiệp</a:t>
            </a:r>
          </a:p>
          <a:p>
            <a:pPr marL="0" indent="0" algn="l">
              <a:lnSpc>
                <a:spcPct val="104000"/>
              </a:lnSpc>
              <a:spcBef>
                <a:spcPts val="400"/>
              </a:spcBef>
              <a:buNone/>
            </a:pPr>
            <a:r>
              <a:rPr lang="en-US" sz="1600" dirty="0">
                <a:solidFill>
                  <a:srgbClr val="000000"/>
                </a:solidFill>
                <a:latin typeface="Segoe UI"/>
                <a:cs typeface="Segoe UI"/>
              </a:rPr>
              <a:t>Định nghĩa các biến</a:t>
            </a:r>
          </a:p>
          <a:p>
            <a:pPr marL="0" indent="0" algn="l">
              <a:lnSpc>
                <a:spcPct val="104000"/>
              </a:lnSpc>
              <a:spcBef>
                <a:spcPts val="400"/>
              </a:spcBef>
              <a:buNone/>
            </a:pPr>
            <a:r>
              <a:rPr lang="en-US" sz="1600" dirty="0">
                <a:solidFill>
                  <a:srgbClr val="000000"/>
                </a:solidFill>
                <a:latin typeface="Segoe UI"/>
                <a:cs typeface="Segoe UI"/>
              </a:rPr>
              <a:t>B1: tập huấn,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MỘT kết cục chính: đo thế nào, khi nào</a:t>
            </a:r>
          </a:p>
          <a:p>
            <a:pPr marL="0" indent="0" algn="l">
              <a:lnSpc>
                <a:spcPct val="104000"/>
              </a:lnSpc>
              <a:spcBef>
                <a:spcPts val="400"/>
              </a:spcBef>
              <a:buNone/>
            </a:pPr>
            <a:r>
              <a:rPr lang="en-US" sz="1600" dirty="0">
                <a:solidFill>
                  <a:srgbClr val="000000"/>
                </a:solidFill>
                <a:latin typeface="Segoe UI"/>
                <a:cs typeface="Segoe UI"/>
              </a:rPr>
              <a:t>Cỡ mẫu: giả định + nguồn</a:t>
            </a:r>
          </a:p>
          <a:p>
            <a:pPr marL="0" indent="0" algn="l">
              <a:lnSpc>
                <a:spcPct val="104000"/>
              </a:lnSpc>
              <a:spcBef>
                <a:spcPts val="400"/>
              </a:spcBef>
              <a:buNone/>
            </a:pPr>
            <a:r>
              <a:rPr lang="en-US" sz="1600" dirty="0">
                <a:solidFill>
                  <a:srgbClr val="000000"/>
                </a:solidFill>
                <a:latin typeface="Segoe UI"/>
                <a:cs typeface="Segoe UI"/>
              </a:rPr>
              <a:t>B2: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so sánh có một kiểm định</a:t>
            </a:r>
          </a:p>
          <a:p>
            <a:pPr marL="0" indent="0" algn="l">
              <a:lnSpc>
                <a:spcPct val="104000"/>
              </a:lnSpc>
              <a:spcBef>
                <a:spcPts val="400"/>
              </a:spcBef>
              <a:buNone/>
            </a:pPr>
            <a:r>
              <a:rPr lang="en-US" sz="1600" dirty="0">
                <a:solidFill>
                  <a:srgbClr val="000000"/>
                </a:solidFill>
                <a:latin typeface="Segoe UI"/>
                <a:cs typeface="Segoe UI"/>
              </a:rPr>
              <a:t>Ước lượng khớp với kiểm định</a:t>
            </a:r>
          </a:p>
          <a:p>
            <a:pPr marL="0" indent="0" algn="l">
              <a:lnSpc>
                <a:spcPct val="104000"/>
              </a:lnSpc>
              <a:spcBef>
                <a:spcPts val="400"/>
              </a:spcBef>
              <a:buNone/>
            </a:pPr>
            <a:r>
              <a:rPr lang="en-US" sz="1600" dirty="0">
                <a:solidFill>
                  <a:srgbClr val="000000"/>
                </a:solidFill>
                <a:latin typeface="Segoe UI"/>
                <a:cs typeface="Segoe UI"/>
              </a:rPr>
              <a:t>Dữ liệu thiếu, so sánh bội</a:t>
            </a:r>
          </a:p>
          <a:p>
            <a:pPr marL="0" indent="0" algn="l">
              <a:lnSpc>
                <a:spcPct val="104000"/>
              </a:lnSpc>
              <a:spcBef>
                <a:spcPts val="400"/>
              </a:spcBef>
              <a:buNone/>
            </a:pPr>
            <a:r>
              <a:rPr lang="en-US" sz="1600" dirty="0">
                <a:solidFill>
                  <a:srgbClr val="000000"/>
                </a:solidFill>
                <a:latin typeface="Segoe UI"/>
                <a:cs typeface="Segoe UI"/>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mục STROBE một câu, và nói rõ dữ liệu là mô phỏng.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Nêu phương pháp cho mọi so sánh được báo cáo, chọn trước khi xem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Bảng 1, số liệu kết cục, ước lượng thô và hiệu chỉnh,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và hình tự đứng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Đặc điểm</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âm (n = 245)</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dương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Tuổi, năm, trung bình</a:t>
                      </a:r>
                    </a:p>
                  </a:txBody>
                  <a:tcPr marL="73152" marR="73152" marT="36576" marB="36576" anchor="ctr">
                    <a:solidFill>
                      <a:srgbClr val="FFFFFF"/>
                    </a:solidFill>
                  </a:tcPr>
                </a:tc>
                <a:tc>
                  <a:txBody>
                    <a:bodyPr/>
                    <a:lstStyle/>
                    <a:p>
                      <a:pPr algn="l"/>
                      <a:r>
                        <a:rPr lang="en-US" sz="1500" b="0" dirty="0">
                          <a:solidFill>
                            <a:srgbClr val="000000"/>
                          </a:solidFill>
                          <a:latin typeface="Segoe UI"/>
                        </a:rPr>
                        <a:t>64,6</a:t>
                      </a:r>
                    </a:p>
                  </a:txBody>
                  <a:tcPr marL="73152" marR="73152" marT="36576" marB="36576" anchor="ctr">
                    <a:solidFill>
                      <a:srgbClr val="FFFFFF"/>
                    </a:solidFill>
                  </a:tcPr>
                </a:tc>
                <a:tc>
                  <a:txBody>
                    <a:bodyPr/>
                    <a:lstStyle/>
                    <a:p>
                      <a:pPr algn="l"/>
                      <a:r>
                        <a:rPr lang="en-US" sz="1500" b="0" dirty="0">
                          <a:solidFill>
                            <a:srgbClr val="000000"/>
                          </a:solidFill>
                          <a:latin typeface="Segoe UI"/>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SOFA,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6 (4 đến 8)</a:t>
                      </a:r>
                    </a:p>
                  </a:txBody>
                  <a:tcPr marL="73152" marR="73152" marT="36576" marB="36576" anchor="ctr">
                    <a:solidFill>
                      <a:srgbClr val="FFFFFF"/>
                    </a:solidFill>
                  </a:tcPr>
                </a:tc>
                <a:tc>
                  <a:txBody>
                    <a:bodyPr/>
                    <a:lstStyle/>
                    <a:p>
                      <a:pPr algn="l"/>
                      <a:r>
                        <a:rPr lang="en-US" sz="1500" b="0" dirty="0">
                          <a:solidFill>
                            <a:srgbClr val="000000"/>
                          </a:solidFill>
                          <a:latin typeface="Segoe UI"/>
                        </a:rPr>
                        <a:t>8 (6 đến 10)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Vận mạch, n (%)</a:t>
                      </a:r>
                    </a:p>
                  </a:txBody>
                  <a:tcPr marL="73152" marR="73152" marT="36576" marB="36576" anchor="ctr">
                    <a:solidFill>
                      <a:srgbClr val="FFFFFF"/>
                    </a:solidFill>
                  </a:tcPr>
                </a:tc>
                <a:tc>
                  <a:txBody>
                    <a:bodyPr/>
                    <a:lstStyle/>
                    <a:p>
                      <a:pPr algn="l"/>
                      <a:r>
                        <a:rPr lang="en-US" sz="1500" b="0" dirty="0">
                          <a:solidFill>
                            <a:srgbClr val="000000"/>
                          </a:solidFill>
                          <a:latin typeface="Segoe UI"/>
                        </a:rPr>
                        <a:t>61 (24,9%)</a:t>
                      </a:r>
                    </a:p>
                  </a:txBody>
                  <a:tcPr marL="73152" marR="73152" marT="36576" marB="36576" anchor="ctr">
                    <a:solidFill>
                      <a:srgbClr val="FFFFFF"/>
                    </a:solidFill>
                  </a:tcPr>
                </a:tc>
                <a:tc>
                  <a:txBody>
                    <a:bodyPr/>
                    <a:lstStyle/>
                    <a:p>
                      <a:pPr algn="l"/>
                      <a:r>
                        <a:rPr lang="en-US" sz="1500" b="0" dirty="0">
                          <a:solidFill>
                            <a:srgbClr val="000000"/>
                          </a:solidFill>
                          <a:latin typeface="Segoe UI"/>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Thở máy, n (%)</a:t>
                      </a:r>
                    </a:p>
                  </a:txBody>
                  <a:tcPr marL="73152" marR="73152" marT="36576" marB="36576" anchor="ctr">
                    <a:solidFill>
                      <a:srgbClr val="FFFFFF"/>
                    </a:solidFill>
                  </a:tcPr>
                </a:tc>
                <a:tc>
                  <a:txBody>
                    <a:bodyPr/>
                    <a:lstStyle/>
                    <a:p>
                      <a:pPr algn="l"/>
                      <a:r>
                        <a:rPr lang="en-US" sz="1500" b="0" dirty="0">
                          <a:solidFill>
                            <a:srgbClr val="000000"/>
                          </a:solidFill>
                          <a:latin typeface="Segoe UI"/>
                        </a:rPr>
                        <a:t>97 (39,6%)</a:t>
                      </a:r>
                    </a:p>
                  </a:txBody>
                  <a:tcPr marL="73152" marR="73152" marT="36576" marB="36576" anchor="ctr">
                    <a:solidFill>
                      <a:srgbClr val="FFFFFF"/>
                    </a:solidFill>
                  </a:tcPr>
                </a:tc>
                <a:tc>
                  <a:txBody>
                    <a:bodyPr/>
                    <a:lstStyle/>
                    <a:p>
                      <a:pPr algn="l"/>
                      <a:r>
                        <a:rPr lang="en-US" sz="1500" b="0" dirty="0">
                          <a:solidFill>
                            <a:srgbClr val="000000"/>
                          </a:solidFill>
                          <a:latin typeface="Segoe UI"/>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Lactat, mmol/L,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2,2 (1,4 đến 3,0)</a:t>
                      </a:r>
                    </a:p>
                  </a:txBody>
                  <a:tcPr marL="73152" marR="73152" marT="36576" marB="36576" anchor="ctr">
                    <a:solidFill>
                      <a:srgbClr val="FFFFFF"/>
                    </a:solidFill>
                  </a:tcPr>
                </a:tc>
                <a:tc>
                  <a:txBody>
                    <a:bodyPr/>
                    <a:lstStyle/>
                    <a:p>
                      <a:pPr algn="l"/>
                      <a:r>
                        <a:rPr lang="en-US" sz="1500" b="0" dirty="0">
                          <a:solidFill>
                            <a:srgbClr val="000000"/>
                          </a:solidFill>
                          <a:latin typeface="Segoe UI"/>
                        </a:rPr>
                        <a:t>2,9 (1,9 đến 4,0)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Suy tim, n (%)</a:t>
                      </a:r>
                    </a:p>
                  </a:txBody>
                  <a:tcPr marL="73152" marR="73152" marT="36576" marB="36576" anchor="ctr">
                    <a:solidFill>
                      <a:srgbClr val="FFFFFF"/>
                    </a:solidFill>
                  </a:tcPr>
                </a:tc>
                <a:tc>
                  <a:txBody>
                    <a:bodyPr/>
                    <a:lstStyle/>
                    <a:p>
                      <a:pPr algn="l"/>
                      <a:r>
                        <a:rPr lang="en-US" sz="1500" b="0" dirty="0">
                          <a:solidFill>
                            <a:srgbClr val="000000"/>
                          </a:solidFill>
                          <a:latin typeface="Segoe UI"/>
                        </a:rPr>
                        <a:t>54 (22,0%)</a:t>
                      </a:r>
                    </a:p>
                  </a:txBody>
                  <a:tcPr marL="73152" marR="73152" marT="36576" marB="36576" anchor="ctr">
                    <a:solidFill>
                      <a:srgbClr val="FFFFFF"/>
                    </a:solidFill>
                  </a:tcPr>
                </a:tc>
                <a:tc>
                  <a:txBody>
                    <a:bodyPr/>
                    <a:lstStyle/>
                    <a:p>
                      <a:pPr algn="l"/>
                      <a:r>
                        <a:rPr lang="en-US" sz="1500" b="0" dirty="0">
                          <a:solidFill>
                            <a:srgbClr val="000000"/>
                          </a:solidFill>
                          <a:latin typeface="Segoe UI"/>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Dữ liệu MÔ PHỎNG (gói kết quả Q1, Bảng 1). Câu: 'Bệnh nhân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với bảng kiểm STROBE mở bên cạnh và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'Chúng tôi dùng hồi quy logistic hiệu chỉnh theo SOFA và tuổi.'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'Trong 640 bệnh nhân được sàng lọc, 600 được đưa vào.'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này có thể do bệnh nặng hơn được truyền nhiều dịch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thiếu ở 15% và được quy gán.'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'Tử vong 28 ngày cao hơn khi cân bằng dương (OR ..., KTC 95%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Phương pháp</a:t>
            </a:r>
          </a:p>
          <a:p>
            <a:pPr marL="274320" indent="-274320" algn="l">
              <a:lnSpc>
                <a:spcPct val="104000"/>
              </a:lnSpc>
              <a:spcBef>
                <a:spcPts val="300"/>
              </a:spcBef>
              <a:buFont typeface="Arial"/>
              <a:buChar char="•"/>
            </a:pPr>
            <a:r>
              <a:rPr lang="en-US" sz="1500" dirty="0">
                <a:solidFill>
                  <a:srgbClr val="000000"/>
                </a:solidFill>
                <a:latin typeface="Segoe UI"/>
                <a:cs typeface="Segoe UI"/>
              </a:rPr>
              <a:t>2 Kết quả (đối tượng)</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 (giải thích)</a:t>
            </a:r>
          </a:p>
          <a:p>
            <a:pPr marL="274320" indent="-274320" algn="l">
              <a:lnSpc>
                <a:spcPct val="104000"/>
              </a:lnSpc>
              <a:spcBef>
                <a:spcPts val="300"/>
              </a:spcBef>
              <a:buFont typeface="Arial"/>
              <a:buChar char="•"/>
            </a:pPr>
            <a:r>
              <a:rPr lang="en-US" sz="1500" dirty="0">
                <a:solidFill>
                  <a:srgbClr val="000000"/>
                </a:solidFill>
                <a:latin typeface="Segoe UI"/>
                <a:cs typeface="Segoe UI"/>
              </a:rPr>
              <a:t>4 Phương pháp (+ Kết quả: bao nhiêu)</a:t>
            </a:r>
          </a:p>
          <a:p>
            <a:pPr marL="274320" indent="-274320" algn="l">
              <a:lnSpc>
                <a:spcPct val="104000"/>
              </a:lnSpc>
              <a:spcBef>
                <a:spcPts val="300"/>
              </a:spcBef>
              <a:buFont typeface="Arial"/>
              <a:buChar char="•"/>
            </a:pPr>
            <a:r>
              <a:rPr lang="en-US" sz="1500" dirty="0">
                <a:solidFill>
                  <a:srgbClr val="000000"/>
                </a:solidFill>
                <a:latin typeface="Segoe UI"/>
                <a:cs typeface="Segoe UI"/>
              </a:rPr>
              <a:t>5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  50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Phương pháp và Kết quả</a:t>
            </a:r>
          </a:p>
          <a:p>
            <a:pPr marL="0" indent="0" algn="ctr">
              <a:spcBef>
                <a:spcPts val="1200"/>
              </a:spcBef>
              <a:buNone/>
            </a:pPr>
            <a:r>
              <a:rPr lang="en-US" sz="1900" i="1" dirty="0">
                <a:solidFill>
                  <a:srgbClr val="595959"/>
                </a:solidFill>
                <a:latin typeface="Segoe UI"/>
                <a:cs typeface="Segoe UI"/>
              </a:rPr>
              <a:t>Khoảng 600 từ, Bảng 1 và một hình hoặc bảng, từ gói kết quả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mươi phút, sáu người, một bản nháp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con số trong bài phải lấy từ gói kết quả: không ai phải tự tính.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soạn Phương pháp +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0-5: đọc gói kết quả; thống nhất kết quả chính trong một câu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5-25: Phương pháp (thiết kế, bối cảnh, đối tượng, biến số, thống kê)</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25-40: Kết quả (đối tượng, Bảng 1, kết quả chính thô + hiệu chỉnh)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40-47: Bảng 1 + một hình/bảng có tiêu đề và chú thích</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47-50: đánh dấu mục STROBE 4-17; kiểm tra từng con số</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a:t>
            </a:r>
          </a:p>
          <a:p>
            <a:pPr marL="274320" indent="-274320" algn="l">
              <a:lnSpc>
                <a:spcPct val="104000"/>
              </a:lnSpc>
              <a:spcBef>
                <a:spcPts val="300"/>
              </a:spcBef>
              <a:buFont typeface="Arial"/>
              <a:buChar char="•"/>
            </a:pPr>
            <a:r>
              <a:rPr lang="en-US" sz="1500" dirty="0">
                <a:solidFill>
                  <a:srgbClr val="000000"/>
                </a:solidFill>
                <a:latin typeface="Segoe UI"/>
                <a:cs typeface="Segoe UI"/>
              </a:rPr>
              <a:t>Gói kết quả (Q1-Q5)</a:t>
            </a:r>
          </a:p>
          <a:p>
            <a:pPr marL="274320" indent="-274320" algn="l">
              <a:lnSpc>
                <a:spcPct val="104000"/>
              </a:lnSpc>
              <a:spcBef>
                <a:spcPts val="300"/>
              </a:spcBef>
              <a:buFont typeface="Arial"/>
              <a:buChar char="•"/>
            </a:pPr>
            <a:r>
              <a:rPr lang="en-US" sz="1500" dirty="0">
                <a:solidFill>
                  <a:srgbClr val="000000"/>
                </a:solidFill>
                <a:latin typeface="Segoe UI"/>
                <a:cs typeface="Segoe UI"/>
              </a:rPr>
              <a:t>Mẫu bản thảo</a:t>
            </a:r>
          </a:p>
          <a:p>
            <a:pPr marL="274320" indent="-274320" algn="l">
              <a:lnSpc>
                <a:spcPct val="104000"/>
              </a:lnSpc>
              <a:spcBef>
                <a:spcPts val="300"/>
              </a:spcBef>
              <a:buFont typeface="Arial"/>
              <a:buChar char="•"/>
            </a:pPr>
            <a:r>
              <a:rPr lang="en-US" sz="1500" dirty="0">
                <a:solidFill>
                  <a:srgbClr val="000000"/>
                </a:solidFill>
                <a:latin typeface="Segoe UI"/>
                <a:cs typeface="Segoe UI"/>
              </a:rPr>
              <a:t>Ví dụ mẫu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STROBE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Phương pháp + Kết quả (~600 từ) + Bảng 1 + một hình/bảng, đã lưu và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Chấp thuận trì hoãn</a:t>
                      </a:r>
                    </a:p>
                  </a:txBody>
                  <a:tcPr marL="73152" marR="73152" marT="36576" marB="36576" anchor="ctr">
                    <a:solidFill>
                      <a:srgbClr val="FFFFFF"/>
                    </a:solidFill>
                  </a:tcPr>
                </a:tc>
                <a:tc>
                  <a:txBody>
                    <a:bodyPr/>
                    <a:lstStyle/>
                    <a:p>
                      <a:pPr algn="l"/>
                      <a:r>
                        <a:rPr lang="en-US" sz="1500" b="0" dirty="0">
                          <a:solidFill>
                            <a:srgbClr val="000000"/>
                          </a:solidFill>
                          <a:latin typeface="Segoe UI"/>
                        </a:rPr>
                        <a:t>Cấp cứu: đưa vào trước, xin chấp thuận sớm nhất có thể (hội đồng đã duyệt)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Đăng ký</a:t>
                      </a:r>
                    </a:p>
                  </a:txBody>
                  <a:tcPr marL="73152" marR="73152" marT="36576" marB="36576" anchor="ctr">
                    <a:solidFill>
                      <a:srgbClr val="FFFFFF"/>
                    </a:solidFill>
                  </a:tcPr>
                </a:tc>
                <a:tc>
                  <a:txBody>
                    <a:bodyPr/>
                    <a:lstStyle/>
                    <a:p>
                      <a:pPr algn="l"/>
                      <a:r>
                        <a:rPr lang="en-US" sz="1500" b="0" dirty="0">
                          <a:solidFill>
                            <a:srgbClr val="000000"/>
                          </a:solidFill>
                          <a:latin typeface="Segoe UI"/>
                        </a:rPr>
                        <a:t>Hồ sơ công khai về nghiên cứu trước bệnh nhân 1 (bắt buộc với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FFP</a:t>
                      </a:r>
                    </a:p>
                  </a:txBody>
                  <a:tcPr marL="73152" marR="73152" marT="36576" marB="36576" anchor="ctr">
                    <a:solidFill>
                      <a:srgbClr val="FFFFFF"/>
                    </a:solidFill>
                  </a:tcPr>
                </a:tc>
                <a:tc>
                  <a:txBody>
                    <a:bodyPr/>
                    <a:lstStyle/>
                    <a:p>
                      <a:pPr algn="l"/>
                      <a:r>
                        <a:rPr lang="en-US" sz="1500" b="0" dirty="0">
                          <a:solidFill>
                            <a:srgbClr val="000000"/>
                          </a:solidFill>
                          <a:latin typeface="Segoe UI"/>
                        </a:rPr>
                        <a:t>Sai phạm nghiên cứu: bịa đặt, xuyên tạc, đạo văn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Tiêu chí ICMJE / CRediT</a:t>
                      </a:r>
                    </a:p>
                  </a:txBody>
                  <a:tcPr marL="73152" marR="73152" marT="36576" marB="36576" anchor="ctr">
                    <a:solidFill>
                      <a:srgbClr val="FFFFFF"/>
                    </a:solidFill>
                  </a:tcPr>
                </a:tc>
                <a:tc>
                  <a:txBody>
                    <a:bodyPr/>
                    <a:lstStyle/>
                    <a:p>
                      <a:pPr algn="l"/>
                      <a:r>
                        <a:rPr lang="en-US" sz="1500" b="0" dirty="0">
                          <a:solidFill>
                            <a:srgbClr val="000000"/>
                          </a:solidFill>
                          <a:latin typeface="Segoe UI"/>
                        </a:rPr>
                        <a:t>Ai được đứng tên tác giả / ai làm gì</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Xung đột lợi ích</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có thể bị xem là ảnh hưởng đến nhận định. Hãy khai báo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STROBE</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kiểm báo cáo nghiên cứu quan sát: Phương pháp mục 4-12, Kết quả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 cho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Ba thông điệp mang về (bên cạnh danh sách này)</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Trong tuần: hoàn thiện Đề cương Phần 4 và 6 slide trình bày</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Trong tuần: đọc to bản nháp Phương pháp + Kết quả một lần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Thứ Bảy tuần sau: Đặt vấn đề, Bàn luận, Tóm tắt, Tiêu đề, rồi trình bày</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Mang về</a:t>
            </a:r>
          </a:p>
          <a:p>
            <a:pPr marL="274320" indent="-274320" algn="l">
              <a:lnSpc>
                <a:spcPct val="104000"/>
              </a:lnSpc>
              <a:spcBef>
                <a:spcPts val="300"/>
              </a:spcBef>
              <a:buFont typeface="Arial"/>
              <a:buChar char="•"/>
            </a:pPr>
            <a:r>
              <a:rPr lang="en-US" sz="1500" dirty="0">
                <a:solidFill>
                  <a:srgbClr val="000000"/>
                </a:solidFill>
                <a:latin typeface="Segoe UI"/>
                <a:cs typeface="Segoe UI"/>
              </a:rPr>
              <a:t>Chưa phê duyệt thì không có dữ liệu, kể cả 'vài ca'</a:t>
            </a:r>
          </a:p>
          <a:p>
            <a:pPr marL="274320" indent="-274320" algn="l">
              <a:lnSpc>
                <a:spcPct val="104000"/>
              </a:lnSpc>
              <a:spcBef>
                <a:spcPts val="300"/>
              </a:spcBef>
              <a:buFont typeface="Arial"/>
              <a:buChar char="•"/>
            </a:pPr>
            <a:r>
              <a:rPr lang="en-US" sz="1500" dirty="0">
                <a:solidFill>
                  <a:srgbClr val="000000"/>
                </a:solidFill>
                <a:latin typeface="Segoe UI"/>
                <a:cs typeface="Segoe UI"/>
              </a:rPr>
              <a:t>Mọi tác giả đủ bốn tiêu chí; khai báo mọi lợi ích</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Slide đề cương sẵn sàng; bản nháp Phương pháp + Kết quả đã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Buổi 7</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Tạp chí ngày nay yêu cầu ghi vai trò từng tác giả theo thuật ngữ chuẩn.</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14 vai trò CRediT</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Conceptualization, Methodology</a:t>
            </a:r>
          </a:p>
          <a:p>
            <a:pPr marL="0" indent="0" algn="l">
              <a:lnSpc>
                <a:spcPct val="104000"/>
              </a:lnSpc>
              <a:spcBef>
                <a:spcPts val="400"/>
              </a:spcBef>
              <a:buNone/>
            </a:pPr>
            <a:r>
              <a:rPr lang="en-US" sz="1750" dirty="0">
                <a:solidFill>
                  <a:srgbClr val="000000"/>
                </a:solidFill>
                <a:latin typeface="Segoe UI"/>
                <a:cs typeface="Segoe UI"/>
              </a:rPr>
              <a:t>Investigation, Formal analysis</a:t>
            </a:r>
          </a:p>
          <a:p>
            <a:pPr marL="0" indent="0" algn="l">
              <a:lnSpc>
                <a:spcPct val="104000"/>
              </a:lnSpc>
              <a:spcBef>
                <a:spcPts val="400"/>
              </a:spcBef>
              <a:buNone/>
            </a:pPr>
            <a:r>
              <a:rPr lang="en-US" sz="1750" dirty="0">
                <a:solidFill>
                  <a:srgbClr val="000000"/>
                </a:solidFill>
                <a:latin typeface="Segoe UI"/>
                <a:cs typeface="Segoe UI"/>
              </a:rPr>
              <a:t>Writing – original draft</a:t>
            </a:r>
          </a:p>
          <a:p>
            <a:pPr marL="0" indent="0" algn="l">
              <a:lnSpc>
                <a:spcPct val="104000"/>
              </a:lnSpc>
              <a:spcBef>
                <a:spcPts val="400"/>
              </a:spcBef>
              <a:buNone/>
            </a:pPr>
            <a:r>
              <a:rPr lang="en-US" sz="1750" dirty="0">
                <a:solidFill>
                  <a:srgbClr val="000000"/>
                </a:solidFill>
                <a:latin typeface="Segoe UI"/>
                <a:cs typeface="Segoe UI"/>
              </a:rPr>
              <a:t>Writing – review &amp; editing</a:t>
            </a:r>
          </a:p>
          <a:p>
            <a:pPr marL="0" indent="0" algn="l">
              <a:lnSpc>
                <a:spcPct val="104000"/>
              </a:lnSpc>
              <a:spcBef>
                <a:spcPts val="400"/>
              </a:spcBef>
              <a:buNone/>
            </a:pPr>
            <a:r>
              <a:rPr lang="en-US" sz="1750" dirty="0">
                <a:solidFill>
                  <a:srgbClr val="000000"/>
                </a:solidFill>
                <a:latin typeface="Segoe UI"/>
                <a:cs typeface="Segoe UI"/>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Bài 1 đã làm</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NB: Writing – original draft</a:t>
            </a:r>
          </a:p>
          <a:p>
            <a:pPr marL="0" indent="0" algn="l">
              <a:lnSpc>
                <a:spcPct val="104000"/>
              </a:lnSpc>
              <a:spcBef>
                <a:spcPts val="400"/>
              </a:spcBef>
              <a:buNone/>
            </a:pPr>
            <a:r>
              <a:rPr lang="en-US" sz="1750" dirty="0">
                <a:solidFill>
                  <a:srgbClr val="000000"/>
                </a:solidFill>
                <a:latin typeface="Segoe UI"/>
                <a:cs typeface="Segoe UI"/>
              </a:rPr>
              <a:t>CS: Methodology, Formal analysis</a:t>
            </a:r>
          </a:p>
          <a:p>
            <a:pPr marL="0" indent="0" algn="l">
              <a:lnSpc>
                <a:spcPct val="104000"/>
              </a:lnSpc>
              <a:spcBef>
                <a:spcPts val="400"/>
              </a:spcBef>
              <a:buNone/>
            </a:pPr>
            <a:r>
              <a:rPr lang="en-US" sz="1750" dirty="0">
                <a:solidFill>
                  <a:srgbClr val="000000"/>
                </a:solidFill>
                <a:latin typeface="Segoe UI"/>
                <a:cs typeface="Segoe UI"/>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Nhóm bạn, hôm nay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Thống nhất danh sách tác giả</a:t>
            </a:r>
          </a:p>
          <a:p>
            <a:pPr marL="0" indent="0" algn="l">
              <a:lnSpc>
                <a:spcPct val="104000"/>
              </a:lnSpc>
              <a:spcBef>
                <a:spcPts val="400"/>
              </a:spcBef>
              <a:buNone/>
            </a:pPr>
            <a:r>
              <a:rPr lang="en-US" sz="1750" dirty="0">
                <a:solidFill>
                  <a:srgbClr val="000000"/>
                </a:solidFill>
                <a:latin typeface="Segoe UI"/>
                <a:cs typeface="Segoe UI"/>
              </a:rPr>
              <a:t>Ghi vai trò từng người</a:t>
            </a:r>
          </a:p>
          <a:p>
            <a:pPr marL="0" indent="0" algn="l">
              <a:lnSpc>
                <a:spcPct val="104000"/>
              </a:lnSpc>
              <a:spcBef>
                <a:spcPts val="400"/>
              </a:spcBef>
              <a:buNone/>
            </a:pPr>
            <a:r>
              <a:rPr lang="en-US" sz="1750" dirty="0">
                <a:solidFill>
                  <a:srgbClr val="000000"/>
                </a:solidFill>
                <a:latin typeface="Segoe UI"/>
                <a:cs typeface="Segoe UI"/>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Vai trò minh bạch ngăn tác giả 'quà tặng'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