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7 (19:30-22:30, giải lao 20:45-21:00). Trước giải lao: đạo đức, liêm chính và Phần 4 đề cương. Sau giải lao: phần Kết quả.</a:t>
            </a:r>
          </a:p>
          <a:p>
            <a:r>
              <a:rPr lang="en-US" sz="1400" b="0" dirty="0"/>
              <a:t>Trước buổi học, gửi email phiếu bài tập, năm gói kết quả, mẫu bản thảo và danh sách cặp bình duyệt.</a:t>
            </a:r>
          </a:p>
          <a:p>
            <a:r>
              <a:rPr lang="en-US" sz="1400" b="0" dirty="0"/>
              <a:t>Nếu thiếu giờ, bỏ slide bổ sung, không bỏ phần thực hành.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(19:30-19:40). Mở đầu bằng hai hoặc ba câu trả lời cuối Buổi 6.</a:t>
            </a:r>
          </a:p>
          <a:p>
            <a:r>
              <a:rPr lang="en-US" sz="1400" b="0" dirty="0"/>
              <a:t>Câu 1-4: mỗi câu 30 giây, mời hai hoặc ba người, rồi mở đáp án. Câu 1 dẫn vào bài hôm nay: phần Kết quả báo cáo cả ước lượng thô và đã hiệu chỉnh.</a:t>
            </a:r>
          </a:p>
          <a:p>
            <a:r>
              <a:rPr lang="en-US" sz="1400" b="0" dirty="0"/>
              <a:t>Câu 5 trong khung chat: kết quả chính của câu hỏi mỗi người đã chọn. Ai chưa chọn thì chọn ngay bây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sản phẩm cá nhân. Đề cương: Phần 4 hôm nay, nộp vào thứ Bảy tuần sau.</a:t>
            </a:r>
          </a:p>
          <a:p>
            <a:r>
              <a:rPr lang="en-US" sz="1400" b="0" dirty="0"/>
              <a:t>Phần Kết quả: chúng tôi đưa kết quả cho câu hỏi của mỗi người, họ viết một phần Kết quả sẵn sàng để nộp. Phương pháp, Đặt vấn đề, Bàn luận và Tóm tắt không bắt buộc.</a:t>
            </a:r>
          </a:p>
          <a:p>
            <a:r>
              <a:rPr lang="en-US" sz="1400" b="0" dirty="0"/>
              <a:t>Hỏi: bạn đã chọn câu hỏi nào (Q1-Q5)?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7.1 (19:40-20:10). Mười slide, khoảng 3 phút mỗi slide.</a:t>
            </a:r>
          </a:p>
          <a:p>
            <a:r>
              <a:rPr lang="en-US" sz="1400" b="0" dirty="0"/>
              <a:t>Dành nhiều thời gian nhất cho sự đồng ý ở ICU: đó là vấn đề thật ở khoa của chúng ta.</a:t>
            </a:r>
          </a:p>
          <a:p>
            <a:r>
              <a:rPr lang="en-US" sz="1400" b="0" dirty="0"/>
              <a:t>Mọi nội dung ở đây trở thành một đoạn trong Phần 4 đề cương.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Đề cương chi tiết là toàn bộ kế hoạch, được duyệt trước người bệnh đầu tiên. SPIRIT 2025 là bảng kiểm cho đề cương thử nghiệm.</a:t>
            </a:r>
          </a:p>
          <a:p>
            <a:r>
              <a:rPr lang="en-US" sz="1400" b="0" dirty="0"/>
              <a:t>Đi qua bốn thẻ: đó chính là bốn phần của đề cương.</a:t>
            </a:r>
          </a:p>
          <a:p>
            <a:r>
              <a:rPr lang="en-US" sz="1400" b="0" dirty="0"/>
              <a:t>Bài 1 đăng ký đề cương và SAP trước người bệnh đầu tiên (NCT04947904).</a:t>
            </a:r>
          </a:p>
          <a:p>
            <a:r>
              <a:rPr lang="en-US" sz="1400" b="0" dirty="0"/>
              <a:t>Thăm dò: phần nào trong đề cương của bạn yếu nhất? Kỳ vọng: cỡ mẫu hoặc kế hoạch phân tích.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Helsinki (2024): người tham gia đặt trên mục tiêu tạo tri thức mới. Phê duyệt đạo đức, đồng ý tự nguyện, quyền riêng tư, đăng ký, công bố mọi kết quả.</a:t>
            </a:r>
          </a:p>
          <a:p>
            <a:r>
              <a:rPr lang="en-US" sz="1400" b="0" dirty="0"/>
              <a:t>GCP (ICH E6(R3), 2025): tiêu chuẩn chất lượng cho thử nghiệm. Bài 1, một thử nghiệm học thuật, đã tuân theo.</a:t>
            </a:r>
          </a:p>
          <a:p>
            <a:r>
              <a:rPr lang="en-US" sz="1400" b="0" dirty="0"/>
              <a:t>Thăm dò: điểm nào trong 12 điểm khó nhất ở khoa mình?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sáu bước. Phần lớn cơ sở yêu cầu duyệt khoa học trước.</a:t>
            </a:r>
          </a:p>
          <a:p>
            <a:r>
              <a:rPr lang="en-US" sz="1400" b="0" dirty="0"/>
              <a:t>Hội đồng quyết định hình thức xét duyệt, không phải bạn. Dự trù 1 đến 3 tháng.</a:t>
            </a:r>
          </a:p>
          <a:p>
            <a:r>
              <a:rPr lang="en-US" sz="1400" b="0" dirty="0"/>
              <a:t>Hiểu lầm: 'thu trước, xin sau'. Hội đồng không thể duyệt hồi tố.</a:t>
            </a:r>
          </a:p>
          <a:p>
            <a:r>
              <a:rPr lang="en-US" sz="1400" b="0" dirty="0"/>
              <a:t>Bài 1 ghi số phê duyệt trong phần Phương pháp.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Đăng ký công khai nghiên cứu và kết cục chính trước khi có người tham gia.</a:t>
            </a:r>
          </a:p>
          <a:p>
            <a:r>
              <a:rPr lang="en-US" sz="1400" b="0" dirty="0"/>
              <a:t>Thử nghiệm: bắt buộc. Tổng quan: PROSPERO. Quan sát: khuyến khích.</a:t>
            </a:r>
          </a:p>
          <a:p>
            <a:r>
              <a:rPr lang="en-US" sz="1400" b="0" dirty="0"/>
              <a:t>Bài 1: đăng ký ngày 1/7/2021, người bệnh đầu tiên tháng 9/2021.</a:t>
            </a:r>
          </a:p>
          <a:p>
            <a:r>
              <a:rPr lang="en-US" sz="1400" b="0" dirty="0"/>
              <a:t>Hỏi: nghiên cứu của bạn có cần đăng ký không?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Đồng ý hợp lệ cần đủ bốn: thông tin, hiểu, tự nguyện, có văn bản.</a:t>
            </a:r>
          </a:p>
          <a:p>
            <a:r>
              <a:rPr lang="en-US" sz="1400" b="0" dirty="0"/>
              <a:t>Trong Bài 1, hai người bệnh nhóm chứng rút lui và không được phân tích: quyền của họ được tôn trọng.</a:t>
            </a:r>
          </a:p>
          <a:p>
            <a:r>
              <a:rPr lang="en-US" sz="1400" b="0" dirty="0"/>
              <a:t>Hỏi: ai lấy đồng ý trong nghiên cứu của bạn, và khi nào? Kỳ vọng: một thành viên đã được tập huấn, không phải bác sĩ điều trị đang chịu áp lực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lớn người bệnh ICU không tự quyết định được khi đủ tiêu chuẩn.</a:t>
            </a:r>
          </a:p>
          <a:p>
            <a:r>
              <a:rPr lang="en-US" sz="1400" b="0" dirty="0"/>
              <a:t>Người bệnh, rồi người đại diện hợp pháp, rồi đồng ý trì hoãn chỉ khi hội đồng đã duyệt trước. Bài 1 dùng cách này. Bài 2 được miễn đồng ý vì dùng dữ liệu sổ bộ.</a:t>
            </a:r>
          </a:p>
          <a:p>
            <a:r>
              <a:rPr lang="en-US" sz="1400" b="0" dirty="0"/>
              <a:t>Luật địa phương quy định ai được làm người đại diện.</a:t>
            </a:r>
          </a:p>
          <a:p>
            <a:r>
              <a:rPr lang="en-US" sz="1400" b="0" dirty="0"/>
              <a:t>Hỏi: gia đình từ chối sau khi đã đưa vào? Kỳ vọng: người bệnh rời nghiên cứu.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Mời một người trả lời cho từng người bệnh trước khi mở đáp án.</a:t>
            </a:r>
          </a:p>
          <a:p>
            <a:r>
              <a:rPr lang="en-US" sz="1400" b="0" dirty="0"/>
              <a:t>Ông A: tự đồng ý. Bà B: người đại diện đồng ý, hỏi lại bà khi bà tự quyết được. Ông C: đồng ý trì hoãn, chỉ khi đã được duyệt.</a:t>
            </a:r>
          </a:p>
          <a:p>
            <a:r>
              <a:rPr lang="en-US" sz="1400" b="0" dirty="0"/>
              <a:t>Hiểu lầm: bác sĩ điều trị có thể đồng ý thay người bệnh. Không.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Bảo mật ngay từ thiết kế: mã nghiên cứu, tuổi thay ngày sinh, tháng thay ngày cụ thể.</a:t>
            </a:r>
          </a:p>
          <a:p>
            <a:r>
              <a:rPr lang="en-US" sz="1400" b="0" dirty="0"/>
              <a:t>Tệp khóa mã được giữ riêng, có khóa, chỉ một hoặc hai người có tên được mở.</a:t>
            </a:r>
          </a:p>
          <a:p>
            <a:r>
              <a:rPr lang="en-US" sz="1400" b="0" dirty="0"/>
              <a:t>Không để dữ liệu người bệnh trên điện thoại cá nhân, ứng dụng nhắn tin hay công cụ AI công cộng.</a:t>
            </a:r>
          </a:p>
          <a:p>
            <a:r>
              <a:rPr lang="en-US" sz="1400" b="0" dirty="0"/>
              <a:t>Hỏi: tệp khóa mã của bạn sẽ được giữ ở đâu?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Nếu FLUID-ICU là thật, đoạn đạo đức sẽ trả lời bốn câu hỏi này bằng bốn câu.</a:t>
            </a:r>
          </a:p>
          <a:p>
            <a:r>
              <a:rPr lang="en-US" sz="1400" b="0" dirty="0"/>
              <a:t>Đây là dữ liệu mô phỏng: học viên ghi câu về dữ liệu mô phỏng ngay dưới tên bài, như hướng dẫn bài tập. Chỉ cần đoạn đạo đức nếu viết phần Phương pháp (không bắt buộc).</a:t>
            </a:r>
          </a:p>
          <a:p>
            <a:r>
              <a:rPr lang="en-US" sz="1400" b="0" dirty="0"/>
              <a:t>Hỏi: trong bài báo thật, đoạn này nằm ở đâu? Kỳ vọng: phần Phương pháp.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năm thẻ. Thủ tục đạo đức mất 1-3 tháng. Tuyển chọn luôn lâu hơn dự kiến: Bài 1 sàng lọc 1201 người bệnh để phân nhóm ngẫu nhiên 50.</a:t>
            </a:r>
          </a:p>
          <a:p>
            <a:r>
              <a:rPr lang="en-US" sz="1400" b="0" dirty="0"/>
              <a:t>Quy tắc nhanh: đếm số người bệnh đủ tiêu chuẩn năm ngoái và dự kiến chỉ đưa vào được một phần.</a:t>
            </a:r>
          </a:p>
          <a:p>
            <a:r>
              <a:rPr lang="en-US" sz="1400" b="0" dirty="0"/>
              <a:t>Thăm dò: thẻ nào là rủi ro lớn nhất cho nghiên cứu của bạn?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7.2 (20:10-20:30). Sáu slide, rồi 5 phút thăm dò tình huống.</a:t>
            </a:r>
          </a:p>
          <a:p>
            <a:r>
              <a:rPr lang="en-US" sz="1400" b="0" dirty="0"/>
              <a:t>Giọng điệu: phần lớn vấn đề liêm chính bắt đầu từ những lối tắt nhỏ khi bị áp lực.</a:t>
            </a:r>
          </a:p>
          <a:p>
            <a:r>
              <a:rPr lang="en-US" sz="1400" b="0" dirty="0"/>
              <a:t>Mọi bản nháp phần Kết quả cần có câu công khai sử dụng 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Bịa đặt, làm sai lệch, đạo văn. Sai sót trung thực không phải là vi phạm: hãy sửa công khai.</a:t>
            </a:r>
          </a:p>
          <a:p>
            <a:r>
              <a:rPr lang="en-US" sz="1400" b="0" dirty="0"/>
              <a:t>Kế hoạch chất lượng dữ liệu ở Buổi 5 giúp tránh vô tình làm sai lệch.</a:t>
            </a:r>
          </a:p>
          <a:p>
            <a:r>
              <a:rPr lang="en-US" sz="1400" b="0" dirty="0"/>
              <a:t>Thăm dò: lỗi nào hay gặp nhất trong luận văn? Kỳ vọng: đạo văn.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Công bố trùng lặp đếm cùng người bệnh hai lần. Cắt lát xúc xích che mất bức tranh toàn cảnh. Báo cáo chọn lọc là lý do thử nghiệm phải đăng ký một kết cục chính.</a:t>
            </a:r>
          </a:p>
          <a:p>
            <a:r>
              <a:rPr lang="en-US" sz="1400" b="0" dirty="0"/>
              <a:t>Bài 1 báo cáo thẳng kết cục chính âm tính.</a:t>
            </a:r>
          </a:p>
          <a:p>
            <a:r>
              <a:rPr lang="en-US" sz="1400" b="0" dirty="0"/>
              <a:t>Hỏi: vì sao một thử nghiệm âm tính cần được công bố? Kỳ vọng: sai lệch công bố.</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Tác giả phải đáp ứng đủ bốn tiêu chí ICMJE. Những người khác được ghi trong phần Lời cảm ơn.</a:t>
            </a:r>
          </a:p>
          <a:p>
            <a:r>
              <a:rPr lang="en-US" sz="1400" b="0" dirty="0"/>
              <a:t>Tác giả danh dự: có tên mà không làm. Tác giả ma: làm mà không có tên.</a:t>
            </a:r>
          </a:p>
          <a:p>
            <a:r>
              <a:rPr lang="en-US" sz="1400" b="0" dirty="0"/>
              <a:t>Thăm dò: chỉ thu thập dữ liệu có đủ làm tác giả không? Kỳ vọng: không.</a:t>
            </a:r>
          </a:p>
          <a:p>
            <a:r>
              <a:rPr lang="en-US" sz="1400" b="0" dirty="0"/>
              <a:t>Thống nhất danh sách tác giả ngay từ giai đoạn đề cương.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Có lợi ích là chuyện thường. Che giấu mới là vấn đề. Phần lớn tạp chí dùng mẫu khai báo ICMJE.</a:t>
            </a:r>
          </a:p>
          <a:p>
            <a:r>
              <a:rPr lang="en-US" sz="1400" b="0" dirty="0"/>
              <a:t>Bài 2 nêu nhà tài trợ không tham gia. Bài 1 nêu một khoản tài trợ nội bộ.</a:t>
            </a:r>
          </a:p>
          <a:p>
            <a:r>
              <a:rPr lang="en-US" sz="1400" b="0" dirty="0"/>
              <a:t>Hỏi: năm ngoái một công ty trả tiền đi lại cho bạn. Có khai báo không? Kỳ vọng: còn băn khoăn thì khai báo.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'cung cấp khi có yêu cầu' (cả hai bài) đến kho lưu trữ mở có DOI.</a:t>
            </a:r>
          </a:p>
          <a:p>
            <a:r>
              <a:rPr lang="en-US" sz="1400" b="0" dirty="0"/>
              <a:t>Trước khi chia sẻ: phiếu đồng ý và phê duyệt đạo đức phải cho phép, dữ liệu đã khử định danh, kèm từ điển dữ liệu và mã phân tích.</a:t>
            </a:r>
          </a:p>
          <a:p>
            <a:r>
              <a:rPr lang="en-US" sz="1400" b="0" dirty="0"/>
              <a:t>Hỏi: phiếu đồng ý hôm nay phải ghi gì để mai bạn được chia sẻ dữ liệu?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AI không thể là tác giả. Công khai việc dùng AI và kiểm tra mọi nhận định và tài liệu tham khảo.</a:t>
            </a:r>
          </a:p>
          <a:p>
            <a:r>
              <a:rPr lang="en-US" sz="1400" b="0" dirty="0"/>
              <a:t>Không bao giờ dán dữ liệu người bệnh hay bản thảo bạn đang bình duyệt vào công cụ AI công cộng.</a:t>
            </a:r>
          </a:p>
          <a:p>
            <a:r>
              <a:rPr lang="en-US" sz="1400" b="0" dirty="0"/>
              <a:t>Hỏi: một đồng nghiệp nhờ chatbot viết phần Bàn luận và nộp mà không đọc. Vi phạm những quy tắc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đố (20:25-20:30). Tình huống và đáp án: s7_exercises_VN Phần A và s7_solutions_VN.</a:t>
            </a:r>
          </a:p>
          <a:p>
            <a:r>
              <a:rPr lang="en-US" sz="1400" b="0" dirty="0"/>
              <a:t>Dùng tình huống 1 (đỏ, bịa đặt), 3 (đỏ, tác giả danh dự) và 4 (xanh nếu chỉnh tiếng Anh có kiểm tra và công khai, đỏ với bảng tính người bệnh).</a:t>
            </a:r>
          </a:p>
          <a:p>
            <a:r>
              <a:rPr lang="en-US" sz="1400" b="0" dirty="0"/>
              <a:t>Mời một người ở màu đông nhất và một người ở màu ít nhất nêu lý do.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7 (20:30-20:45). Điền trực tiếp Phần B cho ví dụ xuyên suốt. Đáp án: s7_solutions_VN Phần B.</a:t>
            </a:r>
          </a:p>
          <a:p>
            <a:r>
              <a:rPr lang="en-US" sz="1400" b="0" dirty="0"/>
              <a:t>Chú ý: 'sẽ lấy đồng ý' mà không nói ai và khi nào, cho rằng hồi cứu hồ sơ được miễn duyệt, lấy số tuyển chọn từ cỡ mẫu, chọn CONSORT cho thuần tập.</a:t>
            </a:r>
          </a:p>
          <a:p>
            <a:r>
              <a:rPr lang="en-US" sz="1400" b="0" dirty="0"/>
              <a:t>Về nhà: Phần 4 đề cương của mình. Ai muốn trình bày thì gửi email cho trưởng khóa học trước thứ Tư trước Buổi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(20:45-21:00). Nói: 21:00 bắt đầu lại với phần Kết quả. Mở gói kết quả của bạn và mẫu bản thảo.</a:t>
            </a:r>
          </a:p>
          <a:p>
            <a:r>
              <a:rPr lang="en-US" sz="1400" b="0" dirty="0"/>
              <a:t>Chuẩn bị màn hình: mẫu bản thảo và gói kết quả Q1 cạnh nhau.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7.3 (21:00-21:35). Chín slide và 3 phút kiểm tra.</a:t>
            </a:r>
          </a:p>
          <a:p>
            <a:r>
              <a:rPr lang="en-US" sz="1400" b="0" dirty="0"/>
              <a:t>Các slide về Kết quả và ví dụ mẫu là trọng tâm. Các slide về Phương pháp ngắn hơn: Phương pháp không bắt buộc trong bản thảo.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Người viết bắt đầu từ bằng chứng: bảng trước, tên bài sau cùng.</a:t>
            </a:r>
          </a:p>
          <a:p>
            <a:r>
              <a:rPr lang="en-US" sz="1400" b="0" dirty="0"/>
              <a:t>Với FLUID-ICU, các bảng đã có trong gói kết quả, nên phần Kết quả của bạn bắt đầu từ đó.</a:t>
            </a:r>
          </a:p>
          <a:p>
            <a:r>
              <a:rPr lang="en-US" sz="1400" b="0" dirty="0"/>
              <a:t>Hiểu lầm: 'phải viết xong Đặt vấn đề mới bắt đầu được'.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Phương pháp: đủ chi tiết để làm lại nghiên cứu, theo thứ tự STROBE.</a:t>
            </a:r>
          </a:p>
          <a:p>
            <a:r>
              <a:rPr lang="en-US" sz="1400" b="0" dirty="0"/>
              <a:t>Tốt: Bài 1 mô tả can thiệp đủ để làm lại. Cần sửa: Bài 2 không nói biến hiệu chỉnh bị thiếu được xử lý thế nào.</a:t>
            </a:r>
          </a:p>
          <a:p>
            <a:r>
              <a:rPr lang="en-US" sz="1400" b="0" dirty="0"/>
              <a:t>Phương pháp không bắt buộc trong bản thảo: mọi thông tin có trong gói kết quả, SAP và từ điển dữ liệu.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Dành cho ai viết phần Phương pháp (không bắt buộc). Mỗi mục STROBE một câu, tất cả từ gói kết quả Q1, mục 2.</a:t>
            </a:r>
          </a:p>
          <a:p>
            <a:r>
              <a:rPr lang="en-US" sz="1400" b="0" dirty="0"/>
              <a:t>Mục 10: với thuần tập có sẵn, ghi là mọi người bệnh đủ tiêu chuẩn đều được đưa vào.</a:t>
            </a:r>
          </a:p>
          <a:p>
            <a:r>
              <a:rPr lang="en-US" sz="1400" b="0" dirty="0"/>
              <a:t>Hỏi: câu nào người đọc cần để làm lại nghiên cứu? Kỳ vọng: cách tính cân bằng dịch.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STROBE 12 cho Q1. Các biến hiệu chỉnh được chọn trong SAP trước khi xem dữ liệu.</a:t>
            </a:r>
          </a:p>
          <a:p>
            <a:r>
              <a:rPr lang="en-US" sz="1400" b="0" dirty="0"/>
              <a:t>Mỗi con số trong phần Kết quả phải truy được về một câu ở đây. Người phản biện đọc đoạn này đầu tiên.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Bốn quy tắc. Người tham gia trước, kèm lưu đồ. Tác động kèm KTC 95%, không viết 'p = 0.42, không có ý nghĩa'. Không bình luận. Mỗi số một chỗ, và văn bản phải khớp với bảng: văn bản và Bảng 1 của Bài 1 mâu thuẫn về creatinine.</a:t>
            </a:r>
          </a:p>
          <a:p>
            <a:r>
              <a:rPr lang="en-US" sz="1400" b="0" dirty="0"/>
              <a:t>Trước khi nộp, đối chiếu mọi con số với gói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Mọi con số từ gói kết quả Q1 (mô phỏng). Mỗi mục STROBE một câu, từ 13 đến 17.</a:t>
            </a:r>
          </a:p>
          <a:p>
            <a:r>
              <a:rPr lang="en-US" sz="1400" b="0" dirty="0"/>
              <a:t>Chỉ ra những gì không có: không 'vì', không 'có ý nghĩa', không giải thích vì sao OR nhỏ lại. Điều đó thuộc về phần Bàn luận.</a:t>
            </a:r>
          </a:p>
          <a:p>
            <a:r>
              <a:rPr lang="en-US" sz="1400" b="0" dirty="0"/>
              <a:t>Thăm dò: mục nào yêu cầu ước lượng thô và đã hiệu chỉnh? Kỳ vọng: 16.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phải tự đọc hiểu được: tên bảng nói cái gì, ai, khi nào, n mỗi cột, đơn vị và cách tóm tắt ở mỗi dòng, chú thích chữ viết tắt và dữ liệu thiếu.</a:t>
            </a:r>
          </a:p>
          <a:p>
            <a:r>
              <a:rPr lang="en-US" sz="1400" b="0" dirty="0"/>
              <a:t>Lỗi trong hai bài: sai đơn vị (Bài 1), không có số người còn nguy cơ dưới đường Kaplan-Meier (Bài 2).</a:t>
            </a:r>
          </a:p>
          <a:p>
            <a:r>
              <a:rPr lang="en-US" sz="1400" b="0" dirty="0"/>
              <a:t>Hỏi: bảng có tên 'Kết quả' thì sai ở đâu?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Bảng 1 thành một câu Kết quả (STROBE 14): 'Người bệnh có cân bằng dương nặng hơn lúc ban đầu (trung vị SOFA 8 so với 6, vận mạch 55.0% so với 24.9%) và ít bị suy tim hơn (11.5% so với 22.0%).'</a:t>
            </a:r>
          </a:p>
          <a:p>
            <a:r>
              <a:rPr lang="en-US" sz="1400" b="0" dirty="0"/>
              <a:t>Câu này mô tả, không kiểm định: không cần giá trị 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FLUID-ICU là thuần tập, nên theo STROBE. Phần Kết quả gồm mục 13 đến 17.</a:t>
            </a:r>
          </a:p>
          <a:p>
            <a:r>
              <a:rPr lang="en-US" sz="1400" b="0" dirty="0"/>
              <a:t>Hay bị quên nhất: mục 16 (thô và đã hiệu chỉnh, kèm các biến hiệu chỉnh) và dữ liệu thiếu.</a:t>
            </a:r>
          </a:p>
          <a:p>
            <a:r>
              <a:rPr lang="en-US" sz="1400" b="0" dirty="0"/>
              <a:t>Thăm dò: mục nào ứng với Bảng 1? Kỳ vọng: 14.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(21:32-21:35). Mỗi câu một thăm dò.</a:t>
            </a:r>
          </a:p>
          <a:p>
            <a:r>
              <a:rPr lang="en-US" sz="1400" b="0" dirty="0"/>
              <a:t>Câu 4 là câu bẫy: xử lý dữ liệu thiếu thế nào thuộc Phương pháp, thiếu bao nhiêu thuộc Kết quả.</a:t>
            </a:r>
          </a:p>
          <a:p>
            <a:r>
              <a:rPr lang="en-US" sz="1400" b="0" dirty="0"/>
              <a:t>Câu 3 là lỗi kinh điển: bình luận trong phần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bản thảo 1 (21:35-22:20).</a:t>
            </a:r>
          </a:p>
          <a:p>
            <a:r>
              <a:rPr lang="en-US" sz="1400" b="0" dirty="0"/>
              <a:t>Phần 1: bạn viết trực tiếp phần Kết quả của Q1, mời học viên đề xuất từng câu. Phần 2: mỗi học viên bắt đầu phần Kết quả cho câu hỏi của mình.</a:t>
            </a:r>
          </a:p>
          <a:p>
            <a:r>
              <a:rPr lang="en-US" sz="1400" b="0" dirty="0"/>
              <a:t>Hướng dẫn: s7_exercises_VN Phần C. Văn bản mẫu: s7_solutions_VN Phần C (dùng để định hướng, không dán vào).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1 (21:35-22:05). Để đồng hồ đếm giờ trên màn hình.</a:t>
            </a:r>
          </a:p>
          <a:p>
            <a:r>
              <a:rPr lang="en-US" sz="1400" b="0" dirty="0"/>
              <a:t>Thứ tự: lưu đồ, câu về Bảng 1, số tử vong mỗi nhóm, OR thô và hiệu chỉnh, HR Cox và quy gán.</a:t>
            </a:r>
          </a:p>
          <a:p>
            <a:r>
              <a:rPr lang="en-US" sz="1400" b="0" dirty="0"/>
              <a:t>Câu gợi ý: 'Có con số nào thiếu KTC không?' 'Có tính từ nào nên thay bằng con số?' 'Có bình luận nào không?'</a:t>
            </a:r>
          </a:p>
          <a:p>
            <a:r>
              <a:rPr lang="en-US" sz="1400" b="0" dirty="0"/>
              <a:t>Khoảng 300 từ. Gửi bản nháp của lớp dạng PDF sau buổi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2 (22:05-22:20). Mỗi người tự viết. Trả lời câu hỏi trong khung chat.</a:t>
            </a:r>
          </a:p>
          <a:p>
            <a:r>
              <a:rPr lang="en-US" sz="1400" b="0" dirty="0"/>
              <a:t>Q1: viết lại bằng lời của mình, không chép bản nháp của lớp. Q3: số ngày không thở máy tính tử vong là 0. Q4: báo cáo cả ước lượng trường hợp đầy đủ và quy gán. Q5: chỉ người sống sót, trung vị và IQR.</a:t>
            </a:r>
          </a:p>
          <a:p>
            <a:r>
              <a:rPr lang="en-US" sz="1400" b="0" dirty="0"/>
              <a:t>Có thể thêm các phần không bắt buộc nếu còn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(22:20-22:22). Chiếu thuật ngữ, mời một người giải thích, rồi mở cột bên phải.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Bình duyệt (22:22-22:24). Chiếu danh sách cặp bình duyệt và nói rõ đã bốc thăm ngẫu nhiên. Mỗi người bình duyệt một bản nháp và nhận một bản bình duyệt.</a:t>
            </a:r>
          </a:p>
          <a:p>
            <a:r>
              <a:rPr lang="en-US" sz="1400" b="0" dirty="0"/>
              <a:t>Gửi bản nháp thẳng cho người bình duyệt giúp tiết kiệm thời gian: bản bình duyệt nộp sau hai tuần, bản sửa sau đó bốn tuần.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(22:24-22:30). Đọc ba thông điệp và mời một người thêm thông điệp thứ tư.</a:t>
            </a:r>
          </a:p>
          <a:p>
            <a:r>
              <a:rPr lang="en-US" sz="1400" b="0" dirty="0"/>
              <a:t>Đọc các câu trả lời cuối buổi trước Buổi 8 và mở đầu bằng chúng.</a:t>
            </a:r>
          </a:p>
          <a:p>
            <a:r>
              <a:rPr lang="en-US" sz="1400" b="0" dirty="0"/>
              <a:t>Về nhà: Phần 4 đề cương, bản nháp phần Kết quả, 6 slide (Presentation_Guide_VN).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không bắt buộc, dùng khi lớp đi nhanh hoặc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bổ sung. Mỗi tình huống một thăm dò: bắt buộc, nên, hay không cần.</a:t>
            </a:r>
          </a:p>
          <a:p>
            <a:r>
              <a:rPr lang="en-US" sz="1400" b="0" dirty="0"/>
              <a:t>Tình huống 4: kiểm định chất lượng (audit) đi qua phòng quản lý chất lượng, không đăng ký. Nếu muốn công bố như nghiên cứu, hỏi hội đồng đạo đức trước.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IMRaD: Đặt vấn đề thu hẹp về câu hỏi, Bàn luận mở rộng trở lại thực hành.</a:t>
            </a:r>
          </a:p>
          <a:p>
            <a:r>
              <a:rPr lang="en-US" sz="1400" b="0" dirty="0"/>
              <a:t>Đặt vấn đề của Bài 1 là hình phễu ba đoạn, và Bàn luận mở đầu bằng câu trả lời cho câu hỏi.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CRediT nêu ai làm gì (14 vai trò). Nó không thay thế tiêu chí ICMJE.</a:t>
            </a:r>
          </a:p>
          <a:p>
            <a:r>
              <a:rPr lang="en-US" sz="1400" b="0" dirty="0"/>
              <a:t>Bài 1 có tuyên bố CRediT.</a:t>
            </a:r>
          </a:p>
          <a:p>
            <a:r>
              <a:rPr lang="en-US" sz="1400" b="0" dirty="0"/>
              <a:t>Đề nghị mỗi học viên ghi trong đề cương ai sẽ làm gì.</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2.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3.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 Id="rId4" Type="http://schemas.openxmlformats.org/officeDocument/2006/relationships/image" Target="../media/image4.pn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Buổi 7 · Bảo vệ &amp; viết: đạo đức, liêm chính và phần Kết quả</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7 · Thứ Bảy, 19:30-22:30 (trực tuyến)</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Ôn tập: Buổi 6</a:t>
            </a:r>
          </a:p>
          <a:p>
            <a:pPr marL="274320" indent="-274320" algn="l">
              <a:spcBef>
                <a:spcPts val="440"/>
              </a:spcBef>
              <a:buFont typeface="Arial"/>
              <a:buChar char="•"/>
            </a:pPr>
            <a:r>
              <a:rPr lang="en-US" sz="1900" dirty="0">
                <a:solidFill>
                  <a:srgbClr val="000000"/>
                </a:solidFill>
                <a:latin typeface="Arial"/>
                <a:cs typeface="Arial"/>
              </a:rPr>
              <a:t>19:40  7.1  Đề cương chi tiết, đạo đức, sự đồng ý, đăng ký, tính khả thi</a:t>
            </a:r>
          </a:p>
          <a:p>
            <a:pPr marL="274320" indent="-274320" algn="l">
              <a:spcBef>
                <a:spcPts val="440"/>
              </a:spcBef>
              <a:buFont typeface="Arial"/>
              <a:buChar char="•"/>
            </a:pPr>
            <a:r>
              <a:rPr lang="en-US" sz="1900" dirty="0">
                <a:solidFill>
                  <a:srgbClr val="000000"/>
                </a:solidFill>
                <a:latin typeface="Arial"/>
                <a:cs typeface="Arial"/>
              </a:rPr>
              <a:t>20:10  7.2  Liêm chính: quyền tác giả, xung đột lợi ích, chia sẻ dữ liệu, AI</a:t>
            </a:r>
          </a:p>
          <a:p>
            <a:pPr marL="274320" indent="-274320" algn="l">
              <a:spcBef>
                <a:spcPts val="440"/>
              </a:spcBef>
              <a:buFont typeface="Arial"/>
              <a:buChar char="•"/>
            </a:pPr>
            <a:r>
              <a:rPr lang="en-US" sz="1900" dirty="0">
                <a:solidFill>
                  <a:srgbClr val="000000"/>
                </a:solidFill>
                <a:latin typeface="Arial"/>
                <a:cs typeface="Arial"/>
              </a:rPr>
              <a:t>20:30  Xây dựng đề cương 7: đạo đức và kế hoạch công bố</a:t>
            </a:r>
          </a:p>
          <a:p>
            <a:pPr marL="274320" indent="-274320" algn="l">
              <a:spcBef>
                <a:spcPts val="440"/>
              </a:spcBef>
              <a:buFont typeface="Arial"/>
              <a:buChar char="•"/>
            </a:pPr>
            <a:r>
              <a:rPr lang="en-US" sz="1900" dirty="0">
                <a:solidFill>
                  <a:srgbClr val="000000"/>
                </a:solidFill>
                <a:latin typeface="Arial"/>
                <a:cs typeface="Arial"/>
              </a:rPr>
              <a:t>21:00  7.3  Viết bài báo (I): phần Kết quả, bảng, STROBE</a:t>
            </a:r>
          </a:p>
          <a:p>
            <a:pPr marL="274320" indent="-274320" algn="l">
              <a:spcBef>
                <a:spcPts val="440"/>
              </a:spcBef>
              <a:buFont typeface="Arial"/>
              <a:buChar char="•"/>
            </a:pPr>
            <a:r>
              <a:rPr lang="en-US" sz="1900" dirty="0">
                <a:solidFill>
                  <a:srgbClr val="000000"/>
                </a:solidFill>
                <a:latin typeface="Arial"/>
                <a:cs typeface="Arial"/>
              </a:rPr>
              <a:t>21:35  Thực hành bản thảo 1: phần Kết quả, cả lớp cùng viết rồi mỗi người tự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ôn tập: Buổi 6 trong năm câu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OR (tỷ số chênh) thô là 2.1. OR hiệu chỉnh là 1.4. Điều gì đã xảy ra?</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HR (tỷ số nguy cơ tức thời) 0.85, KTC 95% 0.60 đến 1.20: có lợi rõ ràng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bị thiếu ở 15% người bệnh. Nêu một cách xử lý</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Đường cong Kaplan-Meier: người bệnh 'bị kiểm duyệt' nghĩa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FLUID-ICU bạn đã chọn (Q1 đến Q5): kết quả chính là gì? Trả lời trong khung chat</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Nhiễu: một phần liên quan thô là do mức độ nặng</a:t>
            </a:r>
          </a:p>
          <a:p>
            <a:pPr marL="0" indent="0" algn="ctr">
              <a:lnSpc>
                <a:spcPct val="104000"/>
              </a:lnSpc>
              <a:spcBef>
                <a:spcPts val="300"/>
              </a:spcBef>
              <a:buNone/>
            </a:pPr>
            <a:r>
              <a:rPr lang="en-US" sz="1500" dirty="0">
                <a:solidFill>
                  <a:srgbClr val="000000"/>
                </a:solidFill>
                <a:latin typeface="Arial"/>
                <a:cs typeface="Arial"/>
              </a:rPr>
              <a:t>Không: KTC chứa giá trị 1</a:t>
            </a:r>
          </a:p>
          <a:p>
            <a:pPr marL="0" indent="0" algn="ctr">
              <a:lnSpc>
                <a:spcPct val="104000"/>
              </a:lnSpc>
              <a:spcBef>
                <a:spcPts val="300"/>
              </a:spcBef>
              <a:buNone/>
            </a:pPr>
            <a:r>
              <a:rPr lang="en-US" sz="1500" dirty="0">
                <a:solidFill>
                  <a:srgbClr val="000000"/>
                </a:solidFill>
                <a:latin typeface="Arial"/>
                <a:cs typeface="Arial"/>
              </a:rPr>
              <a:t>Phân tích các trường hợp đầy đủ, hoặc quy gán đa bội kèm phân tích độ nhạy</a:t>
            </a:r>
          </a:p>
          <a:p>
            <a:pPr marL="0" indent="0" algn="ctr">
              <a:lnSpc>
                <a:spcPct val="104000"/>
              </a:lnSpc>
              <a:spcBef>
                <a:spcPts val="300"/>
              </a:spcBef>
              <a:buNone/>
            </a:pPr>
            <a:r>
              <a:rPr lang="en-US" sz="1500" dirty="0">
                <a:solidFill>
                  <a:srgbClr val="000000"/>
                </a:solidFill>
                <a:latin typeface="Arial"/>
                <a:cs typeface="Arial"/>
              </a:rPr>
              <a:t>Rời nghiên cứu khi còn sống. Sau đó không biết kết cục</a:t>
            </a:r>
          </a:p>
          <a:p>
            <a:pPr marL="0" indent="0" algn="ctr">
              <a:lnSpc>
                <a:spcPct val="104000"/>
              </a:lnSpc>
              <a:spcBef>
                <a:spcPts val="300"/>
              </a:spcBef>
              <a:buNone/>
            </a:pPr>
            <a:r>
              <a:rPr lang="en-US" sz="1500" dirty="0">
                <a:solidFill>
                  <a:srgbClr val="000000"/>
                </a:solidFill>
                <a:latin typeface="Arial"/>
                <a:cs typeface="Arial"/>
              </a:rPr>
              <a:t>Theo gói kết quả phân tích của bạn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nhớ lại: hiệu chỉnh, KTC, dữ liệu bị thiếu, sống còn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Hôm nay: hoàn thành đề cương, bắt đầu bài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 bộ dữ liệu của khóa học: thuần tập mô phỏng 620 người lớn nhiễm khuẩn huyết ở 4 ICU (Buổi 5-6).</a:t>
            </a:r>
          </a:p>
        </p:txBody>
      </p:sp>
      <p:sp>
        <p:nvSpPr>
          <p:cNvPr id="70" name="CardHead"/>
          <p:cNvSpPr/>
          <p:nvPr/>
        </p:nvSpPr>
        <p:spPr>
          <a:xfrm>
            <a:off x="457200" y="182167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Sản phẩm 1: đề cương của bạn</a:t>
            </a:r>
          </a:p>
        </p:txBody>
      </p:sp>
      <p:sp>
        <p:nvSpPr>
          <p:cNvPr id="71" name="CardBody"/>
          <p:cNvSpPr/>
          <p:nvPr/>
        </p:nvSpPr>
        <p:spPr>
          <a:xfrm>
            <a:off x="457200" y="2461670"/>
            <a:ext cx="3625866" cy="2758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Câu hỏi của chính bạn</a:t>
            </a:r>
          </a:p>
          <a:p>
            <a:pPr marL="0" indent="0" algn="ctr">
              <a:lnSpc>
                <a:spcPct val="104000"/>
              </a:lnSpc>
              <a:spcBef>
                <a:spcPts val="400"/>
              </a:spcBef>
              <a:buNone/>
            </a:pPr>
            <a:r>
              <a:rPr lang="en-US" sz="1750" dirty="0">
                <a:solidFill>
                  <a:srgbClr val="000000"/>
                </a:solidFill>
                <a:latin typeface="Arial"/>
                <a:cs typeface="Arial"/>
              </a:rPr>
              <a:t>Hôm nay: Phần 4 (đạo đức, đăng ký, khả thi, công bố)</a:t>
            </a:r>
          </a:p>
          <a:p>
            <a:pPr marL="0" indent="0" algn="ctr">
              <a:lnSpc>
                <a:spcPct val="104000"/>
              </a:lnSpc>
              <a:spcBef>
                <a:spcPts val="400"/>
              </a:spcBef>
              <a:buNone/>
            </a:pPr>
            <a:r>
              <a:rPr lang="en-US" sz="1750" dirty="0">
                <a:solidFill>
                  <a:srgbClr val="000000"/>
                </a:solidFill>
                <a:latin typeface="Arial"/>
                <a:cs typeface="Arial"/>
              </a:rPr>
              <a:t>Buổi 8: nộp. Khoảng 5 bạn trình bày</a:t>
            </a:r>
          </a:p>
        </p:txBody>
      </p:sp>
      <p:sp>
        <p:nvSpPr>
          <p:cNvPr id="72" name="CardHead"/>
          <p:cNvSpPr/>
          <p:nvPr/>
        </p:nvSpPr>
        <p:spPr>
          <a:xfrm>
            <a:off x="4283066" y="182167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Sản phẩm 2: phần Kết quả của bạn</a:t>
            </a:r>
          </a:p>
        </p:txBody>
      </p:sp>
      <p:sp>
        <p:nvSpPr>
          <p:cNvPr id="73" name="CardBody"/>
          <p:cNvSpPr/>
          <p:nvPr/>
        </p:nvSpPr>
        <p:spPr>
          <a:xfrm>
            <a:off x="4283066" y="2461670"/>
            <a:ext cx="3625866" cy="2758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Câu hỏi FLUID-ICU của bạn (Q1 đến Q5)</a:t>
            </a:r>
          </a:p>
          <a:p>
            <a:pPr marL="0" indent="0" algn="ctr">
              <a:lnSpc>
                <a:spcPct val="104000"/>
              </a:lnSpc>
              <a:spcBef>
                <a:spcPts val="400"/>
              </a:spcBef>
              <a:buNone/>
            </a:pPr>
            <a:r>
              <a:rPr lang="en-US" sz="1750" dirty="0">
                <a:solidFill>
                  <a:srgbClr val="000000"/>
                </a:solidFill>
                <a:latin typeface="Arial"/>
                <a:cs typeface="Arial"/>
              </a:rPr>
              <a:t>Chúng tôi đưa kết quả. Bạn viết</a:t>
            </a:r>
          </a:p>
          <a:p>
            <a:pPr marL="0" indent="0" algn="ctr">
              <a:lnSpc>
                <a:spcPct val="104000"/>
              </a:lnSpc>
              <a:spcBef>
                <a:spcPts val="400"/>
              </a:spcBef>
              <a:buNone/>
            </a:pPr>
            <a:r>
              <a:rPr lang="en-US" sz="1750" dirty="0">
                <a:solidFill>
                  <a:srgbClr val="000000"/>
                </a:solidFill>
                <a:latin typeface="Arial"/>
                <a:cs typeface="Arial"/>
              </a:rPr>
              <a:t>Hôm nay: phần Kết quả, viết trực tiếp trên Q1</a:t>
            </a:r>
          </a:p>
          <a:p>
            <a:pPr marL="0" indent="0" algn="ctr">
              <a:lnSpc>
                <a:spcPct val="104000"/>
              </a:lnSpc>
              <a:spcBef>
                <a:spcPts val="400"/>
              </a:spcBef>
              <a:buNone/>
            </a:pPr>
            <a:r>
              <a:rPr lang="en-US" sz="1750" dirty="0">
                <a:solidFill>
                  <a:srgbClr val="000000"/>
                </a:solidFill>
                <a:latin typeface="Arial"/>
                <a:cs typeface="Arial"/>
              </a:rPr>
              <a:t>Buổi 8: hoàn thiện. Các phần khác không bắt buộc</a:t>
            </a:r>
          </a:p>
        </p:txBody>
      </p:sp>
      <p:sp>
        <p:nvSpPr>
          <p:cNvPr id="74" name="CardHead"/>
          <p:cNvSpPr/>
          <p:nvPr/>
        </p:nvSpPr>
        <p:spPr>
          <a:xfrm>
            <a:off x="8108932" y="182167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Hai bài báo làm ví dụ</a:t>
            </a:r>
          </a:p>
        </p:txBody>
      </p:sp>
      <p:sp>
        <p:nvSpPr>
          <p:cNvPr id="75" name="CardBody"/>
          <p:cNvSpPr/>
          <p:nvPr/>
        </p:nvSpPr>
        <p:spPr>
          <a:xfrm>
            <a:off x="8108932" y="2461670"/>
            <a:ext cx="3625866" cy="2758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Bài 1: Boulet 2024, thử nghiệm ngẫu nhiên, 48 người bệnh</a:t>
            </a:r>
          </a:p>
          <a:p>
            <a:pPr marL="0" indent="0" algn="ctr">
              <a:lnSpc>
                <a:spcPct val="104000"/>
              </a:lnSpc>
              <a:spcBef>
                <a:spcPts val="400"/>
              </a:spcBef>
              <a:buNone/>
            </a:pPr>
            <a:r>
              <a:rPr lang="en-US" sz="1750" dirty="0">
                <a:solidFill>
                  <a:srgbClr val="000000"/>
                </a:solidFill>
                <a:latin typeface="Arial"/>
                <a:cs typeface="Arial"/>
              </a:rPr>
              <a:t>Bài 2: Hyun 2023, thuần tập, 2516 người bệnh</a:t>
            </a:r>
          </a:p>
          <a:p>
            <a:pPr marL="0" indent="0" algn="ctr">
              <a:lnSpc>
                <a:spcPct val="104000"/>
              </a:lnSpc>
              <a:spcBef>
                <a:spcPts val="400"/>
              </a:spcBef>
              <a:buNone/>
            </a:pPr>
            <a:r>
              <a:rPr lang="en-US" sz="1750" dirty="0">
                <a:solidFill>
                  <a:srgbClr val="000000"/>
                </a:solidFill>
                <a:latin typeface="Arial"/>
                <a:cs typeface="Arial"/>
              </a:rPr>
              <a:t>Tệp PDF gửi qua email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giải lao: Đề cương Phần 4. Sau giải lao: phần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7.1  |  30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Đề cương chi tiết, đạo đức và sự đồng ý tham gia</a:t>
            </a:r>
          </a:p>
          <a:p>
            <a:pPr marL="0" indent="0" algn="ctr">
              <a:spcBef>
                <a:spcPts val="1200"/>
              </a:spcBef>
              <a:buNone/>
            </a:pPr>
            <a:r>
              <a:rPr lang="en-US" sz="1900" i="1" dirty="0">
                <a:solidFill>
                  <a:srgbClr val="595959"/>
                </a:solidFill>
                <a:latin typeface="Arial"/>
                <a:cs typeface="Arial"/>
              </a:rPr>
              <a:t>Bảo vệ người bệnh trước khi có dữ liệu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Đề cương chi tiết: bản thiết kế của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Đề cương chi tiết (protocol) = kế hoạch đầy đủ, được duyệt trước người bệnh đầu tiên. Bảng kiểm cho thử nghiệm: SPIRIT 2025.</a:t>
            </a:r>
          </a:p>
        </p:txBody>
      </p:sp>
      <p:sp>
        <p:nvSpPr>
          <p:cNvPr id="70" name="CardHead"/>
          <p:cNvSpPr/>
          <p:nvPr/>
        </p:nvSpPr>
        <p:spPr>
          <a:xfrm>
            <a:off x="457200" y="1969837"/>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và cái gì</a:t>
            </a:r>
          </a:p>
        </p:txBody>
      </p:sp>
      <p:sp>
        <p:nvSpPr>
          <p:cNvPr id="71" name="CardBody"/>
          <p:cNvSpPr/>
          <p:nvPr/>
        </p:nvSpPr>
        <p:spPr>
          <a:xfrm>
            <a:off x="4572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Trang bìa</a:t>
            </a:r>
          </a:p>
          <a:p>
            <a:pPr marL="0" indent="0" algn="ctr">
              <a:lnSpc>
                <a:spcPct val="104000"/>
              </a:lnSpc>
              <a:spcBef>
                <a:spcPts val="400"/>
              </a:spcBef>
              <a:buNone/>
            </a:pPr>
            <a:r>
              <a:rPr lang="en-US" sz="1600" dirty="0">
                <a:solidFill>
                  <a:srgbClr val="000000"/>
                </a:solidFill>
                <a:latin typeface="Arial"/>
                <a:cs typeface="Arial"/>
              </a:rPr>
              <a:t>Tên đề tài, phiên bản, ngày</a:t>
            </a:r>
          </a:p>
          <a:p>
            <a:pPr marL="0" indent="0" algn="ctr">
              <a:lnSpc>
                <a:spcPct val="104000"/>
              </a:lnSpc>
              <a:spcBef>
                <a:spcPts val="400"/>
              </a:spcBef>
              <a:buNone/>
            </a:pPr>
            <a:r>
              <a:rPr lang="en-US" sz="1600" dirty="0">
                <a:solidFill>
                  <a:srgbClr val="000000"/>
                </a:solidFill>
                <a:latin typeface="Arial"/>
                <a:cs typeface="Arial"/>
              </a:rPr>
              <a:t>Số đăng ký</a:t>
            </a:r>
          </a:p>
          <a:p>
            <a:pPr marL="0" indent="0" algn="ctr">
              <a:lnSpc>
                <a:spcPct val="104000"/>
              </a:lnSpc>
              <a:spcBef>
                <a:spcPts val="400"/>
              </a:spcBef>
              <a:buNone/>
            </a:pPr>
            <a:r>
              <a:rPr lang="en-US" sz="1600" dirty="0">
                <a:solidFill>
                  <a:srgbClr val="000000"/>
                </a:solidFill>
                <a:latin typeface="Arial"/>
                <a:cs typeface="Arial"/>
              </a:rPr>
              <a:t>Nhóm, vai trò, kinh phí</a:t>
            </a:r>
          </a:p>
        </p:txBody>
      </p:sp>
      <p:sp>
        <p:nvSpPr>
          <p:cNvPr id="72" name="CardHead"/>
          <p:cNvSpPr/>
          <p:nvPr/>
        </p:nvSpPr>
        <p:spPr>
          <a:xfrm>
            <a:off x="3326600" y="1969837"/>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Tại sao</a:t>
            </a:r>
          </a:p>
        </p:txBody>
      </p:sp>
      <p:sp>
        <p:nvSpPr>
          <p:cNvPr id="73" name="CardBody"/>
          <p:cNvSpPr/>
          <p:nvPr/>
        </p:nvSpPr>
        <p:spPr>
          <a:xfrm>
            <a:off x="33266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Đề cương Phần 1</a:t>
            </a:r>
          </a:p>
          <a:p>
            <a:pPr marL="0" indent="0" algn="ctr">
              <a:lnSpc>
                <a:spcPct val="104000"/>
              </a:lnSpc>
              <a:spcBef>
                <a:spcPts val="400"/>
              </a:spcBef>
              <a:buNone/>
            </a:pPr>
            <a:r>
              <a:rPr lang="en-US" sz="1600" dirty="0">
                <a:solidFill>
                  <a:srgbClr val="000000"/>
                </a:solidFill>
                <a:latin typeface="Arial"/>
                <a:cs typeface="Arial"/>
              </a:rPr>
              <a:t>Vấn đề và lý do</a:t>
            </a:r>
          </a:p>
          <a:p>
            <a:pPr marL="0" indent="0" algn="ctr">
              <a:lnSpc>
                <a:spcPct val="104000"/>
              </a:lnSpc>
              <a:spcBef>
                <a:spcPts val="400"/>
              </a:spcBef>
              <a:buNone/>
            </a:pPr>
            <a:r>
              <a:rPr lang="en-US" sz="1600" dirty="0">
                <a:solidFill>
                  <a:srgbClr val="000000"/>
                </a:solidFill>
                <a:latin typeface="Arial"/>
                <a:cs typeface="Arial"/>
              </a:rPr>
              <a:t>Câu hỏi (PICO)</a:t>
            </a:r>
          </a:p>
          <a:p>
            <a:pPr marL="0" indent="0" algn="ctr">
              <a:lnSpc>
                <a:spcPct val="104000"/>
              </a:lnSpc>
              <a:spcBef>
                <a:spcPts val="400"/>
              </a:spcBef>
              <a:buNone/>
            </a:pPr>
            <a:r>
              <a:rPr lang="en-US" sz="1600" dirty="0">
                <a:solidFill>
                  <a:srgbClr val="000000"/>
                </a:solidFill>
                <a:latin typeface="Arial"/>
                <a:cs typeface="Arial"/>
              </a:rPr>
              <a:t>Mục tiêu, giả thuyết</a:t>
            </a:r>
          </a:p>
        </p:txBody>
      </p:sp>
      <p:sp>
        <p:nvSpPr>
          <p:cNvPr id="74" name="CardHead"/>
          <p:cNvSpPr/>
          <p:nvPr/>
        </p:nvSpPr>
        <p:spPr>
          <a:xfrm>
            <a:off x="6196000" y="1969837"/>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Như thế nào</a:t>
            </a:r>
          </a:p>
        </p:txBody>
      </p:sp>
      <p:sp>
        <p:nvSpPr>
          <p:cNvPr id="75" name="CardBody"/>
          <p:cNvSpPr/>
          <p:nvPr/>
        </p:nvSpPr>
        <p:spPr>
          <a:xfrm>
            <a:off x="61960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Đề cương Phần 2-3</a:t>
            </a:r>
          </a:p>
          <a:p>
            <a:pPr marL="0" indent="0" algn="ctr">
              <a:lnSpc>
                <a:spcPct val="104000"/>
              </a:lnSpc>
              <a:spcBef>
                <a:spcPts val="400"/>
              </a:spcBef>
              <a:buNone/>
            </a:pPr>
            <a:r>
              <a:rPr lang="en-US" sz="1600" dirty="0">
                <a:solidFill>
                  <a:srgbClr val="000000"/>
                </a:solidFill>
                <a:latin typeface="Arial"/>
                <a:cs typeface="Arial"/>
              </a:rPr>
              <a:t>Thiết kế, bối cảnh, đối tượng</a:t>
            </a:r>
          </a:p>
          <a:p>
            <a:pPr marL="0" indent="0" algn="ctr">
              <a:lnSpc>
                <a:spcPct val="104000"/>
              </a:lnSpc>
              <a:spcBef>
                <a:spcPts val="400"/>
              </a:spcBef>
              <a:buNone/>
            </a:pPr>
            <a:r>
              <a:rPr lang="en-US" sz="1600" dirty="0">
                <a:solidFill>
                  <a:srgbClr val="000000"/>
                </a:solidFill>
                <a:latin typeface="Arial"/>
                <a:cs typeface="Arial"/>
              </a:rPr>
              <a:t>Phơi nhiễm, kết cục</a:t>
            </a:r>
          </a:p>
          <a:p>
            <a:pPr marL="0" indent="0" algn="ctr">
              <a:lnSpc>
                <a:spcPct val="104000"/>
              </a:lnSpc>
              <a:spcBef>
                <a:spcPts val="400"/>
              </a:spcBef>
              <a:buNone/>
            </a:pPr>
            <a:r>
              <a:rPr lang="en-US" sz="1600" dirty="0">
                <a:solidFill>
                  <a:srgbClr val="000000"/>
                </a:solidFill>
                <a:latin typeface="Arial"/>
                <a:cs typeface="Arial"/>
              </a:rPr>
              <a:t>Cỡ mẫu, dữ liệu, kế hoạch phân tích</a:t>
            </a:r>
          </a:p>
        </p:txBody>
      </p:sp>
      <p:sp>
        <p:nvSpPr>
          <p:cNvPr id="76" name="CardHead"/>
          <p:cNvSpPr/>
          <p:nvPr/>
        </p:nvSpPr>
        <p:spPr>
          <a:xfrm>
            <a:off x="9065400" y="1969837"/>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vệ và chia sẻ</a:t>
            </a:r>
          </a:p>
        </p:txBody>
      </p:sp>
      <p:sp>
        <p:nvSpPr>
          <p:cNvPr id="77" name="CardBody"/>
          <p:cNvSpPr/>
          <p:nvPr/>
        </p:nvSpPr>
        <p:spPr>
          <a:xfrm>
            <a:off x="90654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Đề cương Phần 4 (hôm nay)</a:t>
            </a:r>
          </a:p>
          <a:p>
            <a:pPr marL="0" indent="0" algn="ctr">
              <a:lnSpc>
                <a:spcPct val="104000"/>
              </a:lnSpc>
              <a:spcBef>
                <a:spcPts val="400"/>
              </a:spcBef>
              <a:buNone/>
            </a:pPr>
            <a:r>
              <a:rPr lang="en-US" sz="1600" dirty="0">
                <a:solidFill>
                  <a:srgbClr val="000000"/>
                </a:solidFill>
                <a:latin typeface="Arial"/>
                <a:cs typeface="Arial"/>
              </a:rPr>
              <a:t>Phê duyệt đạo đức, sự đồng ý</a:t>
            </a:r>
          </a:p>
          <a:p>
            <a:pPr marL="0" indent="0" algn="ctr">
              <a:lnSpc>
                <a:spcPct val="104000"/>
              </a:lnSpc>
              <a:spcBef>
                <a:spcPts val="400"/>
              </a:spcBef>
              <a:buNone/>
            </a:pPr>
            <a:r>
              <a:rPr lang="en-US" sz="1600" dirty="0">
                <a:solidFill>
                  <a:srgbClr val="000000"/>
                </a:solidFill>
                <a:latin typeface="Arial"/>
                <a:cs typeface="Arial"/>
              </a:rPr>
              <a:t>Bảo mật, an toàn dữ liệu</a:t>
            </a:r>
          </a:p>
          <a:p>
            <a:pPr marL="0" indent="0" algn="ctr">
              <a:lnSpc>
                <a:spcPct val="104000"/>
              </a:lnSpc>
              <a:spcBef>
                <a:spcPts val="400"/>
              </a:spcBef>
              <a:buNone/>
            </a:pPr>
            <a:r>
              <a:rPr lang="en-US" sz="1600" dirty="0">
                <a:solidFill>
                  <a:srgbClr val="000000"/>
                </a:solidFill>
                <a:latin typeface="Arial"/>
                <a:cs typeface="Arial"/>
              </a:rPr>
              <a:t>Kế hoạch công bố</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Bốn phần đề cương của bạn chính là khung của một đề cương chi tiết.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Hai bộ nguyên tắc: Helsinki và Thực hành tốt thử nghiệm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8181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Tuyên bố Helsinki (Hiệp hội Y khoa Thế giới, 2024)</a:t>
            </a:r>
          </a:p>
        </p:txBody>
      </p:sp>
      <p:sp>
        <p:nvSpPr>
          <p:cNvPr id="71" name="CardBody"/>
          <p:cNvSpPr/>
          <p:nvPr/>
        </p:nvSpPr>
        <p:spPr>
          <a:xfrm>
            <a:off x="457200" y="2221816"/>
            <a:ext cx="5538800" cy="230455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Quyền và lợi ích của người tham gia trên hết</a:t>
            </a:r>
          </a:p>
          <a:p>
            <a:pPr marL="274320" indent="-274320" algn="l">
              <a:lnSpc>
                <a:spcPct val="104000"/>
              </a:lnSpc>
              <a:spcBef>
                <a:spcPts val="400"/>
              </a:spcBef>
              <a:buFont typeface="Arial"/>
              <a:buChar char="•"/>
            </a:pPr>
            <a:r>
              <a:rPr lang="en-US" sz="1750" dirty="0">
                <a:solidFill>
                  <a:srgbClr val="000000"/>
                </a:solidFill>
                <a:latin typeface="Arial"/>
                <a:cs typeface="Arial"/>
              </a:rPr>
              <a:t>Đề cương được hội đồng đạo đức phê duyệt</a:t>
            </a:r>
          </a:p>
          <a:p>
            <a:pPr marL="274320" indent="-274320" algn="l">
              <a:lnSpc>
                <a:spcPct val="104000"/>
              </a:lnSpc>
              <a:spcBef>
                <a:spcPts val="400"/>
              </a:spcBef>
              <a:buFont typeface="Arial"/>
              <a:buChar char="•"/>
            </a:pPr>
            <a:r>
              <a:rPr lang="en-US" sz="1750" dirty="0">
                <a:solidFill>
                  <a:srgbClr val="000000"/>
                </a:solidFill>
                <a:latin typeface="Arial"/>
                <a:cs typeface="Arial"/>
              </a:rPr>
              <a:t>Đồng ý tự nguyện, có hiểu biết</a:t>
            </a:r>
          </a:p>
          <a:p>
            <a:pPr marL="274320" indent="-274320" algn="l">
              <a:lnSpc>
                <a:spcPct val="104000"/>
              </a:lnSpc>
              <a:spcBef>
                <a:spcPts val="400"/>
              </a:spcBef>
              <a:buFont typeface="Arial"/>
              <a:buChar char="•"/>
            </a:pPr>
            <a:r>
              <a:rPr lang="en-US" sz="1750" dirty="0">
                <a:solidFill>
                  <a:srgbClr val="000000"/>
                </a:solidFill>
                <a:latin typeface="Arial"/>
                <a:cs typeface="Arial"/>
              </a:rPr>
              <a:t>Rủi ro tối thiểu và có lý do chính đáng</a:t>
            </a:r>
          </a:p>
          <a:p>
            <a:pPr marL="274320" indent="-274320" algn="l">
              <a:lnSpc>
                <a:spcPct val="104000"/>
              </a:lnSpc>
              <a:spcBef>
                <a:spcPts val="400"/>
              </a:spcBef>
              <a:buFont typeface="Arial"/>
              <a:buChar char="•"/>
            </a:pPr>
            <a:r>
              <a:rPr lang="en-US" sz="1750" dirty="0">
                <a:solidFill>
                  <a:srgbClr val="000000"/>
                </a:solidFill>
                <a:latin typeface="Arial"/>
                <a:cs typeface="Arial"/>
              </a:rPr>
              <a:t>Quyền riêng tư và bảo mật</a:t>
            </a:r>
          </a:p>
          <a:p>
            <a:pPr marL="274320" indent="-274320" algn="l">
              <a:lnSpc>
                <a:spcPct val="104000"/>
              </a:lnSpc>
              <a:spcBef>
                <a:spcPts val="400"/>
              </a:spcBef>
              <a:buFont typeface="Arial"/>
              <a:buChar char="•"/>
            </a:pPr>
            <a:r>
              <a:rPr lang="en-US" sz="1750" dirty="0">
                <a:solidFill>
                  <a:srgbClr val="000000"/>
                </a:solidFill>
                <a:latin typeface="Arial"/>
                <a:cs typeface="Arial"/>
              </a:rPr>
              <a:t>Đăng ký trước. Công bố tất cả kết quả</a:t>
            </a:r>
          </a:p>
        </p:txBody>
      </p:sp>
      <p:sp>
        <p:nvSpPr>
          <p:cNvPr id="72" name="CardHead"/>
          <p:cNvSpPr/>
          <p:nvPr/>
        </p:nvSpPr>
        <p:spPr>
          <a:xfrm>
            <a:off x="6196000" y="158181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Thực hành tốt thử nghiệm lâm sàng (GCP: ICH E6(R3), 2025)</a:t>
            </a:r>
          </a:p>
        </p:txBody>
      </p:sp>
      <p:sp>
        <p:nvSpPr>
          <p:cNvPr id="73" name="CardBody"/>
          <p:cNvSpPr/>
          <p:nvPr/>
        </p:nvSpPr>
        <p:spPr>
          <a:xfrm>
            <a:off x="6196000" y="2221816"/>
            <a:ext cx="5538800" cy="230455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Nhóm đủ năng lực, được đào tạo</a:t>
            </a:r>
          </a:p>
          <a:p>
            <a:pPr marL="274320" indent="-274320" algn="l">
              <a:lnSpc>
                <a:spcPct val="104000"/>
              </a:lnSpc>
              <a:spcBef>
                <a:spcPts val="400"/>
              </a:spcBef>
              <a:buFont typeface="Arial"/>
              <a:buChar char="•"/>
            </a:pPr>
            <a:r>
              <a:rPr lang="en-US" sz="1750" dirty="0">
                <a:solidFill>
                  <a:srgbClr val="000000"/>
                </a:solidFill>
                <a:latin typeface="Arial"/>
                <a:cs typeface="Arial"/>
              </a:rPr>
              <a:t>Chất lượng được thiết kế từ đầu</a:t>
            </a:r>
          </a:p>
          <a:p>
            <a:pPr marL="274320" indent="-274320" algn="l">
              <a:lnSpc>
                <a:spcPct val="104000"/>
              </a:lnSpc>
              <a:spcBef>
                <a:spcPts val="400"/>
              </a:spcBef>
              <a:buFont typeface="Arial"/>
              <a:buChar char="•"/>
            </a:pPr>
            <a:r>
              <a:rPr lang="en-US" sz="1750" dirty="0">
                <a:solidFill>
                  <a:srgbClr val="000000"/>
                </a:solidFill>
                <a:latin typeface="Arial"/>
                <a:cs typeface="Arial"/>
              </a:rPr>
              <a:t>Đề cương rõ ràng, khả thi</a:t>
            </a:r>
          </a:p>
          <a:p>
            <a:pPr marL="274320" indent="-274320" algn="l">
              <a:lnSpc>
                <a:spcPct val="104000"/>
              </a:lnSpc>
              <a:spcBef>
                <a:spcPts val="400"/>
              </a:spcBef>
              <a:buFont typeface="Arial"/>
              <a:buChar char="•"/>
            </a:pPr>
            <a:r>
              <a:rPr lang="en-US" sz="1750" dirty="0">
                <a:solidFill>
                  <a:srgbClr val="000000"/>
                </a:solidFill>
                <a:latin typeface="Arial"/>
                <a:cs typeface="Arial"/>
              </a:rPr>
              <a:t>Giám sát tương xứng với rủi ro</a:t>
            </a:r>
          </a:p>
          <a:p>
            <a:pPr marL="274320" indent="-274320" algn="l">
              <a:lnSpc>
                <a:spcPct val="104000"/>
              </a:lnSpc>
              <a:spcBef>
                <a:spcPts val="400"/>
              </a:spcBef>
              <a:buFont typeface="Arial"/>
              <a:buChar char="•"/>
            </a:pPr>
            <a:r>
              <a:rPr lang="en-US" sz="1750" dirty="0">
                <a:solidFill>
                  <a:srgbClr val="000000"/>
                </a:solidFill>
                <a:latin typeface="Arial"/>
                <a:cs typeface="Arial"/>
              </a:rPr>
              <a:t>Dữ liệu tin cậy, truy xuất được</a:t>
            </a:r>
          </a:p>
          <a:p>
            <a:pPr marL="274320" indent="-274320" algn="l">
              <a:lnSpc>
                <a:spcPct val="104000"/>
              </a:lnSpc>
              <a:spcBef>
                <a:spcPts val="400"/>
              </a:spcBef>
              <a:buFont typeface="Arial"/>
              <a:buChar char="•"/>
            </a:pPr>
            <a:r>
              <a:rPr lang="en-US" sz="1750" dirty="0">
                <a:solidFill>
                  <a:srgbClr val="000000"/>
                </a:solidFill>
                <a:latin typeface="Arial"/>
                <a:cs typeface="Arial"/>
              </a:rPr>
              <a:t>Vai trò và trách nhiệm rõ ràng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Helsinki nói tại sao bảo vệ người tham gia. GCP nói làm thế nào cho tốt.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Xét duyệt đạo đức: phê duyệt trước khi thu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Dự kiến 1 đến 3 tháng. Hội đồng đặt câu hỏi và yêu cầu chỉnh sửa là chuyện bình thường.</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Chuẩn bị</a:t>
            </a:r>
          </a:p>
        </p:txBody>
      </p:sp>
      <p:sp>
        <p:nvSpPr>
          <p:cNvPr id="81" name="StepText"/>
          <p:cNvSpPr/>
          <p:nvPr/>
        </p:nvSpPr>
        <p:spPr>
          <a:xfrm>
            <a:off x="4972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Đề cương</a:t>
            </a:r>
          </a:p>
          <a:p>
            <a:pPr marL="0" indent="0" algn="ctr">
              <a:lnSpc>
                <a:spcPct val="104000"/>
              </a:lnSpc>
              <a:spcBef>
                <a:spcPts val="200"/>
              </a:spcBef>
              <a:buNone/>
            </a:pPr>
            <a:r>
              <a:rPr lang="en-US" sz="1500" dirty="0">
                <a:solidFill>
                  <a:srgbClr val="000000"/>
                </a:solidFill>
                <a:latin typeface="Arial"/>
                <a:cs typeface="Arial"/>
              </a:rPr>
              <a:t>Phiếu đồng ý tham gia</a:t>
            </a:r>
          </a:p>
          <a:p>
            <a:pPr marL="0" indent="0" algn="ctr">
              <a:lnSpc>
                <a:spcPct val="104000"/>
              </a:lnSpc>
              <a:spcBef>
                <a:spcPts val="200"/>
              </a:spcBef>
              <a:buNone/>
            </a:pPr>
            <a:r>
              <a:rPr lang="en-US" sz="1500" dirty="0">
                <a:solidFill>
                  <a:srgbClr val="000000"/>
                </a:solidFill>
                <a:latin typeface="Arial"/>
                <a:cs typeface="Arial"/>
              </a:rPr>
              <a:t>Phiếu thu thập dữ liệu (CRF)</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Thẩm định</a:t>
            </a:r>
          </a:p>
        </p:txBody>
      </p:sp>
      <p:sp>
        <p:nvSpPr>
          <p:cNvPr id="83" name="StepText"/>
          <p:cNvSpPr/>
          <p:nvPr/>
        </p:nvSpPr>
        <p:spPr>
          <a:xfrm>
            <a:off x="23668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Thẩm định khoa học hoặc cấp khoa trước</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Nộp</a:t>
            </a:r>
          </a:p>
        </p:txBody>
      </p:sp>
      <p:sp>
        <p:nvSpPr>
          <p:cNvPr id="85" name="StepText"/>
          <p:cNvSpPr/>
          <p:nvPr/>
        </p:nvSpPr>
        <p:spPr>
          <a:xfrm>
            <a:off x="42364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Hồ sơ gửi hội đồng đạo đức</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Xét duyệt</a:t>
            </a:r>
          </a:p>
        </p:txBody>
      </p:sp>
      <p:sp>
        <p:nvSpPr>
          <p:cNvPr id="87" name="StepText"/>
          <p:cNvSpPr/>
          <p:nvPr/>
        </p:nvSpPr>
        <p:spPr>
          <a:xfrm>
            <a:off x="61060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Miễn, rút gọn hoặc hội đồng toàn thể</a:t>
            </a:r>
          </a:p>
          <a:p>
            <a:pPr marL="0" indent="0" algn="ctr">
              <a:lnSpc>
                <a:spcPct val="104000"/>
              </a:lnSpc>
              <a:spcBef>
                <a:spcPts val="200"/>
              </a:spcBef>
              <a:buNone/>
            </a:pPr>
            <a:r>
              <a:rPr lang="en-US" sz="1500" dirty="0">
                <a:solidFill>
                  <a:srgbClr val="000000"/>
                </a:solidFill>
                <a:latin typeface="Arial"/>
                <a:cs typeface="Arial"/>
              </a:rPr>
              <a:t>Hội đồng quyết định</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Phê duyệt</a:t>
            </a:r>
          </a:p>
        </p:txBody>
      </p:sp>
      <p:sp>
        <p:nvSpPr>
          <p:cNvPr id="89" name="StepText"/>
          <p:cNvSpPr/>
          <p:nvPr/>
        </p:nvSpPr>
        <p:spPr>
          <a:xfrm>
            <a:off x="79756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Quyết định phê duyệt có số và ngày</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Bắt đầu</a:t>
            </a:r>
          </a:p>
        </p:txBody>
      </p:sp>
      <p:sp>
        <p:nvSpPr>
          <p:cNvPr id="91" name="StepText"/>
          <p:cNvSpPr/>
          <p:nvPr/>
        </p:nvSpPr>
        <p:spPr>
          <a:xfrm>
            <a:off x="98452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Thử nghiệm: đăng ký trước</a:t>
            </a:r>
          </a:p>
          <a:p>
            <a:pPr marL="0" indent="0" algn="ctr">
              <a:lnSpc>
                <a:spcPct val="104000"/>
              </a:lnSpc>
              <a:spcBef>
                <a:spcPts val="200"/>
              </a:spcBef>
              <a:buNone/>
            </a:pPr>
            <a:r>
              <a:rPr lang="en-US" sz="1500" dirty="0">
                <a:solidFill>
                  <a:srgbClr val="000000"/>
                </a:solidFill>
                <a:latin typeface="Arial"/>
                <a:cs typeface="Arial"/>
              </a:rPr>
              <a:t>Rồi mới đến người bệnh đầu tiên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Chưa có quyết định phê duyệt thì không thu thập dữ liệu, kể cả 'vài ca thôi'.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Đăng ký trước người tham gia đầu tiên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Thứ tự: đề cương, phê duyệt đạo đức, đăng ký, người tham gia đầu tiên.</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Thử nghiệm lâm sàng</a:t>
            </a:r>
          </a:p>
        </p:txBody>
      </p:sp>
      <p:sp>
        <p:nvSpPr>
          <p:cNvPr id="71" name="CardBody"/>
          <p:cNvSpPr/>
          <p:nvPr/>
        </p:nvSpPr>
        <p:spPr>
          <a:xfrm>
            <a:off x="457200"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C0392B"/>
                </a:solidFill>
                <a:latin typeface="Arial"/>
                <a:cs typeface="Arial"/>
              </a:rPr>
              <a:t>Bắt buộc</a:t>
            </a:r>
          </a:p>
          <a:p>
            <a:pPr marL="0" indent="0" algn="ctr">
              <a:lnSpc>
                <a:spcPct val="104000"/>
              </a:lnSpc>
              <a:spcBef>
                <a:spcPts val="400"/>
              </a:spcBef>
              <a:buNone/>
            </a:pPr>
            <a:r>
              <a:rPr lang="en-US" sz="1750" dirty="0">
                <a:solidFill>
                  <a:srgbClr val="000000"/>
                </a:solidFill>
                <a:latin typeface="Arial"/>
                <a:cs typeface="Arial"/>
              </a:rPr>
              <a:t>ClinicalTrials.gov hoặc một cơ sở đăng ký chính thức khác của WHO</a:t>
            </a:r>
          </a:p>
          <a:p>
            <a:pPr marL="0" indent="0" algn="ctr">
              <a:lnSpc>
                <a:spcPct val="104000"/>
              </a:lnSpc>
              <a:spcBef>
                <a:spcPts val="400"/>
              </a:spcBef>
              <a:buNone/>
            </a:pPr>
            <a:r>
              <a:rPr lang="en-US" sz="1750" dirty="0">
                <a:solidFill>
                  <a:srgbClr val="000000"/>
                </a:solidFill>
                <a:latin typeface="Arial"/>
                <a:cs typeface="Arial"/>
              </a:rPr>
              <a:t>Bài 1: đăng ký 1/7/2021, người bệnh đầu tiên tháng 9/2021</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Tổng quan hệ thống</a:t>
            </a:r>
          </a:p>
        </p:txBody>
      </p:sp>
      <p:sp>
        <p:nvSpPr>
          <p:cNvPr id="73" name="CardBody"/>
          <p:cNvSpPr/>
          <p:nvPr/>
        </p:nvSpPr>
        <p:spPr>
          <a:xfrm>
            <a:off x="4283066"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D9822B"/>
                </a:solidFill>
                <a:latin typeface="Arial"/>
                <a:cs typeface="Arial"/>
              </a:rPr>
              <a:t>Được yêu cầu</a:t>
            </a:r>
          </a:p>
          <a:p>
            <a:pPr marL="0" indent="0" algn="ctr">
              <a:lnSpc>
                <a:spcPct val="104000"/>
              </a:lnSpc>
              <a:spcBef>
                <a:spcPts val="400"/>
              </a:spcBef>
              <a:buNone/>
            </a:pPr>
            <a:r>
              <a:rPr lang="en-US" sz="1750" dirty="0">
                <a:solidFill>
                  <a:srgbClr val="000000"/>
                </a:solidFill>
                <a:latin typeface="Arial"/>
                <a:cs typeface="Arial"/>
              </a:rPr>
              <a:t>PROSPERO, nơi đăng ký đề cương tổng quan</a:t>
            </a:r>
          </a:p>
          <a:p>
            <a:pPr marL="0" indent="0" algn="ctr">
              <a:lnSpc>
                <a:spcPct val="104000"/>
              </a:lnSpc>
              <a:spcBef>
                <a:spcPts val="400"/>
              </a:spcBef>
              <a:buNone/>
            </a:pPr>
            <a:r>
              <a:rPr lang="en-US" sz="1750" dirty="0">
                <a:solidFill>
                  <a:srgbClr val="000000"/>
                </a:solidFill>
                <a:latin typeface="Arial"/>
                <a:cs typeface="Arial"/>
              </a:rPr>
              <a:t>Trước khi trích xuất dữ liệu</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Nghiên cứu quan sát</a:t>
            </a:r>
          </a:p>
        </p:txBody>
      </p:sp>
      <p:sp>
        <p:nvSpPr>
          <p:cNvPr id="75" name="CardBody"/>
          <p:cNvSpPr/>
          <p:nvPr/>
        </p:nvSpPr>
        <p:spPr>
          <a:xfrm>
            <a:off x="8108932"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Khuyến khích</a:t>
            </a:r>
          </a:p>
          <a:p>
            <a:pPr marL="0" indent="0" algn="ctr">
              <a:lnSpc>
                <a:spcPct val="104000"/>
              </a:lnSpc>
              <a:spcBef>
                <a:spcPts val="400"/>
              </a:spcBef>
              <a:buNone/>
            </a:pPr>
            <a:r>
              <a:rPr lang="en-US" sz="1750" dirty="0">
                <a:solidFill>
                  <a:srgbClr val="000000"/>
                </a:solidFill>
                <a:latin typeface="Arial"/>
                <a:cs typeface="Arial"/>
              </a:rPr>
              <a:t>Ví dụ trên ClinicalTrials.gov</a:t>
            </a:r>
          </a:p>
          <a:p>
            <a:pPr marL="0" indent="0" algn="ctr">
              <a:lnSpc>
                <a:spcPct val="104000"/>
              </a:lnSpc>
              <a:spcBef>
                <a:spcPts val="400"/>
              </a:spcBef>
              <a:buNone/>
            </a:pPr>
            <a:r>
              <a:rPr lang="en-US" sz="1750" dirty="0">
                <a:solidFill>
                  <a:srgbClr val="000000"/>
                </a:solidFill>
                <a:latin typeface="Arial"/>
                <a:cs typeface="Arial"/>
              </a:rPr>
              <a:t>Xem quy định của tạp chí và địa phương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Thử nghiệm: không đăng ký trước người bệnh đầu tiên thì không được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Sự đồng ý tham gia nghiên cứu: bốn yếu tố cốt lõi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Sự đồng ý là một cuộc trao đổi, không chỉ là một chữ ký.</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Được thông tin</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Mục đích, những gì sẽ diễn ra</a:t>
            </a:r>
          </a:p>
          <a:p>
            <a:pPr marL="0" indent="0" algn="ctr">
              <a:lnSpc>
                <a:spcPct val="104000"/>
              </a:lnSpc>
              <a:spcBef>
                <a:spcPts val="400"/>
              </a:spcBef>
              <a:buNone/>
            </a:pPr>
            <a:r>
              <a:rPr lang="en-US" sz="1600" dirty="0">
                <a:solidFill>
                  <a:srgbClr val="000000"/>
                </a:solidFill>
                <a:latin typeface="Arial"/>
                <a:cs typeface="Arial"/>
              </a:rPr>
              <a:t>Rủi ro, lợi ích, lựa chọn khác</a:t>
            </a:r>
          </a:p>
          <a:p>
            <a:pPr marL="0" indent="0" algn="ctr">
              <a:lnSpc>
                <a:spcPct val="104000"/>
              </a:lnSpc>
              <a:spcBef>
                <a:spcPts val="400"/>
              </a:spcBef>
              <a:buNone/>
            </a:pPr>
            <a:r>
              <a:rPr lang="en-US" sz="1600" dirty="0">
                <a:solidFill>
                  <a:srgbClr val="000000"/>
                </a:solidFill>
                <a:latin typeface="Arial"/>
                <a:cs typeface="Arial"/>
              </a:rPr>
              <a:t>Dữ liệu được bảo vệ ra sao</a:t>
            </a:r>
          </a:p>
          <a:p>
            <a:pPr marL="0" indent="0" algn="ctr">
              <a:lnSpc>
                <a:spcPct val="104000"/>
              </a:lnSpc>
              <a:spcBef>
                <a:spcPts val="400"/>
              </a:spcBef>
              <a:buNone/>
            </a:pPr>
            <a:r>
              <a:rPr lang="en-US" sz="1600" dirty="0">
                <a:solidFill>
                  <a:srgbClr val="000000"/>
                </a:solidFill>
                <a:latin typeface="Arial"/>
                <a:cs typeface="Arial"/>
              </a:rPr>
              <a:t>Liên hệ với ai</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Hiểu rõ</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Ngôn ngữ đơn giản, quen thuộc</a:t>
            </a:r>
          </a:p>
          <a:p>
            <a:pPr marL="0" indent="0" algn="ctr">
              <a:lnSpc>
                <a:spcPct val="104000"/>
              </a:lnSpc>
              <a:spcBef>
                <a:spcPts val="400"/>
              </a:spcBef>
              <a:buNone/>
            </a:pPr>
            <a:r>
              <a:rPr lang="en-US" sz="1600" dirty="0">
                <a:solidFill>
                  <a:srgbClr val="000000"/>
                </a:solidFill>
                <a:latin typeface="Arial"/>
                <a:cs typeface="Arial"/>
              </a:rPr>
              <a:t>Có thời gian để hỏi</a:t>
            </a:r>
          </a:p>
          <a:p>
            <a:pPr marL="0" indent="0" algn="ctr">
              <a:lnSpc>
                <a:spcPct val="104000"/>
              </a:lnSpc>
              <a:spcBef>
                <a:spcPts val="400"/>
              </a:spcBef>
              <a:buNone/>
            </a:pPr>
            <a:r>
              <a:rPr lang="en-US" sz="1600" dirty="0">
                <a:solidFill>
                  <a:srgbClr val="000000"/>
                </a:solidFill>
                <a:latin typeface="Arial"/>
                <a:cs typeface="Arial"/>
              </a:rPr>
              <a:t>Nhắc lại: 'bác hãy nói theo cách của bác'</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Tự nguyện</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Không ép buộc</a:t>
            </a:r>
          </a:p>
          <a:p>
            <a:pPr marL="0" indent="0" algn="ctr">
              <a:lnSpc>
                <a:spcPct val="104000"/>
              </a:lnSpc>
              <a:spcBef>
                <a:spcPts val="400"/>
              </a:spcBef>
              <a:buNone/>
            </a:pPr>
            <a:r>
              <a:rPr lang="en-US" sz="1600" dirty="0">
                <a:solidFill>
                  <a:srgbClr val="000000"/>
                </a:solidFill>
                <a:latin typeface="Arial"/>
                <a:cs typeface="Arial"/>
              </a:rPr>
              <a:t>Được từ chối hoặc rút lui</a:t>
            </a:r>
          </a:p>
          <a:p>
            <a:pPr marL="0" indent="0" algn="ctr">
              <a:lnSpc>
                <a:spcPct val="104000"/>
              </a:lnSpc>
              <a:spcBef>
                <a:spcPts val="400"/>
              </a:spcBef>
              <a:buNone/>
            </a:pPr>
            <a:r>
              <a:rPr lang="en-US" sz="1600" dirty="0">
                <a:solidFill>
                  <a:srgbClr val="000000"/>
                </a:solidFill>
                <a:latin typeface="Arial"/>
                <a:cs typeface="Arial"/>
              </a:rPr>
              <a:t>Việc điều trị không bị ảnh hưởng</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Có văn bản</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Phiếu ký tên, ghi ngày</a:t>
            </a:r>
          </a:p>
          <a:p>
            <a:pPr marL="0" indent="0" algn="ctr">
              <a:lnSpc>
                <a:spcPct val="104000"/>
              </a:lnSpc>
              <a:spcBef>
                <a:spcPts val="400"/>
              </a:spcBef>
              <a:buNone/>
            </a:pPr>
            <a:r>
              <a:rPr lang="en-US" sz="1600" dirty="0">
                <a:solidFill>
                  <a:srgbClr val="000000"/>
                </a:solidFill>
                <a:latin typeface="Arial"/>
                <a:cs typeface="Arial"/>
              </a:rPr>
              <a:t>Một bản cho người tham gia</a:t>
            </a:r>
          </a:p>
          <a:p>
            <a:pPr marL="0" indent="0" algn="ctr">
              <a:lnSpc>
                <a:spcPct val="104000"/>
              </a:lnSpc>
              <a:spcBef>
                <a:spcPts val="400"/>
              </a:spcBef>
              <a:buNone/>
            </a:pPr>
            <a:r>
              <a:rPr lang="en-US" sz="1600" dirty="0">
                <a:solidFill>
                  <a:srgbClr val="000000"/>
                </a:solidFill>
                <a:latin typeface="Arial"/>
                <a:cs typeface="Arial"/>
              </a:rPr>
              <a:t>Xin lại sự đồng ý nếu nghiên cứu thay đổi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người bệnh không giải thích lại được nghiên cứu, sự đồng ý chưa dựa trên hiểu biết.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Sự đồng ý trong ICU: khi người bệnh không thể tự quyết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bệnh, rồi người đại diện hợp pháp, rồi đồng ý trì hoãn (chỉ khi được duyệt).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ai đồng ý cho ba người bệnh ICU này?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Đưa từng người bệnh qua sơ đồ ở slide trước.</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Ông A, 54 tuổi</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Viêm phổi, tỉnh, định hướng tốt</a:t>
            </a:r>
          </a:p>
          <a:p>
            <a:pPr marL="0" indent="0" algn="ctr">
              <a:lnSpc>
                <a:spcPct val="104000"/>
              </a:lnSpc>
              <a:spcBef>
                <a:spcPts val="400"/>
              </a:spcBef>
              <a:buNone/>
            </a:pPr>
            <a:r>
              <a:rPr lang="en-US" sz="1750" dirty="0">
                <a:solidFill>
                  <a:srgbClr val="000000"/>
                </a:solidFill>
                <a:latin typeface="Arial"/>
                <a:cs typeface="Arial"/>
              </a:rPr>
              <a:t>Đủ tiêu chuẩn thử nghiệm dịch truyền</a:t>
            </a:r>
          </a:p>
          <a:p>
            <a:pPr marL="0" indent="0" algn="ctr">
              <a:lnSpc>
                <a:spcPct val="104000"/>
              </a:lnSpc>
              <a:spcBef>
                <a:spcPts val="400"/>
              </a:spcBef>
              <a:buNone/>
            </a:pPr>
            <a:r>
              <a:rPr lang="en-US" sz="1750" b="1" dirty="0">
                <a:solidFill>
                  <a:srgbClr val="2E8B57"/>
                </a:solidFill>
                <a:latin typeface="Arial"/>
                <a:cs typeface="Arial"/>
              </a:rPr>
              <a:t>Người bệnh tự đồng ý</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 B, 71 tuổi</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Sốc nhiễm khuẩn, đang an thần</a:t>
            </a:r>
          </a:p>
          <a:p>
            <a:pPr marL="0" indent="0" algn="ctr">
              <a:lnSpc>
                <a:spcPct val="104000"/>
              </a:lnSpc>
              <a:spcBef>
                <a:spcPts val="400"/>
              </a:spcBef>
              <a:buNone/>
            </a:pPr>
            <a:r>
              <a:rPr lang="en-US" sz="1750" dirty="0">
                <a:solidFill>
                  <a:srgbClr val="000000"/>
                </a:solidFill>
                <a:latin typeface="Arial"/>
                <a:cs typeface="Arial"/>
              </a:rPr>
              <a:t>Con gái ở cạnh giường</a:t>
            </a:r>
          </a:p>
          <a:p>
            <a:pPr marL="0" indent="0" algn="ctr">
              <a:lnSpc>
                <a:spcPct val="104000"/>
              </a:lnSpc>
              <a:spcBef>
                <a:spcPts val="400"/>
              </a:spcBef>
              <a:buNone/>
            </a:pPr>
            <a:r>
              <a:rPr lang="en-US" sz="1750" b="1" dirty="0">
                <a:solidFill>
                  <a:srgbClr val="2E8B57"/>
                </a:solidFill>
                <a:latin typeface="Arial"/>
                <a:cs typeface="Arial"/>
              </a:rPr>
              <a:t>Người đại diện đồng ý. Hỏi lại bà B khi tỉnh</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Ông C, 38 tuổi</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Sốc nhiễm khuẩn lúc 3 giờ sáng, chưa có người nhà</a:t>
            </a:r>
          </a:p>
          <a:p>
            <a:pPr marL="0" indent="0" algn="ctr">
              <a:lnSpc>
                <a:spcPct val="104000"/>
              </a:lnSpc>
              <a:spcBef>
                <a:spcPts val="400"/>
              </a:spcBef>
              <a:buNone/>
            </a:pPr>
            <a:r>
              <a:rPr lang="en-US" sz="1750" dirty="0">
                <a:solidFill>
                  <a:srgbClr val="000000"/>
                </a:solidFill>
                <a:latin typeface="Arial"/>
                <a:cs typeface="Arial"/>
              </a:rPr>
              <a:t>Điều trị không thể chờ. Hội đồng đã duyệt</a:t>
            </a:r>
          </a:p>
          <a:p>
            <a:pPr marL="0" indent="0" algn="ctr">
              <a:lnSpc>
                <a:spcPct val="104000"/>
              </a:lnSpc>
              <a:spcBef>
                <a:spcPts val="400"/>
              </a:spcBef>
              <a:buNone/>
            </a:pPr>
            <a:r>
              <a:rPr lang="en-US" sz="1750" b="1" dirty="0">
                <a:solidFill>
                  <a:srgbClr val="D9822B"/>
                </a:solidFill>
                <a:latin typeface="Arial"/>
                <a:cs typeface="Arial"/>
              </a:rPr>
              <a:t>Đồng ý trì hoãn: hỏi sớm nhất có thể</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Quy trình và thời điểm được ghi trong đề cương trước người bệnh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Bảo mật: loại bỏ thông tin định danh trước khi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835750"/>
          <a:ext cx="11277600" cy="21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Mục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Trước: nhận diện được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Sau: đã loại bỏ định danh</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Họ tên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Ana 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Mã nghiên cứu SEP-001</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Mã bệnh án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1084521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Đã xóa</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Ngày sinh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12/03/1956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68 tuổi</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Ngày nhập viện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14/03/2024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Tháng 03/2024</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Cân bằng dịch,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r>
            </a:tbl>
          </a:graphicData>
        </a:graphic>
      </p:graphicFrame>
      <p:sp>
        <p:nvSpPr>
          <p:cNvPr id="31" name="Caption"/>
          <p:cNvSpPr txBox="1"/>
          <p:nvPr/>
        </p:nvSpPr>
        <p:spPr>
          <a:xfrm>
            <a:off x="457200" y="410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Họ tên ở lại khoa. Chỉ mã nghiên cứu được mang đi. Tệp khóa (mã = danh tính) được khóa và lưu riêng. Cẩn thận với nhóm rất nhỏ (n &lt; 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Ví dụ mẫu: đoạn đạo đức cho một nghiên cứu thuần tập như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là dữ liệu mô phỏng. Nếu là thật, bài báo sẽ viết như sau.</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Phê duyệt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Hội đồng đạo đức của từng ICU</a:t>
            </a:r>
          </a:p>
          <a:p>
            <a:pPr marL="0" indent="0" algn="ctr">
              <a:lnSpc>
                <a:spcPct val="104000"/>
              </a:lnSpc>
              <a:spcBef>
                <a:spcPts val="400"/>
              </a:spcBef>
              <a:buNone/>
            </a:pPr>
            <a:r>
              <a:rPr lang="en-US" sz="1600" dirty="0">
                <a:solidFill>
                  <a:srgbClr val="000000"/>
                </a:solidFill>
                <a:latin typeface="Arial"/>
                <a:cs typeface="Arial"/>
              </a:rPr>
              <a:t>Số và ngày phê duyệt</a:t>
            </a:r>
          </a:p>
          <a:p>
            <a:pPr marL="0" indent="0" algn="ctr">
              <a:lnSpc>
                <a:spcPct val="104000"/>
              </a:lnSpc>
              <a:spcBef>
                <a:spcPts val="400"/>
              </a:spcBef>
              <a:buNone/>
            </a:pPr>
            <a:r>
              <a:rPr lang="en-US" sz="1600" dirty="0">
                <a:solidFill>
                  <a:srgbClr val="000000"/>
                </a:solidFill>
                <a:latin typeface="Arial"/>
                <a:cs typeface="Arial"/>
              </a:rPr>
              <a:t>Trước khi thu thập dữ liệu</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Sự đồng ý</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Dữ liệu thường quy, nguy cơ tối thiểu</a:t>
            </a:r>
          </a:p>
          <a:p>
            <a:pPr marL="0" indent="0" algn="ctr">
              <a:lnSpc>
                <a:spcPct val="104000"/>
              </a:lnSpc>
              <a:spcBef>
                <a:spcPts val="400"/>
              </a:spcBef>
              <a:buNone/>
            </a:pPr>
            <a:r>
              <a:rPr lang="en-US" sz="1600" dirty="0">
                <a:solidFill>
                  <a:srgbClr val="000000"/>
                </a:solidFill>
                <a:latin typeface="Arial"/>
                <a:cs typeface="Arial"/>
              </a:rPr>
              <a:t>Hội đồng có thể miễn sự đồng ý (như Bài 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mật</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Chỉ dùng mã nghiên cứu</a:t>
            </a:r>
          </a:p>
          <a:p>
            <a:pPr marL="0" indent="0" algn="ctr">
              <a:lnSpc>
                <a:spcPct val="104000"/>
              </a:lnSpc>
              <a:spcBef>
                <a:spcPts val="400"/>
              </a:spcBef>
              <a:buNone/>
            </a:pPr>
            <a:r>
              <a:rPr lang="en-US" sz="1600" dirty="0">
                <a:solidFill>
                  <a:srgbClr val="000000"/>
                </a:solidFill>
                <a:latin typeface="Arial"/>
                <a:cs typeface="Arial"/>
              </a:rPr>
              <a:t>Tệp khóa lưu ở từng ICU</a:t>
            </a:r>
          </a:p>
          <a:p>
            <a:pPr marL="0" indent="0" algn="ctr">
              <a:lnSpc>
                <a:spcPct val="104000"/>
              </a:lnSpc>
              <a:spcBef>
                <a:spcPts val="400"/>
              </a:spcBef>
              <a:buNone/>
            </a:pPr>
            <a:r>
              <a:rPr lang="en-US" sz="1600" dirty="0">
                <a:solidFill>
                  <a:srgbClr val="000000"/>
                </a:solidFill>
                <a:latin typeface="Arial"/>
                <a:cs typeface="Arial"/>
              </a:rPr>
              <a:t>Loại bỏ định danh trước khi phân tích</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Đăng ký và chia sẻ</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Khuyến khích đăng ký</a:t>
            </a:r>
          </a:p>
          <a:p>
            <a:pPr marL="0" indent="0" algn="ctr">
              <a:lnSpc>
                <a:spcPct val="104000"/>
              </a:lnSpc>
              <a:spcBef>
                <a:spcPts val="400"/>
              </a:spcBef>
              <a:buNone/>
            </a:pPr>
            <a:r>
              <a:rPr lang="en-US" sz="1600" dirty="0">
                <a:solidFill>
                  <a:srgbClr val="000000"/>
                </a:solidFill>
                <a:latin typeface="Arial"/>
                <a:cs typeface="Arial"/>
              </a:rPr>
              <a:t>Tuyên bố chia sẻ dữ liệu</a:t>
            </a:r>
          </a:p>
          <a:p>
            <a:pPr marL="0" indent="0" algn="ctr">
              <a:lnSpc>
                <a:spcPct val="104000"/>
              </a:lnSpc>
              <a:spcBef>
                <a:spcPts val="400"/>
              </a:spcBef>
              <a:buNone/>
            </a:pPr>
            <a:r>
              <a:rPr lang="en-US" sz="1600" dirty="0">
                <a:solidFill>
                  <a:srgbClr val="000000"/>
                </a:solidFill>
                <a:latin typeface="Arial"/>
                <a:cs typeface="Arial"/>
              </a:rPr>
              <a:t>Chia sẻ từ điển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Đoạn đạo đức trong bản thảo trả lời bốn câu hỏi bằng bốn câu.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Tính khả thi: năm câu hỏi trung thực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7865"/>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Thời gian</a:t>
            </a:r>
          </a:p>
        </p:txBody>
      </p:sp>
      <p:sp>
        <p:nvSpPr>
          <p:cNvPr id="71" name="CardBody"/>
          <p:cNvSpPr/>
          <p:nvPr/>
        </p:nvSpPr>
        <p:spPr>
          <a:xfrm>
            <a:off x="45720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Riêng phê duyệt đạo đức: 1 đến 3 tháng</a:t>
            </a:r>
          </a:p>
          <a:p>
            <a:pPr marL="0" indent="0" algn="ctr">
              <a:lnSpc>
                <a:spcPct val="104000"/>
              </a:lnSpc>
              <a:spcBef>
                <a:spcPts val="400"/>
              </a:spcBef>
              <a:buNone/>
            </a:pPr>
            <a:r>
              <a:rPr lang="en-US" sz="1450" dirty="0">
                <a:solidFill>
                  <a:srgbClr val="000000"/>
                </a:solidFill>
                <a:latin typeface="Arial"/>
                <a:cs typeface="Arial"/>
              </a:rPr>
              <a:t>Tuyển chọn luôn lâu hơn dự kiến</a:t>
            </a:r>
          </a:p>
          <a:p>
            <a:pPr marL="0" indent="0" algn="ctr">
              <a:lnSpc>
                <a:spcPct val="104000"/>
              </a:lnSpc>
              <a:spcBef>
                <a:spcPts val="400"/>
              </a:spcBef>
              <a:buNone/>
            </a:pPr>
            <a:r>
              <a:rPr lang="en-US" sz="1450" dirty="0">
                <a:solidFill>
                  <a:srgbClr val="000000"/>
                </a:solidFill>
                <a:latin typeface="Arial"/>
                <a:cs typeface="Arial"/>
              </a:rPr>
              <a:t>Vẽ một biểu đồ Gantt đơn giản</a:t>
            </a:r>
          </a:p>
        </p:txBody>
      </p:sp>
      <p:sp>
        <p:nvSpPr>
          <p:cNvPr id="72" name="CardHead"/>
          <p:cNvSpPr/>
          <p:nvPr/>
        </p:nvSpPr>
        <p:spPr>
          <a:xfrm>
            <a:off x="2752720" y="1727865"/>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Kinh phí</a:t>
            </a:r>
          </a:p>
        </p:txBody>
      </p:sp>
      <p:sp>
        <p:nvSpPr>
          <p:cNvPr id="73" name="CardBody"/>
          <p:cNvSpPr/>
          <p:nvPr/>
        </p:nvSpPr>
        <p:spPr>
          <a:xfrm>
            <a:off x="275272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Thời gian nhân sự</a:t>
            </a:r>
          </a:p>
          <a:p>
            <a:pPr marL="0" indent="0" algn="ctr">
              <a:lnSpc>
                <a:spcPct val="104000"/>
              </a:lnSpc>
              <a:spcBef>
                <a:spcPts val="400"/>
              </a:spcBef>
              <a:buNone/>
            </a:pPr>
            <a:r>
              <a:rPr lang="en-US" sz="1450" dirty="0">
                <a:solidFill>
                  <a:srgbClr val="000000"/>
                </a:solidFill>
                <a:latin typeface="Arial"/>
                <a:cs typeface="Arial"/>
              </a:rPr>
              <a:t>Vật tư và xét nghiệm</a:t>
            </a:r>
          </a:p>
          <a:p>
            <a:pPr marL="0" indent="0" algn="ctr">
              <a:lnSpc>
                <a:spcPct val="104000"/>
              </a:lnSpc>
              <a:spcBef>
                <a:spcPts val="400"/>
              </a:spcBef>
              <a:buNone/>
            </a:pPr>
            <a:r>
              <a:rPr lang="en-US" sz="1450" dirty="0">
                <a:solidFill>
                  <a:srgbClr val="000000"/>
                </a:solidFill>
                <a:latin typeface="Arial"/>
                <a:cs typeface="Arial"/>
              </a:rPr>
              <a:t>Phí công bố</a:t>
            </a:r>
          </a:p>
        </p:txBody>
      </p:sp>
      <p:sp>
        <p:nvSpPr>
          <p:cNvPr id="74" name="CardHead"/>
          <p:cNvSpPr/>
          <p:nvPr/>
        </p:nvSpPr>
        <p:spPr>
          <a:xfrm>
            <a:off x="5048240" y="1727865"/>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Nhân lực</a:t>
            </a:r>
          </a:p>
        </p:txBody>
      </p:sp>
      <p:sp>
        <p:nvSpPr>
          <p:cNvPr id="75" name="CardBody"/>
          <p:cNvSpPr/>
          <p:nvPr/>
        </p:nvSpPr>
        <p:spPr>
          <a:xfrm>
            <a:off x="504824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Ai thu thập số liệu ca đêm?</a:t>
            </a:r>
          </a:p>
          <a:p>
            <a:pPr marL="0" indent="0" algn="ctr">
              <a:lnSpc>
                <a:spcPct val="104000"/>
              </a:lnSpc>
              <a:spcBef>
                <a:spcPts val="400"/>
              </a:spcBef>
              <a:buNone/>
            </a:pPr>
            <a:r>
              <a:rPr lang="en-US" sz="1450" dirty="0">
                <a:solidFill>
                  <a:srgbClr val="000000"/>
                </a:solidFill>
                <a:latin typeface="Arial"/>
                <a:cs typeface="Arial"/>
              </a:rPr>
              <a:t>Ai phân tích?</a:t>
            </a:r>
          </a:p>
          <a:p>
            <a:pPr marL="0" indent="0" algn="ctr">
              <a:lnSpc>
                <a:spcPct val="104000"/>
              </a:lnSpc>
              <a:spcBef>
                <a:spcPts val="400"/>
              </a:spcBef>
              <a:buNone/>
            </a:pPr>
            <a:r>
              <a:rPr lang="en-US" sz="1450" dirty="0">
                <a:solidFill>
                  <a:srgbClr val="000000"/>
                </a:solidFill>
                <a:latin typeface="Arial"/>
                <a:cs typeface="Arial"/>
              </a:rPr>
              <a:t>Có thời gian dành riêng?</a:t>
            </a:r>
          </a:p>
        </p:txBody>
      </p:sp>
      <p:sp>
        <p:nvSpPr>
          <p:cNvPr id="76" name="CardHead"/>
          <p:cNvSpPr/>
          <p:nvPr/>
        </p:nvSpPr>
        <p:spPr>
          <a:xfrm>
            <a:off x="7343760" y="1727865"/>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Tuyển chọn</a:t>
            </a:r>
          </a:p>
        </p:txBody>
      </p:sp>
      <p:sp>
        <p:nvSpPr>
          <p:cNvPr id="77" name="CardBody"/>
          <p:cNvSpPr/>
          <p:nvPr/>
        </p:nvSpPr>
        <p:spPr>
          <a:xfrm>
            <a:off x="734376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Bài 1: sàng lọc 1201, phân nhóm 50 (4%)</a:t>
            </a:r>
          </a:p>
          <a:p>
            <a:pPr marL="0" indent="0" algn="ctr">
              <a:lnSpc>
                <a:spcPct val="104000"/>
              </a:lnSpc>
              <a:spcBef>
                <a:spcPts val="400"/>
              </a:spcBef>
              <a:buNone/>
            </a:pPr>
            <a:r>
              <a:rPr lang="en-US" sz="1450" dirty="0">
                <a:solidFill>
                  <a:srgbClr val="000000"/>
                </a:solidFill>
                <a:latin typeface="Arial"/>
                <a:cs typeface="Arial"/>
              </a:rPr>
              <a:t>17 tháng, 3 ICU</a:t>
            </a:r>
          </a:p>
        </p:txBody>
      </p:sp>
      <p:sp>
        <p:nvSpPr>
          <p:cNvPr id="78" name="CardHead"/>
          <p:cNvSpPr/>
          <p:nvPr/>
        </p:nvSpPr>
        <p:spPr>
          <a:xfrm>
            <a:off x="9639280" y="1727865"/>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Dữ liệu</a:t>
            </a:r>
          </a:p>
        </p:txBody>
      </p:sp>
      <p:sp>
        <p:nvSpPr>
          <p:cNvPr id="79" name="CardBody"/>
          <p:cNvSpPr/>
          <p:nvPr/>
        </p:nvSpPr>
        <p:spPr>
          <a:xfrm>
            <a:off x="963928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Có ghi thường quy không?</a:t>
            </a:r>
          </a:p>
          <a:p>
            <a:pPr marL="0" indent="0" algn="ctr">
              <a:lnSpc>
                <a:spcPct val="104000"/>
              </a:lnSpc>
              <a:spcBef>
                <a:spcPts val="400"/>
              </a:spcBef>
              <a:buNone/>
            </a:pPr>
            <a:r>
              <a:rPr lang="en-US" sz="1450" dirty="0">
                <a:solidFill>
                  <a:srgbClr val="000000"/>
                </a:solidFill>
                <a:latin typeface="Arial"/>
                <a:cs typeface="Arial"/>
              </a:rPr>
              <a:t>Sẽ thiếu bao nhiêu?</a:t>
            </a:r>
          </a:p>
          <a:p>
            <a:pPr marL="0" indent="0" algn="ctr">
              <a:lnSpc>
                <a:spcPct val="104000"/>
              </a:lnSpc>
              <a:spcBef>
                <a:spcPts val="400"/>
              </a:spcBef>
              <a:buNone/>
            </a:pPr>
            <a:r>
              <a:rPr lang="en-US" sz="1450" dirty="0">
                <a:solidFill>
                  <a:srgbClr val="000000"/>
                </a:solidFill>
                <a:latin typeface="Arial"/>
                <a:cs typeface="Arial"/>
              </a:rPr>
              <a:t>Bài 2: không có dữ liệu thuốc lợi tiểu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Đếm số người bệnh đủ tiêu chuẩn ở khoa trước khi viết cỡ mẫu.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7.2  |  20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Liêm chính nghiên cứu</a:t>
            </a:r>
          </a:p>
          <a:p>
            <a:pPr marL="0" indent="0" algn="ctr">
              <a:spcBef>
                <a:spcPts val="1200"/>
              </a:spcBef>
              <a:buNone/>
            </a:pPr>
            <a:r>
              <a:rPr lang="en-US" sz="1900" i="1" dirty="0">
                <a:solidFill>
                  <a:srgbClr val="595959"/>
                </a:solidFill>
                <a:latin typeface="Arial"/>
                <a:cs typeface="Arial"/>
              </a:rPr>
              <a:t>Dữ liệu trung thực, ghi công trung thực, dùng AI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Hành vi sai trái trong nghiên cứu: bịa đặt, làm sai lệch, đạo văn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FFP = ba dạng hành vi sai trái trong nghiên cứu. Sai sót trung thực thì không phải: hãy đính chính công khai.</a:t>
            </a:r>
          </a:p>
        </p:txBody>
      </p:sp>
      <p:sp>
        <p:nvSpPr>
          <p:cNvPr id="70" name="CardHead"/>
          <p:cNvSpPr/>
          <p:nvPr/>
        </p:nvSpPr>
        <p:spPr>
          <a:xfrm>
            <a:off x="457200" y="213335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Bịa đặt</a:t>
            </a:r>
          </a:p>
        </p:txBody>
      </p:sp>
      <p:sp>
        <p:nvSpPr>
          <p:cNvPr id="71" name="CardBody"/>
          <p:cNvSpPr/>
          <p:nvPr/>
        </p:nvSpPr>
        <p:spPr>
          <a:xfrm>
            <a:off x="457200"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Tự tạo ra dữ liệu hoặc người bệnh</a:t>
            </a:r>
          </a:p>
          <a:p>
            <a:pPr marL="0" indent="0" algn="ctr">
              <a:lnSpc>
                <a:spcPct val="104000"/>
              </a:lnSpc>
              <a:spcBef>
                <a:spcPts val="400"/>
              </a:spcBef>
              <a:buNone/>
            </a:pPr>
            <a:r>
              <a:rPr lang="en-US" sz="1750" dirty="0">
                <a:solidFill>
                  <a:srgbClr val="000000"/>
                </a:solidFill>
                <a:latin typeface="Arial"/>
                <a:cs typeface="Arial"/>
              </a:rPr>
              <a:t>Ví dụ: điền cân bằng dịch ngày 3 'theo trí nhớ'</a:t>
            </a:r>
          </a:p>
        </p:txBody>
      </p:sp>
      <p:sp>
        <p:nvSpPr>
          <p:cNvPr id="72" name="CardHead"/>
          <p:cNvSpPr/>
          <p:nvPr/>
        </p:nvSpPr>
        <p:spPr>
          <a:xfrm>
            <a:off x="4283066" y="213335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Làm sai lệch</a:t>
            </a:r>
          </a:p>
        </p:txBody>
      </p:sp>
      <p:sp>
        <p:nvSpPr>
          <p:cNvPr id="73" name="CardBody"/>
          <p:cNvSpPr/>
          <p:nvPr/>
        </p:nvSpPr>
        <p:spPr>
          <a:xfrm>
            <a:off x="4283066"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Sửa hoặc bỏ bớt dữ liệu cho hợp ý</a:t>
            </a:r>
          </a:p>
          <a:p>
            <a:pPr marL="0" indent="0" algn="ctr">
              <a:lnSpc>
                <a:spcPct val="104000"/>
              </a:lnSpc>
              <a:spcBef>
                <a:spcPts val="400"/>
              </a:spcBef>
              <a:buNone/>
            </a:pPr>
            <a:r>
              <a:rPr lang="en-US" sz="1750" dirty="0">
                <a:solidFill>
                  <a:srgbClr val="000000"/>
                </a:solidFill>
                <a:latin typeface="Arial"/>
                <a:cs typeface="Arial"/>
              </a:rPr>
              <a:t>Ví dụ: loại hai người bệnh 'lạ' vì họ làm yếu kết quả</a:t>
            </a:r>
          </a:p>
        </p:txBody>
      </p:sp>
      <p:sp>
        <p:nvSpPr>
          <p:cNvPr id="74" name="CardHead"/>
          <p:cNvSpPr/>
          <p:nvPr/>
        </p:nvSpPr>
        <p:spPr>
          <a:xfrm>
            <a:off x="8108932" y="213335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Đạo văn</a:t>
            </a:r>
          </a:p>
        </p:txBody>
      </p:sp>
      <p:sp>
        <p:nvSpPr>
          <p:cNvPr id="75" name="CardBody"/>
          <p:cNvSpPr/>
          <p:nvPr/>
        </p:nvSpPr>
        <p:spPr>
          <a:xfrm>
            <a:off x="8108932"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Dùng câu chữ, ý tưởng của người khác mà không ghi nguồn</a:t>
            </a:r>
          </a:p>
          <a:p>
            <a:pPr marL="0" indent="0" algn="ctr">
              <a:lnSpc>
                <a:spcPct val="104000"/>
              </a:lnSpc>
              <a:spcBef>
                <a:spcPts val="400"/>
              </a:spcBef>
              <a:buNone/>
            </a:pPr>
            <a:r>
              <a:rPr lang="en-US" sz="1750" dirty="0">
                <a:solidFill>
                  <a:srgbClr val="000000"/>
                </a:solidFill>
                <a:latin typeface="Arial"/>
                <a:cs typeface="Arial"/>
              </a:rPr>
              <a:t>Ví dụ: chép một đoạn có trích dẫn nhưng không đặt trong ngoặc kép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Dữ liệu thiếu được báo cáo là thiếu: không bao giờ bịa ra, không lặng lẽ loại bỏ.</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Cũng không được làm: những cách làm sai lệch bằng chứng đã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Một nghiên cứu nên được báo cáo đầy đủ và trung thực.</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Xuất bản trùng lặp</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Cùng kết quả đăng hai lần</a:t>
            </a:r>
          </a:p>
          <a:p>
            <a:pPr marL="0" indent="0" algn="ctr">
              <a:lnSpc>
                <a:spcPct val="104000"/>
              </a:lnSpc>
              <a:spcBef>
                <a:spcPts val="400"/>
              </a:spcBef>
              <a:buNone/>
            </a:pPr>
            <a:r>
              <a:rPr lang="en-US" sz="1750" dirty="0">
                <a:solidFill>
                  <a:srgbClr val="000000"/>
                </a:solidFill>
                <a:latin typeface="Arial"/>
                <a:cs typeface="Arial"/>
              </a:rPr>
              <a:t>Bài thứ hai không nói rõ điều đó</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Xuất bản 'cắt lát'</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Cắt một nghiên cứu thành nhiều bài mỏng</a:t>
            </a:r>
          </a:p>
          <a:p>
            <a:pPr marL="0" indent="0" algn="ctr">
              <a:lnSpc>
                <a:spcPct val="104000"/>
              </a:lnSpc>
              <a:spcBef>
                <a:spcPts val="400"/>
              </a:spcBef>
              <a:buNone/>
            </a:pPr>
            <a:r>
              <a:rPr lang="en-US" sz="1750" dirty="0">
                <a:solidFill>
                  <a:srgbClr val="000000"/>
                </a:solidFill>
                <a:latin typeface="Arial"/>
                <a:cs typeface="Arial"/>
              </a:rPr>
              <a:t>Để tăng số bài báo</a:t>
            </a:r>
          </a:p>
          <a:p>
            <a:pPr marL="0" indent="0" algn="ctr">
              <a:lnSpc>
                <a:spcPct val="104000"/>
              </a:lnSpc>
              <a:spcBef>
                <a:spcPts val="400"/>
              </a:spcBef>
              <a:buNone/>
            </a:pPr>
            <a:r>
              <a:rPr lang="en-US" sz="1750" dirty="0">
                <a:solidFill>
                  <a:srgbClr val="000000"/>
                </a:solidFill>
                <a:latin typeface="Arial"/>
                <a:cs typeface="Arial"/>
              </a:rPr>
              <a:t>Người đọc không thấy toàn cảnh</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Báo cáo chọn lọc</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Chỉ báo cáo kết cục 'có ý nghĩa'</a:t>
            </a:r>
          </a:p>
          <a:p>
            <a:pPr marL="0" indent="0" algn="ctr">
              <a:lnSpc>
                <a:spcPct val="104000"/>
              </a:lnSpc>
              <a:spcBef>
                <a:spcPts val="400"/>
              </a:spcBef>
              <a:buNone/>
            </a:pPr>
            <a:r>
              <a:rPr lang="en-US" sz="1750" dirty="0">
                <a:solidFill>
                  <a:srgbClr val="000000"/>
                </a:solidFill>
                <a:latin typeface="Arial"/>
                <a:cs typeface="Arial"/>
              </a:rPr>
              <a:t>Đổi kết cục chính sau khi xem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Đăng ký trước, định trước kết cục chính, báo cáo tất cả.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là tác giả? Bốn tiêu chí ICMJE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ICMJE = Ủy ban Quốc tế các Biên tập viên Tạp chí Y khoa. Tác giả phải đáp ứng đủ cả bốn.</a:t>
            </a:r>
          </a:p>
        </p:txBody>
      </p:sp>
      <p:sp>
        <p:nvSpPr>
          <p:cNvPr id="70" name="CardHead"/>
          <p:cNvSpPr/>
          <p:nvPr/>
        </p:nvSpPr>
        <p:spPr>
          <a:xfrm>
            <a:off x="457200" y="1944469"/>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1  Đóng góp đáng kể</a:t>
            </a:r>
          </a:p>
        </p:txBody>
      </p:sp>
      <p:sp>
        <p:nvSpPr>
          <p:cNvPr id="71" name="CardBody"/>
          <p:cNvSpPr/>
          <p:nvPr/>
        </p:nvSpPr>
        <p:spPr>
          <a:xfrm>
            <a:off x="45720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Ý tưởng, thiết kế, dữ liệu, phân tích hoặc diễn giải</a:t>
            </a:r>
          </a:p>
        </p:txBody>
      </p:sp>
      <p:sp>
        <p:nvSpPr>
          <p:cNvPr id="72" name="CardHead"/>
          <p:cNvSpPr/>
          <p:nvPr/>
        </p:nvSpPr>
        <p:spPr>
          <a:xfrm>
            <a:off x="2752720" y="1944469"/>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2  Viết bài</a:t>
            </a:r>
          </a:p>
        </p:txBody>
      </p:sp>
      <p:sp>
        <p:nvSpPr>
          <p:cNvPr id="73" name="CardBody"/>
          <p:cNvSpPr/>
          <p:nvPr/>
        </p:nvSpPr>
        <p:spPr>
          <a:xfrm>
            <a:off x="275272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Viết bản thảo hoặc chỉnh sửa quan trọng</a:t>
            </a:r>
          </a:p>
        </p:txBody>
      </p:sp>
      <p:sp>
        <p:nvSpPr>
          <p:cNvPr id="74" name="CardHead"/>
          <p:cNvSpPr/>
          <p:nvPr/>
        </p:nvSpPr>
        <p:spPr>
          <a:xfrm>
            <a:off x="5048240" y="1944469"/>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3  Phê duyệt</a:t>
            </a:r>
          </a:p>
        </p:txBody>
      </p:sp>
      <p:sp>
        <p:nvSpPr>
          <p:cNvPr id="75" name="CardBody"/>
          <p:cNvSpPr/>
          <p:nvPr/>
        </p:nvSpPr>
        <p:spPr>
          <a:xfrm>
            <a:off x="504824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Duyệt phiên bản cuối cùng</a:t>
            </a:r>
          </a:p>
        </p:txBody>
      </p:sp>
      <p:sp>
        <p:nvSpPr>
          <p:cNvPr id="76" name="CardHead"/>
          <p:cNvSpPr/>
          <p:nvPr/>
        </p:nvSpPr>
        <p:spPr>
          <a:xfrm>
            <a:off x="7343760" y="1944469"/>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4  Chịu trách nhiệm</a:t>
            </a:r>
          </a:p>
        </p:txBody>
      </p:sp>
      <p:sp>
        <p:nvSpPr>
          <p:cNvPr id="77" name="CardBody"/>
          <p:cNvSpPr/>
          <p:nvPr/>
        </p:nvSpPr>
        <p:spPr>
          <a:xfrm>
            <a:off x="734376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Về toàn bộ công trình</a:t>
            </a:r>
          </a:p>
        </p:txBody>
      </p:sp>
      <p:sp>
        <p:nvSpPr>
          <p:cNvPr id="78" name="CardHead"/>
          <p:cNvSpPr/>
          <p:nvPr/>
        </p:nvSpPr>
        <p:spPr>
          <a:xfrm>
            <a:off x="9639280" y="1944469"/>
            <a:ext cx="209552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Chưa đủ bốn?</a:t>
            </a:r>
          </a:p>
        </p:txBody>
      </p:sp>
      <p:sp>
        <p:nvSpPr>
          <p:cNvPr id="79" name="CardBody"/>
          <p:cNvSpPr/>
          <p:nvPr/>
        </p:nvSpPr>
        <p:spPr>
          <a:xfrm>
            <a:off x="963928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Cảm ơn trong phần Lời cảm ơn</a:t>
            </a:r>
          </a:p>
          <a:p>
            <a:pPr marL="0" indent="0" algn="ctr">
              <a:lnSpc>
                <a:spcPct val="104000"/>
              </a:lnSpc>
              <a:spcBef>
                <a:spcPts val="400"/>
              </a:spcBef>
              <a:buNone/>
            </a:pPr>
            <a:r>
              <a:rPr lang="en-US" sz="1450" dirty="0">
                <a:solidFill>
                  <a:srgbClr val="000000"/>
                </a:solidFill>
                <a:latin typeface="Arial"/>
                <a:cs typeface="Arial"/>
              </a:rPr>
              <a:t>Tác giả 'danh dự': có tên nhưng không làm</a:t>
            </a:r>
          </a:p>
          <a:p>
            <a:pPr marL="0" indent="0" algn="ctr">
              <a:lnSpc>
                <a:spcPct val="104000"/>
              </a:lnSpc>
              <a:spcBef>
                <a:spcPts val="400"/>
              </a:spcBef>
              <a:buNone/>
            </a:pPr>
            <a:r>
              <a:rPr lang="en-US" sz="1450" dirty="0">
                <a:solidFill>
                  <a:srgbClr val="000000"/>
                </a:solidFill>
                <a:latin typeface="Arial"/>
                <a:cs typeface="Arial"/>
              </a:rPr>
              <a:t>Tác giả 'ma': làm nhưng không có tên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Đủ cả bốn tiêu chí, cho mọi tác giả. Thống nhất danh sách ngay từ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Xung đột lợi ích và nguồn tài trợ: khai báo tất cả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Lợi ích tài chính</a:t>
            </a:r>
          </a:p>
        </p:txBody>
      </p:sp>
      <p:sp>
        <p:nvSpPr>
          <p:cNvPr id="71" name="CardBody"/>
          <p:cNvSpPr/>
          <p:nvPr/>
        </p:nvSpPr>
        <p:spPr>
          <a:xfrm>
            <a:off x="457200"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Tư vấn, thù lao báo cáo</a:t>
            </a:r>
          </a:p>
          <a:p>
            <a:pPr marL="0" indent="0" algn="ctr">
              <a:lnSpc>
                <a:spcPct val="104000"/>
              </a:lnSpc>
              <a:spcBef>
                <a:spcPts val="400"/>
              </a:spcBef>
              <a:buNone/>
            </a:pPr>
            <a:r>
              <a:rPr lang="en-US" sz="1750" dirty="0">
                <a:solidFill>
                  <a:srgbClr val="000000"/>
                </a:solidFill>
                <a:latin typeface="Arial"/>
                <a:cs typeface="Arial"/>
              </a:rPr>
              <a:t>Tài trợ, hỗ trợ đi lại</a:t>
            </a:r>
          </a:p>
          <a:p>
            <a:pPr marL="0" indent="0" algn="ctr">
              <a:lnSpc>
                <a:spcPct val="104000"/>
              </a:lnSpc>
              <a:spcBef>
                <a:spcPts val="400"/>
              </a:spcBef>
              <a:buNone/>
            </a:pPr>
            <a:r>
              <a:rPr lang="en-US" sz="1750" dirty="0">
                <a:solidFill>
                  <a:srgbClr val="000000"/>
                </a:solidFill>
                <a:latin typeface="Arial"/>
                <a:cs typeface="Arial"/>
              </a:rPr>
              <a:t>Cổ phần, bằng sáng chế</a:t>
            </a:r>
          </a:p>
          <a:p>
            <a:pPr marL="0" indent="0" algn="ctr">
              <a:lnSpc>
                <a:spcPct val="104000"/>
              </a:lnSpc>
              <a:spcBef>
                <a:spcPts val="400"/>
              </a:spcBef>
              <a:buNone/>
            </a:pPr>
            <a:r>
              <a:rPr lang="en-US" sz="1750" dirty="0">
                <a:solidFill>
                  <a:srgbClr val="000000"/>
                </a:solidFill>
                <a:latin typeface="Arial"/>
                <a:cs typeface="Arial"/>
              </a:rPr>
              <a:t>Việc làm</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Lợi ích phi tài chính</a:t>
            </a:r>
          </a:p>
        </p:txBody>
      </p:sp>
      <p:sp>
        <p:nvSpPr>
          <p:cNvPr id="73" name="CardBody"/>
          <p:cNvSpPr/>
          <p:nvPr/>
        </p:nvSpPr>
        <p:spPr>
          <a:xfrm>
            <a:off x="4283066"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Quan hệ cá nhân</a:t>
            </a:r>
          </a:p>
          <a:p>
            <a:pPr marL="0" indent="0" algn="ctr">
              <a:lnSpc>
                <a:spcPct val="104000"/>
              </a:lnSpc>
              <a:spcBef>
                <a:spcPts val="400"/>
              </a:spcBef>
              <a:buNone/>
            </a:pPr>
            <a:r>
              <a:rPr lang="en-US" sz="1750" dirty="0">
                <a:solidFill>
                  <a:srgbClr val="000000"/>
                </a:solidFill>
                <a:latin typeface="Arial"/>
                <a:cs typeface="Arial"/>
              </a:rPr>
              <a:t>Thành viên nhóm soạn hướng dẫn</a:t>
            </a:r>
          </a:p>
          <a:p>
            <a:pPr marL="0" indent="0" algn="ctr">
              <a:lnSpc>
                <a:spcPct val="104000"/>
              </a:lnSpc>
              <a:spcBef>
                <a:spcPts val="400"/>
              </a:spcBef>
              <a:buNone/>
            </a:pPr>
            <a:r>
              <a:rPr lang="en-US" sz="1750" dirty="0">
                <a:solidFill>
                  <a:srgbClr val="000000"/>
                </a:solidFill>
                <a:latin typeface="Arial"/>
                <a:cs typeface="Arial"/>
              </a:rPr>
              <a:t>Niềm tin định sẵn mạnh</a:t>
            </a:r>
          </a:p>
          <a:p>
            <a:pPr marL="0" indent="0" algn="ctr">
              <a:lnSpc>
                <a:spcPct val="104000"/>
              </a:lnSpc>
              <a:spcBef>
                <a:spcPts val="400"/>
              </a:spcBef>
              <a:buNone/>
            </a:pPr>
            <a:r>
              <a:rPr lang="en-US" sz="1750" dirty="0">
                <a:solidFill>
                  <a:srgbClr val="000000"/>
                </a:solidFill>
                <a:latin typeface="Arial"/>
                <a:cs typeface="Arial"/>
              </a:rPr>
              <a:t>Cạnh tranh học thuật</a:t>
            </a:r>
          </a:p>
        </p:txBody>
      </p:sp>
      <p:sp>
        <p:nvSpPr>
          <p:cNvPr id="74" name="CardHead"/>
          <p:cNvSpPr/>
          <p:nvPr/>
        </p:nvSpPr>
        <p:spPr>
          <a:xfrm>
            <a:off x="8108932" y="16326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Tuyên bố nguồn tài trợ</a:t>
            </a:r>
          </a:p>
        </p:txBody>
      </p:sp>
      <p:sp>
        <p:nvSpPr>
          <p:cNvPr id="75" name="CardBody"/>
          <p:cNvSpPr/>
          <p:nvPr/>
        </p:nvSpPr>
        <p:spPr>
          <a:xfrm>
            <a:off x="8108932"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Ai tài trợ. Mã số tài trợ</a:t>
            </a:r>
          </a:p>
          <a:p>
            <a:pPr marL="0" indent="0" algn="ctr">
              <a:lnSpc>
                <a:spcPct val="104000"/>
              </a:lnSpc>
              <a:spcBef>
                <a:spcPts val="400"/>
              </a:spcBef>
              <a:buNone/>
            </a:pPr>
            <a:r>
              <a:rPr lang="en-US" sz="1750" dirty="0">
                <a:solidFill>
                  <a:srgbClr val="000000"/>
                </a:solidFill>
                <a:latin typeface="Arial"/>
                <a:cs typeface="Arial"/>
              </a:rPr>
              <a:t>Vai trò nhà tài trợ trong thiết kế, phân tích, viết bài và quyết định công bố</a:t>
            </a:r>
          </a:p>
          <a:p>
            <a:pPr marL="0" indent="0" algn="ctr">
              <a:lnSpc>
                <a:spcPct val="104000"/>
              </a:lnSpc>
              <a:spcBef>
                <a:spcPts val="400"/>
              </a:spcBef>
              <a:buNone/>
            </a:pPr>
            <a:r>
              <a:rPr lang="en-US" sz="1750" dirty="0">
                <a:solidFill>
                  <a:srgbClr val="000000"/>
                </a:solidFill>
                <a:latin typeface="Arial"/>
                <a:cs typeface="Arial"/>
              </a:rPr>
              <a:t>Bài 2: nhà tài trợ không có vai trò</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Lợi ích được khai báo là thông tin. Lợi ích bị che giấu là bê bối.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Chia sẻ dữ liệu: từ 'theo yêu cầu' đến mở</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Từ đóng đến mở</a:t>
            </a:r>
          </a:p>
        </p:txBody>
      </p:sp>
      <p:sp>
        <p:nvSpPr>
          <p:cNvPr id="71" name="CardBody"/>
          <p:cNvSpPr/>
          <p:nvPr/>
        </p:nvSpPr>
        <p:spPr>
          <a:xfrm>
            <a:off x="457200" y="2255682"/>
            <a:ext cx="5538800" cy="2202954"/>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Không chia sẻ</a:t>
            </a:r>
          </a:p>
          <a:p>
            <a:pPr marL="274320" indent="-274320" algn="l">
              <a:lnSpc>
                <a:spcPct val="104000"/>
              </a:lnSpc>
              <a:spcBef>
                <a:spcPts val="400"/>
              </a:spcBef>
              <a:buFont typeface="Arial"/>
              <a:buChar char="•"/>
            </a:pPr>
            <a:r>
              <a:rPr lang="en-US" sz="1750" dirty="0">
                <a:solidFill>
                  <a:srgbClr val="000000"/>
                </a:solidFill>
                <a:latin typeface="Arial"/>
                <a:cs typeface="Arial"/>
              </a:rPr>
              <a:t>'Có thể cung cấp theo yêu cầu hợp lý' (Bài 1 và 2)</a:t>
            </a:r>
          </a:p>
          <a:p>
            <a:pPr marL="274320" indent="-274320" algn="l">
              <a:lnSpc>
                <a:spcPct val="104000"/>
              </a:lnSpc>
              <a:spcBef>
                <a:spcPts val="400"/>
              </a:spcBef>
              <a:buFont typeface="Arial"/>
              <a:buChar char="•"/>
            </a:pPr>
            <a:r>
              <a:rPr lang="en-US" sz="1750" dirty="0">
                <a:solidFill>
                  <a:srgbClr val="000000"/>
                </a:solidFill>
                <a:latin typeface="Arial"/>
                <a:cs typeface="Arial"/>
              </a:rPr>
              <a:t>Kho dữ liệu có kiểm soát</a:t>
            </a:r>
          </a:p>
          <a:p>
            <a:pPr marL="274320" indent="-274320" algn="l">
              <a:lnSpc>
                <a:spcPct val="104000"/>
              </a:lnSpc>
              <a:spcBef>
                <a:spcPts val="400"/>
              </a:spcBef>
              <a:buFont typeface="Arial"/>
              <a:buChar char="•"/>
            </a:pPr>
            <a:r>
              <a:rPr lang="en-US" sz="1750" dirty="0">
                <a:solidFill>
                  <a:srgbClr val="000000"/>
                </a:solidFill>
                <a:latin typeface="Arial"/>
                <a:cs typeface="Arial"/>
              </a:rPr>
              <a:t>Kho mở có mã DOI (mã định danh vĩnh viễn trên mạng)</a:t>
            </a:r>
          </a:p>
        </p:txBody>
      </p:sp>
      <p:sp>
        <p:nvSpPr>
          <p:cNvPr id="72" name="CardHead"/>
          <p:cNvSpPr/>
          <p:nvPr/>
        </p:nvSpPr>
        <p:spPr>
          <a:xfrm>
            <a:off x="6196000" y="1615682"/>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Trước khi chia sẻ</a:t>
            </a:r>
          </a:p>
        </p:txBody>
      </p:sp>
      <p:sp>
        <p:nvSpPr>
          <p:cNvPr id="73" name="CardBody"/>
          <p:cNvSpPr/>
          <p:nvPr/>
        </p:nvSpPr>
        <p:spPr>
          <a:xfrm>
            <a:off x="6196000" y="2255682"/>
            <a:ext cx="5538800" cy="2202954"/>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Phiếu đồng ý và phê duyệt đạo đức cho phép</a:t>
            </a:r>
          </a:p>
          <a:p>
            <a:pPr marL="274320" indent="-274320" algn="l">
              <a:lnSpc>
                <a:spcPct val="104000"/>
              </a:lnSpc>
              <a:spcBef>
                <a:spcPts val="400"/>
              </a:spcBef>
              <a:buFont typeface="Arial"/>
              <a:buChar char="•"/>
            </a:pPr>
            <a:r>
              <a:rPr lang="en-US" sz="1750" dirty="0">
                <a:solidFill>
                  <a:srgbClr val="000000"/>
                </a:solidFill>
                <a:latin typeface="Arial"/>
                <a:cs typeface="Arial"/>
              </a:rPr>
              <a:t>Đã loại bỏ thông tin định danh</a:t>
            </a:r>
          </a:p>
          <a:p>
            <a:pPr marL="274320" indent="-274320" algn="l">
              <a:lnSpc>
                <a:spcPct val="104000"/>
              </a:lnSpc>
              <a:spcBef>
                <a:spcPts val="400"/>
              </a:spcBef>
              <a:buFont typeface="Arial"/>
              <a:buChar char="•"/>
            </a:pPr>
            <a:r>
              <a:rPr lang="en-US" sz="1750" dirty="0">
                <a:solidFill>
                  <a:srgbClr val="000000"/>
                </a:solidFill>
                <a:latin typeface="Arial"/>
                <a:cs typeface="Arial"/>
              </a:rPr>
              <a:t>Kèm từ điển dữ liệu và mã phân tích</a:t>
            </a:r>
          </a:p>
          <a:p>
            <a:pPr marL="274320" indent="-274320" algn="l">
              <a:lnSpc>
                <a:spcPct val="104000"/>
              </a:lnSpc>
              <a:spcBef>
                <a:spcPts val="400"/>
              </a:spcBef>
              <a:buFont typeface="Arial"/>
              <a:buChar char="•"/>
            </a:pPr>
            <a:r>
              <a:rPr lang="en-US" sz="1750" dirty="0">
                <a:solidFill>
                  <a:srgbClr val="000000"/>
                </a:solidFill>
                <a:latin typeface="Arial"/>
                <a:cs typeface="Arial"/>
              </a:rPr>
              <a:t>Có tuyên bố chia sẻ dữ liệu trong bài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Lên kế hoạch chia sẻ dữ liệu từ đề cương: phiếu đồng ý phải cho phép.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trong nghiên cứu và viết bài: điều gì được phép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Được phép, nhưng cẩn trọng</a:t>
            </a:r>
          </a:p>
        </p:txBody>
      </p:sp>
      <p:sp>
        <p:nvSpPr>
          <p:cNvPr id="71" name="CardBody"/>
          <p:cNvSpPr/>
          <p:nvPr/>
        </p:nvSpPr>
        <p:spPr>
          <a:xfrm>
            <a:off x="457200" y="2365219"/>
            <a:ext cx="5538800" cy="187434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Trau chuốt ngôn ngữ cho văn bản của bạn</a:t>
            </a:r>
          </a:p>
          <a:p>
            <a:pPr marL="274320" indent="-274320" algn="l">
              <a:lnSpc>
                <a:spcPct val="104000"/>
              </a:lnSpc>
              <a:spcBef>
                <a:spcPts val="400"/>
              </a:spcBef>
              <a:buFont typeface="Arial"/>
              <a:buChar char="•"/>
            </a:pPr>
            <a:r>
              <a:rPr lang="en-US" sz="1750" dirty="0">
                <a:solidFill>
                  <a:srgbClr val="000000"/>
                </a:solidFill>
                <a:latin typeface="Arial"/>
                <a:cs typeface="Arial"/>
              </a:rPr>
              <a:t>Gợi ý ý tưởng hoặc tóm tắt, rồi kiểm tra từng ý</a:t>
            </a:r>
          </a:p>
          <a:p>
            <a:pPr marL="274320" indent="-274320" algn="l">
              <a:lnSpc>
                <a:spcPct val="104000"/>
              </a:lnSpc>
              <a:spcBef>
                <a:spcPts val="400"/>
              </a:spcBef>
              <a:buFont typeface="Arial"/>
              <a:buChar char="•"/>
            </a:pPr>
            <a:r>
              <a:rPr lang="en-US" sz="1750" dirty="0">
                <a:solidFill>
                  <a:srgbClr val="000000"/>
                </a:solidFill>
                <a:latin typeface="Arial"/>
                <a:cs typeface="Arial"/>
              </a:rPr>
              <a:t>Công khai công cụ, phiên bản và mục đích</a:t>
            </a:r>
          </a:p>
        </p:txBody>
      </p:sp>
      <p:sp>
        <p:nvSpPr>
          <p:cNvPr id="72" name="CardHead"/>
          <p:cNvSpPr/>
          <p:nvPr/>
        </p:nvSpPr>
        <p:spPr>
          <a:xfrm>
            <a:off x="6196000" y="1725219"/>
            <a:ext cx="553880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Không bao giờ</a:t>
            </a:r>
          </a:p>
        </p:txBody>
      </p:sp>
      <p:sp>
        <p:nvSpPr>
          <p:cNvPr id="73" name="CardBody"/>
          <p:cNvSpPr/>
          <p:nvPr/>
        </p:nvSpPr>
        <p:spPr>
          <a:xfrm>
            <a:off x="6196000" y="2365219"/>
            <a:ext cx="5538800" cy="187434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Ghi ai là tác giả</a:t>
            </a:r>
          </a:p>
          <a:p>
            <a:pPr marL="274320" indent="-274320" algn="l">
              <a:lnSpc>
                <a:spcPct val="104000"/>
              </a:lnSpc>
              <a:spcBef>
                <a:spcPts val="400"/>
              </a:spcBef>
              <a:buFont typeface="Arial"/>
              <a:buChar char="•"/>
            </a:pPr>
            <a:r>
              <a:rPr lang="en-US" sz="1750" dirty="0">
                <a:solidFill>
                  <a:srgbClr val="000000"/>
                </a:solidFill>
                <a:latin typeface="Arial"/>
                <a:cs typeface="Arial"/>
              </a:rPr>
              <a:t>Dán dữ liệu người bệnh hoặc bản thảo bảo mật vào công cụ AI công cộng</a:t>
            </a:r>
          </a:p>
          <a:p>
            <a:pPr marL="274320" indent="-274320" algn="l">
              <a:lnSpc>
                <a:spcPct val="104000"/>
              </a:lnSpc>
              <a:spcBef>
                <a:spcPts val="400"/>
              </a:spcBef>
              <a:buFont typeface="Arial"/>
              <a:buChar char="•"/>
            </a:pPr>
            <a:r>
              <a:rPr lang="en-US" sz="1750" dirty="0">
                <a:solidFill>
                  <a:srgbClr val="000000"/>
                </a:solidFill>
                <a:latin typeface="Arial"/>
                <a:cs typeface="Arial"/>
              </a:rPr>
              <a:t>Để AI bịa tài liệu tham khảo, dữ liệu hay hình ảnh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Dùng AI như một trợ lý mới vào nghề: kiểm tra mọi thứ, công khai, giữ dữ liệu người bệnh bên ngoài.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Tình huống liêm chính: xanh, vàng hay đỏ?</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Tình huống: phiếu bài tập Buổi 7, Phần A (PDF gửi trước buổi học), cũng có trên màn hình chia sẻ</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xanh (ổn), vàng (chỉ ổn nếu sửa hoặc công khai) hoặc đỏ (hành vi sai trái)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Một hai học viên giải thích lựa chọn, bật micro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Làm 3 tình huống cùng nhau bây giờ, 3 tình huống còn lại làm ở nhà</a:t>
            </a:r>
          </a:p>
        </p:txBody>
      </p:sp>
      <p:sp>
        <p:nvSpPr>
          <p:cNvPr id="52" name="Side"/>
          <p:cNvSpPr/>
          <p:nvPr/>
        </p:nvSpPr>
        <p:spPr>
          <a:xfrm>
            <a:off x="7423760" y="1720000"/>
            <a:ext cx="4311040" cy="16536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Tình huống 1</a:t>
            </a:r>
          </a:p>
          <a:p>
            <a:pPr marL="0" indent="0" algn="ctr">
              <a:lnSpc>
                <a:spcPct val="104000"/>
              </a:lnSpc>
              <a:spcBef>
                <a:spcPts val="300"/>
              </a:spcBef>
              <a:buNone/>
            </a:pPr>
            <a:r>
              <a:rPr lang="en-US" sz="1500" dirty="0">
                <a:solidFill>
                  <a:srgbClr val="000000"/>
                </a:solidFill>
                <a:latin typeface="Arial"/>
                <a:cs typeface="Arial"/>
              </a:rPr>
              <a:t>Mất ba phiếu theo dõi dịch ngày 3. Một bác sĩ nội trú điền cân bằng dịch 'theo trí nhớ'.</a:t>
            </a:r>
          </a:p>
          <a:p>
            <a:pPr marL="0" indent="0" algn="ctr">
              <a:lnSpc>
                <a:spcPct val="104000"/>
              </a:lnSpc>
              <a:spcBef>
                <a:spcPts val="300"/>
              </a:spcBef>
              <a:buNone/>
            </a:pPr>
            <a:r>
              <a:rPr lang="en-US" sz="1500" dirty="0">
                <a:solidFill>
                  <a:srgbClr val="000000"/>
                </a:solidFill>
                <a:latin typeface="Arial"/>
                <a:cs typeface="Arial"/>
              </a:rPr>
              <a:t>Bạn chọn màu gì?</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gọi tên được FFP, tác giả 'danh dự' và 'ma', và quy tắc dùng 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Xây dựng đề cương 7: đạo đức, đăng ký, khả thi, kế hoạch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Theo dõi: giảng viên soạn Phần 4 cho ví dụ xuyên suốt trên màn hình chia sẻ</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Sự đồng ý: ai đồng ý, ai hỏi, khi nào? Hai ba người trả lời, bật micro (4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Đăng ký và tệp khóa: ở đâu? (3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Tính khả thi: rủi ro lớn nhất và một cách khắc phục (3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Kế hoạch công bố: tạp chí, hướng dẫn báo cáo, tác giả và vai trò (5 phút)</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Sau đó, ở nhà</a:t>
            </a:r>
          </a:p>
          <a:p>
            <a:pPr marL="0" indent="0" algn="ctr">
              <a:lnSpc>
                <a:spcPct val="104000"/>
              </a:lnSpc>
              <a:spcBef>
                <a:spcPts val="300"/>
              </a:spcBef>
              <a:buNone/>
            </a:pPr>
            <a:r>
              <a:rPr lang="en-US" sz="1500" dirty="0">
                <a:solidFill>
                  <a:srgbClr val="000000"/>
                </a:solidFill>
                <a:latin typeface="Arial"/>
                <a:cs typeface="Arial"/>
              </a:rPr>
              <a:t>Viết Phần 4 cho đề cương của bạn</a:t>
            </a:r>
          </a:p>
          <a:p>
            <a:pPr marL="0" indent="0" algn="ctr">
              <a:lnSpc>
                <a:spcPct val="104000"/>
              </a:lnSpc>
              <a:spcBef>
                <a:spcPts val="300"/>
              </a:spcBef>
              <a:buNone/>
            </a:pPr>
            <a:r>
              <a:rPr lang="en-US" sz="1500" dirty="0">
                <a:solidFill>
                  <a:srgbClr val="000000"/>
                </a:solidFill>
                <a:latin typeface="Arial"/>
                <a:cs typeface="Arial"/>
              </a:rPr>
              <a:t>Phiếu: phiếu bài tập Buổi 7, Phần B (PDF)</a:t>
            </a:r>
          </a:p>
          <a:p>
            <a:pPr marL="0" indent="0" algn="ctr">
              <a:lnSpc>
                <a:spcPct val="104000"/>
              </a:lnSpc>
              <a:spcBef>
                <a:spcPts val="300"/>
              </a:spcBef>
              <a:buNone/>
            </a:pPr>
            <a:r>
              <a:rPr lang="en-US" sz="1500" dirty="0">
                <a:solidFill>
                  <a:srgbClr val="000000"/>
                </a:solidFill>
                <a:latin typeface="Arial"/>
                <a:cs typeface="Arial"/>
              </a:rPr>
              <a:t>Dùng ví dụ của lớp làm mẫu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Phần 4 được làm mẫu cùng cả lớp. Mỗi người soạn Phần 4 của mình ở nhà trong tuần này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7.3  |  35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Viết bài báo (I): phần Kết quả</a:t>
            </a:r>
          </a:p>
          <a:p>
            <a:pPr marL="0" indent="0" algn="ctr">
              <a:spcBef>
                <a:spcPts val="1200"/>
              </a:spcBef>
              <a:buNone/>
            </a:pPr>
            <a:r>
              <a:rPr lang="en-US" sz="1900" i="1" dirty="0">
                <a:solidFill>
                  <a:srgbClr val="595959"/>
                </a:solidFill>
                <a:latin typeface="Arial"/>
                <a:cs typeface="Arial"/>
              </a:rPr>
              <a:t>Báo cáo những gì đã thấy, không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Viết theo thứ tự khác với thứ tự người đọc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Người đọc đọc: Tiêu đề, Tóm tắt, Đặt vấn đề, Phương pháp, Kết quả, Bàn luận. Người viết bắt đầu từ dữ liệu.</a:t>
            </a:r>
          </a:p>
        </p:txBody>
      </p:sp>
      <p:sp>
        <p:nvSpPr>
          <p:cNvPr id="80" name="Step"/>
          <p:cNvSpPr/>
          <p:nvPr/>
        </p:nvSpPr>
        <p:spPr>
          <a:xfrm>
            <a:off x="457200" y="1806796"/>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Bảng</a:t>
            </a:r>
          </a:p>
        </p:txBody>
      </p:sp>
      <p:sp>
        <p:nvSpPr>
          <p:cNvPr id="81" name="StepText"/>
          <p:cNvSpPr/>
          <p:nvPr/>
        </p:nvSpPr>
        <p:spPr>
          <a:xfrm>
            <a:off x="4972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Bảng và hình: câu chuyện nằm trong dữ liệu</a:t>
            </a:r>
          </a:p>
        </p:txBody>
      </p:sp>
      <p:sp>
        <p:nvSpPr>
          <p:cNvPr id="82" name="Step"/>
          <p:cNvSpPr/>
          <p:nvPr/>
        </p:nvSpPr>
        <p:spPr>
          <a:xfrm>
            <a:off x="2326800" y="1806796"/>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Phương pháp</a:t>
            </a:r>
          </a:p>
        </p:txBody>
      </p:sp>
      <p:sp>
        <p:nvSpPr>
          <p:cNvPr id="83" name="StepText"/>
          <p:cNvSpPr/>
          <p:nvPr/>
        </p:nvSpPr>
        <p:spPr>
          <a:xfrm>
            <a:off x="23668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Bạn biết mình đã làm gì</a:t>
            </a:r>
          </a:p>
        </p:txBody>
      </p:sp>
      <p:sp>
        <p:nvSpPr>
          <p:cNvPr id="84" name="Step"/>
          <p:cNvSpPr/>
          <p:nvPr/>
        </p:nvSpPr>
        <p:spPr>
          <a:xfrm>
            <a:off x="4196400" y="1806796"/>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Kết quả</a:t>
            </a:r>
          </a:p>
        </p:txBody>
      </p:sp>
      <p:sp>
        <p:nvSpPr>
          <p:cNvPr id="85" name="StepText"/>
          <p:cNvSpPr/>
          <p:nvPr/>
        </p:nvSpPr>
        <p:spPr>
          <a:xfrm>
            <a:off x="42364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Mô tả các bảng</a:t>
            </a:r>
          </a:p>
        </p:txBody>
      </p:sp>
      <p:sp>
        <p:nvSpPr>
          <p:cNvPr id="86" name="Step"/>
          <p:cNvSpPr/>
          <p:nvPr/>
        </p:nvSpPr>
        <p:spPr>
          <a:xfrm>
            <a:off x="6066000" y="1806796"/>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Đặt vấn đề</a:t>
            </a:r>
          </a:p>
        </p:txBody>
      </p:sp>
      <p:sp>
        <p:nvSpPr>
          <p:cNvPr id="87" name="StepText"/>
          <p:cNvSpPr/>
          <p:nvPr/>
        </p:nvSpPr>
        <p:spPr>
          <a:xfrm>
            <a:off x="61060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Dẫn tới câu hỏi bạn đã trả lời</a:t>
            </a:r>
          </a:p>
        </p:txBody>
      </p:sp>
      <p:sp>
        <p:nvSpPr>
          <p:cNvPr id="88" name="Step"/>
          <p:cNvSpPr/>
          <p:nvPr/>
        </p:nvSpPr>
        <p:spPr>
          <a:xfrm>
            <a:off x="7935600" y="1806796"/>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Bàn luận</a:t>
            </a:r>
          </a:p>
        </p:txBody>
      </p:sp>
      <p:sp>
        <p:nvSpPr>
          <p:cNvPr id="89" name="StepText"/>
          <p:cNvSpPr/>
          <p:nvPr/>
        </p:nvSpPr>
        <p:spPr>
          <a:xfrm>
            <a:off x="79756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Trả lời, so sánh, giải thích</a:t>
            </a:r>
          </a:p>
        </p:txBody>
      </p:sp>
      <p:sp>
        <p:nvSpPr>
          <p:cNvPr id="90" name="Step"/>
          <p:cNvSpPr/>
          <p:nvPr/>
        </p:nvSpPr>
        <p:spPr>
          <a:xfrm>
            <a:off x="9805200" y="1806796"/>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Tóm tắt, tiêu đề</a:t>
            </a:r>
          </a:p>
        </p:txBody>
      </p:sp>
      <p:sp>
        <p:nvSpPr>
          <p:cNvPr id="91" name="StepText"/>
          <p:cNvSpPr/>
          <p:nvPr/>
        </p:nvSpPr>
        <p:spPr>
          <a:xfrm>
            <a:off x="98452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Tóm lược toàn bài. Đặt tên sau cùng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Bắt đầu từ các bảng. Viết tiêu đề sau cùng.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Phương pháp: đủ chi tiết để người khác làm lại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Không bắt buộc trong bản thảo của bạn. Nếu đồng nghiệp không làm lại được nghiên cứu từ phần này, hãy thêm chi tiết.</a:t>
            </a:r>
          </a:p>
        </p:txBody>
      </p:sp>
      <p:sp>
        <p:nvSpPr>
          <p:cNvPr id="70" name="CardHead"/>
          <p:cNvSpPr/>
          <p:nvPr/>
        </p:nvSpPr>
        <p:spPr>
          <a:xfrm>
            <a:off x="457200" y="1969837"/>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và ở đâu</a:t>
            </a:r>
          </a:p>
        </p:txBody>
      </p:sp>
      <p:sp>
        <p:nvSpPr>
          <p:cNvPr id="71" name="CardBody"/>
          <p:cNvSpPr/>
          <p:nvPr/>
        </p:nvSpPr>
        <p:spPr>
          <a:xfrm>
            <a:off x="4572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Thiết kế, bối cảnh, thời gian</a:t>
            </a:r>
          </a:p>
          <a:p>
            <a:pPr marL="0" indent="0" algn="ctr">
              <a:lnSpc>
                <a:spcPct val="104000"/>
              </a:lnSpc>
              <a:spcBef>
                <a:spcPts val="400"/>
              </a:spcBef>
              <a:buNone/>
            </a:pPr>
            <a:r>
              <a:rPr lang="en-US" sz="1600" dirty="0">
                <a:solidFill>
                  <a:srgbClr val="000000"/>
                </a:solidFill>
                <a:latin typeface="Arial"/>
                <a:cs typeface="Arial"/>
              </a:rPr>
              <a:t>Tiêu chuẩn chọn</a:t>
            </a:r>
          </a:p>
          <a:p>
            <a:pPr marL="0" indent="0" algn="ctr">
              <a:lnSpc>
                <a:spcPct val="104000"/>
              </a:lnSpc>
              <a:spcBef>
                <a:spcPts val="400"/>
              </a:spcBef>
              <a:buNone/>
            </a:pPr>
            <a:r>
              <a:rPr lang="en-US" sz="1600" dirty="0">
                <a:solidFill>
                  <a:srgbClr val="000000"/>
                </a:solidFill>
                <a:latin typeface="Arial"/>
                <a:cs typeface="Arial"/>
              </a:rPr>
              <a:t>Phê duyệt đạo đức và sự đồng ý</a:t>
            </a:r>
          </a:p>
          <a:p>
            <a:pPr marL="0" indent="0" algn="ctr">
              <a:lnSpc>
                <a:spcPct val="104000"/>
              </a:lnSpc>
              <a:spcBef>
                <a:spcPts val="400"/>
              </a:spcBef>
              <a:buNone/>
            </a:pPr>
            <a:r>
              <a:rPr lang="en-US" sz="1600" dirty="0">
                <a:solidFill>
                  <a:srgbClr val="000000"/>
                </a:solidFill>
                <a:latin typeface="Arial"/>
                <a:cs typeface="Arial"/>
              </a:rPr>
              <a:t>Số đăng ký</a:t>
            </a:r>
          </a:p>
        </p:txBody>
      </p:sp>
      <p:sp>
        <p:nvSpPr>
          <p:cNvPr id="72" name="CardHead"/>
          <p:cNvSpPr/>
          <p:nvPr/>
        </p:nvSpPr>
        <p:spPr>
          <a:xfrm>
            <a:off x="3326600" y="1969837"/>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Đã làm gì</a:t>
            </a:r>
          </a:p>
        </p:txBody>
      </p:sp>
      <p:sp>
        <p:nvSpPr>
          <p:cNvPr id="73" name="CardBody"/>
          <p:cNvSpPr/>
          <p:nvPr/>
        </p:nvSpPr>
        <p:spPr>
          <a:xfrm>
            <a:off x="33266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Mô tả đầy đủ can thiệp hoặc phơi nhiễm</a:t>
            </a:r>
          </a:p>
          <a:p>
            <a:pPr marL="0" indent="0" algn="ctr">
              <a:lnSpc>
                <a:spcPct val="104000"/>
              </a:lnSpc>
              <a:spcBef>
                <a:spcPts val="400"/>
              </a:spcBef>
              <a:buNone/>
            </a:pPr>
            <a:r>
              <a:rPr lang="en-US" sz="1600" dirty="0">
                <a:solidFill>
                  <a:srgbClr val="000000"/>
                </a:solidFill>
                <a:latin typeface="Arial"/>
                <a:cs typeface="Arial"/>
              </a:rPr>
              <a:t>Định nghĩa các biến</a:t>
            </a:r>
          </a:p>
          <a:p>
            <a:pPr marL="0" indent="0" algn="ctr">
              <a:lnSpc>
                <a:spcPct val="104000"/>
              </a:lnSpc>
              <a:spcBef>
                <a:spcPts val="400"/>
              </a:spcBef>
              <a:buNone/>
            </a:pPr>
            <a:r>
              <a:rPr lang="en-US" sz="1600" dirty="0">
                <a:solidFill>
                  <a:srgbClr val="000000"/>
                </a:solidFill>
                <a:latin typeface="Arial"/>
                <a:cs typeface="Arial"/>
              </a:rPr>
              <a:t>Bài 1: tập huấn nhân viên, dược sĩ kiểm tra hằng ngày</a:t>
            </a:r>
          </a:p>
        </p:txBody>
      </p:sp>
      <p:sp>
        <p:nvSpPr>
          <p:cNvPr id="74" name="CardHead"/>
          <p:cNvSpPr/>
          <p:nvPr/>
        </p:nvSpPr>
        <p:spPr>
          <a:xfrm>
            <a:off x="6196000" y="1969837"/>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Kết cục và cỡ mẫu</a:t>
            </a:r>
          </a:p>
        </p:txBody>
      </p:sp>
      <p:sp>
        <p:nvSpPr>
          <p:cNvPr id="75" name="CardBody"/>
          <p:cNvSpPr/>
          <p:nvPr/>
        </p:nvSpPr>
        <p:spPr>
          <a:xfrm>
            <a:off x="61960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Một kết cục chính: đo thế nào, khi nào</a:t>
            </a:r>
          </a:p>
          <a:p>
            <a:pPr marL="0" indent="0" algn="ctr">
              <a:lnSpc>
                <a:spcPct val="104000"/>
              </a:lnSpc>
              <a:spcBef>
                <a:spcPts val="400"/>
              </a:spcBef>
              <a:buNone/>
            </a:pPr>
            <a:r>
              <a:rPr lang="en-US" sz="1600" dirty="0">
                <a:solidFill>
                  <a:srgbClr val="000000"/>
                </a:solidFill>
                <a:latin typeface="Arial"/>
                <a:cs typeface="Arial"/>
              </a:rPr>
              <a:t>Cỡ mẫu: giả định và nguồn</a:t>
            </a:r>
          </a:p>
          <a:p>
            <a:pPr marL="0" indent="0" algn="ctr">
              <a:lnSpc>
                <a:spcPct val="104000"/>
              </a:lnSpc>
              <a:spcBef>
                <a:spcPts val="400"/>
              </a:spcBef>
              <a:buNone/>
            </a:pPr>
            <a:r>
              <a:rPr lang="en-US" sz="1600" dirty="0">
                <a:solidFill>
                  <a:srgbClr val="000000"/>
                </a:solidFill>
                <a:latin typeface="Arial"/>
                <a:cs typeface="Arial"/>
              </a:rPr>
              <a:t>Bài 2: không nêu cỡ mẫu</a:t>
            </a:r>
          </a:p>
        </p:txBody>
      </p:sp>
      <p:sp>
        <p:nvSpPr>
          <p:cNvPr id="76" name="CardHead"/>
          <p:cNvSpPr/>
          <p:nvPr/>
        </p:nvSpPr>
        <p:spPr>
          <a:xfrm>
            <a:off x="9065400" y="1969837"/>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Phân tích thống kê</a:t>
            </a:r>
          </a:p>
        </p:txBody>
      </p:sp>
      <p:sp>
        <p:nvSpPr>
          <p:cNvPr id="77" name="CardBody"/>
          <p:cNvSpPr/>
          <p:nvPr/>
        </p:nvSpPr>
        <p:spPr>
          <a:xfrm>
            <a:off x="90654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Mỗi so sánh có một phương pháp</a:t>
            </a:r>
          </a:p>
          <a:p>
            <a:pPr marL="0" indent="0" algn="ctr">
              <a:lnSpc>
                <a:spcPct val="104000"/>
              </a:lnSpc>
              <a:spcBef>
                <a:spcPts val="400"/>
              </a:spcBef>
              <a:buNone/>
            </a:pPr>
            <a:r>
              <a:rPr lang="en-US" sz="1600" dirty="0">
                <a:solidFill>
                  <a:srgbClr val="000000"/>
                </a:solidFill>
                <a:latin typeface="Arial"/>
                <a:cs typeface="Arial"/>
              </a:rPr>
              <a:t>Ước lượng khớp với kiểm định</a:t>
            </a:r>
          </a:p>
          <a:p>
            <a:pPr marL="0" indent="0" algn="ctr">
              <a:lnSpc>
                <a:spcPct val="104000"/>
              </a:lnSpc>
              <a:spcBef>
                <a:spcPts val="400"/>
              </a:spcBef>
              <a:buNone/>
            </a:pPr>
            <a:r>
              <a:rPr lang="en-US" sz="1600" dirty="0">
                <a:solidFill>
                  <a:srgbClr val="000000"/>
                </a:solidFill>
                <a:latin typeface="Arial"/>
                <a:cs typeface="Arial"/>
              </a:rPr>
              <a:t>Dữ liệu bị thiếu, so sánh bội</a:t>
            </a:r>
          </a:p>
          <a:p>
            <a:pPr marL="0" indent="0" algn="ctr">
              <a:lnSpc>
                <a:spcPct val="104000"/>
              </a:lnSpc>
              <a:spcBef>
                <a:spcPts val="400"/>
              </a:spcBef>
              <a:buNone/>
            </a:pPr>
            <a:r>
              <a:rPr lang="en-US" sz="1600" dirty="0">
                <a:solidFill>
                  <a:srgbClr val="000000"/>
                </a:solidFill>
                <a:latin typeface="Arial"/>
                <a:cs typeface="Arial"/>
              </a:rPr>
              <a:t>Phần mềm và phiên bản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Đoạn phân tích thống kê nêu phương pháp cho mọi so sánh được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Không bắt buộc: Phương pháp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Mỗi mục STROBE một câu (dữ liệu mô phỏng). STROBE = bảng kiểm báo cáo nghiên cứu quan sát.</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Mục 4-6: Chúng tôi phân tích FLUID-ICU, một nghiên cứu thuần tập tiến cứu gồm người lớn nhiễm khuẩn huyết liên tiếp nhập bốn ICU từ tháng 1/2023 đến tháng 12/2024.</a:t>
            </a:r>
          </a:p>
          <a:p>
            <a:pPr marL="274320" indent="-274320" algn="l">
              <a:lnSpc>
                <a:spcPct val="106000"/>
              </a:lnSpc>
              <a:spcBef>
                <a:spcPts val="560"/>
              </a:spcBef>
              <a:buFont typeface="Arial"/>
              <a:buChar char="•"/>
            </a:pPr>
            <a:r>
              <a:rPr lang="en-US" sz="1700" dirty="0">
                <a:solidFill>
                  <a:srgbClr val="000000"/>
                </a:solidFill>
                <a:latin typeface="Arial"/>
                <a:cs typeface="Arial"/>
              </a:rPr>
              <a:t>Mục 7: Phơi nhiễm là cân bằng dịch tích lũy dương đến ngày ICU thứ 3 (dịch vào trừ dịch ra ngày 1-3, &gt; 0 ml/kg). Kết cục là tử vong do mọi nguyên nhân trong 28 ngày sau nhập ICU.</a:t>
            </a:r>
          </a:p>
          <a:p>
            <a:pPr marL="274320" indent="-274320" algn="l">
              <a:lnSpc>
                <a:spcPct val="106000"/>
              </a:lnSpc>
              <a:spcBef>
                <a:spcPts val="560"/>
              </a:spcBef>
              <a:buFont typeface="Arial"/>
              <a:buChar char="•"/>
            </a:pPr>
            <a:r>
              <a:rPr lang="en-US" sz="1700" dirty="0">
                <a:solidFill>
                  <a:srgbClr val="000000"/>
                </a:solidFill>
                <a:latin typeface="Arial"/>
                <a:cs typeface="Arial"/>
              </a:rPr>
              <a:t>Mục 8: Dữ liệu lấy từ hồ sơ ICU theo phiếu thu thập dữ liệu chuẩn.</a:t>
            </a:r>
          </a:p>
          <a:p>
            <a:pPr marL="274320" indent="-274320" algn="l">
              <a:lnSpc>
                <a:spcPct val="106000"/>
              </a:lnSpc>
              <a:spcBef>
                <a:spcPts val="560"/>
              </a:spcBef>
              <a:buFont typeface="Arial"/>
              <a:buChar char="•"/>
            </a:pPr>
            <a:r>
              <a:rPr lang="en-US" sz="1700" dirty="0">
                <a:solidFill>
                  <a:srgbClr val="000000"/>
                </a:solidFill>
                <a:latin typeface="Arial"/>
                <a:cs typeface="Arial"/>
              </a:rPr>
              <a:t>Mục 9: Để xử lý nhiễu do chỉ định, chúng tôi hiệu chỉnh theo mức độ nặng và bệnh nền đã định trước trong kế hoạch phân tích.</a:t>
            </a:r>
          </a:p>
          <a:p>
            <a:pPr marL="274320" indent="-274320" algn="l">
              <a:lnSpc>
                <a:spcPct val="106000"/>
              </a:lnSpc>
              <a:spcBef>
                <a:spcPts val="560"/>
              </a:spcBef>
              <a:buFont typeface="Arial"/>
              <a:buChar char="•"/>
            </a:pPr>
            <a:r>
              <a:rPr lang="en-US" sz="1700" dirty="0">
                <a:solidFill>
                  <a:srgbClr val="000000"/>
                </a:solidFill>
                <a:latin typeface="Arial"/>
                <a:cs typeface="Arial"/>
              </a:rPr>
              <a:t>Mục 10: Toàn bộ người bệnh đủ tiêu chuẩn trong nghiên cứu thuần tập được đưa vào (không tính cỡ mẫu riêng).</a:t>
            </a:r>
          </a:p>
          <a:p>
            <a:pPr marL="274320" indent="-274320" algn="l">
              <a:lnSpc>
                <a:spcPct val="106000"/>
              </a:lnSpc>
              <a:spcBef>
                <a:spcPts val="560"/>
              </a:spcBef>
              <a:buFont typeface="Arial"/>
              <a:buChar char="•"/>
            </a:pPr>
            <a:r>
              <a:rPr lang="en-US" sz="1700" dirty="0">
                <a:solidFill>
                  <a:srgbClr val="0B376C"/>
                </a:solidFill>
                <a:latin typeface="Arial"/>
                <a:cs typeface="Arial"/>
              </a:rPr>
              <a:t>Đạo đức (bản khóa học): Phân tích này dùng bộ dữ liệu giảng dạy mô phỏng. Không cần phê duyệt đạo đức hay sự đồng 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Không bắt buộc: đoạn phân tích thống kê</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Mục STROBE 12 cho Q1: mỗi quyết định một câu, tất cả được chọn trước khi xem dữ liệu.</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Đặc điểm ban đầu: trung bình (độ lệch chuẩn, SD), trung vị (khoảng tứ phân vị, IQR) hoặc n (%), theo nhóm cân bằng.</a:t>
            </a:r>
          </a:p>
          <a:p>
            <a:pPr marL="274320" indent="-274320" algn="l">
              <a:lnSpc>
                <a:spcPct val="106000"/>
              </a:lnSpc>
              <a:spcBef>
                <a:spcPts val="560"/>
              </a:spcBef>
              <a:buFont typeface="Arial"/>
              <a:buChar char="•"/>
            </a:pPr>
            <a:r>
              <a:rPr lang="en-US" sz="1700" dirty="0">
                <a:solidFill>
                  <a:srgbClr val="000000"/>
                </a:solidFill>
                <a:latin typeface="Arial"/>
                <a:cs typeface="Arial"/>
              </a:rPr>
              <a:t>Tử vong 28 ngày: kiểm định chi bình phương. Tỷ số chênh thô và hiệu chỉnh bằng hồi quy logistic (tuổi, điểm SOFA, lactat, vận mạch, thở máy, bệnh thận mạn).</a:t>
            </a:r>
          </a:p>
          <a:p>
            <a:pPr marL="274320" indent="-274320" algn="l">
              <a:lnSpc>
                <a:spcPct val="106000"/>
              </a:lnSpc>
              <a:spcBef>
                <a:spcPts val="560"/>
              </a:spcBef>
              <a:buFont typeface="Arial"/>
              <a:buChar char="•"/>
            </a:pPr>
            <a:r>
              <a:rPr lang="en-US" sz="1700" dirty="0">
                <a:solidFill>
                  <a:srgbClr val="000000"/>
                </a:solidFill>
                <a:latin typeface="Arial"/>
                <a:cs typeface="Arial"/>
              </a:rPr>
              <a:t>Thời gian đến tử vong: đường cong Kaplan-Meier (kiểm định log-rank) và hồi quy Cox với cùng các biến. Kiểm tra giả định nguy cơ tỷ lệ.</a:t>
            </a:r>
          </a:p>
          <a:p>
            <a:pPr marL="274320" indent="-274320" algn="l">
              <a:lnSpc>
                <a:spcPct val="106000"/>
              </a:lnSpc>
              <a:spcBef>
                <a:spcPts val="560"/>
              </a:spcBef>
              <a:buFont typeface="Arial"/>
              <a:buChar char="•"/>
            </a:pPr>
            <a:r>
              <a:rPr lang="en-US" sz="1700" dirty="0">
                <a:solidFill>
                  <a:srgbClr val="000000"/>
                </a:solidFill>
                <a:latin typeface="Arial"/>
                <a:cs typeface="Arial"/>
              </a:rPr>
              <a:t>Thay đổi tác động theo suy tim: một số hạng tương tác (định trước).</a:t>
            </a:r>
          </a:p>
          <a:p>
            <a:pPr marL="274320" indent="-274320" algn="l">
              <a:lnSpc>
                <a:spcPct val="106000"/>
              </a:lnSpc>
              <a:spcBef>
                <a:spcPts val="560"/>
              </a:spcBef>
              <a:buFont typeface="Arial"/>
              <a:buChar char="•"/>
            </a:pPr>
            <a:r>
              <a:rPr lang="en-US" sz="1700" dirty="0">
                <a:solidFill>
                  <a:srgbClr val="000000"/>
                </a:solidFill>
                <a:latin typeface="Arial"/>
                <a:cs typeface="Arial"/>
              </a:rPr>
              <a:t>Phân tích chính trên các trường hợp đầy đủ. Lactat bị thiếu (15%) được xử lý bằng quy gán đa bội (20 bộ dữ liệu) trong phân tích độ nhạy.</a:t>
            </a:r>
          </a:p>
          <a:p>
            <a:pPr marL="274320" indent="-274320" algn="l">
              <a:lnSpc>
                <a:spcPct val="106000"/>
              </a:lnSpc>
              <a:spcBef>
                <a:spcPts val="560"/>
              </a:spcBef>
              <a:buFont typeface="Arial"/>
              <a:buChar char="•"/>
            </a:pPr>
            <a:r>
              <a:rPr lang="en-US" sz="1700" dirty="0">
                <a:solidFill>
                  <a:srgbClr val="000000"/>
                </a:solidFill>
                <a:latin typeface="Arial"/>
                <a:cs typeface="Arial"/>
              </a:rPr>
              <a:t>Ước lượng kèm khoảng tin cậy 95%. Phân tích bằng R 4.6.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Kết quả: báo cáo, không bình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971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1  Đối tượng trước</a:t>
            </a:r>
          </a:p>
        </p:txBody>
      </p:sp>
      <p:sp>
        <p:nvSpPr>
          <p:cNvPr id="71" name="CardBody"/>
          <p:cNvSpPr/>
          <p:nvPr/>
        </p:nvSpPr>
        <p:spPr>
          <a:xfrm>
            <a:off x="4572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Sàng lọc, đưa vào, phân tích, và vì sao mất một số</a:t>
            </a:r>
          </a:p>
          <a:p>
            <a:pPr marL="0" indent="0" algn="ctr">
              <a:lnSpc>
                <a:spcPct val="104000"/>
              </a:lnSpc>
              <a:spcBef>
                <a:spcPts val="400"/>
              </a:spcBef>
              <a:buNone/>
            </a:pPr>
            <a:r>
              <a:rPr lang="en-US" sz="1600" dirty="0">
                <a:solidFill>
                  <a:srgbClr val="000000"/>
                </a:solidFill>
                <a:latin typeface="Arial"/>
                <a:cs typeface="Arial"/>
              </a:rPr>
              <a:t>Bài 1: sàng lọc 1201, phân nhóm 50, phân tích 48</a:t>
            </a:r>
          </a:p>
        </p:txBody>
      </p:sp>
      <p:sp>
        <p:nvSpPr>
          <p:cNvPr id="72" name="CardHead"/>
          <p:cNvSpPr/>
          <p:nvPr/>
        </p:nvSpPr>
        <p:spPr>
          <a:xfrm>
            <a:off x="3326600" y="16971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2  Con số kèm KTC</a:t>
            </a:r>
          </a:p>
        </p:txBody>
      </p:sp>
      <p:sp>
        <p:nvSpPr>
          <p:cNvPr id="73" name="CardBody"/>
          <p:cNvSpPr/>
          <p:nvPr/>
        </p:nvSpPr>
        <p:spPr>
          <a:xfrm>
            <a:off x="33266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Độ lớn tác động kèm khoảng tin cậy 95% (KTC 95%)</a:t>
            </a:r>
          </a:p>
          <a:p>
            <a:pPr marL="0" indent="0" algn="ctr">
              <a:lnSpc>
                <a:spcPct val="104000"/>
              </a:lnSpc>
              <a:spcBef>
                <a:spcPts val="400"/>
              </a:spcBef>
              <a:buNone/>
            </a:pPr>
            <a:r>
              <a:rPr lang="en-US" sz="1600" dirty="0">
                <a:solidFill>
                  <a:srgbClr val="000000"/>
                </a:solidFill>
                <a:latin typeface="Arial"/>
                <a:cs typeface="Arial"/>
              </a:rPr>
              <a:t>Không phải 'p = 0.42, không có ý nghĩa'</a:t>
            </a:r>
          </a:p>
        </p:txBody>
      </p:sp>
      <p:sp>
        <p:nvSpPr>
          <p:cNvPr id="74" name="CardHead"/>
          <p:cNvSpPr/>
          <p:nvPr/>
        </p:nvSpPr>
        <p:spPr>
          <a:xfrm>
            <a:off x="6196000" y="16971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3  Không bình luận</a:t>
            </a:r>
          </a:p>
        </p:txBody>
      </p:sp>
      <p:sp>
        <p:nvSpPr>
          <p:cNvPr id="75" name="CardBody"/>
          <p:cNvSpPr/>
          <p:nvPr/>
        </p:nvSpPr>
        <p:spPr>
          <a:xfrm>
            <a:off x="61960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Kết quả báo cáo. Bàn luận diễn giải</a:t>
            </a:r>
          </a:p>
          <a:p>
            <a:pPr marL="0" indent="0" algn="ctr">
              <a:lnSpc>
                <a:spcPct val="104000"/>
              </a:lnSpc>
              <a:spcBef>
                <a:spcPts val="400"/>
              </a:spcBef>
              <a:buNone/>
            </a:pPr>
            <a:r>
              <a:rPr lang="en-US" sz="1600" dirty="0">
                <a:solidFill>
                  <a:srgbClr val="000000"/>
                </a:solidFill>
                <a:latin typeface="Arial"/>
                <a:cs typeface="Arial"/>
              </a:rPr>
              <a:t>Bài 2: kết quả theo thứ tự mục tiêu</a:t>
            </a:r>
          </a:p>
        </p:txBody>
      </p:sp>
      <p:sp>
        <p:nvSpPr>
          <p:cNvPr id="76" name="CardHead"/>
          <p:cNvSpPr/>
          <p:nvPr/>
        </p:nvSpPr>
        <p:spPr>
          <a:xfrm>
            <a:off x="9065400" y="16971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  Mỗi số một chỗ</a:t>
            </a:r>
          </a:p>
        </p:txBody>
      </p:sp>
      <p:sp>
        <p:nvSpPr>
          <p:cNvPr id="77" name="CardBody"/>
          <p:cNvSpPr/>
          <p:nvPr/>
        </p:nvSpPr>
        <p:spPr>
          <a:xfrm>
            <a:off x="90654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Số chính trong văn bản, chi tiết trong bảng</a:t>
            </a:r>
          </a:p>
          <a:p>
            <a:pPr marL="0" indent="0" algn="ctr">
              <a:lnSpc>
                <a:spcPct val="104000"/>
              </a:lnSpc>
              <a:spcBef>
                <a:spcPts val="400"/>
              </a:spcBef>
              <a:buNone/>
            </a:pPr>
            <a:r>
              <a:rPr lang="en-US" sz="1600" dirty="0">
                <a:solidFill>
                  <a:srgbClr val="000000"/>
                </a:solidFill>
                <a:latin typeface="Arial"/>
                <a:cs typeface="Arial"/>
              </a:rPr>
              <a:t>Bài 1: văn bản và Bảng 1 mâu thuẫn về creatinine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Đối tượng trước, rồi mỗi kết cục là độ lớn tác động kèm KTC 95%.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Kết quả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Đối tượng, Bảng 1, số liệu kết cục, ước lượng thô và hiệu chỉnh (dữ liệu mô phỏng).</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Mục 13: Trong 620 người bệnh được đưa vào, 618 có cân bằng dịch ngày 3 và được phân tích, 527 có đủ dữ liệu cho mô hình hiệu chỉnh.</a:t>
            </a:r>
          </a:p>
          <a:p>
            <a:pPr marL="274320" indent="-274320" algn="l">
              <a:lnSpc>
                <a:spcPct val="106000"/>
              </a:lnSpc>
              <a:spcBef>
                <a:spcPts val="560"/>
              </a:spcBef>
              <a:buFont typeface="Arial"/>
              <a:buChar char="•"/>
            </a:pPr>
            <a:r>
              <a:rPr lang="en-US" sz="1700" dirty="0">
                <a:solidFill>
                  <a:srgbClr val="000000"/>
                </a:solidFill>
                <a:latin typeface="Arial"/>
                <a:cs typeface="Arial"/>
              </a:rPr>
              <a:t>Mục 14: 373 người (60.4%) có cân bằng dương. Nhóm này nặng hơn: SOFA trung vị 8 so với 6. Vận mạch 55.0% so với 24.9% (Bảng 1).</a:t>
            </a:r>
          </a:p>
          <a:p>
            <a:pPr marL="274320" indent="-274320" algn="l">
              <a:lnSpc>
                <a:spcPct val="106000"/>
              </a:lnSpc>
              <a:spcBef>
                <a:spcPts val="560"/>
              </a:spcBef>
              <a:buFont typeface="Arial"/>
              <a:buChar char="•"/>
            </a:pPr>
            <a:r>
              <a:rPr lang="en-US" sz="1700" dirty="0">
                <a:solidFill>
                  <a:srgbClr val="000000"/>
                </a:solidFill>
                <a:latin typeface="Arial"/>
                <a:cs typeface="Arial"/>
              </a:rPr>
              <a:t>Mục 15: Đến ngày 28, 134 trên 373 (35.9%) người bệnh cân bằng dương và 45 trên 245 (18.4%) người bệnh cân bằng âm đã tử vong.</a:t>
            </a:r>
          </a:p>
          <a:p>
            <a:pPr marL="274320" indent="-274320" algn="l">
              <a:lnSpc>
                <a:spcPct val="106000"/>
              </a:lnSpc>
              <a:spcBef>
                <a:spcPts val="560"/>
              </a:spcBef>
              <a:buFont typeface="Arial"/>
              <a:buChar char="•"/>
            </a:pPr>
            <a:r>
              <a:rPr lang="en-US" sz="1700" dirty="0">
                <a:solidFill>
                  <a:srgbClr val="000000"/>
                </a:solidFill>
                <a:latin typeface="Arial"/>
                <a:cs typeface="Arial"/>
              </a:rPr>
              <a:t>Mục 16: OR thô 2.49 (KTC 95% 1.70 đến 3.70). OR hiệu chỉnh 1.62 (KTC 95% 1.02 đến 2.59).</a:t>
            </a:r>
          </a:p>
          <a:p>
            <a:pPr marL="274320" indent="-274320" algn="l">
              <a:lnSpc>
                <a:spcPct val="106000"/>
              </a:lnSpc>
              <a:spcBef>
                <a:spcPts val="560"/>
              </a:spcBef>
              <a:buFont typeface="Arial"/>
              <a:buChar char="•"/>
            </a:pPr>
            <a:r>
              <a:rPr lang="en-US" sz="1700" dirty="0">
                <a:solidFill>
                  <a:srgbClr val="000000"/>
                </a:solidFill>
                <a:latin typeface="Arial"/>
                <a:cs typeface="Arial"/>
              </a:rPr>
              <a:t>Mục 17: Quy gán đa bội: OR hiệu chỉnh 1.70 (1.09 đến 2.64). HR Cox hiệu chỉnh 1.46 (1.00 đến 2.13).</a:t>
            </a:r>
          </a:p>
          <a:p>
            <a:pPr marL="274320" indent="-274320" algn="l">
              <a:lnSpc>
                <a:spcPct val="106000"/>
              </a:lnSpc>
              <a:spcBef>
                <a:spcPts val="560"/>
              </a:spcBef>
              <a:buFont typeface="Arial"/>
              <a:buChar char="•"/>
            </a:pPr>
            <a:r>
              <a:rPr lang="en-US" sz="1700" dirty="0">
                <a:solidFill>
                  <a:srgbClr val="0B376C"/>
                </a:solidFill>
                <a:latin typeface="Arial"/>
                <a:cs typeface="Arial"/>
              </a:rPr>
              <a:t>Không 'vì', không 'có ý nghĩa', không 'gợi ý': chỉ con số kèm KTC 95%.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và hình tự giải thích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đọc phải hiểu mỗi bảng mà không cần đọc văn bản.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Bảng 1 FLUID-ICU trong một câu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15750"/>
          <a:ext cx="11277600" cy="254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Đặc điểm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Cân bằng âm (n = 245)</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Cân bằng dương (n = 373)</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Tuổi, năm, trung bình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64.6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61.4</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Điểm SOFA, trung vị (IQR)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6 (4 đến 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8 (6 đến 10)</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Vận mạch, n (%)</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 (24.9%)</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205 (55.0%)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Thở máy,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97 (39.6%)</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216 (57.9%)</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Lactat, mmol/L, trung vị (IQR)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2.2 (1.4 đến 3.0)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2.9 (1.9 đến 4.0)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Suy tim,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54 (22.0%)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43 (11.5%)</a:t>
                      </a:r>
                    </a:p>
                  </a:txBody>
                  <a:tcPr marL="73152" marR="73152" marT="45720" marB="45720" anchor="ctr">
                    <a:solidFill>
                      <a:srgbClr val="F5F9FA"/>
                    </a:solidFill>
                  </a:tcPr>
                </a:tc>
              </a:tr>
            </a:tbl>
          </a:graphicData>
        </a:graphic>
      </p:graphicFrame>
      <p:sp>
        <p:nvSpPr>
          <p:cNvPr id="31" name="Caption"/>
          <p:cNvSpPr txBox="1"/>
          <p:nvPr/>
        </p:nvSpPr>
        <p:spPr>
          <a:xfrm>
            <a:off x="457200" y="434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Dữ liệu mô phỏng (gói kết quả Q1, Bảng 1). SOFA = điểm suy đa cơ quan. IQR = khoảng tứ phân vị. Câu: 'Người bệnh cân bằng dương nặng hơn lúc ban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STROBE cho bài báo FLUID-ICU: mục nào ở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là nghiên cứu thuần tập, nên bài báo theo STROBE. Các số là số mục STROBE.</a:t>
            </a:r>
          </a:p>
        </p:txBody>
      </p:sp>
      <p:sp>
        <p:nvSpPr>
          <p:cNvPr id="70" name="CardHead"/>
          <p:cNvSpPr/>
          <p:nvPr/>
        </p:nvSpPr>
        <p:spPr>
          <a:xfrm>
            <a:off x="457200" y="176190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Phương pháp (mục 4-12)</a:t>
            </a:r>
          </a:p>
        </p:txBody>
      </p:sp>
      <p:sp>
        <p:nvSpPr>
          <p:cNvPr id="71" name="CardBody"/>
          <p:cNvSpPr/>
          <p:nvPr/>
        </p:nvSpPr>
        <p:spPr>
          <a:xfrm>
            <a:off x="457200" y="2401906"/>
            <a:ext cx="5538800" cy="2644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dirty="0">
                <a:solidFill>
                  <a:srgbClr val="000000"/>
                </a:solidFill>
                <a:latin typeface="Arial"/>
                <a:cs typeface="Arial"/>
              </a:rPr>
              <a:t>4  Thiết kế</a:t>
            </a:r>
          </a:p>
          <a:p>
            <a:pPr marL="0" indent="0" algn="ctr">
              <a:lnSpc>
                <a:spcPct val="104000"/>
              </a:lnSpc>
              <a:spcBef>
                <a:spcPts val="400"/>
              </a:spcBef>
              <a:buNone/>
            </a:pPr>
            <a:r>
              <a:rPr lang="en-US" sz="1500" dirty="0">
                <a:solidFill>
                  <a:srgbClr val="000000"/>
                </a:solidFill>
                <a:latin typeface="Arial"/>
                <a:cs typeface="Arial"/>
              </a:rPr>
              <a:t>5  Bối cảnh, thời gian</a:t>
            </a:r>
          </a:p>
          <a:p>
            <a:pPr marL="0" indent="0" algn="ctr">
              <a:lnSpc>
                <a:spcPct val="104000"/>
              </a:lnSpc>
              <a:spcBef>
                <a:spcPts val="400"/>
              </a:spcBef>
              <a:buNone/>
            </a:pPr>
            <a:r>
              <a:rPr lang="en-US" sz="1500" dirty="0">
                <a:solidFill>
                  <a:srgbClr val="000000"/>
                </a:solidFill>
                <a:latin typeface="Arial"/>
                <a:cs typeface="Arial"/>
              </a:rPr>
              <a:t>6  Đối tượng</a:t>
            </a:r>
          </a:p>
          <a:p>
            <a:pPr marL="0" indent="0" algn="ctr">
              <a:lnSpc>
                <a:spcPct val="104000"/>
              </a:lnSpc>
              <a:spcBef>
                <a:spcPts val="400"/>
              </a:spcBef>
              <a:buNone/>
            </a:pPr>
            <a:r>
              <a:rPr lang="en-US" sz="1500" dirty="0">
                <a:solidFill>
                  <a:srgbClr val="000000"/>
                </a:solidFill>
                <a:latin typeface="Arial"/>
                <a:cs typeface="Arial"/>
              </a:rPr>
              <a:t>7  Biến số</a:t>
            </a:r>
          </a:p>
          <a:p>
            <a:pPr marL="0" indent="0" algn="ctr">
              <a:lnSpc>
                <a:spcPct val="104000"/>
              </a:lnSpc>
              <a:spcBef>
                <a:spcPts val="400"/>
              </a:spcBef>
              <a:buNone/>
            </a:pPr>
            <a:r>
              <a:rPr lang="en-US" sz="1500" dirty="0">
                <a:solidFill>
                  <a:srgbClr val="000000"/>
                </a:solidFill>
                <a:latin typeface="Arial"/>
                <a:cs typeface="Arial"/>
              </a:rPr>
              <a:t>8  Nguồn dữ liệu</a:t>
            </a:r>
          </a:p>
          <a:p>
            <a:pPr marL="0" indent="0" algn="ctr">
              <a:lnSpc>
                <a:spcPct val="104000"/>
              </a:lnSpc>
              <a:spcBef>
                <a:spcPts val="400"/>
              </a:spcBef>
              <a:buNone/>
            </a:pPr>
            <a:r>
              <a:rPr lang="en-US" sz="1500" dirty="0">
                <a:solidFill>
                  <a:srgbClr val="000000"/>
                </a:solidFill>
                <a:latin typeface="Arial"/>
                <a:cs typeface="Arial"/>
              </a:rPr>
              <a:t>9  Sai lệch</a:t>
            </a:r>
          </a:p>
          <a:p>
            <a:pPr marL="0" indent="0" algn="ctr">
              <a:lnSpc>
                <a:spcPct val="104000"/>
              </a:lnSpc>
              <a:spcBef>
                <a:spcPts val="400"/>
              </a:spcBef>
              <a:buNone/>
            </a:pPr>
            <a:r>
              <a:rPr lang="en-US" sz="1500" dirty="0">
                <a:solidFill>
                  <a:srgbClr val="000000"/>
                </a:solidFill>
                <a:latin typeface="Arial"/>
                <a:cs typeface="Arial"/>
              </a:rPr>
              <a:t>10  Cỡ mẫu</a:t>
            </a:r>
          </a:p>
          <a:p>
            <a:pPr marL="0" indent="0" algn="ctr">
              <a:lnSpc>
                <a:spcPct val="104000"/>
              </a:lnSpc>
              <a:spcBef>
                <a:spcPts val="400"/>
              </a:spcBef>
              <a:buNone/>
            </a:pPr>
            <a:r>
              <a:rPr lang="en-US" sz="1500" dirty="0">
                <a:solidFill>
                  <a:srgbClr val="000000"/>
                </a:solidFill>
                <a:latin typeface="Arial"/>
                <a:cs typeface="Arial"/>
              </a:rPr>
              <a:t>12  Thống kê, dữ liệu bị thiếu</a:t>
            </a:r>
          </a:p>
        </p:txBody>
      </p:sp>
      <p:sp>
        <p:nvSpPr>
          <p:cNvPr id="72" name="CardHead"/>
          <p:cNvSpPr/>
          <p:nvPr/>
        </p:nvSpPr>
        <p:spPr>
          <a:xfrm>
            <a:off x="6196000" y="176190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Kết quả (mục 13-17)</a:t>
            </a:r>
          </a:p>
        </p:txBody>
      </p:sp>
      <p:sp>
        <p:nvSpPr>
          <p:cNvPr id="73" name="CardBody"/>
          <p:cNvSpPr/>
          <p:nvPr/>
        </p:nvSpPr>
        <p:spPr>
          <a:xfrm>
            <a:off x="6196000" y="2401906"/>
            <a:ext cx="5538800" cy="2644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dirty="0">
                <a:solidFill>
                  <a:srgbClr val="000000"/>
                </a:solidFill>
                <a:latin typeface="Arial"/>
                <a:cs typeface="Arial"/>
              </a:rPr>
              <a:t>13  Đối tượng và sơ đồ</a:t>
            </a:r>
          </a:p>
          <a:p>
            <a:pPr marL="0" indent="0" algn="ctr">
              <a:lnSpc>
                <a:spcPct val="104000"/>
              </a:lnSpc>
              <a:spcBef>
                <a:spcPts val="400"/>
              </a:spcBef>
              <a:buNone/>
            </a:pPr>
            <a:r>
              <a:rPr lang="en-US" sz="1500" dirty="0">
                <a:solidFill>
                  <a:srgbClr val="000000"/>
                </a:solidFill>
                <a:latin typeface="Arial"/>
                <a:cs typeface="Arial"/>
              </a:rPr>
              <a:t>14  Dữ liệu mô tả (Bảng 1)</a:t>
            </a:r>
          </a:p>
          <a:p>
            <a:pPr marL="0" indent="0" algn="ctr">
              <a:lnSpc>
                <a:spcPct val="104000"/>
              </a:lnSpc>
              <a:spcBef>
                <a:spcPts val="400"/>
              </a:spcBef>
              <a:buNone/>
            </a:pPr>
            <a:r>
              <a:rPr lang="en-US" sz="1500" dirty="0">
                <a:solidFill>
                  <a:srgbClr val="000000"/>
                </a:solidFill>
                <a:latin typeface="Arial"/>
                <a:cs typeface="Arial"/>
              </a:rPr>
              <a:t>15  Dữ liệu kết cục</a:t>
            </a:r>
          </a:p>
          <a:p>
            <a:pPr marL="0" indent="0" algn="ctr">
              <a:lnSpc>
                <a:spcPct val="104000"/>
              </a:lnSpc>
              <a:spcBef>
                <a:spcPts val="400"/>
              </a:spcBef>
              <a:buNone/>
            </a:pPr>
            <a:r>
              <a:rPr lang="en-US" sz="1500" dirty="0">
                <a:solidFill>
                  <a:srgbClr val="000000"/>
                </a:solidFill>
                <a:latin typeface="Arial"/>
                <a:cs typeface="Arial"/>
              </a:rPr>
              <a:t>16  Kết quả chính: thô và hiệu chỉnh, KTC 95%</a:t>
            </a:r>
          </a:p>
          <a:p>
            <a:pPr marL="0" indent="0" algn="ctr">
              <a:lnSpc>
                <a:spcPct val="104000"/>
              </a:lnSpc>
              <a:spcBef>
                <a:spcPts val="400"/>
              </a:spcBef>
              <a:buNone/>
            </a:pPr>
            <a:r>
              <a:rPr lang="en-US" sz="1500" dirty="0">
                <a:solidFill>
                  <a:srgbClr val="000000"/>
                </a:solidFill>
                <a:latin typeface="Arial"/>
                <a:cs typeface="Arial"/>
              </a:rPr>
              <a:t>17  Phân tích khác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Phần Kết quả của bạn: mục 13 đến 17. Phương pháp (không bắt buộc): mục 4 đến 12.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Phương pháp, Kết quả hay Bàn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'Chúng tôi dùng hồi quy logistic hiệu chỉnh theo điểm SOFA và tuổi.'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'Trong 620 người bệnh được đưa vào, 618 có cân bằng dịch ngày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'Điều này có thể do người bệnh nặng hơn được truyền nhiều dịch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bị thiếu ở 15.0% người bệnh và được quy gán.'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'Tử vong 28 ngày cao hơn khi cân bằng dương (OR hiệu chỉnh 1.62, KTC 95% 1.02 đến 2.59).'</a:t>
            </a:r>
          </a:p>
        </p:txBody>
      </p:sp>
      <p:sp>
        <p:nvSpPr>
          <p:cNvPr id="52" name="Side"/>
          <p:cNvSpPr/>
          <p:nvPr/>
        </p:nvSpPr>
        <p:spPr>
          <a:xfrm>
            <a:off x="7423760" y="1720000"/>
            <a:ext cx="4311040" cy="22442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Phương pháp</a:t>
            </a:r>
          </a:p>
          <a:p>
            <a:pPr marL="0" indent="0" algn="ctr">
              <a:lnSpc>
                <a:spcPct val="104000"/>
              </a:lnSpc>
              <a:spcBef>
                <a:spcPts val="300"/>
              </a:spcBef>
              <a:buNone/>
            </a:pPr>
            <a:r>
              <a:rPr lang="en-US" sz="1500" dirty="0">
                <a:solidFill>
                  <a:srgbClr val="000000"/>
                </a:solidFill>
                <a:latin typeface="Arial"/>
                <a:cs typeface="Arial"/>
              </a:rPr>
              <a:t>Kết quả (đối tượng)</a:t>
            </a:r>
          </a:p>
          <a:p>
            <a:pPr marL="0" indent="0" algn="ctr">
              <a:lnSpc>
                <a:spcPct val="104000"/>
              </a:lnSpc>
              <a:spcBef>
                <a:spcPts val="300"/>
              </a:spcBef>
              <a:buNone/>
            </a:pPr>
            <a:r>
              <a:rPr lang="en-US" sz="1500" dirty="0">
                <a:solidFill>
                  <a:srgbClr val="000000"/>
                </a:solidFill>
                <a:latin typeface="Arial"/>
                <a:cs typeface="Arial"/>
              </a:rPr>
              <a:t>Bàn luận (giải thích)</a:t>
            </a:r>
          </a:p>
          <a:p>
            <a:pPr marL="0" indent="0" algn="ctr">
              <a:lnSpc>
                <a:spcPct val="104000"/>
              </a:lnSpc>
              <a:spcBef>
                <a:spcPts val="300"/>
              </a:spcBef>
              <a:buNone/>
            </a:pPr>
            <a:r>
              <a:rPr lang="en-US" sz="1500" dirty="0">
                <a:solidFill>
                  <a:srgbClr val="000000"/>
                </a:solidFill>
                <a:latin typeface="Arial"/>
                <a:cs typeface="Arial"/>
              </a:rPr>
              <a:t>Phương pháp (cách xử lý) và Kết quả (bao nhiêu)</a:t>
            </a:r>
          </a:p>
          <a:p>
            <a:pPr marL="0" indent="0" algn="ctr">
              <a:lnSpc>
                <a:spcPct val="104000"/>
              </a:lnSpc>
              <a:spcBef>
                <a:spcPts val="300"/>
              </a:spcBef>
              <a:buNone/>
            </a:pPr>
            <a:r>
              <a:rPr lang="en-US" sz="1500" dirty="0">
                <a:solidFill>
                  <a:srgbClr val="000000"/>
                </a:solidFill>
                <a:latin typeface="Arial"/>
                <a:cs typeface="Arial"/>
              </a:rPr>
              <a:t>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1  |  45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Viết phần Kết quả: cả lớp cùng viết, rồi mỗi người tự viết</a:t>
            </a:r>
          </a:p>
          <a:p>
            <a:pPr marL="0" indent="0" algn="ctr">
              <a:spcBef>
                <a:spcPts val="1200"/>
              </a:spcBef>
              <a:buNone/>
            </a:pPr>
            <a:r>
              <a:rPr lang="en-US" sz="1900" i="1" dirty="0">
                <a:solidFill>
                  <a:srgbClr val="595959"/>
                </a:solidFill>
                <a:latin typeface="Arial"/>
                <a:cs typeface="Arial"/>
              </a:rPr>
              <a:t>30 phút cả lớp cùng viết Q1, rồi 15 phút cho câu hỏi của riêng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1, phần 1: cả lớp cùng soạn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chia sẻ mẫu bản thảo và gói kết quả Q1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Người tham gia và Bảng 1 (10 phút): khi được mời, bạn đề xuất từng câu</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Kết quả chính (12 phút): số tử vong mỗi nhóm, OR thô và hiệu chỉnh kèm KTC 95%</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Các phân tích khác (5 phút): mô hình Cox và quy gán đa bội</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Kiểm số (3 phút): một học viên đọc đối chiếu từng con số với gói kết quả</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Dùng</a:t>
            </a:r>
          </a:p>
          <a:p>
            <a:pPr marL="0" indent="0" algn="ctr">
              <a:lnSpc>
                <a:spcPct val="104000"/>
              </a:lnSpc>
              <a:spcBef>
                <a:spcPts val="300"/>
              </a:spcBef>
              <a:buNone/>
            </a:pPr>
            <a:r>
              <a:rPr lang="en-US" sz="1500" dirty="0">
                <a:solidFill>
                  <a:srgbClr val="000000"/>
                </a:solidFill>
                <a:latin typeface="Arial"/>
                <a:cs typeface="Arial"/>
              </a:rPr>
              <a:t>Gói kết quả Q1</a:t>
            </a:r>
          </a:p>
          <a:p>
            <a:pPr marL="0" indent="0" algn="ctr">
              <a:lnSpc>
                <a:spcPct val="104000"/>
              </a:lnSpc>
              <a:spcBef>
                <a:spcPts val="300"/>
              </a:spcBef>
              <a:buNone/>
            </a:pPr>
            <a:r>
              <a:rPr lang="en-US" sz="1500" dirty="0">
                <a:solidFill>
                  <a:srgbClr val="000000"/>
                </a:solidFill>
                <a:latin typeface="Arial"/>
                <a:cs typeface="Arial"/>
              </a:rPr>
              <a:t>Mẫu bản thảo</a:t>
            </a:r>
          </a:p>
          <a:p>
            <a:pPr marL="0" indent="0" algn="ctr">
              <a:lnSpc>
                <a:spcPct val="104000"/>
              </a:lnSpc>
              <a:spcBef>
                <a:spcPts val="300"/>
              </a:spcBef>
              <a:buNone/>
            </a:pPr>
            <a:r>
              <a:rPr lang="en-US" sz="1500" dirty="0">
                <a:solidFill>
                  <a:srgbClr val="000000"/>
                </a:solidFill>
                <a:latin typeface="Arial"/>
                <a:cs typeface="Arial"/>
              </a:rPr>
              <a:t>Mục STROBE 13-17</a:t>
            </a:r>
          </a:p>
          <a:p>
            <a:pPr marL="0" indent="0" algn="ctr">
              <a:lnSpc>
                <a:spcPct val="104000"/>
              </a:lnSpc>
              <a:spcBef>
                <a:spcPts val="300"/>
              </a:spcBef>
              <a:buNone/>
            </a:pPr>
            <a:r>
              <a:rPr lang="en-US" sz="1500" dirty="0">
                <a:solidFill>
                  <a:srgbClr val="000000"/>
                </a:solidFill>
                <a:latin typeface="Arial"/>
                <a:cs typeface="Arial"/>
              </a:rPr>
              <a:t>Các ví dụ mẫu (slide)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Phần Kết quả Q1 của lớp, gửi dạng PDF sau buổi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1, phần 2: bắt đầu bản nháp của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Mở gói kết quả của câu hỏi của bạn (Q1 đến Q5)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Theo cấu trúc bản nháp của lớp. Lấy mọi con số từ gói kết quả của bạn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Bắt đầu với người tham gia và câu về Bảng 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Có câu hỏi: giơ tay hoặc dùng khung chat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Ở nhà: hoàn thành phần Kết quả, Bảng 1 và một bảng hoặc hình chính</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Năm câu hỏi</a:t>
            </a:r>
          </a:p>
          <a:p>
            <a:pPr marL="0" indent="0" algn="ctr">
              <a:lnSpc>
                <a:spcPct val="104000"/>
              </a:lnSpc>
              <a:spcBef>
                <a:spcPts val="300"/>
              </a:spcBef>
              <a:buNone/>
            </a:pPr>
            <a:r>
              <a:rPr lang="en-US" sz="1500" dirty="0">
                <a:solidFill>
                  <a:srgbClr val="000000"/>
                </a:solidFill>
                <a:latin typeface="Arial"/>
                <a:cs typeface="Arial"/>
              </a:rPr>
              <a:t>Q1 Cân bằng dịch và tử vong 28 ngày</a:t>
            </a:r>
          </a:p>
          <a:p>
            <a:pPr marL="0" indent="0" algn="ctr">
              <a:lnSpc>
                <a:spcPct val="104000"/>
              </a:lnSpc>
              <a:spcBef>
                <a:spcPts val="300"/>
              </a:spcBef>
              <a:buNone/>
            </a:pPr>
            <a:r>
              <a:rPr lang="en-US" sz="1500" dirty="0">
                <a:solidFill>
                  <a:srgbClr val="000000"/>
                </a:solidFill>
                <a:latin typeface="Arial"/>
                <a:cs typeface="Arial"/>
              </a:rPr>
              <a:t>Q2 Cân bằng dịch và AKI (tổn thương thận cấp)</a:t>
            </a:r>
          </a:p>
          <a:p>
            <a:pPr marL="0" indent="0" algn="ctr">
              <a:lnSpc>
                <a:spcPct val="104000"/>
              </a:lnSpc>
              <a:spcBef>
                <a:spcPts val="300"/>
              </a:spcBef>
              <a:buNone/>
            </a:pPr>
            <a:r>
              <a:rPr lang="en-US" sz="1500" dirty="0">
                <a:solidFill>
                  <a:srgbClr val="000000"/>
                </a:solidFill>
                <a:latin typeface="Arial"/>
                <a:cs typeface="Arial"/>
              </a:rPr>
              <a:t>Q3 Cân bằng dịch và số ngày không thở máy</a:t>
            </a:r>
          </a:p>
          <a:p>
            <a:pPr marL="0" indent="0" algn="ctr">
              <a:lnSpc>
                <a:spcPct val="104000"/>
              </a:lnSpc>
              <a:spcBef>
                <a:spcPts val="300"/>
              </a:spcBef>
              <a:buNone/>
            </a:pPr>
            <a:r>
              <a:rPr lang="en-US" sz="1500" dirty="0">
                <a:solidFill>
                  <a:srgbClr val="000000"/>
                </a:solidFill>
                <a:latin typeface="Arial"/>
                <a:cs typeface="Arial"/>
              </a:rPr>
              <a:t>Q4 Lactat, tử vong và dữ liệu bị thiếu</a:t>
            </a:r>
          </a:p>
          <a:p>
            <a:pPr marL="0" indent="0" algn="ctr">
              <a:lnSpc>
                <a:spcPct val="104000"/>
              </a:lnSpc>
              <a:spcBef>
                <a:spcPts val="300"/>
              </a:spcBef>
              <a:buNone/>
            </a:pPr>
            <a:r>
              <a:rPr lang="en-US" sz="1500" dirty="0">
                <a:solidFill>
                  <a:srgbClr val="000000"/>
                </a:solidFill>
                <a:latin typeface="Arial"/>
                <a:cs typeface="Arial"/>
              </a:rPr>
              <a:t>Q5 Cân bằng dịch và thời gian nằm ICU (người sống sót)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Phần Kết quả của bạn, hạn 23:59 ngày học Buổi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Thuật ngữ</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Nói đơn giản</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Đồng ý trì hoãn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Cấp cứu: đưa vào trước, xin sự đồng ý sớm nhất có thể (hội đồng đã duyệt)</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Đăng ký nghiên cứu</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Hồ sơ công khai về nghiên cứu trước người bệnh đầu tiên (bắt buộc với thử nghiệm)</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FFP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Hành vi sai trái trong nghiên cứu: bịa đặt, làm sai lệch, đạo văn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Tiêu chí ICMJE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Bốn điều kiện mà mọi tác giả phải đáp ứng</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Xung đột lợi ích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Điều có thể bị xem là ảnh hưởng đến nhận định. Hãy khai báo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Bảng kiểm báo cáo nghiên cứu quan sát: Phương pháp mục 4-12, Kết quả 13-17</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Bảng thuật ngữ đầy đủ (Anh-Việt): tệp PDF gửi qua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Bình duyệt: người bình duyệt và các hạn nộp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867110"/>
          <a:ext cx="11277600" cy="208592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Khi nào</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Bạn làm gì</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23:59, thứ Bảy 19/12 (Buổi 8)</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Gửi email phần Kết quả cho người bình duyệt của bạn và trưởng khóa học</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Thứ Bảy 2/1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Người bình duyệt gửi email bản bình duyệt cho tác giả và trưởng khóa học</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Thứ Bảy 30/1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Gửi email phần Kết quả đã sửa và thư phản hồi cho trưởng khóa học</a:t>
                      </a:r>
                    </a:p>
                  </a:txBody>
                  <a:tcPr marL="73152" marR="73152" marT="45720" marB="45720" anchor="ctr">
                    <a:solidFill>
                      <a:srgbClr val="FFFFFF"/>
                    </a:solidFill>
                  </a:tcPr>
                </a:tc>
              </a:tr>
            </a:tbl>
          </a:graphicData>
        </a:graphic>
      </p:graphicFrame>
      <p:sp>
        <p:nvSpPr>
          <p:cNvPr id="31" name="Caption"/>
          <p:cNvSpPr txBox="1"/>
          <p:nvPr/>
        </p:nvSpPr>
        <p:spPr>
          <a:xfrm>
            <a:off x="457200" y="404303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Người bình duyệt được phân công ngẫu nhiên: xem danh sách trên màn hình và trong email. Trưởng khóa học: myluong1710@gmail.com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câu hỏi cuối buổi và bài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Ba thông điệp mang về (bên phải)</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trong khung chat: 'Ai đồng ý cho người bệnh sốc nhiễm khuẩn đang an thần, và khi nào?'</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1: viết Phần 4 cho đề cương của bạn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2: viết phần Kết quả (hạn 23:59 ngày học Buổi 8)</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3: chuẩn bị 6 slide trình bày (mọi người đều nộp)</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Mang về</a:t>
            </a:r>
          </a:p>
          <a:p>
            <a:pPr marL="0" indent="0" algn="ctr">
              <a:lnSpc>
                <a:spcPct val="104000"/>
              </a:lnSpc>
              <a:spcBef>
                <a:spcPts val="300"/>
              </a:spcBef>
              <a:buNone/>
            </a:pPr>
            <a:r>
              <a:rPr lang="en-US" sz="1500" dirty="0">
                <a:solidFill>
                  <a:srgbClr val="000000"/>
                </a:solidFill>
                <a:latin typeface="Arial"/>
                <a:cs typeface="Arial"/>
              </a:rPr>
              <a:t>Chưa phê duyệt thì không có dữ liệu, kể cả 'vài ca'</a:t>
            </a:r>
          </a:p>
          <a:p>
            <a:pPr marL="0" indent="0" algn="ctr">
              <a:lnSpc>
                <a:spcPct val="104000"/>
              </a:lnSpc>
              <a:spcBef>
                <a:spcPts val="300"/>
              </a:spcBef>
              <a:buNone/>
            </a:pPr>
            <a:r>
              <a:rPr lang="en-US" sz="1500" dirty="0">
                <a:solidFill>
                  <a:srgbClr val="000000"/>
                </a:solidFill>
                <a:latin typeface="Arial"/>
                <a:cs typeface="Arial"/>
              </a:rPr>
              <a:t>Mọi tác giả đủ bốn tiêu chí. Khai báo mọi lợi ích</a:t>
            </a:r>
          </a:p>
          <a:p>
            <a:pPr marL="0" indent="0" algn="ctr">
              <a:lnSpc>
                <a:spcPct val="104000"/>
              </a:lnSpc>
              <a:spcBef>
                <a:spcPts val="300"/>
              </a:spcBef>
              <a:buNone/>
            </a:pPr>
            <a:r>
              <a:rPr lang="en-US" sz="1500" dirty="0">
                <a:solidFill>
                  <a:srgbClr val="000000"/>
                </a:solidFill>
                <a:latin typeface="Arial"/>
                <a:cs typeface="Arial"/>
              </a:rPr>
              <a:t>Kết quả = con số kèm KTC, không bình luận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Câu trả lời cuối buổi được đọc trước Buổi 8. Phần 4 và phần Kết quả đã soạn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7</a:t>
            </a:r>
          </a:p>
          <a:p>
            <a:pPr marL="0" indent="0" algn="ctr">
              <a:spcBef>
                <a:spcPts val="1200"/>
              </a:spcBef>
              <a:buNone/>
            </a:pPr>
            <a:r>
              <a:rPr lang="en-US" sz="1900" i="1" dirty="0">
                <a:solidFill>
                  <a:srgbClr val="595959"/>
                </a:solidFill>
                <a:latin typeface="Arial"/>
                <a:cs typeface="Arial"/>
              </a:rPr>
              <a:t>Chỉ dùng khi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có cần đăng ký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Thử nghiệm ngẫu nhiên so sánh hạn chế dịch với dịch thông thường trong sốc nhiễm khuẩn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Tổng quan hệ thống về chiến lược dịch truyền trong nhiễm khuẩn huyết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Nghiên cứu thuần tập hồi cứu từ hồ sơ ICU (như FLUID-ICU)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Đánh giá lâm sàng (audit) việc ghi phiếu cân bằng dịch so với chuẩn của khoa</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Bắt buộc: cơ sở đăng ký thử nghiệm, trước người bệnh đầu tiên</a:t>
            </a:r>
          </a:p>
          <a:p>
            <a:pPr marL="0" indent="0" algn="ctr">
              <a:lnSpc>
                <a:spcPct val="104000"/>
              </a:lnSpc>
              <a:spcBef>
                <a:spcPts val="300"/>
              </a:spcBef>
              <a:buNone/>
            </a:pPr>
            <a:r>
              <a:rPr lang="en-US" sz="1500" dirty="0">
                <a:solidFill>
                  <a:srgbClr val="000000"/>
                </a:solidFill>
                <a:latin typeface="Arial"/>
                <a:cs typeface="Arial"/>
              </a:rPr>
              <a:t>Nên: PROSPERO</a:t>
            </a:r>
          </a:p>
          <a:p>
            <a:pPr marL="0" indent="0" algn="ctr">
              <a:lnSpc>
                <a:spcPct val="104000"/>
              </a:lnSpc>
              <a:spcBef>
                <a:spcPts val="300"/>
              </a:spcBef>
              <a:buNone/>
            </a:pPr>
            <a:r>
              <a:rPr lang="en-US" sz="1500" dirty="0">
                <a:solidFill>
                  <a:srgbClr val="000000"/>
                </a:solidFill>
                <a:latin typeface="Arial"/>
                <a:cs typeface="Arial"/>
              </a:rPr>
              <a:t>Khuyến khích, không bắt buộc</a:t>
            </a:r>
          </a:p>
          <a:p>
            <a:pPr marL="0" indent="0" algn="ctr">
              <a:lnSpc>
                <a:spcPct val="104000"/>
              </a:lnSpc>
              <a:spcBef>
                <a:spcPts val="300"/>
              </a:spcBef>
              <a:buNone/>
            </a:pPr>
            <a:r>
              <a:rPr lang="en-US" sz="1500" dirty="0">
                <a:solidFill>
                  <a:srgbClr val="000000"/>
                </a:solidFill>
                <a:latin typeface="Arial"/>
                <a:cs typeface="Arial"/>
              </a:rPr>
              <a:t>Audit: không đăng ký nghiên cứu. Phê duyệt nội bộ</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IMRaD: hình đồng hồ cát của mọi bài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Đặt vấn đề thu hẹp đến câu hỏi. Bàn luận mở rộng trở lại thực hành.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CRediT: ghi rõ ai làm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CRediT (phân loại vai trò đóng góp): 14 vai trò chuẩn mà tạp chí ngày nay yêu cầu.</a:t>
            </a:r>
          </a:p>
        </p:txBody>
      </p:sp>
      <p:sp>
        <p:nvSpPr>
          <p:cNvPr id="70" name="CardHead"/>
          <p:cNvSpPr/>
          <p:nvPr/>
        </p:nvSpPr>
        <p:spPr>
          <a:xfrm>
            <a:off x="457200" y="17656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Một số trong 14 vai trò</a:t>
            </a:r>
          </a:p>
        </p:txBody>
      </p:sp>
      <p:sp>
        <p:nvSpPr>
          <p:cNvPr id="71" name="CardBody"/>
          <p:cNvSpPr/>
          <p:nvPr/>
        </p:nvSpPr>
        <p:spPr>
          <a:xfrm>
            <a:off x="457200"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Conceptualization</a:t>
            </a:r>
          </a:p>
          <a:p>
            <a:pPr marL="0" indent="0" algn="ctr">
              <a:lnSpc>
                <a:spcPct val="104000"/>
              </a:lnSpc>
              <a:spcBef>
                <a:spcPts val="400"/>
              </a:spcBef>
              <a:buNone/>
            </a:pPr>
            <a:r>
              <a:rPr lang="en-US" sz="1750" dirty="0">
                <a:solidFill>
                  <a:srgbClr val="000000"/>
                </a:solidFill>
                <a:latin typeface="Arial"/>
                <a:cs typeface="Arial"/>
              </a:rPr>
              <a:t>Methodology</a:t>
            </a:r>
          </a:p>
          <a:p>
            <a:pPr marL="0" indent="0" algn="ctr">
              <a:lnSpc>
                <a:spcPct val="104000"/>
              </a:lnSpc>
              <a:spcBef>
                <a:spcPts val="400"/>
              </a:spcBef>
              <a:buNone/>
            </a:pPr>
            <a:r>
              <a:rPr lang="en-US" sz="1750" dirty="0">
                <a:solidFill>
                  <a:srgbClr val="000000"/>
                </a:solidFill>
                <a:latin typeface="Arial"/>
                <a:cs typeface="Arial"/>
              </a:rPr>
              <a:t>Investigation</a:t>
            </a:r>
          </a:p>
          <a:p>
            <a:pPr marL="0" indent="0" algn="ctr">
              <a:lnSpc>
                <a:spcPct val="104000"/>
              </a:lnSpc>
              <a:spcBef>
                <a:spcPts val="400"/>
              </a:spcBef>
              <a:buNone/>
            </a:pPr>
            <a:r>
              <a:rPr lang="en-US" sz="1750" dirty="0">
                <a:solidFill>
                  <a:srgbClr val="000000"/>
                </a:solidFill>
                <a:latin typeface="Arial"/>
                <a:cs typeface="Arial"/>
              </a:rPr>
              <a:t>Formal analysis</a:t>
            </a:r>
          </a:p>
          <a:p>
            <a:pPr marL="0" indent="0" algn="ctr">
              <a:lnSpc>
                <a:spcPct val="104000"/>
              </a:lnSpc>
              <a:spcBef>
                <a:spcPts val="400"/>
              </a:spcBef>
              <a:buNone/>
            </a:pPr>
            <a:r>
              <a:rPr lang="en-US" sz="1750" dirty="0">
                <a:solidFill>
                  <a:srgbClr val="000000"/>
                </a:solidFill>
                <a:latin typeface="Arial"/>
                <a:cs typeface="Arial"/>
              </a:rPr>
              <a:t>Writing (original draft)</a:t>
            </a:r>
          </a:p>
          <a:p>
            <a:pPr marL="0" indent="0" algn="ctr">
              <a:lnSpc>
                <a:spcPct val="104000"/>
              </a:lnSpc>
              <a:spcBef>
                <a:spcPts val="400"/>
              </a:spcBef>
              <a:buNone/>
            </a:pPr>
            <a:r>
              <a:rPr lang="en-US" sz="1750" dirty="0">
                <a:solidFill>
                  <a:srgbClr val="000000"/>
                </a:solidFill>
                <a:latin typeface="Arial"/>
                <a:cs typeface="Arial"/>
              </a:rPr>
              <a:t>Writing (review and editing)</a:t>
            </a:r>
          </a:p>
          <a:p>
            <a:pPr marL="0" indent="0" algn="ctr">
              <a:lnSpc>
                <a:spcPct val="104000"/>
              </a:lnSpc>
              <a:spcBef>
                <a:spcPts val="400"/>
              </a:spcBef>
              <a:buNone/>
            </a:pPr>
            <a:r>
              <a:rPr lang="en-US" sz="1750" dirty="0">
                <a:solidFill>
                  <a:srgbClr val="000000"/>
                </a:solidFill>
                <a:latin typeface="Arial"/>
                <a:cs typeface="Arial"/>
              </a:rPr>
              <a:t>Supervision</a:t>
            </a:r>
          </a:p>
        </p:txBody>
      </p:sp>
      <p:sp>
        <p:nvSpPr>
          <p:cNvPr id="72" name="CardHead"/>
          <p:cNvSpPr/>
          <p:nvPr/>
        </p:nvSpPr>
        <p:spPr>
          <a:xfrm>
            <a:off x="4283066" y="17656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đã làm</a:t>
            </a:r>
          </a:p>
        </p:txBody>
      </p:sp>
      <p:sp>
        <p:nvSpPr>
          <p:cNvPr id="73" name="CardBody"/>
          <p:cNvSpPr/>
          <p:nvPr/>
        </p:nvSpPr>
        <p:spPr>
          <a:xfrm>
            <a:off x="4283066"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NB: Writing (original draft)</a:t>
            </a:r>
          </a:p>
          <a:p>
            <a:pPr marL="0" indent="0" algn="ctr">
              <a:lnSpc>
                <a:spcPct val="104000"/>
              </a:lnSpc>
              <a:spcBef>
                <a:spcPts val="400"/>
              </a:spcBef>
              <a:buNone/>
            </a:pPr>
            <a:r>
              <a:rPr lang="en-US" sz="1750" dirty="0">
                <a:solidFill>
                  <a:srgbClr val="000000"/>
                </a:solidFill>
                <a:latin typeface="Arial"/>
                <a:cs typeface="Arial"/>
              </a:rPr>
              <a:t>CS: Methodology, Formal analysis</a:t>
            </a:r>
          </a:p>
          <a:p>
            <a:pPr marL="0" indent="0" algn="ctr">
              <a:lnSpc>
                <a:spcPct val="104000"/>
              </a:lnSpc>
              <a:spcBef>
                <a:spcPts val="400"/>
              </a:spcBef>
              <a:buNone/>
            </a:pPr>
            <a:r>
              <a:rPr lang="en-US" sz="1750" dirty="0">
                <a:solidFill>
                  <a:srgbClr val="000000"/>
                </a:solidFill>
                <a:latin typeface="Arial"/>
                <a:cs typeface="Arial"/>
              </a:rPr>
              <a:t>SDB: Conceptualization, Supervision, Funding acquisition</a:t>
            </a:r>
          </a:p>
        </p:txBody>
      </p:sp>
      <p:sp>
        <p:nvSpPr>
          <p:cNvPr id="74" name="CardHead"/>
          <p:cNvSpPr/>
          <p:nvPr/>
        </p:nvSpPr>
        <p:spPr>
          <a:xfrm>
            <a:off x="8108932" y="176561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Đề cương của bạn</a:t>
            </a:r>
          </a:p>
        </p:txBody>
      </p:sp>
      <p:sp>
        <p:nvSpPr>
          <p:cNvPr id="75" name="CardBody"/>
          <p:cNvSpPr/>
          <p:nvPr/>
        </p:nvSpPr>
        <p:spPr>
          <a:xfrm>
            <a:off x="8108932"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Thống nhất danh sách tác giả ngay</a:t>
            </a:r>
          </a:p>
          <a:p>
            <a:pPr marL="0" indent="0" algn="ctr">
              <a:lnSpc>
                <a:spcPct val="104000"/>
              </a:lnSpc>
              <a:spcBef>
                <a:spcPts val="400"/>
              </a:spcBef>
              <a:buNone/>
            </a:pPr>
            <a:r>
              <a:rPr lang="en-US" sz="1750" dirty="0">
                <a:solidFill>
                  <a:srgbClr val="000000"/>
                </a:solidFill>
                <a:latin typeface="Arial"/>
                <a:cs typeface="Arial"/>
              </a:rPr>
              <a:t>Ghi vai trò từng người</a:t>
            </a:r>
          </a:p>
          <a:p>
            <a:pPr marL="0" indent="0" algn="ctr">
              <a:lnSpc>
                <a:spcPct val="104000"/>
              </a:lnSpc>
              <a:spcBef>
                <a:spcPts val="400"/>
              </a:spcBef>
              <a:buNone/>
            </a:pPr>
            <a:r>
              <a:rPr lang="en-US" sz="1750" dirty="0">
                <a:solidFill>
                  <a:srgbClr val="000000"/>
                </a:solidFill>
                <a:latin typeface="Arial"/>
                <a:cs typeface="Arial"/>
              </a:rPr>
              <a:t>Xem lại trước khi nộp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Vai trò minh bạch ngăn tác giả 'danh dự' và tác giả 'ma'.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