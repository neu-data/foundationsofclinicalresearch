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tiêu đề (0:00, 19:30). Chào mừng cả lớp, mỗi giảng viên tự giới thiệu một câu.</a:t>
            </a:r>
          </a:p>
          <a:p>
            <a:r>
              <a:rPr lang="en-US" sz="1400" b="0" dirty="0"/>
              <a:t>Trong tám tối thứ Bảy, chúng ta đi hết con đường từ một câu hỏi tại giường bệnh đến một bài báo sẵn sàng để nộp. Không cần phần mềm, không học công thức: học bằng hình ảnh, ví dụ và bài tập ngắn cả lớp cùng làm.</a:t>
            </a:r>
          </a:p>
          <a:p>
            <a:r>
              <a:rPr lang="en-US" sz="1400" b="0" dirty="0"/>
              <a:t>Nhờ mọi người đổi tên hiển thị thành họ và tên đầy đủ, và tìm khung chat, chức năng bình chọn (poll) và nút 'giơ tay'.</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'Hãy nghĩ tới một việc trong khoa mà mỗi người làm một kiểu và chưa ai biết cách nào tốt nhất. Gõ vào khung chat.' Đọc to hai ba câu trả lời.</a:t>
            </a:r>
          </a:p>
          <a:p>
            <a:r>
              <a:rPr lang="en-US" sz="1400" b="0" dirty="0"/>
              <a:t>Ý chính: nghiên cứu bắt đầu từ điều còn chưa chắc chắn trong lâm sàng, không phải từ thống kê.</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Tuần 1-2: câu hỏi và bằng chứng. Tuần 3-4: thiết kế và sai lệch. Tuần 5-6: dữ liệu và phân tích. Tuần 7-8: đạo đức, viết và công bố. Mỗi thứ Bảy một buổi, giữa hai buổi có một tuần để làm bài về nhà.</a:t>
            </a:r>
          </a:p>
          <a:p>
            <a:r>
              <a:rPr lang="en-US" sz="1400" b="0" dirty="0"/>
              <a:t>Một ví dụ xuyên suốt cả khóa: dịch truyền trong sốc nhiễm khuẩn và tử vong 28 ngày. Từ Buổi 5, ví dụ này tiếp tục trong nghiên cứu của khóa học, FLUID-ICU.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Cấp độ 1 đưa bạn từ câu hỏi lâm sàng đến bài báo. Ở cấp độ này giảng viên chạy phần mềm, các bạn đọc và diễn giải kết quả. Cấp độ 2 dạy mô hình thống kê bằng R. Cấp độ 3 gồm các phương pháp nâng cao, theo yêu cầu.</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viết từng phần trên lớp, nộp ở Buổi 8. Vài bạn tình nguyện trình bày (mỗi người 6 phút).</a:t>
            </a:r>
          </a:p>
          <a:p>
            <a:r>
              <a:rPr lang="en-US" sz="1400" b="0" dirty="0"/>
              <a:t>Bản thảo: FLUID-ICU là nghiên cứu của khóa học trên 620 người bệnh ICU bị nhiễm khuẩn huyết, có năm câu hỏi (Q1 đến Q5). Mỗi người chọn một câu, nhận bảng và hình kết quả, rồi viết bài. Sau Buổi 8, mỗi người phản biện bản thảo của một đồng nghiệp.</a:t>
            </a:r>
          </a:p>
          <a:p>
            <a:r>
              <a:rPr lang="en-US" sz="1400" b="0" dirty="0"/>
              <a:t>Cả hai viết bằng tiếng Anh. Có thể viết bằng tiếng Việt nếu thật sự không viết được tiếng Anh.</a:t>
            </a:r>
          </a:p>
          <a:p>
            <a:r>
              <a:rPr lang="en-US" sz="1400" b="0" dirty="0"/>
              <a:t>Hướng dẫn: Course/Assignment/proposal_brief và manuscript_brief.</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thẻ ứng với hai tuần. Mục tiêu là hiểu và diễn giải, không phải tính toán.</a:t>
            </a:r>
          </a:p>
          <a:p>
            <a:r>
              <a:rPr lang="en-US" sz="1400" b="0" dirty="0"/>
              <a:t>Hỏi: 'Thẻ nào làm bạn lo nhất? Trả lời trong chat.' Thường là phân tích. Trấn an: lớp đi chậm và kiểm tra mức hiểu thường xuyên.</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thứ Bảy cùng một nhịp: ôn tập, hai phần học có kiểm tra và bài tập ngắn, 15 phút giải lao, rồi thời gian viết đề cương hoặc bài báo.</a:t>
            </a:r>
          </a:p>
          <a:p>
            <a:r>
              <a:rPr lang="en-US" sz="1400" b="0" dirty="0"/>
              <a:t>Cuối mỗi buổi có slide bổ sung, chỉ dùng khi còn thời gian. Các bạn có thể tự đọc ở nhà.</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mỗi phần xây dựng đề cương, giảng viên điền trước phần đó cho ví dụ xuyên suốt trên màn hình chia sẻ. Sau đó bạn viết cùng phần đó cho câu hỏi của mình.</a:t>
            </a:r>
          </a:p>
          <a:p>
            <a:r>
              <a:rPr lang="en-US" sz="1400" b="0" dirty="0"/>
              <a:t>Mẫu: Course/Templates/Research_Proposal_Template.docx (gửi qua email trước Buổi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30 bác sĩ và điều dưỡng học từ nhà. Cả lớp làm việc như một nhóm, không chia nhóm.</a:t>
            </a:r>
          </a:p>
          <a:p>
            <a:r>
              <a:rPr lang="en-US" sz="1400" b="0" dirty="0"/>
              <a:t>Cho 3 phút để gõ. Sau đó mời 4-5 người nói câu hỏi của mình và chỉ ra các chủ đề chung (dịch truyền, an thần, nhiễm khuẩn, vận động sớm, an toàn dùng thuốc).</a:t>
            </a:r>
          </a:p>
          <a:p>
            <a:r>
              <a:rPr lang="en-US" sz="1400" b="0" dirty="0"/>
              <a:t>Các câu hỏi nằm sẵn trong chat. Ở phần Xây dựng đề cương 1, mọi người có thể kéo lên xem lại.</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nơi an toàn để nói 'tôi chưa hiểu'. Có thể nhắn riêng cho giảng viên trong chat.</a:t>
            </a:r>
          </a:p>
          <a:p>
            <a:r>
              <a:rPr lang="en-US" sz="1400" b="0" dirty="0"/>
              <a:t>Chat bằng tiếng Việt hoặc tiếng Anh, miễn giúp bạn suy nghĩ. Không nêu tên hay chi tiết nhận dạng người bệnh.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Dán đường link Google Form vào chat. Biểu mẫu hỏi họ và tên để ghép bài làm ở Buổi 1 và Buổi 8.</a:t>
            </a:r>
          </a:p>
          <a:p>
            <a:r>
              <a:rPr lang="en-US" sz="1400" b="0" dirty="0"/>
              <a:t>Học viên không thấy điểm hay đáp án sau khi gửi. Giảng viên xem kết quả ngay trong thẻ Câu trả lời (Responses) của biểu mẫu và bảng kết quả liên kết.</a:t>
            </a:r>
          </a:p>
          <a:p>
            <a:r>
              <a:rPr lang="en-US" sz="1400" b="0" dirty="0"/>
              <a:t>Đóng biểu mẫu sau 15 phút. Hôm nay không chữa đáp án: đáp án được chia sẻ sau lần làm thứ hai ở Buổi 8.</a:t>
            </a:r>
          </a:p>
          <a:p>
            <a:r>
              <a:rPr lang="en-US" sz="1400" b="0" dirty="0"/>
              <a:t>Thời gian: 15 phút. Phần học Buổi 1 bắt đầu lúc 0:35 (20:05).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20:05), ngay sau bài kiểm tra đầu khóa.</a:t>
            </a:r>
          </a:p>
          <a:p>
            <a:r>
              <a:rPr lang="en-US" sz="1400" b="0" dirty="0"/>
              <a:t>Mục tiêu hôm nay: mỗi người ra về với bản nháp câu hỏi nghiên cứu, mục tiêu tổng quát và mục tiêu cụ thể của riêng mình.</a:t>
            </a:r>
          </a:p>
          <a:p>
            <a:r>
              <a:rPr lang="en-US" sz="1400" b="0" dirty="0"/>
              <a:t>Học viên hầu như chưa có nền tảng nghiên cứu và đây là buổi tối sau giờ làm: đi chậm, dừng lại ở mọi slide kiểm tra.</a:t>
            </a:r>
          </a:p>
          <a:p>
            <a:r>
              <a:rPr lang="en-US" sz="1400" b="0" dirty="0"/>
              <a:t>Thời gian: 1 phút. Chỉ vào chương trình, không đọc to.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1.1 (0:35-1:10, 20:05-20:40).</a:t>
            </a:r>
          </a:p>
          <a:p>
            <a:r>
              <a:rPr lang="en-US" sz="1400" b="0" dirty="0"/>
              <a:t>Mời hai ba người bật micro trả lời. Thường gặp: kinh nghiệm thiên về những ca đáng nhớ, đồng nghiệp mỗi người một ý, thực hành thay đổi.</a:t>
            </a:r>
          </a:p>
          <a:p>
            <a:r>
              <a:rPr lang="en-US" sz="1400" b="0" dirty="0"/>
              <a:t>Ý chính: kinh nghiệm giúp nảy ra câu hỏi, nhưng không đủ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người bệnh, không có nhóm so sánh. Bên phải: mỗi nhóm 50 người bệnh, đếm mọi ca tử vong.</a:t>
            </a:r>
          </a:p>
          <a:p>
            <a:r>
              <a:rPr lang="en-US" sz="1400" b="0" dirty="0"/>
              <a:t>Các con số chỉ để minh họa, nhưng xu hướng là có thật: thử nghiệm lớn CLASSIC (NEJM 2022, 1554 người bệnh) thấy tử vong 90 ngày như nhau giữa hạn chế dịch và truyền dịch chuẩn (42.3% so với 42.1%).</a:t>
            </a:r>
          </a:p>
          <a:p>
            <a:r>
              <a:rPr lang="en-US" sz="1400" b="0" dirty="0"/>
              <a:t>Hỏi: 'Vì sao mình nhớ ba ca tốt?' Thường gặp: sai lệch nhớ lại (recall bias). Ca kịch tính thì nhớ, ca thất bại thì quên.</a:t>
            </a:r>
          </a:p>
          <a:p>
            <a:r>
              <a:rPr lang="en-US" sz="1400" b="0" dirty="0"/>
              <a:t>Thời gian: 4 phút.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mô phỏng: nguy cơ tử vong thật là 40%. Hàng trên: 20 khoa, mỗi khoa 5 người bệnh, tỷ lệ tử vong từ 0% đến 80% chỉ do ngẫu nhiên. Nhóm 500 người tập trung quanh 40%.</a:t>
            </a:r>
          </a:p>
          <a:p>
            <a:r>
              <a:rPr lang="en-US" sz="1400" b="0" dirty="0"/>
              <a:t>Bình chọn (có / không / chưa biết được): 'Một khoa có 0/5 người bệnh tử vong sau quy trình mới. Quy trình có hiệu quả không?' Đáp án: chưa biết được, vì 0/5 xảy ra thường xuyên do ngẫu nhiên.</a:t>
            </a:r>
          </a:p>
          <a:p>
            <a:r>
              <a:rPr lang="en-US" sz="1400" b="0" dirty="0"/>
              <a:t>Thời gian: 4 phút. Cỡ mẫu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dưới lên: ý kiến chuyên gia, loạt ca, bệnh-chứng, thuần tập, thử nghiệm ngẫu nhiên, và tổng quan hệ thống gộp nhiều nghiên cứu.</a:t>
            </a:r>
          </a:p>
          <a:p>
            <a:r>
              <a:rPr lang="en-US" sz="1400" b="0" dirty="0"/>
              <a:t>Thiết kế càng cao càng chống sai lệch tốt hơn với câu hỏi 'điều trị X có hiệu quả không?'. Thử nghiệm nhỏ hoặc làm kém vẫn có thể sai.</a:t>
            </a:r>
          </a:p>
          <a:p>
            <a:r>
              <a:rPr lang="en-US" sz="1400" b="0" dirty="0"/>
              <a:t>Với câu hỏi về tần suất, tác hại và tiên lượng, thiết kế quan sát thường là lựa chọn đúng.</a:t>
            </a:r>
          </a:p>
          <a:p>
            <a:r>
              <a:rPr lang="en-US" sz="1400" b="0" dirty="0"/>
              <a:t>Thời gian: 4 phút. Buổi 3 học kỹ từng thiết kế: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1 phút rồi chia sẻ kết quả. Đáp án: A, B, C, D.</a:t>
            </a:r>
          </a:p>
          <a:p>
            <a:r>
              <a:rPr lang="en-US" sz="1400" b="0" dirty="0"/>
              <a:t>C chính là thử nghiệm CLASSIC, không thấy khác biệt tử vong 90 ngày.</a:t>
            </a:r>
          </a:p>
          <a:p>
            <a:r>
              <a:rPr lang="en-US" sz="1400" b="0" dirty="0"/>
              <a:t>Điều gì làm C yếu hơn B? Quá nhỏ, mất nhiều người bệnh, hoặc người bệnh khác với người bệnh của mình.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bài báo này được nhắc đến ở mọi buổi.</a:t>
            </a:r>
          </a:p>
          <a:p>
            <a:r>
              <a:rPr lang="en-US" sz="1400" b="0" dirty="0"/>
              <a:t>Bài báo 1: thử nghiệm thí điểm tại ba ICU ở Pháp. Thử nghiệm thí điểm là một thử nghiệm nhỏ để xem có làm được thử nghiệm lớn hay không. Nghiên cứu hạn chế dịch 'không nhằm hồi sức' (dịch duy trì và dịch pha thuốc).</a:t>
            </a:r>
          </a:p>
          <a:p>
            <a:r>
              <a:rPr lang="en-US" sz="1400" b="0" dirty="0"/>
              <a:t>Bài báo 2: thuần tập ghép cặp từ sổ đăng ký của Liên minh Nhiễm khuẩn huyết Hàn Quốc, giống lựa chọn B trong câu hỏi nhanh.</a:t>
            </a:r>
          </a:p>
          <a:p>
            <a:r>
              <a:rPr lang="en-US" sz="1400" b="0" dirty="0"/>
              <a:t>Chưa cần đọc bây giờ. Ở Buổi 2, cả lớp cùng đọc phần tóm tắt của Bài báo 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ô một câu. Tuần 1-2 học ba ô màu xanh đậm: vấn đề, câu hỏi, tìm y văn.</a:t>
            </a:r>
          </a:p>
          <a:p>
            <a:r>
              <a:rPr lang="en-US" sz="1400" b="0" dirty="0"/>
              <a:t>Quan niệm sai: 'nghiên cứu là thu thập số liệu'. Thu thập số liệu đến sau câu hỏi, thiết kế và phê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hàng đầu: loại dữ liệu. Hai hàng cuối: nguồn dữ liệu.</a:t>
            </a:r>
          </a:p>
          <a:p>
            <a:r>
              <a:rPr lang="en-US" sz="1400" b="0" dirty="0"/>
              <a:t>Quan niệm sai: 'nghiên cứu định tính chỉ là ý kiến'. Nó có phương pháp chặt chẽ riêng.</a:t>
            </a:r>
          </a:p>
          <a:p>
            <a:r>
              <a:rPr lang="en-US" sz="1400" b="0" dirty="0"/>
              <a:t>Thời gian: 3 phút. Thiết kế định tính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hai ba người trả lời ngắn. Đáp án ở slide sau.</a:t>
            </a:r>
          </a:p>
          <a:p>
            <a:r>
              <a:rPr lang="en-US" sz="1400" b="0" dirty="0"/>
              <a:t>Nếu lớp lưỡng lự ở câu C: hồ sơ được ghi để chăm sóc người bệnh, không phải cho nghiên cứu này, nên dùng lại là nghiên cứu thứ cấp.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câu hỏi phân loại được gần như mọi nghiên cứu: loại dữ liệu và nguồn dữ liệu.</a:t>
            </a:r>
          </a:p>
          <a:p>
            <a:r>
              <a:rPr lang="en-US" sz="1400" b="0" dirty="0"/>
              <a:t>Nghiên cứu thứ cấp thường khả thi nhất với một khoa bận rộn, nếu hồ sơ được ghi tốt (Buổi 5).</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Màu cho biết tuần nào của khóa học dạy trạm đó.</a:t>
            </a:r>
          </a:p>
          <a:p>
            <a:r>
              <a:rPr lang="en-US" sz="1400" b="0" dirty="0"/>
              <a:t>Trạm 1-6 là lên kế hoạch và thực hiện nghiên cứu. Trạm 7-11 là công bố. Thử nghiệm phải đăng ký trước khi nhận người bệnh đầu tiên. Con đường thường mất một đến ba năm, và nhiều nghiên cứu dừng lại ở trạm 7.</a:t>
            </a:r>
          </a:p>
          <a:p>
            <a:r>
              <a:rPr lang="en-US" sz="1400" b="0" dirty="0"/>
              <a:t>Hỏi: 'Nghiên cứu ở bệnh viện hay bị kẹt ở trạm nào?' Thường gặp: thủ tục đạo đức, thu thập số liệu hoặc viết bài.</a:t>
            </a:r>
          </a:p>
          <a:p>
            <a:r>
              <a:rPr lang="en-US" sz="1400" b="0" dirty="0"/>
              <a:t>Thời gian: 3 phút, rồi 3 phút hỏi đáp. Phần 1.1 kết thúc lúc 1:10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(1:10-1:25, 20:40-20:55). Gửi giờ bắt đầu lại vào chat, kèm đường link phiếu bài tập Buổi 1: Bài tập 1 dùng sau giải lao.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1.2 (1:25-2:05, 20:55-21:35).</a:t>
            </a:r>
          </a:p>
          <a:p>
            <a:r>
              <a:rPr lang="en-US" sz="1400" b="0" dirty="0"/>
              <a:t>Một băn khoăn mơ hồ ('dịch truyền có hại không?') phải thành một câu hỏi chính xác trước khi làm bất cứ việc gì khác.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câu hỏi thường gặp, đều từ công việc hằng ngày.</a:t>
            </a:r>
          </a:p>
          <a:p>
            <a:r>
              <a:rPr lang="en-US" sz="1400" b="0" dirty="0"/>
              <a:t>Trước khi gọi một việc là nghiên cứu, hãy kiểm tra câu trả lời đã có chưa. Nếu có rồi, việc cần làm là áp dụng.</a:t>
            </a:r>
          </a:p>
          <a:p>
            <a:r>
              <a:rPr lang="en-US" sz="1400" b="0" dirty="0"/>
              <a:t>Nhắc lại các câu hỏi cả lớp đã gõ vào chat lúc đầu buổi.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(đối tượng), Intervention (can thiệp), Comparison (so sánh), Outcome (kết cục). T (Time, thời gian) cho biết khi nào đo kết cục.</a:t>
            </a:r>
          </a:p>
          <a:p>
            <a:r>
              <a:rPr lang="en-US" sz="1400" b="0" dirty="0"/>
              <a:t>Mỗi chữ cái buộc mình quyết định: người bệnh nào, hạn chế thế nào, so với gì, kết cục nào và đo lúc nào?</a:t>
            </a:r>
          </a:p>
          <a:p>
            <a:r>
              <a:rPr lang="en-US" sz="1400" b="0" dirty="0"/>
              <a:t>Hỏi: 'Tử vong 28 ngày có phải kết cục hợp lý duy nhất?' Thường gặp: tử vong 90 ngày, tổn thương thận cần lọc máu, cân bằng dịch.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ở các khoa khác. PECO là PICO với E (Exposure, phơi nhiễm) thay cho I: một yếu tố người bệnh có sẵn, nhà nghiên cứu không chỉ định, như béo phì hay cân bằng dịch dương.</a:t>
            </a:r>
          </a:p>
          <a:p>
            <a:r>
              <a:rPr lang="en-US" sz="1400" b="0" dirty="0"/>
              <a:t>Hàng 3 chỉ cần P và O (và T): hỏi một điều phổ biến đến mức nào.</a:t>
            </a:r>
          </a:p>
          <a:p>
            <a:r>
              <a:rPr lang="en-US" sz="1400" b="0" dirty="0"/>
              <a:t>Hỏi: 'Hãy đặt một câu hỏi PECO về dịch truyền.' Gợi ý: ở người lớn bị nhiễm khuẩn huyết, cân bằng dịch dương đến ngày 3, so với cân bằng trung tính hoặc âm, có liên quan với tử vong đến ngày 28 không? Đây là câu hỏi của Bài báo 2.</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chậm câu hỏi. Cho 1 phút bình chọn. Đáp án: C. D là thời gian (T), A thuộc P, B là I.</a:t>
            </a:r>
          </a:p>
          <a:p>
            <a:r>
              <a:rPr lang="en-US" sz="1400" b="0" dirty="0"/>
              <a:t>Chú ý nếu có người chọn 'sốc nhiễm khuẩn' là kết cục: nó đã xảy ra rồi, nên nó xác định ai đủ tiêu chuẩn.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cục phải là điều có thể xảy ra sau khi bắt đầu can thiệp.</a:t>
            </a:r>
          </a:p>
          <a:p>
            <a:r>
              <a:rPr lang="en-US" sz="1400" b="0" dirty="0"/>
              <a:t>Kết cục của Bài báo 1 là cân bằng dịch, không phải tử vong, nên bài này không trả lời được câu hỏi tử vong 28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Động từ cho biết loại câu hỏi: 'bao nhiêu' là mô tả, 'có liên quan với' là quan sát, 'có làm giảm' gợi ý thử nghiệm.</a:t>
            </a:r>
          </a:p>
          <a:p>
            <a:r>
              <a:rPr lang="en-US" sz="1400" b="0" dirty="0"/>
              <a:t>Hỏi: 'Bài báo 2 thuộc ô nào?' Đáp án: phân tích, quan sát (thuần tập).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ngoài hành lang, từ nào cũng chưa rõ. Bên phải: cùng băn khoăn đó, viết theo PICO(T).</a:t>
            </a:r>
          </a:p>
          <a:p>
            <a:r>
              <a:rPr lang="en-US" sz="1400" b="0" dirty="0"/>
              <a:t>Hỏi: 'Hãy làm câu này trả lời được: Albumin có tốt hơn không?' Gợi ý: ở người lớn bị sốc nhiễm khuẩn, albumin kèm dịch tinh thể, so với chỉ dịch tinh thể, có làm giảm tử vong 28 ngày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 Feasible (khả thi), Interesting (thú vị), Novel (mới), Ethical (đạo đức), Relevant (phù hợp), theo Hulley, sách Designing Clinical Research.</a:t>
            </a:r>
          </a:p>
          <a:p>
            <a:r>
              <a:rPr lang="en-US" sz="1400" b="0" dirty="0"/>
              <a:t>Khả thi là tiêu chí hay trượt nhất trong nghiên cứu tại bệnh viện: không đủ người bệnh, hoặc kết cục quá hiếm.</a:t>
            </a:r>
          </a:p>
          <a:p>
            <a:r>
              <a:rPr lang="en-US" sz="1400" b="0" dirty="0"/>
              <a:t>Mới không có nghĩa là 'chưa ai nghiên cứu': làm ở bối cảnh mới hoặc với thiết kế tốt hơn vẫn có thể là mới.</a:t>
            </a:r>
          </a:p>
          <a:p>
            <a:r>
              <a:rPr lang="en-US" sz="1400" b="0" dirty="0"/>
              <a:t>Bình chọn (F, I, N, E, R): 'Ví dụ xuyên suốt trượt tiêu chí nào?'</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muốn thấy khác biệt vài điểm phần trăm về tử vong cần hơn một nghìn người bệnh. Hai thử nghiệm CLASSIC (2022) và CLOVERS (2023) mỗi thử nghiệm có hơn 1500 người.</a:t>
            </a:r>
          </a:p>
          <a:p>
            <a:r>
              <a:rPr lang="en-US" sz="1400" b="0" dirty="0"/>
              <a:t>N màu vàng: các thử nghiệm lớn đó không thấy khác biệt về tử vong. E màu vàng: xin đồng ý trong sốc nhiễm khuẩn rất khó (Buổi 7).</a:t>
            </a:r>
          </a:p>
          <a:p>
            <a:r>
              <a:rPr lang="en-US" sz="1400" b="0" dirty="0"/>
              <a:t>Cách thu nhỏ: đổi kết cục, làm thử nghiệm thí điểm như Bài báo 1, hoặc đặt câu hỏi mô tả. Slide sau làm đúng việc này.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Chia sẻ Bài tập 1 còn trống và gõ câu trả lời khi mọi người nói, mỗi chữ cái mời một người.</a:t>
            </a:r>
          </a:p>
          <a:p>
            <a:r>
              <a:rPr lang="en-US" sz="1400" b="0" dirty="0"/>
              <a:t>Đa số lớp chọn A hoặc C. Nếu chia đều, chọn A: đó là thử nghiệm thí điểm Bài báo 1 đã làm, và bài tập nhanh ở phần 1.3 dùng lại nó.</a:t>
            </a:r>
          </a:p>
          <a:p>
            <a:r>
              <a:rPr lang="en-US" sz="1400" b="0" dirty="0"/>
              <a:t>Phiên bản B là câu hỏi PECO (cân bằng dịch là phơi nhiễm). Đó là câu hỏi chính của nghiên cứu FLUID-ICU của khóa học.</a:t>
            </a:r>
          </a:p>
          <a:p>
            <a:r>
              <a:rPr lang="en-US" sz="1400" b="0" dirty="0"/>
              <a:t>Lỗi hay gặp: thiếu nhóm so sánh, kết cục không có mốc thời gian, hai kết cục trong một câu hỏi.</a:t>
            </a:r>
          </a:p>
          <a:p>
            <a:r>
              <a:rPr lang="en-US" sz="1400" b="0" dirty="0"/>
              <a:t>Đáp án mẫu: Course/Solutions/s1_solutions.md, Bài tập 1.</a:t>
            </a:r>
          </a:p>
          <a:p>
            <a:r>
              <a:rPr lang="en-US" sz="1400" b="0" dirty="0"/>
              <a:t>Thời gian: 8 phút làm + 3 phút tổng kết. Phần 1.3 bắt đầu lúc 2:05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1.3 (2:05-2:25, 21:35-21:55).</a:t>
            </a:r>
          </a:p>
          <a:p>
            <a:r>
              <a:rPr lang="en-US" sz="1400" b="0" dirty="0"/>
              <a:t>Mục tiêu tổng quát (aim), mục tiêu cụ thể (objectives) và giả thuyết là câu hỏi viết thành kế hoạch. Hội đồng đạo đức đọc phần này đầu tiên.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tiêu tổng quát là mục đích chung ('So sánh...', 'Mô tả...'). Mục tiêu cụ thể là các bước cụ thể, đo được.</a:t>
            </a:r>
          </a:p>
          <a:p>
            <a:r>
              <a:rPr lang="en-US" sz="1400" b="0" dirty="0"/>
              <a:t>Đánh dấu mục tiêu chính: nó quyết định cỡ mẫu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'Tìm hiểu' thì không bao giờ xong và không kiểm tra được. 'So sánh cân bằng dịch ngày 5' nêu rõ kết cục, thời điểm và phép so sánh.</a:t>
            </a:r>
          </a:p>
          <a:p>
            <a:r>
              <a:rPr lang="en-US" sz="1400" b="0" dirty="0"/>
              <a:t>Hỏi: 'Viết lại: nghiên cứu về cân bằng dịch tại ICU của mình.' Gợi ý: ước tính tỷ lệ người lớn bị sốc nhiễm khuẩn tại ICU của mình có cân bằng dịch dương ở ngày 3.</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 theo chiều nào cũng được.</a:t>
            </a:r>
          </a:p>
          <a:p>
            <a:r>
              <a:rPr lang="en-US" sz="1400" b="0" dirty="0"/>
              <a:t>So sánh: tòa án coi bị cáo 'không có tội' (H0) cho đến khi bằng chứng đủ mạnh. 'Không đủ bằng chứng buộc tội' không có nghĩa là 'vô tội'.</a:t>
            </a:r>
          </a:p>
          <a:p>
            <a:r>
              <a:rPr lang="en-US" sz="1400" b="0" dirty="0"/>
              <a:t>Câu hỏi thuần mô tả (phiên bản C) chỉ ước tính một con số, không cần giả thuyết.</a:t>
            </a:r>
          </a:p>
          <a:p>
            <a:r>
              <a:rPr lang="en-US" sz="1400" b="0" dirty="0"/>
              <a:t>Thời gian: 3 phút. Giá trị p học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phút tự viết, rồi 2 phút để hai ba người đọc mục tiêu chính của mình.</a:t>
            </a:r>
          </a:p>
          <a:p>
            <a:r>
              <a:rPr lang="en-US" sz="1400" b="0" dirty="0"/>
              <a:t>Chú ý: động từ mơ hồ, thiếu mốc thời gian, hoặc giả thuyết về một kết cục không có trong mục tiêu.</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chuỗi: O của câu hỏi = mục tiêu chính = kết cục trong H0 và H1. Người phản biện thấy ngay nếu chuỗi này bị đứt.</a:t>
            </a:r>
          </a:p>
          <a:p>
            <a:r>
              <a:rPr lang="en-US" sz="1400" b="0" dirty="0"/>
              <a:t>Đáp án mẫu: Course/Solutions/s1_solutions.md (Bài tập 2).</a:t>
            </a:r>
          </a:p>
          <a:p>
            <a:r>
              <a:rPr lang="en-US" sz="1400" b="0" dirty="0"/>
              <a:t>Thời gian: 3 phút. Phần 1.3 kết thúc lúc 2:25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1 (2:25-2:55, 21:55-22:25). Mỗi người viết đề cương của riêng mình.</a:t>
            </a:r>
          </a:p>
          <a:p>
            <a:r>
              <a:rPr lang="en-US" sz="1400" b="0" dirty="0"/>
              <a:t>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0-8: chia sẻ Course/Templates/Research_Proposal_Template.docx và điền Phần 1 cho phiên bản A, vừa làm vừa nói lý do.</a:t>
            </a:r>
          </a:p>
          <a:p>
            <a:r>
              <a:rPr lang="en-US" sz="1400" b="0" dirty="0"/>
              <a:t>Phút 8-25: mỗi người tự viết. Có thể tắt camera. Giảng viên trả lời câu hỏi trong chat.</a:t>
            </a:r>
          </a:p>
          <a:p>
            <a:r>
              <a:rPr lang="en-US" sz="1400" b="0" dirty="0"/>
              <a:t>Chưa có chủ đề? Xem lại các câu hỏi trong chat lúc chào mừng, hoặc tạm dùng phiên bản A hay C.</a:t>
            </a:r>
          </a:p>
          <a:p>
            <a:r>
              <a:rPr lang="en-US" sz="1400" b="0" dirty="0"/>
              <a:t>Phút 25-30: hai bạn tình nguyện đọc câu hỏi và mục tiêu. Mỗi người khác góp một ý cải thiện.</a:t>
            </a:r>
          </a:p>
          <a:p>
            <a:r>
              <a:rPr lang="en-US" sz="1400" b="0" dirty="0"/>
              <a:t>Thời gian: 30 phút. Tổng kết bắt đầu lúc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22:25-22:30). Đọc nhanh sáu từ khóa. Chúng có trong bảng thuật ngữ Anh-Việt của khóa học.</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Thứ Bảy tuần sau (Buổi 2): tìm trực tiếp trên PubMed, quản lý tài liệu bằng Zotero và đọc một bài báo trong 15 phút.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chấm điểm. Đáp án: Câu 1 Khả thi: tử vong cần hơn một nghìn người bệnh. Câu 2 ví dụ: 'Ước tính tỷ lệ người lớn bị sốc nhiễm khuẩn tại ICU của mình có cân bằng dịch dương ở ngày 3'.</a:t>
            </a:r>
          </a:p>
          <a:p>
            <a:r>
              <a:rPr lang="en-US" sz="1400" b="0" dirty="0"/>
              <a:t>Lưu khung chat và đọc câu trả lời trong tuần. Nếu nhiều người vẫn dùng động từ mơ hồ, mở đầu Buổi 2 bằng một phút về mục tiêu.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45 phút trong tuần. Từ đồng nghĩa giúp tìm kiếm nhanh hơn, vì PubMed tìm bằng tiếng Anh.</a:t>
            </a:r>
          </a:p>
          <a:p>
            <a:r>
              <a:rPr lang="en-US" sz="1400" b="0" dirty="0"/>
              <a:t>Buổi 2 cần Zotero: bản desktop, Zotero Connector cho trình duyệt và plug-in Word (zotero.org/download). Ai gặp khó khăn hãy email giảng viên trước thứ Sáu.</a:t>
            </a:r>
          </a:p>
          <a:p>
            <a:r>
              <a:rPr lang="en-US" sz="1400" b="0" dirty="0"/>
              <a:t>Kết thúc đúng giờ.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 Tùy chọn: dùng nếu lớp đi nhanh, hoặc giới thiệu để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dùng khi học viên hỏi dự án của mình có cần phê duyệt đạo đức không.</a:t>
            </a:r>
          </a:p>
          <a:p>
            <a:r>
              <a:rPr lang="en-US" sz="1400" b="0" dirty="0"/>
              <a:t>Audit so sánh thực hành với một tiêu chuẩn đã thống nhất. Cải tiến chất lượng (QI) thay đổi quy trình của khoa qua từng vòng nhỏ Lập kế hoạch, Thực hiện, Kiểm tra, Hành động (PDSA). Nếu dự án phân bổ ngẫu nhiên, thêm rủi ro mới hoặc thu thập dữ liệu ngoài chăm sóc thường quy, đó là nghiên cứu.</a:t>
            </a:r>
          </a:p>
          <a:p>
            <a:r>
              <a:rPr lang="en-US" sz="1400" b="0" dirty="0"/>
              <a:t>Quy định mỗi nơi một khác: xem quy định của cơ sở. Phê duyệt đạo đức học ở Buổi 7.</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Chẩn đoán: xét nghiệm mới là I, tiêu chuẩn tham chiếu là C, kết cục là độ chính xác (Buổi 4).</a:t>
            </a:r>
          </a:p>
          <a:p>
            <a:r>
              <a:rPr lang="en-US" sz="1400" b="0" dirty="0"/>
              <a:t>Tiên lượng: PECO cộng mốc thời gian. Câu hỏi định tính thường dùng SPIDER (Cooke và cộng sự, 2012).</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Đáp án: 1 Khả thi (quá lớn, quá dài). 2 Đạo đức (hoãn kháng sinh gây hại). 3 Mới (tháng nào cũng đã đo). 4 Phù hợp (không có tác động hợp lý tới thực hành).</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Đây là câu hỏi PECO (quan sát): khó phân bổ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tối thứ Bảy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giúp bạn đặt câu hỏi đúng cách, trả lời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Tuần 1-2</a:t>
            </a:r>
          </a:p>
          <a:p>
            <a:pPr marL="0" indent="0" algn="ctr">
              <a:lnSpc>
                <a:spcPct val="100000"/>
              </a:lnSpc>
              <a:spcBef>
                <a:spcPts val="300"/>
              </a:spcBef>
              <a:buNone/>
            </a:pPr>
            <a:r>
              <a:rPr lang="en-US" sz="1400" dirty="0">
                <a:solidFill>
                  <a:srgbClr val="595959"/>
                </a:solidFill>
                <a:latin typeface="Arial"/>
                <a:cs typeface="Arial"/>
              </a:rPr>
              <a:t>Câu hỏi và bằng chứng</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Tuần 3-4</a:t>
            </a:r>
          </a:p>
          <a:p>
            <a:pPr marL="0" indent="0" algn="ctr">
              <a:lnSpc>
                <a:spcPct val="100000"/>
              </a:lnSpc>
              <a:spcBef>
                <a:spcPts val="300"/>
              </a:spcBef>
              <a:buNone/>
            </a:pPr>
            <a:r>
              <a:rPr lang="en-US" sz="1400" dirty="0">
                <a:solidFill>
                  <a:srgbClr val="595959"/>
                </a:solidFill>
                <a:latin typeface="Arial"/>
                <a:cs typeface="Arial"/>
              </a:rPr>
              <a:t>Thiết kế và sai lệch</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Tuần 5-6</a:t>
            </a:r>
          </a:p>
          <a:p>
            <a:pPr marL="0" indent="0" algn="ctr">
              <a:lnSpc>
                <a:spcPct val="100000"/>
              </a:lnSpc>
              <a:spcBef>
                <a:spcPts val="300"/>
              </a:spcBef>
              <a:buNone/>
            </a:pPr>
            <a:r>
              <a:rPr lang="en-US" sz="1400" dirty="0">
                <a:solidFill>
                  <a:srgbClr val="595959"/>
                </a:solidFill>
                <a:latin typeface="Arial"/>
                <a:cs typeface="Arial"/>
              </a:rPr>
              <a:t>Dữ liệu và phân tích</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Tuần 7-8</a:t>
            </a:r>
          </a:p>
          <a:p>
            <a:pPr marL="0" indent="0" algn="ctr">
              <a:lnSpc>
                <a:spcPct val="100000"/>
              </a:lnSpc>
              <a:spcBef>
                <a:spcPts val="300"/>
              </a:spcBef>
              <a:buNone/>
            </a:pPr>
            <a:r>
              <a:rPr lang="en-US" sz="1400" dirty="0">
                <a:solidFill>
                  <a:srgbClr val="595959"/>
                </a:solidFill>
                <a:latin typeface="Arial"/>
                <a:cs typeface="Arial"/>
              </a:rPr>
              <a:t>Đạo đức, viết, công bố</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Hỏi</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Tìm và đọc</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Thiết kế</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Sai lệch và tác động</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Dữ liệu</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Phân tích</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Bảo vệ và viết</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Công bố</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Đề cương</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1  (khóa học này)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Từ câu hỏi đến công bố</a:t>
            </a:r>
          </a:p>
          <a:p>
            <a:pPr marL="0" indent="0" algn="ctr">
              <a:lnSpc>
                <a:spcPct val="104000"/>
              </a:lnSpc>
              <a:spcBef>
                <a:spcPts val="400"/>
              </a:spcBef>
              <a:buNone/>
            </a:pPr>
            <a:r>
              <a:rPr lang="en-US" sz="1750" dirty="0">
                <a:solidFill>
                  <a:srgbClr val="000000"/>
                </a:solidFill>
                <a:latin typeface="Arial"/>
                <a:cs typeface="Arial"/>
              </a:rPr>
              <a:t>Hỏi, thiết kế, phân tích, viết và công bố</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2  (thực hành)</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Mô hình thống kê bằng R</a:t>
            </a:r>
          </a:p>
          <a:p>
            <a:pPr marL="0" indent="0" algn="ctr">
              <a:lnSpc>
                <a:spcPct val="104000"/>
              </a:lnSpc>
              <a:spcBef>
                <a:spcPts val="400"/>
              </a:spcBef>
              <a:buNone/>
            </a:pPr>
            <a:r>
              <a:rPr lang="en-US" sz="1750" dirty="0">
                <a:solidFill>
                  <a:srgbClr val="000000"/>
                </a:solidFill>
                <a:latin typeface="Arial"/>
                <a:cs typeface="Arial"/>
              </a:rPr>
              <a:t>Bạn tự chạy phân tích</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Cấp độ 3  (nâng cao)</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Phương pháp nâng cao</a:t>
            </a:r>
          </a:p>
          <a:p>
            <a:pPr marL="0" indent="0" algn="ctr">
              <a:lnSpc>
                <a:spcPct val="104000"/>
              </a:lnSpc>
              <a:spcBef>
                <a:spcPts val="400"/>
              </a:spcBef>
              <a:buNone/>
            </a:pPr>
            <a:r>
              <a:rPr lang="en-US" sz="1750" dirty="0">
                <a:solidFill>
                  <a:srgbClr val="000000"/>
                </a:solidFill>
                <a:latin typeface="Arial"/>
                <a:cs typeface="Arial"/>
              </a:rPr>
              <a:t>Hội thảo chuyên đề theo yêu cầu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và 3 dành cho ai muốn học sâu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mỗi người tự làm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là bài cá nhân. Giảng viên hướng dẫn từng bước trên lớp.</a:t>
            </a:r>
          </a:p>
        </p:txBody>
      </p:sp>
      <p:sp>
        <p:nvSpPr>
          <p:cNvPr id="70" name="CardHead"/>
          <p:cNvSpPr/>
          <p:nvPr/>
        </p:nvSpPr>
        <p:spPr>
          <a:xfrm>
            <a:off x="457200" y="211115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nghiên cứu của bạn</a:t>
            </a:r>
          </a:p>
        </p:txBody>
      </p:sp>
      <p:sp>
        <p:nvSpPr>
          <p:cNvPr id="71" name="CardBody"/>
          <p:cNvSpPr/>
          <p:nvPr/>
        </p:nvSpPr>
        <p:spPr>
          <a:xfrm>
            <a:off x="457200" y="2751157"/>
            <a:ext cx="5538800"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Về một câu hỏi từ chính khoa của bạn</a:t>
            </a:r>
          </a:p>
          <a:p>
            <a:pPr marL="0" indent="0" algn="ctr">
              <a:lnSpc>
                <a:spcPct val="104000"/>
              </a:lnSpc>
              <a:spcBef>
                <a:spcPts val="400"/>
              </a:spcBef>
              <a:buNone/>
            </a:pPr>
            <a:r>
              <a:rPr lang="en-US" sz="1750" dirty="0">
                <a:solidFill>
                  <a:srgbClr val="000000"/>
                </a:solidFill>
                <a:latin typeface="Arial"/>
                <a:cs typeface="Arial"/>
              </a:rPr>
              <a:t>Viết từng phần, từ Buổi 1 đến Buổi 7</a:t>
            </a:r>
          </a:p>
          <a:p>
            <a:pPr marL="0" indent="0" algn="ctr">
              <a:lnSpc>
                <a:spcPct val="104000"/>
              </a:lnSpc>
              <a:spcBef>
                <a:spcPts val="400"/>
              </a:spcBef>
              <a:buNone/>
            </a:pPr>
            <a:r>
              <a:rPr lang="en-US" sz="1750" dirty="0">
                <a:solidFill>
                  <a:srgbClr val="000000"/>
                </a:solidFill>
                <a:latin typeface="Arial"/>
                <a:cs typeface="Arial"/>
              </a:rPr>
              <a:t>Nộp ở Buổi 8</a:t>
            </a:r>
          </a:p>
        </p:txBody>
      </p:sp>
      <p:sp>
        <p:nvSpPr>
          <p:cNvPr id="72" name="CardHead"/>
          <p:cNvSpPr/>
          <p:nvPr/>
        </p:nvSpPr>
        <p:spPr>
          <a:xfrm>
            <a:off x="6196000" y="211115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thảo bài báo</a:t>
            </a:r>
          </a:p>
        </p:txBody>
      </p:sp>
      <p:sp>
        <p:nvSpPr>
          <p:cNvPr id="73" name="CardBody"/>
          <p:cNvSpPr/>
          <p:nvPr/>
        </p:nvSpPr>
        <p:spPr>
          <a:xfrm>
            <a:off x="6196000" y="2751157"/>
            <a:ext cx="5538800"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Dựa trên nghiên cứu của khóa học, FLUID-ICU</a:t>
            </a:r>
          </a:p>
          <a:p>
            <a:pPr marL="0" indent="0" algn="ctr">
              <a:lnSpc>
                <a:spcPct val="104000"/>
              </a:lnSpc>
              <a:spcBef>
                <a:spcPts val="400"/>
              </a:spcBef>
              <a:buNone/>
            </a:pPr>
            <a:r>
              <a:rPr lang="en-US" sz="1750" dirty="0">
                <a:solidFill>
                  <a:srgbClr val="000000"/>
                </a:solidFill>
                <a:latin typeface="Arial"/>
                <a:cs typeface="Arial"/>
              </a:rPr>
              <a:t>Giảng viên đưa kết quả, bạn viết bài báo</a:t>
            </a:r>
          </a:p>
          <a:p>
            <a:pPr marL="0" indent="0" algn="ctr">
              <a:lnSpc>
                <a:spcPct val="104000"/>
              </a:lnSpc>
              <a:spcBef>
                <a:spcPts val="400"/>
              </a:spcBef>
              <a:buNone/>
            </a:pPr>
            <a:r>
              <a:rPr lang="en-US" sz="1750" dirty="0">
                <a:solidFill>
                  <a:srgbClr val="000000"/>
                </a:solidFill>
                <a:latin typeface="Arial"/>
                <a:cs typeface="Arial"/>
              </a:rPr>
              <a:t>Sau đó bạn phản biện bản thảo của một đồng nghiệp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và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Biến một vấn đề thành câu hỏi rõ ràng</a:t>
            </a:r>
          </a:p>
          <a:p>
            <a:pPr marL="0" indent="0" algn="ctr">
              <a:lnSpc>
                <a:spcPct val="104000"/>
              </a:lnSpc>
              <a:spcBef>
                <a:spcPts val="400"/>
              </a:spcBef>
              <a:buNone/>
            </a:pPr>
            <a:r>
              <a:rPr lang="en-US" sz="1600" dirty="0">
                <a:solidFill>
                  <a:srgbClr val="000000"/>
                </a:solidFill>
                <a:latin typeface="Arial"/>
                <a:cs typeface="Arial"/>
              </a:rPr>
              <a:t>Tìm trên PubMed và quản lý tài liệu</a:t>
            </a:r>
          </a:p>
          <a:p>
            <a:pPr marL="0" indent="0" algn="ctr">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Chọn thiết kế nghiên cứu</a:t>
            </a:r>
          </a:p>
          <a:p>
            <a:pPr marL="0" indent="0" algn="ctr">
              <a:lnSpc>
                <a:spcPct val="104000"/>
              </a:lnSpc>
              <a:spcBef>
                <a:spcPts val="400"/>
              </a:spcBef>
              <a:buNone/>
            </a:pPr>
            <a:r>
              <a:rPr lang="en-US" sz="1600" dirty="0">
                <a:solidFill>
                  <a:srgbClr val="000000"/>
                </a:solidFill>
                <a:latin typeface="Arial"/>
                <a:cs typeface="Arial"/>
              </a:rPr>
              <a:t>Nhận ra sai lệch</a:t>
            </a:r>
          </a:p>
          <a:p>
            <a:pPr marL="0" indent="0" algn="ctr">
              <a:lnSpc>
                <a:spcPct val="104000"/>
              </a:lnSpc>
              <a:spcBef>
                <a:spcPts val="400"/>
              </a:spcBef>
              <a:buNone/>
            </a:pPr>
            <a:r>
              <a:rPr lang="en-US" sz="1600" dirty="0">
                <a:solidFill>
                  <a:srgbClr val="000000"/>
                </a:solidFill>
                <a:latin typeface="Arial"/>
                <a:cs typeface="Arial"/>
              </a:rPr>
              <a:t>Đọc các chỉ số đo lường tác động chính</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dữ liệu cần thu thập</a:t>
            </a:r>
          </a:p>
          <a:p>
            <a:pPr marL="0" indent="0" algn="ctr">
              <a:lnSpc>
                <a:spcPct val="104000"/>
              </a:lnSpc>
              <a:spcBef>
                <a:spcPts val="400"/>
              </a:spcBef>
              <a:buNone/>
            </a:pPr>
            <a:r>
              <a:rPr lang="en-US" sz="1600" dirty="0">
                <a:solidFill>
                  <a:srgbClr val="000000"/>
                </a:solidFill>
                <a:latin typeface="Arial"/>
                <a:cs typeface="Arial"/>
              </a:rPr>
              <a:t>Đọc kết quả một phân tích</a:t>
            </a:r>
          </a:p>
          <a:p>
            <a:pPr marL="0" indent="0" algn="ctr">
              <a:lnSpc>
                <a:spcPct val="104000"/>
              </a:lnSpc>
              <a:spcBef>
                <a:spcPts val="400"/>
              </a:spcBef>
              <a:buNone/>
            </a:pPr>
            <a:r>
              <a:rPr lang="en-US" sz="1600" dirty="0">
                <a:solidFill>
                  <a:srgbClr val="000000"/>
                </a:solidFill>
                <a:latin typeface="Arial"/>
                <a:cs typeface="Arial"/>
              </a:rPr>
              <a:t>Diễn giải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và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Lên kế hoạch xin phê duyệt đạo đức</a:t>
            </a:r>
          </a:p>
          <a:p>
            <a:pPr marL="0" indent="0" algn="ctr">
              <a:lnSpc>
                <a:spcPct val="104000"/>
              </a:lnSpc>
              <a:spcBef>
                <a:spcPts val="400"/>
              </a:spcBef>
              <a:buNone/>
            </a:pPr>
            <a:r>
              <a:rPr lang="en-US" sz="1600" dirty="0">
                <a:solidFill>
                  <a:srgbClr val="000000"/>
                </a:solidFill>
                <a:latin typeface="Arial"/>
                <a:cs typeface="Arial"/>
              </a:rPr>
              <a:t>Viết từng phần của bài báo</a:t>
            </a:r>
          </a:p>
          <a:p>
            <a:pPr marL="0" indent="0" algn="ctr">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Ôn tập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Giải lao</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Học, kiểm tra, thực hành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Xây dựng đề cương hoặc bài báo</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Tổng kết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Cứ 20 phút kiểm tra mức hiểu một lần. Slide bổ sung chỉ dùng khi còn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đề cương của bạn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1-2</a:t>
            </a:r>
          </a:p>
          <a:p>
            <a:pPr marL="0" indent="0" algn="ctr">
              <a:lnSpc>
                <a:spcPct val="104000"/>
              </a:lnSpc>
              <a:spcBef>
                <a:spcPts val="200"/>
              </a:spcBef>
              <a:buNone/>
            </a:pPr>
            <a:r>
              <a:rPr lang="en-US" sz="1700" dirty="0">
                <a:solidFill>
                  <a:srgbClr val="000000"/>
                </a:solidFill>
                <a:latin typeface="Arial"/>
                <a:cs typeface="Arial"/>
              </a:rPr>
              <a:t>Câu hỏi, tổng quan, mục tiêu</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3-4</a:t>
            </a:r>
          </a:p>
          <a:p>
            <a:pPr marL="0" indent="0" algn="ctr">
              <a:lnSpc>
                <a:spcPct val="104000"/>
              </a:lnSpc>
              <a:spcBef>
                <a:spcPts val="200"/>
              </a:spcBef>
              <a:buNone/>
            </a:pPr>
            <a:r>
              <a:rPr lang="en-US" sz="1700" dirty="0">
                <a:solidFill>
                  <a:srgbClr val="000000"/>
                </a:solidFill>
                <a:latin typeface="Arial"/>
                <a:cs typeface="Arial"/>
              </a:rPr>
              <a:t>Thiết kế và đối tượng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5-6</a:t>
            </a:r>
          </a:p>
          <a:p>
            <a:pPr marL="0" indent="0" algn="ctr">
              <a:lnSpc>
                <a:spcPct val="104000"/>
              </a:lnSpc>
              <a:spcBef>
                <a:spcPts val="200"/>
              </a:spcBef>
              <a:buNone/>
            </a:pPr>
            <a:r>
              <a:rPr lang="en-US" sz="1700" dirty="0">
                <a:solidFill>
                  <a:srgbClr val="000000"/>
                </a:solidFill>
                <a:latin typeface="Arial"/>
                <a:cs typeface="Arial"/>
              </a:rPr>
              <a:t>Dữ liệu, cỡ mẫu, kế hoạch phân tích</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Phần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7</a:t>
            </a:r>
          </a:p>
          <a:p>
            <a:pPr marL="0" indent="0" algn="ctr">
              <a:lnSpc>
                <a:spcPct val="104000"/>
              </a:lnSpc>
              <a:spcBef>
                <a:spcPts val="200"/>
              </a:spcBef>
              <a:buNone/>
            </a:pPr>
            <a:r>
              <a:rPr lang="en-US" sz="1700" dirty="0">
                <a:solidFill>
                  <a:srgbClr val="000000"/>
                </a:solidFill>
                <a:latin typeface="Arial"/>
                <a:cs typeface="Arial"/>
              </a:rPr>
              <a:t>Đạo đức, tính khả thi, kế hoạch công bố</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Buổi 8</a:t>
            </a:r>
          </a:p>
          <a:p>
            <a:pPr marL="0" indent="0" algn="ctr">
              <a:lnSpc>
                <a:spcPct val="104000"/>
              </a:lnSpc>
              <a:spcBef>
                <a:spcPts val="200"/>
              </a:spcBef>
              <a:buNone/>
            </a:pPr>
            <a:r>
              <a:rPr lang="en-US" sz="1700" dirty="0">
                <a:solidFill>
                  <a:srgbClr val="000000"/>
                </a:solidFill>
                <a:latin typeface="Arial"/>
                <a:cs typeface="Arial"/>
              </a:rPr>
              <a:t>Đề cương hoàn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của riêng bạn, một mẫu đề cương, mỗi hai tuần một phần.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Chào mừng: giới thiệu bản thân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Gõ vào chat: tên, khoa và nghề nghiệp của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Thêm một câu hỏi bạn mong nghiên cứu trả lời được cho khoa mình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Đọc tin nhắn của mọi người: nhiều câu là chủ đề nghiên cứu tiềm năng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Sau đó vài bạn bật micro nói câu hỏi của mình</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Tin nhắn mẫu</a:t>
            </a:r>
          </a:p>
          <a:p>
            <a:pPr marL="0" indent="0" algn="ctr">
              <a:lnSpc>
                <a:spcPct val="104000"/>
              </a:lnSpc>
              <a:spcBef>
                <a:spcPts val="300"/>
              </a:spcBef>
              <a:buNone/>
            </a:pPr>
            <a:r>
              <a:rPr lang="en-US" sz="1500" dirty="0">
                <a:solidFill>
                  <a:srgbClr val="000000"/>
                </a:solidFill>
                <a:latin typeface="Arial"/>
                <a:cs typeface="Arial"/>
              </a:rPr>
              <a:t>Lan, ICU, điều dưỡng</a:t>
            </a:r>
          </a:p>
          <a:p>
            <a:pPr marL="0" indent="0" algn="ctr">
              <a:lnSpc>
                <a:spcPct val="104000"/>
              </a:lnSpc>
              <a:spcBef>
                <a:spcPts val="300"/>
              </a:spcBef>
              <a:buNone/>
            </a:pPr>
            <a:r>
              <a:rPr lang="en-US" sz="1500" dirty="0">
                <a:solidFill>
                  <a:srgbClr val="000000"/>
                </a:solidFill>
                <a:latin typeface="Arial"/>
                <a:cs typeface="Arial"/>
              </a:rPr>
              <a:t>'Người bệnh sốc nhiễm khuẩn có cần ít dịch hơn lượng mình đang truyền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Mỗi người một lời giới thiệu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trực tuyến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có câu hỏi nào ngớ ngẩn</a:t>
            </a:r>
          </a:p>
          <a:p>
            <a:pPr marL="0" indent="0" algn="ctr">
              <a:lnSpc>
                <a:spcPct val="104000"/>
              </a:lnSpc>
              <a:spcBef>
                <a:spcPts val="400"/>
              </a:spcBef>
              <a:buNone/>
            </a:pPr>
            <a:r>
              <a:rPr lang="en-US" sz="1600" dirty="0">
                <a:solidFill>
                  <a:srgbClr val="000000"/>
                </a:solidFill>
                <a:latin typeface="Arial"/>
                <a:cs typeface="Arial"/>
              </a:rPr>
              <a:t>Dùng chat hoặc nút 'giơ tay'</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Kiểm tra mức hiểu thường xuyên</a:t>
            </a:r>
          </a:p>
          <a:p>
            <a:pPr marL="0" indent="0" algn="ctr">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Lấy ví dụ từ khoa mình</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ví dụ từ thực hành của bạn</a:t>
            </a:r>
          </a:p>
          <a:p>
            <a:pPr marL="0" indent="0" algn="ctr">
              <a:lnSpc>
                <a:spcPct val="104000"/>
              </a:lnSpc>
              <a:spcBef>
                <a:spcPts val="400"/>
              </a:spcBef>
              <a:buNone/>
            </a:pPr>
            <a:r>
              <a:rPr lang="en-US" sz="1600" dirty="0">
                <a:solidFill>
                  <a:srgbClr val="000000"/>
                </a:solidFill>
                <a:latin typeface="Arial"/>
                <a:cs typeface="Arial"/>
              </a:rPr>
              <a:t>Không nêu tên hay chi tiết người bệnh</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Thói quen trực tuyến</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Bật camera khi có thể</a:t>
            </a:r>
          </a:p>
          <a:p>
            <a:pPr marL="0" indent="0" algn="ctr">
              <a:lnSpc>
                <a:spcPct val="104000"/>
              </a:lnSpc>
              <a:spcBef>
                <a:spcPts val="400"/>
              </a:spcBef>
              <a:buNone/>
            </a:pPr>
            <a:r>
              <a:rPr lang="en-US" sz="1600" dirty="0">
                <a:solidFill>
                  <a:srgbClr val="000000"/>
                </a:solidFill>
                <a:latin typeface="Arial"/>
                <a:cs typeface="Arial"/>
              </a:rPr>
              <a:t>Tắt micro khi không nói</a:t>
            </a:r>
          </a:p>
          <a:p>
            <a:pPr marL="0" indent="0" algn="ctr">
              <a:lnSpc>
                <a:spcPct val="104000"/>
              </a:lnSpc>
              <a:spcBef>
                <a:spcPts val="400"/>
              </a:spcBef>
              <a:buNone/>
            </a:pPr>
            <a:r>
              <a:rPr lang="en-US" sz="1600" dirty="0">
                <a:solidFill>
                  <a:srgbClr val="000000"/>
                </a:solidFill>
                <a:latin typeface="Arial"/>
                <a:cs typeface="Arial"/>
              </a:rPr>
              <a:t>Quay lại đúng giờ sau giải lao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 (biểu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đang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 (khoảng 12 phút)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không xem tài liệu, không hỏi đồng nghiệp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Vì sao kiểm tra bây giờ?</a:t>
            </a:r>
          </a:p>
          <a:p>
            <a:pPr marL="0" indent="0" algn="ctr">
              <a:lnSpc>
                <a:spcPct val="104000"/>
              </a:lnSpc>
              <a:spcBef>
                <a:spcPts val="300"/>
              </a:spcBef>
              <a:buNone/>
            </a:pPr>
            <a:r>
              <a:rPr lang="en-US" sz="1500" dirty="0">
                <a:solidFill>
                  <a:srgbClr val="000000"/>
                </a:solidFill>
                <a:latin typeface="Arial"/>
                <a:cs typeface="Arial"/>
              </a:rPr>
              <a:t>Làm lại cùng bài này ở Buổi 8</a:t>
            </a:r>
          </a:p>
          <a:p>
            <a:pPr marL="0" indent="0" algn="ctr">
              <a:lnSpc>
                <a:spcPct val="104000"/>
              </a:lnSpc>
              <a:spcBef>
                <a:spcPts val="300"/>
              </a:spcBef>
              <a:buNone/>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thiết kế nghiên cứu, hai bài báo của khóa học</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PECO và FINER</a:t>
            </a:r>
          </a:p>
          <a:p>
            <a:pPr marL="274320" indent="-274320" algn="l">
              <a:spcBef>
                <a:spcPts val="440"/>
              </a:spcBef>
              <a:buFont typeface="Arial"/>
              <a:buChar char="•"/>
            </a:pPr>
            <a:r>
              <a:rPr lang="en-US" sz="1900" dirty="0">
                <a:solidFill>
                  <a:srgbClr val="000000"/>
                </a:solidFill>
                <a:latin typeface="Arial"/>
                <a:cs typeface="Arial"/>
              </a:rPr>
              <a:t>1.3  Mục tiêu tổng quát, mục tiêu cụ thể và giả thuyết</a:t>
            </a:r>
          </a:p>
          <a:p>
            <a:pPr marL="274320" indent="-274320" algn="l">
              <a:spcBef>
                <a:spcPts val="440"/>
              </a:spcBef>
              <a:buFont typeface="Arial"/>
              <a:buChar char="•"/>
            </a:pPr>
            <a:r>
              <a:rPr lang="en-US" sz="1900" dirty="0">
                <a:solidFill>
                  <a:srgbClr val="000000"/>
                </a:solidFill>
                <a:latin typeface="Arial"/>
                <a:cs typeface="Arial"/>
              </a:rPr>
              <a:t>Xây dựng đề cương 1: bắt đầu câu hỏi của riêng bạn</a:t>
            </a:r>
          </a:p>
          <a:p>
            <a:pPr marL="274320" indent="-274320" algn="l">
              <a:spcBef>
                <a:spcPts val="440"/>
              </a:spcBef>
              <a:buFont typeface="Arial"/>
              <a:buChar char="•"/>
            </a:pPr>
            <a:r>
              <a:rPr lang="en-US" sz="1900" dirty="0">
                <a:solidFill>
                  <a:srgbClr val="000000"/>
                </a:solidFill>
                <a:latin typeface="Arial"/>
                <a:cs typeface="Arial"/>
              </a:rPr>
              <a:t>Tổng kết: từ khóa, câu hỏi cuối buổi, bài về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Đã có kinh nghiệm, vì sao vẫn cần nghiên cứu?</a:t>
            </a:r>
          </a:p>
          <a:p>
            <a:pPr marL="0" indent="0" algn="ctr">
              <a:spcBef>
                <a:spcPts val="1200"/>
              </a:spcBef>
              <a:buNone/>
            </a:pPr>
            <a:r>
              <a:rPr lang="en-US" sz="1900" i="1" dirty="0">
                <a:solidFill>
                  <a:srgbClr val="595959"/>
                </a:solidFill>
                <a:latin typeface="Arial"/>
                <a:cs typeface="Arial"/>
              </a:rPr>
              <a:t>35 phút: bằng chứng, thiết kế nghiên cứu, hai bài báo của khóa học, các loại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Giai thoại</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"Tôi truyền ít dịch cho 3 người bệnh và cả 3 đều hồi phục tốt!"</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Ít người bệnh, không so sánh, chỉ nhớ những ca nổi bật</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Bằng chứng</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Hạn chế dịch</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Chăm sóc thường quy</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21/50 tử vong</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Nhiều người bệnh, so sánh công bằng, đếm mọi kết cục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người bệnh mới trả lời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lên cao, nguy cơ sai lệch càng thấp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Thuần tập làm tốt có thể hơn thử nghiệm làm kém</a:t>
            </a:r>
          </a:p>
          <a:p>
            <a:pPr marL="274320" indent="-274320" algn="l">
              <a:spcBef>
                <a:spcPts val="440"/>
              </a:spcBef>
              <a:buFont typeface="Arial"/>
              <a:buChar char="•"/>
            </a:pPr>
            <a:r>
              <a:rPr lang="en-US" sz="1450" dirty="0">
                <a:solidFill>
                  <a:srgbClr val="000000"/>
                </a:solidFill>
                <a:latin typeface="Arial"/>
                <a:cs typeface="Arial"/>
              </a:rPr>
              <a:t>Câu hỏi mô tả không cần thử nghiệm</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ít sai lệch hơn, tin cậy hơn</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Ý kiến chuyên gia, báo cáo ca</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Loạt ca, nghiên cứu cắt ngang</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bệnh-chứng</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Nghiên cứu thuần tập</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Thử nghiệm ngẫu nhiên</a:t>
            </a:r>
          </a:p>
          <a:p>
            <a:pPr marL="0" indent="0" algn="ctr">
              <a:lnSpc>
                <a:spcPct val="100000"/>
              </a:lnSpc>
              <a:spcBef>
                <a:spcPts val="300"/>
              </a:spcBef>
              <a:buNone/>
            </a:pPr>
            <a:r>
              <a:rPr lang="en-US" sz="1500" b="1" dirty="0">
                <a:solidFill>
                  <a:srgbClr val="FFFFFF"/>
                </a:solidFill>
                <a:latin typeface="Arial"/>
                <a:cs typeface="Arial"/>
              </a:rPr>
              <a:t>có đối chứng</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Tổng quan hệ thống</a:t>
            </a:r>
          </a:p>
          <a:p>
            <a:pPr marL="0" indent="0" algn="ctr">
              <a:lnSpc>
                <a:spcPct val="100000"/>
              </a:lnSpc>
              <a:spcBef>
                <a:spcPts val="300"/>
              </a:spcBef>
              <a:buNone/>
            </a:pPr>
            <a:r>
              <a:rPr lang="en-US" sz="1500" b="1" dirty="0">
                <a:solidFill>
                  <a:srgbClr val="FFFFFF"/>
                </a:solidFill>
                <a:latin typeface="Arial"/>
                <a:cs typeface="Arial"/>
              </a:rPr>
              <a:t>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xếp hạng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hạn chế dịch có làm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'20 năm nay, người bệnh tôi truyền ít dịch đều hồi phục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sổ đăng ký theo dõi hàng nghìn người bệnh ICU (thuần tập)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bổ ngẫu nhiên 1554 người bệnh vào nhóm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hệ thống gộp mọi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thứ tự nào đi từ yếu nhất đến mạnh nhất?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hỏi: điều gì có thể làm C yếu hơn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cả lớp cùng đọc trong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Cả hai đều truy cập mở. Tải về từ trang web khóa học (trang Hai bài báo).</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Thử nghiệm ngẫu nhiên có đối chứng (RCT) thí điểm (pilot), 48 người bệnh</a:t>
            </a:r>
          </a:p>
          <a:p>
            <a:pPr marL="0" indent="0" algn="ctr">
              <a:lnSpc>
                <a:spcPct val="104000"/>
              </a:lnSpc>
              <a:spcBef>
                <a:spcPts val="400"/>
              </a:spcBef>
              <a:buNone/>
            </a:pPr>
            <a:r>
              <a:rPr lang="en-US" sz="1500" dirty="0">
                <a:solidFill>
                  <a:srgbClr val="000000"/>
                </a:solidFill>
                <a:latin typeface="Arial"/>
                <a:cs typeface="Arial"/>
              </a:rPr>
              <a:t>Kết cục chính: cân bằng dịch ngày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thuần tập</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Nghiên cứu thuần tập từ sổ đăng ký nhiễm khuẩn huyết Hàn Quốc</a:t>
            </a:r>
          </a:p>
          <a:p>
            <a:pPr marL="0" indent="0" algn="ctr">
              <a:lnSpc>
                <a:spcPct val="104000"/>
              </a:lnSpc>
              <a:spcBef>
                <a:spcPts val="400"/>
              </a:spcBef>
              <a:buNone/>
            </a:pPr>
            <a:r>
              <a:rPr lang="en-US" sz="1500" dirty="0">
                <a:solidFill>
                  <a:srgbClr val="000000"/>
                </a:solidFill>
                <a:latin typeface="Arial"/>
                <a:cs typeface="Arial"/>
              </a:rPr>
              <a:t>Kết cục chính: tử vong đến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Bài báo 1 là thử nghiệm, Bài báo 2 là thuần tập. Cả hai nghiên cứu dịch truyền trong nhiễm khuẩn 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Vấn đề lâm sàng</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Câu hỏi nghiên cứu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Tìm y văn</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Thiết kế và đề cương</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Phê duyệt đạo đức</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Thu thập dữ liệu</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Phân tích, diễn giải</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Công bố và</a:t>
            </a:r>
          </a:p>
          <a:p>
            <a:pPr marL="0" indent="0" algn="ctr">
              <a:lnSpc>
                <a:spcPct val="100000"/>
              </a:lnSpc>
              <a:spcBef>
                <a:spcPts val="300"/>
              </a:spcBef>
              <a:buNone/>
            </a:pPr>
            <a:r>
              <a:rPr lang="en-US" sz="1600" b="1" dirty="0">
                <a:solidFill>
                  <a:srgbClr val="FFFFFF"/>
                </a:solidFill>
                <a:latin typeface="Arial"/>
                <a:cs typeface="Arial"/>
              </a:rPr>
              <a:t>thay đổi thực hành</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Tuần 1-2</a:t>
            </a:r>
          </a:p>
          <a:p>
            <a:pPr marL="0" indent="0" algn="ctr">
              <a:lnSpc>
                <a:spcPct val="100000"/>
              </a:lnSpc>
              <a:spcBef>
                <a:spcPts val="300"/>
              </a:spcBef>
              <a:buNone/>
            </a:pPr>
            <a:r>
              <a:rPr lang="en-US" sz="1600" dirty="0">
                <a:solidFill>
                  <a:srgbClr val="1A1A1A"/>
                </a:solidFill>
                <a:latin typeface="Arial"/>
                <a:cs typeface="Arial"/>
              </a:rPr>
              <a:t>vấn đề, câu hỏi, tìm y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ra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Loại nghiên cứu</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Cho biết điều gì</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Ví dụ</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Định lượng</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bao nhiêu? X có làm thay đổi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Tử vong 28 ngày với hai chiến lược dịch</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Định tính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Lời kể: vì sao? Như thế nào? Trải nghiệm ra sao?</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Phỏng vấn: vì sao điều dưỡng ngại ngừng dịch</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Hỗn hợp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Con số và lời kể trong cùng một nghiên cứu</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Khảo sát thực hành dịch kèm thảo luận nhóm</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Nghiên cứu sơ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thu thập dữ liệu mới</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Bài báo 1: một thử nghiệm mới</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Nghiên cứu thứ cấp</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Bạn dùng lại dữ liệu có sẵn: hồ sơ, sổ đăng ký</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Bài báo 2: sổ đăng ký nhiễm khuẩn huyết</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kể trả lời vì sao, như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người bệnh sốc nhiễm khuẩn có cân bằng dịch dương ở ngày 3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điều dưỡng ICU vì sao họ ngại ngừng dịch truyền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ICU 3 năm về cân bằng dịch và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cách chỉ định dịch kèm thảo luận nhóm với bác sĩ</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con số, lời kể hay cả hai? Dữ liệu mới hay có sẵn?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Hai ba người trả lời, ví dụ 'A: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tính</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Định lượng</a:t>
            </a:r>
          </a:p>
          <a:p>
            <a:pPr marL="0" indent="0" algn="ctr">
              <a:lnSpc>
                <a:spcPct val="104000"/>
              </a:lnSpc>
              <a:spcBef>
                <a:spcPts val="400"/>
              </a:spcBef>
              <a:buNone/>
            </a:pPr>
            <a:r>
              <a:rPr lang="en-US" sz="1600" dirty="0">
                <a:solidFill>
                  <a:srgbClr val="000000"/>
                </a:solidFill>
                <a:latin typeface="Arial"/>
                <a:cs typeface="Arial"/>
              </a:rPr>
              <a:t>Thứ cấp</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Hỗn hợp</a:t>
            </a:r>
          </a:p>
          <a:p>
            <a:pPr marL="0" indent="0" algn="ctr">
              <a:lnSpc>
                <a:spcPct val="104000"/>
              </a:lnSpc>
              <a:spcBef>
                <a:spcPts val="400"/>
              </a:spcBef>
              <a:buNone/>
            </a:pPr>
            <a:r>
              <a:rPr lang="en-US" sz="1600" dirty="0">
                <a:solidFill>
                  <a:srgbClr val="000000"/>
                </a:solidFill>
                <a:latin typeface="Arial"/>
                <a:cs typeface="Arial"/>
              </a:rPr>
              <a:t>Sơ cấp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kể?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Câu hỏi</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Thiết kế và đề cương</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Đăng ký</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Phê duyệt đạo đức</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Thu thập dữ liệu</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Phân tích</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Viết bài</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Nộp bài</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Bình duyệt</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Công bố</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Tác động tới người bệnh</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1-2  Hỏi và tìm</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3-4  Thiết kế</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5-6  Đo lường</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Tuần 7-8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bạn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Đặt đúng câu hỏi là đã đi được nửa đường.</a:t>
            </a:r>
          </a:p>
          <a:p>
            <a:pPr marL="0" indent="0" algn="ctr">
              <a:spcBef>
                <a:spcPts val="1200"/>
              </a:spcBef>
              <a:buNone/>
            </a:pPr>
            <a:r>
              <a:rPr lang="en-US" sz="1900" i="1" dirty="0">
                <a:solidFill>
                  <a:srgbClr val="595959"/>
                </a:solidFill>
                <a:latin typeface="Arial"/>
                <a:cs typeface="Arial"/>
              </a:rPr>
              <a:t>40 phút: PICO(T) và PECO, loại câu hỏi, FINER, rồi một bài tập cả lớp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Trước hết hãy kiểm tra: đã có câu trả lời chưa? Tìm y văn sẽ cho biết (Buổi 2).</a:t>
            </a:r>
          </a:p>
        </p:txBody>
      </p:sp>
      <p:sp>
        <p:nvSpPr>
          <p:cNvPr id="70" name="CardHead"/>
          <p:cNvSpPr/>
          <p:nvPr/>
        </p:nvSpPr>
        <p:spPr>
          <a:xfrm>
            <a:off x="457200" y="176402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hỏi đến từ đâu</a:t>
            </a:r>
          </a:p>
        </p:txBody>
      </p:sp>
      <p:sp>
        <p:nvSpPr>
          <p:cNvPr id="71" name="CardBody"/>
          <p:cNvSpPr/>
          <p:nvPr/>
        </p:nvSpPr>
        <p:spPr>
          <a:xfrm>
            <a:off x="457200" y="2404023"/>
            <a:ext cx="5438800" cy="263793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Băn khoăn tại giường: "Sao mình lại làm như vậy?"</a:t>
            </a:r>
          </a:p>
          <a:p>
            <a:pPr marL="274320" indent="-274320" algn="l">
              <a:lnSpc>
                <a:spcPct val="104000"/>
              </a:lnSpc>
              <a:spcBef>
                <a:spcPts val="400"/>
              </a:spcBef>
              <a:buFont typeface="Arial"/>
              <a:buChar char="•"/>
            </a:pPr>
            <a:r>
              <a:rPr lang="en-US" sz="1800" dirty="0">
                <a:solidFill>
                  <a:srgbClr val="000000"/>
                </a:solidFill>
                <a:latin typeface="Arial"/>
                <a:cs typeface="Arial"/>
              </a:rPr>
              <a:t>Mỗi đồng nghiệp làm một kiểu</a:t>
            </a:r>
          </a:p>
          <a:p>
            <a:pPr marL="274320" indent="-274320" algn="l">
              <a:lnSpc>
                <a:spcPct val="104000"/>
              </a:lnSpc>
              <a:spcBef>
                <a:spcPts val="400"/>
              </a:spcBef>
              <a:buFont typeface="Arial"/>
              <a:buChar char="•"/>
            </a:pPr>
            <a:r>
              <a:rPr lang="en-US" sz="1800" dirty="0">
                <a:solidFill>
                  <a:srgbClr val="000000"/>
                </a:solidFill>
                <a:latin typeface="Arial"/>
                <a:cs typeface="Arial"/>
              </a:rPr>
              <a:t>Số liệu sự cố, sổ đăng ký</a:t>
            </a:r>
          </a:p>
          <a:p>
            <a:pPr marL="274320" indent="-274320" algn="l">
              <a:lnSpc>
                <a:spcPct val="104000"/>
              </a:lnSpc>
              <a:spcBef>
                <a:spcPts val="400"/>
              </a:spcBef>
              <a:buFont typeface="Arial"/>
              <a:buChar char="•"/>
            </a:pPr>
            <a:r>
              <a:rPr lang="en-US" sz="1800" dirty="0">
                <a:solidFill>
                  <a:srgbClr val="000000"/>
                </a:solidFill>
                <a:latin typeface="Arial"/>
                <a:cs typeface="Arial"/>
              </a:rPr>
              <a:t>Hướng dẫn ghi "bằng chứng độ tin cậy thấp"</a:t>
            </a:r>
          </a:p>
          <a:p>
            <a:pPr marL="274320" indent="-274320" algn="l">
              <a:lnSpc>
                <a:spcPct val="104000"/>
              </a:lnSpc>
              <a:spcBef>
                <a:spcPts val="400"/>
              </a:spcBef>
              <a:buFont typeface="Arial"/>
              <a:buChar char="•"/>
            </a:pPr>
            <a:r>
              <a:rPr lang="en-US" sz="1800" dirty="0">
                <a:solidFill>
                  <a:srgbClr val="000000"/>
                </a:solidFill>
                <a:latin typeface="Arial"/>
                <a:cs typeface="Arial"/>
              </a:rPr>
              <a:t>Bài báo kết luận "cần thêm nghiên cứu"</a:t>
            </a:r>
          </a:p>
          <a:p>
            <a:pPr marL="274320" indent="-274320" algn="l">
              <a:lnSpc>
                <a:spcPct val="104000"/>
              </a:lnSpc>
              <a:spcBef>
                <a:spcPts val="400"/>
              </a:spcBef>
              <a:buFont typeface="Arial"/>
              <a:buChar char="•"/>
            </a:pPr>
            <a:r>
              <a:rPr lang="en-US" sz="1800" dirty="0">
                <a:solidFill>
                  <a:srgbClr val="000000"/>
                </a:solidFill>
                <a:latin typeface="Arial"/>
                <a:cs typeface="Arial"/>
              </a:rPr>
              <a:t>Câu hỏi của người bệnh và gia đình</a:t>
            </a:r>
          </a:p>
        </p:txBody>
      </p:sp>
      <p:sp>
        <p:nvSpPr>
          <p:cNvPr id="72" name="CardHead"/>
          <p:cNvSpPr/>
          <p:nvPr/>
        </p:nvSpPr>
        <p:spPr>
          <a:xfrm>
            <a:off x="6096000" y="176402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biết</a:t>
            </a:r>
          </a:p>
        </p:txBody>
      </p:sp>
      <p:sp>
        <p:nvSpPr>
          <p:cNvPr id="73" name="CardBody"/>
          <p:cNvSpPr/>
          <p:nvPr/>
        </p:nvSpPr>
        <p:spPr>
          <a:xfrm>
            <a:off x="60960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Áp dụng</a:t>
            </a:r>
          </a:p>
          <a:p>
            <a:pPr marL="0" indent="0" algn="ctr">
              <a:lnSpc>
                <a:spcPct val="104000"/>
              </a:lnSpc>
              <a:spcBef>
                <a:spcPts val="400"/>
              </a:spcBef>
              <a:buNone/>
            </a:pPr>
            <a:r>
              <a:rPr lang="en-US" sz="1800" dirty="0">
                <a:solidFill>
                  <a:srgbClr val="000000"/>
                </a:solidFill>
                <a:latin typeface="Arial"/>
                <a:cs typeface="Arial"/>
              </a:rPr>
              <a:t>Cập nhật hướng dẫn hoặc quy trình của khoa</a:t>
            </a:r>
          </a:p>
        </p:txBody>
      </p:sp>
      <p:sp>
        <p:nvSpPr>
          <p:cNvPr id="74" name="CardHead"/>
          <p:cNvSpPr/>
          <p:nvPr/>
        </p:nvSpPr>
        <p:spPr>
          <a:xfrm>
            <a:off x="9015400" y="176402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biết</a:t>
            </a:r>
          </a:p>
        </p:txBody>
      </p:sp>
      <p:sp>
        <p:nvSpPr>
          <p:cNvPr id="75" name="CardBody"/>
          <p:cNvSpPr/>
          <p:nvPr/>
        </p:nvSpPr>
        <p:spPr>
          <a:xfrm>
            <a:off x="9015400" y="2404023"/>
            <a:ext cx="2719400" cy="2637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Câu hỏi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tại ICU, chiến lược hạn chế dịch, so với chăm sóc thường quy, có làm giảm tử vong 28 ngày không?</a:t>
            </a:r>
          </a:p>
        </p:txBody>
      </p:sp>
      <p:sp>
        <p:nvSpPr>
          <p:cNvPr id="70" name="CardHead"/>
          <p:cNvSpPr/>
          <p:nvPr/>
        </p:nvSpPr>
        <p:spPr>
          <a:xfrm>
            <a:off x="457200" y="224288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Đối tượng</a:t>
            </a:r>
          </a:p>
        </p:txBody>
      </p:sp>
      <p:sp>
        <p:nvSpPr>
          <p:cNvPr id="71" name="CardBody"/>
          <p:cNvSpPr/>
          <p:nvPr/>
        </p:nvSpPr>
        <p:spPr>
          <a:xfrm>
            <a:off x="45720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lớn (≥18 tuổi) bị sốc nhiễm khuẩn tại ICU</a:t>
            </a:r>
          </a:p>
        </p:txBody>
      </p:sp>
      <p:sp>
        <p:nvSpPr>
          <p:cNvPr id="72" name="CardHead"/>
          <p:cNvSpPr/>
          <p:nvPr/>
        </p:nvSpPr>
        <p:spPr>
          <a:xfrm>
            <a:off x="2752720" y="224288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Can thiệp</a:t>
            </a:r>
          </a:p>
        </p:txBody>
      </p:sp>
      <p:sp>
        <p:nvSpPr>
          <p:cNvPr id="73" name="CardBody"/>
          <p:cNvSpPr/>
          <p:nvPr/>
        </p:nvSpPr>
        <p:spPr>
          <a:xfrm>
            <a:off x="275272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Chiến lược hạn chế dịch</a:t>
            </a:r>
          </a:p>
        </p:txBody>
      </p:sp>
      <p:sp>
        <p:nvSpPr>
          <p:cNvPr id="74" name="CardHead"/>
          <p:cNvSpPr/>
          <p:nvPr/>
        </p:nvSpPr>
        <p:spPr>
          <a:xfrm>
            <a:off x="5048240" y="224288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So sánh</a:t>
            </a:r>
          </a:p>
        </p:txBody>
      </p:sp>
      <p:sp>
        <p:nvSpPr>
          <p:cNvPr id="75" name="CardBody"/>
          <p:cNvSpPr/>
          <p:nvPr/>
        </p:nvSpPr>
        <p:spPr>
          <a:xfrm>
            <a:off x="504824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Chăm sóc thường quy (dịch tiêu chuẩn)</a:t>
            </a:r>
          </a:p>
        </p:txBody>
      </p:sp>
      <p:sp>
        <p:nvSpPr>
          <p:cNvPr id="76" name="CardHead"/>
          <p:cNvSpPr/>
          <p:nvPr/>
        </p:nvSpPr>
        <p:spPr>
          <a:xfrm>
            <a:off x="7343760" y="224288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Kết cục</a:t>
            </a:r>
          </a:p>
        </p:txBody>
      </p:sp>
      <p:sp>
        <p:nvSpPr>
          <p:cNvPr id="77" name="CardBody"/>
          <p:cNvSpPr/>
          <p:nvPr/>
        </p:nvSpPr>
        <p:spPr>
          <a:xfrm>
            <a:off x="734376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Tử vong do mọi nguyên nhân</a:t>
            </a:r>
          </a:p>
        </p:txBody>
      </p:sp>
      <p:sp>
        <p:nvSpPr>
          <p:cNvPr id="78" name="CardHead"/>
          <p:cNvSpPr/>
          <p:nvPr/>
        </p:nvSpPr>
        <p:spPr>
          <a:xfrm>
            <a:off x="9639280" y="2242887"/>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Thời gian</a:t>
            </a:r>
          </a:p>
        </p:txBody>
      </p:sp>
      <p:sp>
        <p:nvSpPr>
          <p:cNvPr id="79" name="CardBody"/>
          <p:cNvSpPr/>
          <p:nvPr/>
        </p:nvSpPr>
        <p:spPr>
          <a:xfrm>
            <a:off x="9639280" y="2882887"/>
            <a:ext cx="2095520" cy="14949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Trong vòng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Ba ví dụ khác: PICO, PECO và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Điều trị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thở máy tại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Bảng kiểm đầu giường 2 lần/ngày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Chăm sóc thường quy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Viêm phổi liên quan thở máy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Ngày 28 tại ICU</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Yếu tố nguy cơ (PECO)</a:t>
                      </a:r>
                    </a:p>
                    <a:p>
                      <a:pPr algn="l"/>
                      <a:r>
                        <a:rPr lang="en-US" sz="1800" b="1" dirty="0">
                          <a:solidFill>
                            <a:srgbClr val="000000"/>
                          </a:solidFill>
                          <a:latin typeface="Arial"/>
                          <a:cs typeface="Arial"/>
                        </a:rPr>
                        <a:t>E = Phơi nhiễm</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lớn tại khoa nội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Béo phì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dưới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Tổn thương do tì đè mới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Trong thời gian nằm viện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Bao nhiêu?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Người ≥65 tuổi sau mổ gãy cổ xương đùi</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Mê sảng</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7 ngày đầu</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PECO: E = Phơi nhiễm (Exposure), dùng khi không thể chủ động phân bổ yếu tố đó (ví dụ béo phì).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của Bài báo 1: 'Ở người lớn bị sốc nhiễm khuẩn trong 24 giờ đầu dùng thuốc vận mạch, hạn chế dịch không nhằm hồi sức, so với chăm sóc thường quy, có làm giảm cân bằng dịch tích lũy ngày 5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những từ nào là kết cục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hai ba người nói đối tượng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 lựa chọn</a:t>
            </a:r>
          </a:p>
          <a:p>
            <a:pPr marL="0" indent="0" algn="ctr">
              <a:lnSpc>
                <a:spcPct val="104000"/>
              </a:lnSpc>
              <a:spcBef>
                <a:spcPts val="300"/>
              </a:spcBef>
              <a:buNone/>
            </a:pPr>
            <a:r>
              <a:rPr lang="en-US" sz="1500" dirty="0">
                <a:solidFill>
                  <a:srgbClr val="000000"/>
                </a:solidFill>
                <a:latin typeface="Arial"/>
                <a:cs typeface="Arial"/>
              </a:rPr>
              <a:t>A: sốc nhiễm khuẩn</a:t>
            </a:r>
          </a:p>
          <a:p>
            <a:pPr marL="0" indent="0" algn="ctr">
              <a:lnSpc>
                <a:spcPct val="104000"/>
              </a:lnSpc>
              <a:spcBef>
                <a:spcPts val="300"/>
              </a:spcBef>
              <a:buNone/>
            </a:pPr>
            <a:r>
              <a:rPr lang="en-US" sz="1500" dirty="0">
                <a:solidFill>
                  <a:srgbClr val="000000"/>
                </a:solidFill>
                <a:latin typeface="Arial"/>
                <a:cs typeface="Arial"/>
              </a:rPr>
              <a:t>B: hạn chế dịch không nhằm hồi sức</a:t>
            </a:r>
          </a:p>
          <a:p>
            <a:pPr marL="0" indent="0" algn="ctr">
              <a:lnSpc>
                <a:spcPct val="104000"/>
              </a:lnSpc>
              <a:spcBef>
                <a:spcPts val="300"/>
              </a:spcBef>
              <a:buNone/>
            </a:pPr>
            <a:r>
              <a:rPr lang="en-US" sz="1500" dirty="0">
                <a:solidFill>
                  <a:srgbClr val="000000"/>
                </a:solidFill>
                <a:latin typeface="Arial"/>
                <a:cs typeface="Arial"/>
              </a:rPr>
              <a:t>C: cân bằng dịch tích lũy</a:t>
            </a:r>
          </a:p>
          <a:p>
            <a:pPr marL="0" indent="0" algn="ctr">
              <a:lnSpc>
                <a:spcPct val="104000"/>
              </a:lnSpc>
              <a:spcBef>
                <a:spcPts val="300"/>
              </a:spcBef>
              <a:buNone/>
            </a:pPr>
            <a:r>
              <a:rPr lang="en-US" sz="1500" dirty="0">
                <a:solidFill>
                  <a:srgbClr val="000000"/>
                </a:solidFill>
                <a:latin typeface="Arial"/>
                <a:cs typeface="Arial"/>
              </a:rPr>
              <a:t>D: ngày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Kết quả bình chọn, rồi nói P thành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PICO trong câu hỏi của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Người lớn bị sốc nhiễm khuẩn</a:t>
            </a:r>
          </a:p>
          <a:p>
            <a:pPr marL="0" indent="0" algn="ctr">
              <a:lnSpc>
                <a:spcPct val="104000"/>
              </a:lnSpc>
              <a:spcBef>
                <a:spcPts val="400"/>
              </a:spcBef>
              <a:buNone/>
            </a:pPr>
            <a:r>
              <a:rPr lang="en-US" sz="1450" dirty="0">
                <a:solidFill>
                  <a:srgbClr val="000000"/>
                </a:solidFill>
                <a:latin typeface="Arial"/>
                <a:cs typeface="Arial"/>
              </a:rPr>
              <a:t>Trong 24 giờ đầu dùng thuốc vận mạch</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Hạn chế dịch không nhằm hồi sức</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Chăm sóc thường quy</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tích lũy</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Ngày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Tình trạng khiến người bệnh vào nghiên cứu (sốc nhiễm khuẩn)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quyết định thiết kế (học kỹ ở Buổi 3).</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Mô tả</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Cái gì? Bao nhiêu? Ai?</a:t>
            </a:r>
          </a:p>
          <a:p>
            <a:pPr marL="0" indent="0" algn="ctr">
              <a:lnSpc>
                <a:spcPct val="104000"/>
              </a:lnSpc>
              <a:spcBef>
                <a:spcPts val="400"/>
              </a:spcBef>
              <a:buNone/>
            </a:pPr>
            <a:r>
              <a:rPr lang="en-US" sz="1750" dirty="0">
                <a:solidFill>
                  <a:srgbClr val="000000"/>
                </a:solidFill>
                <a:latin typeface="Arial"/>
                <a:cs typeface="Arial"/>
              </a:rPr>
              <a:t>"Bao nhiêu người bệnh sốc nhiễm khuẩn của khoa có cân bằng dịch dương vào ngày 3?"</a:t>
            </a:r>
          </a:p>
          <a:p>
            <a:pPr marL="0" indent="0" algn="ctr">
              <a:lnSpc>
                <a:spcPct val="104000"/>
              </a:lnSpc>
              <a:spcBef>
                <a:spcPts val="400"/>
              </a:spcBef>
              <a:buNone/>
            </a:pPr>
            <a:r>
              <a:rPr lang="en-US" sz="1750" b="1" dirty="0">
                <a:solidFill>
                  <a:srgbClr val="000000"/>
                </a:solidFill>
                <a:latin typeface="Arial"/>
                <a:cs typeface="Arial"/>
              </a:rPr>
              <a:t>Loạt ca, cắt ngang</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quan sát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liên quan tới Y?</a:t>
            </a:r>
          </a:p>
          <a:p>
            <a:pPr marL="0" indent="0" algn="ctr">
              <a:lnSpc>
                <a:spcPct val="104000"/>
              </a:lnSpc>
              <a:spcBef>
                <a:spcPts val="400"/>
              </a:spcBef>
              <a:buNone/>
            </a:pPr>
            <a:r>
              <a:rPr lang="en-US" sz="1750" dirty="0">
                <a:solidFill>
                  <a:srgbClr val="000000"/>
                </a:solidFill>
                <a:latin typeface="Arial"/>
                <a:cs typeface="Arial"/>
              </a:rPr>
              <a:t>"Cân bằng dịch dương có liên quan tới tử vong không?"</a:t>
            </a:r>
          </a:p>
          <a:p>
            <a:pPr marL="0" indent="0" algn="ctr">
              <a:lnSpc>
                <a:spcPct val="104000"/>
              </a:lnSpc>
              <a:spcBef>
                <a:spcPts val="400"/>
              </a:spcBef>
              <a:buNone/>
            </a:pPr>
            <a:r>
              <a:rPr lang="en-US" sz="1750" b="1" dirty="0">
                <a:solidFill>
                  <a:srgbClr val="000000"/>
                </a:solidFill>
                <a:latin typeface="Arial"/>
                <a:cs typeface="Arial"/>
              </a:rPr>
              <a:t>Thuần tập, bệnh-chứng</a:t>
            </a:r>
          </a:p>
        </p:txBody>
      </p:sp>
      <p:sp>
        <p:nvSpPr>
          <p:cNvPr id="74" name="CardHead"/>
          <p:cNvSpPr/>
          <p:nvPr/>
        </p:nvSpPr>
        <p:spPr>
          <a:xfrm>
            <a:off x="8108932" y="201855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Phân tích: can thiệp</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X có gây ra Y?</a:t>
            </a:r>
          </a:p>
          <a:p>
            <a:pPr marL="0" indent="0" algn="ctr">
              <a:lnSpc>
                <a:spcPct val="104000"/>
              </a:lnSpc>
              <a:spcBef>
                <a:spcPts val="400"/>
              </a:spcBef>
              <a:buNone/>
            </a:pPr>
            <a:r>
              <a:rPr lang="en-US" sz="1750" dirty="0">
                <a:solidFill>
                  <a:srgbClr val="000000"/>
                </a:solidFill>
                <a:latin typeface="Arial"/>
                <a:cs typeface="Arial"/>
              </a:rPr>
              <a:t>"Hạn chế dịch có làm giảm tử vong 28 ngày không?"</a:t>
            </a:r>
          </a:p>
          <a:p>
            <a:pPr marL="0" indent="0" algn="ctr">
              <a:lnSpc>
                <a:spcPct val="104000"/>
              </a:lnSpc>
              <a:spcBef>
                <a:spcPts val="400"/>
              </a:spcBef>
              <a:buNone/>
            </a:pPr>
            <a:r>
              <a:rPr lang="en-US" sz="1750" b="1" dirty="0">
                <a:solidFill>
                  <a:srgbClr val="000000"/>
                </a:solidFill>
                <a:latin typeface="Arial"/>
                <a:cs typeface="Arial"/>
              </a:rPr>
              <a:t>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để mô tả. Câu hỏi phân tích để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"Truyền dịch có hại cho người bệnh ICU không?"</a:t>
            </a:r>
          </a:p>
          <a:p>
            <a:pPr marL="0" indent="0" algn="ctr">
              <a:lnSpc>
                <a:spcPct val="104000"/>
              </a:lnSpc>
              <a:spcBef>
                <a:spcPts val="400"/>
              </a:spcBef>
              <a:buNone/>
            </a:pPr>
            <a:r>
              <a:rPr lang="en-US" sz="1950" dirty="0">
                <a:solidFill>
                  <a:srgbClr val="000000"/>
                </a:solidFill>
                <a:latin typeface="Arial"/>
                <a:cs typeface="Arial"/>
              </a:rPr>
              <a:t>Người bệnh nào?</a:t>
            </a:r>
          </a:p>
          <a:p>
            <a:pPr marL="0" indent="0" algn="ctr">
              <a:lnSpc>
                <a:spcPct val="104000"/>
              </a:lnSpc>
              <a:spcBef>
                <a:spcPts val="400"/>
              </a:spcBef>
              <a:buNone/>
            </a:pPr>
            <a:r>
              <a:rPr lang="en-US" sz="1950" dirty="0">
                <a:solidFill>
                  <a:srgbClr val="000000"/>
                </a:solidFill>
                <a:latin typeface="Arial"/>
                <a:cs typeface="Arial"/>
              </a:rPr>
              <a:t>Dịch gì, bao nhiêu?</a:t>
            </a:r>
          </a:p>
          <a:p>
            <a:pPr marL="0" indent="0" algn="ctr">
              <a:lnSpc>
                <a:spcPct val="104000"/>
              </a:lnSpc>
              <a:spcBef>
                <a:spcPts val="400"/>
              </a:spcBef>
              <a:buNone/>
            </a:pPr>
            <a:r>
              <a:rPr lang="en-US" sz="1950" dirty="0">
                <a:solidFill>
                  <a:srgbClr val="000000"/>
                </a:solidFill>
                <a:latin typeface="Arial"/>
                <a:cs typeface="Arial"/>
              </a:rPr>
              <a:t>Có hại so với cái gì?</a:t>
            </a:r>
          </a:p>
          <a:p>
            <a:pPr marL="0" indent="0" algn="ctr">
              <a:lnSpc>
                <a:spcPct val="104000"/>
              </a:lnSpc>
              <a:spcBef>
                <a:spcPts val="400"/>
              </a:spcBef>
              <a:buNone/>
            </a:pPr>
            <a:r>
              <a:rPr lang="en-US" sz="1950" dirty="0">
                <a:solidFill>
                  <a:srgbClr val="000000"/>
                </a:solidFill>
                <a:latin typeface="Arial"/>
                <a:cs typeface="Arial"/>
              </a:rPr>
              <a:t>Hại thế nào? Khi nào?</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người lớn bị sốc nhiễm khuẩn tại ICU,</a:t>
            </a:r>
          </a:p>
          <a:p>
            <a:pPr marL="0" indent="0" algn="ctr">
              <a:lnSpc>
                <a:spcPct val="104000"/>
              </a:lnSpc>
              <a:spcBef>
                <a:spcPts val="400"/>
              </a:spcBef>
              <a:buNone/>
            </a:pPr>
            <a:r>
              <a:rPr lang="en-US" sz="1950" dirty="0">
                <a:solidFill>
                  <a:srgbClr val="000000"/>
                </a:solidFill>
                <a:latin typeface="Arial"/>
                <a:cs typeface="Arial"/>
              </a:rPr>
              <a:t>I: chiến lược hạn chế dịch,</a:t>
            </a:r>
          </a:p>
          <a:p>
            <a:pPr marL="0" indent="0" algn="ctr">
              <a:lnSpc>
                <a:spcPct val="104000"/>
              </a:lnSpc>
              <a:spcBef>
                <a:spcPts val="400"/>
              </a:spcBef>
              <a:buNone/>
            </a:pPr>
            <a:r>
              <a:rPr lang="en-US" sz="1950" dirty="0">
                <a:solidFill>
                  <a:srgbClr val="000000"/>
                </a:solidFill>
                <a:latin typeface="Arial"/>
                <a:cs typeface="Arial"/>
              </a:rPr>
              <a:t>C: so với chăm sóc thường quy,</a:t>
            </a:r>
          </a:p>
          <a:p>
            <a:pPr marL="0" indent="0" algn="ctr">
              <a:lnSpc>
                <a:spcPct val="104000"/>
              </a:lnSpc>
              <a:spcBef>
                <a:spcPts val="400"/>
              </a:spcBef>
              <a:buNone/>
            </a:pPr>
            <a:r>
              <a:rPr lang="en-US" sz="1950" dirty="0">
                <a:solidFill>
                  <a:srgbClr val="000000"/>
                </a:solidFill>
                <a:latin typeface="Arial"/>
                <a:cs typeface="Arial"/>
              </a:rPr>
              <a:t>O: có làm giảm tử vong</a:t>
            </a:r>
          </a:p>
          <a:p>
            <a:pPr marL="0" indent="0" algn="ctr">
              <a:lnSpc>
                <a:spcPct val="104000"/>
              </a:lnSpc>
              <a:spcBef>
                <a:spcPts val="400"/>
              </a:spcBef>
              <a:buNone/>
            </a:pPr>
            <a:r>
              <a:rPr lang="en-US" sz="1950" dirty="0">
                <a:solidFill>
                  <a:srgbClr val="000000"/>
                </a:solidFill>
                <a:latin typeface="Arial"/>
                <a:cs typeface="Arial"/>
              </a:rPr>
              <a:t>T: 28 ngày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các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bỏ thời gian vào nó.</a:t>
            </a:r>
          </a:p>
        </p:txBody>
      </p:sp>
      <p:sp>
        <p:nvSpPr>
          <p:cNvPr id="70" name="CardHead"/>
          <p:cNvSpPr/>
          <p:nvPr/>
        </p:nvSpPr>
        <p:spPr>
          <a:xfrm>
            <a:off x="457200" y="208099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(Feasible)</a:t>
            </a:r>
          </a:p>
          <a:p>
            <a:pPr marL="0" indent="0" algn="ctr">
              <a:lnSpc>
                <a:spcPct val="104000"/>
              </a:lnSpc>
              <a:spcBef>
                <a:spcPts val="400"/>
              </a:spcBef>
              <a:buNone/>
            </a:pPr>
            <a:r>
              <a:rPr lang="en-US" sz="1450" dirty="0">
                <a:solidFill>
                  <a:srgbClr val="000000"/>
                </a:solidFill>
                <a:latin typeface="Arial"/>
                <a:cs typeface="Arial"/>
              </a:rPr>
              <a:t>Đủ người bệnh</a:t>
            </a:r>
          </a:p>
          <a:p>
            <a:pPr marL="0" indent="0" algn="ctr">
              <a:lnSpc>
                <a:spcPct val="104000"/>
              </a:lnSpc>
              <a:spcBef>
                <a:spcPts val="400"/>
              </a:spcBef>
              <a:buNone/>
            </a:pPr>
            <a:r>
              <a:rPr lang="en-US" sz="1450" dirty="0">
                <a:solidFill>
                  <a:srgbClr val="000000"/>
                </a:solidFill>
                <a:latin typeface="Arial"/>
                <a:cs typeface="Arial"/>
              </a:rPr>
              <a:t>Thời gian, kinh phí và kỹ năng</a:t>
            </a:r>
          </a:p>
          <a:p>
            <a:pPr marL="0" indent="0" algn="ctr">
              <a:lnSpc>
                <a:spcPct val="104000"/>
              </a:lnSpc>
              <a:spcBef>
                <a:spcPts val="400"/>
              </a:spcBef>
              <a:buNone/>
            </a:pPr>
            <a:r>
              <a:rPr lang="en-US" sz="1450" dirty="0">
                <a:solidFill>
                  <a:srgbClr val="000000"/>
                </a:solidFill>
                <a:latin typeface="Arial"/>
                <a:cs typeface="Arial"/>
              </a:rPr>
              <a:t>Lấy được dữ liệu</a:t>
            </a:r>
          </a:p>
        </p:txBody>
      </p:sp>
      <p:sp>
        <p:nvSpPr>
          <p:cNvPr id="72" name="CardHead"/>
          <p:cNvSpPr/>
          <p:nvPr/>
        </p:nvSpPr>
        <p:spPr>
          <a:xfrm>
            <a:off x="2752720" y="208099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(Interesting)</a:t>
            </a:r>
          </a:p>
          <a:p>
            <a:pPr marL="0" indent="0" algn="ctr">
              <a:lnSpc>
                <a:spcPct val="104000"/>
              </a:lnSpc>
              <a:spcBef>
                <a:spcPts val="400"/>
              </a:spcBef>
              <a:buNone/>
            </a:pPr>
            <a:r>
              <a:rPr lang="en-US" sz="1450" dirty="0">
                <a:solidFill>
                  <a:srgbClr val="000000"/>
                </a:solidFill>
                <a:latin typeface="Arial"/>
                <a:cs typeface="Arial"/>
              </a:rPr>
              <a:t>Với bạn và đồng nghiệp</a:t>
            </a:r>
          </a:p>
          <a:p>
            <a:pPr marL="0" indent="0" algn="ctr">
              <a:lnSpc>
                <a:spcPct val="104000"/>
              </a:lnSpc>
              <a:spcBef>
                <a:spcPts val="400"/>
              </a:spcBef>
              <a:buNone/>
            </a:pPr>
            <a:r>
              <a:rPr lang="en-US" sz="1450" dirty="0">
                <a:solidFill>
                  <a:srgbClr val="000000"/>
                </a:solidFill>
                <a:latin typeface="Arial"/>
                <a:cs typeface="Arial"/>
              </a:rPr>
              <a:t>Với người đọc</a:t>
            </a:r>
          </a:p>
        </p:txBody>
      </p:sp>
      <p:sp>
        <p:nvSpPr>
          <p:cNvPr id="74" name="CardHead"/>
          <p:cNvSpPr/>
          <p:nvPr/>
        </p:nvSpPr>
        <p:spPr>
          <a:xfrm>
            <a:off x="5048240" y="208099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(Novel)</a:t>
            </a:r>
          </a:p>
          <a:p>
            <a:pPr marL="0" indent="0" algn="ctr">
              <a:lnSpc>
                <a:spcPct val="104000"/>
              </a:lnSpc>
              <a:spcBef>
                <a:spcPts val="400"/>
              </a:spcBef>
              <a:buNone/>
            </a:pPr>
            <a:r>
              <a:rPr lang="en-US" sz="1450" dirty="0">
                <a:solidFill>
                  <a:srgbClr val="000000"/>
                </a:solidFill>
                <a:latin typeface="Arial"/>
                <a:cs typeface="Arial"/>
              </a:rPr>
              <a:t>Khẳng định, bác bỏ hoặc mở rộng điều đã biết</a:t>
            </a:r>
          </a:p>
        </p:txBody>
      </p:sp>
      <p:sp>
        <p:nvSpPr>
          <p:cNvPr id="76" name="CardHead"/>
          <p:cNvSpPr/>
          <p:nvPr/>
        </p:nvSpPr>
        <p:spPr>
          <a:xfrm>
            <a:off x="7343760" y="208099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(Ethical)</a:t>
            </a:r>
          </a:p>
          <a:p>
            <a:pPr marL="0" indent="0" algn="ctr">
              <a:lnSpc>
                <a:spcPct val="104000"/>
              </a:lnSpc>
              <a:spcBef>
                <a:spcPts val="400"/>
              </a:spcBef>
              <a:buNone/>
            </a:pPr>
            <a:r>
              <a:rPr lang="en-US" sz="1450" dirty="0">
                <a:solidFill>
                  <a:srgbClr val="000000"/>
                </a:solidFill>
                <a:latin typeface="Arial"/>
                <a:cs typeface="Arial"/>
              </a:rPr>
              <a:t>Hội đồng đạo đức có thể phê duyệt</a:t>
            </a:r>
          </a:p>
        </p:txBody>
      </p:sp>
      <p:sp>
        <p:nvSpPr>
          <p:cNvPr id="78" name="CardHead"/>
          <p:cNvSpPr/>
          <p:nvPr/>
        </p:nvSpPr>
        <p:spPr>
          <a:xfrm>
            <a:off x="9639280" y="208099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20994"/>
            <a:ext cx="2095520" cy="16870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(Relevant)</a:t>
            </a:r>
          </a:p>
          <a:p>
            <a:pPr marL="0" indent="0" algn="ctr">
              <a:lnSpc>
                <a:spcPct val="104000"/>
              </a:lnSpc>
              <a:spcBef>
                <a:spcPts val="400"/>
              </a:spcBef>
              <a:buNone/>
            </a:pPr>
            <a:r>
              <a:rPr lang="en-US" sz="1450" dirty="0">
                <a:solidFill>
                  <a:srgbClr val="000000"/>
                </a:solidFill>
                <a:latin typeface="Arial"/>
                <a:cs typeface="Arial"/>
              </a:rPr>
              <a:t>Có thể thay đổi thực hành, chính sách 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Hạn chế dịch so với thường quy trong sốc nhiễm khuẩn: tử vong 28 ngày, tại chính ICU của bạn.</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Khả thi</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Đỏ</a:t>
            </a:r>
          </a:p>
          <a:p>
            <a:pPr marL="0" indent="0" algn="ctr">
              <a:lnSpc>
                <a:spcPct val="104000"/>
              </a:lnSpc>
              <a:spcBef>
                <a:spcPts val="400"/>
              </a:spcBef>
              <a:buNone/>
            </a:pPr>
            <a:r>
              <a:rPr lang="en-US" sz="1450" dirty="0">
                <a:solidFill>
                  <a:srgbClr val="000000"/>
                </a:solidFill>
                <a:latin typeface="Arial"/>
                <a:cs typeface="Arial"/>
              </a:rPr>
              <a:t>Tử vong cần hơn 1000 người bệnh</a:t>
            </a:r>
          </a:p>
          <a:p>
            <a:pPr marL="0" indent="0" algn="ctr">
              <a:lnSpc>
                <a:spcPct val="104000"/>
              </a:lnSpc>
              <a:spcBef>
                <a:spcPts val="400"/>
              </a:spcBef>
              <a:buNone/>
            </a:pPr>
            <a:r>
              <a:rPr lang="en-US" sz="1450" dirty="0">
                <a:solidFill>
                  <a:srgbClr val="000000"/>
                </a:solidFill>
                <a:latin typeface="Arial"/>
                <a:cs typeface="Arial"/>
              </a:rPr>
              <a:t>Quá lớn với một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Thú vị</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Dịch truyền được bàn cãi ở mọi buổi đi buồng</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Mới</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Đã có những thử nghiệm lớn</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Đạo đức</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Vàng</a:t>
            </a:r>
          </a:p>
          <a:p>
            <a:pPr marL="0" indent="0" algn="ctr">
              <a:lnSpc>
                <a:spcPct val="104000"/>
              </a:lnSpc>
              <a:spcBef>
                <a:spcPts val="400"/>
              </a:spcBef>
              <a:buNone/>
            </a:pPr>
            <a:r>
              <a:rPr lang="en-US" sz="1450" dirty="0">
                <a:solidFill>
                  <a:srgbClr val="000000"/>
                </a:solidFill>
                <a:latin typeface="Arial"/>
                <a:cs typeface="Arial"/>
              </a:rPr>
              <a:t>Cả hai chiến lược đang được dùng</a:t>
            </a:r>
          </a:p>
          <a:p>
            <a:pPr marL="0" indent="0" algn="ctr">
              <a:lnSpc>
                <a:spcPct val="104000"/>
              </a:lnSpc>
              <a:spcBef>
                <a:spcPts val="400"/>
              </a:spcBef>
              <a:buNone/>
            </a:pPr>
            <a:r>
              <a:rPr lang="en-US" sz="1450" dirty="0">
                <a:solidFill>
                  <a:srgbClr val="000000"/>
                </a:solidFill>
                <a:latin typeface="Arial"/>
                <a:cs typeface="Arial"/>
              </a:rPr>
              <a:t>Xin đồng ý ở ICU cần thận trọng</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Phù hợp</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Xanh</a:t>
            </a:r>
          </a:p>
          <a:p>
            <a:pPr marL="0" indent="0" algn="ctr">
              <a:lnSpc>
                <a:spcPct val="104000"/>
              </a:lnSpc>
              <a:spcBef>
                <a:spcPts val="400"/>
              </a:spcBef>
              <a:buNone/>
            </a:pPr>
            <a:r>
              <a:rPr lang="en-US" sz="1450" dirty="0">
                <a:solidFill>
                  <a:srgbClr val="000000"/>
                </a:solidFill>
                <a:latin typeface="Arial"/>
                <a:cs typeface="Arial"/>
              </a:rPr>
              <a:t>Người bệnh sốc nhiễm khuẩn nào cũng được truyền dịch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Quan trọng, nhưng quá lớn với một ICU. Bước tiếp theo: thu nhỏ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cứu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Mở Bài tập 1 trong phiếu bài tập Buổi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đưa ra ba phiên bản nhỏ hơn của câu hỏi: A, B và C (bên phải)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ICU của bạn làm được phiên bản nào trong vòng hai năm?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phiên bản được chọn, người được mời nói P, I hoặc E, C, O và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Cùng nhau: gọi tên loại câu hỏi và tô màu từng chữ cái FINER</a:t>
            </a:r>
          </a:p>
        </p:txBody>
      </p:sp>
      <p:sp>
        <p:nvSpPr>
          <p:cNvPr id="52" name="Side"/>
          <p:cNvSpPr/>
          <p:nvPr/>
        </p:nvSpPr>
        <p:spPr>
          <a:xfrm>
            <a:off x="7423760" y="1720000"/>
            <a:ext cx="4311040" cy="24061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Ba phiên bản</a:t>
            </a:r>
          </a:p>
          <a:p>
            <a:pPr marL="0" indent="0" algn="ctr">
              <a:lnSpc>
                <a:spcPct val="104000"/>
              </a:lnSpc>
              <a:spcBef>
                <a:spcPts val="300"/>
              </a:spcBef>
              <a:buNone/>
            </a:pPr>
            <a:r>
              <a:rPr lang="en-US" sz="1500" dirty="0">
                <a:solidFill>
                  <a:srgbClr val="000000"/>
                </a:solidFill>
                <a:latin typeface="Arial"/>
                <a:cs typeface="Arial"/>
              </a:rPr>
              <a:t>A: quy trình hạn chế dịch so với thường quy, cân bằng dịch ngày 5 (thử nghiệm thí điểm)</a:t>
            </a:r>
          </a:p>
          <a:p>
            <a:pPr marL="0" indent="0" algn="ctr">
              <a:lnSpc>
                <a:spcPct val="104000"/>
              </a:lnSpc>
              <a:spcBef>
                <a:spcPts val="300"/>
              </a:spcBef>
              <a:buNone/>
            </a:pPr>
            <a:r>
              <a:rPr lang="en-US" sz="1500" dirty="0">
                <a:solidFill>
                  <a:srgbClr val="000000"/>
                </a:solidFill>
                <a:latin typeface="Arial"/>
                <a:cs typeface="Arial"/>
              </a:rPr>
              <a:t>B: có hay không cân bằng dịch dương đến ngày 3, tử vong đến ngày 28 (thuần tập)</a:t>
            </a:r>
          </a:p>
          <a:p>
            <a:pPr marL="0" indent="0" algn="ctr">
              <a:lnSpc>
                <a:spcPct val="104000"/>
              </a:lnSpc>
              <a:spcBef>
                <a:spcPts val="300"/>
              </a:spcBef>
              <a:buNone/>
            </a:pPr>
            <a:r>
              <a:rPr lang="en-US" sz="1500" dirty="0">
                <a:solidFill>
                  <a:srgbClr val="000000"/>
                </a:solidFill>
                <a:latin typeface="Arial"/>
                <a:cs typeface="Arial"/>
              </a:rPr>
              <a:t>C: bao nhiêu người bệnh của bạn có cân bằng dịch dương ở ngày 3? (mô tả)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chung của lớp, có PICO(T) và màu FINER, gõ trên màn hình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tiêu và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mình muốn biết gì. Mục tiêu cho biết mình sẽ làm gì.</a:t>
            </a:r>
          </a:p>
          <a:p>
            <a:pPr marL="0" indent="0" algn="ctr">
              <a:spcBef>
                <a:spcPts val="1200"/>
              </a:spcBef>
              <a:buNone/>
            </a:pPr>
            <a:r>
              <a:rPr lang="en-US" sz="1900" i="1" dirty="0">
                <a:solidFill>
                  <a:srgbClr val="595959"/>
                </a:solidFill>
                <a:latin typeface="Arial"/>
                <a:cs typeface="Arial"/>
              </a:rPr>
              <a:t>20 phút: mục tiêu tổng quát, mục tiêu cụ thể, giả thuyết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Mục đích chung, trong một câu</a:t>
            </a:r>
          </a:p>
          <a:p>
            <a:pPr marL="0" indent="0" algn="ctr">
              <a:lnSpc>
                <a:spcPct val="104000"/>
              </a:lnSpc>
              <a:spcBef>
                <a:spcPts val="400"/>
              </a:spcBef>
              <a:buNone/>
            </a:pPr>
            <a:r>
              <a:rPr lang="en-US" sz="1900" dirty="0">
                <a:solidFill>
                  <a:srgbClr val="000000"/>
                </a:solidFill>
                <a:latin typeface="Arial"/>
                <a:cs typeface="Arial"/>
              </a:rPr>
              <a:t>So sánh chiến lược hạn chế dịch với chăm sóc thường quy ở người lớn bị sốc nhiễm khuẩn tại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Việc cụ thể, với động từ đo được</a:t>
            </a:r>
          </a:p>
          <a:p>
            <a:pPr marL="0" indent="0" algn="ctr">
              <a:lnSpc>
                <a:spcPct val="104000"/>
              </a:lnSpc>
              <a:spcBef>
                <a:spcPts val="400"/>
              </a:spcBef>
              <a:buNone/>
            </a:pPr>
            <a:r>
              <a:rPr lang="en-US" sz="1900" dirty="0">
                <a:solidFill>
                  <a:srgbClr val="000000"/>
                </a:solidFill>
                <a:latin typeface="Arial"/>
                <a:cs typeface="Arial"/>
              </a:rPr>
              <a:t>Chính: so sánh tử vong 28 ngày</a:t>
            </a:r>
          </a:p>
          <a:p>
            <a:pPr marL="0" indent="0" algn="ctr">
              <a:lnSpc>
                <a:spcPct val="104000"/>
              </a:lnSpc>
              <a:spcBef>
                <a:spcPts val="400"/>
              </a:spcBef>
              <a:buNone/>
            </a:pPr>
            <a:r>
              <a:rPr lang="en-US" sz="1900" dirty="0">
                <a:solidFill>
                  <a:srgbClr val="000000"/>
                </a:solidFill>
                <a:latin typeface="Arial"/>
                <a:cs typeface="Arial"/>
              </a:rPr>
              <a:t>So sánh cân bằng dịch ngày 5</a:t>
            </a:r>
          </a:p>
          <a:p>
            <a:pPr marL="0" indent="0" algn="ctr">
              <a:lnSpc>
                <a:spcPct val="104000"/>
              </a:lnSpc>
              <a:spcBef>
                <a:spcPts val="400"/>
              </a:spcBef>
              <a:buNone/>
            </a:pPr>
            <a:r>
              <a:rPr lang="en-US" sz="1900" dirty="0">
                <a:solidFill>
                  <a:srgbClr val="000000"/>
                </a:solidFill>
                <a:latin typeface="Arial"/>
                <a:cs typeface="Arial"/>
              </a:rPr>
              <a:t>So sánh tổn thương thận cần lọc máu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tiêu tổng quát, 2-3 mục tiêu cụ thể đo được. Đánh dấu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cụ thể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mơ hồ</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tìm hiểu, biết, nghiên cứu về, khám phá, xem xét</a:t>
            </a:r>
          </a:p>
          <a:p>
            <a:pPr marL="0" indent="0" algn="ctr">
              <a:lnSpc>
                <a:spcPct val="104000"/>
              </a:lnSpc>
              <a:spcBef>
                <a:spcPts val="400"/>
              </a:spcBef>
              <a:buNone/>
            </a:pPr>
            <a:r>
              <a:rPr lang="en-US" sz="2000" i="1" dirty="0">
                <a:solidFill>
                  <a:srgbClr val="000000"/>
                </a:solidFill>
                <a:latin typeface="Arial"/>
                <a:cs typeface="Arial"/>
              </a:rPr>
              <a:t>"Tìm hiểu về quản lý dịch truyền tại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Động từ đo được</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so sánh, ước tính, mô tả, xác định, đo lường</a:t>
            </a:r>
          </a:p>
          <a:p>
            <a:pPr marL="0" indent="0" algn="ctr">
              <a:lnSpc>
                <a:spcPct val="104000"/>
              </a:lnSpc>
              <a:spcBef>
                <a:spcPts val="400"/>
              </a:spcBef>
              <a:buNone/>
            </a:pPr>
            <a:r>
              <a:rPr lang="en-US" sz="2000" i="1" dirty="0">
                <a:solidFill>
                  <a:srgbClr val="000000"/>
                </a:solidFill>
                <a:latin typeface="Arial"/>
                <a:cs typeface="Arial"/>
              </a:rPr>
              <a:t>"So sánh cân bằng dịch tích lũy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nói được sẽ đo bằng cách nào, đó chưa phải là mục tiêu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Giả thuyết là câu trả lời dự kiến cho mục tiêu chính: so sánh tử vong 28 ngày.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giả thuyết không</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như nhau</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giả thuyết đối</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Tử vong 28 ngày khác nhau</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Hạn chế dịch</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Thường quy</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Kiểm định H0: dữ liệu có thể bác bỏ H0, nhưng không bao giờ chứng minh được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Bài tập nhanh: mục tiêu và giả thuyết cho nghiên cứu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Câu hỏi thí điểm (phiên bản A): ở người lớn bị sốc nhiễm khuẩn, quy trình hạn chế dịch, so với chăm sóc thường quy, có làm giảm cân bằng dịch tích lũy ngày 5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một mục tiêu tổng quát: 'So sánh...'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cụ thể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Động từ dùng được</a:t>
            </a:r>
          </a:p>
          <a:p>
            <a:pPr marL="0" indent="0" algn="ctr">
              <a:lnSpc>
                <a:spcPct val="104000"/>
              </a:lnSpc>
              <a:spcBef>
                <a:spcPts val="300"/>
              </a:spcBef>
              <a:buNone/>
            </a:pPr>
            <a:r>
              <a:rPr lang="en-US" sz="1500" dirty="0">
                <a:solidFill>
                  <a:srgbClr val="000000"/>
                </a:solidFill>
                <a:latin typeface="Arial"/>
                <a:cs typeface="Arial"/>
              </a:rPr>
              <a:t>so sánh</a:t>
            </a:r>
          </a:p>
          <a:p>
            <a:pPr marL="0" indent="0" algn="ctr">
              <a:lnSpc>
                <a:spcPct val="104000"/>
              </a:lnSpc>
              <a:spcBef>
                <a:spcPts val="300"/>
              </a:spcBef>
              <a:buNone/>
            </a:pPr>
            <a:r>
              <a:rPr lang="en-US" sz="1500" dirty="0">
                <a:solidFill>
                  <a:srgbClr val="000000"/>
                </a:solidFill>
                <a:latin typeface="Arial"/>
                <a:cs typeface="Arial"/>
              </a:rPr>
              <a:t>ước tính</a:t>
            </a:r>
          </a:p>
          <a:p>
            <a:pPr marL="0" indent="0" algn="ctr">
              <a:lnSpc>
                <a:spcPct val="104000"/>
              </a:lnSpc>
              <a:spcBef>
                <a:spcPts val="300"/>
              </a:spcBef>
              <a:buNone/>
            </a:pPr>
            <a:r>
              <a:rPr lang="en-US" sz="1500" dirty="0">
                <a:solidFill>
                  <a:srgbClr val="000000"/>
                </a:solidFill>
                <a:latin typeface="Arial"/>
                <a:cs typeface="Arial"/>
              </a:rPr>
              <a:t>mô tả</a:t>
            </a:r>
          </a:p>
          <a:p>
            <a:pPr marL="0" indent="0" algn="ctr">
              <a:lnSpc>
                <a:spcPct val="104000"/>
              </a:lnSpc>
              <a:spcBef>
                <a:spcPts val="300"/>
              </a:spcBef>
              <a:buNone/>
            </a:pPr>
            <a:r>
              <a:rPr lang="en-US" sz="1500" dirty="0">
                <a:solidFill>
                  <a:srgbClr val="000000"/>
                </a:solidFill>
                <a:latin typeface="Arial"/>
                <a:cs typeface="Arial"/>
              </a:rPr>
              <a:t>xác định</a:t>
            </a:r>
          </a:p>
          <a:p>
            <a:pPr marL="0" indent="0" algn="ctr">
              <a:lnSpc>
                <a:spcPct val="104000"/>
              </a:lnSpc>
              <a:spcBef>
                <a:spcPts val="300"/>
              </a:spcBef>
              <a:buNone/>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2 trong phiếu bài tập. Hai ba người đọc to bài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câu hỏi thí điểm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tổng quát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So sánh quy trình hạn chế dịch với chăm sóc thường quy ở người lớn bị sốc nhiễm khuẩn tại ICU của bạn</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 cụ thể</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Chính: so sánh cân bằng dịch tích lũy ngày 5 giữa hai nhóm</a:t>
            </a:r>
          </a:p>
          <a:p>
            <a:pPr marL="0" indent="0" algn="ctr">
              <a:lnSpc>
                <a:spcPct val="104000"/>
              </a:lnSpc>
              <a:spcBef>
                <a:spcPts val="400"/>
              </a:spcBef>
              <a:buNone/>
            </a:pPr>
            <a:r>
              <a:rPr lang="en-US" sz="1750" dirty="0">
                <a:solidFill>
                  <a:srgbClr val="000000"/>
                </a:solidFill>
                <a:latin typeface="Arial"/>
                <a:cs typeface="Arial"/>
              </a:rPr>
              <a:t>Phụ: ước tính tốc độ tuyển người bệnh và mức tuân thủ quy trình</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cân bằng dịch ngày 5 như nhau ở hai nhóm</a:t>
            </a:r>
          </a:p>
          <a:p>
            <a:pPr marL="0" indent="0" algn="ctr">
              <a:lnSpc>
                <a:spcPct val="104000"/>
              </a:lnSpc>
              <a:spcBef>
                <a:spcPts val="400"/>
              </a:spcBef>
              <a:buNone/>
            </a:pPr>
            <a:r>
              <a:rPr lang="en-US" sz="1750" dirty="0">
                <a:solidFill>
                  <a:srgbClr val="000000"/>
                </a:solidFill>
                <a:latin typeface="Arial"/>
                <a:cs typeface="Arial"/>
              </a:rPr>
              <a:t>H1: cân bằng dịch ngày 5 khác nhau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tiêu tổng quát,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bắt đầu đề cương của riêng bạn: một câu hỏi, một mục tiêu tổng quát.</a:t>
            </a:r>
          </a:p>
          <a:p>
            <a:pPr marL="0" indent="0" algn="ctr">
              <a:spcBef>
                <a:spcPts val="1200"/>
              </a:spcBef>
              <a:buNone/>
            </a:pPr>
            <a:r>
              <a:rPr lang="en-US" sz="1900" i="1" dirty="0">
                <a:solidFill>
                  <a:srgbClr val="595959"/>
                </a:solidFill>
                <a:latin typeface="Arial"/>
                <a:cs typeface="Arial"/>
              </a:rPr>
              <a:t>30 phút: giảng viên làm mẫu Phần 1 trên ví dụ xuyên suốt, rồi bạn viết phần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riêng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điền Phần 1 của mẫu đề cương cho ví dụ xuyên suốt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Mở bản mẫu đề cương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từ chính khoa của bạn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câu hỏi PICO(T) và kiểm tra bằng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Thêm một mục tiêu tổng quát, 2-3 mục tiêu cụ thể (đánh dấu mục tiêu chính) và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câu hỏi</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0-8 phút: giảng viên làm mẫu Phần 1</a:t>
            </a:r>
          </a:p>
          <a:p>
            <a:pPr marL="0" indent="0" algn="ctr">
              <a:lnSpc>
                <a:spcPct val="104000"/>
              </a:lnSpc>
              <a:spcBef>
                <a:spcPts val="300"/>
              </a:spcBef>
              <a:buNone/>
            </a:pPr>
            <a:r>
              <a:rPr lang="en-US" sz="1500" dirty="0">
                <a:solidFill>
                  <a:srgbClr val="000000"/>
                </a:solidFill>
                <a:latin typeface="Arial"/>
                <a:cs typeface="Arial"/>
              </a:rPr>
              <a:t>8-25 phút: bạn tự viết</a:t>
            </a:r>
          </a:p>
          <a:p>
            <a:pPr marL="0" indent="0" algn="ctr">
              <a:lnSpc>
                <a:spcPct val="104000"/>
              </a:lnSpc>
              <a:spcBef>
                <a:spcPts val="300"/>
              </a:spcBef>
              <a:buNone/>
            </a:pPr>
            <a:r>
              <a:rPr lang="en-US" sz="1500" dirty="0">
                <a:solidFill>
                  <a:srgbClr val="000000"/>
                </a:solidFill>
                <a:latin typeface="Arial"/>
                <a:cs typeface="Arial"/>
              </a:rPr>
              <a:t>25-30 phút: hai bạn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câu hỏi, FINER, mục tiêu, giả thuyết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Tháp bằng chứng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Xếp hạng thiết kế theo mức chống sai lệch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Đối tượng, Can thiệp, So sánh, Kết cục, Thời gian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Như PICO, với E = Phơi nhiễm, cho yếu tố không do mình chỉ định</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Khả thi, Thú vị, Mới, Đạo đức, Phù hợp</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Mục tiêu tổng quát / cụ thể</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Mục đích chung / việc cụ thể, đo được</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khác biệt / có khác biệt (kiểm định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Kinh nghiệm gợi ra câu hỏi</a:t>
            </a:r>
          </a:p>
          <a:p>
            <a:pPr marL="0" indent="0" algn="ctr">
              <a:lnSpc>
                <a:spcPct val="104000"/>
              </a:lnSpc>
              <a:spcBef>
                <a:spcPts val="400"/>
              </a:spcBef>
              <a:buNone/>
            </a:pPr>
            <a:r>
              <a:rPr lang="en-US" sz="1750" dirty="0">
                <a:solidFill>
                  <a:srgbClr val="000000"/>
                </a:solidFill>
                <a:latin typeface="Arial"/>
                <a:cs typeface="Arial"/>
              </a:rPr>
              <a:t>So sánh công bằng trên đủ người bệnh trả lời câu hỏi</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câu hỏi PICO(T)</a:t>
            </a:r>
          </a:p>
          <a:p>
            <a:pPr marL="0" indent="0" algn="ctr">
              <a:lnSpc>
                <a:spcPct val="104000"/>
              </a:lnSpc>
              <a:spcBef>
                <a:spcPts val="400"/>
              </a:spcBef>
              <a:buNone/>
            </a:pPr>
            <a:r>
              <a:rPr lang="en-US" sz="1750" dirty="0">
                <a:solidFill>
                  <a:srgbClr val="000000"/>
                </a:solidFill>
                <a:latin typeface="Arial"/>
                <a:cs typeface="Arial"/>
              </a:rPr>
              <a:t>Một kết cục chính</a:t>
            </a:r>
          </a:p>
          <a:p>
            <a:pPr marL="0" indent="0" algn="ctr">
              <a:lnSpc>
                <a:spcPct val="104000"/>
              </a:lnSpc>
              <a:spcBef>
                <a:spcPts val="400"/>
              </a:spcBef>
              <a:buNone/>
            </a:pPr>
            <a:r>
              <a:rPr lang="en-US" sz="1750" dirty="0">
                <a:solidFill>
                  <a:srgbClr val="000000"/>
                </a:solidFill>
                <a:latin typeface="Arial"/>
                <a:cs typeface="Arial"/>
              </a:rPr>
              <a:t>Kiểm tra FINER trước khi bắt đầu</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mục tiêu tổng quát</a:t>
            </a:r>
          </a:p>
          <a:p>
            <a:pPr marL="0" indent="0" algn="ctr">
              <a:lnSpc>
                <a:spcPct val="104000"/>
              </a:lnSpc>
              <a:spcBef>
                <a:spcPts val="400"/>
              </a:spcBef>
              <a:buNone/>
            </a:pPr>
            <a:r>
              <a:rPr lang="en-US" sz="1750" dirty="0">
                <a:solidFill>
                  <a:srgbClr val="000000"/>
                </a:solidFill>
                <a:latin typeface="Arial"/>
                <a:cs typeface="Arial"/>
              </a:rPr>
              <a:t>2-3 mục tiêu cụ thể đo được</a:t>
            </a:r>
          </a:p>
          <a:p>
            <a:pPr marL="0" indent="0" algn="ctr">
              <a:lnSpc>
                <a:spcPct val="104000"/>
              </a:lnSpc>
              <a:spcBef>
                <a:spcPts val="400"/>
              </a:spcBef>
              <a:buNone/>
            </a:pPr>
            <a:r>
              <a:rPr lang="en-US" sz="1750" dirty="0">
                <a:solidFill>
                  <a:srgbClr val="000000"/>
                </a:solidFill>
                <a:latin typeface="Arial"/>
                <a:cs typeface="Arial"/>
              </a:rPr>
              <a:t>H0 và 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viết lại thành mục tiêu cụ thể: 'Tìm hiểu về cân bằng dịch tại ICU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bản nháp Đề cương Phần 1: câu hỏi, FINER, mục tiêu,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4 trong phiếu bài tập: 2-3 từ đồng nghĩa tiếng Anh cho mỗi từ PICO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Cài Zotero (miễn phí, zotero.org) và plug-in cho Word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Chuẩn bị cho thứ Bảy tuần sau</a:t>
            </a:r>
          </a:p>
          <a:p>
            <a:pPr marL="0" indent="0" algn="ctr">
              <a:lnSpc>
                <a:spcPct val="104000"/>
              </a:lnSpc>
              <a:spcBef>
                <a:spcPts val="300"/>
              </a:spcBef>
              <a:buNone/>
            </a:pPr>
            <a:r>
              <a:rPr lang="en-US" sz="1500" dirty="0">
                <a:solidFill>
                  <a:srgbClr val="000000"/>
                </a:solidFill>
                <a:latin typeface="Arial"/>
                <a:cs typeface="Arial"/>
              </a:rPr>
              <a:t>Câu hỏi PICO của bạn</a:t>
            </a:r>
          </a:p>
          <a:p>
            <a:pPr marL="0" indent="0" algn="ctr">
              <a:lnSpc>
                <a:spcPct val="104000"/>
              </a:lnSpc>
              <a:spcBef>
                <a:spcPts val="300"/>
              </a:spcBef>
              <a:buNone/>
            </a:pPr>
            <a:r>
              <a:rPr lang="en-US" sz="1500" dirty="0">
                <a:solidFill>
                  <a:srgbClr val="000000"/>
                </a:solidFill>
                <a:latin typeface="Arial"/>
                <a:cs typeface="Arial"/>
              </a:rPr>
              <a:t>Danh sách từ đồng nghĩa</a:t>
            </a:r>
          </a:p>
          <a:p>
            <a:pPr marL="0" indent="0" algn="ctr">
              <a:lnSpc>
                <a:spcPct val="104000"/>
              </a:lnSpc>
              <a:spcBef>
                <a:spcPts val="300"/>
              </a:spcBef>
              <a:buNone/>
            </a:pPr>
            <a:r>
              <a:rPr lang="en-US" sz="1500" dirty="0">
                <a:solidFill>
                  <a:srgbClr val="000000"/>
                </a:solidFill>
                <a:latin typeface="Arial"/>
                <a:cs typeface="Arial"/>
              </a:rPr>
              <a:t>Máy tính đã cài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danh sách từ đồng nghĩa và Zotero sẵn sàng cho buổi tìm kiếm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Audit lâm sàng</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Cải tiến chất lượng (QI)</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Câu hỏi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Cách làm nào tốt nhất?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có đạt tiêu chuẩn không?</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Làm sao tốt hơn, từng bước?</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Ví dụ dịch truyền</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Hạn chế hay thường quy: cách nào tốt hơn?</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có được ghi hằng ngày?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Bảng kiểm hằng ngày, thử qua từng vòng nhỏ</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Kết quả dùng cho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Người bệnh ở nơi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Khoa mình</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Đạo đức</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Luôn cần hội đồng đạo đức phê duyệt</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thường không cần hội đồng</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Phê duyệt nội bộ, xét đạo đức nếu có rủi ro mới</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chắc là loại nào? Hãy hỏi hội đồng đạo đức trước khi bắt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cách nào tốt nhất. Audit hỏi mình có làm đúng không. QI giúp làm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6170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được xét nghiệm</a:t>
            </a:r>
          </a:p>
          <a:p>
            <a:pPr marL="0" indent="0" algn="ctr">
              <a:lnSpc>
                <a:spcPct val="104000"/>
              </a:lnSpc>
              <a:spcBef>
                <a:spcPts val="400"/>
              </a:spcBef>
              <a:buNone/>
            </a:pPr>
            <a:r>
              <a:rPr lang="en-US" sz="1400" dirty="0">
                <a:solidFill>
                  <a:srgbClr val="000000"/>
                </a:solidFill>
                <a:latin typeface="Arial"/>
                <a:cs typeface="Arial"/>
              </a:rPr>
              <a:t>I: xét nghiệm mới</a:t>
            </a:r>
          </a:p>
          <a:p>
            <a:pPr marL="0" indent="0" algn="ctr">
              <a:lnSpc>
                <a:spcPct val="104000"/>
              </a:lnSpc>
              <a:spcBef>
                <a:spcPts val="400"/>
              </a:spcBef>
              <a:buNone/>
            </a:pPr>
            <a:r>
              <a:rPr lang="en-US" sz="1400" dirty="0">
                <a:solidFill>
                  <a:srgbClr val="000000"/>
                </a:solidFill>
                <a:latin typeface="Arial"/>
                <a:cs typeface="Arial"/>
              </a:rPr>
              <a:t>C: tiêu chuẩn tham chiếu</a:t>
            </a:r>
          </a:p>
          <a:p>
            <a:pPr marL="0" indent="0" algn="ctr">
              <a:lnSpc>
                <a:spcPct val="104000"/>
              </a:lnSpc>
              <a:spcBef>
                <a:spcPts val="400"/>
              </a:spcBef>
              <a:buNone/>
            </a:pPr>
            <a:r>
              <a:rPr lang="en-US" sz="1400" dirty="0">
                <a:solidFill>
                  <a:srgbClr val="000000"/>
                </a:solidFill>
                <a:latin typeface="Arial"/>
                <a:cs typeface="Arial"/>
              </a:rPr>
              <a:t>O: độ chính xác</a:t>
            </a:r>
          </a:p>
          <a:p>
            <a:pPr marL="0" indent="0" algn="ctr">
              <a:lnSpc>
                <a:spcPct val="104000"/>
              </a:lnSpc>
              <a:spcBef>
                <a:spcPts val="400"/>
              </a:spcBef>
              <a:buNone/>
            </a:pPr>
            <a:r>
              <a:rPr lang="en-US" sz="1400" i="1" dirty="0">
                <a:solidFill>
                  <a:srgbClr val="000000"/>
                </a:solidFill>
                <a:latin typeface="Arial"/>
                <a:cs typeface="Arial"/>
              </a:rPr>
              <a:t>Ví dụ: ở người nghi nhiễm khuẩn huyết tại khoa cấp cứu, qSOFA chính xác đến đâu so với Sepsis-3?</a:t>
            </a:r>
          </a:p>
        </p:txBody>
      </p:sp>
      <p:sp>
        <p:nvSpPr>
          <p:cNvPr id="72" name="CardHead"/>
          <p:cNvSpPr/>
          <p:nvPr/>
        </p:nvSpPr>
        <p:spPr>
          <a:xfrm>
            <a:off x="4283066" y="156170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người bệnh mắc một tình trạng</a:t>
            </a:r>
          </a:p>
          <a:p>
            <a:pPr marL="0" indent="0" algn="ctr">
              <a:lnSpc>
                <a:spcPct val="104000"/>
              </a:lnSpc>
              <a:spcBef>
                <a:spcPts val="400"/>
              </a:spcBef>
              <a:buNone/>
            </a:pPr>
            <a:r>
              <a:rPr lang="en-US" sz="1400" dirty="0">
                <a:solidFill>
                  <a:srgbClr val="000000"/>
                </a:solidFill>
                <a:latin typeface="Arial"/>
                <a:cs typeface="Arial"/>
              </a:rPr>
              <a:t>E: yếu tố nguy cơ</a:t>
            </a:r>
          </a:p>
          <a:p>
            <a:pPr marL="0" indent="0" algn="ctr">
              <a:lnSpc>
                <a:spcPct val="104000"/>
              </a:lnSpc>
              <a:spcBef>
                <a:spcPts val="400"/>
              </a:spcBef>
              <a:buNone/>
            </a:pPr>
            <a:r>
              <a:rPr lang="en-US" sz="1400" dirty="0">
                <a:solidFill>
                  <a:srgbClr val="000000"/>
                </a:solidFill>
                <a:latin typeface="Arial"/>
                <a:cs typeface="Arial"/>
              </a:rPr>
              <a:t>O: điều xảy ra</a:t>
            </a:r>
          </a:p>
          <a:p>
            <a:pPr marL="0" indent="0" algn="ctr">
              <a:lnSpc>
                <a:spcPct val="104000"/>
              </a:lnSpc>
              <a:spcBef>
                <a:spcPts val="400"/>
              </a:spcBef>
              <a:buNone/>
            </a:pPr>
            <a:r>
              <a:rPr lang="en-US" sz="1400" dirty="0">
                <a:solidFill>
                  <a:srgbClr val="000000"/>
                </a:solidFill>
                <a:latin typeface="Arial"/>
                <a:cs typeface="Arial"/>
              </a:rPr>
              <a:t>T: đến khi nào</a:t>
            </a:r>
          </a:p>
          <a:p>
            <a:pPr marL="0" indent="0" algn="ctr">
              <a:lnSpc>
                <a:spcPct val="104000"/>
              </a:lnSpc>
              <a:spcBef>
                <a:spcPts val="400"/>
              </a:spcBef>
              <a:buNone/>
            </a:pPr>
            <a:r>
              <a:rPr lang="en-US" sz="1400" i="1" dirty="0">
                <a:solidFill>
                  <a:srgbClr val="000000"/>
                </a:solidFill>
                <a:latin typeface="Arial"/>
                <a:cs typeface="Arial"/>
              </a:rPr>
              <a:t>Ví dụ: trong sốc nhiễm khuẩn, lactate trên 4 mmol/L lúc nhập viện có liên quan với tử vong đến ngày 28 không?</a:t>
            </a:r>
          </a:p>
        </p:txBody>
      </p:sp>
      <p:sp>
        <p:nvSpPr>
          <p:cNvPr id="74" name="CardHead"/>
          <p:cNvSpPr/>
          <p:nvPr/>
        </p:nvSpPr>
        <p:spPr>
          <a:xfrm>
            <a:off x="8108932" y="1561706"/>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201706"/>
            <a:ext cx="3625866" cy="23648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Mẫu (Sample)</a:t>
            </a:r>
          </a:p>
          <a:p>
            <a:pPr marL="0" indent="0" algn="ctr">
              <a:lnSpc>
                <a:spcPct val="104000"/>
              </a:lnSpc>
              <a:spcBef>
                <a:spcPts val="400"/>
              </a:spcBef>
              <a:buNone/>
            </a:pPr>
            <a:r>
              <a:rPr lang="en-US" sz="1400" dirty="0">
                <a:solidFill>
                  <a:srgbClr val="000000"/>
                </a:solidFill>
                <a:latin typeface="Arial"/>
                <a:cs typeface="Arial"/>
              </a:rPr>
              <a:t>PI: Hiện tượng quan tâm</a:t>
            </a:r>
          </a:p>
          <a:p>
            <a:pPr marL="0" indent="0" algn="ctr">
              <a:lnSpc>
                <a:spcPct val="104000"/>
              </a:lnSpc>
              <a:spcBef>
                <a:spcPts val="400"/>
              </a:spcBef>
              <a:buNone/>
            </a:pPr>
            <a:r>
              <a:rPr lang="en-US" sz="1400" dirty="0">
                <a:solidFill>
                  <a:srgbClr val="000000"/>
                </a:solidFill>
                <a:latin typeface="Arial"/>
                <a:cs typeface="Arial"/>
              </a:rPr>
              <a:t>D: Thiết kế (Design)</a:t>
            </a:r>
          </a:p>
          <a:p>
            <a:pPr marL="0" indent="0" algn="ctr">
              <a:lnSpc>
                <a:spcPct val="104000"/>
              </a:lnSpc>
              <a:spcBef>
                <a:spcPts val="400"/>
              </a:spcBef>
              <a:buNone/>
            </a:pPr>
            <a:r>
              <a:rPr lang="en-US" sz="1400" dirty="0">
                <a:solidFill>
                  <a:srgbClr val="000000"/>
                </a:solidFill>
                <a:latin typeface="Arial"/>
                <a:cs typeface="Arial"/>
              </a:rPr>
              <a:t>E: Đánh giá, R: Loại nghiên cứu</a:t>
            </a:r>
          </a:p>
          <a:p>
            <a:pPr marL="0" indent="0" algn="ctr">
              <a:lnSpc>
                <a:spcPct val="104000"/>
              </a:lnSpc>
              <a:spcBef>
                <a:spcPts val="400"/>
              </a:spcBef>
              <a:buNone/>
            </a:pPr>
            <a:r>
              <a:rPr lang="en-US" sz="1400" i="1" dirty="0">
                <a:solidFill>
                  <a:srgbClr val="000000"/>
                </a:solidFill>
                <a:latin typeface="Arial"/>
                <a:cs typeface="Arial"/>
              </a:rPr>
              <a:t>Ví dụ: điều dưỡng ICU trải nghiệm việc ngừng dịch truyền như thế nào, qua phỏng vấn?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 trong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thêm một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Mơ hồ</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"Ca đêm có gây sai sót thuốc không?"</a:t>
            </a:r>
          </a:p>
          <a:p>
            <a:pPr marL="0" indent="0" algn="ctr">
              <a:lnSpc>
                <a:spcPct val="104000"/>
              </a:lnSpc>
              <a:spcBef>
                <a:spcPts val="400"/>
              </a:spcBef>
              <a:buNone/>
            </a:pPr>
            <a:r>
              <a:rPr lang="en-US" sz="1950" dirty="0">
                <a:solidFill>
                  <a:srgbClr val="000000"/>
                </a:solidFill>
                <a:latin typeface="Arial"/>
                <a:cs typeface="Arial"/>
              </a:rPr>
              <a:t>Nhân viên nào?</a:t>
            </a:r>
          </a:p>
          <a:p>
            <a:pPr marL="0" indent="0" algn="ctr">
              <a:lnSpc>
                <a:spcPct val="104000"/>
              </a:lnSpc>
              <a:spcBef>
                <a:spcPts val="400"/>
              </a:spcBef>
              <a:buNone/>
            </a:pPr>
            <a:r>
              <a:rPr lang="en-US" sz="1950" dirty="0">
                <a:solidFill>
                  <a:srgbClr val="000000"/>
                </a:solidFill>
                <a:latin typeface="Arial"/>
                <a:cs typeface="Arial"/>
              </a:rPr>
              <a:t>So với cái gì?</a:t>
            </a:r>
          </a:p>
          <a:p>
            <a:pPr marL="0" indent="0" algn="ctr">
              <a:lnSpc>
                <a:spcPct val="104000"/>
              </a:lnSpc>
              <a:spcBef>
                <a:spcPts val="400"/>
              </a:spcBef>
              <a:buNone/>
            </a:pPr>
            <a:r>
              <a:rPr lang="en-US" sz="1950" dirty="0">
                <a:solidFill>
                  <a:srgbClr val="000000"/>
                </a:solidFill>
                <a:latin typeface="Arial"/>
                <a:cs typeface="Arial"/>
              </a:rPr>
              <a:t>Sai sót nào, đếm thế nào?</a:t>
            </a:r>
          </a:p>
          <a:p>
            <a:pPr marL="0" indent="0" algn="ctr">
              <a:lnSpc>
                <a:spcPct val="104000"/>
              </a:lnSpc>
              <a:spcBef>
                <a:spcPts val="400"/>
              </a:spcBef>
              <a:buNone/>
            </a:pPr>
            <a:r>
              <a:rPr lang="en-US" sz="1950" dirty="0">
                <a:solidFill>
                  <a:srgbClr val="000000"/>
                </a:solidFill>
                <a:latin typeface="Arial"/>
                <a:cs typeface="Arial"/>
              </a:rPr>
              <a:t>Trong bao lâu?</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Trả lời được, nhờ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Ở điều dưỡng khoa phòng,</a:t>
            </a:r>
          </a:p>
          <a:p>
            <a:pPr marL="0" indent="0" algn="ctr">
              <a:lnSpc>
                <a:spcPct val="104000"/>
              </a:lnSpc>
              <a:spcBef>
                <a:spcPts val="400"/>
              </a:spcBef>
              <a:buNone/>
            </a:pPr>
            <a:r>
              <a:rPr lang="en-US" sz="1950" dirty="0">
                <a:solidFill>
                  <a:srgbClr val="000000"/>
                </a:solidFill>
                <a:latin typeface="Arial"/>
                <a:cs typeface="Arial"/>
              </a:rPr>
              <a:t>E: làm ca đêm,</a:t>
            </a:r>
          </a:p>
          <a:p>
            <a:pPr marL="0" indent="0" algn="ctr">
              <a:lnSpc>
                <a:spcPct val="104000"/>
              </a:lnSpc>
              <a:spcBef>
                <a:spcPts val="400"/>
              </a:spcBef>
              <a:buNone/>
            </a:pPr>
            <a:r>
              <a:rPr lang="en-US" sz="1950" dirty="0">
                <a:solidFill>
                  <a:srgbClr val="000000"/>
                </a:solidFill>
                <a:latin typeface="Arial"/>
                <a:cs typeface="Arial"/>
              </a:rPr>
              <a:t>C: so với ca ngày,</a:t>
            </a:r>
          </a:p>
          <a:p>
            <a:pPr marL="0" indent="0" algn="ctr">
              <a:lnSpc>
                <a:spcPct val="104000"/>
              </a:lnSpc>
              <a:spcBef>
                <a:spcPts val="400"/>
              </a:spcBef>
              <a:buNone/>
            </a:pPr>
            <a:r>
              <a:rPr lang="en-US" sz="1950" dirty="0">
                <a:solidFill>
                  <a:srgbClr val="000000"/>
                </a:solidFill>
                <a:latin typeface="Arial"/>
                <a:cs typeface="Arial"/>
              </a:rPr>
              <a:t>O: có liên quan với nhiều sai sót hơn trên 1000 liều thuốc</a:t>
            </a:r>
          </a:p>
          <a:p>
            <a:pPr marL="0" indent="0" algn="ctr">
              <a:lnSpc>
                <a:spcPct val="104000"/>
              </a:lnSpc>
              <a:spcBef>
                <a:spcPts val="400"/>
              </a:spcBef>
              <a:buNone/>
            </a:pPr>
            <a:r>
              <a:rPr lang="en-US" sz="1950" dirty="0">
                <a:solidFill>
                  <a:srgbClr val="000000"/>
                </a:solidFill>
                <a:latin typeface="Arial"/>
                <a:cs typeface="Arial"/>
              </a:rPr>
              <a:t>T: trong 6 tháng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tại khoa của bạn: lấy một câu hỏi hành lang và điền vào các 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