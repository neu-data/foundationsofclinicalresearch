
<file path=[Content_Types].xml><?xml version="1.0" encoding="utf-8"?>
<Types xmlns="http://schemas.openxmlformats.org/package/2006/content-types">
  <Default Extension="jpeg" ContentType="image/jpeg"/>
  <Default Extension="jpg" ContentType="image/jpeg"/>
  <Default Extension="rels" ContentType="application/vnd.openxmlformats-package.relationships+xml"/>
  <Default Extension="xml" ContentType="application/xml"/>
  <Override PartName="/ppt/presentation.xml" ContentType="application/vnd.openxmlformats-officedocument.presentationml.presentation.mai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ppt/slideMasters/slideMaster1.xml" ContentType="application/vnd.openxmlformats-officedocument.presentationml.slideMaster+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Override PartName="/ppt/slides/slide8.xml" ContentType="application/vnd.openxmlformats-officedocument.presentationml.slide+xml"/>
  <Override PartName="/ppt/notesSlides/notesSlide8.xml" ContentType="application/vnd.openxmlformats-officedocument.presentationml.notesSlide+xml"/>
  <Override PartName="/ppt/slides/slide9.xml" ContentType="application/vnd.openxmlformats-officedocument.presentationml.slide+xml"/>
  <Override PartName="/ppt/notesSlides/notesSlide9.xml" ContentType="application/vnd.openxmlformats-officedocument.presentationml.notesSlide+xml"/>
  <Override PartName="/ppt/slides/slide10.xml" ContentType="application/vnd.openxmlformats-officedocument.presentationml.slide+xml"/>
  <Override PartName="/ppt/notesSlides/notesSlide10.xml" ContentType="application/vnd.openxmlformats-officedocument.presentationml.notesSlide+xml"/>
  <Override PartName="/ppt/slides/slide11.xml" ContentType="application/vnd.openxmlformats-officedocument.presentationml.slide+xml"/>
  <Override PartName="/ppt/notesSlides/notesSlide11.xml" ContentType="application/vnd.openxmlformats-officedocument.presentationml.notesSlide+xml"/>
  <Override PartName="/ppt/slides/slide12.xml" ContentType="application/vnd.openxmlformats-officedocument.presentationml.slide+xml"/>
  <Override PartName="/ppt/notesSlides/notesSlide12.xml" ContentType="application/vnd.openxmlformats-officedocument.presentationml.notesSlide+xml"/>
  <Override PartName="/ppt/slides/slide13.xml" ContentType="application/vnd.openxmlformats-officedocument.presentationml.slide+xml"/>
  <Override PartName="/ppt/notesSlides/notesSlide13.xml" ContentType="application/vnd.openxmlformats-officedocument.presentationml.notesSlide+xml"/>
  <Override PartName="/ppt/slides/slide14.xml" ContentType="application/vnd.openxmlformats-officedocument.presentationml.slide+xml"/>
  <Override PartName="/ppt/notesSlides/notesSlide14.xml" ContentType="application/vnd.openxmlformats-officedocument.presentationml.notesSlide+xml"/>
  <Override PartName="/ppt/slides/slide15.xml" ContentType="application/vnd.openxmlformats-officedocument.presentationml.slide+xml"/>
  <Override PartName="/ppt/notesSlides/notesSlide15.xml" ContentType="application/vnd.openxmlformats-officedocument.presentationml.notesSlide+xml"/>
  <Override PartName="/ppt/slides/slide16.xml" ContentType="application/vnd.openxmlformats-officedocument.presentationml.slide+xml"/>
  <Override PartName="/ppt/notesSlides/notesSlide16.xml" ContentType="application/vnd.openxmlformats-officedocument.presentationml.notesSlide+xml"/>
  <Override PartName="/ppt/slides/slide17.xml" ContentType="application/vnd.openxmlformats-officedocument.presentationml.slide+xml"/>
  <Override PartName="/ppt/notesSlides/notesSlide17.xml" ContentType="application/vnd.openxmlformats-officedocument.presentationml.notesSlide+xml"/>
  <Override PartName="/ppt/slides/slide18.xml" ContentType="application/vnd.openxmlformats-officedocument.presentationml.slide+xml"/>
  <Override PartName="/ppt/notesSlides/notesSlide18.xml" ContentType="application/vnd.openxmlformats-officedocument.presentationml.notesSlide+xml"/>
  <Override PartName="/ppt/slides/slide19.xml" ContentType="application/vnd.openxmlformats-officedocument.presentationml.slide+xml"/>
  <Override PartName="/ppt/notesSlides/notesSlide19.xml" ContentType="application/vnd.openxmlformats-officedocument.presentationml.notesSlide+xml"/>
  <Override PartName="/ppt/slides/slide20.xml" ContentType="application/vnd.openxmlformats-officedocument.presentationml.slide+xml"/>
  <Override PartName="/ppt/notesSlides/notesSlide20.xml" ContentType="application/vnd.openxmlformats-officedocument.presentationml.notesSlide+xml"/>
  <Override PartName="/ppt/slides/slide21.xml" ContentType="application/vnd.openxmlformats-officedocument.presentationml.slide+xml"/>
  <Override PartName="/ppt/notesSlides/notesSlide21.xml" ContentType="application/vnd.openxmlformats-officedocument.presentationml.notesSlide+xml"/>
  <Override PartName="/ppt/slides/slide22.xml" ContentType="application/vnd.openxmlformats-officedocument.presentationml.slide+xml"/>
  <Override PartName="/ppt/notesSlides/notesSlide22.xml" ContentType="application/vnd.openxmlformats-officedocument.presentationml.notesSlide+xml"/>
  <Override PartName="/ppt/slides/slide23.xml" ContentType="application/vnd.openxmlformats-officedocument.presentationml.slide+xml"/>
  <Override PartName="/ppt/notesSlides/notesSlide23.xml" ContentType="application/vnd.openxmlformats-officedocument.presentationml.notesSlide+xml"/>
  <Override PartName="/ppt/slides/slide24.xml" ContentType="application/vnd.openxmlformats-officedocument.presentationml.slide+xml"/>
  <Override PartName="/ppt/notesSlides/notesSlide24.xml" ContentType="application/vnd.openxmlformats-officedocument.presentationml.notesSlide+xml"/>
  <Override PartName="/ppt/slides/slide25.xml" ContentType="application/vnd.openxmlformats-officedocument.presentationml.slide+xml"/>
  <Override PartName="/ppt/notesSlides/notesSlide25.xml" ContentType="application/vnd.openxmlformats-officedocument.presentationml.notesSlide+xml"/>
  <Override PartName="/ppt/slides/slide26.xml" ContentType="application/vnd.openxmlformats-officedocument.presentationml.slide+xml"/>
  <Override PartName="/ppt/notesSlides/notesSlide26.xml" ContentType="application/vnd.openxmlformats-officedocument.presentationml.notesSlide+xml"/>
  <Override PartName="/ppt/slides/slide27.xml" ContentType="application/vnd.openxmlformats-officedocument.presentationml.slide+xml"/>
  <Override PartName="/ppt/notesSlides/notesSlide27.xml" ContentType="application/vnd.openxmlformats-officedocument.presentationml.notesSlide+xml"/>
  <Override PartName="/ppt/slides/slide28.xml" ContentType="application/vnd.openxmlformats-officedocument.presentationml.slide+xml"/>
  <Override PartName="/ppt/notesSlides/notesSlide28.xml" ContentType="application/vnd.openxmlformats-officedocument.presentationml.notesSlide+xml"/>
  <Override PartName="/ppt/slides/slide29.xml" ContentType="application/vnd.openxmlformats-officedocument.presentationml.slide+xml"/>
  <Override PartName="/ppt/notesSlides/notesSlide29.xml" ContentType="application/vnd.openxmlformats-officedocument.presentationml.notesSlide+xml"/>
  <Override PartName="/ppt/slides/slide30.xml" ContentType="application/vnd.openxmlformats-officedocument.presentationml.slide+xml"/>
  <Override PartName="/ppt/notesSlides/notesSlide30.xml" ContentType="application/vnd.openxmlformats-officedocument.presentationml.notesSlide+xml"/>
  <Override PartName="/ppt/slides/slide31.xml" ContentType="application/vnd.openxmlformats-officedocument.presentationml.slide+xml"/>
  <Override PartName="/ppt/notesSlides/notesSlide31.xml" ContentType="application/vnd.openxmlformats-officedocument.presentationml.notesSlide+xml"/>
  <Override PartName="/ppt/slides/slide32.xml" ContentType="application/vnd.openxmlformats-officedocument.presentationml.slide+xml"/>
  <Override PartName="/ppt/notesSlides/notesSlide32.xml" ContentType="application/vnd.openxmlformats-officedocument.presentationml.notesSlide+xml"/>
  <Override PartName="/ppt/slides/slide33.xml" ContentType="application/vnd.openxmlformats-officedocument.presentationml.slide+xml"/>
  <Override PartName="/ppt/notesSlides/notesSlide33.xml" ContentType="application/vnd.openxmlformats-officedocument.presentationml.notesSlide+xml"/>
  <Override PartName="/ppt/slides/slide34.xml" ContentType="application/vnd.openxmlformats-officedocument.presentationml.slide+xml"/>
  <Override PartName="/ppt/notesSlides/notesSlide34.xml" ContentType="application/vnd.openxmlformats-officedocument.presentationml.notesSlide+xml"/>
  <Override PartName="/ppt/slides/slide35.xml" ContentType="application/vnd.openxmlformats-officedocument.presentationml.slide+xml"/>
  <Override PartName="/ppt/notesSlides/notesSlide35.xml" ContentType="application/vnd.openxmlformats-officedocument.presentationml.notesSlide+xml"/>
  <Override PartName="/ppt/slides/slide36.xml" ContentType="application/vnd.openxmlformats-officedocument.presentationml.slide+xml"/>
  <Override PartName="/ppt/notesSlides/notesSlide36.xml" ContentType="application/vnd.openxmlformats-officedocument.presentationml.notesSlide+xml"/>
  <Override PartName="/ppt/slides/slide37.xml" ContentType="application/vnd.openxmlformats-officedocument.presentationml.slide+xml"/>
  <Override PartName="/ppt/notesSlides/notesSlide37.xml" ContentType="application/vnd.openxmlformats-officedocument.presentationml.notesSlide+xml"/>
  <Override PartName="/ppt/slides/slide38.xml" ContentType="application/vnd.openxmlformats-officedocument.presentationml.slide+xml"/>
  <Override PartName="/ppt/notesSlides/notesSlide38.xml" ContentType="application/vnd.openxmlformats-officedocument.presentationml.notesSlide+xml"/>
  <Override PartName="/ppt/slides/slide39.xml" ContentType="application/vnd.openxmlformats-officedocument.presentationml.slide+xml"/>
  <Override PartName="/ppt/notesSlides/notesSlide39.xml" ContentType="application/vnd.openxmlformats-officedocument.presentationml.notesSlide+xml"/>
  <Override PartName="/ppt/slides/slide40.xml" ContentType="application/vnd.openxmlformats-officedocument.presentationml.slide+xml"/>
  <Override PartName="/ppt/notesSlides/notesSlide40.xml" ContentType="application/vnd.openxmlformats-officedocument.presentationml.notesSlide+xml"/>
  <Override PartName="/ppt/slides/slide41.xml" ContentType="application/vnd.openxmlformats-officedocument.presentationml.slide+xml"/>
  <Override PartName="/ppt/notesSlides/notesSlide41.xml" ContentType="application/vnd.openxmlformats-officedocument.presentationml.notesSlide+xml"/>
  <Override PartName="/ppt/slides/slide42.xml" ContentType="application/vnd.openxmlformats-officedocument.presentationml.slide+xml"/>
  <Override PartName="/ppt/notesSlides/notesSlide42.xml" ContentType="application/vnd.openxmlformats-officedocument.presentationml.notesSlide+xml"/>
  <Override PartName="/ppt/slides/slide43.xml" ContentType="application/vnd.openxmlformats-officedocument.presentationml.slide+xml"/>
  <Override PartName="/ppt/notesSlides/notesSlide43.xml" ContentType="application/vnd.openxmlformats-officedocument.presentationml.notesSlide+xml"/>
  <Override PartName="/ppt/slides/slide44.xml" ContentType="application/vnd.openxmlformats-officedocument.presentationml.slide+xml"/>
  <Override PartName="/ppt/notesSlides/notesSlide44.xml" ContentType="application/vnd.openxmlformats-officedocument.presentationml.notesSlide+xml"/>
  <Override PartName="/ppt/slides/slide45.xml" ContentType="application/vnd.openxmlformats-officedocument.presentationml.slide+xml"/>
  <Override PartName="/ppt/notesSlides/notesSlide45.xml" ContentType="application/vnd.openxmlformats-officedocument.presentationml.notesSlide+xml"/>
  <Override PartName="/ppt/slides/slide46.xml" ContentType="application/vnd.openxmlformats-officedocument.presentationml.slide+xml"/>
  <Override PartName="/ppt/notesSlides/notesSlide46.xml" ContentType="application/vnd.openxmlformats-officedocument.presentationml.notesSlide+xml"/>
  <Override PartName="/ppt/slides/slide47.xml" ContentType="application/vnd.openxmlformats-officedocument.presentationml.slide+xml"/>
  <Override PartName="/ppt/notesSlides/notesSlide47.xml" ContentType="application/vnd.openxmlformats-officedocument.presentationml.notesSlide+xml"/>
  <Override PartName="/ppt/slides/slide48.xml" ContentType="application/vnd.openxmlformats-officedocument.presentationml.slide+xml"/>
  <Override PartName="/ppt/notesSlides/notesSlide48.xml" ContentType="application/vnd.openxmlformats-officedocument.presentationml.notesSlide+xml"/>
  <Override PartName="/ppt/slides/slide49.xml" ContentType="application/vnd.openxmlformats-officedocument.presentationml.slide+xml"/>
  <Override PartName="/ppt/notesSlides/notesSlide49.xml" ContentType="application/vnd.openxmlformats-officedocument.presentationml.notesSlide+xml"/>
  <Override PartName="/ppt/slides/slide50.xml" ContentType="application/vnd.openxmlformats-officedocument.presentationml.slide+xml"/>
  <Override PartName="/ppt/notesSlides/notesSlide50.xml" ContentType="application/vnd.openxmlformats-officedocument.presentationml.notesSlide+xml"/>
  <Override PartName="/ppt/slides/slide51.xml" ContentType="application/vnd.openxmlformats-officedocument.presentationml.slide+xml"/>
  <Override PartName="/ppt/notesSlides/notesSlide51.xml" ContentType="application/vnd.openxmlformats-officedocument.presentationml.notesSlide+xml"/>
  <Override PartName="/ppt/slides/slide52.xml" ContentType="application/vnd.openxmlformats-officedocument.presentationml.slide+xml"/>
  <Override PartName="/ppt/notesSlides/notesSlide52.xml" ContentType="application/vnd.openxmlformats-officedocument.presentationml.notesSlide+xml"/>
  <Override PartName="/ppt/slides/slide53.xml" ContentType="application/vnd.openxmlformats-officedocument.presentationml.slide+xml"/>
  <Override PartName="/ppt/notesSlides/notesSlide53.xml" ContentType="application/vnd.openxmlformats-officedocument.presentationml.notesSlide+xml"/>
  <Override PartName="/ppt/slides/slide54.xml" ContentType="application/vnd.openxmlformats-officedocument.presentationml.slide+xml"/>
  <Override PartName="/ppt/notesSlides/notesSlide54.xml" ContentType="application/vnd.openxmlformats-officedocument.presentationml.notesSlide+xml"/>
  <Default Extension="png" ContentType="image/png"/>
</Types>
</file>

<file path=_rels/.rels><?xml version="1.0" encoding="utf-8"?>
<Relationships xmlns="http://schemas.openxmlformats.org/package/2006/relationships">
  <Relationship Id="rId3" Type="http://schemas.openxmlformats.org/package/2006/relationships/metadata/core-properties" Target="docProps/core.xml"/>
  <Relationship Id="rId2" Type="http://schemas.openxmlformats.org/package/2006/relationships/metadata/thumbnail" Target="docProps/thumbnail.jpeg"/>
  <Relationship Id="rId1" Type="http://schemas.openxmlformats.org/officeDocument/2006/relationships/officeDocument" Target="ppt/presentation.xml"/>
  <Relationship Id="rId5" Type="http://schemas.openxmlformats.org/officeDocument/2006/relationships/custom-properties" Target="docProps/custom.xml"/>
  <Relationship Id="rId4" Type="http://schemas.openxmlformats.org/officeDocument/2006/relationships/extended-properties" Target="docProps/app.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4"/>
  </p:sldMasterIdLst>
  <p:notesMasterIdLst>
    <p:notesMasterId r:id="rId9"/>
  </p:notesMasterIdLst>
  <p:handoutMasterIdLst>
    <p:handoutMasterId r:id="rId10"/>
  </p:handoutMasterIdLst>
  <p:sldIdLst>
    <p:sldId id="256" r:id="rId100"/>
    <p:sldId id="257" r:id="rId101"/>
    <p:sldId id="258" r:id="rId102"/>
    <p:sldId id="259" r:id="rId103"/>
    <p:sldId id="260" r:id="rId104"/>
    <p:sldId id="261" r:id="rId105"/>
    <p:sldId id="262" r:id="rId106"/>
    <p:sldId id="263" r:id="rId107"/>
    <p:sldId id="264" r:id="rId108"/>
    <p:sldId id="265" r:id="rId109"/>
    <p:sldId id="266" r:id="rId110"/>
    <p:sldId id="267" r:id="rId111"/>
    <p:sldId id="268" r:id="rId112"/>
    <p:sldId id="269" r:id="rId113"/>
    <p:sldId id="270" r:id="rId114"/>
    <p:sldId id="271" r:id="rId115"/>
    <p:sldId id="272" r:id="rId116"/>
    <p:sldId id="273" r:id="rId117"/>
    <p:sldId id="274" r:id="rId118"/>
    <p:sldId id="275" r:id="rId119"/>
    <p:sldId id="276" r:id="rId120"/>
    <p:sldId id="277" r:id="rId121"/>
    <p:sldId id="278" r:id="rId122"/>
    <p:sldId id="279" r:id="rId123"/>
    <p:sldId id="280" r:id="rId124"/>
    <p:sldId id="281" r:id="rId125"/>
    <p:sldId id="282" r:id="rId126"/>
    <p:sldId id="283" r:id="rId127"/>
    <p:sldId id="284" r:id="rId128"/>
    <p:sldId id="285" r:id="rId129"/>
    <p:sldId id="286" r:id="rId130"/>
    <p:sldId id="287" r:id="rId131"/>
    <p:sldId id="288" r:id="rId132"/>
    <p:sldId id="289" r:id="rId133"/>
    <p:sldId id="290" r:id="rId134"/>
    <p:sldId id="291" r:id="rId135"/>
    <p:sldId id="292" r:id="rId136"/>
    <p:sldId id="293" r:id="rId137"/>
    <p:sldId id="294" r:id="rId138"/>
    <p:sldId id="295" r:id="rId139"/>
    <p:sldId id="296" r:id="rId140"/>
    <p:sldId id="297" r:id="rId141"/>
    <p:sldId id="298" r:id="rId142"/>
    <p:sldId id="299" r:id="rId143"/>
    <p:sldId id="300" r:id="rId144"/>
    <p:sldId id="301" r:id="rId145"/>
    <p:sldId id="302" r:id="rId146"/>
    <p:sldId id="303" r:id="rId147"/>
    <p:sldId id="304" r:id="rId148"/>
    <p:sldId id="305" r:id="rId149"/>
    <p:sldId id="306" r:id="rId150"/>
    <p:sldId id="307" r:id="rId151"/>
    <p:sldId id="308" r:id="rId152"/>
    <p:sldId id="309" r:id="rId153"/>
  </p:sldIdLst>
  <p:sldSz cx="12192000" cy="685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userDrawn="1">
          <p15:clr>
            <a:srgbClr val="A4A3A4"/>
          </p15:clr>
        </p15:guide>
        <p15:guide id="2" pos="384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31859C"/>
    <a:srgbClr val="23815D"/>
    <a:srgbClr val="27C00E"/>
  </p:clrMru>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horzBarState="maximized">
    <p:restoredLeft sz="15620"/>
    <p:restoredTop sz="96362" autoAdjust="0"/>
  </p:normalViewPr>
  <p:slideViewPr>
    <p:cSldViewPr snapToGrid="0" snapToObjects="1">
      <p:cViewPr varScale="1">
        <p:scale>
          <a:sx n="111" d="100"/>
          <a:sy n="111" d="100"/>
        </p:scale>
        <p:origin x="558" y="96"/>
      </p:cViewPr>
      <p:guideLst>
        <p:guide orient="horz" pos="2160"/>
        <p:guide pos="3840"/>
      </p:guideLst>
    </p:cSldViewPr>
  </p:slideViewPr>
  <p:notesTextViewPr>
    <p:cViewPr>
      <p:scale>
        <a:sx n="100" d="100"/>
        <a:sy n="100" d="100"/>
      </p:scale>
      <p:origin x="0" y="0"/>
    </p:cViewPr>
  </p:notesTextViewPr>
  <p:gridSpacing cx="76200" cy="76200"/>
</p:viewPr>
</file>

<file path=ppt/_rels/presentation.xml.rels><?xml version="1.0" encoding="utf-8"?>
<Relationships xmlns="http://schemas.openxmlformats.org/package/2006/relationships"><Relationship Id="rId13" Type="http://schemas.openxmlformats.org/officeDocument/2006/relationships/theme" Target="theme/theme1.xml"/><Relationship Id="rId3" Type="http://schemas.openxmlformats.org/officeDocument/2006/relationships/customXml" Target="../customXml/item3.xml"/><Relationship Id="rId12" Type="http://schemas.openxmlformats.org/officeDocument/2006/relationships/viewProps" Target="viewProps.xml"/><Relationship Id="rId2" Type="http://schemas.openxmlformats.org/officeDocument/2006/relationships/customXml" Target="../customXml/item2.xml"/><Relationship Id="rId1" Type="http://schemas.openxmlformats.org/officeDocument/2006/relationships/customXml" Target="../customXml/item1.xml"/><Relationship Id="rId11" Type="http://schemas.openxmlformats.org/officeDocument/2006/relationships/presProps" Target="presProps.xml"/><Relationship Id="rId10" Type="http://schemas.openxmlformats.org/officeDocument/2006/relationships/handoutMaster" Target="handoutMasters/handoutMaster1.xml"/><Relationship Id="rId4" Type="http://schemas.openxmlformats.org/officeDocument/2006/relationships/slideMaster" Target="slideMasters/slideMaster1.xml"/><Relationship Id="rId9" Type="http://schemas.openxmlformats.org/officeDocument/2006/relationships/notesMaster" Target="notesMasters/notesMaster1.xml"/><Relationship Id="rId14" Type="http://schemas.openxmlformats.org/officeDocument/2006/relationships/tableStyles" Target="tableStyles.xml"/><Relationship Id="rId100" Type="http://schemas.openxmlformats.org/officeDocument/2006/relationships/slide" Target="slides/slide1.xml"/><Relationship Id="rId101" Type="http://schemas.openxmlformats.org/officeDocument/2006/relationships/slide" Target="slides/slide2.xml"/><Relationship Id="rId102" Type="http://schemas.openxmlformats.org/officeDocument/2006/relationships/slide" Target="slides/slide3.xml"/><Relationship Id="rId103" Type="http://schemas.openxmlformats.org/officeDocument/2006/relationships/slide" Target="slides/slide4.xml"/><Relationship Id="rId104" Type="http://schemas.openxmlformats.org/officeDocument/2006/relationships/slide" Target="slides/slide5.xml"/><Relationship Id="rId105" Type="http://schemas.openxmlformats.org/officeDocument/2006/relationships/slide" Target="slides/slide6.xml"/><Relationship Id="rId106" Type="http://schemas.openxmlformats.org/officeDocument/2006/relationships/slide" Target="slides/slide7.xml"/><Relationship Id="rId107" Type="http://schemas.openxmlformats.org/officeDocument/2006/relationships/slide" Target="slides/slide8.xml"/><Relationship Id="rId108" Type="http://schemas.openxmlformats.org/officeDocument/2006/relationships/slide" Target="slides/slide9.xml"/><Relationship Id="rId109" Type="http://schemas.openxmlformats.org/officeDocument/2006/relationships/slide" Target="slides/slide10.xml"/><Relationship Id="rId110" Type="http://schemas.openxmlformats.org/officeDocument/2006/relationships/slide" Target="slides/slide11.xml"/><Relationship Id="rId111" Type="http://schemas.openxmlformats.org/officeDocument/2006/relationships/slide" Target="slides/slide12.xml"/><Relationship Id="rId112" Type="http://schemas.openxmlformats.org/officeDocument/2006/relationships/slide" Target="slides/slide13.xml"/><Relationship Id="rId113" Type="http://schemas.openxmlformats.org/officeDocument/2006/relationships/slide" Target="slides/slide14.xml"/><Relationship Id="rId114" Type="http://schemas.openxmlformats.org/officeDocument/2006/relationships/slide" Target="slides/slide15.xml"/><Relationship Id="rId115" Type="http://schemas.openxmlformats.org/officeDocument/2006/relationships/slide" Target="slides/slide16.xml"/><Relationship Id="rId116" Type="http://schemas.openxmlformats.org/officeDocument/2006/relationships/slide" Target="slides/slide17.xml"/><Relationship Id="rId117" Type="http://schemas.openxmlformats.org/officeDocument/2006/relationships/slide" Target="slides/slide18.xml"/><Relationship Id="rId118" Type="http://schemas.openxmlformats.org/officeDocument/2006/relationships/slide" Target="slides/slide19.xml"/><Relationship Id="rId119" Type="http://schemas.openxmlformats.org/officeDocument/2006/relationships/slide" Target="slides/slide20.xml"/><Relationship Id="rId120" Type="http://schemas.openxmlformats.org/officeDocument/2006/relationships/slide" Target="slides/slide21.xml"/><Relationship Id="rId121" Type="http://schemas.openxmlformats.org/officeDocument/2006/relationships/slide" Target="slides/slide22.xml"/><Relationship Id="rId122" Type="http://schemas.openxmlformats.org/officeDocument/2006/relationships/slide" Target="slides/slide23.xml"/><Relationship Id="rId123" Type="http://schemas.openxmlformats.org/officeDocument/2006/relationships/slide" Target="slides/slide24.xml"/><Relationship Id="rId124" Type="http://schemas.openxmlformats.org/officeDocument/2006/relationships/slide" Target="slides/slide25.xml"/><Relationship Id="rId125" Type="http://schemas.openxmlformats.org/officeDocument/2006/relationships/slide" Target="slides/slide26.xml"/><Relationship Id="rId126" Type="http://schemas.openxmlformats.org/officeDocument/2006/relationships/slide" Target="slides/slide27.xml"/><Relationship Id="rId127" Type="http://schemas.openxmlformats.org/officeDocument/2006/relationships/slide" Target="slides/slide28.xml"/><Relationship Id="rId128" Type="http://schemas.openxmlformats.org/officeDocument/2006/relationships/slide" Target="slides/slide29.xml"/><Relationship Id="rId129" Type="http://schemas.openxmlformats.org/officeDocument/2006/relationships/slide" Target="slides/slide30.xml"/><Relationship Id="rId130" Type="http://schemas.openxmlformats.org/officeDocument/2006/relationships/slide" Target="slides/slide31.xml"/><Relationship Id="rId131" Type="http://schemas.openxmlformats.org/officeDocument/2006/relationships/slide" Target="slides/slide32.xml"/><Relationship Id="rId132" Type="http://schemas.openxmlformats.org/officeDocument/2006/relationships/slide" Target="slides/slide33.xml"/><Relationship Id="rId133" Type="http://schemas.openxmlformats.org/officeDocument/2006/relationships/slide" Target="slides/slide34.xml"/><Relationship Id="rId134" Type="http://schemas.openxmlformats.org/officeDocument/2006/relationships/slide" Target="slides/slide35.xml"/><Relationship Id="rId135" Type="http://schemas.openxmlformats.org/officeDocument/2006/relationships/slide" Target="slides/slide36.xml"/><Relationship Id="rId136" Type="http://schemas.openxmlformats.org/officeDocument/2006/relationships/slide" Target="slides/slide37.xml"/><Relationship Id="rId137" Type="http://schemas.openxmlformats.org/officeDocument/2006/relationships/slide" Target="slides/slide38.xml"/><Relationship Id="rId138" Type="http://schemas.openxmlformats.org/officeDocument/2006/relationships/slide" Target="slides/slide39.xml"/><Relationship Id="rId139" Type="http://schemas.openxmlformats.org/officeDocument/2006/relationships/slide" Target="slides/slide40.xml"/><Relationship Id="rId140" Type="http://schemas.openxmlformats.org/officeDocument/2006/relationships/slide" Target="slides/slide41.xml"/><Relationship Id="rId141" Type="http://schemas.openxmlformats.org/officeDocument/2006/relationships/slide" Target="slides/slide42.xml"/><Relationship Id="rId142" Type="http://schemas.openxmlformats.org/officeDocument/2006/relationships/slide" Target="slides/slide43.xml"/><Relationship Id="rId143" Type="http://schemas.openxmlformats.org/officeDocument/2006/relationships/slide" Target="slides/slide44.xml"/><Relationship Id="rId144" Type="http://schemas.openxmlformats.org/officeDocument/2006/relationships/slide" Target="slides/slide45.xml"/><Relationship Id="rId145" Type="http://schemas.openxmlformats.org/officeDocument/2006/relationships/slide" Target="slides/slide46.xml"/><Relationship Id="rId146" Type="http://schemas.openxmlformats.org/officeDocument/2006/relationships/slide" Target="slides/slide47.xml"/><Relationship Id="rId147" Type="http://schemas.openxmlformats.org/officeDocument/2006/relationships/slide" Target="slides/slide48.xml"/><Relationship Id="rId148" Type="http://schemas.openxmlformats.org/officeDocument/2006/relationships/slide" Target="slides/slide49.xml"/><Relationship Id="rId149" Type="http://schemas.openxmlformats.org/officeDocument/2006/relationships/slide" Target="slides/slide50.xml"/><Relationship Id="rId150" Type="http://schemas.openxmlformats.org/officeDocument/2006/relationships/slide" Target="slides/slide51.xml"/><Relationship Id="rId151" Type="http://schemas.openxmlformats.org/officeDocument/2006/relationships/slide" Target="slides/slide52.xml"/><Relationship Id="rId152" Type="http://schemas.openxmlformats.org/officeDocument/2006/relationships/slide" Target="slides/slide53.xml"/><Relationship Id="rId153" Type="http://schemas.openxmlformats.org/officeDocument/2006/relationships/slide" Target="slides/slide54.xml"/></Relationships>
</file>

<file path=ppt/handoutMasters/_rels/handoutMaster1.xml.rels><?xml version="1.0" encoding="utf-8"?>
<Relationships xmlns="http://schemas.openxmlformats.org/package/2006/relationships">
  <Relationship Id="rId1" Type="http://schemas.openxmlformats.org/officeDocument/2006/relationships/theme" Target="../theme/theme3.xml"/>
</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sz="quarter" idx="1"/>
          </p:nvPr>
        </p:nvSpPr>
        <p:spPr>
          <a:xfrm>
            <a:off x="3884613" y="0"/>
            <a:ext cx="2971800" cy="458788"/>
          </a:xfrm>
          <a:prstGeom prst="rect">
            <a:avLst/>
          </a:prstGeom>
        </p:spPr>
        <p:txBody>
          <a:bodyPr vert="horz" lIns="91440" tIns="45720" rIns="91440" bIns="45720" rtlCol="0"/>
          <a:lstStyle>
            <a:lvl1pPr algn="r">
              <a:defRPr sz="1200"/>
            </a:lvl1pPr>
          </a:lstStyle>
          <a:p>
            <a:fld id="{E3B5D52A-429B-4F3B-9065-09BE3B66FFEC}" type="datetimeFigureOut">
              <a:rPr lang="en-US" smtClean="0"/>
              <a:t>6/28/2026</a:t>
            </a:fld>
            <a:endParaRPr lang="en-US"/>
          </a:p>
        </p:txBody>
      </p:sp>
      <p:sp>
        <p:nvSpPr>
          <p:cNvPr id="4" name="Footer Placeholder 3"/>
          <p:cNvSpPr>
            <a:spLocks noGrp="1"/>
          </p:cNvSpPr>
          <p:nvPr>
            <p:ph type="ftr" sz="quarter" idx="2"/>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5" name="Slide Number Placeholder 4"/>
          <p:cNvSpPr>
            <a:spLocks noGrp="1"/>
          </p:cNvSpPr>
          <p:nvPr>
            <p:ph type="sldNum" sz="quarter" idx="3"/>
          </p:nvPr>
        </p:nvSpPr>
        <p:spPr>
          <a:xfrm>
            <a:off x="3884613" y="8685213"/>
            <a:ext cx="2971800" cy="458787"/>
          </a:xfrm>
          <a:prstGeom prst="rect">
            <a:avLst/>
          </a:prstGeom>
        </p:spPr>
        <p:txBody>
          <a:bodyPr vert="horz" lIns="91440" tIns="45720" rIns="91440" bIns="45720" rtlCol="0" anchor="b"/>
          <a:lstStyle>
            <a:lvl1pPr algn="r">
              <a:defRPr sz="1200"/>
            </a:lvl1pPr>
          </a:lstStyle>
          <a:p>
            <a:fld id="{B2EE22F7-24BD-4EBD-8854-47F4E943AAF7}" type="slidenum">
              <a:rPr lang="en-US" smtClean="0"/>
              <a:t>‹#›</a:t>
            </a:fld>
            <a:endParaRPr lang="en-US"/>
          </a:p>
        </p:txBody>
      </p:sp>
    </p:spTree>
    <p:extLst>
      <p:ext uri="{BB962C8B-B14F-4D97-AF65-F5344CB8AC3E}">
        <p14:creationId xmlns:p14="http://schemas.microsoft.com/office/powerpoint/2010/main" val="458501032"/>
      </p:ext>
    </p:extLst>
  </p:cSld>
  <p:clrMap bg1="lt1" tx1="dk1" bg2="lt2" tx2="dk2" accent1="accent1" accent2="accent2" accent3="accent3" accent4="accent4" accent5="accent5" accent6="accent6" hlink="hlink" folHlink="folHlink"/>
</p:handoutMaster>
</file>

<file path=ppt/notesMasters/_rels/notesMaster1.xml.rels><?xml version="1.0" encoding="utf-8"?>
<Relationships xmlns="http://schemas.openxmlformats.org/package/2006/relationships">
  <Relationship Id="rId1" Type="http://schemas.openxmlformats.org/officeDocument/2006/relationships/theme" Target="../theme/theme2.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3D7C3607-6095-4CD0-92A0-FFEF984E53C8}" type="datetimeFigureOut">
              <a:rPr lang="en-US" smtClean="0"/>
              <a:t>6/28/2026</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F32F38D-C8BB-4D18-A518-262BC2556B91}" type="slidenum">
              <a:rPr lang="en-US" smtClean="0"/>
              <a:t>‹#›</a:t>
            </a:fld>
            <a:endParaRPr lang="en-US"/>
          </a:p>
        </p:txBody>
      </p:sp>
    </p:spTree>
    <p:extLst>
      <p:ext uri="{BB962C8B-B14F-4D97-AF65-F5344CB8AC3E}">
        <p14:creationId xmlns:p14="http://schemas.microsoft.com/office/powerpoint/2010/main" val="776089595"/>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5.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6.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7.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8.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9.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40.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41.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42.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43.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44.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45.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46.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_rels/notesSlide47.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_rels/notesSlide48.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xml"/></Relationships>
</file>

<file path=ppt/notesSlides/_rels/notesSlide49.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xml"/></Relationships>
</file>

<file path=ppt/notesSlides/_rels/notesSlide50.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xml"/></Relationships>
</file>

<file path=ppt/notesSlides/_rels/notesSlide51.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1.xml"/></Relationships>
</file>

<file path=ppt/notesSlides/_rels/notesSlide52.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2.xml"/></Relationships>
</file>

<file path=ppt/notesSlides/_rels/notesSlide53.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3.xml"/></Relationships>
</file>

<file path=ppt/notesSlides/_rels/notesSlide54.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4.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Chào mừng cả lớp. Mỗi giảng viên tự giới thiệu một câu.</a:t>
            </a:r>
          </a:p>
          <a:p>
            <a:r>
              <a:rPr lang="en-US" sz="1400" b="0" dirty="0"/>
              <a:t>Nhờ mọi người đổi tên hiển thị thành họ và tên đầy đủ, và tìm khung chat, chức năng bình chọn (poll) và nút 'giơ tay'.</a:t>
            </a:r>
          </a:p>
          <a:p>
            <a:r>
              <a:rPr lang="en-US" sz="1400" b="0" dirty="0"/>
              <a:t>Thời gian: 1 phút.</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Hỏi: 'Việc gì trong khoa mỗi người làm một kiểu mà chưa ai biết cách nào tốt nhất? Gõ vào chat.' Đọc to hai ba câu trả lời.</a:t>
            </a:r>
          </a:p>
          <a:p>
            <a:r>
              <a:rPr lang="en-US" sz="1400" b="0" dirty="0"/>
              <a:t>Ý chính: nghiên cứu bắt đầu từ điều chưa chắc chắn trong lâm sàng, không phải từ thống kê.</a:t>
            </a:r>
          </a:p>
          <a:p>
            <a:r>
              <a:rPr lang="en-US" sz="1400" b="0" dirty="0"/>
              <a:t>Thời gian: 2 phút.</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Mỗi khối hai buổi, giữa hai buổi cách nhau một tuần.</a:t>
            </a:r>
          </a:p>
          <a:p>
            <a:r>
              <a:rPr lang="en-US" sz="1400" b="0" dirty="0"/>
              <a:t>Một ví dụ xuyên suốt: dịch truyền trong sốc nhiễm khuẩn và tử vong 28 ngày. Từ Buổi 5, ví dụ này tiếp tục trong nghiên cứu của khóa học, FLUID-ICU.</a:t>
            </a:r>
          </a:p>
          <a:p>
            <a:r>
              <a:rPr lang="en-US" sz="1400" b="0" dirty="0"/>
              <a:t>Yêu cầu nằm ở Proposal_Brief, gửi trước Buổi 1 cùng Presentation_Guide và Proposal_Rubric. Hướng dẫn viết bản thảo được chia sẻ ở Buổi 6.</a:t>
            </a:r>
          </a:p>
          <a:p>
            <a:r>
              <a:rPr lang="en-US" sz="1400" b="0" dirty="0"/>
              <a:t>Thời gian: 2 phút.</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Ở Cấp độ 1, giảng viên chạy phần mềm. Các bạn đọc và diễn giải kết quả.</a:t>
            </a:r>
          </a:p>
          <a:p>
            <a:r>
              <a:rPr lang="en-US" sz="1400" b="0" dirty="0"/>
              <a:t>Thời gian: 1 phút.</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Đề cương: khoảng 5 bạn tình nguyện trình bày ở Buổi 8 (mỗi người 6 phút). Mọi người đều nộp đề cương và 6 slide qua email. Chi tiết: Proposal_Brief, gửi qua email trước Buổi 1.</a:t>
            </a:r>
          </a:p>
          <a:p>
            <a:r>
              <a:rPr lang="en-US" sz="1400" b="0" dirty="0"/>
              <a:t>Phần Kết quả: cuối Buổi 6, mỗi người chọn một câu hỏi FLUID-ICU (Q1 đến Q5) và viết phần Kết quả từ gói kết quả của câu đó. Sau Buổi 8, mỗi người phản biện bản thảo của một đồng nghiệp.</a:t>
            </a:r>
          </a:p>
          <a:p>
            <a:r>
              <a:rPr lang="en-US" sz="1400" b="0" dirty="0"/>
              <a:t>Viết bằng tiếng Anh. Có thể viết tiếng Việt nếu thật sự không viết được tiếng Anh.</a:t>
            </a:r>
          </a:p>
          <a:p>
            <a:r>
              <a:rPr lang="en-US" sz="1400" b="0" dirty="0"/>
              <a:t>Thời gian: 2 phút.</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Hỏi: 'Thẻ nào làm bạn lo nhất? Trả lời trong chat.' Thường là phân tích. Trấn an: lớp đi chậm và kiểm tra thường xuyên.</a:t>
            </a:r>
          </a:p>
          <a:p>
            <a:r>
              <a:rPr lang="en-US" sz="1400" b="0" dirty="0"/>
              <a:t>Thời gian: 1 phút.</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Thứ Bảy nào cũng cùng một nhịp. Slide bổ sung ở cuối chỉ dùng khi còn thời gian.</a:t>
            </a:r>
          </a:p>
          <a:p>
            <a:r>
              <a:rPr lang="en-US" sz="1400" b="0" dirty="0"/>
              <a:t>Thời gian: 1 phút.</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Trong mỗi phần xây dựng đề cương, giảng viên điền trước phần đó cho ví dụ xuyên suốt trên màn hình. Sau đó mọi người viết cùng phần đó cho câu hỏi của mình.</a:t>
            </a:r>
          </a:p>
          <a:p>
            <a:r>
              <a:rPr lang="en-US" sz="1400" b="0" dirty="0"/>
              <a:t>Mẫu: Research_Proposal_Template_VN.docx (tiếng Việt) hoặc Research_Proposal_Template.docx (tiếng Anh), gửi qua email cùng hướng dẫn viết đề cương trước Buổi 1.</a:t>
            </a:r>
          </a:p>
          <a:p>
            <a:r>
              <a:rPr lang="en-US" sz="1400" b="0" dirty="0"/>
              <a:t>Thời gian: 1 phút.</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Cho 3 phút để gõ. Sau đó mời 4-5 người nói và chỉ ra các chủ đề chung (dịch truyền, an thần, nhiễm khuẩn, vận động sớm, an toàn dùng thuốc).</a:t>
            </a:r>
          </a:p>
          <a:p>
            <a:r>
              <a:rPr lang="en-US" sz="1400" b="0" dirty="0"/>
              <a:t>Các câu hỏi nằm sẵn trong chat để dùng ở phần Xây dựng đề cương 1.</a:t>
            </a:r>
          </a:p>
          <a:p>
            <a:r>
              <a:rPr lang="en-US" sz="1400" b="0" dirty="0"/>
              <a:t>Thời gian: 6 phút.</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Có thể nhắn riêng cho giảng viên. Chat bằng tiếng Việt hoặc tiếng Anh đều được.</a:t>
            </a:r>
          </a:p>
          <a:p>
            <a:r>
              <a:rPr lang="en-US" sz="1400" b="0" dirty="0"/>
              <a:t>Thời gian: 1 phút.</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Question form in VNM - https://forms.gle/7U2tjio2qVatVJja7</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Bắt đầu lúc 20:05, ngay sau bài kiểm tra. Mục tiêu: mỗi người ra về với bản nháp câu hỏi, mục tiêu tổng quát và mục tiêu cụ thể.</a:t>
            </a:r>
          </a:p>
          <a:p>
            <a:r>
              <a:rPr lang="en-US" sz="1400" b="0" dirty="0"/>
              <a:t>Chỉ vào chương trình, không đọc to. Thời gian: 1 phút.</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Phần 1.1: 20:05-20:40. Mời hai ba người trả lời. Thường gặp: mình nhớ những ca đáng nhớ, đồng nghiệp mỗi người một ý, thực hành thay đổi.</a:t>
            </a:r>
          </a:p>
          <a:p>
            <a:r>
              <a:rPr lang="en-US" sz="1400" b="0" dirty="0"/>
              <a:t>Ý chính: kinh nghiệm giúp nảy ra câu hỏi, nhưng không trả lời được câu hỏi.</a:t>
            </a:r>
          </a:p>
          <a:p>
            <a:r>
              <a:rPr lang="en-US" sz="1400" b="0" dirty="0"/>
              <a:t>Thời gian: 1 phút.</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Các con số chỉ để minh họa. CLASSIC (NEJM 2022, 1554 người bệnh) thấy tử vong 90 ngày như nhau giữa hạn chế dịch và truyền dịch chuẩn (42.3% so với 42.1%).</a:t>
            </a:r>
          </a:p>
          <a:p>
            <a:r>
              <a:rPr lang="en-US" sz="1400" b="0" dirty="0"/>
              <a:t>Hỏi: 'Vì sao mình nhớ ba ca tốt?' Thường gặp: sai lệch nhớ lại (recall bias).</a:t>
            </a:r>
          </a:p>
          <a:p>
            <a:r>
              <a:rPr lang="en-US" sz="1400" b="0" dirty="0"/>
              <a:t>Thời gian: 4 phút.</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Nguy cơ tử vong thật là 40%. Khoa có 5 người bệnh dao động từ 0% đến 80% do ngẫu nhiên. Nhóm 500 người tập trung quanh 40%.</a:t>
            </a:r>
          </a:p>
          <a:p>
            <a:r>
              <a:rPr lang="en-US" sz="1400" b="0" dirty="0"/>
              <a:t>Bình chọn: 'Một khoa có 0/5 tử vong sau quy trình mới. Quy trình có hiệu quả không?' Đáp án: chưa biết được.</a:t>
            </a:r>
          </a:p>
          <a:p>
            <a:r>
              <a:rPr lang="en-US" sz="1400" b="0" dirty="0"/>
              <a:t>Thời gian: 4 phút.</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Đi từ dưới lên. Thiết kế càng cao càng chống sai lệch tốt hơn với câu hỏi điều trị, nhưng thử nghiệm làm kém vẫn có thể sai.</a:t>
            </a:r>
          </a:p>
          <a:p>
            <a:r>
              <a:rPr lang="en-US" sz="1400" b="0" dirty="0"/>
              <a:t>Không dạy thiết kế ở đây (Buổi 3).</a:t>
            </a:r>
          </a:p>
          <a:p>
            <a:r>
              <a:rPr lang="en-US" sz="1400" b="0" dirty="0"/>
              <a:t>Thời gian: 4 phút.</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Đáp án: A, B, C, D. C chính là thử nghiệm CLASSIC.</a:t>
            </a:r>
          </a:p>
          <a:p>
            <a:r>
              <a:rPr lang="en-US" sz="1400" b="0" dirty="0"/>
              <a:t>Điều gì làm C yếu hơn B? Quá nhỏ, mất nhiều người bệnh, hoặc người bệnh khác với người bệnh của mình.</a:t>
            </a:r>
          </a:p>
          <a:p>
            <a:r>
              <a:rPr lang="en-US" sz="1400" b="0" dirty="0"/>
              <a:t>Thời gian: 3 phút.</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Bài báo 1: thử nghiệm thí điểm (thử nghiệm nhỏ để xem có làm được thử nghiệm lớn không). Bài báo 2: thuần tập ghép cặp, giống lựa chọn B trong câu hỏi nhanh.</a:t>
            </a:r>
          </a:p>
          <a:p>
            <a:r>
              <a:rPr lang="en-US" sz="1400" b="0" dirty="0"/>
              <a:t>Chưa đọc bây giờ. Buổi 2 đọc phần tóm tắt của Bài báo 1.</a:t>
            </a:r>
          </a:p>
          <a:p>
            <a:r>
              <a:rPr lang="en-US" sz="1400" b="0" dirty="0"/>
              <a:t>Trước Buổi 1, gửi email hai tệp PDF gốc kèm phiếu bài tập Buổi 1.</a:t>
            </a:r>
          </a:p>
          <a:p>
            <a:r>
              <a:rPr lang="en-US" sz="1400" b="0" dirty="0"/>
              <a:t>Thời gian: 2 phút.</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Mỗi ô một câu. Tuần 1-2 học ba ô màu xanh đậm.</a:t>
            </a:r>
          </a:p>
          <a:p>
            <a:r>
              <a:rPr lang="en-US" sz="1400" b="0" dirty="0"/>
              <a:t>Ý chính: thu thập số liệu đến sau câu hỏi, thiết kế và phê duyệt đạo đức.</a:t>
            </a:r>
          </a:p>
          <a:p>
            <a:r>
              <a:rPr lang="en-US" sz="1400" b="0" dirty="0"/>
              <a:t>Thời gian: 2 phút.</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Ý chính: nghiên cứu định tính có phương pháp chặt chẽ riêng.</a:t>
            </a:r>
          </a:p>
          <a:p>
            <a:r>
              <a:rPr lang="en-US" sz="1400" b="0" dirty="0"/>
              <a:t>Thời gian: 3 phút.</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Mời hai ba người trả lời. Đáp án ở slide sau.</a:t>
            </a:r>
          </a:p>
          <a:p>
            <a:r>
              <a:rPr lang="en-US" sz="1400" b="0" dirty="0"/>
              <a:t>Nếu lớp lưỡng lự ở câu C: hồ sơ được ghi để chăm sóc người bệnh, nên dùng lại là nghiên cứu thứ cấp.</a:t>
            </a:r>
          </a:p>
          <a:p>
            <a:r>
              <a:rPr lang="en-US" sz="1400" b="0" dirty="0"/>
              <a:t>Thời gian: 2 phút.</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Nghiên cứu thứ cấp thường khả thi nhất với một khoa bận rộn, nếu hồ sơ được ghi tốt.</a:t>
            </a:r>
          </a:p>
          <a:p>
            <a:r>
              <a:rPr lang="en-US" sz="1400" b="0" dirty="0"/>
              <a:t>Thời gian: 1 phút.</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Trạm 1-6 là lên kế hoạch và thực hiện nghiên cứu. Trạm 7-11 là công bố.</a:t>
            </a:r>
          </a:p>
          <a:p>
            <a:r>
              <a:rPr lang="en-US" sz="1400" b="0" dirty="0"/>
              <a:t>Hỏi: 'Nghiên cứu ở bệnh viện hay bị kẹt ở trạm nào?' Thường gặp: thủ tục đạo đức, thu thập số liệu hoặc viết bài.</a:t>
            </a:r>
          </a:p>
          <a:p>
            <a:r>
              <a:rPr lang="en-US" sz="1400" b="0" dirty="0"/>
              <a:t>Thời gian: 3 phút + 3 phút hỏi đáp. Phần 1.1 kết thúc lúc 20:40.</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Giải lao 20:40-20:55. Gửi giờ bắt đầu lại và đường link phiếu bài tập Buổi 1 vào chat.</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Phần 1.2: 20:55-21:35. Thời gian: 30 giây.</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Nhắc lại các câu hỏi cả lớp đã gõ vào chat lúc đầu buổi.</a:t>
            </a:r>
          </a:p>
          <a:p>
            <a:r>
              <a:rPr lang="en-US" sz="1400" b="0" dirty="0"/>
              <a:t>Thời gian: 3 phút.</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Mỗi chữ cái buộc mình phải quyết định.</a:t>
            </a:r>
          </a:p>
          <a:p>
            <a:r>
              <a:rPr lang="en-US" sz="1400" b="0" dirty="0"/>
              <a:t>Hỏi: 'Tử vong 28 ngày có phải kết cục hợp lý duy nhất?' Thường gặp: tử vong 90 ngày, tổn thương thận cần lọc máu, cân bằng dịch.</a:t>
            </a:r>
          </a:p>
          <a:p>
            <a:r>
              <a:rPr lang="en-US" sz="1400" b="0" dirty="0"/>
              <a:t>Thời gian: 4 phút.</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Hàng 3 hỏi một điều phổ biến đến mức nào, nên chỉ cần P và O (và T).</a:t>
            </a:r>
          </a:p>
          <a:p>
            <a:r>
              <a:rPr lang="en-US" sz="1400" b="0" dirty="0"/>
              <a:t>Hỏi: 'Hãy đặt một câu hỏi PECO về dịch truyền.' Gợi ý: ở người lớn bị nhiễm khuẩn huyết, cân bằng dịch dương đến ngày 3, so với cân bằng trung tính hoặc âm, có liên quan với tử vong đến ngày 28 không? (Câu hỏi của Bài báo 2.)</a:t>
            </a:r>
          </a:p>
          <a:p>
            <a:r>
              <a:rPr lang="en-US" sz="1400" b="0" dirty="0"/>
              <a:t>Thời gian: 4 phút.</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Đọc chậm câu hỏi. Cho 1 phút bình chọn. Đáp án: C. D là T, A thuộc P, B là I.</a:t>
            </a:r>
          </a:p>
          <a:p>
            <a:r>
              <a:rPr lang="en-US" sz="1400" b="0" dirty="0"/>
              <a:t>Chú ý nếu có người chọn 'sốc nhiễm khuẩn' là O: nó xác định ai đủ tiêu chuẩn.</a:t>
            </a:r>
          </a:p>
          <a:p>
            <a:r>
              <a:rPr lang="en-US" sz="1400" b="0" dirty="0"/>
              <a:t>Thời gian: 3 phút.</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Kết cục của Bài báo 1 là cân bằng dịch, nên bài này không trả lời được câu hỏi tử vong.</a:t>
            </a:r>
          </a:p>
          <a:p>
            <a:r>
              <a:rPr lang="en-US" sz="1400" b="0" dirty="0"/>
              <a:t>Thời gian: 2 phút.</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Động từ cho biết loại câu hỏi: 'bao nhiêu', 'có liên quan với', 'có làm giảm'.</a:t>
            </a:r>
          </a:p>
          <a:p>
            <a:r>
              <a:rPr lang="en-US" sz="1400" b="0" dirty="0"/>
              <a:t>Hỏi: 'Bài báo 2 thuộc ô nào?' Đáp án: phân tích, quan sát (thuần tập).</a:t>
            </a:r>
          </a:p>
          <a:p>
            <a:r>
              <a:rPr lang="en-US" sz="1400" b="0" dirty="0"/>
              <a:t>Thời gian: 3 phút.</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Hỏi: 'Hãy làm câu này trả lời được: Albumin có tốt hơn không?' Gợi ý: ở người lớn bị sốc nhiễm khuẩn, albumin kèm dịch tinh thể, so với chỉ dịch tinh thể, có làm giảm tử vong 28 ngày không?</a:t>
            </a:r>
          </a:p>
          <a:p>
            <a:r>
              <a:rPr lang="en-US" sz="1400" b="0" dirty="0"/>
              <a:t>Thời gian: 3 phút.</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Khả thi là tiêu chí hay trượt nhất trong nghiên cứu tại bệnh viện. Mới có thể là bối cảnh mới hoặc thiết kế tốt hơn.</a:t>
            </a:r>
          </a:p>
          <a:p>
            <a:r>
              <a:rPr lang="en-US" sz="1400" b="0" dirty="0"/>
              <a:t>Bình chọn (F, I, N, E, R): 'Ví dụ xuyên suốt trượt tiêu chí nào?'</a:t>
            </a:r>
          </a:p>
          <a:p>
            <a:r>
              <a:rPr lang="en-US" sz="1400" b="0" dirty="0"/>
              <a:t>Thời gian: 3 phút.</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F màu đỏ: CLASSIC (2022) và CLOVERS (2023) mỗi thử nghiệm cần hơn 1500 người bệnh.</a:t>
            </a:r>
          </a:p>
          <a:p>
            <a:r>
              <a:rPr lang="en-US" sz="1400" b="0" dirty="0"/>
              <a:t>Cách thu nhỏ: đổi kết cục, làm thử nghiệm thí điểm, hoặc đặt câu hỏi mô tả.</a:t>
            </a:r>
          </a:p>
          <a:p>
            <a:r>
              <a:rPr lang="en-US" sz="1400" b="0" dirty="0"/>
              <a:t>Thời gian: 3 phút.</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Gõ câu trả lời vào Bài tập 1 còn trống khi mọi người nói, mỗi chữ cái mời một người.</a:t>
            </a:r>
          </a:p>
          <a:p>
            <a:r>
              <a:rPr lang="en-US" sz="1400" b="0" dirty="0"/>
              <a:t>Nếu chia đều, chọn A (thử nghiệm thí điểm Bài báo 1 đã làm, dùng lại ở phần 1.3). B là câu hỏi PECO và là câu hỏi chính của FLUID-ICU.</a:t>
            </a:r>
          </a:p>
          <a:p>
            <a:r>
              <a:rPr lang="en-US" sz="1400" b="0" dirty="0"/>
              <a:t>Chú ý: thiếu nhóm so sánh, thiếu mốc thời gian, hai kết cục.</a:t>
            </a:r>
          </a:p>
          <a:p>
            <a:r>
              <a:rPr lang="en-US" sz="1400" b="0" dirty="0"/>
              <a:t>Đáp án: s1_solutions_VN, Bài tập 1.</a:t>
            </a:r>
          </a:p>
          <a:p>
            <a:r>
              <a:rPr lang="en-US" sz="1400" b="0" dirty="0"/>
              <a:t>Thời gian: 8 phút + 3 phút tổng kết. Phần 1.3 bắt đầu lúc 21:35.</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Phần 1.3: 21:35-21:55. Thời gian: 30 giây.</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Mục tiêu chính quyết định cỡ mẫu (Buổi 6).</a:t>
            </a:r>
          </a:p>
          <a:p>
            <a:r>
              <a:rPr lang="en-US" sz="1400" b="0" dirty="0"/>
              <a:t>Thời gian: 3 phút.</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Hỏi: 'Viết lại: nghiên cứu về cân bằng dịch tại ICU của mình.' Gợi ý: ước tính tỷ lệ người lớn bị sốc nhiễm khuẩn tại ICU của mình có cân bằng dịch dương ở ngày 3.</a:t>
            </a:r>
          </a:p>
          <a:p>
            <a:r>
              <a:rPr lang="en-US" sz="1400" b="0" dirty="0"/>
              <a:t>Thời gian: 3 phút.</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So sánh: tòa án coi bị cáo 'không có tội' (H0) cho đến khi bằng chứng đủ mạnh. 'Không đủ bằng chứng buộc tội' không có nghĩa là 'vô tội'.</a:t>
            </a:r>
          </a:p>
          <a:p>
            <a:r>
              <a:rPr lang="en-US" sz="1400" b="0" dirty="0"/>
              <a:t>Câu hỏi mô tả (phiên bản C) không cần giả thuyết.</a:t>
            </a:r>
          </a:p>
          <a:p>
            <a:r>
              <a:rPr lang="en-US" sz="1400" b="0" dirty="0"/>
              <a:t>Thời gian: 3 phút. Giá trị p học ở Buổi 6.</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5 phút tự viết, rồi hai ba người đọc mục tiêu chính.</a:t>
            </a:r>
          </a:p>
          <a:p>
            <a:r>
              <a:rPr lang="en-US" sz="1400" b="0" dirty="0"/>
              <a:t>Chú ý: động từ mơ hồ, thiếu mốc thời gian, hoặc giả thuyết về một kết cục không có trong mục tiêu.</a:t>
            </a:r>
          </a:p>
          <a:p>
            <a:r>
              <a:rPr lang="en-US" sz="1400" b="0" dirty="0"/>
              <a:t>Thời gian: 7 phút.</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Kiểm tra chuỗi: O của câu hỏi = mục tiêu chính = kết cục trong H0 và H1.</a:t>
            </a:r>
          </a:p>
          <a:p>
            <a:r>
              <a:rPr lang="en-US" sz="1400" b="0" dirty="0"/>
              <a:t>Đáp án: s1_solutions_VN, Bài tập 2.</a:t>
            </a:r>
          </a:p>
          <a:p>
            <a:r>
              <a:rPr lang="en-US" sz="1400" b="0" dirty="0"/>
              <a:t>Thời gian: 3 phút. Phần 1.3 kết thúc lúc 21:55.</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Xây dựng đề cương 1: 21:55-22:25. Chuyển ngay sang slide sau.</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Phút 0-8: chia sẻ Research_Proposal_Template_VN.docx và điền Phần 1 cho phiên bản A, vừa làm vừa nói lý do.</a:t>
            </a:r>
          </a:p>
          <a:p>
            <a:r>
              <a:rPr lang="en-US" sz="1400" b="0" dirty="0"/>
              <a:t>Phút 8-25: mỗi người tự viết. Trả lời câu hỏi trong chat. Chưa có chủ đề? Xem lại chat lúc chào mừng, hoặc tạm dùng phiên bản A hay C.</a:t>
            </a:r>
          </a:p>
          <a:p>
            <a:r>
              <a:rPr lang="en-US" sz="1400" b="0" dirty="0"/>
              <a:t>Phút 25-30: hai bạn tình nguyện đọc câu hỏi và mục tiêu.</a:t>
            </a:r>
          </a:p>
          <a:p>
            <a:r>
              <a:rPr lang="en-US" sz="1400" b="0" dirty="0"/>
              <a:t>Thời gian: 30 phút. Tổng kết lúc 22:25.</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Đọc nhanh các từ khóa. Thời gian: 1 phút.</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Thời gian: 1 phút.</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Đáp án: Câu 1 Khả thi, tử vong cần hơn một nghìn người bệnh. Câu 2 ví dụ: 'Ước tính tỷ lệ người lớn bị sốc nhiễm khuẩn tại ICU của mình có cân bằng dịch dương ở ngày 3'.</a:t>
            </a:r>
          </a:p>
          <a:p>
            <a:r>
              <a:rPr lang="en-US" sz="1400" b="0" dirty="0"/>
              <a:t>Lưu khung chat. Nếu nhiều người vẫn dùng động từ mơ hồ, mở đầu Buổi 2 bằng một phút về mục tiêu.</a:t>
            </a:r>
          </a:p>
          <a:p>
            <a:r>
              <a:rPr lang="en-US" sz="1400" b="0" dirty="0"/>
              <a:t>Thời gian: 2 phút.</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Khoảng 45 phút. PubMed tìm bằng tiếng Anh, nên danh sách từ đồng nghĩa giúp tìm nhanh hơn.</a:t>
            </a:r>
          </a:p>
          <a:p>
            <a:r>
              <a:rPr lang="en-US" sz="1400" b="0" dirty="0"/>
              <a:t>Ai gặp khó khăn với Zotero hãy email giảng viên trước thứ Sáu.</a:t>
            </a:r>
          </a:p>
          <a:p>
            <a:r>
              <a:rPr lang="en-US" sz="1400" b="0" dirty="0"/>
              <a:t>Thời gian: 1 phút. Kết thúc đúng giờ.</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Tùy chọn. Dùng nếu còn thời gian, hoặc để tự học.</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Dùng khi có người hỏi dự án có cần phê duyệt đạo đức không. Nếu phân bổ ngẫu nhiên, thêm rủi ro hoặc thu thập dữ liệu ngoài chăm sóc thường quy, đó là nghiên cứu. Xem quy định của cơ sở.</a:t>
            </a:r>
          </a:p>
          <a:p>
            <a:r>
              <a:rPr lang="en-US" sz="1400" b="0" dirty="0"/>
              <a:t>Thời gian: 3 phút nếu dùng.</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Dự phòng cho 'Ba ví dụ khác'. Học viên viết mỗi dòng một câu hỏi vào chat, rồi chiếu slide này.</a:t>
            </a:r>
          </a:p>
          <a:p>
            <a:r>
              <a:rPr lang="en-US" sz="1400" b="0" dirty="0"/>
              <a:t>Ý chính: 'làm giảm' vì bảng kiểm được chủ động áp dụng, 'có liên quan' vì béo phì không được chỉ định, câu 'bao nhiêu' không có so sánh.</a:t>
            </a:r>
          </a:p>
          <a:p>
            <a:r>
              <a:rPr lang="en-US" sz="1400" b="0" dirty="0"/>
              <a:t>Thời gian: 5 phút nếu dùng.</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Chẩn đoán: xét nghiệm mới = I, tiêu chuẩn tham chiếu = C, kết cục = độ chính xác. Câu hỏi định tính thường dùng SPIDER (Cooke 2012).</a:t>
            </a:r>
          </a:p>
          <a:p>
            <a:r>
              <a:rPr lang="en-US" sz="1400" b="0" dirty="0"/>
              <a:t>Thời gian: 2 phút nếu dùng.</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Đáp án: 1 Khả thi. 2 Đạo đức. 3 Mới. 4 Phù hợp.</a:t>
            </a:r>
          </a:p>
          <a:p>
            <a:r>
              <a:rPr lang="en-US" sz="1400" b="0" dirty="0"/>
              <a:t>Thời gian: 4 phút nếu dùng.</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Câu hỏi PECO: khó phân bổ ngẫu nhiên điều dưỡng vào ca đêm.</a:t>
            </a:r>
          </a:p>
          <a:p>
            <a:r>
              <a:rPr lang="en-US" sz="1400" b="0" dirty="0"/>
              <a:t>Thời gian: 3 phút nếu dùng.</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Để trên màn hình khi học viên rời phòng họp.</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slideLayouts/_rels/slideLayout1.xml.rels><?xml version="1.0" encoding="utf-8"?>
<Relationships xmlns="http://schemas.openxmlformats.org/package/2006/relationships">
  <Relationship Id="rId1" Type="http://schemas.openxmlformats.org/officeDocument/2006/relationships/slideMaster" Target="../slideMasters/slideMaster1.xml"/>
</Relationships>

</file>

<file path=ppt/slideLayouts/_rels/slideLayout2.xml.rels><?xml version="1.0" encoding="utf-8"?>
<Relationships xmlns="http://schemas.openxmlformats.org/package/2006/relationships">
  <Relationship Id="rId1" Type="http://schemas.openxmlformats.org/officeDocument/2006/relationships/slideMaster" Target="../slideMasters/slideMaster1.xml"/>
</Relationships>

</file>

<file path=ppt/slideLayouts/_rels/slideLayout3.xml.rels><?xml version="1.0" encoding="utf-8"?>
<Relationships xmlns="http://schemas.openxmlformats.org/package/2006/relationships">
  <Relationship Id="rId1" Type="http://schemas.openxmlformats.org/officeDocument/2006/relationships/slideMaster" Target="../slideMasters/slideMaster1.xml"/>
</Relationships>

</file>

<file path=ppt/slideLayouts/_rels/slideLayout4.xml.rels><?xml version="1.0" encoding="utf-8"?>
<Relationships xmlns="http://schemas.openxmlformats.org/package/2006/relationships">
  <Relationship Id="rId1" Type="http://schemas.openxmlformats.org/officeDocument/2006/relationships/slideMaster" Target="../slideMasters/slideMaster1.xml"/>
</Relationships>

</file>

<file path=ppt/slideLayouts/_rels/slideLayout5.xml.rels><?xml version="1.0" encoding="utf-8"?>
<Relationships xmlns="http://schemas.openxmlformats.org/package/2006/relationships">
  <Relationship Id="rId1" Type="http://schemas.openxmlformats.org/officeDocument/2006/relationships/slideMaster" Target="../slideMasters/slideMaster1.xml"/>
</Relationships>

</file>

<file path=ppt/slideLayouts/_rels/slideLayout6.xml.rels><?xml version="1.0" encoding="utf-8"?>
<Relationships xmlns="http://schemas.openxmlformats.org/package/2006/relationships">
  <Relationship Id="rId1" Type="http://schemas.openxmlformats.org/officeDocument/2006/relationships/slideMaster" Target="../slideMasters/slideMaster1.xml"/>
</Relationships>

</file>

<file path=ppt/slideLayouts/_rels/slideLayout7.xml.rels><?xml version="1.0" encoding="utf-8"?>
<Relationships xmlns="http://schemas.openxmlformats.org/package/2006/relationships">
  <Relationship Id="rId1" Type="http://schemas.openxmlformats.org/officeDocument/2006/relationships/slideMaster" Target="../slideMasters/slideMaster1.xml"/>
</Relationships>

</file>

<file path=ppt/slideLayouts/_rels/slideLayout8.xml.rels><?xml version="1.0" encoding="utf-8"?>
<Relationships xmlns="http://schemas.openxmlformats.org/package/2006/relationships">
  <Relationship Id="rId1" Type="http://schemas.openxmlformats.org/officeDocument/2006/relationships/slideMaster" Target="../slideMasters/slideMaster1.xml"/>
</Relationships>

</file>

<file path=ppt/slideLayouts/_rels/slideLayout9.xml.rels><?xml version="1.0" encoding="utf-8"?>
<Relationships xmlns="http://schemas.openxmlformats.org/package/2006/relationships">
  <Relationship Id="rId1" Type="http://schemas.openxmlformats.org/officeDocument/2006/relationships/slideMaster" Target="../slideMasters/slideMaster1.xml"/>
</Relationships>

</file>

<file path=ppt/slideLayouts/_rels/slideLayout10.xml.rels><?xml version="1.0" encoding="utf-8"?>
<Relationships xmlns="http://schemas.openxmlformats.org/package/2006/relationships">
  <Relationship Id="rId1" Type="http://schemas.openxmlformats.org/officeDocument/2006/relationships/slideMaster" Target="../slideMasters/slideMaster1.xml"/>
</Relationships>

</file>

<file path=ppt/slideLayouts/_rels/slideLayout11.xml.rels><?xml version="1.0" encoding="utf-8"?>
<Relationships xmlns="http://schemas.openxmlformats.org/package/2006/relationships">
  <Relationship Id="rId1" Type="http://schemas.openxmlformats.org/officeDocument/2006/relationships/slideMaster" Target="../slideMasters/slideMaster1.xml"/>
</Relationships>

</file>

<file path=ppt/slideLayouts/_rels/slideLayout12.xml.rels><?xml version="1.0" encoding="utf-8"?>
<Relationships xmlns="http://schemas.openxmlformats.org/package/2006/relationships">
  <Relationship Id="rId1" Type="http://schemas.openxmlformats.org/officeDocument/2006/relationships/slideMaster" Target="../slideMasters/slideMaster1.xml"/>
</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914400" y="2130426"/>
            <a:ext cx="10363200" cy="1470025"/>
          </a:xfrm>
        </p:spPr>
        <p:txBody>
          <a:bodyPr/>
          <a:lstStyle/>
          <a:p>
            <a:r>
              <a:rPr lang="en-US"/>
              <a:t>Click to edit Master title style</a:t>
            </a:r>
          </a:p>
        </p:txBody>
      </p:sp>
      <p:sp>
        <p:nvSpPr>
          <p:cNvPr id="3" name="Subtitle 2"/>
          <p:cNvSpPr>
            <a:spLocks noGrp="1"/>
          </p:cNvSpPr>
          <p:nvPr>
            <p:ph type="subTitle" idx="1"/>
          </p:nvPr>
        </p:nvSpPr>
        <p:spPr>
          <a:xfrm>
            <a:off x="1828800" y="3886200"/>
            <a:ext cx="85344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7C0F2BA9-42D1-4ED5-B1D2-E4A50A5F0753}" type="datetime1">
              <a:rPr lang="en-US" smtClean="0"/>
              <a:t>6/28/2026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1CF940BF-D3F9-479A-9977-6B0839AFA768}" type="datetime1">
              <a:rPr lang="en-US" smtClean="0"/>
              <a:t>6/28/2026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963084" y="4406901"/>
            <a:ext cx="10363200" cy="1362075"/>
          </a:xfrm>
        </p:spPr>
        <p:txBody>
          <a:bodyPr anchor="t"/>
          <a:lstStyle>
            <a:lvl1pPr algn="l">
              <a:defRPr sz="4000" b="1" cap="all"/>
            </a:lvl1pPr>
          </a:lstStyle>
          <a:p>
            <a:r>
              <a:rPr lang="en-US"/>
              <a:t>Click to edit Master title style</a:t>
            </a:r>
          </a:p>
        </p:txBody>
      </p:sp>
      <p:sp>
        <p:nvSpPr>
          <p:cNvPr id="3" name="Text Placeholder 2"/>
          <p:cNvSpPr>
            <a:spLocks noGrp="1"/>
          </p:cNvSpPr>
          <p:nvPr>
            <p:ph type="body" idx="1"/>
          </p:nvPr>
        </p:nvSpPr>
        <p:spPr>
          <a:xfrm>
            <a:off x="963084" y="2906713"/>
            <a:ext cx="103632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6948E316-8D90-42F5-B2CD-A793817016DE}" type="datetime1">
              <a:rPr lang="en-US" smtClean="0"/>
              <a:t>6/28/2026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609600" y="1600201"/>
            <a:ext cx="53848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6197600" y="1600201"/>
            <a:ext cx="53848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96786190-3C0E-4636-AA92-C1C96D008DF0}" type="datetime1">
              <a:rPr lang="en-US" smtClean="0"/>
              <a:t>6/28/2026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609600" y="1535113"/>
            <a:ext cx="5386917"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609600" y="2174875"/>
            <a:ext cx="5386917"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6193368" y="1535113"/>
            <a:ext cx="5389033"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6193368" y="2174875"/>
            <a:ext cx="5389033"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D42A8B4C-ED02-4998-BF4B-E26731DF30D2}" type="datetime1">
              <a:rPr lang="en-US" smtClean="0"/>
              <a:t>6/28/2026</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6B30C45-864B-4802-800E-706DB8F3BA86}" type="datetime1">
              <a:rPr lang="en-US" smtClean="0"/>
              <a:t>6/28/2026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E01F87F1-2F12-4DB8-BE2A-E0E247940BB4}" type="datetime1">
              <a:rPr lang="en-US" smtClean="0"/>
              <a:t>6/28/2026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609601" y="273050"/>
            <a:ext cx="4011084" cy="1162050"/>
          </a:xfrm>
        </p:spPr>
        <p:txBody>
          <a:bodyPr anchor="b"/>
          <a:lstStyle>
            <a:lvl1pPr algn="l">
              <a:defRPr sz="2000" b="1"/>
            </a:lvl1pPr>
          </a:lstStyle>
          <a:p>
            <a:r>
              <a:rPr lang="en-US"/>
              <a:t>Click to edit Master title style</a:t>
            </a:r>
          </a:p>
        </p:txBody>
      </p:sp>
      <p:sp>
        <p:nvSpPr>
          <p:cNvPr id="3" name="Content Placeholder 2"/>
          <p:cNvSpPr>
            <a:spLocks noGrp="1"/>
          </p:cNvSpPr>
          <p:nvPr>
            <p:ph idx="1"/>
          </p:nvPr>
        </p:nvSpPr>
        <p:spPr>
          <a:xfrm>
            <a:off x="4766733" y="273051"/>
            <a:ext cx="6815667"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609601" y="1435101"/>
            <a:ext cx="4011084"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8D9085BB-45C3-45DA-B16E-2D995DEAF320}" type="datetime1">
              <a:rPr lang="en-US" smtClean="0"/>
              <a:t>6/28/2026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2389717" y="4800600"/>
            <a:ext cx="7315200" cy="566738"/>
          </a:xfrm>
        </p:spPr>
        <p:txBody>
          <a:bodyPr anchor="b"/>
          <a:lstStyle>
            <a:lvl1pPr algn="l">
              <a:defRPr sz="2000" b="1"/>
            </a:lvl1pPr>
          </a:lstStyle>
          <a:p>
            <a:r>
              <a:rPr lang="en-US"/>
              <a:t>Click to edit Master title style</a:t>
            </a:r>
          </a:p>
        </p:txBody>
      </p:sp>
      <p:sp>
        <p:nvSpPr>
          <p:cNvPr id="3" name="Picture Placeholder 2"/>
          <p:cNvSpPr>
            <a:spLocks noGrp="1"/>
          </p:cNvSpPr>
          <p:nvPr>
            <p:ph type="pic" idx="1"/>
          </p:nvPr>
        </p:nvSpPr>
        <p:spPr>
          <a:xfrm>
            <a:off x="2389717" y="612775"/>
            <a:ext cx="73152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2389717" y="5367338"/>
            <a:ext cx="73152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3740DB59-3B43-45FA-9DFE-69ED499597CF}" type="datetime1">
              <a:rPr lang="en-US" smtClean="0"/>
              <a:t>6/28/2026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7974E953-E3F2-4058-BC22-456AC7704CCA}" type="datetime1">
              <a:rPr lang="en-US" smtClean="0"/>
              <a:t>6/28/2026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8839200" y="274639"/>
            <a:ext cx="2743200" cy="5851525"/>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609600" y="274639"/>
            <a:ext cx="8026400" cy="5851525"/>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3278D7E0-3175-45B9-A51E-0AA8F8EB260B}" type="datetime1">
              <a:rPr lang="en-US" smtClean="0"/>
              <a:t>6/28/2026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p:cSld name="DEFAULT">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434184180"/>
      </p:ext>
    </p:extLst>
  </p:cSld>
  <p:clrMapOvr>
    <a:masterClrMapping/>
  </p:clrMapOvr>
</p:sldLayout>
</file>

<file path=ppt/slideMasters/_rels/slideMaster1.xml.rels><?xml version="1.0" encoding="utf-8"?>
<Relationships xmlns="http://schemas.openxmlformats.org/package/2006/relationships">
  <Relationship Id="rId8" Type="http://schemas.openxmlformats.org/officeDocument/2006/relationships/slideLayout" Target="../slideLayouts/slideLayout8.xml"/>
  <Relationship Id="rId13" Type="http://schemas.openxmlformats.org/officeDocument/2006/relationships/theme" Target="../theme/theme1.xml"/>
  <Relationship Id="rId3" Type="http://schemas.openxmlformats.org/officeDocument/2006/relationships/slideLayout" Target="../slideLayouts/slideLayout3.xml"/>
  <Relationship Id="rId7" Type="http://schemas.openxmlformats.org/officeDocument/2006/relationships/slideLayout" Target="../slideLayouts/slideLayout7.xml"/>
  <Relationship Id="rId12" Type="http://schemas.openxmlformats.org/officeDocument/2006/relationships/slideLayout" Target="../slideLayouts/slideLayout12.xml"/>
  <Relationship Id="rId2" Type="http://schemas.openxmlformats.org/officeDocument/2006/relationships/slideLayout" Target="../slideLayouts/slideLayout2.xml"/>
  <Relationship Id="rId1" Type="http://schemas.openxmlformats.org/officeDocument/2006/relationships/slideLayout" Target="../slideLayouts/slideLayout1.xml"/>
  <Relationship Id="rId6" Type="http://schemas.openxmlformats.org/officeDocument/2006/relationships/slideLayout" Target="../slideLayouts/slideLayout6.xml"/>
  <Relationship Id="rId11" Type="http://schemas.openxmlformats.org/officeDocument/2006/relationships/slideLayout" Target="../slideLayouts/slideLayout11.xml"/>
  <Relationship Id="rId5" Type="http://schemas.openxmlformats.org/officeDocument/2006/relationships/slideLayout" Target="../slideLayouts/slideLayout5.xml"/>
  <Relationship Id="rId10" Type="http://schemas.openxmlformats.org/officeDocument/2006/relationships/slideLayout" Target="../slideLayouts/slideLayout10.xml"/>
  <Relationship Id="rId4" Type="http://schemas.openxmlformats.org/officeDocument/2006/relationships/slideLayout" Target="../slideLayouts/slideLayout4.xml"/>
  <Relationship Id="rId9" Type="http://schemas.openxmlformats.org/officeDocument/2006/relationships/slideLayout" Target="../slideLayouts/slideLayout9.xml"/>
</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609600" y="274638"/>
            <a:ext cx="10972800" cy="1143000"/>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p:cNvSpPr>
            <a:spLocks noGrp="1"/>
          </p:cNvSpPr>
          <p:nvPr>
            <p:ph type="body" idx="1"/>
          </p:nvPr>
        </p:nvSpPr>
        <p:spPr>
          <a:xfrm>
            <a:off x="609600" y="1600201"/>
            <a:ext cx="10972800" cy="4525963"/>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2"/>
          </p:nvPr>
        </p:nvSpPr>
        <p:spPr>
          <a:xfrm>
            <a:off x="609600" y="6356351"/>
            <a:ext cx="28448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9DC2E5FA-FF3B-4CBF-AFC6-FF14AE95D537}" type="datetime1">
              <a:rPr lang="en-US" smtClean="0"/>
              <a:t>6/28/2026</a:t>
            </a:fld>
            <a:endParaRPr lang="en-US"/>
          </a:p>
        </p:txBody>
      </p:sp>
      <p:sp>
        <p:nvSpPr>
          <p:cNvPr id="5" name="Footer Placeholder 4"/>
          <p:cNvSpPr>
            <a:spLocks noGrp="1"/>
          </p:cNvSpPr>
          <p:nvPr>
            <p:ph type="ftr" sz="quarter" idx="3"/>
          </p:nvPr>
        </p:nvSpPr>
        <p:spPr>
          <a:xfrm>
            <a:off x="4165600" y="6356351"/>
            <a:ext cx="3860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8737600" y="6356351"/>
            <a:ext cx="28448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 id="2147483660" r:id="rId12"/>
  </p:sldLayoutIdLst>
  <p:hf hdr="0" ftr="0" dt="0"/>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1.xml"/>
<Relationship Id="rId3" Type="http://schemas.openxmlformats.org/officeDocument/2006/relationships/image" Target="../media/image1.jpg"/>
</Relationships>
</file>

<file path=ppt/slides/_rels/slide2.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2.xml"/>
<Relationship Id="rId3" Type="http://schemas.openxmlformats.org/officeDocument/2006/relationships/image" Target="../media/image1.jpg"/>
</Relationships>
</file>

<file path=ppt/slides/_rels/slide3.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3.xml"/>
<Relationship Id="rId3" Type="http://schemas.openxmlformats.org/officeDocument/2006/relationships/image" Target="../media/image1.jpg"/>
</Relationships>
</file>

<file path=ppt/slides/_rels/slide4.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4.xml"/>
<Relationship Id="rId3" Type="http://schemas.openxmlformats.org/officeDocument/2006/relationships/image" Target="../media/image1.jpg"/>
</Relationships>
</file>

<file path=ppt/slides/_rels/slide5.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5.xml"/>
<Relationship Id="rId3" Type="http://schemas.openxmlformats.org/officeDocument/2006/relationships/image" Target="../media/image1.jpg"/>
</Relationships>
</file>

<file path=ppt/slides/_rels/slide6.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6.xml"/>
<Relationship Id="rId3" Type="http://schemas.openxmlformats.org/officeDocument/2006/relationships/image" Target="../media/image1.jpg"/>
</Relationships>
</file>

<file path=ppt/slides/_rels/slide7.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7.xml"/>
<Relationship Id="rId3" Type="http://schemas.openxmlformats.org/officeDocument/2006/relationships/image" Target="../media/image1.jpg"/>
</Relationships>
</file>

<file path=ppt/slides/_rels/slide8.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8.xml"/>
<Relationship Id="rId3" Type="http://schemas.openxmlformats.org/officeDocument/2006/relationships/image" Target="../media/image1.jpg"/>
</Relationships>
</file>

<file path=ppt/slides/_rels/slide9.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9.xml"/>
<Relationship Id="rId3" Type="http://schemas.openxmlformats.org/officeDocument/2006/relationships/image" Target="../media/image1.jpg"/>
</Relationships>
</file>

<file path=ppt/slides/_rels/slide10.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10.xml"/>
<Relationship Id="rId3" Type="http://schemas.openxmlformats.org/officeDocument/2006/relationships/image" Target="../media/image1.jpg"/>
</Relationships>
</file>

<file path=ppt/slides/_rels/slide11.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11.xml"/>
<Relationship Id="rId3" Type="http://schemas.openxmlformats.org/officeDocument/2006/relationships/image" Target="../media/image1.jpg"/>
</Relationships>
</file>

<file path=ppt/slides/_rels/slide12.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12.xml"/>
<Relationship Id="rId3" Type="http://schemas.openxmlformats.org/officeDocument/2006/relationships/image" Target="../media/image1.jpg"/>
</Relationships>
</file>

<file path=ppt/slides/_rels/slide13.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13.xml"/>
<Relationship Id="rId3" Type="http://schemas.openxmlformats.org/officeDocument/2006/relationships/image" Target="../media/image1.jpg"/>
</Relationships>
</file>

<file path=ppt/slides/_rels/slide14.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14.xml"/>
<Relationship Id="rId3" Type="http://schemas.openxmlformats.org/officeDocument/2006/relationships/image" Target="../media/image1.jpg"/>
</Relationships>
</file>

<file path=ppt/slides/_rels/slide15.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15.xml"/>
<Relationship Id="rId3" Type="http://schemas.openxmlformats.org/officeDocument/2006/relationships/image" Target="../media/image1.jpg"/>
<Relationship Id="rId4" Type="http://schemas.openxmlformats.org/officeDocument/2006/relationships/image" Target="../media/image2.png"/>
</Relationships>
</file>

<file path=ppt/slides/_rels/slide16.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16.xml"/>
<Relationship Id="rId3" Type="http://schemas.openxmlformats.org/officeDocument/2006/relationships/image" Target="../media/image1.jpg"/>
</Relationships>
</file>

<file path=ppt/slides/_rels/slide17.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17.xml"/>
<Relationship Id="rId3" Type="http://schemas.openxmlformats.org/officeDocument/2006/relationships/image" Target="../media/image1.jpg"/>
</Relationships>
</file>

<file path=ppt/slides/_rels/slide18.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18.xml"/>
<Relationship Id="rId3" Type="http://schemas.openxmlformats.org/officeDocument/2006/relationships/image" Target="../media/image1.jpg"/>
</Relationships>
</file>

<file path=ppt/slides/_rels/slide19.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19.xml"/>
<Relationship Id="rId3" Type="http://schemas.openxmlformats.org/officeDocument/2006/relationships/image" Target="../media/image1.jpg"/>
</Relationships>
</file>

<file path=ppt/slides/_rels/slide20.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20.xml"/>
<Relationship Id="rId3" Type="http://schemas.openxmlformats.org/officeDocument/2006/relationships/image" Target="../media/image1.jpg"/>
</Relationships>
</file>

<file path=ppt/slides/_rels/slide21.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21.xml"/>
<Relationship Id="rId3" Type="http://schemas.openxmlformats.org/officeDocument/2006/relationships/image" Target="../media/image1.jpg"/>
</Relationships>
</file>

<file path=ppt/slides/_rels/slide22.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22.xml"/>
<Relationship Id="rId3" Type="http://schemas.openxmlformats.org/officeDocument/2006/relationships/image" Target="../media/image1.jpg"/>
</Relationships>
</file>

<file path=ppt/slides/_rels/slide23.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23.xml"/>
<Relationship Id="rId3" Type="http://schemas.openxmlformats.org/officeDocument/2006/relationships/image" Target="../media/image1.jpg"/>
</Relationships>
</file>

<file path=ppt/slides/_rels/slide24.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24.xml"/>
<Relationship Id="rId3" Type="http://schemas.openxmlformats.org/officeDocument/2006/relationships/image" Target="../media/image1.jpg"/>
</Relationships>
</file>

<file path=ppt/slides/_rels/slide25.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25.xml"/>
<Relationship Id="rId3" Type="http://schemas.openxmlformats.org/officeDocument/2006/relationships/image" Target="../media/image1.jpg"/>
</Relationships>
</file>

<file path=ppt/slides/_rels/slide26.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26.xml"/>
<Relationship Id="rId3" Type="http://schemas.openxmlformats.org/officeDocument/2006/relationships/image" Target="../media/image1.jpg"/>
</Relationships>
</file>

<file path=ppt/slides/_rels/slide27.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27.xml"/>
<Relationship Id="rId3" Type="http://schemas.openxmlformats.org/officeDocument/2006/relationships/image" Target="../media/image1.jpg"/>
</Relationships>
</file>

<file path=ppt/slides/_rels/slide28.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28.xml"/>
<Relationship Id="rId3" Type="http://schemas.openxmlformats.org/officeDocument/2006/relationships/image" Target="../media/image1.jpg"/>
</Relationships>
</file>

<file path=ppt/slides/_rels/slide29.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29.xml"/>
<Relationship Id="rId3" Type="http://schemas.openxmlformats.org/officeDocument/2006/relationships/image" Target="../media/image1.jpg"/>
</Relationships>
</file>

<file path=ppt/slides/_rels/slide30.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30.xml"/>
<Relationship Id="rId3" Type="http://schemas.openxmlformats.org/officeDocument/2006/relationships/image" Target="../media/image1.jpg"/>
</Relationships>
</file>

<file path=ppt/slides/_rels/slide31.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31.xml"/>
<Relationship Id="rId3" Type="http://schemas.openxmlformats.org/officeDocument/2006/relationships/image" Target="../media/image1.jpg"/>
</Relationships>
</file>

<file path=ppt/slides/_rels/slide32.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32.xml"/>
<Relationship Id="rId3" Type="http://schemas.openxmlformats.org/officeDocument/2006/relationships/image" Target="../media/image1.jpg"/>
</Relationships>
</file>

<file path=ppt/slides/_rels/slide33.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33.xml"/>
<Relationship Id="rId3" Type="http://schemas.openxmlformats.org/officeDocument/2006/relationships/image" Target="../media/image1.jpg"/>
</Relationships>
</file>

<file path=ppt/slides/_rels/slide34.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34.xml"/>
<Relationship Id="rId3" Type="http://schemas.openxmlformats.org/officeDocument/2006/relationships/image" Target="../media/image1.jpg"/>
</Relationships>
</file>

<file path=ppt/slides/_rels/slide35.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35.xml"/>
<Relationship Id="rId3" Type="http://schemas.openxmlformats.org/officeDocument/2006/relationships/image" Target="../media/image1.jpg"/>
</Relationships>
</file>

<file path=ppt/slides/_rels/slide36.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36.xml"/>
<Relationship Id="rId3" Type="http://schemas.openxmlformats.org/officeDocument/2006/relationships/image" Target="../media/image1.jpg"/>
</Relationships>
</file>

<file path=ppt/slides/_rels/slide37.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37.xml"/>
<Relationship Id="rId3" Type="http://schemas.openxmlformats.org/officeDocument/2006/relationships/image" Target="../media/image1.jpg"/>
</Relationships>
</file>

<file path=ppt/slides/_rels/slide38.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38.xml"/>
<Relationship Id="rId3" Type="http://schemas.openxmlformats.org/officeDocument/2006/relationships/image" Target="../media/image1.jpg"/>
</Relationships>
</file>

<file path=ppt/slides/_rels/slide39.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39.xml"/>
<Relationship Id="rId3" Type="http://schemas.openxmlformats.org/officeDocument/2006/relationships/image" Target="../media/image1.jpg"/>
</Relationships>
</file>

<file path=ppt/slides/_rels/slide40.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40.xml"/>
<Relationship Id="rId3" Type="http://schemas.openxmlformats.org/officeDocument/2006/relationships/image" Target="../media/image1.jpg"/>
</Relationships>
</file>

<file path=ppt/slides/_rels/slide41.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41.xml"/>
<Relationship Id="rId3" Type="http://schemas.openxmlformats.org/officeDocument/2006/relationships/image" Target="../media/image1.jpg"/>
</Relationships>
</file>

<file path=ppt/slides/_rels/slide42.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42.xml"/>
<Relationship Id="rId3" Type="http://schemas.openxmlformats.org/officeDocument/2006/relationships/image" Target="../media/image1.jpg"/>
</Relationships>
</file>

<file path=ppt/slides/_rels/slide43.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43.xml"/>
<Relationship Id="rId3" Type="http://schemas.openxmlformats.org/officeDocument/2006/relationships/image" Target="../media/image1.jpg"/>
</Relationships>
</file>

<file path=ppt/slides/_rels/slide44.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44.xml"/>
<Relationship Id="rId3" Type="http://schemas.openxmlformats.org/officeDocument/2006/relationships/image" Target="../media/image1.jpg"/>
</Relationships>
</file>

<file path=ppt/slides/_rels/slide45.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45.xml"/>
<Relationship Id="rId3" Type="http://schemas.openxmlformats.org/officeDocument/2006/relationships/image" Target="../media/image1.jpg"/>
</Relationships>
</file>

<file path=ppt/slides/_rels/slide46.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46.xml"/>
<Relationship Id="rId3" Type="http://schemas.openxmlformats.org/officeDocument/2006/relationships/image" Target="../media/image1.jpg"/>
</Relationships>
</file>

<file path=ppt/slides/_rels/slide47.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47.xml"/>
<Relationship Id="rId3" Type="http://schemas.openxmlformats.org/officeDocument/2006/relationships/image" Target="../media/image1.jpg"/>
</Relationships>
</file>

<file path=ppt/slides/_rels/slide48.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48.xml"/>
<Relationship Id="rId3" Type="http://schemas.openxmlformats.org/officeDocument/2006/relationships/image" Target="../media/image1.jpg"/>
</Relationships>
</file>

<file path=ppt/slides/_rels/slide49.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49.xml"/>
<Relationship Id="rId3" Type="http://schemas.openxmlformats.org/officeDocument/2006/relationships/image" Target="../media/image1.jpg"/>
</Relationships>
</file>

<file path=ppt/slides/_rels/slide50.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50.xml"/>
<Relationship Id="rId3" Type="http://schemas.openxmlformats.org/officeDocument/2006/relationships/image" Target="../media/image1.jpg"/>
</Relationships>
</file>

<file path=ppt/slides/_rels/slide51.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51.xml"/>
<Relationship Id="rId3" Type="http://schemas.openxmlformats.org/officeDocument/2006/relationships/image" Target="../media/image1.jpg"/>
</Relationships>
</file>

<file path=ppt/slides/_rels/slide52.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52.xml"/>
<Relationship Id="rId3" Type="http://schemas.openxmlformats.org/officeDocument/2006/relationships/image" Target="../media/image1.jpg"/>
</Relationships>
</file>

<file path=ppt/slides/_rels/slide53.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53.xml"/>
<Relationship Id="rId3" Type="http://schemas.openxmlformats.org/officeDocument/2006/relationships/image" Target="../media/image1.jpg"/>
</Relationships>
</file>

<file path=ppt/slides/_rels/slide54.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54.xml"/>
<Relationship Id="rId3" Type="http://schemas.openxmlformats.org/officeDocument/2006/relationships/image" Target="../media/image1.jpg"/>
</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pic>
        <p:nvPicPr>
          <p:cNvPr id="2" name="Logo"/>
          <p:cNvPicPr>
            <a:picLocks noChangeAspect="1"/>
          </p:cNvPicPr>
          <p:nvPr/>
        </p:nvPicPr>
        <p:blipFill>
          <a:blip r:embed="rId3"/>
          <a:stretch>
            <a:fillRect/>
          </a:stretch>
        </p:blipFill>
        <p:spPr>
          <a:xfrm>
            <a:off x="768613" y="4410394"/>
            <a:ext cx="2566257" cy="2447606"/>
          </a:xfrm>
          <a:prstGeom prst="rect">
            <a:avLst/>
          </a:prstGeom>
        </p:spPr>
      </p:pic>
      <p:sp>
        <p:nvSpPr>
          <p:cNvPr id="3" name="Title"/>
          <p:cNvSpPr txBox="1"/>
          <p:nvPr/>
        </p:nvSpPr>
        <p:spPr>
          <a:xfrm>
            <a:off x="0" y="1500000"/>
            <a:ext cx="12192000" cy="1700000"/>
          </a:xfrm>
          <a:prstGeom prst="rect">
            <a:avLst/>
          </a:prstGeom>
          <a:noFill/>
          <a:ln>
            <a:noFill/>
          </a:ln>
        </p:spPr>
        <p:txBody>
          <a:bodyPr wrap="square" lIns="457200" tIns="0" rIns="457200" bIns="0" rtlCol="0" anchor="ctr"/>
          <a:lstStyle/>
          <a:p>
            <a:pPr marL="0" indent="0" algn="ctr">
              <a:buNone/>
            </a:pPr>
            <a:r>
              <a:rPr lang="en-US" sz="4000" b="1" dirty="0">
                <a:solidFill>
                  <a:srgbClr val="006666"/>
                </a:solidFill>
                <a:latin typeface="Arial"/>
                <a:cs typeface="Arial"/>
              </a:rPr>
              <a:t>Nền tảng Nghiên cứu Lâm sàng</a:t>
            </a:r>
          </a:p>
        </p:txBody>
      </p:sp>
      <p:sp>
        <p:nvSpPr>
          <p:cNvPr id="5" name="Subtitle"/>
          <p:cNvSpPr txBox="1"/>
          <p:nvPr/>
        </p:nvSpPr>
        <p:spPr>
          <a:xfrm>
            <a:off x="0" y="3250000"/>
            <a:ext cx="12192000" cy="1000000"/>
          </a:xfrm>
          <a:prstGeom prst="rect">
            <a:avLst/>
          </a:prstGeom>
          <a:noFill/>
          <a:ln>
            <a:noFill/>
          </a:ln>
        </p:spPr>
        <p:txBody>
          <a:bodyPr wrap="square" lIns="457200" tIns="45720" rIns="457200" bIns="45720" rtlCol="0" anchor="t"/>
          <a:lstStyle/>
          <a:p>
            <a:pPr marL="0" indent="0" algn="ctr">
              <a:spcBef>
                <a:spcPts val="440"/>
              </a:spcBef>
              <a:buNone/>
            </a:pPr>
            <a:r>
              <a:rPr lang="en-US" sz="2000" dirty="0">
                <a:solidFill>
                  <a:srgbClr val="000000"/>
                </a:solidFill>
                <a:latin typeface="Arial"/>
                <a:cs typeface="Arial"/>
              </a:rPr>
              <a:t>Cấp độ 1: Từ câu hỏi lâm sàng đến công bố</a:t>
            </a:r>
          </a:p>
          <a:p>
            <a:pPr marL="0" indent="0" algn="ctr">
              <a:spcBef>
                <a:spcPts val="440"/>
              </a:spcBef>
              <a:buNone/>
            </a:pPr>
            <a:r>
              <a:rPr lang="en-US" sz="2000" dirty="0">
                <a:solidFill>
                  <a:srgbClr val="000000"/>
                </a:solidFill>
                <a:latin typeface="Arial"/>
                <a:cs typeface="Arial"/>
              </a:rPr>
              <a:t>8 tối thứ Bảy trực tuyến, 19:30 đến 22:30, 24 giờ học</a:t>
            </a:r>
          </a:p>
          <a:p>
            <a:pPr marL="0" indent="0" algn="ctr">
              <a:spcBef>
                <a:spcPts val="440"/>
              </a:spcBef>
              <a:buNone/>
            </a:pPr>
            <a:r>
              <a:rPr lang="en-US" sz="2000" dirty="0">
                <a:solidFill>
                  <a:srgbClr val="000000"/>
                </a:solidFill>
                <a:latin typeface="Arial"/>
                <a:cs typeface="Arial"/>
              </a:rPr>
              <a:t>Giảng viên: Vương Mỹ Lượng &amp; Bernard Osang'ir</a:t>
            </a:r>
          </a:p>
        </p:txBody>
      </p:sp>
      <p:sp>
        <p:nvSpPr>
          <p:cNvPr id="6" name="Date"/>
          <p:cNvSpPr txBox="1"/>
          <p:nvPr/>
        </p:nvSpPr>
        <p:spPr>
          <a:xfrm>
            <a:off x="7902094" y="5833766"/>
            <a:ext cx="3465009" cy="326571"/>
          </a:xfrm>
          <a:prstGeom prst="rect">
            <a:avLst/>
          </a:prstGeom>
          <a:noFill/>
          <a:ln>
            <a:noFill/>
          </a:ln>
        </p:spPr>
        <p:txBody>
          <a:bodyPr wrap="square" lIns="0" tIns="0" rIns="0" bIns="0" rtlCol="0" anchor="b"/>
          <a:lstStyle/>
          <a:p>
            <a:pPr marL="0" indent="0" algn="r">
              <a:buNone/>
            </a:pPr>
            <a:r>
              <a:rPr lang="en-US" sz="1400" b="1" dirty="0">
                <a:solidFill>
                  <a:srgbClr val="000000"/>
                </a:solidFill>
                <a:latin typeface="Arial"/>
                <a:cs typeface="Arial"/>
              </a:rPr>
              <a:t>Ngày: 31/10/2026</a:t>
            </a:r>
          </a:p>
        </p:txBody>
      </p:sp>
      <p:sp>
        <p:nvSpPr>
          <p:cNvPr id="7"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1</a:t>
            </a:fld>
            <a:endParaRPr lang="en-US"/>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20" name="Statement"/>
          <p:cNvSpPr txBox="1"/>
          <p:nvPr/>
        </p:nvSpPr>
        <p:spPr>
          <a:xfrm>
            <a:off x="1057200" y="1280000"/>
            <a:ext cx="10077600" cy="4470000"/>
          </a:xfrm>
          <a:prstGeom prst="rect">
            <a:avLst/>
          </a:prstGeom>
          <a:noFill/>
          <a:ln>
            <a:noFill/>
          </a:ln>
        </p:spPr>
        <p:txBody>
          <a:bodyPr wrap="square" lIns="91440" tIns="45720" rIns="91440" bIns="45720" rtlCol="0" anchor="ctr"/>
          <a:lstStyle/>
          <a:p>
            <a:pPr marL="0" indent="0" algn="ctr">
              <a:lnSpc>
                <a:spcPct val="110000"/>
              </a:lnSpc>
              <a:buNone/>
            </a:pPr>
            <a:r>
              <a:rPr lang="en-US" sz="3200" b="1" dirty="0">
                <a:solidFill>
                  <a:srgbClr val="0D7377"/>
                </a:solidFill>
                <a:latin typeface="Arial"/>
                <a:cs typeface="Arial"/>
              </a:rPr>
              <a:t>Mỗi ngày bạn đưa ra những quyết định mà nghiên cứu có thể giúp tốt hơn.</a:t>
            </a:r>
          </a:p>
          <a:p>
            <a:pPr marL="0" indent="0" algn="ctr">
              <a:spcBef>
                <a:spcPts val="1200"/>
              </a:spcBef>
              <a:buNone/>
            </a:pPr>
            <a:r>
              <a:rPr lang="en-US" sz="1900" i="1" dirty="0">
                <a:solidFill>
                  <a:srgbClr val="595959"/>
                </a:solidFill>
                <a:latin typeface="Arial"/>
                <a:cs typeface="Arial"/>
              </a:rPr>
              <a:t>Khóa học giúp bạn đặt câu hỏi đúng cách, trả lời và công bố câu trả lời.</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Tám thứ Bảy, tám buổi học</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cxnSp>
        <p:nvCxnSpPr>
          <p:cNvPr id="100" name="Line"/>
          <p:cNvCxnSpPr/>
          <p:nvPr/>
        </p:nvCxnSpPr>
        <p:spPr>
          <a:xfrm>
            <a:off x="1203960" y="3509280"/>
            <a:ext cx="9144000" cy="0"/>
          </a:xfrm>
          <a:prstGeom prst="straightConnector1">
            <a:avLst/>
          </a:prstGeom>
          <a:ln w="127000" cap="rnd">
            <a:solidFill>
              <a:srgbClr val="D5DDE1"/>
            </a:solidFill>
            <a:round/>
          </a:ln>
        </p:spPr>
      </p:cxnSp>
      <p:sp>
        <p:nvSpPr>
          <p:cNvPr id="101" name="Text"/>
          <p:cNvSpPr/>
          <p:nvPr/>
        </p:nvSpPr>
        <p:spPr>
          <a:xfrm>
            <a:off x="655320" y="1909080"/>
            <a:ext cx="2286000" cy="731520"/>
          </a:xfrm>
          <a:prstGeom prst="rect">
            <a:avLst/>
          </a:prstGeom>
          <a:noFill/>
          <a:ln>
            <a:noFill/>
          </a:ln>
        </p:spPr>
        <p:txBody>
          <a:bodyPr wrap="square" lIns="54864" tIns="54864" rIns="54864" bIns="54864" rtlCol="0" anchor="ctr">
            <a:noAutofit/>
          </a:bodyPr>
          <a:lstStyle/>
          <a:p>
            <a:pPr marL="0" indent="0" algn="ctr">
              <a:lnSpc>
                <a:spcPct val="100000"/>
              </a:lnSpc>
              <a:buNone/>
            </a:pPr>
            <a:r>
              <a:rPr lang="en-US" sz="1700" b="1" dirty="0">
                <a:solidFill>
                  <a:srgbClr val="0D7377"/>
                </a:solidFill>
                <a:latin typeface="Arial"/>
                <a:cs typeface="Arial"/>
              </a:rPr>
              <a:t>Tuần 1-2</a:t>
            </a:r>
          </a:p>
          <a:p>
            <a:pPr marL="0" indent="0" algn="ctr">
              <a:lnSpc>
                <a:spcPct val="100000"/>
              </a:lnSpc>
              <a:spcBef>
                <a:spcPts val="300"/>
              </a:spcBef>
              <a:buNone/>
            </a:pPr>
            <a:r>
              <a:rPr lang="en-US" sz="1400" dirty="0">
                <a:solidFill>
                  <a:srgbClr val="595959"/>
                </a:solidFill>
                <a:latin typeface="Arial"/>
                <a:cs typeface="Arial"/>
              </a:rPr>
              <a:t>Câu hỏi và bằng chứng</a:t>
            </a:r>
          </a:p>
        </p:txBody>
      </p:sp>
      <p:sp>
        <p:nvSpPr>
          <p:cNvPr id="102" name="Box"/>
          <p:cNvSpPr/>
          <p:nvPr/>
        </p:nvSpPr>
        <p:spPr>
          <a:xfrm>
            <a:off x="701040" y="2695464"/>
            <a:ext cx="2194560" cy="64008"/>
          </a:xfrm>
          <a:prstGeom prst="roundRect">
            <a:avLst>
              <a:gd name="adj" fmla="val 50000"/>
            </a:avLst>
          </a:prstGeom>
          <a:solidFill>
            <a:srgbClr val="0D7377"/>
          </a:solidFill>
          <a:ln>
            <a:noFill/>
          </a:ln>
        </p:spPr>
        <p:txBody>
          <a:bodyPr wrap="square" lIns="54864" tIns="54864" rIns="54864" bIns="54864" rtlCol="0" anchor="ctr">
            <a:noAutofit/>
          </a:bodyPr>
          <a:lstStyle/>
          <a:p>
            <a:endParaRPr lang="en-US"/>
          </a:p>
        </p:txBody>
      </p:sp>
      <p:sp>
        <p:nvSpPr>
          <p:cNvPr id="103" name="Text"/>
          <p:cNvSpPr/>
          <p:nvPr/>
        </p:nvSpPr>
        <p:spPr>
          <a:xfrm>
            <a:off x="3032760" y="1909080"/>
            <a:ext cx="2286000" cy="731520"/>
          </a:xfrm>
          <a:prstGeom prst="rect">
            <a:avLst/>
          </a:prstGeom>
          <a:noFill/>
          <a:ln>
            <a:noFill/>
          </a:ln>
        </p:spPr>
        <p:txBody>
          <a:bodyPr wrap="square" lIns="54864" tIns="54864" rIns="54864" bIns="54864" rtlCol="0" anchor="ctr">
            <a:noAutofit/>
          </a:bodyPr>
          <a:lstStyle/>
          <a:p>
            <a:pPr marL="0" indent="0" algn="ctr">
              <a:lnSpc>
                <a:spcPct val="100000"/>
              </a:lnSpc>
              <a:buNone/>
            </a:pPr>
            <a:r>
              <a:rPr lang="en-US" sz="1700" b="1" dirty="0">
                <a:solidFill>
                  <a:srgbClr val="0B376C"/>
                </a:solidFill>
                <a:latin typeface="Arial"/>
                <a:cs typeface="Arial"/>
              </a:rPr>
              <a:t>Tuần 3-4</a:t>
            </a:r>
          </a:p>
          <a:p>
            <a:pPr marL="0" indent="0" algn="ctr">
              <a:lnSpc>
                <a:spcPct val="100000"/>
              </a:lnSpc>
              <a:spcBef>
                <a:spcPts val="300"/>
              </a:spcBef>
              <a:buNone/>
            </a:pPr>
            <a:r>
              <a:rPr lang="en-US" sz="1400" dirty="0">
                <a:solidFill>
                  <a:srgbClr val="595959"/>
                </a:solidFill>
                <a:latin typeface="Arial"/>
                <a:cs typeface="Arial"/>
              </a:rPr>
              <a:t>Thiết kế và sai lệch</a:t>
            </a:r>
          </a:p>
        </p:txBody>
      </p:sp>
      <p:sp>
        <p:nvSpPr>
          <p:cNvPr id="104" name="Box"/>
          <p:cNvSpPr/>
          <p:nvPr/>
        </p:nvSpPr>
        <p:spPr>
          <a:xfrm>
            <a:off x="3078480" y="2695464"/>
            <a:ext cx="2194560" cy="64008"/>
          </a:xfrm>
          <a:prstGeom prst="roundRect">
            <a:avLst>
              <a:gd name="adj" fmla="val 50000"/>
            </a:avLst>
          </a:prstGeom>
          <a:solidFill>
            <a:srgbClr val="0B376C"/>
          </a:solidFill>
          <a:ln>
            <a:noFill/>
          </a:ln>
        </p:spPr>
        <p:txBody>
          <a:bodyPr wrap="square" lIns="54864" tIns="54864" rIns="54864" bIns="54864" rtlCol="0" anchor="ctr">
            <a:noAutofit/>
          </a:bodyPr>
          <a:lstStyle/>
          <a:p>
            <a:endParaRPr lang="en-US"/>
          </a:p>
        </p:txBody>
      </p:sp>
      <p:sp>
        <p:nvSpPr>
          <p:cNvPr id="105" name="Text"/>
          <p:cNvSpPr/>
          <p:nvPr/>
        </p:nvSpPr>
        <p:spPr>
          <a:xfrm>
            <a:off x="5410200" y="1909080"/>
            <a:ext cx="2286000" cy="731520"/>
          </a:xfrm>
          <a:prstGeom prst="rect">
            <a:avLst/>
          </a:prstGeom>
          <a:noFill/>
          <a:ln>
            <a:noFill/>
          </a:ln>
        </p:spPr>
        <p:txBody>
          <a:bodyPr wrap="square" lIns="54864" tIns="54864" rIns="54864" bIns="54864" rtlCol="0" anchor="ctr">
            <a:noAutofit/>
          </a:bodyPr>
          <a:lstStyle/>
          <a:p>
            <a:pPr marL="0" indent="0" algn="ctr">
              <a:lnSpc>
                <a:spcPct val="100000"/>
              </a:lnSpc>
              <a:buNone/>
            </a:pPr>
            <a:r>
              <a:rPr lang="en-US" sz="1700" b="1" dirty="0">
                <a:solidFill>
                  <a:srgbClr val="5FA39B"/>
                </a:solidFill>
                <a:latin typeface="Arial"/>
                <a:cs typeface="Arial"/>
              </a:rPr>
              <a:t>Tuần 5-6</a:t>
            </a:r>
          </a:p>
          <a:p>
            <a:pPr marL="0" indent="0" algn="ctr">
              <a:lnSpc>
                <a:spcPct val="100000"/>
              </a:lnSpc>
              <a:spcBef>
                <a:spcPts val="300"/>
              </a:spcBef>
              <a:buNone/>
            </a:pPr>
            <a:r>
              <a:rPr lang="en-US" sz="1400" dirty="0">
                <a:solidFill>
                  <a:srgbClr val="595959"/>
                </a:solidFill>
                <a:latin typeface="Arial"/>
                <a:cs typeface="Arial"/>
              </a:rPr>
              <a:t>Dữ liệu và phân tích</a:t>
            </a:r>
          </a:p>
        </p:txBody>
      </p:sp>
      <p:sp>
        <p:nvSpPr>
          <p:cNvPr id="106" name="Box"/>
          <p:cNvSpPr/>
          <p:nvPr/>
        </p:nvSpPr>
        <p:spPr>
          <a:xfrm>
            <a:off x="5455920" y="2695464"/>
            <a:ext cx="2194560" cy="64008"/>
          </a:xfrm>
          <a:prstGeom prst="roundRect">
            <a:avLst>
              <a:gd name="adj" fmla="val 50000"/>
            </a:avLst>
          </a:prstGeom>
          <a:solidFill>
            <a:srgbClr val="5FA39B"/>
          </a:solidFill>
          <a:ln>
            <a:noFill/>
          </a:ln>
        </p:spPr>
        <p:txBody>
          <a:bodyPr wrap="square" lIns="54864" tIns="54864" rIns="54864" bIns="54864" rtlCol="0" anchor="ctr">
            <a:noAutofit/>
          </a:bodyPr>
          <a:lstStyle/>
          <a:p>
            <a:endParaRPr lang="en-US"/>
          </a:p>
        </p:txBody>
      </p:sp>
      <p:sp>
        <p:nvSpPr>
          <p:cNvPr id="107" name="Text"/>
          <p:cNvSpPr/>
          <p:nvPr/>
        </p:nvSpPr>
        <p:spPr>
          <a:xfrm>
            <a:off x="7787640" y="1909080"/>
            <a:ext cx="2286000" cy="731520"/>
          </a:xfrm>
          <a:prstGeom prst="rect">
            <a:avLst/>
          </a:prstGeom>
          <a:noFill/>
          <a:ln>
            <a:noFill/>
          </a:ln>
        </p:spPr>
        <p:txBody>
          <a:bodyPr wrap="square" lIns="54864" tIns="54864" rIns="54864" bIns="54864" rtlCol="0" anchor="ctr">
            <a:noAutofit/>
          </a:bodyPr>
          <a:lstStyle/>
          <a:p>
            <a:pPr marL="0" indent="0" algn="ctr">
              <a:lnSpc>
                <a:spcPct val="100000"/>
              </a:lnSpc>
              <a:buNone/>
            </a:pPr>
            <a:r>
              <a:rPr lang="en-US" sz="1700" b="1" dirty="0">
                <a:solidFill>
                  <a:srgbClr val="0070C0"/>
                </a:solidFill>
                <a:latin typeface="Arial"/>
                <a:cs typeface="Arial"/>
              </a:rPr>
              <a:t>Tuần 7-8</a:t>
            </a:r>
          </a:p>
          <a:p>
            <a:pPr marL="0" indent="0" algn="ctr">
              <a:lnSpc>
                <a:spcPct val="100000"/>
              </a:lnSpc>
              <a:spcBef>
                <a:spcPts val="300"/>
              </a:spcBef>
              <a:buNone/>
            </a:pPr>
            <a:r>
              <a:rPr lang="en-US" sz="1400" dirty="0">
                <a:solidFill>
                  <a:srgbClr val="595959"/>
                </a:solidFill>
                <a:latin typeface="Arial"/>
                <a:cs typeface="Arial"/>
              </a:rPr>
              <a:t>Đạo đức, viết, công bố</a:t>
            </a:r>
          </a:p>
        </p:txBody>
      </p:sp>
      <p:sp>
        <p:nvSpPr>
          <p:cNvPr id="108" name="Box"/>
          <p:cNvSpPr/>
          <p:nvPr/>
        </p:nvSpPr>
        <p:spPr>
          <a:xfrm>
            <a:off x="7833360" y="2695464"/>
            <a:ext cx="2194560" cy="64008"/>
          </a:xfrm>
          <a:prstGeom prst="roundRect">
            <a:avLst>
              <a:gd name="adj" fmla="val 50000"/>
            </a:avLst>
          </a:prstGeom>
          <a:solidFill>
            <a:srgbClr val="0070C0"/>
          </a:solidFill>
          <a:ln>
            <a:noFill/>
          </a:ln>
        </p:spPr>
        <p:txBody>
          <a:bodyPr wrap="square" lIns="54864" tIns="54864" rIns="54864" bIns="54864" rtlCol="0" anchor="ctr">
            <a:noAutofit/>
          </a:bodyPr>
          <a:lstStyle/>
          <a:p>
            <a:endParaRPr lang="en-US"/>
          </a:p>
        </p:txBody>
      </p:sp>
      <p:sp>
        <p:nvSpPr>
          <p:cNvPr id="109" name="Ellipse"/>
          <p:cNvSpPr/>
          <p:nvPr/>
        </p:nvSpPr>
        <p:spPr>
          <a:xfrm>
            <a:off x="746760" y="3052080"/>
            <a:ext cx="914400" cy="914400"/>
          </a:xfrm>
          <a:prstGeom prst="ellipse">
            <a:avLst/>
          </a:prstGeom>
          <a:solidFill>
            <a:srgbClr val="0D7377"/>
          </a:solidFill>
          <a:ln w="31750">
            <a:solidFill>
              <a:srgbClr val="FFFFFF"/>
            </a:solidFill>
          </a:ln>
        </p:spPr>
        <p:txBody>
          <a:bodyPr wrap="square" lIns="54864" tIns="54864" rIns="54864" bIns="54864" rtlCol="0" anchor="ctr">
            <a:noAutofit/>
          </a:bodyPr>
          <a:lstStyle/>
          <a:p>
            <a:pPr marL="0" indent="0" algn="ctr">
              <a:lnSpc>
                <a:spcPct val="100000"/>
              </a:lnSpc>
              <a:buNone/>
            </a:pPr>
            <a:r>
              <a:rPr lang="en-US" sz="2600" b="1" dirty="0">
                <a:solidFill>
                  <a:srgbClr val="FFFFFF"/>
                </a:solidFill>
                <a:latin typeface="Arial"/>
                <a:cs typeface="Arial"/>
              </a:rPr>
              <a:t>1</a:t>
            </a:r>
          </a:p>
        </p:txBody>
      </p:sp>
      <p:sp>
        <p:nvSpPr>
          <p:cNvPr id="110" name="Text"/>
          <p:cNvSpPr/>
          <p:nvPr/>
        </p:nvSpPr>
        <p:spPr>
          <a:xfrm>
            <a:off x="609600" y="4057920"/>
            <a:ext cx="1188720" cy="731520"/>
          </a:xfrm>
          <a:prstGeom prst="rect">
            <a:avLst/>
          </a:prstGeom>
          <a:noFill/>
          <a:ln>
            <a:noFill/>
          </a:ln>
        </p:spPr>
        <p:txBody>
          <a:bodyPr wrap="square" lIns="54864" tIns="54864" rIns="54864" bIns="54864" rtlCol="0" anchor="t">
            <a:noAutofit/>
          </a:bodyPr>
          <a:lstStyle/>
          <a:p>
            <a:pPr marL="0" indent="0" algn="ctr">
              <a:lnSpc>
                <a:spcPct val="100000"/>
              </a:lnSpc>
              <a:buNone/>
            </a:pPr>
            <a:r>
              <a:rPr lang="en-US" sz="1500" b="1" dirty="0">
                <a:solidFill>
                  <a:srgbClr val="0D7377"/>
                </a:solidFill>
                <a:latin typeface="Arial"/>
                <a:cs typeface="Arial"/>
              </a:rPr>
              <a:t>Hỏi</a:t>
            </a:r>
          </a:p>
        </p:txBody>
      </p:sp>
      <p:sp>
        <p:nvSpPr>
          <p:cNvPr id="111" name="Ellipse"/>
          <p:cNvSpPr/>
          <p:nvPr/>
        </p:nvSpPr>
        <p:spPr>
          <a:xfrm>
            <a:off x="1935480" y="3052080"/>
            <a:ext cx="914400" cy="914400"/>
          </a:xfrm>
          <a:prstGeom prst="ellipse">
            <a:avLst/>
          </a:prstGeom>
          <a:solidFill>
            <a:srgbClr val="0D7377"/>
          </a:solidFill>
          <a:ln w="31750">
            <a:solidFill>
              <a:srgbClr val="FFFFFF"/>
            </a:solidFill>
          </a:ln>
        </p:spPr>
        <p:txBody>
          <a:bodyPr wrap="square" lIns="54864" tIns="54864" rIns="54864" bIns="54864" rtlCol="0" anchor="ctr">
            <a:noAutofit/>
          </a:bodyPr>
          <a:lstStyle/>
          <a:p>
            <a:pPr marL="0" indent="0" algn="ctr">
              <a:lnSpc>
                <a:spcPct val="100000"/>
              </a:lnSpc>
              <a:buNone/>
            </a:pPr>
            <a:r>
              <a:rPr lang="en-US" sz="2600" b="1" dirty="0">
                <a:solidFill>
                  <a:srgbClr val="FFFFFF"/>
                </a:solidFill>
                <a:latin typeface="Arial"/>
                <a:cs typeface="Arial"/>
              </a:rPr>
              <a:t>2</a:t>
            </a:r>
          </a:p>
        </p:txBody>
      </p:sp>
      <p:sp>
        <p:nvSpPr>
          <p:cNvPr id="112" name="Text"/>
          <p:cNvSpPr/>
          <p:nvPr/>
        </p:nvSpPr>
        <p:spPr>
          <a:xfrm>
            <a:off x="1798320" y="4057920"/>
            <a:ext cx="1188720" cy="731520"/>
          </a:xfrm>
          <a:prstGeom prst="rect">
            <a:avLst/>
          </a:prstGeom>
          <a:noFill/>
          <a:ln>
            <a:noFill/>
          </a:ln>
        </p:spPr>
        <p:txBody>
          <a:bodyPr wrap="square" lIns="54864" tIns="54864" rIns="54864" bIns="54864" rtlCol="0" anchor="t">
            <a:noAutofit/>
          </a:bodyPr>
          <a:lstStyle/>
          <a:p>
            <a:pPr marL="0" indent="0" algn="ctr">
              <a:lnSpc>
                <a:spcPct val="100000"/>
              </a:lnSpc>
              <a:buNone/>
            </a:pPr>
            <a:r>
              <a:rPr lang="en-US" sz="1500" b="1" dirty="0">
                <a:solidFill>
                  <a:srgbClr val="0D7377"/>
                </a:solidFill>
                <a:latin typeface="Arial"/>
                <a:cs typeface="Arial"/>
              </a:rPr>
              <a:t>Tìm và đọc</a:t>
            </a:r>
          </a:p>
        </p:txBody>
      </p:sp>
      <p:sp>
        <p:nvSpPr>
          <p:cNvPr id="113" name="Ellipse"/>
          <p:cNvSpPr/>
          <p:nvPr/>
        </p:nvSpPr>
        <p:spPr>
          <a:xfrm>
            <a:off x="3124200" y="3052080"/>
            <a:ext cx="914400" cy="914400"/>
          </a:xfrm>
          <a:prstGeom prst="ellipse">
            <a:avLst/>
          </a:prstGeom>
          <a:solidFill>
            <a:srgbClr val="0B376C"/>
          </a:solidFill>
          <a:ln w="31750">
            <a:solidFill>
              <a:srgbClr val="FFFFFF"/>
            </a:solidFill>
          </a:ln>
        </p:spPr>
        <p:txBody>
          <a:bodyPr wrap="square" lIns="54864" tIns="54864" rIns="54864" bIns="54864" rtlCol="0" anchor="ctr">
            <a:noAutofit/>
          </a:bodyPr>
          <a:lstStyle/>
          <a:p>
            <a:pPr marL="0" indent="0" algn="ctr">
              <a:lnSpc>
                <a:spcPct val="100000"/>
              </a:lnSpc>
              <a:buNone/>
            </a:pPr>
            <a:r>
              <a:rPr lang="en-US" sz="2600" b="1" dirty="0">
                <a:solidFill>
                  <a:srgbClr val="FFFFFF"/>
                </a:solidFill>
                <a:latin typeface="Arial"/>
                <a:cs typeface="Arial"/>
              </a:rPr>
              <a:t>3</a:t>
            </a:r>
          </a:p>
        </p:txBody>
      </p:sp>
      <p:sp>
        <p:nvSpPr>
          <p:cNvPr id="114" name="Text"/>
          <p:cNvSpPr/>
          <p:nvPr/>
        </p:nvSpPr>
        <p:spPr>
          <a:xfrm>
            <a:off x="2987040" y="4057920"/>
            <a:ext cx="1188720" cy="731520"/>
          </a:xfrm>
          <a:prstGeom prst="rect">
            <a:avLst/>
          </a:prstGeom>
          <a:noFill/>
          <a:ln>
            <a:noFill/>
          </a:ln>
        </p:spPr>
        <p:txBody>
          <a:bodyPr wrap="square" lIns="54864" tIns="54864" rIns="54864" bIns="54864" rtlCol="0" anchor="t">
            <a:noAutofit/>
          </a:bodyPr>
          <a:lstStyle/>
          <a:p>
            <a:pPr marL="0" indent="0" algn="ctr">
              <a:lnSpc>
                <a:spcPct val="100000"/>
              </a:lnSpc>
              <a:buNone/>
            </a:pPr>
            <a:r>
              <a:rPr lang="en-US" sz="1500" b="1" dirty="0">
                <a:solidFill>
                  <a:srgbClr val="0B376C"/>
                </a:solidFill>
                <a:latin typeface="Arial"/>
                <a:cs typeface="Arial"/>
              </a:rPr>
              <a:t>Thiết kế</a:t>
            </a:r>
          </a:p>
        </p:txBody>
      </p:sp>
      <p:sp>
        <p:nvSpPr>
          <p:cNvPr id="115" name="Ellipse"/>
          <p:cNvSpPr/>
          <p:nvPr/>
        </p:nvSpPr>
        <p:spPr>
          <a:xfrm>
            <a:off x="4312920" y="3052080"/>
            <a:ext cx="914400" cy="914400"/>
          </a:xfrm>
          <a:prstGeom prst="ellipse">
            <a:avLst/>
          </a:prstGeom>
          <a:solidFill>
            <a:srgbClr val="0B376C"/>
          </a:solidFill>
          <a:ln w="31750">
            <a:solidFill>
              <a:srgbClr val="FFFFFF"/>
            </a:solidFill>
          </a:ln>
        </p:spPr>
        <p:txBody>
          <a:bodyPr wrap="square" lIns="54864" tIns="54864" rIns="54864" bIns="54864" rtlCol="0" anchor="ctr">
            <a:noAutofit/>
          </a:bodyPr>
          <a:lstStyle/>
          <a:p>
            <a:pPr marL="0" indent="0" algn="ctr">
              <a:lnSpc>
                <a:spcPct val="100000"/>
              </a:lnSpc>
              <a:buNone/>
            </a:pPr>
            <a:r>
              <a:rPr lang="en-US" sz="2600" b="1" dirty="0">
                <a:solidFill>
                  <a:srgbClr val="FFFFFF"/>
                </a:solidFill>
                <a:latin typeface="Arial"/>
                <a:cs typeface="Arial"/>
              </a:rPr>
              <a:t>4</a:t>
            </a:r>
          </a:p>
        </p:txBody>
      </p:sp>
      <p:sp>
        <p:nvSpPr>
          <p:cNvPr id="116" name="Text"/>
          <p:cNvSpPr/>
          <p:nvPr/>
        </p:nvSpPr>
        <p:spPr>
          <a:xfrm>
            <a:off x="4175760" y="4057920"/>
            <a:ext cx="1188720" cy="731520"/>
          </a:xfrm>
          <a:prstGeom prst="rect">
            <a:avLst/>
          </a:prstGeom>
          <a:noFill/>
          <a:ln>
            <a:noFill/>
          </a:ln>
        </p:spPr>
        <p:txBody>
          <a:bodyPr wrap="square" lIns="54864" tIns="54864" rIns="54864" bIns="54864" rtlCol="0" anchor="t">
            <a:noAutofit/>
          </a:bodyPr>
          <a:lstStyle/>
          <a:p>
            <a:pPr marL="0" indent="0" algn="ctr">
              <a:lnSpc>
                <a:spcPct val="100000"/>
              </a:lnSpc>
              <a:buNone/>
            </a:pPr>
            <a:r>
              <a:rPr lang="en-US" sz="1500" b="1" dirty="0">
                <a:solidFill>
                  <a:srgbClr val="0B376C"/>
                </a:solidFill>
                <a:latin typeface="Arial"/>
                <a:cs typeface="Arial"/>
              </a:rPr>
              <a:t>Sai lệch và tác động</a:t>
            </a:r>
          </a:p>
        </p:txBody>
      </p:sp>
      <p:sp>
        <p:nvSpPr>
          <p:cNvPr id="117" name="Ellipse"/>
          <p:cNvSpPr/>
          <p:nvPr/>
        </p:nvSpPr>
        <p:spPr>
          <a:xfrm>
            <a:off x="5501640" y="3052080"/>
            <a:ext cx="914400" cy="914400"/>
          </a:xfrm>
          <a:prstGeom prst="ellipse">
            <a:avLst/>
          </a:prstGeom>
          <a:solidFill>
            <a:srgbClr val="5FA39B"/>
          </a:solidFill>
          <a:ln w="31750">
            <a:solidFill>
              <a:srgbClr val="FFFFFF"/>
            </a:solidFill>
          </a:ln>
        </p:spPr>
        <p:txBody>
          <a:bodyPr wrap="square" lIns="54864" tIns="54864" rIns="54864" bIns="54864" rtlCol="0" anchor="ctr">
            <a:noAutofit/>
          </a:bodyPr>
          <a:lstStyle/>
          <a:p>
            <a:pPr marL="0" indent="0" algn="ctr">
              <a:lnSpc>
                <a:spcPct val="100000"/>
              </a:lnSpc>
              <a:buNone/>
            </a:pPr>
            <a:r>
              <a:rPr lang="en-US" sz="2600" b="1" dirty="0">
                <a:solidFill>
                  <a:srgbClr val="FFFFFF"/>
                </a:solidFill>
                <a:latin typeface="Arial"/>
                <a:cs typeface="Arial"/>
              </a:rPr>
              <a:t>5</a:t>
            </a:r>
          </a:p>
        </p:txBody>
      </p:sp>
      <p:sp>
        <p:nvSpPr>
          <p:cNvPr id="118" name="Text"/>
          <p:cNvSpPr/>
          <p:nvPr/>
        </p:nvSpPr>
        <p:spPr>
          <a:xfrm>
            <a:off x="5364480" y="4057920"/>
            <a:ext cx="1188720" cy="731520"/>
          </a:xfrm>
          <a:prstGeom prst="rect">
            <a:avLst/>
          </a:prstGeom>
          <a:noFill/>
          <a:ln>
            <a:noFill/>
          </a:ln>
        </p:spPr>
        <p:txBody>
          <a:bodyPr wrap="square" lIns="54864" tIns="54864" rIns="54864" bIns="54864" rtlCol="0" anchor="t">
            <a:noAutofit/>
          </a:bodyPr>
          <a:lstStyle/>
          <a:p>
            <a:pPr marL="0" indent="0" algn="ctr">
              <a:lnSpc>
                <a:spcPct val="100000"/>
              </a:lnSpc>
              <a:buNone/>
            </a:pPr>
            <a:r>
              <a:rPr lang="en-US" sz="1500" b="1" dirty="0">
                <a:solidFill>
                  <a:srgbClr val="5FA39B"/>
                </a:solidFill>
                <a:latin typeface="Arial"/>
                <a:cs typeface="Arial"/>
              </a:rPr>
              <a:t>Dữ liệu</a:t>
            </a:r>
          </a:p>
        </p:txBody>
      </p:sp>
      <p:sp>
        <p:nvSpPr>
          <p:cNvPr id="119" name="Ellipse"/>
          <p:cNvSpPr/>
          <p:nvPr/>
        </p:nvSpPr>
        <p:spPr>
          <a:xfrm>
            <a:off x="6690360" y="3052080"/>
            <a:ext cx="914400" cy="914400"/>
          </a:xfrm>
          <a:prstGeom prst="ellipse">
            <a:avLst/>
          </a:prstGeom>
          <a:solidFill>
            <a:srgbClr val="5FA39B"/>
          </a:solidFill>
          <a:ln w="31750">
            <a:solidFill>
              <a:srgbClr val="FFFFFF"/>
            </a:solidFill>
          </a:ln>
        </p:spPr>
        <p:txBody>
          <a:bodyPr wrap="square" lIns="54864" tIns="54864" rIns="54864" bIns="54864" rtlCol="0" anchor="ctr">
            <a:noAutofit/>
          </a:bodyPr>
          <a:lstStyle/>
          <a:p>
            <a:pPr marL="0" indent="0" algn="ctr">
              <a:lnSpc>
                <a:spcPct val="100000"/>
              </a:lnSpc>
              <a:buNone/>
            </a:pPr>
            <a:r>
              <a:rPr lang="en-US" sz="2600" b="1" dirty="0">
                <a:solidFill>
                  <a:srgbClr val="FFFFFF"/>
                </a:solidFill>
                <a:latin typeface="Arial"/>
                <a:cs typeface="Arial"/>
              </a:rPr>
              <a:t>6</a:t>
            </a:r>
          </a:p>
        </p:txBody>
      </p:sp>
      <p:sp>
        <p:nvSpPr>
          <p:cNvPr id="120" name="Text"/>
          <p:cNvSpPr/>
          <p:nvPr/>
        </p:nvSpPr>
        <p:spPr>
          <a:xfrm>
            <a:off x="6553200" y="4057920"/>
            <a:ext cx="1188720" cy="731520"/>
          </a:xfrm>
          <a:prstGeom prst="rect">
            <a:avLst/>
          </a:prstGeom>
          <a:noFill/>
          <a:ln>
            <a:noFill/>
          </a:ln>
        </p:spPr>
        <p:txBody>
          <a:bodyPr wrap="square" lIns="54864" tIns="54864" rIns="54864" bIns="54864" rtlCol="0" anchor="t">
            <a:noAutofit/>
          </a:bodyPr>
          <a:lstStyle/>
          <a:p>
            <a:pPr marL="0" indent="0" algn="ctr">
              <a:lnSpc>
                <a:spcPct val="100000"/>
              </a:lnSpc>
              <a:buNone/>
            </a:pPr>
            <a:r>
              <a:rPr lang="en-US" sz="1500" b="1" dirty="0">
                <a:solidFill>
                  <a:srgbClr val="5FA39B"/>
                </a:solidFill>
                <a:latin typeface="Arial"/>
                <a:cs typeface="Arial"/>
              </a:rPr>
              <a:t>Phân tích</a:t>
            </a:r>
          </a:p>
        </p:txBody>
      </p:sp>
      <p:sp>
        <p:nvSpPr>
          <p:cNvPr id="121" name="Ellipse"/>
          <p:cNvSpPr/>
          <p:nvPr/>
        </p:nvSpPr>
        <p:spPr>
          <a:xfrm>
            <a:off x="7879080" y="3052080"/>
            <a:ext cx="914400" cy="914400"/>
          </a:xfrm>
          <a:prstGeom prst="ellipse">
            <a:avLst/>
          </a:prstGeom>
          <a:solidFill>
            <a:srgbClr val="0070C0"/>
          </a:solidFill>
          <a:ln w="31750">
            <a:solidFill>
              <a:srgbClr val="FFFFFF"/>
            </a:solidFill>
          </a:ln>
        </p:spPr>
        <p:txBody>
          <a:bodyPr wrap="square" lIns="54864" tIns="54864" rIns="54864" bIns="54864" rtlCol="0" anchor="ctr">
            <a:noAutofit/>
          </a:bodyPr>
          <a:lstStyle/>
          <a:p>
            <a:pPr marL="0" indent="0" algn="ctr">
              <a:lnSpc>
                <a:spcPct val="100000"/>
              </a:lnSpc>
              <a:buNone/>
            </a:pPr>
            <a:r>
              <a:rPr lang="en-US" sz="2600" b="1" dirty="0">
                <a:solidFill>
                  <a:srgbClr val="FFFFFF"/>
                </a:solidFill>
                <a:latin typeface="Arial"/>
                <a:cs typeface="Arial"/>
              </a:rPr>
              <a:t>7</a:t>
            </a:r>
          </a:p>
        </p:txBody>
      </p:sp>
      <p:sp>
        <p:nvSpPr>
          <p:cNvPr id="122" name="Text"/>
          <p:cNvSpPr/>
          <p:nvPr/>
        </p:nvSpPr>
        <p:spPr>
          <a:xfrm>
            <a:off x="7741920" y="4057920"/>
            <a:ext cx="1188720" cy="731520"/>
          </a:xfrm>
          <a:prstGeom prst="rect">
            <a:avLst/>
          </a:prstGeom>
          <a:noFill/>
          <a:ln>
            <a:noFill/>
          </a:ln>
        </p:spPr>
        <p:txBody>
          <a:bodyPr wrap="square" lIns="54864" tIns="54864" rIns="54864" bIns="54864" rtlCol="0" anchor="t">
            <a:noAutofit/>
          </a:bodyPr>
          <a:lstStyle/>
          <a:p>
            <a:pPr marL="0" indent="0" algn="ctr">
              <a:lnSpc>
                <a:spcPct val="100000"/>
              </a:lnSpc>
              <a:buNone/>
            </a:pPr>
            <a:r>
              <a:rPr lang="en-US" sz="1500" b="1" dirty="0">
                <a:solidFill>
                  <a:srgbClr val="0070C0"/>
                </a:solidFill>
                <a:latin typeface="Arial"/>
                <a:cs typeface="Arial"/>
              </a:rPr>
              <a:t>Bảo vệ và viết</a:t>
            </a:r>
          </a:p>
        </p:txBody>
      </p:sp>
      <p:sp>
        <p:nvSpPr>
          <p:cNvPr id="123" name="Ellipse"/>
          <p:cNvSpPr/>
          <p:nvPr/>
        </p:nvSpPr>
        <p:spPr>
          <a:xfrm>
            <a:off x="9067800" y="3052080"/>
            <a:ext cx="914400" cy="914400"/>
          </a:xfrm>
          <a:prstGeom prst="ellipse">
            <a:avLst/>
          </a:prstGeom>
          <a:solidFill>
            <a:srgbClr val="0070C0"/>
          </a:solidFill>
          <a:ln w="31750">
            <a:solidFill>
              <a:srgbClr val="FFFFFF"/>
            </a:solidFill>
          </a:ln>
        </p:spPr>
        <p:txBody>
          <a:bodyPr wrap="square" lIns="54864" tIns="54864" rIns="54864" bIns="54864" rtlCol="0" anchor="ctr">
            <a:noAutofit/>
          </a:bodyPr>
          <a:lstStyle/>
          <a:p>
            <a:pPr marL="0" indent="0" algn="ctr">
              <a:lnSpc>
                <a:spcPct val="100000"/>
              </a:lnSpc>
              <a:buNone/>
            </a:pPr>
            <a:r>
              <a:rPr lang="en-US" sz="2600" b="1" dirty="0">
                <a:solidFill>
                  <a:srgbClr val="FFFFFF"/>
                </a:solidFill>
                <a:latin typeface="Arial"/>
                <a:cs typeface="Arial"/>
              </a:rPr>
              <a:t>8</a:t>
            </a:r>
          </a:p>
        </p:txBody>
      </p:sp>
      <p:sp>
        <p:nvSpPr>
          <p:cNvPr id="124" name="Text"/>
          <p:cNvSpPr/>
          <p:nvPr/>
        </p:nvSpPr>
        <p:spPr>
          <a:xfrm>
            <a:off x="8930640" y="4057920"/>
            <a:ext cx="1188720" cy="731520"/>
          </a:xfrm>
          <a:prstGeom prst="rect">
            <a:avLst/>
          </a:prstGeom>
          <a:noFill/>
          <a:ln>
            <a:noFill/>
          </a:ln>
        </p:spPr>
        <p:txBody>
          <a:bodyPr wrap="square" lIns="54864" tIns="54864" rIns="54864" bIns="54864" rtlCol="0" anchor="t">
            <a:noAutofit/>
          </a:bodyPr>
          <a:lstStyle/>
          <a:p>
            <a:pPr marL="0" indent="0" algn="ctr">
              <a:lnSpc>
                <a:spcPct val="100000"/>
              </a:lnSpc>
              <a:buNone/>
            </a:pPr>
            <a:r>
              <a:rPr lang="en-US" sz="1500" b="1" dirty="0">
                <a:solidFill>
                  <a:srgbClr val="0070C0"/>
                </a:solidFill>
                <a:latin typeface="Arial"/>
                <a:cs typeface="Arial"/>
              </a:rPr>
              <a:t>Công bố</a:t>
            </a:r>
          </a:p>
        </p:txBody>
      </p:sp>
      <p:sp>
        <p:nvSpPr>
          <p:cNvPr id="125" name="Box"/>
          <p:cNvSpPr/>
          <p:nvPr/>
        </p:nvSpPr>
        <p:spPr>
          <a:xfrm>
            <a:off x="10302240" y="2777760"/>
            <a:ext cx="1371600" cy="1463040"/>
          </a:xfrm>
          <a:prstGeom prst="roundRect">
            <a:avLst>
              <a:gd name="adj" fmla="val 12000"/>
            </a:avLst>
          </a:prstGeom>
          <a:solidFill>
            <a:srgbClr val="055F56"/>
          </a:solidFill>
          <a:ln>
            <a:noFill/>
          </a:ln>
        </p:spPr>
        <p:txBody>
          <a:bodyPr wrap="square" lIns="54864" tIns="54864" rIns="54864" bIns="54864" rtlCol="0" anchor="ctr">
            <a:noAutofit/>
          </a:bodyPr>
          <a:lstStyle/>
          <a:p>
            <a:pPr marL="0" indent="0" algn="ctr">
              <a:lnSpc>
                <a:spcPct val="100000"/>
              </a:lnSpc>
              <a:buNone/>
            </a:pPr>
            <a:r>
              <a:rPr lang="en-US" sz="1500" b="1" dirty="0">
                <a:solidFill>
                  <a:srgbClr val="FFFFFF"/>
                </a:solidFill>
                <a:latin typeface="Arial"/>
                <a:cs typeface="Arial"/>
              </a:rPr>
              <a:t>Đề cương</a:t>
            </a:r>
          </a:p>
          <a:p>
            <a:pPr marL="0" indent="0" algn="ctr">
              <a:lnSpc>
                <a:spcPct val="100000"/>
              </a:lnSpc>
              <a:spcBef>
                <a:spcPts val="100"/>
              </a:spcBef>
              <a:buNone/>
            </a:pPr>
            <a:r>
              <a:rPr lang="en-US" sz="1500" b="1" dirty="0">
                <a:solidFill>
                  <a:srgbClr val="FFFFFF"/>
                </a:solidFill>
                <a:latin typeface="Arial"/>
                <a:cs typeface="Arial"/>
              </a:rPr>
              <a:t>+</a:t>
            </a:r>
          </a:p>
          <a:p>
            <a:pPr marL="0" indent="0" algn="ctr">
              <a:lnSpc>
                <a:spcPct val="100000"/>
              </a:lnSpc>
              <a:spcBef>
                <a:spcPts val="100"/>
              </a:spcBef>
              <a:buNone/>
            </a:pPr>
            <a:r>
              <a:rPr lang="en-US" sz="1500" b="1" dirty="0">
                <a:solidFill>
                  <a:srgbClr val="FFFFFF"/>
                </a:solidFill>
                <a:latin typeface="Arial"/>
                <a:cs typeface="Arial"/>
              </a:rPr>
              <a:t>Kết quả</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Khóa học này là Cấp độ 1 trong ba cấp độ</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70" name="CardHead"/>
          <p:cNvSpPr/>
          <p:nvPr/>
        </p:nvSpPr>
        <p:spPr>
          <a:xfrm>
            <a:off x="457200" y="1916666"/>
            <a:ext cx="3625866" cy="640000"/>
          </a:xfrm>
          <a:prstGeom prst="rect">
            <a:avLst/>
          </a:prstGeom>
          <a:solidFill>
            <a:srgbClr val="0D7377"/>
          </a:solidFill>
          <a:ln>
            <a:noFill/>
          </a:ln>
        </p:spPr>
        <p:txBody>
          <a:bodyPr wrap="square" lIns="91440" tIns="45720" rIns="91440" bIns="45720" rtlCol="0" anchor="ctr">
            <a:normAutofit/>
          </a:bodyPr>
          <a:lstStyle/>
          <a:p>
            <a:pPr marL="0" indent="0" algn="ctr">
              <a:buNone/>
            </a:pPr>
            <a:r>
              <a:rPr lang="en-US" sz="1900" b="1" dirty="0">
                <a:solidFill>
                  <a:srgbClr val="FFFFFF"/>
                </a:solidFill>
                <a:latin typeface="Arial"/>
                <a:cs typeface="Arial"/>
              </a:rPr>
              <a:t>Cấp độ 1  (khóa học này)</a:t>
            </a:r>
          </a:p>
        </p:txBody>
      </p:sp>
      <p:sp>
        <p:nvSpPr>
          <p:cNvPr id="71" name="CardBody"/>
          <p:cNvSpPr/>
          <p:nvPr/>
        </p:nvSpPr>
        <p:spPr>
          <a:xfrm>
            <a:off x="457200" y="2556666"/>
            <a:ext cx="3625866" cy="1300000"/>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750" b="1" dirty="0">
                <a:solidFill>
                  <a:srgbClr val="000000"/>
                </a:solidFill>
                <a:latin typeface="Arial"/>
                <a:cs typeface="Arial"/>
              </a:rPr>
              <a:t>Từ câu hỏi đến công bố</a:t>
            </a:r>
          </a:p>
          <a:p>
            <a:pPr marL="0" indent="0" algn="ctr">
              <a:lnSpc>
                <a:spcPct val="104000"/>
              </a:lnSpc>
              <a:spcBef>
                <a:spcPts val="400"/>
              </a:spcBef>
              <a:buNone/>
            </a:pPr>
            <a:r>
              <a:rPr lang="en-US" sz="1750" dirty="0">
                <a:solidFill>
                  <a:srgbClr val="000000"/>
                </a:solidFill>
                <a:latin typeface="Arial"/>
                <a:cs typeface="Arial"/>
              </a:rPr>
              <a:t>Hỏi, thiết kế, phân tích, viết và công bố</a:t>
            </a:r>
          </a:p>
        </p:txBody>
      </p:sp>
      <p:sp>
        <p:nvSpPr>
          <p:cNvPr id="72" name="CardHead"/>
          <p:cNvSpPr/>
          <p:nvPr/>
        </p:nvSpPr>
        <p:spPr>
          <a:xfrm>
            <a:off x="4283066" y="1916666"/>
            <a:ext cx="3625866" cy="640000"/>
          </a:xfrm>
          <a:prstGeom prst="rect">
            <a:avLst/>
          </a:prstGeom>
          <a:solidFill>
            <a:srgbClr val="0B376C"/>
          </a:solidFill>
          <a:ln>
            <a:noFill/>
          </a:ln>
        </p:spPr>
        <p:txBody>
          <a:bodyPr wrap="square" lIns="91440" tIns="45720" rIns="91440" bIns="45720" rtlCol="0" anchor="ctr">
            <a:normAutofit/>
          </a:bodyPr>
          <a:lstStyle/>
          <a:p>
            <a:pPr marL="0" indent="0" algn="ctr">
              <a:buNone/>
            </a:pPr>
            <a:r>
              <a:rPr lang="en-US" sz="1900" b="1" dirty="0">
                <a:solidFill>
                  <a:srgbClr val="FFFFFF"/>
                </a:solidFill>
                <a:latin typeface="Arial"/>
                <a:cs typeface="Arial"/>
              </a:rPr>
              <a:t>Cấp độ 2  (thực hành)</a:t>
            </a:r>
          </a:p>
        </p:txBody>
      </p:sp>
      <p:sp>
        <p:nvSpPr>
          <p:cNvPr id="73" name="CardBody"/>
          <p:cNvSpPr/>
          <p:nvPr/>
        </p:nvSpPr>
        <p:spPr>
          <a:xfrm>
            <a:off x="4283066" y="2556666"/>
            <a:ext cx="3625866" cy="1300000"/>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750" b="1" dirty="0">
                <a:solidFill>
                  <a:srgbClr val="000000"/>
                </a:solidFill>
                <a:latin typeface="Arial"/>
                <a:cs typeface="Arial"/>
              </a:rPr>
              <a:t>Mô hình thống kê bằng R</a:t>
            </a:r>
          </a:p>
          <a:p>
            <a:pPr marL="0" indent="0" algn="ctr">
              <a:lnSpc>
                <a:spcPct val="104000"/>
              </a:lnSpc>
              <a:spcBef>
                <a:spcPts val="400"/>
              </a:spcBef>
              <a:buNone/>
            </a:pPr>
            <a:r>
              <a:rPr lang="en-US" sz="1750" dirty="0">
                <a:solidFill>
                  <a:srgbClr val="000000"/>
                </a:solidFill>
                <a:latin typeface="Arial"/>
                <a:cs typeface="Arial"/>
              </a:rPr>
              <a:t>Bạn tự chạy phân tích</a:t>
            </a:r>
          </a:p>
        </p:txBody>
      </p:sp>
      <p:sp>
        <p:nvSpPr>
          <p:cNvPr id="74" name="CardHead"/>
          <p:cNvSpPr/>
          <p:nvPr/>
        </p:nvSpPr>
        <p:spPr>
          <a:xfrm>
            <a:off x="8108932" y="1916666"/>
            <a:ext cx="3625866" cy="640000"/>
          </a:xfrm>
          <a:prstGeom prst="rect">
            <a:avLst/>
          </a:prstGeom>
          <a:solidFill>
            <a:srgbClr val="04242F"/>
          </a:solidFill>
          <a:ln>
            <a:noFill/>
          </a:ln>
        </p:spPr>
        <p:txBody>
          <a:bodyPr wrap="square" lIns="91440" tIns="45720" rIns="91440" bIns="45720" rtlCol="0" anchor="ctr">
            <a:normAutofit/>
          </a:bodyPr>
          <a:lstStyle/>
          <a:p>
            <a:pPr marL="0" indent="0" algn="ctr">
              <a:buNone/>
            </a:pPr>
            <a:r>
              <a:rPr lang="en-US" sz="1900" b="1" dirty="0">
                <a:solidFill>
                  <a:srgbClr val="FFFFFF"/>
                </a:solidFill>
                <a:latin typeface="Arial"/>
                <a:cs typeface="Arial"/>
              </a:rPr>
              <a:t>Cấp độ 3  (nâng cao)</a:t>
            </a:r>
          </a:p>
        </p:txBody>
      </p:sp>
      <p:sp>
        <p:nvSpPr>
          <p:cNvPr id="75" name="CardBody"/>
          <p:cNvSpPr/>
          <p:nvPr/>
        </p:nvSpPr>
        <p:spPr>
          <a:xfrm>
            <a:off x="8108932" y="2556666"/>
            <a:ext cx="3625866" cy="1300000"/>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750" b="1" dirty="0">
                <a:solidFill>
                  <a:srgbClr val="000000"/>
                </a:solidFill>
                <a:latin typeface="Arial"/>
                <a:cs typeface="Arial"/>
              </a:rPr>
              <a:t>Phương pháp nâng cao</a:t>
            </a:r>
          </a:p>
          <a:p>
            <a:pPr marL="0" indent="0" algn="ctr">
              <a:lnSpc>
                <a:spcPct val="104000"/>
              </a:lnSpc>
              <a:spcBef>
                <a:spcPts val="400"/>
              </a:spcBef>
              <a:buNone/>
            </a:pPr>
            <a:r>
              <a:rPr lang="en-US" sz="1750" dirty="0">
                <a:solidFill>
                  <a:srgbClr val="000000"/>
                </a:solidFill>
                <a:latin typeface="Arial"/>
                <a:cs typeface="Arial"/>
              </a:rPr>
              <a:t>Hội thảo chuyên đề theo yêu cầu</a:t>
            </a:r>
          </a:p>
        </p:txBody>
      </p:sp>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ctr">
              <a:buNone/>
            </a:pPr>
            <a:r>
              <a:rPr lang="en-US" sz="1300" b="1" dirty="0">
                <a:solidFill>
                  <a:srgbClr val="FFFFFF"/>
                </a:solidFill>
                <a:latin typeface="Arial"/>
                <a:cs typeface="Arial"/>
              </a:rPr>
              <a:t>THÔNG ĐIỆP CHÍNH   </a:t>
            </a:r>
            <a:r>
              <a:rPr lang="en-US" sz="1550" dirty="0">
                <a:solidFill>
                  <a:srgbClr val="FFFFFF"/>
                </a:solidFill>
                <a:latin typeface="Arial"/>
                <a:cs typeface="Arial"/>
              </a:rPr>
              <a:t>Cấp độ 1 là khóa học này. Cấp độ 2 và 3 dành cho ai muốn học sâu hơn.</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Hai sản phẩm, mỗi người tự làm</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19" name="Intro"/>
          <p:cNvSpPr txBox="1"/>
          <p:nvPr/>
        </p:nvSpPr>
        <p:spPr>
          <a:xfrm>
            <a:off x="457200" y="1100000"/>
            <a:ext cx="11277600" cy="480000"/>
          </a:xfrm>
          <a:prstGeom prst="rect">
            <a:avLst/>
          </a:prstGeom>
          <a:noFill/>
          <a:ln>
            <a:noFill/>
          </a:ln>
        </p:spPr>
        <p:txBody>
          <a:bodyPr wrap="square" lIns="91440" tIns="45720" rIns="91440" bIns="45720" rtlCol="0" anchor="t"/>
          <a:lstStyle/>
          <a:p>
            <a:pPr marL="0" indent="0" algn="l">
              <a:buNone/>
            </a:pPr>
            <a:r>
              <a:rPr lang="en-US" sz="1700" i="1" dirty="0">
                <a:solidFill>
                  <a:srgbClr val="595959"/>
                </a:solidFill>
                <a:latin typeface="Arial"/>
                <a:cs typeface="Arial"/>
              </a:rPr>
              <a:t>Cả hai đều là bài cá nhân. Mỗi bản hướng dẫn nêu rõ yêu cầu và cách đánh giá.</a:t>
            </a:r>
          </a:p>
        </p:txBody>
      </p:sp>
      <p:sp>
        <p:nvSpPr>
          <p:cNvPr id="70" name="CardHead"/>
          <p:cNvSpPr/>
          <p:nvPr/>
        </p:nvSpPr>
        <p:spPr>
          <a:xfrm>
            <a:off x="457200" y="2001619"/>
            <a:ext cx="5538800" cy="640000"/>
          </a:xfrm>
          <a:prstGeom prst="rect">
            <a:avLst/>
          </a:prstGeom>
          <a:solidFill>
            <a:srgbClr val="0D7377"/>
          </a:solidFill>
          <a:ln>
            <a:noFill/>
          </a:ln>
        </p:spPr>
        <p:txBody>
          <a:bodyPr wrap="square" lIns="91440" tIns="45720" rIns="91440" bIns="45720" rtlCol="0" anchor="ctr">
            <a:normAutofit/>
          </a:bodyPr>
          <a:lstStyle/>
          <a:p>
            <a:pPr marL="0" indent="0" algn="ctr">
              <a:buNone/>
            </a:pPr>
            <a:r>
              <a:rPr lang="en-US" sz="1900" b="1" dirty="0">
                <a:solidFill>
                  <a:srgbClr val="FFFFFF"/>
                </a:solidFill>
                <a:latin typeface="Arial"/>
                <a:cs typeface="Arial"/>
              </a:rPr>
              <a:t>Đề cương nghiên cứu của bạn</a:t>
            </a:r>
          </a:p>
        </p:txBody>
      </p:sp>
      <p:sp>
        <p:nvSpPr>
          <p:cNvPr id="71" name="CardBody"/>
          <p:cNvSpPr/>
          <p:nvPr/>
        </p:nvSpPr>
        <p:spPr>
          <a:xfrm>
            <a:off x="457200" y="2641619"/>
            <a:ext cx="5538800" cy="1925141"/>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750" dirty="0">
                <a:solidFill>
                  <a:srgbClr val="000000"/>
                </a:solidFill>
                <a:latin typeface="Arial"/>
                <a:cs typeface="Arial"/>
              </a:rPr>
              <a:t>Về một câu hỏi từ chính khoa của bạn</a:t>
            </a:r>
          </a:p>
          <a:p>
            <a:pPr marL="0" indent="0" algn="ctr">
              <a:lnSpc>
                <a:spcPct val="104000"/>
              </a:lnSpc>
              <a:spcBef>
                <a:spcPts val="400"/>
              </a:spcBef>
              <a:buNone/>
            </a:pPr>
            <a:r>
              <a:rPr lang="en-US" sz="1750" dirty="0">
                <a:solidFill>
                  <a:srgbClr val="000000"/>
                </a:solidFill>
                <a:latin typeface="Arial"/>
                <a:cs typeface="Arial"/>
              </a:rPr>
              <a:t>Viết từng phần, từ Buổi 1 đến Buổi 7</a:t>
            </a:r>
          </a:p>
          <a:p>
            <a:pPr marL="0" indent="0" algn="ctr">
              <a:lnSpc>
                <a:spcPct val="104000"/>
              </a:lnSpc>
              <a:spcBef>
                <a:spcPts val="400"/>
              </a:spcBef>
              <a:buNone/>
            </a:pPr>
            <a:r>
              <a:rPr lang="en-US" sz="1750" dirty="0">
                <a:solidFill>
                  <a:srgbClr val="000000"/>
                </a:solidFill>
                <a:latin typeface="Arial"/>
                <a:cs typeface="Arial"/>
              </a:rPr>
              <a:t>Nộp ở Buổi 8 (khoảng 5 bạn tình nguyện trình bày)</a:t>
            </a:r>
          </a:p>
          <a:p>
            <a:pPr marL="0" indent="0" algn="ctr">
              <a:lnSpc>
                <a:spcPct val="104000"/>
              </a:lnSpc>
              <a:spcBef>
                <a:spcPts val="400"/>
              </a:spcBef>
              <a:buNone/>
            </a:pPr>
            <a:r>
              <a:rPr lang="en-US" sz="1750" dirty="0">
                <a:solidFill>
                  <a:srgbClr val="000000"/>
                </a:solidFill>
                <a:latin typeface="Arial"/>
                <a:cs typeface="Arial"/>
              </a:rPr>
              <a:t>Hướng dẫn viết đề cương: gửi trước Buổi 1</a:t>
            </a:r>
          </a:p>
        </p:txBody>
      </p:sp>
      <p:sp>
        <p:nvSpPr>
          <p:cNvPr id="72" name="CardHead"/>
          <p:cNvSpPr/>
          <p:nvPr/>
        </p:nvSpPr>
        <p:spPr>
          <a:xfrm>
            <a:off x="6196000" y="2001619"/>
            <a:ext cx="5538800" cy="640000"/>
          </a:xfrm>
          <a:prstGeom prst="rect">
            <a:avLst/>
          </a:prstGeom>
          <a:solidFill>
            <a:srgbClr val="0B376C"/>
          </a:solidFill>
          <a:ln>
            <a:noFill/>
          </a:ln>
        </p:spPr>
        <p:txBody>
          <a:bodyPr wrap="square" lIns="91440" tIns="45720" rIns="91440" bIns="45720" rtlCol="0" anchor="ctr">
            <a:normAutofit/>
          </a:bodyPr>
          <a:lstStyle/>
          <a:p>
            <a:pPr marL="0" indent="0" algn="ctr">
              <a:buNone/>
            </a:pPr>
            <a:r>
              <a:rPr lang="en-US" sz="1900" b="1" dirty="0">
                <a:solidFill>
                  <a:srgbClr val="FFFFFF"/>
                </a:solidFill>
                <a:latin typeface="Arial"/>
                <a:cs typeface="Arial"/>
              </a:rPr>
              <a:t>Phần Kết quả, sẵn sàng để nộp</a:t>
            </a:r>
          </a:p>
        </p:txBody>
      </p:sp>
      <p:sp>
        <p:nvSpPr>
          <p:cNvPr id="73" name="CardBody"/>
          <p:cNvSpPr/>
          <p:nvPr/>
        </p:nvSpPr>
        <p:spPr>
          <a:xfrm>
            <a:off x="6196000" y="2641619"/>
            <a:ext cx="5538800" cy="1925141"/>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750" dirty="0">
                <a:solidFill>
                  <a:srgbClr val="000000"/>
                </a:solidFill>
                <a:latin typeface="Arial"/>
                <a:cs typeface="Arial"/>
              </a:rPr>
              <a:t>Cho một câu hỏi của FLUID-ICU</a:t>
            </a:r>
          </a:p>
          <a:p>
            <a:pPr marL="0" indent="0" algn="ctr">
              <a:lnSpc>
                <a:spcPct val="104000"/>
              </a:lnSpc>
              <a:spcBef>
                <a:spcPts val="400"/>
              </a:spcBef>
              <a:buNone/>
            </a:pPr>
            <a:r>
              <a:rPr lang="en-US" sz="1750" dirty="0">
                <a:solidFill>
                  <a:srgbClr val="000000"/>
                </a:solidFill>
                <a:latin typeface="Arial"/>
                <a:cs typeface="Arial"/>
              </a:rPr>
              <a:t>Học viết mọi phần. Chỉ bắt buộc nộp phần Kết quả</a:t>
            </a:r>
          </a:p>
          <a:p>
            <a:pPr marL="0" indent="0" algn="ctr">
              <a:lnSpc>
                <a:spcPct val="104000"/>
              </a:lnSpc>
              <a:spcBef>
                <a:spcPts val="400"/>
              </a:spcBef>
              <a:buNone/>
            </a:pPr>
            <a:r>
              <a:rPr lang="en-US" sz="1750" dirty="0">
                <a:solidFill>
                  <a:srgbClr val="000000"/>
                </a:solidFill>
                <a:latin typeface="Arial"/>
                <a:cs typeface="Arial"/>
              </a:rPr>
              <a:t>Hướng dẫn viết bản thảo: chia sẻ ở Buổi 6</a:t>
            </a:r>
          </a:p>
        </p:txBody>
      </p:sp>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ctr">
              <a:buNone/>
            </a:pPr>
            <a:r>
              <a:rPr lang="en-US" sz="1300" b="1" dirty="0">
                <a:solidFill>
                  <a:srgbClr val="FFFFFF"/>
                </a:solidFill>
                <a:latin typeface="Arial"/>
                <a:cs typeface="Arial"/>
              </a:rPr>
              <a:t>THÔNG ĐIỆP CHÍNH   </a:t>
            </a:r>
            <a:r>
              <a:rPr lang="en-US" sz="1550" dirty="0">
                <a:solidFill>
                  <a:srgbClr val="FFFFFF"/>
                </a:solidFill>
                <a:latin typeface="Arial"/>
                <a:cs typeface="Arial"/>
              </a:rPr>
              <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Sau khóa học, bạn sẽ có thể</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70" name="CardHead"/>
          <p:cNvSpPr/>
          <p:nvPr/>
        </p:nvSpPr>
        <p:spPr>
          <a:xfrm>
            <a:off x="457200" y="1680240"/>
            <a:ext cx="2669400" cy="640000"/>
          </a:xfrm>
          <a:prstGeom prst="rect">
            <a:avLst/>
          </a:prstGeom>
          <a:solidFill>
            <a:srgbClr val="0D7377"/>
          </a:solidFill>
          <a:ln>
            <a:noFill/>
          </a:ln>
        </p:spPr>
        <p:txBody>
          <a:bodyPr wrap="square" lIns="91440" tIns="45720" rIns="91440" bIns="45720" rtlCol="0" anchor="ctr">
            <a:normAutofit/>
          </a:bodyPr>
          <a:lstStyle/>
          <a:p>
            <a:pPr marL="0" indent="0" algn="ctr">
              <a:buNone/>
            </a:pPr>
            <a:r>
              <a:rPr lang="en-US" sz="1700" b="1" dirty="0">
                <a:solidFill>
                  <a:srgbClr val="FFFFFF"/>
                </a:solidFill>
                <a:latin typeface="Arial"/>
                <a:cs typeface="Arial"/>
              </a:rPr>
              <a:t>Hỏi và tìm</a:t>
            </a:r>
          </a:p>
        </p:txBody>
      </p:sp>
      <p:sp>
        <p:nvSpPr>
          <p:cNvPr id="71" name="CardBody"/>
          <p:cNvSpPr/>
          <p:nvPr/>
        </p:nvSpPr>
        <p:spPr>
          <a:xfrm>
            <a:off x="457200" y="2320240"/>
            <a:ext cx="2669400" cy="2009280"/>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600" dirty="0">
                <a:solidFill>
                  <a:srgbClr val="000000"/>
                </a:solidFill>
                <a:latin typeface="Arial"/>
                <a:cs typeface="Arial"/>
              </a:rPr>
              <a:t>Biến một vấn đề thành câu hỏi rõ ràng</a:t>
            </a:r>
          </a:p>
          <a:p>
            <a:pPr marL="0" indent="0" algn="ctr">
              <a:lnSpc>
                <a:spcPct val="104000"/>
              </a:lnSpc>
              <a:spcBef>
                <a:spcPts val="400"/>
              </a:spcBef>
              <a:buNone/>
            </a:pPr>
            <a:r>
              <a:rPr lang="en-US" sz="1600" dirty="0">
                <a:solidFill>
                  <a:srgbClr val="000000"/>
                </a:solidFill>
                <a:latin typeface="Arial"/>
                <a:cs typeface="Arial"/>
              </a:rPr>
              <a:t>Tìm trên PubMed và quản lý tài liệu</a:t>
            </a:r>
          </a:p>
          <a:p>
            <a:pPr marL="0" indent="0" algn="ctr">
              <a:lnSpc>
                <a:spcPct val="104000"/>
              </a:lnSpc>
              <a:spcBef>
                <a:spcPts val="400"/>
              </a:spcBef>
              <a:buNone/>
            </a:pPr>
            <a:r>
              <a:rPr lang="en-US" sz="1600" dirty="0">
                <a:solidFill>
                  <a:srgbClr val="000000"/>
                </a:solidFill>
                <a:latin typeface="Arial"/>
                <a:cs typeface="Arial"/>
              </a:rPr>
              <a:t>Đọc một bài báo trong 15 phút</a:t>
            </a:r>
          </a:p>
        </p:txBody>
      </p:sp>
      <p:sp>
        <p:nvSpPr>
          <p:cNvPr id="72" name="CardHead"/>
          <p:cNvSpPr/>
          <p:nvPr/>
        </p:nvSpPr>
        <p:spPr>
          <a:xfrm>
            <a:off x="3326600" y="1680240"/>
            <a:ext cx="2669400" cy="640000"/>
          </a:xfrm>
          <a:prstGeom prst="rect">
            <a:avLst/>
          </a:prstGeom>
          <a:solidFill>
            <a:srgbClr val="0B376C"/>
          </a:solidFill>
          <a:ln>
            <a:noFill/>
          </a:ln>
        </p:spPr>
        <p:txBody>
          <a:bodyPr wrap="square" lIns="91440" tIns="45720" rIns="91440" bIns="45720" rtlCol="0" anchor="ctr">
            <a:normAutofit/>
          </a:bodyPr>
          <a:lstStyle/>
          <a:p>
            <a:pPr marL="0" indent="0" algn="ctr">
              <a:buNone/>
            </a:pPr>
            <a:r>
              <a:rPr lang="en-US" sz="1700" b="1" dirty="0">
                <a:solidFill>
                  <a:srgbClr val="FFFFFF"/>
                </a:solidFill>
                <a:latin typeface="Arial"/>
                <a:cs typeface="Arial"/>
              </a:rPr>
              <a:t>Thiết kế</a:t>
            </a:r>
          </a:p>
        </p:txBody>
      </p:sp>
      <p:sp>
        <p:nvSpPr>
          <p:cNvPr id="73" name="CardBody"/>
          <p:cNvSpPr/>
          <p:nvPr/>
        </p:nvSpPr>
        <p:spPr>
          <a:xfrm>
            <a:off x="3326600" y="2320240"/>
            <a:ext cx="2669400" cy="2009280"/>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600" dirty="0">
                <a:solidFill>
                  <a:srgbClr val="000000"/>
                </a:solidFill>
                <a:latin typeface="Arial"/>
                <a:cs typeface="Arial"/>
              </a:rPr>
              <a:t>Chọn thiết kế nghiên cứu</a:t>
            </a:r>
          </a:p>
          <a:p>
            <a:pPr marL="0" indent="0" algn="ctr">
              <a:lnSpc>
                <a:spcPct val="104000"/>
              </a:lnSpc>
              <a:spcBef>
                <a:spcPts val="400"/>
              </a:spcBef>
              <a:buNone/>
            </a:pPr>
            <a:r>
              <a:rPr lang="en-US" sz="1600" dirty="0">
                <a:solidFill>
                  <a:srgbClr val="000000"/>
                </a:solidFill>
                <a:latin typeface="Arial"/>
                <a:cs typeface="Arial"/>
              </a:rPr>
              <a:t>Nhận ra sai lệch</a:t>
            </a:r>
          </a:p>
          <a:p>
            <a:pPr marL="0" indent="0" algn="ctr">
              <a:lnSpc>
                <a:spcPct val="104000"/>
              </a:lnSpc>
              <a:spcBef>
                <a:spcPts val="400"/>
              </a:spcBef>
              <a:buNone/>
            </a:pPr>
            <a:r>
              <a:rPr lang="en-US" sz="1600" dirty="0">
                <a:solidFill>
                  <a:srgbClr val="000000"/>
                </a:solidFill>
                <a:latin typeface="Arial"/>
                <a:cs typeface="Arial"/>
              </a:rPr>
              <a:t>Đọc các chỉ số đo lường tác động chính</a:t>
            </a:r>
          </a:p>
        </p:txBody>
      </p:sp>
      <p:sp>
        <p:nvSpPr>
          <p:cNvPr id="74" name="CardHead"/>
          <p:cNvSpPr/>
          <p:nvPr/>
        </p:nvSpPr>
        <p:spPr>
          <a:xfrm>
            <a:off x="6196000" y="1680240"/>
            <a:ext cx="2669400" cy="640000"/>
          </a:xfrm>
          <a:prstGeom prst="rect">
            <a:avLst/>
          </a:prstGeom>
          <a:solidFill>
            <a:srgbClr val="5FA39B"/>
          </a:solidFill>
          <a:ln>
            <a:noFill/>
          </a:ln>
        </p:spPr>
        <p:txBody>
          <a:bodyPr wrap="square" lIns="91440" tIns="45720" rIns="91440" bIns="45720" rtlCol="0" anchor="ctr">
            <a:normAutofit/>
          </a:bodyPr>
          <a:lstStyle/>
          <a:p>
            <a:pPr marL="0" indent="0" algn="ctr">
              <a:buNone/>
            </a:pPr>
            <a:r>
              <a:rPr lang="en-US" sz="1700" b="1" dirty="0">
                <a:solidFill>
                  <a:srgbClr val="FFFFFF"/>
                </a:solidFill>
                <a:latin typeface="Arial"/>
                <a:cs typeface="Arial"/>
              </a:rPr>
              <a:t>Phân tích</a:t>
            </a:r>
          </a:p>
        </p:txBody>
      </p:sp>
      <p:sp>
        <p:nvSpPr>
          <p:cNvPr id="75" name="CardBody"/>
          <p:cNvSpPr/>
          <p:nvPr/>
        </p:nvSpPr>
        <p:spPr>
          <a:xfrm>
            <a:off x="6196000" y="2320240"/>
            <a:ext cx="2669400" cy="2009280"/>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600" dirty="0">
                <a:solidFill>
                  <a:srgbClr val="000000"/>
                </a:solidFill>
                <a:latin typeface="Arial"/>
                <a:cs typeface="Arial"/>
              </a:rPr>
              <a:t>Lên kế hoạch dữ liệu cần thu thập</a:t>
            </a:r>
          </a:p>
          <a:p>
            <a:pPr marL="0" indent="0" algn="ctr">
              <a:lnSpc>
                <a:spcPct val="104000"/>
              </a:lnSpc>
              <a:spcBef>
                <a:spcPts val="400"/>
              </a:spcBef>
              <a:buNone/>
            </a:pPr>
            <a:r>
              <a:rPr lang="en-US" sz="1600" dirty="0">
                <a:solidFill>
                  <a:srgbClr val="000000"/>
                </a:solidFill>
                <a:latin typeface="Arial"/>
                <a:cs typeface="Arial"/>
              </a:rPr>
              <a:t>Đọc kết quả một phân tích</a:t>
            </a:r>
          </a:p>
          <a:p>
            <a:pPr marL="0" indent="0" algn="ctr">
              <a:lnSpc>
                <a:spcPct val="104000"/>
              </a:lnSpc>
              <a:spcBef>
                <a:spcPts val="400"/>
              </a:spcBef>
              <a:buNone/>
            </a:pPr>
            <a:r>
              <a:rPr lang="en-US" sz="1600" dirty="0">
                <a:solidFill>
                  <a:srgbClr val="000000"/>
                </a:solidFill>
                <a:latin typeface="Arial"/>
                <a:cs typeface="Arial"/>
              </a:rPr>
              <a:t>Diễn giải một bộ dữ liệu thật</a:t>
            </a:r>
          </a:p>
        </p:txBody>
      </p:sp>
      <p:sp>
        <p:nvSpPr>
          <p:cNvPr id="76" name="CardHead"/>
          <p:cNvSpPr/>
          <p:nvPr/>
        </p:nvSpPr>
        <p:spPr>
          <a:xfrm>
            <a:off x="9065400" y="1680240"/>
            <a:ext cx="2669400" cy="640000"/>
          </a:xfrm>
          <a:prstGeom prst="rect">
            <a:avLst/>
          </a:prstGeom>
          <a:solidFill>
            <a:srgbClr val="0070C0"/>
          </a:solidFill>
          <a:ln>
            <a:noFill/>
          </a:ln>
        </p:spPr>
        <p:txBody>
          <a:bodyPr wrap="square" lIns="91440" tIns="45720" rIns="91440" bIns="45720" rtlCol="0" anchor="ctr">
            <a:normAutofit/>
          </a:bodyPr>
          <a:lstStyle/>
          <a:p>
            <a:pPr marL="0" indent="0" algn="ctr">
              <a:buNone/>
            </a:pPr>
            <a:r>
              <a:rPr lang="en-US" sz="1700" b="1" dirty="0">
                <a:solidFill>
                  <a:srgbClr val="FFFFFF"/>
                </a:solidFill>
                <a:latin typeface="Arial"/>
                <a:cs typeface="Arial"/>
              </a:rPr>
              <a:t>Viết và công bố</a:t>
            </a:r>
          </a:p>
        </p:txBody>
      </p:sp>
      <p:sp>
        <p:nvSpPr>
          <p:cNvPr id="77" name="CardBody"/>
          <p:cNvSpPr/>
          <p:nvPr/>
        </p:nvSpPr>
        <p:spPr>
          <a:xfrm>
            <a:off x="9065400" y="2320240"/>
            <a:ext cx="2669400" cy="2009280"/>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600" dirty="0">
                <a:solidFill>
                  <a:srgbClr val="000000"/>
                </a:solidFill>
                <a:latin typeface="Arial"/>
                <a:cs typeface="Arial"/>
              </a:rPr>
              <a:t>Lên kế hoạch xin phê duyệt đạo đức</a:t>
            </a:r>
          </a:p>
          <a:p>
            <a:pPr marL="0" indent="0" algn="ctr">
              <a:lnSpc>
                <a:spcPct val="104000"/>
              </a:lnSpc>
              <a:spcBef>
                <a:spcPts val="400"/>
              </a:spcBef>
              <a:buNone/>
            </a:pPr>
            <a:r>
              <a:rPr lang="en-US" sz="1600" dirty="0">
                <a:solidFill>
                  <a:srgbClr val="000000"/>
                </a:solidFill>
                <a:latin typeface="Arial"/>
                <a:cs typeface="Arial"/>
              </a:rPr>
              <a:t>Viết từng phần của bài báo</a:t>
            </a:r>
          </a:p>
          <a:p>
            <a:pPr marL="0" indent="0" algn="ctr">
              <a:lnSpc>
                <a:spcPct val="104000"/>
              </a:lnSpc>
              <a:spcBef>
                <a:spcPts val="400"/>
              </a:spcBef>
              <a:buNone/>
            </a:pPr>
            <a:r>
              <a:rPr lang="en-US" sz="1600" dirty="0">
                <a:solidFill>
                  <a:srgbClr val="000000"/>
                </a:solidFill>
                <a:latin typeface="Arial"/>
                <a:cs typeface="Arial"/>
              </a:rPr>
              <a:t>Nộp bài và trả lời phản biện</a:t>
            </a:r>
          </a:p>
        </p:txBody>
      </p:sp>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ctr">
              <a:buNone/>
            </a:pPr>
            <a:r>
              <a:rPr lang="en-US" sz="1300" b="1" dirty="0">
                <a:solidFill>
                  <a:srgbClr val="FFFFFF"/>
                </a:solidFill>
                <a:latin typeface="Arial"/>
                <a:cs typeface="Arial"/>
              </a:rPr>
              <a:t>THÔNG ĐIỆP CHÍNH   </a:t>
            </a:r>
            <a:r>
              <a:rPr lang="en-US" sz="1550" dirty="0">
                <a:solidFill>
                  <a:srgbClr val="FFFFFF"/>
                </a:solidFill>
                <a:latin typeface="Arial"/>
                <a:cs typeface="Arial"/>
              </a:rPr>
              <a:t>Hiểu và diễn giải: bạn sẽ không phải tự tính toán.</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Mỗi buổi học diễn ra như thế nào</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100" name="Box"/>
          <p:cNvSpPr/>
          <p:nvPr/>
        </p:nvSpPr>
        <p:spPr>
          <a:xfrm>
            <a:off x="563880" y="2336320"/>
            <a:ext cx="578104" cy="1554480"/>
          </a:xfrm>
          <a:prstGeom prst="rect">
            <a:avLst/>
          </a:prstGeom>
          <a:solidFill>
            <a:srgbClr val="8A99A3"/>
          </a:solidFill>
          <a:ln>
            <a:noFill/>
          </a:ln>
        </p:spPr>
        <p:txBody>
          <a:bodyPr wrap="square" lIns="27432" tIns="27432" rIns="27432" bIns="27432" rtlCol="0" anchor="ctr">
            <a:noAutofit/>
          </a:bodyPr>
          <a:lstStyle/>
          <a:p>
            <a:pPr marL="0" indent="0" algn="ctr">
              <a:lnSpc>
                <a:spcPct val="100000"/>
              </a:lnSpc>
              <a:buNone/>
            </a:pPr>
            <a:r>
              <a:rPr lang="en-US" sz="1300" b="1" dirty="0">
                <a:solidFill>
                  <a:srgbClr val="FFFFFF"/>
                </a:solidFill>
                <a:latin typeface="Arial"/>
                <a:cs typeface="Arial"/>
              </a:rPr>
              <a:t>Ôn tập</a:t>
            </a:r>
          </a:p>
        </p:txBody>
      </p:sp>
      <p:sp>
        <p:nvSpPr>
          <p:cNvPr id="101" name="Text"/>
          <p:cNvSpPr/>
          <p:nvPr/>
        </p:nvSpPr>
        <p:spPr>
          <a:xfrm>
            <a:off x="198120" y="3982240"/>
            <a:ext cx="731520" cy="365760"/>
          </a:xfrm>
          <a:prstGeom prst="rect">
            <a:avLst/>
          </a:prstGeom>
          <a:noFill/>
          <a:ln>
            <a:noFill/>
          </a:ln>
        </p:spPr>
        <p:txBody>
          <a:bodyPr wrap="square" lIns="54864" tIns="54864" rIns="54864" bIns="54864" rtlCol="0" anchor="ctr">
            <a:noAutofit/>
          </a:bodyPr>
          <a:lstStyle/>
          <a:p>
            <a:pPr marL="0" indent="0" algn="ctr">
              <a:lnSpc>
                <a:spcPct val="100000"/>
              </a:lnSpc>
              <a:buNone/>
            </a:pPr>
            <a:r>
              <a:rPr lang="en-US" sz="1400" dirty="0">
                <a:solidFill>
                  <a:srgbClr val="8A99A3"/>
                </a:solidFill>
                <a:latin typeface="Arial"/>
                <a:cs typeface="Arial"/>
              </a:rPr>
              <a:t>0:00</a:t>
            </a:r>
          </a:p>
        </p:txBody>
      </p:sp>
      <p:sp>
        <p:nvSpPr>
          <p:cNvPr id="102" name="Box"/>
          <p:cNvSpPr/>
          <p:nvPr/>
        </p:nvSpPr>
        <p:spPr>
          <a:xfrm>
            <a:off x="1178560" y="2336320"/>
            <a:ext cx="3651504" cy="1554480"/>
          </a:xfrm>
          <a:prstGeom prst="rect">
            <a:avLst/>
          </a:prstGeom>
          <a:solidFill>
            <a:srgbClr val="0D7377"/>
          </a:solidFill>
          <a:ln>
            <a:noFill/>
          </a:ln>
        </p:spPr>
        <p:txBody>
          <a:bodyPr wrap="square" lIns="27432" tIns="27432" rIns="27432" bIns="27432" rtlCol="0" anchor="ctr">
            <a:noAutofit/>
          </a:bodyPr>
          <a:lstStyle/>
          <a:p>
            <a:pPr marL="0" indent="0" algn="ctr">
              <a:lnSpc>
                <a:spcPct val="100000"/>
              </a:lnSpc>
              <a:buNone/>
            </a:pPr>
            <a:r>
              <a:rPr lang="en-US" sz="1800" b="1" dirty="0">
                <a:solidFill>
                  <a:srgbClr val="FFFFFF"/>
                </a:solidFill>
                <a:latin typeface="Arial"/>
                <a:cs typeface="Arial"/>
              </a:rPr>
              <a:t>Học, kiểm tra, thực hành (A)</a:t>
            </a:r>
          </a:p>
        </p:txBody>
      </p:sp>
      <p:sp>
        <p:nvSpPr>
          <p:cNvPr id="103" name="Text"/>
          <p:cNvSpPr/>
          <p:nvPr/>
        </p:nvSpPr>
        <p:spPr>
          <a:xfrm>
            <a:off x="812800" y="3982240"/>
            <a:ext cx="731520" cy="365760"/>
          </a:xfrm>
          <a:prstGeom prst="rect">
            <a:avLst/>
          </a:prstGeom>
          <a:noFill/>
          <a:ln>
            <a:noFill/>
          </a:ln>
        </p:spPr>
        <p:txBody>
          <a:bodyPr wrap="square" lIns="54864" tIns="54864" rIns="54864" bIns="54864" rtlCol="0" anchor="ctr">
            <a:noAutofit/>
          </a:bodyPr>
          <a:lstStyle/>
          <a:p>
            <a:pPr marL="0" indent="0" algn="ctr">
              <a:lnSpc>
                <a:spcPct val="100000"/>
              </a:lnSpc>
              <a:buNone/>
            </a:pPr>
            <a:r>
              <a:rPr lang="en-US" sz="1400" dirty="0">
                <a:solidFill>
                  <a:srgbClr val="8A99A3"/>
                </a:solidFill>
                <a:latin typeface="Arial"/>
                <a:cs typeface="Arial"/>
              </a:rPr>
              <a:t>0:10</a:t>
            </a:r>
          </a:p>
        </p:txBody>
      </p:sp>
      <p:sp>
        <p:nvSpPr>
          <p:cNvPr id="104" name="Box"/>
          <p:cNvSpPr/>
          <p:nvPr/>
        </p:nvSpPr>
        <p:spPr>
          <a:xfrm>
            <a:off x="4866640" y="2336320"/>
            <a:ext cx="885444" cy="1554480"/>
          </a:xfrm>
          <a:prstGeom prst="rect">
            <a:avLst/>
          </a:prstGeom>
          <a:solidFill>
            <a:srgbClr val="D5DDE1"/>
          </a:solidFill>
          <a:ln>
            <a:noFill/>
          </a:ln>
        </p:spPr>
        <p:txBody>
          <a:bodyPr wrap="square" lIns="27432" tIns="27432" rIns="27432" bIns="27432" rtlCol="0" anchor="ctr">
            <a:noAutofit/>
          </a:bodyPr>
          <a:lstStyle/>
          <a:p>
            <a:pPr marL="0" indent="0" algn="ctr">
              <a:lnSpc>
                <a:spcPct val="100000"/>
              </a:lnSpc>
              <a:buNone/>
            </a:pPr>
            <a:r>
              <a:rPr lang="en-US" sz="1300" b="1" dirty="0">
                <a:solidFill>
                  <a:srgbClr val="000000"/>
                </a:solidFill>
                <a:latin typeface="Arial"/>
                <a:cs typeface="Arial"/>
              </a:rPr>
              <a:t>Giải lao</a:t>
            </a:r>
          </a:p>
        </p:txBody>
      </p:sp>
      <p:sp>
        <p:nvSpPr>
          <p:cNvPr id="105" name="Text"/>
          <p:cNvSpPr/>
          <p:nvPr/>
        </p:nvSpPr>
        <p:spPr>
          <a:xfrm>
            <a:off x="4500880" y="3982240"/>
            <a:ext cx="731520" cy="365760"/>
          </a:xfrm>
          <a:prstGeom prst="rect">
            <a:avLst/>
          </a:prstGeom>
          <a:noFill/>
          <a:ln>
            <a:noFill/>
          </a:ln>
        </p:spPr>
        <p:txBody>
          <a:bodyPr wrap="square" lIns="54864" tIns="54864" rIns="54864" bIns="54864" rtlCol="0" anchor="ctr">
            <a:noAutofit/>
          </a:bodyPr>
          <a:lstStyle/>
          <a:p>
            <a:pPr marL="0" indent="0" algn="ctr">
              <a:lnSpc>
                <a:spcPct val="100000"/>
              </a:lnSpc>
              <a:buNone/>
            </a:pPr>
            <a:r>
              <a:rPr lang="en-US" sz="1400" dirty="0">
                <a:solidFill>
                  <a:srgbClr val="8A99A3"/>
                </a:solidFill>
                <a:latin typeface="Arial"/>
                <a:cs typeface="Arial"/>
              </a:rPr>
              <a:t>1:10</a:t>
            </a:r>
          </a:p>
        </p:txBody>
      </p:sp>
      <p:sp>
        <p:nvSpPr>
          <p:cNvPr id="106" name="Box"/>
          <p:cNvSpPr/>
          <p:nvPr/>
        </p:nvSpPr>
        <p:spPr>
          <a:xfrm>
            <a:off x="5788660" y="2336320"/>
            <a:ext cx="3651504" cy="1554480"/>
          </a:xfrm>
          <a:prstGeom prst="rect">
            <a:avLst/>
          </a:prstGeom>
          <a:solidFill>
            <a:srgbClr val="0B376C"/>
          </a:solidFill>
          <a:ln>
            <a:noFill/>
          </a:ln>
        </p:spPr>
        <p:txBody>
          <a:bodyPr wrap="square" lIns="27432" tIns="27432" rIns="27432" bIns="27432" rtlCol="0" anchor="ctr">
            <a:noAutofit/>
          </a:bodyPr>
          <a:lstStyle/>
          <a:p>
            <a:pPr marL="0" indent="0" algn="ctr">
              <a:lnSpc>
                <a:spcPct val="100000"/>
              </a:lnSpc>
              <a:buNone/>
            </a:pPr>
            <a:r>
              <a:rPr lang="en-US" sz="1800" b="1" dirty="0">
                <a:solidFill>
                  <a:srgbClr val="FFFFFF"/>
                </a:solidFill>
                <a:latin typeface="Arial"/>
                <a:cs typeface="Arial"/>
              </a:rPr>
              <a:t>Học, kiểm tra, thực hành (B)</a:t>
            </a:r>
          </a:p>
        </p:txBody>
      </p:sp>
      <p:sp>
        <p:nvSpPr>
          <p:cNvPr id="107" name="Text"/>
          <p:cNvSpPr/>
          <p:nvPr/>
        </p:nvSpPr>
        <p:spPr>
          <a:xfrm>
            <a:off x="5422900" y="3982240"/>
            <a:ext cx="731520" cy="365760"/>
          </a:xfrm>
          <a:prstGeom prst="rect">
            <a:avLst/>
          </a:prstGeom>
          <a:noFill/>
          <a:ln>
            <a:noFill/>
          </a:ln>
        </p:spPr>
        <p:txBody>
          <a:bodyPr wrap="square" lIns="54864" tIns="54864" rIns="54864" bIns="54864" rtlCol="0" anchor="ctr">
            <a:noAutofit/>
          </a:bodyPr>
          <a:lstStyle/>
          <a:p>
            <a:pPr marL="0" indent="0" algn="ctr">
              <a:lnSpc>
                <a:spcPct val="100000"/>
              </a:lnSpc>
              <a:buNone/>
            </a:pPr>
            <a:r>
              <a:rPr lang="en-US" sz="1400" dirty="0">
                <a:solidFill>
                  <a:srgbClr val="8A99A3"/>
                </a:solidFill>
                <a:latin typeface="Arial"/>
                <a:cs typeface="Arial"/>
              </a:rPr>
              <a:t>1:25</a:t>
            </a:r>
          </a:p>
        </p:txBody>
      </p:sp>
      <p:sp>
        <p:nvSpPr>
          <p:cNvPr id="108" name="Box"/>
          <p:cNvSpPr/>
          <p:nvPr/>
        </p:nvSpPr>
        <p:spPr>
          <a:xfrm>
            <a:off x="9476740" y="2336320"/>
            <a:ext cx="1807464" cy="1554480"/>
          </a:xfrm>
          <a:prstGeom prst="rect">
            <a:avLst/>
          </a:prstGeom>
          <a:solidFill>
            <a:srgbClr val="055F56"/>
          </a:solidFill>
          <a:ln>
            <a:noFill/>
          </a:ln>
        </p:spPr>
        <p:txBody>
          <a:bodyPr wrap="square" lIns="27432" tIns="27432" rIns="27432" bIns="27432" rtlCol="0" anchor="ctr">
            <a:noAutofit/>
          </a:bodyPr>
          <a:lstStyle/>
          <a:p>
            <a:pPr marL="0" indent="0" algn="ctr">
              <a:lnSpc>
                <a:spcPct val="100000"/>
              </a:lnSpc>
              <a:buNone/>
            </a:pPr>
            <a:r>
              <a:rPr lang="en-US" sz="1800" b="1" dirty="0">
                <a:solidFill>
                  <a:srgbClr val="FFFFFF"/>
                </a:solidFill>
                <a:latin typeface="Arial"/>
                <a:cs typeface="Arial"/>
              </a:rPr>
              <a:t>Xây dựng đề cương hoặc phần Kết quả</a:t>
            </a:r>
          </a:p>
        </p:txBody>
      </p:sp>
      <p:sp>
        <p:nvSpPr>
          <p:cNvPr id="109" name="Text"/>
          <p:cNvSpPr/>
          <p:nvPr/>
        </p:nvSpPr>
        <p:spPr>
          <a:xfrm>
            <a:off x="9110980" y="3982240"/>
            <a:ext cx="731520" cy="365760"/>
          </a:xfrm>
          <a:prstGeom prst="rect">
            <a:avLst/>
          </a:prstGeom>
          <a:noFill/>
          <a:ln>
            <a:noFill/>
          </a:ln>
        </p:spPr>
        <p:txBody>
          <a:bodyPr wrap="square" lIns="54864" tIns="54864" rIns="54864" bIns="54864" rtlCol="0" anchor="ctr">
            <a:noAutofit/>
          </a:bodyPr>
          <a:lstStyle/>
          <a:p>
            <a:pPr marL="0" indent="0" algn="ctr">
              <a:lnSpc>
                <a:spcPct val="100000"/>
              </a:lnSpc>
              <a:buNone/>
            </a:pPr>
            <a:r>
              <a:rPr lang="en-US" sz="1400" dirty="0">
                <a:solidFill>
                  <a:srgbClr val="8A99A3"/>
                </a:solidFill>
                <a:latin typeface="Arial"/>
                <a:cs typeface="Arial"/>
              </a:rPr>
              <a:t>2:25</a:t>
            </a:r>
          </a:p>
        </p:txBody>
      </p:sp>
      <p:sp>
        <p:nvSpPr>
          <p:cNvPr id="110" name="Box"/>
          <p:cNvSpPr/>
          <p:nvPr/>
        </p:nvSpPr>
        <p:spPr>
          <a:xfrm>
            <a:off x="11320780" y="2336320"/>
            <a:ext cx="270764" cy="1554480"/>
          </a:xfrm>
          <a:prstGeom prst="rect">
            <a:avLst/>
          </a:prstGeom>
          <a:solidFill>
            <a:srgbClr val="8A99A3"/>
          </a:solidFill>
          <a:ln>
            <a:noFill/>
          </a:ln>
        </p:spPr>
        <p:txBody>
          <a:bodyPr wrap="square" lIns="27432" tIns="27432" rIns="27432" bIns="27432" rtlCol="0" anchor="ctr">
            <a:noAutofit/>
          </a:bodyPr>
          <a:lstStyle/>
          <a:p>
            <a:endParaRPr lang="en-US"/>
          </a:p>
        </p:txBody>
      </p:sp>
      <p:sp>
        <p:nvSpPr>
          <p:cNvPr id="111" name="Text"/>
          <p:cNvSpPr/>
          <p:nvPr/>
        </p:nvSpPr>
        <p:spPr>
          <a:xfrm>
            <a:off x="11216640" y="3982240"/>
            <a:ext cx="731520" cy="365760"/>
          </a:xfrm>
          <a:prstGeom prst="rect">
            <a:avLst/>
          </a:prstGeom>
          <a:noFill/>
          <a:ln>
            <a:noFill/>
          </a:ln>
        </p:spPr>
        <p:txBody>
          <a:bodyPr wrap="square" lIns="54864" tIns="54864" rIns="54864" bIns="54864" rtlCol="0" anchor="ctr">
            <a:noAutofit/>
          </a:bodyPr>
          <a:lstStyle/>
          <a:p>
            <a:pPr marL="0" indent="0" algn="ctr">
              <a:lnSpc>
                <a:spcPct val="100000"/>
              </a:lnSpc>
              <a:buNone/>
            </a:pPr>
            <a:r>
              <a:rPr lang="en-US" sz="1400" dirty="0">
                <a:solidFill>
                  <a:srgbClr val="8A99A3"/>
                </a:solidFill>
                <a:latin typeface="Arial"/>
                <a:cs typeface="Arial"/>
              </a:rPr>
              <a:t>3:00</a:t>
            </a:r>
          </a:p>
        </p:txBody>
      </p:sp>
      <p:sp>
        <p:nvSpPr>
          <p:cNvPr id="112" name="Text"/>
          <p:cNvSpPr/>
          <p:nvPr/>
        </p:nvSpPr>
        <p:spPr>
          <a:xfrm>
            <a:off x="10165080" y="1879120"/>
            <a:ext cx="1463040" cy="365760"/>
          </a:xfrm>
          <a:prstGeom prst="rect">
            <a:avLst/>
          </a:prstGeom>
          <a:noFill/>
          <a:ln>
            <a:noFill/>
          </a:ln>
        </p:spPr>
        <p:txBody>
          <a:bodyPr wrap="square" lIns="54864" tIns="54864" rIns="54864" bIns="54864" rtlCol="0" anchor="ctr">
            <a:noAutofit/>
          </a:bodyPr>
          <a:lstStyle/>
          <a:p>
            <a:pPr marL="0" indent="0" algn="r">
              <a:lnSpc>
                <a:spcPct val="100000"/>
              </a:lnSpc>
              <a:buNone/>
            </a:pPr>
            <a:r>
              <a:rPr lang="en-US" sz="1400" dirty="0">
                <a:solidFill>
                  <a:srgbClr val="8A99A3"/>
                </a:solidFill>
                <a:latin typeface="Arial"/>
                <a:cs typeface="Arial"/>
              </a:rPr>
              <a:t>Tổng kết</a:t>
            </a:r>
          </a:p>
        </p:txBody>
      </p:sp>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ctr">
              <a:buNone/>
            </a:pPr>
            <a:r>
              <a:rPr lang="en-US" sz="1300" b="1" dirty="0">
                <a:solidFill>
                  <a:srgbClr val="FFFFFF"/>
                </a:solidFill>
                <a:latin typeface="Arial"/>
                <a:cs typeface="Arial"/>
              </a:rPr>
              <a:t>THÔNG ĐIỆP CHÍNH   </a:t>
            </a:r>
            <a:r>
              <a:rPr lang="en-US" sz="1550" dirty="0">
                <a:solidFill>
                  <a:srgbClr val="FFFFFF"/>
                </a:solidFill>
                <a:latin typeface="Arial"/>
                <a:cs typeface="Arial"/>
              </a:rPr>
              <a:t>Cứ 20 phút kiểm tra mức hiểu một lần. Slide bổ sung chỉ dùng khi còn thời gian.</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Viết đề cương của bạn từng phần một</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80" name="Step"/>
          <p:cNvSpPr/>
          <p:nvPr/>
        </p:nvSpPr>
        <p:spPr>
          <a:xfrm>
            <a:off x="457200" y="1220000"/>
            <a:ext cx="2303520" cy="760000"/>
          </a:xfrm>
          <a:prstGeom prst="homePlate">
            <a:avLst>
              <a:gd name="adj" fmla="val 28000"/>
            </a:avLst>
          </a:prstGeom>
          <a:solidFill>
            <a:srgbClr val="0D7377"/>
          </a:solidFill>
          <a:ln>
            <a:noFill/>
          </a:ln>
        </p:spPr>
        <p:txBody>
          <a:bodyPr wrap="square" lIns="200000" tIns="45720" rIns="200000" bIns="45720" rtlCol="0" anchor="ctr">
            <a:normAutofit/>
          </a:bodyPr>
          <a:lstStyle/>
          <a:p>
            <a:pPr marL="0" indent="0" algn="ctr">
              <a:buNone/>
            </a:pPr>
            <a:r>
              <a:rPr lang="en-US" sz="1400" b="1" dirty="0">
                <a:solidFill>
                  <a:srgbClr val="FFFFFF"/>
                </a:solidFill>
                <a:latin typeface="Arial"/>
                <a:cs typeface="Arial"/>
              </a:rPr>
              <a:t>Phần 1</a:t>
            </a:r>
          </a:p>
        </p:txBody>
      </p:sp>
      <p:sp>
        <p:nvSpPr>
          <p:cNvPr id="81" name="StepText"/>
          <p:cNvSpPr/>
          <p:nvPr/>
        </p:nvSpPr>
        <p:spPr>
          <a:xfrm>
            <a:off x="497200" y="2140000"/>
            <a:ext cx="2163520" cy="1463180"/>
          </a:xfrm>
          <a:prstGeom prst="rect">
            <a:avLst/>
          </a:prstGeom>
          <a:solidFill>
            <a:srgbClr val="EAF2F5"/>
          </a:solidFill>
          <a:ln>
            <a:noFill/>
          </a:ln>
        </p:spPr>
        <p:txBody>
          <a:bodyPr wrap="square" lIns="110000" tIns="91440" rIns="110000" bIns="91440" rtlCol="0" anchor="ctr">
            <a:normAutofit/>
          </a:bodyPr>
          <a:lstStyle/>
          <a:p>
            <a:pPr marL="0" indent="0" algn="ctr">
              <a:lnSpc>
                <a:spcPct val="104000"/>
              </a:lnSpc>
              <a:spcBef>
                <a:spcPts val="200"/>
              </a:spcBef>
              <a:buNone/>
            </a:pPr>
            <a:r>
              <a:rPr lang="en-US" sz="1700" b="1" dirty="0">
                <a:solidFill>
                  <a:srgbClr val="000000"/>
                </a:solidFill>
                <a:latin typeface="Arial"/>
                <a:cs typeface="Arial"/>
              </a:rPr>
              <a:t>Buổi 1-2</a:t>
            </a:r>
          </a:p>
          <a:p>
            <a:pPr marL="0" indent="0" algn="ctr">
              <a:lnSpc>
                <a:spcPct val="104000"/>
              </a:lnSpc>
              <a:spcBef>
                <a:spcPts val="200"/>
              </a:spcBef>
              <a:buNone/>
            </a:pPr>
            <a:r>
              <a:rPr lang="en-US" sz="1700" dirty="0">
                <a:solidFill>
                  <a:srgbClr val="000000"/>
                </a:solidFill>
                <a:latin typeface="Arial"/>
                <a:cs typeface="Arial"/>
              </a:rPr>
              <a:t>Câu hỏi, tổng quan, mục tiêu</a:t>
            </a:r>
          </a:p>
        </p:txBody>
      </p:sp>
      <p:sp>
        <p:nvSpPr>
          <p:cNvPr id="82" name="Step"/>
          <p:cNvSpPr/>
          <p:nvPr/>
        </p:nvSpPr>
        <p:spPr>
          <a:xfrm>
            <a:off x="2700720" y="1220000"/>
            <a:ext cx="2303520" cy="760000"/>
          </a:xfrm>
          <a:prstGeom prst="chevron">
            <a:avLst>
              <a:gd name="adj" fmla="val 28000"/>
            </a:avLst>
          </a:prstGeom>
          <a:solidFill>
            <a:srgbClr val="0B376C"/>
          </a:solidFill>
          <a:ln>
            <a:noFill/>
          </a:ln>
        </p:spPr>
        <p:txBody>
          <a:bodyPr wrap="square" lIns="200000" tIns="45720" rIns="200000" bIns="45720" rtlCol="0" anchor="ctr">
            <a:normAutofit/>
          </a:bodyPr>
          <a:lstStyle/>
          <a:p>
            <a:pPr marL="0" indent="0" algn="ctr">
              <a:buNone/>
            </a:pPr>
            <a:r>
              <a:rPr lang="en-US" sz="1400" b="1" dirty="0">
                <a:solidFill>
                  <a:srgbClr val="FFFFFF"/>
                </a:solidFill>
                <a:latin typeface="Arial"/>
                <a:cs typeface="Arial"/>
              </a:rPr>
              <a:t>Phần 2</a:t>
            </a:r>
          </a:p>
        </p:txBody>
      </p:sp>
      <p:sp>
        <p:nvSpPr>
          <p:cNvPr id="83" name="StepText"/>
          <p:cNvSpPr/>
          <p:nvPr/>
        </p:nvSpPr>
        <p:spPr>
          <a:xfrm>
            <a:off x="2740720" y="2140000"/>
            <a:ext cx="2163520" cy="1463180"/>
          </a:xfrm>
          <a:prstGeom prst="rect">
            <a:avLst/>
          </a:prstGeom>
          <a:solidFill>
            <a:srgbClr val="EAF2F5"/>
          </a:solidFill>
          <a:ln>
            <a:noFill/>
          </a:ln>
        </p:spPr>
        <p:txBody>
          <a:bodyPr wrap="square" lIns="110000" tIns="91440" rIns="110000" bIns="91440" rtlCol="0" anchor="ctr">
            <a:normAutofit/>
          </a:bodyPr>
          <a:lstStyle/>
          <a:p>
            <a:pPr marL="0" indent="0" algn="ctr">
              <a:lnSpc>
                <a:spcPct val="104000"/>
              </a:lnSpc>
              <a:spcBef>
                <a:spcPts val="200"/>
              </a:spcBef>
              <a:buNone/>
            </a:pPr>
            <a:r>
              <a:rPr lang="en-US" sz="1700" b="1" dirty="0">
                <a:solidFill>
                  <a:srgbClr val="000000"/>
                </a:solidFill>
                <a:latin typeface="Arial"/>
                <a:cs typeface="Arial"/>
              </a:rPr>
              <a:t>Buổi 3-4</a:t>
            </a:r>
          </a:p>
          <a:p>
            <a:pPr marL="0" indent="0" algn="ctr">
              <a:lnSpc>
                <a:spcPct val="104000"/>
              </a:lnSpc>
              <a:spcBef>
                <a:spcPts val="200"/>
              </a:spcBef>
              <a:buNone/>
            </a:pPr>
            <a:r>
              <a:rPr lang="en-US" sz="1700" dirty="0">
                <a:solidFill>
                  <a:srgbClr val="000000"/>
                </a:solidFill>
                <a:latin typeface="Arial"/>
                <a:cs typeface="Arial"/>
              </a:rPr>
              <a:t>Thiết kế và đối tượng</a:t>
            </a:r>
          </a:p>
        </p:txBody>
      </p:sp>
      <p:sp>
        <p:nvSpPr>
          <p:cNvPr id="84" name="Step"/>
          <p:cNvSpPr/>
          <p:nvPr/>
        </p:nvSpPr>
        <p:spPr>
          <a:xfrm>
            <a:off x="4944240" y="1220000"/>
            <a:ext cx="2303520" cy="760000"/>
          </a:xfrm>
          <a:prstGeom prst="chevron">
            <a:avLst>
              <a:gd name="adj" fmla="val 28000"/>
            </a:avLst>
          </a:prstGeom>
          <a:solidFill>
            <a:srgbClr val="5FA39B"/>
          </a:solidFill>
          <a:ln>
            <a:noFill/>
          </a:ln>
        </p:spPr>
        <p:txBody>
          <a:bodyPr wrap="square" lIns="200000" tIns="45720" rIns="200000" bIns="45720" rtlCol="0" anchor="ctr">
            <a:normAutofit/>
          </a:bodyPr>
          <a:lstStyle/>
          <a:p>
            <a:pPr marL="0" indent="0" algn="ctr">
              <a:buNone/>
            </a:pPr>
            <a:r>
              <a:rPr lang="en-US" sz="1400" b="1" dirty="0">
                <a:solidFill>
                  <a:srgbClr val="FFFFFF"/>
                </a:solidFill>
                <a:latin typeface="Arial"/>
                <a:cs typeface="Arial"/>
              </a:rPr>
              <a:t>Phần 3</a:t>
            </a:r>
          </a:p>
        </p:txBody>
      </p:sp>
      <p:sp>
        <p:nvSpPr>
          <p:cNvPr id="85" name="StepText"/>
          <p:cNvSpPr/>
          <p:nvPr/>
        </p:nvSpPr>
        <p:spPr>
          <a:xfrm>
            <a:off x="4984240" y="2140000"/>
            <a:ext cx="2163520" cy="1463180"/>
          </a:xfrm>
          <a:prstGeom prst="rect">
            <a:avLst/>
          </a:prstGeom>
          <a:solidFill>
            <a:srgbClr val="EAF2F5"/>
          </a:solidFill>
          <a:ln>
            <a:noFill/>
          </a:ln>
        </p:spPr>
        <p:txBody>
          <a:bodyPr wrap="square" lIns="110000" tIns="91440" rIns="110000" bIns="91440" rtlCol="0" anchor="ctr">
            <a:normAutofit/>
          </a:bodyPr>
          <a:lstStyle/>
          <a:p>
            <a:pPr marL="0" indent="0" algn="ctr">
              <a:lnSpc>
                <a:spcPct val="104000"/>
              </a:lnSpc>
              <a:spcBef>
                <a:spcPts val="200"/>
              </a:spcBef>
              <a:buNone/>
            </a:pPr>
            <a:r>
              <a:rPr lang="en-US" sz="1700" b="1" dirty="0">
                <a:solidFill>
                  <a:srgbClr val="000000"/>
                </a:solidFill>
                <a:latin typeface="Arial"/>
                <a:cs typeface="Arial"/>
              </a:rPr>
              <a:t>Buổi 5-6</a:t>
            </a:r>
          </a:p>
          <a:p>
            <a:pPr marL="0" indent="0" algn="ctr">
              <a:lnSpc>
                <a:spcPct val="104000"/>
              </a:lnSpc>
              <a:spcBef>
                <a:spcPts val="200"/>
              </a:spcBef>
              <a:buNone/>
            </a:pPr>
            <a:r>
              <a:rPr lang="en-US" sz="1700" dirty="0">
                <a:solidFill>
                  <a:srgbClr val="000000"/>
                </a:solidFill>
                <a:latin typeface="Arial"/>
                <a:cs typeface="Arial"/>
              </a:rPr>
              <a:t>Dữ liệu, cỡ mẫu, kế hoạch phân tích</a:t>
            </a:r>
          </a:p>
        </p:txBody>
      </p:sp>
      <p:sp>
        <p:nvSpPr>
          <p:cNvPr id="86" name="Step"/>
          <p:cNvSpPr/>
          <p:nvPr/>
        </p:nvSpPr>
        <p:spPr>
          <a:xfrm>
            <a:off x="7187760" y="1220000"/>
            <a:ext cx="2303520" cy="760000"/>
          </a:xfrm>
          <a:prstGeom prst="chevron">
            <a:avLst>
              <a:gd name="adj" fmla="val 28000"/>
            </a:avLst>
          </a:prstGeom>
          <a:solidFill>
            <a:srgbClr val="0070C0"/>
          </a:solidFill>
          <a:ln>
            <a:noFill/>
          </a:ln>
        </p:spPr>
        <p:txBody>
          <a:bodyPr wrap="square" lIns="200000" tIns="45720" rIns="200000" bIns="45720" rtlCol="0" anchor="ctr">
            <a:normAutofit/>
          </a:bodyPr>
          <a:lstStyle/>
          <a:p>
            <a:pPr marL="0" indent="0" algn="ctr">
              <a:buNone/>
            </a:pPr>
            <a:r>
              <a:rPr lang="en-US" sz="1400" b="1" dirty="0">
                <a:solidFill>
                  <a:srgbClr val="FFFFFF"/>
                </a:solidFill>
                <a:latin typeface="Arial"/>
                <a:cs typeface="Arial"/>
              </a:rPr>
              <a:t>Phần 4</a:t>
            </a:r>
          </a:p>
        </p:txBody>
      </p:sp>
      <p:sp>
        <p:nvSpPr>
          <p:cNvPr id="87" name="StepText"/>
          <p:cNvSpPr/>
          <p:nvPr/>
        </p:nvSpPr>
        <p:spPr>
          <a:xfrm>
            <a:off x="7227760" y="2140000"/>
            <a:ext cx="2163520" cy="1463180"/>
          </a:xfrm>
          <a:prstGeom prst="rect">
            <a:avLst/>
          </a:prstGeom>
          <a:solidFill>
            <a:srgbClr val="EAF2F5"/>
          </a:solidFill>
          <a:ln>
            <a:noFill/>
          </a:ln>
        </p:spPr>
        <p:txBody>
          <a:bodyPr wrap="square" lIns="110000" tIns="91440" rIns="110000" bIns="91440" rtlCol="0" anchor="ctr">
            <a:normAutofit/>
          </a:bodyPr>
          <a:lstStyle/>
          <a:p>
            <a:pPr marL="0" indent="0" algn="ctr">
              <a:lnSpc>
                <a:spcPct val="104000"/>
              </a:lnSpc>
              <a:spcBef>
                <a:spcPts val="200"/>
              </a:spcBef>
              <a:buNone/>
            </a:pPr>
            <a:r>
              <a:rPr lang="en-US" sz="1700" b="1" dirty="0">
                <a:solidFill>
                  <a:srgbClr val="000000"/>
                </a:solidFill>
                <a:latin typeface="Arial"/>
                <a:cs typeface="Arial"/>
              </a:rPr>
              <a:t>Buổi 7</a:t>
            </a:r>
          </a:p>
          <a:p>
            <a:pPr marL="0" indent="0" algn="ctr">
              <a:lnSpc>
                <a:spcPct val="104000"/>
              </a:lnSpc>
              <a:spcBef>
                <a:spcPts val="200"/>
              </a:spcBef>
              <a:buNone/>
            </a:pPr>
            <a:r>
              <a:rPr lang="en-US" sz="1700" dirty="0">
                <a:solidFill>
                  <a:srgbClr val="000000"/>
                </a:solidFill>
                <a:latin typeface="Arial"/>
                <a:cs typeface="Arial"/>
              </a:rPr>
              <a:t>Đạo đức, tính khả thi, kế hoạch công bố</a:t>
            </a:r>
          </a:p>
        </p:txBody>
      </p:sp>
      <p:sp>
        <p:nvSpPr>
          <p:cNvPr id="88" name="Step"/>
          <p:cNvSpPr/>
          <p:nvPr/>
        </p:nvSpPr>
        <p:spPr>
          <a:xfrm>
            <a:off x="9431280" y="1220000"/>
            <a:ext cx="2303520" cy="760000"/>
          </a:xfrm>
          <a:prstGeom prst="chevron">
            <a:avLst>
              <a:gd name="adj" fmla="val 28000"/>
            </a:avLst>
          </a:prstGeom>
          <a:solidFill>
            <a:srgbClr val="055F56"/>
          </a:solidFill>
          <a:ln>
            <a:noFill/>
          </a:ln>
        </p:spPr>
        <p:txBody>
          <a:bodyPr wrap="square" lIns="200000" tIns="45720" rIns="200000" bIns="45720" rtlCol="0" anchor="ctr">
            <a:normAutofit/>
          </a:bodyPr>
          <a:lstStyle/>
          <a:p>
            <a:pPr marL="0" indent="0" algn="ctr">
              <a:buNone/>
            </a:pPr>
            <a:r>
              <a:rPr lang="en-US" sz="1400" b="1" dirty="0">
                <a:solidFill>
                  <a:srgbClr val="FFFFFF"/>
                </a:solidFill>
                <a:latin typeface="Arial"/>
                <a:cs typeface="Arial"/>
              </a:rPr>
              <a:t>Nộp</a:t>
            </a:r>
          </a:p>
        </p:txBody>
      </p:sp>
      <p:sp>
        <p:nvSpPr>
          <p:cNvPr id="89" name="StepText"/>
          <p:cNvSpPr/>
          <p:nvPr/>
        </p:nvSpPr>
        <p:spPr>
          <a:xfrm>
            <a:off x="9471280" y="2140000"/>
            <a:ext cx="2163520" cy="1463180"/>
          </a:xfrm>
          <a:prstGeom prst="rect">
            <a:avLst/>
          </a:prstGeom>
          <a:solidFill>
            <a:srgbClr val="EAF2F5"/>
          </a:solidFill>
          <a:ln>
            <a:noFill/>
          </a:ln>
        </p:spPr>
        <p:txBody>
          <a:bodyPr wrap="square" lIns="110000" tIns="91440" rIns="110000" bIns="91440" rtlCol="0" anchor="ctr">
            <a:normAutofit/>
          </a:bodyPr>
          <a:lstStyle/>
          <a:p>
            <a:pPr marL="0" indent="0" algn="ctr">
              <a:lnSpc>
                <a:spcPct val="104000"/>
              </a:lnSpc>
              <a:spcBef>
                <a:spcPts val="200"/>
              </a:spcBef>
              <a:buNone/>
            </a:pPr>
            <a:r>
              <a:rPr lang="en-US" sz="1700" b="1" dirty="0">
                <a:solidFill>
                  <a:srgbClr val="000000"/>
                </a:solidFill>
                <a:latin typeface="Arial"/>
                <a:cs typeface="Arial"/>
              </a:rPr>
              <a:t>Buổi 8</a:t>
            </a:r>
          </a:p>
          <a:p>
            <a:pPr marL="0" indent="0" algn="ctr">
              <a:lnSpc>
                <a:spcPct val="104000"/>
              </a:lnSpc>
              <a:spcBef>
                <a:spcPts val="200"/>
              </a:spcBef>
              <a:buNone/>
            </a:pPr>
            <a:r>
              <a:rPr lang="en-US" sz="1700" dirty="0">
                <a:solidFill>
                  <a:srgbClr val="000000"/>
                </a:solidFill>
                <a:latin typeface="Arial"/>
                <a:cs typeface="Arial"/>
              </a:rPr>
              <a:t>Đề cương hoàn chỉnh</a:t>
            </a:r>
          </a:p>
        </p:txBody>
      </p:sp>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ctr">
              <a:buNone/>
            </a:pPr>
            <a:r>
              <a:rPr lang="en-US" sz="1300" b="1" dirty="0">
                <a:solidFill>
                  <a:srgbClr val="FFFFFF"/>
                </a:solidFill>
                <a:latin typeface="Arial"/>
                <a:cs typeface="Arial"/>
              </a:rPr>
              <a:t>THÔNG ĐIỆP CHÍNH   </a:t>
            </a:r>
            <a:r>
              <a:rPr lang="en-US" sz="1550" dirty="0">
                <a:solidFill>
                  <a:srgbClr val="FFFFFF"/>
                </a:solidFill>
                <a:latin typeface="Arial"/>
                <a:cs typeface="Arial"/>
              </a:rPr>
              <a:t>Câu hỏi của riêng bạn, một mẫu đề cương, mỗi hai tuần một phần.</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Chào mừng: giới thiệu bản thân</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50" name="Banner"/>
          <p:cNvSpPr/>
          <p:nvPr/>
        </p:nvSpPr>
        <p:spPr>
          <a:xfrm>
            <a:off x="457200" y="1120000"/>
            <a:ext cx="11277600" cy="470000"/>
          </a:xfrm>
          <a:prstGeom prst="rect">
            <a:avLst/>
          </a:prstGeom>
          <a:solidFill>
            <a:srgbClr val="0D7377"/>
          </a:solidFill>
          <a:ln>
            <a:noFill/>
          </a:ln>
        </p:spPr>
        <p:txBody>
          <a:bodyPr wrap="square" lIns="182880" tIns="45720" rIns="182880" bIns="45720" rtlCol="0" anchor="ctr">
            <a:normAutofit/>
          </a:bodyPr>
          <a:lstStyle/>
          <a:p>
            <a:pPr marL="0" indent="0" algn="l">
              <a:buNone/>
            </a:pPr>
            <a:r>
              <a:rPr lang="en-US" sz="1500" b="1" dirty="0">
                <a:solidFill>
                  <a:srgbClr val="FFFFFF"/>
                </a:solidFill>
                <a:latin typeface="Arial"/>
                <a:cs typeface="Arial"/>
              </a:rPr>
              <a:t>CẢ LỚP CÙNG LÀM   |   6 phút</a:t>
            </a:r>
          </a:p>
        </p:txBody>
      </p:sp>
      <p:sp>
        <p:nvSpPr>
          <p:cNvPr id="51" name="Steps"/>
          <p:cNvSpPr txBox="1"/>
          <p:nvPr/>
        </p:nvSpPr>
        <p:spPr>
          <a:xfrm>
            <a:off x="457200" y="1720000"/>
            <a:ext cx="6766560" cy="3510000"/>
          </a:xfrm>
          <a:prstGeom prst="rect">
            <a:avLst/>
          </a:prstGeom>
          <a:noFill/>
          <a:ln>
            <a:noFill/>
          </a:ln>
        </p:spPr>
        <p:txBody>
          <a:bodyPr wrap="square" lIns="91440" tIns="45720" rIns="91440" bIns="45720" rtlCol="0" anchor="t"/>
          <a:lstStyle/>
          <a:p>
            <a:pPr marL="380000" indent="-380000" algn="l">
              <a:lnSpc>
                <a:spcPct val="104000"/>
              </a:lnSpc>
              <a:spcBef>
                <a:spcPts val="450"/>
              </a:spcBef>
              <a:buClr>
                <a:srgbClr val="0D7377"/>
              </a:buClr>
              <a:buFont typeface="Arial"/>
              <a:buChar char="•"/>
            </a:pPr>
            <a:r>
              <a:rPr lang="en-US" sz="1650" dirty="0">
                <a:solidFill>
                  <a:srgbClr val="000000"/>
                </a:solidFill>
                <a:latin typeface="Arial"/>
                <a:cs typeface="Arial"/>
              </a:rPr>
              <a:t>Gõ vào chat: tên, khoa và nghề nghiệp của bạn</a:t>
            </a:r>
          </a:p>
          <a:p>
            <a:pPr marL="380000" indent="-380000" algn="l">
              <a:lnSpc>
                <a:spcPct val="104000"/>
              </a:lnSpc>
              <a:spcBef>
                <a:spcPts val="450"/>
              </a:spcBef>
              <a:buClr>
                <a:srgbClr val="0D7377"/>
              </a:buClr>
              <a:buFont typeface="Arial"/>
              <a:buChar char="•"/>
            </a:pPr>
            <a:r>
              <a:rPr lang="en-US" sz="1650" dirty="0">
                <a:solidFill>
                  <a:srgbClr val="000000"/>
                </a:solidFill>
                <a:latin typeface="Arial"/>
                <a:cs typeface="Arial"/>
              </a:rPr>
              <a:t>Thêm một câu hỏi bạn mong nghiên cứu trả lời được cho khoa mình</a:t>
            </a:r>
          </a:p>
          <a:p>
            <a:pPr marL="380000" indent="-380000" algn="l">
              <a:lnSpc>
                <a:spcPct val="104000"/>
              </a:lnSpc>
              <a:spcBef>
                <a:spcPts val="450"/>
              </a:spcBef>
              <a:buClr>
                <a:srgbClr val="0D7377"/>
              </a:buClr>
              <a:buFont typeface="Arial"/>
              <a:buChar char="•"/>
            </a:pPr>
            <a:r>
              <a:rPr lang="en-US" sz="1650" dirty="0">
                <a:solidFill>
                  <a:srgbClr val="000000"/>
                </a:solidFill>
                <a:latin typeface="Arial"/>
                <a:cs typeface="Arial"/>
              </a:rPr>
              <a:t>Đọc tin nhắn của mọi người: nhiều câu là chủ đề nghiên cứu tiềm năng</a:t>
            </a:r>
          </a:p>
          <a:p>
            <a:pPr marL="380000" indent="-380000" algn="l">
              <a:lnSpc>
                <a:spcPct val="104000"/>
              </a:lnSpc>
              <a:spcBef>
                <a:spcPts val="450"/>
              </a:spcBef>
              <a:buClr>
                <a:srgbClr val="0D7377"/>
              </a:buClr>
              <a:buFont typeface="Arial"/>
              <a:buChar char="•"/>
            </a:pPr>
            <a:r>
              <a:rPr lang="en-US" sz="1650" dirty="0">
                <a:solidFill>
                  <a:srgbClr val="000000"/>
                </a:solidFill>
                <a:latin typeface="Arial"/>
                <a:cs typeface="Arial"/>
              </a:rPr>
              <a:t>Sau đó vài bạn bật micro nói câu hỏi của mình</a:t>
            </a:r>
          </a:p>
        </p:txBody>
      </p:sp>
      <p:sp>
        <p:nvSpPr>
          <p:cNvPr id="52" name="Side"/>
          <p:cNvSpPr/>
          <p:nvPr/>
        </p:nvSpPr>
        <p:spPr>
          <a:xfrm>
            <a:off x="7423760" y="1720000"/>
            <a:ext cx="4311040" cy="1415555"/>
          </a:xfrm>
          <a:prstGeom prst="roundRect">
            <a:avLst>
              <a:gd name="adj" fmla="val 5000"/>
            </a:avLst>
          </a:prstGeom>
          <a:solidFill>
            <a:srgbClr val="EAF2F5"/>
          </a:solidFill>
          <a:ln>
            <a:noFill/>
          </a:ln>
        </p:spPr>
        <p:txBody>
          <a:bodyPr wrap="square" lIns="137160" tIns="91440" rIns="137160" bIns="91440" rtlCol="0" anchor="ctr">
            <a:normAutofit/>
          </a:bodyPr>
          <a:lstStyle/>
          <a:p>
            <a:pPr marL="0" indent="0" algn="ctr">
              <a:buNone/>
            </a:pPr>
            <a:r>
              <a:rPr lang="en-US" sz="1600" b="1" dirty="0">
                <a:solidFill>
                  <a:srgbClr val="0D7377"/>
                </a:solidFill>
                <a:latin typeface="Arial"/>
                <a:cs typeface="Arial"/>
              </a:rPr>
              <a:t>Tin nhắn mẫu</a:t>
            </a:r>
          </a:p>
          <a:p>
            <a:pPr marL="0" indent="0" algn="ctr">
              <a:lnSpc>
                <a:spcPct val="104000"/>
              </a:lnSpc>
              <a:spcBef>
                <a:spcPts val="300"/>
              </a:spcBef>
              <a:buNone/>
            </a:pPr>
            <a:r>
              <a:rPr lang="en-US" sz="1500" dirty="0">
                <a:solidFill>
                  <a:srgbClr val="000000"/>
                </a:solidFill>
                <a:latin typeface="Arial"/>
                <a:cs typeface="Arial"/>
              </a:rPr>
              <a:t>Lan, ICU, điều dưỡng</a:t>
            </a:r>
          </a:p>
          <a:p>
            <a:pPr marL="0" indent="0" algn="ctr">
              <a:lnSpc>
                <a:spcPct val="104000"/>
              </a:lnSpc>
              <a:spcBef>
                <a:spcPts val="300"/>
              </a:spcBef>
              <a:buNone/>
            </a:pPr>
            <a:r>
              <a:rPr lang="en-US" sz="1500" dirty="0">
                <a:solidFill>
                  <a:srgbClr val="000000"/>
                </a:solidFill>
                <a:latin typeface="Arial"/>
                <a:cs typeface="Arial"/>
              </a:rPr>
              <a:t>'Người bệnh sốc nhiễm khuẩn có cần ít dịch hơn lượng mình đang truyền không?'</a:t>
            </a:r>
          </a:p>
        </p:txBody>
      </p:sp>
      <p:sp>
        <p:nvSpPr>
          <p:cNvPr id="53" name="Deliverable"/>
          <p:cNvSpPr/>
          <p:nvPr/>
        </p:nvSpPr>
        <p:spPr>
          <a:xfrm>
            <a:off x="457200" y="5350000"/>
            <a:ext cx="11277600" cy="600000"/>
          </a:xfrm>
          <a:prstGeom prst="roundRect">
            <a:avLst>
              <a:gd name="adj" fmla="val 12000"/>
            </a:avLst>
          </a:prstGeom>
          <a:solidFill>
            <a:srgbClr val="FFFFFF"/>
          </a:solidFill>
          <a:ln w="15875">
            <a:solidFill>
              <a:srgbClr val="0D7377"/>
            </a:solidFill>
          </a:ln>
        </p:spPr>
        <p:txBody>
          <a:bodyPr wrap="square" lIns="182880" tIns="45720" rIns="182880" bIns="45720" rtlCol="0" anchor="ctr">
            <a:normAutofit/>
          </a:bodyPr>
          <a:lstStyle/>
          <a:p>
            <a:pPr marL="0" indent="0" algn="ctr">
              <a:buNone/>
            </a:pPr>
            <a:r>
              <a:rPr lang="en-US" sz="1300" b="1" dirty="0">
                <a:solidFill>
                  <a:srgbClr val="0D7377"/>
                </a:solidFill>
                <a:latin typeface="Arial"/>
                <a:cs typeface="Arial"/>
              </a:rPr>
              <a:t>SẢN PHẨM   </a:t>
            </a:r>
            <a:r>
              <a:rPr lang="en-US" sz="1500" dirty="0">
                <a:solidFill>
                  <a:srgbClr val="000000"/>
                </a:solidFill>
                <a:latin typeface="Arial"/>
                <a:cs typeface="Arial"/>
              </a:rPr>
              <a:t>Mỗi người một lời giới thiệu trong chat</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Chúng ta cùng học trực tuyến như thế nào</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70" name="CardHead"/>
          <p:cNvSpPr/>
          <p:nvPr/>
        </p:nvSpPr>
        <p:spPr>
          <a:xfrm>
            <a:off x="457200" y="1998240"/>
            <a:ext cx="2669400" cy="640000"/>
          </a:xfrm>
          <a:prstGeom prst="rect">
            <a:avLst/>
          </a:prstGeom>
          <a:solidFill>
            <a:srgbClr val="0D7377"/>
          </a:solidFill>
          <a:ln>
            <a:noFill/>
          </a:ln>
        </p:spPr>
        <p:txBody>
          <a:bodyPr wrap="square" lIns="91440" tIns="45720" rIns="91440" bIns="45720" rtlCol="0" anchor="ctr">
            <a:normAutofit/>
          </a:bodyPr>
          <a:lstStyle/>
          <a:p>
            <a:pPr marL="0" indent="0" algn="ctr">
              <a:buNone/>
            </a:pPr>
            <a:r>
              <a:rPr lang="en-US" sz="1700" b="1" dirty="0">
                <a:solidFill>
                  <a:srgbClr val="FFFFFF"/>
                </a:solidFill>
                <a:latin typeface="Arial"/>
                <a:cs typeface="Arial"/>
              </a:rPr>
              <a:t>Cứ hỏi</a:t>
            </a:r>
          </a:p>
        </p:txBody>
      </p:sp>
      <p:sp>
        <p:nvSpPr>
          <p:cNvPr id="71" name="CardBody"/>
          <p:cNvSpPr/>
          <p:nvPr/>
        </p:nvSpPr>
        <p:spPr>
          <a:xfrm>
            <a:off x="457200" y="2638240"/>
            <a:ext cx="2669400" cy="1755280"/>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600" dirty="0">
                <a:solidFill>
                  <a:srgbClr val="000000"/>
                </a:solidFill>
                <a:latin typeface="Arial"/>
                <a:cs typeface="Arial"/>
              </a:rPr>
              <a:t>Không có câu hỏi nào ngớ ngẩn</a:t>
            </a:r>
          </a:p>
          <a:p>
            <a:pPr marL="0" indent="0" algn="ctr">
              <a:lnSpc>
                <a:spcPct val="104000"/>
              </a:lnSpc>
              <a:spcBef>
                <a:spcPts val="400"/>
              </a:spcBef>
              <a:buNone/>
            </a:pPr>
            <a:r>
              <a:rPr lang="en-US" sz="1600" dirty="0">
                <a:solidFill>
                  <a:srgbClr val="000000"/>
                </a:solidFill>
                <a:latin typeface="Arial"/>
                <a:cs typeface="Arial"/>
              </a:rPr>
              <a:t>Dùng chat hoặc nút 'giơ tay'</a:t>
            </a:r>
          </a:p>
        </p:txBody>
      </p:sp>
      <p:sp>
        <p:nvSpPr>
          <p:cNvPr id="72" name="CardHead"/>
          <p:cNvSpPr/>
          <p:nvPr/>
        </p:nvSpPr>
        <p:spPr>
          <a:xfrm>
            <a:off x="3326600" y="1998240"/>
            <a:ext cx="2669400" cy="640000"/>
          </a:xfrm>
          <a:prstGeom prst="rect">
            <a:avLst/>
          </a:prstGeom>
          <a:solidFill>
            <a:srgbClr val="0B376C"/>
          </a:solidFill>
          <a:ln>
            <a:noFill/>
          </a:ln>
        </p:spPr>
        <p:txBody>
          <a:bodyPr wrap="square" lIns="91440" tIns="45720" rIns="91440" bIns="45720" rtlCol="0" anchor="ctr">
            <a:normAutofit/>
          </a:bodyPr>
          <a:lstStyle/>
          <a:p>
            <a:pPr marL="0" indent="0" algn="ctr">
              <a:buNone/>
            </a:pPr>
            <a:r>
              <a:rPr lang="en-US" sz="1700" b="1" dirty="0">
                <a:solidFill>
                  <a:srgbClr val="FFFFFF"/>
                </a:solidFill>
                <a:latin typeface="Arial"/>
                <a:cs typeface="Arial"/>
              </a:rPr>
              <a:t>Đi chậm</a:t>
            </a:r>
          </a:p>
        </p:txBody>
      </p:sp>
      <p:sp>
        <p:nvSpPr>
          <p:cNvPr id="73" name="CardBody"/>
          <p:cNvSpPr/>
          <p:nvPr/>
        </p:nvSpPr>
        <p:spPr>
          <a:xfrm>
            <a:off x="3326600" y="2638240"/>
            <a:ext cx="2669400" cy="1755280"/>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600" dirty="0">
                <a:solidFill>
                  <a:srgbClr val="000000"/>
                </a:solidFill>
                <a:latin typeface="Arial"/>
                <a:cs typeface="Arial"/>
              </a:rPr>
              <a:t>Kiểm tra mức hiểu thường xuyên</a:t>
            </a:r>
          </a:p>
          <a:p>
            <a:pPr marL="0" indent="0" algn="ctr">
              <a:lnSpc>
                <a:spcPct val="104000"/>
              </a:lnSpc>
              <a:spcBef>
                <a:spcPts val="400"/>
              </a:spcBef>
              <a:buNone/>
            </a:pPr>
            <a:r>
              <a:rPr lang="en-US" sz="1600" dirty="0">
                <a:solidFill>
                  <a:srgbClr val="000000"/>
                </a:solidFill>
                <a:latin typeface="Arial"/>
                <a:cs typeface="Arial"/>
              </a:rPr>
              <a:t>Slide bổ sung chỉ khi còn thời gian</a:t>
            </a:r>
          </a:p>
        </p:txBody>
      </p:sp>
      <p:sp>
        <p:nvSpPr>
          <p:cNvPr id="74" name="CardHead"/>
          <p:cNvSpPr/>
          <p:nvPr/>
        </p:nvSpPr>
        <p:spPr>
          <a:xfrm>
            <a:off x="6196000" y="1998240"/>
            <a:ext cx="2669400" cy="640000"/>
          </a:xfrm>
          <a:prstGeom prst="rect">
            <a:avLst/>
          </a:prstGeom>
          <a:solidFill>
            <a:srgbClr val="5FA39B"/>
          </a:solidFill>
          <a:ln>
            <a:noFill/>
          </a:ln>
        </p:spPr>
        <p:txBody>
          <a:bodyPr wrap="square" lIns="91440" tIns="45720" rIns="91440" bIns="45720" rtlCol="0" anchor="ctr">
            <a:normAutofit/>
          </a:bodyPr>
          <a:lstStyle/>
          <a:p>
            <a:pPr marL="0" indent="0" algn="ctr">
              <a:buNone/>
            </a:pPr>
            <a:r>
              <a:rPr lang="en-US" sz="1700" b="1" dirty="0">
                <a:solidFill>
                  <a:srgbClr val="FFFFFF"/>
                </a:solidFill>
                <a:latin typeface="Arial"/>
                <a:cs typeface="Arial"/>
              </a:rPr>
              <a:t>Lấy ví dụ từ khoa mình</a:t>
            </a:r>
          </a:p>
        </p:txBody>
      </p:sp>
      <p:sp>
        <p:nvSpPr>
          <p:cNvPr id="75" name="CardBody"/>
          <p:cNvSpPr/>
          <p:nvPr/>
        </p:nvSpPr>
        <p:spPr>
          <a:xfrm>
            <a:off x="6196000" y="2638240"/>
            <a:ext cx="2669400" cy="1755280"/>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600" dirty="0">
                <a:solidFill>
                  <a:srgbClr val="000000"/>
                </a:solidFill>
                <a:latin typeface="Arial"/>
                <a:cs typeface="Arial"/>
              </a:rPr>
              <a:t>Dùng ví dụ từ thực hành của bạn</a:t>
            </a:r>
          </a:p>
          <a:p>
            <a:pPr marL="0" indent="0" algn="ctr">
              <a:lnSpc>
                <a:spcPct val="104000"/>
              </a:lnSpc>
              <a:spcBef>
                <a:spcPts val="400"/>
              </a:spcBef>
              <a:buNone/>
            </a:pPr>
            <a:r>
              <a:rPr lang="en-US" sz="1600" dirty="0">
                <a:solidFill>
                  <a:srgbClr val="000000"/>
                </a:solidFill>
                <a:latin typeface="Arial"/>
                <a:cs typeface="Arial"/>
              </a:rPr>
              <a:t>Không nêu tên hay chi tiết người bệnh</a:t>
            </a:r>
          </a:p>
        </p:txBody>
      </p:sp>
      <p:sp>
        <p:nvSpPr>
          <p:cNvPr id="76" name="CardHead"/>
          <p:cNvSpPr/>
          <p:nvPr/>
        </p:nvSpPr>
        <p:spPr>
          <a:xfrm>
            <a:off x="9065400" y="1998240"/>
            <a:ext cx="2669400" cy="640000"/>
          </a:xfrm>
          <a:prstGeom prst="rect">
            <a:avLst/>
          </a:prstGeom>
          <a:solidFill>
            <a:srgbClr val="0070C0"/>
          </a:solidFill>
          <a:ln>
            <a:noFill/>
          </a:ln>
        </p:spPr>
        <p:txBody>
          <a:bodyPr wrap="square" lIns="91440" tIns="45720" rIns="91440" bIns="45720" rtlCol="0" anchor="ctr">
            <a:normAutofit/>
          </a:bodyPr>
          <a:lstStyle/>
          <a:p>
            <a:pPr marL="0" indent="0" algn="ctr">
              <a:buNone/>
            </a:pPr>
            <a:r>
              <a:rPr lang="en-US" sz="1700" b="1" dirty="0">
                <a:solidFill>
                  <a:srgbClr val="FFFFFF"/>
                </a:solidFill>
                <a:latin typeface="Arial"/>
                <a:cs typeface="Arial"/>
              </a:rPr>
              <a:t>Thói quen trực tuyến</a:t>
            </a:r>
          </a:p>
        </p:txBody>
      </p:sp>
      <p:sp>
        <p:nvSpPr>
          <p:cNvPr id="77" name="CardBody"/>
          <p:cNvSpPr/>
          <p:nvPr/>
        </p:nvSpPr>
        <p:spPr>
          <a:xfrm>
            <a:off x="9065400" y="2638240"/>
            <a:ext cx="2669400" cy="1755280"/>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600" dirty="0">
                <a:solidFill>
                  <a:srgbClr val="000000"/>
                </a:solidFill>
                <a:latin typeface="Arial"/>
                <a:cs typeface="Arial"/>
              </a:rPr>
              <a:t>Bật camera khi có thể</a:t>
            </a:r>
          </a:p>
          <a:p>
            <a:pPr marL="0" indent="0" algn="ctr">
              <a:lnSpc>
                <a:spcPct val="104000"/>
              </a:lnSpc>
              <a:spcBef>
                <a:spcPts val="400"/>
              </a:spcBef>
              <a:buNone/>
            </a:pPr>
            <a:r>
              <a:rPr lang="en-US" sz="1600" dirty="0">
                <a:solidFill>
                  <a:srgbClr val="000000"/>
                </a:solidFill>
                <a:latin typeface="Arial"/>
                <a:cs typeface="Arial"/>
              </a:rPr>
              <a:t>Tắt micro khi không nói</a:t>
            </a:r>
          </a:p>
          <a:p>
            <a:pPr marL="0" indent="0" algn="ctr">
              <a:lnSpc>
                <a:spcPct val="104000"/>
              </a:lnSpc>
              <a:spcBef>
                <a:spcPts val="400"/>
              </a:spcBef>
              <a:buNone/>
            </a:pPr>
            <a:r>
              <a:rPr lang="en-US" sz="1600" dirty="0">
                <a:solidFill>
                  <a:srgbClr val="000000"/>
                </a:solidFill>
                <a:latin typeface="Arial"/>
                <a:cs typeface="Arial"/>
              </a:rPr>
              <a:t>Quay lại đúng giờ sau giải lao</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Bài kiểm tra đầu khóa (biểu mẫu trực tuyến)</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50" name="Banner"/>
          <p:cNvSpPr/>
          <p:nvPr/>
        </p:nvSpPr>
        <p:spPr>
          <a:xfrm>
            <a:off x="457200" y="1120000"/>
            <a:ext cx="11277600" cy="470000"/>
          </a:xfrm>
          <a:prstGeom prst="rect">
            <a:avLst/>
          </a:prstGeom>
          <a:solidFill>
            <a:srgbClr val="6C3483"/>
          </a:solidFill>
          <a:ln>
            <a:noFill/>
          </a:ln>
        </p:spPr>
        <p:txBody>
          <a:bodyPr wrap="square" lIns="182880" tIns="45720" rIns="182880" bIns="45720" rtlCol="0" anchor="ctr">
            <a:normAutofit/>
          </a:bodyPr>
          <a:lstStyle/>
          <a:p>
            <a:pPr marL="0" indent="0" algn="l">
              <a:buNone/>
            </a:pPr>
            <a:r>
              <a:rPr lang="en-US" sz="1500" b="1" dirty="0">
                <a:solidFill>
                  <a:srgbClr val="FFFFFF"/>
                </a:solidFill>
                <a:latin typeface="Arial"/>
                <a:cs typeface="Arial"/>
              </a:rPr>
              <a:t>CÂU HỎI NHANH   |   15 phút</a:t>
            </a:r>
          </a:p>
        </p:txBody>
      </p:sp>
      <p:sp>
        <p:nvSpPr>
          <p:cNvPr id="51" name="Steps"/>
          <p:cNvSpPr txBox="1"/>
          <p:nvPr/>
        </p:nvSpPr>
        <p:spPr>
          <a:xfrm>
            <a:off x="457200" y="1720000"/>
            <a:ext cx="6766560" cy="3510000"/>
          </a:xfrm>
          <a:prstGeom prst="rect">
            <a:avLst/>
          </a:prstGeom>
          <a:noFill/>
          <a:ln>
            <a:noFill/>
          </a:ln>
        </p:spPr>
        <p:txBody>
          <a:bodyPr wrap="square" lIns="91440" tIns="45720" rIns="91440" bIns="45720" rtlCol="0" anchor="t"/>
          <a:lstStyle/>
          <a:p>
            <a:pPr marL="380000" indent="-380000" algn="l">
              <a:lnSpc>
                <a:spcPct val="104000"/>
              </a:lnSpc>
              <a:spcBef>
                <a:spcPts val="450"/>
              </a:spcBef>
              <a:buClr>
                <a:srgbClr val="6C3483"/>
              </a:buClr>
              <a:buFont typeface="Arial"/>
              <a:buChar char="•"/>
            </a:pPr>
            <a:r>
              <a:rPr lang="en-US" sz="1650" dirty="0">
                <a:solidFill>
                  <a:srgbClr val="000000"/>
                </a:solidFill>
                <a:latin typeface="Arial"/>
                <a:cs typeface="Arial"/>
              </a:rPr>
              <a:t>Mở biểu mẫu: đường link đang có trong chat</a:t>
            </a:r>
          </a:p>
          <a:p>
            <a:pPr marL="380000" indent="-380000" algn="l">
              <a:lnSpc>
                <a:spcPct val="104000"/>
              </a:lnSpc>
              <a:spcBef>
                <a:spcPts val="450"/>
              </a:spcBef>
              <a:buClr>
                <a:srgbClr val="6C3483"/>
              </a:buClr>
              <a:buFont typeface="Arial"/>
              <a:buChar char="•"/>
            </a:pPr>
            <a:r>
              <a:rPr lang="en-US" sz="1650" dirty="0">
                <a:solidFill>
                  <a:srgbClr val="000000"/>
                </a:solidFill>
                <a:latin typeface="Arial"/>
                <a:cs typeface="Arial"/>
              </a:rPr>
              <a:t>Nhập họ và tên của bạn</a:t>
            </a:r>
          </a:p>
          <a:p>
            <a:pPr marL="380000" indent="-380000" algn="l">
              <a:lnSpc>
                <a:spcPct val="104000"/>
              </a:lnSpc>
              <a:spcBef>
                <a:spcPts val="450"/>
              </a:spcBef>
              <a:buClr>
                <a:srgbClr val="6C3483"/>
              </a:buClr>
              <a:buFont typeface="Arial"/>
              <a:buChar char="•"/>
            </a:pPr>
            <a:r>
              <a:rPr lang="en-US" sz="1650" dirty="0">
                <a:solidFill>
                  <a:srgbClr val="000000"/>
                </a:solidFill>
                <a:latin typeface="Arial"/>
                <a:cs typeface="Arial"/>
              </a:rPr>
              <a:t>24 câu trắc nghiệm, chọn một đáp án cho mỗi câu (khoảng 12 phút)</a:t>
            </a:r>
          </a:p>
          <a:p>
            <a:pPr marL="380000" indent="-380000" algn="l">
              <a:lnSpc>
                <a:spcPct val="104000"/>
              </a:lnSpc>
              <a:spcBef>
                <a:spcPts val="450"/>
              </a:spcBef>
              <a:buClr>
                <a:srgbClr val="6C3483"/>
              </a:buClr>
              <a:buFont typeface="Arial"/>
              <a:buChar char="•"/>
            </a:pPr>
            <a:r>
              <a:rPr lang="en-US" sz="1650" dirty="0">
                <a:solidFill>
                  <a:srgbClr val="000000"/>
                </a:solidFill>
                <a:latin typeface="Arial"/>
                <a:cs typeface="Arial"/>
              </a:rPr>
              <a:t>Làm một mình: không xem tài liệu, không hỏi đồng nghiệp</a:t>
            </a:r>
          </a:p>
          <a:p>
            <a:pPr marL="380000" indent="-380000" algn="l">
              <a:lnSpc>
                <a:spcPct val="104000"/>
              </a:lnSpc>
              <a:spcBef>
                <a:spcPts val="450"/>
              </a:spcBef>
              <a:buClr>
                <a:srgbClr val="6C3483"/>
              </a:buClr>
              <a:buFont typeface="Arial"/>
              <a:buChar char="•"/>
            </a:pPr>
            <a:r>
              <a:rPr lang="en-US" sz="1650" dirty="0">
                <a:solidFill>
                  <a:srgbClr val="000000"/>
                </a:solidFill>
                <a:latin typeface="Arial"/>
                <a:cs typeface="Arial"/>
              </a:rPr>
              <a:t>Nếu không chắc, hãy đoán: đây không phải kỳ thi</a:t>
            </a:r>
          </a:p>
        </p:txBody>
      </p:sp>
      <p:sp>
        <p:nvSpPr>
          <p:cNvPr id="52" name="Side"/>
          <p:cNvSpPr/>
          <p:nvPr/>
        </p:nvSpPr>
        <p:spPr>
          <a:xfrm>
            <a:off x="7423760" y="1720000"/>
            <a:ext cx="4311040" cy="1415555"/>
          </a:xfrm>
          <a:prstGeom prst="roundRect">
            <a:avLst>
              <a:gd name="adj" fmla="val 5000"/>
            </a:avLst>
          </a:prstGeom>
          <a:solidFill>
            <a:srgbClr val="EAF2F5"/>
          </a:solidFill>
          <a:ln>
            <a:noFill/>
          </a:ln>
        </p:spPr>
        <p:txBody>
          <a:bodyPr wrap="square" lIns="137160" tIns="91440" rIns="137160" bIns="91440" rtlCol="0" anchor="ctr">
            <a:normAutofit/>
          </a:bodyPr>
          <a:lstStyle/>
          <a:p>
            <a:pPr marL="0" indent="0" algn="ctr">
              <a:buNone/>
            </a:pPr>
            <a:r>
              <a:rPr lang="en-US" sz="1600" b="1" dirty="0">
                <a:solidFill>
                  <a:srgbClr val="6C3483"/>
                </a:solidFill>
                <a:latin typeface="Arial"/>
                <a:cs typeface="Arial"/>
              </a:rPr>
              <a:t>Vì sao kiểm tra bây giờ?</a:t>
            </a:r>
          </a:p>
          <a:p>
            <a:pPr marL="0" indent="0" algn="ctr">
              <a:lnSpc>
                <a:spcPct val="104000"/>
              </a:lnSpc>
              <a:spcBef>
                <a:spcPts val="300"/>
              </a:spcBef>
              <a:buNone/>
            </a:pPr>
            <a:r>
              <a:rPr lang="en-US" sz="1500" dirty="0">
                <a:solidFill>
                  <a:srgbClr val="000000"/>
                </a:solidFill>
                <a:latin typeface="Arial"/>
                <a:cs typeface="Arial"/>
              </a:rPr>
              <a:t>Làm lại cùng bài này ở Buổi 8</a:t>
            </a:r>
          </a:p>
          <a:p>
            <a:pPr marL="0" indent="0" algn="ctr">
              <a:lnSpc>
                <a:spcPct val="104000"/>
              </a:lnSpc>
              <a:spcBef>
                <a:spcPts val="300"/>
              </a:spcBef>
              <a:buNone/>
            </a:pPr>
            <a:r>
              <a:rPr lang="en-US" sz="1500" dirty="0">
                <a:solidFill>
                  <a:srgbClr val="000000"/>
                </a:solidFill>
                <a:latin typeface="Arial"/>
                <a:cs typeface="Arial"/>
              </a:rPr>
              <a:t>Chúng tôi đánh giá khóa học, không đánh giá bạn</a:t>
            </a:r>
          </a:p>
        </p:txBody>
      </p:sp>
      <p:sp>
        <p:nvSpPr>
          <p:cNvPr id="53" name="Deliverable"/>
          <p:cNvSpPr/>
          <p:nvPr/>
        </p:nvSpPr>
        <p:spPr>
          <a:xfrm>
            <a:off x="457200" y="5350000"/>
            <a:ext cx="11277600" cy="600000"/>
          </a:xfrm>
          <a:prstGeom prst="roundRect">
            <a:avLst>
              <a:gd name="adj" fmla="val 12000"/>
            </a:avLst>
          </a:prstGeom>
          <a:solidFill>
            <a:srgbClr val="FFFFFF"/>
          </a:solidFill>
          <a:ln w="15875">
            <a:solidFill>
              <a:srgbClr val="6C3483"/>
            </a:solidFill>
          </a:ln>
        </p:spPr>
        <p:txBody>
          <a:bodyPr wrap="square" lIns="182880" tIns="45720" rIns="182880" bIns="45720" rtlCol="0" anchor="ctr">
            <a:normAutofit/>
          </a:bodyPr>
          <a:lstStyle/>
          <a:p>
            <a:pPr marL="0" indent="0" algn="ctr">
              <a:buNone/>
            </a:pPr>
            <a:r>
              <a:rPr lang="en-US" sz="1300" b="1" dirty="0">
                <a:solidFill>
                  <a:srgbClr val="6C3483"/>
                </a:solidFill>
                <a:latin typeface="Arial"/>
                <a:cs typeface="Arial"/>
              </a:rPr>
              <a:t>SẢN PHẨM   </a:t>
            </a:r>
            <a:r>
              <a:rPr lang="en-US" sz="1500" dirty="0">
                <a:solidFill>
                  <a:srgbClr val="000000"/>
                </a:solidFill>
                <a:latin typeface="Arial"/>
                <a:cs typeface="Arial"/>
              </a:rPr>
              <a:t>Đã gửi biểu mẫu</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6" name="DayTitle"/>
          <p:cNvSpPr txBox="1"/>
          <p:nvPr/>
        </p:nvSpPr>
        <p:spPr>
          <a:xfrm>
            <a:off x="457200" y="548640"/>
            <a:ext cx="11430000" cy="700000"/>
          </a:xfrm>
          <a:prstGeom prst="rect">
            <a:avLst/>
          </a:prstGeom>
          <a:noFill/>
          <a:ln>
            <a:noFill/>
          </a:ln>
        </p:spPr>
        <p:txBody>
          <a:bodyPr wrap="square" lIns="91440" tIns="45720" rIns="91440" bIns="45720" rtlCol="0" anchor="t"/>
          <a:lstStyle/>
          <a:p>
            <a:pPr marL="0" indent="0" algn="l">
              <a:buNone/>
            </a:pPr>
            <a:r>
              <a:rPr lang="en-US" sz="2600" b="1" dirty="0">
                <a:solidFill>
                  <a:srgbClr val="0D7377"/>
                </a:solidFill>
                <a:latin typeface="Arial"/>
                <a:cs typeface="Arial"/>
              </a:rPr>
              <a:t>Buổi 1 · Hỏi: từ vấn đề lâm sàng đến câu hỏi nghiên cứu</a:t>
            </a:r>
          </a:p>
        </p:txBody>
      </p:sp>
      <p:sp>
        <p:nvSpPr>
          <p:cNvPr id="7" name="Rule"/>
          <p:cNvSpPr/>
          <p:nvPr/>
        </p:nvSpPr>
        <p:spPr>
          <a:xfrm>
            <a:off x="457200" y="1325880"/>
            <a:ext cx="11277600" cy="19050"/>
          </a:xfrm>
          <a:prstGeom prst="rect">
            <a:avLst/>
          </a:prstGeom>
          <a:solidFill>
            <a:srgbClr val="0D7377"/>
          </a:solidFill>
          <a:ln>
            <a:noFill/>
          </a:ln>
        </p:spPr>
        <p:txBody>
          <a:bodyPr/>
          <a:lstStyle/>
          <a:p>
            <a:endParaRPr/>
          </a:p>
        </p:txBody>
      </p:sp>
      <p:sp>
        <p:nvSpPr>
          <p:cNvPr id="8" name="Agenda"/>
          <p:cNvSpPr txBox="1"/>
          <p:nvPr/>
        </p:nvSpPr>
        <p:spPr>
          <a:xfrm>
            <a:off x="457200" y="1600000"/>
            <a:ext cx="11277600" cy="4400000"/>
          </a:xfrm>
          <a:prstGeom prst="rect">
            <a:avLst/>
          </a:prstGeom>
          <a:noFill/>
          <a:ln>
            <a:noFill/>
          </a:ln>
        </p:spPr>
        <p:txBody>
          <a:bodyPr wrap="square" lIns="91440" tIns="45720" rIns="91440" bIns="45720" rtlCol="0" anchor="t"/>
          <a:lstStyle/>
          <a:p>
            <a:pPr marL="0" indent="0" algn="l">
              <a:buNone/>
            </a:pPr>
            <a:r>
              <a:rPr lang="en-US" sz="2800" dirty="0">
                <a:solidFill>
                  <a:srgbClr val="0070C0"/>
                </a:solidFill>
                <a:latin typeface="Arial"/>
                <a:cs typeface="Arial"/>
              </a:rPr>
              <a:t>Tuần 1 · Thứ Bảy</a:t>
            </a:r>
          </a:p>
          <a:p>
            <a:pPr>
              <a:buNone/>
            </a:pPr>
            <a:endParaRPr sz="800"/>
          </a:p>
          <a:p>
            <a:pPr marL="274320" indent="-274320" algn="l">
              <a:spcBef>
                <a:spcPts val="440"/>
              </a:spcBef>
              <a:buFont typeface="Arial"/>
              <a:buChar char="•"/>
            </a:pPr>
            <a:r>
              <a:rPr lang="en-US" sz="1900" dirty="0">
                <a:solidFill>
                  <a:srgbClr val="000000"/>
                </a:solidFill>
                <a:latin typeface="Arial"/>
                <a:cs typeface="Arial"/>
              </a:rPr>
              <a:t>1.1  Vì sao cần nghiên cứu? Bằng chứng, thiết kế nghiên cứu, hai bài báo của khóa học</a:t>
            </a:r>
          </a:p>
          <a:p>
            <a:pPr marL="274320" indent="-274320" algn="l">
              <a:spcBef>
                <a:spcPts val="440"/>
              </a:spcBef>
              <a:buFont typeface="Arial"/>
              <a:buChar char="•"/>
            </a:pPr>
            <a:r>
              <a:rPr lang="en-US" sz="1900" dirty="0">
                <a:solidFill>
                  <a:srgbClr val="000000"/>
                </a:solidFill>
                <a:latin typeface="Arial"/>
                <a:cs typeface="Arial"/>
              </a:rPr>
              <a:t>Giải lao</a:t>
            </a:r>
          </a:p>
          <a:p>
            <a:pPr marL="274320" indent="-274320" algn="l">
              <a:spcBef>
                <a:spcPts val="440"/>
              </a:spcBef>
              <a:buFont typeface="Arial"/>
              <a:buChar char="•"/>
            </a:pPr>
            <a:r>
              <a:rPr lang="en-US" sz="1900" dirty="0">
                <a:solidFill>
                  <a:srgbClr val="000000"/>
                </a:solidFill>
                <a:latin typeface="Arial"/>
                <a:cs typeface="Arial"/>
              </a:rPr>
              <a:t>1.2  Từ vấn đề đến câu hỏi: PICO(T), PECO và FINER</a:t>
            </a:r>
          </a:p>
          <a:p>
            <a:pPr marL="274320" indent="-274320" algn="l">
              <a:spcBef>
                <a:spcPts val="440"/>
              </a:spcBef>
              <a:buFont typeface="Arial"/>
              <a:buChar char="•"/>
            </a:pPr>
            <a:r>
              <a:rPr lang="en-US" sz="1900" dirty="0">
                <a:solidFill>
                  <a:srgbClr val="000000"/>
                </a:solidFill>
                <a:latin typeface="Arial"/>
                <a:cs typeface="Arial"/>
              </a:rPr>
              <a:t>1.3  Mục tiêu tổng quát, mục tiêu cụ thể và giả thuyết</a:t>
            </a:r>
          </a:p>
          <a:p>
            <a:pPr marL="274320" indent="-274320" algn="l">
              <a:spcBef>
                <a:spcPts val="440"/>
              </a:spcBef>
              <a:buFont typeface="Arial"/>
              <a:buChar char="•"/>
            </a:pPr>
            <a:r>
              <a:rPr lang="en-US" sz="1900" dirty="0">
                <a:solidFill>
                  <a:srgbClr val="000000"/>
                </a:solidFill>
                <a:latin typeface="Arial"/>
                <a:cs typeface="Arial"/>
              </a:rPr>
              <a:t>Xây dựng đề cương 1: bắt đầu câu hỏi của riêng bạn</a:t>
            </a:r>
          </a:p>
          <a:p>
            <a:pPr marL="274320" indent="-274320" algn="l">
              <a:spcBef>
                <a:spcPts val="440"/>
              </a:spcBef>
              <a:buFont typeface="Arial"/>
              <a:buChar char="•"/>
            </a:pPr>
            <a:r>
              <a:rPr lang="en-US" sz="1900" dirty="0">
                <a:solidFill>
                  <a:srgbClr val="000000"/>
                </a:solidFill>
                <a:latin typeface="Arial"/>
                <a:cs typeface="Arial"/>
              </a:rPr>
              <a:t>Tổng kết: từ khóa, câu hỏi cuối buổi, bài về nhà</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1.1  Vì sao cần nghiên cứu?</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20" name="Statement"/>
          <p:cNvSpPr txBox="1"/>
          <p:nvPr/>
        </p:nvSpPr>
        <p:spPr>
          <a:xfrm>
            <a:off x="1057200" y="1280000"/>
            <a:ext cx="10077600" cy="4470000"/>
          </a:xfrm>
          <a:prstGeom prst="rect">
            <a:avLst/>
          </a:prstGeom>
          <a:noFill/>
          <a:ln>
            <a:noFill/>
          </a:ln>
        </p:spPr>
        <p:txBody>
          <a:bodyPr wrap="square" lIns="91440" tIns="45720" rIns="91440" bIns="45720" rtlCol="0" anchor="ctr"/>
          <a:lstStyle/>
          <a:p>
            <a:pPr marL="0" indent="0" algn="ctr">
              <a:lnSpc>
                <a:spcPct val="110000"/>
              </a:lnSpc>
              <a:buNone/>
            </a:pPr>
            <a:r>
              <a:rPr lang="en-US" sz="3200" b="1" dirty="0">
                <a:solidFill>
                  <a:srgbClr val="0D7377"/>
                </a:solidFill>
                <a:latin typeface="Arial"/>
                <a:cs typeface="Arial"/>
              </a:rPr>
              <a:t>Đã có kinh nghiệm, vì sao vẫn cần nghiên cứu?</a:t>
            </a:r>
          </a:p>
          <a:p>
            <a:pPr marL="0" indent="0" algn="ctr">
              <a:spcBef>
                <a:spcPts val="1200"/>
              </a:spcBef>
              <a:buNone/>
            </a:pPr>
            <a:r>
              <a:rPr lang="en-US" sz="1900" i="1" dirty="0">
                <a:solidFill>
                  <a:srgbClr val="595959"/>
                </a:solidFill>
                <a:latin typeface="Arial"/>
                <a:cs typeface="Arial"/>
              </a:rPr>
              <a:t>35 phút: bằng chứng, thiết kế nghiên cứu, hai bài báo của khóa học, các loại nghiên cứu</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Giai thoại và bằng chứng</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100" name="Box"/>
          <p:cNvSpPr/>
          <p:nvPr/>
        </p:nvSpPr>
        <p:spPr>
          <a:xfrm>
            <a:off x="472440" y="1239040"/>
            <a:ext cx="4572000" cy="3931920"/>
          </a:xfrm>
          <a:prstGeom prst="roundRect">
            <a:avLst>
              <a:gd name="adj" fmla="val 5000"/>
            </a:avLst>
          </a:prstGeom>
          <a:noFill/>
          <a:ln w="31750">
            <a:solidFill>
              <a:srgbClr val="D9822B"/>
            </a:solidFill>
          </a:ln>
        </p:spPr>
        <p:txBody>
          <a:bodyPr wrap="square" lIns="54864" tIns="54864" rIns="54864" bIns="54864" rtlCol="0" anchor="ctr">
            <a:noAutofit/>
          </a:bodyPr>
          <a:lstStyle/>
          <a:p>
            <a:endParaRPr lang="en-US"/>
          </a:p>
        </p:txBody>
      </p:sp>
      <p:sp>
        <p:nvSpPr>
          <p:cNvPr id="101" name="Text"/>
          <p:cNvSpPr/>
          <p:nvPr/>
        </p:nvSpPr>
        <p:spPr>
          <a:xfrm>
            <a:off x="472440" y="1330480"/>
            <a:ext cx="4572000" cy="502920"/>
          </a:xfrm>
          <a:prstGeom prst="rect">
            <a:avLst/>
          </a:prstGeom>
          <a:noFill/>
          <a:ln>
            <a:noFill/>
          </a:ln>
        </p:spPr>
        <p:txBody>
          <a:bodyPr wrap="square" lIns="54864" tIns="54864" rIns="54864" bIns="54864" rtlCol="0" anchor="ctr">
            <a:noAutofit/>
          </a:bodyPr>
          <a:lstStyle/>
          <a:p>
            <a:pPr marL="0" indent="0" algn="ctr">
              <a:lnSpc>
                <a:spcPct val="100000"/>
              </a:lnSpc>
              <a:buNone/>
            </a:pPr>
            <a:r>
              <a:rPr lang="en-US" sz="2200" b="1" dirty="0">
                <a:solidFill>
                  <a:srgbClr val="D9822B"/>
                </a:solidFill>
                <a:latin typeface="Arial"/>
                <a:cs typeface="Arial"/>
              </a:rPr>
              <a:t>Giai thoại</a:t>
            </a:r>
          </a:p>
        </p:txBody>
      </p:sp>
      <p:sp>
        <p:nvSpPr>
          <p:cNvPr id="102" name="PersonHead"/>
          <p:cNvSpPr/>
          <p:nvPr/>
        </p:nvSpPr>
        <p:spPr>
          <a:xfrm>
            <a:off x="934212" y="2199160"/>
            <a:ext cx="510235" cy="510235"/>
          </a:xfrm>
          <a:prstGeom prst="ellipse">
            <a:avLst/>
          </a:prstGeom>
          <a:solidFill>
            <a:srgbClr val="0B376C"/>
          </a:solidFill>
          <a:ln>
            <a:noFill/>
          </a:ln>
        </p:spPr>
        <p:txBody>
          <a:bodyPr wrap="square" lIns="54864" tIns="54864" rIns="54864" bIns="54864" rtlCol="0" anchor="ctr">
            <a:noAutofit/>
          </a:bodyPr>
          <a:lstStyle/>
          <a:p>
            <a:endParaRPr lang="en-US"/>
          </a:p>
        </p:txBody>
      </p:sp>
      <p:sp>
        <p:nvSpPr>
          <p:cNvPr id="103" name="PersonBody"/>
          <p:cNvSpPr/>
          <p:nvPr/>
        </p:nvSpPr>
        <p:spPr>
          <a:xfrm>
            <a:off x="792480" y="2794434"/>
            <a:ext cx="793699" cy="822046"/>
          </a:xfrm>
          <a:prstGeom prst="roundRect">
            <a:avLst>
              <a:gd name="adj" fmla="val 22000"/>
            </a:avLst>
          </a:prstGeom>
          <a:solidFill>
            <a:srgbClr val="0B376C"/>
          </a:solidFill>
          <a:ln>
            <a:noFill/>
          </a:ln>
        </p:spPr>
        <p:txBody>
          <a:bodyPr wrap="square" lIns="54864" tIns="54864" rIns="54864" bIns="54864" rtlCol="0" anchor="ctr">
            <a:noAutofit/>
          </a:bodyPr>
          <a:lstStyle/>
          <a:p>
            <a:endParaRPr lang="en-US"/>
          </a:p>
        </p:txBody>
      </p:sp>
      <p:sp>
        <p:nvSpPr>
          <p:cNvPr id="104" name="Box"/>
          <p:cNvSpPr/>
          <p:nvPr/>
        </p:nvSpPr>
        <p:spPr>
          <a:xfrm>
            <a:off x="1798320" y="1924840"/>
            <a:ext cx="3017520" cy="1143000"/>
          </a:xfrm>
          <a:prstGeom prst="wedgeRoundRectCallout">
            <a:avLst>
              <a:gd name="adj1" fmla="val -64000"/>
              <a:gd name="adj2" fmla="val 4000"/>
              <a:gd name="adj3" fmla="val 16667"/>
            </a:avLst>
          </a:prstGeom>
          <a:solidFill>
            <a:srgbClr val="EAF2F5"/>
          </a:solidFill>
          <a:ln>
            <a:noFill/>
          </a:ln>
        </p:spPr>
        <p:txBody>
          <a:bodyPr wrap="square" lIns="109728" tIns="109728" rIns="109728" bIns="109728" rtlCol="0" anchor="ctr">
            <a:noAutofit/>
          </a:bodyPr>
          <a:lstStyle/>
          <a:p>
            <a:pPr marL="0" indent="0" algn="ctr">
              <a:lnSpc>
                <a:spcPct val="100000"/>
              </a:lnSpc>
              <a:buNone/>
            </a:pPr>
            <a:r>
              <a:rPr lang="en-US" sz="1600" dirty="0">
                <a:solidFill>
                  <a:srgbClr val="1A1A1A"/>
                </a:solidFill>
                <a:latin typeface="Arial"/>
                <a:cs typeface="Arial"/>
              </a:rPr>
              <a:t>"Tôi truyền ít dịch cho 3 người bệnh và cả 3 đều hồi phục tốt!"</a:t>
            </a:r>
          </a:p>
        </p:txBody>
      </p:sp>
      <p:sp>
        <p:nvSpPr>
          <p:cNvPr id="105" name="PersonHead"/>
          <p:cNvSpPr/>
          <p:nvPr/>
        </p:nvSpPr>
        <p:spPr>
          <a:xfrm>
            <a:off x="2346960" y="3250720"/>
            <a:ext cx="329184" cy="329184"/>
          </a:xfrm>
          <a:prstGeom prst="ellipse">
            <a:avLst/>
          </a:prstGeom>
          <a:solidFill>
            <a:srgbClr val="2E8B57"/>
          </a:solidFill>
          <a:ln>
            <a:noFill/>
          </a:ln>
        </p:spPr>
        <p:txBody>
          <a:bodyPr wrap="square" lIns="54864" tIns="54864" rIns="54864" bIns="54864" rtlCol="0" anchor="ctr">
            <a:noAutofit/>
          </a:bodyPr>
          <a:lstStyle/>
          <a:p>
            <a:endParaRPr lang="en-US"/>
          </a:p>
        </p:txBody>
      </p:sp>
      <p:sp>
        <p:nvSpPr>
          <p:cNvPr id="106" name="PersonBody"/>
          <p:cNvSpPr/>
          <p:nvPr/>
        </p:nvSpPr>
        <p:spPr>
          <a:xfrm>
            <a:off x="2255520" y="3634768"/>
            <a:ext cx="512064" cy="530352"/>
          </a:xfrm>
          <a:prstGeom prst="roundRect">
            <a:avLst>
              <a:gd name="adj" fmla="val 22000"/>
            </a:avLst>
          </a:prstGeom>
          <a:solidFill>
            <a:srgbClr val="2E8B57"/>
          </a:solidFill>
          <a:ln>
            <a:noFill/>
          </a:ln>
        </p:spPr>
        <p:txBody>
          <a:bodyPr wrap="square" lIns="54864" tIns="54864" rIns="54864" bIns="54864" rtlCol="0" anchor="ctr">
            <a:noAutofit/>
          </a:bodyPr>
          <a:lstStyle/>
          <a:p>
            <a:endParaRPr lang="en-US"/>
          </a:p>
        </p:txBody>
      </p:sp>
      <p:sp>
        <p:nvSpPr>
          <p:cNvPr id="107" name="PersonHead"/>
          <p:cNvSpPr/>
          <p:nvPr/>
        </p:nvSpPr>
        <p:spPr>
          <a:xfrm>
            <a:off x="3169920" y="3250720"/>
            <a:ext cx="329184" cy="329184"/>
          </a:xfrm>
          <a:prstGeom prst="ellipse">
            <a:avLst/>
          </a:prstGeom>
          <a:solidFill>
            <a:srgbClr val="2E8B57"/>
          </a:solidFill>
          <a:ln>
            <a:noFill/>
          </a:ln>
        </p:spPr>
        <p:txBody>
          <a:bodyPr wrap="square" lIns="54864" tIns="54864" rIns="54864" bIns="54864" rtlCol="0" anchor="ctr">
            <a:noAutofit/>
          </a:bodyPr>
          <a:lstStyle/>
          <a:p>
            <a:endParaRPr lang="en-US"/>
          </a:p>
        </p:txBody>
      </p:sp>
      <p:sp>
        <p:nvSpPr>
          <p:cNvPr id="108" name="PersonBody"/>
          <p:cNvSpPr/>
          <p:nvPr/>
        </p:nvSpPr>
        <p:spPr>
          <a:xfrm>
            <a:off x="3078480" y="3634768"/>
            <a:ext cx="512064" cy="530352"/>
          </a:xfrm>
          <a:prstGeom prst="roundRect">
            <a:avLst>
              <a:gd name="adj" fmla="val 22000"/>
            </a:avLst>
          </a:prstGeom>
          <a:solidFill>
            <a:srgbClr val="2E8B57"/>
          </a:solidFill>
          <a:ln>
            <a:noFill/>
          </a:ln>
        </p:spPr>
        <p:txBody>
          <a:bodyPr wrap="square" lIns="54864" tIns="54864" rIns="54864" bIns="54864" rtlCol="0" anchor="ctr">
            <a:noAutofit/>
          </a:bodyPr>
          <a:lstStyle/>
          <a:p>
            <a:endParaRPr lang="en-US"/>
          </a:p>
        </p:txBody>
      </p:sp>
      <p:sp>
        <p:nvSpPr>
          <p:cNvPr id="109" name="PersonHead"/>
          <p:cNvSpPr/>
          <p:nvPr/>
        </p:nvSpPr>
        <p:spPr>
          <a:xfrm>
            <a:off x="3992880" y="3250720"/>
            <a:ext cx="329184" cy="329184"/>
          </a:xfrm>
          <a:prstGeom prst="ellipse">
            <a:avLst/>
          </a:prstGeom>
          <a:solidFill>
            <a:srgbClr val="2E8B57"/>
          </a:solidFill>
          <a:ln>
            <a:noFill/>
          </a:ln>
        </p:spPr>
        <p:txBody>
          <a:bodyPr wrap="square" lIns="54864" tIns="54864" rIns="54864" bIns="54864" rtlCol="0" anchor="ctr">
            <a:noAutofit/>
          </a:bodyPr>
          <a:lstStyle/>
          <a:p>
            <a:endParaRPr lang="en-US"/>
          </a:p>
        </p:txBody>
      </p:sp>
      <p:sp>
        <p:nvSpPr>
          <p:cNvPr id="110" name="PersonBody"/>
          <p:cNvSpPr/>
          <p:nvPr/>
        </p:nvSpPr>
        <p:spPr>
          <a:xfrm>
            <a:off x="3901440" y="3634768"/>
            <a:ext cx="512064" cy="530352"/>
          </a:xfrm>
          <a:prstGeom prst="roundRect">
            <a:avLst>
              <a:gd name="adj" fmla="val 22000"/>
            </a:avLst>
          </a:prstGeom>
          <a:solidFill>
            <a:srgbClr val="2E8B57"/>
          </a:solidFill>
          <a:ln>
            <a:noFill/>
          </a:ln>
        </p:spPr>
        <p:txBody>
          <a:bodyPr wrap="square" lIns="54864" tIns="54864" rIns="54864" bIns="54864" rtlCol="0" anchor="ctr">
            <a:noAutofit/>
          </a:bodyPr>
          <a:lstStyle/>
          <a:p>
            <a:endParaRPr lang="en-US"/>
          </a:p>
        </p:txBody>
      </p:sp>
      <p:sp>
        <p:nvSpPr>
          <p:cNvPr id="111" name="Text"/>
          <p:cNvSpPr/>
          <p:nvPr/>
        </p:nvSpPr>
        <p:spPr>
          <a:xfrm>
            <a:off x="655320" y="4302280"/>
            <a:ext cx="4206240" cy="731520"/>
          </a:xfrm>
          <a:prstGeom prst="rect">
            <a:avLst/>
          </a:prstGeom>
          <a:noFill/>
          <a:ln>
            <a:noFill/>
          </a:ln>
        </p:spPr>
        <p:txBody>
          <a:bodyPr wrap="square" lIns="54864" tIns="54864" rIns="54864" bIns="54864" rtlCol="0" anchor="ctr">
            <a:noAutofit/>
          </a:bodyPr>
          <a:lstStyle/>
          <a:p>
            <a:pPr marL="0" indent="0" algn="ctr">
              <a:lnSpc>
                <a:spcPct val="100000"/>
              </a:lnSpc>
              <a:buNone/>
            </a:pPr>
            <a:r>
              <a:rPr lang="en-US" sz="1600" dirty="0">
                <a:solidFill>
                  <a:srgbClr val="1A1A1A"/>
                </a:solidFill>
                <a:latin typeface="Arial"/>
                <a:cs typeface="Arial"/>
              </a:rPr>
              <a:t>Ít người bệnh, không so sánh, chỉ nhớ những ca nổi bật</a:t>
            </a:r>
          </a:p>
        </p:txBody>
      </p:sp>
      <p:sp>
        <p:nvSpPr>
          <p:cNvPr id="112" name="Text"/>
          <p:cNvSpPr/>
          <p:nvPr/>
        </p:nvSpPr>
        <p:spPr>
          <a:xfrm>
            <a:off x="5044440" y="2930680"/>
            <a:ext cx="731520" cy="548640"/>
          </a:xfrm>
          <a:prstGeom prst="rect">
            <a:avLst/>
          </a:prstGeom>
          <a:noFill/>
          <a:ln>
            <a:noFill/>
          </a:ln>
        </p:spPr>
        <p:txBody>
          <a:bodyPr wrap="square" lIns="54864" tIns="54864" rIns="54864" bIns="54864" rtlCol="0" anchor="ctr">
            <a:noAutofit/>
          </a:bodyPr>
          <a:lstStyle/>
          <a:p>
            <a:pPr marL="0" indent="0" algn="ctr">
              <a:lnSpc>
                <a:spcPct val="100000"/>
              </a:lnSpc>
              <a:buNone/>
            </a:pPr>
            <a:r>
              <a:rPr lang="en-US" sz="2400" b="1" dirty="0">
                <a:solidFill>
                  <a:srgbClr val="8A99A3"/>
                </a:solidFill>
                <a:latin typeface="Arial"/>
                <a:cs typeface="Arial"/>
              </a:rPr>
              <a:t>vs</a:t>
            </a:r>
          </a:p>
        </p:txBody>
      </p:sp>
      <p:sp>
        <p:nvSpPr>
          <p:cNvPr id="113" name="Box"/>
          <p:cNvSpPr/>
          <p:nvPr/>
        </p:nvSpPr>
        <p:spPr>
          <a:xfrm>
            <a:off x="5775960" y="1239040"/>
            <a:ext cx="5943600" cy="3931920"/>
          </a:xfrm>
          <a:prstGeom prst="roundRect">
            <a:avLst>
              <a:gd name="adj" fmla="val 5000"/>
            </a:avLst>
          </a:prstGeom>
          <a:noFill/>
          <a:ln w="31750">
            <a:solidFill>
              <a:srgbClr val="0D7377"/>
            </a:solidFill>
          </a:ln>
        </p:spPr>
        <p:txBody>
          <a:bodyPr wrap="square" lIns="54864" tIns="54864" rIns="54864" bIns="54864" rtlCol="0" anchor="ctr">
            <a:noAutofit/>
          </a:bodyPr>
          <a:lstStyle/>
          <a:p>
            <a:endParaRPr lang="en-US"/>
          </a:p>
        </p:txBody>
      </p:sp>
      <p:sp>
        <p:nvSpPr>
          <p:cNvPr id="114" name="Text"/>
          <p:cNvSpPr/>
          <p:nvPr/>
        </p:nvSpPr>
        <p:spPr>
          <a:xfrm>
            <a:off x="5775960" y="1330480"/>
            <a:ext cx="5943600" cy="502920"/>
          </a:xfrm>
          <a:prstGeom prst="rect">
            <a:avLst/>
          </a:prstGeom>
          <a:noFill/>
          <a:ln>
            <a:noFill/>
          </a:ln>
        </p:spPr>
        <p:txBody>
          <a:bodyPr wrap="square" lIns="54864" tIns="54864" rIns="54864" bIns="54864" rtlCol="0" anchor="ctr">
            <a:noAutofit/>
          </a:bodyPr>
          <a:lstStyle/>
          <a:p>
            <a:pPr marL="0" indent="0" algn="ctr">
              <a:lnSpc>
                <a:spcPct val="100000"/>
              </a:lnSpc>
              <a:buNone/>
            </a:pPr>
            <a:r>
              <a:rPr lang="en-US" sz="2200" b="1" dirty="0">
                <a:solidFill>
                  <a:srgbClr val="0D7377"/>
                </a:solidFill>
                <a:latin typeface="Arial"/>
                <a:cs typeface="Arial"/>
              </a:rPr>
              <a:t>Bằng chứng</a:t>
            </a:r>
          </a:p>
        </p:txBody>
      </p:sp>
      <p:sp>
        <p:nvSpPr>
          <p:cNvPr id="115" name="Text"/>
          <p:cNvSpPr/>
          <p:nvPr/>
        </p:nvSpPr>
        <p:spPr>
          <a:xfrm>
            <a:off x="5913120" y="1805968"/>
            <a:ext cx="2743200" cy="365760"/>
          </a:xfrm>
          <a:prstGeom prst="rect">
            <a:avLst/>
          </a:prstGeom>
          <a:noFill/>
          <a:ln>
            <a:noFill/>
          </a:ln>
        </p:spPr>
        <p:txBody>
          <a:bodyPr wrap="square" lIns="54864" tIns="54864" rIns="54864" bIns="54864" rtlCol="0" anchor="ctr">
            <a:noAutofit/>
          </a:bodyPr>
          <a:lstStyle/>
          <a:p>
            <a:pPr marL="0" indent="0" algn="ctr">
              <a:lnSpc>
                <a:spcPct val="100000"/>
              </a:lnSpc>
              <a:buNone/>
            </a:pPr>
            <a:r>
              <a:rPr lang="en-US" sz="1600" b="1" dirty="0">
                <a:solidFill>
                  <a:srgbClr val="0D7377"/>
                </a:solidFill>
                <a:latin typeface="Arial"/>
                <a:cs typeface="Arial"/>
              </a:rPr>
              <a:t>Hạn chế dịch</a:t>
            </a:r>
          </a:p>
        </p:txBody>
      </p:sp>
      <p:sp>
        <p:nvSpPr>
          <p:cNvPr id="116" name="Text"/>
          <p:cNvSpPr/>
          <p:nvPr/>
        </p:nvSpPr>
        <p:spPr>
          <a:xfrm>
            <a:off x="8839200" y="1805968"/>
            <a:ext cx="2743200" cy="365760"/>
          </a:xfrm>
          <a:prstGeom prst="rect">
            <a:avLst/>
          </a:prstGeom>
          <a:noFill/>
          <a:ln>
            <a:noFill/>
          </a:ln>
        </p:spPr>
        <p:txBody>
          <a:bodyPr wrap="square" lIns="54864" tIns="54864" rIns="54864" bIns="54864" rtlCol="0" anchor="ctr">
            <a:noAutofit/>
          </a:bodyPr>
          <a:lstStyle/>
          <a:p>
            <a:pPr marL="0" indent="0" algn="ctr">
              <a:lnSpc>
                <a:spcPct val="100000"/>
              </a:lnSpc>
              <a:buNone/>
            </a:pPr>
            <a:r>
              <a:rPr lang="en-US" sz="1600" b="1" dirty="0">
                <a:solidFill>
                  <a:srgbClr val="0B376C"/>
                </a:solidFill>
                <a:latin typeface="Arial"/>
                <a:cs typeface="Arial"/>
              </a:rPr>
              <a:t>Chăm sóc thường quy</a:t>
            </a:r>
          </a:p>
        </p:txBody>
      </p:sp>
      <p:sp>
        <p:nvSpPr>
          <p:cNvPr id="117" name="PersonHead"/>
          <p:cNvSpPr/>
          <p:nvPr/>
        </p:nvSpPr>
        <p:spPr>
          <a:xfrm>
            <a:off x="6154522" y="2244880"/>
            <a:ext cx="111923" cy="111923"/>
          </a:xfrm>
          <a:prstGeom prst="ellipse">
            <a:avLst/>
          </a:prstGeom>
          <a:solidFill>
            <a:srgbClr val="B23B2E"/>
          </a:solidFill>
          <a:ln>
            <a:noFill/>
          </a:ln>
        </p:spPr>
        <p:txBody>
          <a:bodyPr wrap="square" lIns="54864" tIns="54864" rIns="54864" bIns="54864" rtlCol="0" anchor="ctr">
            <a:noAutofit/>
          </a:bodyPr>
          <a:lstStyle/>
          <a:p>
            <a:endParaRPr lang="en-US"/>
          </a:p>
        </p:txBody>
      </p:sp>
      <p:sp>
        <p:nvSpPr>
          <p:cNvPr id="118" name="PersonBody"/>
          <p:cNvSpPr/>
          <p:nvPr/>
        </p:nvSpPr>
        <p:spPr>
          <a:xfrm>
            <a:off x="6123432" y="2375456"/>
            <a:ext cx="174102" cy="180320"/>
          </a:xfrm>
          <a:prstGeom prst="roundRect">
            <a:avLst>
              <a:gd name="adj" fmla="val 22000"/>
            </a:avLst>
          </a:prstGeom>
          <a:solidFill>
            <a:srgbClr val="B23B2E"/>
          </a:solidFill>
          <a:ln>
            <a:noFill/>
          </a:ln>
        </p:spPr>
        <p:txBody>
          <a:bodyPr wrap="square" lIns="54864" tIns="54864" rIns="54864" bIns="54864" rtlCol="0" anchor="ctr">
            <a:noAutofit/>
          </a:bodyPr>
          <a:lstStyle/>
          <a:p>
            <a:endParaRPr lang="en-US"/>
          </a:p>
        </p:txBody>
      </p:sp>
      <p:sp>
        <p:nvSpPr>
          <p:cNvPr id="119" name="PersonHead"/>
          <p:cNvSpPr/>
          <p:nvPr/>
        </p:nvSpPr>
        <p:spPr>
          <a:xfrm>
            <a:off x="6401410" y="2244880"/>
            <a:ext cx="111923" cy="111923"/>
          </a:xfrm>
          <a:prstGeom prst="ellipse">
            <a:avLst/>
          </a:prstGeom>
          <a:solidFill>
            <a:srgbClr val="B23B2E"/>
          </a:solidFill>
          <a:ln>
            <a:noFill/>
          </a:ln>
        </p:spPr>
        <p:txBody>
          <a:bodyPr wrap="square" lIns="54864" tIns="54864" rIns="54864" bIns="54864" rtlCol="0" anchor="ctr">
            <a:noAutofit/>
          </a:bodyPr>
          <a:lstStyle/>
          <a:p>
            <a:endParaRPr lang="en-US"/>
          </a:p>
        </p:txBody>
      </p:sp>
      <p:sp>
        <p:nvSpPr>
          <p:cNvPr id="120" name="PersonBody"/>
          <p:cNvSpPr/>
          <p:nvPr/>
        </p:nvSpPr>
        <p:spPr>
          <a:xfrm>
            <a:off x="6370320" y="2375456"/>
            <a:ext cx="174102" cy="180320"/>
          </a:xfrm>
          <a:prstGeom prst="roundRect">
            <a:avLst>
              <a:gd name="adj" fmla="val 22000"/>
            </a:avLst>
          </a:prstGeom>
          <a:solidFill>
            <a:srgbClr val="B23B2E"/>
          </a:solidFill>
          <a:ln>
            <a:noFill/>
          </a:ln>
        </p:spPr>
        <p:txBody>
          <a:bodyPr wrap="square" lIns="54864" tIns="54864" rIns="54864" bIns="54864" rtlCol="0" anchor="ctr">
            <a:noAutofit/>
          </a:bodyPr>
          <a:lstStyle/>
          <a:p>
            <a:endParaRPr lang="en-US"/>
          </a:p>
        </p:txBody>
      </p:sp>
      <p:sp>
        <p:nvSpPr>
          <p:cNvPr id="121" name="PersonHead"/>
          <p:cNvSpPr/>
          <p:nvPr/>
        </p:nvSpPr>
        <p:spPr>
          <a:xfrm>
            <a:off x="6648298" y="2244880"/>
            <a:ext cx="111923" cy="111923"/>
          </a:xfrm>
          <a:prstGeom prst="ellipse">
            <a:avLst/>
          </a:prstGeom>
          <a:solidFill>
            <a:srgbClr val="B23B2E"/>
          </a:solidFill>
          <a:ln>
            <a:noFill/>
          </a:ln>
        </p:spPr>
        <p:txBody>
          <a:bodyPr wrap="square" lIns="54864" tIns="54864" rIns="54864" bIns="54864" rtlCol="0" anchor="ctr">
            <a:noAutofit/>
          </a:bodyPr>
          <a:lstStyle/>
          <a:p>
            <a:endParaRPr lang="en-US"/>
          </a:p>
        </p:txBody>
      </p:sp>
      <p:sp>
        <p:nvSpPr>
          <p:cNvPr id="122" name="PersonBody"/>
          <p:cNvSpPr/>
          <p:nvPr/>
        </p:nvSpPr>
        <p:spPr>
          <a:xfrm>
            <a:off x="6617208" y="2375456"/>
            <a:ext cx="174102" cy="180320"/>
          </a:xfrm>
          <a:prstGeom prst="roundRect">
            <a:avLst>
              <a:gd name="adj" fmla="val 22000"/>
            </a:avLst>
          </a:prstGeom>
          <a:solidFill>
            <a:srgbClr val="B23B2E"/>
          </a:solidFill>
          <a:ln>
            <a:noFill/>
          </a:ln>
        </p:spPr>
        <p:txBody>
          <a:bodyPr wrap="square" lIns="54864" tIns="54864" rIns="54864" bIns="54864" rtlCol="0" anchor="ctr">
            <a:noAutofit/>
          </a:bodyPr>
          <a:lstStyle/>
          <a:p>
            <a:endParaRPr lang="en-US"/>
          </a:p>
        </p:txBody>
      </p:sp>
      <p:sp>
        <p:nvSpPr>
          <p:cNvPr id="123" name="PersonHead"/>
          <p:cNvSpPr/>
          <p:nvPr/>
        </p:nvSpPr>
        <p:spPr>
          <a:xfrm>
            <a:off x="6895186" y="2244880"/>
            <a:ext cx="111923" cy="111923"/>
          </a:xfrm>
          <a:prstGeom prst="ellipse">
            <a:avLst/>
          </a:prstGeom>
          <a:solidFill>
            <a:srgbClr val="B23B2E"/>
          </a:solidFill>
          <a:ln>
            <a:noFill/>
          </a:ln>
        </p:spPr>
        <p:txBody>
          <a:bodyPr wrap="square" lIns="54864" tIns="54864" rIns="54864" bIns="54864" rtlCol="0" anchor="ctr">
            <a:noAutofit/>
          </a:bodyPr>
          <a:lstStyle/>
          <a:p>
            <a:endParaRPr lang="en-US"/>
          </a:p>
        </p:txBody>
      </p:sp>
      <p:sp>
        <p:nvSpPr>
          <p:cNvPr id="124" name="PersonBody"/>
          <p:cNvSpPr/>
          <p:nvPr/>
        </p:nvSpPr>
        <p:spPr>
          <a:xfrm>
            <a:off x="6864096" y="2375456"/>
            <a:ext cx="174102" cy="180320"/>
          </a:xfrm>
          <a:prstGeom prst="roundRect">
            <a:avLst>
              <a:gd name="adj" fmla="val 22000"/>
            </a:avLst>
          </a:prstGeom>
          <a:solidFill>
            <a:srgbClr val="B23B2E"/>
          </a:solidFill>
          <a:ln>
            <a:noFill/>
          </a:ln>
        </p:spPr>
        <p:txBody>
          <a:bodyPr wrap="square" lIns="54864" tIns="54864" rIns="54864" bIns="54864" rtlCol="0" anchor="ctr">
            <a:noAutofit/>
          </a:bodyPr>
          <a:lstStyle/>
          <a:p>
            <a:endParaRPr lang="en-US"/>
          </a:p>
        </p:txBody>
      </p:sp>
      <p:sp>
        <p:nvSpPr>
          <p:cNvPr id="125" name="PersonHead"/>
          <p:cNvSpPr/>
          <p:nvPr/>
        </p:nvSpPr>
        <p:spPr>
          <a:xfrm>
            <a:off x="7142074" y="2244880"/>
            <a:ext cx="111923" cy="111923"/>
          </a:xfrm>
          <a:prstGeom prst="ellipse">
            <a:avLst/>
          </a:prstGeom>
          <a:solidFill>
            <a:srgbClr val="B23B2E"/>
          </a:solidFill>
          <a:ln>
            <a:noFill/>
          </a:ln>
        </p:spPr>
        <p:txBody>
          <a:bodyPr wrap="square" lIns="54864" tIns="54864" rIns="54864" bIns="54864" rtlCol="0" anchor="ctr">
            <a:noAutofit/>
          </a:bodyPr>
          <a:lstStyle/>
          <a:p>
            <a:endParaRPr lang="en-US"/>
          </a:p>
        </p:txBody>
      </p:sp>
      <p:sp>
        <p:nvSpPr>
          <p:cNvPr id="126" name="PersonBody"/>
          <p:cNvSpPr/>
          <p:nvPr/>
        </p:nvSpPr>
        <p:spPr>
          <a:xfrm>
            <a:off x="7110984" y="2375456"/>
            <a:ext cx="174102" cy="180320"/>
          </a:xfrm>
          <a:prstGeom prst="roundRect">
            <a:avLst>
              <a:gd name="adj" fmla="val 22000"/>
            </a:avLst>
          </a:prstGeom>
          <a:solidFill>
            <a:srgbClr val="B23B2E"/>
          </a:solidFill>
          <a:ln>
            <a:noFill/>
          </a:ln>
        </p:spPr>
        <p:txBody>
          <a:bodyPr wrap="square" lIns="54864" tIns="54864" rIns="54864" bIns="54864" rtlCol="0" anchor="ctr">
            <a:noAutofit/>
          </a:bodyPr>
          <a:lstStyle/>
          <a:p>
            <a:endParaRPr lang="en-US"/>
          </a:p>
        </p:txBody>
      </p:sp>
      <p:sp>
        <p:nvSpPr>
          <p:cNvPr id="127" name="PersonHead"/>
          <p:cNvSpPr/>
          <p:nvPr/>
        </p:nvSpPr>
        <p:spPr>
          <a:xfrm>
            <a:off x="7388962" y="2244880"/>
            <a:ext cx="111923" cy="111923"/>
          </a:xfrm>
          <a:prstGeom prst="ellipse">
            <a:avLst/>
          </a:prstGeom>
          <a:solidFill>
            <a:srgbClr val="B23B2E"/>
          </a:solidFill>
          <a:ln>
            <a:noFill/>
          </a:ln>
        </p:spPr>
        <p:txBody>
          <a:bodyPr wrap="square" lIns="54864" tIns="54864" rIns="54864" bIns="54864" rtlCol="0" anchor="ctr">
            <a:noAutofit/>
          </a:bodyPr>
          <a:lstStyle/>
          <a:p>
            <a:endParaRPr lang="en-US"/>
          </a:p>
        </p:txBody>
      </p:sp>
      <p:sp>
        <p:nvSpPr>
          <p:cNvPr id="128" name="PersonBody"/>
          <p:cNvSpPr/>
          <p:nvPr/>
        </p:nvSpPr>
        <p:spPr>
          <a:xfrm>
            <a:off x="7357872" y="2375456"/>
            <a:ext cx="174102" cy="180320"/>
          </a:xfrm>
          <a:prstGeom prst="roundRect">
            <a:avLst>
              <a:gd name="adj" fmla="val 22000"/>
            </a:avLst>
          </a:prstGeom>
          <a:solidFill>
            <a:srgbClr val="B23B2E"/>
          </a:solidFill>
          <a:ln>
            <a:noFill/>
          </a:ln>
        </p:spPr>
        <p:txBody>
          <a:bodyPr wrap="square" lIns="54864" tIns="54864" rIns="54864" bIns="54864" rtlCol="0" anchor="ctr">
            <a:noAutofit/>
          </a:bodyPr>
          <a:lstStyle/>
          <a:p>
            <a:endParaRPr lang="en-US"/>
          </a:p>
        </p:txBody>
      </p:sp>
      <p:sp>
        <p:nvSpPr>
          <p:cNvPr id="129" name="PersonHead"/>
          <p:cNvSpPr/>
          <p:nvPr/>
        </p:nvSpPr>
        <p:spPr>
          <a:xfrm>
            <a:off x="7635850" y="2244880"/>
            <a:ext cx="111923" cy="111923"/>
          </a:xfrm>
          <a:prstGeom prst="ellipse">
            <a:avLst/>
          </a:prstGeom>
          <a:solidFill>
            <a:srgbClr val="B23B2E"/>
          </a:solidFill>
          <a:ln>
            <a:noFill/>
          </a:ln>
        </p:spPr>
        <p:txBody>
          <a:bodyPr wrap="square" lIns="54864" tIns="54864" rIns="54864" bIns="54864" rtlCol="0" anchor="ctr">
            <a:noAutofit/>
          </a:bodyPr>
          <a:lstStyle/>
          <a:p>
            <a:endParaRPr lang="en-US"/>
          </a:p>
        </p:txBody>
      </p:sp>
      <p:sp>
        <p:nvSpPr>
          <p:cNvPr id="130" name="PersonBody"/>
          <p:cNvSpPr/>
          <p:nvPr/>
        </p:nvSpPr>
        <p:spPr>
          <a:xfrm>
            <a:off x="7604760" y="2375456"/>
            <a:ext cx="174102" cy="180320"/>
          </a:xfrm>
          <a:prstGeom prst="roundRect">
            <a:avLst>
              <a:gd name="adj" fmla="val 22000"/>
            </a:avLst>
          </a:prstGeom>
          <a:solidFill>
            <a:srgbClr val="B23B2E"/>
          </a:solidFill>
          <a:ln>
            <a:noFill/>
          </a:ln>
        </p:spPr>
        <p:txBody>
          <a:bodyPr wrap="square" lIns="54864" tIns="54864" rIns="54864" bIns="54864" rtlCol="0" anchor="ctr">
            <a:noAutofit/>
          </a:bodyPr>
          <a:lstStyle/>
          <a:p>
            <a:endParaRPr lang="en-US"/>
          </a:p>
        </p:txBody>
      </p:sp>
      <p:sp>
        <p:nvSpPr>
          <p:cNvPr id="131" name="PersonHead"/>
          <p:cNvSpPr/>
          <p:nvPr/>
        </p:nvSpPr>
        <p:spPr>
          <a:xfrm>
            <a:off x="7882738" y="2244880"/>
            <a:ext cx="111923" cy="111923"/>
          </a:xfrm>
          <a:prstGeom prst="ellipse">
            <a:avLst/>
          </a:prstGeom>
          <a:solidFill>
            <a:srgbClr val="B23B2E"/>
          </a:solidFill>
          <a:ln>
            <a:noFill/>
          </a:ln>
        </p:spPr>
        <p:txBody>
          <a:bodyPr wrap="square" lIns="54864" tIns="54864" rIns="54864" bIns="54864" rtlCol="0" anchor="ctr">
            <a:noAutofit/>
          </a:bodyPr>
          <a:lstStyle/>
          <a:p>
            <a:endParaRPr lang="en-US"/>
          </a:p>
        </p:txBody>
      </p:sp>
      <p:sp>
        <p:nvSpPr>
          <p:cNvPr id="132" name="PersonBody"/>
          <p:cNvSpPr/>
          <p:nvPr/>
        </p:nvSpPr>
        <p:spPr>
          <a:xfrm>
            <a:off x="7851648" y="2375456"/>
            <a:ext cx="174102" cy="180320"/>
          </a:xfrm>
          <a:prstGeom prst="roundRect">
            <a:avLst>
              <a:gd name="adj" fmla="val 22000"/>
            </a:avLst>
          </a:prstGeom>
          <a:solidFill>
            <a:srgbClr val="B23B2E"/>
          </a:solidFill>
          <a:ln>
            <a:noFill/>
          </a:ln>
        </p:spPr>
        <p:txBody>
          <a:bodyPr wrap="square" lIns="54864" tIns="54864" rIns="54864" bIns="54864" rtlCol="0" anchor="ctr">
            <a:noAutofit/>
          </a:bodyPr>
          <a:lstStyle/>
          <a:p>
            <a:endParaRPr lang="en-US"/>
          </a:p>
        </p:txBody>
      </p:sp>
      <p:sp>
        <p:nvSpPr>
          <p:cNvPr id="133" name="PersonHead"/>
          <p:cNvSpPr/>
          <p:nvPr/>
        </p:nvSpPr>
        <p:spPr>
          <a:xfrm>
            <a:off x="8129626" y="2244880"/>
            <a:ext cx="111923" cy="111923"/>
          </a:xfrm>
          <a:prstGeom prst="ellipse">
            <a:avLst/>
          </a:prstGeom>
          <a:solidFill>
            <a:srgbClr val="B23B2E"/>
          </a:solidFill>
          <a:ln>
            <a:noFill/>
          </a:ln>
        </p:spPr>
        <p:txBody>
          <a:bodyPr wrap="square" lIns="54864" tIns="54864" rIns="54864" bIns="54864" rtlCol="0" anchor="ctr">
            <a:noAutofit/>
          </a:bodyPr>
          <a:lstStyle/>
          <a:p>
            <a:endParaRPr lang="en-US"/>
          </a:p>
        </p:txBody>
      </p:sp>
      <p:sp>
        <p:nvSpPr>
          <p:cNvPr id="134" name="PersonBody"/>
          <p:cNvSpPr/>
          <p:nvPr/>
        </p:nvSpPr>
        <p:spPr>
          <a:xfrm>
            <a:off x="8098536" y="2375456"/>
            <a:ext cx="174102" cy="180320"/>
          </a:xfrm>
          <a:prstGeom prst="roundRect">
            <a:avLst>
              <a:gd name="adj" fmla="val 22000"/>
            </a:avLst>
          </a:prstGeom>
          <a:solidFill>
            <a:srgbClr val="B23B2E"/>
          </a:solidFill>
          <a:ln>
            <a:noFill/>
          </a:ln>
        </p:spPr>
        <p:txBody>
          <a:bodyPr wrap="square" lIns="54864" tIns="54864" rIns="54864" bIns="54864" rtlCol="0" anchor="ctr">
            <a:noAutofit/>
          </a:bodyPr>
          <a:lstStyle/>
          <a:p>
            <a:endParaRPr lang="en-US"/>
          </a:p>
        </p:txBody>
      </p:sp>
      <p:sp>
        <p:nvSpPr>
          <p:cNvPr id="135" name="PersonHead"/>
          <p:cNvSpPr/>
          <p:nvPr/>
        </p:nvSpPr>
        <p:spPr>
          <a:xfrm>
            <a:off x="8376514" y="2244880"/>
            <a:ext cx="111923" cy="111923"/>
          </a:xfrm>
          <a:prstGeom prst="ellipse">
            <a:avLst/>
          </a:prstGeom>
          <a:solidFill>
            <a:srgbClr val="B23B2E"/>
          </a:solidFill>
          <a:ln>
            <a:noFill/>
          </a:ln>
        </p:spPr>
        <p:txBody>
          <a:bodyPr wrap="square" lIns="54864" tIns="54864" rIns="54864" bIns="54864" rtlCol="0" anchor="ctr">
            <a:noAutofit/>
          </a:bodyPr>
          <a:lstStyle/>
          <a:p>
            <a:endParaRPr lang="en-US"/>
          </a:p>
        </p:txBody>
      </p:sp>
      <p:sp>
        <p:nvSpPr>
          <p:cNvPr id="136" name="PersonBody"/>
          <p:cNvSpPr/>
          <p:nvPr/>
        </p:nvSpPr>
        <p:spPr>
          <a:xfrm>
            <a:off x="8345424" y="2375456"/>
            <a:ext cx="174102" cy="180320"/>
          </a:xfrm>
          <a:prstGeom prst="roundRect">
            <a:avLst>
              <a:gd name="adj" fmla="val 22000"/>
            </a:avLst>
          </a:prstGeom>
          <a:solidFill>
            <a:srgbClr val="B23B2E"/>
          </a:solidFill>
          <a:ln>
            <a:noFill/>
          </a:ln>
        </p:spPr>
        <p:txBody>
          <a:bodyPr wrap="square" lIns="54864" tIns="54864" rIns="54864" bIns="54864" rtlCol="0" anchor="ctr">
            <a:noAutofit/>
          </a:bodyPr>
          <a:lstStyle/>
          <a:p>
            <a:endParaRPr lang="en-US"/>
          </a:p>
        </p:txBody>
      </p:sp>
      <p:sp>
        <p:nvSpPr>
          <p:cNvPr id="137" name="PersonHead"/>
          <p:cNvSpPr/>
          <p:nvPr/>
        </p:nvSpPr>
        <p:spPr>
          <a:xfrm>
            <a:off x="6154522" y="2619784"/>
            <a:ext cx="111923" cy="111923"/>
          </a:xfrm>
          <a:prstGeom prst="ellipse">
            <a:avLst/>
          </a:prstGeom>
          <a:solidFill>
            <a:srgbClr val="B23B2E"/>
          </a:solidFill>
          <a:ln>
            <a:noFill/>
          </a:ln>
        </p:spPr>
        <p:txBody>
          <a:bodyPr wrap="square" lIns="54864" tIns="54864" rIns="54864" bIns="54864" rtlCol="0" anchor="ctr">
            <a:noAutofit/>
          </a:bodyPr>
          <a:lstStyle/>
          <a:p>
            <a:endParaRPr lang="en-US"/>
          </a:p>
        </p:txBody>
      </p:sp>
      <p:sp>
        <p:nvSpPr>
          <p:cNvPr id="138" name="PersonBody"/>
          <p:cNvSpPr/>
          <p:nvPr/>
        </p:nvSpPr>
        <p:spPr>
          <a:xfrm>
            <a:off x="6123432" y="2750360"/>
            <a:ext cx="174102" cy="180320"/>
          </a:xfrm>
          <a:prstGeom prst="roundRect">
            <a:avLst>
              <a:gd name="adj" fmla="val 22000"/>
            </a:avLst>
          </a:prstGeom>
          <a:solidFill>
            <a:srgbClr val="B23B2E"/>
          </a:solidFill>
          <a:ln>
            <a:noFill/>
          </a:ln>
        </p:spPr>
        <p:txBody>
          <a:bodyPr wrap="square" lIns="54864" tIns="54864" rIns="54864" bIns="54864" rtlCol="0" anchor="ctr">
            <a:noAutofit/>
          </a:bodyPr>
          <a:lstStyle/>
          <a:p>
            <a:endParaRPr lang="en-US"/>
          </a:p>
        </p:txBody>
      </p:sp>
      <p:sp>
        <p:nvSpPr>
          <p:cNvPr id="139" name="PersonHead"/>
          <p:cNvSpPr/>
          <p:nvPr/>
        </p:nvSpPr>
        <p:spPr>
          <a:xfrm>
            <a:off x="6401410" y="2619784"/>
            <a:ext cx="111923" cy="111923"/>
          </a:xfrm>
          <a:prstGeom prst="ellipse">
            <a:avLst/>
          </a:prstGeom>
          <a:solidFill>
            <a:srgbClr val="B23B2E"/>
          </a:solidFill>
          <a:ln>
            <a:noFill/>
          </a:ln>
        </p:spPr>
        <p:txBody>
          <a:bodyPr wrap="square" lIns="54864" tIns="54864" rIns="54864" bIns="54864" rtlCol="0" anchor="ctr">
            <a:noAutofit/>
          </a:bodyPr>
          <a:lstStyle/>
          <a:p>
            <a:endParaRPr lang="en-US"/>
          </a:p>
        </p:txBody>
      </p:sp>
      <p:sp>
        <p:nvSpPr>
          <p:cNvPr id="140" name="PersonBody"/>
          <p:cNvSpPr/>
          <p:nvPr/>
        </p:nvSpPr>
        <p:spPr>
          <a:xfrm>
            <a:off x="6370320" y="2750360"/>
            <a:ext cx="174102" cy="180320"/>
          </a:xfrm>
          <a:prstGeom prst="roundRect">
            <a:avLst>
              <a:gd name="adj" fmla="val 22000"/>
            </a:avLst>
          </a:prstGeom>
          <a:solidFill>
            <a:srgbClr val="B23B2E"/>
          </a:solidFill>
          <a:ln>
            <a:noFill/>
          </a:ln>
        </p:spPr>
        <p:txBody>
          <a:bodyPr wrap="square" lIns="54864" tIns="54864" rIns="54864" bIns="54864" rtlCol="0" anchor="ctr">
            <a:noAutofit/>
          </a:bodyPr>
          <a:lstStyle/>
          <a:p>
            <a:endParaRPr lang="en-US"/>
          </a:p>
        </p:txBody>
      </p:sp>
      <p:sp>
        <p:nvSpPr>
          <p:cNvPr id="141" name="PersonHead"/>
          <p:cNvSpPr/>
          <p:nvPr/>
        </p:nvSpPr>
        <p:spPr>
          <a:xfrm>
            <a:off x="6648298" y="2619784"/>
            <a:ext cx="111923" cy="111923"/>
          </a:xfrm>
          <a:prstGeom prst="ellipse">
            <a:avLst/>
          </a:prstGeom>
          <a:solidFill>
            <a:srgbClr val="B23B2E"/>
          </a:solidFill>
          <a:ln>
            <a:noFill/>
          </a:ln>
        </p:spPr>
        <p:txBody>
          <a:bodyPr wrap="square" lIns="54864" tIns="54864" rIns="54864" bIns="54864" rtlCol="0" anchor="ctr">
            <a:noAutofit/>
          </a:bodyPr>
          <a:lstStyle/>
          <a:p>
            <a:endParaRPr lang="en-US"/>
          </a:p>
        </p:txBody>
      </p:sp>
      <p:sp>
        <p:nvSpPr>
          <p:cNvPr id="142" name="PersonBody"/>
          <p:cNvSpPr/>
          <p:nvPr/>
        </p:nvSpPr>
        <p:spPr>
          <a:xfrm>
            <a:off x="6617208" y="2750360"/>
            <a:ext cx="174102" cy="180320"/>
          </a:xfrm>
          <a:prstGeom prst="roundRect">
            <a:avLst>
              <a:gd name="adj" fmla="val 22000"/>
            </a:avLst>
          </a:prstGeom>
          <a:solidFill>
            <a:srgbClr val="B23B2E"/>
          </a:solidFill>
          <a:ln>
            <a:noFill/>
          </a:ln>
        </p:spPr>
        <p:txBody>
          <a:bodyPr wrap="square" lIns="54864" tIns="54864" rIns="54864" bIns="54864" rtlCol="0" anchor="ctr">
            <a:noAutofit/>
          </a:bodyPr>
          <a:lstStyle/>
          <a:p>
            <a:endParaRPr lang="en-US"/>
          </a:p>
        </p:txBody>
      </p:sp>
      <p:sp>
        <p:nvSpPr>
          <p:cNvPr id="143" name="PersonHead"/>
          <p:cNvSpPr/>
          <p:nvPr/>
        </p:nvSpPr>
        <p:spPr>
          <a:xfrm>
            <a:off x="6895186" y="2619784"/>
            <a:ext cx="111923" cy="111923"/>
          </a:xfrm>
          <a:prstGeom prst="ellipse">
            <a:avLst/>
          </a:prstGeom>
          <a:solidFill>
            <a:srgbClr val="B23B2E"/>
          </a:solidFill>
          <a:ln>
            <a:noFill/>
          </a:ln>
        </p:spPr>
        <p:txBody>
          <a:bodyPr wrap="square" lIns="54864" tIns="54864" rIns="54864" bIns="54864" rtlCol="0" anchor="ctr">
            <a:noAutofit/>
          </a:bodyPr>
          <a:lstStyle/>
          <a:p>
            <a:endParaRPr lang="en-US"/>
          </a:p>
        </p:txBody>
      </p:sp>
      <p:sp>
        <p:nvSpPr>
          <p:cNvPr id="144" name="PersonBody"/>
          <p:cNvSpPr/>
          <p:nvPr/>
        </p:nvSpPr>
        <p:spPr>
          <a:xfrm>
            <a:off x="6864096" y="2750360"/>
            <a:ext cx="174102" cy="180320"/>
          </a:xfrm>
          <a:prstGeom prst="roundRect">
            <a:avLst>
              <a:gd name="adj" fmla="val 22000"/>
            </a:avLst>
          </a:prstGeom>
          <a:solidFill>
            <a:srgbClr val="B23B2E"/>
          </a:solidFill>
          <a:ln>
            <a:noFill/>
          </a:ln>
        </p:spPr>
        <p:txBody>
          <a:bodyPr wrap="square" lIns="54864" tIns="54864" rIns="54864" bIns="54864" rtlCol="0" anchor="ctr">
            <a:noAutofit/>
          </a:bodyPr>
          <a:lstStyle/>
          <a:p>
            <a:endParaRPr lang="en-US"/>
          </a:p>
        </p:txBody>
      </p:sp>
      <p:sp>
        <p:nvSpPr>
          <p:cNvPr id="145" name="PersonHead"/>
          <p:cNvSpPr/>
          <p:nvPr/>
        </p:nvSpPr>
        <p:spPr>
          <a:xfrm>
            <a:off x="7142074" y="2619784"/>
            <a:ext cx="111923" cy="111923"/>
          </a:xfrm>
          <a:prstGeom prst="ellipse">
            <a:avLst/>
          </a:prstGeom>
          <a:solidFill>
            <a:srgbClr val="B23B2E"/>
          </a:solidFill>
          <a:ln>
            <a:noFill/>
          </a:ln>
        </p:spPr>
        <p:txBody>
          <a:bodyPr wrap="square" lIns="54864" tIns="54864" rIns="54864" bIns="54864" rtlCol="0" anchor="ctr">
            <a:noAutofit/>
          </a:bodyPr>
          <a:lstStyle/>
          <a:p>
            <a:endParaRPr lang="en-US"/>
          </a:p>
        </p:txBody>
      </p:sp>
      <p:sp>
        <p:nvSpPr>
          <p:cNvPr id="146" name="PersonBody"/>
          <p:cNvSpPr/>
          <p:nvPr/>
        </p:nvSpPr>
        <p:spPr>
          <a:xfrm>
            <a:off x="7110984" y="2750360"/>
            <a:ext cx="174102" cy="180320"/>
          </a:xfrm>
          <a:prstGeom prst="roundRect">
            <a:avLst>
              <a:gd name="adj" fmla="val 22000"/>
            </a:avLst>
          </a:prstGeom>
          <a:solidFill>
            <a:srgbClr val="B23B2E"/>
          </a:solidFill>
          <a:ln>
            <a:noFill/>
          </a:ln>
        </p:spPr>
        <p:txBody>
          <a:bodyPr wrap="square" lIns="54864" tIns="54864" rIns="54864" bIns="54864" rtlCol="0" anchor="ctr">
            <a:noAutofit/>
          </a:bodyPr>
          <a:lstStyle/>
          <a:p>
            <a:endParaRPr lang="en-US"/>
          </a:p>
        </p:txBody>
      </p:sp>
      <p:sp>
        <p:nvSpPr>
          <p:cNvPr id="147" name="PersonHead"/>
          <p:cNvSpPr/>
          <p:nvPr/>
        </p:nvSpPr>
        <p:spPr>
          <a:xfrm>
            <a:off x="7388962" y="2619784"/>
            <a:ext cx="111923" cy="111923"/>
          </a:xfrm>
          <a:prstGeom prst="ellipse">
            <a:avLst/>
          </a:prstGeom>
          <a:solidFill>
            <a:srgbClr val="B23B2E"/>
          </a:solidFill>
          <a:ln>
            <a:noFill/>
          </a:ln>
        </p:spPr>
        <p:txBody>
          <a:bodyPr wrap="square" lIns="54864" tIns="54864" rIns="54864" bIns="54864" rtlCol="0" anchor="ctr">
            <a:noAutofit/>
          </a:bodyPr>
          <a:lstStyle/>
          <a:p>
            <a:endParaRPr lang="en-US"/>
          </a:p>
        </p:txBody>
      </p:sp>
      <p:sp>
        <p:nvSpPr>
          <p:cNvPr id="148" name="PersonBody"/>
          <p:cNvSpPr/>
          <p:nvPr/>
        </p:nvSpPr>
        <p:spPr>
          <a:xfrm>
            <a:off x="7357872" y="2750360"/>
            <a:ext cx="174102" cy="180320"/>
          </a:xfrm>
          <a:prstGeom prst="roundRect">
            <a:avLst>
              <a:gd name="adj" fmla="val 22000"/>
            </a:avLst>
          </a:prstGeom>
          <a:solidFill>
            <a:srgbClr val="B23B2E"/>
          </a:solidFill>
          <a:ln>
            <a:noFill/>
          </a:ln>
        </p:spPr>
        <p:txBody>
          <a:bodyPr wrap="square" lIns="54864" tIns="54864" rIns="54864" bIns="54864" rtlCol="0" anchor="ctr">
            <a:noAutofit/>
          </a:bodyPr>
          <a:lstStyle/>
          <a:p>
            <a:endParaRPr lang="en-US"/>
          </a:p>
        </p:txBody>
      </p:sp>
      <p:sp>
        <p:nvSpPr>
          <p:cNvPr id="149" name="PersonHead"/>
          <p:cNvSpPr/>
          <p:nvPr/>
        </p:nvSpPr>
        <p:spPr>
          <a:xfrm>
            <a:off x="7635850" y="2619784"/>
            <a:ext cx="111923" cy="111923"/>
          </a:xfrm>
          <a:prstGeom prst="ellipse">
            <a:avLst/>
          </a:prstGeom>
          <a:solidFill>
            <a:srgbClr val="B23B2E"/>
          </a:solidFill>
          <a:ln>
            <a:noFill/>
          </a:ln>
        </p:spPr>
        <p:txBody>
          <a:bodyPr wrap="square" lIns="54864" tIns="54864" rIns="54864" bIns="54864" rtlCol="0" anchor="ctr">
            <a:noAutofit/>
          </a:bodyPr>
          <a:lstStyle/>
          <a:p>
            <a:endParaRPr lang="en-US"/>
          </a:p>
        </p:txBody>
      </p:sp>
      <p:sp>
        <p:nvSpPr>
          <p:cNvPr id="150" name="PersonBody"/>
          <p:cNvSpPr/>
          <p:nvPr/>
        </p:nvSpPr>
        <p:spPr>
          <a:xfrm>
            <a:off x="7604760" y="2750360"/>
            <a:ext cx="174102" cy="180320"/>
          </a:xfrm>
          <a:prstGeom prst="roundRect">
            <a:avLst>
              <a:gd name="adj" fmla="val 22000"/>
            </a:avLst>
          </a:prstGeom>
          <a:solidFill>
            <a:srgbClr val="B23B2E"/>
          </a:solidFill>
          <a:ln>
            <a:noFill/>
          </a:ln>
        </p:spPr>
        <p:txBody>
          <a:bodyPr wrap="square" lIns="54864" tIns="54864" rIns="54864" bIns="54864" rtlCol="0" anchor="ctr">
            <a:noAutofit/>
          </a:bodyPr>
          <a:lstStyle/>
          <a:p>
            <a:endParaRPr lang="en-US"/>
          </a:p>
        </p:txBody>
      </p:sp>
      <p:sp>
        <p:nvSpPr>
          <p:cNvPr id="151" name="PersonHead"/>
          <p:cNvSpPr/>
          <p:nvPr/>
        </p:nvSpPr>
        <p:spPr>
          <a:xfrm>
            <a:off x="7882738" y="2619784"/>
            <a:ext cx="111923" cy="111923"/>
          </a:xfrm>
          <a:prstGeom prst="ellipse">
            <a:avLst/>
          </a:prstGeom>
          <a:solidFill>
            <a:srgbClr val="B23B2E"/>
          </a:solidFill>
          <a:ln>
            <a:noFill/>
          </a:ln>
        </p:spPr>
        <p:txBody>
          <a:bodyPr wrap="square" lIns="54864" tIns="54864" rIns="54864" bIns="54864" rtlCol="0" anchor="ctr">
            <a:noAutofit/>
          </a:bodyPr>
          <a:lstStyle/>
          <a:p>
            <a:endParaRPr lang="en-US"/>
          </a:p>
        </p:txBody>
      </p:sp>
      <p:sp>
        <p:nvSpPr>
          <p:cNvPr id="152" name="PersonBody"/>
          <p:cNvSpPr/>
          <p:nvPr/>
        </p:nvSpPr>
        <p:spPr>
          <a:xfrm>
            <a:off x="7851648" y="2750360"/>
            <a:ext cx="174102" cy="180320"/>
          </a:xfrm>
          <a:prstGeom prst="roundRect">
            <a:avLst>
              <a:gd name="adj" fmla="val 22000"/>
            </a:avLst>
          </a:prstGeom>
          <a:solidFill>
            <a:srgbClr val="B23B2E"/>
          </a:solidFill>
          <a:ln>
            <a:noFill/>
          </a:ln>
        </p:spPr>
        <p:txBody>
          <a:bodyPr wrap="square" lIns="54864" tIns="54864" rIns="54864" bIns="54864" rtlCol="0" anchor="ctr">
            <a:noAutofit/>
          </a:bodyPr>
          <a:lstStyle/>
          <a:p>
            <a:endParaRPr lang="en-US"/>
          </a:p>
        </p:txBody>
      </p:sp>
      <p:sp>
        <p:nvSpPr>
          <p:cNvPr id="153" name="PersonHead"/>
          <p:cNvSpPr/>
          <p:nvPr/>
        </p:nvSpPr>
        <p:spPr>
          <a:xfrm>
            <a:off x="8129626" y="2619784"/>
            <a:ext cx="111923" cy="111923"/>
          </a:xfrm>
          <a:prstGeom prst="ellipse">
            <a:avLst/>
          </a:prstGeom>
          <a:solidFill>
            <a:srgbClr val="B23B2E"/>
          </a:solidFill>
          <a:ln>
            <a:noFill/>
          </a:ln>
        </p:spPr>
        <p:txBody>
          <a:bodyPr wrap="square" lIns="54864" tIns="54864" rIns="54864" bIns="54864" rtlCol="0" anchor="ctr">
            <a:noAutofit/>
          </a:bodyPr>
          <a:lstStyle/>
          <a:p>
            <a:endParaRPr lang="en-US"/>
          </a:p>
        </p:txBody>
      </p:sp>
      <p:sp>
        <p:nvSpPr>
          <p:cNvPr id="154" name="PersonBody"/>
          <p:cNvSpPr/>
          <p:nvPr/>
        </p:nvSpPr>
        <p:spPr>
          <a:xfrm>
            <a:off x="8098536" y="2750360"/>
            <a:ext cx="174102" cy="180320"/>
          </a:xfrm>
          <a:prstGeom prst="roundRect">
            <a:avLst>
              <a:gd name="adj" fmla="val 22000"/>
            </a:avLst>
          </a:prstGeom>
          <a:solidFill>
            <a:srgbClr val="B23B2E"/>
          </a:solidFill>
          <a:ln>
            <a:noFill/>
          </a:ln>
        </p:spPr>
        <p:txBody>
          <a:bodyPr wrap="square" lIns="54864" tIns="54864" rIns="54864" bIns="54864" rtlCol="0" anchor="ctr">
            <a:noAutofit/>
          </a:bodyPr>
          <a:lstStyle/>
          <a:p>
            <a:endParaRPr lang="en-US"/>
          </a:p>
        </p:txBody>
      </p:sp>
      <p:sp>
        <p:nvSpPr>
          <p:cNvPr id="155" name="PersonHead"/>
          <p:cNvSpPr/>
          <p:nvPr/>
        </p:nvSpPr>
        <p:spPr>
          <a:xfrm>
            <a:off x="8376514" y="2619784"/>
            <a:ext cx="111923" cy="111923"/>
          </a:xfrm>
          <a:prstGeom prst="ellipse">
            <a:avLst/>
          </a:prstGeom>
          <a:solidFill>
            <a:srgbClr val="B23B2E"/>
          </a:solidFill>
          <a:ln>
            <a:noFill/>
          </a:ln>
        </p:spPr>
        <p:txBody>
          <a:bodyPr wrap="square" lIns="54864" tIns="54864" rIns="54864" bIns="54864" rtlCol="0" anchor="ctr">
            <a:noAutofit/>
          </a:bodyPr>
          <a:lstStyle/>
          <a:p>
            <a:endParaRPr lang="en-US"/>
          </a:p>
        </p:txBody>
      </p:sp>
      <p:sp>
        <p:nvSpPr>
          <p:cNvPr id="156" name="PersonBody"/>
          <p:cNvSpPr/>
          <p:nvPr/>
        </p:nvSpPr>
        <p:spPr>
          <a:xfrm>
            <a:off x="8345424" y="2750360"/>
            <a:ext cx="174102" cy="180320"/>
          </a:xfrm>
          <a:prstGeom prst="roundRect">
            <a:avLst>
              <a:gd name="adj" fmla="val 22000"/>
            </a:avLst>
          </a:prstGeom>
          <a:solidFill>
            <a:srgbClr val="B23B2E"/>
          </a:solidFill>
          <a:ln>
            <a:noFill/>
          </a:ln>
        </p:spPr>
        <p:txBody>
          <a:bodyPr wrap="square" lIns="54864" tIns="54864" rIns="54864" bIns="54864" rtlCol="0" anchor="ctr">
            <a:noAutofit/>
          </a:bodyPr>
          <a:lstStyle/>
          <a:p>
            <a:endParaRPr lang="en-US"/>
          </a:p>
        </p:txBody>
      </p:sp>
      <p:sp>
        <p:nvSpPr>
          <p:cNvPr id="157" name="PersonHead"/>
          <p:cNvSpPr/>
          <p:nvPr/>
        </p:nvSpPr>
        <p:spPr>
          <a:xfrm>
            <a:off x="6154522" y="2994688"/>
            <a:ext cx="111923" cy="111923"/>
          </a:xfrm>
          <a:prstGeom prst="ellipse">
            <a:avLst/>
          </a:prstGeom>
          <a:solidFill>
            <a:srgbClr val="B23B2E"/>
          </a:solidFill>
          <a:ln>
            <a:noFill/>
          </a:ln>
        </p:spPr>
        <p:txBody>
          <a:bodyPr wrap="square" lIns="54864" tIns="54864" rIns="54864" bIns="54864" rtlCol="0" anchor="ctr">
            <a:noAutofit/>
          </a:bodyPr>
          <a:lstStyle/>
          <a:p>
            <a:endParaRPr lang="en-US"/>
          </a:p>
        </p:txBody>
      </p:sp>
      <p:sp>
        <p:nvSpPr>
          <p:cNvPr id="158" name="PersonBody"/>
          <p:cNvSpPr/>
          <p:nvPr/>
        </p:nvSpPr>
        <p:spPr>
          <a:xfrm>
            <a:off x="6123432" y="3125264"/>
            <a:ext cx="174102" cy="180320"/>
          </a:xfrm>
          <a:prstGeom prst="roundRect">
            <a:avLst>
              <a:gd name="adj" fmla="val 22000"/>
            </a:avLst>
          </a:prstGeom>
          <a:solidFill>
            <a:srgbClr val="B23B2E"/>
          </a:solidFill>
          <a:ln>
            <a:noFill/>
          </a:ln>
        </p:spPr>
        <p:txBody>
          <a:bodyPr wrap="square" lIns="54864" tIns="54864" rIns="54864" bIns="54864" rtlCol="0" anchor="ctr">
            <a:noAutofit/>
          </a:bodyPr>
          <a:lstStyle/>
          <a:p>
            <a:endParaRPr lang="en-US"/>
          </a:p>
        </p:txBody>
      </p:sp>
      <p:sp>
        <p:nvSpPr>
          <p:cNvPr id="159" name="PersonHead"/>
          <p:cNvSpPr/>
          <p:nvPr/>
        </p:nvSpPr>
        <p:spPr>
          <a:xfrm>
            <a:off x="6401410" y="2994688"/>
            <a:ext cx="111923" cy="111923"/>
          </a:xfrm>
          <a:prstGeom prst="ellipse">
            <a:avLst/>
          </a:prstGeom>
          <a:solidFill>
            <a:srgbClr val="0D7377"/>
          </a:solidFill>
          <a:ln>
            <a:noFill/>
          </a:ln>
        </p:spPr>
        <p:txBody>
          <a:bodyPr wrap="square" lIns="54864" tIns="54864" rIns="54864" bIns="54864" rtlCol="0" anchor="ctr">
            <a:noAutofit/>
          </a:bodyPr>
          <a:lstStyle/>
          <a:p>
            <a:endParaRPr lang="en-US"/>
          </a:p>
        </p:txBody>
      </p:sp>
      <p:sp>
        <p:nvSpPr>
          <p:cNvPr id="160" name="PersonBody"/>
          <p:cNvSpPr/>
          <p:nvPr/>
        </p:nvSpPr>
        <p:spPr>
          <a:xfrm>
            <a:off x="6370320" y="3125264"/>
            <a:ext cx="174102" cy="180320"/>
          </a:xfrm>
          <a:prstGeom prst="roundRect">
            <a:avLst>
              <a:gd name="adj" fmla="val 22000"/>
            </a:avLst>
          </a:prstGeom>
          <a:solidFill>
            <a:srgbClr val="0D7377"/>
          </a:solidFill>
          <a:ln>
            <a:noFill/>
          </a:ln>
        </p:spPr>
        <p:txBody>
          <a:bodyPr wrap="square" lIns="54864" tIns="54864" rIns="54864" bIns="54864" rtlCol="0" anchor="ctr">
            <a:noAutofit/>
          </a:bodyPr>
          <a:lstStyle/>
          <a:p>
            <a:endParaRPr lang="en-US"/>
          </a:p>
        </p:txBody>
      </p:sp>
      <p:sp>
        <p:nvSpPr>
          <p:cNvPr id="161" name="PersonHead"/>
          <p:cNvSpPr/>
          <p:nvPr/>
        </p:nvSpPr>
        <p:spPr>
          <a:xfrm>
            <a:off x="6648298" y="2994688"/>
            <a:ext cx="111923" cy="111923"/>
          </a:xfrm>
          <a:prstGeom prst="ellipse">
            <a:avLst/>
          </a:prstGeom>
          <a:solidFill>
            <a:srgbClr val="0D7377"/>
          </a:solidFill>
          <a:ln>
            <a:noFill/>
          </a:ln>
        </p:spPr>
        <p:txBody>
          <a:bodyPr wrap="square" lIns="54864" tIns="54864" rIns="54864" bIns="54864" rtlCol="0" anchor="ctr">
            <a:noAutofit/>
          </a:bodyPr>
          <a:lstStyle/>
          <a:p>
            <a:endParaRPr lang="en-US"/>
          </a:p>
        </p:txBody>
      </p:sp>
      <p:sp>
        <p:nvSpPr>
          <p:cNvPr id="162" name="PersonBody"/>
          <p:cNvSpPr/>
          <p:nvPr/>
        </p:nvSpPr>
        <p:spPr>
          <a:xfrm>
            <a:off x="6617208" y="3125264"/>
            <a:ext cx="174102" cy="180320"/>
          </a:xfrm>
          <a:prstGeom prst="roundRect">
            <a:avLst>
              <a:gd name="adj" fmla="val 22000"/>
            </a:avLst>
          </a:prstGeom>
          <a:solidFill>
            <a:srgbClr val="0D7377"/>
          </a:solidFill>
          <a:ln>
            <a:noFill/>
          </a:ln>
        </p:spPr>
        <p:txBody>
          <a:bodyPr wrap="square" lIns="54864" tIns="54864" rIns="54864" bIns="54864" rtlCol="0" anchor="ctr">
            <a:noAutofit/>
          </a:bodyPr>
          <a:lstStyle/>
          <a:p>
            <a:endParaRPr lang="en-US"/>
          </a:p>
        </p:txBody>
      </p:sp>
      <p:sp>
        <p:nvSpPr>
          <p:cNvPr id="163" name="PersonHead"/>
          <p:cNvSpPr/>
          <p:nvPr/>
        </p:nvSpPr>
        <p:spPr>
          <a:xfrm>
            <a:off x="6895186" y="2994688"/>
            <a:ext cx="111923" cy="111923"/>
          </a:xfrm>
          <a:prstGeom prst="ellipse">
            <a:avLst/>
          </a:prstGeom>
          <a:solidFill>
            <a:srgbClr val="0D7377"/>
          </a:solidFill>
          <a:ln>
            <a:noFill/>
          </a:ln>
        </p:spPr>
        <p:txBody>
          <a:bodyPr wrap="square" lIns="54864" tIns="54864" rIns="54864" bIns="54864" rtlCol="0" anchor="ctr">
            <a:noAutofit/>
          </a:bodyPr>
          <a:lstStyle/>
          <a:p>
            <a:endParaRPr lang="en-US"/>
          </a:p>
        </p:txBody>
      </p:sp>
      <p:sp>
        <p:nvSpPr>
          <p:cNvPr id="164" name="PersonBody"/>
          <p:cNvSpPr/>
          <p:nvPr/>
        </p:nvSpPr>
        <p:spPr>
          <a:xfrm>
            <a:off x="6864096" y="3125264"/>
            <a:ext cx="174102" cy="180320"/>
          </a:xfrm>
          <a:prstGeom prst="roundRect">
            <a:avLst>
              <a:gd name="adj" fmla="val 22000"/>
            </a:avLst>
          </a:prstGeom>
          <a:solidFill>
            <a:srgbClr val="0D7377"/>
          </a:solidFill>
          <a:ln>
            <a:noFill/>
          </a:ln>
        </p:spPr>
        <p:txBody>
          <a:bodyPr wrap="square" lIns="54864" tIns="54864" rIns="54864" bIns="54864" rtlCol="0" anchor="ctr">
            <a:noAutofit/>
          </a:bodyPr>
          <a:lstStyle/>
          <a:p>
            <a:endParaRPr lang="en-US"/>
          </a:p>
        </p:txBody>
      </p:sp>
      <p:sp>
        <p:nvSpPr>
          <p:cNvPr id="165" name="PersonHead"/>
          <p:cNvSpPr/>
          <p:nvPr/>
        </p:nvSpPr>
        <p:spPr>
          <a:xfrm>
            <a:off x="7142074" y="2994688"/>
            <a:ext cx="111923" cy="111923"/>
          </a:xfrm>
          <a:prstGeom prst="ellipse">
            <a:avLst/>
          </a:prstGeom>
          <a:solidFill>
            <a:srgbClr val="0D7377"/>
          </a:solidFill>
          <a:ln>
            <a:noFill/>
          </a:ln>
        </p:spPr>
        <p:txBody>
          <a:bodyPr wrap="square" lIns="54864" tIns="54864" rIns="54864" bIns="54864" rtlCol="0" anchor="ctr">
            <a:noAutofit/>
          </a:bodyPr>
          <a:lstStyle/>
          <a:p>
            <a:endParaRPr lang="en-US"/>
          </a:p>
        </p:txBody>
      </p:sp>
      <p:sp>
        <p:nvSpPr>
          <p:cNvPr id="166" name="PersonBody"/>
          <p:cNvSpPr/>
          <p:nvPr/>
        </p:nvSpPr>
        <p:spPr>
          <a:xfrm>
            <a:off x="7110984" y="3125264"/>
            <a:ext cx="174102" cy="180320"/>
          </a:xfrm>
          <a:prstGeom prst="roundRect">
            <a:avLst>
              <a:gd name="adj" fmla="val 22000"/>
            </a:avLst>
          </a:prstGeom>
          <a:solidFill>
            <a:srgbClr val="0D7377"/>
          </a:solidFill>
          <a:ln>
            <a:noFill/>
          </a:ln>
        </p:spPr>
        <p:txBody>
          <a:bodyPr wrap="square" lIns="54864" tIns="54864" rIns="54864" bIns="54864" rtlCol="0" anchor="ctr">
            <a:noAutofit/>
          </a:bodyPr>
          <a:lstStyle/>
          <a:p>
            <a:endParaRPr lang="en-US"/>
          </a:p>
        </p:txBody>
      </p:sp>
      <p:sp>
        <p:nvSpPr>
          <p:cNvPr id="167" name="PersonHead"/>
          <p:cNvSpPr/>
          <p:nvPr/>
        </p:nvSpPr>
        <p:spPr>
          <a:xfrm>
            <a:off x="7388962" y="2994688"/>
            <a:ext cx="111923" cy="111923"/>
          </a:xfrm>
          <a:prstGeom prst="ellipse">
            <a:avLst/>
          </a:prstGeom>
          <a:solidFill>
            <a:srgbClr val="0D7377"/>
          </a:solidFill>
          <a:ln>
            <a:noFill/>
          </a:ln>
        </p:spPr>
        <p:txBody>
          <a:bodyPr wrap="square" lIns="54864" tIns="54864" rIns="54864" bIns="54864" rtlCol="0" anchor="ctr">
            <a:noAutofit/>
          </a:bodyPr>
          <a:lstStyle/>
          <a:p>
            <a:endParaRPr lang="en-US"/>
          </a:p>
        </p:txBody>
      </p:sp>
      <p:sp>
        <p:nvSpPr>
          <p:cNvPr id="168" name="PersonBody"/>
          <p:cNvSpPr/>
          <p:nvPr/>
        </p:nvSpPr>
        <p:spPr>
          <a:xfrm>
            <a:off x="7357872" y="3125264"/>
            <a:ext cx="174102" cy="180320"/>
          </a:xfrm>
          <a:prstGeom prst="roundRect">
            <a:avLst>
              <a:gd name="adj" fmla="val 22000"/>
            </a:avLst>
          </a:prstGeom>
          <a:solidFill>
            <a:srgbClr val="0D7377"/>
          </a:solidFill>
          <a:ln>
            <a:noFill/>
          </a:ln>
        </p:spPr>
        <p:txBody>
          <a:bodyPr wrap="square" lIns="54864" tIns="54864" rIns="54864" bIns="54864" rtlCol="0" anchor="ctr">
            <a:noAutofit/>
          </a:bodyPr>
          <a:lstStyle/>
          <a:p>
            <a:endParaRPr lang="en-US"/>
          </a:p>
        </p:txBody>
      </p:sp>
      <p:sp>
        <p:nvSpPr>
          <p:cNvPr id="169" name="PersonHead"/>
          <p:cNvSpPr/>
          <p:nvPr/>
        </p:nvSpPr>
        <p:spPr>
          <a:xfrm>
            <a:off x="7635850" y="2994688"/>
            <a:ext cx="111923" cy="111923"/>
          </a:xfrm>
          <a:prstGeom prst="ellipse">
            <a:avLst/>
          </a:prstGeom>
          <a:solidFill>
            <a:srgbClr val="0D7377"/>
          </a:solidFill>
          <a:ln>
            <a:noFill/>
          </a:ln>
        </p:spPr>
        <p:txBody>
          <a:bodyPr wrap="square" lIns="54864" tIns="54864" rIns="54864" bIns="54864" rtlCol="0" anchor="ctr">
            <a:noAutofit/>
          </a:bodyPr>
          <a:lstStyle/>
          <a:p>
            <a:endParaRPr lang="en-US"/>
          </a:p>
        </p:txBody>
      </p:sp>
      <p:sp>
        <p:nvSpPr>
          <p:cNvPr id="170" name="PersonBody"/>
          <p:cNvSpPr/>
          <p:nvPr/>
        </p:nvSpPr>
        <p:spPr>
          <a:xfrm>
            <a:off x="7604760" y="3125264"/>
            <a:ext cx="174102" cy="180320"/>
          </a:xfrm>
          <a:prstGeom prst="roundRect">
            <a:avLst>
              <a:gd name="adj" fmla="val 22000"/>
            </a:avLst>
          </a:prstGeom>
          <a:solidFill>
            <a:srgbClr val="0D7377"/>
          </a:solidFill>
          <a:ln>
            <a:noFill/>
          </a:ln>
        </p:spPr>
        <p:txBody>
          <a:bodyPr wrap="square" lIns="54864" tIns="54864" rIns="54864" bIns="54864" rtlCol="0" anchor="ctr">
            <a:noAutofit/>
          </a:bodyPr>
          <a:lstStyle/>
          <a:p>
            <a:endParaRPr lang="en-US"/>
          </a:p>
        </p:txBody>
      </p:sp>
      <p:sp>
        <p:nvSpPr>
          <p:cNvPr id="171" name="PersonHead"/>
          <p:cNvSpPr/>
          <p:nvPr/>
        </p:nvSpPr>
        <p:spPr>
          <a:xfrm>
            <a:off x="7882738" y="2994688"/>
            <a:ext cx="111923" cy="111923"/>
          </a:xfrm>
          <a:prstGeom prst="ellipse">
            <a:avLst/>
          </a:prstGeom>
          <a:solidFill>
            <a:srgbClr val="0D7377"/>
          </a:solidFill>
          <a:ln>
            <a:noFill/>
          </a:ln>
        </p:spPr>
        <p:txBody>
          <a:bodyPr wrap="square" lIns="54864" tIns="54864" rIns="54864" bIns="54864" rtlCol="0" anchor="ctr">
            <a:noAutofit/>
          </a:bodyPr>
          <a:lstStyle/>
          <a:p>
            <a:endParaRPr lang="en-US"/>
          </a:p>
        </p:txBody>
      </p:sp>
      <p:sp>
        <p:nvSpPr>
          <p:cNvPr id="172" name="PersonBody"/>
          <p:cNvSpPr/>
          <p:nvPr/>
        </p:nvSpPr>
        <p:spPr>
          <a:xfrm>
            <a:off x="7851648" y="3125264"/>
            <a:ext cx="174102" cy="180320"/>
          </a:xfrm>
          <a:prstGeom prst="roundRect">
            <a:avLst>
              <a:gd name="adj" fmla="val 22000"/>
            </a:avLst>
          </a:prstGeom>
          <a:solidFill>
            <a:srgbClr val="0D7377"/>
          </a:solidFill>
          <a:ln>
            <a:noFill/>
          </a:ln>
        </p:spPr>
        <p:txBody>
          <a:bodyPr wrap="square" lIns="54864" tIns="54864" rIns="54864" bIns="54864" rtlCol="0" anchor="ctr">
            <a:noAutofit/>
          </a:bodyPr>
          <a:lstStyle/>
          <a:p>
            <a:endParaRPr lang="en-US"/>
          </a:p>
        </p:txBody>
      </p:sp>
      <p:sp>
        <p:nvSpPr>
          <p:cNvPr id="173" name="PersonHead"/>
          <p:cNvSpPr/>
          <p:nvPr/>
        </p:nvSpPr>
        <p:spPr>
          <a:xfrm>
            <a:off x="8129626" y="2994688"/>
            <a:ext cx="111923" cy="111923"/>
          </a:xfrm>
          <a:prstGeom prst="ellipse">
            <a:avLst/>
          </a:prstGeom>
          <a:solidFill>
            <a:srgbClr val="0D7377"/>
          </a:solidFill>
          <a:ln>
            <a:noFill/>
          </a:ln>
        </p:spPr>
        <p:txBody>
          <a:bodyPr wrap="square" lIns="54864" tIns="54864" rIns="54864" bIns="54864" rtlCol="0" anchor="ctr">
            <a:noAutofit/>
          </a:bodyPr>
          <a:lstStyle/>
          <a:p>
            <a:endParaRPr lang="en-US"/>
          </a:p>
        </p:txBody>
      </p:sp>
      <p:sp>
        <p:nvSpPr>
          <p:cNvPr id="174" name="PersonBody"/>
          <p:cNvSpPr/>
          <p:nvPr/>
        </p:nvSpPr>
        <p:spPr>
          <a:xfrm>
            <a:off x="8098536" y="3125264"/>
            <a:ext cx="174102" cy="180320"/>
          </a:xfrm>
          <a:prstGeom prst="roundRect">
            <a:avLst>
              <a:gd name="adj" fmla="val 22000"/>
            </a:avLst>
          </a:prstGeom>
          <a:solidFill>
            <a:srgbClr val="0D7377"/>
          </a:solidFill>
          <a:ln>
            <a:noFill/>
          </a:ln>
        </p:spPr>
        <p:txBody>
          <a:bodyPr wrap="square" lIns="54864" tIns="54864" rIns="54864" bIns="54864" rtlCol="0" anchor="ctr">
            <a:noAutofit/>
          </a:bodyPr>
          <a:lstStyle/>
          <a:p>
            <a:endParaRPr lang="en-US"/>
          </a:p>
        </p:txBody>
      </p:sp>
      <p:sp>
        <p:nvSpPr>
          <p:cNvPr id="175" name="PersonHead"/>
          <p:cNvSpPr/>
          <p:nvPr/>
        </p:nvSpPr>
        <p:spPr>
          <a:xfrm>
            <a:off x="8376514" y="2994688"/>
            <a:ext cx="111923" cy="111923"/>
          </a:xfrm>
          <a:prstGeom prst="ellipse">
            <a:avLst/>
          </a:prstGeom>
          <a:solidFill>
            <a:srgbClr val="0D7377"/>
          </a:solidFill>
          <a:ln>
            <a:noFill/>
          </a:ln>
        </p:spPr>
        <p:txBody>
          <a:bodyPr wrap="square" lIns="54864" tIns="54864" rIns="54864" bIns="54864" rtlCol="0" anchor="ctr">
            <a:noAutofit/>
          </a:bodyPr>
          <a:lstStyle/>
          <a:p>
            <a:endParaRPr lang="en-US"/>
          </a:p>
        </p:txBody>
      </p:sp>
      <p:sp>
        <p:nvSpPr>
          <p:cNvPr id="176" name="PersonBody"/>
          <p:cNvSpPr/>
          <p:nvPr/>
        </p:nvSpPr>
        <p:spPr>
          <a:xfrm>
            <a:off x="8345424" y="3125264"/>
            <a:ext cx="174102" cy="180320"/>
          </a:xfrm>
          <a:prstGeom prst="roundRect">
            <a:avLst>
              <a:gd name="adj" fmla="val 22000"/>
            </a:avLst>
          </a:prstGeom>
          <a:solidFill>
            <a:srgbClr val="0D7377"/>
          </a:solidFill>
          <a:ln>
            <a:noFill/>
          </a:ln>
        </p:spPr>
        <p:txBody>
          <a:bodyPr wrap="square" lIns="54864" tIns="54864" rIns="54864" bIns="54864" rtlCol="0" anchor="ctr">
            <a:noAutofit/>
          </a:bodyPr>
          <a:lstStyle/>
          <a:p>
            <a:endParaRPr lang="en-US"/>
          </a:p>
        </p:txBody>
      </p:sp>
      <p:sp>
        <p:nvSpPr>
          <p:cNvPr id="177" name="PersonHead"/>
          <p:cNvSpPr/>
          <p:nvPr/>
        </p:nvSpPr>
        <p:spPr>
          <a:xfrm>
            <a:off x="6154522" y="3369592"/>
            <a:ext cx="111923" cy="111923"/>
          </a:xfrm>
          <a:prstGeom prst="ellipse">
            <a:avLst/>
          </a:prstGeom>
          <a:solidFill>
            <a:srgbClr val="0D7377"/>
          </a:solidFill>
          <a:ln>
            <a:noFill/>
          </a:ln>
        </p:spPr>
        <p:txBody>
          <a:bodyPr wrap="square" lIns="54864" tIns="54864" rIns="54864" bIns="54864" rtlCol="0" anchor="ctr">
            <a:noAutofit/>
          </a:bodyPr>
          <a:lstStyle/>
          <a:p>
            <a:endParaRPr lang="en-US"/>
          </a:p>
        </p:txBody>
      </p:sp>
      <p:sp>
        <p:nvSpPr>
          <p:cNvPr id="178" name="PersonBody"/>
          <p:cNvSpPr/>
          <p:nvPr/>
        </p:nvSpPr>
        <p:spPr>
          <a:xfrm>
            <a:off x="6123432" y="3500168"/>
            <a:ext cx="174102" cy="180320"/>
          </a:xfrm>
          <a:prstGeom prst="roundRect">
            <a:avLst>
              <a:gd name="adj" fmla="val 22000"/>
            </a:avLst>
          </a:prstGeom>
          <a:solidFill>
            <a:srgbClr val="0D7377"/>
          </a:solidFill>
          <a:ln>
            <a:noFill/>
          </a:ln>
        </p:spPr>
        <p:txBody>
          <a:bodyPr wrap="square" lIns="54864" tIns="54864" rIns="54864" bIns="54864" rtlCol="0" anchor="ctr">
            <a:noAutofit/>
          </a:bodyPr>
          <a:lstStyle/>
          <a:p>
            <a:endParaRPr lang="en-US"/>
          </a:p>
        </p:txBody>
      </p:sp>
      <p:sp>
        <p:nvSpPr>
          <p:cNvPr id="179" name="PersonHead"/>
          <p:cNvSpPr/>
          <p:nvPr/>
        </p:nvSpPr>
        <p:spPr>
          <a:xfrm>
            <a:off x="6401410" y="3369592"/>
            <a:ext cx="111923" cy="111923"/>
          </a:xfrm>
          <a:prstGeom prst="ellipse">
            <a:avLst/>
          </a:prstGeom>
          <a:solidFill>
            <a:srgbClr val="0D7377"/>
          </a:solidFill>
          <a:ln>
            <a:noFill/>
          </a:ln>
        </p:spPr>
        <p:txBody>
          <a:bodyPr wrap="square" lIns="54864" tIns="54864" rIns="54864" bIns="54864" rtlCol="0" anchor="ctr">
            <a:noAutofit/>
          </a:bodyPr>
          <a:lstStyle/>
          <a:p>
            <a:endParaRPr lang="en-US"/>
          </a:p>
        </p:txBody>
      </p:sp>
      <p:sp>
        <p:nvSpPr>
          <p:cNvPr id="180" name="PersonBody"/>
          <p:cNvSpPr/>
          <p:nvPr/>
        </p:nvSpPr>
        <p:spPr>
          <a:xfrm>
            <a:off x="6370320" y="3500168"/>
            <a:ext cx="174102" cy="180320"/>
          </a:xfrm>
          <a:prstGeom prst="roundRect">
            <a:avLst>
              <a:gd name="adj" fmla="val 22000"/>
            </a:avLst>
          </a:prstGeom>
          <a:solidFill>
            <a:srgbClr val="0D7377"/>
          </a:solidFill>
          <a:ln>
            <a:noFill/>
          </a:ln>
        </p:spPr>
        <p:txBody>
          <a:bodyPr wrap="square" lIns="54864" tIns="54864" rIns="54864" bIns="54864" rtlCol="0" anchor="ctr">
            <a:noAutofit/>
          </a:bodyPr>
          <a:lstStyle/>
          <a:p>
            <a:endParaRPr lang="en-US"/>
          </a:p>
        </p:txBody>
      </p:sp>
      <p:sp>
        <p:nvSpPr>
          <p:cNvPr id="181" name="PersonHead"/>
          <p:cNvSpPr/>
          <p:nvPr/>
        </p:nvSpPr>
        <p:spPr>
          <a:xfrm>
            <a:off x="6648298" y="3369592"/>
            <a:ext cx="111923" cy="111923"/>
          </a:xfrm>
          <a:prstGeom prst="ellipse">
            <a:avLst/>
          </a:prstGeom>
          <a:solidFill>
            <a:srgbClr val="0D7377"/>
          </a:solidFill>
          <a:ln>
            <a:noFill/>
          </a:ln>
        </p:spPr>
        <p:txBody>
          <a:bodyPr wrap="square" lIns="54864" tIns="54864" rIns="54864" bIns="54864" rtlCol="0" anchor="ctr">
            <a:noAutofit/>
          </a:bodyPr>
          <a:lstStyle/>
          <a:p>
            <a:endParaRPr lang="en-US"/>
          </a:p>
        </p:txBody>
      </p:sp>
      <p:sp>
        <p:nvSpPr>
          <p:cNvPr id="182" name="PersonBody"/>
          <p:cNvSpPr/>
          <p:nvPr/>
        </p:nvSpPr>
        <p:spPr>
          <a:xfrm>
            <a:off x="6617208" y="3500168"/>
            <a:ext cx="174102" cy="180320"/>
          </a:xfrm>
          <a:prstGeom prst="roundRect">
            <a:avLst>
              <a:gd name="adj" fmla="val 22000"/>
            </a:avLst>
          </a:prstGeom>
          <a:solidFill>
            <a:srgbClr val="0D7377"/>
          </a:solidFill>
          <a:ln>
            <a:noFill/>
          </a:ln>
        </p:spPr>
        <p:txBody>
          <a:bodyPr wrap="square" lIns="54864" tIns="54864" rIns="54864" bIns="54864" rtlCol="0" anchor="ctr">
            <a:noAutofit/>
          </a:bodyPr>
          <a:lstStyle/>
          <a:p>
            <a:endParaRPr lang="en-US"/>
          </a:p>
        </p:txBody>
      </p:sp>
      <p:sp>
        <p:nvSpPr>
          <p:cNvPr id="183" name="PersonHead"/>
          <p:cNvSpPr/>
          <p:nvPr/>
        </p:nvSpPr>
        <p:spPr>
          <a:xfrm>
            <a:off x="6895186" y="3369592"/>
            <a:ext cx="111923" cy="111923"/>
          </a:xfrm>
          <a:prstGeom prst="ellipse">
            <a:avLst/>
          </a:prstGeom>
          <a:solidFill>
            <a:srgbClr val="0D7377"/>
          </a:solidFill>
          <a:ln>
            <a:noFill/>
          </a:ln>
        </p:spPr>
        <p:txBody>
          <a:bodyPr wrap="square" lIns="54864" tIns="54864" rIns="54864" bIns="54864" rtlCol="0" anchor="ctr">
            <a:noAutofit/>
          </a:bodyPr>
          <a:lstStyle/>
          <a:p>
            <a:endParaRPr lang="en-US"/>
          </a:p>
        </p:txBody>
      </p:sp>
      <p:sp>
        <p:nvSpPr>
          <p:cNvPr id="184" name="PersonBody"/>
          <p:cNvSpPr/>
          <p:nvPr/>
        </p:nvSpPr>
        <p:spPr>
          <a:xfrm>
            <a:off x="6864096" y="3500168"/>
            <a:ext cx="174102" cy="180320"/>
          </a:xfrm>
          <a:prstGeom prst="roundRect">
            <a:avLst>
              <a:gd name="adj" fmla="val 22000"/>
            </a:avLst>
          </a:prstGeom>
          <a:solidFill>
            <a:srgbClr val="0D7377"/>
          </a:solidFill>
          <a:ln>
            <a:noFill/>
          </a:ln>
        </p:spPr>
        <p:txBody>
          <a:bodyPr wrap="square" lIns="54864" tIns="54864" rIns="54864" bIns="54864" rtlCol="0" anchor="ctr">
            <a:noAutofit/>
          </a:bodyPr>
          <a:lstStyle/>
          <a:p>
            <a:endParaRPr lang="en-US"/>
          </a:p>
        </p:txBody>
      </p:sp>
      <p:sp>
        <p:nvSpPr>
          <p:cNvPr id="185" name="PersonHead"/>
          <p:cNvSpPr/>
          <p:nvPr/>
        </p:nvSpPr>
        <p:spPr>
          <a:xfrm>
            <a:off x="7142074" y="3369592"/>
            <a:ext cx="111923" cy="111923"/>
          </a:xfrm>
          <a:prstGeom prst="ellipse">
            <a:avLst/>
          </a:prstGeom>
          <a:solidFill>
            <a:srgbClr val="0D7377"/>
          </a:solidFill>
          <a:ln>
            <a:noFill/>
          </a:ln>
        </p:spPr>
        <p:txBody>
          <a:bodyPr wrap="square" lIns="54864" tIns="54864" rIns="54864" bIns="54864" rtlCol="0" anchor="ctr">
            <a:noAutofit/>
          </a:bodyPr>
          <a:lstStyle/>
          <a:p>
            <a:endParaRPr lang="en-US"/>
          </a:p>
        </p:txBody>
      </p:sp>
      <p:sp>
        <p:nvSpPr>
          <p:cNvPr id="186" name="PersonBody"/>
          <p:cNvSpPr/>
          <p:nvPr/>
        </p:nvSpPr>
        <p:spPr>
          <a:xfrm>
            <a:off x="7110984" y="3500168"/>
            <a:ext cx="174102" cy="180320"/>
          </a:xfrm>
          <a:prstGeom prst="roundRect">
            <a:avLst>
              <a:gd name="adj" fmla="val 22000"/>
            </a:avLst>
          </a:prstGeom>
          <a:solidFill>
            <a:srgbClr val="0D7377"/>
          </a:solidFill>
          <a:ln>
            <a:noFill/>
          </a:ln>
        </p:spPr>
        <p:txBody>
          <a:bodyPr wrap="square" lIns="54864" tIns="54864" rIns="54864" bIns="54864" rtlCol="0" anchor="ctr">
            <a:noAutofit/>
          </a:bodyPr>
          <a:lstStyle/>
          <a:p>
            <a:endParaRPr lang="en-US"/>
          </a:p>
        </p:txBody>
      </p:sp>
      <p:sp>
        <p:nvSpPr>
          <p:cNvPr id="187" name="PersonHead"/>
          <p:cNvSpPr/>
          <p:nvPr/>
        </p:nvSpPr>
        <p:spPr>
          <a:xfrm>
            <a:off x="7388962" y="3369592"/>
            <a:ext cx="111923" cy="111923"/>
          </a:xfrm>
          <a:prstGeom prst="ellipse">
            <a:avLst/>
          </a:prstGeom>
          <a:solidFill>
            <a:srgbClr val="0D7377"/>
          </a:solidFill>
          <a:ln>
            <a:noFill/>
          </a:ln>
        </p:spPr>
        <p:txBody>
          <a:bodyPr wrap="square" lIns="54864" tIns="54864" rIns="54864" bIns="54864" rtlCol="0" anchor="ctr">
            <a:noAutofit/>
          </a:bodyPr>
          <a:lstStyle/>
          <a:p>
            <a:endParaRPr lang="en-US"/>
          </a:p>
        </p:txBody>
      </p:sp>
      <p:sp>
        <p:nvSpPr>
          <p:cNvPr id="188" name="PersonBody"/>
          <p:cNvSpPr/>
          <p:nvPr/>
        </p:nvSpPr>
        <p:spPr>
          <a:xfrm>
            <a:off x="7357872" y="3500168"/>
            <a:ext cx="174102" cy="180320"/>
          </a:xfrm>
          <a:prstGeom prst="roundRect">
            <a:avLst>
              <a:gd name="adj" fmla="val 22000"/>
            </a:avLst>
          </a:prstGeom>
          <a:solidFill>
            <a:srgbClr val="0D7377"/>
          </a:solidFill>
          <a:ln>
            <a:noFill/>
          </a:ln>
        </p:spPr>
        <p:txBody>
          <a:bodyPr wrap="square" lIns="54864" tIns="54864" rIns="54864" bIns="54864" rtlCol="0" anchor="ctr">
            <a:noAutofit/>
          </a:bodyPr>
          <a:lstStyle/>
          <a:p>
            <a:endParaRPr lang="en-US"/>
          </a:p>
        </p:txBody>
      </p:sp>
      <p:sp>
        <p:nvSpPr>
          <p:cNvPr id="189" name="PersonHead"/>
          <p:cNvSpPr/>
          <p:nvPr/>
        </p:nvSpPr>
        <p:spPr>
          <a:xfrm>
            <a:off x="7635850" y="3369592"/>
            <a:ext cx="111923" cy="111923"/>
          </a:xfrm>
          <a:prstGeom prst="ellipse">
            <a:avLst/>
          </a:prstGeom>
          <a:solidFill>
            <a:srgbClr val="0D7377"/>
          </a:solidFill>
          <a:ln>
            <a:noFill/>
          </a:ln>
        </p:spPr>
        <p:txBody>
          <a:bodyPr wrap="square" lIns="54864" tIns="54864" rIns="54864" bIns="54864" rtlCol="0" anchor="ctr">
            <a:noAutofit/>
          </a:bodyPr>
          <a:lstStyle/>
          <a:p>
            <a:endParaRPr lang="en-US"/>
          </a:p>
        </p:txBody>
      </p:sp>
      <p:sp>
        <p:nvSpPr>
          <p:cNvPr id="190" name="PersonBody"/>
          <p:cNvSpPr/>
          <p:nvPr/>
        </p:nvSpPr>
        <p:spPr>
          <a:xfrm>
            <a:off x="7604760" y="3500168"/>
            <a:ext cx="174102" cy="180320"/>
          </a:xfrm>
          <a:prstGeom prst="roundRect">
            <a:avLst>
              <a:gd name="adj" fmla="val 22000"/>
            </a:avLst>
          </a:prstGeom>
          <a:solidFill>
            <a:srgbClr val="0D7377"/>
          </a:solidFill>
          <a:ln>
            <a:noFill/>
          </a:ln>
        </p:spPr>
        <p:txBody>
          <a:bodyPr wrap="square" lIns="54864" tIns="54864" rIns="54864" bIns="54864" rtlCol="0" anchor="ctr">
            <a:noAutofit/>
          </a:bodyPr>
          <a:lstStyle/>
          <a:p>
            <a:endParaRPr lang="en-US"/>
          </a:p>
        </p:txBody>
      </p:sp>
      <p:sp>
        <p:nvSpPr>
          <p:cNvPr id="191" name="PersonHead"/>
          <p:cNvSpPr/>
          <p:nvPr/>
        </p:nvSpPr>
        <p:spPr>
          <a:xfrm>
            <a:off x="7882738" y="3369592"/>
            <a:ext cx="111923" cy="111923"/>
          </a:xfrm>
          <a:prstGeom prst="ellipse">
            <a:avLst/>
          </a:prstGeom>
          <a:solidFill>
            <a:srgbClr val="0D7377"/>
          </a:solidFill>
          <a:ln>
            <a:noFill/>
          </a:ln>
        </p:spPr>
        <p:txBody>
          <a:bodyPr wrap="square" lIns="54864" tIns="54864" rIns="54864" bIns="54864" rtlCol="0" anchor="ctr">
            <a:noAutofit/>
          </a:bodyPr>
          <a:lstStyle/>
          <a:p>
            <a:endParaRPr lang="en-US"/>
          </a:p>
        </p:txBody>
      </p:sp>
      <p:sp>
        <p:nvSpPr>
          <p:cNvPr id="192" name="PersonBody"/>
          <p:cNvSpPr/>
          <p:nvPr/>
        </p:nvSpPr>
        <p:spPr>
          <a:xfrm>
            <a:off x="7851648" y="3500168"/>
            <a:ext cx="174102" cy="180320"/>
          </a:xfrm>
          <a:prstGeom prst="roundRect">
            <a:avLst>
              <a:gd name="adj" fmla="val 22000"/>
            </a:avLst>
          </a:prstGeom>
          <a:solidFill>
            <a:srgbClr val="0D7377"/>
          </a:solidFill>
          <a:ln>
            <a:noFill/>
          </a:ln>
        </p:spPr>
        <p:txBody>
          <a:bodyPr wrap="square" lIns="54864" tIns="54864" rIns="54864" bIns="54864" rtlCol="0" anchor="ctr">
            <a:noAutofit/>
          </a:bodyPr>
          <a:lstStyle/>
          <a:p>
            <a:endParaRPr lang="en-US"/>
          </a:p>
        </p:txBody>
      </p:sp>
      <p:sp>
        <p:nvSpPr>
          <p:cNvPr id="193" name="PersonHead"/>
          <p:cNvSpPr/>
          <p:nvPr/>
        </p:nvSpPr>
        <p:spPr>
          <a:xfrm>
            <a:off x="8129626" y="3369592"/>
            <a:ext cx="111923" cy="111923"/>
          </a:xfrm>
          <a:prstGeom prst="ellipse">
            <a:avLst/>
          </a:prstGeom>
          <a:solidFill>
            <a:srgbClr val="0D7377"/>
          </a:solidFill>
          <a:ln>
            <a:noFill/>
          </a:ln>
        </p:spPr>
        <p:txBody>
          <a:bodyPr wrap="square" lIns="54864" tIns="54864" rIns="54864" bIns="54864" rtlCol="0" anchor="ctr">
            <a:noAutofit/>
          </a:bodyPr>
          <a:lstStyle/>
          <a:p>
            <a:endParaRPr lang="en-US"/>
          </a:p>
        </p:txBody>
      </p:sp>
      <p:sp>
        <p:nvSpPr>
          <p:cNvPr id="194" name="PersonBody"/>
          <p:cNvSpPr/>
          <p:nvPr/>
        </p:nvSpPr>
        <p:spPr>
          <a:xfrm>
            <a:off x="8098536" y="3500168"/>
            <a:ext cx="174102" cy="180320"/>
          </a:xfrm>
          <a:prstGeom prst="roundRect">
            <a:avLst>
              <a:gd name="adj" fmla="val 22000"/>
            </a:avLst>
          </a:prstGeom>
          <a:solidFill>
            <a:srgbClr val="0D7377"/>
          </a:solidFill>
          <a:ln>
            <a:noFill/>
          </a:ln>
        </p:spPr>
        <p:txBody>
          <a:bodyPr wrap="square" lIns="54864" tIns="54864" rIns="54864" bIns="54864" rtlCol="0" anchor="ctr">
            <a:noAutofit/>
          </a:bodyPr>
          <a:lstStyle/>
          <a:p>
            <a:endParaRPr lang="en-US"/>
          </a:p>
        </p:txBody>
      </p:sp>
      <p:sp>
        <p:nvSpPr>
          <p:cNvPr id="195" name="PersonHead"/>
          <p:cNvSpPr/>
          <p:nvPr/>
        </p:nvSpPr>
        <p:spPr>
          <a:xfrm>
            <a:off x="8376514" y="3369592"/>
            <a:ext cx="111923" cy="111923"/>
          </a:xfrm>
          <a:prstGeom prst="ellipse">
            <a:avLst/>
          </a:prstGeom>
          <a:solidFill>
            <a:srgbClr val="0D7377"/>
          </a:solidFill>
          <a:ln>
            <a:noFill/>
          </a:ln>
        </p:spPr>
        <p:txBody>
          <a:bodyPr wrap="square" lIns="54864" tIns="54864" rIns="54864" bIns="54864" rtlCol="0" anchor="ctr">
            <a:noAutofit/>
          </a:bodyPr>
          <a:lstStyle/>
          <a:p>
            <a:endParaRPr lang="en-US"/>
          </a:p>
        </p:txBody>
      </p:sp>
      <p:sp>
        <p:nvSpPr>
          <p:cNvPr id="196" name="PersonBody"/>
          <p:cNvSpPr/>
          <p:nvPr/>
        </p:nvSpPr>
        <p:spPr>
          <a:xfrm>
            <a:off x="8345424" y="3500168"/>
            <a:ext cx="174102" cy="180320"/>
          </a:xfrm>
          <a:prstGeom prst="roundRect">
            <a:avLst>
              <a:gd name="adj" fmla="val 22000"/>
            </a:avLst>
          </a:prstGeom>
          <a:solidFill>
            <a:srgbClr val="0D7377"/>
          </a:solidFill>
          <a:ln>
            <a:noFill/>
          </a:ln>
        </p:spPr>
        <p:txBody>
          <a:bodyPr wrap="square" lIns="54864" tIns="54864" rIns="54864" bIns="54864" rtlCol="0" anchor="ctr">
            <a:noAutofit/>
          </a:bodyPr>
          <a:lstStyle/>
          <a:p>
            <a:endParaRPr lang="en-US"/>
          </a:p>
        </p:txBody>
      </p:sp>
      <p:sp>
        <p:nvSpPr>
          <p:cNvPr id="197" name="PersonHead"/>
          <p:cNvSpPr/>
          <p:nvPr/>
        </p:nvSpPr>
        <p:spPr>
          <a:xfrm>
            <a:off x="6154522" y="3744496"/>
            <a:ext cx="111923" cy="111923"/>
          </a:xfrm>
          <a:prstGeom prst="ellipse">
            <a:avLst/>
          </a:prstGeom>
          <a:solidFill>
            <a:srgbClr val="0D7377"/>
          </a:solidFill>
          <a:ln>
            <a:noFill/>
          </a:ln>
        </p:spPr>
        <p:txBody>
          <a:bodyPr wrap="square" lIns="54864" tIns="54864" rIns="54864" bIns="54864" rtlCol="0" anchor="ctr">
            <a:noAutofit/>
          </a:bodyPr>
          <a:lstStyle/>
          <a:p>
            <a:endParaRPr lang="en-US"/>
          </a:p>
        </p:txBody>
      </p:sp>
      <p:sp>
        <p:nvSpPr>
          <p:cNvPr id="198" name="PersonBody"/>
          <p:cNvSpPr/>
          <p:nvPr/>
        </p:nvSpPr>
        <p:spPr>
          <a:xfrm>
            <a:off x="6123432" y="3875072"/>
            <a:ext cx="174102" cy="180320"/>
          </a:xfrm>
          <a:prstGeom prst="roundRect">
            <a:avLst>
              <a:gd name="adj" fmla="val 22000"/>
            </a:avLst>
          </a:prstGeom>
          <a:solidFill>
            <a:srgbClr val="0D7377"/>
          </a:solidFill>
          <a:ln>
            <a:noFill/>
          </a:ln>
        </p:spPr>
        <p:txBody>
          <a:bodyPr wrap="square" lIns="54864" tIns="54864" rIns="54864" bIns="54864" rtlCol="0" anchor="ctr">
            <a:noAutofit/>
          </a:bodyPr>
          <a:lstStyle/>
          <a:p>
            <a:endParaRPr lang="en-US"/>
          </a:p>
        </p:txBody>
      </p:sp>
      <p:sp>
        <p:nvSpPr>
          <p:cNvPr id="199" name="PersonHead"/>
          <p:cNvSpPr/>
          <p:nvPr/>
        </p:nvSpPr>
        <p:spPr>
          <a:xfrm>
            <a:off x="6401410" y="3744496"/>
            <a:ext cx="111923" cy="111923"/>
          </a:xfrm>
          <a:prstGeom prst="ellipse">
            <a:avLst/>
          </a:prstGeom>
          <a:solidFill>
            <a:srgbClr val="0D7377"/>
          </a:solidFill>
          <a:ln>
            <a:noFill/>
          </a:ln>
        </p:spPr>
        <p:txBody>
          <a:bodyPr wrap="square" lIns="54864" tIns="54864" rIns="54864" bIns="54864" rtlCol="0" anchor="ctr">
            <a:noAutofit/>
          </a:bodyPr>
          <a:lstStyle/>
          <a:p>
            <a:endParaRPr lang="en-US"/>
          </a:p>
        </p:txBody>
      </p:sp>
      <p:sp>
        <p:nvSpPr>
          <p:cNvPr id="200" name="PersonBody"/>
          <p:cNvSpPr/>
          <p:nvPr/>
        </p:nvSpPr>
        <p:spPr>
          <a:xfrm>
            <a:off x="6370320" y="3875072"/>
            <a:ext cx="174102" cy="180320"/>
          </a:xfrm>
          <a:prstGeom prst="roundRect">
            <a:avLst>
              <a:gd name="adj" fmla="val 22000"/>
            </a:avLst>
          </a:prstGeom>
          <a:solidFill>
            <a:srgbClr val="0D7377"/>
          </a:solidFill>
          <a:ln>
            <a:noFill/>
          </a:ln>
        </p:spPr>
        <p:txBody>
          <a:bodyPr wrap="square" lIns="54864" tIns="54864" rIns="54864" bIns="54864" rtlCol="0" anchor="ctr">
            <a:noAutofit/>
          </a:bodyPr>
          <a:lstStyle/>
          <a:p>
            <a:endParaRPr lang="en-US"/>
          </a:p>
        </p:txBody>
      </p:sp>
      <p:sp>
        <p:nvSpPr>
          <p:cNvPr id="201" name="PersonHead"/>
          <p:cNvSpPr/>
          <p:nvPr/>
        </p:nvSpPr>
        <p:spPr>
          <a:xfrm>
            <a:off x="6648298" y="3744496"/>
            <a:ext cx="111923" cy="111923"/>
          </a:xfrm>
          <a:prstGeom prst="ellipse">
            <a:avLst/>
          </a:prstGeom>
          <a:solidFill>
            <a:srgbClr val="0D7377"/>
          </a:solidFill>
          <a:ln>
            <a:noFill/>
          </a:ln>
        </p:spPr>
        <p:txBody>
          <a:bodyPr wrap="square" lIns="54864" tIns="54864" rIns="54864" bIns="54864" rtlCol="0" anchor="ctr">
            <a:noAutofit/>
          </a:bodyPr>
          <a:lstStyle/>
          <a:p>
            <a:endParaRPr lang="en-US"/>
          </a:p>
        </p:txBody>
      </p:sp>
      <p:sp>
        <p:nvSpPr>
          <p:cNvPr id="202" name="PersonBody"/>
          <p:cNvSpPr/>
          <p:nvPr/>
        </p:nvSpPr>
        <p:spPr>
          <a:xfrm>
            <a:off x="6617208" y="3875072"/>
            <a:ext cx="174102" cy="180320"/>
          </a:xfrm>
          <a:prstGeom prst="roundRect">
            <a:avLst>
              <a:gd name="adj" fmla="val 22000"/>
            </a:avLst>
          </a:prstGeom>
          <a:solidFill>
            <a:srgbClr val="0D7377"/>
          </a:solidFill>
          <a:ln>
            <a:noFill/>
          </a:ln>
        </p:spPr>
        <p:txBody>
          <a:bodyPr wrap="square" lIns="54864" tIns="54864" rIns="54864" bIns="54864" rtlCol="0" anchor="ctr">
            <a:noAutofit/>
          </a:bodyPr>
          <a:lstStyle/>
          <a:p>
            <a:endParaRPr lang="en-US"/>
          </a:p>
        </p:txBody>
      </p:sp>
      <p:sp>
        <p:nvSpPr>
          <p:cNvPr id="203" name="PersonHead"/>
          <p:cNvSpPr/>
          <p:nvPr/>
        </p:nvSpPr>
        <p:spPr>
          <a:xfrm>
            <a:off x="6895186" y="3744496"/>
            <a:ext cx="111923" cy="111923"/>
          </a:xfrm>
          <a:prstGeom prst="ellipse">
            <a:avLst/>
          </a:prstGeom>
          <a:solidFill>
            <a:srgbClr val="0D7377"/>
          </a:solidFill>
          <a:ln>
            <a:noFill/>
          </a:ln>
        </p:spPr>
        <p:txBody>
          <a:bodyPr wrap="square" lIns="54864" tIns="54864" rIns="54864" bIns="54864" rtlCol="0" anchor="ctr">
            <a:noAutofit/>
          </a:bodyPr>
          <a:lstStyle/>
          <a:p>
            <a:endParaRPr lang="en-US"/>
          </a:p>
        </p:txBody>
      </p:sp>
      <p:sp>
        <p:nvSpPr>
          <p:cNvPr id="204" name="PersonBody"/>
          <p:cNvSpPr/>
          <p:nvPr/>
        </p:nvSpPr>
        <p:spPr>
          <a:xfrm>
            <a:off x="6864096" y="3875072"/>
            <a:ext cx="174102" cy="180320"/>
          </a:xfrm>
          <a:prstGeom prst="roundRect">
            <a:avLst>
              <a:gd name="adj" fmla="val 22000"/>
            </a:avLst>
          </a:prstGeom>
          <a:solidFill>
            <a:srgbClr val="0D7377"/>
          </a:solidFill>
          <a:ln>
            <a:noFill/>
          </a:ln>
        </p:spPr>
        <p:txBody>
          <a:bodyPr wrap="square" lIns="54864" tIns="54864" rIns="54864" bIns="54864" rtlCol="0" anchor="ctr">
            <a:noAutofit/>
          </a:bodyPr>
          <a:lstStyle/>
          <a:p>
            <a:endParaRPr lang="en-US"/>
          </a:p>
        </p:txBody>
      </p:sp>
      <p:sp>
        <p:nvSpPr>
          <p:cNvPr id="205" name="PersonHead"/>
          <p:cNvSpPr/>
          <p:nvPr/>
        </p:nvSpPr>
        <p:spPr>
          <a:xfrm>
            <a:off x="7142074" y="3744496"/>
            <a:ext cx="111923" cy="111923"/>
          </a:xfrm>
          <a:prstGeom prst="ellipse">
            <a:avLst/>
          </a:prstGeom>
          <a:solidFill>
            <a:srgbClr val="0D7377"/>
          </a:solidFill>
          <a:ln>
            <a:noFill/>
          </a:ln>
        </p:spPr>
        <p:txBody>
          <a:bodyPr wrap="square" lIns="54864" tIns="54864" rIns="54864" bIns="54864" rtlCol="0" anchor="ctr">
            <a:noAutofit/>
          </a:bodyPr>
          <a:lstStyle/>
          <a:p>
            <a:endParaRPr lang="en-US"/>
          </a:p>
        </p:txBody>
      </p:sp>
      <p:sp>
        <p:nvSpPr>
          <p:cNvPr id="206" name="PersonBody"/>
          <p:cNvSpPr/>
          <p:nvPr/>
        </p:nvSpPr>
        <p:spPr>
          <a:xfrm>
            <a:off x="7110984" y="3875072"/>
            <a:ext cx="174102" cy="180320"/>
          </a:xfrm>
          <a:prstGeom prst="roundRect">
            <a:avLst>
              <a:gd name="adj" fmla="val 22000"/>
            </a:avLst>
          </a:prstGeom>
          <a:solidFill>
            <a:srgbClr val="0D7377"/>
          </a:solidFill>
          <a:ln>
            <a:noFill/>
          </a:ln>
        </p:spPr>
        <p:txBody>
          <a:bodyPr wrap="square" lIns="54864" tIns="54864" rIns="54864" bIns="54864" rtlCol="0" anchor="ctr">
            <a:noAutofit/>
          </a:bodyPr>
          <a:lstStyle/>
          <a:p>
            <a:endParaRPr lang="en-US"/>
          </a:p>
        </p:txBody>
      </p:sp>
      <p:sp>
        <p:nvSpPr>
          <p:cNvPr id="207" name="PersonHead"/>
          <p:cNvSpPr/>
          <p:nvPr/>
        </p:nvSpPr>
        <p:spPr>
          <a:xfrm>
            <a:off x="7388962" y="3744496"/>
            <a:ext cx="111923" cy="111923"/>
          </a:xfrm>
          <a:prstGeom prst="ellipse">
            <a:avLst/>
          </a:prstGeom>
          <a:solidFill>
            <a:srgbClr val="0D7377"/>
          </a:solidFill>
          <a:ln>
            <a:noFill/>
          </a:ln>
        </p:spPr>
        <p:txBody>
          <a:bodyPr wrap="square" lIns="54864" tIns="54864" rIns="54864" bIns="54864" rtlCol="0" anchor="ctr">
            <a:noAutofit/>
          </a:bodyPr>
          <a:lstStyle/>
          <a:p>
            <a:endParaRPr lang="en-US"/>
          </a:p>
        </p:txBody>
      </p:sp>
      <p:sp>
        <p:nvSpPr>
          <p:cNvPr id="208" name="PersonBody"/>
          <p:cNvSpPr/>
          <p:nvPr/>
        </p:nvSpPr>
        <p:spPr>
          <a:xfrm>
            <a:off x="7357872" y="3875072"/>
            <a:ext cx="174102" cy="180320"/>
          </a:xfrm>
          <a:prstGeom prst="roundRect">
            <a:avLst>
              <a:gd name="adj" fmla="val 22000"/>
            </a:avLst>
          </a:prstGeom>
          <a:solidFill>
            <a:srgbClr val="0D7377"/>
          </a:solidFill>
          <a:ln>
            <a:noFill/>
          </a:ln>
        </p:spPr>
        <p:txBody>
          <a:bodyPr wrap="square" lIns="54864" tIns="54864" rIns="54864" bIns="54864" rtlCol="0" anchor="ctr">
            <a:noAutofit/>
          </a:bodyPr>
          <a:lstStyle/>
          <a:p>
            <a:endParaRPr lang="en-US"/>
          </a:p>
        </p:txBody>
      </p:sp>
      <p:sp>
        <p:nvSpPr>
          <p:cNvPr id="209" name="PersonHead"/>
          <p:cNvSpPr/>
          <p:nvPr/>
        </p:nvSpPr>
        <p:spPr>
          <a:xfrm>
            <a:off x="7635850" y="3744496"/>
            <a:ext cx="111923" cy="111923"/>
          </a:xfrm>
          <a:prstGeom prst="ellipse">
            <a:avLst/>
          </a:prstGeom>
          <a:solidFill>
            <a:srgbClr val="0D7377"/>
          </a:solidFill>
          <a:ln>
            <a:noFill/>
          </a:ln>
        </p:spPr>
        <p:txBody>
          <a:bodyPr wrap="square" lIns="54864" tIns="54864" rIns="54864" bIns="54864" rtlCol="0" anchor="ctr">
            <a:noAutofit/>
          </a:bodyPr>
          <a:lstStyle/>
          <a:p>
            <a:endParaRPr lang="en-US"/>
          </a:p>
        </p:txBody>
      </p:sp>
      <p:sp>
        <p:nvSpPr>
          <p:cNvPr id="210" name="PersonBody"/>
          <p:cNvSpPr/>
          <p:nvPr/>
        </p:nvSpPr>
        <p:spPr>
          <a:xfrm>
            <a:off x="7604760" y="3875072"/>
            <a:ext cx="174102" cy="180320"/>
          </a:xfrm>
          <a:prstGeom prst="roundRect">
            <a:avLst>
              <a:gd name="adj" fmla="val 22000"/>
            </a:avLst>
          </a:prstGeom>
          <a:solidFill>
            <a:srgbClr val="0D7377"/>
          </a:solidFill>
          <a:ln>
            <a:noFill/>
          </a:ln>
        </p:spPr>
        <p:txBody>
          <a:bodyPr wrap="square" lIns="54864" tIns="54864" rIns="54864" bIns="54864" rtlCol="0" anchor="ctr">
            <a:noAutofit/>
          </a:bodyPr>
          <a:lstStyle/>
          <a:p>
            <a:endParaRPr lang="en-US"/>
          </a:p>
        </p:txBody>
      </p:sp>
      <p:sp>
        <p:nvSpPr>
          <p:cNvPr id="211" name="PersonHead"/>
          <p:cNvSpPr/>
          <p:nvPr/>
        </p:nvSpPr>
        <p:spPr>
          <a:xfrm>
            <a:off x="7882738" y="3744496"/>
            <a:ext cx="111923" cy="111923"/>
          </a:xfrm>
          <a:prstGeom prst="ellipse">
            <a:avLst/>
          </a:prstGeom>
          <a:solidFill>
            <a:srgbClr val="0D7377"/>
          </a:solidFill>
          <a:ln>
            <a:noFill/>
          </a:ln>
        </p:spPr>
        <p:txBody>
          <a:bodyPr wrap="square" lIns="54864" tIns="54864" rIns="54864" bIns="54864" rtlCol="0" anchor="ctr">
            <a:noAutofit/>
          </a:bodyPr>
          <a:lstStyle/>
          <a:p>
            <a:endParaRPr lang="en-US"/>
          </a:p>
        </p:txBody>
      </p:sp>
      <p:sp>
        <p:nvSpPr>
          <p:cNvPr id="212" name="PersonBody"/>
          <p:cNvSpPr/>
          <p:nvPr/>
        </p:nvSpPr>
        <p:spPr>
          <a:xfrm>
            <a:off x="7851648" y="3875072"/>
            <a:ext cx="174102" cy="180320"/>
          </a:xfrm>
          <a:prstGeom prst="roundRect">
            <a:avLst>
              <a:gd name="adj" fmla="val 22000"/>
            </a:avLst>
          </a:prstGeom>
          <a:solidFill>
            <a:srgbClr val="0D7377"/>
          </a:solidFill>
          <a:ln>
            <a:noFill/>
          </a:ln>
        </p:spPr>
        <p:txBody>
          <a:bodyPr wrap="square" lIns="54864" tIns="54864" rIns="54864" bIns="54864" rtlCol="0" anchor="ctr">
            <a:noAutofit/>
          </a:bodyPr>
          <a:lstStyle/>
          <a:p>
            <a:endParaRPr lang="en-US"/>
          </a:p>
        </p:txBody>
      </p:sp>
      <p:sp>
        <p:nvSpPr>
          <p:cNvPr id="213" name="PersonHead"/>
          <p:cNvSpPr/>
          <p:nvPr/>
        </p:nvSpPr>
        <p:spPr>
          <a:xfrm>
            <a:off x="8129626" y="3744496"/>
            <a:ext cx="111923" cy="111923"/>
          </a:xfrm>
          <a:prstGeom prst="ellipse">
            <a:avLst/>
          </a:prstGeom>
          <a:solidFill>
            <a:srgbClr val="0D7377"/>
          </a:solidFill>
          <a:ln>
            <a:noFill/>
          </a:ln>
        </p:spPr>
        <p:txBody>
          <a:bodyPr wrap="square" lIns="54864" tIns="54864" rIns="54864" bIns="54864" rtlCol="0" anchor="ctr">
            <a:noAutofit/>
          </a:bodyPr>
          <a:lstStyle/>
          <a:p>
            <a:endParaRPr lang="en-US"/>
          </a:p>
        </p:txBody>
      </p:sp>
      <p:sp>
        <p:nvSpPr>
          <p:cNvPr id="214" name="PersonBody"/>
          <p:cNvSpPr/>
          <p:nvPr/>
        </p:nvSpPr>
        <p:spPr>
          <a:xfrm>
            <a:off x="8098536" y="3875072"/>
            <a:ext cx="174102" cy="180320"/>
          </a:xfrm>
          <a:prstGeom prst="roundRect">
            <a:avLst>
              <a:gd name="adj" fmla="val 22000"/>
            </a:avLst>
          </a:prstGeom>
          <a:solidFill>
            <a:srgbClr val="0D7377"/>
          </a:solidFill>
          <a:ln>
            <a:noFill/>
          </a:ln>
        </p:spPr>
        <p:txBody>
          <a:bodyPr wrap="square" lIns="54864" tIns="54864" rIns="54864" bIns="54864" rtlCol="0" anchor="ctr">
            <a:noAutofit/>
          </a:bodyPr>
          <a:lstStyle/>
          <a:p>
            <a:endParaRPr lang="en-US"/>
          </a:p>
        </p:txBody>
      </p:sp>
      <p:sp>
        <p:nvSpPr>
          <p:cNvPr id="215" name="PersonHead"/>
          <p:cNvSpPr/>
          <p:nvPr/>
        </p:nvSpPr>
        <p:spPr>
          <a:xfrm>
            <a:off x="8376514" y="3744496"/>
            <a:ext cx="111923" cy="111923"/>
          </a:xfrm>
          <a:prstGeom prst="ellipse">
            <a:avLst/>
          </a:prstGeom>
          <a:solidFill>
            <a:srgbClr val="0D7377"/>
          </a:solidFill>
          <a:ln>
            <a:noFill/>
          </a:ln>
        </p:spPr>
        <p:txBody>
          <a:bodyPr wrap="square" lIns="54864" tIns="54864" rIns="54864" bIns="54864" rtlCol="0" anchor="ctr">
            <a:noAutofit/>
          </a:bodyPr>
          <a:lstStyle/>
          <a:p>
            <a:endParaRPr lang="en-US"/>
          </a:p>
        </p:txBody>
      </p:sp>
      <p:sp>
        <p:nvSpPr>
          <p:cNvPr id="216" name="PersonBody"/>
          <p:cNvSpPr/>
          <p:nvPr/>
        </p:nvSpPr>
        <p:spPr>
          <a:xfrm>
            <a:off x="8345424" y="3875072"/>
            <a:ext cx="174102" cy="180320"/>
          </a:xfrm>
          <a:prstGeom prst="roundRect">
            <a:avLst>
              <a:gd name="adj" fmla="val 22000"/>
            </a:avLst>
          </a:prstGeom>
          <a:solidFill>
            <a:srgbClr val="0D7377"/>
          </a:solidFill>
          <a:ln>
            <a:noFill/>
          </a:ln>
        </p:spPr>
        <p:txBody>
          <a:bodyPr wrap="square" lIns="54864" tIns="54864" rIns="54864" bIns="54864" rtlCol="0" anchor="ctr">
            <a:noAutofit/>
          </a:bodyPr>
          <a:lstStyle/>
          <a:p>
            <a:endParaRPr lang="en-US"/>
          </a:p>
        </p:txBody>
      </p:sp>
      <p:sp>
        <p:nvSpPr>
          <p:cNvPr id="217" name="PersonHead"/>
          <p:cNvSpPr/>
          <p:nvPr/>
        </p:nvSpPr>
        <p:spPr>
          <a:xfrm>
            <a:off x="9080602" y="2244880"/>
            <a:ext cx="111923" cy="111923"/>
          </a:xfrm>
          <a:prstGeom prst="ellipse">
            <a:avLst/>
          </a:prstGeom>
          <a:solidFill>
            <a:srgbClr val="B23B2E"/>
          </a:solidFill>
          <a:ln>
            <a:noFill/>
          </a:ln>
        </p:spPr>
        <p:txBody>
          <a:bodyPr wrap="square" lIns="54864" tIns="54864" rIns="54864" bIns="54864" rtlCol="0" anchor="ctr">
            <a:noAutofit/>
          </a:bodyPr>
          <a:lstStyle/>
          <a:p>
            <a:endParaRPr lang="en-US"/>
          </a:p>
        </p:txBody>
      </p:sp>
      <p:sp>
        <p:nvSpPr>
          <p:cNvPr id="218" name="PersonBody"/>
          <p:cNvSpPr/>
          <p:nvPr/>
        </p:nvSpPr>
        <p:spPr>
          <a:xfrm>
            <a:off x="9049512" y="2375456"/>
            <a:ext cx="174102" cy="180320"/>
          </a:xfrm>
          <a:prstGeom prst="roundRect">
            <a:avLst>
              <a:gd name="adj" fmla="val 22000"/>
            </a:avLst>
          </a:prstGeom>
          <a:solidFill>
            <a:srgbClr val="B23B2E"/>
          </a:solidFill>
          <a:ln>
            <a:noFill/>
          </a:ln>
        </p:spPr>
        <p:txBody>
          <a:bodyPr wrap="square" lIns="54864" tIns="54864" rIns="54864" bIns="54864" rtlCol="0" anchor="ctr">
            <a:noAutofit/>
          </a:bodyPr>
          <a:lstStyle/>
          <a:p>
            <a:endParaRPr lang="en-US"/>
          </a:p>
        </p:txBody>
      </p:sp>
      <p:sp>
        <p:nvSpPr>
          <p:cNvPr id="219" name="PersonHead"/>
          <p:cNvSpPr/>
          <p:nvPr/>
        </p:nvSpPr>
        <p:spPr>
          <a:xfrm>
            <a:off x="9327490" y="2244880"/>
            <a:ext cx="111923" cy="111923"/>
          </a:xfrm>
          <a:prstGeom prst="ellipse">
            <a:avLst/>
          </a:prstGeom>
          <a:solidFill>
            <a:srgbClr val="B23B2E"/>
          </a:solidFill>
          <a:ln>
            <a:noFill/>
          </a:ln>
        </p:spPr>
        <p:txBody>
          <a:bodyPr wrap="square" lIns="54864" tIns="54864" rIns="54864" bIns="54864" rtlCol="0" anchor="ctr">
            <a:noAutofit/>
          </a:bodyPr>
          <a:lstStyle/>
          <a:p>
            <a:endParaRPr lang="en-US"/>
          </a:p>
        </p:txBody>
      </p:sp>
      <p:sp>
        <p:nvSpPr>
          <p:cNvPr id="220" name="PersonBody"/>
          <p:cNvSpPr/>
          <p:nvPr/>
        </p:nvSpPr>
        <p:spPr>
          <a:xfrm>
            <a:off x="9296400" y="2375456"/>
            <a:ext cx="174102" cy="180320"/>
          </a:xfrm>
          <a:prstGeom prst="roundRect">
            <a:avLst>
              <a:gd name="adj" fmla="val 22000"/>
            </a:avLst>
          </a:prstGeom>
          <a:solidFill>
            <a:srgbClr val="B23B2E"/>
          </a:solidFill>
          <a:ln>
            <a:noFill/>
          </a:ln>
        </p:spPr>
        <p:txBody>
          <a:bodyPr wrap="square" lIns="54864" tIns="54864" rIns="54864" bIns="54864" rtlCol="0" anchor="ctr">
            <a:noAutofit/>
          </a:bodyPr>
          <a:lstStyle/>
          <a:p>
            <a:endParaRPr lang="en-US"/>
          </a:p>
        </p:txBody>
      </p:sp>
      <p:sp>
        <p:nvSpPr>
          <p:cNvPr id="221" name="PersonHead"/>
          <p:cNvSpPr/>
          <p:nvPr/>
        </p:nvSpPr>
        <p:spPr>
          <a:xfrm>
            <a:off x="9574378" y="2244880"/>
            <a:ext cx="111923" cy="111923"/>
          </a:xfrm>
          <a:prstGeom prst="ellipse">
            <a:avLst/>
          </a:prstGeom>
          <a:solidFill>
            <a:srgbClr val="B23B2E"/>
          </a:solidFill>
          <a:ln>
            <a:noFill/>
          </a:ln>
        </p:spPr>
        <p:txBody>
          <a:bodyPr wrap="square" lIns="54864" tIns="54864" rIns="54864" bIns="54864" rtlCol="0" anchor="ctr">
            <a:noAutofit/>
          </a:bodyPr>
          <a:lstStyle/>
          <a:p>
            <a:endParaRPr lang="en-US"/>
          </a:p>
        </p:txBody>
      </p:sp>
      <p:sp>
        <p:nvSpPr>
          <p:cNvPr id="222" name="PersonBody"/>
          <p:cNvSpPr/>
          <p:nvPr/>
        </p:nvSpPr>
        <p:spPr>
          <a:xfrm>
            <a:off x="9543288" y="2375456"/>
            <a:ext cx="174102" cy="180320"/>
          </a:xfrm>
          <a:prstGeom prst="roundRect">
            <a:avLst>
              <a:gd name="adj" fmla="val 22000"/>
            </a:avLst>
          </a:prstGeom>
          <a:solidFill>
            <a:srgbClr val="B23B2E"/>
          </a:solidFill>
          <a:ln>
            <a:noFill/>
          </a:ln>
        </p:spPr>
        <p:txBody>
          <a:bodyPr wrap="square" lIns="54864" tIns="54864" rIns="54864" bIns="54864" rtlCol="0" anchor="ctr">
            <a:noAutofit/>
          </a:bodyPr>
          <a:lstStyle/>
          <a:p>
            <a:endParaRPr lang="en-US"/>
          </a:p>
        </p:txBody>
      </p:sp>
      <p:sp>
        <p:nvSpPr>
          <p:cNvPr id="223" name="PersonHead"/>
          <p:cNvSpPr/>
          <p:nvPr/>
        </p:nvSpPr>
        <p:spPr>
          <a:xfrm>
            <a:off x="9821266" y="2244880"/>
            <a:ext cx="111923" cy="111923"/>
          </a:xfrm>
          <a:prstGeom prst="ellipse">
            <a:avLst/>
          </a:prstGeom>
          <a:solidFill>
            <a:srgbClr val="B23B2E"/>
          </a:solidFill>
          <a:ln>
            <a:noFill/>
          </a:ln>
        </p:spPr>
        <p:txBody>
          <a:bodyPr wrap="square" lIns="54864" tIns="54864" rIns="54864" bIns="54864" rtlCol="0" anchor="ctr">
            <a:noAutofit/>
          </a:bodyPr>
          <a:lstStyle/>
          <a:p>
            <a:endParaRPr lang="en-US"/>
          </a:p>
        </p:txBody>
      </p:sp>
      <p:sp>
        <p:nvSpPr>
          <p:cNvPr id="224" name="PersonBody"/>
          <p:cNvSpPr/>
          <p:nvPr/>
        </p:nvSpPr>
        <p:spPr>
          <a:xfrm>
            <a:off x="9790176" y="2375456"/>
            <a:ext cx="174102" cy="180320"/>
          </a:xfrm>
          <a:prstGeom prst="roundRect">
            <a:avLst>
              <a:gd name="adj" fmla="val 22000"/>
            </a:avLst>
          </a:prstGeom>
          <a:solidFill>
            <a:srgbClr val="B23B2E"/>
          </a:solidFill>
          <a:ln>
            <a:noFill/>
          </a:ln>
        </p:spPr>
        <p:txBody>
          <a:bodyPr wrap="square" lIns="54864" tIns="54864" rIns="54864" bIns="54864" rtlCol="0" anchor="ctr">
            <a:noAutofit/>
          </a:bodyPr>
          <a:lstStyle/>
          <a:p>
            <a:endParaRPr lang="en-US"/>
          </a:p>
        </p:txBody>
      </p:sp>
      <p:sp>
        <p:nvSpPr>
          <p:cNvPr id="225" name="PersonHead"/>
          <p:cNvSpPr/>
          <p:nvPr/>
        </p:nvSpPr>
        <p:spPr>
          <a:xfrm>
            <a:off x="10068154" y="2244880"/>
            <a:ext cx="111923" cy="111923"/>
          </a:xfrm>
          <a:prstGeom prst="ellipse">
            <a:avLst/>
          </a:prstGeom>
          <a:solidFill>
            <a:srgbClr val="B23B2E"/>
          </a:solidFill>
          <a:ln>
            <a:noFill/>
          </a:ln>
        </p:spPr>
        <p:txBody>
          <a:bodyPr wrap="square" lIns="54864" tIns="54864" rIns="54864" bIns="54864" rtlCol="0" anchor="ctr">
            <a:noAutofit/>
          </a:bodyPr>
          <a:lstStyle/>
          <a:p>
            <a:endParaRPr lang="en-US"/>
          </a:p>
        </p:txBody>
      </p:sp>
      <p:sp>
        <p:nvSpPr>
          <p:cNvPr id="226" name="PersonBody"/>
          <p:cNvSpPr/>
          <p:nvPr/>
        </p:nvSpPr>
        <p:spPr>
          <a:xfrm>
            <a:off x="10037064" y="2375456"/>
            <a:ext cx="174102" cy="180320"/>
          </a:xfrm>
          <a:prstGeom prst="roundRect">
            <a:avLst>
              <a:gd name="adj" fmla="val 22000"/>
            </a:avLst>
          </a:prstGeom>
          <a:solidFill>
            <a:srgbClr val="B23B2E"/>
          </a:solidFill>
          <a:ln>
            <a:noFill/>
          </a:ln>
        </p:spPr>
        <p:txBody>
          <a:bodyPr wrap="square" lIns="54864" tIns="54864" rIns="54864" bIns="54864" rtlCol="0" anchor="ctr">
            <a:noAutofit/>
          </a:bodyPr>
          <a:lstStyle/>
          <a:p>
            <a:endParaRPr lang="en-US"/>
          </a:p>
        </p:txBody>
      </p:sp>
      <p:sp>
        <p:nvSpPr>
          <p:cNvPr id="227" name="PersonHead"/>
          <p:cNvSpPr/>
          <p:nvPr/>
        </p:nvSpPr>
        <p:spPr>
          <a:xfrm>
            <a:off x="10315042" y="2244880"/>
            <a:ext cx="111923" cy="111923"/>
          </a:xfrm>
          <a:prstGeom prst="ellipse">
            <a:avLst/>
          </a:prstGeom>
          <a:solidFill>
            <a:srgbClr val="B23B2E"/>
          </a:solidFill>
          <a:ln>
            <a:noFill/>
          </a:ln>
        </p:spPr>
        <p:txBody>
          <a:bodyPr wrap="square" lIns="54864" tIns="54864" rIns="54864" bIns="54864" rtlCol="0" anchor="ctr">
            <a:noAutofit/>
          </a:bodyPr>
          <a:lstStyle/>
          <a:p>
            <a:endParaRPr lang="en-US"/>
          </a:p>
        </p:txBody>
      </p:sp>
      <p:sp>
        <p:nvSpPr>
          <p:cNvPr id="228" name="PersonBody"/>
          <p:cNvSpPr/>
          <p:nvPr/>
        </p:nvSpPr>
        <p:spPr>
          <a:xfrm>
            <a:off x="10283952" y="2375456"/>
            <a:ext cx="174102" cy="180320"/>
          </a:xfrm>
          <a:prstGeom prst="roundRect">
            <a:avLst>
              <a:gd name="adj" fmla="val 22000"/>
            </a:avLst>
          </a:prstGeom>
          <a:solidFill>
            <a:srgbClr val="B23B2E"/>
          </a:solidFill>
          <a:ln>
            <a:noFill/>
          </a:ln>
        </p:spPr>
        <p:txBody>
          <a:bodyPr wrap="square" lIns="54864" tIns="54864" rIns="54864" bIns="54864" rtlCol="0" anchor="ctr">
            <a:noAutofit/>
          </a:bodyPr>
          <a:lstStyle/>
          <a:p>
            <a:endParaRPr lang="en-US"/>
          </a:p>
        </p:txBody>
      </p:sp>
      <p:sp>
        <p:nvSpPr>
          <p:cNvPr id="229" name="PersonHead"/>
          <p:cNvSpPr/>
          <p:nvPr/>
        </p:nvSpPr>
        <p:spPr>
          <a:xfrm>
            <a:off x="10561930" y="2244880"/>
            <a:ext cx="111923" cy="111923"/>
          </a:xfrm>
          <a:prstGeom prst="ellipse">
            <a:avLst/>
          </a:prstGeom>
          <a:solidFill>
            <a:srgbClr val="B23B2E"/>
          </a:solidFill>
          <a:ln>
            <a:noFill/>
          </a:ln>
        </p:spPr>
        <p:txBody>
          <a:bodyPr wrap="square" lIns="54864" tIns="54864" rIns="54864" bIns="54864" rtlCol="0" anchor="ctr">
            <a:noAutofit/>
          </a:bodyPr>
          <a:lstStyle/>
          <a:p>
            <a:endParaRPr lang="en-US"/>
          </a:p>
        </p:txBody>
      </p:sp>
      <p:sp>
        <p:nvSpPr>
          <p:cNvPr id="230" name="PersonBody"/>
          <p:cNvSpPr/>
          <p:nvPr/>
        </p:nvSpPr>
        <p:spPr>
          <a:xfrm>
            <a:off x="10530840" y="2375456"/>
            <a:ext cx="174102" cy="180320"/>
          </a:xfrm>
          <a:prstGeom prst="roundRect">
            <a:avLst>
              <a:gd name="adj" fmla="val 22000"/>
            </a:avLst>
          </a:prstGeom>
          <a:solidFill>
            <a:srgbClr val="B23B2E"/>
          </a:solidFill>
          <a:ln>
            <a:noFill/>
          </a:ln>
        </p:spPr>
        <p:txBody>
          <a:bodyPr wrap="square" lIns="54864" tIns="54864" rIns="54864" bIns="54864" rtlCol="0" anchor="ctr">
            <a:noAutofit/>
          </a:bodyPr>
          <a:lstStyle/>
          <a:p>
            <a:endParaRPr lang="en-US"/>
          </a:p>
        </p:txBody>
      </p:sp>
      <p:sp>
        <p:nvSpPr>
          <p:cNvPr id="231" name="PersonHead"/>
          <p:cNvSpPr/>
          <p:nvPr/>
        </p:nvSpPr>
        <p:spPr>
          <a:xfrm>
            <a:off x="10808818" y="2244880"/>
            <a:ext cx="111923" cy="111923"/>
          </a:xfrm>
          <a:prstGeom prst="ellipse">
            <a:avLst/>
          </a:prstGeom>
          <a:solidFill>
            <a:srgbClr val="B23B2E"/>
          </a:solidFill>
          <a:ln>
            <a:noFill/>
          </a:ln>
        </p:spPr>
        <p:txBody>
          <a:bodyPr wrap="square" lIns="54864" tIns="54864" rIns="54864" bIns="54864" rtlCol="0" anchor="ctr">
            <a:noAutofit/>
          </a:bodyPr>
          <a:lstStyle/>
          <a:p>
            <a:endParaRPr lang="en-US"/>
          </a:p>
        </p:txBody>
      </p:sp>
      <p:sp>
        <p:nvSpPr>
          <p:cNvPr id="232" name="PersonBody"/>
          <p:cNvSpPr/>
          <p:nvPr/>
        </p:nvSpPr>
        <p:spPr>
          <a:xfrm>
            <a:off x="10777728" y="2375456"/>
            <a:ext cx="174102" cy="180320"/>
          </a:xfrm>
          <a:prstGeom prst="roundRect">
            <a:avLst>
              <a:gd name="adj" fmla="val 22000"/>
            </a:avLst>
          </a:prstGeom>
          <a:solidFill>
            <a:srgbClr val="B23B2E"/>
          </a:solidFill>
          <a:ln>
            <a:noFill/>
          </a:ln>
        </p:spPr>
        <p:txBody>
          <a:bodyPr wrap="square" lIns="54864" tIns="54864" rIns="54864" bIns="54864" rtlCol="0" anchor="ctr">
            <a:noAutofit/>
          </a:bodyPr>
          <a:lstStyle/>
          <a:p>
            <a:endParaRPr lang="en-US"/>
          </a:p>
        </p:txBody>
      </p:sp>
      <p:sp>
        <p:nvSpPr>
          <p:cNvPr id="233" name="PersonHead"/>
          <p:cNvSpPr/>
          <p:nvPr/>
        </p:nvSpPr>
        <p:spPr>
          <a:xfrm>
            <a:off x="11055706" y="2244880"/>
            <a:ext cx="111923" cy="111923"/>
          </a:xfrm>
          <a:prstGeom prst="ellipse">
            <a:avLst/>
          </a:prstGeom>
          <a:solidFill>
            <a:srgbClr val="B23B2E"/>
          </a:solidFill>
          <a:ln>
            <a:noFill/>
          </a:ln>
        </p:spPr>
        <p:txBody>
          <a:bodyPr wrap="square" lIns="54864" tIns="54864" rIns="54864" bIns="54864" rtlCol="0" anchor="ctr">
            <a:noAutofit/>
          </a:bodyPr>
          <a:lstStyle/>
          <a:p>
            <a:endParaRPr lang="en-US"/>
          </a:p>
        </p:txBody>
      </p:sp>
      <p:sp>
        <p:nvSpPr>
          <p:cNvPr id="234" name="PersonBody"/>
          <p:cNvSpPr/>
          <p:nvPr/>
        </p:nvSpPr>
        <p:spPr>
          <a:xfrm>
            <a:off x="11024616" y="2375456"/>
            <a:ext cx="174102" cy="180320"/>
          </a:xfrm>
          <a:prstGeom prst="roundRect">
            <a:avLst>
              <a:gd name="adj" fmla="val 22000"/>
            </a:avLst>
          </a:prstGeom>
          <a:solidFill>
            <a:srgbClr val="B23B2E"/>
          </a:solidFill>
          <a:ln>
            <a:noFill/>
          </a:ln>
        </p:spPr>
        <p:txBody>
          <a:bodyPr wrap="square" lIns="54864" tIns="54864" rIns="54864" bIns="54864" rtlCol="0" anchor="ctr">
            <a:noAutofit/>
          </a:bodyPr>
          <a:lstStyle/>
          <a:p>
            <a:endParaRPr lang="en-US"/>
          </a:p>
        </p:txBody>
      </p:sp>
      <p:sp>
        <p:nvSpPr>
          <p:cNvPr id="235" name="PersonHead"/>
          <p:cNvSpPr/>
          <p:nvPr/>
        </p:nvSpPr>
        <p:spPr>
          <a:xfrm>
            <a:off x="11302594" y="2244880"/>
            <a:ext cx="111923" cy="111923"/>
          </a:xfrm>
          <a:prstGeom prst="ellipse">
            <a:avLst/>
          </a:prstGeom>
          <a:solidFill>
            <a:srgbClr val="B23B2E"/>
          </a:solidFill>
          <a:ln>
            <a:noFill/>
          </a:ln>
        </p:spPr>
        <p:txBody>
          <a:bodyPr wrap="square" lIns="54864" tIns="54864" rIns="54864" bIns="54864" rtlCol="0" anchor="ctr">
            <a:noAutofit/>
          </a:bodyPr>
          <a:lstStyle/>
          <a:p>
            <a:endParaRPr lang="en-US"/>
          </a:p>
        </p:txBody>
      </p:sp>
      <p:sp>
        <p:nvSpPr>
          <p:cNvPr id="236" name="PersonBody"/>
          <p:cNvSpPr/>
          <p:nvPr/>
        </p:nvSpPr>
        <p:spPr>
          <a:xfrm>
            <a:off x="11271504" y="2375456"/>
            <a:ext cx="174102" cy="180320"/>
          </a:xfrm>
          <a:prstGeom prst="roundRect">
            <a:avLst>
              <a:gd name="adj" fmla="val 22000"/>
            </a:avLst>
          </a:prstGeom>
          <a:solidFill>
            <a:srgbClr val="B23B2E"/>
          </a:solidFill>
          <a:ln>
            <a:noFill/>
          </a:ln>
        </p:spPr>
        <p:txBody>
          <a:bodyPr wrap="square" lIns="54864" tIns="54864" rIns="54864" bIns="54864" rtlCol="0" anchor="ctr">
            <a:noAutofit/>
          </a:bodyPr>
          <a:lstStyle/>
          <a:p>
            <a:endParaRPr lang="en-US"/>
          </a:p>
        </p:txBody>
      </p:sp>
      <p:sp>
        <p:nvSpPr>
          <p:cNvPr id="237" name="PersonHead"/>
          <p:cNvSpPr/>
          <p:nvPr/>
        </p:nvSpPr>
        <p:spPr>
          <a:xfrm>
            <a:off x="9080602" y="2619784"/>
            <a:ext cx="111923" cy="111923"/>
          </a:xfrm>
          <a:prstGeom prst="ellipse">
            <a:avLst/>
          </a:prstGeom>
          <a:solidFill>
            <a:srgbClr val="B23B2E"/>
          </a:solidFill>
          <a:ln>
            <a:noFill/>
          </a:ln>
        </p:spPr>
        <p:txBody>
          <a:bodyPr wrap="square" lIns="54864" tIns="54864" rIns="54864" bIns="54864" rtlCol="0" anchor="ctr">
            <a:noAutofit/>
          </a:bodyPr>
          <a:lstStyle/>
          <a:p>
            <a:endParaRPr lang="en-US"/>
          </a:p>
        </p:txBody>
      </p:sp>
      <p:sp>
        <p:nvSpPr>
          <p:cNvPr id="238" name="PersonBody"/>
          <p:cNvSpPr/>
          <p:nvPr/>
        </p:nvSpPr>
        <p:spPr>
          <a:xfrm>
            <a:off x="9049512" y="2750360"/>
            <a:ext cx="174102" cy="180320"/>
          </a:xfrm>
          <a:prstGeom prst="roundRect">
            <a:avLst>
              <a:gd name="adj" fmla="val 22000"/>
            </a:avLst>
          </a:prstGeom>
          <a:solidFill>
            <a:srgbClr val="B23B2E"/>
          </a:solidFill>
          <a:ln>
            <a:noFill/>
          </a:ln>
        </p:spPr>
        <p:txBody>
          <a:bodyPr wrap="square" lIns="54864" tIns="54864" rIns="54864" bIns="54864" rtlCol="0" anchor="ctr">
            <a:noAutofit/>
          </a:bodyPr>
          <a:lstStyle/>
          <a:p>
            <a:endParaRPr lang="en-US"/>
          </a:p>
        </p:txBody>
      </p:sp>
      <p:sp>
        <p:nvSpPr>
          <p:cNvPr id="239" name="PersonHead"/>
          <p:cNvSpPr/>
          <p:nvPr/>
        </p:nvSpPr>
        <p:spPr>
          <a:xfrm>
            <a:off x="9327490" y="2619784"/>
            <a:ext cx="111923" cy="111923"/>
          </a:xfrm>
          <a:prstGeom prst="ellipse">
            <a:avLst/>
          </a:prstGeom>
          <a:solidFill>
            <a:srgbClr val="B23B2E"/>
          </a:solidFill>
          <a:ln>
            <a:noFill/>
          </a:ln>
        </p:spPr>
        <p:txBody>
          <a:bodyPr wrap="square" lIns="54864" tIns="54864" rIns="54864" bIns="54864" rtlCol="0" anchor="ctr">
            <a:noAutofit/>
          </a:bodyPr>
          <a:lstStyle/>
          <a:p>
            <a:endParaRPr lang="en-US"/>
          </a:p>
        </p:txBody>
      </p:sp>
      <p:sp>
        <p:nvSpPr>
          <p:cNvPr id="240" name="PersonBody"/>
          <p:cNvSpPr/>
          <p:nvPr/>
        </p:nvSpPr>
        <p:spPr>
          <a:xfrm>
            <a:off x="9296400" y="2750360"/>
            <a:ext cx="174102" cy="180320"/>
          </a:xfrm>
          <a:prstGeom prst="roundRect">
            <a:avLst>
              <a:gd name="adj" fmla="val 22000"/>
            </a:avLst>
          </a:prstGeom>
          <a:solidFill>
            <a:srgbClr val="B23B2E"/>
          </a:solidFill>
          <a:ln>
            <a:noFill/>
          </a:ln>
        </p:spPr>
        <p:txBody>
          <a:bodyPr wrap="square" lIns="54864" tIns="54864" rIns="54864" bIns="54864" rtlCol="0" anchor="ctr">
            <a:noAutofit/>
          </a:bodyPr>
          <a:lstStyle/>
          <a:p>
            <a:endParaRPr lang="en-US"/>
          </a:p>
        </p:txBody>
      </p:sp>
      <p:sp>
        <p:nvSpPr>
          <p:cNvPr id="241" name="PersonHead"/>
          <p:cNvSpPr/>
          <p:nvPr/>
        </p:nvSpPr>
        <p:spPr>
          <a:xfrm>
            <a:off x="9574378" y="2619784"/>
            <a:ext cx="111923" cy="111923"/>
          </a:xfrm>
          <a:prstGeom prst="ellipse">
            <a:avLst/>
          </a:prstGeom>
          <a:solidFill>
            <a:srgbClr val="B23B2E"/>
          </a:solidFill>
          <a:ln>
            <a:noFill/>
          </a:ln>
        </p:spPr>
        <p:txBody>
          <a:bodyPr wrap="square" lIns="54864" tIns="54864" rIns="54864" bIns="54864" rtlCol="0" anchor="ctr">
            <a:noAutofit/>
          </a:bodyPr>
          <a:lstStyle/>
          <a:p>
            <a:endParaRPr lang="en-US"/>
          </a:p>
        </p:txBody>
      </p:sp>
      <p:sp>
        <p:nvSpPr>
          <p:cNvPr id="242" name="PersonBody"/>
          <p:cNvSpPr/>
          <p:nvPr/>
        </p:nvSpPr>
        <p:spPr>
          <a:xfrm>
            <a:off x="9543288" y="2750360"/>
            <a:ext cx="174102" cy="180320"/>
          </a:xfrm>
          <a:prstGeom prst="roundRect">
            <a:avLst>
              <a:gd name="adj" fmla="val 22000"/>
            </a:avLst>
          </a:prstGeom>
          <a:solidFill>
            <a:srgbClr val="B23B2E"/>
          </a:solidFill>
          <a:ln>
            <a:noFill/>
          </a:ln>
        </p:spPr>
        <p:txBody>
          <a:bodyPr wrap="square" lIns="54864" tIns="54864" rIns="54864" bIns="54864" rtlCol="0" anchor="ctr">
            <a:noAutofit/>
          </a:bodyPr>
          <a:lstStyle/>
          <a:p>
            <a:endParaRPr lang="en-US"/>
          </a:p>
        </p:txBody>
      </p:sp>
      <p:sp>
        <p:nvSpPr>
          <p:cNvPr id="243" name="PersonHead"/>
          <p:cNvSpPr/>
          <p:nvPr/>
        </p:nvSpPr>
        <p:spPr>
          <a:xfrm>
            <a:off x="9821266" y="2619784"/>
            <a:ext cx="111923" cy="111923"/>
          </a:xfrm>
          <a:prstGeom prst="ellipse">
            <a:avLst/>
          </a:prstGeom>
          <a:solidFill>
            <a:srgbClr val="B23B2E"/>
          </a:solidFill>
          <a:ln>
            <a:noFill/>
          </a:ln>
        </p:spPr>
        <p:txBody>
          <a:bodyPr wrap="square" lIns="54864" tIns="54864" rIns="54864" bIns="54864" rtlCol="0" anchor="ctr">
            <a:noAutofit/>
          </a:bodyPr>
          <a:lstStyle/>
          <a:p>
            <a:endParaRPr lang="en-US"/>
          </a:p>
        </p:txBody>
      </p:sp>
      <p:sp>
        <p:nvSpPr>
          <p:cNvPr id="244" name="PersonBody"/>
          <p:cNvSpPr/>
          <p:nvPr/>
        </p:nvSpPr>
        <p:spPr>
          <a:xfrm>
            <a:off x="9790176" y="2750360"/>
            <a:ext cx="174102" cy="180320"/>
          </a:xfrm>
          <a:prstGeom prst="roundRect">
            <a:avLst>
              <a:gd name="adj" fmla="val 22000"/>
            </a:avLst>
          </a:prstGeom>
          <a:solidFill>
            <a:srgbClr val="B23B2E"/>
          </a:solidFill>
          <a:ln>
            <a:noFill/>
          </a:ln>
        </p:spPr>
        <p:txBody>
          <a:bodyPr wrap="square" lIns="54864" tIns="54864" rIns="54864" bIns="54864" rtlCol="0" anchor="ctr">
            <a:noAutofit/>
          </a:bodyPr>
          <a:lstStyle/>
          <a:p>
            <a:endParaRPr lang="en-US"/>
          </a:p>
        </p:txBody>
      </p:sp>
      <p:sp>
        <p:nvSpPr>
          <p:cNvPr id="245" name="PersonHead"/>
          <p:cNvSpPr/>
          <p:nvPr/>
        </p:nvSpPr>
        <p:spPr>
          <a:xfrm>
            <a:off x="10068154" y="2619784"/>
            <a:ext cx="111923" cy="111923"/>
          </a:xfrm>
          <a:prstGeom prst="ellipse">
            <a:avLst/>
          </a:prstGeom>
          <a:solidFill>
            <a:srgbClr val="B23B2E"/>
          </a:solidFill>
          <a:ln>
            <a:noFill/>
          </a:ln>
        </p:spPr>
        <p:txBody>
          <a:bodyPr wrap="square" lIns="54864" tIns="54864" rIns="54864" bIns="54864" rtlCol="0" anchor="ctr">
            <a:noAutofit/>
          </a:bodyPr>
          <a:lstStyle/>
          <a:p>
            <a:endParaRPr lang="en-US"/>
          </a:p>
        </p:txBody>
      </p:sp>
      <p:sp>
        <p:nvSpPr>
          <p:cNvPr id="246" name="PersonBody"/>
          <p:cNvSpPr/>
          <p:nvPr/>
        </p:nvSpPr>
        <p:spPr>
          <a:xfrm>
            <a:off x="10037064" y="2750360"/>
            <a:ext cx="174102" cy="180320"/>
          </a:xfrm>
          <a:prstGeom prst="roundRect">
            <a:avLst>
              <a:gd name="adj" fmla="val 22000"/>
            </a:avLst>
          </a:prstGeom>
          <a:solidFill>
            <a:srgbClr val="B23B2E"/>
          </a:solidFill>
          <a:ln>
            <a:noFill/>
          </a:ln>
        </p:spPr>
        <p:txBody>
          <a:bodyPr wrap="square" lIns="54864" tIns="54864" rIns="54864" bIns="54864" rtlCol="0" anchor="ctr">
            <a:noAutofit/>
          </a:bodyPr>
          <a:lstStyle/>
          <a:p>
            <a:endParaRPr lang="en-US"/>
          </a:p>
        </p:txBody>
      </p:sp>
      <p:sp>
        <p:nvSpPr>
          <p:cNvPr id="247" name="PersonHead"/>
          <p:cNvSpPr/>
          <p:nvPr/>
        </p:nvSpPr>
        <p:spPr>
          <a:xfrm>
            <a:off x="10315042" y="2619784"/>
            <a:ext cx="111923" cy="111923"/>
          </a:xfrm>
          <a:prstGeom prst="ellipse">
            <a:avLst/>
          </a:prstGeom>
          <a:solidFill>
            <a:srgbClr val="B23B2E"/>
          </a:solidFill>
          <a:ln>
            <a:noFill/>
          </a:ln>
        </p:spPr>
        <p:txBody>
          <a:bodyPr wrap="square" lIns="54864" tIns="54864" rIns="54864" bIns="54864" rtlCol="0" anchor="ctr">
            <a:noAutofit/>
          </a:bodyPr>
          <a:lstStyle/>
          <a:p>
            <a:endParaRPr lang="en-US"/>
          </a:p>
        </p:txBody>
      </p:sp>
      <p:sp>
        <p:nvSpPr>
          <p:cNvPr id="248" name="PersonBody"/>
          <p:cNvSpPr/>
          <p:nvPr/>
        </p:nvSpPr>
        <p:spPr>
          <a:xfrm>
            <a:off x="10283952" y="2750360"/>
            <a:ext cx="174102" cy="180320"/>
          </a:xfrm>
          <a:prstGeom prst="roundRect">
            <a:avLst>
              <a:gd name="adj" fmla="val 22000"/>
            </a:avLst>
          </a:prstGeom>
          <a:solidFill>
            <a:srgbClr val="B23B2E"/>
          </a:solidFill>
          <a:ln>
            <a:noFill/>
          </a:ln>
        </p:spPr>
        <p:txBody>
          <a:bodyPr wrap="square" lIns="54864" tIns="54864" rIns="54864" bIns="54864" rtlCol="0" anchor="ctr">
            <a:noAutofit/>
          </a:bodyPr>
          <a:lstStyle/>
          <a:p>
            <a:endParaRPr lang="en-US"/>
          </a:p>
        </p:txBody>
      </p:sp>
      <p:sp>
        <p:nvSpPr>
          <p:cNvPr id="249" name="PersonHead"/>
          <p:cNvSpPr/>
          <p:nvPr/>
        </p:nvSpPr>
        <p:spPr>
          <a:xfrm>
            <a:off x="10561930" y="2619784"/>
            <a:ext cx="111923" cy="111923"/>
          </a:xfrm>
          <a:prstGeom prst="ellipse">
            <a:avLst/>
          </a:prstGeom>
          <a:solidFill>
            <a:srgbClr val="B23B2E"/>
          </a:solidFill>
          <a:ln>
            <a:noFill/>
          </a:ln>
        </p:spPr>
        <p:txBody>
          <a:bodyPr wrap="square" lIns="54864" tIns="54864" rIns="54864" bIns="54864" rtlCol="0" anchor="ctr">
            <a:noAutofit/>
          </a:bodyPr>
          <a:lstStyle/>
          <a:p>
            <a:endParaRPr lang="en-US"/>
          </a:p>
        </p:txBody>
      </p:sp>
      <p:sp>
        <p:nvSpPr>
          <p:cNvPr id="250" name="PersonBody"/>
          <p:cNvSpPr/>
          <p:nvPr/>
        </p:nvSpPr>
        <p:spPr>
          <a:xfrm>
            <a:off x="10530840" y="2750360"/>
            <a:ext cx="174102" cy="180320"/>
          </a:xfrm>
          <a:prstGeom prst="roundRect">
            <a:avLst>
              <a:gd name="adj" fmla="val 22000"/>
            </a:avLst>
          </a:prstGeom>
          <a:solidFill>
            <a:srgbClr val="B23B2E"/>
          </a:solidFill>
          <a:ln>
            <a:noFill/>
          </a:ln>
        </p:spPr>
        <p:txBody>
          <a:bodyPr wrap="square" lIns="54864" tIns="54864" rIns="54864" bIns="54864" rtlCol="0" anchor="ctr">
            <a:noAutofit/>
          </a:bodyPr>
          <a:lstStyle/>
          <a:p>
            <a:endParaRPr lang="en-US"/>
          </a:p>
        </p:txBody>
      </p:sp>
      <p:sp>
        <p:nvSpPr>
          <p:cNvPr id="251" name="PersonHead"/>
          <p:cNvSpPr/>
          <p:nvPr/>
        </p:nvSpPr>
        <p:spPr>
          <a:xfrm>
            <a:off x="10808818" y="2619784"/>
            <a:ext cx="111923" cy="111923"/>
          </a:xfrm>
          <a:prstGeom prst="ellipse">
            <a:avLst/>
          </a:prstGeom>
          <a:solidFill>
            <a:srgbClr val="B23B2E"/>
          </a:solidFill>
          <a:ln>
            <a:noFill/>
          </a:ln>
        </p:spPr>
        <p:txBody>
          <a:bodyPr wrap="square" lIns="54864" tIns="54864" rIns="54864" bIns="54864" rtlCol="0" anchor="ctr">
            <a:noAutofit/>
          </a:bodyPr>
          <a:lstStyle/>
          <a:p>
            <a:endParaRPr lang="en-US"/>
          </a:p>
        </p:txBody>
      </p:sp>
      <p:sp>
        <p:nvSpPr>
          <p:cNvPr id="252" name="PersonBody"/>
          <p:cNvSpPr/>
          <p:nvPr/>
        </p:nvSpPr>
        <p:spPr>
          <a:xfrm>
            <a:off x="10777728" y="2750360"/>
            <a:ext cx="174102" cy="180320"/>
          </a:xfrm>
          <a:prstGeom prst="roundRect">
            <a:avLst>
              <a:gd name="adj" fmla="val 22000"/>
            </a:avLst>
          </a:prstGeom>
          <a:solidFill>
            <a:srgbClr val="B23B2E"/>
          </a:solidFill>
          <a:ln>
            <a:noFill/>
          </a:ln>
        </p:spPr>
        <p:txBody>
          <a:bodyPr wrap="square" lIns="54864" tIns="54864" rIns="54864" bIns="54864" rtlCol="0" anchor="ctr">
            <a:noAutofit/>
          </a:bodyPr>
          <a:lstStyle/>
          <a:p>
            <a:endParaRPr lang="en-US"/>
          </a:p>
        </p:txBody>
      </p:sp>
      <p:sp>
        <p:nvSpPr>
          <p:cNvPr id="253" name="PersonHead"/>
          <p:cNvSpPr/>
          <p:nvPr/>
        </p:nvSpPr>
        <p:spPr>
          <a:xfrm>
            <a:off x="11055706" y="2619784"/>
            <a:ext cx="111923" cy="111923"/>
          </a:xfrm>
          <a:prstGeom prst="ellipse">
            <a:avLst/>
          </a:prstGeom>
          <a:solidFill>
            <a:srgbClr val="B23B2E"/>
          </a:solidFill>
          <a:ln>
            <a:noFill/>
          </a:ln>
        </p:spPr>
        <p:txBody>
          <a:bodyPr wrap="square" lIns="54864" tIns="54864" rIns="54864" bIns="54864" rtlCol="0" anchor="ctr">
            <a:noAutofit/>
          </a:bodyPr>
          <a:lstStyle/>
          <a:p>
            <a:endParaRPr lang="en-US"/>
          </a:p>
        </p:txBody>
      </p:sp>
      <p:sp>
        <p:nvSpPr>
          <p:cNvPr id="254" name="PersonBody"/>
          <p:cNvSpPr/>
          <p:nvPr/>
        </p:nvSpPr>
        <p:spPr>
          <a:xfrm>
            <a:off x="11024616" y="2750360"/>
            <a:ext cx="174102" cy="180320"/>
          </a:xfrm>
          <a:prstGeom prst="roundRect">
            <a:avLst>
              <a:gd name="adj" fmla="val 22000"/>
            </a:avLst>
          </a:prstGeom>
          <a:solidFill>
            <a:srgbClr val="B23B2E"/>
          </a:solidFill>
          <a:ln>
            <a:noFill/>
          </a:ln>
        </p:spPr>
        <p:txBody>
          <a:bodyPr wrap="square" lIns="54864" tIns="54864" rIns="54864" bIns="54864" rtlCol="0" anchor="ctr">
            <a:noAutofit/>
          </a:bodyPr>
          <a:lstStyle/>
          <a:p>
            <a:endParaRPr lang="en-US"/>
          </a:p>
        </p:txBody>
      </p:sp>
      <p:sp>
        <p:nvSpPr>
          <p:cNvPr id="255" name="PersonHead"/>
          <p:cNvSpPr/>
          <p:nvPr/>
        </p:nvSpPr>
        <p:spPr>
          <a:xfrm>
            <a:off x="11302594" y="2619784"/>
            <a:ext cx="111923" cy="111923"/>
          </a:xfrm>
          <a:prstGeom prst="ellipse">
            <a:avLst/>
          </a:prstGeom>
          <a:solidFill>
            <a:srgbClr val="B23B2E"/>
          </a:solidFill>
          <a:ln>
            <a:noFill/>
          </a:ln>
        </p:spPr>
        <p:txBody>
          <a:bodyPr wrap="square" lIns="54864" tIns="54864" rIns="54864" bIns="54864" rtlCol="0" anchor="ctr">
            <a:noAutofit/>
          </a:bodyPr>
          <a:lstStyle/>
          <a:p>
            <a:endParaRPr lang="en-US"/>
          </a:p>
        </p:txBody>
      </p:sp>
      <p:sp>
        <p:nvSpPr>
          <p:cNvPr id="256" name="PersonBody"/>
          <p:cNvSpPr/>
          <p:nvPr/>
        </p:nvSpPr>
        <p:spPr>
          <a:xfrm>
            <a:off x="11271504" y="2750360"/>
            <a:ext cx="174102" cy="180320"/>
          </a:xfrm>
          <a:prstGeom prst="roundRect">
            <a:avLst>
              <a:gd name="adj" fmla="val 22000"/>
            </a:avLst>
          </a:prstGeom>
          <a:solidFill>
            <a:srgbClr val="B23B2E"/>
          </a:solidFill>
          <a:ln>
            <a:noFill/>
          </a:ln>
        </p:spPr>
        <p:txBody>
          <a:bodyPr wrap="square" lIns="54864" tIns="54864" rIns="54864" bIns="54864" rtlCol="0" anchor="ctr">
            <a:noAutofit/>
          </a:bodyPr>
          <a:lstStyle/>
          <a:p>
            <a:endParaRPr lang="en-US"/>
          </a:p>
        </p:txBody>
      </p:sp>
      <p:sp>
        <p:nvSpPr>
          <p:cNvPr id="257" name="PersonHead"/>
          <p:cNvSpPr/>
          <p:nvPr/>
        </p:nvSpPr>
        <p:spPr>
          <a:xfrm>
            <a:off x="9080602" y="2994688"/>
            <a:ext cx="111923" cy="111923"/>
          </a:xfrm>
          <a:prstGeom prst="ellipse">
            <a:avLst/>
          </a:prstGeom>
          <a:solidFill>
            <a:srgbClr val="B23B2E"/>
          </a:solidFill>
          <a:ln>
            <a:noFill/>
          </a:ln>
        </p:spPr>
        <p:txBody>
          <a:bodyPr wrap="square" lIns="54864" tIns="54864" rIns="54864" bIns="54864" rtlCol="0" anchor="ctr">
            <a:noAutofit/>
          </a:bodyPr>
          <a:lstStyle/>
          <a:p>
            <a:endParaRPr lang="en-US"/>
          </a:p>
        </p:txBody>
      </p:sp>
      <p:sp>
        <p:nvSpPr>
          <p:cNvPr id="258" name="PersonBody"/>
          <p:cNvSpPr/>
          <p:nvPr/>
        </p:nvSpPr>
        <p:spPr>
          <a:xfrm>
            <a:off x="9049512" y="3125264"/>
            <a:ext cx="174102" cy="180320"/>
          </a:xfrm>
          <a:prstGeom prst="roundRect">
            <a:avLst>
              <a:gd name="adj" fmla="val 22000"/>
            </a:avLst>
          </a:prstGeom>
          <a:solidFill>
            <a:srgbClr val="B23B2E"/>
          </a:solidFill>
          <a:ln>
            <a:noFill/>
          </a:ln>
        </p:spPr>
        <p:txBody>
          <a:bodyPr wrap="square" lIns="54864" tIns="54864" rIns="54864" bIns="54864" rtlCol="0" anchor="ctr">
            <a:noAutofit/>
          </a:bodyPr>
          <a:lstStyle/>
          <a:p>
            <a:endParaRPr lang="en-US"/>
          </a:p>
        </p:txBody>
      </p:sp>
      <p:sp>
        <p:nvSpPr>
          <p:cNvPr id="259" name="PersonHead"/>
          <p:cNvSpPr/>
          <p:nvPr/>
        </p:nvSpPr>
        <p:spPr>
          <a:xfrm>
            <a:off x="9327490" y="2994688"/>
            <a:ext cx="111923" cy="111923"/>
          </a:xfrm>
          <a:prstGeom prst="ellipse">
            <a:avLst/>
          </a:prstGeom>
          <a:solidFill>
            <a:srgbClr val="0B376C"/>
          </a:solidFill>
          <a:ln>
            <a:noFill/>
          </a:ln>
        </p:spPr>
        <p:txBody>
          <a:bodyPr wrap="square" lIns="54864" tIns="54864" rIns="54864" bIns="54864" rtlCol="0" anchor="ctr">
            <a:noAutofit/>
          </a:bodyPr>
          <a:lstStyle/>
          <a:p>
            <a:endParaRPr lang="en-US"/>
          </a:p>
        </p:txBody>
      </p:sp>
      <p:sp>
        <p:nvSpPr>
          <p:cNvPr id="260" name="PersonBody"/>
          <p:cNvSpPr/>
          <p:nvPr/>
        </p:nvSpPr>
        <p:spPr>
          <a:xfrm>
            <a:off x="9296400" y="3125264"/>
            <a:ext cx="174102" cy="180320"/>
          </a:xfrm>
          <a:prstGeom prst="roundRect">
            <a:avLst>
              <a:gd name="adj" fmla="val 22000"/>
            </a:avLst>
          </a:prstGeom>
          <a:solidFill>
            <a:srgbClr val="0B376C"/>
          </a:solidFill>
          <a:ln>
            <a:noFill/>
          </a:ln>
        </p:spPr>
        <p:txBody>
          <a:bodyPr wrap="square" lIns="54864" tIns="54864" rIns="54864" bIns="54864" rtlCol="0" anchor="ctr">
            <a:noAutofit/>
          </a:bodyPr>
          <a:lstStyle/>
          <a:p>
            <a:endParaRPr lang="en-US"/>
          </a:p>
        </p:txBody>
      </p:sp>
      <p:sp>
        <p:nvSpPr>
          <p:cNvPr id="261" name="PersonHead"/>
          <p:cNvSpPr/>
          <p:nvPr/>
        </p:nvSpPr>
        <p:spPr>
          <a:xfrm>
            <a:off x="9574378" y="2994688"/>
            <a:ext cx="111923" cy="111923"/>
          </a:xfrm>
          <a:prstGeom prst="ellipse">
            <a:avLst/>
          </a:prstGeom>
          <a:solidFill>
            <a:srgbClr val="0B376C"/>
          </a:solidFill>
          <a:ln>
            <a:noFill/>
          </a:ln>
        </p:spPr>
        <p:txBody>
          <a:bodyPr wrap="square" lIns="54864" tIns="54864" rIns="54864" bIns="54864" rtlCol="0" anchor="ctr">
            <a:noAutofit/>
          </a:bodyPr>
          <a:lstStyle/>
          <a:p>
            <a:endParaRPr lang="en-US"/>
          </a:p>
        </p:txBody>
      </p:sp>
      <p:sp>
        <p:nvSpPr>
          <p:cNvPr id="262" name="PersonBody"/>
          <p:cNvSpPr/>
          <p:nvPr/>
        </p:nvSpPr>
        <p:spPr>
          <a:xfrm>
            <a:off x="9543288" y="3125264"/>
            <a:ext cx="174102" cy="180320"/>
          </a:xfrm>
          <a:prstGeom prst="roundRect">
            <a:avLst>
              <a:gd name="adj" fmla="val 22000"/>
            </a:avLst>
          </a:prstGeom>
          <a:solidFill>
            <a:srgbClr val="0B376C"/>
          </a:solidFill>
          <a:ln>
            <a:noFill/>
          </a:ln>
        </p:spPr>
        <p:txBody>
          <a:bodyPr wrap="square" lIns="54864" tIns="54864" rIns="54864" bIns="54864" rtlCol="0" anchor="ctr">
            <a:noAutofit/>
          </a:bodyPr>
          <a:lstStyle/>
          <a:p>
            <a:endParaRPr lang="en-US"/>
          </a:p>
        </p:txBody>
      </p:sp>
      <p:sp>
        <p:nvSpPr>
          <p:cNvPr id="263" name="PersonHead"/>
          <p:cNvSpPr/>
          <p:nvPr/>
        </p:nvSpPr>
        <p:spPr>
          <a:xfrm>
            <a:off x="9821266" y="2994688"/>
            <a:ext cx="111923" cy="111923"/>
          </a:xfrm>
          <a:prstGeom prst="ellipse">
            <a:avLst/>
          </a:prstGeom>
          <a:solidFill>
            <a:srgbClr val="0B376C"/>
          </a:solidFill>
          <a:ln>
            <a:noFill/>
          </a:ln>
        </p:spPr>
        <p:txBody>
          <a:bodyPr wrap="square" lIns="54864" tIns="54864" rIns="54864" bIns="54864" rtlCol="0" anchor="ctr">
            <a:noAutofit/>
          </a:bodyPr>
          <a:lstStyle/>
          <a:p>
            <a:endParaRPr lang="en-US"/>
          </a:p>
        </p:txBody>
      </p:sp>
      <p:sp>
        <p:nvSpPr>
          <p:cNvPr id="264" name="PersonBody"/>
          <p:cNvSpPr/>
          <p:nvPr/>
        </p:nvSpPr>
        <p:spPr>
          <a:xfrm>
            <a:off x="9790176" y="3125264"/>
            <a:ext cx="174102" cy="180320"/>
          </a:xfrm>
          <a:prstGeom prst="roundRect">
            <a:avLst>
              <a:gd name="adj" fmla="val 22000"/>
            </a:avLst>
          </a:prstGeom>
          <a:solidFill>
            <a:srgbClr val="0B376C"/>
          </a:solidFill>
          <a:ln>
            <a:noFill/>
          </a:ln>
        </p:spPr>
        <p:txBody>
          <a:bodyPr wrap="square" lIns="54864" tIns="54864" rIns="54864" bIns="54864" rtlCol="0" anchor="ctr">
            <a:noAutofit/>
          </a:bodyPr>
          <a:lstStyle/>
          <a:p>
            <a:endParaRPr lang="en-US"/>
          </a:p>
        </p:txBody>
      </p:sp>
      <p:sp>
        <p:nvSpPr>
          <p:cNvPr id="265" name="PersonHead"/>
          <p:cNvSpPr/>
          <p:nvPr/>
        </p:nvSpPr>
        <p:spPr>
          <a:xfrm>
            <a:off x="10068154" y="2994688"/>
            <a:ext cx="111923" cy="111923"/>
          </a:xfrm>
          <a:prstGeom prst="ellipse">
            <a:avLst/>
          </a:prstGeom>
          <a:solidFill>
            <a:srgbClr val="0B376C"/>
          </a:solidFill>
          <a:ln>
            <a:noFill/>
          </a:ln>
        </p:spPr>
        <p:txBody>
          <a:bodyPr wrap="square" lIns="54864" tIns="54864" rIns="54864" bIns="54864" rtlCol="0" anchor="ctr">
            <a:noAutofit/>
          </a:bodyPr>
          <a:lstStyle/>
          <a:p>
            <a:endParaRPr lang="en-US"/>
          </a:p>
        </p:txBody>
      </p:sp>
      <p:sp>
        <p:nvSpPr>
          <p:cNvPr id="266" name="PersonBody"/>
          <p:cNvSpPr/>
          <p:nvPr/>
        </p:nvSpPr>
        <p:spPr>
          <a:xfrm>
            <a:off x="10037064" y="3125264"/>
            <a:ext cx="174102" cy="180320"/>
          </a:xfrm>
          <a:prstGeom prst="roundRect">
            <a:avLst>
              <a:gd name="adj" fmla="val 22000"/>
            </a:avLst>
          </a:prstGeom>
          <a:solidFill>
            <a:srgbClr val="0B376C"/>
          </a:solidFill>
          <a:ln>
            <a:noFill/>
          </a:ln>
        </p:spPr>
        <p:txBody>
          <a:bodyPr wrap="square" lIns="54864" tIns="54864" rIns="54864" bIns="54864" rtlCol="0" anchor="ctr">
            <a:noAutofit/>
          </a:bodyPr>
          <a:lstStyle/>
          <a:p>
            <a:endParaRPr lang="en-US"/>
          </a:p>
        </p:txBody>
      </p:sp>
      <p:sp>
        <p:nvSpPr>
          <p:cNvPr id="267" name="PersonHead"/>
          <p:cNvSpPr/>
          <p:nvPr/>
        </p:nvSpPr>
        <p:spPr>
          <a:xfrm>
            <a:off x="10315042" y="2994688"/>
            <a:ext cx="111923" cy="111923"/>
          </a:xfrm>
          <a:prstGeom prst="ellipse">
            <a:avLst/>
          </a:prstGeom>
          <a:solidFill>
            <a:srgbClr val="0B376C"/>
          </a:solidFill>
          <a:ln>
            <a:noFill/>
          </a:ln>
        </p:spPr>
        <p:txBody>
          <a:bodyPr wrap="square" lIns="54864" tIns="54864" rIns="54864" bIns="54864" rtlCol="0" anchor="ctr">
            <a:noAutofit/>
          </a:bodyPr>
          <a:lstStyle/>
          <a:p>
            <a:endParaRPr lang="en-US"/>
          </a:p>
        </p:txBody>
      </p:sp>
      <p:sp>
        <p:nvSpPr>
          <p:cNvPr id="268" name="PersonBody"/>
          <p:cNvSpPr/>
          <p:nvPr/>
        </p:nvSpPr>
        <p:spPr>
          <a:xfrm>
            <a:off x="10283952" y="3125264"/>
            <a:ext cx="174102" cy="180320"/>
          </a:xfrm>
          <a:prstGeom prst="roundRect">
            <a:avLst>
              <a:gd name="adj" fmla="val 22000"/>
            </a:avLst>
          </a:prstGeom>
          <a:solidFill>
            <a:srgbClr val="0B376C"/>
          </a:solidFill>
          <a:ln>
            <a:noFill/>
          </a:ln>
        </p:spPr>
        <p:txBody>
          <a:bodyPr wrap="square" lIns="54864" tIns="54864" rIns="54864" bIns="54864" rtlCol="0" anchor="ctr">
            <a:noAutofit/>
          </a:bodyPr>
          <a:lstStyle/>
          <a:p>
            <a:endParaRPr lang="en-US"/>
          </a:p>
        </p:txBody>
      </p:sp>
      <p:sp>
        <p:nvSpPr>
          <p:cNvPr id="269" name="PersonHead"/>
          <p:cNvSpPr/>
          <p:nvPr/>
        </p:nvSpPr>
        <p:spPr>
          <a:xfrm>
            <a:off x="10561930" y="2994688"/>
            <a:ext cx="111923" cy="111923"/>
          </a:xfrm>
          <a:prstGeom prst="ellipse">
            <a:avLst/>
          </a:prstGeom>
          <a:solidFill>
            <a:srgbClr val="0B376C"/>
          </a:solidFill>
          <a:ln>
            <a:noFill/>
          </a:ln>
        </p:spPr>
        <p:txBody>
          <a:bodyPr wrap="square" lIns="54864" tIns="54864" rIns="54864" bIns="54864" rtlCol="0" anchor="ctr">
            <a:noAutofit/>
          </a:bodyPr>
          <a:lstStyle/>
          <a:p>
            <a:endParaRPr lang="en-US"/>
          </a:p>
        </p:txBody>
      </p:sp>
      <p:sp>
        <p:nvSpPr>
          <p:cNvPr id="270" name="PersonBody"/>
          <p:cNvSpPr/>
          <p:nvPr/>
        </p:nvSpPr>
        <p:spPr>
          <a:xfrm>
            <a:off x="10530840" y="3125264"/>
            <a:ext cx="174102" cy="180320"/>
          </a:xfrm>
          <a:prstGeom prst="roundRect">
            <a:avLst>
              <a:gd name="adj" fmla="val 22000"/>
            </a:avLst>
          </a:prstGeom>
          <a:solidFill>
            <a:srgbClr val="0B376C"/>
          </a:solidFill>
          <a:ln>
            <a:noFill/>
          </a:ln>
        </p:spPr>
        <p:txBody>
          <a:bodyPr wrap="square" lIns="54864" tIns="54864" rIns="54864" bIns="54864" rtlCol="0" anchor="ctr">
            <a:noAutofit/>
          </a:bodyPr>
          <a:lstStyle/>
          <a:p>
            <a:endParaRPr lang="en-US"/>
          </a:p>
        </p:txBody>
      </p:sp>
      <p:sp>
        <p:nvSpPr>
          <p:cNvPr id="271" name="PersonHead"/>
          <p:cNvSpPr/>
          <p:nvPr/>
        </p:nvSpPr>
        <p:spPr>
          <a:xfrm>
            <a:off x="10808818" y="2994688"/>
            <a:ext cx="111923" cy="111923"/>
          </a:xfrm>
          <a:prstGeom prst="ellipse">
            <a:avLst/>
          </a:prstGeom>
          <a:solidFill>
            <a:srgbClr val="0B376C"/>
          </a:solidFill>
          <a:ln>
            <a:noFill/>
          </a:ln>
        </p:spPr>
        <p:txBody>
          <a:bodyPr wrap="square" lIns="54864" tIns="54864" rIns="54864" bIns="54864" rtlCol="0" anchor="ctr">
            <a:noAutofit/>
          </a:bodyPr>
          <a:lstStyle/>
          <a:p>
            <a:endParaRPr lang="en-US"/>
          </a:p>
        </p:txBody>
      </p:sp>
      <p:sp>
        <p:nvSpPr>
          <p:cNvPr id="272" name="PersonBody"/>
          <p:cNvSpPr/>
          <p:nvPr/>
        </p:nvSpPr>
        <p:spPr>
          <a:xfrm>
            <a:off x="10777728" y="3125264"/>
            <a:ext cx="174102" cy="180320"/>
          </a:xfrm>
          <a:prstGeom prst="roundRect">
            <a:avLst>
              <a:gd name="adj" fmla="val 22000"/>
            </a:avLst>
          </a:prstGeom>
          <a:solidFill>
            <a:srgbClr val="0B376C"/>
          </a:solidFill>
          <a:ln>
            <a:noFill/>
          </a:ln>
        </p:spPr>
        <p:txBody>
          <a:bodyPr wrap="square" lIns="54864" tIns="54864" rIns="54864" bIns="54864" rtlCol="0" anchor="ctr">
            <a:noAutofit/>
          </a:bodyPr>
          <a:lstStyle/>
          <a:p>
            <a:endParaRPr lang="en-US"/>
          </a:p>
        </p:txBody>
      </p:sp>
      <p:sp>
        <p:nvSpPr>
          <p:cNvPr id="273" name="PersonHead"/>
          <p:cNvSpPr/>
          <p:nvPr/>
        </p:nvSpPr>
        <p:spPr>
          <a:xfrm>
            <a:off x="11055706" y="2994688"/>
            <a:ext cx="111923" cy="111923"/>
          </a:xfrm>
          <a:prstGeom prst="ellipse">
            <a:avLst/>
          </a:prstGeom>
          <a:solidFill>
            <a:srgbClr val="0B376C"/>
          </a:solidFill>
          <a:ln>
            <a:noFill/>
          </a:ln>
        </p:spPr>
        <p:txBody>
          <a:bodyPr wrap="square" lIns="54864" tIns="54864" rIns="54864" bIns="54864" rtlCol="0" anchor="ctr">
            <a:noAutofit/>
          </a:bodyPr>
          <a:lstStyle/>
          <a:p>
            <a:endParaRPr lang="en-US"/>
          </a:p>
        </p:txBody>
      </p:sp>
      <p:sp>
        <p:nvSpPr>
          <p:cNvPr id="274" name="PersonBody"/>
          <p:cNvSpPr/>
          <p:nvPr/>
        </p:nvSpPr>
        <p:spPr>
          <a:xfrm>
            <a:off x="11024616" y="3125264"/>
            <a:ext cx="174102" cy="180320"/>
          </a:xfrm>
          <a:prstGeom prst="roundRect">
            <a:avLst>
              <a:gd name="adj" fmla="val 22000"/>
            </a:avLst>
          </a:prstGeom>
          <a:solidFill>
            <a:srgbClr val="0B376C"/>
          </a:solidFill>
          <a:ln>
            <a:noFill/>
          </a:ln>
        </p:spPr>
        <p:txBody>
          <a:bodyPr wrap="square" lIns="54864" tIns="54864" rIns="54864" bIns="54864" rtlCol="0" anchor="ctr">
            <a:noAutofit/>
          </a:bodyPr>
          <a:lstStyle/>
          <a:p>
            <a:endParaRPr lang="en-US"/>
          </a:p>
        </p:txBody>
      </p:sp>
      <p:sp>
        <p:nvSpPr>
          <p:cNvPr id="275" name="PersonHead"/>
          <p:cNvSpPr/>
          <p:nvPr/>
        </p:nvSpPr>
        <p:spPr>
          <a:xfrm>
            <a:off x="11302594" y="2994688"/>
            <a:ext cx="111923" cy="111923"/>
          </a:xfrm>
          <a:prstGeom prst="ellipse">
            <a:avLst/>
          </a:prstGeom>
          <a:solidFill>
            <a:srgbClr val="0B376C"/>
          </a:solidFill>
          <a:ln>
            <a:noFill/>
          </a:ln>
        </p:spPr>
        <p:txBody>
          <a:bodyPr wrap="square" lIns="54864" tIns="54864" rIns="54864" bIns="54864" rtlCol="0" anchor="ctr">
            <a:noAutofit/>
          </a:bodyPr>
          <a:lstStyle/>
          <a:p>
            <a:endParaRPr lang="en-US"/>
          </a:p>
        </p:txBody>
      </p:sp>
      <p:sp>
        <p:nvSpPr>
          <p:cNvPr id="276" name="PersonBody"/>
          <p:cNvSpPr/>
          <p:nvPr/>
        </p:nvSpPr>
        <p:spPr>
          <a:xfrm>
            <a:off x="11271504" y="3125264"/>
            <a:ext cx="174102" cy="180320"/>
          </a:xfrm>
          <a:prstGeom prst="roundRect">
            <a:avLst>
              <a:gd name="adj" fmla="val 22000"/>
            </a:avLst>
          </a:prstGeom>
          <a:solidFill>
            <a:srgbClr val="0B376C"/>
          </a:solidFill>
          <a:ln>
            <a:noFill/>
          </a:ln>
        </p:spPr>
        <p:txBody>
          <a:bodyPr wrap="square" lIns="54864" tIns="54864" rIns="54864" bIns="54864" rtlCol="0" anchor="ctr">
            <a:noAutofit/>
          </a:bodyPr>
          <a:lstStyle/>
          <a:p>
            <a:endParaRPr lang="en-US"/>
          </a:p>
        </p:txBody>
      </p:sp>
      <p:sp>
        <p:nvSpPr>
          <p:cNvPr id="277" name="PersonHead"/>
          <p:cNvSpPr/>
          <p:nvPr/>
        </p:nvSpPr>
        <p:spPr>
          <a:xfrm>
            <a:off x="9080602" y="3369592"/>
            <a:ext cx="111923" cy="111923"/>
          </a:xfrm>
          <a:prstGeom prst="ellipse">
            <a:avLst/>
          </a:prstGeom>
          <a:solidFill>
            <a:srgbClr val="0B376C"/>
          </a:solidFill>
          <a:ln>
            <a:noFill/>
          </a:ln>
        </p:spPr>
        <p:txBody>
          <a:bodyPr wrap="square" lIns="54864" tIns="54864" rIns="54864" bIns="54864" rtlCol="0" anchor="ctr">
            <a:noAutofit/>
          </a:bodyPr>
          <a:lstStyle/>
          <a:p>
            <a:endParaRPr lang="en-US"/>
          </a:p>
        </p:txBody>
      </p:sp>
      <p:sp>
        <p:nvSpPr>
          <p:cNvPr id="278" name="PersonBody"/>
          <p:cNvSpPr/>
          <p:nvPr/>
        </p:nvSpPr>
        <p:spPr>
          <a:xfrm>
            <a:off x="9049512" y="3500168"/>
            <a:ext cx="174102" cy="180320"/>
          </a:xfrm>
          <a:prstGeom prst="roundRect">
            <a:avLst>
              <a:gd name="adj" fmla="val 22000"/>
            </a:avLst>
          </a:prstGeom>
          <a:solidFill>
            <a:srgbClr val="0B376C"/>
          </a:solidFill>
          <a:ln>
            <a:noFill/>
          </a:ln>
        </p:spPr>
        <p:txBody>
          <a:bodyPr wrap="square" lIns="54864" tIns="54864" rIns="54864" bIns="54864" rtlCol="0" anchor="ctr">
            <a:noAutofit/>
          </a:bodyPr>
          <a:lstStyle/>
          <a:p>
            <a:endParaRPr lang="en-US"/>
          </a:p>
        </p:txBody>
      </p:sp>
      <p:sp>
        <p:nvSpPr>
          <p:cNvPr id="279" name="PersonHead"/>
          <p:cNvSpPr/>
          <p:nvPr/>
        </p:nvSpPr>
        <p:spPr>
          <a:xfrm>
            <a:off x="9327490" y="3369592"/>
            <a:ext cx="111923" cy="111923"/>
          </a:xfrm>
          <a:prstGeom prst="ellipse">
            <a:avLst/>
          </a:prstGeom>
          <a:solidFill>
            <a:srgbClr val="0B376C"/>
          </a:solidFill>
          <a:ln>
            <a:noFill/>
          </a:ln>
        </p:spPr>
        <p:txBody>
          <a:bodyPr wrap="square" lIns="54864" tIns="54864" rIns="54864" bIns="54864" rtlCol="0" anchor="ctr">
            <a:noAutofit/>
          </a:bodyPr>
          <a:lstStyle/>
          <a:p>
            <a:endParaRPr lang="en-US"/>
          </a:p>
        </p:txBody>
      </p:sp>
      <p:sp>
        <p:nvSpPr>
          <p:cNvPr id="280" name="PersonBody"/>
          <p:cNvSpPr/>
          <p:nvPr/>
        </p:nvSpPr>
        <p:spPr>
          <a:xfrm>
            <a:off x="9296400" y="3500168"/>
            <a:ext cx="174102" cy="180320"/>
          </a:xfrm>
          <a:prstGeom prst="roundRect">
            <a:avLst>
              <a:gd name="adj" fmla="val 22000"/>
            </a:avLst>
          </a:prstGeom>
          <a:solidFill>
            <a:srgbClr val="0B376C"/>
          </a:solidFill>
          <a:ln>
            <a:noFill/>
          </a:ln>
        </p:spPr>
        <p:txBody>
          <a:bodyPr wrap="square" lIns="54864" tIns="54864" rIns="54864" bIns="54864" rtlCol="0" anchor="ctr">
            <a:noAutofit/>
          </a:bodyPr>
          <a:lstStyle/>
          <a:p>
            <a:endParaRPr lang="en-US"/>
          </a:p>
        </p:txBody>
      </p:sp>
      <p:sp>
        <p:nvSpPr>
          <p:cNvPr id="281" name="PersonHead"/>
          <p:cNvSpPr/>
          <p:nvPr/>
        </p:nvSpPr>
        <p:spPr>
          <a:xfrm>
            <a:off x="9574378" y="3369592"/>
            <a:ext cx="111923" cy="111923"/>
          </a:xfrm>
          <a:prstGeom prst="ellipse">
            <a:avLst/>
          </a:prstGeom>
          <a:solidFill>
            <a:srgbClr val="0B376C"/>
          </a:solidFill>
          <a:ln>
            <a:noFill/>
          </a:ln>
        </p:spPr>
        <p:txBody>
          <a:bodyPr wrap="square" lIns="54864" tIns="54864" rIns="54864" bIns="54864" rtlCol="0" anchor="ctr">
            <a:noAutofit/>
          </a:bodyPr>
          <a:lstStyle/>
          <a:p>
            <a:endParaRPr lang="en-US"/>
          </a:p>
        </p:txBody>
      </p:sp>
      <p:sp>
        <p:nvSpPr>
          <p:cNvPr id="282" name="PersonBody"/>
          <p:cNvSpPr/>
          <p:nvPr/>
        </p:nvSpPr>
        <p:spPr>
          <a:xfrm>
            <a:off x="9543288" y="3500168"/>
            <a:ext cx="174102" cy="180320"/>
          </a:xfrm>
          <a:prstGeom prst="roundRect">
            <a:avLst>
              <a:gd name="adj" fmla="val 22000"/>
            </a:avLst>
          </a:prstGeom>
          <a:solidFill>
            <a:srgbClr val="0B376C"/>
          </a:solidFill>
          <a:ln>
            <a:noFill/>
          </a:ln>
        </p:spPr>
        <p:txBody>
          <a:bodyPr wrap="square" lIns="54864" tIns="54864" rIns="54864" bIns="54864" rtlCol="0" anchor="ctr">
            <a:noAutofit/>
          </a:bodyPr>
          <a:lstStyle/>
          <a:p>
            <a:endParaRPr lang="en-US"/>
          </a:p>
        </p:txBody>
      </p:sp>
      <p:sp>
        <p:nvSpPr>
          <p:cNvPr id="283" name="PersonHead"/>
          <p:cNvSpPr/>
          <p:nvPr/>
        </p:nvSpPr>
        <p:spPr>
          <a:xfrm>
            <a:off x="9821266" y="3369592"/>
            <a:ext cx="111923" cy="111923"/>
          </a:xfrm>
          <a:prstGeom prst="ellipse">
            <a:avLst/>
          </a:prstGeom>
          <a:solidFill>
            <a:srgbClr val="0B376C"/>
          </a:solidFill>
          <a:ln>
            <a:noFill/>
          </a:ln>
        </p:spPr>
        <p:txBody>
          <a:bodyPr wrap="square" lIns="54864" tIns="54864" rIns="54864" bIns="54864" rtlCol="0" anchor="ctr">
            <a:noAutofit/>
          </a:bodyPr>
          <a:lstStyle/>
          <a:p>
            <a:endParaRPr lang="en-US"/>
          </a:p>
        </p:txBody>
      </p:sp>
      <p:sp>
        <p:nvSpPr>
          <p:cNvPr id="284" name="PersonBody"/>
          <p:cNvSpPr/>
          <p:nvPr/>
        </p:nvSpPr>
        <p:spPr>
          <a:xfrm>
            <a:off x="9790176" y="3500168"/>
            <a:ext cx="174102" cy="180320"/>
          </a:xfrm>
          <a:prstGeom prst="roundRect">
            <a:avLst>
              <a:gd name="adj" fmla="val 22000"/>
            </a:avLst>
          </a:prstGeom>
          <a:solidFill>
            <a:srgbClr val="0B376C"/>
          </a:solidFill>
          <a:ln>
            <a:noFill/>
          </a:ln>
        </p:spPr>
        <p:txBody>
          <a:bodyPr wrap="square" lIns="54864" tIns="54864" rIns="54864" bIns="54864" rtlCol="0" anchor="ctr">
            <a:noAutofit/>
          </a:bodyPr>
          <a:lstStyle/>
          <a:p>
            <a:endParaRPr lang="en-US"/>
          </a:p>
        </p:txBody>
      </p:sp>
      <p:sp>
        <p:nvSpPr>
          <p:cNvPr id="285" name="PersonHead"/>
          <p:cNvSpPr/>
          <p:nvPr/>
        </p:nvSpPr>
        <p:spPr>
          <a:xfrm>
            <a:off x="10068154" y="3369592"/>
            <a:ext cx="111923" cy="111923"/>
          </a:xfrm>
          <a:prstGeom prst="ellipse">
            <a:avLst/>
          </a:prstGeom>
          <a:solidFill>
            <a:srgbClr val="0B376C"/>
          </a:solidFill>
          <a:ln>
            <a:noFill/>
          </a:ln>
        </p:spPr>
        <p:txBody>
          <a:bodyPr wrap="square" lIns="54864" tIns="54864" rIns="54864" bIns="54864" rtlCol="0" anchor="ctr">
            <a:noAutofit/>
          </a:bodyPr>
          <a:lstStyle/>
          <a:p>
            <a:endParaRPr lang="en-US"/>
          </a:p>
        </p:txBody>
      </p:sp>
      <p:sp>
        <p:nvSpPr>
          <p:cNvPr id="286" name="PersonBody"/>
          <p:cNvSpPr/>
          <p:nvPr/>
        </p:nvSpPr>
        <p:spPr>
          <a:xfrm>
            <a:off x="10037064" y="3500168"/>
            <a:ext cx="174102" cy="180320"/>
          </a:xfrm>
          <a:prstGeom prst="roundRect">
            <a:avLst>
              <a:gd name="adj" fmla="val 22000"/>
            </a:avLst>
          </a:prstGeom>
          <a:solidFill>
            <a:srgbClr val="0B376C"/>
          </a:solidFill>
          <a:ln>
            <a:noFill/>
          </a:ln>
        </p:spPr>
        <p:txBody>
          <a:bodyPr wrap="square" lIns="54864" tIns="54864" rIns="54864" bIns="54864" rtlCol="0" anchor="ctr">
            <a:noAutofit/>
          </a:bodyPr>
          <a:lstStyle/>
          <a:p>
            <a:endParaRPr lang="en-US"/>
          </a:p>
        </p:txBody>
      </p:sp>
      <p:sp>
        <p:nvSpPr>
          <p:cNvPr id="287" name="PersonHead"/>
          <p:cNvSpPr/>
          <p:nvPr/>
        </p:nvSpPr>
        <p:spPr>
          <a:xfrm>
            <a:off x="10315042" y="3369592"/>
            <a:ext cx="111923" cy="111923"/>
          </a:xfrm>
          <a:prstGeom prst="ellipse">
            <a:avLst/>
          </a:prstGeom>
          <a:solidFill>
            <a:srgbClr val="0B376C"/>
          </a:solidFill>
          <a:ln>
            <a:noFill/>
          </a:ln>
        </p:spPr>
        <p:txBody>
          <a:bodyPr wrap="square" lIns="54864" tIns="54864" rIns="54864" bIns="54864" rtlCol="0" anchor="ctr">
            <a:noAutofit/>
          </a:bodyPr>
          <a:lstStyle/>
          <a:p>
            <a:endParaRPr lang="en-US"/>
          </a:p>
        </p:txBody>
      </p:sp>
      <p:sp>
        <p:nvSpPr>
          <p:cNvPr id="288" name="PersonBody"/>
          <p:cNvSpPr/>
          <p:nvPr/>
        </p:nvSpPr>
        <p:spPr>
          <a:xfrm>
            <a:off x="10283952" y="3500168"/>
            <a:ext cx="174102" cy="180320"/>
          </a:xfrm>
          <a:prstGeom prst="roundRect">
            <a:avLst>
              <a:gd name="adj" fmla="val 22000"/>
            </a:avLst>
          </a:prstGeom>
          <a:solidFill>
            <a:srgbClr val="0B376C"/>
          </a:solidFill>
          <a:ln>
            <a:noFill/>
          </a:ln>
        </p:spPr>
        <p:txBody>
          <a:bodyPr wrap="square" lIns="54864" tIns="54864" rIns="54864" bIns="54864" rtlCol="0" anchor="ctr">
            <a:noAutofit/>
          </a:bodyPr>
          <a:lstStyle/>
          <a:p>
            <a:endParaRPr lang="en-US"/>
          </a:p>
        </p:txBody>
      </p:sp>
      <p:sp>
        <p:nvSpPr>
          <p:cNvPr id="289" name="PersonHead"/>
          <p:cNvSpPr/>
          <p:nvPr/>
        </p:nvSpPr>
        <p:spPr>
          <a:xfrm>
            <a:off x="10561930" y="3369592"/>
            <a:ext cx="111923" cy="111923"/>
          </a:xfrm>
          <a:prstGeom prst="ellipse">
            <a:avLst/>
          </a:prstGeom>
          <a:solidFill>
            <a:srgbClr val="0B376C"/>
          </a:solidFill>
          <a:ln>
            <a:noFill/>
          </a:ln>
        </p:spPr>
        <p:txBody>
          <a:bodyPr wrap="square" lIns="54864" tIns="54864" rIns="54864" bIns="54864" rtlCol="0" anchor="ctr">
            <a:noAutofit/>
          </a:bodyPr>
          <a:lstStyle/>
          <a:p>
            <a:endParaRPr lang="en-US"/>
          </a:p>
        </p:txBody>
      </p:sp>
      <p:sp>
        <p:nvSpPr>
          <p:cNvPr id="290" name="PersonBody"/>
          <p:cNvSpPr/>
          <p:nvPr/>
        </p:nvSpPr>
        <p:spPr>
          <a:xfrm>
            <a:off x="10530840" y="3500168"/>
            <a:ext cx="174102" cy="180320"/>
          </a:xfrm>
          <a:prstGeom prst="roundRect">
            <a:avLst>
              <a:gd name="adj" fmla="val 22000"/>
            </a:avLst>
          </a:prstGeom>
          <a:solidFill>
            <a:srgbClr val="0B376C"/>
          </a:solidFill>
          <a:ln>
            <a:noFill/>
          </a:ln>
        </p:spPr>
        <p:txBody>
          <a:bodyPr wrap="square" lIns="54864" tIns="54864" rIns="54864" bIns="54864" rtlCol="0" anchor="ctr">
            <a:noAutofit/>
          </a:bodyPr>
          <a:lstStyle/>
          <a:p>
            <a:endParaRPr lang="en-US"/>
          </a:p>
        </p:txBody>
      </p:sp>
      <p:sp>
        <p:nvSpPr>
          <p:cNvPr id="291" name="PersonHead"/>
          <p:cNvSpPr/>
          <p:nvPr/>
        </p:nvSpPr>
        <p:spPr>
          <a:xfrm>
            <a:off x="10808818" y="3369592"/>
            <a:ext cx="111923" cy="111923"/>
          </a:xfrm>
          <a:prstGeom prst="ellipse">
            <a:avLst/>
          </a:prstGeom>
          <a:solidFill>
            <a:srgbClr val="0B376C"/>
          </a:solidFill>
          <a:ln>
            <a:noFill/>
          </a:ln>
        </p:spPr>
        <p:txBody>
          <a:bodyPr wrap="square" lIns="54864" tIns="54864" rIns="54864" bIns="54864" rtlCol="0" anchor="ctr">
            <a:noAutofit/>
          </a:bodyPr>
          <a:lstStyle/>
          <a:p>
            <a:endParaRPr lang="en-US"/>
          </a:p>
        </p:txBody>
      </p:sp>
      <p:sp>
        <p:nvSpPr>
          <p:cNvPr id="292" name="PersonBody"/>
          <p:cNvSpPr/>
          <p:nvPr/>
        </p:nvSpPr>
        <p:spPr>
          <a:xfrm>
            <a:off x="10777728" y="3500168"/>
            <a:ext cx="174102" cy="180320"/>
          </a:xfrm>
          <a:prstGeom prst="roundRect">
            <a:avLst>
              <a:gd name="adj" fmla="val 22000"/>
            </a:avLst>
          </a:prstGeom>
          <a:solidFill>
            <a:srgbClr val="0B376C"/>
          </a:solidFill>
          <a:ln>
            <a:noFill/>
          </a:ln>
        </p:spPr>
        <p:txBody>
          <a:bodyPr wrap="square" lIns="54864" tIns="54864" rIns="54864" bIns="54864" rtlCol="0" anchor="ctr">
            <a:noAutofit/>
          </a:bodyPr>
          <a:lstStyle/>
          <a:p>
            <a:endParaRPr lang="en-US"/>
          </a:p>
        </p:txBody>
      </p:sp>
      <p:sp>
        <p:nvSpPr>
          <p:cNvPr id="293" name="PersonHead"/>
          <p:cNvSpPr/>
          <p:nvPr/>
        </p:nvSpPr>
        <p:spPr>
          <a:xfrm>
            <a:off x="11055706" y="3369592"/>
            <a:ext cx="111923" cy="111923"/>
          </a:xfrm>
          <a:prstGeom prst="ellipse">
            <a:avLst/>
          </a:prstGeom>
          <a:solidFill>
            <a:srgbClr val="0B376C"/>
          </a:solidFill>
          <a:ln>
            <a:noFill/>
          </a:ln>
        </p:spPr>
        <p:txBody>
          <a:bodyPr wrap="square" lIns="54864" tIns="54864" rIns="54864" bIns="54864" rtlCol="0" anchor="ctr">
            <a:noAutofit/>
          </a:bodyPr>
          <a:lstStyle/>
          <a:p>
            <a:endParaRPr lang="en-US"/>
          </a:p>
        </p:txBody>
      </p:sp>
      <p:sp>
        <p:nvSpPr>
          <p:cNvPr id="294" name="PersonBody"/>
          <p:cNvSpPr/>
          <p:nvPr/>
        </p:nvSpPr>
        <p:spPr>
          <a:xfrm>
            <a:off x="11024616" y="3500168"/>
            <a:ext cx="174102" cy="180320"/>
          </a:xfrm>
          <a:prstGeom prst="roundRect">
            <a:avLst>
              <a:gd name="adj" fmla="val 22000"/>
            </a:avLst>
          </a:prstGeom>
          <a:solidFill>
            <a:srgbClr val="0B376C"/>
          </a:solidFill>
          <a:ln>
            <a:noFill/>
          </a:ln>
        </p:spPr>
        <p:txBody>
          <a:bodyPr wrap="square" lIns="54864" tIns="54864" rIns="54864" bIns="54864" rtlCol="0" anchor="ctr">
            <a:noAutofit/>
          </a:bodyPr>
          <a:lstStyle/>
          <a:p>
            <a:endParaRPr lang="en-US"/>
          </a:p>
        </p:txBody>
      </p:sp>
      <p:sp>
        <p:nvSpPr>
          <p:cNvPr id="295" name="PersonHead"/>
          <p:cNvSpPr/>
          <p:nvPr/>
        </p:nvSpPr>
        <p:spPr>
          <a:xfrm>
            <a:off x="11302594" y="3369592"/>
            <a:ext cx="111923" cy="111923"/>
          </a:xfrm>
          <a:prstGeom prst="ellipse">
            <a:avLst/>
          </a:prstGeom>
          <a:solidFill>
            <a:srgbClr val="0B376C"/>
          </a:solidFill>
          <a:ln>
            <a:noFill/>
          </a:ln>
        </p:spPr>
        <p:txBody>
          <a:bodyPr wrap="square" lIns="54864" tIns="54864" rIns="54864" bIns="54864" rtlCol="0" anchor="ctr">
            <a:noAutofit/>
          </a:bodyPr>
          <a:lstStyle/>
          <a:p>
            <a:endParaRPr lang="en-US"/>
          </a:p>
        </p:txBody>
      </p:sp>
      <p:sp>
        <p:nvSpPr>
          <p:cNvPr id="296" name="PersonBody"/>
          <p:cNvSpPr/>
          <p:nvPr/>
        </p:nvSpPr>
        <p:spPr>
          <a:xfrm>
            <a:off x="11271504" y="3500168"/>
            <a:ext cx="174102" cy="180320"/>
          </a:xfrm>
          <a:prstGeom prst="roundRect">
            <a:avLst>
              <a:gd name="adj" fmla="val 22000"/>
            </a:avLst>
          </a:prstGeom>
          <a:solidFill>
            <a:srgbClr val="0B376C"/>
          </a:solidFill>
          <a:ln>
            <a:noFill/>
          </a:ln>
        </p:spPr>
        <p:txBody>
          <a:bodyPr wrap="square" lIns="54864" tIns="54864" rIns="54864" bIns="54864" rtlCol="0" anchor="ctr">
            <a:noAutofit/>
          </a:bodyPr>
          <a:lstStyle/>
          <a:p>
            <a:endParaRPr lang="en-US"/>
          </a:p>
        </p:txBody>
      </p:sp>
      <p:sp>
        <p:nvSpPr>
          <p:cNvPr id="297" name="PersonHead"/>
          <p:cNvSpPr/>
          <p:nvPr/>
        </p:nvSpPr>
        <p:spPr>
          <a:xfrm>
            <a:off x="9080602" y="3744496"/>
            <a:ext cx="111923" cy="111923"/>
          </a:xfrm>
          <a:prstGeom prst="ellipse">
            <a:avLst/>
          </a:prstGeom>
          <a:solidFill>
            <a:srgbClr val="0B376C"/>
          </a:solidFill>
          <a:ln>
            <a:noFill/>
          </a:ln>
        </p:spPr>
        <p:txBody>
          <a:bodyPr wrap="square" lIns="54864" tIns="54864" rIns="54864" bIns="54864" rtlCol="0" anchor="ctr">
            <a:noAutofit/>
          </a:bodyPr>
          <a:lstStyle/>
          <a:p>
            <a:endParaRPr lang="en-US"/>
          </a:p>
        </p:txBody>
      </p:sp>
      <p:sp>
        <p:nvSpPr>
          <p:cNvPr id="298" name="PersonBody"/>
          <p:cNvSpPr/>
          <p:nvPr/>
        </p:nvSpPr>
        <p:spPr>
          <a:xfrm>
            <a:off x="9049512" y="3875072"/>
            <a:ext cx="174102" cy="180320"/>
          </a:xfrm>
          <a:prstGeom prst="roundRect">
            <a:avLst>
              <a:gd name="adj" fmla="val 22000"/>
            </a:avLst>
          </a:prstGeom>
          <a:solidFill>
            <a:srgbClr val="0B376C"/>
          </a:solidFill>
          <a:ln>
            <a:noFill/>
          </a:ln>
        </p:spPr>
        <p:txBody>
          <a:bodyPr wrap="square" lIns="54864" tIns="54864" rIns="54864" bIns="54864" rtlCol="0" anchor="ctr">
            <a:noAutofit/>
          </a:bodyPr>
          <a:lstStyle/>
          <a:p>
            <a:endParaRPr lang="en-US"/>
          </a:p>
        </p:txBody>
      </p:sp>
      <p:sp>
        <p:nvSpPr>
          <p:cNvPr id="299" name="PersonHead"/>
          <p:cNvSpPr/>
          <p:nvPr/>
        </p:nvSpPr>
        <p:spPr>
          <a:xfrm>
            <a:off x="9327490" y="3744496"/>
            <a:ext cx="111923" cy="111923"/>
          </a:xfrm>
          <a:prstGeom prst="ellipse">
            <a:avLst/>
          </a:prstGeom>
          <a:solidFill>
            <a:srgbClr val="0B376C"/>
          </a:solidFill>
          <a:ln>
            <a:noFill/>
          </a:ln>
        </p:spPr>
        <p:txBody>
          <a:bodyPr wrap="square" lIns="54864" tIns="54864" rIns="54864" bIns="54864" rtlCol="0" anchor="ctr">
            <a:noAutofit/>
          </a:bodyPr>
          <a:lstStyle/>
          <a:p>
            <a:endParaRPr lang="en-US"/>
          </a:p>
        </p:txBody>
      </p:sp>
      <p:sp>
        <p:nvSpPr>
          <p:cNvPr id="300" name="PersonBody"/>
          <p:cNvSpPr/>
          <p:nvPr/>
        </p:nvSpPr>
        <p:spPr>
          <a:xfrm>
            <a:off x="9296400" y="3875072"/>
            <a:ext cx="174102" cy="180320"/>
          </a:xfrm>
          <a:prstGeom prst="roundRect">
            <a:avLst>
              <a:gd name="adj" fmla="val 22000"/>
            </a:avLst>
          </a:prstGeom>
          <a:solidFill>
            <a:srgbClr val="0B376C"/>
          </a:solidFill>
          <a:ln>
            <a:noFill/>
          </a:ln>
        </p:spPr>
        <p:txBody>
          <a:bodyPr wrap="square" lIns="54864" tIns="54864" rIns="54864" bIns="54864" rtlCol="0" anchor="ctr">
            <a:noAutofit/>
          </a:bodyPr>
          <a:lstStyle/>
          <a:p>
            <a:endParaRPr lang="en-US"/>
          </a:p>
        </p:txBody>
      </p:sp>
      <p:sp>
        <p:nvSpPr>
          <p:cNvPr id="301" name="PersonHead"/>
          <p:cNvSpPr/>
          <p:nvPr/>
        </p:nvSpPr>
        <p:spPr>
          <a:xfrm>
            <a:off x="9574378" y="3744496"/>
            <a:ext cx="111923" cy="111923"/>
          </a:xfrm>
          <a:prstGeom prst="ellipse">
            <a:avLst/>
          </a:prstGeom>
          <a:solidFill>
            <a:srgbClr val="0B376C"/>
          </a:solidFill>
          <a:ln>
            <a:noFill/>
          </a:ln>
        </p:spPr>
        <p:txBody>
          <a:bodyPr wrap="square" lIns="54864" tIns="54864" rIns="54864" bIns="54864" rtlCol="0" anchor="ctr">
            <a:noAutofit/>
          </a:bodyPr>
          <a:lstStyle/>
          <a:p>
            <a:endParaRPr lang="en-US"/>
          </a:p>
        </p:txBody>
      </p:sp>
      <p:sp>
        <p:nvSpPr>
          <p:cNvPr id="302" name="PersonBody"/>
          <p:cNvSpPr/>
          <p:nvPr/>
        </p:nvSpPr>
        <p:spPr>
          <a:xfrm>
            <a:off x="9543288" y="3875072"/>
            <a:ext cx="174102" cy="180320"/>
          </a:xfrm>
          <a:prstGeom prst="roundRect">
            <a:avLst>
              <a:gd name="adj" fmla="val 22000"/>
            </a:avLst>
          </a:prstGeom>
          <a:solidFill>
            <a:srgbClr val="0B376C"/>
          </a:solidFill>
          <a:ln>
            <a:noFill/>
          </a:ln>
        </p:spPr>
        <p:txBody>
          <a:bodyPr wrap="square" lIns="54864" tIns="54864" rIns="54864" bIns="54864" rtlCol="0" anchor="ctr">
            <a:noAutofit/>
          </a:bodyPr>
          <a:lstStyle/>
          <a:p>
            <a:endParaRPr lang="en-US"/>
          </a:p>
        </p:txBody>
      </p:sp>
      <p:sp>
        <p:nvSpPr>
          <p:cNvPr id="303" name="PersonHead"/>
          <p:cNvSpPr/>
          <p:nvPr/>
        </p:nvSpPr>
        <p:spPr>
          <a:xfrm>
            <a:off x="9821266" y="3744496"/>
            <a:ext cx="111923" cy="111923"/>
          </a:xfrm>
          <a:prstGeom prst="ellipse">
            <a:avLst/>
          </a:prstGeom>
          <a:solidFill>
            <a:srgbClr val="0B376C"/>
          </a:solidFill>
          <a:ln>
            <a:noFill/>
          </a:ln>
        </p:spPr>
        <p:txBody>
          <a:bodyPr wrap="square" lIns="54864" tIns="54864" rIns="54864" bIns="54864" rtlCol="0" anchor="ctr">
            <a:noAutofit/>
          </a:bodyPr>
          <a:lstStyle/>
          <a:p>
            <a:endParaRPr lang="en-US"/>
          </a:p>
        </p:txBody>
      </p:sp>
      <p:sp>
        <p:nvSpPr>
          <p:cNvPr id="304" name="PersonBody"/>
          <p:cNvSpPr/>
          <p:nvPr/>
        </p:nvSpPr>
        <p:spPr>
          <a:xfrm>
            <a:off x="9790176" y="3875072"/>
            <a:ext cx="174102" cy="180320"/>
          </a:xfrm>
          <a:prstGeom prst="roundRect">
            <a:avLst>
              <a:gd name="adj" fmla="val 22000"/>
            </a:avLst>
          </a:prstGeom>
          <a:solidFill>
            <a:srgbClr val="0B376C"/>
          </a:solidFill>
          <a:ln>
            <a:noFill/>
          </a:ln>
        </p:spPr>
        <p:txBody>
          <a:bodyPr wrap="square" lIns="54864" tIns="54864" rIns="54864" bIns="54864" rtlCol="0" anchor="ctr">
            <a:noAutofit/>
          </a:bodyPr>
          <a:lstStyle/>
          <a:p>
            <a:endParaRPr lang="en-US"/>
          </a:p>
        </p:txBody>
      </p:sp>
      <p:sp>
        <p:nvSpPr>
          <p:cNvPr id="305" name="PersonHead"/>
          <p:cNvSpPr/>
          <p:nvPr/>
        </p:nvSpPr>
        <p:spPr>
          <a:xfrm>
            <a:off x="10068154" y="3744496"/>
            <a:ext cx="111923" cy="111923"/>
          </a:xfrm>
          <a:prstGeom prst="ellipse">
            <a:avLst/>
          </a:prstGeom>
          <a:solidFill>
            <a:srgbClr val="0B376C"/>
          </a:solidFill>
          <a:ln>
            <a:noFill/>
          </a:ln>
        </p:spPr>
        <p:txBody>
          <a:bodyPr wrap="square" lIns="54864" tIns="54864" rIns="54864" bIns="54864" rtlCol="0" anchor="ctr">
            <a:noAutofit/>
          </a:bodyPr>
          <a:lstStyle/>
          <a:p>
            <a:endParaRPr lang="en-US"/>
          </a:p>
        </p:txBody>
      </p:sp>
      <p:sp>
        <p:nvSpPr>
          <p:cNvPr id="306" name="PersonBody"/>
          <p:cNvSpPr/>
          <p:nvPr/>
        </p:nvSpPr>
        <p:spPr>
          <a:xfrm>
            <a:off x="10037064" y="3875072"/>
            <a:ext cx="174102" cy="180320"/>
          </a:xfrm>
          <a:prstGeom prst="roundRect">
            <a:avLst>
              <a:gd name="adj" fmla="val 22000"/>
            </a:avLst>
          </a:prstGeom>
          <a:solidFill>
            <a:srgbClr val="0B376C"/>
          </a:solidFill>
          <a:ln>
            <a:noFill/>
          </a:ln>
        </p:spPr>
        <p:txBody>
          <a:bodyPr wrap="square" lIns="54864" tIns="54864" rIns="54864" bIns="54864" rtlCol="0" anchor="ctr">
            <a:noAutofit/>
          </a:bodyPr>
          <a:lstStyle/>
          <a:p>
            <a:endParaRPr lang="en-US"/>
          </a:p>
        </p:txBody>
      </p:sp>
      <p:sp>
        <p:nvSpPr>
          <p:cNvPr id="307" name="PersonHead"/>
          <p:cNvSpPr/>
          <p:nvPr/>
        </p:nvSpPr>
        <p:spPr>
          <a:xfrm>
            <a:off x="10315042" y="3744496"/>
            <a:ext cx="111923" cy="111923"/>
          </a:xfrm>
          <a:prstGeom prst="ellipse">
            <a:avLst/>
          </a:prstGeom>
          <a:solidFill>
            <a:srgbClr val="0B376C"/>
          </a:solidFill>
          <a:ln>
            <a:noFill/>
          </a:ln>
        </p:spPr>
        <p:txBody>
          <a:bodyPr wrap="square" lIns="54864" tIns="54864" rIns="54864" bIns="54864" rtlCol="0" anchor="ctr">
            <a:noAutofit/>
          </a:bodyPr>
          <a:lstStyle/>
          <a:p>
            <a:endParaRPr lang="en-US"/>
          </a:p>
        </p:txBody>
      </p:sp>
      <p:sp>
        <p:nvSpPr>
          <p:cNvPr id="308" name="PersonBody"/>
          <p:cNvSpPr/>
          <p:nvPr/>
        </p:nvSpPr>
        <p:spPr>
          <a:xfrm>
            <a:off x="10283952" y="3875072"/>
            <a:ext cx="174102" cy="180320"/>
          </a:xfrm>
          <a:prstGeom prst="roundRect">
            <a:avLst>
              <a:gd name="adj" fmla="val 22000"/>
            </a:avLst>
          </a:prstGeom>
          <a:solidFill>
            <a:srgbClr val="0B376C"/>
          </a:solidFill>
          <a:ln>
            <a:noFill/>
          </a:ln>
        </p:spPr>
        <p:txBody>
          <a:bodyPr wrap="square" lIns="54864" tIns="54864" rIns="54864" bIns="54864" rtlCol="0" anchor="ctr">
            <a:noAutofit/>
          </a:bodyPr>
          <a:lstStyle/>
          <a:p>
            <a:endParaRPr lang="en-US"/>
          </a:p>
        </p:txBody>
      </p:sp>
      <p:sp>
        <p:nvSpPr>
          <p:cNvPr id="309" name="PersonHead"/>
          <p:cNvSpPr/>
          <p:nvPr/>
        </p:nvSpPr>
        <p:spPr>
          <a:xfrm>
            <a:off x="10561930" y="3744496"/>
            <a:ext cx="111923" cy="111923"/>
          </a:xfrm>
          <a:prstGeom prst="ellipse">
            <a:avLst/>
          </a:prstGeom>
          <a:solidFill>
            <a:srgbClr val="0B376C"/>
          </a:solidFill>
          <a:ln>
            <a:noFill/>
          </a:ln>
        </p:spPr>
        <p:txBody>
          <a:bodyPr wrap="square" lIns="54864" tIns="54864" rIns="54864" bIns="54864" rtlCol="0" anchor="ctr">
            <a:noAutofit/>
          </a:bodyPr>
          <a:lstStyle/>
          <a:p>
            <a:endParaRPr lang="en-US"/>
          </a:p>
        </p:txBody>
      </p:sp>
      <p:sp>
        <p:nvSpPr>
          <p:cNvPr id="310" name="PersonBody"/>
          <p:cNvSpPr/>
          <p:nvPr/>
        </p:nvSpPr>
        <p:spPr>
          <a:xfrm>
            <a:off x="10530840" y="3875072"/>
            <a:ext cx="174102" cy="180320"/>
          </a:xfrm>
          <a:prstGeom prst="roundRect">
            <a:avLst>
              <a:gd name="adj" fmla="val 22000"/>
            </a:avLst>
          </a:prstGeom>
          <a:solidFill>
            <a:srgbClr val="0B376C"/>
          </a:solidFill>
          <a:ln>
            <a:noFill/>
          </a:ln>
        </p:spPr>
        <p:txBody>
          <a:bodyPr wrap="square" lIns="54864" tIns="54864" rIns="54864" bIns="54864" rtlCol="0" anchor="ctr">
            <a:noAutofit/>
          </a:bodyPr>
          <a:lstStyle/>
          <a:p>
            <a:endParaRPr lang="en-US"/>
          </a:p>
        </p:txBody>
      </p:sp>
      <p:sp>
        <p:nvSpPr>
          <p:cNvPr id="311" name="PersonHead"/>
          <p:cNvSpPr/>
          <p:nvPr/>
        </p:nvSpPr>
        <p:spPr>
          <a:xfrm>
            <a:off x="10808818" y="3744496"/>
            <a:ext cx="111923" cy="111923"/>
          </a:xfrm>
          <a:prstGeom prst="ellipse">
            <a:avLst/>
          </a:prstGeom>
          <a:solidFill>
            <a:srgbClr val="0B376C"/>
          </a:solidFill>
          <a:ln>
            <a:noFill/>
          </a:ln>
        </p:spPr>
        <p:txBody>
          <a:bodyPr wrap="square" lIns="54864" tIns="54864" rIns="54864" bIns="54864" rtlCol="0" anchor="ctr">
            <a:noAutofit/>
          </a:bodyPr>
          <a:lstStyle/>
          <a:p>
            <a:endParaRPr lang="en-US"/>
          </a:p>
        </p:txBody>
      </p:sp>
      <p:sp>
        <p:nvSpPr>
          <p:cNvPr id="312" name="PersonBody"/>
          <p:cNvSpPr/>
          <p:nvPr/>
        </p:nvSpPr>
        <p:spPr>
          <a:xfrm>
            <a:off x="10777728" y="3875072"/>
            <a:ext cx="174102" cy="180320"/>
          </a:xfrm>
          <a:prstGeom prst="roundRect">
            <a:avLst>
              <a:gd name="adj" fmla="val 22000"/>
            </a:avLst>
          </a:prstGeom>
          <a:solidFill>
            <a:srgbClr val="0B376C"/>
          </a:solidFill>
          <a:ln>
            <a:noFill/>
          </a:ln>
        </p:spPr>
        <p:txBody>
          <a:bodyPr wrap="square" lIns="54864" tIns="54864" rIns="54864" bIns="54864" rtlCol="0" anchor="ctr">
            <a:noAutofit/>
          </a:bodyPr>
          <a:lstStyle/>
          <a:p>
            <a:endParaRPr lang="en-US"/>
          </a:p>
        </p:txBody>
      </p:sp>
      <p:sp>
        <p:nvSpPr>
          <p:cNvPr id="313" name="PersonHead"/>
          <p:cNvSpPr/>
          <p:nvPr/>
        </p:nvSpPr>
        <p:spPr>
          <a:xfrm>
            <a:off x="11055706" y="3744496"/>
            <a:ext cx="111923" cy="111923"/>
          </a:xfrm>
          <a:prstGeom prst="ellipse">
            <a:avLst/>
          </a:prstGeom>
          <a:solidFill>
            <a:srgbClr val="0B376C"/>
          </a:solidFill>
          <a:ln>
            <a:noFill/>
          </a:ln>
        </p:spPr>
        <p:txBody>
          <a:bodyPr wrap="square" lIns="54864" tIns="54864" rIns="54864" bIns="54864" rtlCol="0" anchor="ctr">
            <a:noAutofit/>
          </a:bodyPr>
          <a:lstStyle/>
          <a:p>
            <a:endParaRPr lang="en-US"/>
          </a:p>
        </p:txBody>
      </p:sp>
      <p:sp>
        <p:nvSpPr>
          <p:cNvPr id="314" name="PersonBody"/>
          <p:cNvSpPr/>
          <p:nvPr/>
        </p:nvSpPr>
        <p:spPr>
          <a:xfrm>
            <a:off x="11024616" y="3875072"/>
            <a:ext cx="174102" cy="180320"/>
          </a:xfrm>
          <a:prstGeom prst="roundRect">
            <a:avLst>
              <a:gd name="adj" fmla="val 22000"/>
            </a:avLst>
          </a:prstGeom>
          <a:solidFill>
            <a:srgbClr val="0B376C"/>
          </a:solidFill>
          <a:ln>
            <a:noFill/>
          </a:ln>
        </p:spPr>
        <p:txBody>
          <a:bodyPr wrap="square" lIns="54864" tIns="54864" rIns="54864" bIns="54864" rtlCol="0" anchor="ctr">
            <a:noAutofit/>
          </a:bodyPr>
          <a:lstStyle/>
          <a:p>
            <a:endParaRPr lang="en-US"/>
          </a:p>
        </p:txBody>
      </p:sp>
      <p:sp>
        <p:nvSpPr>
          <p:cNvPr id="315" name="PersonHead"/>
          <p:cNvSpPr/>
          <p:nvPr/>
        </p:nvSpPr>
        <p:spPr>
          <a:xfrm>
            <a:off x="11302594" y="3744496"/>
            <a:ext cx="111923" cy="111923"/>
          </a:xfrm>
          <a:prstGeom prst="ellipse">
            <a:avLst/>
          </a:prstGeom>
          <a:solidFill>
            <a:srgbClr val="0B376C"/>
          </a:solidFill>
          <a:ln>
            <a:noFill/>
          </a:ln>
        </p:spPr>
        <p:txBody>
          <a:bodyPr wrap="square" lIns="54864" tIns="54864" rIns="54864" bIns="54864" rtlCol="0" anchor="ctr">
            <a:noAutofit/>
          </a:bodyPr>
          <a:lstStyle/>
          <a:p>
            <a:endParaRPr lang="en-US"/>
          </a:p>
        </p:txBody>
      </p:sp>
      <p:sp>
        <p:nvSpPr>
          <p:cNvPr id="316" name="PersonBody"/>
          <p:cNvSpPr/>
          <p:nvPr/>
        </p:nvSpPr>
        <p:spPr>
          <a:xfrm>
            <a:off x="11271504" y="3875072"/>
            <a:ext cx="174102" cy="180320"/>
          </a:xfrm>
          <a:prstGeom prst="roundRect">
            <a:avLst>
              <a:gd name="adj" fmla="val 22000"/>
            </a:avLst>
          </a:prstGeom>
          <a:solidFill>
            <a:srgbClr val="0B376C"/>
          </a:solidFill>
          <a:ln>
            <a:noFill/>
          </a:ln>
        </p:spPr>
        <p:txBody>
          <a:bodyPr wrap="square" lIns="54864" tIns="54864" rIns="54864" bIns="54864" rtlCol="0" anchor="ctr">
            <a:noAutofit/>
          </a:bodyPr>
          <a:lstStyle/>
          <a:p>
            <a:endParaRPr lang="en-US"/>
          </a:p>
        </p:txBody>
      </p:sp>
      <p:sp>
        <p:nvSpPr>
          <p:cNvPr id="317" name="Text"/>
          <p:cNvSpPr/>
          <p:nvPr/>
        </p:nvSpPr>
        <p:spPr>
          <a:xfrm>
            <a:off x="5913120" y="4073680"/>
            <a:ext cx="2743200" cy="365760"/>
          </a:xfrm>
          <a:prstGeom prst="rect">
            <a:avLst/>
          </a:prstGeom>
          <a:noFill/>
          <a:ln>
            <a:noFill/>
          </a:ln>
        </p:spPr>
        <p:txBody>
          <a:bodyPr wrap="square" lIns="54864" tIns="54864" rIns="54864" bIns="54864" rtlCol="0" anchor="ctr">
            <a:noAutofit/>
          </a:bodyPr>
          <a:lstStyle/>
          <a:p>
            <a:pPr marL="0" indent="0" algn="ctr">
              <a:lnSpc>
                <a:spcPct val="100000"/>
              </a:lnSpc>
              <a:buNone/>
            </a:pPr>
            <a:r>
              <a:rPr lang="en-US" sz="1600" b="1" dirty="0">
                <a:solidFill>
                  <a:srgbClr val="B23B2E"/>
                </a:solidFill>
                <a:latin typeface="Arial"/>
                <a:cs typeface="Arial"/>
              </a:rPr>
              <a:t>21/50 tử vong</a:t>
            </a:r>
          </a:p>
        </p:txBody>
      </p:sp>
      <p:sp>
        <p:nvSpPr>
          <p:cNvPr id="318" name="Text"/>
          <p:cNvSpPr/>
          <p:nvPr/>
        </p:nvSpPr>
        <p:spPr>
          <a:xfrm>
            <a:off x="8839200" y="4073680"/>
            <a:ext cx="2743200" cy="365760"/>
          </a:xfrm>
          <a:prstGeom prst="rect">
            <a:avLst/>
          </a:prstGeom>
          <a:noFill/>
          <a:ln>
            <a:noFill/>
          </a:ln>
        </p:spPr>
        <p:txBody>
          <a:bodyPr wrap="square" lIns="54864" tIns="54864" rIns="54864" bIns="54864" rtlCol="0" anchor="ctr">
            <a:noAutofit/>
          </a:bodyPr>
          <a:lstStyle/>
          <a:p>
            <a:pPr marL="0" indent="0" algn="ctr">
              <a:lnSpc>
                <a:spcPct val="100000"/>
              </a:lnSpc>
              <a:buNone/>
            </a:pPr>
            <a:r>
              <a:rPr lang="en-US" sz="1600" b="1" dirty="0">
                <a:solidFill>
                  <a:srgbClr val="B23B2E"/>
                </a:solidFill>
                <a:latin typeface="Arial"/>
                <a:cs typeface="Arial"/>
              </a:rPr>
              <a:t>21/50 tử vong</a:t>
            </a:r>
          </a:p>
        </p:txBody>
      </p:sp>
      <p:sp>
        <p:nvSpPr>
          <p:cNvPr id="319" name="Text"/>
          <p:cNvSpPr/>
          <p:nvPr/>
        </p:nvSpPr>
        <p:spPr>
          <a:xfrm>
            <a:off x="5867400" y="4485160"/>
            <a:ext cx="5760720" cy="548640"/>
          </a:xfrm>
          <a:prstGeom prst="rect">
            <a:avLst/>
          </a:prstGeom>
          <a:noFill/>
          <a:ln>
            <a:noFill/>
          </a:ln>
        </p:spPr>
        <p:txBody>
          <a:bodyPr wrap="square" lIns="54864" tIns="54864" rIns="54864" bIns="54864" rtlCol="0" anchor="ctr">
            <a:noAutofit/>
          </a:bodyPr>
          <a:lstStyle/>
          <a:p>
            <a:pPr marL="0" indent="0" algn="ctr">
              <a:lnSpc>
                <a:spcPct val="100000"/>
              </a:lnSpc>
              <a:buNone/>
            </a:pPr>
            <a:r>
              <a:rPr lang="en-US" sz="1600" dirty="0">
                <a:solidFill>
                  <a:srgbClr val="1A1A1A"/>
                </a:solidFill>
                <a:latin typeface="Arial"/>
                <a:cs typeface="Arial"/>
              </a:rPr>
              <a:t>Nhiều người bệnh, so sánh công bằng, đếm mọi kết cục</a:t>
            </a:r>
          </a:p>
        </p:txBody>
      </p:sp>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ctr">
              <a:buNone/>
            </a:pPr>
            <a:r>
              <a:rPr lang="en-US" sz="1300" b="1" dirty="0">
                <a:solidFill>
                  <a:srgbClr val="FFFFFF"/>
                </a:solidFill>
                <a:latin typeface="Arial"/>
                <a:cs typeface="Arial"/>
              </a:rPr>
              <a:t>THÔNG ĐIỆP CHÍNH   </a:t>
            </a:r>
            <a:r>
              <a:rPr lang="en-US" sz="1550" dirty="0">
                <a:solidFill>
                  <a:srgbClr val="FFFFFF"/>
                </a:solidFill>
                <a:latin typeface="Arial"/>
                <a:cs typeface="Arial"/>
              </a:rPr>
              <a:t>Kinh nghiệm gợi ra câu hỏi. So sánh công bằng trên nhiều người bệnh mới trả lời được.</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Vì sao kinh nghiệm của một khoa là chưa đủ</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pic>
        <p:nvPicPr>
          <p:cNvPr id="25" name="Figure"/>
          <p:cNvPicPr>
            <a:picLocks noChangeAspect="1"/>
          </p:cNvPicPr>
          <p:nvPr/>
        </p:nvPicPr>
        <p:blipFill>
          <a:blip r:embed="rId4"/>
          <a:stretch>
            <a:fillRect/>
          </a:stretch>
        </p:blipFill>
        <p:spPr>
          <a:xfrm>
            <a:off x="677066" y="1150000"/>
            <a:ext cx="10837867" cy="4150000"/>
          </a:xfrm>
          <a:prstGeom prst="rect">
            <a:avLst/>
          </a:prstGeom>
        </p:spPr>
      </p:pic>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ctr">
              <a:buNone/>
            </a:pPr>
            <a:r>
              <a:rPr lang="en-US" sz="1300" b="1" dirty="0">
                <a:solidFill>
                  <a:srgbClr val="FFFFFF"/>
                </a:solidFill>
                <a:latin typeface="Arial"/>
                <a:cs typeface="Arial"/>
              </a:rPr>
              <a:t>THÔNG ĐIỆP CHÍNH   </a:t>
            </a:r>
            <a:r>
              <a:rPr lang="en-US" sz="1550" dirty="0">
                <a:solidFill>
                  <a:srgbClr val="FFFFFF"/>
                </a:solidFill>
                <a:latin typeface="Arial"/>
                <a:cs typeface="Arial"/>
              </a:rPr>
              <a:t>Số nhỏ dao động do ngẫu nhiên. So sánh lớn và công bằng mới ổn định.</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Tháp bằng chứng</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20" name="Notes"/>
          <p:cNvSpPr txBox="1"/>
          <p:nvPr/>
        </p:nvSpPr>
        <p:spPr>
          <a:xfrm>
            <a:off x="457200" y="1220000"/>
            <a:ext cx="3600000" cy="4030000"/>
          </a:xfrm>
          <a:prstGeom prst="rect">
            <a:avLst/>
          </a:prstGeom>
          <a:noFill/>
          <a:ln>
            <a:noFill/>
          </a:ln>
        </p:spPr>
        <p:txBody>
          <a:bodyPr wrap="square" lIns="91440" tIns="45720" rIns="91440" bIns="45720" rtlCol="0" anchor="ctr"/>
          <a:lstStyle/>
          <a:p>
            <a:pPr marL="0" indent="0" algn="l">
              <a:buNone/>
            </a:pPr>
            <a:r>
              <a:rPr lang="en-US" sz="1700" b="1" dirty="0">
                <a:solidFill>
                  <a:srgbClr val="0D7377"/>
                </a:solidFill>
                <a:latin typeface="Arial"/>
                <a:cs typeface="Arial"/>
              </a:rPr>
              <a:t>Cách đọc</a:t>
            </a:r>
          </a:p>
          <a:p>
            <a:pPr marL="274320" indent="-274320" algn="l">
              <a:spcBef>
                <a:spcPts val="440"/>
              </a:spcBef>
              <a:buFont typeface="Arial"/>
              <a:buChar char="•"/>
            </a:pPr>
            <a:r>
              <a:rPr lang="en-US" sz="1450" dirty="0">
                <a:solidFill>
                  <a:srgbClr val="000000"/>
                </a:solidFill>
                <a:latin typeface="Arial"/>
                <a:cs typeface="Arial"/>
              </a:rPr>
              <a:t>Càng lên cao, nguy cơ sai lệch càng thấp với câu hỏi về hiệu quả điều trị</a:t>
            </a:r>
          </a:p>
          <a:p>
            <a:pPr marL="274320" indent="-274320" algn="l">
              <a:spcBef>
                <a:spcPts val="440"/>
              </a:spcBef>
              <a:buFont typeface="Arial"/>
              <a:buChar char="•"/>
            </a:pPr>
            <a:r>
              <a:rPr lang="en-US" sz="1450" dirty="0">
                <a:solidFill>
                  <a:srgbClr val="000000"/>
                </a:solidFill>
                <a:latin typeface="Arial"/>
                <a:cs typeface="Arial"/>
              </a:rPr>
              <a:t>Thuần tập làm tốt có thể hơn thử nghiệm làm kém</a:t>
            </a:r>
          </a:p>
          <a:p>
            <a:pPr marL="274320" indent="-274320" algn="l">
              <a:spcBef>
                <a:spcPts val="440"/>
              </a:spcBef>
              <a:buFont typeface="Arial"/>
              <a:buChar char="•"/>
            </a:pPr>
            <a:r>
              <a:rPr lang="en-US" sz="1450" dirty="0">
                <a:solidFill>
                  <a:srgbClr val="000000"/>
                </a:solidFill>
                <a:latin typeface="Arial"/>
                <a:cs typeface="Arial"/>
              </a:rPr>
              <a:t>Câu hỏi mô tả không cần thử nghiệm</a:t>
            </a:r>
          </a:p>
        </p:txBody>
      </p:sp>
      <p:cxnSp>
        <p:nvCxnSpPr>
          <p:cNvPr id="100" name="Arrow"/>
          <p:cNvCxnSpPr/>
          <p:nvPr/>
        </p:nvCxnSpPr>
        <p:spPr>
          <a:xfrm flipV="1">
            <a:off x="4637720" y="1348768"/>
            <a:ext cx="0" cy="3730752"/>
          </a:xfrm>
          <a:prstGeom prst="straightConnector1">
            <a:avLst/>
          </a:prstGeom>
          <a:ln w="50800" cap="rnd">
            <a:solidFill>
              <a:srgbClr val="0D7377"/>
            </a:solidFill>
            <a:round/>
            <a:tailEnd type="triangle" w="med" len="med"/>
          </a:ln>
        </p:spPr>
      </p:cxnSp>
      <p:sp>
        <p:nvSpPr>
          <p:cNvPr id="101" name="Text"/>
          <p:cNvSpPr/>
          <p:nvPr/>
        </p:nvSpPr>
        <p:spPr>
          <a:xfrm>
            <a:off x="4774880" y="1513360"/>
            <a:ext cx="457200" cy="3474720"/>
          </a:xfrm>
          <a:prstGeom prst="rect">
            <a:avLst/>
          </a:prstGeom>
          <a:noFill/>
          <a:ln>
            <a:noFill/>
          </a:ln>
        </p:spPr>
        <p:txBody>
          <a:bodyPr wrap="square" lIns="54864" tIns="54864" rIns="54864" bIns="54864" rtlCol="0" anchor="ctr" vert="vert270">
            <a:noAutofit/>
          </a:bodyPr>
          <a:lstStyle/>
          <a:p>
            <a:pPr marL="0" indent="0" algn="ctr">
              <a:lnSpc>
                <a:spcPct val="100000"/>
              </a:lnSpc>
              <a:buNone/>
            </a:pPr>
            <a:r>
              <a:rPr lang="en-US" sz="1500" b="1" dirty="0">
                <a:solidFill>
                  <a:srgbClr val="0D7377"/>
                </a:solidFill>
                <a:latin typeface="Arial"/>
                <a:cs typeface="Arial"/>
              </a:rPr>
              <a:t>ít sai lệch hơn, tin cậy hơn</a:t>
            </a:r>
          </a:p>
        </p:txBody>
      </p:sp>
      <p:sp>
        <p:nvSpPr>
          <p:cNvPr id="102" name="Box"/>
          <p:cNvSpPr/>
          <p:nvPr/>
        </p:nvSpPr>
        <p:spPr>
          <a:xfrm>
            <a:off x="5369240" y="4549168"/>
            <a:ext cx="6309360" cy="603504"/>
          </a:xfrm>
          <a:prstGeom prst="trapezoid">
            <a:avLst>
              <a:gd name="adj" fmla="val 50000"/>
            </a:avLst>
          </a:prstGeom>
          <a:solidFill>
            <a:srgbClr val="8A99A3"/>
          </a:solidFill>
          <a:ln>
            <a:noFill/>
          </a:ln>
        </p:spPr>
        <p:txBody>
          <a:bodyPr wrap="square" lIns="36576" tIns="36576" rIns="36576" bIns="36576" rtlCol="0" anchor="ctr">
            <a:noAutofit/>
          </a:bodyPr>
          <a:lstStyle/>
          <a:p>
            <a:pPr marL="0" indent="0" algn="ctr">
              <a:lnSpc>
                <a:spcPct val="100000"/>
              </a:lnSpc>
              <a:buNone/>
            </a:pPr>
            <a:r>
              <a:rPr lang="en-US" sz="1500" b="1" dirty="0">
                <a:solidFill>
                  <a:srgbClr val="FFFFFF"/>
                </a:solidFill>
                <a:latin typeface="Arial"/>
                <a:cs typeface="Arial"/>
              </a:rPr>
              <a:t>Ý kiến chuyên gia, báo cáo ca</a:t>
            </a:r>
          </a:p>
        </p:txBody>
      </p:sp>
      <p:sp>
        <p:nvSpPr>
          <p:cNvPr id="103" name="Box"/>
          <p:cNvSpPr/>
          <p:nvPr/>
        </p:nvSpPr>
        <p:spPr>
          <a:xfrm>
            <a:off x="5698424" y="3890800"/>
            <a:ext cx="5650992" cy="603504"/>
          </a:xfrm>
          <a:prstGeom prst="trapezoid">
            <a:avLst>
              <a:gd name="adj" fmla="val 50000"/>
            </a:avLst>
          </a:prstGeom>
          <a:solidFill>
            <a:srgbClr val="5FA39B"/>
          </a:solidFill>
          <a:ln>
            <a:noFill/>
          </a:ln>
        </p:spPr>
        <p:txBody>
          <a:bodyPr wrap="square" lIns="36576" tIns="36576" rIns="36576" bIns="36576" rtlCol="0" anchor="ctr">
            <a:noAutofit/>
          </a:bodyPr>
          <a:lstStyle/>
          <a:p>
            <a:pPr marL="0" indent="0" algn="ctr">
              <a:lnSpc>
                <a:spcPct val="100000"/>
              </a:lnSpc>
              <a:buNone/>
            </a:pPr>
            <a:r>
              <a:rPr lang="en-US" sz="1500" b="1" dirty="0">
                <a:solidFill>
                  <a:srgbClr val="FFFFFF"/>
                </a:solidFill>
                <a:latin typeface="Arial"/>
                <a:cs typeface="Arial"/>
              </a:rPr>
              <a:t>Loạt ca, nghiên cứu cắt ngang</a:t>
            </a:r>
          </a:p>
        </p:txBody>
      </p:sp>
      <p:sp>
        <p:nvSpPr>
          <p:cNvPr id="104" name="Box"/>
          <p:cNvSpPr/>
          <p:nvPr/>
        </p:nvSpPr>
        <p:spPr>
          <a:xfrm>
            <a:off x="6027608" y="3232432"/>
            <a:ext cx="4992624" cy="603504"/>
          </a:xfrm>
          <a:prstGeom prst="trapezoid">
            <a:avLst>
              <a:gd name="adj" fmla="val 50000"/>
            </a:avLst>
          </a:prstGeom>
          <a:solidFill>
            <a:srgbClr val="0070C0"/>
          </a:solidFill>
          <a:ln>
            <a:noFill/>
          </a:ln>
        </p:spPr>
        <p:txBody>
          <a:bodyPr wrap="square" lIns="36576" tIns="36576" rIns="36576" bIns="36576" rtlCol="0" anchor="ctr">
            <a:noAutofit/>
          </a:bodyPr>
          <a:lstStyle/>
          <a:p>
            <a:pPr marL="0" indent="0" algn="ctr">
              <a:lnSpc>
                <a:spcPct val="100000"/>
              </a:lnSpc>
              <a:buNone/>
            </a:pPr>
            <a:r>
              <a:rPr lang="en-US" sz="1500" b="1" dirty="0">
                <a:solidFill>
                  <a:srgbClr val="FFFFFF"/>
                </a:solidFill>
                <a:latin typeface="Arial"/>
                <a:cs typeface="Arial"/>
              </a:rPr>
              <a:t>Nghiên cứu bệnh-chứng</a:t>
            </a:r>
          </a:p>
        </p:txBody>
      </p:sp>
      <p:sp>
        <p:nvSpPr>
          <p:cNvPr id="105" name="Box"/>
          <p:cNvSpPr/>
          <p:nvPr/>
        </p:nvSpPr>
        <p:spPr>
          <a:xfrm>
            <a:off x="6356792" y="2574064"/>
            <a:ext cx="4334256" cy="603504"/>
          </a:xfrm>
          <a:prstGeom prst="trapezoid">
            <a:avLst>
              <a:gd name="adj" fmla="val 50000"/>
            </a:avLst>
          </a:prstGeom>
          <a:solidFill>
            <a:srgbClr val="0B376C"/>
          </a:solidFill>
          <a:ln>
            <a:noFill/>
          </a:ln>
        </p:spPr>
        <p:txBody>
          <a:bodyPr wrap="square" lIns="36576" tIns="36576" rIns="36576" bIns="36576" rtlCol="0" anchor="ctr">
            <a:noAutofit/>
          </a:bodyPr>
          <a:lstStyle/>
          <a:p>
            <a:pPr marL="0" indent="0" algn="ctr">
              <a:lnSpc>
                <a:spcPct val="100000"/>
              </a:lnSpc>
              <a:buNone/>
            </a:pPr>
            <a:r>
              <a:rPr lang="en-US" sz="1500" b="1" dirty="0">
                <a:solidFill>
                  <a:srgbClr val="FFFFFF"/>
                </a:solidFill>
                <a:latin typeface="Arial"/>
                <a:cs typeface="Arial"/>
              </a:rPr>
              <a:t>Nghiên cứu thuần tập</a:t>
            </a:r>
          </a:p>
        </p:txBody>
      </p:sp>
      <p:sp>
        <p:nvSpPr>
          <p:cNvPr id="106" name="Box"/>
          <p:cNvSpPr/>
          <p:nvPr/>
        </p:nvSpPr>
        <p:spPr>
          <a:xfrm>
            <a:off x="6685976" y="1915696"/>
            <a:ext cx="3675888" cy="603504"/>
          </a:xfrm>
          <a:prstGeom prst="trapezoid">
            <a:avLst>
              <a:gd name="adj" fmla="val 50000"/>
            </a:avLst>
          </a:prstGeom>
          <a:solidFill>
            <a:srgbClr val="0D7377"/>
          </a:solidFill>
          <a:ln>
            <a:noFill/>
          </a:ln>
        </p:spPr>
        <p:txBody>
          <a:bodyPr wrap="square" lIns="36576" tIns="36576" rIns="36576" bIns="36576" rtlCol="0" anchor="ctr">
            <a:noAutofit/>
          </a:bodyPr>
          <a:lstStyle/>
          <a:p>
            <a:pPr marL="0" indent="0" algn="ctr">
              <a:lnSpc>
                <a:spcPct val="100000"/>
              </a:lnSpc>
              <a:buNone/>
            </a:pPr>
            <a:r>
              <a:rPr lang="en-US" sz="1500" b="1" dirty="0">
                <a:solidFill>
                  <a:srgbClr val="FFFFFF"/>
                </a:solidFill>
                <a:latin typeface="Arial"/>
                <a:cs typeface="Arial"/>
              </a:rPr>
              <a:t>Thử nghiệm ngẫu nhiên</a:t>
            </a:r>
          </a:p>
          <a:p>
            <a:pPr marL="0" indent="0" algn="ctr">
              <a:lnSpc>
                <a:spcPct val="100000"/>
              </a:lnSpc>
              <a:spcBef>
                <a:spcPts val="300"/>
              </a:spcBef>
              <a:buNone/>
            </a:pPr>
            <a:r>
              <a:rPr lang="en-US" sz="1500" b="1" dirty="0">
                <a:solidFill>
                  <a:srgbClr val="FFFFFF"/>
                </a:solidFill>
                <a:latin typeface="Arial"/>
                <a:cs typeface="Arial"/>
              </a:rPr>
              <a:t>có đối chứng</a:t>
            </a:r>
          </a:p>
        </p:txBody>
      </p:sp>
      <p:sp>
        <p:nvSpPr>
          <p:cNvPr id="107" name="Box"/>
          <p:cNvSpPr/>
          <p:nvPr/>
        </p:nvSpPr>
        <p:spPr>
          <a:xfrm>
            <a:off x="7015160" y="1257328"/>
            <a:ext cx="3017520" cy="603504"/>
          </a:xfrm>
          <a:prstGeom prst="trapezoid">
            <a:avLst>
              <a:gd name="adj" fmla="val 50000"/>
            </a:avLst>
          </a:prstGeom>
          <a:solidFill>
            <a:srgbClr val="055F56"/>
          </a:solidFill>
          <a:ln>
            <a:noFill/>
          </a:ln>
        </p:spPr>
        <p:txBody>
          <a:bodyPr wrap="square" lIns="36576" tIns="36576" rIns="36576" bIns="36576" rtlCol="0" anchor="ctr">
            <a:noAutofit/>
          </a:bodyPr>
          <a:lstStyle/>
          <a:p>
            <a:pPr marL="0" indent="0" algn="ctr">
              <a:lnSpc>
                <a:spcPct val="100000"/>
              </a:lnSpc>
              <a:buNone/>
            </a:pPr>
            <a:r>
              <a:rPr lang="en-US" sz="1500" b="1" dirty="0">
                <a:solidFill>
                  <a:srgbClr val="FFFFFF"/>
                </a:solidFill>
                <a:latin typeface="Arial"/>
                <a:cs typeface="Arial"/>
              </a:rPr>
              <a:t>Tổng quan hệ thống</a:t>
            </a:r>
          </a:p>
          <a:p>
            <a:pPr marL="0" indent="0" algn="ctr">
              <a:lnSpc>
                <a:spcPct val="100000"/>
              </a:lnSpc>
              <a:spcBef>
                <a:spcPts val="300"/>
              </a:spcBef>
              <a:buNone/>
            </a:pPr>
            <a:r>
              <a:rPr lang="en-US" sz="1500" b="1" dirty="0">
                <a:solidFill>
                  <a:srgbClr val="FFFFFF"/>
                </a:solidFill>
                <a:latin typeface="Arial"/>
                <a:cs typeface="Arial"/>
              </a:rPr>
              <a:t>và phân tích gộp</a:t>
            </a:r>
          </a:p>
        </p:txBody>
      </p:sp>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ctr">
              <a:buNone/>
            </a:pPr>
            <a:r>
              <a:rPr lang="en-US" sz="1300" b="1" dirty="0">
                <a:solidFill>
                  <a:srgbClr val="FFFFFF"/>
                </a:solidFill>
                <a:latin typeface="Arial"/>
                <a:cs typeface="Arial"/>
              </a:rPr>
              <a:t>THÔNG ĐIỆP CHÍNH   </a:t>
            </a:r>
            <a:r>
              <a:rPr lang="en-US" sz="1550" dirty="0">
                <a:solidFill>
                  <a:srgbClr val="FFFFFF"/>
                </a:solidFill>
                <a:latin typeface="Arial"/>
                <a:cs typeface="Arial"/>
              </a:rPr>
              <a:t>Tháp xếp hạng thiết kế, không xếp hạng từng bài báo: vẫn phải kiểm tra chất lượng.</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Câu hỏi nhanh: xếp hạng bằng chứng</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50" name="Banner"/>
          <p:cNvSpPr/>
          <p:nvPr/>
        </p:nvSpPr>
        <p:spPr>
          <a:xfrm>
            <a:off x="457200" y="1120000"/>
            <a:ext cx="11277600" cy="470000"/>
          </a:xfrm>
          <a:prstGeom prst="rect">
            <a:avLst/>
          </a:prstGeom>
          <a:solidFill>
            <a:srgbClr val="6C3483"/>
          </a:solidFill>
          <a:ln>
            <a:noFill/>
          </a:ln>
        </p:spPr>
        <p:txBody>
          <a:bodyPr wrap="square" lIns="182880" tIns="45720" rIns="182880" bIns="45720" rtlCol="0" anchor="ctr">
            <a:normAutofit/>
          </a:bodyPr>
          <a:lstStyle/>
          <a:p>
            <a:pPr marL="0" indent="0" algn="l">
              <a:buNone/>
            </a:pPr>
            <a:r>
              <a:rPr lang="en-US" sz="1500" b="1" dirty="0">
                <a:solidFill>
                  <a:srgbClr val="FFFFFF"/>
                </a:solidFill>
                <a:latin typeface="Arial"/>
                <a:cs typeface="Arial"/>
              </a:rPr>
              <a:t>CÂU HỎI NHANH   |   3 phút</a:t>
            </a:r>
          </a:p>
        </p:txBody>
      </p:sp>
      <p:sp>
        <p:nvSpPr>
          <p:cNvPr id="51" name="Steps"/>
          <p:cNvSpPr txBox="1"/>
          <p:nvPr/>
        </p:nvSpPr>
        <p:spPr>
          <a:xfrm>
            <a:off x="457200" y="1720000"/>
            <a:ext cx="6766560" cy="3510000"/>
          </a:xfrm>
          <a:prstGeom prst="rect">
            <a:avLst/>
          </a:prstGeom>
          <a:noFill/>
          <a:ln>
            <a:noFill/>
          </a:ln>
        </p:spPr>
        <p:txBody>
          <a:bodyPr wrap="square" lIns="91440" tIns="45720" rIns="91440" bIns="45720" rtlCol="0" anchor="t"/>
          <a:lstStyle/>
          <a:p>
            <a:pPr marL="380000" indent="-380000" algn="l">
              <a:lnSpc>
                <a:spcPct val="104000"/>
              </a:lnSpc>
              <a:spcBef>
                <a:spcPts val="450"/>
              </a:spcBef>
              <a:buClr>
                <a:srgbClr val="6C3483"/>
              </a:buClr>
              <a:buFont typeface="Arial"/>
              <a:buChar char="•"/>
            </a:pPr>
            <a:r>
              <a:rPr lang="en-US" sz="1650" dirty="0">
                <a:solidFill>
                  <a:srgbClr val="000000"/>
                </a:solidFill>
                <a:latin typeface="Arial"/>
                <a:cs typeface="Arial"/>
              </a:rPr>
              <a:t>Câu hỏi: hạn chế dịch có làm giảm tử vong trong sốc nhiễm khuẩn không?</a:t>
            </a:r>
          </a:p>
          <a:p>
            <a:pPr marL="380000" indent="-380000" algn="l">
              <a:lnSpc>
                <a:spcPct val="104000"/>
              </a:lnSpc>
              <a:spcBef>
                <a:spcPts val="450"/>
              </a:spcBef>
              <a:buClr>
                <a:srgbClr val="6C3483"/>
              </a:buClr>
              <a:buFont typeface="Arial"/>
              <a:buChar char="•"/>
            </a:pPr>
            <a:r>
              <a:rPr lang="en-US" sz="1650" dirty="0">
                <a:solidFill>
                  <a:srgbClr val="000000"/>
                </a:solidFill>
                <a:latin typeface="Arial"/>
                <a:cs typeface="Arial"/>
              </a:rPr>
              <a:t>A: một đồng nghiệp lâu năm: '20 năm nay, người bệnh tôi truyền ít dịch đều hồi phục tốt hơn'</a:t>
            </a:r>
          </a:p>
          <a:p>
            <a:pPr marL="380000" indent="-380000" algn="l">
              <a:lnSpc>
                <a:spcPct val="104000"/>
              </a:lnSpc>
              <a:spcBef>
                <a:spcPts val="450"/>
              </a:spcBef>
              <a:buClr>
                <a:srgbClr val="6C3483"/>
              </a:buClr>
              <a:buFont typeface="Arial"/>
              <a:buChar char="•"/>
            </a:pPr>
            <a:r>
              <a:rPr lang="en-US" sz="1650" dirty="0">
                <a:solidFill>
                  <a:srgbClr val="000000"/>
                </a:solidFill>
                <a:latin typeface="Arial"/>
                <a:cs typeface="Arial"/>
              </a:rPr>
              <a:t>B: một sổ đăng ký theo dõi hàng nghìn người bệnh ICU (thuần tập)</a:t>
            </a:r>
          </a:p>
          <a:p>
            <a:pPr marL="380000" indent="-380000" algn="l">
              <a:lnSpc>
                <a:spcPct val="104000"/>
              </a:lnSpc>
              <a:spcBef>
                <a:spcPts val="450"/>
              </a:spcBef>
              <a:buClr>
                <a:srgbClr val="6C3483"/>
              </a:buClr>
              <a:buFont typeface="Arial"/>
              <a:buChar char="•"/>
            </a:pPr>
            <a:r>
              <a:rPr lang="en-US" sz="1650" dirty="0">
                <a:solidFill>
                  <a:srgbClr val="000000"/>
                </a:solidFill>
                <a:latin typeface="Arial"/>
                <a:cs typeface="Arial"/>
              </a:rPr>
              <a:t>C: một thử nghiệm phân bổ ngẫu nhiên 1554 người bệnh vào nhóm hạn chế dịch hoặc dịch thường quy</a:t>
            </a:r>
          </a:p>
          <a:p>
            <a:pPr marL="380000" indent="-380000" algn="l">
              <a:lnSpc>
                <a:spcPct val="104000"/>
              </a:lnSpc>
              <a:spcBef>
                <a:spcPts val="450"/>
              </a:spcBef>
              <a:buClr>
                <a:srgbClr val="6C3483"/>
              </a:buClr>
              <a:buFont typeface="Arial"/>
              <a:buChar char="•"/>
            </a:pPr>
            <a:r>
              <a:rPr lang="en-US" sz="1650" dirty="0">
                <a:solidFill>
                  <a:srgbClr val="000000"/>
                </a:solidFill>
                <a:latin typeface="Arial"/>
                <a:cs typeface="Arial"/>
              </a:rPr>
              <a:t>D: một tổng quan hệ thống gộp mọi thử nghiệm về hạn chế dịch</a:t>
            </a:r>
          </a:p>
          <a:p>
            <a:pPr marL="380000" indent="-380000" algn="l">
              <a:lnSpc>
                <a:spcPct val="104000"/>
              </a:lnSpc>
              <a:spcBef>
                <a:spcPts val="450"/>
              </a:spcBef>
              <a:buClr>
                <a:srgbClr val="6C3483"/>
              </a:buClr>
              <a:buFont typeface="Arial"/>
              <a:buChar char="•"/>
            </a:pPr>
            <a:r>
              <a:rPr lang="en-US" sz="1650" dirty="0">
                <a:solidFill>
                  <a:srgbClr val="000000"/>
                </a:solidFill>
                <a:latin typeface="Arial"/>
                <a:cs typeface="Arial"/>
              </a:rPr>
              <a:t>Bình chọn: thứ tự nào đi từ yếu nhất đến mạnh nhất?</a:t>
            </a:r>
          </a:p>
        </p:txBody>
      </p:sp>
      <p:sp>
        <p:nvSpPr>
          <p:cNvPr id="52" name="Side"/>
          <p:cNvSpPr/>
          <p:nvPr/>
        </p:nvSpPr>
        <p:spPr>
          <a:xfrm>
            <a:off x="7423760" y="1720000"/>
            <a:ext cx="4311040" cy="1729880"/>
          </a:xfrm>
          <a:prstGeom prst="roundRect">
            <a:avLst>
              <a:gd name="adj" fmla="val 5000"/>
            </a:avLst>
          </a:prstGeom>
          <a:solidFill>
            <a:srgbClr val="EAF2F5"/>
          </a:solidFill>
          <a:ln>
            <a:noFill/>
          </a:ln>
        </p:spPr>
        <p:txBody>
          <a:bodyPr wrap="square" lIns="137160" tIns="91440" rIns="137160" bIns="91440" rtlCol="0" anchor="ctr">
            <a:normAutofit/>
          </a:bodyPr>
          <a:lstStyle/>
          <a:p>
            <a:pPr marL="0" indent="0" algn="ctr">
              <a:buNone/>
            </a:pPr>
            <a:r>
              <a:rPr lang="en-US" sz="1600" b="1" dirty="0">
                <a:solidFill>
                  <a:srgbClr val="6C3483"/>
                </a:solidFill>
                <a:latin typeface="Arial"/>
                <a:cs typeface="Arial"/>
              </a:rPr>
              <a:t>Các lựa chọn</a:t>
            </a:r>
          </a:p>
          <a:p>
            <a:pPr marL="0" indent="0" algn="ctr">
              <a:lnSpc>
                <a:spcPct val="104000"/>
              </a:lnSpc>
              <a:spcBef>
                <a:spcPts val="300"/>
              </a:spcBef>
              <a:buNone/>
            </a:pPr>
            <a:r>
              <a:rPr lang="en-US" sz="1500" dirty="0">
                <a:solidFill>
                  <a:srgbClr val="000000"/>
                </a:solidFill>
                <a:latin typeface="Arial"/>
                <a:cs typeface="Arial"/>
              </a:rPr>
              <a:t>A, B, C, D</a:t>
            </a:r>
          </a:p>
          <a:p>
            <a:pPr marL="0" indent="0" algn="ctr">
              <a:lnSpc>
                <a:spcPct val="104000"/>
              </a:lnSpc>
              <a:spcBef>
                <a:spcPts val="300"/>
              </a:spcBef>
              <a:buNone/>
            </a:pPr>
            <a:r>
              <a:rPr lang="en-US" sz="1500" dirty="0">
                <a:solidFill>
                  <a:srgbClr val="000000"/>
                </a:solidFill>
                <a:latin typeface="Arial"/>
                <a:cs typeface="Arial"/>
              </a:rPr>
              <a:t>B, A, C, D</a:t>
            </a:r>
          </a:p>
          <a:p>
            <a:pPr marL="0" indent="0" algn="ctr">
              <a:lnSpc>
                <a:spcPct val="104000"/>
              </a:lnSpc>
              <a:spcBef>
                <a:spcPts val="300"/>
              </a:spcBef>
              <a:buNone/>
            </a:pPr>
            <a:r>
              <a:rPr lang="en-US" sz="1500" dirty="0">
                <a:solidFill>
                  <a:srgbClr val="000000"/>
                </a:solidFill>
                <a:latin typeface="Arial"/>
                <a:cs typeface="Arial"/>
              </a:rPr>
              <a:t>A, C, B, D</a:t>
            </a:r>
          </a:p>
          <a:p>
            <a:pPr marL="0" indent="0" algn="ctr">
              <a:lnSpc>
                <a:spcPct val="104000"/>
              </a:lnSpc>
              <a:spcBef>
                <a:spcPts val="300"/>
              </a:spcBef>
              <a:buNone/>
            </a:pPr>
            <a:r>
              <a:rPr lang="en-US" sz="1500" dirty="0">
                <a:solidFill>
                  <a:srgbClr val="000000"/>
                </a:solidFill>
                <a:latin typeface="Arial"/>
                <a:cs typeface="Arial"/>
              </a:rPr>
              <a:t>D, C, B, A</a:t>
            </a:r>
          </a:p>
        </p:txBody>
      </p:sp>
      <p:sp>
        <p:nvSpPr>
          <p:cNvPr id="53" name="Deliverable"/>
          <p:cNvSpPr/>
          <p:nvPr/>
        </p:nvSpPr>
        <p:spPr>
          <a:xfrm>
            <a:off x="457200" y="5350000"/>
            <a:ext cx="11277600" cy="600000"/>
          </a:xfrm>
          <a:prstGeom prst="roundRect">
            <a:avLst>
              <a:gd name="adj" fmla="val 12000"/>
            </a:avLst>
          </a:prstGeom>
          <a:solidFill>
            <a:srgbClr val="FFFFFF"/>
          </a:solidFill>
          <a:ln w="15875">
            <a:solidFill>
              <a:srgbClr val="6C3483"/>
            </a:solidFill>
          </a:ln>
        </p:spPr>
        <p:txBody>
          <a:bodyPr wrap="square" lIns="182880" tIns="45720" rIns="182880" bIns="45720" rtlCol="0" anchor="ctr">
            <a:normAutofit/>
          </a:bodyPr>
          <a:lstStyle/>
          <a:p>
            <a:pPr marL="0" indent="0" algn="ctr">
              <a:buNone/>
            </a:pPr>
            <a:r>
              <a:rPr lang="en-US" sz="1300" b="1" dirty="0">
                <a:solidFill>
                  <a:srgbClr val="6C3483"/>
                </a:solidFill>
                <a:latin typeface="Arial"/>
                <a:cs typeface="Arial"/>
              </a:rPr>
              <a:t>SẢN PHẨM   </a:t>
            </a:r>
            <a:r>
              <a:rPr lang="en-US" sz="1500" dirty="0">
                <a:solidFill>
                  <a:srgbClr val="000000"/>
                </a:solidFill>
                <a:latin typeface="Arial"/>
                <a:cs typeface="Arial"/>
              </a:rPr>
              <a:t>Kết quả bình chọn, rồi hỏi: điều gì có thể làm C yếu hơn B?</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Hai bài báo cả lớp cùng đọc trong khóa học</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19" name="Intro"/>
          <p:cNvSpPr txBox="1"/>
          <p:nvPr/>
        </p:nvSpPr>
        <p:spPr>
          <a:xfrm>
            <a:off x="457200" y="1100000"/>
            <a:ext cx="11277600" cy="480000"/>
          </a:xfrm>
          <a:prstGeom prst="rect">
            <a:avLst/>
          </a:prstGeom>
          <a:noFill/>
          <a:ln>
            <a:noFill/>
          </a:ln>
        </p:spPr>
        <p:txBody>
          <a:bodyPr wrap="square" lIns="91440" tIns="45720" rIns="91440" bIns="45720" rtlCol="0" anchor="t"/>
          <a:lstStyle/>
          <a:p>
            <a:pPr marL="0" indent="0" algn="l">
              <a:buNone/>
            </a:pPr>
            <a:r>
              <a:rPr lang="en-US" sz="1700" i="1" dirty="0">
                <a:solidFill>
                  <a:srgbClr val="595959"/>
                </a:solidFill>
                <a:latin typeface="Arial"/>
                <a:cs typeface="Arial"/>
              </a:rPr>
              <a:t>Cả hai đều truy cập mở. Bạn nhận hai tệp PDF qua email trước Buổi 1.</a:t>
            </a:r>
          </a:p>
        </p:txBody>
      </p:sp>
      <p:sp>
        <p:nvSpPr>
          <p:cNvPr id="70" name="CardHead"/>
          <p:cNvSpPr/>
          <p:nvPr/>
        </p:nvSpPr>
        <p:spPr>
          <a:xfrm>
            <a:off x="457200" y="1909015"/>
            <a:ext cx="5538800" cy="640000"/>
          </a:xfrm>
          <a:prstGeom prst="rect">
            <a:avLst/>
          </a:prstGeom>
          <a:solidFill>
            <a:srgbClr val="0D7377"/>
          </a:solidFill>
          <a:ln>
            <a:noFill/>
          </a:ln>
        </p:spPr>
        <p:txBody>
          <a:bodyPr wrap="square" lIns="91440" tIns="45720" rIns="91440" bIns="45720" rtlCol="0" anchor="ctr">
            <a:normAutofit/>
          </a:bodyPr>
          <a:lstStyle/>
          <a:p>
            <a:pPr marL="0" indent="0" algn="ctr">
              <a:buNone/>
            </a:pPr>
            <a:r>
              <a:rPr lang="en-US" sz="1900" b="1" dirty="0">
                <a:solidFill>
                  <a:srgbClr val="FFFFFF"/>
                </a:solidFill>
                <a:latin typeface="Arial"/>
                <a:cs typeface="Arial"/>
              </a:rPr>
              <a:t>Bài báo 1: Boulet 2024, thử nghiệm</a:t>
            </a:r>
          </a:p>
        </p:txBody>
      </p:sp>
      <p:sp>
        <p:nvSpPr>
          <p:cNvPr id="71" name="CardBody"/>
          <p:cNvSpPr/>
          <p:nvPr/>
        </p:nvSpPr>
        <p:spPr>
          <a:xfrm>
            <a:off x="457200" y="2549015"/>
            <a:ext cx="5538800" cy="2202955"/>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500" b="1" dirty="0">
                <a:solidFill>
                  <a:srgbClr val="000000"/>
                </a:solidFill>
                <a:latin typeface="Arial"/>
                <a:cs typeface="Arial"/>
              </a:rPr>
              <a:t>Boulet N, et al. Crit Care 2024;28:429</a:t>
            </a:r>
          </a:p>
          <a:p>
            <a:pPr marL="0" indent="0" algn="ctr">
              <a:lnSpc>
                <a:spcPct val="104000"/>
              </a:lnSpc>
              <a:spcBef>
                <a:spcPts val="400"/>
              </a:spcBef>
              <a:buNone/>
            </a:pPr>
            <a:r>
              <a:rPr lang="en-US" sz="1500" i="1" dirty="0">
                <a:solidFill>
                  <a:srgbClr val="000000"/>
                </a:solidFill>
                <a:latin typeface="Arial"/>
                <a:cs typeface="Arial"/>
              </a:rPr>
              <a:t>Impact on fluid balance of an optimized restrictive strategy targeting non-resuscitative fluids in intensive care patients with septic shock</a:t>
            </a:r>
          </a:p>
          <a:p>
            <a:pPr marL="0" indent="0" algn="ctr">
              <a:lnSpc>
                <a:spcPct val="104000"/>
              </a:lnSpc>
              <a:spcBef>
                <a:spcPts val="400"/>
              </a:spcBef>
              <a:buNone/>
            </a:pPr>
            <a:r>
              <a:rPr lang="en-US" sz="1500" dirty="0">
                <a:solidFill>
                  <a:srgbClr val="000000"/>
                </a:solidFill>
                <a:latin typeface="Arial"/>
                <a:cs typeface="Arial"/>
              </a:rPr>
              <a:t>Thử nghiệm ngẫu nhiên có đối chứng (RCT) thí điểm (pilot), 48 người bệnh</a:t>
            </a:r>
          </a:p>
          <a:p>
            <a:pPr marL="0" indent="0" algn="ctr">
              <a:lnSpc>
                <a:spcPct val="104000"/>
              </a:lnSpc>
              <a:spcBef>
                <a:spcPts val="400"/>
              </a:spcBef>
              <a:buNone/>
            </a:pPr>
            <a:r>
              <a:rPr lang="en-US" sz="1500" dirty="0">
                <a:solidFill>
                  <a:srgbClr val="000000"/>
                </a:solidFill>
                <a:latin typeface="Arial"/>
                <a:cs typeface="Arial"/>
              </a:rPr>
              <a:t>Kết cục chính: cân bằng dịch ngày 5</a:t>
            </a:r>
          </a:p>
        </p:txBody>
      </p:sp>
      <p:sp>
        <p:nvSpPr>
          <p:cNvPr id="72" name="CardHead"/>
          <p:cNvSpPr/>
          <p:nvPr/>
        </p:nvSpPr>
        <p:spPr>
          <a:xfrm>
            <a:off x="6196000" y="1909015"/>
            <a:ext cx="5538800" cy="640000"/>
          </a:xfrm>
          <a:prstGeom prst="rect">
            <a:avLst/>
          </a:prstGeom>
          <a:solidFill>
            <a:srgbClr val="0B376C"/>
          </a:solidFill>
          <a:ln>
            <a:noFill/>
          </a:ln>
        </p:spPr>
        <p:txBody>
          <a:bodyPr wrap="square" lIns="91440" tIns="45720" rIns="91440" bIns="45720" rtlCol="0" anchor="ctr">
            <a:normAutofit/>
          </a:bodyPr>
          <a:lstStyle/>
          <a:p>
            <a:pPr marL="0" indent="0" algn="ctr">
              <a:buNone/>
            </a:pPr>
            <a:r>
              <a:rPr lang="en-US" sz="1900" b="1" dirty="0">
                <a:solidFill>
                  <a:srgbClr val="FFFFFF"/>
                </a:solidFill>
                <a:latin typeface="Arial"/>
                <a:cs typeface="Arial"/>
              </a:rPr>
              <a:t>Bài báo 2: Hyun 2023, thuần tập</a:t>
            </a:r>
          </a:p>
        </p:txBody>
      </p:sp>
      <p:sp>
        <p:nvSpPr>
          <p:cNvPr id="73" name="CardBody"/>
          <p:cNvSpPr/>
          <p:nvPr/>
        </p:nvSpPr>
        <p:spPr>
          <a:xfrm>
            <a:off x="6196000" y="2549015"/>
            <a:ext cx="5538800" cy="2202955"/>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500" b="1" dirty="0">
                <a:solidFill>
                  <a:srgbClr val="000000"/>
                </a:solidFill>
                <a:latin typeface="Arial"/>
                <a:cs typeface="Arial"/>
              </a:rPr>
              <a:t>Hyun DG, et al. Ann Intensive Care 2023;13:105</a:t>
            </a:r>
          </a:p>
          <a:p>
            <a:pPr marL="0" indent="0" algn="ctr">
              <a:lnSpc>
                <a:spcPct val="104000"/>
              </a:lnSpc>
              <a:spcBef>
                <a:spcPts val="400"/>
              </a:spcBef>
              <a:buNone/>
            </a:pPr>
            <a:r>
              <a:rPr lang="en-US" sz="1500" i="1" dirty="0">
                <a:solidFill>
                  <a:srgbClr val="000000"/>
                </a:solidFill>
                <a:latin typeface="Arial"/>
                <a:cs typeface="Arial"/>
              </a:rPr>
              <a:t>Impact of a cumulative positive fluid balance during the first three ICU days in patients with sepsis</a:t>
            </a:r>
          </a:p>
          <a:p>
            <a:pPr marL="0" indent="0" algn="ctr">
              <a:lnSpc>
                <a:spcPct val="104000"/>
              </a:lnSpc>
              <a:spcBef>
                <a:spcPts val="400"/>
              </a:spcBef>
              <a:buNone/>
            </a:pPr>
            <a:r>
              <a:rPr lang="en-US" sz="1500" dirty="0">
                <a:solidFill>
                  <a:srgbClr val="000000"/>
                </a:solidFill>
                <a:latin typeface="Arial"/>
                <a:cs typeface="Arial"/>
              </a:rPr>
              <a:t>Nghiên cứu thuần tập từ sổ đăng ký nhiễm khuẩn huyết Hàn Quốc</a:t>
            </a:r>
          </a:p>
          <a:p>
            <a:pPr marL="0" indent="0" algn="ctr">
              <a:lnSpc>
                <a:spcPct val="104000"/>
              </a:lnSpc>
              <a:spcBef>
                <a:spcPts val="400"/>
              </a:spcBef>
              <a:buNone/>
            </a:pPr>
            <a:r>
              <a:rPr lang="en-US" sz="1500" dirty="0">
                <a:solidFill>
                  <a:srgbClr val="000000"/>
                </a:solidFill>
                <a:latin typeface="Arial"/>
                <a:cs typeface="Arial"/>
              </a:rPr>
              <a:t>Kết cục chính: tử vong đến ngày 28</a:t>
            </a:r>
          </a:p>
        </p:txBody>
      </p:sp>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ctr">
              <a:buNone/>
            </a:pPr>
            <a:r>
              <a:rPr lang="en-US" sz="1300" b="1" dirty="0">
                <a:solidFill>
                  <a:srgbClr val="FFFFFF"/>
                </a:solidFill>
                <a:latin typeface="Arial"/>
                <a:cs typeface="Arial"/>
              </a:rPr>
              <a:t>THÔNG ĐIỆP CHÍNH   </a:t>
            </a:r>
            <a:r>
              <a:rPr lang="en-US" sz="1550" dirty="0">
                <a:solidFill>
                  <a:srgbClr val="FFFFFF"/>
                </a:solidFill>
                <a:latin typeface="Arial"/>
                <a:cs typeface="Arial"/>
              </a:rPr>
              <a:t>Bài báo 1 là thử nghiệm, Bài báo 2 là thuần tập. Cả hai nghiên cứu dịch truyền trong nhiễm khuẩn huyết.</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Chu trình nghiên cứu</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100" name="Box"/>
          <p:cNvSpPr/>
          <p:nvPr/>
        </p:nvSpPr>
        <p:spPr>
          <a:xfrm>
            <a:off x="4998720" y="1257328"/>
            <a:ext cx="2194560" cy="749808"/>
          </a:xfrm>
          <a:prstGeom prst="roundRect">
            <a:avLst>
              <a:gd name="adj" fmla="val 18000"/>
            </a:avLst>
          </a:prstGeom>
          <a:solidFill>
            <a:srgbClr val="0D7377"/>
          </a:solidFill>
          <a:ln>
            <a:noFill/>
          </a:ln>
        </p:spPr>
        <p:txBody>
          <a:bodyPr wrap="square" lIns="54864" tIns="54864" rIns="54864" bIns="54864" rtlCol="0" anchor="ctr">
            <a:noAutofit/>
          </a:bodyPr>
          <a:lstStyle/>
          <a:p>
            <a:pPr marL="0" indent="0" algn="ctr">
              <a:lnSpc>
                <a:spcPct val="100000"/>
              </a:lnSpc>
              <a:buNone/>
            </a:pPr>
            <a:r>
              <a:rPr lang="en-US" sz="1600" b="1" dirty="0">
                <a:solidFill>
                  <a:srgbClr val="FFFFFF"/>
                </a:solidFill>
                <a:latin typeface="Arial"/>
                <a:cs typeface="Arial"/>
              </a:rPr>
              <a:t>Vấn đề lâm sàng</a:t>
            </a:r>
          </a:p>
        </p:txBody>
      </p:sp>
      <p:sp>
        <p:nvSpPr>
          <p:cNvPr id="101" name="Box"/>
          <p:cNvSpPr/>
          <p:nvPr/>
        </p:nvSpPr>
        <p:spPr>
          <a:xfrm>
            <a:off x="8069968" y="1717981"/>
            <a:ext cx="2194560" cy="749808"/>
          </a:xfrm>
          <a:prstGeom prst="roundRect">
            <a:avLst>
              <a:gd name="adj" fmla="val 18000"/>
            </a:avLst>
          </a:prstGeom>
          <a:solidFill>
            <a:srgbClr val="0D7377"/>
          </a:solidFill>
          <a:ln>
            <a:noFill/>
          </a:ln>
        </p:spPr>
        <p:txBody>
          <a:bodyPr wrap="square" lIns="54864" tIns="54864" rIns="54864" bIns="54864" rtlCol="0" anchor="ctr">
            <a:noAutofit/>
          </a:bodyPr>
          <a:lstStyle/>
          <a:p>
            <a:pPr marL="0" indent="0" algn="ctr">
              <a:lnSpc>
                <a:spcPct val="100000"/>
              </a:lnSpc>
              <a:buNone/>
            </a:pPr>
            <a:r>
              <a:rPr lang="en-US" sz="1600" b="1" dirty="0">
                <a:solidFill>
                  <a:srgbClr val="FFFFFF"/>
                </a:solidFill>
                <a:latin typeface="Arial"/>
                <a:cs typeface="Arial"/>
              </a:rPr>
              <a:t>Câu hỏi nghiên cứu (PICO)</a:t>
            </a:r>
          </a:p>
        </p:txBody>
      </p:sp>
      <p:sp>
        <p:nvSpPr>
          <p:cNvPr id="102" name="Box"/>
          <p:cNvSpPr/>
          <p:nvPr/>
        </p:nvSpPr>
        <p:spPr>
          <a:xfrm>
            <a:off x="9342120" y="2830096"/>
            <a:ext cx="2194560" cy="749808"/>
          </a:xfrm>
          <a:prstGeom prst="roundRect">
            <a:avLst>
              <a:gd name="adj" fmla="val 18000"/>
            </a:avLst>
          </a:prstGeom>
          <a:solidFill>
            <a:srgbClr val="0D7377"/>
          </a:solidFill>
          <a:ln>
            <a:noFill/>
          </a:ln>
        </p:spPr>
        <p:txBody>
          <a:bodyPr wrap="square" lIns="54864" tIns="54864" rIns="54864" bIns="54864" rtlCol="0" anchor="ctr">
            <a:noAutofit/>
          </a:bodyPr>
          <a:lstStyle/>
          <a:p>
            <a:pPr marL="0" indent="0" algn="ctr">
              <a:lnSpc>
                <a:spcPct val="100000"/>
              </a:lnSpc>
              <a:buNone/>
            </a:pPr>
            <a:r>
              <a:rPr lang="en-US" sz="1600" b="1" dirty="0">
                <a:solidFill>
                  <a:srgbClr val="FFFFFF"/>
                </a:solidFill>
                <a:latin typeface="Arial"/>
                <a:cs typeface="Arial"/>
              </a:rPr>
              <a:t>Tìm y văn</a:t>
            </a:r>
          </a:p>
        </p:txBody>
      </p:sp>
      <p:sp>
        <p:nvSpPr>
          <p:cNvPr id="103" name="Box"/>
          <p:cNvSpPr/>
          <p:nvPr/>
        </p:nvSpPr>
        <p:spPr>
          <a:xfrm>
            <a:off x="8069968" y="3942211"/>
            <a:ext cx="2194560" cy="749808"/>
          </a:xfrm>
          <a:prstGeom prst="roundRect">
            <a:avLst>
              <a:gd name="adj" fmla="val 18000"/>
            </a:avLst>
          </a:prstGeom>
          <a:solidFill>
            <a:srgbClr val="0B376C"/>
          </a:solidFill>
          <a:ln>
            <a:noFill/>
          </a:ln>
        </p:spPr>
        <p:txBody>
          <a:bodyPr wrap="square" lIns="54864" tIns="54864" rIns="54864" bIns="54864" rtlCol="0" anchor="ctr">
            <a:noAutofit/>
          </a:bodyPr>
          <a:lstStyle/>
          <a:p>
            <a:pPr marL="0" indent="0" algn="ctr">
              <a:lnSpc>
                <a:spcPct val="100000"/>
              </a:lnSpc>
              <a:buNone/>
            </a:pPr>
            <a:r>
              <a:rPr lang="en-US" sz="1600" b="1" dirty="0">
                <a:solidFill>
                  <a:srgbClr val="FFFFFF"/>
                </a:solidFill>
                <a:latin typeface="Arial"/>
                <a:cs typeface="Arial"/>
              </a:rPr>
              <a:t>Thiết kế và đề cương</a:t>
            </a:r>
          </a:p>
        </p:txBody>
      </p:sp>
      <p:sp>
        <p:nvSpPr>
          <p:cNvPr id="104" name="Box"/>
          <p:cNvSpPr/>
          <p:nvPr/>
        </p:nvSpPr>
        <p:spPr>
          <a:xfrm>
            <a:off x="4998720" y="4402864"/>
            <a:ext cx="2194560" cy="749808"/>
          </a:xfrm>
          <a:prstGeom prst="roundRect">
            <a:avLst>
              <a:gd name="adj" fmla="val 18000"/>
            </a:avLst>
          </a:prstGeom>
          <a:solidFill>
            <a:srgbClr val="0070C0"/>
          </a:solidFill>
          <a:ln>
            <a:noFill/>
          </a:ln>
        </p:spPr>
        <p:txBody>
          <a:bodyPr wrap="square" lIns="54864" tIns="54864" rIns="54864" bIns="54864" rtlCol="0" anchor="ctr">
            <a:noAutofit/>
          </a:bodyPr>
          <a:lstStyle/>
          <a:p>
            <a:pPr marL="0" indent="0" algn="ctr">
              <a:lnSpc>
                <a:spcPct val="100000"/>
              </a:lnSpc>
              <a:buNone/>
            </a:pPr>
            <a:r>
              <a:rPr lang="en-US" sz="1600" b="1" dirty="0">
                <a:solidFill>
                  <a:srgbClr val="FFFFFF"/>
                </a:solidFill>
                <a:latin typeface="Arial"/>
                <a:cs typeface="Arial"/>
              </a:rPr>
              <a:t>Phê duyệt đạo đức</a:t>
            </a:r>
          </a:p>
        </p:txBody>
      </p:sp>
      <p:sp>
        <p:nvSpPr>
          <p:cNvPr id="105" name="Box"/>
          <p:cNvSpPr/>
          <p:nvPr/>
        </p:nvSpPr>
        <p:spPr>
          <a:xfrm>
            <a:off x="1927472" y="3942211"/>
            <a:ext cx="2194560" cy="749808"/>
          </a:xfrm>
          <a:prstGeom prst="roundRect">
            <a:avLst>
              <a:gd name="adj" fmla="val 18000"/>
            </a:avLst>
          </a:prstGeom>
          <a:solidFill>
            <a:srgbClr val="5FA39B"/>
          </a:solidFill>
          <a:ln>
            <a:noFill/>
          </a:ln>
        </p:spPr>
        <p:txBody>
          <a:bodyPr wrap="square" lIns="54864" tIns="54864" rIns="54864" bIns="54864" rtlCol="0" anchor="ctr">
            <a:noAutofit/>
          </a:bodyPr>
          <a:lstStyle/>
          <a:p>
            <a:pPr marL="0" indent="0" algn="ctr">
              <a:lnSpc>
                <a:spcPct val="100000"/>
              </a:lnSpc>
              <a:buNone/>
            </a:pPr>
            <a:r>
              <a:rPr lang="en-US" sz="1600" b="1" dirty="0">
                <a:solidFill>
                  <a:srgbClr val="FFFFFF"/>
                </a:solidFill>
                <a:latin typeface="Arial"/>
                <a:cs typeface="Arial"/>
              </a:rPr>
              <a:t>Thu thập dữ liệu</a:t>
            </a:r>
          </a:p>
        </p:txBody>
      </p:sp>
      <p:sp>
        <p:nvSpPr>
          <p:cNvPr id="106" name="Box"/>
          <p:cNvSpPr/>
          <p:nvPr/>
        </p:nvSpPr>
        <p:spPr>
          <a:xfrm>
            <a:off x="655320" y="2830096"/>
            <a:ext cx="2194560" cy="749808"/>
          </a:xfrm>
          <a:prstGeom prst="roundRect">
            <a:avLst>
              <a:gd name="adj" fmla="val 18000"/>
            </a:avLst>
          </a:prstGeom>
          <a:solidFill>
            <a:srgbClr val="5FA39B"/>
          </a:solidFill>
          <a:ln>
            <a:noFill/>
          </a:ln>
        </p:spPr>
        <p:txBody>
          <a:bodyPr wrap="square" lIns="54864" tIns="54864" rIns="54864" bIns="54864" rtlCol="0" anchor="ctr">
            <a:noAutofit/>
          </a:bodyPr>
          <a:lstStyle/>
          <a:p>
            <a:pPr marL="0" indent="0" algn="ctr">
              <a:lnSpc>
                <a:spcPct val="100000"/>
              </a:lnSpc>
              <a:buNone/>
            </a:pPr>
            <a:r>
              <a:rPr lang="en-US" sz="1600" b="1" dirty="0">
                <a:solidFill>
                  <a:srgbClr val="FFFFFF"/>
                </a:solidFill>
                <a:latin typeface="Arial"/>
                <a:cs typeface="Arial"/>
              </a:rPr>
              <a:t>Phân tích, diễn giải</a:t>
            </a:r>
          </a:p>
        </p:txBody>
      </p:sp>
      <p:sp>
        <p:nvSpPr>
          <p:cNvPr id="107" name="Box"/>
          <p:cNvSpPr/>
          <p:nvPr/>
        </p:nvSpPr>
        <p:spPr>
          <a:xfrm>
            <a:off x="1927472" y="1717981"/>
            <a:ext cx="2194560" cy="749808"/>
          </a:xfrm>
          <a:prstGeom prst="roundRect">
            <a:avLst>
              <a:gd name="adj" fmla="val 18000"/>
            </a:avLst>
          </a:prstGeom>
          <a:solidFill>
            <a:srgbClr val="0070C0"/>
          </a:solidFill>
          <a:ln>
            <a:noFill/>
          </a:ln>
        </p:spPr>
        <p:txBody>
          <a:bodyPr wrap="square" lIns="54864" tIns="54864" rIns="54864" bIns="54864" rtlCol="0" anchor="ctr">
            <a:noAutofit/>
          </a:bodyPr>
          <a:lstStyle/>
          <a:p>
            <a:pPr marL="0" indent="0" algn="ctr">
              <a:lnSpc>
                <a:spcPct val="100000"/>
              </a:lnSpc>
              <a:buNone/>
            </a:pPr>
            <a:r>
              <a:rPr lang="en-US" sz="1600" b="1" dirty="0">
                <a:solidFill>
                  <a:srgbClr val="FFFFFF"/>
                </a:solidFill>
                <a:latin typeface="Arial"/>
                <a:cs typeface="Arial"/>
              </a:rPr>
              <a:t>Công bố và</a:t>
            </a:r>
          </a:p>
          <a:p>
            <a:pPr marL="0" indent="0" algn="ctr">
              <a:lnSpc>
                <a:spcPct val="100000"/>
              </a:lnSpc>
              <a:spcBef>
                <a:spcPts val="300"/>
              </a:spcBef>
              <a:buNone/>
            </a:pPr>
            <a:r>
              <a:rPr lang="en-US" sz="1600" b="1" dirty="0">
                <a:solidFill>
                  <a:srgbClr val="FFFFFF"/>
                </a:solidFill>
                <a:latin typeface="Arial"/>
                <a:cs typeface="Arial"/>
              </a:rPr>
              <a:t>thay đổi thực hành</a:t>
            </a:r>
          </a:p>
        </p:txBody>
      </p:sp>
      <p:cxnSp>
        <p:nvCxnSpPr>
          <p:cNvPr id="108" name="Arrow"/>
          <p:cNvCxnSpPr/>
          <p:nvPr/>
        </p:nvCxnSpPr>
        <p:spPr>
          <a:xfrm>
            <a:off x="7265623" y="1807662"/>
            <a:ext cx="732002" cy="109792"/>
          </a:xfrm>
          <a:prstGeom prst="straightConnector1">
            <a:avLst/>
          </a:prstGeom>
          <a:ln w="31750" cap="rnd">
            <a:solidFill>
              <a:srgbClr val="8A99A3"/>
            </a:solidFill>
            <a:round/>
            <a:tailEnd type="triangle" w="med" len="med"/>
          </a:ln>
        </p:spPr>
      </p:cxnSp>
      <p:cxnSp>
        <p:nvCxnSpPr>
          <p:cNvPr id="109" name="Arrow"/>
          <p:cNvCxnSpPr/>
          <p:nvPr/>
        </p:nvCxnSpPr>
        <p:spPr>
          <a:xfrm>
            <a:off x="9651176" y="2515935"/>
            <a:ext cx="304296" cy="266015"/>
          </a:xfrm>
          <a:prstGeom prst="straightConnector1">
            <a:avLst/>
          </a:prstGeom>
          <a:ln w="31750" cap="rnd">
            <a:solidFill>
              <a:srgbClr val="8A99A3"/>
            </a:solidFill>
            <a:round/>
            <a:tailEnd type="triangle" w="med" len="med"/>
          </a:ln>
        </p:spPr>
      </p:cxnSp>
      <p:cxnSp>
        <p:nvCxnSpPr>
          <p:cNvPr id="110" name="Arrow"/>
          <p:cNvCxnSpPr/>
          <p:nvPr/>
        </p:nvCxnSpPr>
        <p:spPr>
          <a:xfrm flipH="1">
            <a:off x="9651176" y="3628050"/>
            <a:ext cx="304296" cy="266015"/>
          </a:xfrm>
          <a:prstGeom prst="straightConnector1">
            <a:avLst/>
          </a:prstGeom>
          <a:ln w="31750" cap="rnd">
            <a:solidFill>
              <a:srgbClr val="8A99A3"/>
            </a:solidFill>
            <a:round/>
            <a:tailEnd type="triangle" w="med" len="med"/>
          </a:ln>
        </p:spPr>
      </p:cxnSp>
      <p:cxnSp>
        <p:nvCxnSpPr>
          <p:cNvPr id="111" name="Arrow"/>
          <p:cNvCxnSpPr/>
          <p:nvPr/>
        </p:nvCxnSpPr>
        <p:spPr>
          <a:xfrm flipH="1">
            <a:off x="7265623" y="4492545"/>
            <a:ext cx="732002" cy="109792"/>
          </a:xfrm>
          <a:prstGeom prst="straightConnector1">
            <a:avLst/>
          </a:prstGeom>
          <a:ln w="31750" cap="rnd">
            <a:solidFill>
              <a:srgbClr val="8A99A3"/>
            </a:solidFill>
            <a:round/>
            <a:tailEnd type="triangle" w="med" len="med"/>
          </a:ln>
        </p:spPr>
      </p:cxnSp>
      <p:cxnSp>
        <p:nvCxnSpPr>
          <p:cNvPr id="112" name="Arrow"/>
          <p:cNvCxnSpPr/>
          <p:nvPr/>
        </p:nvCxnSpPr>
        <p:spPr>
          <a:xfrm flipH="1" flipV="1">
            <a:off x="4194375" y="4492545"/>
            <a:ext cx="732002" cy="109792"/>
          </a:xfrm>
          <a:prstGeom prst="straightConnector1">
            <a:avLst/>
          </a:prstGeom>
          <a:ln w="31750" cap="rnd">
            <a:solidFill>
              <a:srgbClr val="8A99A3"/>
            </a:solidFill>
            <a:round/>
            <a:tailEnd type="triangle" w="med" len="med"/>
          </a:ln>
        </p:spPr>
      </p:cxnSp>
      <p:cxnSp>
        <p:nvCxnSpPr>
          <p:cNvPr id="113" name="Arrow"/>
          <p:cNvCxnSpPr/>
          <p:nvPr/>
        </p:nvCxnSpPr>
        <p:spPr>
          <a:xfrm flipH="1" flipV="1">
            <a:off x="2236528" y="3628050"/>
            <a:ext cx="304296" cy="266015"/>
          </a:xfrm>
          <a:prstGeom prst="straightConnector1">
            <a:avLst/>
          </a:prstGeom>
          <a:ln w="31750" cap="rnd">
            <a:solidFill>
              <a:srgbClr val="8A99A3"/>
            </a:solidFill>
            <a:round/>
            <a:tailEnd type="triangle" w="med" len="med"/>
          </a:ln>
        </p:spPr>
      </p:cxnSp>
      <p:cxnSp>
        <p:nvCxnSpPr>
          <p:cNvPr id="114" name="Arrow"/>
          <p:cNvCxnSpPr/>
          <p:nvPr/>
        </p:nvCxnSpPr>
        <p:spPr>
          <a:xfrm flipV="1">
            <a:off x="2236528" y="2515935"/>
            <a:ext cx="304296" cy="266015"/>
          </a:xfrm>
          <a:prstGeom prst="straightConnector1">
            <a:avLst/>
          </a:prstGeom>
          <a:ln w="31750" cap="rnd">
            <a:solidFill>
              <a:srgbClr val="8A99A3"/>
            </a:solidFill>
            <a:round/>
            <a:tailEnd type="triangle" w="med" len="med"/>
          </a:ln>
        </p:spPr>
      </p:cxnSp>
      <p:cxnSp>
        <p:nvCxnSpPr>
          <p:cNvPr id="115" name="Arrow"/>
          <p:cNvCxnSpPr/>
          <p:nvPr/>
        </p:nvCxnSpPr>
        <p:spPr>
          <a:xfrm flipV="1">
            <a:off x="4194375" y="1807662"/>
            <a:ext cx="732002" cy="109792"/>
          </a:xfrm>
          <a:prstGeom prst="straightConnector1">
            <a:avLst/>
          </a:prstGeom>
          <a:ln w="31750" cap="rnd">
            <a:solidFill>
              <a:srgbClr val="8A99A3"/>
            </a:solidFill>
            <a:round/>
            <a:tailEnd type="triangle" w="med" len="med"/>
          </a:ln>
        </p:spPr>
      </p:cxnSp>
      <p:sp>
        <p:nvSpPr>
          <p:cNvPr id="116" name="Text"/>
          <p:cNvSpPr/>
          <p:nvPr/>
        </p:nvSpPr>
        <p:spPr>
          <a:xfrm>
            <a:off x="4358640" y="2564920"/>
            <a:ext cx="3474720" cy="1280160"/>
          </a:xfrm>
          <a:prstGeom prst="rect">
            <a:avLst/>
          </a:prstGeom>
          <a:noFill/>
          <a:ln>
            <a:noFill/>
          </a:ln>
        </p:spPr>
        <p:txBody>
          <a:bodyPr wrap="square" lIns="54864" tIns="54864" rIns="54864" bIns="54864" rtlCol="0" anchor="ctr">
            <a:noAutofit/>
          </a:bodyPr>
          <a:lstStyle/>
          <a:p>
            <a:pPr marL="0" indent="0" algn="ctr">
              <a:lnSpc>
                <a:spcPct val="100000"/>
              </a:lnSpc>
              <a:buNone/>
            </a:pPr>
            <a:r>
              <a:rPr lang="en-US" sz="2000" b="1" dirty="0">
                <a:solidFill>
                  <a:srgbClr val="0D7377"/>
                </a:solidFill>
                <a:latin typeface="Arial"/>
                <a:cs typeface="Arial"/>
              </a:rPr>
              <a:t>Tuần 1-2</a:t>
            </a:r>
          </a:p>
          <a:p>
            <a:pPr marL="0" indent="0" algn="ctr">
              <a:lnSpc>
                <a:spcPct val="100000"/>
              </a:lnSpc>
              <a:spcBef>
                <a:spcPts val="300"/>
              </a:spcBef>
              <a:buNone/>
            </a:pPr>
            <a:r>
              <a:rPr lang="en-US" sz="1600" dirty="0">
                <a:solidFill>
                  <a:srgbClr val="1A1A1A"/>
                </a:solidFill>
                <a:latin typeface="Arial"/>
                <a:cs typeface="Arial"/>
              </a:rPr>
              <a:t>vấn đề, câu hỏi, tìm y văn</a:t>
            </a:r>
          </a:p>
        </p:txBody>
      </p:sp>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ctr">
              <a:buNone/>
            </a:pPr>
            <a:r>
              <a:rPr lang="en-US" sz="1300" b="1" dirty="0">
                <a:solidFill>
                  <a:srgbClr val="FFFFFF"/>
                </a:solidFill>
                <a:latin typeface="Arial"/>
                <a:cs typeface="Arial"/>
              </a:rPr>
              <a:t>THÔNG ĐIỆP CHÍNH   </a:t>
            </a:r>
            <a:r>
              <a:rPr lang="en-US" sz="1550" dirty="0">
                <a:solidFill>
                  <a:srgbClr val="FFFFFF"/>
                </a:solidFill>
                <a:latin typeface="Arial"/>
                <a:cs typeface="Arial"/>
              </a:rPr>
              <a:t>Nghiên cứu là một chu trình: kết quả công bố thay đổi thực hành và gợi ra câu hỏi mới.</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Câu hỏi quyết định loại nghiên cứu</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graphicFrame>
        <p:nvGraphicFramePr>
          <p:cNvPr id="30" name="Table"/>
          <p:cNvGraphicFramePr/>
          <p:nvPr/>
        </p:nvGraphicFramePr>
        <p:xfrm>
          <a:off x="457200" y="1176186"/>
          <a:ext cx="11277600" cy="4021440"/>
        </p:xfrm>
        <a:graphic>
          <a:graphicData uri="http://schemas.openxmlformats.org/drawingml/2006/table">
            <a:tbl>
              <a:tblPr firstRow="1" bandRow="1">
                <a:tableStyleId>{5C22544A-7EE6-4342-B048-85BDC9FD1C3A}</a:tableStyleId>
              </a:tblPr>
              <a:tblGrid>
                <a:gridCol w="2631440"/>
                <a:gridCol w="4636346"/>
                <a:gridCol w="4009814"/>
              </a:tblGrid>
              <a:tr h="416240">
                <a:tc>
                  <a:txBody>
                    <a:bodyPr/>
                    <a:lstStyle/>
                    <a:p>
                      <a:pPr algn="l"/>
                      <a:r>
                        <a:rPr lang="en-US" sz="2000" b="1" dirty="0">
                          <a:solidFill>
                            <a:srgbClr val="FFFFFF"/>
                          </a:solidFill>
                          <a:latin typeface="Arial"/>
                          <a:cs typeface="Arial"/>
                        </a:rPr>
                        <a:t>Loại nghiên cứu</a:t>
                      </a:r>
                    </a:p>
                  </a:txBody>
                  <a:tcPr marL="73152" marR="73152" marT="45720" marB="45720" anchor="ctr">
                    <a:solidFill>
                      <a:srgbClr val="0D7377"/>
                    </a:solidFill>
                  </a:tcPr>
                </a:tc>
                <a:tc>
                  <a:txBody>
                    <a:bodyPr/>
                    <a:lstStyle/>
                    <a:p>
                      <a:pPr algn="l"/>
                      <a:r>
                        <a:rPr lang="en-US" sz="2000" b="1" dirty="0">
                          <a:solidFill>
                            <a:srgbClr val="FFFFFF"/>
                          </a:solidFill>
                          <a:latin typeface="Arial"/>
                          <a:cs typeface="Arial"/>
                        </a:rPr>
                        <a:t>Cho biết điều gì</a:t>
                      </a:r>
                    </a:p>
                  </a:txBody>
                  <a:tcPr marL="73152" marR="73152" marT="45720" marB="45720" anchor="ctr">
                    <a:solidFill>
                      <a:srgbClr val="0D7377"/>
                    </a:solidFill>
                  </a:tcPr>
                </a:tc>
                <a:tc>
                  <a:txBody>
                    <a:bodyPr/>
                    <a:lstStyle/>
                    <a:p>
                      <a:pPr algn="l"/>
                      <a:r>
                        <a:rPr lang="en-US" sz="2000" b="1" dirty="0">
                          <a:solidFill>
                            <a:srgbClr val="FFFFFF"/>
                          </a:solidFill>
                          <a:latin typeface="Arial"/>
                          <a:cs typeface="Arial"/>
                        </a:rPr>
                        <a:t>Ví dụ</a:t>
                      </a:r>
                    </a:p>
                  </a:txBody>
                  <a:tcPr marL="73152" marR="73152" marT="45720" marB="45720" anchor="ctr">
                    <a:solidFill>
                      <a:srgbClr val="0D7377"/>
                    </a:solidFill>
                  </a:tcPr>
                </a:tc>
              </a:tr>
              <a:tr h="721040">
                <a:tc>
                  <a:txBody>
                    <a:bodyPr/>
                    <a:lstStyle/>
                    <a:p>
                      <a:pPr algn="l"/>
                      <a:r>
                        <a:rPr lang="en-US" sz="2000" b="1" dirty="0">
                          <a:solidFill>
                            <a:srgbClr val="000000"/>
                          </a:solidFill>
                          <a:latin typeface="Arial"/>
                          <a:cs typeface="Arial"/>
                        </a:rPr>
                        <a:t>Định lượng</a:t>
                      </a:r>
                    </a:p>
                  </a:txBody>
                  <a:tcPr marL="73152" marR="73152" marT="45720" marB="45720" anchor="ctr">
                    <a:solidFill>
                      <a:srgbClr val="EAF2F5"/>
                    </a:solidFill>
                  </a:tcPr>
                </a:tc>
                <a:tc>
                  <a:txBody>
                    <a:bodyPr/>
                    <a:lstStyle/>
                    <a:p>
                      <a:pPr algn="l"/>
                      <a:r>
                        <a:rPr lang="en-US" sz="2000" dirty="0">
                          <a:solidFill>
                            <a:srgbClr val="000000"/>
                          </a:solidFill>
                          <a:latin typeface="Arial"/>
                          <a:cs typeface="Arial"/>
                        </a:rPr>
                        <a:t>Con số: bao nhiêu? X có làm thay đổi Y?</a:t>
                      </a:r>
                    </a:p>
                  </a:txBody>
                  <a:tcPr marL="73152" marR="73152" marT="45720" marB="45720" anchor="ctr">
                    <a:solidFill>
                      <a:srgbClr val="FFFFFF"/>
                    </a:solidFill>
                  </a:tcPr>
                </a:tc>
                <a:tc>
                  <a:txBody>
                    <a:bodyPr/>
                    <a:lstStyle/>
                    <a:p>
                      <a:pPr algn="l"/>
                      <a:r>
                        <a:rPr lang="en-US" sz="2000" dirty="0">
                          <a:solidFill>
                            <a:srgbClr val="000000"/>
                          </a:solidFill>
                          <a:latin typeface="Arial"/>
                          <a:cs typeface="Arial"/>
                        </a:rPr>
                        <a:t>Tử vong 28 ngày với hai chiến lược dịch</a:t>
                      </a:r>
                    </a:p>
                  </a:txBody>
                  <a:tcPr marL="73152" marR="73152" marT="45720" marB="45720" anchor="ctr">
                    <a:solidFill>
                      <a:srgbClr val="FFFFFF"/>
                    </a:solidFill>
                  </a:tcPr>
                </a:tc>
              </a:tr>
              <a:tr h="721040">
                <a:tc>
                  <a:txBody>
                    <a:bodyPr/>
                    <a:lstStyle/>
                    <a:p>
                      <a:pPr algn="l"/>
                      <a:r>
                        <a:rPr lang="en-US" sz="2000" b="1" dirty="0">
                          <a:solidFill>
                            <a:srgbClr val="000000"/>
                          </a:solidFill>
                          <a:latin typeface="Arial"/>
                          <a:cs typeface="Arial"/>
                        </a:rPr>
                        <a:t>Định tính</a:t>
                      </a:r>
                    </a:p>
                  </a:txBody>
                  <a:tcPr marL="73152" marR="73152" marT="45720" marB="45720" anchor="ctr">
                    <a:solidFill>
                      <a:srgbClr val="EAF2F5"/>
                    </a:solidFill>
                  </a:tcPr>
                </a:tc>
                <a:tc>
                  <a:txBody>
                    <a:bodyPr/>
                    <a:lstStyle/>
                    <a:p>
                      <a:pPr algn="l"/>
                      <a:r>
                        <a:rPr lang="en-US" sz="2000" dirty="0">
                          <a:solidFill>
                            <a:srgbClr val="000000"/>
                          </a:solidFill>
                          <a:latin typeface="Arial"/>
                          <a:cs typeface="Arial"/>
                        </a:rPr>
                        <a:t>Lời kể: vì sao? Như thế nào? Trải nghiệm ra sao?</a:t>
                      </a:r>
                    </a:p>
                  </a:txBody>
                  <a:tcPr marL="73152" marR="73152" marT="45720" marB="45720" anchor="ctr">
                    <a:solidFill>
                      <a:srgbClr val="F5F9FA"/>
                    </a:solidFill>
                  </a:tcPr>
                </a:tc>
                <a:tc>
                  <a:txBody>
                    <a:bodyPr/>
                    <a:lstStyle/>
                    <a:p>
                      <a:pPr algn="l"/>
                      <a:r>
                        <a:rPr lang="en-US" sz="2000" dirty="0">
                          <a:solidFill>
                            <a:srgbClr val="000000"/>
                          </a:solidFill>
                          <a:latin typeface="Arial"/>
                          <a:cs typeface="Arial"/>
                        </a:rPr>
                        <a:t>Phỏng vấn: vì sao điều dưỡng ngại ngừng dịch</a:t>
                      </a:r>
                    </a:p>
                  </a:txBody>
                  <a:tcPr marL="73152" marR="73152" marT="45720" marB="45720" anchor="ctr">
                    <a:solidFill>
                      <a:srgbClr val="F5F9FA"/>
                    </a:solidFill>
                  </a:tcPr>
                </a:tc>
              </a:tr>
              <a:tr h="721040">
                <a:tc>
                  <a:txBody>
                    <a:bodyPr/>
                    <a:lstStyle/>
                    <a:p>
                      <a:pPr algn="l"/>
                      <a:r>
                        <a:rPr lang="en-US" sz="2000" b="1" dirty="0">
                          <a:solidFill>
                            <a:srgbClr val="000000"/>
                          </a:solidFill>
                          <a:latin typeface="Arial"/>
                          <a:cs typeface="Arial"/>
                        </a:rPr>
                        <a:t>Hỗn hợp</a:t>
                      </a:r>
                    </a:p>
                  </a:txBody>
                  <a:tcPr marL="73152" marR="73152" marT="45720" marB="45720" anchor="ctr">
                    <a:solidFill>
                      <a:srgbClr val="EAF2F5"/>
                    </a:solidFill>
                  </a:tcPr>
                </a:tc>
                <a:tc>
                  <a:txBody>
                    <a:bodyPr/>
                    <a:lstStyle/>
                    <a:p>
                      <a:pPr algn="l"/>
                      <a:r>
                        <a:rPr lang="en-US" sz="2000" dirty="0">
                          <a:solidFill>
                            <a:srgbClr val="000000"/>
                          </a:solidFill>
                          <a:latin typeface="Arial"/>
                          <a:cs typeface="Arial"/>
                        </a:rPr>
                        <a:t>Con số và lời kể trong cùng một nghiên cứu</a:t>
                      </a:r>
                    </a:p>
                  </a:txBody>
                  <a:tcPr marL="73152" marR="73152" marT="45720" marB="45720" anchor="ctr">
                    <a:solidFill>
                      <a:srgbClr val="FFFFFF"/>
                    </a:solidFill>
                  </a:tcPr>
                </a:tc>
                <a:tc>
                  <a:txBody>
                    <a:bodyPr/>
                    <a:lstStyle/>
                    <a:p>
                      <a:pPr algn="l"/>
                      <a:r>
                        <a:rPr lang="en-US" sz="2000" dirty="0">
                          <a:solidFill>
                            <a:srgbClr val="000000"/>
                          </a:solidFill>
                          <a:latin typeface="Arial"/>
                          <a:cs typeface="Arial"/>
                        </a:rPr>
                        <a:t>Khảo sát thực hành dịch kèm thảo luận nhóm</a:t>
                      </a:r>
                    </a:p>
                  </a:txBody>
                  <a:tcPr marL="73152" marR="73152" marT="45720" marB="45720" anchor="ctr">
                    <a:solidFill>
                      <a:srgbClr val="FFFFFF"/>
                    </a:solidFill>
                  </a:tcPr>
                </a:tc>
              </a:tr>
              <a:tr h="721040">
                <a:tc>
                  <a:txBody>
                    <a:bodyPr/>
                    <a:lstStyle/>
                    <a:p>
                      <a:pPr algn="l"/>
                      <a:r>
                        <a:rPr lang="en-US" sz="2000" b="1" dirty="0">
                          <a:solidFill>
                            <a:srgbClr val="000000"/>
                          </a:solidFill>
                          <a:latin typeface="Arial"/>
                          <a:cs typeface="Arial"/>
                        </a:rPr>
                        <a:t>Nghiên cứu sơ cấp</a:t>
                      </a:r>
                    </a:p>
                  </a:txBody>
                  <a:tcPr marL="73152" marR="73152" marT="45720" marB="45720" anchor="ctr">
                    <a:solidFill>
                      <a:srgbClr val="EAF2F5"/>
                    </a:solidFill>
                  </a:tcPr>
                </a:tc>
                <a:tc>
                  <a:txBody>
                    <a:bodyPr/>
                    <a:lstStyle/>
                    <a:p>
                      <a:pPr algn="l"/>
                      <a:r>
                        <a:rPr lang="en-US" sz="2000" dirty="0">
                          <a:solidFill>
                            <a:srgbClr val="000000"/>
                          </a:solidFill>
                          <a:latin typeface="Arial"/>
                          <a:cs typeface="Arial"/>
                        </a:rPr>
                        <a:t>Bạn thu thập dữ liệu mới</a:t>
                      </a:r>
                    </a:p>
                  </a:txBody>
                  <a:tcPr marL="73152" marR="73152" marT="45720" marB="45720" anchor="ctr">
                    <a:solidFill>
                      <a:srgbClr val="F5F9FA"/>
                    </a:solidFill>
                  </a:tcPr>
                </a:tc>
                <a:tc>
                  <a:txBody>
                    <a:bodyPr/>
                    <a:lstStyle/>
                    <a:p>
                      <a:pPr algn="l"/>
                      <a:r>
                        <a:rPr lang="en-US" sz="2000" dirty="0">
                          <a:solidFill>
                            <a:srgbClr val="000000"/>
                          </a:solidFill>
                          <a:latin typeface="Arial"/>
                          <a:cs typeface="Arial"/>
                        </a:rPr>
                        <a:t>Bài báo 1: một thử nghiệm mới</a:t>
                      </a:r>
                    </a:p>
                  </a:txBody>
                  <a:tcPr marL="73152" marR="73152" marT="45720" marB="45720" anchor="ctr">
                    <a:solidFill>
                      <a:srgbClr val="F5F9FA"/>
                    </a:solidFill>
                  </a:tcPr>
                </a:tc>
              </a:tr>
              <a:tr h="721040">
                <a:tc>
                  <a:txBody>
                    <a:bodyPr/>
                    <a:lstStyle/>
                    <a:p>
                      <a:pPr algn="l"/>
                      <a:r>
                        <a:rPr lang="en-US" sz="2000" b="1" dirty="0">
                          <a:solidFill>
                            <a:srgbClr val="000000"/>
                          </a:solidFill>
                          <a:latin typeface="Arial"/>
                          <a:cs typeface="Arial"/>
                        </a:rPr>
                        <a:t>Nghiên cứu thứ cấp</a:t>
                      </a:r>
                    </a:p>
                  </a:txBody>
                  <a:tcPr marL="73152" marR="73152" marT="45720" marB="45720" anchor="ctr">
                    <a:solidFill>
                      <a:srgbClr val="EAF2F5"/>
                    </a:solidFill>
                  </a:tcPr>
                </a:tc>
                <a:tc>
                  <a:txBody>
                    <a:bodyPr/>
                    <a:lstStyle/>
                    <a:p>
                      <a:pPr algn="l"/>
                      <a:r>
                        <a:rPr lang="en-US" sz="2000" dirty="0">
                          <a:solidFill>
                            <a:srgbClr val="000000"/>
                          </a:solidFill>
                          <a:latin typeface="Arial"/>
                          <a:cs typeface="Arial"/>
                        </a:rPr>
                        <a:t>Bạn dùng lại dữ liệu có sẵn: hồ sơ, sổ đăng ký</a:t>
                      </a:r>
                    </a:p>
                  </a:txBody>
                  <a:tcPr marL="73152" marR="73152" marT="45720" marB="45720" anchor="ctr">
                    <a:solidFill>
                      <a:srgbClr val="FFFFFF"/>
                    </a:solidFill>
                  </a:tcPr>
                </a:tc>
                <a:tc>
                  <a:txBody>
                    <a:bodyPr/>
                    <a:lstStyle/>
                    <a:p>
                      <a:pPr algn="l"/>
                      <a:r>
                        <a:rPr lang="en-US" sz="2000" dirty="0">
                          <a:solidFill>
                            <a:srgbClr val="000000"/>
                          </a:solidFill>
                          <a:latin typeface="Arial"/>
                          <a:cs typeface="Arial"/>
                        </a:rPr>
                        <a:t>Bài báo 2: sổ đăng ký nhiễm khuẩn huyết</a:t>
                      </a:r>
                    </a:p>
                  </a:txBody>
                  <a:tcPr marL="73152" marR="73152" marT="45720" marB="45720" anchor="ctr">
                    <a:solidFill>
                      <a:srgbClr val="FFFFFF"/>
                    </a:solidFill>
                  </a:tcPr>
                </a:tc>
              </a:tr>
            </a:tbl>
          </a:graphicData>
        </a:graphic>
      </p:graphicFrame>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ctr">
              <a:buNone/>
            </a:pPr>
            <a:r>
              <a:rPr lang="en-US" sz="1300" b="1" dirty="0">
                <a:solidFill>
                  <a:srgbClr val="FFFFFF"/>
                </a:solidFill>
                <a:latin typeface="Arial"/>
                <a:cs typeface="Arial"/>
              </a:rPr>
              <a:t>THÔNG ĐIỆP CHÍNH   </a:t>
            </a:r>
            <a:r>
              <a:rPr lang="en-US" sz="1550" dirty="0">
                <a:solidFill>
                  <a:srgbClr val="FFFFFF"/>
                </a:solidFill>
                <a:latin typeface="Arial"/>
                <a:cs typeface="Arial"/>
              </a:rPr>
              <a:t>Con số trả lời bao nhiêu, mức nào. Lời kể trả lời vì sao, như thế nào.</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Kiểm tra hiểu bài: loại nghiên cứu nào?</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50" name="Banner"/>
          <p:cNvSpPr/>
          <p:nvPr/>
        </p:nvSpPr>
        <p:spPr>
          <a:xfrm>
            <a:off x="457200" y="1120000"/>
            <a:ext cx="11277600" cy="470000"/>
          </a:xfrm>
          <a:prstGeom prst="rect">
            <a:avLst/>
          </a:prstGeom>
          <a:solidFill>
            <a:srgbClr val="6C3483"/>
          </a:solidFill>
          <a:ln>
            <a:noFill/>
          </a:ln>
        </p:spPr>
        <p:txBody>
          <a:bodyPr wrap="square" lIns="182880" tIns="45720" rIns="182880" bIns="45720" rtlCol="0" anchor="ctr">
            <a:normAutofit/>
          </a:bodyPr>
          <a:lstStyle/>
          <a:p>
            <a:pPr marL="0" indent="0" algn="l">
              <a:buNone/>
            </a:pPr>
            <a:r>
              <a:rPr lang="en-US" sz="1500" b="1" dirty="0">
                <a:solidFill>
                  <a:srgbClr val="FFFFFF"/>
                </a:solidFill>
                <a:latin typeface="Arial"/>
                <a:cs typeface="Arial"/>
              </a:rPr>
              <a:t>CÂU HỎI NHANH   |   2 phút</a:t>
            </a:r>
          </a:p>
        </p:txBody>
      </p:sp>
      <p:sp>
        <p:nvSpPr>
          <p:cNvPr id="51" name="Steps"/>
          <p:cNvSpPr txBox="1"/>
          <p:nvPr/>
        </p:nvSpPr>
        <p:spPr>
          <a:xfrm>
            <a:off x="457200" y="1720000"/>
            <a:ext cx="11277600" cy="3510000"/>
          </a:xfrm>
          <a:prstGeom prst="rect">
            <a:avLst/>
          </a:prstGeom>
          <a:noFill/>
          <a:ln>
            <a:noFill/>
          </a:ln>
        </p:spPr>
        <p:txBody>
          <a:bodyPr wrap="square" lIns="91440" tIns="45720" rIns="91440" bIns="45720" rtlCol="0" anchor="t"/>
          <a:lstStyle/>
          <a:p>
            <a:pPr marL="380000" indent="-380000" algn="l">
              <a:lnSpc>
                <a:spcPct val="104000"/>
              </a:lnSpc>
              <a:spcBef>
                <a:spcPts val="450"/>
              </a:spcBef>
              <a:buClr>
                <a:srgbClr val="6C3483"/>
              </a:buClr>
              <a:buFont typeface="Arial"/>
              <a:buChar char="•"/>
            </a:pPr>
            <a:r>
              <a:rPr lang="en-US" sz="1650" dirty="0">
                <a:solidFill>
                  <a:srgbClr val="000000"/>
                </a:solidFill>
                <a:latin typeface="Arial"/>
                <a:cs typeface="Arial"/>
              </a:rPr>
              <a:t>A: đếm số người bệnh sốc nhiễm khuẩn có cân bằng dịch dương ở ngày 3 trong năm nay</a:t>
            </a:r>
          </a:p>
          <a:p>
            <a:pPr marL="380000" indent="-380000" algn="l">
              <a:lnSpc>
                <a:spcPct val="104000"/>
              </a:lnSpc>
              <a:spcBef>
                <a:spcPts val="450"/>
              </a:spcBef>
              <a:buClr>
                <a:srgbClr val="6C3483"/>
              </a:buClr>
              <a:buFont typeface="Arial"/>
              <a:buChar char="•"/>
            </a:pPr>
            <a:r>
              <a:rPr lang="en-US" sz="1650" dirty="0">
                <a:solidFill>
                  <a:srgbClr val="000000"/>
                </a:solidFill>
                <a:latin typeface="Arial"/>
                <a:cs typeface="Arial"/>
              </a:rPr>
              <a:t>B: phỏng vấn điều dưỡng ICU vì sao họ ngại ngừng dịch truyền</a:t>
            </a:r>
          </a:p>
          <a:p>
            <a:pPr marL="380000" indent="-380000" algn="l">
              <a:lnSpc>
                <a:spcPct val="104000"/>
              </a:lnSpc>
              <a:spcBef>
                <a:spcPts val="450"/>
              </a:spcBef>
              <a:buClr>
                <a:srgbClr val="6C3483"/>
              </a:buClr>
              <a:buFont typeface="Arial"/>
              <a:buChar char="•"/>
            </a:pPr>
            <a:r>
              <a:rPr lang="en-US" sz="1650" dirty="0">
                <a:solidFill>
                  <a:srgbClr val="000000"/>
                </a:solidFill>
                <a:latin typeface="Arial"/>
                <a:cs typeface="Arial"/>
              </a:rPr>
              <a:t>C: phân tích lại hồ sơ ICU 3 năm về cân bằng dịch và tử vong</a:t>
            </a:r>
          </a:p>
          <a:p>
            <a:pPr marL="380000" indent="-380000" algn="l">
              <a:lnSpc>
                <a:spcPct val="104000"/>
              </a:lnSpc>
              <a:spcBef>
                <a:spcPts val="450"/>
              </a:spcBef>
              <a:buClr>
                <a:srgbClr val="6C3483"/>
              </a:buClr>
              <a:buFont typeface="Arial"/>
              <a:buChar char="•"/>
            </a:pPr>
            <a:r>
              <a:rPr lang="en-US" sz="1650" dirty="0">
                <a:solidFill>
                  <a:srgbClr val="000000"/>
                </a:solidFill>
                <a:latin typeface="Arial"/>
                <a:cs typeface="Arial"/>
              </a:rPr>
              <a:t>D: khảo sát cách chỉ định dịch kèm thảo luận nhóm với bác sĩ</a:t>
            </a:r>
          </a:p>
          <a:p>
            <a:pPr marL="380000" indent="-380000" algn="l">
              <a:lnSpc>
                <a:spcPct val="104000"/>
              </a:lnSpc>
              <a:spcBef>
                <a:spcPts val="450"/>
              </a:spcBef>
              <a:buClr>
                <a:srgbClr val="6C3483"/>
              </a:buClr>
              <a:buFont typeface="Arial"/>
              <a:buChar char="•"/>
            </a:pPr>
            <a:r>
              <a:rPr lang="en-US" sz="1650" dirty="0">
                <a:solidFill>
                  <a:srgbClr val="000000"/>
                </a:solidFill>
                <a:latin typeface="Arial"/>
                <a:cs typeface="Arial"/>
              </a:rPr>
              <a:t>Mỗi câu: con số, lời kể hay cả hai? Dữ liệu mới hay có sẵn?</a:t>
            </a:r>
          </a:p>
        </p:txBody>
      </p:sp>
      <p:sp>
        <p:nvSpPr>
          <p:cNvPr id="53" name="Deliverable"/>
          <p:cNvSpPr/>
          <p:nvPr/>
        </p:nvSpPr>
        <p:spPr>
          <a:xfrm>
            <a:off x="457200" y="5350000"/>
            <a:ext cx="11277600" cy="600000"/>
          </a:xfrm>
          <a:prstGeom prst="roundRect">
            <a:avLst>
              <a:gd name="adj" fmla="val 12000"/>
            </a:avLst>
          </a:prstGeom>
          <a:solidFill>
            <a:srgbClr val="FFFFFF"/>
          </a:solidFill>
          <a:ln w="15875">
            <a:solidFill>
              <a:srgbClr val="6C3483"/>
            </a:solidFill>
          </a:ln>
        </p:spPr>
        <p:txBody>
          <a:bodyPr wrap="square" lIns="182880" tIns="45720" rIns="182880" bIns="45720" rtlCol="0" anchor="ctr">
            <a:normAutofit/>
          </a:bodyPr>
          <a:lstStyle/>
          <a:p>
            <a:pPr marL="0" indent="0" algn="ctr">
              <a:buNone/>
            </a:pPr>
            <a:r>
              <a:rPr lang="en-US" sz="1300" b="1" dirty="0">
                <a:solidFill>
                  <a:srgbClr val="6C3483"/>
                </a:solidFill>
                <a:latin typeface="Arial"/>
                <a:cs typeface="Arial"/>
              </a:rPr>
              <a:t>SẢN PHẨM   </a:t>
            </a:r>
            <a:r>
              <a:rPr lang="en-US" sz="1500" dirty="0">
                <a:solidFill>
                  <a:srgbClr val="000000"/>
                </a:solidFill>
                <a:latin typeface="Arial"/>
                <a:cs typeface="Arial"/>
              </a:rPr>
              <a:t>Hai ba người trả lời, ví dụ 'A: con số, mới'</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Đáp án: loại nghiên cứu nào?</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70" name="CardHead"/>
          <p:cNvSpPr/>
          <p:nvPr/>
        </p:nvSpPr>
        <p:spPr>
          <a:xfrm>
            <a:off x="457200" y="1916666"/>
            <a:ext cx="2669400" cy="640000"/>
          </a:xfrm>
          <a:prstGeom prst="rect">
            <a:avLst/>
          </a:prstGeom>
          <a:solidFill>
            <a:srgbClr val="0D7377"/>
          </a:solidFill>
          <a:ln>
            <a:noFill/>
          </a:ln>
        </p:spPr>
        <p:txBody>
          <a:bodyPr wrap="square" lIns="91440" tIns="45720" rIns="91440" bIns="45720" rtlCol="0" anchor="ctr">
            <a:normAutofit/>
          </a:bodyPr>
          <a:lstStyle/>
          <a:p>
            <a:pPr marL="0" indent="0" algn="ctr">
              <a:buNone/>
            </a:pPr>
            <a:r>
              <a:rPr lang="en-US" sz="1700" b="1" dirty="0">
                <a:solidFill>
                  <a:srgbClr val="FFFFFF"/>
                </a:solidFill>
                <a:latin typeface="Arial"/>
                <a:cs typeface="Arial"/>
              </a:rPr>
              <a:t>A  Đếm số ca</a:t>
            </a:r>
          </a:p>
        </p:txBody>
      </p:sp>
      <p:sp>
        <p:nvSpPr>
          <p:cNvPr id="71" name="CardBody"/>
          <p:cNvSpPr/>
          <p:nvPr/>
        </p:nvSpPr>
        <p:spPr>
          <a:xfrm>
            <a:off x="457200" y="2556666"/>
            <a:ext cx="2669400" cy="1300000"/>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600" dirty="0">
                <a:solidFill>
                  <a:srgbClr val="000000"/>
                </a:solidFill>
                <a:latin typeface="Arial"/>
                <a:cs typeface="Arial"/>
              </a:rPr>
              <a:t>Định lượng</a:t>
            </a:r>
          </a:p>
          <a:p>
            <a:pPr marL="0" indent="0" algn="ctr">
              <a:lnSpc>
                <a:spcPct val="104000"/>
              </a:lnSpc>
              <a:spcBef>
                <a:spcPts val="400"/>
              </a:spcBef>
              <a:buNone/>
            </a:pPr>
            <a:r>
              <a:rPr lang="en-US" sz="1600" dirty="0">
                <a:solidFill>
                  <a:srgbClr val="000000"/>
                </a:solidFill>
                <a:latin typeface="Arial"/>
                <a:cs typeface="Arial"/>
              </a:rPr>
              <a:t>Sơ cấp</a:t>
            </a:r>
          </a:p>
        </p:txBody>
      </p:sp>
      <p:sp>
        <p:nvSpPr>
          <p:cNvPr id="72" name="CardHead"/>
          <p:cNvSpPr/>
          <p:nvPr/>
        </p:nvSpPr>
        <p:spPr>
          <a:xfrm>
            <a:off x="3326600" y="1916666"/>
            <a:ext cx="2669400" cy="640000"/>
          </a:xfrm>
          <a:prstGeom prst="rect">
            <a:avLst/>
          </a:prstGeom>
          <a:solidFill>
            <a:srgbClr val="0B376C"/>
          </a:solidFill>
          <a:ln>
            <a:noFill/>
          </a:ln>
        </p:spPr>
        <p:txBody>
          <a:bodyPr wrap="square" lIns="91440" tIns="45720" rIns="91440" bIns="45720" rtlCol="0" anchor="ctr">
            <a:normAutofit/>
          </a:bodyPr>
          <a:lstStyle/>
          <a:p>
            <a:pPr marL="0" indent="0" algn="ctr">
              <a:buNone/>
            </a:pPr>
            <a:r>
              <a:rPr lang="en-US" sz="1700" b="1" dirty="0">
                <a:solidFill>
                  <a:srgbClr val="FFFFFF"/>
                </a:solidFill>
                <a:latin typeface="Arial"/>
                <a:cs typeface="Arial"/>
              </a:rPr>
              <a:t>B  Phỏng vấn</a:t>
            </a:r>
          </a:p>
        </p:txBody>
      </p:sp>
      <p:sp>
        <p:nvSpPr>
          <p:cNvPr id="73" name="CardBody"/>
          <p:cNvSpPr/>
          <p:nvPr/>
        </p:nvSpPr>
        <p:spPr>
          <a:xfrm>
            <a:off x="3326600" y="2556666"/>
            <a:ext cx="2669400" cy="1300000"/>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600" dirty="0">
                <a:solidFill>
                  <a:srgbClr val="000000"/>
                </a:solidFill>
                <a:latin typeface="Arial"/>
                <a:cs typeface="Arial"/>
              </a:rPr>
              <a:t>Định tính</a:t>
            </a:r>
          </a:p>
          <a:p>
            <a:pPr marL="0" indent="0" algn="ctr">
              <a:lnSpc>
                <a:spcPct val="104000"/>
              </a:lnSpc>
              <a:spcBef>
                <a:spcPts val="400"/>
              </a:spcBef>
              <a:buNone/>
            </a:pPr>
            <a:r>
              <a:rPr lang="en-US" sz="1600" dirty="0">
                <a:solidFill>
                  <a:srgbClr val="000000"/>
                </a:solidFill>
                <a:latin typeface="Arial"/>
                <a:cs typeface="Arial"/>
              </a:rPr>
              <a:t>Sơ cấp</a:t>
            </a:r>
          </a:p>
        </p:txBody>
      </p:sp>
      <p:sp>
        <p:nvSpPr>
          <p:cNvPr id="74" name="CardHead"/>
          <p:cNvSpPr/>
          <p:nvPr/>
        </p:nvSpPr>
        <p:spPr>
          <a:xfrm>
            <a:off x="6196000" y="1916666"/>
            <a:ext cx="2669400" cy="640000"/>
          </a:xfrm>
          <a:prstGeom prst="rect">
            <a:avLst/>
          </a:prstGeom>
          <a:solidFill>
            <a:srgbClr val="5FA39B"/>
          </a:solidFill>
          <a:ln>
            <a:noFill/>
          </a:ln>
        </p:spPr>
        <p:txBody>
          <a:bodyPr wrap="square" lIns="91440" tIns="45720" rIns="91440" bIns="45720" rtlCol="0" anchor="ctr">
            <a:normAutofit/>
          </a:bodyPr>
          <a:lstStyle/>
          <a:p>
            <a:pPr marL="0" indent="0" algn="ctr">
              <a:buNone/>
            </a:pPr>
            <a:r>
              <a:rPr lang="en-US" sz="1700" b="1" dirty="0">
                <a:solidFill>
                  <a:srgbClr val="FFFFFF"/>
                </a:solidFill>
                <a:latin typeface="Arial"/>
                <a:cs typeface="Arial"/>
              </a:rPr>
              <a:t>C  Hồ sơ cũ</a:t>
            </a:r>
          </a:p>
        </p:txBody>
      </p:sp>
      <p:sp>
        <p:nvSpPr>
          <p:cNvPr id="75" name="CardBody"/>
          <p:cNvSpPr/>
          <p:nvPr/>
        </p:nvSpPr>
        <p:spPr>
          <a:xfrm>
            <a:off x="6196000" y="2556666"/>
            <a:ext cx="2669400" cy="1300000"/>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600" dirty="0">
                <a:solidFill>
                  <a:srgbClr val="000000"/>
                </a:solidFill>
                <a:latin typeface="Arial"/>
                <a:cs typeface="Arial"/>
              </a:rPr>
              <a:t>Định lượng</a:t>
            </a:r>
          </a:p>
          <a:p>
            <a:pPr marL="0" indent="0" algn="ctr">
              <a:lnSpc>
                <a:spcPct val="104000"/>
              </a:lnSpc>
              <a:spcBef>
                <a:spcPts val="400"/>
              </a:spcBef>
              <a:buNone/>
            </a:pPr>
            <a:r>
              <a:rPr lang="en-US" sz="1600" dirty="0">
                <a:solidFill>
                  <a:srgbClr val="000000"/>
                </a:solidFill>
                <a:latin typeface="Arial"/>
                <a:cs typeface="Arial"/>
              </a:rPr>
              <a:t>Thứ cấp</a:t>
            </a:r>
          </a:p>
        </p:txBody>
      </p:sp>
      <p:sp>
        <p:nvSpPr>
          <p:cNvPr id="76" name="CardHead"/>
          <p:cNvSpPr/>
          <p:nvPr/>
        </p:nvSpPr>
        <p:spPr>
          <a:xfrm>
            <a:off x="9065400" y="1916666"/>
            <a:ext cx="2669400" cy="640000"/>
          </a:xfrm>
          <a:prstGeom prst="rect">
            <a:avLst/>
          </a:prstGeom>
          <a:solidFill>
            <a:srgbClr val="0070C0"/>
          </a:solidFill>
          <a:ln>
            <a:noFill/>
          </a:ln>
        </p:spPr>
        <p:txBody>
          <a:bodyPr wrap="square" lIns="91440" tIns="45720" rIns="91440" bIns="45720" rtlCol="0" anchor="ctr">
            <a:normAutofit/>
          </a:bodyPr>
          <a:lstStyle/>
          <a:p>
            <a:pPr marL="0" indent="0" algn="ctr">
              <a:buNone/>
            </a:pPr>
            <a:r>
              <a:rPr lang="en-US" sz="1700" b="1" dirty="0">
                <a:solidFill>
                  <a:srgbClr val="FFFFFF"/>
                </a:solidFill>
                <a:latin typeface="Arial"/>
                <a:cs typeface="Arial"/>
              </a:rPr>
              <a:t>D  Khảo sát + nhóm</a:t>
            </a:r>
          </a:p>
        </p:txBody>
      </p:sp>
      <p:sp>
        <p:nvSpPr>
          <p:cNvPr id="77" name="CardBody"/>
          <p:cNvSpPr/>
          <p:nvPr/>
        </p:nvSpPr>
        <p:spPr>
          <a:xfrm>
            <a:off x="9065400" y="2556666"/>
            <a:ext cx="2669400" cy="1300000"/>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600" dirty="0">
                <a:solidFill>
                  <a:srgbClr val="000000"/>
                </a:solidFill>
                <a:latin typeface="Arial"/>
                <a:cs typeface="Arial"/>
              </a:rPr>
              <a:t>Hỗn hợp</a:t>
            </a:r>
          </a:p>
          <a:p>
            <a:pPr marL="0" indent="0" algn="ctr">
              <a:lnSpc>
                <a:spcPct val="104000"/>
              </a:lnSpc>
              <a:spcBef>
                <a:spcPts val="400"/>
              </a:spcBef>
              <a:buNone/>
            </a:pPr>
            <a:r>
              <a:rPr lang="en-US" sz="1600" dirty="0">
                <a:solidFill>
                  <a:srgbClr val="000000"/>
                </a:solidFill>
                <a:latin typeface="Arial"/>
                <a:cs typeface="Arial"/>
              </a:rPr>
              <a:t>Sơ cấp</a:t>
            </a:r>
          </a:p>
        </p:txBody>
      </p:sp>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ctr">
              <a:buNone/>
            </a:pPr>
            <a:r>
              <a:rPr lang="en-US" sz="1300" b="1" dirty="0">
                <a:solidFill>
                  <a:srgbClr val="FFFFFF"/>
                </a:solidFill>
                <a:latin typeface="Arial"/>
                <a:cs typeface="Arial"/>
              </a:rPr>
              <a:t>THÔNG ĐIỆP CHÍNH   </a:t>
            </a:r>
            <a:r>
              <a:rPr lang="en-US" sz="1550" dirty="0">
                <a:solidFill>
                  <a:srgbClr val="FFFFFF"/>
                </a:solidFill>
                <a:latin typeface="Arial"/>
                <a:cs typeface="Arial"/>
              </a:rPr>
              <a:t>Hỏi hai điều: con số hay lời kể? Dữ liệu mới hay có sẵn?</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Cả con đường: từ ý tưởng đến công bố</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cxnSp>
        <p:nvCxnSpPr>
          <p:cNvPr id="100" name="Line"/>
          <p:cNvCxnSpPr/>
          <p:nvPr/>
        </p:nvCxnSpPr>
        <p:spPr>
          <a:xfrm>
            <a:off x="1295400" y="2382040"/>
            <a:ext cx="9144000" cy="0"/>
          </a:xfrm>
          <a:prstGeom prst="straightConnector1">
            <a:avLst/>
          </a:prstGeom>
          <a:ln w="177800" cap="rnd">
            <a:solidFill>
              <a:srgbClr val="D5DDE1"/>
            </a:solidFill>
            <a:round/>
          </a:ln>
        </p:spPr>
      </p:cxnSp>
      <p:sp>
        <p:nvSpPr>
          <p:cNvPr id="101" name="Arc"/>
          <p:cNvSpPr/>
          <p:nvPr/>
        </p:nvSpPr>
        <p:spPr>
          <a:xfrm>
            <a:off x="9525000" y="2382040"/>
            <a:ext cx="1828800" cy="1828800"/>
          </a:xfrm>
          <a:prstGeom prst="arc">
            <a:avLst>
              <a:gd name="adj1" fmla="val 16200000"/>
              <a:gd name="adj2" fmla="val 5400000"/>
            </a:avLst>
          </a:prstGeom>
          <a:noFill/>
          <a:ln w="177800" cap="rnd">
            <a:solidFill>
              <a:srgbClr val="D5DDE1"/>
            </a:solidFill>
            <a:round/>
          </a:ln>
        </p:spPr>
      </p:sp>
      <p:cxnSp>
        <p:nvCxnSpPr>
          <p:cNvPr id="102" name="Line"/>
          <p:cNvCxnSpPr/>
          <p:nvPr/>
        </p:nvCxnSpPr>
        <p:spPr>
          <a:xfrm flipH="1">
            <a:off x="2209800" y="4210840"/>
            <a:ext cx="8229600" cy="0"/>
          </a:xfrm>
          <a:prstGeom prst="straightConnector1">
            <a:avLst/>
          </a:prstGeom>
          <a:ln w="177800" cap="rnd">
            <a:solidFill>
              <a:srgbClr val="D5DDE1"/>
            </a:solidFill>
            <a:round/>
          </a:ln>
        </p:spPr>
      </p:cxnSp>
      <p:sp>
        <p:nvSpPr>
          <p:cNvPr id="103" name="Ellipse"/>
          <p:cNvSpPr/>
          <p:nvPr/>
        </p:nvSpPr>
        <p:spPr>
          <a:xfrm>
            <a:off x="993648" y="2080288"/>
            <a:ext cx="603504" cy="603504"/>
          </a:xfrm>
          <a:prstGeom prst="ellipse">
            <a:avLst/>
          </a:prstGeom>
          <a:solidFill>
            <a:srgbClr val="0D7377"/>
          </a:solidFill>
          <a:ln w="31750">
            <a:solidFill>
              <a:srgbClr val="FFFFFF"/>
            </a:solidFill>
          </a:ln>
        </p:spPr>
        <p:txBody>
          <a:bodyPr wrap="square" lIns="54864" tIns="54864" rIns="54864" bIns="54864" rtlCol="0" anchor="ctr">
            <a:noAutofit/>
          </a:bodyPr>
          <a:lstStyle/>
          <a:p>
            <a:pPr marL="0" indent="0" algn="ctr">
              <a:lnSpc>
                <a:spcPct val="100000"/>
              </a:lnSpc>
              <a:buNone/>
            </a:pPr>
            <a:r>
              <a:rPr lang="en-US" sz="2000" b="1" dirty="0">
                <a:solidFill>
                  <a:srgbClr val="FFFFFF"/>
                </a:solidFill>
                <a:latin typeface="Arial"/>
                <a:cs typeface="Arial"/>
              </a:rPr>
              <a:t>1</a:t>
            </a:r>
          </a:p>
        </p:txBody>
      </p:sp>
      <p:sp>
        <p:nvSpPr>
          <p:cNvPr id="104" name="Text"/>
          <p:cNvSpPr/>
          <p:nvPr/>
        </p:nvSpPr>
        <p:spPr>
          <a:xfrm>
            <a:off x="381000" y="1284760"/>
            <a:ext cx="1828800" cy="731520"/>
          </a:xfrm>
          <a:prstGeom prst="rect">
            <a:avLst/>
          </a:prstGeom>
          <a:noFill/>
          <a:ln>
            <a:noFill/>
          </a:ln>
        </p:spPr>
        <p:txBody>
          <a:bodyPr wrap="square" lIns="54864" tIns="54864" rIns="54864" bIns="54864" rtlCol="0" anchor="b">
            <a:noAutofit/>
          </a:bodyPr>
          <a:lstStyle/>
          <a:p>
            <a:pPr marL="0" indent="0" algn="ctr">
              <a:lnSpc>
                <a:spcPct val="100000"/>
              </a:lnSpc>
              <a:buNone/>
            </a:pPr>
            <a:r>
              <a:rPr lang="en-US" sz="1500" b="1" dirty="0">
                <a:solidFill>
                  <a:srgbClr val="1A1A1A"/>
                </a:solidFill>
                <a:latin typeface="Arial"/>
                <a:cs typeface="Arial"/>
              </a:rPr>
              <a:t>Câu hỏi</a:t>
            </a:r>
          </a:p>
        </p:txBody>
      </p:sp>
      <p:sp>
        <p:nvSpPr>
          <p:cNvPr id="105" name="Ellipse"/>
          <p:cNvSpPr/>
          <p:nvPr/>
        </p:nvSpPr>
        <p:spPr>
          <a:xfrm>
            <a:off x="2822448" y="2080288"/>
            <a:ext cx="603504" cy="603504"/>
          </a:xfrm>
          <a:prstGeom prst="ellipse">
            <a:avLst/>
          </a:prstGeom>
          <a:solidFill>
            <a:srgbClr val="0B376C"/>
          </a:solidFill>
          <a:ln w="31750">
            <a:solidFill>
              <a:srgbClr val="FFFFFF"/>
            </a:solidFill>
          </a:ln>
        </p:spPr>
        <p:txBody>
          <a:bodyPr wrap="square" lIns="54864" tIns="54864" rIns="54864" bIns="54864" rtlCol="0" anchor="ctr">
            <a:noAutofit/>
          </a:bodyPr>
          <a:lstStyle/>
          <a:p>
            <a:pPr marL="0" indent="0" algn="ctr">
              <a:lnSpc>
                <a:spcPct val="100000"/>
              </a:lnSpc>
              <a:buNone/>
            </a:pPr>
            <a:r>
              <a:rPr lang="en-US" sz="2000" b="1" dirty="0">
                <a:solidFill>
                  <a:srgbClr val="FFFFFF"/>
                </a:solidFill>
                <a:latin typeface="Arial"/>
                <a:cs typeface="Arial"/>
              </a:rPr>
              <a:t>2</a:t>
            </a:r>
          </a:p>
        </p:txBody>
      </p:sp>
      <p:sp>
        <p:nvSpPr>
          <p:cNvPr id="106" name="Text"/>
          <p:cNvSpPr/>
          <p:nvPr/>
        </p:nvSpPr>
        <p:spPr>
          <a:xfrm>
            <a:off x="2209800" y="1284760"/>
            <a:ext cx="1828800" cy="731520"/>
          </a:xfrm>
          <a:prstGeom prst="rect">
            <a:avLst/>
          </a:prstGeom>
          <a:noFill/>
          <a:ln>
            <a:noFill/>
          </a:ln>
        </p:spPr>
        <p:txBody>
          <a:bodyPr wrap="square" lIns="54864" tIns="54864" rIns="54864" bIns="54864" rtlCol="0" anchor="b">
            <a:noAutofit/>
          </a:bodyPr>
          <a:lstStyle/>
          <a:p>
            <a:pPr marL="0" indent="0" algn="ctr">
              <a:lnSpc>
                <a:spcPct val="100000"/>
              </a:lnSpc>
              <a:buNone/>
            </a:pPr>
            <a:r>
              <a:rPr lang="en-US" sz="1500" b="1" dirty="0">
                <a:solidFill>
                  <a:srgbClr val="1A1A1A"/>
                </a:solidFill>
                <a:latin typeface="Arial"/>
                <a:cs typeface="Arial"/>
              </a:rPr>
              <a:t>Thiết kế và đề cương</a:t>
            </a:r>
          </a:p>
        </p:txBody>
      </p:sp>
      <p:sp>
        <p:nvSpPr>
          <p:cNvPr id="107" name="Ellipse"/>
          <p:cNvSpPr/>
          <p:nvPr/>
        </p:nvSpPr>
        <p:spPr>
          <a:xfrm>
            <a:off x="4651248" y="2080288"/>
            <a:ext cx="603504" cy="603504"/>
          </a:xfrm>
          <a:prstGeom prst="ellipse">
            <a:avLst/>
          </a:prstGeom>
          <a:solidFill>
            <a:srgbClr val="0070C0"/>
          </a:solidFill>
          <a:ln w="31750">
            <a:solidFill>
              <a:srgbClr val="FFFFFF"/>
            </a:solidFill>
          </a:ln>
        </p:spPr>
        <p:txBody>
          <a:bodyPr wrap="square" lIns="54864" tIns="54864" rIns="54864" bIns="54864" rtlCol="0" anchor="ctr">
            <a:noAutofit/>
          </a:bodyPr>
          <a:lstStyle/>
          <a:p>
            <a:pPr marL="0" indent="0" algn="ctr">
              <a:lnSpc>
                <a:spcPct val="100000"/>
              </a:lnSpc>
              <a:buNone/>
            </a:pPr>
            <a:r>
              <a:rPr lang="en-US" sz="2000" b="1" dirty="0">
                <a:solidFill>
                  <a:srgbClr val="FFFFFF"/>
                </a:solidFill>
                <a:latin typeface="Arial"/>
                <a:cs typeface="Arial"/>
              </a:rPr>
              <a:t>3</a:t>
            </a:r>
          </a:p>
        </p:txBody>
      </p:sp>
      <p:sp>
        <p:nvSpPr>
          <p:cNvPr id="108" name="Text"/>
          <p:cNvSpPr/>
          <p:nvPr/>
        </p:nvSpPr>
        <p:spPr>
          <a:xfrm>
            <a:off x="4038600" y="1284760"/>
            <a:ext cx="1828800" cy="731520"/>
          </a:xfrm>
          <a:prstGeom prst="rect">
            <a:avLst/>
          </a:prstGeom>
          <a:noFill/>
          <a:ln>
            <a:noFill/>
          </a:ln>
        </p:spPr>
        <p:txBody>
          <a:bodyPr wrap="square" lIns="54864" tIns="54864" rIns="54864" bIns="54864" rtlCol="0" anchor="b">
            <a:noAutofit/>
          </a:bodyPr>
          <a:lstStyle/>
          <a:p>
            <a:pPr marL="0" indent="0" algn="ctr">
              <a:lnSpc>
                <a:spcPct val="100000"/>
              </a:lnSpc>
              <a:buNone/>
            </a:pPr>
            <a:r>
              <a:rPr lang="en-US" sz="1500" b="1" dirty="0">
                <a:solidFill>
                  <a:srgbClr val="1A1A1A"/>
                </a:solidFill>
                <a:latin typeface="Arial"/>
                <a:cs typeface="Arial"/>
              </a:rPr>
              <a:t>Đăng ký</a:t>
            </a:r>
          </a:p>
        </p:txBody>
      </p:sp>
      <p:sp>
        <p:nvSpPr>
          <p:cNvPr id="109" name="Ellipse"/>
          <p:cNvSpPr/>
          <p:nvPr/>
        </p:nvSpPr>
        <p:spPr>
          <a:xfrm>
            <a:off x="6480048" y="2080288"/>
            <a:ext cx="603504" cy="603504"/>
          </a:xfrm>
          <a:prstGeom prst="ellipse">
            <a:avLst/>
          </a:prstGeom>
          <a:solidFill>
            <a:srgbClr val="0070C0"/>
          </a:solidFill>
          <a:ln w="31750">
            <a:solidFill>
              <a:srgbClr val="FFFFFF"/>
            </a:solidFill>
          </a:ln>
        </p:spPr>
        <p:txBody>
          <a:bodyPr wrap="square" lIns="54864" tIns="54864" rIns="54864" bIns="54864" rtlCol="0" anchor="ctr">
            <a:noAutofit/>
          </a:bodyPr>
          <a:lstStyle/>
          <a:p>
            <a:pPr marL="0" indent="0" algn="ctr">
              <a:lnSpc>
                <a:spcPct val="100000"/>
              </a:lnSpc>
              <a:buNone/>
            </a:pPr>
            <a:r>
              <a:rPr lang="en-US" sz="2000" b="1" dirty="0">
                <a:solidFill>
                  <a:srgbClr val="FFFFFF"/>
                </a:solidFill>
                <a:latin typeface="Arial"/>
                <a:cs typeface="Arial"/>
              </a:rPr>
              <a:t>4</a:t>
            </a:r>
          </a:p>
        </p:txBody>
      </p:sp>
      <p:sp>
        <p:nvSpPr>
          <p:cNvPr id="110" name="Text"/>
          <p:cNvSpPr/>
          <p:nvPr/>
        </p:nvSpPr>
        <p:spPr>
          <a:xfrm>
            <a:off x="5867400" y="1284760"/>
            <a:ext cx="1828800" cy="731520"/>
          </a:xfrm>
          <a:prstGeom prst="rect">
            <a:avLst/>
          </a:prstGeom>
          <a:noFill/>
          <a:ln>
            <a:noFill/>
          </a:ln>
        </p:spPr>
        <p:txBody>
          <a:bodyPr wrap="square" lIns="54864" tIns="54864" rIns="54864" bIns="54864" rtlCol="0" anchor="b">
            <a:noAutofit/>
          </a:bodyPr>
          <a:lstStyle/>
          <a:p>
            <a:pPr marL="0" indent="0" algn="ctr">
              <a:lnSpc>
                <a:spcPct val="100000"/>
              </a:lnSpc>
              <a:buNone/>
            </a:pPr>
            <a:r>
              <a:rPr lang="en-US" sz="1500" b="1" dirty="0">
                <a:solidFill>
                  <a:srgbClr val="1A1A1A"/>
                </a:solidFill>
                <a:latin typeface="Arial"/>
                <a:cs typeface="Arial"/>
              </a:rPr>
              <a:t>Phê duyệt đạo đức</a:t>
            </a:r>
          </a:p>
        </p:txBody>
      </p:sp>
      <p:sp>
        <p:nvSpPr>
          <p:cNvPr id="111" name="Ellipse"/>
          <p:cNvSpPr/>
          <p:nvPr/>
        </p:nvSpPr>
        <p:spPr>
          <a:xfrm>
            <a:off x="8308848" y="2080288"/>
            <a:ext cx="603504" cy="603504"/>
          </a:xfrm>
          <a:prstGeom prst="ellipse">
            <a:avLst/>
          </a:prstGeom>
          <a:solidFill>
            <a:srgbClr val="5FA39B"/>
          </a:solidFill>
          <a:ln w="31750">
            <a:solidFill>
              <a:srgbClr val="FFFFFF"/>
            </a:solidFill>
          </a:ln>
        </p:spPr>
        <p:txBody>
          <a:bodyPr wrap="square" lIns="54864" tIns="54864" rIns="54864" bIns="54864" rtlCol="0" anchor="ctr">
            <a:noAutofit/>
          </a:bodyPr>
          <a:lstStyle/>
          <a:p>
            <a:pPr marL="0" indent="0" algn="ctr">
              <a:lnSpc>
                <a:spcPct val="100000"/>
              </a:lnSpc>
              <a:buNone/>
            </a:pPr>
            <a:r>
              <a:rPr lang="en-US" sz="2000" b="1" dirty="0">
                <a:solidFill>
                  <a:srgbClr val="FFFFFF"/>
                </a:solidFill>
                <a:latin typeface="Arial"/>
                <a:cs typeface="Arial"/>
              </a:rPr>
              <a:t>5</a:t>
            </a:r>
          </a:p>
        </p:txBody>
      </p:sp>
      <p:sp>
        <p:nvSpPr>
          <p:cNvPr id="112" name="Text"/>
          <p:cNvSpPr/>
          <p:nvPr/>
        </p:nvSpPr>
        <p:spPr>
          <a:xfrm>
            <a:off x="7696200" y="1284760"/>
            <a:ext cx="1828800" cy="731520"/>
          </a:xfrm>
          <a:prstGeom prst="rect">
            <a:avLst/>
          </a:prstGeom>
          <a:noFill/>
          <a:ln>
            <a:noFill/>
          </a:ln>
        </p:spPr>
        <p:txBody>
          <a:bodyPr wrap="square" lIns="54864" tIns="54864" rIns="54864" bIns="54864" rtlCol="0" anchor="b">
            <a:noAutofit/>
          </a:bodyPr>
          <a:lstStyle/>
          <a:p>
            <a:pPr marL="0" indent="0" algn="ctr">
              <a:lnSpc>
                <a:spcPct val="100000"/>
              </a:lnSpc>
              <a:buNone/>
            </a:pPr>
            <a:r>
              <a:rPr lang="en-US" sz="1500" b="1" dirty="0">
                <a:solidFill>
                  <a:srgbClr val="1A1A1A"/>
                </a:solidFill>
                <a:latin typeface="Arial"/>
                <a:cs typeface="Arial"/>
              </a:rPr>
              <a:t>Thu thập dữ liệu</a:t>
            </a:r>
          </a:p>
        </p:txBody>
      </p:sp>
      <p:sp>
        <p:nvSpPr>
          <p:cNvPr id="113" name="Ellipse"/>
          <p:cNvSpPr/>
          <p:nvPr/>
        </p:nvSpPr>
        <p:spPr>
          <a:xfrm>
            <a:off x="10137648" y="2080288"/>
            <a:ext cx="603504" cy="603504"/>
          </a:xfrm>
          <a:prstGeom prst="ellipse">
            <a:avLst/>
          </a:prstGeom>
          <a:solidFill>
            <a:srgbClr val="5FA39B"/>
          </a:solidFill>
          <a:ln w="31750">
            <a:solidFill>
              <a:srgbClr val="FFFFFF"/>
            </a:solidFill>
          </a:ln>
        </p:spPr>
        <p:txBody>
          <a:bodyPr wrap="square" lIns="54864" tIns="54864" rIns="54864" bIns="54864" rtlCol="0" anchor="ctr">
            <a:noAutofit/>
          </a:bodyPr>
          <a:lstStyle/>
          <a:p>
            <a:pPr marL="0" indent="0" algn="ctr">
              <a:lnSpc>
                <a:spcPct val="100000"/>
              </a:lnSpc>
              <a:buNone/>
            </a:pPr>
            <a:r>
              <a:rPr lang="en-US" sz="2000" b="1" dirty="0">
                <a:solidFill>
                  <a:srgbClr val="FFFFFF"/>
                </a:solidFill>
                <a:latin typeface="Arial"/>
                <a:cs typeface="Arial"/>
              </a:rPr>
              <a:t>6</a:t>
            </a:r>
          </a:p>
        </p:txBody>
      </p:sp>
      <p:sp>
        <p:nvSpPr>
          <p:cNvPr id="114" name="Text"/>
          <p:cNvSpPr/>
          <p:nvPr/>
        </p:nvSpPr>
        <p:spPr>
          <a:xfrm>
            <a:off x="9525000" y="1284760"/>
            <a:ext cx="1828800" cy="731520"/>
          </a:xfrm>
          <a:prstGeom prst="rect">
            <a:avLst/>
          </a:prstGeom>
          <a:noFill/>
          <a:ln>
            <a:noFill/>
          </a:ln>
        </p:spPr>
        <p:txBody>
          <a:bodyPr wrap="square" lIns="54864" tIns="54864" rIns="54864" bIns="54864" rtlCol="0" anchor="b">
            <a:noAutofit/>
          </a:bodyPr>
          <a:lstStyle/>
          <a:p>
            <a:pPr marL="0" indent="0" algn="ctr">
              <a:lnSpc>
                <a:spcPct val="100000"/>
              </a:lnSpc>
              <a:buNone/>
            </a:pPr>
            <a:r>
              <a:rPr lang="en-US" sz="1500" b="1" dirty="0">
                <a:solidFill>
                  <a:srgbClr val="1A1A1A"/>
                </a:solidFill>
                <a:latin typeface="Arial"/>
                <a:cs typeface="Arial"/>
              </a:rPr>
              <a:t>Phân tích</a:t>
            </a:r>
          </a:p>
        </p:txBody>
      </p:sp>
      <p:sp>
        <p:nvSpPr>
          <p:cNvPr id="115" name="Ellipse"/>
          <p:cNvSpPr/>
          <p:nvPr/>
        </p:nvSpPr>
        <p:spPr>
          <a:xfrm>
            <a:off x="10137648" y="3909088"/>
            <a:ext cx="603504" cy="603504"/>
          </a:xfrm>
          <a:prstGeom prst="ellipse">
            <a:avLst/>
          </a:prstGeom>
          <a:solidFill>
            <a:srgbClr val="0070C0"/>
          </a:solidFill>
          <a:ln w="31750">
            <a:solidFill>
              <a:srgbClr val="FFFFFF"/>
            </a:solidFill>
          </a:ln>
        </p:spPr>
        <p:txBody>
          <a:bodyPr wrap="square" lIns="54864" tIns="54864" rIns="54864" bIns="54864" rtlCol="0" anchor="ctr">
            <a:noAutofit/>
          </a:bodyPr>
          <a:lstStyle/>
          <a:p>
            <a:pPr marL="0" indent="0" algn="ctr">
              <a:lnSpc>
                <a:spcPct val="100000"/>
              </a:lnSpc>
              <a:buNone/>
            </a:pPr>
            <a:r>
              <a:rPr lang="en-US" sz="2000" b="1" dirty="0">
                <a:solidFill>
                  <a:srgbClr val="FFFFFF"/>
                </a:solidFill>
                <a:latin typeface="Arial"/>
                <a:cs typeface="Arial"/>
              </a:rPr>
              <a:t>7</a:t>
            </a:r>
          </a:p>
        </p:txBody>
      </p:sp>
      <p:sp>
        <p:nvSpPr>
          <p:cNvPr id="116" name="Text"/>
          <p:cNvSpPr/>
          <p:nvPr/>
        </p:nvSpPr>
        <p:spPr>
          <a:xfrm>
            <a:off x="9433560" y="4594888"/>
            <a:ext cx="2011680" cy="731520"/>
          </a:xfrm>
          <a:prstGeom prst="rect">
            <a:avLst/>
          </a:prstGeom>
          <a:noFill/>
          <a:ln>
            <a:noFill/>
          </a:ln>
        </p:spPr>
        <p:txBody>
          <a:bodyPr wrap="square" lIns="54864" tIns="54864" rIns="54864" bIns="54864" rtlCol="0" anchor="t">
            <a:noAutofit/>
          </a:bodyPr>
          <a:lstStyle/>
          <a:p>
            <a:pPr marL="0" indent="0" algn="ctr">
              <a:lnSpc>
                <a:spcPct val="100000"/>
              </a:lnSpc>
              <a:buNone/>
            </a:pPr>
            <a:r>
              <a:rPr lang="en-US" sz="1500" b="1" dirty="0">
                <a:solidFill>
                  <a:srgbClr val="1A1A1A"/>
                </a:solidFill>
                <a:latin typeface="Arial"/>
                <a:cs typeface="Arial"/>
              </a:rPr>
              <a:t>Viết bài</a:t>
            </a:r>
          </a:p>
        </p:txBody>
      </p:sp>
      <p:sp>
        <p:nvSpPr>
          <p:cNvPr id="117" name="Ellipse"/>
          <p:cNvSpPr/>
          <p:nvPr/>
        </p:nvSpPr>
        <p:spPr>
          <a:xfrm>
            <a:off x="8080248" y="3909088"/>
            <a:ext cx="603504" cy="603504"/>
          </a:xfrm>
          <a:prstGeom prst="ellipse">
            <a:avLst/>
          </a:prstGeom>
          <a:solidFill>
            <a:srgbClr val="0070C0"/>
          </a:solidFill>
          <a:ln w="31750">
            <a:solidFill>
              <a:srgbClr val="FFFFFF"/>
            </a:solidFill>
          </a:ln>
        </p:spPr>
        <p:txBody>
          <a:bodyPr wrap="square" lIns="54864" tIns="54864" rIns="54864" bIns="54864" rtlCol="0" anchor="ctr">
            <a:noAutofit/>
          </a:bodyPr>
          <a:lstStyle/>
          <a:p>
            <a:pPr marL="0" indent="0" algn="ctr">
              <a:lnSpc>
                <a:spcPct val="100000"/>
              </a:lnSpc>
              <a:buNone/>
            </a:pPr>
            <a:r>
              <a:rPr lang="en-US" sz="2000" b="1" dirty="0">
                <a:solidFill>
                  <a:srgbClr val="FFFFFF"/>
                </a:solidFill>
                <a:latin typeface="Arial"/>
                <a:cs typeface="Arial"/>
              </a:rPr>
              <a:t>8</a:t>
            </a:r>
          </a:p>
        </p:txBody>
      </p:sp>
      <p:sp>
        <p:nvSpPr>
          <p:cNvPr id="118" name="Text"/>
          <p:cNvSpPr/>
          <p:nvPr/>
        </p:nvSpPr>
        <p:spPr>
          <a:xfrm>
            <a:off x="7376160" y="4594888"/>
            <a:ext cx="2011680" cy="731520"/>
          </a:xfrm>
          <a:prstGeom prst="rect">
            <a:avLst/>
          </a:prstGeom>
          <a:noFill/>
          <a:ln>
            <a:noFill/>
          </a:ln>
        </p:spPr>
        <p:txBody>
          <a:bodyPr wrap="square" lIns="54864" tIns="54864" rIns="54864" bIns="54864" rtlCol="0" anchor="t">
            <a:noAutofit/>
          </a:bodyPr>
          <a:lstStyle/>
          <a:p>
            <a:pPr marL="0" indent="0" algn="ctr">
              <a:lnSpc>
                <a:spcPct val="100000"/>
              </a:lnSpc>
              <a:buNone/>
            </a:pPr>
            <a:r>
              <a:rPr lang="en-US" sz="1500" b="1" dirty="0">
                <a:solidFill>
                  <a:srgbClr val="1A1A1A"/>
                </a:solidFill>
                <a:latin typeface="Arial"/>
                <a:cs typeface="Arial"/>
              </a:rPr>
              <a:t>Nộp bài</a:t>
            </a:r>
          </a:p>
        </p:txBody>
      </p:sp>
      <p:sp>
        <p:nvSpPr>
          <p:cNvPr id="119" name="Ellipse"/>
          <p:cNvSpPr/>
          <p:nvPr/>
        </p:nvSpPr>
        <p:spPr>
          <a:xfrm>
            <a:off x="6022848" y="3909088"/>
            <a:ext cx="603504" cy="603504"/>
          </a:xfrm>
          <a:prstGeom prst="ellipse">
            <a:avLst/>
          </a:prstGeom>
          <a:solidFill>
            <a:srgbClr val="0070C0"/>
          </a:solidFill>
          <a:ln w="31750">
            <a:solidFill>
              <a:srgbClr val="FFFFFF"/>
            </a:solidFill>
          </a:ln>
        </p:spPr>
        <p:txBody>
          <a:bodyPr wrap="square" lIns="54864" tIns="54864" rIns="54864" bIns="54864" rtlCol="0" anchor="ctr">
            <a:noAutofit/>
          </a:bodyPr>
          <a:lstStyle/>
          <a:p>
            <a:pPr marL="0" indent="0" algn="ctr">
              <a:lnSpc>
                <a:spcPct val="100000"/>
              </a:lnSpc>
              <a:buNone/>
            </a:pPr>
            <a:r>
              <a:rPr lang="en-US" sz="2000" b="1" dirty="0">
                <a:solidFill>
                  <a:srgbClr val="FFFFFF"/>
                </a:solidFill>
                <a:latin typeface="Arial"/>
                <a:cs typeface="Arial"/>
              </a:rPr>
              <a:t>9</a:t>
            </a:r>
          </a:p>
        </p:txBody>
      </p:sp>
      <p:sp>
        <p:nvSpPr>
          <p:cNvPr id="120" name="Text"/>
          <p:cNvSpPr/>
          <p:nvPr/>
        </p:nvSpPr>
        <p:spPr>
          <a:xfrm>
            <a:off x="5318760" y="4594888"/>
            <a:ext cx="2011680" cy="731520"/>
          </a:xfrm>
          <a:prstGeom prst="rect">
            <a:avLst/>
          </a:prstGeom>
          <a:noFill/>
          <a:ln>
            <a:noFill/>
          </a:ln>
        </p:spPr>
        <p:txBody>
          <a:bodyPr wrap="square" lIns="54864" tIns="54864" rIns="54864" bIns="54864" rtlCol="0" anchor="t">
            <a:noAutofit/>
          </a:bodyPr>
          <a:lstStyle/>
          <a:p>
            <a:pPr marL="0" indent="0" algn="ctr">
              <a:lnSpc>
                <a:spcPct val="100000"/>
              </a:lnSpc>
              <a:buNone/>
            </a:pPr>
            <a:r>
              <a:rPr lang="en-US" sz="1500" b="1" dirty="0">
                <a:solidFill>
                  <a:srgbClr val="1A1A1A"/>
                </a:solidFill>
                <a:latin typeface="Arial"/>
                <a:cs typeface="Arial"/>
              </a:rPr>
              <a:t>Bình duyệt</a:t>
            </a:r>
          </a:p>
        </p:txBody>
      </p:sp>
      <p:sp>
        <p:nvSpPr>
          <p:cNvPr id="121" name="Ellipse"/>
          <p:cNvSpPr/>
          <p:nvPr/>
        </p:nvSpPr>
        <p:spPr>
          <a:xfrm>
            <a:off x="3965448" y="3909088"/>
            <a:ext cx="603504" cy="603504"/>
          </a:xfrm>
          <a:prstGeom prst="ellipse">
            <a:avLst/>
          </a:prstGeom>
          <a:solidFill>
            <a:srgbClr val="0070C0"/>
          </a:solidFill>
          <a:ln w="31750">
            <a:solidFill>
              <a:srgbClr val="FFFFFF"/>
            </a:solidFill>
          </a:ln>
        </p:spPr>
        <p:txBody>
          <a:bodyPr wrap="square" lIns="54864" tIns="54864" rIns="54864" bIns="54864" rtlCol="0" anchor="ctr">
            <a:noAutofit/>
          </a:bodyPr>
          <a:lstStyle/>
          <a:p>
            <a:pPr marL="0" indent="0" algn="ctr">
              <a:lnSpc>
                <a:spcPct val="100000"/>
              </a:lnSpc>
              <a:buNone/>
            </a:pPr>
            <a:r>
              <a:rPr lang="en-US" sz="2000" b="1" dirty="0">
                <a:solidFill>
                  <a:srgbClr val="FFFFFF"/>
                </a:solidFill>
                <a:latin typeface="Arial"/>
                <a:cs typeface="Arial"/>
              </a:rPr>
              <a:t>10</a:t>
            </a:r>
          </a:p>
        </p:txBody>
      </p:sp>
      <p:sp>
        <p:nvSpPr>
          <p:cNvPr id="122" name="Text"/>
          <p:cNvSpPr/>
          <p:nvPr/>
        </p:nvSpPr>
        <p:spPr>
          <a:xfrm>
            <a:off x="3261360" y="4594888"/>
            <a:ext cx="2011680" cy="731520"/>
          </a:xfrm>
          <a:prstGeom prst="rect">
            <a:avLst/>
          </a:prstGeom>
          <a:noFill/>
          <a:ln>
            <a:noFill/>
          </a:ln>
        </p:spPr>
        <p:txBody>
          <a:bodyPr wrap="square" lIns="54864" tIns="54864" rIns="54864" bIns="54864" rtlCol="0" anchor="t">
            <a:noAutofit/>
          </a:bodyPr>
          <a:lstStyle/>
          <a:p>
            <a:pPr marL="0" indent="0" algn="ctr">
              <a:lnSpc>
                <a:spcPct val="100000"/>
              </a:lnSpc>
              <a:buNone/>
            </a:pPr>
            <a:r>
              <a:rPr lang="en-US" sz="1500" b="1" dirty="0">
                <a:solidFill>
                  <a:srgbClr val="1A1A1A"/>
                </a:solidFill>
                <a:latin typeface="Arial"/>
                <a:cs typeface="Arial"/>
              </a:rPr>
              <a:t>Công bố</a:t>
            </a:r>
          </a:p>
        </p:txBody>
      </p:sp>
      <p:sp>
        <p:nvSpPr>
          <p:cNvPr id="123" name="Ellipse"/>
          <p:cNvSpPr/>
          <p:nvPr/>
        </p:nvSpPr>
        <p:spPr>
          <a:xfrm>
            <a:off x="1908048" y="3909088"/>
            <a:ext cx="603504" cy="603504"/>
          </a:xfrm>
          <a:prstGeom prst="ellipse">
            <a:avLst/>
          </a:prstGeom>
          <a:solidFill>
            <a:srgbClr val="055F56"/>
          </a:solidFill>
          <a:ln w="31750">
            <a:solidFill>
              <a:srgbClr val="FFFFFF"/>
            </a:solidFill>
          </a:ln>
        </p:spPr>
        <p:txBody>
          <a:bodyPr wrap="square" lIns="54864" tIns="54864" rIns="54864" bIns="54864" rtlCol="0" anchor="ctr">
            <a:noAutofit/>
          </a:bodyPr>
          <a:lstStyle/>
          <a:p>
            <a:pPr marL="0" indent="0" algn="ctr">
              <a:lnSpc>
                <a:spcPct val="100000"/>
              </a:lnSpc>
              <a:buNone/>
            </a:pPr>
            <a:r>
              <a:rPr lang="en-US" sz="2000" b="1" dirty="0">
                <a:solidFill>
                  <a:srgbClr val="FFFFFF"/>
                </a:solidFill>
                <a:latin typeface="Arial"/>
                <a:cs typeface="Arial"/>
              </a:rPr>
              <a:t>11</a:t>
            </a:r>
          </a:p>
        </p:txBody>
      </p:sp>
      <p:sp>
        <p:nvSpPr>
          <p:cNvPr id="124" name="Text"/>
          <p:cNvSpPr/>
          <p:nvPr/>
        </p:nvSpPr>
        <p:spPr>
          <a:xfrm>
            <a:off x="1203960" y="4594888"/>
            <a:ext cx="2011680" cy="731520"/>
          </a:xfrm>
          <a:prstGeom prst="rect">
            <a:avLst/>
          </a:prstGeom>
          <a:noFill/>
          <a:ln>
            <a:noFill/>
          </a:ln>
        </p:spPr>
        <p:txBody>
          <a:bodyPr wrap="square" lIns="54864" tIns="54864" rIns="54864" bIns="54864" rtlCol="0" anchor="t">
            <a:noAutofit/>
          </a:bodyPr>
          <a:lstStyle/>
          <a:p>
            <a:pPr marL="0" indent="0" algn="ctr">
              <a:lnSpc>
                <a:spcPct val="100000"/>
              </a:lnSpc>
              <a:buNone/>
            </a:pPr>
            <a:r>
              <a:rPr lang="en-US" sz="1500" b="1" dirty="0">
                <a:solidFill>
                  <a:srgbClr val="1A1A1A"/>
                </a:solidFill>
                <a:latin typeface="Arial"/>
                <a:cs typeface="Arial"/>
              </a:rPr>
              <a:t>Tác động tới người bệnh</a:t>
            </a:r>
          </a:p>
        </p:txBody>
      </p:sp>
      <p:sp>
        <p:nvSpPr>
          <p:cNvPr id="125" name="Box"/>
          <p:cNvSpPr/>
          <p:nvPr/>
        </p:nvSpPr>
        <p:spPr>
          <a:xfrm>
            <a:off x="1158240" y="3122704"/>
            <a:ext cx="2103120" cy="347472"/>
          </a:xfrm>
          <a:prstGeom prst="roundRect">
            <a:avLst>
              <a:gd name="adj" fmla="val 50000"/>
            </a:avLst>
          </a:prstGeom>
          <a:solidFill>
            <a:srgbClr val="0D7377"/>
          </a:solidFill>
          <a:ln>
            <a:noFill/>
          </a:ln>
        </p:spPr>
        <p:txBody>
          <a:bodyPr wrap="square" lIns="18288" tIns="18288" rIns="18288" bIns="18288" rtlCol="0" anchor="ctr">
            <a:noAutofit/>
          </a:bodyPr>
          <a:lstStyle/>
          <a:p>
            <a:pPr marL="0" indent="0" algn="ctr">
              <a:lnSpc>
                <a:spcPct val="100000"/>
              </a:lnSpc>
              <a:buNone/>
            </a:pPr>
            <a:r>
              <a:rPr lang="en-US" sz="1300" b="1" dirty="0">
                <a:solidFill>
                  <a:srgbClr val="FFFFFF"/>
                </a:solidFill>
                <a:latin typeface="Arial"/>
                <a:cs typeface="Arial"/>
              </a:rPr>
              <a:t>Tuần 1-2  Hỏi và tìm</a:t>
            </a:r>
          </a:p>
        </p:txBody>
      </p:sp>
      <p:sp>
        <p:nvSpPr>
          <p:cNvPr id="126" name="Box"/>
          <p:cNvSpPr/>
          <p:nvPr/>
        </p:nvSpPr>
        <p:spPr>
          <a:xfrm>
            <a:off x="3352800" y="3122704"/>
            <a:ext cx="2103120" cy="347472"/>
          </a:xfrm>
          <a:prstGeom prst="roundRect">
            <a:avLst>
              <a:gd name="adj" fmla="val 50000"/>
            </a:avLst>
          </a:prstGeom>
          <a:solidFill>
            <a:srgbClr val="0B376C"/>
          </a:solidFill>
          <a:ln>
            <a:noFill/>
          </a:ln>
        </p:spPr>
        <p:txBody>
          <a:bodyPr wrap="square" lIns="18288" tIns="18288" rIns="18288" bIns="18288" rtlCol="0" anchor="ctr">
            <a:noAutofit/>
          </a:bodyPr>
          <a:lstStyle/>
          <a:p>
            <a:pPr marL="0" indent="0" algn="ctr">
              <a:lnSpc>
                <a:spcPct val="100000"/>
              </a:lnSpc>
              <a:buNone/>
            </a:pPr>
            <a:r>
              <a:rPr lang="en-US" sz="1300" b="1" dirty="0">
                <a:solidFill>
                  <a:srgbClr val="FFFFFF"/>
                </a:solidFill>
                <a:latin typeface="Arial"/>
                <a:cs typeface="Arial"/>
              </a:rPr>
              <a:t>Tuần 3-4  Thiết kế</a:t>
            </a:r>
          </a:p>
        </p:txBody>
      </p:sp>
      <p:sp>
        <p:nvSpPr>
          <p:cNvPr id="127" name="Box"/>
          <p:cNvSpPr/>
          <p:nvPr/>
        </p:nvSpPr>
        <p:spPr>
          <a:xfrm>
            <a:off x="5547360" y="3122704"/>
            <a:ext cx="2103120" cy="347472"/>
          </a:xfrm>
          <a:prstGeom prst="roundRect">
            <a:avLst>
              <a:gd name="adj" fmla="val 50000"/>
            </a:avLst>
          </a:prstGeom>
          <a:solidFill>
            <a:srgbClr val="5FA39B"/>
          </a:solidFill>
          <a:ln>
            <a:noFill/>
          </a:ln>
        </p:spPr>
        <p:txBody>
          <a:bodyPr wrap="square" lIns="18288" tIns="18288" rIns="18288" bIns="18288" rtlCol="0" anchor="ctr">
            <a:noAutofit/>
          </a:bodyPr>
          <a:lstStyle/>
          <a:p>
            <a:pPr marL="0" indent="0" algn="ctr">
              <a:lnSpc>
                <a:spcPct val="100000"/>
              </a:lnSpc>
              <a:buNone/>
            </a:pPr>
            <a:r>
              <a:rPr lang="en-US" sz="1300" b="1" dirty="0">
                <a:solidFill>
                  <a:srgbClr val="FFFFFF"/>
                </a:solidFill>
                <a:latin typeface="Arial"/>
                <a:cs typeface="Arial"/>
              </a:rPr>
              <a:t>Tuần 5-6  Đo lường</a:t>
            </a:r>
          </a:p>
        </p:txBody>
      </p:sp>
      <p:sp>
        <p:nvSpPr>
          <p:cNvPr id="128" name="Box"/>
          <p:cNvSpPr/>
          <p:nvPr/>
        </p:nvSpPr>
        <p:spPr>
          <a:xfrm>
            <a:off x="7741920" y="3122704"/>
            <a:ext cx="2103120" cy="347472"/>
          </a:xfrm>
          <a:prstGeom prst="roundRect">
            <a:avLst>
              <a:gd name="adj" fmla="val 50000"/>
            </a:avLst>
          </a:prstGeom>
          <a:solidFill>
            <a:srgbClr val="0070C0"/>
          </a:solidFill>
          <a:ln>
            <a:noFill/>
          </a:ln>
        </p:spPr>
        <p:txBody>
          <a:bodyPr wrap="square" lIns="18288" tIns="18288" rIns="18288" bIns="18288" rtlCol="0" anchor="ctr">
            <a:noAutofit/>
          </a:bodyPr>
          <a:lstStyle/>
          <a:p>
            <a:pPr marL="0" indent="0" algn="ctr">
              <a:lnSpc>
                <a:spcPct val="100000"/>
              </a:lnSpc>
              <a:buNone/>
            </a:pPr>
            <a:r>
              <a:rPr lang="en-US" sz="1300" b="1" dirty="0">
                <a:solidFill>
                  <a:srgbClr val="FFFFFF"/>
                </a:solidFill>
                <a:latin typeface="Arial"/>
                <a:cs typeface="Arial"/>
              </a:rPr>
              <a:t>Tuần 7-8  Công bố</a:t>
            </a:r>
          </a:p>
        </p:txBody>
      </p:sp>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ctr">
              <a:buNone/>
            </a:pPr>
            <a:r>
              <a:rPr lang="en-US" sz="1300" b="1" dirty="0">
                <a:solidFill>
                  <a:srgbClr val="FFFFFF"/>
                </a:solidFill>
                <a:latin typeface="Arial"/>
                <a:cs typeface="Arial"/>
              </a:rPr>
              <a:t>THÔNG ĐIỆP CHÍNH   </a:t>
            </a:r>
            <a:r>
              <a:rPr lang="en-US" sz="1550" dirty="0">
                <a:solidFill>
                  <a:srgbClr val="FFFFFF"/>
                </a:solidFill>
                <a:latin typeface="Arial"/>
                <a:cs typeface="Arial"/>
              </a:rPr>
              <a:t>Khóa học đi hết con đường. Đề cương của bạn gồm trạm 1 đến 6.</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30" name="BreakCup"/>
          <p:cNvSpPr/>
          <p:nvPr/>
        </p:nvSpPr>
        <p:spPr>
          <a:xfrm>
            <a:off x="4976000" y="3180000"/>
            <a:ext cx="2408000" cy="308000"/>
          </a:xfrm>
          <a:prstGeom prst="ellipse">
            <a:avLst/>
          </a:prstGeom>
          <a:solidFill>
            <a:srgbClr val="D5DDE1"/>
          </a:solidFill>
          <a:ln>
            <a:noFill/>
          </a:ln>
        </p:spPr>
      </p:sp>
      <p:sp>
        <p:nvSpPr>
          <p:cNvPr id="31" name="BreakCup"/>
          <p:cNvSpPr/>
          <p:nvPr/>
        </p:nvSpPr>
        <p:spPr>
          <a:xfrm>
            <a:off x="4780000" y="800000"/>
            <a:ext cx="2800000" cy="2800000"/>
          </a:xfrm>
          <a:custGeom>
            <a:avLst/>
            <a:gdLst/>
            <a:ahLst/>
            <a:cxnLst/>
            <a:rect l="0" t="0" r="r" b="b"/>
            <a:pathLst>
              <a:path w="1000" h="1000" fill="none">
                <a:moveTo>
                  <a:pt x="735" y="500"/>
                </a:moveTo>
                <a:cubicBezTo>
                  <a:pt x="930" y="450"/>
                  <a:pt x="940" y="740"/>
                  <a:pt x="700" y="760"/>
                </a:cubicBezTo>
              </a:path>
            </a:pathLst>
          </a:custGeom>
          <a:noFill/>
          <a:ln w="168000" cap="rnd">
            <a:solidFill>
              <a:srgbClr val="0D7377"/>
            </a:solidFill>
            <a:round/>
          </a:ln>
        </p:spPr>
      </p:sp>
      <p:sp>
        <p:nvSpPr>
          <p:cNvPr id="32" name="BreakCup"/>
          <p:cNvSpPr/>
          <p:nvPr/>
        </p:nvSpPr>
        <p:spPr>
          <a:xfrm>
            <a:off x="4780000" y="800000"/>
            <a:ext cx="2800000" cy="2800000"/>
          </a:xfrm>
          <a:custGeom>
            <a:avLst/>
            <a:gdLst/>
            <a:ahLst/>
            <a:cxnLst/>
            <a:rect l="0" t="0" r="r" b="b"/>
            <a:pathLst>
              <a:path w="1000" h="1000">
                <a:moveTo>
                  <a:pt x="170" y="420"/>
                </a:moveTo>
                <a:lnTo>
                  <a:pt x="790" y="420"/>
                </a:lnTo>
                <a:cubicBezTo>
                  <a:pt x="790" y="700"/>
                  <a:pt x="690" y="885"/>
                  <a:pt x="480" y="885"/>
                </a:cubicBezTo>
                <a:cubicBezTo>
                  <a:pt x="270" y="885"/>
                  <a:pt x="170" y="700"/>
                  <a:pt x="170" y="420"/>
                </a:cubicBezTo>
                <a:close/>
              </a:path>
            </a:pathLst>
          </a:custGeom>
          <a:solidFill>
            <a:srgbClr val="0D7377"/>
          </a:solidFill>
          <a:ln>
            <a:noFill/>
          </a:ln>
        </p:spPr>
      </p:sp>
      <p:sp>
        <p:nvSpPr>
          <p:cNvPr id="33" name="BreakCup"/>
          <p:cNvSpPr/>
          <p:nvPr/>
        </p:nvSpPr>
        <p:spPr>
          <a:xfrm>
            <a:off x="5256000" y="1864000"/>
            <a:ext cx="1736000" cy="224000"/>
          </a:xfrm>
          <a:prstGeom prst="ellipse">
            <a:avLst/>
          </a:prstGeom>
          <a:solidFill>
            <a:srgbClr val="5FA39B"/>
          </a:solidFill>
          <a:ln>
            <a:noFill/>
          </a:ln>
        </p:spPr>
      </p:sp>
      <p:sp>
        <p:nvSpPr>
          <p:cNvPr id="34" name="BreakCup"/>
          <p:cNvSpPr/>
          <p:nvPr/>
        </p:nvSpPr>
        <p:spPr>
          <a:xfrm>
            <a:off x="5354000" y="1900400"/>
            <a:ext cx="1540000" cy="151200"/>
          </a:xfrm>
          <a:prstGeom prst="ellipse">
            <a:avLst/>
          </a:prstGeom>
          <a:solidFill>
            <a:srgbClr val="5B4032"/>
          </a:solidFill>
          <a:ln>
            <a:noFill/>
          </a:ln>
        </p:spPr>
      </p:sp>
      <p:sp>
        <p:nvSpPr>
          <p:cNvPr id="35" name="BreakCup"/>
          <p:cNvSpPr/>
          <p:nvPr/>
        </p:nvSpPr>
        <p:spPr>
          <a:xfrm>
            <a:off x="4780000" y="800000"/>
            <a:ext cx="2800000" cy="2800000"/>
          </a:xfrm>
          <a:custGeom>
            <a:avLst/>
            <a:gdLst/>
            <a:ahLst/>
            <a:cxnLst/>
            <a:rect l="0" t="0" r="r" b="b"/>
            <a:pathLst>
              <a:path w="1000" h="1000" fill="none">
                <a:moveTo>
                  <a:pt x="370" y="330"/>
                </a:moveTo>
                <a:cubicBezTo>
                  <a:pt x="325" y="280"/>
                  <a:pt x="415" y="230"/>
                  <a:pt x="370" y="180"/>
                </a:cubicBezTo>
                <a:cubicBezTo>
                  <a:pt x="325" y="130"/>
                  <a:pt x="405" y="90"/>
                  <a:pt x="370" y="50"/>
                </a:cubicBezTo>
              </a:path>
            </a:pathLst>
          </a:custGeom>
          <a:noFill/>
          <a:ln w="61600" cap="rnd">
            <a:solidFill>
              <a:srgbClr val="8A99A3"/>
            </a:solidFill>
            <a:round/>
          </a:ln>
        </p:spPr>
      </p:sp>
      <p:sp>
        <p:nvSpPr>
          <p:cNvPr id="36" name="BreakCup"/>
          <p:cNvSpPr/>
          <p:nvPr/>
        </p:nvSpPr>
        <p:spPr>
          <a:xfrm>
            <a:off x="4780000" y="800000"/>
            <a:ext cx="2800000" cy="2800000"/>
          </a:xfrm>
          <a:custGeom>
            <a:avLst/>
            <a:gdLst/>
            <a:ahLst/>
            <a:cxnLst/>
            <a:rect l="0" t="0" r="r" b="b"/>
            <a:pathLst>
              <a:path w="1000" h="1000" fill="none">
                <a:moveTo>
                  <a:pt x="480" y="330"/>
                </a:moveTo>
                <a:cubicBezTo>
                  <a:pt x="435" y="280"/>
                  <a:pt x="525" y="230"/>
                  <a:pt x="480" y="180"/>
                </a:cubicBezTo>
                <a:cubicBezTo>
                  <a:pt x="435" y="130"/>
                  <a:pt x="515" y="90"/>
                  <a:pt x="480" y="50"/>
                </a:cubicBezTo>
              </a:path>
            </a:pathLst>
          </a:custGeom>
          <a:noFill/>
          <a:ln w="61600" cap="rnd">
            <a:solidFill>
              <a:srgbClr val="8A99A3"/>
            </a:solidFill>
            <a:round/>
          </a:ln>
        </p:spPr>
      </p:sp>
      <p:sp>
        <p:nvSpPr>
          <p:cNvPr id="37" name="BreakCup"/>
          <p:cNvSpPr/>
          <p:nvPr/>
        </p:nvSpPr>
        <p:spPr>
          <a:xfrm>
            <a:off x="4780000" y="800000"/>
            <a:ext cx="2800000" cy="2800000"/>
          </a:xfrm>
          <a:custGeom>
            <a:avLst/>
            <a:gdLst/>
            <a:ahLst/>
            <a:cxnLst/>
            <a:rect l="0" t="0" r="r" b="b"/>
            <a:pathLst>
              <a:path w="1000" h="1000" fill="none">
                <a:moveTo>
                  <a:pt x="590" y="330"/>
                </a:moveTo>
                <a:cubicBezTo>
                  <a:pt x="545" y="280"/>
                  <a:pt x="635" y="230"/>
                  <a:pt x="590" y="180"/>
                </a:cubicBezTo>
                <a:cubicBezTo>
                  <a:pt x="545" y="130"/>
                  <a:pt x="625" y="90"/>
                  <a:pt x="590" y="50"/>
                </a:cubicBezTo>
              </a:path>
            </a:pathLst>
          </a:custGeom>
          <a:noFill/>
          <a:ln w="61600" cap="rnd">
            <a:solidFill>
              <a:srgbClr val="8A99A3"/>
            </a:solidFill>
            <a:round/>
          </a:ln>
        </p:spPr>
      </p:sp>
      <p:sp>
        <p:nvSpPr>
          <p:cNvPr id="45" name="BreakLabel"/>
          <p:cNvSpPr txBox="1"/>
          <p:nvPr/>
        </p:nvSpPr>
        <p:spPr>
          <a:xfrm>
            <a:off x="457200" y="3720000"/>
            <a:ext cx="11277600" cy="1250000"/>
          </a:xfrm>
          <a:prstGeom prst="rect">
            <a:avLst/>
          </a:prstGeom>
          <a:noFill/>
          <a:ln>
            <a:noFill/>
          </a:ln>
        </p:spPr>
        <p:txBody>
          <a:bodyPr wrap="square" lIns="91440" tIns="45720" rIns="91440" bIns="45720" rtlCol="0" anchor="t"/>
          <a:lstStyle/>
          <a:p>
            <a:pPr marL="0" indent="0" algn="ctr">
              <a:buNone/>
            </a:pPr>
            <a:r>
              <a:rPr lang="en-US" sz="4400" b="1" dirty="0">
                <a:solidFill>
                  <a:srgbClr val="0D7377"/>
                </a:solidFill>
                <a:latin typeface="Arial"/>
                <a:cs typeface="Arial"/>
              </a:rPr>
              <a:t>Giải lao</a:t>
            </a:r>
          </a:p>
          <a:p>
            <a:pPr marL="0" indent="0" algn="ctr">
              <a:spcBef>
                <a:spcPts val="600"/>
              </a:spcBef>
              <a:buNone/>
            </a:pPr>
            <a:r>
              <a:rPr lang="en-US" sz="2400" dirty="0">
                <a:solidFill>
                  <a:srgbClr val="595959"/>
                </a:solidFill>
                <a:latin typeface="Arial"/>
                <a:cs typeface="Arial"/>
              </a:rPr>
              <a:t>15 phút</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1.2  Từ vấn đề đến câu hỏi</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20" name="Statement"/>
          <p:cNvSpPr txBox="1"/>
          <p:nvPr/>
        </p:nvSpPr>
        <p:spPr>
          <a:xfrm>
            <a:off x="1057200" y="1280000"/>
            <a:ext cx="10077600" cy="4470000"/>
          </a:xfrm>
          <a:prstGeom prst="rect">
            <a:avLst/>
          </a:prstGeom>
          <a:noFill/>
          <a:ln>
            <a:noFill/>
          </a:ln>
        </p:spPr>
        <p:txBody>
          <a:bodyPr wrap="square" lIns="91440" tIns="45720" rIns="91440" bIns="45720" rtlCol="0" anchor="ctr"/>
          <a:lstStyle/>
          <a:p>
            <a:pPr marL="0" indent="0" algn="ctr">
              <a:lnSpc>
                <a:spcPct val="110000"/>
              </a:lnSpc>
              <a:buNone/>
            </a:pPr>
            <a:r>
              <a:rPr lang="en-US" sz="3200" b="1" dirty="0">
                <a:solidFill>
                  <a:srgbClr val="0D7377"/>
                </a:solidFill>
                <a:latin typeface="Arial"/>
                <a:cs typeface="Arial"/>
              </a:rPr>
              <a:t>Đặt đúng câu hỏi là đã đi được nửa đường.</a:t>
            </a:r>
          </a:p>
          <a:p>
            <a:pPr marL="0" indent="0" algn="ctr">
              <a:spcBef>
                <a:spcPts val="1200"/>
              </a:spcBef>
              <a:buNone/>
            </a:pPr>
            <a:r>
              <a:rPr lang="en-US" sz="1900" i="1" dirty="0">
                <a:solidFill>
                  <a:srgbClr val="595959"/>
                </a:solidFill>
                <a:latin typeface="Arial"/>
                <a:cs typeface="Arial"/>
              </a:rPr>
              <a:t>40 phút: PICO(T) và PECO, loại câu hỏi, FINER, rồi một bài tập cả lớp</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Câu hỏi nghiên cứu đến từ đâu?</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19" name="Intro"/>
          <p:cNvSpPr txBox="1"/>
          <p:nvPr/>
        </p:nvSpPr>
        <p:spPr>
          <a:xfrm>
            <a:off x="457200" y="1100000"/>
            <a:ext cx="11277600" cy="480000"/>
          </a:xfrm>
          <a:prstGeom prst="rect">
            <a:avLst/>
          </a:prstGeom>
          <a:noFill/>
          <a:ln>
            <a:noFill/>
          </a:ln>
        </p:spPr>
        <p:txBody>
          <a:bodyPr wrap="square" lIns="91440" tIns="45720" rIns="91440" bIns="45720" rtlCol="0" anchor="t"/>
          <a:lstStyle/>
          <a:p>
            <a:pPr marL="0" indent="0" algn="l">
              <a:buNone/>
            </a:pPr>
            <a:r>
              <a:rPr lang="en-US" sz="1700" i="1" dirty="0">
                <a:solidFill>
                  <a:srgbClr val="595959"/>
                </a:solidFill>
                <a:latin typeface="Arial"/>
                <a:cs typeface="Arial"/>
              </a:rPr>
              <a:t>Trước hết hãy kiểm tra: đã có câu trả lời chưa? Tìm y văn sẽ cho biết (Buổi 2).</a:t>
            </a:r>
          </a:p>
        </p:txBody>
      </p:sp>
      <p:sp>
        <p:nvSpPr>
          <p:cNvPr id="70" name="CardHead"/>
          <p:cNvSpPr/>
          <p:nvPr/>
        </p:nvSpPr>
        <p:spPr>
          <a:xfrm>
            <a:off x="457200" y="1764023"/>
            <a:ext cx="5438800" cy="640000"/>
          </a:xfrm>
          <a:prstGeom prst="rect">
            <a:avLst/>
          </a:prstGeom>
          <a:solidFill>
            <a:srgbClr val="0D7377"/>
          </a:solidFill>
          <a:ln>
            <a:noFill/>
          </a:ln>
        </p:spPr>
        <p:txBody>
          <a:bodyPr wrap="square" lIns="91440" tIns="45720" rIns="91440" bIns="45720" rtlCol="0" anchor="ctr">
            <a:normAutofit/>
          </a:bodyPr>
          <a:lstStyle/>
          <a:p>
            <a:pPr marL="0" indent="0" algn="ctr">
              <a:buNone/>
            </a:pPr>
            <a:r>
              <a:rPr lang="en-US" sz="1900" b="1" dirty="0">
                <a:solidFill>
                  <a:srgbClr val="FFFFFF"/>
                </a:solidFill>
                <a:latin typeface="Arial"/>
                <a:cs typeface="Arial"/>
              </a:rPr>
              <a:t>Câu hỏi đến từ đâu</a:t>
            </a:r>
          </a:p>
        </p:txBody>
      </p:sp>
      <p:sp>
        <p:nvSpPr>
          <p:cNvPr id="71" name="CardBody"/>
          <p:cNvSpPr/>
          <p:nvPr/>
        </p:nvSpPr>
        <p:spPr>
          <a:xfrm>
            <a:off x="457200" y="2404023"/>
            <a:ext cx="5438800" cy="2637930"/>
          </a:xfrm>
          <a:prstGeom prst="rect">
            <a:avLst/>
          </a:prstGeom>
          <a:solidFill>
            <a:srgbClr val="EAF2F5"/>
          </a:solidFill>
          <a:ln>
            <a:noFill/>
          </a:ln>
        </p:spPr>
        <p:txBody>
          <a:bodyPr wrap="square" lIns="137160" tIns="91440" rIns="137160" bIns="91440" rtlCol="0" anchor="ctr">
            <a:normAutofit/>
          </a:bodyPr>
          <a:lstStyle/>
          <a:p>
            <a:pPr marL="274320" indent="-274320" algn="l">
              <a:lnSpc>
                <a:spcPct val="104000"/>
              </a:lnSpc>
              <a:spcBef>
                <a:spcPts val="400"/>
              </a:spcBef>
              <a:buFont typeface="Arial"/>
              <a:buChar char="•"/>
            </a:pPr>
            <a:r>
              <a:rPr lang="en-US" sz="1800" dirty="0">
                <a:solidFill>
                  <a:srgbClr val="000000"/>
                </a:solidFill>
                <a:latin typeface="Arial"/>
                <a:cs typeface="Arial"/>
              </a:rPr>
              <a:t>Băn khoăn tại giường: "Sao mình lại làm như vậy?"</a:t>
            </a:r>
          </a:p>
          <a:p>
            <a:pPr marL="274320" indent="-274320" algn="l">
              <a:lnSpc>
                <a:spcPct val="104000"/>
              </a:lnSpc>
              <a:spcBef>
                <a:spcPts val="400"/>
              </a:spcBef>
              <a:buFont typeface="Arial"/>
              <a:buChar char="•"/>
            </a:pPr>
            <a:r>
              <a:rPr lang="en-US" sz="1800" dirty="0">
                <a:solidFill>
                  <a:srgbClr val="000000"/>
                </a:solidFill>
                <a:latin typeface="Arial"/>
                <a:cs typeface="Arial"/>
              </a:rPr>
              <a:t>Mỗi đồng nghiệp làm một kiểu</a:t>
            </a:r>
          </a:p>
          <a:p>
            <a:pPr marL="274320" indent="-274320" algn="l">
              <a:lnSpc>
                <a:spcPct val="104000"/>
              </a:lnSpc>
              <a:spcBef>
                <a:spcPts val="400"/>
              </a:spcBef>
              <a:buFont typeface="Arial"/>
              <a:buChar char="•"/>
            </a:pPr>
            <a:r>
              <a:rPr lang="en-US" sz="1800" dirty="0">
                <a:solidFill>
                  <a:srgbClr val="000000"/>
                </a:solidFill>
                <a:latin typeface="Arial"/>
                <a:cs typeface="Arial"/>
              </a:rPr>
              <a:t>Số liệu sự cố, sổ đăng ký</a:t>
            </a:r>
          </a:p>
          <a:p>
            <a:pPr marL="274320" indent="-274320" algn="l">
              <a:lnSpc>
                <a:spcPct val="104000"/>
              </a:lnSpc>
              <a:spcBef>
                <a:spcPts val="400"/>
              </a:spcBef>
              <a:buFont typeface="Arial"/>
              <a:buChar char="•"/>
            </a:pPr>
            <a:r>
              <a:rPr lang="en-US" sz="1800" dirty="0">
                <a:solidFill>
                  <a:srgbClr val="000000"/>
                </a:solidFill>
                <a:latin typeface="Arial"/>
                <a:cs typeface="Arial"/>
              </a:rPr>
              <a:t>Hướng dẫn ghi "bằng chứng độ tin cậy thấp"</a:t>
            </a:r>
          </a:p>
          <a:p>
            <a:pPr marL="274320" indent="-274320" algn="l">
              <a:lnSpc>
                <a:spcPct val="104000"/>
              </a:lnSpc>
              <a:spcBef>
                <a:spcPts val="400"/>
              </a:spcBef>
              <a:buFont typeface="Arial"/>
              <a:buChar char="•"/>
            </a:pPr>
            <a:r>
              <a:rPr lang="en-US" sz="1800" dirty="0">
                <a:solidFill>
                  <a:srgbClr val="000000"/>
                </a:solidFill>
                <a:latin typeface="Arial"/>
                <a:cs typeface="Arial"/>
              </a:rPr>
              <a:t>Bài báo kết luận "cần thêm nghiên cứu"</a:t>
            </a:r>
          </a:p>
          <a:p>
            <a:pPr marL="274320" indent="-274320" algn="l">
              <a:lnSpc>
                <a:spcPct val="104000"/>
              </a:lnSpc>
              <a:spcBef>
                <a:spcPts val="400"/>
              </a:spcBef>
              <a:buFont typeface="Arial"/>
              <a:buChar char="•"/>
            </a:pPr>
            <a:r>
              <a:rPr lang="en-US" sz="1800" dirty="0">
                <a:solidFill>
                  <a:srgbClr val="000000"/>
                </a:solidFill>
                <a:latin typeface="Arial"/>
                <a:cs typeface="Arial"/>
              </a:rPr>
              <a:t>Câu hỏi của người bệnh và gia đình</a:t>
            </a:r>
          </a:p>
        </p:txBody>
      </p:sp>
      <p:sp>
        <p:nvSpPr>
          <p:cNvPr id="72" name="CardHead"/>
          <p:cNvSpPr/>
          <p:nvPr/>
        </p:nvSpPr>
        <p:spPr>
          <a:xfrm>
            <a:off x="6096000" y="1764023"/>
            <a:ext cx="2719400" cy="640000"/>
          </a:xfrm>
          <a:prstGeom prst="rect">
            <a:avLst/>
          </a:prstGeom>
          <a:solidFill>
            <a:srgbClr val="5FA39B"/>
          </a:solidFill>
          <a:ln>
            <a:noFill/>
          </a:ln>
        </p:spPr>
        <p:txBody>
          <a:bodyPr wrap="square" lIns="91440" tIns="45720" rIns="91440" bIns="45720" rtlCol="0" anchor="ctr">
            <a:normAutofit/>
          </a:bodyPr>
          <a:lstStyle/>
          <a:p>
            <a:pPr marL="0" indent="0" algn="ctr">
              <a:buNone/>
            </a:pPr>
            <a:r>
              <a:rPr lang="en-US" sz="1900" b="1" dirty="0">
                <a:solidFill>
                  <a:srgbClr val="FFFFFF"/>
                </a:solidFill>
                <a:latin typeface="Arial"/>
                <a:cs typeface="Arial"/>
              </a:rPr>
              <a:t>Đã biết</a:t>
            </a:r>
          </a:p>
        </p:txBody>
      </p:sp>
      <p:sp>
        <p:nvSpPr>
          <p:cNvPr id="73" name="CardBody"/>
          <p:cNvSpPr/>
          <p:nvPr/>
        </p:nvSpPr>
        <p:spPr>
          <a:xfrm>
            <a:off x="6096000" y="2404023"/>
            <a:ext cx="2719400" cy="2637930"/>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800" b="1" dirty="0">
                <a:solidFill>
                  <a:srgbClr val="000000"/>
                </a:solidFill>
                <a:latin typeface="Arial"/>
                <a:cs typeface="Arial"/>
              </a:rPr>
              <a:t>Áp dụng</a:t>
            </a:r>
          </a:p>
          <a:p>
            <a:pPr marL="0" indent="0" algn="ctr">
              <a:lnSpc>
                <a:spcPct val="104000"/>
              </a:lnSpc>
              <a:spcBef>
                <a:spcPts val="400"/>
              </a:spcBef>
              <a:buNone/>
            </a:pPr>
            <a:r>
              <a:rPr lang="en-US" sz="1800" dirty="0">
                <a:solidFill>
                  <a:srgbClr val="000000"/>
                </a:solidFill>
                <a:latin typeface="Arial"/>
                <a:cs typeface="Arial"/>
              </a:rPr>
              <a:t>Cập nhật hướng dẫn hoặc quy trình của khoa</a:t>
            </a:r>
          </a:p>
        </p:txBody>
      </p:sp>
      <p:sp>
        <p:nvSpPr>
          <p:cNvPr id="74" name="CardHead"/>
          <p:cNvSpPr/>
          <p:nvPr/>
        </p:nvSpPr>
        <p:spPr>
          <a:xfrm>
            <a:off x="9015400" y="1764023"/>
            <a:ext cx="2719400" cy="640000"/>
          </a:xfrm>
          <a:prstGeom prst="rect">
            <a:avLst/>
          </a:prstGeom>
          <a:solidFill>
            <a:srgbClr val="055F56"/>
          </a:solidFill>
          <a:ln>
            <a:noFill/>
          </a:ln>
        </p:spPr>
        <p:txBody>
          <a:bodyPr wrap="square" lIns="91440" tIns="45720" rIns="91440" bIns="45720" rtlCol="0" anchor="ctr">
            <a:normAutofit/>
          </a:bodyPr>
          <a:lstStyle/>
          <a:p>
            <a:pPr marL="0" indent="0" algn="ctr">
              <a:buNone/>
            </a:pPr>
            <a:r>
              <a:rPr lang="en-US" sz="1900" b="1" dirty="0">
                <a:solidFill>
                  <a:srgbClr val="FFFFFF"/>
                </a:solidFill>
                <a:latin typeface="Arial"/>
                <a:cs typeface="Arial"/>
              </a:rPr>
              <a:t>Chưa biết</a:t>
            </a:r>
          </a:p>
        </p:txBody>
      </p:sp>
      <p:sp>
        <p:nvSpPr>
          <p:cNvPr id="75" name="CardBody"/>
          <p:cNvSpPr/>
          <p:nvPr/>
        </p:nvSpPr>
        <p:spPr>
          <a:xfrm>
            <a:off x="9015400" y="2404023"/>
            <a:ext cx="2719400" cy="2637930"/>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800" b="1" dirty="0">
                <a:solidFill>
                  <a:srgbClr val="000000"/>
                </a:solidFill>
                <a:latin typeface="Arial"/>
                <a:cs typeface="Arial"/>
              </a:rPr>
              <a:t>Câu hỏi nghiên cứu</a:t>
            </a:r>
          </a:p>
        </p:txBody>
      </p:sp>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ctr">
              <a:buNone/>
            </a:pPr>
            <a:r>
              <a:rPr lang="en-US" sz="1300" b="1" dirty="0">
                <a:solidFill>
                  <a:srgbClr val="FFFFFF"/>
                </a:solidFill>
                <a:latin typeface="Arial"/>
                <a:cs typeface="Arial"/>
              </a:rPr>
              <a:t>THÔNG ĐIỆP CHÍNH   </a:t>
            </a:r>
            <a:r>
              <a:rPr lang="en-US" sz="1550" dirty="0">
                <a:solidFill>
                  <a:srgbClr val="FFFFFF"/>
                </a:solidFill>
                <a:latin typeface="Arial"/>
                <a:cs typeface="Arial"/>
              </a:rPr>
              <a:t>Nếu đã có câu trả lời, hãy áp dụng. Nếu chưa, bạn có một câu hỏi nghiên cứu.</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PICO(T): ví dụ xuyên suốt</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19" name="Intro"/>
          <p:cNvSpPr txBox="1"/>
          <p:nvPr/>
        </p:nvSpPr>
        <p:spPr>
          <a:xfrm>
            <a:off x="457200" y="1100000"/>
            <a:ext cx="11277600" cy="626796"/>
          </a:xfrm>
          <a:prstGeom prst="rect">
            <a:avLst/>
          </a:prstGeom>
          <a:noFill/>
          <a:ln>
            <a:noFill/>
          </a:ln>
        </p:spPr>
        <p:txBody>
          <a:bodyPr wrap="square" lIns="91440" tIns="45720" rIns="91440" bIns="45720" rtlCol="0" anchor="t"/>
          <a:lstStyle/>
          <a:p>
            <a:pPr marL="0" indent="0" algn="l">
              <a:buNone/>
            </a:pPr>
            <a:r>
              <a:rPr lang="en-US" sz="1700" i="1" dirty="0">
                <a:solidFill>
                  <a:srgbClr val="595959"/>
                </a:solidFill>
                <a:latin typeface="Arial"/>
                <a:cs typeface="Arial"/>
              </a:rPr>
              <a:t>Ở người lớn bị sốc nhiễm khuẩn tại ICU, chiến lược hạn chế dịch, so với chăm sóc thường quy, có làm giảm tử vong 28 ngày không?</a:t>
            </a:r>
          </a:p>
        </p:txBody>
      </p:sp>
      <p:sp>
        <p:nvSpPr>
          <p:cNvPr id="70" name="CardHead"/>
          <p:cNvSpPr/>
          <p:nvPr/>
        </p:nvSpPr>
        <p:spPr>
          <a:xfrm>
            <a:off x="457200" y="2242887"/>
            <a:ext cx="2095520" cy="640000"/>
          </a:xfrm>
          <a:prstGeom prst="rect">
            <a:avLst/>
          </a:prstGeom>
          <a:solidFill>
            <a:srgbClr val="0D7377"/>
          </a:solidFill>
          <a:ln>
            <a:noFill/>
          </a:ln>
        </p:spPr>
        <p:txBody>
          <a:bodyPr wrap="square" lIns="91440" tIns="45720" rIns="91440" bIns="45720" rtlCol="0" anchor="ctr">
            <a:normAutofit/>
          </a:bodyPr>
          <a:lstStyle/>
          <a:p>
            <a:pPr marL="0" indent="0" algn="ctr">
              <a:buNone/>
            </a:pPr>
            <a:r>
              <a:rPr lang="en-US" sz="1550" b="1" dirty="0">
                <a:solidFill>
                  <a:srgbClr val="FFFFFF"/>
                </a:solidFill>
                <a:latin typeface="Arial"/>
                <a:cs typeface="Arial"/>
              </a:rPr>
              <a:t>P  Đối tượng</a:t>
            </a:r>
          </a:p>
        </p:txBody>
      </p:sp>
      <p:sp>
        <p:nvSpPr>
          <p:cNvPr id="71" name="CardBody"/>
          <p:cNvSpPr/>
          <p:nvPr/>
        </p:nvSpPr>
        <p:spPr>
          <a:xfrm>
            <a:off x="457200" y="2882887"/>
            <a:ext cx="2095520" cy="1494930"/>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750" dirty="0">
                <a:solidFill>
                  <a:srgbClr val="000000"/>
                </a:solidFill>
                <a:latin typeface="Arial"/>
                <a:cs typeface="Arial"/>
              </a:rPr>
              <a:t>Người lớn (≥18 tuổi) bị sốc nhiễm khuẩn tại ICU</a:t>
            </a:r>
          </a:p>
        </p:txBody>
      </p:sp>
      <p:sp>
        <p:nvSpPr>
          <p:cNvPr id="72" name="CardHead"/>
          <p:cNvSpPr/>
          <p:nvPr/>
        </p:nvSpPr>
        <p:spPr>
          <a:xfrm>
            <a:off x="2752720" y="2242887"/>
            <a:ext cx="2095520" cy="640000"/>
          </a:xfrm>
          <a:prstGeom prst="rect">
            <a:avLst/>
          </a:prstGeom>
          <a:solidFill>
            <a:srgbClr val="0B376C"/>
          </a:solidFill>
          <a:ln>
            <a:noFill/>
          </a:ln>
        </p:spPr>
        <p:txBody>
          <a:bodyPr wrap="square" lIns="91440" tIns="45720" rIns="91440" bIns="45720" rtlCol="0" anchor="ctr">
            <a:normAutofit/>
          </a:bodyPr>
          <a:lstStyle/>
          <a:p>
            <a:pPr marL="0" indent="0" algn="ctr">
              <a:buNone/>
            </a:pPr>
            <a:r>
              <a:rPr lang="en-US" sz="1550" b="1" dirty="0">
                <a:solidFill>
                  <a:srgbClr val="FFFFFF"/>
                </a:solidFill>
                <a:latin typeface="Arial"/>
                <a:cs typeface="Arial"/>
              </a:rPr>
              <a:t>I  Can thiệp</a:t>
            </a:r>
          </a:p>
        </p:txBody>
      </p:sp>
      <p:sp>
        <p:nvSpPr>
          <p:cNvPr id="73" name="CardBody"/>
          <p:cNvSpPr/>
          <p:nvPr/>
        </p:nvSpPr>
        <p:spPr>
          <a:xfrm>
            <a:off x="2752720" y="2882887"/>
            <a:ext cx="2095520" cy="1494930"/>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750" dirty="0">
                <a:solidFill>
                  <a:srgbClr val="000000"/>
                </a:solidFill>
                <a:latin typeface="Arial"/>
                <a:cs typeface="Arial"/>
              </a:rPr>
              <a:t>Chiến lược hạn chế dịch</a:t>
            </a:r>
          </a:p>
        </p:txBody>
      </p:sp>
      <p:sp>
        <p:nvSpPr>
          <p:cNvPr id="74" name="CardHead"/>
          <p:cNvSpPr/>
          <p:nvPr/>
        </p:nvSpPr>
        <p:spPr>
          <a:xfrm>
            <a:off x="5048240" y="2242887"/>
            <a:ext cx="2095520" cy="640000"/>
          </a:xfrm>
          <a:prstGeom prst="rect">
            <a:avLst/>
          </a:prstGeom>
          <a:solidFill>
            <a:srgbClr val="5FA39B"/>
          </a:solidFill>
          <a:ln>
            <a:noFill/>
          </a:ln>
        </p:spPr>
        <p:txBody>
          <a:bodyPr wrap="square" lIns="91440" tIns="45720" rIns="91440" bIns="45720" rtlCol="0" anchor="ctr">
            <a:normAutofit/>
          </a:bodyPr>
          <a:lstStyle/>
          <a:p>
            <a:pPr marL="0" indent="0" algn="ctr">
              <a:buNone/>
            </a:pPr>
            <a:r>
              <a:rPr lang="en-US" sz="1550" b="1" dirty="0">
                <a:solidFill>
                  <a:srgbClr val="FFFFFF"/>
                </a:solidFill>
                <a:latin typeface="Arial"/>
                <a:cs typeface="Arial"/>
              </a:rPr>
              <a:t>C  So sánh</a:t>
            </a:r>
          </a:p>
        </p:txBody>
      </p:sp>
      <p:sp>
        <p:nvSpPr>
          <p:cNvPr id="75" name="CardBody"/>
          <p:cNvSpPr/>
          <p:nvPr/>
        </p:nvSpPr>
        <p:spPr>
          <a:xfrm>
            <a:off x="5048240" y="2882887"/>
            <a:ext cx="2095520" cy="1494930"/>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750" dirty="0">
                <a:solidFill>
                  <a:srgbClr val="000000"/>
                </a:solidFill>
                <a:latin typeface="Arial"/>
                <a:cs typeface="Arial"/>
              </a:rPr>
              <a:t>Chăm sóc thường quy (dịch tiêu chuẩn)</a:t>
            </a:r>
          </a:p>
        </p:txBody>
      </p:sp>
      <p:sp>
        <p:nvSpPr>
          <p:cNvPr id="76" name="CardHead"/>
          <p:cNvSpPr/>
          <p:nvPr/>
        </p:nvSpPr>
        <p:spPr>
          <a:xfrm>
            <a:off x="7343760" y="2242887"/>
            <a:ext cx="2095520" cy="640000"/>
          </a:xfrm>
          <a:prstGeom prst="rect">
            <a:avLst/>
          </a:prstGeom>
          <a:solidFill>
            <a:srgbClr val="0070C0"/>
          </a:solidFill>
          <a:ln>
            <a:noFill/>
          </a:ln>
        </p:spPr>
        <p:txBody>
          <a:bodyPr wrap="square" lIns="91440" tIns="45720" rIns="91440" bIns="45720" rtlCol="0" anchor="ctr">
            <a:normAutofit/>
          </a:bodyPr>
          <a:lstStyle/>
          <a:p>
            <a:pPr marL="0" indent="0" algn="ctr">
              <a:buNone/>
            </a:pPr>
            <a:r>
              <a:rPr lang="en-US" sz="1550" b="1" dirty="0">
                <a:solidFill>
                  <a:srgbClr val="FFFFFF"/>
                </a:solidFill>
                <a:latin typeface="Arial"/>
                <a:cs typeface="Arial"/>
              </a:rPr>
              <a:t>O  Kết cục</a:t>
            </a:r>
          </a:p>
        </p:txBody>
      </p:sp>
      <p:sp>
        <p:nvSpPr>
          <p:cNvPr id="77" name="CardBody"/>
          <p:cNvSpPr/>
          <p:nvPr/>
        </p:nvSpPr>
        <p:spPr>
          <a:xfrm>
            <a:off x="7343760" y="2882887"/>
            <a:ext cx="2095520" cy="1494930"/>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750" dirty="0">
                <a:solidFill>
                  <a:srgbClr val="000000"/>
                </a:solidFill>
                <a:latin typeface="Arial"/>
                <a:cs typeface="Arial"/>
              </a:rPr>
              <a:t>Tử vong do mọi nguyên nhân</a:t>
            </a:r>
          </a:p>
        </p:txBody>
      </p:sp>
      <p:sp>
        <p:nvSpPr>
          <p:cNvPr id="78" name="CardHead"/>
          <p:cNvSpPr/>
          <p:nvPr/>
        </p:nvSpPr>
        <p:spPr>
          <a:xfrm>
            <a:off x="9639280" y="2242887"/>
            <a:ext cx="2095520" cy="640000"/>
          </a:xfrm>
          <a:prstGeom prst="rect">
            <a:avLst/>
          </a:prstGeom>
          <a:solidFill>
            <a:srgbClr val="8A99A3"/>
          </a:solidFill>
          <a:ln>
            <a:noFill/>
          </a:ln>
        </p:spPr>
        <p:txBody>
          <a:bodyPr wrap="square" lIns="91440" tIns="45720" rIns="91440" bIns="45720" rtlCol="0" anchor="ctr">
            <a:normAutofit/>
          </a:bodyPr>
          <a:lstStyle/>
          <a:p>
            <a:pPr marL="0" indent="0" algn="ctr">
              <a:buNone/>
            </a:pPr>
            <a:r>
              <a:rPr lang="en-US" sz="1550" b="1" dirty="0">
                <a:solidFill>
                  <a:srgbClr val="FFFFFF"/>
                </a:solidFill>
                <a:latin typeface="Arial"/>
                <a:cs typeface="Arial"/>
              </a:rPr>
              <a:t>T  Thời gian</a:t>
            </a:r>
          </a:p>
        </p:txBody>
      </p:sp>
      <p:sp>
        <p:nvSpPr>
          <p:cNvPr id="79" name="CardBody"/>
          <p:cNvSpPr/>
          <p:nvPr/>
        </p:nvSpPr>
        <p:spPr>
          <a:xfrm>
            <a:off x="9639280" y="2882887"/>
            <a:ext cx="2095520" cy="1494930"/>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750" dirty="0">
                <a:solidFill>
                  <a:srgbClr val="000000"/>
                </a:solidFill>
                <a:latin typeface="Arial"/>
                <a:cs typeface="Arial"/>
              </a:rPr>
              <a:t>Trong vòng 28 ngày</a:t>
            </a:r>
          </a:p>
        </p:txBody>
      </p:sp>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ctr">
              <a:buNone/>
            </a:pPr>
            <a:r>
              <a:rPr lang="en-US" sz="1300" b="1" dirty="0">
                <a:solidFill>
                  <a:srgbClr val="FFFFFF"/>
                </a:solidFill>
                <a:latin typeface="Arial"/>
                <a:cs typeface="Arial"/>
              </a:rPr>
              <a:t>THÔNG ĐIỆP CHÍNH   </a:t>
            </a:r>
            <a:r>
              <a:rPr lang="en-US" sz="1550" dirty="0">
                <a:solidFill>
                  <a:srgbClr val="FFFFFF"/>
                </a:solidFill>
                <a:latin typeface="Arial"/>
                <a:cs typeface="Arial"/>
              </a:rPr>
              <a:t>Buổi nào cũng quay lại câu hỏi này.</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Ba ví dụ khác: PICO, PECO và P + O</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graphicFrame>
        <p:nvGraphicFramePr>
          <p:cNvPr id="30" name="Table"/>
          <p:cNvGraphicFramePr/>
          <p:nvPr/>
        </p:nvGraphicFramePr>
        <p:xfrm>
          <a:off x="457200" y="1453680"/>
          <a:ext cx="11277600" cy="3188960"/>
        </p:xfrm>
        <a:graphic>
          <a:graphicData uri="http://schemas.openxmlformats.org/drawingml/2006/table">
            <a:tbl>
              <a:tblPr firstRow="1" bandRow="1">
                <a:tableStyleId>{5C22544A-7EE6-4342-B048-85BDC9FD1C3A}</a:tableStyleId>
              </a:tblPr>
              <a:tblGrid>
                <a:gridCol w="2182761"/>
                <a:gridCol w="2037243"/>
                <a:gridCol w="2037243"/>
                <a:gridCol w="1527932"/>
                <a:gridCol w="2037243"/>
                <a:gridCol w="1455178"/>
              </a:tblGrid>
              <a:tr h="385760">
                <a:tc>
                  <a:txBody>
                    <a:bodyPr/>
                    <a:lstStyle/>
                    <a:p>
                      <a:pPr algn="l"/>
                      <a:r>
                        <a:rPr lang="en-US" sz="1800" b="1" dirty="0">
                          <a:solidFill>
                            <a:srgbClr val="FFFFFF"/>
                          </a:solidFill>
                          <a:latin typeface="Arial"/>
                          <a:cs typeface="Arial"/>
                        </a:rPr>
                        <a:t> </a:t>
                      </a:r>
                    </a:p>
                  </a:txBody>
                  <a:tcPr marL="73152" marR="73152" marT="45720" marB="45720" anchor="ctr">
                    <a:solidFill>
                      <a:srgbClr val="FFFFFF"/>
                    </a:solidFill>
                  </a:tcPr>
                </a:tc>
                <a:tc>
                  <a:txBody>
                    <a:bodyPr/>
                    <a:lstStyle/>
                    <a:p>
                      <a:pPr algn="l"/>
                      <a:r>
                        <a:rPr lang="en-US" sz="1800" b="1" dirty="0">
                          <a:solidFill>
                            <a:srgbClr val="FFFFFF"/>
                          </a:solidFill>
                          <a:latin typeface="Arial"/>
                          <a:cs typeface="Arial"/>
                        </a:rPr>
                        <a:t>P</a:t>
                      </a:r>
                    </a:p>
                  </a:txBody>
                  <a:tcPr marL="73152" marR="73152" marT="45720" marB="45720" anchor="ctr">
                    <a:solidFill>
                      <a:srgbClr val="0D7377"/>
                    </a:solidFill>
                  </a:tcPr>
                </a:tc>
                <a:tc>
                  <a:txBody>
                    <a:bodyPr/>
                    <a:lstStyle/>
                    <a:p>
                      <a:pPr algn="l"/>
                      <a:r>
                        <a:rPr lang="en-US" sz="1800" b="1" dirty="0">
                          <a:solidFill>
                            <a:srgbClr val="FFFFFF"/>
                          </a:solidFill>
                          <a:latin typeface="Arial"/>
                          <a:cs typeface="Arial"/>
                        </a:rPr>
                        <a:t>I / E</a:t>
                      </a:r>
                    </a:p>
                  </a:txBody>
                  <a:tcPr marL="73152" marR="73152" marT="45720" marB="45720" anchor="ctr">
                    <a:solidFill>
                      <a:srgbClr val="0B376C"/>
                    </a:solidFill>
                  </a:tcPr>
                </a:tc>
                <a:tc>
                  <a:txBody>
                    <a:bodyPr/>
                    <a:lstStyle/>
                    <a:p>
                      <a:pPr algn="l"/>
                      <a:r>
                        <a:rPr lang="en-US" sz="1800" b="1" dirty="0">
                          <a:solidFill>
                            <a:srgbClr val="FFFFFF"/>
                          </a:solidFill>
                          <a:latin typeface="Arial"/>
                          <a:cs typeface="Arial"/>
                        </a:rPr>
                        <a:t>C</a:t>
                      </a:r>
                    </a:p>
                  </a:txBody>
                  <a:tcPr marL="73152" marR="73152" marT="45720" marB="45720" anchor="ctr">
                    <a:solidFill>
                      <a:srgbClr val="5FA39B"/>
                    </a:solidFill>
                  </a:tcPr>
                </a:tc>
                <a:tc>
                  <a:txBody>
                    <a:bodyPr/>
                    <a:lstStyle/>
                    <a:p>
                      <a:pPr algn="l"/>
                      <a:r>
                        <a:rPr lang="en-US" sz="1800" b="1" dirty="0">
                          <a:solidFill>
                            <a:srgbClr val="FFFFFF"/>
                          </a:solidFill>
                          <a:latin typeface="Arial"/>
                          <a:cs typeface="Arial"/>
                        </a:rPr>
                        <a:t>O</a:t>
                      </a:r>
                    </a:p>
                  </a:txBody>
                  <a:tcPr marL="73152" marR="73152" marT="45720" marB="45720" anchor="ctr">
                    <a:solidFill>
                      <a:srgbClr val="0070C0"/>
                    </a:solidFill>
                  </a:tcPr>
                </a:tc>
                <a:tc>
                  <a:txBody>
                    <a:bodyPr/>
                    <a:lstStyle/>
                    <a:p>
                      <a:pPr algn="l"/>
                      <a:r>
                        <a:rPr lang="en-US" sz="1800" b="1" dirty="0">
                          <a:solidFill>
                            <a:srgbClr val="FFFFFF"/>
                          </a:solidFill>
                          <a:latin typeface="Arial"/>
                          <a:cs typeface="Arial"/>
                        </a:rPr>
                        <a:t>T</a:t>
                      </a:r>
                    </a:p>
                  </a:txBody>
                  <a:tcPr marL="73152" marR="73152" marT="45720" marB="45720" anchor="ctr">
                    <a:solidFill>
                      <a:srgbClr val="8A99A3"/>
                    </a:solidFill>
                  </a:tcPr>
                </a:tc>
              </a:tr>
              <a:tr h="934400">
                <a:tc>
                  <a:txBody>
                    <a:bodyPr/>
                    <a:lstStyle/>
                    <a:p>
                      <a:pPr algn="l"/>
                      <a:r>
                        <a:rPr lang="en-US" sz="1800" b="1" dirty="0">
                          <a:solidFill>
                            <a:srgbClr val="000000"/>
                          </a:solidFill>
                          <a:latin typeface="Arial"/>
                          <a:cs typeface="Arial"/>
                        </a:rPr>
                        <a:t>Điều trị (PICO)</a:t>
                      </a:r>
                    </a:p>
                  </a:txBody>
                  <a:tcPr marL="73152" marR="73152" marT="45720" marB="45720" anchor="ctr">
                    <a:solidFill>
                      <a:srgbClr val="EAF2F5"/>
                    </a:solidFill>
                  </a:tcPr>
                </a:tc>
                <a:tc>
                  <a:txBody>
                    <a:bodyPr/>
                    <a:lstStyle/>
                    <a:p>
                      <a:pPr algn="l"/>
                      <a:r>
                        <a:rPr lang="en-US" sz="1800" dirty="0">
                          <a:solidFill>
                            <a:srgbClr val="000000"/>
                          </a:solidFill>
                          <a:latin typeface="Arial"/>
                          <a:cs typeface="Arial"/>
                        </a:rPr>
                        <a:t>Người lớn thở máy tại ICU</a:t>
                      </a:r>
                    </a:p>
                  </a:txBody>
                  <a:tcPr marL="73152" marR="73152" marT="45720" marB="45720" anchor="ctr">
                    <a:solidFill>
                      <a:srgbClr val="FFFFFF"/>
                    </a:solidFill>
                  </a:tcPr>
                </a:tc>
                <a:tc>
                  <a:txBody>
                    <a:bodyPr/>
                    <a:lstStyle/>
                    <a:p>
                      <a:pPr algn="l"/>
                      <a:r>
                        <a:rPr lang="en-US" sz="1800" dirty="0">
                          <a:solidFill>
                            <a:srgbClr val="000000"/>
                          </a:solidFill>
                          <a:latin typeface="Arial"/>
                          <a:cs typeface="Arial"/>
                        </a:rPr>
                        <a:t>Bảng kiểm đầu giường 2 lần/ngày</a:t>
                      </a:r>
                    </a:p>
                  </a:txBody>
                  <a:tcPr marL="73152" marR="73152" marT="45720" marB="45720" anchor="ctr">
                    <a:solidFill>
                      <a:srgbClr val="FFFFFF"/>
                    </a:solidFill>
                  </a:tcPr>
                </a:tc>
                <a:tc>
                  <a:txBody>
                    <a:bodyPr/>
                    <a:lstStyle/>
                    <a:p>
                      <a:pPr algn="l"/>
                      <a:r>
                        <a:rPr lang="en-US" sz="1800" dirty="0">
                          <a:solidFill>
                            <a:srgbClr val="000000"/>
                          </a:solidFill>
                          <a:latin typeface="Arial"/>
                          <a:cs typeface="Arial"/>
                        </a:rPr>
                        <a:t>Chăm sóc thường quy</a:t>
                      </a:r>
                    </a:p>
                  </a:txBody>
                  <a:tcPr marL="73152" marR="73152" marT="45720" marB="45720" anchor="ctr">
                    <a:solidFill>
                      <a:srgbClr val="FFFFFF"/>
                    </a:solidFill>
                  </a:tcPr>
                </a:tc>
                <a:tc>
                  <a:txBody>
                    <a:bodyPr/>
                    <a:lstStyle/>
                    <a:p>
                      <a:pPr algn="l"/>
                      <a:r>
                        <a:rPr lang="en-US" sz="1800" dirty="0">
                          <a:solidFill>
                            <a:srgbClr val="000000"/>
                          </a:solidFill>
                          <a:latin typeface="Arial"/>
                          <a:cs typeface="Arial"/>
                        </a:rPr>
                        <a:t>Viêm phổi liên quan thở máy</a:t>
                      </a:r>
                    </a:p>
                  </a:txBody>
                  <a:tcPr marL="73152" marR="73152" marT="45720" marB="45720" anchor="ctr">
                    <a:solidFill>
                      <a:srgbClr val="FFFFFF"/>
                    </a:solidFill>
                  </a:tcPr>
                </a:tc>
                <a:tc>
                  <a:txBody>
                    <a:bodyPr/>
                    <a:lstStyle/>
                    <a:p>
                      <a:pPr algn="l"/>
                      <a:r>
                        <a:rPr lang="en-US" sz="1800" dirty="0">
                          <a:solidFill>
                            <a:srgbClr val="000000"/>
                          </a:solidFill>
                          <a:latin typeface="Arial"/>
                          <a:cs typeface="Arial"/>
                        </a:rPr>
                        <a:t>Ngày 28 tại ICU</a:t>
                      </a:r>
                    </a:p>
                  </a:txBody>
                  <a:tcPr marL="73152" marR="73152" marT="45720" marB="45720" anchor="ctr">
                    <a:solidFill>
                      <a:srgbClr val="FFFFFF"/>
                    </a:solidFill>
                  </a:tcPr>
                </a:tc>
              </a:tr>
              <a:tr h="934400">
                <a:tc>
                  <a:txBody>
                    <a:bodyPr/>
                    <a:lstStyle/>
                    <a:p>
                      <a:pPr algn="l"/>
                      <a:r>
                        <a:rPr lang="en-US" sz="1800" b="1" dirty="0">
                          <a:solidFill>
                            <a:srgbClr val="000000"/>
                          </a:solidFill>
                          <a:latin typeface="Arial"/>
                          <a:cs typeface="Arial"/>
                        </a:rPr>
                        <a:t>Yếu tố nguy cơ (PECO)</a:t>
                      </a:r>
                    </a:p>
                    <a:p>
                      <a:pPr algn="l"/>
                      <a:r>
                        <a:rPr lang="en-US" sz="1800" b="1" dirty="0">
                          <a:solidFill>
                            <a:srgbClr val="000000"/>
                          </a:solidFill>
                          <a:latin typeface="Arial"/>
                          <a:cs typeface="Arial"/>
                        </a:rPr>
                        <a:t>E = Phơi nhiễm</a:t>
                      </a:r>
                    </a:p>
                  </a:txBody>
                  <a:tcPr marL="73152" marR="73152" marT="45720" marB="45720" anchor="ctr">
                    <a:solidFill>
                      <a:srgbClr val="EAF2F5"/>
                    </a:solidFill>
                  </a:tcPr>
                </a:tc>
                <a:tc>
                  <a:txBody>
                    <a:bodyPr/>
                    <a:lstStyle/>
                    <a:p>
                      <a:pPr algn="l"/>
                      <a:r>
                        <a:rPr lang="en-US" sz="1800" dirty="0">
                          <a:solidFill>
                            <a:srgbClr val="000000"/>
                          </a:solidFill>
                          <a:latin typeface="Arial"/>
                          <a:cs typeface="Arial"/>
                        </a:rPr>
                        <a:t>Người lớn tại khoa nội</a:t>
                      </a:r>
                    </a:p>
                  </a:txBody>
                  <a:tcPr marL="73152" marR="73152" marT="45720" marB="45720" anchor="ctr">
                    <a:solidFill>
                      <a:srgbClr val="F5F9FA"/>
                    </a:solidFill>
                  </a:tcPr>
                </a:tc>
                <a:tc>
                  <a:txBody>
                    <a:bodyPr/>
                    <a:lstStyle/>
                    <a:p>
                      <a:pPr algn="l"/>
                      <a:r>
                        <a:rPr lang="en-US" sz="1800" dirty="0">
                          <a:solidFill>
                            <a:srgbClr val="000000"/>
                          </a:solidFill>
                          <a:latin typeface="Arial"/>
                          <a:cs typeface="Arial"/>
                        </a:rPr>
                        <a:t>Béo phì (BMI ≥30)</a:t>
                      </a:r>
                    </a:p>
                  </a:txBody>
                  <a:tcPr marL="73152" marR="73152" marT="45720" marB="45720" anchor="ctr">
                    <a:solidFill>
                      <a:srgbClr val="F5F9FA"/>
                    </a:solidFill>
                  </a:tcPr>
                </a:tc>
                <a:tc>
                  <a:txBody>
                    <a:bodyPr/>
                    <a:lstStyle/>
                    <a:p>
                      <a:pPr algn="l"/>
                      <a:r>
                        <a:rPr lang="en-US" sz="1800" dirty="0">
                          <a:solidFill>
                            <a:srgbClr val="000000"/>
                          </a:solidFill>
                          <a:latin typeface="Arial"/>
                          <a:cs typeface="Arial"/>
                        </a:rPr>
                        <a:t>BMI dưới 30</a:t>
                      </a:r>
                    </a:p>
                  </a:txBody>
                  <a:tcPr marL="73152" marR="73152" marT="45720" marB="45720" anchor="ctr">
                    <a:solidFill>
                      <a:srgbClr val="F5F9FA"/>
                    </a:solidFill>
                  </a:tcPr>
                </a:tc>
                <a:tc>
                  <a:txBody>
                    <a:bodyPr/>
                    <a:lstStyle/>
                    <a:p>
                      <a:pPr algn="l"/>
                      <a:r>
                        <a:rPr lang="en-US" sz="1800" dirty="0">
                          <a:solidFill>
                            <a:srgbClr val="000000"/>
                          </a:solidFill>
                          <a:latin typeface="Arial"/>
                          <a:cs typeface="Arial"/>
                        </a:rPr>
                        <a:t>Tổn thương do tì đè mới</a:t>
                      </a:r>
                    </a:p>
                  </a:txBody>
                  <a:tcPr marL="73152" marR="73152" marT="45720" marB="45720" anchor="ctr">
                    <a:solidFill>
                      <a:srgbClr val="F5F9FA"/>
                    </a:solidFill>
                  </a:tcPr>
                </a:tc>
                <a:tc>
                  <a:txBody>
                    <a:bodyPr/>
                    <a:lstStyle/>
                    <a:p>
                      <a:pPr algn="l"/>
                      <a:r>
                        <a:rPr lang="en-US" sz="1800" dirty="0">
                          <a:solidFill>
                            <a:srgbClr val="000000"/>
                          </a:solidFill>
                          <a:latin typeface="Arial"/>
                          <a:cs typeface="Arial"/>
                        </a:rPr>
                        <a:t>Trong thời gian nằm viện</a:t>
                      </a:r>
                    </a:p>
                  </a:txBody>
                  <a:tcPr marL="73152" marR="73152" marT="45720" marB="45720" anchor="ctr">
                    <a:solidFill>
                      <a:srgbClr val="F5F9FA"/>
                    </a:solidFill>
                  </a:tcPr>
                </a:tc>
              </a:tr>
              <a:tr h="934400">
                <a:tc>
                  <a:txBody>
                    <a:bodyPr/>
                    <a:lstStyle/>
                    <a:p>
                      <a:pPr algn="l"/>
                      <a:r>
                        <a:rPr lang="en-US" sz="1800" b="1" dirty="0">
                          <a:solidFill>
                            <a:srgbClr val="000000"/>
                          </a:solidFill>
                          <a:latin typeface="Arial"/>
                          <a:cs typeface="Arial"/>
                        </a:rPr>
                        <a:t>Bao nhiêu? (P + O)</a:t>
                      </a:r>
                    </a:p>
                  </a:txBody>
                  <a:tcPr marL="73152" marR="73152" marT="45720" marB="45720" anchor="ctr">
                    <a:solidFill>
                      <a:srgbClr val="EAF2F5"/>
                    </a:solidFill>
                  </a:tcPr>
                </a:tc>
                <a:tc>
                  <a:txBody>
                    <a:bodyPr/>
                    <a:lstStyle/>
                    <a:p>
                      <a:pPr algn="l"/>
                      <a:r>
                        <a:rPr lang="en-US" sz="1800" dirty="0">
                          <a:solidFill>
                            <a:srgbClr val="000000"/>
                          </a:solidFill>
                          <a:latin typeface="Arial"/>
                          <a:cs typeface="Arial"/>
                        </a:rPr>
                        <a:t>Người ≥65 tuổi sau mổ gãy cổ xương đùi</a:t>
                      </a:r>
                    </a:p>
                  </a:txBody>
                  <a:tcPr marL="73152" marR="73152" marT="45720" marB="45720" anchor="ctr">
                    <a:solidFill>
                      <a:srgbClr val="FFFFFF"/>
                    </a:solidFill>
                  </a:tcPr>
                </a:tc>
                <a:tc>
                  <a:txBody>
                    <a:bodyPr/>
                    <a:lstStyle/>
                    <a:p>
                      <a:pPr algn="l"/>
                      <a:r>
                        <a:rPr lang="en-US" sz="1800" dirty="0">
                          <a:solidFill>
                            <a:srgbClr val="000000"/>
                          </a:solidFill>
                          <a:latin typeface="Arial"/>
                          <a:cs typeface="Arial"/>
                        </a:rPr>
                        <a:t>-</a:t>
                      </a:r>
                    </a:p>
                  </a:txBody>
                  <a:tcPr marL="73152" marR="73152" marT="45720" marB="45720" anchor="ctr">
                    <a:solidFill>
                      <a:srgbClr val="FFFFFF"/>
                    </a:solidFill>
                  </a:tcPr>
                </a:tc>
                <a:tc>
                  <a:txBody>
                    <a:bodyPr/>
                    <a:lstStyle/>
                    <a:p>
                      <a:pPr algn="l"/>
                      <a:r>
                        <a:rPr lang="en-US" sz="1800" dirty="0">
                          <a:solidFill>
                            <a:srgbClr val="000000"/>
                          </a:solidFill>
                          <a:latin typeface="Arial"/>
                          <a:cs typeface="Arial"/>
                        </a:rPr>
                        <a:t>-</a:t>
                      </a:r>
                    </a:p>
                  </a:txBody>
                  <a:tcPr marL="73152" marR="73152" marT="45720" marB="45720" anchor="ctr">
                    <a:solidFill>
                      <a:srgbClr val="FFFFFF"/>
                    </a:solidFill>
                  </a:tcPr>
                </a:tc>
                <a:tc>
                  <a:txBody>
                    <a:bodyPr/>
                    <a:lstStyle/>
                    <a:p>
                      <a:pPr algn="l"/>
                      <a:r>
                        <a:rPr lang="en-US" sz="1800" dirty="0">
                          <a:solidFill>
                            <a:srgbClr val="000000"/>
                          </a:solidFill>
                          <a:latin typeface="Arial"/>
                          <a:cs typeface="Arial"/>
                        </a:rPr>
                        <a:t>Mê sảng</a:t>
                      </a:r>
                    </a:p>
                  </a:txBody>
                  <a:tcPr marL="73152" marR="73152" marT="45720" marB="45720" anchor="ctr">
                    <a:solidFill>
                      <a:srgbClr val="FFFFFF"/>
                    </a:solidFill>
                  </a:tcPr>
                </a:tc>
                <a:tc>
                  <a:txBody>
                    <a:bodyPr/>
                    <a:lstStyle/>
                    <a:p>
                      <a:pPr algn="l"/>
                      <a:r>
                        <a:rPr lang="en-US" sz="1800" dirty="0">
                          <a:solidFill>
                            <a:srgbClr val="000000"/>
                          </a:solidFill>
                          <a:latin typeface="Arial"/>
                          <a:cs typeface="Arial"/>
                        </a:rPr>
                        <a:t>7 ngày đầu</a:t>
                      </a:r>
                    </a:p>
                  </a:txBody>
                  <a:tcPr marL="73152" marR="73152" marT="45720" marB="45720" anchor="ctr">
                    <a:solidFill>
                      <a:srgbClr val="FFFFFF"/>
                    </a:solidFill>
                  </a:tcPr>
                </a:tc>
              </a:tr>
            </a:tbl>
          </a:graphicData>
        </a:graphic>
      </p:graphicFrame>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ctr">
              <a:buNone/>
            </a:pPr>
            <a:r>
              <a:rPr lang="en-US" sz="1300" b="1" dirty="0">
                <a:solidFill>
                  <a:srgbClr val="FFFFFF"/>
                </a:solidFill>
                <a:latin typeface="Arial"/>
                <a:cs typeface="Arial"/>
              </a:rPr>
              <a:t>THÔNG ĐIỆP CHÍNH   </a:t>
            </a:r>
            <a:r>
              <a:rPr lang="en-US" sz="1550" dirty="0">
                <a:solidFill>
                  <a:srgbClr val="FFFFFF"/>
                </a:solidFill>
                <a:latin typeface="Arial"/>
                <a:cs typeface="Arial"/>
              </a:rPr>
              <a:t>PECO: E = Phơi nhiễm (Exposure), dùng khi không thể chủ động phân bổ yếu tố đó (ví dụ béo phì).</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Kiểm tra hiểu bài: tìm PICO</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50" name="Banner"/>
          <p:cNvSpPr/>
          <p:nvPr/>
        </p:nvSpPr>
        <p:spPr>
          <a:xfrm>
            <a:off x="457200" y="1120000"/>
            <a:ext cx="11277600" cy="470000"/>
          </a:xfrm>
          <a:prstGeom prst="rect">
            <a:avLst/>
          </a:prstGeom>
          <a:solidFill>
            <a:srgbClr val="6C3483"/>
          </a:solidFill>
          <a:ln>
            <a:noFill/>
          </a:ln>
        </p:spPr>
        <p:txBody>
          <a:bodyPr wrap="square" lIns="182880" tIns="45720" rIns="182880" bIns="45720" rtlCol="0" anchor="ctr">
            <a:normAutofit/>
          </a:bodyPr>
          <a:lstStyle/>
          <a:p>
            <a:pPr marL="0" indent="0" algn="l">
              <a:buNone/>
            </a:pPr>
            <a:r>
              <a:rPr lang="en-US" sz="1500" b="1" dirty="0">
                <a:solidFill>
                  <a:srgbClr val="FFFFFF"/>
                </a:solidFill>
                <a:latin typeface="Arial"/>
                <a:cs typeface="Arial"/>
              </a:rPr>
              <a:t>CÂU HỎI NHANH   |   3 phút</a:t>
            </a:r>
          </a:p>
        </p:txBody>
      </p:sp>
      <p:sp>
        <p:nvSpPr>
          <p:cNvPr id="51" name="Steps"/>
          <p:cNvSpPr txBox="1"/>
          <p:nvPr/>
        </p:nvSpPr>
        <p:spPr>
          <a:xfrm>
            <a:off x="457200" y="1720000"/>
            <a:ext cx="6766560" cy="3510000"/>
          </a:xfrm>
          <a:prstGeom prst="rect">
            <a:avLst/>
          </a:prstGeom>
          <a:noFill/>
          <a:ln>
            <a:noFill/>
          </a:ln>
        </p:spPr>
        <p:txBody>
          <a:bodyPr wrap="square" lIns="91440" tIns="45720" rIns="91440" bIns="45720" rtlCol="0" anchor="t"/>
          <a:lstStyle/>
          <a:p>
            <a:pPr marL="380000" indent="-380000" algn="l">
              <a:lnSpc>
                <a:spcPct val="104000"/>
              </a:lnSpc>
              <a:spcBef>
                <a:spcPts val="450"/>
              </a:spcBef>
              <a:buClr>
                <a:srgbClr val="6C3483"/>
              </a:buClr>
              <a:buFont typeface="Arial"/>
              <a:buChar char="•"/>
            </a:pPr>
            <a:r>
              <a:rPr lang="en-US" sz="1650" dirty="0">
                <a:solidFill>
                  <a:srgbClr val="000000"/>
                </a:solidFill>
                <a:latin typeface="Arial"/>
                <a:cs typeface="Arial"/>
              </a:rPr>
              <a:t>Câu hỏi của Bài báo 1: 'Ở người lớn bị sốc nhiễm khuẩn trong 24 giờ đầu dùng thuốc vận mạch, hạn chế dịch không nhằm hồi sức, so với chăm sóc thường quy, có làm giảm cân bằng dịch tích lũy ngày 5 không?'</a:t>
            </a:r>
          </a:p>
          <a:p>
            <a:pPr marL="380000" indent="-380000" algn="l">
              <a:lnSpc>
                <a:spcPct val="104000"/>
              </a:lnSpc>
              <a:spcBef>
                <a:spcPts val="450"/>
              </a:spcBef>
              <a:buClr>
                <a:srgbClr val="6C3483"/>
              </a:buClr>
              <a:buFont typeface="Arial"/>
              <a:buChar char="•"/>
            </a:pPr>
            <a:r>
              <a:rPr lang="en-US" sz="1650" dirty="0">
                <a:solidFill>
                  <a:srgbClr val="000000"/>
                </a:solidFill>
                <a:latin typeface="Arial"/>
                <a:cs typeface="Arial"/>
              </a:rPr>
              <a:t>Bình chọn: những từ nào là kết cục (O)?</a:t>
            </a:r>
          </a:p>
          <a:p>
            <a:pPr marL="380000" indent="-380000" algn="l">
              <a:lnSpc>
                <a:spcPct val="104000"/>
              </a:lnSpc>
              <a:spcBef>
                <a:spcPts val="450"/>
              </a:spcBef>
              <a:buClr>
                <a:srgbClr val="6C3483"/>
              </a:buClr>
              <a:buFont typeface="Arial"/>
              <a:buChar char="•"/>
            </a:pPr>
            <a:r>
              <a:rPr lang="en-US" sz="1650" dirty="0">
                <a:solidFill>
                  <a:srgbClr val="000000"/>
                </a:solidFill>
                <a:latin typeface="Arial"/>
                <a:cs typeface="Arial"/>
              </a:rPr>
              <a:t>Sau đó hai ba người nói đối tượng (P)</a:t>
            </a:r>
          </a:p>
        </p:txBody>
      </p:sp>
      <p:sp>
        <p:nvSpPr>
          <p:cNvPr id="52" name="Side"/>
          <p:cNvSpPr/>
          <p:nvPr/>
        </p:nvSpPr>
        <p:spPr>
          <a:xfrm>
            <a:off x="7423760" y="1720000"/>
            <a:ext cx="4311040" cy="1729880"/>
          </a:xfrm>
          <a:prstGeom prst="roundRect">
            <a:avLst>
              <a:gd name="adj" fmla="val 5000"/>
            </a:avLst>
          </a:prstGeom>
          <a:solidFill>
            <a:srgbClr val="EAF2F5"/>
          </a:solidFill>
          <a:ln>
            <a:noFill/>
          </a:ln>
        </p:spPr>
        <p:txBody>
          <a:bodyPr wrap="square" lIns="137160" tIns="91440" rIns="137160" bIns="91440" rtlCol="0" anchor="ctr">
            <a:normAutofit/>
          </a:bodyPr>
          <a:lstStyle/>
          <a:p>
            <a:pPr marL="0" indent="0" algn="ctr">
              <a:buNone/>
            </a:pPr>
            <a:r>
              <a:rPr lang="en-US" sz="1600" b="1" dirty="0">
                <a:solidFill>
                  <a:srgbClr val="6C3483"/>
                </a:solidFill>
                <a:latin typeface="Arial"/>
                <a:cs typeface="Arial"/>
              </a:rPr>
              <a:t>Các lựa chọn</a:t>
            </a:r>
          </a:p>
          <a:p>
            <a:pPr marL="0" indent="0" algn="ctr">
              <a:lnSpc>
                <a:spcPct val="104000"/>
              </a:lnSpc>
              <a:spcBef>
                <a:spcPts val="300"/>
              </a:spcBef>
              <a:buNone/>
            </a:pPr>
            <a:r>
              <a:rPr lang="en-US" sz="1500" dirty="0">
                <a:solidFill>
                  <a:srgbClr val="000000"/>
                </a:solidFill>
                <a:latin typeface="Arial"/>
                <a:cs typeface="Arial"/>
              </a:rPr>
              <a:t>A: sốc nhiễm khuẩn</a:t>
            </a:r>
          </a:p>
          <a:p>
            <a:pPr marL="0" indent="0" algn="ctr">
              <a:lnSpc>
                <a:spcPct val="104000"/>
              </a:lnSpc>
              <a:spcBef>
                <a:spcPts val="300"/>
              </a:spcBef>
              <a:buNone/>
            </a:pPr>
            <a:r>
              <a:rPr lang="en-US" sz="1500" dirty="0">
                <a:solidFill>
                  <a:srgbClr val="000000"/>
                </a:solidFill>
                <a:latin typeface="Arial"/>
                <a:cs typeface="Arial"/>
              </a:rPr>
              <a:t>B: hạn chế dịch không nhằm hồi sức</a:t>
            </a:r>
          </a:p>
          <a:p>
            <a:pPr marL="0" indent="0" algn="ctr">
              <a:lnSpc>
                <a:spcPct val="104000"/>
              </a:lnSpc>
              <a:spcBef>
                <a:spcPts val="300"/>
              </a:spcBef>
              <a:buNone/>
            </a:pPr>
            <a:r>
              <a:rPr lang="en-US" sz="1500" dirty="0">
                <a:solidFill>
                  <a:srgbClr val="000000"/>
                </a:solidFill>
                <a:latin typeface="Arial"/>
                <a:cs typeface="Arial"/>
              </a:rPr>
              <a:t>C: cân bằng dịch tích lũy</a:t>
            </a:r>
          </a:p>
          <a:p>
            <a:pPr marL="0" indent="0" algn="ctr">
              <a:lnSpc>
                <a:spcPct val="104000"/>
              </a:lnSpc>
              <a:spcBef>
                <a:spcPts val="300"/>
              </a:spcBef>
              <a:buNone/>
            </a:pPr>
            <a:r>
              <a:rPr lang="en-US" sz="1500" dirty="0">
                <a:solidFill>
                  <a:srgbClr val="000000"/>
                </a:solidFill>
                <a:latin typeface="Arial"/>
                <a:cs typeface="Arial"/>
              </a:rPr>
              <a:t>D: ngày 5</a:t>
            </a:r>
          </a:p>
        </p:txBody>
      </p:sp>
      <p:sp>
        <p:nvSpPr>
          <p:cNvPr id="53" name="Deliverable"/>
          <p:cNvSpPr/>
          <p:nvPr/>
        </p:nvSpPr>
        <p:spPr>
          <a:xfrm>
            <a:off x="457200" y="5350000"/>
            <a:ext cx="11277600" cy="600000"/>
          </a:xfrm>
          <a:prstGeom prst="roundRect">
            <a:avLst>
              <a:gd name="adj" fmla="val 12000"/>
            </a:avLst>
          </a:prstGeom>
          <a:solidFill>
            <a:srgbClr val="FFFFFF"/>
          </a:solidFill>
          <a:ln w="15875">
            <a:solidFill>
              <a:srgbClr val="6C3483"/>
            </a:solidFill>
          </a:ln>
        </p:spPr>
        <p:txBody>
          <a:bodyPr wrap="square" lIns="182880" tIns="45720" rIns="182880" bIns="45720" rtlCol="0" anchor="ctr">
            <a:normAutofit/>
          </a:bodyPr>
          <a:lstStyle/>
          <a:p>
            <a:pPr marL="0" indent="0" algn="ctr">
              <a:buNone/>
            </a:pPr>
            <a:r>
              <a:rPr lang="en-US" sz="1300" b="1" dirty="0">
                <a:solidFill>
                  <a:srgbClr val="6C3483"/>
                </a:solidFill>
                <a:latin typeface="Arial"/>
                <a:cs typeface="Arial"/>
              </a:rPr>
              <a:t>SẢN PHẨM   </a:t>
            </a:r>
            <a:r>
              <a:rPr lang="en-US" sz="1500" dirty="0">
                <a:solidFill>
                  <a:srgbClr val="000000"/>
                </a:solidFill>
                <a:latin typeface="Arial"/>
                <a:cs typeface="Arial"/>
              </a:rPr>
              <a:t>Kết quả bình chọn, rồi nói P thành lời</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Đáp án: PICO trong câu hỏi của Bài báo 1</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70" name="CardHead"/>
          <p:cNvSpPr/>
          <p:nvPr/>
        </p:nvSpPr>
        <p:spPr>
          <a:xfrm>
            <a:off x="457200" y="1898256"/>
            <a:ext cx="2095520" cy="640000"/>
          </a:xfrm>
          <a:prstGeom prst="rect">
            <a:avLst/>
          </a:prstGeom>
          <a:solidFill>
            <a:srgbClr val="0D7377"/>
          </a:solidFill>
          <a:ln>
            <a:noFill/>
          </a:ln>
        </p:spPr>
        <p:txBody>
          <a:bodyPr wrap="square" lIns="91440" tIns="45720" rIns="91440" bIns="45720" rtlCol="0" anchor="ctr">
            <a:normAutofit/>
          </a:bodyPr>
          <a:lstStyle/>
          <a:p>
            <a:pPr marL="0" indent="0" algn="ctr">
              <a:buNone/>
            </a:pPr>
            <a:r>
              <a:rPr lang="en-US" sz="1550" b="1" dirty="0">
                <a:solidFill>
                  <a:srgbClr val="FFFFFF"/>
                </a:solidFill>
                <a:latin typeface="Arial"/>
                <a:cs typeface="Arial"/>
              </a:rPr>
              <a:t>P</a:t>
            </a:r>
          </a:p>
        </p:txBody>
      </p:sp>
      <p:sp>
        <p:nvSpPr>
          <p:cNvPr id="71" name="CardBody"/>
          <p:cNvSpPr/>
          <p:nvPr/>
        </p:nvSpPr>
        <p:spPr>
          <a:xfrm>
            <a:off x="457200" y="2538256"/>
            <a:ext cx="2095520" cy="1355230"/>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450" dirty="0">
                <a:solidFill>
                  <a:srgbClr val="000000"/>
                </a:solidFill>
                <a:latin typeface="Arial"/>
                <a:cs typeface="Arial"/>
              </a:rPr>
              <a:t>Người lớn bị sốc nhiễm khuẩn</a:t>
            </a:r>
          </a:p>
          <a:p>
            <a:pPr marL="0" indent="0" algn="ctr">
              <a:lnSpc>
                <a:spcPct val="104000"/>
              </a:lnSpc>
              <a:spcBef>
                <a:spcPts val="400"/>
              </a:spcBef>
              <a:buNone/>
            </a:pPr>
            <a:r>
              <a:rPr lang="en-US" sz="1450" dirty="0">
                <a:solidFill>
                  <a:srgbClr val="000000"/>
                </a:solidFill>
                <a:latin typeface="Arial"/>
                <a:cs typeface="Arial"/>
              </a:rPr>
              <a:t>Trong 24 giờ đầu dùng thuốc vận mạch</a:t>
            </a:r>
          </a:p>
        </p:txBody>
      </p:sp>
      <p:sp>
        <p:nvSpPr>
          <p:cNvPr id="72" name="CardHead"/>
          <p:cNvSpPr/>
          <p:nvPr/>
        </p:nvSpPr>
        <p:spPr>
          <a:xfrm>
            <a:off x="2752720" y="1898256"/>
            <a:ext cx="2095520" cy="640000"/>
          </a:xfrm>
          <a:prstGeom prst="rect">
            <a:avLst/>
          </a:prstGeom>
          <a:solidFill>
            <a:srgbClr val="0B376C"/>
          </a:solidFill>
          <a:ln>
            <a:noFill/>
          </a:ln>
        </p:spPr>
        <p:txBody>
          <a:bodyPr wrap="square" lIns="91440" tIns="45720" rIns="91440" bIns="45720" rtlCol="0" anchor="ctr">
            <a:normAutofit/>
          </a:bodyPr>
          <a:lstStyle/>
          <a:p>
            <a:pPr marL="0" indent="0" algn="ctr">
              <a:buNone/>
            </a:pPr>
            <a:r>
              <a:rPr lang="en-US" sz="1550" b="1" dirty="0">
                <a:solidFill>
                  <a:srgbClr val="FFFFFF"/>
                </a:solidFill>
                <a:latin typeface="Arial"/>
                <a:cs typeface="Arial"/>
              </a:rPr>
              <a:t>I</a:t>
            </a:r>
          </a:p>
        </p:txBody>
      </p:sp>
      <p:sp>
        <p:nvSpPr>
          <p:cNvPr id="73" name="CardBody"/>
          <p:cNvSpPr/>
          <p:nvPr/>
        </p:nvSpPr>
        <p:spPr>
          <a:xfrm>
            <a:off x="2752720" y="2538256"/>
            <a:ext cx="2095520" cy="1355230"/>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450" dirty="0">
                <a:solidFill>
                  <a:srgbClr val="000000"/>
                </a:solidFill>
                <a:latin typeface="Arial"/>
                <a:cs typeface="Arial"/>
              </a:rPr>
              <a:t>Hạn chế dịch không nhằm hồi sức</a:t>
            </a:r>
          </a:p>
        </p:txBody>
      </p:sp>
      <p:sp>
        <p:nvSpPr>
          <p:cNvPr id="74" name="CardHead"/>
          <p:cNvSpPr/>
          <p:nvPr/>
        </p:nvSpPr>
        <p:spPr>
          <a:xfrm>
            <a:off x="5048240" y="1898256"/>
            <a:ext cx="2095520" cy="640000"/>
          </a:xfrm>
          <a:prstGeom prst="rect">
            <a:avLst/>
          </a:prstGeom>
          <a:solidFill>
            <a:srgbClr val="5FA39B"/>
          </a:solidFill>
          <a:ln>
            <a:noFill/>
          </a:ln>
        </p:spPr>
        <p:txBody>
          <a:bodyPr wrap="square" lIns="91440" tIns="45720" rIns="91440" bIns="45720" rtlCol="0" anchor="ctr">
            <a:normAutofit/>
          </a:bodyPr>
          <a:lstStyle/>
          <a:p>
            <a:pPr marL="0" indent="0" algn="ctr">
              <a:buNone/>
            </a:pPr>
            <a:r>
              <a:rPr lang="en-US" sz="1550" b="1" dirty="0">
                <a:solidFill>
                  <a:srgbClr val="FFFFFF"/>
                </a:solidFill>
                <a:latin typeface="Arial"/>
                <a:cs typeface="Arial"/>
              </a:rPr>
              <a:t>C</a:t>
            </a:r>
          </a:p>
        </p:txBody>
      </p:sp>
      <p:sp>
        <p:nvSpPr>
          <p:cNvPr id="75" name="CardBody"/>
          <p:cNvSpPr/>
          <p:nvPr/>
        </p:nvSpPr>
        <p:spPr>
          <a:xfrm>
            <a:off x="5048240" y="2538256"/>
            <a:ext cx="2095520" cy="1355230"/>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450" dirty="0">
                <a:solidFill>
                  <a:srgbClr val="000000"/>
                </a:solidFill>
                <a:latin typeface="Arial"/>
                <a:cs typeface="Arial"/>
              </a:rPr>
              <a:t>Chăm sóc thường quy</a:t>
            </a:r>
          </a:p>
        </p:txBody>
      </p:sp>
      <p:sp>
        <p:nvSpPr>
          <p:cNvPr id="76" name="CardHead"/>
          <p:cNvSpPr/>
          <p:nvPr/>
        </p:nvSpPr>
        <p:spPr>
          <a:xfrm>
            <a:off x="7343760" y="1898256"/>
            <a:ext cx="2095520" cy="640000"/>
          </a:xfrm>
          <a:prstGeom prst="rect">
            <a:avLst/>
          </a:prstGeom>
          <a:solidFill>
            <a:srgbClr val="0070C0"/>
          </a:solidFill>
          <a:ln>
            <a:noFill/>
          </a:ln>
        </p:spPr>
        <p:txBody>
          <a:bodyPr wrap="square" lIns="91440" tIns="45720" rIns="91440" bIns="45720" rtlCol="0" anchor="ctr">
            <a:normAutofit/>
          </a:bodyPr>
          <a:lstStyle/>
          <a:p>
            <a:pPr marL="0" indent="0" algn="ctr">
              <a:buNone/>
            </a:pPr>
            <a:r>
              <a:rPr lang="en-US" sz="1550" b="1" dirty="0">
                <a:solidFill>
                  <a:srgbClr val="FFFFFF"/>
                </a:solidFill>
                <a:latin typeface="Arial"/>
                <a:cs typeface="Arial"/>
              </a:rPr>
              <a:t>O</a:t>
            </a:r>
          </a:p>
        </p:txBody>
      </p:sp>
      <p:sp>
        <p:nvSpPr>
          <p:cNvPr id="77" name="CardBody"/>
          <p:cNvSpPr/>
          <p:nvPr/>
        </p:nvSpPr>
        <p:spPr>
          <a:xfrm>
            <a:off x="7343760" y="2538256"/>
            <a:ext cx="2095520" cy="1355230"/>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450" dirty="0">
                <a:solidFill>
                  <a:srgbClr val="000000"/>
                </a:solidFill>
                <a:latin typeface="Arial"/>
                <a:cs typeface="Arial"/>
              </a:rPr>
              <a:t>Cân bằng dịch tích lũy</a:t>
            </a:r>
          </a:p>
        </p:txBody>
      </p:sp>
      <p:sp>
        <p:nvSpPr>
          <p:cNvPr id="78" name="CardHead"/>
          <p:cNvSpPr/>
          <p:nvPr/>
        </p:nvSpPr>
        <p:spPr>
          <a:xfrm>
            <a:off x="9639280" y="1898256"/>
            <a:ext cx="2095520" cy="640000"/>
          </a:xfrm>
          <a:prstGeom prst="rect">
            <a:avLst/>
          </a:prstGeom>
          <a:solidFill>
            <a:srgbClr val="055F56"/>
          </a:solidFill>
          <a:ln>
            <a:noFill/>
          </a:ln>
        </p:spPr>
        <p:txBody>
          <a:bodyPr wrap="square" lIns="91440" tIns="45720" rIns="91440" bIns="45720" rtlCol="0" anchor="ctr">
            <a:normAutofit/>
          </a:bodyPr>
          <a:lstStyle/>
          <a:p>
            <a:pPr marL="0" indent="0" algn="ctr">
              <a:buNone/>
            </a:pPr>
            <a:r>
              <a:rPr lang="en-US" sz="1550" b="1" dirty="0">
                <a:solidFill>
                  <a:srgbClr val="FFFFFF"/>
                </a:solidFill>
                <a:latin typeface="Arial"/>
                <a:cs typeface="Arial"/>
              </a:rPr>
              <a:t>T</a:t>
            </a:r>
          </a:p>
        </p:txBody>
      </p:sp>
      <p:sp>
        <p:nvSpPr>
          <p:cNvPr id="79" name="CardBody"/>
          <p:cNvSpPr/>
          <p:nvPr/>
        </p:nvSpPr>
        <p:spPr>
          <a:xfrm>
            <a:off x="9639280" y="2538256"/>
            <a:ext cx="2095520" cy="1355230"/>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450" dirty="0">
                <a:solidFill>
                  <a:srgbClr val="000000"/>
                </a:solidFill>
                <a:latin typeface="Arial"/>
                <a:cs typeface="Arial"/>
              </a:rPr>
              <a:t>Ngày 5</a:t>
            </a:r>
          </a:p>
        </p:txBody>
      </p:sp>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ctr">
              <a:buNone/>
            </a:pPr>
            <a:r>
              <a:rPr lang="en-US" sz="1300" b="1" dirty="0">
                <a:solidFill>
                  <a:srgbClr val="FFFFFF"/>
                </a:solidFill>
                <a:latin typeface="Arial"/>
                <a:cs typeface="Arial"/>
              </a:rPr>
              <a:t>THÔNG ĐIỆP CHÍNH   </a:t>
            </a:r>
            <a:r>
              <a:rPr lang="en-US" sz="1550" dirty="0">
                <a:solidFill>
                  <a:srgbClr val="FFFFFF"/>
                </a:solidFill>
                <a:latin typeface="Arial"/>
                <a:cs typeface="Arial"/>
              </a:rPr>
              <a:t>Tình trạng khiến người bệnh vào nghiên cứu (sốc nhiễm khuẩn) thuộc P, không phải O.</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Hai nhóm câu hỏi</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19" name="Intro"/>
          <p:cNvSpPr txBox="1"/>
          <p:nvPr/>
        </p:nvSpPr>
        <p:spPr>
          <a:xfrm>
            <a:off x="457200" y="1100000"/>
            <a:ext cx="11277600" cy="480000"/>
          </a:xfrm>
          <a:prstGeom prst="rect">
            <a:avLst/>
          </a:prstGeom>
          <a:noFill/>
          <a:ln>
            <a:noFill/>
          </a:ln>
        </p:spPr>
        <p:txBody>
          <a:bodyPr wrap="square" lIns="91440" tIns="45720" rIns="91440" bIns="45720" rtlCol="0" anchor="t"/>
          <a:lstStyle/>
          <a:p>
            <a:pPr marL="0" indent="0" algn="l">
              <a:buNone/>
            </a:pPr>
            <a:r>
              <a:rPr lang="en-US" sz="1700" i="1" dirty="0">
                <a:solidFill>
                  <a:srgbClr val="595959"/>
                </a:solidFill>
                <a:latin typeface="Arial"/>
                <a:cs typeface="Arial"/>
              </a:rPr>
              <a:t>Câu hỏi quyết định thiết kế (học kỹ ở Buổi 3).</a:t>
            </a:r>
          </a:p>
        </p:txBody>
      </p:sp>
      <p:sp>
        <p:nvSpPr>
          <p:cNvPr id="70" name="CardHead"/>
          <p:cNvSpPr/>
          <p:nvPr/>
        </p:nvSpPr>
        <p:spPr>
          <a:xfrm>
            <a:off x="457200" y="2018552"/>
            <a:ext cx="3625866" cy="640000"/>
          </a:xfrm>
          <a:prstGeom prst="rect">
            <a:avLst/>
          </a:prstGeom>
          <a:solidFill>
            <a:srgbClr val="5FA39B"/>
          </a:solidFill>
          <a:ln>
            <a:noFill/>
          </a:ln>
        </p:spPr>
        <p:txBody>
          <a:bodyPr wrap="square" lIns="91440" tIns="45720" rIns="91440" bIns="45720" rtlCol="0" anchor="ctr">
            <a:normAutofit/>
          </a:bodyPr>
          <a:lstStyle/>
          <a:p>
            <a:pPr marL="0" indent="0" algn="ctr">
              <a:buNone/>
            </a:pPr>
            <a:r>
              <a:rPr lang="en-US" sz="1900" b="1" dirty="0">
                <a:solidFill>
                  <a:srgbClr val="FFFFFF"/>
                </a:solidFill>
                <a:latin typeface="Arial"/>
                <a:cs typeface="Arial"/>
              </a:rPr>
              <a:t>Mô tả</a:t>
            </a:r>
          </a:p>
        </p:txBody>
      </p:sp>
      <p:sp>
        <p:nvSpPr>
          <p:cNvPr id="71" name="CardBody"/>
          <p:cNvSpPr/>
          <p:nvPr/>
        </p:nvSpPr>
        <p:spPr>
          <a:xfrm>
            <a:off x="457200" y="2658552"/>
            <a:ext cx="3625866" cy="1874342"/>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750" i="1" dirty="0">
                <a:solidFill>
                  <a:srgbClr val="000000"/>
                </a:solidFill>
                <a:latin typeface="Arial"/>
                <a:cs typeface="Arial"/>
              </a:rPr>
              <a:t>Cái gì? Bao nhiêu? Ai?</a:t>
            </a:r>
          </a:p>
          <a:p>
            <a:pPr marL="0" indent="0" algn="ctr">
              <a:lnSpc>
                <a:spcPct val="104000"/>
              </a:lnSpc>
              <a:spcBef>
                <a:spcPts val="400"/>
              </a:spcBef>
              <a:buNone/>
            </a:pPr>
            <a:r>
              <a:rPr lang="en-US" sz="1750" dirty="0">
                <a:solidFill>
                  <a:srgbClr val="000000"/>
                </a:solidFill>
                <a:latin typeface="Arial"/>
                <a:cs typeface="Arial"/>
              </a:rPr>
              <a:t>"Bao nhiêu người bệnh sốc nhiễm khuẩn của khoa có cân bằng dịch dương vào ngày 3?"</a:t>
            </a:r>
          </a:p>
          <a:p>
            <a:pPr marL="0" indent="0" algn="ctr">
              <a:lnSpc>
                <a:spcPct val="104000"/>
              </a:lnSpc>
              <a:spcBef>
                <a:spcPts val="400"/>
              </a:spcBef>
              <a:buNone/>
            </a:pPr>
            <a:r>
              <a:rPr lang="en-US" sz="1750" b="1" dirty="0">
                <a:solidFill>
                  <a:srgbClr val="000000"/>
                </a:solidFill>
                <a:latin typeface="Arial"/>
                <a:cs typeface="Arial"/>
              </a:rPr>
              <a:t>Loạt ca, cắt ngang</a:t>
            </a:r>
          </a:p>
        </p:txBody>
      </p:sp>
      <p:sp>
        <p:nvSpPr>
          <p:cNvPr id="72" name="CardHead"/>
          <p:cNvSpPr/>
          <p:nvPr/>
        </p:nvSpPr>
        <p:spPr>
          <a:xfrm>
            <a:off x="4283066" y="2018552"/>
            <a:ext cx="3625866" cy="640000"/>
          </a:xfrm>
          <a:prstGeom prst="rect">
            <a:avLst/>
          </a:prstGeom>
          <a:solidFill>
            <a:srgbClr val="0B376C"/>
          </a:solidFill>
          <a:ln>
            <a:noFill/>
          </a:ln>
        </p:spPr>
        <p:txBody>
          <a:bodyPr wrap="square" lIns="91440" tIns="45720" rIns="91440" bIns="45720" rtlCol="0" anchor="ctr">
            <a:normAutofit/>
          </a:bodyPr>
          <a:lstStyle/>
          <a:p>
            <a:pPr marL="0" indent="0" algn="ctr">
              <a:buNone/>
            </a:pPr>
            <a:r>
              <a:rPr lang="en-US" sz="1900" b="1" dirty="0">
                <a:solidFill>
                  <a:srgbClr val="FFFFFF"/>
                </a:solidFill>
                <a:latin typeface="Arial"/>
                <a:cs typeface="Arial"/>
              </a:rPr>
              <a:t>Phân tích: quan sát</a:t>
            </a:r>
          </a:p>
        </p:txBody>
      </p:sp>
      <p:sp>
        <p:nvSpPr>
          <p:cNvPr id="73" name="CardBody"/>
          <p:cNvSpPr/>
          <p:nvPr/>
        </p:nvSpPr>
        <p:spPr>
          <a:xfrm>
            <a:off x="4283066" y="2658552"/>
            <a:ext cx="3625866" cy="1874342"/>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750" i="1" dirty="0">
                <a:solidFill>
                  <a:srgbClr val="000000"/>
                </a:solidFill>
                <a:latin typeface="Arial"/>
                <a:cs typeface="Arial"/>
              </a:rPr>
              <a:t>X có liên quan tới Y?</a:t>
            </a:r>
          </a:p>
          <a:p>
            <a:pPr marL="0" indent="0" algn="ctr">
              <a:lnSpc>
                <a:spcPct val="104000"/>
              </a:lnSpc>
              <a:spcBef>
                <a:spcPts val="400"/>
              </a:spcBef>
              <a:buNone/>
            </a:pPr>
            <a:r>
              <a:rPr lang="en-US" sz="1750" dirty="0">
                <a:solidFill>
                  <a:srgbClr val="000000"/>
                </a:solidFill>
                <a:latin typeface="Arial"/>
                <a:cs typeface="Arial"/>
              </a:rPr>
              <a:t>"Cân bằng dịch dương có liên quan tới tử vong không?"</a:t>
            </a:r>
          </a:p>
          <a:p>
            <a:pPr marL="0" indent="0" algn="ctr">
              <a:lnSpc>
                <a:spcPct val="104000"/>
              </a:lnSpc>
              <a:spcBef>
                <a:spcPts val="400"/>
              </a:spcBef>
              <a:buNone/>
            </a:pPr>
            <a:r>
              <a:rPr lang="en-US" sz="1750" b="1" dirty="0">
                <a:solidFill>
                  <a:srgbClr val="000000"/>
                </a:solidFill>
                <a:latin typeface="Arial"/>
                <a:cs typeface="Arial"/>
              </a:rPr>
              <a:t>Thuần tập, bệnh-chứng</a:t>
            </a:r>
          </a:p>
        </p:txBody>
      </p:sp>
      <p:sp>
        <p:nvSpPr>
          <p:cNvPr id="74" name="CardHead"/>
          <p:cNvSpPr/>
          <p:nvPr/>
        </p:nvSpPr>
        <p:spPr>
          <a:xfrm>
            <a:off x="8108932" y="2018552"/>
            <a:ext cx="3625866" cy="640000"/>
          </a:xfrm>
          <a:prstGeom prst="rect">
            <a:avLst/>
          </a:prstGeom>
          <a:solidFill>
            <a:srgbClr val="055F56"/>
          </a:solidFill>
          <a:ln>
            <a:noFill/>
          </a:ln>
        </p:spPr>
        <p:txBody>
          <a:bodyPr wrap="square" lIns="91440" tIns="45720" rIns="91440" bIns="45720" rtlCol="0" anchor="ctr">
            <a:normAutofit/>
          </a:bodyPr>
          <a:lstStyle/>
          <a:p>
            <a:pPr marL="0" indent="0" algn="ctr">
              <a:buNone/>
            </a:pPr>
            <a:r>
              <a:rPr lang="en-US" sz="1900" b="1" dirty="0">
                <a:solidFill>
                  <a:srgbClr val="FFFFFF"/>
                </a:solidFill>
                <a:latin typeface="Arial"/>
                <a:cs typeface="Arial"/>
              </a:rPr>
              <a:t>Phân tích: can thiệp</a:t>
            </a:r>
          </a:p>
        </p:txBody>
      </p:sp>
      <p:sp>
        <p:nvSpPr>
          <p:cNvPr id="75" name="CardBody"/>
          <p:cNvSpPr/>
          <p:nvPr/>
        </p:nvSpPr>
        <p:spPr>
          <a:xfrm>
            <a:off x="8108932" y="2658552"/>
            <a:ext cx="3625866" cy="1874342"/>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750" i="1" dirty="0">
                <a:solidFill>
                  <a:srgbClr val="000000"/>
                </a:solidFill>
                <a:latin typeface="Arial"/>
                <a:cs typeface="Arial"/>
              </a:rPr>
              <a:t>X có gây ra Y?</a:t>
            </a:r>
          </a:p>
          <a:p>
            <a:pPr marL="0" indent="0" algn="ctr">
              <a:lnSpc>
                <a:spcPct val="104000"/>
              </a:lnSpc>
              <a:spcBef>
                <a:spcPts val="400"/>
              </a:spcBef>
              <a:buNone/>
            </a:pPr>
            <a:r>
              <a:rPr lang="en-US" sz="1750" dirty="0">
                <a:solidFill>
                  <a:srgbClr val="000000"/>
                </a:solidFill>
                <a:latin typeface="Arial"/>
                <a:cs typeface="Arial"/>
              </a:rPr>
              <a:t>"Hạn chế dịch có làm giảm tử vong 28 ngày không?"</a:t>
            </a:r>
          </a:p>
          <a:p>
            <a:pPr marL="0" indent="0" algn="ctr">
              <a:lnSpc>
                <a:spcPct val="104000"/>
              </a:lnSpc>
              <a:spcBef>
                <a:spcPts val="400"/>
              </a:spcBef>
              <a:buNone/>
            </a:pPr>
            <a:r>
              <a:rPr lang="en-US" sz="1750" b="1" dirty="0">
                <a:solidFill>
                  <a:srgbClr val="000000"/>
                </a:solidFill>
                <a:latin typeface="Arial"/>
                <a:cs typeface="Arial"/>
              </a:rPr>
              <a:t>Thử nghiệm ngẫu nhiên có đối chứng</a:t>
            </a:r>
          </a:p>
        </p:txBody>
      </p:sp>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ctr">
              <a:buNone/>
            </a:pPr>
            <a:r>
              <a:rPr lang="en-US" sz="1300" b="1" dirty="0">
                <a:solidFill>
                  <a:srgbClr val="FFFFFF"/>
                </a:solidFill>
                <a:latin typeface="Arial"/>
                <a:cs typeface="Arial"/>
              </a:rPr>
              <a:t>THÔNG ĐIỆP CHÍNH   </a:t>
            </a:r>
            <a:r>
              <a:rPr lang="en-US" sz="1550" dirty="0">
                <a:solidFill>
                  <a:srgbClr val="FFFFFF"/>
                </a:solidFill>
                <a:latin typeface="Arial"/>
                <a:cs typeface="Arial"/>
              </a:rPr>
              <a:t>Câu hỏi mô tả để mô tả. Câu hỏi phân tích để so sánh hoặc kiểm định nguyên nhân.</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Từ băn khoăn mơ hồ đến câu hỏi trả lời được</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70" name="CardHead"/>
          <p:cNvSpPr/>
          <p:nvPr/>
        </p:nvSpPr>
        <p:spPr>
          <a:xfrm>
            <a:off x="457200" y="1535249"/>
            <a:ext cx="5538800" cy="640000"/>
          </a:xfrm>
          <a:prstGeom prst="rect">
            <a:avLst/>
          </a:prstGeom>
          <a:solidFill>
            <a:srgbClr val="B23B2E"/>
          </a:solidFill>
          <a:ln>
            <a:noFill/>
          </a:ln>
        </p:spPr>
        <p:txBody>
          <a:bodyPr wrap="square" lIns="91440" tIns="45720" rIns="91440" bIns="45720" rtlCol="0" anchor="ctr">
            <a:normAutofit/>
          </a:bodyPr>
          <a:lstStyle/>
          <a:p>
            <a:pPr marL="0" indent="0" algn="ctr">
              <a:buNone/>
            </a:pPr>
            <a:r>
              <a:rPr lang="en-US" sz="1900" b="1" dirty="0">
                <a:solidFill>
                  <a:srgbClr val="FFFFFF"/>
                </a:solidFill>
                <a:latin typeface="Arial"/>
                <a:cs typeface="Arial"/>
              </a:rPr>
              <a:t>Mơ hồ</a:t>
            </a:r>
          </a:p>
        </p:txBody>
      </p:sp>
      <p:sp>
        <p:nvSpPr>
          <p:cNvPr id="71" name="CardBody"/>
          <p:cNvSpPr/>
          <p:nvPr/>
        </p:nvSpPr>
        <p:spPr>
          <a:xfrm>
            <a:off x="457200" y="2175249"/>
            <a:ext cx="5538800" cy="2444253"/>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950" b="1" dirty="0">
                <a:solidFill>
                  <a:srgbClr val="000000"/>
                </a:solidFill>
                <a:latin typeface="Arial"/>
                <a:cs typeface="Arial"/>
              </a:rPr>
              <a:t>"Truyền dịch có hại cho người bệnh ICU không?"</a:t>
            </a:r>
          </a:p>
          <a:p>
            <a:pPr marL="0" indent="0" algn="ctr">
              <a:lnSpc>
                <a:spcPct val="104000"/>
              </a:lnSpc>
              <a:spcBef>
                <a:spcPts val="400"/>
              </a:spcBef>
              <a:buNone/>
            </a:pPr>
            <a:r>
              <a:rPr lang="en-US" sz="1950" dirty="0">
                <a:solidFill>
                  <a:srgbClr val="000000"/>
                </a:solidFill>
                <a:latin typeface="Arial"/>
                <a:cs typeface="Arial"/>
              </a:rPr>
              <a:t>Người bệnh nào?</a:t>
            </a:r>
          </a:p>
          <a:p>
            <a:pPr marL="0" indent="0" algn="ctr">
              <a:lnSpc>
                <a:spcPct val="104000"/>
              </a:lnSpc>
              <a:spcBef>
                <a:spcPts val="400"/>
              </a:spcBef>
              <a:buNone/>
            </a:pPr>
            <a:r>
              <a:rPr lang="en-US" sz="1950" dirty="0">
                <a:solidFill>
                  <a:srgbClr val="000000"/>
                </a:solidFill>
                <a:latin typeface="Arial"/>
                <a:cs typeface="Arial"/>
              </a:rPr>
              <a:t>Dịch gì, bao nhiêu?</a:t>
            </a:r>
          </a:p>
          <a:p>
            <a:pPr marL="0" indent="0" algn="ctr">
              <a:lnSpc>
                <a:spcPct val="104000"/>
              </a:lnSpc>
              <a:spcBef>
                <a:spcPts val="400"/>
              </a:spcBef>
              <a:buNone/>
            </a:pPr>
            <a:r>
              <a:rPr lang="en-US" sz="1950" dirty="0">
                <a:solidFill>
                  <a:srgbClr val="000000"/>
                </a:solidFill>
                <a:latin typeface="Arial"/>
                <a:cs typeface="Arial"/>
              </a:rPr>
              <a:t>Có hại so với cái gì?</a:t>
            </a:r>
          </a:p>
          <a:p>
            <a:pPr marL="0" indent="0" algn="ctr">
              <a:lnSpc>
                <a:spcPct val="104000"/>
              </a:lnSpc>
              <a:spcBef>
                <a:spcPts val="400"/>
              </a:spcBef>
              <a:buNone/>
            </a:pPr>
            <a:r>
              <a:rPr lang="en-US" sz="1950" dirty="0">
                <a:solidFill>
                  <a:srgbClr val="000000"/>
                </a:solidFill>
                <a:latin typeface="Arial"/>
                <a:cs typeface="Arial"/>
              </a:rPr>
              <a:t>Hại thế nào? Khi nào?</a:t>
            </a:r>
          </a:p>
        </p:txBody>
      </p:sp>
      <p:sp>
        <p:nvSpPr>
          <p:cNvPr id="72" name="CardHead"/>
          <p:cNvSpPr/>
          <p:nvPr/>
        </p:nvSpPr>
        <p:spPr>
          <a:xfrm>
            <a:off x="6196000" y="1535249"/>
            <a:ext cx="5538800" cy="640000"/>
          </a:xfrm>
          <a:prstGeom prst="rect">
            <a:avLst/>
          </a:prstGeom>
          <a:solidFill>
            <a:srgbClr val="2E8B57"/>
          </a:solidFill>
          <a:ln>
            <a:noFill/>
          </a:ln>
        </p:spPr>
        <p:txBody>
          <a:bodyPr wrap="square" lIns="91440" tIns="45720" rIns="91440" bIns="45720" rtlCol="0" anchor="ctr">
            <a:normAutofit/>
          </a:bodyPr>
          <a:lstStyle/>
          <a:p>
            <a:pPr marL="0" indent="0" algn="ctr">
              <a:buNone/>
            </a:pPr>
            <a:r>
              <a:rPr lang="en-US" sz="1900" b="1" dirty="0">
                <a:solidFill>
                  <a:srgbClr val="FFFFFF"/>
                </a:solidFill>
                <a:latin typeface="Arial"/>
                <a:cs typeface="Arial"/>
              </a:rPr>
              <a:t>Trả lời được, nhờ PICO</a:t>
            </a:r>
          </a:p>
        </p:txBody>
      </p:sp>
      <p:sp>
        <p:nvSpPr>
          <p:cNvPr id="73" name="CardBody"/>
          <p:cNvSpPr/>
          <p:nvPr/>
        </p:nvSpPr>
        <p:spPr>
          <a:xfrm>
            <a:off x="6196000" y="2175249"/>
            <a:ext cx="5538800" cy="2444253"/>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950" dirty="0">
                <a:solidFill>
                  <a:srgbClr val="000000"/>
                </a:solidFill>
                <a:latin typeface="Arial"/>
                <a:cs typeface="Arial"/>
              </a:rPr>
              <a:t>P: Ở người lớn bị sốc nhiễm khuẩn tại ICU,</a:t>
            </a:r>
          </a:p>
          <a:p>
            <a:pPr marL="0" indent="0" algn="ctr">
              <a:lnSpc>
                <a:spcPct val="104000"/>
              </a:lnSpc>
              <a:spcBef>
                <a:spcPts val="400"/>
              </a:spcBef>
              <a:buNone/>
            </a:pPr>
            <a:r>
              <a:rPr lang="en-US" sz="1950" dirty="0">
                <a:solidFill>
                  <a:srgbClr val="000000"/>
                </a:solidFill>
                <a:latin typeface="Arial"/>
                <a:cs typeface="Arial"/>
              </a:rPr>
              <a:t>I: chiến lược hạn chế dịch,</a:t>
            </a:r>
          </a:p>
          <a:p>
            <a:pPr marL="0" indent="0" algn="ctr">
              <a:lnSpc>
                <a:spcPct val="104000"/>
              </a:lnSpc>
              <a:spcBef>
                <a:spcPts val="400"/>
              </a:spcBef>
              <a:buNone/>
            </a:pPr>
            <a:r>
              <a:rPr lang="en-US" sz="1950" dirty="0">
                <a:solidFill>
                  <a:srgbClr val="000000"/>
                </a:solidFill>
                <a:latin typeface="Arial"/>
                <a:cs typeface="Arial"/>
              </a:rPr>
              <a:t>C: so với chăm sóc thường quy,</a:t>
            </a:r>
          </a:p>
          <a:p>
            <a:pPr marL="0" indent="0" algn="ctr">
              <a:lnSpc>
                <a:spcPct val="104000"/>
              </a:lnSpc>
              <a:spcBef>
                <a:spcPts val="400"/>
              </a:spcBef>
              <a:buNone/>
            </a:pPr>
            <a:r>
              <a:rPr lang="en-US" sz="1950" dirty="0">
                <a:solidFill>
                  <a:srgbClr val="000000"/>
                </a:solidFill>
                <a:latin typeface="Arial"/>
                <a:cs typeface="Arial"/>
              </a:rPr>
              <a:t>O: có làm giảm tử vong</a:t>
            </a:r>
          </a:p>
          <a:p>
            <a:pPr marL="0" indent="0" algn="ctr">
              <a:lnSpc>
                <a:spcPct val="104000"/>
              </a:lnSpc>
              <a:spcBef>
                <a:spcPts val="400"/>
              </a:spcBef>
              <a:buNone/>
            </a:pPr>
            <a:r>
              <a:rPr lang="en-US" sz="1950" dirty="0">
                <a:solidFill>
                  <a:srgbClr val="000000"/>
                </a:solidFill>
                <a:latin typeface="Arial"/>
                <a:cs typeface="Arial"/>
              </a:rPr>
              <a:t>T: 28 ngày không?</a:t>
            </a:r>
          </a:p>
        </p:txBody>
      </p:sp>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ctr">
              <a:buNone/>
            </a:pPr>
            <a:r>
              <a:rPr lang="en-US" sz="1300" b="1" dirty="0">
                <a:solidFill>
                  <a:srgbClr val="FFFFFF"/>
                </a:solidFill>
                <a:latin typeface="Arial"/>
                <a:cs typeface="Arial"/>
              </a:rPr>
              <a:t>THÔNG ĐIỆP CHÍNH   </a:t>
            </a:r>
            <a:r>
              <a:rPr lang="en-US" sz="1550" dirty="0">
                <a:solidFill>
                  <a:srgbClr val="FFFFFF"/>
                </a:solidFill>
                <a:latin typeface="Arial"/>
                <a:cs typeface="Arial"/>
              </a:rPr>
              <a:t>Nếu chưa điền đủ các ô PICO, câu hỏi chưa sẵn sàng.</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FINER: câu hỏi có đáng hỏi không?</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19" name="Intro"/>
          <p:cNvSpPr txBox="1"/>
          <p:nvPr/>
        </p:nvSpPr>
        <p:spPr>
          <a:xfrm>
            <a:off x="457200" y="1100000"/>
            <a:ext cx="11277600" cy="480000"/>
          </a:xfrm>
          <a:prstGeom prst="rect">
            <a:avLst/>
          </a:prstGeom>
          <a:noFill/>
          <a:ln>
            <a:noFill/>
          </a:ln>
        </p:spPr>
        <p:txBody>
          <a:bodyPr wrap="square" lIns="91440" tIns="45720" rIns="91440" bIns="45720" rtlCol="0" anchor="t"/>
          <a:lstStyle/>
          <a:p>
            <a:pPr marL="0" indent="0" algn="l">
              <a:buNone/>
            </a:pPr>
            <a:r>
              <a:rPr lang="en-US" sz="1700" i="1" dirty="0">
                <a:solidFill>
                  <a:srgbClr val="595959"/>
                </a:solidFill>
                <a:latin typeface="Arial"/>
                <a:cs typeface="Arial"/>
              </a:rPr>
              <a:t>Kiểm tra mọi câu hỏi với năm tiêu chí trước khi bỏ thời gian vào nó.</a:t>
            </a:r>
          </a:p>
        </p:txBody>
      </p:sp>
      <p:sp>
        <p:nvSpPr>
          <p:cNvPr id="70" name="CardHead"/>
          <p:cNvSpPr/>
          <p:nvPr/>
        </p:nvSpPr>
        <p:spPr>
          <a:xfrm>
            <a:off x="457200" y="2080994"/>
            <a:ext cx="2095520" cy="640000"/>
          </a:xfrm>
          <a:prstGeom prst="rect">
            <a:avLst/>
          </a:prstGeom>
          <a:solidFill>
            <a:srgbClr val="0D7377"/>
          </a:solidFill>
          <a:ln>
            <a:noFill/>
          </a:ln>
        </p:spPr>
        <p:txBody>
          <a:bodyPr wrap="square" lIns="91440" tIns="45720" rIns="91440" bIns="45720" rtlCol="0" anchor="ctr">
            <a:normAutofit/>
          </a:bodyPr>
          <a:lstStyle/>
          <a:p>
            <a:pPr marL="0" indent="0" algn="ctr">
              <a:buNone/>
            </a:pPr>
            <a:r>
              <a:rPr lang="en-US" sz="1550" b="1" dirty="0">
                <a:solidFill>
                  <a:srgbClr val="FFFFFF"/>
                </a:solidFill>
                <a:latin typeface="Arial"/>
                <a:cs typeface="Arial"/>
              </a:rPr>
              <a:t>F  Khả thi</a:t>
            </a:r>
          </a:p>
        </p:txBody>
      </p:sp>
      <p:sp>
        <p:nvSpPr>
          <p:cNvPr id="71" name="CardBody"/>
          <p:cNvSpPr/>
          <p:nvPr/>
        </p:nvSpPr>
        <p:spPr>
          <a:xfrm>
            <a:off x="457200" y="2720994"/>
            <a:ext cx="2095520" cy="1687016"/>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450" i="1" dirty="0">
                <a:solidFill>
                  <a:srgbClr val="000000"/>
                </a:solidFill>
                <a:latin typeface="Arial"/>
                <a:cs typeface="Arial"/>
              </a:rPr>
              <a:t>(Feasible)</a:t>
            </a:r>
          </a:p>
          <a:p>
            <a:pPr marL="0" indent="0" algn="ctr">
              <a:lnSpc>
                <a:spcPct val="104000"/>
              </a:lnSpc>
              <a:spcBef>
                <a:spcPts val="400"/>
              </a:spcBef>
              <a:buNone/>
            </a:pPr>
            <a:r>
              <a:rPr lang="en-US" sz="1450" dirty="0">
                <a:solidFill>
                  <a:srgbClr val="000000"/>
                </a:solidFill>
                <a:latin typeface="Arial"/>
                <a:cs typeface="Arial"/>
              </a:rPr>
              <a:t>Đủ người bệnh</a:t>
            </a:r>
          </a:p>
          <a:p>
            <a:pPr marL="0" indent="0" algn="ctr">
              <a:lnSpc>
                <a:spcPct val="104000"/>
              </a:lnSpc>
              <a:spcBef>
                <a:spcPts val="400"/>
              </a:spcBef>
              <a:buNone/>
            </a:pPr>
            <a:r>
              <a:rPr lang="en-US" sz="1450" dirty="0">
                <a:solidFill>
                  <a:srgbClr val="000000"/>
                </a:solidFill>
                <a:latin typeface="Arial"/>
                <a:cs typeface="Arial"/>
              </a:rPr>
              <a:t>Thời gian, kinh phí và kỹ năng</a:t>
            </a:r>
          </a:p>
          <a:p>
            <a:pPr marL="0" indent="0" algn="ctr">
              <a:lnSpc>
                <a:spcPct val="104000"/>
              </a:lnSpc>
              <a:spcBef>
                <a:spcPts val="400"/>
              </a:spcBef>
              <a:buNone/>
            </a:pPr>
            <a:r>
              <a:rPr lang="en-US" sz="1450" dirty="0">
                <a:solidFill>
                  <a:srgbClr val="000000"/>
                </a:solidFill>
                <a:latin typeface="Arial"/>
                <a:cs typeface="Arial"/>
              </a:rPr>
              <a:t>Lấy được dữ liệu</a:t>
            </a:r>
          </a:p>
        </p:txBody>
      </p:sp>
      <p:sp>
        <p:nvSpPr>
          <p:cNvPr id="72" name="CardHead"/>
          <p:cNvSpPr/>
          <p:nvPr/>
        </p:nvSpPr>
        <p:spPr>
          <a:xfrm>
            <a:off x="2752720" y="2080994"/>
            <a:ext cx="2095520" cy="640000"/>
          </a:xfrm>
          <a:prstGeom prst="rect">
            <a:avLst/>
          </a:prstGeom>
          <a:solidFill>
            <a:srgbClr val="0B376C"/>
          </a:solidFill>
          <a:ln>
            <a:noFill/>
          </a:ln>
        </p:spPr>
        <p:txBody>
          <a:bodyPr wrap="square" lIns="91440" tIns="45720" rIns="91440" bIns="45720" rtlCol="0" anchor="ctr">
            <a:normAutofit/>
          </a:bodyPr>
          <a:lstStyle/>
          <a:p>
            <a:pPr marL="0" indent="0" algn="ctr">
              <a:buNone/>
            </a:pPr>
            <a:r>
              <a:rPr lang="en-US" sz="1550" b="1" dirty="0">
                <a:solidFill>
                  <a:srgbClr val="FFFFFF"/>
                </a:solidFill>
                <a:latin typeface="Arial"/>
                <a:cs typeface="Arial"/>
              </a:rPr>
              <a:t>I  Thú vị</a:t>
            </a:r>
          </a:p>
        </p:txBody>
      </p:sp>
      <p:sp>
        <p:nvSpPr>
          <p:cNvPr id="73" name="CardBody"/>
          <p:cNvSpPr/>
          <p:nvPr/>
        </p:nvSpPr>
        <p:spPr>
          <a:xfrm>
            <a:off x="2752720" y="2720994"/>
            <a:ext cx="2095520" cy="1687016"/>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450" i="1" dirty="0">
                <a:solidFill>
                  <a:srgbClr val="000000"/>
                </a:solidFill>
                <a:latin typeface="Arial"/>
                <a:cs typeface="Arial"/>
              </a:rPr>
              <a:t>(Interesting)</a:t>
            </a:r>
          </a:p>
          <a:p>
            <a:pPr marL="0" indent="0" algn="ctr">
              <a:lnSpc>
                <a:spcPct val="104000"/>
              </a:lnSpc>
              <a:spcBef>
                <a:spcPts val="400"/>
              </a:spcBef>
              <a:buNone/>
            </a:pPr>
            <a:r>
              <a:rPr lang="en-US" sz="1450" dirty="0">
                <a:solidFill>
                  <a:srgbClr val="000000"/>
                </a:solidFill>
                <a:latin typeface="Arial"/>
                <a:cs typeface="Arial"/>
              </a:rPr>
              <a:t>Với bạn và đồng nghiệp</a:t>
            </a:r>
          </a:p>
          <a:p>
            <a:pPr marL="0" indent="0" algn="ctr">
              <a:lnSpc>
                <a:spcPct val="104000"/>
              </a:lnSpc>
              <a:spcBef>
                <a:spcPts val="400"/>
              </a:spcBef>
              <a:buNone/>
            </a:pPr>
            <a:r>
              <a:rPr lang="en-US" sz="1450" dirty="0">
                <a:solidFill>
                  <a:srgbClr val="000000"/>
                </a:solidFill>
                <a:latin typeface="Arial"/>
                <a:cs typeface="Arial"/>
              </a:rPr>
              <a:t>Với người đọc</a:t>
            </a:r>
          </a:p>
        </p:txBody>
      </p:sp>
      <p:sp>
        <p:nvSpPr>
          <p:cNvPr id="74" name="CardHead"/>
          <p:cNvSpPr/>
          <p:nvPr/>
        </p:nvSpPr>
        <p:spPr>
          <a:xfrm>
            <a:off x="5048240" y="2080994"/>
            <a:ext cx="2095520" cy="640000"/>
          </a:xfrm>
          <a:prstGeom prst="rect">
            <a:avLst/>
          </a:prstGeom>
          <a:solidFill>
            <a:srgbClr val="5FA39B"/>
          </a:solidFill>
          <a:ln>
            <a:noFill/>
          </a:ln>
        </p:spPr>
        <p:txBody>
          <a:bodyPr wrap="square" lIns="91440" tIns="45720" rIns="91440" bIns="45720" rtlCol="0" anchor="ctr">
            <a:normAutofit/>
          </a:bodyPr>
          <a:lstStyle/>
          <a:p>
            <a:pPr marL="0" indent="0" algn="ctr">
              <a:buNone/>
            </a:pPr>
            <a:r>
              <a:rPr lang="en-US" sz="1550" b="1" dirty="0">
                <a:solidFill>
                  <a:srgbClr val="FFFFFF"/>
                </a:solidFill>
                <a:latin typeface="Arial"/>
                <a:cs typeface="Arial"/>
              </a:rPr>
              <a:t>N  Mới</a:t>
            </a:r>
          </a:p>
        </p:txBody>
      </p:sp>
      <p:sp>
        <p:nvSpPr>
          <p:cNvPr id="75" name="CardBody"/>
          <p:cNvSpPr/>
          <p:nvPr/>
        </p:nvSpPr>
        <p:spPr>
          <a:xfrm>
            <a:off x="5048240" y="2720994"/>
            <a:ext cx="2095520" cy="1687016"/>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450" i="1" dirty="0">
                <a:solidFill>
                  <a:srgbClr val="000000"/>
                </a:solidFill>
                <a:latin typeface="Arial"/>
                <a:cs typeface="Arial"/>
              </a:rPr>
              <a:t>(Novel)</a:t>
            </a:r>
          </a:p>
          <a:p>
            <a:pPr marL="0" indent="0" algn="ctr">
              <a:lnSpc>
                <a:spcPct val="104000"/>
              </a:lnSpc>
              <a:spcBef>
                <a:spcPts val="400"/>
              </a:spcBef>
              <a:buNone/>
            </a:pPr>
            <a:r>
              <a:rPr lang="en-US" sz="1450" dirty="0">
                <a:solidFill>
                  <a:srgbClr val="000000"/>
                </a:solidFill>
                <a:latin typeface="Arial"/>
                <a:cs typeface="Arial"/>
              </a:rPr>
              <a:t>Khẳng định, bác bỏ hoặc mở rộng điều đã biết</a:t>
            </a:r>
          </a:p>
        </p:txBody>
      </p:sp>
      <p:sp>
        <p:nvSpPr>
          <p:cNvPr id="76" name="CardHead"/>
          <p:cNvSpPr/>
          <p:nvPr/>
        </p:nvSpPr>
        <p:spPr>
          <a:xfrm>
            <a:off x="7343760" y="2080994"/>
            <a:ext cx="2095520" cy="640000"/>
          </a:xfrm>
          <a:prstGeom prst="rect">
            <a:avLst/>
          </a:prstGeom>
          <a:solidFill>
            <a:srgbClr val="0070C0"/>
          </a:solidFill>
          <a:ln>
            <a:noFill/>
          </a:ln>
        </p:spPr>
        <p:txBody>
          <a:bodyPr wrap="square" lIns="91440" tIns="45720" rIns="91440" bIns="45720" rtlCol="0" anchor="ctr">
            <a:normAutofit/>
          </a:bodyPr>
          <a:lstStyle/>
          <a:p>
            <a:pPr marL="0" indent="0" algn="ctr">
              <a:buNone/>
            </a:pPr>
            <a:r>
              <a:rPr lang="en-US" sz="1550" b="1" dirty="0">
                <a:solidFill>
                  <a:srgbClr val="FFFFFF"/>
                </a:solidFill>
                <a:latin typeface="Arial"/>
                <a:cs typeface="Arial"/>
              </a:rPr>
              <a:t>E  Đạo đức</a:t>
            </a:r>
          </a:p>
        </p:txBody>
      </p:sp>
      <p:sp>
        <p:nvSpPr>
          <p:cNvPr id="77" name="CardBody"/>
          <p:cNvSpPr/>
          <p:nvPr/>
        </p:nvSpPr>
        <p:spPr>
          <a:xfrm>
            <a:off x="7343760" y="2720994"/>
            <a:ext cx="2095520" cy="1687016"/>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450" i="1" dirty="0">
                <a:solidFill>
                  <a:srgbClr val="000000"/>
                </a:solidFill>
                <a:latin typeface="Arial"/>
                <a:cs typeface="Arial"/>
              </a:rPr>
              <a:t>(Ethical)</a:t>
            </a:r>
          </a:p>
          <a:p>
            <a:pPr marL="0" indent="0" algn="ctr">
              <a:lnSpc>
                <a:spcPct val="104000"/>
              </a:lnSpc>
              <a:spcBef>
                <a:spcPts val="400"/>
              </a:spcBef>
              <a:buNone/>
            </a:pPr>
            <a:r>
              <a:rPr lang="en-US" sz="1450" dirty="0">
                <a:solidFill>
                  <a:srgbClr val="000000"/>
                </a:solidFill>
                <a:latin typeface="Arial"/>
                <a:cs typeface="Arial"/>
              </a:rPr>
              <a:t>Hội đồng đạo đức có thể phê duyệt</a:t>
            </a:r>
          </a:p>
        </p:txBody>
      </p:sp>
      <p:sp>
        <p:nvSpPr>
          <p:cNvPr id="78" name="CardHead"/>
          <p:cNvSpPr/>
          <p:nvPr/>
        </p:nvSpPr>
        <p:spPr>
          <a:xfrm>
            <a:off x="9639280" y="2080994"/>
            <a:ext cx="2095520" cy="640000"/>
          </a:xfrm>
          <a:prstGeom prst="rect">
            <a:avLst/>
          </a:prstGeom>
          <a:solidFill>
            <a:srgbClr val="055F56"/>
          </a:solidFill>
          <a:ln>
            <a:noFill/>
          </a:ln>
        </p:spPr>
        <p:txBody>
          <a:bodyPr wrap="square" lIns="91440" tIns="45720" rIns="91440" bIns="45720" rtlCol="0" anchor="ctr">
            <a:normAutofit/>
          </a:bodyPr>
          <a:lstStyle/>
          <a:p>
            <a:pPr marL="0" indent="0" algn="ctr">
              <a:buNone/>
            </a:pPr>
            <a:r>
              <a:rPr lang="en-US" sz="1550" b="1" dirty="0">
                <a:solidFill>
                  <a:srgbClr val="FFFFFF"/>
                </a:solidFill>
                <a:latin typeface="Arial"/>
                <a:cs typeface="Arial"/>
              </a:rPr>
              <a:t>R  Phù hợp</a:t>
            </a:r>
          </a:p>
        </p:txBody>
      </p:sp>
      <p:sp>
        <p:nvSpPr>
          <p:cNvPr id="79" name="CardBody"/>
          <p:cNvSpPr/>
          <p:nvPr/>
        </p:nvSpPr>
        <p:spPr>
          <a:xfrm>
            <a:off x="9639280" y="2720994"/>
            <a:ext cx="2095520" cy="1687016"/>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450" i="1" dirty="0">
                <a:solidFill>
                  <a:srgbClr val="000000"/>
                </a:solidFill>
                <a:latin typeface="Arial"/>
                <a:cs typeface="Arial"/>
              </a:rPr>
              <a:t>(Relevant)</a:t>
            </a:r>
          </a:p>
          <a:p>
            <a:pPr marL="0" indent="0" algn="ctr">
              <a:lnSpc>
                <a:spcPct val="104000"/>
              </a:lnSpc>
              <a:spcBef>
                <a:spcPts val="400"/>
              </a:spcBef>
              <a:buNone/>
            </a:pPr>
            <a:r>
              <a:rPr lang="en-US" sz="1450" dirty="0">
                <a:solidFill>
                  <a:srgbClr val="000000"/>
                </a:solidFill>
                <a:latin typeface="Arial"/>
                <a:cs typeface="Arial"/>
              </a:rPr>
              <a:t>Có thể thay đổi thực hành, chính sách hay nghiên cứu</a:t>
            </a:r>
          </a:p>
        </p:txBody>
      </p:sp>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ctr">
              <a:buNone/>
            </a:pPr>
            <a:r>
              <a:rPr lang="en-US" sz="1300" b="1" dirty="0">
                <a:solidFill>
                  <a:srgbClr val="FFFFFF"/>
                </a:solidFill>
                <a:latin typeface="Arial"/>
                <a:cs typeface="Arial"/>
              </a:rPr>
              <a:t>THÔNG ĐIỆP CHÍNH   </a:t>
            </a:r>
            <a:r>
              <a:rPr lang="en-US" sz="1550" dirty="0">
                <a:solidFill>
                  <a:srgbClr val="FFFFFF"/>
                </a:solidFill>
                <a:latin typeface="Arial"/>
                <a:cs typeface="Arial"/>
              </a:rPr>
              <a:t>Nếu câu hỏi trượt một tiêu chí, hãy viết lại trước khi đi tiếp.</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Kiểm tra FINER cho ví dụ xuyên suốt</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19" name="Intro"/>
          <p:cNvSpPr txBox="1"/>
          <p:nvPr/>
        </p:nvSpPr>
        <p:spPr>
          <a:xfrm>
            <a:off x="457200" y="1100000"/>
            <a:ext cx="11277600" cy="480000"/>
          </a:xfrm>
          <a:prstGeom prst="rect">
            <a:avLst/>
          </a:prstGeom>
          <a:noFill/>
          <a:ln>
            <a:noFill/>
          </a:ln>
        </p:spPr>
        <p:txBody>
          <a:bodyPr wrap="square" lIns="91440" tIns="45720" rIns="91440" bIns="45720" rtlCol="0" anchor="t"/>
          <a:lstStyle/>
          <a:p>
            <a:pPr marL="0" indent="0" algn="l">
              <a:buNone/>
            </a:pPr>
            <a:r>
              <a:rPr lang="en-US" sz="1700" i="1" dirty="0">
                <a:solidFill>
                  <a:srgbClr val="595959"/>
                </a:solidFill>
                <a:latin typeface="Arial"/>
                <a:cs typeface="Arial"/>
              </a:rPr>
              <a:t>Hạn chế dịch so với thường quy trong sốc nhiễm khuẩn: tử vong 28 ngày, tại chính ICU của bạn.</a:t>
            </a:r>
          </a:p>
        </p:txBody>
      </p:sp>
      <p:sp>
        <p:nvSpPr>
          <p:cNvPr id="70" name="CardHead"/>
          <p:cNvSpPr/>
          <p:nvPr/>
        </p:nvSpPr>
        <p:spPr>
          <a:xfrm>
            <a:off x="457200" y="2097927"/>
            <a:ext cx="2095520" cy="640000"/>
          </a:xfrm>
          <a:prstGeom prst="rect">
            <a:avLst/>
          </a:prstGeom>
          <a:solidFill>
            <a:srgbClr val="B23B2E"/>
          </a:solidFill>
          <a:ln>
            <a:noFill/>
          </a:ln>
        </p:spPr>
        <p:txBody>
          <a:bodyPr wrap="square" lIns="91440" tIns="45720" rIns="91440" bIns="45720" rtlCol="0" anchor="ctr">
            <a:normAutofit/>
          </a:bodyPr>
          <a:lstStyle/>
          <a:p>
            <a:pPr marL="0" indent="0" algn="ctr">
              <a:buNone/>
            </a:pPr>
            <a:r>
              <a:rPr lang="en-US" sz="1550" b="1" dirty="0">
                <a:solidFill>
                  <a:srgbClr val="FFFFFF"/>
                </a:solidFill>
                <a:latin typeface="Arial"/>
                <a:cs typeface="Arial"/>
              </a:rPr>
              <a:t>F  Khả thi</a:t>
            </a:r>
          </a:p>
        </p:txBody>
      </p:sp>
      <p:sp>
        <p:nvSpPr>
          <p:cNvPr id="71" name="CardBody"/>
          <p:cNvSpPr/>
          <p:nvPr/>
        </p:nvSpPr>
        <p:spPr>
          <a:xfrm>
            <a:off x="457200" y="2737927"/>
            <a:ext cx="2095520" cy="1636217"/>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450" b="1" dirty="0">
                <a:solidFill>
                  <a:srgbClr val="B23B2E"/>
                </a:solidFill>
                <a:latin typeface="Arial"/>
                <a:cs typeface="Arial"/>
              </a:rPr>
              <a:t>Đỏ</a:t>
            </a:r>
          </a:p>
          <a:p>
            <a:pPr marL="0" indent="0" algn="ctr">
              <a:lnSpc>
                <a:spcPct val="104000"/>
              </a:lnSpc>
              <a:spcBef>
                <a:spcPts val="400"/>
              </a:spcBef>
              <a:buNone/>
            </a:pPr>
            <a:r>
              <a:rPr lang="en-US" sz="1450" dirty="0">
                <a:solidFill>
                  <a:srgbClr val="000000"/>
                </a:solidFill>
                <a:latin typeface="Arial"/>
                <a:cs typeface="Arial"/>
              </a:rPr>
              <a:t>Tử vong cần hơn 1000 người bệnh</a:t>
            </a:r>
          </a:p>
          <a:p>
            <a:pPr marL="0" indent="0" algn="ctr">
              <a:lnSpc>
                <a:spcPct val="104000"/>
              </a:lnSpc>
              <a:spcBef>
                <a:spcPts val="400"/>
              </a:spcBef>
              <a:buNone/>
            </a:pPr>
            <a:r>
              <a:rPr lang="en-US" sz="1450" dirty="0">
                <a:solidFill>
                  <a:srgbClr val="000000"/>
                </a:solidFill>
                <a:latin typeface="Arial"/>
                <a:cs typeface="Arial"/>
              </a:rPr>
              <a:t>Quá lớn với một ICU</a:t>
            </a:r>
          </a:p>
        </p:txBody>
      </p:sp>
      <p:sp>
        <p:nvSpPr>
          <p:cNvPr id="72" name="CardHead"/>
          <p:cNvSpPr/>
          <p:nvPr/>
        </p:nvSpPr>
        <p:spPr>
          <a:xfrm>
            <a:off x="2752720" y="2097927"/>
            <a:ext cx="2095520" cy="640000"/>
          </a:xfrm>
          <a:prstGeom prst="rect">
            <a:avLst/>
          </a:prstGeom>
          <a:solidFill>
            <a:srgbClr val="2E8B57"/>
          </a:solidFill>
          <a:ln>
            <a:noFill/>
          </a:ln>
        </p:spPr>
        <p:txBody>
          <a:bodyPr wrap="square" lIns="91440" tIns="45720" rIns="91440" bIns="45720" rtlCol="0" anchor="ctr">
            <a:normAutofit/>
          </a:bodyPr>
          <a:lstStyle/>
          <a:p>
            <a:pPr marL="0" indent="0" algn="ctr">
              <a:buNone/>
            </a:pPr>
            <a:r>
              <a:rPr lang="en-US" sz="1550" b="1" dirty="0">
                <a:solidFill>
                  <a:srgbClr val="FFFFFF"/>
                </a:solidFill>
                <a:latin typeface="Arial"/>
                <a:cs typeface="Arial"/>
              </a:rPr>
              <a:t>I  Thú vị</a:t>
            </a:r>
          </a:p>
        </p:txBody>
      </p:sp>
      <p:sp>
        <p:nvSpPr>
          <p:cNvPr id="73" name="CardBody"/>
          <p:cNvSpPr/>
          <p:nvPr/>
        </p:nvSpPr>
        <p:spPr>
          <a:xfrm>
            <a:off x="2752720" y="2737927"/>
            <a:ext cx="2095520" cy="1636217"/>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450" b="1" dirty="0">
                <a:solidFill>
                  <a:srgbClr val="2E8B57"/>
                </a:solidFill>
                <a:latin typeface="Arial"/>
                <a:cs typeface="Arial"/>
              </a:rPr>
              <a:t>Xanh</a:t>
            </a:r>
          </a:p>
          <a:p>
            <a:pPr marL="0" indent="0" algn="ctr">
              <a:lnSpc>
                <a:spcPct val="104000"/>
              </a:lnSpc>
              <a:spcBef>
                <a:spcPts val="400"/>
              </a:spcBef>
              <a:buNone/>
            </a:pPr>
            <a:r>
              <a:rPr lang="en-US" sz="1450" dirty="0">
                <a:solidFill>
                  <a:srgbClr val="000000"/>
                </a:solidFill>
                <a:latin typeface="Arial"/>
                <a:cs typeface="Arial"/>
              </a:rPr>
              <a:t>Dịch truyền được bàn cãi ở mọi buổi đi buồng</a:t>
            </a:r>
          </a:p>
        </p:txBody>
      </p:sp>
      <p:sp>
        <p:nvSpPr>
          <p:cNvPr id="74" name="CardHead"/>
          <p:cNvSpPr/>
          <p:nvPr/>
        </p:nvSpPr>
        <p:spPr>
          <a:xfrm>
            <a:off x="5048240" y="2097927"/>
            <a:ext cx="2095520" cy="640000"/>
          </a:xfrm>
          <a:prstGeom prst="rect">
            <a:avLst/>
          </a:prstGeom>
          <a:solidFill>
            <a:srgbClr val="D9822B"/>
          </a:solidFill>
          <a:ln>
            <a:noFill/>
          </a:ln>
        </p:spPr>
        <p:txBody>
          <a:bodyPr wrap="square" lIns="91440" tIns="45720" rIns="91440" bIns="45720" rtlCol="0" anchor="ctr">
            <a:normAutofit/>
          </a:bodyPr>
          <a:lstStyle/>
          <a:p>
            <a:pPr marL="0" indent="0" algn="ctr">
              <a:buNone/>
            </a:pPr>
            <a:r>
              <a:rPr lang="en-US" sz="1550" b="1" dirty="0">
                <a:solidFill>
                  <a:srgbClr val="FFFFFF"/>
                </a:solidFill>
                <a:latin typeface="Arial"/>
                <a:cs typeface="Arial"/>
              </a:rPr>
              <a:t>N  Mới</a:t>
            </a:r>
          </a:p>
        </p:txBody>
      </p:sp>
      <p:sp>
        <p:nvSpPr>
          <p:cNvPr id="75" name="CardBody"/>
          <p:cNvSpPr/>
          <p:nvPr/>
        </p:nvSpPr>
        <p:spPr>
          <a:xfrm>
            <a:off x="5048240" y="2737927"/>
            <a:ext cx="2095520" cy="1636217"/>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450" b="1" dirty="0">
                <a:solidFill>
                  <a:srgbClr val="D9822B"/>
                </a:solidFill>
                <a:latin typeface="Arial"/>
                <a:cs typeface="Arial"/>
              </a:rPr>
              <a:t>Vàng</a:t>
            </a:r>
          </a:p>
          <a:p>
            <a:pPr marL="0" indent="0" algn="ctr">
              <a:lnSpc>
                <a:spcPct val="104000"/>
              </a:lnSpc>
              <a:spcBef>
                <a:spcPts val="400"/>
              </a:spcBef>
              <a:buNone/>
            </a:pPr>
            <a:r>
              <a:rPr lang="en-US" sz="1450" dirty="0">
                <a:solidFill>
                  <a:srgbClr val="000000"/>
                </a:solidFill>
                <a:latin typeface="Arial"/>
                <a:cs typeface="Arial"/>
              </a:rPr>
              <a:t>Đã có những thử nghiệm lớn</a:t>
            </a:r>
          </a:p>
        </p:txBody>
      </p:sp>
      <p:sp>
        <p:nvSpPr>
          <p:cNvPr id="76" name="CardHead"/>
          <p:cNvSpPr/>
          <p:nvPr/>
        </p:nvSpPr>
        <p:spPr>
          <a:xfrm>
            <a:off x="7343760" y="2097927"/>
            <a:ext cx="2095520" cy="640000"/>
          </a:xfrm>
          <a:prstGeom prst="rect">
            <a:avLst/>
          </a:prstGeom>
          <a:solidFill>
            <a:srgbClr val="D9822B"/>
          </a:solidFill>
          <a:ln>
            <a:noFill/>
          </a:ln>
        </p:spPr>
        <p:txBody>
          <a:bodyPr wrap="square" lIns="91440" tIns="45720" rIns="91440" bIns="45720" rtlCol="0" anchor="ctr">
            <a:normAutofit/>
          </a:bodyPr>
          <a:lstStyle/>
          <a:p>
            <a:pPr marL="0" indent="0" algn="ctr">
              <a:buNone/>
            </a:pPr>
            <a:r>
              <a:rPr lang="en-US" sz="1550" b="1" dirty="0">
                <a:solidFill>
                  <a:srgbClr val="FFFFFF"/>
                </a:solidFill>
                <a:latin typeface="Arial"/>
                <a:cs typeface="Arial"/>
              </a:rPr>
              <a:t>E  Đạo đức</a:t>
            </a:r>
          </a:p>
        </p:txBody>
      </p:sp>
      <p:sp>
        <p:nvSpPr>
          <p:cNvPr id="77" name="CardBody"/>
          <p:cNvSpPr/>
          <p:nvPr/>
        </p:nvSpPr>
        <p:spPr>
          <a:xfrm>
            <a:off x="7343760" y="2737927"/>
            <a:ext cx="2095520" cy="1636217"/>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450" b="1" dirty="0">
                <a:solidFill>
                  <a:srgbClr val="D9822B"/>
                </a:solidFill>
                <a:latin typeface="Arial"/>
                <a:cs typeface="Arial"/>
              </a:rPr>
              <a:t>Vàng</a:t>
            </a:r>
          </a:p>
          <a:p>
            <a:pPr marL="0" indent="0" algn="ctr">
              <a:lnSpc>
                <a:spcPct val="104000"/>
              </a:lnSpc>
              <a:spcBef>
                <a:spcPts val="400"/>
              </a:spcBef>
              <a:buNone/>
            </a:pPr>
            <a:r>
              <a:rPr lang="en-US" sz="1450" dirty="0">
                <a:solidFill>
                  <a:srgbClr val="000000"/>
                </a:solidFill>
                <a:latin typeface="Arial"/>
                <a:cs typeface="Arial"/>
              </a:rPr>
              <a:t>Cả hai chiến lược đang được dùng</a:t>
            </a:r>
          </a:p>
          <a:p>
            <a:pPr marL="0" indent="0" algn="ctr">
              <a:lnSpc>
                <a:spcPct val="104000"/>
              </a:lnSpc>
              <a:spcBef>
                <a:spcPts val="400"/>
              </a:spcBef>
              <a:buNone/>
            </a:pPr>
            <a:r>
              <a:rPr lang="en-US" sz="1450" dirty="0">
                <a:solidFill>
                  <a:srgbClr val="000000"/>
                </a:solidFill>
                <a:latin typeface="Arial"/>
                <a:cs typeface="Arial"/>
              </a:rPr>
              <a:t>Xin đồng ý ở ICU cần thận trọng</a:t>
            </a:r>
          </a:p>
        </p:txBody>
      </p:sp>
      <p:sp>
        <p:nvSpPr>
          <p:cNvPr id="78" name="CardHead"/>
          <p:cNvSpPr/>
          <p:nvPr/>
        </p:nvSpPr>
        <p:spPr>
          <a:xfrm>
            <a:off x="9639280" y="2097927"/>
            <a:ext cx="2095520" cy="640000"/>
          </a:xfrm>
          <a:prstGeom prst="rect">
            <a:avLst/>
          </a:prstGeom>
          <a:solidFill>
            <a:srgbClr val="2E8B57"/>
          </a:solidFill>
          <a:ln>
            <a:noFill/>
          </a:ln>
        </p:spPr>
        <p:txBody>
          <a:bodyPr wrap="square" lIns="91440" tIns="45720" rIns="91440" bIns="45720" rtlCol="0" anchor="ctr">
            <a:normAutofit/>
          </a:bodyPr>
          <a:lstStyle/>
          <a:p>
            <a:pPr marL="0" indent="0" algn="ctr">
              <a:buNone/>
            </a:pPr>
            <a:r>
              <a:rPr lang="en-US" sz="1550" b="1" dirty="0">
                <a:solidFill>
                  <a:srgbClr val="FFFFFF"/>
                </a:solidFill>
                <a:latin typeface="Arial"/>
                <a:cs typeface="Arial"/>
              </a:rPr>
              <a:t>R  Phù hợp</a:t>
            </a:r>
          </a:p>
        </p:txBody>
      </p:sp>
      <p:sp>
        <p:nvSpPr>
          <p:cNvPr id="79" name="CardBody"/>
          <p:cNvSpPr/>
          <p:nvPr/>
        </p:nvSpPr>
        <p:spPr>
          <a:xfrm>
            <a:off x="9639280" y="2737927"/>
            <a:ext cx="2095520" cy="1636217"/>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450" b="1" dirty="0">
                <a:solidFill>
                  <a:srgbClr val="2E8B57"/>
                </a:solidFill>
                <a:latin typeface="Arial"/>
                <a:cs typeface="Arial"/>
              </a:rPr>
              <a:t>Xanh</a:t>
            </a:r>
          </a:p>
          <a:p>
            <a:pPr marL="0" indent="0" algn="ctr">
              <a:lnSpc>
                <a:spcPct val="104000"/>
              </a:lnSpc>
              <a:spcBef>
                <a:spcPts val="400"/>
              </a:spcBef>
              <a:buNone/>
            </a:pPr>
            <a:r>
              <a:rPr lang="en-US" sz="1450" dirty="0">
                <a:solidFill>
                  <a:srgbClr val="000000"/>
                </a:solidFill>
                <a:latin typeface="Arial"/>
                <a:cs typeface="Arial"/>
              </a:rPr>
              <a:t>Người bệnh sốc nhiễm khuẩn nào cũng được truyền dịch</a:t>
            </a:r>
          </a:p>
        </p:txBody>
      </p:sp>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ctr">
              <a:buNone/>
            </a:pPr>
            <a:r>
              <a:rPr lang="en-US" sz="1300" b="1" dirty="0">
                <a:solidFill>
                  <a:srgbClr val="FFFFFF"/>
                </a:solidFill>
                <a:latin typeface="Arial"/>
                <a:cs typeface="Arial"/>
              </a:rPr>
              <a:t>THÔNG ĐIỆP CHÍNH   </a:t>
            </a:r>
            <a:r>
              <a:rPr lang="en-US" sz="1550" dirty="0">
                <a:solidFill>
                  <a:srgbClr val="FFFFFF"/>
                </a:solidFill>
                <a:latin typeface="Arial"/>
                <a:cs typeface="Arial"/>
              </a:rPr>
              <a:t>Quan trọng, nhưng quá lớn với một ICU. Bước tiếp theo: thu nhỏ câu hỏi.</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Bài tập cả lớp: cứu ví dụ xuyên suốt</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50" name="Banner"/>
          <p:cNvSpPr/>
          <p:nvPr/>
        </p:nvSpPr>
        <p:spPr>
          <a:xfrm>
            <a:off x="457200" y="1120000"/>
            <a:ext cx="11277600" cy="470000"/>
          </a:xfrm>
          <a:prstGeom prst="rect">
            <a:avLst/>
          </a:prstGeom>
          <a:solidFill>
            <a:srgbClr val="0D7377"/>
          </a:solidFill>
          <a:ln>
            <a:noFill/>
          </a:ln>
        </p:spPr>
        <p:txBody>
          <a:bodyPr wrap="square" lIns="182880" tIns="45720" rIns="182880" bIns="45720" rtlCol="0" anchor="ctr">
            <a:normAutofit/>
          </a:bodyPr>
          <a:lstStyle/>
          <a:p>
            <a:pPr marL="0" indent="0" algn="l">
              <a:buNone/>
            </a:pPr>
            <a:r>
              <a:rPr lang="en-US" sz="1500" b="1" dirty="0">
                <a:solidFill>
                  <a:srgbClr val="FFFFFF"/>
                </a:solidFill>
                <a:latin typeface="Arial"/>
                <a:cs typeface="Arial"/>
              </a:rPr>
              <a:t>CẢ LỚP CÙNG LÀM   |   11 phút</a:t>
            </a:r>
          </a:p>
        </p:txBody>
      </p:sp>
      <p:sp>
        <p:nvSpPr>
          <p:cNvPr id="51" name="Steps"/>
          <p:cNvSpPr txBox="1"/>
          <p:nvPr/>
        </p:nvSpPr>
        <p:spPr>
          <a:xfrm>
            <a:off x="457200" y="1720000"/>
            <a:ext cx="6766560" cy="3510000"/>
          </a:xfrm>
          <a:prstGeom prst="rect">
            <a:avLst/>
          </a:prstGeom>
          <a:noFill/>
          <a:ln>
            <a:noFill/>
          </a:ln>
        </p:spPr>
        <p:txBody>
          <a:bodyPr wrap="square" lIns="91440" tIns="45720" rIns="91440" bIns="45720" rtlCol="0" anchor="t"/>
          <a:lstStyle/>
          <a:p>
            <a:pPr marL="380000" indent="-380000" algn="l">
              <a:lnSpc>
                <a:spcPct val="104000"/>
              </a:lnSpc>
              <a:spcBef>
                <a:spcPts val="450"/>
              </a:spcBef>
              <a:buClr>
                <a:srgbClr val="0D7377"/>
              </a:buClr>
              <a:buFont typeface="Arial"/>
              <a:buChar char="•"/>
            </a:pPr>
            <a:r>
              <a:rPr lang="en-US" sz="1650" dirty="0">
                <a:solidFill>
                  <a:srgbClr val="000000"/>
                </a:solidFill>
                <a:latin typeface="Arial"/>
                <a:cs typeface="Arial"/>
              </a:rPr>
              <a:t>Mở Bài tập 1 trong phiếu bài tập Buổi 1</a:t>
            </a:r>
          </a:p>
          <a:p>
            <a:pPr marL="380000" indent="-380000" algn="l">
              <a:lnSpc>
                <a:spcPct val="104000"/>
              </a:lnSpc>
              <a:spcBef>
                <a:spcPts val="450"/>
              </a:spcBef>
              <a:buClr>
                <a:srgbClr val="0D7377"/>
              </a:buClr>
              <a:buFont typeface="Arial"/>
              <a:buChar char="•"/>
            </a:pPr>
            <a:r>
              <a:rPr lang="en-US" sz="1650" dirty="0">
                <a:solidFill>
                  <a:srgbClr val="000000"/>
                </a:solidFill>
                <a:latin typeface="Arial"/>
                <a:cs typeface="Arial"/>
              </a:rPr>
              <a:t>Phiếu đưa ra ba phiên bản nhỏ hơn của câu hỏi: A, B và C (bên phải)</a:t>
            </a:r>
          </a:p>
          <a:p>
            <a:pPr marL="380000" indent="-380000" algn="l">
              <a:lnSpc>
                <a:spcPct val="104000"/>
              </a:lnSpc>
              <a:spcBef>
                <a:spcPts val="450"/>
              </a:spcBef>
              <a:buClr>
                <a:srgbClr val="0D7377"/>
              </a:buClr>
              <a:buFont typeface="Arial"/>
              <a:buChar char="•"/>
            </a:pPr>
            <a:r>
              <a:rPr lang="en-US" sz="1650" dirty="0">
                <a:solidFill>
                  <a:srgbClr val="000000"/>
                </a:solidFill>
                <a:latin typeface="Arial"/>
                <a:cs typeface="Arial"/>
              </a:rPr>
              <a:t>Bình chọn: ICU của bạn làm được phiên bản nào trong vòng hai năm?</a:t>
            </a:r>
          </a:p>
          <a:p>
            <a:pPr marL="380000" indent="-380000" algn="l">
              <a:lnSpc>
                <a:spcPct val="104000"/>
              </a:lnSpc>
              <a:spcBef>
                <a:spcPts val="450"/>
              </a:spcBef>
              <a:buClr>
                <a:srgbClr val="0D7377"/>
              </a:buClr>
              <a:buFont typeface="Arial"/>
              <a:buChar char="•"/>
            </a:pPr>
            <a:r>
              <a:rPr lang="en-US" sz="1650" dirty="0">
                <a:solidFill>
                  <a:srgbClr val="000000"/>
                </a:solidFill>
                <a:latin typeface="Arial"/>
                <a:cs typeface="Arial"/>
              </a:rPr>
              <a:t>Với phiên bản được chọn, người được mời nói P, I hoặc E, C, O và T</a:t>
            </a:r>
          </a:p>
          <a:p>
            <a:pPr marL="380000" indent="-380000" algn="l">
              <a:lnSpc>
                <a:spcPct val="104000"/>
              </a:lnSpc>
              <a:spcBef>
                <a:spcPts val="450"/>
              </a:spcBef>
              <a:buClr>
                <a:srgbClr val="0D7377"/>
              </a:buClr>
              <a:buFont typeface="Arial"/>
              <a:buChar char="•"/>
            </a:pPr>
            <a:r>
              <a:rPr lang="en-US" sz="1650" dirty="0">
                <a:solidFill>
                  <a:srgbClr val="000000"/>
                </a:solidFill>
                <a:latin typeface="Arial"/>
                <a:cs typeface="Arial"/>
              </a:rPr>
              <a:t>Cùng nhau: gọi tên loại câu hỏi và tô màu từng chữ cái FINER</a:t>
            </a:r>
          </a:p>
        </p:txBody>
      </p:sp>
      <p:sp>
        <p:nvSpPr>
          <p:cNvPr id="52" name="Side"/>
          <p:cNvSpPr/>
          <p:nvPr/>
        </p:nvSpPr>
        <p:spPr>
          <a:xfrm>
            <a:off x="7423760" y="1720000"/>
            <a:ext cx="4311040" cy="2406155"/>
          </a:xfrm>
          <a:prstGeom prst="roundRect">
            <a:avLst>
              <a:gd name="adj" fmla="val 5000"/>
            </a:avLst>
          </a:prstGeom>
          <a:solidFill>
            <a:srgbClr val="EAF2F5"/>
          </a:solidFill>
          <a:ln>
            <a:noFill/>
          </a:ln>
        </p:spPr>
        <p:txBody>
          <a:bodyPr wrap="square" lIns="137160" tIns="91440" rIns="137160" bIns="91440" rtlCol="0" anchor="ctr">
            <a:normAutofit/>
          </a:bodyPr>
          <a:lstStyle/>
          <a:p>
            <a:pPr marL="0" indent="0" algn="ctr">
              <a:buNone/>
            </a:pPr>
            <a:r>
              <a:rPr lang="en-US" sz="1600" b="1" dirty="0">
                <a:solidFill>
                  <a:srgbClr val="0D7377"/>
                </a:solidFill>
                <a:latin typeface="Arial"/>
                <a:cs typeface="Arial"/>
              </a:rPr>
              <a:t>Ba phiên bản</a:t>
            </a:r>
          </a:p>
          <a:p>
            <a:pPr marL="0" indent="0" algn="ctr">
              <a:lnSpc>
                <a:spcPct val="104000"/>
              </a:lnSpc>
              <a:spcBef>
                <a:spcPts val="300"/>
              </a:spcBef>
              <a:buNone/>
            </a:pPr>
            <a:r>
              <a:rPr lang="en-US" sz="1500" dirty="0">
                <a:solidFill>
                  <a:srgbClr val="000000"/>
                </a:solidFill>
                <a:latin typeface="Arial"/>
                <a:cs typeface="Arial"/>
              </a:rPr>
              <a:t>A: quy trình hạn chế dịch so với thường quy, cân bằng dịch ngày 5 (thử nghiệm thí điểm)</a:t>
            </a:r>
          </a:p>
          <a:p>
            <a:pPr marL="0" indent="0" algn="ctr">
              <a:lnSpc>
                <a:spcPct val="104000"/>
              </a:lnSpc>
              <a:spcBef>
                <a:spcPts val="300"/>
              </a:spcBef>
              <a:buNone/>
            </a:pPr>
            <a:r>
              <a:rPr lang="en-US" sz="1500" dirty="0">
                <a:solidFill>
                  <a:srgbClr val="000000"/>
                </a:solidFill>
                <a:latin typeface="Arial"/>
                <a:cs typeface="Arial"/>
              </a:rPr>
              <a:t>B: có hay không cân bằng dịch dương đến ngày 3, tử vong đến ngày 28 (thuần tập)</a:t>
            </a:r>
          </a:p>
          <a:p>
            <a:pPr marL="0" indent="0" algn="ctr">
              <a:lnSpc>
                <a:spcPct val="104000"/>
              </a:lnSpc>
              <a:spcBef>
                <a:spcPts val="300"/>
              </a:spcBef>
              <a:buNone/>
            </a:pPr>
            <a:r>
              <a:rPr lang="en-US" sz="1500" dirty="0">
                <a:solidFill>
                  <a:srgbClr val="000000"/>
                </a:solidFill>
                <a:latin typeface="Arial"/>
                <a:cs typeface="Arial"/>
              </a:rPr>
              <a:t>C: bao nhiêu người bệnh của bạn có cân bằng dịch dương ở ngày 3? (mô tả)</a:t>
            </a:r>
          </a:p>
        </p:txBody>
      </p:sp>
      <p:sp>
        <p:nvSpPr>
          <p:cNvPr id="53" name="Deliverable"/>
          <p:cNvSpPr/>
          <p:nvPr/>
        </p:nvSpPr>
        <p:spPr>
          <a:xfrm>
            <a:off x="457200" y="5350000"/>
            <a:ext cx="11277600" cy="600000"/>
          </a:xfrm>
          <a:prstGeom prst="roundRect">
            <a:avLst>
              <a:gd name="adj" fmla="val 12000"/>
            </a:avLst>
          </a:prstGeom>
          <a:solidFill>
            <a:srgbClr val="FFFFFF"/>
          </a:solidFill>
          <a:ln w="15875">
            <a:solidFill>
              <a:srgbClr val="0D7377"/>
            </a:solidFill>
          </a:ln>
        </p:spPr>
        <p:txBody>
          <a:bodyPr wrap="square" lIns="182880" tIns="45720" rIns="182880" bIns="45720" rtlCol="0" anchor="ctr">
            <a:normAutofit/>
          </a:bodyPr>
          <a:lstStyle/>
          <a:p>
            <a:pPr marL="0" indent="0" algn="ctr">
              <a:buNone/>
            </a:pPr>
            <a:r>
              <a:rPr lang="en-US" sz="1300" b="1" dirty="0">
                <a:solidFill>
                  <a:srgbClr val="0D7377"/>
                </a:solidFill>
                <a:latin typeface="Arial"/>
                <a:cs typeface="Arial"/>
              </a:rPr>
              <a:t>SẢN PHẨM   </a:t>
            </a:r>
            <a:r>
              <a:rPr lang="en-US" sz="1500" dirty="0">
                <a:solidFill>
                  <a:srgbClr val="000000"/>
                </a:solidFill>
                <a:latin typeface="Arial"/>
                <a:cs typeface="Arial"/>
              </a:rPr>
              <a:t>Một câu hỏi chung của lớp, có PICO(T) và màu FINER, gõ trên màn hình chia sẻ</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1.3  Mục tiêu và giả thuyết</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20" name="Statement"/>
          <p:cNvSpPr txBox="1"/>
          <p:nvPr/>
        </p:nvSpPr>
        <p:spPr>
          <a:xfrm>
            <a:off x="1057200" y="1280000"/>
            <a:ext cx="10077600" cy="4470000"/>
          </a:xfrm>
          <a:prstGeom prst="rect">
            <a:avLst/>
          </a:prstGeom>
          <a:noFill/>
          <a:ln>
            <a:noFill/>
          </a:ln>
        </p:spPr>
        <p:txBody>
          <a:bodyPr wrap="square" lIns="91440" tIns="45720" rIns="91440" bIns="45720" rtlCol="0" anchor="ctr"/>
          <a:lstStyle/>
          <a:p>
            <a:pPr marL="0" indent="0" algn="ctr">
              <a:lnSpc>
                <a:spcPct val="110000"/>
              </a:lnSpc>
              <a:buNone/>
            </a:pPr>
            <a:r>
              <a:rPr lang="en-US" sz="3200" b="1" dirty="0">
                <a:solidFill>
                  <a:srgbClr val="0D7377"/>
                </a:solidFill>
                <a:latin typeface="Arial"/>
                <a:cs typeface="Arial"/>
              </a:rPr>
              <a:t>Câu hỏi cho biết mình muốn biết gì. Mục tiêu cho biết mình sẽ làm gì.</a:t>
            </a:r>
          </a:p>
          <a:p>
            <a:pPr marL="0" indent="0" algn="ctr">
              <a:spcBef>
                <a:spcPts val="1200"/>
              </a:spcBef>
              <a:buNone/>
            </a:pPr>
            <a:r>
              <a:rPr lang="en-US" sz="1900" i="1" dirty="0">
                <a:solidFill>
                  <a:srgbClr val="595959"/>
                </a:solidFill>
                <a:latin typeface="Arial"/>
                <a:cs typeface="Arial"/>
              </a:rPr>
              <a:t>20 phút: mục tiêu tổng quát, mục tiêu cụ thể, giả thuyết và một bài tập nhanh</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Mục tiêu: ví dụ xuyên suốt</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70" name="CardHead"/>
          <p:cNvSpPr/>
          <p:nvPr/>
        </p:nvSpPr>
        <p:spPr>
          <a:xfrm>
            <a:off x="457200" y="1769140"/>
            <a:ext cx="5538800" cy="640000"/>
          </a:xfrm>
          <a:prstGeom prst="rect">
            <a:avLst/>
          </a:prstGeom>
          <a:solidFill>
            <a:srgbClr val="055F56"/>
          </a:solidFill>
          <a:ln>
            <a:noFill/>
          </a:ln>
        </p:spPr>
        <p:txBody>
          <a:bodyPr wrap="square" lIns="91440" tIns="45720" rIns="91440" bIns="45720" rtlCol="0" anchor="ctr">
            <a:normAutofit/>
          </a:bodyPr>
          <a:lstStyle/>
          <a:p>
            <a:pPr marL="0" indent="0" algn="ctr">
              <a:buNone/>
            </a:pPr>
            <a:r>
              <a:rPr lang="en-US" sz="1900" b="1" dirty="0">
                <a:solidFill>
                  <a:srgbClr val="FFFFFF"/>
                </a:solidFill>
                <a:latin typeface="Arial"/>
                <a:cs typeface="Arial"/>
              </a:rPr>
              <a:t>Mục tiêu tổng quát</a:t>
            </a:r>
          </a:p>
        </p:txBody>
      </p:sp>
      <p:sp>
        <p:nvSpPr>
          <p:cNvPr id="71" name="CardBody"/>
          <p:cNvSpPr/>
          <p:nvPr/>
        </p:nvSpPr>
        <p:spPr>
          <a:xfrm>
            <a:off x="457200" y="2409140"/>
            <a:ext cx="5538800" cy="1742580"/>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900" b="1" dirty="0">
                <a:solidFill>
                  <a:srgbClr val="000000"/>
                </a:solidFill>
                <a:latin typeface="Arial"/>
                <a:cs typeface="Arial"/>
              </a:rPr>
              <a:t>Mục đích chung, trong một câu</a:t>
            </a:r>
          </a:p>
          <a:p>
            <a:pPr marL="0" indent="0" algn="ctr">
              <a:lnSpc>
                <a:spcPct val="104000"/>
              </a:lnSpc>
              <a:spcBef>
                <a:spcPts val="400"/>
              </a:spcBef>
              <a:buNone/>
            </a:pPr>
            <a:r>
              <a:rPr lang="en-US" sz="1900" dirty="0">
                <a:solidFill>
                  <a:srgbClr val="000000"/>
                </a:solidFill>
                <a:latin typeface="Arial"/>
                <a:cs typeface="Arial"/>
              </a:rPr>
              <a:t>So sánh chiến lược hạn chế dịch với chăm sóc thường quy ở người lớn bị sốc nhiễm khuẩn tại ICU</a:t>
            </a:r>
          </a:p>
        </p:txBody>
      </p:sp>
      <p:sp>
        <p:nvSpPr>
          <p:cNvPr id="72" name="CardHead"/>
          <p:cNvSpPr/>
          <p:nvPr/>
        </p:nvSpPr>
        <p:spPr>
          <a:xfrm>
            <a:off x="6196000" y="1769140"/>
            <a:ext cx="5538800" cy="640000"/>
          </a:xfrm>
          <a:prstGeom prst="rect">
            <a:avLst/>
          </a:prstGeom>
          <a:solidFill>
            <a:srgbClr val="0D7377"/>
          </a:solidFill>
          <a:ln>
            <a:noFill/>
          </a:ln>
        </p:spPr>
        <p:txBody>
          <a:bodyPr wrap="square" lIns="91440" tIns="45720" rIns="91440" bIns="45720" rtlCol="0" anchor="ctr">
            <a:normAutofit/>
          </a:bodyPr>
          <a:lstStyle/>
          <a:p>
            <a:pPr marL="0" indent="0" algn="ctr">
              <a:buNone/>
            </a:pPr>
            <a:r>
              <a:rPr lang="en-US" sz="1900" b="1" dirty="0">
                <a:solidFill>
                  <a:srgbClr val="FFFFFF"/>
                </a:solidFill>
                <a:latin typeface="Arial"/>
                <a:cs typeface="Arial"/>
              </a:rPr>
              <a:t>Mục tiêu cụ thể</a:t>
            </a:r>
          </a:p>
        </p:txBody>
      </p:sp>
      <p:sp>
        <p:nvSpPr>
          <p:cNvPr id="73" name="CardBody"/>
          <p:cNvSpPr/>
          <p:nvPr/>
        </p:nvSpPr>
        <p:spPr>
          <a:xfrm>
            <a:off x="6196000" y="2409140"/>
            <a:ext cx="5538800" cy="1742580"/>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900" b="1" dirty="0">
                <a:solidFill>
                  <a:srgbClr val="000000"/>
                </a:solidFill>
                <a:latin typeface="Arial"/>
                <a:cs typeface="Arial"/>
              </a:rPr>
              <a:t>Việc cụ thể, với động từ đo được</a:t>
            </a:r>
          </a:p>
          <a:p>
            <a:pPr marL="0" indent="0" algn="ctr">
              <a:lnSpc>
                <a:spcPct val="104000"/>
              </a:lnSpc>
              <a:spcBef>
                <a:spcPts val="400"/>
              </a:spcBef>
              <a:buNone/>
            </a:pPr>
            <a:r>
              <a:rPr lang="en-US" sz="1900" dirty="0">
                <a:solidFill>
                  <a:srgbClr val="000000"/>
                </a:solidFill>
                <a:latin typeface="Arial"/>
                <a:cs typeface="Arial"/>
              </a:rPr>
              <a:t>Chính: so sánh tử vong 28 ngày</a:t>
            </a:r>
          </a:p>
          <a:p>
            <a:pPr marL="0" indent="0" algn="ctr">
              <a:lnSpc>
                <a:spcPct val="104000"/>
              </a:lnSpc>
              <a:spcBef>
                <a:spcPts val="400"/>
              </a:spcBef>
              <a:buNone/>
            </a:pPr>
            <a:r>
              <a:rPr lang="en-US" sz="1900" dirty="0">
                <a:solidFill>
                  <a:srgbClr val="000000"/>
                </a:solidFill>
                <a:latin typeface="Arial"/>
                <a:cs typeface="Arial"/>
              </a:rPr>
              <a:t>So sánh cân bằng dịch ngày 5</a:t>
            </a:r>
          </a:p>
          <a:p>
            <a:pPr marL="0" indent="0" algn="ctr">
              <a:lnSpc>
                <a:spcPct val="104000"/>
              </a:lnSpc>
              <a:spcBef>
                <a:spcPts val="400"/>
              </a:spcBef>
              <a:buNone/>
            </a:pPr>
            <a:r>
              <a:rPr lang="en-US" sz="1900" dirty="0">
                <a:solidFill>
                  <a:srgbClr val="000000"/>
                </a:solidFill>
                <a:latin typeface="Arial"/>
                <a:cs typeface="Arial"/>
              </a:rPr>
              <a:t>So sánh tổn thương thận cần lọc máu</a:t>
            </a:r>
          </a:p>
        </p:txBody>
      </p:sp>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ctr">
              <a:buNone/>
            </a:pPr>
            <a:r>
              <a:rPr lang="en-US" sz="1300" b="1" dirty="0">
                <a:solidFill>
                  <a:srgbClr val="FFFFFF"/>
                </a:solidFill>
                <a:latin typeface="Arial"/>
                <a:cs typeface="Arial"/>
              </a:rPr>
              <a:t>THÔNG ĐIỆP CHÍNH   </a:t>
            </a:r>
            <a:r>
              <a:rPr lang="en-US" sz="1550" dirty="0">
                <a:solidFill>
                  <a:srgbClr val="FFFFFF"/>
                </a:solidFill>
                <a:latin typeface="Arial"/>
                <a:cs typeface="Arial"/>
              </a:rPr>
              <a:t>Một mục tiêu tổng quát, 2-3 mục tiêu cụ thể đo được. Đánh dấu mục tiêu chính.</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Mục tiêu cụ thể bắt đầu bằng động từ đo được</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70" name="CardHead"/>
          <p:cNvSpPr/>
          <p:nvPr/>
        </p:nvSpPr>
        <p:spPr>
          <a:xfrm>
            <a:off x="457200" y="1781840"/>
            <a:ext cx="5538800" cy="640000"/>
          </a:xfrm>
          <a:prstGeom prst="rect">
            <a:avLst/>
          </a:prstGeom>
          <a:solidFill>
            <a:srgbClr val="B23B2E"/>
          </a:solidFill>
          <a:ln>
            <a:noFill/>
          </a:ln>
        </p:spPr>
        <p:txBody>
          <a:bodyPr wrap="square" lIns="91440" tIns="45720" rIns="91440" bIns="45720" rtlCol="0" anchor="ctr">
            <a:normAutofit/>
          </a:bodyPr>
          <a:lstStyle/>
          <a:p>
            <a:pPr marL="0" indent="0" algn="ctr">
              <a:buNone/>
            </a:pPr>
            <a:r>
              <a:rPr lang="en-US" sz="1900" b="1" dirty="0">
                <a:solidFill>
                  <a:srgbClr val="FFFFFF"/>
                </a:solidFill>
                <a:latin typeface="Arial"/>
                <a:cs typeface="Arial"/>
              </a:rPr>
              <a:t>Động từ mơ hồ</a:t>
            </a:r>
          </a:p>
        </p:txBody>
      </p:sp>
      <p:sp>
        <p:nvSpPr>
          <p:cNvPr id="71" name="CardBody"/>
          <p:cNvSpPr/>
          <p:nvPr/>
        </p:nvSpPr>
        <p:spPr>
          <a:xfrm>
            <a:off x="457200" y="2421840"/>
            <a:ext cx="5538800" cy="1704480"/>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2000" dirty="0">
                <a:solidFill>
                  <a:srgbClr val="000000"/>
                </a:solidFill>
                <a:latin typeface="Arial"/>
                <a:cs typeface="Arial"/>
              </a:rPr>
              <a:t>tìm hiểu, biết, nghiên cứu về, khám phá, xem xét</a:t>
            </a:r>
          </a:p>
          <a:p>
            <a:pPr marL="0" indent="0" algn="ctr">
              <a:lnSpc>
                <a:spcPct val="104000"/>
              </a:lnSpc>
              <a:spcBef>
                <a:spcPts val="400"/>
              </a:spcBef>
              <a:buNone/>
            </a:pPr>
            <a:r>
              <a:rPr lang="en-US" sz="2000" i="1" dirty="0">
                <a:solidFill>
                  <a:srgbClr val="000000"/>
                </a:solidFill>
                <a:latin typeface="Arial"/>
                <a:cs typeface="Arial"/>
              </a:rPr>
              <a:t>"Tìm hiểu về quản lý dịch truyền tại ICU"</a:t>
            </a:r>
          </a:p>
        </p:txBody>
      </p:sp>
      <p:sp>
        <p:nvSpPr>
          <p:cNvPr id="72" name="CardHead"/>
          <p:cNvSpPr/>
          <p:nvPr/>
        </p:nvSpPr>
        <p:spPr>
          <a:xfrm>
            <a:off x="6196000" y="1781840"/>
            <a:ext cx="5538800" cy="640000"/>
          </a:xfrm>
          <a:prstGeom prst="rect">
            <a:avLst/>
          </a:prstGeom>
          <a:solidFill>
            <a:srgbClr val="2E8B57"/>
          </a:solidFill>
          <a:ln>
            <a:noFill/>
          </a:ln>
        </p:spPr>
        <p:txBody>
          <a:bodyPr wrap="square" lIns="91440" tIns="45720" rIns="91440" bIns="45720" rtlCol="0" anchor="ctr">
            <a:normAutofit/>
          </a:bodyPr>
          <a:lstStyle/>
          <a:p>
            <a:pPr marL="0" indent="0" algn="ctr">
              <a:buNone/>
            </a:pPr>
            <a:r>
              <a:rPr lang="en-US" sz="1900" b="1" dirty="0">
                <a:solidFill>
                  <a:srgbClr val="FFFFFF"/>
                </a:solidFill>
                <a:latin typeface="Arial"/>
                <a:cs typeface="Arial"/>
              </a:rPr>
              <a:t>Động từ đo được</a:t>
            </a:r>
          </a:p>
        </p:txBody>
      </p:sp>
      <p:sp>
        <p:nvSpPr>
          <p:cNvPr id="73" name="CardBody"/>
          <p:cNvSpPr/>
          <p:nvPr/>
        </p:nvSpPr>
        <p:spPr>
          <a:xfrm>
            <a:off x="6196000" y="2421840"/>
            <a:ext cx="5538800" cy="1704480"/>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2000" dirty="0">
                <a:solidFill>
                  <a:srgbClr val="000000"/>
                </a:solidFill>
                <a:latin typeface="Arial"/>
                <a:cs typeface="Arial"/>
              </a:rPr>
              <a:t>so sánh, ước tính, mô tả, xác định, đo lường</a:t>
            </a:r>
          </a:p>
          <a:p>
            <a:pPr marL="0" indent="0" algn="ctr">
              <a:lnSpc>
                <a:spcPct val="104000"/>
              </a:lnSpc>
              <a:spcBef>
                <a:spcPts val="400"/>
              </a:spcBef>
              <a:buNone/>
            </a:pPr>
            <a:r>
              <a:rPr lang="en-US" sz="2000" i="1" dirty="0">
                <a:solidFill>
                  <a:srgbClr val="000000"/>
                </a:solidFill>
                <a:latin typeface="Arial"/>
                <a:cs typeface="Arial"/>
              </a:rPr>
              <a:t>"So sánh cân bằng dịch tích lũy ngày 5 giữa hai nhóm"</a:t>
            </a:r>
          </a:p>
        </p:txBody>
      </p:sp>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ctr">
              <a:buNone/>
            </a:pPr>
            <a:r>
              <a:rPr lang="en-US" sz="1300" b="1" dirty="0">
                <a:solidFill>
                  <a:srgbClr val="FFFFFF"/>
                </a:solidFill>
                <a:latin typeface="Arial"/>
                <a:cs typeface="Arial"/>
              </a:rPr>
              <a:t>THÔNG ĐIỆP CHÍNH   </a:t>
            </a:r>
            <a:r>
              <a:rPr lang="en-US" sz="1550" dirty="0">
                <a:solidFill>
                  <a:srgbClr val="FFFFFF"/>
                </a:solidFill>
                <a:latin typeface="Arial"/>
                <a:cs typeface="Arial"/>
              </a:rPr>
              <a:t>Nếu chưa nói được sẽ đo bằng cách nào, đó chưa phải là mục tiêu cụ thể.</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Giả thuyết không và giả thuyết đối</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19" name="Intro"/>
          <p:cNvSpPr txBox="1"/>
          <p:nvPr/>
        </p:nvSpPr>
        <p:spPr>
          <a:xfrm>
            <a:off x="457200" y="1100000"/>
            <a:ext cx="11277600" cy="480000"/>
          </a:xfrm>
          <a:prstGeom prst="rect">
            <a:avLst/>
          </a:prstGeom>
          <a:noFill/>
          <a:ln>
            <a:noFill/>
          </a:ln>
        </p:spPr>
        <p:txBody>
          <a:bodyPr wrap="square" lIns="91440" tIns="45720" rIns="91440" bIns="45720" rtlCol="0" anchor="t"/>
          <a:lstStyle/>
          <a:p>
            <a:pPr marL="0" indent="0" algn="l">
              <a:buNone/>
            </a:pPr>
            <a:r>
              <a:rPr lang="en-US" sz="1700" i="1" dirty="0">
                <a:solidFill>
                  <a:srgbClr val="595959"/>
                </a:solidFill>
                <a:latin typeface="Arial"/>
                <a:cs typeface="Arial"/>
              </a:rPr>
              <a:t>Giả thuyết là câu trả lời dự kiến cho mục tiêu chính: so sánh tử vong 28 ngày.</a:t>
            </a:r>
          </a:p>
        </p:txBody>
      </p:sp>
      <p:sp>
        <p:nvSpPr>
          <p:cNvPr id="100" name="Box"/>
          <p:cNvSpPr/>
          <p:nvPr/>
        </p:nvSpPr>
        <p:spPr>
          <a:xfrm>
            <a:off x="472440" y="1733360"/>
            <a:ext cx="5486400" cy="3383280"/>
          </a:xfrm>
          <a:prstGeom prst="roundRect">
            <a:avLst>
              <a:gd name="adj" fmla="val 5000"/>
            </a:avLst>
          </a:prstGeom>
          <a:noFill/>
          <a:ln w="31750">
            <a:solidFill>
              <a:srgbClr val="8A99A3"/>
            </a:solidFill>
          </a:ln>
        </p:spPr>
        <p:txBody>
          <a:bodyPr wrap="square" lIns="54864" tIns="54864" rIns="54864" bIns="54864" rtlCol="0" anchor="ctr">
            <a:noAutofit/>
          </a:bodyPr>
          <a:lstStyle/>
          <a:p>
            <a:endParaRPr lang="en-US"/>
          </a:p>
        </p:txBody>
      </p:sp>
      <p:sp>
        <p:nvSpPr>
          <p:cNvPr id="101" name="Text"/>
          <p:cNvSpPr/>
          <p:nvPr/>
        </p:nvSpPr>
        <p:spPr>
          <a:xfrm>
            <a:off x="472440" y="1806512"/>
            <a:ext cx="5486400" cy="457200"/>
          </a:xfrm>
          <a:prstGeom prst="rect">
            <a:avLst/>
          </a:prstGeom>
          <a:noFill/>
          <a:ln>
            <a:noFill/>
          </a:ln>
        </p:spPr>
        <p:txBody>
          <a:bodyPr wrap="square" lIns="54864" tIns="54864" rIns="54864" bIns="54864" rtlCol="0" anchor="ctr">
            <a:noAutofit/>
          </a:bodyPr>
          <a:lstStyle/>
          <a:p>
            <a:pPr marL="0" indent="0" algn="ctr">
              <a:lnSpc>
                <a:spcPct val="100000"/>
              </a:lnSpc>
              <a:buNone/>
            </a:pPr>
            <a:r>
              <a:rPr lang="en-US" sz="2000" b="1" dirty="0">
                <a:solidFill>
                  <a:srgbClr val="595959"/>
                </a:solidFill>
                <a:latin typeface="Arial"/>
                <a:cs typeface="Arial"/>
              </a:rPr>
              <a:t>H0  giả thuyết không</a:t>
            </a:r>
          </a:p>
        </p:txBody>
      </p:sp>
      <p:sp>
        <p:nvSpPr>
          <p:cNvPr id="102" name="Text"/>
          <p:cNvSpPr/>
          <p:nvPr/>
        </p:nvSpPr>
        <p:spPr>
          <a:xfrm>
            <a:off x="472440" y="2236280"/>
            <a:ext cx="5486400" cy="365760"/>
          </a:xfrm>
          <a:prstGeom prst="rect">
            <a:avLst/>
          </a:prstGeom>
          <a:noFill/>
          <a:ln>
            <a:noFill/>
          </a:ln>
        </p:spPr>
        <p:txBody>
          <a:bodyPr wrap="square" lIns="54864" tIns="54864" rIns="54864" bIns="54864" rtlCol="0" anchor="ctr">
            <a:noAutofit/>
          </a:bodyPr>
          <a:lstStyle/>
          <a:p>
            <a:pPr marL="0" indent="0" algn="ctr">
              <a:lnSpc>
                <a:spcPct val="100000"/>
              </a:lnSpc>
              <a:buNone/>
            </a:pPr>
            <a:r>
              <a:rPr lang="en-US" sz="1600" dirty="0">
                <a:solidFill>
                  <a:srgbClr val="1A1A1A"/>
                </a:solidFill>
                <a:latin typeface="Arial"/>
                <a:cs typeface="Arial"/>
              </a:rPr>
              <a:t>Tử vong 28 ngày như nhau</a:t>
            </a:r>
          </a:p>
        </p:txBody>
      </p:sp>
      <p:cxnSp>
        <p:nvCxnSpPr>
          <p:cNvPr id="103" name="Line"/>
          <p:cNvCxnSpPr/>
          <p:nvPr/>
        </p:nvCxnSpPr>
        <p:spPr>
          <a:xfrm>
            <a:off x="838200" y="4476560"/>
            <a:ext cx="4754880" cy="0"/>
          </a:xfrm>
          <a:prstGeom prst="straightConnector1">
            <a:avLst/>
          </a:prstGeom>
          <a:ln w="19050" cap="rnd">
            <a:solidFill>
              <a:srgbClr val="8A99A3"/>
            </a:solidFill>
            <a:round/>
          </a:ln>
        </p:spPr>
      </p:cxnSp>
      <p:sp>
        <p:nvSpPr>
          <p:cNvPr id="104" name="Box"/>
          <p:cNvSpPr/>
          <p:nvPr/>
        </p:nvSpPr>
        <p:spPr>
          <a:xfrm>
            <a:off x="1249680" y="3104960"/>
            <a:ext cx="1280160" cy="1371600"/>
          </a:xfrm>
          <a:prstGeom prst="rect">
            <a:avLst/>
          </a:prstGeom>
          <a:solidFill>
            <a:srgbClr val="0D7377"/>
          </a:solidFill>
          <a:ln>
            <a:noFill/>
          </a:ln>
        </p:spPr>
        <p:txBody>
          <a:bodyPr wrap="square" lIns="54864" tIns="54864" rIns="54864" bIns="54864" rtlCol="0" anchor="ctr">
            <a:noAutofit/>
          </a:bodyPr>
          <a:lstStyle/>
          <a:p>
            <a:endParaRPr lang="en-US"/>
          </a:p>
        </p:txBody>
      </p:sp>
      <p:sp>
        <p:nvSpPr>
          <p:cNvPr id="105" name="Text"/>
          <p:cNvSpPr/>
          <p:nvPr/>
        </p:nvSpPr>
        <p:spPr>
          <a:xfrm>
            <a:off x="1066800" y="2720912"/>
            <a:ext cx="1645920" cy="365760"/>
          </a:xfrm>
          <a:prstGeom prst="rect">
            <a:avLst/>
          </a:prstGeom>
          <a:noFill/>
          <a:ln>
            <a:noFill/>
          </a:ln>
        </p:spPr>
        <p:txBody>
          <a:bodyPr wrap="square" lIns="54864" tIns="54864" rIns="54864" bIns="54864" rtlCol="0" anchor="ctr">
            <a:noAutofit/>
          </a:bodyPr>
          <a:lstStyle/>
          <a:p>
            <a:pPr marL="0" indent="0" algn="ctr">
              <a:lnSpc>
                <a:spcPct val="100000"/>
              </a:lnSpc>
              <a:buNone/>
            </a:pPr>
            <a:r>
              <a:rPr lang="en-US" sz="1700" b="1" dirty="0">
                <a:solidFill>
                  <a:srgbClr val="0D7377"/>
                </a:solidFill>
                <a:latin typeface="Arial"/>
                <a:cs typeface="Arial"/>
              </a:rPr>
              <a:t>?%</a:t>
            </a:r>
          </a:p>
        </p:txBody>
      </p:sp>
      <p:sp>
        <p:nvSpPr>
          <p:cNvPr id="106" name="Text"/>
          <p:cNvSpPr/>
          <p:nvPr/>
        </p:nvSpPr>
        <p:spPr>
          <a:xfrm>
            <a:off x="792480" y="4540568"/>
            <a:ext cx="2194560" cy="365760"/>
          </a:xfrm>
          <a:prstGeom prst="rect">
            <a:avLst/>
          </a:prstGeom>
          <a:noFill/>
          <a:ln>
            <a:noFill/>
          </a:ln>
        </p:spPr>
        <p:txBody>
          <a:bodyPr wrap="square" lIns="54864" tIns="54864" rIns="54864" bIns="54864" rtlCol="0" anchor="ctr">
            <a:noAutofit/>
          </a:bodyPr>
          <a:lstStyle/>
          <a:p>
            <a:pPr marL="0" indent="0" algn="ctr">
              <a:lnSpc>
                <a:spcPct val="100000"/>
              </a:lnSpc>
              <a:buNone/>
            </a:pPr>
            <a:r>
              <a:rPr lang="en-US" sz="1600" dirty="0">
                <a:solidFill>
                  <a:srgbClr val="1A1A1A"/>
                </a:solidFill>
                <a:latin typeface="Arial"/>
                <a:cs typeface="Arial"/>
              </a:rPr>
              <a:t>Hạn chế dịch</a:t>
            </a:r>
          </a:p>
        </p:txBody>
      </p:sp>
      <p:sp>
        <p:nvSpPr>
          <p:cNvPr id="107" name="Box"/>
          <p:cNvSpPr/>
          <p:nvPr/>
        </p:nvSpPr>
        <p:spPr>
          <a:xfrm>
            <a:off x="3901440" y="3104960"/>
            <a:ext cx="1280160" cy="1371600"/>
          </a:xfrm>
          <a:prstGeom prst="rect">
            <a:avLst/>
          </a:prstGeom>
          <a:solidFill>
            <a:srgbClr val="0B376C"/>
          </a:solidFill>
          <a:ln>
            <a:noFill/>
          </a:ln>
        </p:spPr>
        <p:txBody>
          <a:bodyPr wrap="square" lIns="54864" tIns="54864" rIns="54864" bIns="54864" rtlCol="0" anchor="ctr">
            <a:noAutofit/>
          </a:bodyPr>
          <a:lstStyle/>
          <a:p>
            <a:endParaRPr lang="en-US"/>
          </a:p>
        </p:txBody>
      </p:sp>
      <p:sp>
        <p:nvSpPr>
          <p:cNvPr id="108" name="Text"/>
          <p:cNvSpPr/>
          <p:nvPr/>
        </p:nvSpPr>
        <p:spPr>
          <a:xfrm>
            <a:off x="3718560" y="2720912"/>
            <a:ext cx="1645920" cy="365760"/>
          </a:xfrm>
          <a:prstGeom prst="rect">
            <a:avLst/>
          </a:prstGeom>
          <a:noFill/>
          <a:ln>
            <a:noFill/>
          </a:ln>
        </p:spPr>
        <p:txBody>
          <a:bodyPr wrap="square" lIns="54864" tIns="54864" rIns="54864" bIns="54864" rtlCol="0" anchor="ctr">
            <a:noAutofit/>
          </a:bodyPr>
          <a:lstStyle/>
          <a:p>
            <a:pPr marL="0" indent="0" algn="ctr">
              <a:lnSpc>
                <a:spcPct val="100000"/>
              </a:lnSpc>
              <a:buNone/>
            </a:pPr>
            <a:r>
              <a:rPr lang="en-US" sz="1700" b="1" dirty="0">
                <a:solidFill>
                  <a:srgbClr val="0B376C"/>
                </a:solidFill>
                <a:latin typeface="Arial"/>
                <a:cs typeface="Arial"/>
              </a:rPr>
              <a:t>?%</a:t>
            </a:r>
          </a:p>
        </p:txBody>
      </p:sp>
      <p:sp>
        <p:nvSpPr>
          <p:cNvPr id="109" name="Text"/>
          <p:cNvSpPr/>
          <p:nvPr/>
        </p:nvSpPr>
        <p:spPr>
          <a:xfrm>
            <a:off x="3444240" y="4540568"/>
            <a:ext cx="2194560" cy="365760"/>
          </a:xfrm>
          <a:prstGeom prst="rect">
            <a:avLst/>
          </a:prstGeom>
          <a:noFill/>
          <a:ln>
            <a:noFill/>
          </a:ln>
        </p:spPr>
        <p:txBody>
          <a:bodyPr wrap="square" lIns="54864" tIns="54864" rIns="54864" bIns="54864" rtlCol="0" anchor="ctr">
            <a:noAutofit/>
          </a:bodyPr>
          <a:lstStyle/>
          <a:p>
            <a:pPr marL="0" indent="0" algn="ctr">
              <a:lnSpc>
                <a:spcPct val="100000"/>
              </a:lnSpc>
              <a:buNone/>
            </a:pPr>
            <a:r>
              <a:rPr lang="en-US" sz="1600" dirty="0">
                <a:solidFill>
                  <a:srgbClr val="1A1A1A"/>
                </a:solidFill>
                <a:latin typeface="Arial"/>
                <a:cs typeface="Arial"/>
              </a:rPr>
              <a:t>Thường quy</a:t>
            </a:r>
          </a:p>
        </p:txBody>
      </p:sp>
      <p:sp>
        <p:nvSpPr>
          <p:cNvPr id="110" name="Text"/>
          <p:cNvSpPr/>
          <p:nvPr/>
        </p:nvSpPr>
        <p:spPr>
          <a:xfrm>
            <a:off x="2667000" y="3379280"/>
            <a:ext cx="1097280" cy="731520"/>
          </a:xfrm>
          <a:prstGeom prst="rect">
            <a:avLst/>
          </a:prstGeom>
          <a:noFill/>
          <a:ln>
            <a:noFill/>
          </a:ln>
        </p:spPr>
        <p:txBody>
          <a:bodyPr wrap="square" lIns="54864" tIns="54864" rIns="54864" bIns="54864" rtlCol="0" anchor="ctr">
            <a:noAutofit/>
          </a:bodyPr>
          <a:lstStyle/>
          <a:p>
            <a:pPr marL="0" indent="0" algn="ctr">
              <a:lnSpc>
                <a:spcPct val="100000"/>
              </a:lnSpc>
              <a:buNone/>
            </a:pPr>
            <a:r>
              <a:rPr lang="en-US" sz="3600" b="1" dirty="0">
                <a:solidFill>
                  <a:srgbClr val="595959"/>
                </a:solidFill>
                <a:latin typeface="Arial"/>
                <a:cs typeface="Arial"/>
              </a:rPr>
              <a:t>=</a:t>
            </a:r>
          </a:p>
        </p:txBody>
      </p:sp>
      <p:sp>
        <p:nvSpPr>
          <p:cNvPr id="111" name="Box"/>
          <p:cNvSpPr/>
          <p:nvPr/>
        </p:nvSpPr>
        <p:spPr>
          <a:xfrm>
            <a:off x="6233160" y="1733360"/>
            <a:ext cx="5486400" cy="3383280"/>
          </a:xfrm>
          <a:prstGeom prst="roundRect">
            <a:avLst>
              <a:gd name="adj" fmla="val 5000"/>
            </a:avLst>
          </a:prstGeom>
          <a:noFill/>
          <a:ln w="31750">
            <a:solidFill>
              <a:srgbClr val="0D7377"/>
            </a:solidFill>
          </a:ln>
        </p:spPr>
        <p:txBody>
          <a:bodyPr wrap="square" lIns="54864" tIns="54864" rIns="54864" bIns="54864" rtlCol="0" anchor="ctr">
            <a:noAutofit/>
          </a:bodyPr>
          <a:lstStyle/>
          <a:p>
            <a:endParaRPr lang="en-US"/>
          </a:p>
        </p:txBody>
      </p:sp>
      <p:sp>
        <p:nvSpPr>
          <p:cNvPr id="112" name="Text"/>
          <p:cNvSpPr/>
          <p:nvPr/>
        </p:nvSpPr>
        <p:spPr>
          <a:xfrm>
            <a:off x="6233160" y="1806512"/>
            <a:ext cx="5486400" cy="457200"/>
          </a:xfrm>
          <a:prstGeom prst="rect">
            <a:avLst/>
          </a:prstGeom>
          <a:noFill/>
          <a:ln>
            <a:noFill/>
          </a:ln>
        </p:spPr>
        <p:txBody>
          <a:bodyPr wrap="square" lIns="54864" tIns="54864" rIns="54864" bIns="54864" rtlCol="0" anchor="ctr">
            <a:noAutofit/>
          </a:bodyPr>
          <a:lstStyle/>
          <a:p>
            <a:pPr marL="0" indent="0" algn="ctr">
              <a:lnSpc>
                <a:spcPct val="100000"/>
              </a:lnSpc>
              <a:buNone/>
            </a:pPr>
            <a:r>
              <a:rPr lang="en-US" sz="2000" b="1" dirty="0">
                <a:solidFill>
                  <a:srgbClr val="0D7377"/>
                </a:solidFill>
                <a:latin typeface="Arial"/>
                <a:cs typeface="Arial"/>
              </a:rPr>
              <a:t>H1  giả thuyết đối</a:t>
            </a:r>
          </a:p>
        </p:txBody>
      </p:sp>
      <p:sp>
        <p:nvSpPr>
          <p:cNvPr id="113" name="Text"/>
          <p:cNvSpPr/>
          <p:nvPr/>
        </p:nvSpPr>
        <p:spPr>
          <a:xfrm>
            <a:off x="6233160" y="2236280"/>
            <a:ext cx="5486400" cy="365760"/>
          </a:xfrm>
          <a:prstGeom prst="rect">
            <a:avLst/>
          </a:prstGeom>
          <a:noFill/>
          <a:ln>
            <a:noFill/>
          </a:ln>
        </p:spPr>
        <p:txBody>
          <a:bodyPr wrap="square" lIns="54864" tIns="54864" rIns="54864" bIns="54864" rtlCol="0" anchor="ctr">
            <a:noAutofit/>
          </a:bodyPr>
          <a:lstStyle/>
          <a:p>
            <a:pPr marL="0" indent="0" algn="ctr">
              <a:lnSpc>
                <a:spcPct val="100000"/>
              </a:lnSpc>
              <a:buNone/>
            </a:pPr>
            <a:r>
              <a:rPr lang="en-US" sz="1600" dirty="0">
                <a:solidFill>
                  <a:srgbClr val="1A1A1A"/>
                </a:solidFill>
                <a:latin typeface="Arial"/>
                <a:cs typeface="Arial"/>
              </a:rPr>
              <a:t>Tử vong 28 ngày khác nhau</a:t>
            </a:r>
          </a:p>
        </p:txBody>
      </p:sp>
      <p:cxnSp>
        <p:nvCxnSpPr>
          <p:cNvPr id="114" name="Line"/>
          <p:cNvCxnSpPr/>
          <p:nvPr/>
        </p:nvCxnSpPr>
        <p:spPr>
          <a:xfrm>
            <a:off x="6598920" y="4476560"/>
            <a:ext cx="4754880" cy="0"/>
          </a:xfrm>
          <a:prstGeom prst="straightConnector1">
            <a:avLst/>
          </a:prstGeom>
          <a:ln w="19050" cap="rnd">
            <a:solidFill>
              <a:srgbClr val="8A99A3"/>
            </a:solidFill>
            <a:round/>
          </a:ln>
        </p:spPr>
      </p:cxnSp>
      <p:sp>
        <p:nvSpPr>
          <p:cNvPr id="115" name="Box"/>
          <p:cNvSpPr/>
          <p:nvPr/>
        </p:nvSpPr>
        <p:spPr>
          <a:xfrm>
            <a:off x="7010400" y="3470720"/>
            <a:ext cx="1280160" cy="1005840"/>
          </a:xfrm>
          <a:prstGeom prst="rect">
            <a:avLst/>
          </a:prstGeom>
          <a:solidFill>
            <a:srgbClr val="0D7377"/>
          </a:solidFill>
          <a:ln>
            <a:noFill/>
          </a:ln>
        </p:spPr>
        <p:txBody>
          <a:bodyPr wrap="square" lIns="54864" tIns="54864" rIns="54864" bIns="54864" rtlCol="0" anchor="ctr">
            <a:noAutofit/>
          </a:bodyPr>
          <a:lstStyle/>
          <a:p>
            <a:endParaRPr lang="en-US"/>
          </a:p>
        </p:txBody>
      </p:sp>
      <p:sp>
        <p:nvSpPr>
          <p:cNvPr id="116" name="Text"/>
          <p:cNvSpPr/>
          <p:nvPr/>
        </p:nvSpPr>
        <p:spPr>
          <a:xfrm>
            <a:off x="6827520" y="3086672"/>
            <a:ext cx="1645920" cy="365760"/>
          </a:xfrm>
          <a:prstGeom prst="rect">
            <a:avLst/>
          </a:prstGeom>
          <a:noFill/>
          <a:ln>
            <a:noFill/>
          </a:ln>
        </p:spPr>
        <p:txBody>
          <a:bodyPr wrap="square" lIns="54864" tIns="54864" rIns="54864" bIns="54864" rtlCol="0" anchor="ctr">
            <a:noAutofit/>
          </a:bodyPr>
          <a:lstStyle/>
          <a:p>
            <a:pPr marL="0" indent="0" algn="ctr">
              <a:lnSpc>
                <a:spcPct val="100000"/>
              </a:lnSpc>
              <a:buNone/>
            </a:pPr>
            <a:r>
              <a:rPr lang="en-US" sz="1700" b="1" dirty="0">
                <a:solidFill>
                  <a:srgbClr val="0D7377"/>
                </a:solidFill>
                <a:latin typeface="Arial"/>
                <a:cs typeface="Arial"/>
              </a:rPr>
              <a:t>?%</a:t>
            </a:r>
          </a:p>
        </p:txBody>
      </p:sp>
      <p:sp>
        <p:nvSpPr>
          <p:cNvPr id="117" name="Text"/>
          <p:cNvSpPr/>
          <p:nvPr/>
        </p:nvSpPr>
        <p:spPr>
          <a:xfrm>
            <a:off x="6553200" y="4540568"/>
            <a:ext cx="2194560" cy="365760"/>
          </a:xfrm>
          <a:prstGeom prst="rect">
            <a:avLst/>
          </a:prstGeom>
          <a:noFill/>
          <a:ln>
            <a:noFill/>
          </a:ln>
        </p:spPr>
        <p:txBody>
          <a:bodyPr wrap="square" lIns="54864" tIns="54864" rIns="54864" bIns="54864" rtlCol="0" anchor="ctr">
            <a:noAutofit/>
          </a:bodyPr>
          <a:lstStyle/>
          <a:p>
            <a:pPr marL="0" indent="0" algn="ctr">
              <a:lnSpc>
                <a:spcPct val="100000"/>
              </a:lnSpc>
              <a:buNone/>
            </a:pPr>
            <a:r>
              <a:rPr lang="en-US" sz="1600" dirty="0">
                <a:solidFill>
                  <a:srgbClr val="1A1A1A"/>
                </a:solidFill>
                <a:latin typeface="Arial"/>
                <a:cs typeface="Arial"/>
              </a:rPr>
              <a:t>Hạn chế dịch</a:t>
            </a:r>
          </a:p>
        </p:txBody>
      </p:sp>
      <p:sp>
        <p:nvSpPr>
          <p:cNvPr id="118" name="Box"/>
          <p:cNvSpPr/>
          <p:nvPr/>
        </p:nvSpPr>
        <p:spPr>
          <a:xfrm>
            <a:off x="9662160" y="2967800"/>
            <a:ext cx="1280160" cy="1508760"/>
          </a:xfrm>
          <a:prstGeom prst="rect">
            <a:avLst/>
          </a:prstGeom>
          <a:solidFill>
            <a:srgbClr val="0B376C"/>
          </a:solidFill>
          <a:ln>
            <a:noFill/>
          </a:ln>
        </p:spPr>
        <p:txBody>
          <a:bodyPr wrap="square" lIns="54864" tIns="54864" rIns="54864" bIns="54864" rtlCol="0" anchor="ctr">
            <a:noAutofit/>
          </a:bodyPr>
          <a:lstStyle/>
          <a:p>
            <a:endParaRPr lang="en-US"/>
          </a:p>
        </p:txBody>
      </p:sp>
      <p:sp>
        <p:nvSpPr>
          <p:cNvPr id="119" name="Text"/>
          <p:cNvSpPr/>
          <p:nvPr/>
        </p:nvSpPr>
        <p:spPr>
          <a:xfrm>
            <a:off x="9479280" y="2583752"/>
            <a:ext cx="1645920" cy="365760"/>
          </a:xfrm>
          <a:prstGeom prst="rect">
            <a:avLst/>
          </a:prstGeom>
          <a:noFill/>
          <a:ln>
            <a:noFill/>
          </a:ln>
        </p:spPr>
        <p:txBody>
          <a:bodyPr wrap="square" lIns="54864" tIns="54864" rIns="54864" bIns="54864" rtlCol="0" anchor="ctr">
            <a:noAutofit/>
          </a:bodyPr>
          <a:lstStyle/>
          <a:p>
            <a:pPr marL="0" indent="0" algn="ctr">
              <a:lnSpc>
                <a:spcPct val="100000"/>
              </a:lnSpc>
              <a:buNone/>
            </a:pPr>
            <a:r>
              <a:rPr lang="en-US" sz="1700" b="1" dirty="0">
                <a:solidFill>
                  <a:srgbClr val="0B376C"/>
                </a:solidFill>
                <a:latin typeface="Arial"/>
                <a:cs typeface="Arial"/>
              </a:rPr>
              <a:t>?%</a:t>
            </a:r>
          </a:p>
        </p:txBody>
      </p:sp>
      <p:sp>
        <p:nvSpPr>
          <p:cNvPr id="120" name="Text"/>
          <p:cNvSpPr/>
          <p:nvPr/>
        </p:nvSpPr>
        <p:spPr>
          <a:xfrm>
            <a:off x="9204960" y="4540568"/>
            <a:ext cx="2194560" cy="365760"/>
          </a:xfrm>
          <a:prstGeom prst="rect">
            <a:avLst/>
          </a:prstGeom>
          <a:noFill/>
          <a:ln>
            <a:noFill/>
          </a:ln>
        </p:spPr>
        <p:txBody>
          <a:bodyPr wrap="square" lIns="54864" tIns="54864" rIns="54864" bIns="54864" rtlCol="0" anchor="ctr">
            <a:noAutofit/>
          </a:bodyPr>
          <a:lstStyle/>
          <a:p>
            <a:pPr marL="0" indent="0" algn="ctr">
              <a:lnSpc>
                <a:spcPct val="100000"/>
              </a:lnSpc>
              <a:buNone/>
            </a:pPr>
            <a:r>
              <a:rPr lang="en-US" sz="1600" dirty="0">
                <a:solidFill>
                  <a:srgbClr val="1A1A1A"/>
                </a:solidFill>
                <a:latin typeface="Arial"/>
                <a:cs typeface="Arial"/>
              </a:rPr>
              <a:t>Thường quy</a:t>
            </a:r>
          </a:p>
        </p:txBody>
      </p:sp>
      <p:sp>
        <p:nvSpPr>
          <p:cNvPr id="121" name="Text"/>
          <p:cNvSpPr/>
          <p:nvPr/>
        </p:nvSpPr>
        <p:spPr>
          <a:xfrm>
            <a:off x="8427720" y="3379280"/>
            <a:ext cx="1097280" cy="731520"/>
          </a:xfrm>
          <a:prstGeom prst="rect">
            <a:avLst/>
          </a:prstGeom>
          <a:noFill/>
          <a:ln>
            <a:noFill/>
          </a:ln>
        </p:spPr>
        <p:txBody>
          <a:bodyPr wrap="square" lIns="54864" tIns="54864" rIns="54864" bIns="54864" rtlCol="0" anchor="ctr">
            <a:noAutofit/>
          </a:bodyPr>
          <a:lstStyle/>
          <a:p>
            <a:pPr marL="0" indent="0" algn="ctr">
              <a:lnSpc>
                <a:spcPct val="100000"/>
              </a:lnSpc>
              <a:buNone/>
            </a:pPr>
            <a:r>
              <a:rPr lang="en-US" sz="3600" b="1" dirty="0">
                <a:solidFill>
                  <a:srgbClr val="0D7377"/>
                </a:solidFill>
                <a:latin typeface="Arial"/>
                <a:cs typeface="Arial"/>
              </a:rPr>
              <a:t>≠</a:t>
            </a:r>
          </a:p>
        </p:txBody>
      </p:sp>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ctr">
              <a:buNone/>
            </a:pPr>
            <a:r>
              <a:rPr lang="en-US" sz="1300" b="1" dirty="0">
                <a:solidFill>
                  <a:srgbClr val="FFFFFF"/>
                </a:solidFill>
                <a:latin typeface="Arial"/>
                <a:cs typeface="Arial"/>
              </a:rPr>
              <a:t>THÔNG ĐIỆP CHÍNH   </a:t>
            </a:r>
            <a:r>
              <a:rPr lang="en-US" sz="1550" dirty="0">
                <a:solidFill>
                  <a:srgbClr val="FFFFFF"/>
                </a:solidFill>
                <a:latin typeface="Arial"/>
                <a:cs typeface="Arial"/>
              </a:rPr>
              <a:t>Kiểm định H0: dữ liệu có thể bác bỏ H0, nhưng không bao giờ chứng minh được H0.</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400" b="1" dirty="0">
                <a:solidFill>
                  <a:srgbClr val="0D7377"/>
                </a:solidFill>
                <a:latin typeface="Arial"/>
                <a:cs typeface="Arial"/>
              </a:rPr>
              <a:t>Bài tập nhanh: mục tiêu và giả thuyết cho nghiên cứu thí điểm</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50" name="Banner"/>
          <p:cNvSpPr/>
          <p:nvPr/>
        </p:nvSpPr>
        <p:spPr>
          <a:xfrm>
            <a:off x="457200" y="1120000"/>
            <a:ext cx="11277600" cy="470000"/>
          </a:xfrm>
          <a:prstGeom prst="rect">
            <a:avLst/>
          </a:prstGeom>
          <a:solidFill>
            <a:srgbClr val="0B376C"/>
          </a:solidFill>
          <a:ln>
            <a:noFill/>
          </a:ln>
        </p:spPr>
        <p:txBody>
          <a:bodyPr wrap="square" lIns="182880" tIns="45720" rIns="182880" bIns="45720" rtlCol="0" anchor="ctr">
            <a:normAutofit/>
          </a:bodyPr>
          <a:lstStyle/>
          <a:p>
            <a:pPr marL="0" indent="0" algn="l">
              <a:buNone/>
            </a:pPr>
            <a:r>
              <a:rPr lang="en-US" sz="1500" b="1" dirty="0">
                <a:solidFill>
                  <a:srgbClr val="FFFFFF"/>
                </a:solidFill>
                <a:latin typeface="Arial"/>
                <a:cs typeface="Arial"/>
              </a:rPr>
              <a:t>BÀI TẬP CÁ NHÂN   |   7 phút</a:t>
            </a:r>
          </a:p>
        </p:txBody>
      </p:sp>
      <p:sp>
        <p:nvSpPr>
          <p:cNvPr id="51" name="Steps"/>
          <p:cNvSpPr txBox="1"/>
          <p:nvPr/>
        </p:nvSpPr>
        <p:spPr>
          <a:xfrm>
            <a:off x="457200" y="1720000"/>
            <a:ext cx="6766560" cy="3510000"/>
          </a:xfrm>
          <a:prstGeom prst="rect">
            <a:avLst/>
          </a:prstGeom>
          <a:noFill/>
          <a:ln>
            <a:noFill/>
          </a:ln>
        </p:spPr>
        <p:txBody>
          <a:bodyPr wrap="square" lIns="91440" tIns="45720" rIns="91440" bIns="45720" rtlCol="0" anchor="t"/>
          <a:lstStyle/>
          <a:p>
            <a:pPr marL="380000" indent="-380000" algn="l">
              <a:lnSpc>
                <a:spcPct val="104000"/>
              </a:lnSpc>
              <a:spcBef>
                <a:spcPts val="450"/>
              </a:spcBef>
              <a:buClr>
                <a:srgbClr val="0B376C"/>
              </a:buClr>
              <a:buFont typeface="Arial"/>
              <a:buChar char="•"/>
            </a:pPr>
            <a:r>
              <a:rPr lang="en-US" sz="1650" dirty="0">
                <a:solidFill>
                  <a:srgbClr val="000000"/>
                </a:solidFill>
                <a:latin typeface="Arial"/>
                <a:cs typeface="Arial"/>
              </a:rPr>
              <a:t>Câu hỏi thí điểm (phiên bản A): ở người lớn bị sốc nhiễm khuẩn, quy trình hạn chế dịch, so với chăm sóc thường quy, có làm giảm cân bằng dịch tích lũy ngày 5 không?</a:t>
            </a:r>
          </a:p>
          <a:p>
            <a:pPr marL="380000" indent="-380000" algn="l">
              <a:lnSpc>
                <a:spcPct val="104000"/>
              </a:lnSpc>
              <a:spcBef>
                <a:spcPts val="450"/>
              </a:spcBef>
              <a:buClr>
                <a:srgbClr val="0B376C"/>
              </a:buClr>
              <a:buFont typeface="Arial"/>
              <a:buChar char="•"/>
            </a:pPr>
            <a:r>
              <a:rPr lang="en-US" sz="1650" dirty="0">
                <a:solidFill>
                  <a:srgbClr val="000000"/>
                </a:solidFill>
                <a:latin typeface="Arial"/>
                <a:cs typeface="Arial"/>
              </a:rPr>
              <a:t>Viết một mục tiêu tổng quát: 'So sánh...'</a:t>
            </a:r>
          </a:p>
          <a:p>
            <a:pPr marL="380000" indent="-380000" algn="l">
              <a:lnSpc>
                <a:spcPct val="104000"/>
              </a:lnSpc>
              <a:spcBef>
                <a:spcPts val="450"/>
              </a:spcBef>
              <a:buClr>
                <a:srgbClr val="0B376C"/>
              </a:buClr>
              <a:buFont typeface="Arial"/>
              <a:buChar char="•"/>
            </a:pPr>
            <a:r>
              <a:rPr lang="en-US" sz="1650" dirty="0">
                <a:solidFill>
                  <a:srgbClr val="000000"/>
                </a:solidFill>
                <a:latin typeface="Arial"/>
                <a:cs typeface="Arial"/>
              </a:rPr>
              <a:t>Viết hai mục tiêu cụ thể với động từ đo được. Đánh dấu mục tiêu chính</a:t>
            </a:r>
          </a:p>
          <a:p>
            <a:pPr marL="380000" indent="-380000" algn="l">
              <a:lnSpc>
                <a:spcPct val="104000"/>
              </a:lnSpc>
              <a:spcBef>
                <a:spcPts val="450"/>
              </a:spcBef>
              <a:buClr>
                <a:srgbClr val="0B376C"/>
              </a:buClr>
              <a:buFont typeface="Arial"/>
              <a:buChar char="•"/>
            </a:pPr>
            <a:r>
              <a:rPr lang="en-US" sz="1650" dirty="0">
                <a:solidFill>
                  <a:srgbClr val="000000"/>
                </a:solidFill>
                <a:latin typeface="Arial"/>
                <a:cs typeface="Arial"/>
              </a:rPr>
              <a:t>Viết H0 và H1 cho mục tiêu chính</a:t>
            </a:r>
          </a:p>
        </p:txBody>
      </p:sp>
      <p:sp>
        <p:nvSpPr>
          <p:cNvPr id="52" name="Side"/>
          <p:cNvSpPr/>
          <p:nvPr/>
        </p:nvSpPr>
        <p:spPr>
          <a:xfrm>
            <a:off x="7423760" y="1720000"/>
            <a:ext cx="4311040" cy="2006105"/>
          </a:xfrm>
          <a:prstGeom prst="roundRect">
            <a:avLst>
              <a:gd name="adj" fmla="val 5000"/>
            </a:avLst>
          </a:prstGeom>
          <a:solidFill>
            <a:srgbClr val="EAF2F5"/>
          </a:solidFill>
          <a:ln>
            <a:noFill/>
          </a:ln>
        </p:spPr>
        <p:txBody>
          <a:bodyPr wrap="square" lIns="137160" tIns="91440" rIns="137160" bIns="91440" rtlCol="0" anchor="ctr">
            <a:normAutofit/>
          </a:bodyPr>
          <a:lstStyle/>
          <a:p>
            <a:pPr marL="0" indent="0" algn="ctr">
              <a:buNone/>
            </a:pPr>
            <a:r>
              <a:rPr lang="en-US" sz="1600" b="1" dirty="0">
                <a:solidFill>
                  <a:srgbClr val="0B376C"/>
                </a:solidFill>
                <a:latin typeface="Arial"/>
                <a:cs typeface="Arial"/>
              </a:rPr>
              <a:t>Động từ dùng được</a:t>
            </a:r>
          </a:p>
          <a:p>
            <a:pPr marL="0" indent="0" algn="ctr">
              <a:lnSpc>
                <a:spcPct val="104000"/>
              </a:lnSpc>
              <a:spcBef>
                <a:spcPts val="300"/>
              </a:spcBef>
              <a:buNone/>
            </a:pPr>
            <a:r>
              <a:rPr lang="en-US" sz="1500" dirty="0">
                <a:solidFill>
                  <a:srgbClr val="000000"/>
                </a:solidFill>
                <a:latin typeface="Arial"/>
                <a:cs typeface="Arial"/>
              </a:rPr>
              <a:t>so sánh</a:t>
            </a:r>
          </a:p>
          <a:p>
            <a:pPr marL="0" indent="0" algn="ctr">
              <a:lnSpc>
                <a:spcPct val="104000"/>
              </a:lnSpc>
              <a:spcBef>
                <a:spcPts val="300"/>
              </a:spcBef>
              <a:buNone/>
            </a:pPr>
            <a:r>
              <a:rPr lang="en-US" sz="1500" dirty="0">
                <a:solidFill>
                  <a:srgbClr val="000000"/>
                </a:solidFill>
                <a:latin typeface="Arial"/>
                <a:cs typeface="Arial"/>
              </a:rPr>
              <a:t>ước tính</a:t>
            </a:r>
          </a:p>
          <a:p>
            <a:pPr marL="0" indent="0" algn="ctr">
              <a:lnSpc>
                <a:spcPct val="104000"/>
              </a:lnSpc>
              <a:spcBef>
                <a:spcPts val="300"/>
              </a:spcBef>
              <a:buNone/>
            </a:pPr>
            <a:r>
              <a:rPr lang="en-US" sz="1500" dirty="0">
                <a:solidFill>
                  <a:srgbClr val="000000"/>
                </a:solidFill>
                <a:latin typeface="Arial"/>
                <a:cs typeface="Arial"/>
              </a:rPr>
              <a:t>mô tả</a:t>
            </a:r>
          </a:p>
          <a:p>
            <a:pPr marL="0" indent="0" algn="ctr">
              <a:lnSpc>
                <a:spcPct val="104000"/>
              </a:lnSpc>
              <a:spcBef>
                <a:spcPts val="300"/>
              </a:spcBef>
              <a:buNone/>
            </a:pPr>
            <a:r>
              <a:rPr lang="en-US" sz="1500" dirty="0">
                <a:solidFill>
                  <a:srgbClr val="000000"/>
                </a:solidFill>
                <a:latin typeface="Arial"/>
                <a:cs typeface="Arial"/>
              </a:rPr>
              <a:t>xác định</a:t>
            </a:r>
          </a:p>
          <a:p>
            <a:pPr marL="0" indent="0" algn="ctr">
              <a:lnSpc>
                <a:spcPct val="104000"/>
              </a:lnSpc>
              <a:spcBef>
                <a:spcPts val="300"/>
              </a:spcBef>
              <a:buNone/>
            </a:pPr>
            <a:r>
              <a:rPr lang="en-US" sz="1500" dirty="0">
                <a:solidFill>
                  <a:srgbClr val="000000"/>
                </a:solidFill>
                <a:latin typeface="Arial"/>
                <a:cs typeface="Arial"/>
              </a:rPr>
              <a:t>đo lường</a:t>
            </a:r>
          </a:p>
        </p:txBody>
      </p:sp>
      <p:sp>
        <p:nvSpPr>
          <p:cNvPr id="53" name="Deliverable"/>
          <p:cNvSpPr/>
          <p:nvPr/>
        </p:nvSpPr>
        <p:spPr>
          <a:xfrm>
            <a:off x="457200" y="5350000"/>
            <a:ext cx="11277600" cy="600000"/>
          </a:xfrm>
          <a:prstGeom prst="roundRect">
            <a:avLst>
              <a:gd name="adj" fmla="val 12000"/>
            </a:avLst>
          </a:prstGeom>
          <a:solidFill>
            <a:srgbClr val="FFFFFF"/>
          </a:solidFill>
          <a:ln w="15875">
            <a:solidFill>
              <a:srgbClr val="0B376C"/>
            </a:solidFill>
          </a:ln>
        </p:spPr>
        <p:txBody>
          <a:bodyPr wrap="square" lIns="182880" tIns="45720" rIns="182880" bIns="45720" rtlCol="0" anchor="ctr">
            <a:normAutofit/>
          </a:bodyPr>
          <a:lstStyle/>
          <a:p>
            <a:pPr marL="0" indent="0" algn="ctr">
              <a:buNone/>
            </a:pPr>
            <a:r>
              <a:rPr lang="en-US" sz="1300" b="1" dirty="0">
                <a:solidFill>
                  <a:srgbClr val="0B376C"/>
                </a:solidFill>
                <a:latin typeface="Arial"/>
                <a:cs typeface="Arial"/>
              </a:rPr>
              <a:t>SẢN PHẨM   </a:t>
            </a:r>
            <a:r>
              <a:rPr lang="en-US" sz="1500" dirty="0">
                <a:solidFill>
                  <a:srgbClr val="000000"/>
                </a:solidFill>
                <a:latin typeface="Arial"/>
                <a:cs typeface="Arial"/>
              </a:rPr>
              <a:t>Bài tập 2 trong phiếu bài tập. Hai ba người đọc to bài của mình</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Đáp án mẫu: câu hỏi thí điểm</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70" name="CardHead"/>
          <p:cNvSpPr/>
          <p:nvPr/>
        </p:nvSpPr>
        <p:spPr>
          <a:xfrm>
            <a:off x="457200" y="1649548"/>
            <a:ext cx="3625866" cy="640000"/>
          </a:xfrm>
          <a:prstGeom prst="rect">
            <a:avLst/>
          </a:prstGeom>
          <a:solidFill>
            <a:srgbClr val="0D7377"/>
          </a:solidFill>
          <a:ln>
            <a:noFill/>
          </a:ln>
        </p:spPr>
        <p:txBody>
          <a:bodyPr wrap="square" lIns="91440" tIns="45720" rIns="91440" bIns="45720" rtlCol="0" anchor="ctr">
            <a:normAutofit/>
          </a:bodyPr>
          <a:lstStyle/>
          <a:p>
            <a:pPr marL="0" indent="0" algn="ctr">
              <a:buNone/>
            </a:pPr>
            <a:r>
              <a:rPr lang="en-US" sz="1900" b="1" dirty="0">
                <a:solidFill>
                  <a:srgbClr val="FFFFFF"/>
                </a:solidFill>
                <a:latin typeface="Arial"/>
                <a:cs typeface="Arial"/>
              </a:rPr>
              <a:t>Mục tiêu tổng quát</a:t>
            </a:r>
          </a:p>
        </p:txBody>
      </p:sp>
      <p:sp>
        <p:nvSpPr>
          <p:cNvPr id="71" name="CardBody"/>
          <p:cNvSpPr/>
          <p:nvPr/>
        </p:nvSpPr>
        <p:spPr>
          <a:xfrm>
            <a:off x="457200" y="2289548"/>
            <a:ext cx="3625866" cy="2101354"/>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750" dirty="0">
                <a:solidFill>
                  <a:srgbClr val="000000"/>
                </a:solidFill>
                <a:latin typeface="Arial"/>
                <a:cs typeface="Arial"/>
              </a:rPr>
              <a:t>So sánh quy trình hạn chế dịch với chăm sóc thường quy ở người lớn bị sốc nhiễm khuẩn tại ICU của bạn</a:t>
            </a:r>
          </a:p>
        </p:txBody>
      </p:sp>
      <p:sp>
        <p:nvSpPr>
          <p:cNvPr id="72" name="CardHead"/>
          <p:cNvSpPr/>
          <p:nvPr/>
        </p:nvSpPr>
        <p:spPr>
          <a:xfrm>
            <a:off x="4283066" y="1649548"/>
            <a:ext cx="3625866" cy="640000"/>
          </a:xfrm>
          <a:prstGeom prst="rect">
            <a:avLst/>
          </a:prstGeom>
          <a:solidFill>
            <a:srgbClr val="0B376C"/>
          </a:solidFill>
          <a:ln>
            <a:noFill/>
          </a:ln>
        </p:spPr>
        <p:txBody>
          <a:bodyPr wrap="square" lIns="91440" tIns="45720" rIns="91440" bIns="45720" rtlCol="0" anchor="ctr">
            <a:normAutofit/>
          </a:bodyPr>
          <a:lstStyle/>
          <a:p>
            <a:pPr marL="0" indent="0" algn="ctr">
              <a:buNone/>
            </a:pPr>
            <a:r>
              <a:rPr lang="en-US" sz="1900" b="1" dirty="0">
                <a:solidFill>
                  <a:srgbClr val="FFFFFF"/>
                </a:solidFill>
                <a:latin typeface="Arial"/>
                <a:cs typeface="Arial"/>
              </a:rPr>
              <a:t>Mục tiêu cụ thể</a:t>
            </a:r>
          </a:p>
        </p:txBody>
      </p:sp>
      <p:sp>
        <p:nvSpPr>
          <p:cNvPr id="73" name="CardBody"/>
          <p:cNvSpPr/>
          <p:nvPr/>
        </p:nvSpPr>
        <p:spPr>
          <a:xfrm>
            <a:off x="4283066" y="2289548"/>
            <a:ext cx="3625866" cy="2101354"/>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750" dirty="0">
                <a:solidFill>
                  <a:srgbClr val="000000"/>
                </a:solidFill>
                <a:latin typeface="Arial"/>
                <a:cs typeface="Arial"/>
              </a:rPr>
              <a:t>Chính: so sánh cân bằng dịch tích lũy (ml/kg) ở ngày 5 giữa hai nhóm</a:t>
            </a:r>
          </a:p>
          <a:p>
            <a:pPr marL="0" indent="0" algn="ctr">
              <a:lnSpc>
                <a:spcPct val="104000"/>
              </a:lnSpc>
              <a:spcBef>
                <a:spcPts val="400"/>
              </a:spcBef>
              <a:buNone/>
            </a:pPr>
            <a:r>
              <a:rPr lang="en-US" sz="1750" dirty="0">
                <a:solidFill>
                  <a:srgbClr val="000000"/>
                </a:solidFill>
                <a:latin typeface="Arial"/>
                <a:cs typeface="Arial"/>
              </a:rPr>
              <a:t>Phụ: ước tính tốc độ tuyển chọn và mức tuân thủ quy trình (tính khả thi)</a:t>
            </a:r>
          </a:p>
        </p:txBody>
      </p:sp>
      <p:sp>
        <p:nvSpPr>
          <p:cNvPr id="74" name="CardHead"/>
          <p:cNvSpPr/>
          <p:nvPr/>
        </p:nvSpPr>
        <p:spPr>
          <a:xfrm>
            <a:off x="8108932" y="1649548"/>
            <a:ext cx="3625866" cy="640000"/>
          </a:xfrm>
          <a:prstGeom prst="rect">
            <a:avLst/>
          </a:prstGeom>
          <a:solidFill>
            <a:srgbClr val="5FA39B"/>
          </a:solidFill>
          <a:ln>
            <a:noFill/>
          </a:ln>
        </p:spPr>
        <p:txBody>
          <a:bodyPr wrap="square" lIns="91440" tIns="45720" rIns="91440" bIns="45720" rtlCol="0" anchor="ctr">
            <a:normAutofit/>
          </a:bodyPr>
          <a:lstStyle/>
          <a:p>
            <a:pPr marL="0" indent="0" algn="ctr">
              <a:buNone/>
            </a:pPr>
            <a:r>
              <a:rPr lang="en-US" sz="1900" b="1" dirty="0">
                <a:solidFill>
                  <a:srgbClr val="FFFFFF"/>
                </a:solidFill>
                <a:latin typeface="Arial"/>
                <a:cs typeface="Arial"/>
              </a:rPr>
              <a:t>Giả thuyết</a:t>
            </a:r>
          </a:p>
        </p:txBody>
      </p:sp>
      <p:sp>
        <p:nvSpPr>
          <p:cNvPr id="75" name="CardBody"/>
          <p:cNvSpPr/>
          <p:nvPr/>
        </p:nvSpPr>
        <p:spPr>
          <a:xfrm>
            <a:off x="8108932" y="2289548"/>
            <a:ext cx="3625866" cy="2101354"/>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750" dirty="0">
                <a:solidFill>
                  <a:srgbClr val="000000"/>
                </a:solidFill>
                <a:latin typeface="Arial"/>
                <a:cs typeface="Arial"/>
              </a:rPr>
              <a:t>H0: cân bằng dịch tích lũy ở ngày 5 như nhau ở hai nhóm</a:t>
            </a:r>
          </a:p>
          <a:p>
            <a:pPr marL="0" indent="0" algn="ctr">
              <a:lnSpc>
                <a:spcPct val="104000"/>
              </a:lnSpc>
              <a:spcBef>
                <a:spcPts val="400"/>
              </a:spcBef>
              <a:buNone/>
            </a:pPr>
            <a:r>
              <a:rPr lang="en-US" sz="1750" dirty="0">
                <a:solidFill>
                  <a:srgbClr val="000000"/>
                </a:solidFill>
                <a:latin typeface="Arial"/>
                <a:cs typeface="Arial"/>
              </a:rPr>
              <a:t>H1: có khác nhau</a:t>
            </a:r>
          </a:p>
        </p:txBody>
      </p:sp>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ctr">
              <a:buNone/>
            </a:pPr>
            <a:r>
              <a:rPr lang="en-US" sz="1300" b="1" dirty="0">
                <a:solidFill>
                  <a:srgbClr val="FFFFFF"/>
                </a:solidFill>
                <a:latin typeface="Arial"/>
                <a:cs typeface="Arial"/>
              </a:rPr>
              <a:t>THÔNG ĐIỆP CHÍNH   </a:t>
            </a:r>
            <a:r>
              <a:rPr lang="en-US" sz="1550" dirty="0">
                <a:solidFill>
                  <a:srgbClr val="FFFFFF"/>
                </a:solidFill>
                <a:latin typeface="Arial"/>
                <a:cs typeface="Arial"/>
              </a:rPr>
              <a:t>Mục tiêu tổng quát, mục tiêu chính và giả thuyết cùng nêu một kết cục.</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Xây dựng đề cương 1</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20" name="Statement"/>
          <p:cNvSpPr txBox="1"/>
          <p:nvPr/>
        </p:nvSpPr>
        <p:spPr>
          <a:xfrm>
            <a:off x="1057200" y="1280000"/>
            <a:ext cx="10077600" cy="4470000"/>
          </a:xfrm>
          <a:prstGeom prst="rect">
            <a:avLst/>
          </a:prstGeom>
          <a:noFill/>
          <a:ln>
            <a:noFill/>
          </a:ln>
        </p:spPr>
        <p:txBody>
          <a:bodyPr wrap="square" lIns="91440" tIns="45720" rIns="91440" bIns="45720" rtlCol="0" anchor="ctr"/>
          <a:lstStyle/>
          <a:p>
            <a:pPr marL="0" indent="0" algn="ctr">
              <a:lnSpc>
                <a:spcPct val="110000"/>
              </a:lnSpc>
              <a:buNone/>
            </a:pPr>
            <a:r>
              <a:rPr lang="en-US" sz="3200" b="1" dirty="0">
                <a:solidFill>
                  <a:srgbClr val="0D7377"/>
                </a:solidFill>
                <a:latin typeface="Arial"/>
                <a:cs typeface="Arial"/>
              </a:rPr>
              <a:t>Giờ hãy bắt đầu đề cương của riêng bạn: một câu hỏi, một mục tiêu tổng quát.</a:t>
            </a:r>
          </a:p>
          <a:p>
            <a:pPr marL="0" indent="0" algn="ctr">
              <a:spcBef>
                <a:spcPts val="1200"/>
              </a:spcBef>
              <a:buNone/>
            </a:pPr>
            <a:r>
              <a:rPr lang="en-US" sz="1900" i="1" dirty="0">
                <a:solidFill>
                  <a:srgbClr val="595959"/>
                </a:solidFill>
                <a:latin typeface="Arial"/>
                <a:cs typeface="Arial"/>
              </a:rPr>
              <a:t>30 phút: giảng viên làm mẫu Phần 1 trên ví dụ xuyên suốt, rồi bạn viết phần của mình</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Xây dựng đề cương 1: câu hỏi của riêng bạn</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50" name="Banner"/>
          <p:cNvSpPr/>
          <p:nvPr/>
        </p:nvSpPr>
        <p:spPr>
          <a:xfrm>
            <a:off x="457200" y="1120000"/>
            <a:ext cx="11277600" cy="470000"/>
          </a:xfrm>
          <a:prstGeom prst="rect">
            <a:avLst/>
          </a:prstGeom>
          <a:solidFill>
            <a:srgbClr val="055F56"/>
          </a:solidFill>
          <a:ln>
            <a:noFill/>
          </a:ln>
        </p:spPr>
        <p:txBody>
          <a:bodyPr wrap="square" lIns="182880" tIns="45720" rIns="182880" bIns="45720" rtlCol="0" anchor="ctr">
            <a:normAutofit/>
          </a:bodyPr>
          <a:lstStyle/>
          <a:p>
            <a:pPr marL="0" indent="0" algn="l">
              <a:buNone/>
            </a:pPr>
            <a:r>
              <a:rPr lang="en-US" sz="1500" b="1" dirty="0">
                <a:solidFill>
                  <a:srgbClr val="FFFFFF"/>
                </a:solidFill>
                <a:latin typeface="Arial"/>
                <a:cs typeface="Arial"/>
              </a:rPr>
              <a:t>XÂY DỰNG ĐỀ CƯƠNG   |   30 phút</a:t>
            </a:r>
          </a:p>
        </p:txBody>
      </p:sp>
      <p:sp>
        <p:nvSpPr>
          <p:cNvPr id="51" name="Steps"/>
          <p:cNvSpPr txBox="1"/>
          <p:nvPr/>
        </p:nvSpPr>
        <p:spPr>
          <a:xfrm>
            <a:off x="457200" y="1720000"/>
            <a:ext cx="6766560" cy="3510000"/>
          </a:xfrm>
          <a:prstGeom prst="rect">
            <a:avLst/>
          </a:prstGeom>
          <a:noFill/>
          <a:ln>
            <a:noFill/>
          </a:ln>
        </p:spPr>
        <p:txBody>
          <a:bodyPr wrap="square" lIns="91440" tIns="45720" rIns="91440" bIns="45720" rtlCol="0" anchor="t"/>
          <a:lstStyle/>
          <a:p>
            <a:pPr marL="380000" indent="-380000" algn="l">
              <a:lnSpc>
                <a:spcPct val="104000"/>
              </a:lnSpc>
              <a:spcBef>
                <a:spcPts val="450"/>
              </a:spcBef>
              <a:buClr>
                <a:srgbClr val="055F56"/>
              </a:buClr>
              <a:buFont typeface="Arial"/>
              <a:buChar char="•"/>
            </a:pPr>
            <a:r>
              <a:rPr lang="en-US" sz="1650" dirty="0">
                <a:solidFill>
                  <a:srgbClr val="000000"/>
                </a:solidFill>
                <a:latin typeface="Arial"/>
                <a:cs typeface="Arial"/>
              </a:rPr>
              <a:t>Xem giảng viên điền Phần 1 của mẫu đề cương cho ví dụ xuyên suốt</a:t>
            </a:r>
          </a:p>
          <a:p>
            <a:pPr marL="380000" indent="-380000" algn="l">
              <a:lnSpc>
                <a:spcPct val="104000"/>
              </a:lnSpc>
              <a:spcBef>
                <a:spcPts val="450"/>
              </a:spcBef>
              <a:buClr>
                <a:srgbClr val="055F56"/>
              </a:buClr>
              <a:buFont typeface="Arial"/>
              <a:buChar char="•"/>
            </a:pPr>
            <a:r>
              <a:rPr lang="en-US" sz="1650" dirty="0">
                <a:solidFill>
                  <a:srgbClr val="000000"/>
                </a:solidFill>
                <a:latin typeface="Arial"/>
                <a:cs typeface="Arial"/>
              </a:rPr>
              <a:t>Mở bản mẫu đề cương của bạn</a:t>
            </a:r>
          </a:p>
          <a:p>
            <a:pPr marL="380000" indent="-380000" algn="l">
              <a:lnSpc>
                <a:spcPct val="104000"/>
              </a:lnSpc>
              <a:spcBef>
                <a:spcPts val="450"/>
              </a:spcBef>
              <a:buClr>
                <a:srgbClr val="055F56"/>
              </a:buClr>
              <a:buFont typeface="Arial"/>
              <a:buChar char="•"/>
            </a:pPr>
            <a:r>
              <a:rPr lang="en-US" sz="1650" dirty="0">
                <a:solidFill>
                  <a:srgbClr val="000000"/>
                </a:solidFill>
                <a:latin typeface="Arial"/>
                <a:cs typeface="Arial"/>
              </a:rPr>
              <a:t>Chọn một vấn đề từ chính khoa của bạn</a:t>
            </a:r>
          </a:p>
          <a:p>
            <a:pPr marL="380000" indent="-380000" algn="l">
              <a:lnSpc>
                <a:spcPct val="104000"/>
              </a:lnSpc>
              <a:spcBef>
                <a:spcPts val="450"/>
              </a:spcBef>
              <a:buClr>
                <a:srgbClr val="055F56"/>
              </a:buClr>
              <a:buFont typeface="Arial"/>
              <a:buChar char="•"/>
            </a:pPr>
            <a:r>
              <a:rPr lang="en-US" sz="1650" dirty="0">
                <a:solidFill>
                  <a:srgbClr val="000000"/>
                </a:solidFill>
                <a:latin typeface="Arial"/>
                <a:cs typeface="Arial"/>
              </a:rPr>
              <a:t>Viết câu hỏi PICO(T) và kiểm tra bằng FINER</a:t>
            </a:r>
          </a:p>
          <a:p>
            <a:pPr marL="380000" indent="-380000" algn="l">
              <a:lnSpc>
                <a:spcPct val="104000"/>
              </a:lnSpc>
              <a:spcBef>
                <a:spcPts val="450"/>
              </a:spcBef>
              <a:buClr>
                <a:srgbClr val="055F56"/>
              </a:buClr>
              <a:buFont typeface="Arial"/>
              <a:buChar char="•"/>
            </a:pPr>
            <a:r>
              <a:rPr lang="en-US" sz="1650" dirty="0">
                <a:solidFill>
                  <a:srgbClr val="000000"/>
                </a:solidFill>
                <a:latin typeface="Arial"/>
                <a:cs typeface="Arial"/>
              </a:rPr>
              <a:t>Thêm một mục tiêu tổng quát, 2-3 mục tiêu cụ thể (đánh dấu mục tiêu chính) và H0/H1</a:t>
            </a:r>
          </a:p>
          <a:p>
            <a:pPr marL="380000" indent="-380000" algn="l">
              <a:lnSpc>
                <a:spcPct val="104000"/>
              </a:lnSpc>
              <a:spcBef>
                <a:spcPts val="450"/>
              </a:spcBef>
              <a:buClr>
                <a:srgbClr val="055F56"/>
              </a:buClr>
              <a:buFont typeface="Arial"/>
              <a:buChar char="•"/>
            </a:pPr>
            <a:r>
              <a:rPr lang="en-US" sz="1650" dirty="0">
                <a:solidFill>
                  <a:srgbClr val="000000"/>
                </a:solidFill>
                <a:latin typeface="Arial"/>
                <a:cs typeface="Arial"/>
              </a:rPr>
              <a:t>Hai bạn tình nguyện đọc to câu hỏi</a:t>
            </a:r>
          </a:p>
        </p:txBody>
      </p:sp>
      <p:sp>
        <p:nvSpPr>
          <p:cNvPr id="52" name="Side"/>
          <p:cNvSpPr/>
          <p:nvPr/>
        </p:nvSpPr>
        <p:spPr>
          <a:xfrm>
            <a:off x="7423760" y="1720000"/>
            <a:ext cx="4311040" cy="1453655"/>
          </a:xfrm>
          <a:prstGeom prst="roundRect">
            <a:avLst>
              <a:gd name="adj" fmla="val 5000"/>
            </a:avLst>
          </a:prstGeom>
          <a:solidFill>
            <a:srgbClr val="EAF2F5"/>
          </a:solidFill>
          <a:ln>
            <a:noFill/>
          </a:ln>
        </p:spPr>
        <p:txBody>
          <a:bodyPr wrap="square" lIns="137160" tIns="91440" rIns="137160" bIns="91440" rtlCol="0" anchor="ctr">
            <a:normAutofit/>
          </a:bodyPr>
          <a:lstStyle/>
          <a:p>
            <a:pPr marL="0" indent="0" algn="ctr">
              <a:buNone/>
            </a:pPr>
            <a:r>
              <a:rPr lang="en-US" sz="1600" b="1" dirty="0">
                <a:solidFill>
                  <a:srgbClr val="055F56"/>
                </a:solidFill>
                <a:latin typeface="Arial"/>
                <a:cs typeface="Arial"/>
              </a:rPr>
              <a:t>Thời gian</a:t>
            </a:r>
          </a:p>
          <a:p>
            <a:pPr marL="0" indent="0" algn="ctr">
              <a:lnSpc>
                <a:spcPct val="104000"/>
              </a:lnSpc>
              <a:spcBef>
                <a:spcPts val="300"/>
              </a:spcBef>
              <a:buNone/>
            </a:pPr>
            <a:r>
              <a:rPr lang="en-US" sz="1500" dirty="0">
                <a:solidFill>
                  <a:srgbClr val="000000"/>
                </a:solidFill>
                <a:latin typeface="Arial"/>
                <a:cs typeface="Arial"/>
              </a:rPr>
              <a:t>0-8 phút: giảng viên làm mẫu Phần 1</a:t>
            </a:r>
          </a:p>
          <a:p>
            <a:pPr marL="0" indent="0" algn="ctr">
              <a:lnSpc>
                <a:spcPct val="104000"/>
              </a:lnSpc>
              <a:spcBef>
                <a:spcPts val="300"/>
              </a:spcBef>
              <a:buNone/>
            </a:pPr>
            <a:r>
              <a:rPr lang="en-US" sz="1500" dirty="0">
                <a:solidFill>
                  <a:srgbClr val="000000"/>
                </a:solidFill>
                <a:latin typeface="Arial"/>
                <a:cs typeface="Arial"/>
              </a:rPr>
              <a:t>8-25 phút: bạn tự viết</a:t>
            </a:r>
          </a:p>
          <a:p>
            <a:pPr marL="0" indent="0" algn="ctr">
              <a:lnSpc>
                <a:spcPct val="104000"/>
              </a:lnSpc>
              <a:spcBef>
                <a:spcPts val="300"/>
              </a:spcBef>
              <a:buNone/>
            </a:pPr>
            <a:r>
              <a:rPr lang="en-US" sz="1500" dirty="0">
                <a:solidFill>
                  <a:srgbClr val="000000"/>
                </a:solidFill>
                <a:latin typeface="Arial"/>
                <a:cs typeface="Arial"/>
              </a:rPr>
              <a:t>25-30 phút: hai bạn chia sẻ</a:t>
            </a:r>
          </a:p>
        </p:txBody>
      </p:sp>
      <p:sp>
        <p:nvSpPr>
          <p:cNvPr id="53" name="Deliverable"/>
          <p:cNvSpPr/>
          <p:nvPr/>
        </p:nvSpPr>
        <p:spPr>
          <a:xfrm>
            <a:off x="457200" y="5350000"/>
            <a:ext cx="11277600" cy="600000"/>
          </a:xfrm>
          <a:prstGeom prst="roundRect">
            <a:avLst>
              <a:gd name="adj" fmla="val 12000"/>
            </a:avLst>
          </a:prstGeom>
          <a:solidFill>
            <a:srgbClr val="FFFFFF"/>
          </a:solidFill>
          <a:ln w="15875">
            <a:solidFill>
              <a:srgbClr val="055F56"/>
            </a:solidFill>
          </a:ln>
        </p:spPr>
        <p:txBody>
          <a:bodyPr wrap="square" lIns="182880" tIns="45720" rIns="182880" bIns="45720" rtlCol="0" anchor="ctr">
            <a:normAutofit/>
          </a:bodyPr>
          <a:lstStyle/>
          <a:p>
            <a:pPr marL="0" indent="0" algn="ctr">
              <a:buNone/>
            </a:pPr>
            <a:r>
              <a:rPr lang="en-US" sz="1300" b="1" dirty="0">
                <a:solidFill>
                  <a:srgbClr val="055F56"/>
                </a:solidFill>
                <a:latin typeface="Arial"/>
                <a:cs typeface="Arial"/>
              </a:rPr>
              <a:t>SẢN PHẨM   </a:t>
            </a:r>
            <a:r>
              <a:rPr lang="en-US" sz="1500" dirty="0">
                <a:solidFill>
                  <a:srgbClr val="000000"/>
                </a:solidFill>
                <a:latin typeface="Arial"/>
                <a:cs typeface="Arial"/>
              </a:rPr>
              <a:t>Bắt đầu Đề cương Phần 1: câu hỏi, FINER, mục tiêu, giả thuyết</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Từ khóa của buổi học</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graphicFrame>
        <p:nvGraphicFramePr>
          <p:cNvPr id="30" name="Table"/>
          <p:cNvGraphicFramePr/>
          <p:nvPr/>
        </p:nvGraphicFramePr>
        <p:xfrm>
          <a:off x="457200" y="1486053"/>
          <a:ext cx="11277600" cy="3791840"/>
        </p:xfrm>
        <a:graphic>
          <a:graphicData uri="http://schemas.openxmlformats.org/drawingml/2006/table">
            <a:tbl>
              <a:tblPr firstRow="1" bandRow="1">
                <a:tableStyleId>{5C22544A-7EE6-4342-B048-85BDC9FD1C3A}</a:tableStyleId>
              </a:tblPr>
              <a:tblGrid>
                <a:gridCol w="5638800"/>
                <a:gridCol w="5638800"/>
              </a:tblGrid>
              <a:tr h="380000">
                <a:tc>
                  <a:txBody>
                    <a:bodyPr/>
                    <a:lstStyle/>
                    <a:p>
                      <a:pPr algn="l"/>
                      <a:r>
                        <a:rPr lang="en-US" sz="1500" b="1" dirty="0">
                          <a:solidFill>
                            <a:srgbClr val="FFFFFF"/>
                          </a:solidFill>
                          <a:latin typeface="Arial"/>
                          <a:cs typeface="Arial"/>
                        </a:rPr>
                        <a:t>Từ khóa</a:t>
                      </a:r>
                    </a:p>
                  </a:txBody>
                  <a:tcPr marL="73152" marR="73152" marT="45720" marB="45720" anchor="ctr">
                    <a:solidFill>
                      <a:srgbClr val="0D7377"/>
                    </a:solidFill>
                  </a:tcPr>
                </a:tc>
                <a:tc>
                  <a:txBody>
                    <a:bodyPr/>
                    <a:lstStyle/>
                    <a:p>
                      <a:pPr algn="l"/>
                      <a:r>
                        <a:rPr lang="en-US" sz="1500" b="1" dirty="0">
                          <a:solidFill>
                            <a:srgbClr val="FFFFFF"/>
                          </a:solidFill>
                          <a:latin typeface="Arial"/>
                          <a:cs typeface="Arial"/>
                        </a:rPr>
                        <a:t>Trong một câu</a:t>
                      </a:r>
                    </a:p>
                  </a:txBody>
                  <a:tcPr marL="73152" marR="73152" marT="45720" marB="45720" anchor="ctr">
                    <a:solidFill>
                      <a:srgbClr val="0D7377"/>
                    </a:solidFill>
                  </a:tcPr>
                </a:tc>
              </a:tr>
              <a:tr h="568640">
                <a:tc>
                  <a:txBody>
                    <a:bodyPr/>
                    <a:lstStyle/>
                    <a:p>
                      <a:pPr algn="l"/>
                      <a:r>
                        <a:rPr lang="en-US" sz="1500" dirty="0">
                          <a:solidFill>
                            <a:srgbClr val="000000"/>
                          </a:solidFill>
                          <a:latin typeface="Arial"/>
                          <a:cs typeface="Arial"/>
                        </a:rPr>
                        <a:t>Tháp bằng chứng</a:t>
                      </a:r>
                    </a:p>
                  </a:txBody>
                  <a:tcPr marL="73152" marR="73152" marT="45720" marB="45720" anchor="ctr">
                    <a:solidFill>
                      <a:srgbClr val="FFFFFF"/>
                    </a:solidFill>
                  </a:tcPr>
                </a:tc>
                <a:tc>
                  <a:txBody>
                    <a:bodyPr/>
                    <a:lstStyle/>
                    <a:p>
                      <a:pPr algn="l"/>
                      <a:r>
                        <a:rPr lang="en-US" sz="1500" dirty="0">
                          <a:solidFill>
                            <a:srgbClr val="000000"/>
                          </a:solidFill>
                          <a:latin typeface="Arial"/>
                          <a:cs typeface="Arial"/>
                        </a:rPr>
                        <a:t>Xếp hạng thiết kế theo mức chống sai lệch</a:t>
                      </a:r>
                    </a:p>
                  </a:txBody>
                  <a:tcPr marL="73152" marR="73152" marT="45720" marB="45720" anchor="ctr">
                    <a:solidFill>
                      <a:srgbClr val="FFFFFF"/>
                    </a:solidFill>
                  </a:tcPr>
                </a:tc>
              </a:tr>
              <a:tr h="568640">
                <a:tc>
                  <a:txBody>
                    <a:bodyPr/>
                    <a:lstStyle/>
                    <a:p>
                      <a:pPr algn="l"/>
                      <a:r>
                        <a:rPr lang="en-US" sz="1500" dirty="0">
                          <a:solidFill>
                            <a:srgbClr val="000000"/>
                          </a:solidFill>
                          <a:latin typeface="Arial"/>
                          <a:cs typeface="Arial"/>
                        </a:rPr>
                        <a:t>PICO(T)</a:t>
                      </a:r>
                    </a:p>
                  </a:txBody>
                  <a:tcPr marL="73152" marR="73152" marT="45720" marB="45720" anchor="ctr">
                    <a:solidFill>
                      <a:srgbClr val="F5F9FA"/>
                    </a:solidFill>
                  </a:tcPr>
                </a:tc>
                <a:tc>
                  <a:txBody>
                    <a:bodyPr/>
                    <a:lstStyle/>
                    <a:p>
                      <a:pPr algn="l"/>
                      <a:r>
                        <a:rPr lang="en-US" sz="1500" dirty="0">
                          <a:solidFill>
                            <a:srgbClr val="000000"/>
                          </a:solidFill>
                          <a:latin typeface="Arial"/>
                          <a:cs typeface="Arial"/>
                        </a:rPr>
                        <a:t>Đối tượng, Can thiệp, So sánh, Kết cục, Thời gian</a:t>
                      </a:r>
                    </a:p>
                  </a:txBody>
                  <a:tcPr marL="73152" marR="73152" marT="45720" marB="45720" anchor="ctr">
                    <a:solidFill>
                      <a:srgbClr val="F5F9FA"/>
                    </a:solidFill>
                  </a:tcPr>
                </a:tc>
              </a:tr>
              <a:tr h="568640">
                <a:tc>
                  <a:txBody>
                    <a:bodyPr/>
                    <a:lstStyle/>
                    <a:p>
                      <a:pPr algn="l"/>
                      <a:r>
                        <a:rPr lang="en-US" sz="1500" dirty="0">
                          <a:solidFill>
                            <a:srgbClr val="000000"/>
                          </a:solidFill>
                          <a:latin typeface="Arial"/>
                          <a:cs typeface="Arial"/>
                        </a:rPr>
                        <a:t>PECO</a:t>
                      </a:r>
                    </a:p>
                  </a:txBody>
                  <a:tcPr marL="73152" marR="73152" marT="45720" marB="45720" anchor="ctr">
                    <a:solidFill>
                      <a:srgbClr val="FFFFFF"/>
                    </a:solidFill>
                  </a:tcPr>
                </a:tc>
                <a:tc>
                  <a:txBody>
                    <a:bodyPr/>
                    <a:lstStyle/>
                    <a:p>
                      <a:pPr algn="l"/>
                      <a:r>
                        <a:rPr lang="en-US" sz="1500" dirty="0">
                          <a:solidFill>
                            <a:srgbClr val="000000"/>
                          </a:solidFill>
                          <a:latin typeface="Arial"/>
                          <a:cs typeface="Arial"/>
                        </a:rPr>
                        <a:t>Như PICO, với E = Phơi nhiễm, cho yếu tố không do mình chỉ định</a:t>
                      </a:r>
                    </a:p>
                  </a:txBody>
                  <a:tcPr marL="73152" marR="73152" marT="45720" marB="45720" anchor="ctr">
                    <a:solidFill>
                      <a:srgbClr val="FFFFFF"/>
                    </a:solidFill>
                  </a:tcPr>
                </a:tc>
              </a:tr>
              <a:tr h="568640">
                <a:tc>
                  <a:txBody>
                    <a:bodyPr/>
                    <a:lstStyle/>
                    <a:p>
                      <a:pPr algn="l"/>
                      <a:r>
                        <a:rPr lang="en-US" sz="1500" dirty="0">
                          <a:solidFill>
                            <a:srgbClr val="000000"/>
                          </a:solidFill>
                          <a:latin typeface="Arial"/>
                          <a:cs typeface="Arial"/>
                        </a:rPr>
                        <a:t>FINER</a:t>
                      </a:r>
                    </a:p>
                  </a:txBody>
                  <a:tcPr marL="73152" marR="73152" marT="45720" marB="45720" anchor="ctr">
                    <a:solidFill>
                      <a:srgbClr val="F5F9FA"/>
                    </a:solidFill>
                  </a:tcPr>
                </a:tc>
                <a:tc>
                  <a:txBody>
                    <a:bodyPr/>
                    <a:lstStyle/>
                    <a:p>
                      <a:pPr algn="l"/>
                      <a:r>
                        <a:rPr lang="en-US" sz="1500" dirty="0">
                          <a:solidFill>
                            <a:srgbClr val="000000"/>
                          </a:solidFill>
                          <a:latin typeface="Arial"/>
                          <a:cs typeface="Arial"/>
                        </a:rPr>
                        <a:t>Khả thi, Thú vị, Mới, Đạo đức, Phù hợp</a:t>
                      </a:r>
                    </a:p>
                  </a:txBody>
                  <a:tcPr marL="73152" marR="73152" marT="45720" marB="45720" anchor="ctr">
                    <a:solidFill>
                      <a:srgbClr val="F5F9FA"/>
                    </a:solidFill>
                  </a:tcPr>
                </a:tc>
              </a:tr>
              <a:tr h="568640">
                <a:tc>
                  <a:txBody>
                    <a:bodyPr/>
                    <a:lstStyle/>
                    <a:p>
                      <a:pPr algn="l"/>
                      <a:r>
                        <a:rPr lang="en-US" sz="1500" dirty="0">
                          <a:solidFill>
                            <a:srgbClr val="000000"/>
                          </a:solidFill>
                          <a:latin typeface="Arial"/>
                          <a:cs typeface="Arial"/>
                        </a:rPr>
                        <a:t>Mục tiêu tổng quát / cụ thể</a:t>
                      </a:r>
                    </a:p>
                  </a:txBody>
                  <a:tcPr marL="73152" marR="73152" marT="45720" marB="45720" anchor="ctr">
                    <a:solidFill>
                      <a:srgbClr val="FFFFFF"/>
                    </a:solidFill>
                  </a:tcPr>
                </a:tc>
                <a:tc>
                  <a:txBody>
                    <a:bodyPr/>
                    <a:lstStyle/>
                    <a:p>
                      <a:pPr algn="l"/>
                      <a:r>
                        <a:rPr lang="en-US" sz="1500" dirty="0">
                          <a:solidFill>
                            <a:srgbClr val="000000"/>
                          </a:solidFill>
                          <a:latin typeface="Arial"/>
                          <a:cs typeface="Arial"/>
                        </a:rPr>
                        <a:t>Mục đích chung / việc cụ thể, đo được</a:t>
                      </a:r>
                    </a:p>
                  </a:txBody>
                  <a:tcPr marL="73152" marR="73152" marT="45720" marB="45720" anchor="ctr">
                    <a:solidFill>
                      <a:srgbClr val="FFFFFF"/>
                    </a:solidFill>
                  </a:tcPr>
                </a:tc>
              </a:tr>
              <a:tr h="568640">
                <a:tc>
                  <a:txBody>
                    <a:bodyPr/>
                    <a:lstStyle/>
                    <a:p>
                      <a:pPr algn="l"/>
                      <a:r>
                        <a:rPr lang="en-US" sz="1500" dirty="0">
                          <a:solidFill>
                            <a:srgbClr val="000000"/>
                          </a:solidFill>
                          <a:latin typeface="Arial"/>
                          <a:cs typeface="Arial"/>
                        </a:rPr>
                        <a:t>H0 / H1</a:t>
                      </a:r>
                    </a:p>
                  </a:txBody>
                  <a:tcPr marL="73152" marR="73152" marT="45720" marB="45720" anchor="ctr">
                    <a:solidFill>
                      <a:srgbClr val="F5F9FA"/>
                    </a:solidFill>
                  </a:tcPr>
                </a:tc>
                <a:tc>
                  <a:txBody>
                    <a:bodyPr/>
                    <a:lstStyle/>
                    <a:p>
                      <a:pPr algn="l"/>
                      <a:r>
                        <a:rPr lang="en-US" sz="1500" dirty="0">
                          <a:solidFill>
                            <a:srgbClr val="000000"/>
                          </a:solidFill>
                          <a:latin typeface="Arial"/>
                          <a:cs typeface="Arial"/>
                        </a:rPr>
                        <a:t>Không khác biệt / có khác biệt (kiểm định H0)</a:t>
                      </a:r>
                    </a:p>
                  </a:txBody>
                  <a:tcPr marL="73152" marR="73152" marT="45720" marB="45720" anchor="ctr">
                    <a:solidFill>
                      <a:srgbClr val="F5F9FA"/>
                    </a:solidFill>
                  </a:tcPr>
                </a:tc>
              </a:tr>
            </a:tbl>
          </a:graphicData>
        </a:graphic>
      </p:graphicFrame>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Ôn tập Buổi 1</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70" name="CardHead"/>
          <p:cNvSpPr/>
          <p:nvPr/>
        </p:nvSpPr>
        <p:spPr>
          <a:xfrm>
            <a:off x="457200" y="1817823"/>
            <a:ext cx="3625866" cy="640000"/>
          </a:xfrm>
          <a:prstGeom prst="rect">
            <a:avLst/>
          </a:prstGeom>
          <a:solidFill>
            <a:srgbClr val="0D7377"/>
          </a:solidFill>
          <a:ln>
            <a:noFill/>
          </a:ln>
        </p:spPr>
        <p:txBody>
          <a:bodyPr wrap="square" lIns="91440" tIns="45720" rIns="91440" bIns="45720" rtlCol="0" anchor="ctr">
            <a:normAutofit/>
          </a:bodyPr>
          <a:lstStyle/>
          <a:p>
            <a:pPr marL="0" indent="0" algn="ctr">
              <a:buNone/>
            </a:pPr>
            <a:r>
              <a:rPr lang="en-US" sz="1900" b="1" dirty="0">
                <a:solidFill>
                  <a:srgbClr val="FFFFFF"/>
                </a:solidFill>
                <a:latin typeface="Arial"/>
                <a:cs typeface="Arial"/>
              </a:rPr>
              <a:t>Vì sao nghiên cứu</a:t>
            </a:r>
          </a:p>
        </p:txBody>
      </p:sp>
      <p:sp>
        <p:nvSpPr>
          <p:cNvPr id="71" name="CardBody"/>
          <p:cNvSpPr/>
          <p:nvPr/>
        </p:nvSpPr>
        <p:spPr>
          <a:xfrm>
            <a:off x="457200" y="2457823"/>
            <a:ext cx="3625866" cy="1596529"/>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750" dirty="0">
                <a:solidFill>
                  <a:srgbClr val="000000"/>
                </a:solidFill>
                <a:latin typeface="Arial"/>
                <a:cs typeface="Arial"/>
              </a:rPr>
              <a:t>Kinh nghiệm gợi ra câu hỏi</a:t>
            </a:r>
          </a:p>
          <a:p>
            <a:pPr marL="0" indent="0" algn="ctr">
              <a:lnSpc>
                <a:spcPct val="104000"/>
              </a:lnSpc>
              <a:spcBef>
                <a:spcPts val="400"/>
              </a:spcBef>
              <a:buNone/>
            </a:pPr>
            <a:r>
              <a:rPr lang="en-US" sz="1750" dirty="0">
                <a:solidFill>
                  <a:srgbClr val="000000"/>
                </a:solidFill>
                <a:latin typeface="Arial"/>
                <a:cs typeface="Arial"/>
              </a:rPr>
              <a:t>So sánh công bằng trên đủ người bệnh trả lời câu hỏi</a:t>
            </a:r>
          </a:p>
        </p:txBody>
      </p:sp>
      <p:sp>
        <p:nvSpPr>
          <p:cNvPr id="72" name="CardHead"/>
          <p:cNvSpPr/>
          <p:nvPr/>
        </p:nvSpPr>
        <p:spPr>
          <a:xfrm>
            <a:off x="4283066" y="1817823"/>
            <a:ext cx="3625866" cy="640000"/>
          </a:xfrm>
          <a:prstGeom prst="rect">
            <a:avLst/>
          </a:prstGeom>
          <a:solidFill>
            <a:srgbClr val="0B376C"/>
          </a:solidFill>
          <a:ln>
            <a:noFill/>
          </a:ln>
        </p:spPr>
        <p:txBody>
          <a:bodyPr wrap="square" lIns="91440" tIns="45720" rIns="91440" bIns="45720" rtlCol="0" anchor="ctr">
            <a:normAutofit/>
          </a:bodyPr>
          <a:lstStyle/>
          <a:p>
            <a:pPr marL="0" indent="0" algn="ctr">
              <a:buNone/>
            </a:pPr>
            <a:r>
              <a:rPr lang="en-US" sz="1900" b="1" dirty="0">
                <a:solidFill>
                  <a:srgbClr val="FFFFFF"/>
                </a:solidFill>
                <a:latin typeface="Arial"/>
                <a:cs typeface="Arial"/>
              </a:rPr>
              <a:t>Hỏi chính xác</a:t>
            </a:r>
          </a:p>
        </p:txBody>
      </p:sp>
      <p:sp>
        <p:nvSpPr>
          <p:cNvPr id="73" name="CardBody"/>
          <p:cNvSpPr/>
          <p:nvPr/>
        </p:nvSpPr>
        <p:spPr>
          <a:xfrm>
            <a:off x="4283066" y="2457823"/>
            <a:ext cx="3625866" cy="1596529"/>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750" dirty="0">
                <a:solidFill>
                  <a:srgbClr val="000000"/>
                </a:solidFill>
                <a:latin typeface="Arial"/>
                <a:cs typeface="Arial"/>
              </a:rPr>
              <a:t>Một câu hỏi PICO(T)</a:t>
            </a:r>
          </a:p>
          <a:p>
            <a:pPr marL="0" indent="0" algn="ctr">
              <a:lnSpc>
                <a:spcPct val="104000"/>
              </a:lnSpc>
              <a:spcBef>
                <a:spcPts val="400"/>
              </a:spcBef>
              <a:buNone/>
            </a:pPr>
            <a:r>
              <a:rPr lang="en-US" sz="1750" dirty="0">
                <a:solidFill>
                  <a:srgbClr val="000000"/>
                </a:solidFill>
                <a:latin typeface="Arial"/>
                <a:cs typeface="Arial"/>
              </a:rPr>
              <a:t>Một kết cục chính</a:t>
            </a:r>
          </a:p>
          <a:p>
            <a:pPr marL="0" indent="0" algn="ctr">
              <a:lnSpc>
                <a:spcPct val="104000"/>
              </a:lnSpc>
              <a:spcBef>
                <a:spcPts val="400"/>
              </a:spcBef>
              <a:buNone/>
            </a:pPr>
            <a:r>
              <a:rPr lang="en-US" sz="1750" dirty="0">
                <a:solidFill>
                  <a:srgbClr val="000000"/>
                </a:solidFill>
                <a:latin typeface="Arial"/>
                <a:cs typeface="Arial"/>
              </a:rPr>
              <a:t>Kiểm tra FINER trước khi bắt đầu</a:t>
            </a:r>
          </a:p>
        </p:txBody>
      </p:sp>
      <p:sp>
        <p:nvSpPr>
          <p:cNvPr id="74" name="CardHead"/>
          <p:cNvSpPr/>
          <p:nvPr/>
        </p:nvSpPr>
        <p:spPr>
          <a:xfrm>
            <a:off x="8108932" y="1817823"/>
            <a:ext cx="3625866" cy="640000"/>
          </a:xfrm>
          <a:prstGeom prst="rect">
            <a:avLst/>
          </a:prstGeom>
          <a:solidFill>
            <a:srgbClr val="5FA39B"/>
          </a:solidFill>
          <a:ln>
            <a:noFill/>
          </a:ln>
        </p:spPr>
        <p:txBody>
          <a:bodyPr wrap="square" lIns="91440" tIns="45720" rIns="91440" bIns="45720" rtlCol="0" anchor="ctr">
            <a:normAutofit/>
          </a:bodyPr>
          <a:lstStyle/>
          <a:p>
            <a:pPr marL="0" indent="0" algn="ctr">
              <a:buNone/>
            </a:pPr>
            <a:r>
              <a:rPr lang="en-US" sz="1900" b="1" dirty="0">
                <a:solidFill>
                  <a:srgbClr val="FFFFFF"/>
                </a:solidFill>
                <a:latin typeface="Arial"/>
                <a:cs typeface="Arial"/>
              </a:rPr>
              <a:t>Lập kế hoạch</a:t>
            </a:r>
          </a:p>
        </p:txBody>
      </p:sp>
      <p:sp>
        <p:nvSpPr>
          <p:cNvPr id="75" name="CardBody"/>
          <p:cNvSpPr/>
          <p:nvPr/>
        </p:nvSpPr>
        <p:spPr>
          <a:xfrm>
            <a:off x="8108932" y="2457823"/>
            <a:ext cx="3625866" cy="1596529"/>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750" dirty="0">
                <a:solidFill>
                  <a:srgbClr val="000000"/>
                </a:solidFill>
                <a:latin typeface="Arial"/>
                <a:cs typeface="Arial"/>
              </a:rPr>
              <a:t>Một mục tiêu tổng quát</a:t>
            </a:r>
          </a:p>
          <a:p>
            <a:pPr marL="0" indent="0" algn="ctr">
              <a:lnSpc>
                <a:spcPct val="104000"/>
              </a:lnSpc>
              <a:spcBef>
                <a:spcPts val="400"/>
              </a:spcBef>
              <a:buNone/>
            </a:pPr>
            <a:r>
              <a:rPr lang="en-US" sz="1750" dirty="0">
                <a:solidFill>
                  <a:srgbClr val="000000"/>
                </a:solidFill>
                <a:latin typeface="Arial"/>
                <a:cs typeface="Arial"/>
              </a:rPr>
              <a:t>2-3 mục tiêu cụ thể đo được</a:t>
            </a:r>
          </a:p>
          <a:p>
            <a:pPr marL="0" indent="0" algn="ctr">
              <a:lnSpc>
                <a:spcPct val="104000"/>
              </a:lnSpc>
              <a:spcBef>
                <a:spcPts val="400"/>
              </a:spcBef>
              <a:buNone/>
            </a:pPr>
            <a:r>
              <a:rPr lang="en-US" sz="1750" dirty="0">
                <a:solidFill>
                  <a:srgbClr val="000000"/>
                </a:solidFill>
                <a:latin typeface="Arial"/>
                <a:cs typeface="Arial"/>
              </a:rPr>
              <a:t>H0 và H1 kiểm định được</a:t>
            </a:r>
          </a:p>
        </p:txBody>
      </p:sp>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ctr">
              <a:buNone/>
            </a:pPr>
            <a:r>
              <a:rPr lang="en-US" sz="1300" b="1" dirty="0">
                <a:solidFill>
                  <a:srgbClr val="FFFFFF"/>
                </a:solidFill>
                <a:latin typeface="Arial"/>
                <a:cs typeface="Arial"/>
              </a:rPr>
              <a:t>THÔNG ĐIỆP CHÍNH   </a:t>
            </a:r>
            <a:r>
              <a:rPr lang="en-US" sz="1550" dirty="0">
                <a:solidFill>
                  <a:srgbClr val="FFFFFF"/>
                </a:solidFill>
                <a:latin typeface="Arial"/>
                <a:cs typeface="Arial"/>
              </a:rPr>
              <a:t>Thứ Bảy tuần sau: tìm và đọc những gì đã biết về câu hỏi của bạn.</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Câu hỏi cuối buổi (trong chat)</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50" name="Banner"/>
          <p:cNvSpPr/>
          <p:nvPr/>
        </p:nvSpPr>
        <p:spPr>
          <a:xfrm>
            <a:off x="457200" y="1120000"/>
            <a:ext cx="11277600" cy="470000"/>
          </a:xfrm>
          <a:prstGeom prst="rect">
            <a:avLst/>
          </a:prstGeom>
          <a:solidFill>
            <a:srgbClr val="6C3483"/>
          </a:solidFill>
          <a:ln>
            <a:noFill/>
          </a:ln>
        </p:spPr>
        <p:txBody>
          <a:bodyPr wrap="square" lIns="182880" tIns="45720" rIns="182880" bIns="45720" rtlCol="0" anchor="ctr">
            <a:normAutofit/>
          </a:bodyPr>
          <a:lstStyle/>
          <a:p>
            <a:pPr marL="0" indent="0" algn="l">
              <a:buNone/>
            </a:pPr>
            <a:r>
              <a:rPr lang="en-US" sz="1500" b="1" dirty="0">
                <a:solidFill>
                  <a:srgbClr val="FFFFFF"/>
                </a:solidFill>
                <a:latin typeface="Arial"/>
                <a:cs typeface="Arial"/>
              </a:rPr>
              <a:t>CÂU HỎI NHANH   |   2 phút</a:t>
            </a:r>
          </a:p>
        </p:txBody>
      </p:sp>
      <p:sp>
        <p:nvSpPr>
          <p:cNvPr id="51" name="Steps"/>
          <p:cNvSpPr txBox="1"/>
          <p:nvPr/>
        </p:nvSpPr>
        <p:spPr>
          <a:xfrm>
            <a:off x="457200" y="1720000"/>
            <a:ext cx="11277600" cy="3510000"/>
          </a:xfrm>
          <a:prstGeom prst="rect">
            <a:avLst/>
          </a:prstGeom>
          <a:noFill/>
          <a:ln>
            <a:noFill/>
          </a:ln>
        </p:spPr>
        <p:txBody>
          <a:bodyPr wrap="square" lIns="91440" tIns="45720" rIns="91440" bIns="45720" rtlCol="0" anchor="t"/>
          <a:lstStyle/>
          <a:p>
            <a:pPr marL="380000" indent="-380000" algn="l">
              <a:lnSpc>
                <a:spcPct val="104000"/>
              </a:lnSpc>
              <a:spcBef>
                <a:spcPts val="450"/>
              </a:spcBef>
              <a:buClr>
                <a:srgbClr val="6C3483"/>
              </a:buClr>
              <a:buFont typeface="Arial"/>
              <a:buChar char="•"/>
            </a:pPr>
            <a:r>
              <a:rPr lang="en-US" sz="1650" dirty="0">
                <a:solidFill>
                  <a:srgbClr val="000000"/>
                </a:solidFill>
                <a:latin typeface="Arial"/>
                <a:cs typeface="Arial"/>
              </a:rPr>
              <a:t>Trả lời trong chat trước khi rời lớp</a:t>
            </a:r>
          </a:p>
          <a:p>
            <a:pPr marL="380000" indent="-380000" algn="l">
              <a:lnSpc>
                <a:spcPct val="104000"/>
              </a:lnSpc>
              <a:spcBef>
                <a:spcPts val="450"/>
              </a:spcBef>
              <a:buClr>
                <a:srgbClr val="6C3483"/>
              </a:buClr>
              <a:buFont typeface="Arial"/>
              <a:buChar char="•"/>
            </a:pPr>
            <a:r>
              <a:rPr lang="en-US" sz="1650" dirty="0">
                <a:solidFill>
                  <a:srgbClr val="000000"/>
                </a:solidFill>
                <a:latin typeface="Arial"/>
                <a:cs typeface="Arial"/>
              </a:rPr>
              <a:t>Câu 1: ví dụ xuyên suốt trượt tiêu chí FINER nào, và vì sao?</a:t>
            </a:r>
          </a:p>
          <a:p>
            <a:pPr marL="380000" indent="-380000" algn="l">
              <a:lnSpc>
                <a:spcPct val="104000"/>
              </a:lnSpc>
              <a:spcBef>
                <a:spcPts val="450"/>
              </a:spcBef>
              <a:buClr>
                <a:srgbClr val="6C3483"/>
              </a:buClr>
              <a:buFont typeface="Arial"/>
              <a:buChar char="•"/>
            </a:pPr>
            <a:r>
              <a:rPr lang="en-US" sz="1650" dirty="0">
                <a:solidFill>
                  <a:srgbClr val="000000"/>
                </a:solidFill>
                <a:latin typeface="Arial"/>
                <a:cs typeface="Arial"/>
              </a:rPr>
              <a:t>Câu 2: viết lại thành mục tiêu cụ thể: 'Tìm hiểu về cân bằng dịch tại ICU của mình'</a:t>
            </a:r>
          </a:p>
        </p:txBody>
      </p:sp>
      <p:sp>
        <p:nvSpPr>
          <p:cNvPr id="53" name="Deliverable"/>
          <p:cNvSpPr/>
          <p:nvPr/>
        </p:nvSpPr>
        <p:spPr>
          <a:xfrm>
            <a:off x="457200" y="5350000"/>
            <a:ext cx="11277600" cy="600000"/>
          </a:xfrm>
          <a:prstGeom prst="roundRect">
            <a:avLst>
              <a:gd name="adj" fmla="val 12000"/>
            </a:avLst>
          </a:prstGeom>
          <a:solidFill>
            <a:srgbClr val="FFFFFF"/>
          </a:solidFill>
          <a:ln w="15875">
            <a:solidFill>
              <a:srgbClr val="6C3483"/>
            </a:solidFill>
          </a:ln>
        </p:spPr>
        <p:txBody>
          <a:bodyPr wrap="square" lIns="182880" tIns="45720" rIns="182880" bIns="45720" rtlCol="0" anchor="ctr">
            <a:normAutofit/>
          </a:bodyPr>
          <a:lstStyle/>
          <a:p>
            <a:pPr marL="0" indent="0" algn="ctr">
              <a:buNone/>
            </a:pPr>
            <a:r>
              <a:rPr lang="en-US" sz="1300" b="1" dirty="0">
                <a:solidFill>
                  <a:srgbClr val="6C3483"/>
                </a:solidFill>
                <a:latin typeface="Arial"/>
                <a:cs typeface="Arial"/>
              </a:rPr>
              <a:t>SẢN PHẨM   </a:t>
            </a:r>
            <a:r>
              <a:rPr lang="en-US" sz="1500" dirty="0">
                <a:solidFill>
                  <a:srgbClr val="000000"/>
                </a:solidFill>
                <a:latin typeface="Arial"/>
                <a:cs typeface="Arial"/>
              </a:rPr>
              <a:t>Mỗi người một câu trả lời ngắn trong chat</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Bài về nhà cho thứ Bảy tuần sau (Buổi 2)</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50" name="Banner"/>
          <p:cNvSpPr/>
          <p:nvPr/>
        </p:nvSpPr>
        <p:spPr>
          <a:xfrm>
            <a:off x="457200" y="1120000"/>
            <a:ext cx="11277600" cy="470000"/>
          </a:xfrm>
          <a:prstGeom prst="rect">
            <a:avLst/>
          </a:prstGeom>
          <a:solidFill>
            <a:srgbClr val="0B376C"/>
          </a:solidFill>
          <a:ln>
            <a:noFill/>
          </a:ln>
        </p:spPr>
        <p:txBody>
          <a:bodyPr wrap="square" lIns="182880" tIns="45720" rIns="182880" bIns="45720" rtlCol="0" anchor="ctr">
            <a:normAutofit/>
          </a:bodyPr>
          <a:lstStyle/>
          <a:p>
            <a:pPr marL="0" indent="0" algn="l">
              <a:buNone/>
            </a:pPr>
            <a:r>
              <a:rPr lang="en-US" sz="1500" b="1" dirty="0">
                <a:solidFill>
                  <a:srgbClr val="FFFFFF"/>
                </a:solidFill>
                <a:latin typeface="Arial"/>
                <a:cs typeface="Arial"/>
              </a:rPr>
              <a:t>BÀI TẬP CÁ NHÂN</a:t>
            </a:r>
          </a:p>
        </p:txBody>
      </p:sp>
      <p:sp>
        <p:nvSpPr>
          <p:cNvPr id="51" name="Steps"/>
          <p:cNvSpPr txBox="1"/>
          <p:nvPr/>
        </p:nvSpPr>
        <p:spPr>
          <a:xfrm>
            <a:off x="457200" y="1720000"/>
            <a:ext cx="6766560" cy="3510000"/>
          </a:xfrm>
          <a:prstGeom prst="rect">
            <a:avLst/>
          </a:prstGeom>
          <a:noFill/>
          <a:ln>
            <a:noFill/>
          </a:ln>
        </p:spPr>
        <p:txBody>
          <a:bodyPr wrap="square" lIns="91440" tIns="45720" rIns="91440" bIns="45720" rtlCol="0" anchor="t"/>
          <a:lstStyle/>
          <a:p>
            <a:pPr marL="380000" indent="-380000" algn="l">
              <a:lnSpc>
                <a:spcPct val="104000"/>
              </a:lnSpc>
              <a:spcBef>
                <a:spcPts val="450"/>
              </a:spcBef>
              <a:buClr>
                <a:srgbClr val="0B376C"/>
              </a:buClr>
              <a:buFont typeface="Arial"/>
              <a:buChar char="•"/>
            </a:pPr>
            <a:r>
              <a:rPr lang="en-US" sz="1650" dirty="0">
                <a:solidFill>
                  <a:srgbClr val="000000"/>
                </a:solidFill>
                <a:latin typeface="Arial"/>
                <a:cs typeface="Arial"/>
              </a:rPr>
              <a:t>Hoàn thành bản nháp Đề cương Phần 1: câu hỏi, FINER, mục tiêu, H0/H1</a:t>
            </a:r>
          </a:p>
          <a:p>
            <a:pPr marL="380000" indent="-380000" algn="l">
              <a:lnSpc>
                <a:spcPct val="104000"/>
              </a:lnSpc>
              <a:spcBef>
                <a:spcPts val="450"/>
              </a:spcBef>
              <a:buClr>
                <a:srgbClr val="0B376C"/>
              </a:buClr>
              <a:buFont typeface="Arial"/>
              <a:buChar char="•"/>
            </a:pPr>
            <a:r>
              <a:rPr lang="en-US" sz="1650" dirty="0">
                <a:solidFill>
                  <a:srgbClr val="000000"/>
                </a:solidFill>
                <a:latin typeface="Arial"/>
                <a:cs typeface="Arial"/>
              </a:rPr>
              <a:t>Bài tập 4 trong phiếu bài tập: 2-3 từ đồng nghĩa tiếng Anh cho mỗi từ PICO</a:t>
            </a:r>
          </a:p>
          <a:p>
            <a:pPr marL="380000" indent="-380000" algn="l">
              <a:lnSpc>
                <a:spcPct val="104000"/>
              </a:lnSpc>
              <a:spcBef>
                <a:spcPts val="450"/>
              </a:spcBef>
              <a:buClr>
                <a:srgbClr val="0B376C"/>
              </a:buClr>
              <a:buFont typeface="Arial"/>
              <a:buChar char="•"/>
            </a:pPr>
            <a:r>
              <a:rPr lang="en-US" sz="1650" dirty="0">
                <a:solidFill>
                  <a:srgbClr val="000000"/>
                </a:solidFill>
                <a:latin typeface="Arial"/>
                <a:cs typeface="Arial"/>
              </a:rPr>
              <a:t>Cài Zotero (miễn phí, zotero.org) và plug-in cho Word</a:t>
            </a:r>
          </a:p>
        </p:txBody>
      </p:sp>
      <p:sp>
        <p:nvSpPr>
          <p:cNvPr id="52" name="Side"/>
          <p:cNvSpPr/>
          <p:nvPr/>
        </p:nvSpPr>
        <p:spPr>
          <a:xfrm>
            <a:off x="7423760" y="1720000"/>
            <a:ext cx="4311040" cy="1453655"/>
          </a:xfrm>
          <a:prstGeom prst="roundRect">
            <a:avLst>
              <a:gd name="adj" fmla="val 5000"/>
            </a:avLst>
          </a:prstGeom>
          <a:solidFill>
            <a:srgbClr val="EAF2F5"/>
          </a:solidFill>
          <a:ln>
            <a:noFill/>
          </a:ln>
        </p:spPr>
        <p:txBody>
          <a:bodyPr wrap="square" lIns="137160" tIns="91440" rIns="137160" bIns="91440" rtlCol="0" anchor="ctr">
            <a:normAutofit/>
          </a:bodyPr>
          <a:lstStyle/>
          <a:p>
            <a:pPr marL="0" indent="0" algn="ctr">
              <a:buNone/>
            </a:pPr>
            <a:r>
              <a:rPr lang="en-US" sz="1600" b="1" dirty="0">
                <a:solidFill>
                  <a:srgbClr val="0B376C"/>
                </a:solidFill>
                <a:latin typeface="Arial"/>
                <a:cs typeface="Arial"/>
              </a:rPr>
              <a:t>Chuẩn bị cho thứ Bảy tuần sau</a:t>
            </a:r>
          </a:p>
          <a:p>
            <a:pPr marL="0" indent="0" algn="ctr">
              <a:lnSpc>
                <a:spcPct val="104000"/>
              </a:lnSpc>
              <a:spcBef>
                <a:spcPts val="300"/>
              </a:spcBef>
              <a:buNone/>
            </a:pPr>
            <a:r>
              <a:rPr lang="en-US" sz="1500" dirty="0">
                <a:solidFill>
                  <a:srgbClr val="000000"/>
                </a:solidFill>
                <a:latin typeface="Arial"/>
                <a:cs typeface="Arial"/>
              </a:rPr>
              <a:t>Câu hỏi PICO của bạn</a:t>
            </a:r>
          </a:p>
          <a:p>
            <a:pPr marL="0" indent="0" algn="ctr">
              <a:lnSpc>
                <a:spcPct val="104000"/>
              </a:lnSpc>
              <a:spcBef>
                <a:spcPts val="300"/>
              </a:spcBef>
              <a:buNone/>
            </a:pPr>
            <a:r>
              <a:rPr lang="en-US" sz="1500" dirty="0">
                <a:solidFill>
                  <a:srgbClr val="000000"/>
                </a:solidFill>
                <a:latin typeface="Arial"/>
                <a:cs typeface="Arial"/>
              </a:rPr>
              <a:t>Danh sách từ đồng nghĩa</a:t>
            </a:r>
          </a:p>
          <a:p>
            <a:pPr marL="0" indent="0" algn="ctr">
              <a:lnSpc>
                <a:spcPct val="104000"/>
              </a:lnSpc>
              <a:spcBef>
                <a:spcPts val="300"/>
              </a:spcBef>
              <a:buNone/>
            </a:pPr>
            <a:r>
              <a:rPr lang="en-US" sz="1500" dirty="0">
                <a:solidFill>
                  <a:srgbClr val="000000"/>
                </a:solidFill>
                <a:latin typeface="Arial"/>
                <a:cs typeface="Arial"/>
              </a:rPr>
              <a:t>Máy tính đã cài Zotero</a:t>
            </a:r>
          </a:p>
        </p:txBody>
      </p:sp>
      <p:sp>
        <p:nvSpPr>
          <p:cNvPr id="53" name="Deliverable"/>
          <p:cNvSpPr/>
          <p:nvPr/>
        </p:nvSpPr>
        <p:spPr>
          <a:xfrm>
            <a:off x="457200" y="5350000"/>
            <a:ext cx="11277600" cy="600000"/>
          </a:xfrm>
          <a:prstGeom prst="roundRect">
            <a:avLst>
              <a:gd name="adj" fmla="val 12000"/>
            </a:avLst>
          </a:prstGeom>
          <a:solidFill>
            <a:srgbClr val="FFFFFF"/>
          </a:solidFill>
          <a:ln w="15875">
            <a:solidFill>
              <a:srgbClr val="0B376C"/>
            </a:solidFill>
          </a:ln>
        </p:spPr>
        <p:txBody>
          <a:bodyPr wrap="square" lIns="182880" tIns="45720" rIns="182880" bIns="45720" rtlCol="0" anchor="ctr">
            <a:normAutofit/>
          </a:bodyPr>
          <a:lstStyle/>
          <a:p>
            <a:pPr marL="0" indent="0" algn="ctr">
              <a:buNone/>
            </a:pPr>
            <a:r>
              <a:rPr lang="en-US" sz="1300" b="1" dirty="0">
                <a:solidFill>
                  <a:srgbClr val="0B376C"/>
                </a:solidFill>
                <a:latin typeface="Arial"/>
                <a:cs typeface="Arial"/>
              </a:rPr>
              <a:t>SẢN PHẨM   </a:t>
            </a:r>
            <a:r>
              <a:rPr lang="en-US" sz="1500" dirty="0">
                <a:solidFill>
                  <a:srgbClr val="000000"/>
                </a:solidFill>
                <a:latin typeface="Arial"/>
                <a:cs typeface="Arial"/>
              </a:rPr>
              <a:t>Câu hỏi, danh sách từ đồng nghĩa và Zotero sẵn sàng cho buổi tìm kiếm</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20" name="Statement"/>
          <p:cNvSpPr txBox="1"/>
          <p:nvPr/>
        </p:nvSpPr>
        <p:spPr>
          <a:xfrm>
            <a:off x="1057200" y="1280000"/>
            <a:ext cx="10077600" cy="4470000"/>
          </a:xfrm>
          <a:prstGeom prst="rect">
            <a:avLst/>
          </a:prstGeom>
          <a:noFill/>
          <a:ln>
            <a:noFill/>
          </a:ln>
        </p:spPr>
        <p:txBody>
          <a:bodyPr wrap="square" lIns="91440" tIns="45720" rIns="91440" bIns="45720" rtlCol="0" anchor="ctr"/>
          <a:lstStyle/>
          <a:p>
            <a:pPr marL="0" indent="0" algn="ctr">
              <a:lnSpc>
                <a:spcPct val="110000"/>
              </a:lnSpc>
              <a:buNone/>
            </a:pPr>
            <a:r>
              <a:rPr lang="en-US" sz="3200" b="1" dirty="0">
                <a:solidFill>
                  <a:srgbClr val="0D7377"/>
                </a:solidFill>
                <a:latin typeface="Arial"/>
                <a:cs typeface="Arial"/>
              </a:rPr>
              <a:t>Slide bổ sung: Buổi 1</a:t>
            </a:r>
          </a:p>
          <a:p>
            <a:pPr marL="0" indent="0" algn="ctr">
              <a:spcBef>
                <a:spcPts val="1200"/>
              </a:spcBef>
              <a:buNone/>
            </a:pPr>
            <a:r>
              <a:rPr lang="en-US" sz="1900" i="1" dirty="0">
                <a:solidFill>
                  <a:srgbClr val="595959"/>
                </a:solidFill>
                <a:latin typeface="Arial"/>
                <a:cs typeface="Arial"/>
              </a:rPr>
              <a:t>Dùng nếu còn thời gian, hoặc để tự học</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Nghiên cứu, audit hay cải tiến chất lượng?</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graphicFrame>
        <p:nvGraphicFramePr>
          <p:cNvPr id="30" name="Table"/>
          <p:cNvGraphicFramePr/>
          <p:nvPr/>
        </p:nvGraphicFramePr>
        <p:xfrm>
          <a:off x="457200" y="1431744"/>
          <a:ext cx="11277600" cy="2898392"/>
        </p:xfrm>
        <a:graphic>
          <a:graphicData uri="http://schemas.openxmlformats.org/drawingml/2006/table">
            <a:tbl>
              <a:tblPr firstRow="1" bandRow="1">
                <a:tableStyleId>{5C22544A-7EE6-4342-B048-85BDC9FD1C3A}</a:tableStyleId>
              </a:tblPr>
              <a:tblGrid>
                <a:gridCol w="2200507"/>
                <a:gridCol w="3025697"/>
                <a:gridCol w="3025697"/>
                <a:gridCol w="3025699"/>
              </a:tblGrid>
              <a:tr h="380000">
                <a:tc>
                  <a:txBody>
                    <a:bodyPr/>
                    <a:lstStyle/>
                    <a:p>
                      <a:pPr algn="l"/>
                      <a:r>
                        <a:rPr lang="en-US" sz="1700" b="1" dirty="0">
                          <a:solidFill>
                            <a:srgbClr val="FFFFFF"/>
                          </a:solidFill>
                          <a:latin typeface="Arial"/>
                          <a:cs typeface="Arial"/>
                        </a:rPr>
                        <a:t> </a:t>
                      </a:r>
                    </a:p>
                  </a:txBody>
                  <a:tcPr marL="73152" marR="73152" marT="45720" marB="45720" anchor="ctr">
                    <a:solidFill>
                      <a:srgbClr val="FFFFFF"/>
                    </a:solidFill>
                  </a:tcPr>
                </a:tc>
                <a:tc>
                  <a:txBody>
                    <a:bodyPr/>
                    <a:lstStyle/>
                    <a:p>
                      <a:pPr algn="l"/>
                      <a:r>
                        <a:rPr lang="en-US" sz="1700" b="1" dirty="0">
                          <a:solidFill>
                            <a:srgbClr val="FFFFFF"/>
                          </a:solidFill>
                          <a:latin typeface="Arial"/>
                          <a:cs typeface="Arial"/>
                        </a:rPr>
                        <a:t>Nghiên cứu</a:t>
                      </a:r>
                    </a:p>
                  </a:txBody>
                  <a:tcPr marL="73152" marR="73152" marT="45720" marB="45720" anchor="ctr">
                    <a:solidFill>
                      <a:srgbClr val="0D7377"/>
                    </a:solidFill>
                  </a:tcPr>
                </a:tc>
                <a:tc>
                  <a:txBody>
                    <a:bodyPr/>
                    <a:lstStyle/>
                    <a:p>
                      <a:pPr algn="l"/>
                      <a:r>
                        <a:rPr lang="en-US" sz="1700" b="1" dirty="0">
                          <a:solidFill>
                            <a:srgbClr val="FFFFFF"/>
                          </a:solidFill>
                          <a:latin typeface="Arial"/>
                          <a:cs typeface="Arial"/>
                        </a:rPr>
                        <a:t>Audit lâm sàng</a:t>
                      </a:r>
                    </a:p>
                  </a:txBody>
                  <a:tcPr marL="73152" marR="73152" marT="45720" marB="45720" anchor="ctr">
                    <a:solidFill>
                      <a:srgbClr val="0B376C"/>
                    </a:solidFill>
                  </a:tcPr>
                </a:tc>
                <a:tc>
                  <a:txBody>
                    <a:bodyPr/>
                    <a:lstStyle/>
                    <a:p>
                      <a:pPr algn="l"/>
                      <a:r>
                        <a:rPr lang="en-US" sz="1700" b="1" dirty="0">
                          <a:solidFill>
                            <a:srgbClr val="FFFFFF"/>
                          </a:solidFill>
                          <a:latin typeface="Arial"/>
                          <a:cs typeface="Arial"/>
                        </a:rPr>
                        <a:t>Cải tiến chất lượng (QI)</a:t>
                      </a:r>
                    </a:p>
                  </a:txBody>
                  <a:tcPr marL="73152" marR="73152" marT="45720" marB="45720" anchor="ctr">
                    <a:solidFill>
                      <a:srgbClr val="5FA39B"/>
                    </a:solidFill>
                  </a:tcPr>
                </a:tc>
              </a:tr>
              <a:tr h="629598">
                <a:tc>
                  <a:txBody>
                    <a:bodyPr/>
                    <a:lstStyle/>
                    <a:p>
                      <a:pPr algn="l"/>
                      <a:r>
                        <a:rPr lang="en-US" sz="1700" b="1" dirty="0">
                          <a:solidFill>
                            <a:srgbClr val="000000"/>
                          </a:solidFill>
                          <a:latin typeface="Arial"/>
                          <a:cs typeface="Arial"/>
                        </a:rPr>
                        <a:t>Câu hỏi</a:t>
                      </a:r>
                    </a:p>
                  </a:txBody>
                  <a:tcPr marL="73152" marR="73152" marT="45720" marB="45720" anchor="ctr">
                    <a:solidFill>
                      <a:srgbClr val="EAF2F5"/>
                    </a:solidFill>
                  </a:tcPr>
                </a:tc>
                <a:tc>
                  <a:txBody>
                    <a:bodyPr/>
                    <a:lstStyle/>
                    <a:p>
                      <a:pPr algn="l"/>
                      <a:r>
                        <a:rPr lang="en-US" sz="1700" dirty="0">
                          <a:solidFill>
                            <a:srgbClr val="000000"/>
                          </a:solidFill>
                          <a:latin typeface="Arial"/>
                          <a:cs typeface="Arial"/>
                        </a:rPr>
                        <a:t>Cách làm nào tốt nhất?</a:t>
                      </a:r>
                    </a:p>
                  </a:txBody>
                  <a:tcPr marL="73152" marR="73152" marT="45720" marB="45720" anchor="ctr">
                    <a:solidFill>
                      <a:srgbClr val="FFFFFF"/>
                    </a:solidFill>
                  </a:tcPr>
                </a:tc>
                <a:tc>
                  <a:txBody>
                    <a:bodyPr/>
                    <a:lstStyle/>
                    <a:p>
                      <a:pPr algn="l"/>
                      <a:r>
                        <a:rPr lang="en-US" sz="1700" dirty="0">
                          <a:solidFill>
                            <a:srgbClr val="000000"/>
                          </a:solidFill>
                          <a:latin typeface="Arial"/>
                          <a:cs typeface="Arial"/>
                        </a:rPr>
                        <a:t>Khoa có đạt tiêu chuẩn không?</a:t>
                      </a:r>
                    </a:p>
                  </a:txBody>
                  <a:tcPr marL="73152" marR="73152" marT="45720" marB="45720" anchor="ctr">
                    <a:solidFill>
                      <a:srgbClr val="FFFFFF"/>
                    </a:solidFill>
                  </a:tcPr>
                </a:tc>
                <a:tc>
                  <a:txBody>
                    <a:bodyPr/>
                    <a:lstStyle/>
                    <a:p>
                      <a:pPr algn="l"/>
                      <a:r>
                        <a:rPr lang="en-US" sz="1700" dirty="0">
                          <a:solidFill>
                            <a:srgbClr val="000000"/>
                          </a:solidFill>
                          <a:latin typeface="Arial"/>
                          <a:cs typeface="Arial"/>
                        </a:rPr>
                        <a:t>Làm sao tốt hơn, từng bước?</a:t>
                      </a:r>
                    </a:p>
                  </a:txBody>
                  <a:tcPr marL="73152" marR="73152" marT="45720" marB="45720" anchor="ctr">
                    <a:solidFill>
                      <a:srgbClr val="FFFFFF"/>
                    </a:solidFill>
                  </a:tcPr>
                </a:tc>
              </a:tr>
              <a:tr h="629598">
                <a:tc>
                  <a:txBody>
                    <a:bodyPr/>
                    <a:lstStyle/>
                    <a:p>
                      <a:pPr algn="l"/>
                      <a:r>
                        <a:rPr lang="en-US" sz="1700" b="1" dirty="0">
                          <a:solidFill>
                            <a:srgbClr val="000000"/>
                          </a:solidFill>
                          <a:latin typeface="Arial"/>
                          <a:cs typeface="Arial"/>
                        </a:rPr>
                        <a:t>Ví dụ dịch truyền</a:t>
                      </a:r>
                    </a:p>
                  </a:txBody>
                  <a:tcPr marL="73152" marR="73152" marT="45720" marB="45720" anchor="ctr">
                    <a:solidFill>
                      <a:srgbClr val="EAF2F5"/>
                    </a:solidFill>
                  </a:tcPr>
                </a:tc>
                <a:tc>
                  <a:txBody>
                    <a:bodyPr/>
                    <a:lstStyle/>
                    <a:p>
                      <a:pPr algn="l"/>
                      <a:r>
                        <a:rPr lang="en-US" sz="1700" dirty="0">
                          <a:solidFill>
                            <a:srgbClr val="000000"/>
                          </a:solidFill>
                          <a:latin typeface="Arial"/>
                          <a:cs typeface="Arial"/>
                        </a:rPr>
                        <a:t>Hạn chế hay thường quy: cách nào tốt hơn?</a:t>
                      </a:r>
                    </a:p>
                  </a:txBody>
                  <a:tcPr marL="73152" marR="73152" marT="45720" marB="45720" anchor="ctr">
                    <a:solidFill>
                      <a:srgbClr val="F5F9FA"/>
                    </a:solidFill>
                  </a:tcPr>
                </a:tc>
                <a:tc>
                  <a:txBody>
                    <a:bodyPr/>
                    <a:lstStyle/>
                    <a:p>
                      <a:pPr algn="l"/>
                      <a:r>
                        <a:rPr lang="en-US" sz="1700" dirty="0">
                          <a:solidFill>
                            <a:srgbClr val="000000"/>
                          </a:solidFill>
                          <a:latin typeface="Arial"/>
                          <a:cs typeface="Arial"/>
                        </a:rPr>
                        <a:t>Cân bằng dịch có được ghi hằng ngày?</a:t>
                      </a:r>
                    </a:p>
                  </a:txBody>
                  <a:tcPr marL="73152" marR="73152" marT="45720" marB="45720" anchor="ctr">
                    <a:solidFill>
                      <a:srgbClr val="F5F9FA"/>
                    </a:solidFill>
                  </a:tcPr>
                </a:tc>
                <a:tc>
                  <a:txBody>
                    <a:bodyPr/>
                    <a:lstStyle/>
                    <a:p>
                      <a:pPr algn="l"/>
                      <a:r>
                        <a:rPr lang="en-US" sz="1700" dirty="0">
                          <a:solidFill>
                            <a:srgbClr val="000000"/>
                          </a:solidFill>
                          <a:latin typeface="Arial"/>
                          <a:cs typeface="Arial"/>
                        </a:rPr>
                        <a:t>Bảng kiểm hằng ngày, thử qua từng vòng nhỏ</a:t>
                      </a:r>
                    </a:p>
                  </a:txBody>
                  <a:tcPr marL="73152" marR="73152" marT="45720" marB="45720" anchor="ctr">
                    <a:solidFill>
                      <a:srgbClr val="F5F9FA"/>
                    </a:solidFill>
                  </a:tcPr>
                </a:tc>
              </a:tr>
              <a:tr h="629598">
                <a:tc>
                  <a:txBody>
                    <a:bodyPr/>
                    <a:lstStyle/>
                    <a:p>
                      <a:pPr algn="l"/>
                      <a:r>
                        <a:rPr lang="en-US" sz="1700" b="1" dirty="0">
                          <a:solidFill>
                            <a:srgbClr val="000000"/>
                          </a:solidFill>
                          <a:latin typeface="Arial"/>
                          <a:cs typeface="Arial"/>
                        </a:rPr>
                        <a:t>Kết quả dùng cho</a:t>
                      </a:r>
                    </a:p>
                  </a:txBody>
                  <a:tcPr marL="73152" marR="73152" marT="45720" marB="45720" anchor="ctr">
                    <a:solidFill>
                      <a:srgbClr val="EAF2F5"/>
                    </a:solidFill>
                  </a:tcPr>
                </a:tc>
                <a:tc>
                  <a:txBody>
                    <a:bodyPr/>
                    <a:lstStyle/>
                    <a:p>
                      <a:pPr algn="l"/>
                      <a:r>
                        <a:rPr lang="en-US" sz="1700" dirty="0">
                          <a:solidFill>
                            <a:srgbClr val="000000"/>
                          </a:solidFill>
                          <a:latin typeface="Arial"/>
                          <a:cs typeface="Arial"/>
                        </a:rPr>
                        <a:t>Người bệnh ở nơi khác</a:t>
                      </a:r>
                    </a:p>
                  </a:txBody>
                  <a:tcPr marL="73152" marR="73152" marT="45720" marB="45720" anchor="ctr">
                    <a:solidFill>
                      <a:srgbClr val="FFFFFF"/>
                    </a:solidFill>
                  </a:tcPr>
                </a:tc>
                <a:tc>
                  <a:txBody>
                    <a:bodyPr/>
                    <a:lstStyle/>
                    <a:p>
                      <a:pPr algn="l"/>
                      <a:r>
                        <a:rPr lang="en-US" sz="1700" dirty="0">
                          <a:solidFill>
                            <a:srgbClr val="000000"/>
                          </a:solidFill>
                          <a:latin typeface="Arial"/>
                          <a:cs typeface="Arial"/>
                        </a:rPr>
                        <a:t>Khoa mình</a:t>
                      </a:r>
                    </a:p>
                  </a:txBody>
                  <a:tcPr marL="73152" marR="73152" marT="45720" marB="45720" anchor="ctr">
                    <a:solidFill>
                      <a:srgbClr val="FFFFFF"/>
                    </a:solidFill>
                  </a:tcPr>
                </a:tc>
                <a:tc>
                  <a:txBody>
                    <a:bodyPr/>
                    <a:lstStyle/>
                    <a:p>
                      <a:pPr algn="l"/>
                      <a:r>
                        <a:rPr lang="en-US" sz="1700" dirty="0">
                          <a:solidFill>
                            <a:srgbClr val="000000"/>
                          </a:solidFill>
                          <a:latin typeface="Arial"/>
                          <a:cs typeface="Arial"/>
                        </a:rPr>
                        <a:t>Khoa mình</a:t>
                      </a:r>
                    </a:p>
                  </a:txBody>
                  <a:tcPr marL="73152" marR="73152" marT="45720" marB="45720" anchor="ctr">
                    <a:solidFill>
                      <a:srgbClr val="FFFFFF"/>
                    </a:solidFill>
                  </a:tcPr>
                </a:tc>
              </a:tr>
              <a:tr h="629598">
                <a:tc>
                  <a:txBody>
                    <a:bodyPr/>
                    <a:lstStyle/>
                    <a:p>
                      <a:pPr algn="l"/>
                      <a:r>
                        <a:rPr lang="en-US" sz="1700" b="1" dirty="0">
                          <a:solidFill>
                            <a:srgbClr val="000000"/>
                          </a:solidFill>
                          <a:latin typeface="Arial"/>
                          <a:cs typeface="Arial"/>
                        </a:rPr>
                        <a:t>Đạo đức</a:t>
                      </a:r>
                    </a:p>
                  </a:txBody>
                  <a:tcPr marL="73152" marR="73152" marT="45720" marB="45720" anchor="ctr">
                    <a:solidFill>
                      <a:srgbClr val="EAF2F5"/>
                    </a:solidFill>
                  </a:tcPr>
                </a:tc>
                <a:tc>
                  <a:txBody>
                    <a:bodyPr/>
                    <a:lstStyle/>
                    <a:p>
                      <a:pPr algn="l"/>
                      <a:r>
                        <a:rPr lang="en-US" sz="1700" b="1" dirty="0">
                          <a:solidFill>
                            <a:srgbClr val="B23B2E"/>
                          </a:solidFill>
                          <a:latin typeface="Arial"/>
                          <a:cs typeface="Arial"/>
                        </a:rPr>
                        <a:t>Luôn cần hội đồng đạo đức phê duyệt</a:t>
                      </a:r>
                    </a:p>
                  </a:txBody>
                  <a:tcPr marL="73152" marR="73152" marT="45720" marB="45720" anchor="ctr">
                    <a:solidFill>
                      <a:srgbClr val="F5F9FA"/>
                    </a:solidFill>
                  </a:tcPr>
                </a:tc>
                <a:tc>
                  <a:txBody>
                    <a:bodyPr/>
                    <a:lstStyle/>
                    <a:p>
                      <a:pPr algn="l"/>
                      <a:r>
                        <a:rPr lang="en-US" sz="1700" dirty="0">
                          <a:solidFill>
                            <a:srgbClr val="000000"/>
                          </a:solidFill>
                          <a:latin typeface="Arial"/>
                          <a:cs typeface="Arial"/>
                        </a:rPr>
                        <a:t>Phê duyệt nội bộ, thường không cần hội đồng</a:t>
                      </a:r>
                    </a:p>
                  </a:txBody>
                  <a:tcPr marL="73152" marR="73152" marT="45720" marB="45720" anchor="ctr">
                    <a:solidFill>
                      <a:srgbClr val="F5F9FA"/>
                    </a:solidFill>
                  </a:tcPr>
                </a:tc>
                <a:tc>
                  <a:txBody>
                    <a:bodyPr/>
                    <a:lstStyle/>
                    <a:p>
                      <a:pPr algn="l"/>
                      <a:r>
                        <a:rPr lang="en-US" sz="1700" dirty="0">
                          <a:solidFill>
                            <a:srgbClr val="000000"/>
                          </a:solidFill>
                          <a:latin typeface="Arial"/>
                          <a:cs typeface="Arial"/>
                        </a:rPr>
                        <a:t>Phê duyệt nội bộ, xét đạo đức nếu có rủi ro mới</a:t>
                      </a:r>
                    </a:p>
                  </a:txBody>
                  <a:tcPr marL="73152" marR="73152" marT="45720" marB="45720" anchor="ctr">
                    <a:solidFill>
                      <a:srgbClr val="F5F9FA"/>
                    </a:solidFill>
                  </a:tcPr>
                </a:tc>
              </a:tr>
            </a:tbl>
          </a:graphicData>
        </a:graphic>
      </p:graphicFrame>
      <p:sp>
        <p:nvSpPr>
          <p:cNvPr id="31" name="Caption"/>
          <p:cNvSpPr txBox="1"/>
          <p:nvPr/>
        </p:nvSpPr>
        <p:spPr>
          <a:xfrm>
            <a:off x="457200" y="4420136"/>
            <a:ext cx="11277600" cy="356375"/>
          </a:xfrm>
          <a:prstGeom prst="rect">
            <a:avLst/>
          </a:prstGeom>
          <a:noFill/>
          <a:ln>
            <a:noFill/>
          </a:ln>
        </p:spPr>
        <p:txBody>
          <a:bodyPr wrap="square" lIns="91440" tIns="45720" rIns="91440" bIns="45720" rtlCol="0" anchor="t"/>
          <a:lstStyle/>
          <a:p>
            <a:pPr marL="0" indent="0" algn="l">
              <a:buNone/>
            </a:pPr>
            <a:r>
              <a:rPr lang="en-US" sz="1300" i="1" dirty="0">
                <a:solidFill>
                  <a:srgbClr val="595959"/>
                </a:solidFill>
                <a:latin typeface="Arial"/>
                <a:cs typeface="Arial"/>
              </a:rPr>
              <a:t>Không chắc là loại nào? Hãy hỏi hội đồng đạo đức trước khi bắt đầu.</a:t>
            </a:r>
          </a:p>
        </p:txBody>
      </p:sp>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ctr">
              <a:buNone/>
            </a:pPr>
            <a:r>
              <a:rPr lang="en-US" sz="1300" b="1" dirty="0">
                <a:solidFill>
                  <a:srgbClr val="FFFFFF"/>
                </a:solidFill>
                <a:latin typeface="Arial"/>
                <a:cs typeface="Arial"/>
              </a:rPr>
              <a:t>THÔNG ĐIỆP CHÍNH   </a:t>
            </a:r>
            <a:r>
              <a:rPr lang="en-US" sz="1550" dirty="0">
                <a:solidFill>
                  <a:srgbClr val="FFFFFF"/>
                </a:solidFill>
                <a:latin typeface="Arial"/>
                <a:cs typeface="Arial"/>
              </a:rPr>
              <a:t>Nghiên cứu hỏi cách nào tốt nhất. Audit hỏi mình có làm đúng không. QI giúp làm tốt hơn.</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Bổ sung: ba ví dụ viết thành câu hỏi nghiên cứu</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19" name="Intro"/>
          <p:cNvSpPr txBox="1"/>
          <p:nvPr/>
        </p:nvSpPr>
        <p:spPr>
          <a:xfrm>
            <a:off x="457200" y="1100000"/>
            <a:ext cx="11277600" cy="480000"/>
          </a:xfrm>
          <a:prstGeom prst="rect">
            <a:avLst/>
          </a:prstGeom>
          <a:noFill/>
          <a:ln>
            <a:noFill/>
          </a:ln>
        </p:spPr>
        <p:txBody>
          <a:bodyPr wrap="square" lIns="91440" tIns="45720" rIns="91440" bIns="45720" rtlCol="0" anchor="t"/>
          <a:lstStyle/>
          <a:p>
            <a:pPr marL="0" indent="0" algn="l">
              <a:buNone/>
            </a:pPr>
            <a:r>
              <a:rPr lang="en-US" sz="1700" i="1" dirty="0">
                <a:solidFill>
                  <a:srgbClr val="595959"/>
                </a:solidFill>
                <a:latin typeface="Arial"/>
                <a:cs typeface="Arial"/>
              </a:rPr>
              <a:t>Slide dự phòng cho 'Ba ví dụ khác': viết câu hỏi cho từng dòng, rồi so sánh.</a:t>
            </a:r>
          </a:p>
        </p:txBody>
      </p:sp>
      <p:sp>
        <p:nvSpPr>
          <p:cNvPr id="70" name="CardHead"/>
          <p:cNvSpPr/>
          <p:nvPr/>
        </p:nvSpPr>
        <p:spPr>
          <a:xfrm>
            <a:off x="457200" y="1959815"/>
            <a:ext cx="3625866" cy="640000"/>
          </a:xfrm>
          <a:prstGeom prst="rect">
            <a:avLst/>
          </a:prstGeom>
          <a:solidFill>
            <a:srgbClr val="0D7377"/>
          </a:solidFill>
          <a:ln>
            <a:noFill/>
          </a:ln>
        </p:spPr>
        <p:txBody>
          <a:bodyPr wrap="square" lIns="91440" tIns="45720" rIns="91440" bIns="45720" rtlCol="0" anchor="ctr">
            <a:normAutofit/>
          </a:bodyPr>
          <a:lstStyle/>
          <a:p>
            <a:pPr marL="0" indent="0" algn="ctr">
              <a:buNone/>
            </a:pPr>
            <a:r>
              <a:rPr lang="en-US" sz="1900" b="1" dirty="0">
                <a:solidFill>
                  <a:srgbClr val="FFFFFF"/>
                </a:solidFill>
                <a:latin typeface="Arial"/>
                <a:cs typeface="Arial"/>
              </a:rPr>
              <a:t>Điều trị (PICO)</a:t>
            </a:r>
          </a:p>
        </p:txBody>
      </p:sp>
      <p:sp>
        <p:nvSpPr>
          <p:cNvPr id="71" name="CardBody"/>
          <p:cNvSpPr/>
          <p:nvPr/>
        </p:nvSpPr>
        <p:spPr>
          <a:xfrm>
            <a:off x="457200" y="2599815"/>
            <a:ext cx="3625866" cy="2050555"/>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750" dirty="0">
                <a:solidFill>
                  <a:srgbClr val="000000"/>
                </a:solidFill>
                <a:latin typeface="Arial"/>
                <a:cs typeface="Arial"/>
              </a:rPr>
              <a:t>Ở người lớn thở máy tại ICU, bảng kiểm đầu giường 2 lần/ngày, so với chăm sóc thường quy, có làm giảm viêm phổi liên quan thở máy đến ngày 28 tại ICU không?</a:t>
            </a:r>
          </a:p>
        </p:txBody>
      </p:sp>
      <p:sp>
        <p:nvSpPr>
          <p:cNvPr id="72" name="CardHead"/>
          <p:cNvSpPr/>
          <p:nvPr/>
        </p:nvSpPr>
        <p:spPr>
          <a:xfrm>
            <a:off x="4283066" y="1959815"/>
            <a:ext cx="3625866" cy="640000"/>
          </a:xfrm>
          <a:prstGeom prst="rect">
            <a:avLst/>
          </a:prstGeom>
          <a:solidFill>
            <a:srgbClr val="0B376C"/>
          </a:solidFill>
          <a:ln>
            <a:noFill/>
          </a:ln>
        </p:spPr>
        <p:txBody>
          <a:bodyPr wrap="square" lIns="91440" tIns="45720" rIns="91440" bIns="45720" rtlCol="0" anchor="ctr">
            <a:normAutofit/>
          </a:bodyPr>
          <a:lstStyle/>
          <a:p>
            <a:pPr marL="0" indent="0" algn="ctr">
              <a:buNone/>
            </a:pPr>
            <a:r>
              <a:rPr lang="en-US" sz="1900" b="1" dirty="0">
                <a:solidFill>
                  <a:srgbClr val="FFFFFF"/>
                </a:solidFill>
                <a:latin typeface="Arial"/>
                <a:cs typeface="Arial"/>
              </a:rPr>
              <a:t>Yếu tố nguy cơ (PECO)</a:t>
            </a:r>
          </a:p>
        </p:txBody>
      </p:sp>
      <p:sp>
        <p:nvSpPr>
          <p:cNvPr id="73" name="CardBody"/>
          <p:cNvSpPr/>
          <p:nvPr/>
        </p:nvSpPr>
        <p:spPr>
          <a:xfrm>
            <a:off x="4283066" y="2599815"/>
            <a:ext cx="3625866" cy="2050555"/>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750" dirty="0">
                <a:solidFill>
                  <a:srgbClr val="000000"/>
                </a:solidFill>
                <a:latin typeface="Arial"/>
                <a:cs typeface="Arial"/>
              </a:rPr>
              <a:t>Ở người lớn nằm khoa nội, béo phì (BMI từ 30 trở lên), so với BMI dưới 30, có liên quan với tổn thương do tì đè mới trong thời gian nằm viện không?</a:t>
            </a:r>
          </a:p>
        </p:txBody>
      </p:sp>
      <p:sp>
        <p:nvSpPr>
          <p:cNvPr id="74" name="CardHead"/>
          <p:cNvSpPr/>
          <p:nvPr/>
        </p:nvSpPr>
        <p:spPr>
          <a:xfrm>
            <a:off x="8108932" y="1959815"/>
            <a:ext cx="3625866" cy="640000"/>
          </a:xfrm>
          <a:prstGeom prst="rect">
            <a:avLst/>
          </a:prstGeom>
          <a:solidFill>
            <a:srgbClr val="5FA39B"/>
          </a:solidFill>
          <a:ln>
            <a:noFill/>
          </a:ln>
        </p:spPr>
        <p:txBody>
          <a:bodyPr wrap="square" lIns="91440" tIns="45720" rIns="91440" bIns="45720" rtlCol="0" anchor="ctr">
            <a:normAutofit/>
          </a:bodyPr>
          <a:lstStyle/>
          <a:p>
            <a:pPr marL="0" indent="0" algn="ctr">
              <a:buNone/>
            </a:pPr>
            <a:r>
              <a:rPr lang="en-US" sz="1900" b="1" dirty="0">
                <a:solidFill>
                  <a:srgbClr val="FFFFFF"/>
                </a:solidFill>
                <a:latin typeface="Arial"/>
                <a:cs typeface="Arial"/>
              </a:rPr>
              <a:t>Bao nhiêu? (P + O)</a:t>
            </a:r>
          </a:p>
        </p:txBody>
      </p:sp>
      <p:sp>
        <p:nvSpPr>
          <p:cNvPr id="75" name="CardBody"/>
          <p:cNvSpPr/>
          <p:nvPr/>
        </p:nvSpPr>
        <p:spPr>
          <a:xfrm>
            <a:off x="8108932" y="2599815"/>
            <a:ext cx="3625866" cy="2050555"/>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750" dirty="0">
                <a:solidFill>
                  <a:srgbClr val="000000"/>
                </a:solidFill>
                <a:latin typeface="Arial"/>
                <a:cs typeface="Arial"/>
              </a:rPr>
              <a:t>Ở người từ 65 tuổi trở lên sau mổ gãy cổ xương đùi, mê sảng xảy ra ở bao nhiêu người trong 7 ngày đầu?</a:t>
            </a:r>
          </a:p>
        </p:txBody>
      </p:sp>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ctr">
              <a:buNone/>
            </a:pPr>
            <a:r>
              <a:rPr lang="en-US" sz="1300" b="1" dirty="0">
                <a:solidFill>
                  <a:srgbClr val="FFFFFF"/>
                </a:solidFill>
                <a:latin typeface="Arial"/>
                <a:cs typeface="Arial"/>
              </a:rPr>
              <a:t>THÔNG ĐIỆP CHÍNH   </a:t>
            </a:r>
            <a:r>
              <a:rPr lang="en-US" sz="1550" dirty="0">
                <a:solidFill>
                  <a:srgbClr val="FFFFFF"/>
                </a:solidFill>
                <a:latin typeface="Arial"/>
                <a:cs typeface="Arial"/>
              </a:rPr>
              <a:t>Mỗi câu hỏi nêu rõ người bệnh, phép so sánh (nếu có), kết cục và thời gian.</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PICO cho các loại câu hỏi khác</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70" name="CardHead"/>
          <p:cNvSpPr/>
          <p:nvPr/>
        </p:nvSpPr>
        <p:spPr>
          <a:xfrm>
            <a:off x="457200" y="1561706"/>
            <a:ext cx="3625866" cy="640000"/>
          </a:xfrm>
          <a:prstGeom prst="rect">
            <a:avLst/>
          </a:prstGeom>
          <a:solidFill>
            <a:srgbClr val="0D7377"/>
          </a:solidFill>
          <a:ln>
            <a:noFill/>
          </a:ln>
        </p:spPr>
        <p:txBody>
          <a:bodyPr wrap="square" lIns="91440" tIns="45720" rIns="91440" bIns="45720" rtlCol="0" anchor="ctr">
            <a:normAutofit/>
          </a:bodyPr>
          <a:lstStyle/>
          <a:p>
            <a:pPr marL="0" indent="0" algn="ctr">
              <a:buNone/>
            </a:pPr>
            <a:r>
              <a:rPr lang="en-US" sz="1900" b="1" dirty="0">
                <a:solidFill>
                  <a:srgbClr val="FFFFFF"/>
                </a:solidFill>
                <a:latin typeface="Arial"/>
                <a:cs typeface="Arial"/>
              </a:rPr>
              <a:t>Chẩn đoán</a:t>
            </a:r>
          </a:p>
        </p:txBody>
      </p:sp>
      <p:sp>
        <p:nvSpPr>
          <p:cNvPr id="71" name="CardBody"/>
          <p:cNvSpPr/>
          <p:nvPr/>
        </p:nvSpPr>
        <p:spPr>
          <a:xfrm>
            <a:off x="457200" y="2201706"/>
            <a:ext cx="3625866" cy="2364880"/>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400" dirty="0">
                <a:solidFill>
                  <a:srgbClr val="000000"/>
                </a:solidFill>
                <a:latin typeface="Arial"/>
                <a:cs typeface="Arial"/>
              </a:rPr>
              <a:t>P: người được xét nghiệm</a:t>
            </a:r>
          </a:p>
          <a:p>
            <a:pPr marL="0" indent="0" algn="ctr">
              <a:lnSpc>
                <a:spcPct val="104000"/>
              </a:lnSpc>
              <a:spcBef>
                <a:spcPts val="400"/>
              </a:spcBef>
              <a:buNone/>
            </a:pPr>
            <a:r>
              <a:rPr lang="en-US" sz="1400" dirty="0">
                <a:solidFill>
                  <a:srgbClr val="000000"/>
                </a:solidFill>
                <a:latin typeface="Arial"/>
                <a:cs typeface="Arial"/>
              </a:rPr>
              <a:t>I: xét nghiệm mới</a:t>
            </a:r>
          </a:p>
          <a:p>
            <a:pPr marL="0" indent="0" algn="ctr">
              <a:lnSpc>
                <a:spcPct val="104000"/>
              </a:lnSpc>
              <a:spcBef>
                <a:spcPts val="400"/>
              </a:spcBef>
              <a:buNone/>
            </a:pPr>
            <a:r>
              <a:rPr lang="en-US" sz="1400" dirty="0">
                <a:solidFill>
                  <a:srgbClr val="000000"/>
                </a:solidFill>
                <a:latin typeface="Arial"/>
                <a:cs typeface="Arial"/>
              </a:rPr>
              <a:t>C: tiêu chuẩn tham chiếu</a:t>
            </a:r>
          </a:p>
          <a:p>
            <a:pPr marL="0" indent="0" algn="ctr">
              <a:lnSpc>
                <a:spcPct val="104000"/>
              </a:lnSpc>
              <a:spcBef>
                <a:spcPts val="400"/>
              </a:spcBef>
              <a:buNone/>
            </a:pPr>
            <a:r>
              <a:rPr lang="en-US" sz="1400" dirty="0">
                <a:solidFill>
                  <a:srgbClr val="000000"/>
                </a:solidFill>
                <a:latin typeface="Arial"/>
                <a:cs typeface="Arial"/>
              </a:rPr>
              <a:t>O: độ chính xác</a:t>
            </a:r>
          </a:p>
          <a:p>
            <a:pPr marL="0" indent="0" algn="ctr">
              <a:lnSpc>
                <a:spcPct val="104000"/>
              </a:lnSpc>
              <a:spcBef>
                <a:spcPts val="400"/>
              </a:spcBef>
              <a:buNone/>
            </a:pPr>
            <a:r>
              <a:rPr lang="en-US" sz="1400" i="1" dirty="0">
                <a:solidFill>
                  <a:srgbClr val="000000"/>
                </a:solidFill>
                <a:latin typeface="Arial"/>
                <a:cs typeface="Arial"/>
              </a:rPr>
              <a:t>Ví dụ: ở người nghi nhiễm khuẩn huyết tại khoa cấp cứu, qSOFA chính xác đến đâu so với Sepsis-3?</a:t>
            </a:r>
          </a:p>
        </p:txBody>
      </p:sp>
      <p:sp>
        <p:nvSpPr>
          <p:cNvPr id="72" name="CardHead"/>
          <p:cNvSpPr/>
          <p:nvPr/>
        </p:nvSpPr>
        <p:spPr>
          <a:xfrm>
            <a:off x="4283066" y="1561706"/>
            <a:ext cx="3625866" cy="640000"/>
          </a:xfrm>
          <a:prstGeom prst="rect">
            <a:avLst/>
          </a:prstGeom>
          <a:solidFill>
            <a:srgbClr val="0B376C"/>
          </a:solidFill>
          <a:ln>
            <a:noFill/>
          </a:ln>
        </p:spPr>
        <p:txBody>
          <a:bodyPr wrap="square" lIns="91440" tIns="45720" rIns="91440" bIns="45720" rtlCol="0" anchor="ctr">
            <a:normAutofit/>
          </a:bodyPr>
          <a:lstStyle/>
          <a:p>
            <a:pPr marL="0" indent="0" algn="ctr">
              <a:buNone/>
            </a:pPr>
            <a:r>
              <a:rPr lang="en-US" sz="1900" b="1" dirty="0">
                <a:solidFill>
                  <a:srgbClr val="FFFFFF"/>
                </a:solidFill>
                <a:latin typeface="Arial"/>
                <a:cs typeface="Arial"/>
              </a:rPr>
              <a:t>Tiên lượng</a:t>
            </a:r>
          </a:p>
        </p:txBody>
      </p:sp>
      <p:sp>
        <p:nvSpPr>
          <p:cNvPr id="73" name="CardBody"/>
          <p:cNvSpPr/>
          <p:nvPr/>
        </p:nvSpPr>
        <p:spPr>
          <a:xfrm>
            <a:off x="4283066" y="2201706"/>
            <a:ext cx="3625866" cy="2364880"/>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400" dirty="0">
                <a:solidFill>
                  <a:srgbClr val="000000"/>
                </a:solidFill>
                <a:latin typeface="Arial"/>
                <a:cs typeface="Arial"/>
              </a:rPr>
              <a:t>P: người bệnh mắc một tình trạng</a:t>
            </a:r>
          </a:p>
          <a:p>
            <a:pPr marL="0" indent="0" algn="ctr">
              <a:lnSpc>
                <a:spcPct val="104000"/>
              </a:lnSpc>
              <a:spcBef>
                <a:spcPts val="400"/>
              </a:spcBef>
              <a:buNone/>
            </a:pPr>
            <a:r>
              <a:rPr lang="en-US" sz="1400" dirty="0">
                <a:solidFill>
                  <a:srgbClr val="000000"/>
                </a:solidFill>
                <a:latin typeface="Arial"/>
                <a:cs typeface="Arial"/>
              </a:rPr>
              <a:t>E: yếu tố nguy cơ</a:t>
            </a:r>
          </a:p>
          <a:p>
            <a:pPr marL="0" indent="0" algn="ctr">
              <a:lnSpc>
                <a:spcPct val="104000"/>
              </a:lnSpc>
              <a:spcBef>
                <a:spcPts val="400"/>
              </a:spcBef>
              <a:buNone/>
            </a:pPr>
            <a:r>
              <a:rPr lang="en-US" sz="1400" dirty="0">
                <a:solidFill>
                  <a:srgbClr val="000000"/>
                </a:solidFill>
                <a:latin typeface="Arial"/>
                <a:cs typeface="Arial"/>
              </a:rPr>
              <a:t>O: điều xảy ra</a:t>
            </a:r>
          </a:p>
          <a:p>
            <a:pPr marL="0" indent="0" algn="ctr">
              <a:lnSpc>
                <a:spcPct val="104000"/>
              </a:lnSpc>
              <a:spcBef>
                <a:spcPts val="400"/>
              </a:spcBef>
              <a:buNone/>
            </a:pPr>
            <a:r>
              <a:rPr lang="en-US" sz="1400" dirty="0">
                <a:solidFill>
                  <a:srgbClr val="000000"/>
                </a:solidFill>
                <a:latin typeface="Arial"/>
                <a:cs typeface="Arial"/>
              </a:rPr>
              <a:t>T: đến khi nào</a:t>
            </a:r>
          </a:p>
          <a:p>
            <a:pPr marL="0" indent="0" algn="ctr">
              <a:lnSpc>
                <a:spcPct val="104000"/>
              </a:lnSpc>
              <a:spcBef>
                <a:spcPts val="400"/>
              </a:spcBef>
              <a:buNone/>
            </a:pPr>
            <a:r>
              <a:rPr lang="en-US" sz="1400" i="1" dirty="0">
                <a:solidFill>
                  <a:srgbClr val="000000"/>
                </a:solidFill>
                <a:latin typeface="Arial"/>
                <a:cs typeface="Arial"/>
              </a:rPr>
              <a:t>Ví dụ: trong sốc nhiễm khuẩn, lactate trên 4 mmol/L lúc nhập viện có liên quan với tử vong đến ngày 28 không?</a:t>
            </a:r>
          </a:p>
        </p:txBody>
      </p:sp>
      <p:sp>
        <p:nvSpPr>
          <p:cNvPr id="74" name="CardHead"/>
          <p:cNvSpPr/>
          <p:nvPr/>
        </p:nvSpPr>
        <p:spPr>
          <a:xfrm>
            <a:off x="8108932" y="1561706"/>
            <a:ext cx="3625866" cy="640000"/>
          </a:xfrm>
          <a:prstGeom prst="rect">
            <a:avLst/>
          </a:prstGeom>
          <a:solidFill>
            <a:srgbClr val="5FA39B"/>
          </a:solidFill>
          <a:ln>
            <a:noFill/>
          </a:ln>
        </p:spPr>
        <p:txBody>
          <a:bodyPr wrap="square" lIns="91440" tIns="45720" rIns="91440" bIns="45720" rtlCol="0" anchor="ctr">
            <a:normAutofit/>
          </a:bodyPr>
          <a:lstStyle/>
          <a:p>
            <a:pPr marL="0" indent="0" algn="ctr">
              <a:buNone/>
            </a:pPr>
            <a:r>
              <a:rPr lang="en-US" sz="1900" b="1" dirty="0">
                <a:solidFill>
                  <a:srgbClr val="FFFFFF"/>
                </a:solidFill>
                <a:latin typeface="Arial"/>
                <a:cs typeface="Arial"/>
              </a:rPr>
              <a:t>Định tính (SPIDER)</a:t>
            </a:r>
          </a:p>
        </p:txBody>
      </p:sp>
      <p:sp>
        <p:nvSpPr>
          <p:cNvPr id="75" name="CardBody"/>
          <p:cNvSpPr/>
          <p:nvPr/>
        </p:nvSpPr>
        <p:spPr>
          <a:xfrm>
            <a:off x="8108932" y="2201706"/>
            <a:ext cx="3625866" cy="2364880"/>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400" dirty="0">
                <a:solidFill>
                  <a:srgbClr val="000000"/>
                </a:solidFill>
                <a:latin typeface="Arial"/>
                <a:cs typeface="Arial"/>
              </a:rPr>
              <a:t>S: Mẫu (Sample)</a:t>
            </a:r>
          </a:p>
          <a:p>
            <a:pPr marL="0" indent="0" algn="ctr">
              <a:lnSpc>
                <a:spcPct val="104000"/>
              </a:lnSpc>
              <a:spcBef>
                <a:spcPts val="400"/>
              </a:spcBef>
              <a:buNone/>
            </a:pPr>
            <a:r>
              <a:rPr lang="en-US" sz="1400" dirty="0">
                <a:solidFill>
                  <a:srgbClr val="000000"/>
                </a:solidFill>
                <a:latin typeface="Arial"/>
                <a:cs typeface="Arial"/>
              </a:rPr>
              <a:t>PI: Hiện tượng quan tâm</a:t>
            </a:r>
          </a:p>
          <a:p>
            <a:pPr marL="0" indent="0" algn="ctr">
              <a:lnSpc>
                <a:spcPct val="104000"/>
              </a:lnSpc>
              <a:spcBef>
                <a:spcPts val="400"/>
              </a:spcBef>
              <a:buNone/>
            </a:pPr>
            <a:r>
              <a:rPr lang="en-US" sz="1400" dirty="0">
                <a:solidFill>
                  <a:srgbClr val="000000"/>
                </a:solidFill>
                <a:latin typeface="Arial"/>
                <a:cs typeface="Arial"/>
              </a:rPr>
              <a:t>D: Thiết kế (Design)</a:t>
            </a:r>
          </a:p>
          <a:p>
            <a:pPr marL="0" indent="0" algn="ctr">
              <a:lnSpc>
                <a:spcPct val="104000"/>
              </a:lnSpc>
              <a:spcBef>
                <a:spcPts val="400"/>
              </a:spcBef>
              <a:buNone/>
            </a:pPr>
            <a:r>
              <a:rPr lang="en-US" sz="1400" dirty="0">
                <a:solidFill>
                  <a:srgbClr val="000000"/>
                </a:solidFill>
                <a:latin typeface="Arial"/>
                <a:cs typeface="Arial"/>
              </a:rPr>
              <a:t>E: Đánh giá, R: Loại nghiên cứu</a:t>
            </a:r>
          </a:p>
          <a:p>
            <a:pPr marL="0" indent="0" algn="ctr">
              <a:lnSpc>
                <a:spcPct val="104000"/>
              </a:lnSpc>
              <a:spcBef>
                <a:spcPts val="400"/>
              </a:spcBef>
              <a:buNone/>
            </a:pPr>
            <a:r>
              <a:rPr lang="en-US" sz="1400" i="1" dirty="0">
                <a:solidFill>
                  <a:srgbClr val="000000"/>
                </a:solidFill>
                <a:latin typeface="Arial"/>
                <a:cs typeface="Arial"/>
              </a:rPr>
              <a:t>Ví dụ: điều dưỡng ICU trải nghiệm việc ngừng dịch truyền như thế nào, qua phỏng vấn?</a:t>
            </a:r>
          </a:p>
        </p:txBody>
      </p:sp>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ctr">
              <a:buNone/>
            </a:pPr>
            <a:r>
              <a:rPr lang="en-US" sz="1300" b="1" dirty="0">
                <a:solidFill>
                  <a:srgbClr val="FFFFFF"/>
                </a:solidFill>
                <a:latin typeface="Arial"/>
                <a:cs typeface="Arial"/>
              </a:rPr>
              <a:t>THÔNG ĐIỆP CHÍNH   </a:t>
            </a:r>
            <a:r>
              <a:rPr lang="en-US" sz="1550" dirty="0">
                <a:solidFill>
                  <a:srgbClr val="FFFFFF"/>
                </a:solidFill>
                <a:latin typeface="Arial"/>
                <a:cs typeface="Arial"/>
              </a:rPr>
              <a:t>Chữ cái thay đổi, nhưng nguyên tắc giữ nguyên: nói rõ ràng.</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Luyện thêm: trượt tiêu chí FINER nào?</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50" name="Banner"/>
          <p:cNvSpPr/>
          <p:nvPr/>
        </p:nvSpPr>
        <p:spPr>
          <a:xfrm>
            <a:off x="457200" y="1120000"/>
            <a:ext cx="11277600" cy="470000"/>
          </a:xfrm>
          <a:prstGeom prst="rect">
            <a:avLst/>
          </a:prstGeom>
          <a:solidFill>
            <a:srgbClr val="6C3483"/>
          </a:solidFill>
          <a:ln>
            <a:noFill/>
          </a:ln>
        </p:spPr>
        <p:txBody>
          <a:bodyPr wrap="square" lIns="182880" tIns="45720" rIns="182880" bIns="45720" rtlCol="0" anchor="ctr">
            <a:normAutofit/>
          </a:bodyPr>
          <a:lstStyle/>
          <a:p>
            <a:pPr marL="0" indent="0" algn="l">
              <a:buNone/>
            </a:pPr>
            <a:r>
              <a:rPr lang="en-US" sz="1500" b="1" dirty="0">
                <a:solidFill>
                  <a:srgbClr val="FFFFFF"/>
                </a:solidFill>
                <a:latin typeface="Arial"/>
                <a:cs typeface="Arial"/>
              </a:rPr>
              <a:t>CÂU HỎI NHANH   |   4 phút</a:t>
            </a:r>
          </a:p>
        </p:txBody>
      </p:sp>
      <p:sp>
        <p:nvSpPr>
          <p:cNvPr id="51" name="Steps"/>
          <p:cNvSpPr txBox="1"/>
          <p:nvPr/>
        </p:nvSpPr>
        <p:spPr>
          <a:xfrm>
            <a:off x="457200" y="1720000"/>
            <a:ext cx="11277600" cy="3510000"/>
          </a:xfrm>
          <a:prstGeom prst="rect">
            <a:avLst/>
          </a:prstGeom>
          <a:noFill/>
          <a:ln>
            <a:noFill/>
          </a:ln>
        </p:spPr>
        <p:txBody>
          <a:bodyPr wrap="square" lIns="91440" tIns="45720" rIns="91440" bIns="45720" rtlCol="0" anchor="t"/>
          <a:lstStyle/>
          <a:p>
            <a:pPr marL="380000" indent="-380000" algn="l">
              <a:lnSpc>
                <a:spcPct val="104000"/>
              </a:lnSpc>
              <a:spcBef>
                <a:spcPts val="450"/>
              </a:spcBef>
              <a:buClr>
                <a:srgbClr val="6C3483"/>
              </a:buClr>
              <a:buFont typeface="Arial"/>
              <a:buChar char="•"/>
            </a:pPr>
            <a:r>
              <a:rPr lang="en-US" sz="1650" dirty="0">
                <a:solidFill>
                  <a:srgbClr val="000000"/>
                </a:solidFill>
                <a:latin typeface="Arial"/>
                <a:cs typeface="Arial"/>
              </a:rPr>
              <a:t>Mọi người lớn nằm viện trong cả nước: vitamin D có giảm tử vong trong 10 năm?</a:t>
            </a:r>
          </a:p>
          <a:p>
            <a:pPr marL="380000" indent="-380000" algn="l">
              <a:lnSpc>
                <a:spcPct val="104000"/>
              </a:lnSpc>
              <a:spcBef>
                <a:spcPts val="450"/>
              </a:spcBef>
              <a:buClr>
                <a:srgbClr val="6C3483"/>
              </a:buClr>
              <a:buFont typeface="Arial"/>
              <a:buChar char="•"/>
            </a:pPr>
            <a:r>
              <a:rPr lang="en-US" sz="1650" dirty="0">
                <a:solidFill>
                  <a:srgbClr val="000000"/>
                </a:solidFill>
                <a:latin typeface="Arial"/>
                <a:cs typeface="Arial"/>
              </a:rPr>
              <a:t>Sốc nhiễm khuẩn: hoãn kháng sinh 24 giờ có giảm kháng thuốc?</a:t>
            </a:r>
          </a:p>
          <a:p>
            <a:pPr marL="380000" indent="-380000" algn="l">
              <a:lnSpc>
                <a:spcPct val="104000"/>
              </a:lnSpc>
              <a:spcBef>
                <a:spcPts val="450"/>
              </a:spcBef>
              <a:buClr>
                <a:srgbClr val="6C3483"/>
              </a:buClr>
              <a:buFont typeface="Arial"/>
              <a:buChar char="•"/>
            </a:pPr>
            <a:r>
              <a:rPr lang="en-US" sz="1650" dirty="0">
                <a:solidFill>
                  <a:srgbClr val="000000"/>
                </a:solidFill>
                <a:latin typeface="Arial"/>
                <a:cs typeface="Arial"/>
              </a:rPr>
              <a:t>Điều dưỡng ICU có rửa tay không? (đã audit hằng tháng suốt 5 năm)</a:t>
            </a:r>
          </a:p>
          <a:p>
            <a:pPr marL="380000" indent="-380000" algn="l">
              <a:lnSpc>
                <a:spcPct val="104000"/>
              </a:lnSpc>
              <a:spcBef>
                <a:spcPts val="450"/>
              </a:spcBef>
              <a:buClr>
                <a:srgbClr val="6C3483"/>
              </a:buClr>
              <a:buFont typeface="Arial"/>
              <a:buChar char="•"/>
            </a:pPr>
            <a:r>
              <a:rPr lang="en-US" sz="1650" dirty="0">
                <a:solidFill>
                  <a:srgbClr val="000000"/>
                </a:solidFill>
                <a:latin typeface="Arial"/>
                <a:cs typeface="Arial"/>
              </a:rPr>
              <a:t>Viêm phổi: màu của tờ y lệnh có ảnh hưởng tử vong 28 ngày?</a:t>
            </a:r>
          </a:p>
        </p:txBody>
      </p:sp>
      <p:sp>
        <p:nvSpPr>
          <p:cNvPr id="53" name="Deliverable"/>
          <p:cNvSpPr/>
          <p:nvPr/>
        </p:nvSpPr>
        <p:spPr>
          <a:xfrm>
            <a:off x="457200" y="5350000"/>
            <a:ext cx="11277600" cy="600000"/>
          </a:xfrm>
          <a:prstGeom prst="roundRect">
            <a:avLst>
              <a:gd name="adj" fmla="val 12000"/>
            </a:avLst>
          </a:prstGeom>
          <a:solidFill>
            <a:srgbClr val="FFFFFF"/>
          </a:solidFill>
          <a:ln w="15875">
            <a:solidFill>
              <a:srgbClr val="6C3483"/>
            </a:solidFill>
          </a:ln>
        </p:spPr>
        <p:txBody>
          <a:bodyPr wrap="square" lIns="182880" tIns="45720" rIns="182880" bIns="45720" rtlCol="0" anchor="ctr">
            <a:normAutofit/>
          </a:bodyPr>
          <a:lstStyle/>
          <a:p>
            <a:pPr marL="0" indent="0" algn="ctr">
              <a:buNone/>
            </a:pPr>
            <a:r>
              <a:rPr lang="en-US" sz="1300" b="1" dirty="0">
                <a:solidFill>
                  <a:srgbClr val="6C3483"/>
                </a:solidFill>
                <a:latin typeface="Arial"/>
                <a:cs typeface="Arial"/>
              </a:rPr>
              <a:t>SẢN PHẨM   </a:t>
            </a:r>
            <a:r>
              <a:rPr lang="en-US" sz="1500" dirty="0">
                <a:solidFill>
                  <a:srgbClr val="000000"/>
                </a:solidFill>
                <a:latin typeface="Arial"/>
                <a:cs typeface="Arial"/>
              </a:rPr>
              <a:t>Mỗi câu một chữ cái, trong bình chọn</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Mơ hồ và trả lời được: thêm một ví dụ tại khoa</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70" name="CardHead"/>
          <p:cNvSpPr/>
          <p:nvPr/>
        </p:nvSpPr>
        <p:spPr>
          <a:xfrm>
            <a:off x="457200" y="1535249"/>
            <a:ext cx="5538800" cy="640000"/>
          </a:xfrm>
          <a:prstGeom prst="rect">
            <a:avLst/>
          </a:prstGeom>
          <a:solidFill>
            <a:srgbClr val="B23B2E"/>
          </a:solidFill>
          <a:ln>
            <a:noFill/>
          </a:ln>
        </p:spPr>
        <p:txBody>
          <a:bodyPr wrap="square" lIns="91440" tIns="45720" rIns="91440" bIns="45720" rtlCol="0" anchor="ctr">
            <a:normAutofit/>
          </a:bodyPr>
          <a:lstStyle/>
          <a:p>
            <a:pPr marL="0" indent="0" algn="ctr">
              <a:buNone/>
            </a:pPr>
            <a:r>
              <a:rPr lang="en-US" sz="1900" b="1" dirty="0">
                <a:solidFill>
                  <a:srgbClr val="FFFFFF"/>
                </a:solidFill>
                <a:latin typeface="Arial"/>
                <a:cs typeface="Arial"/>
              </a:rPr>
              <a:t>Mơ hồ</a:t>
            </a:r>
          </a:p>
        </p:txBody>
      </p:sp>
      <p:sp>
        <p:nvSpPr>
          <p:cNvPr id="71" name="CardBody"/>
          <p:cNvSpPr/>
          <p:nvPr/>
        </p:nvSpPr>
        <p:spPr>
          <a:xfrm>
            <a:off x="457200" y="2175249"/>
            <a:ext cx="5538800" cy="2444253"/>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950" b="1" dirty="0">
                <a:solidFill>
                  <a:srgbClr val="000000"/>
                </a:solidFill>
                <a:latin typeface="Arial"/>
                <a:cs typeface="Arial"/>
              </a:rPr>
              <a:t>"Ca đêm có gây sai sót thuốc không?"</a:t>
            </a:r>
          </a:p>
          <a:p>
            <a:pPr marL="0" indent="0" algn="ctr">
              <a:lnSpc>
                <a:spcPct val="104000"/>
              </a:lnSpc>
              <a:spcBef>
                <a:spcPts val="400"/>
              </a:spcBef>
              <a:buNone/>
            </a:pPr>
            <a:r>
              <a:rPr lang="en-US" sz="1950" dirty="0">
                <a:solidFill>
                  <a:srgbClr val="000000"/>
                </a:solidFill>
                <a:latin typeface="Arial"/>
                <a:cs typeface="Arial"/>
              </a:rPr>
              <a:t>Nhân viên nào?</a:t>
            </a:r>
          </a:p>
          <a:p>
            <a:pPr marL="0" indent="0" algn="ctr">
              <a:lnSpc>
                <a:spcPct val="104000"/>
              </a:lnSpc>
              <a:spcBef>
                <a:spcPts val="400"/>
              </a:spcBef>
              <a:buNone/>
            </a:pPr>
            <a:r>
              <a:rPr lang="en-US" sz="1950" dirty="0">
                <a:solidFill>
                  <a:srgbClr val="000000"/>
                </a:solidFill>
                <a:latin typeface="Arial"/>
                <a:cs typeface="Arial"/>
              </a:rPr>
              <a:t>So với cái gì?</a:t>
            </a:r>
          </a:p>
          <a:p>
            <a:pPr marL="0" indent="0" algn="ctr">
              <a:lnSpc>
                <a:spcPct val="104000"/>
              </a:lnSpc>
              <a:spcBef>
                <a:spcPts val="400"/>
              </a:spcBef>
              <a:buNone/>
            </a:pPr>
            <a:r>
              <a:rPr lang="en-US" sz="1950" dirty="0">
                <a:solidFill>
                  <a:srgbClr val="000000"/>
                </a:solidFill>
                <a:latin typeface="Arial"/>
                <a:cs typeface="Arial"/>
              </a:rPr>
              <a:t>Sai sót nào, đếm thế nào?</a:t>
            </a:r>
          </a:p>
          <a:p>
            <a:pPr marL="0" indent="0" algn="ctr">
              <a:lnSpc>
                <a:spcPct val="104000"/>
              </a:lnSpc>
              <a:spcBef>
                <a:spcPts val="400"/>
              </a:spcBef>
              <a:buNone/>
            </a:pPr>
            <a:r>
              <a:rPr lang="en-US" sz="1950" dirty="0">
                <a:solidFill>
                  <a:srgbClr val="000000"/>
                </a:solidFill>
                <a:latin typeface="Arial"/>
                <a:cs typeface="Arial"/>
              </a:rPr>
              <a:t>Trong bao lâu?</a:t>
            </a:r>
          </a:p>
        </p:txBody>
      </p:sp>
      <p:sp>
        <p:nvSpPr>
          <p:cNvPr id="72" name="CardHead"/>
          <p:cNvSpPr/>
          <p:nvPr/>
        </p:nvSpPr>
        <p:spPr>
          <a:xfrm>
            <a:off x="6196000" y="1535249"/>
            <a:ext cx="5538800" cy="640000"/>
          </a:xfrm>
          <a:prstGeom prst="rect">
            <a:avLst/>
          </a:prstGeom>
          <a:solidFill>
            <a:srgbClr val="2E8B57"/>
          </a:solidFill>
          <a:ln>
            <a:noFill/>
          </a:ln>
        </p:spPr>
        <p:txBody>
          <a:bodyPr wrap="square" lIns="91440" tIns="45720" rIns="91440" bIns="45720" rtlCol="0" anchor="ctr">
            <a:normAutofit/>
          </a:bodyPr>
          <a:lstStyle/>
          <a:p>
            <a:pPr marL="0" indent="0" algn="ctr">
              <a:buNone/>
            </a:pPr>
            <a:r>
              <a:rPr lang="en-US" sz="1900" b="1" dirty="0">
                <a:solidFill>
                  <a:srgbClr val="FFFFFF"/>
                </a:solidFill>
                <a:latin typeface="Arial"/>
                <a:cs typeface="Arial"/>
              </a:rPr>
              <a:t>Trả lời được, nhờ PECO</a:t>
            </a:r>
          </a:p>
        </p:txBody>
      </p:sp>
      <p:sp>
        <p:nvSpPr>
          <p:cNvPr id="73" name="CardBody"/>
          <p:cNvSpPr/>
          <p:nvPr/>
        </p:nvSpPr>
        <p:spPr>
          <a:xfrm>
            <a:off x="6196000" y="2175249"/>
            <a:ext cx="5538800" cy="2444253"/>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950" dirty="0">
                <a:solidFill>
                  <a:srgbClr val="000000"/>
                </a:solidFill>
                <a:latin typeface="Arial"/>
                <a:cs typeface="Arial"/>
              </a:rPr>
              <a:t>P: Ở điều dưỡng khoa phòng,</a:t>
            </a:r>
          </a:p>
          <a:p>
            <a:pPr marL="0" indent="0" algn="ctr">
              <a:lnSpc>
                <a:spcPct val="104000"/>
              </a:lnSpc>
              <a:spcBef>
                <a:spcPts val="400"/>
              </a:spcBef>
              <a:buNone/>
            </a:pPr>
            <a:r>
              <a:rPr lang="en-US" sz="1950" dirty="0">
                <a:solidFill>
                  <a:srgbClr val="000000"/>
                </a:solidFill>
                <a:latin typeface="Arial"/>
                <a:cs typeface="Arial"/>
              </a:rPr>
              <a:t>E: làm ca đêm,</a:t>
            </a:r>
          </a:p>
          <a:p>
            <a:pPr marL="0" indent="0" algn="ctr">
              <a:lnSpc>
                <a:spcPct val="104000"/>
              </a:lnSpc>
              <a:spcBef>
                <a:spcPts val="400"/>
              </a:spcBef>
              <a:buNone/>
            </a:pPr>
            <a:r>
              <a:rPr lang="en-US" sz="1950" dirty="0">
                <a:solidFill>
                  <a:srgbClr val="000000"/>
                </a:solidFill>
                <a:latin typeface="Arial"/>
                <a:cs typeface="Arial"/>
              </a:rPr>
              <a:t>C: so với ca ngày,</a:t>
            </a:r>
          </a:p>
          <a:p>
            <a:pPr marL="0" indent="0" algn="ctr">
              <a:lnSpc>
                <a:spcPct val="104000"/>
              </a:lnSpc>
              <a:spcBef>
                <a:spcPts val="400"/>
              </a:spcBef>
              <a:buNone/>
            </a:pPr>
            <a:r>
              <a:rPr lang="en-US" sz="1950" dirty="0">
                <a:solidFill>
                  <a:srgbClr val="000000"/>
                </a:solidFill>
                <a:latin typeface="Arial"/>
                <a:cs typeface="Arial"/>
              </a:rPr>
              <a:t>O: có liên quan với nhiều sai sót hơn trên 1000 liều thuốc</a:t>
            </a:r>
          </a:p>
          <a:p>
            <a:pPr marL="0" indent="0" algn="ctr">
              <a:lnSpc>
                <a:spcPct val="104000"/>
              </a:lnSpc>
              <a:spcBef>
                <a:spcPts val="400"/>
              </a:spcBef>
              <a:buNone/>
            </a:pPr>
            <a:r>
              <a:rPr lang="en-US" sz="1950" dirty="0">
                <a:solidFill>
                  <a:srgbClr val="000000"/>
                </a:solidFill>
                <a:latin typeface="Arial"/>
                <a:cs typeface="Arial"/>
              </a:rPr>
              <a:t>T: trong 6 tháng không?</a:t>
            </a:r>
          </a:p>
        </p:txBody>
      </p:sp>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ctr">
              <a:buNone/>
            </a:pPr>
            <a:r>
              <a:rPr lang="en-US" sz="1300" b="1" dirty="0">
                <a:solidFill>
                  <a:srgbClr val="FFFFFF"/>
                </a:solidFill>
                <a:latin typeface="Arial"/>
                <a:cs typeface="Arial"/>
              </a:rPr>
              <a:t>THÔNG ĐIỆP CHÍNH   </a:t>
            </a:r>
            <a:r>
              <a:rPr lang="en-US" sz="1550" dirty="0">
                <a:solidFill>
                  <a:srgbClr val="FFFFFF"/>
                </a:solidFill>
                <a:latin typeface="Arial"/>
                <a:cs typeface="Arial"/>
              </a:rPr>
              <a:t>Luyện tại khoa của bạn: lấy một câu hỏi hành lang và điền vào các ô.</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pic>
        <p:nvPicPr>
          <p:cNvPr id="2" name="Logo"/>
          <p:cNvPicPr>
            <a:picLocks noChangeAspect="1"/>
          </p:cNvPicPr>
          <p:nvPr/>
        </p:nvPicPr>
        <p:blipFill>
          <a:blip r:embed="rId3"/>
          <a:stretch>
            <a:fillRect/>
          </a:stretch>
        </p:blipFill>
        <p:spPr>
          <a:xfrm>
            <a:off x="4438553" y="723719"/>
            <a:ext cx="3314894" cy="2906250"/>
          </a:xfrm>
          <a:prstGeom prst="rect">
            <a:avLst/>
          </a:prstGeom>
        </p:spPr>
      </p:pic>
      <p:sp>
        <p:nvSpPr>
          <p:cNvPr id="3" name="CopyHead"/>
          <p:cNvSpPr txBox="1"/>
          <p:nvPr/>
        </p:nvSpPr>
        <p:spPr>
          <a:xfrm>
            <a:off x="1100000" y="3650000"/>
            <a:ext cx="9000000" cy="500000"/>
          </a:xfrm>
          <a:prstGeom prst="rect">
            <a:avLst/>
          </a:prstGeom>
          <a:noFill/>
          <a:ln>
            <a:noFill/>
          </a:ln>
        </p:spPr>
        <p:txBody>
          <a:bodyPr wrap="square" lIns="0" tIns="45720" rIns="0" bIns="45720" rtlCol="0" anchor="t"/>
          <a:lstStyle/>
          <a:p>
            <a:pPr marL="0" indent="0" algn="l">
              <a:buNone/>
            </a:pPr>
            <a:r>
              <a:rPr lang="en-US" sz="2400" b="1" dirty="0">
                <a:solidFill>
                  <a:srgbClr val="4472C4"/>
                </a:solidFill>
                <a:latin typeface="Arial"/>
                <a:cs typeface="Arial"/>
              </a:rPr>
              <a:t>Copyright © Neudata, 2026</a:t>
            </a:r>
          </a:p>
        </p:txBody>
      </p:sp>
      <p:sp>
        <p:nvSpPr>
          <p:cNvPr id="4" name="CopyBody"/>
          <p:cNvSpPr txBox="1"/>
          <p:nvPr/>
        </p:nvSpPr>
        <p:spPr>
          <a:xfrm>
            <a:off x="1100000" y="4200000"/>
            <a:ext cx="9991440" cy="2200000"/>
          </a:xfrm>
          <a:prstGeom prst="rect">
            <a:avLst/>
          </a:prstGeom>
          <a:noFill/>
          <a:ln>
            <a:noFill/>
          </a:ln>
        </p:spPr>
        <p:txBody>
          <a:bodyPr wrap="square" lIns="0" tIns="45720" rIns="0" bIns="45720" rtlCol="0" anchor="t"/>
          <a:lstStyle/>
          <a:p>
            <a:pPr marL="0" indent="0" algn="l">
              <a:spcBef>
                <a:spcPts val="100"/>
              </a:spcBef>
              <a:buNone/>
            </a:pPr>
            <a:r>
              <a:rPr lang="en-US" sz="1200" dirty="0">
                <a:solidFill>
                  <a:srgbClr val="000000"/>
                </a:solidFill>
                <a:latin typeface="Courier New"/>
                <a:cs typeface="Courier New"/>
              </a:rPr>
              <a:t>All property rights and copyright are reserved.</a:t>
            </a:r>
          </a:p>
          <a:p>
            <a:pPr>
              <a:buNone/>
            </a:pPr>
            <a:endParaRPr sz="800"/>
          </a:p>
          <a:p>
            <a:pPr marL="0" indent="0" algn="l">
              <a:spcBef>
                <a:spcPts val="100"/>
              </a:spcBef>
              <a:buNone/>
            </a:pPr>
            <a:r>
              <a:rPr lang="en-US" sz="1200" dirty="0">
                <a:solidFill>
                  <a:srgbClr val="000000"/>
                </a:solidFill>
                <a:latin typeface="Courier New"/>
                <a:cs typeface="Courier New"/>
              </a:rPr>
              <a:t>This presentation contains proprietary data, information, and materials developed by Neudata for dedicated use only and may not be communicated, copied, reproduced, distributed, published, or cited, in whole or in part, without the prior written consent of Neudata.</a:t>
            </a:r>
          </a:p>
          <a:p>
            <a:pPr marL="0" indent="0" algn="l">
              <a:spcBef>
                <a:spcPts val="100"/>
              </a:spcBef>
              <a:buNone/>
            </a:pPr>
            <a:r>
              <a:rPr lang="en-US" sz="1200" dirty="0">
                <a:solidFill>
                  <a:srgbClr val="000000"/>
                </a:solidFill>
                <a:latin typeface="Courier New"/>
                <a:cs typeface="Courier New"/>
              </a:rPr>
              <a:t>Where explicit written permission has been granted, appropriate attribution must be included, followed by “by courtesy of Neudata”.</a:t>
            </a:r>
          </a:p>
          <a:p>
            <a:pPr>
              <a:buNone/>
            </a:pPr>
            <a:endParaRPr sz="800"/>
          </a:p>
          <a:p>
            <a:pPr marL="0" indent="0" algn="l">
              <a:spcBef>
                <a:spcPts val="100"/>
              </a:spcBef>
              <a:buNone/>
            </a:pPr>
            <a:r>
              <a:rPr lang="en-US" sz="1200" dirty="0">
                <a:solidFill>
                  <a:srgbClr val="000000"/>
                </a:solidFill>
                <a:latin typeface="Courier New"/>
                <a:cs typeface="Courier New"/>
              </a:rPr>
              <a:t>Any unauthorized use or infringement of these materials may give rise to legal action and claims for damages, without prejudice to any other rights of Neudata, including rights relating to patents, trademarks, or other forms of intellectual property protection.</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sp>
        <p:nvSpPr>
          <p:cNvPr id="905"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x</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customXml/_rels/item1.xml.rels><?xml version="1.0" encoding="utf-8"?>
<Relationships xmlns="http://schemas.openxmlformats.org/package/2006/relationships">
  <Relationship Id="rId1" Type="http://schemas.openxmlformats.org/officeDocument/2006/relationships/customXmlProps" Target="itemProps1.xml"/>
</Relationships>

</file>

<file path=customXml/_rels/item2.xml.rels><?xml version="1.0" encoding="utf-8"?>
<Relationships xmlns="http://schemas.openxmlformats.org/package/2006/relationships">
  <Relationship Id="rId1" Type="http://schemas.openxmlformats.org/officeDocument/2006/relationships/customXmlProps" Target="itemProps2.xml"/>
</Relationships>

</file>

<file path=customXml/_rels/item3.xml.rels><?xml version="1.0" encoding="utf-8"?>
<Relationships xmlns="http://schemas.openxmlformats.org/package/2006/relationships">
  <Relationship Id="rId1" Type="http://schemas.openxmlformats.org/officeDocument/2006/relationships/customXmlProps" Target="itemProps3.xml"/>
</Relationships>

</file>

<file path=customXml/item1.xml><?xml version="1.0" encoding="utf-8"?>
<p:properties xmlns:p="http://schemas.microsoft.com/office/2006/metadata/properties" xmlns:xsi="http://www.w3.org/2001/XMLSchema-instance" xmlns:pc="http://schemas.microsoft.com/office/infopath/2007/PartnerControls">
  <documentManagement>
    <_activity xmlns="e658d648-6ffc-4f30-955e-342d2c65b5cc" xsi:nil="true"/>
  </documentManagement>
</p:properties>
</file>

<file path=customXml/item2.xml><?xml version="1.0" encoding="utf-8"?>
<?mso-contentType ?>
<FormTemplates xmlns="http://schemas.microsoft.com/sharepoint/v3/contenttype/forms">
  <Display>DocumentLibraryForm</Display>
  <Edit>DocumentLibraryForm</Edit>
  <New>DocumentLibraryForm</New>
</FormTemplates>
</file>

<file path=customXml/item3.xml><?xml version="1.0" encoding="utf-8"?>
<ct:contentTypeSchema xmlns:ct="http://schemas.microsoft.com/office/2006/metadata/contentType" xmlns:ma="http://schemas.microsoft.com/office/2006/metadata/properties/metaAttributes" ct:_="" ma:_="" ma:contentTypeName="Document" ma:contentTypeID="0x010100F54D7B907B5DFD428D1C0297734363F0" ma:contentTypeVersion="15" ma:contentTypeDescription="Een nieuw document maken." ma:contentTypeScope="" ma:versionID="26c99ba727eaa891493a7fa95ff6c725">
  <xsd:schema xmlns:xsd="http://www.w3.org/2001/XMLSchema" xmlns:xs="http://www.w3.org/2001/XMLSchema" xmlns:p="http://schemas.microsoft.com/office/2006/metadata/properties" xmlns:ns3="e658d648-6ffc-4f30-955e-342d2c65b5cc" xmlns:ns4="ab59a5c7-b96d-406d-bbef-f0a1b42de2f3" targetNamespace="http://schemas.microsoft.com/office/2006/metadata/properties" ma:root="true" ma:fieldsID="786a918a36af2f8db8f60bc36475a9d3" ns3:_="" ns4:_="">
    <xsd:import namespace="e658d648-6ffc-4f30-955e-342d2c65b5cc"/>
    <xsd:import namespace="ab59a5c7-b96d-406d-bbef-f0a1b42de2f3"/>
    <xsd:element name="properties">
      <xsd:complexType>
        <xsd:sequence>
          <xsd:element name="documentManagement">
            <xsd:complexType>
              <xsd:all>
                <xsd:element ref="ns3:_activity" minOccurs="0"/>
                <xsd:element ref="ns4:SharedWithUsers" minOccurs="0"/>
                <xsd:element ref="ns4:SharedWithDetails" minOccurs="0"/>
                <xsd:element ref="ns4:SharingHintHash" minOccurs="0"/>
                <xsd:element ref="ns3:MediaServiceMetadata" minOccurs="0"/>
                <xsd:element ref="ns3:MediaServiceFastMetadata" minOccurs="0"/>
                <xsd:element ref="ns3:MediaServiceObjectDetectorVersions" minOccurs="0"/>
                <xsd:element ref="ns3:MediaServiceDateTaken" minOccurs="0"/>
                <xsd:element ref="ns3:MediaServiceAutoTags" minOccurs="0"/>
                <xsd:element ref="ns3:MediaLengthInSeconds" minOccurs="0"/>
                <xsd:element ref="ns3:MediaServiceSearchProperties" minOccurs="0"/>
                <xsd:element ref="ns3:MediaServiceSystemTags" minOccurs="0"/>
                <xsd:element ref="ns3:MediaServiceOCR" minOccurs="0"/>
                <xsd:element ref="ns3:MediaServiceGenerationTime" minOccurs="0"/>
                <xsd:element ref="ns3:MediaServiceEventHashCode"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e658d648-6ffc-4f30-955e-342d2c65b5cc" elementFormDefault="qualified">
    <xsd:import namespace="http://schemas.microsoft.com/office/2006/documentManagement/types"/>
    <xsd:import namespace="http://schemas.microsoft.com/office/infopath/2007/PartnerControls"/>
    <xsd:element name="_activity" ma:index="8" nillable="true" ma:displayName="_activity" ma:hidden="true" ma:internalName="_activity">
      <xsd:simpleType>
        <xsd:restriction base="dms:Note"/>
      </xsd:simpleType>
    </xsd:element>
    <xsd:element name="MediaServiceMetadata" ma:index="12" nillable="true" ma:displayName="MediaServiceMetadata" ma:hidden="true" ma:internalName="MediaServiceMetadata" ma:readOnly="true">
      <xsd:simpleType>
        <xsd:restriction base="dms:Note"/>
      </xsd:simpleType>
    </xsd:element>
    <xsd:element name="MediaServiceFastMetadata" ma:index="13" nillable="true" ma:displayName="MediaServiceFastMetadata" ma:hidden="true" ma:internalName="MediaServiceFastMetadata" ma:readOnly="true">
      <xsd:simpleType>
        <xsd:restriction base="dms:Note"/>
      </xsd:simpleType>
    </xsd:element>
    <xsd:element name="MediaServiceObjectDetectorVersions" ma:index="14" nillable="true" ma:displayName="MediaServiceObjectDetectorVersions" ma:hidden="true" ma:indexed="true" ma:internalName="MediaServiceObjectDetectorVersions" ma:readOnly="true">
      <xsd:simpleType>
        <xsd:restriction base="dms:Text"/>
      </xsd:simpleType>
    </xsd:element>
    <xsd:element name="MediaServiceDateTaken" ma:index="15" nillable="true" ma:displayName="MediaServiceDateTaken" ma:hidden="true" ma:indexed="true" ma:internalName="MediaServiceDateTaken" ma:readOnly="true">
      <xsd:simpleType>
        <xsd:restriction base="dms:Text"/>
      </xsd:simpleType>
    </xsd:element>
    <xsd:element name="MediaServiceAutoTags" ma:index="16" nillable="true" ma:displayName="Tags" ma:internalName="MediaServiceAutoTags" ma:readOnly="true">
      <xsd:simpleType>
        <xsd:restriction base="dms:Text"/>
      </xsd:simpleType>
    </xsd:element>
    <xsd:element name="MediaLengthInSeconds" ma:index="17" nillable="true" ma:displayName="MediaLengthInSeconds" ma:hidden="true" ma:internalName="MediaLengthInSeconds" ma:readOnly="true">
      <xsd:simpleType>
        <xsd:restriction base="dms:Unknown"/>
      </xsd:simpleType>
    </xsd:element>
    <xsd:element name="MediaServiceSearchProperties" ma:index="18" nillable="true" ma:displayName="MediaServiceSearchProperties" ma:hidden="true" ma:internalName="MediaServiceSearchProperties" ma:readOnly="true">
      <xsd:simpleType>
        <xsd:restriction base="dms:Note"/>
      </xsd:simpleType>
    </xsd:element>
    <xsd:element name="MediaServiceSystemTags" ma:index="19" nillable="true" ma:displayName="MediaServiceSystemTags" ma:hidden="true" ma:internalName="MediaServiceSystemTags" ma:readOnly="true">
      <xsd:simpleType>
        <xsd:restriction base="dms:Note"/>
      </xsd:simpleType>
    </xsd:element>
    <xsd:element name="MediaServiceOCR" ma:index="20" nillable="true" ma:displayName="Extracted Text" ma:internalName="MediaServiceOCR" ma:readOnly="true">
      <xsd:simpleType>
        <xsd:restriction base="dms:Note">
          <xsd:maxLength value="255"/>
        </xsd:restriction>
      </xsd:simpleType>
    </xsd:element>
    <xsd:element name="MediaServiceGenerationTime" ma:index="21" nillable="true" ma:displayName="MediaServiceGenerationTime" ma:hidden="true" ma:internalName="MediaServiceGenerationTime" ma:readOnly="true">
      <xsd:simpleType>
        <xsd:restriction base="dms:Text"/>
      </xsd:simpleType>
    </xsd:element>
    <xsd:element name="MediaServiceEventHashCode" ma:index="22" nillable="true" ma:displayName="MediaServiceEventHashCode" ma:hidden="true" ma:internalName="MediaServiceEventHashCode" ma:readOnly="true">
      <xsd:simpleType>
        <xsd:restriction base="dms:Text"/>
      </xsd:simpleType>
    </xsd:element>
  </xsd:schema>
  <xsd:schema xmlns:xsd="http://www.w3.org/2001/XMLSchema" xmlns:xs="http://www.w3.org/2001/XMLSchema" xmlns:dms="http://schemas.microsoft.com/office/2006/documentManagement/types" xmlns:pc="http://schemas.microsoft.com/office/infopath/2007/PartnerControls" targetNamespace="ab59a5c7-b96d-406d-bbef-f0a1b42de2f3" elementFormDefault="qualified">
    <xsd:import namespace="http://schemas.microsoft.com/office/2006/documentManagement/types"/>
    <xsd:import namespace="http://schemas.microsoft.com/office/infopath/2007/PartnerControls"/>
    <xsd:element name="SharedWithUsers" ma:index="9" nillable="true" ma:displayName="Gedeeld met" ma:internalName="SharedWithUsers" ma:readOnly="true">
      <xsd:complexType>
        <xsd:complexContent>
          <xsd:extension base="dms:UserMulti">
            <xsd:sequence>
              <xsd:element name="UserInfo" minOccurs="0" maxOccurs="unbounded">
                <xsd:complexType>
                  <xsd:sequence>
                    <xsd:element name="DisplayName" type="xsd:string" minOccurs="0"/>
                    <xsd:element name="AccountId" type="dms:UserId" minOccurs="0" nillable="true"/>
                    <xsd:element name="AccountType" type="xsd:string" minOccurs="0"/>
                  </xsd:sequence>
                </xsd:complexType>
              </xsd:element>
            </xsd:sequence>
          </xsd:extension>
        </xsd:complexContent>
      </xsd:complexType>
    </xsd:element>
    <xsd:element name="SharedWithDetails" ma:index="10" nillable="true" ma:displayName="Gedeeld met details" ma:internalName="SharedWithDetails" ma:readOnly="true">
      <xsd:simpleType>
        <xsd:restriction base="dms:Note">
          <xsd:maxLength value="255"/>
        </xsd:restriction>
      </xsd:simpleType>
    </xsd:element>
    <xsd:element name="SharingHintHash" ma:index="11" nillable="true" ma:displayName="Hint-hash delen" ma:hidden="true" ma:internalName="SharingHintHash" ma:readOnly="true">
      <xsd:simpleType>
        <xsd:restriction base="dms:Text"/>
      </xsd:simple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Inhoudstype"/>
        <xsd:element ref="dc:title" minOccurs="0" maxOccurs="1" ma:index="4" ma:displayName="Titel"/>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Props1.xml><?xml version="1.0" encoding="utf-8"?>
<ds:datastoreItem xmlns:ds="http://schemas.openxmlformats.org/officeDocument/2006/customXml" ds:itemID="{D90B55F9-5C8D-46ED-979A-F6455BC92B05}">
  <ds:schemaRefs>
    <ds:schemaRef ds:uri="e658d648-6ffc-4f30-955e-342d2c65b5cc"/>
    <ds:schemaRef ds:uri="ab59a5c7-b96d-406d-bbef-f0a1b42de2f3"/>
    <ds:schemaRef ds:uri="http://purl.org/dc/elements/1.1/"/>
    <ds:schemaRef ds:uri="http://schemas.microsoft.com/office/2006/metadata/properties"/>
    <ds:schemaRef ds:uri="http://schemas.microsoft.com/office/2006/documentManagement/types"/>
    <ds:schemaRef ds:uri="http://schemas.openxmlformats.org/package/2006/metadata/core-properties"/>
    <ds:schemaRef ds:uri="http://purl.org/dc/dcmitype/"/>
    <ds:schemaRef ds:uri="http://schemas.microsoft.com/office/infopath/2007/PartnerControls"/>
    <ds:schemaRef ds:uri="http://www.w3.org/XML/1998/namespace"/>
    <ds:schemaRef ds:uri="http://purl.org/dc/terms/"/>
  </ds:schemaRefs>
</ds:datastoreItem>
</file>

<file path=customXml/itemProps2.xml><?xml version="1.0" encoding="utf-8"?>
<ds:datastoreItem xmlns:ds="http://schemas.openxmlformats.org/officeDocument/2006/customXml" ds:itemID="{183C2C74-28C0-461B-998D-91BCFE0ECC1C}">
  <ds:schemaRefs>
    <ds:schemaRef ds:uri="http://schemas.microsoft.com/sharepoint/v3/contenttype/forms"/>
  </ds:schemaRefs>
</ds:datastoreItem>
</file>

<file path=customXml/itemProps3.xml><?xml version="1.0" encoding="utf-8"?>
<ds:datastoreItem xmlns:ds="http://schemas.openxmlformats.org/officeDocument/2006/customXml" ds:itemID="{A73EACF0-A77F-4E50-B4B4-74F98872DC24}">
  <ds:schemaRefs>
    <ds:schemaRef ds:uri="http://schemas.microsoft.com/office/2006/metadata/contentType"/>
    <ds:schemaRef ds:uri="http://schemas.microsoft.com/office/2006/metadata/properties/metaAttributes"/>
    <ds:schemaRef ds:uri="http://www.w3.org/2001/XMLSchema"/>
    <ds:schemaRef ds:uri="http://schemas.microsoft.com/office/2006/metadata/properties"/>
    <ds:schemaRef ds:uri="e658d648-6ffc-4f30-955e-342d2c65b5cc"/>
    <ds:schemaRef ds:uri="ab59a5c7-b96d-406d-bbef-f0a1b42de2f3"/>
    <ds:schemaRef ds:uri="http://schemas.microsoft.com/office/2006/documentManagement/types"/>
    <ds:schemaRef ds:uri="http://schemas.microsoft.com/office/infopath/2007/PartnerControls"/>
    <ds:schemaRef ds:uri="http://schemas.openxmlformats.org/package/2006/metadata/core-properties"/>
    <ds:schemaRef ds:uri="http://purl.org/dc/elements/1.1/"/>
    <ds:schemaRef ds:uri="http://purl.org/dc/terms/"/>
    <ds:schemaRef ds:uri="http://schemas.microsoft.com/internal/obd"/>
  </ds:schemaRefs>
</ds:datastoreItem>
</file>

<file path=docProps/app.xml><?xml version="1.0" encoding="utf-8"?>
<Properties xmlns="http://schemas.openxmlformats.org/officeDocument/2006/extended-properties" xmlns:vt="http://schemas.openxmlformats.org/officeDocument/2006/docPropsVTypes">
  <TotalTime>2181</TotalTime>
  <Words>443</Words>
  <Application>Microsoft Office PowerPoint</Application>
  <PresentationFormat>Widescreen</PresentationFormat>
  <Paragraphs>58</Paragraphs>
  <Slides>4</Slides>
  <Notes>4</Notes>
  <HiddenSlides>0</HiddenSlides>
  <MMClips>0</MMClips>
  <ScaleCrop>false</ScaleCrop>
  <HeadingPairs>
    <vt:vector size="6" baseType="variant">
      <vt:variant>
        <vt:lpstr>Fonts Used</vt:lpstr>
      </vt:variant>
      <vt:variant>
        <vt:i4>7</vt:i4>
      </vt:variant>
      <vt:variant>
        <vt:lpstr>Theme</vt:lpstr>
      </vt:variant>
      <vt:variant>
        <vt:i4>1</vt:i4>
      </vt:variant>
      <vt:variant>
        <vt:lpstr>Slide Titles</vt:lpstr>
      </vt:variant>
      <vt:variant>
        <vt:i4>4</vt:i4>
      </vt:variant>
    </vt:vector>
  </HeadingPairs>
  <TitlesOfParts>
    <vt:vector size="12" baseType="lpstr">
      <vt:lpstr>Arial</vt:lpstr>
      <vt:lpstr>Calibri</vt:lpstr>
      <vt:lpstr>Century Gothic</vt:lpstr>
      <vt:lpstr>Consolas</vt:lpstr>
      <vt:lpstr>Segoe UI</vt:lpstr>
      <vt:lpstr>Segoe UI (Body)</vt:lpstr>
      <vt:lpstr>Verdana</vt:lpstr>
      <vt:lpstr>Office Theme</vt:lpstr>
      <vt:lpstr>PowerPoint Presentation</vt:lpstr>
      <vt:lpstr>PowerPoint Presentation</vt:lpstr>
      <vt:lpstr>PowerPoint Presentation</vt:lpstr>
      <vt:lpstr>PowerPoint Presentation</vt:lpstr>
    </vt:vector>
  </TitlesOfParts>
  <Manager/>
  <Company/>
  <LinksUpToDate>false</LinksUpToDate>
  <SharedDoc>false</SharedDoc>
  <HyperlinkBase/>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subject/>
  <dc:creator>Osangir Bernard</dc:creator>
  <cp:keywords/>
  <dc:description>generated using python-pptx</dc:description>
  <cp:lastModifiedBy>Bernard OSANG'IR</cp:lastModifiedBy>
  <cp:revision>75</cp:revision>
  <dcterms:created xsi:type="dcterms:W3CDTF">2013-01-27T09:14:16Z</dcterms:created>
  <dcterms:modified xsi:type="dcterms:W3CDTF">2026-06-28T14:46:43Z</dcterms:modified>
  <cp:category/>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0x010100F54D7B907B5DFD428D1C0297734363F0</vt:lpwstr>
  </property>
</Properties>
</file>