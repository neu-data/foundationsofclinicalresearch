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SLIDE TIÊU ĐỀ (0:00).</a:t>
            </a:r>
          </a:p>
          <a:p>
            <a:r>
              <a:rPr lang="en-US" sz="1400" b="0" dirty="0"/>
              <a:t>Chào mừng mọi người. Giới thiệu mỗi giảng viên trong một câu.</a:t>
            </a:r>
          </a:p>
          <a:p>
            <a:r>
              <a:rPr lang="en-US" sz="1400" b="0" dirty="0"/>
              <a:t>Thông điệp chính: trong tám thứ Bảy, mỗi tuần một buổi, chúng ta cùng đi hết con đường nghiên cứu - từ một câu hỏi tại giường bệnh đến một bài báo sẵn sàng để nộp.</a:t>
            </a:r>
          </a:p>
          <a:p>
            <a:r>
              <a:rPr lang="en-US" sz="1400" b="0" dirty="0"/>
              <a:t>Không dùng phần mềm thống kê, không học thuộc công thức: học bằng hình ảnh, ví dụ từ khoa phòng của các bạn và nhiều hoạt động nhóm. Chúng ta đi chậm - không ai cần biết trước điều gì.</a:t>
            </a:r>
          </a:p>
          <a:p>
            <a:r>
              <a:rPr lang="en-US" sz="1400" b="0" dirty="0"/>
              <a:t>Tổ chức: học viên nên ngồi sẵn theo nhóm (có bảng tên trên bàn).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bằng câu hỏi: 'Hãy nghĩ tới một việc trong khoa mà mỗi đồng nghiệp làm một kiểu và không ai biết cách nào tốt nhất.'</a:t>
            </a:r>
          </a:p>
          <a:p>
            <a:r>
              <a:rPr lang="en-US" sz="1400" b="0" dirty="0"/>
              <a:t>Lấy 2-3 câu trả lời. Dự kiến: dịch truyền, an thần, vận động sớm, băng vết thương, chăm sóc catheter.</a:t>
            </a:r>
          </a:p>
          <a:p>
            <a:r>
              <a:rPr lang="en-US" sz="1400" b="0" dirty="0"/>
              <a:t>Điểm then chốt: nghiên cứu bắt đầu từ sự không chắc chắn trong lâm sàng, không phải từ thống kê.</a:t>
            </a:r>
          </a:p>
          <a:p>
            <a:r>
              <a:rPr lang="en-US" sz="1400" b="0" dirty="0"/>
              <a:t>Ghi các ví dụ lên bảng lật - đó là những chủ đề tiềm năng cho đề cương của các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dọc con đường: Tuần 1-2 là câu hỏi và bằng chứng; Tuần 3-4 thiết kế và sai lệch; Tuần 5-6 dữ liệu và phân tích; Tuần 7-8 đạo đức, viết và công bố. Mỗi thứ Bảy một buổi, giữa hai buổi có trọn một tuần để làm bài về nhà.</a:t>
            </a:r>
          </a:p>
          <a:p>
            <a:r>
              <a:rPr lang="en-US" sz="1400" b="0" dirty="0"/>
              <a:t>Toàn bộ khóa học này là Cấp độ 1, bao gồm mọi bước từ câu hỏi đến công bố: Tuần 1-4 xây dựng hiểu biết và kỹ năng thiết kế; Tuần 5-8 áp dụng vào dữ liệu, viết bài và công bố.</a:t>
            </a:r>
          </a:p>
          <a:p>
            <a:r>
              <a:rPr lang="en-US" sz="1400" b="0" dirty="0"/>
              <a:t>Một ví dụ xuyên suốt: dịch truyền trong sốc nhiễm khuẩn. Đồng nghiệp không thuộc ICU: mọi khái niệm đều có ví dụ ở khoa phòng (loét tì đè, vệ sinh tay, sai sót dùng thuốc, mê sảng).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Khóa học này (Cấp độ 1) đưa bạn từ câu hỏi lâm sàng đến bài báo được công bố. Cấp độ 2 là khóa thực hành R cho những ai muốn tự phân tích; Cấp độ 3 gồm các phương pháp nâng cao, chuyên sâu.</a:t>
            </a:r>
          </a:p>
          <a:p>
            <a:r>
              <a:rPr lang="en-US" sz="1400" b="0" dirty="0"/>
              <a:t>Trong Cấp độ 1, chúng ta dùng một bộ dữ liệu thực tế gồm 620 bệnh nhân ICU: mô tả, phân tích và viết thành bài báo. Giảng viên chạy phần mềm; các bạn đọc và diễn giải kết quả.</a:t>
            </a:r>
          </a:p>
          <a:p>
            <a:r>
              <a:rPr lang="en-US" sz="1400" b="0" dirty="0"/>
              <a:t>Quan niệm sai cần gỡ bỏ: 'nghiên cứu chỉ dành cho nhà thống kê hay giáo sư'. Phần lớn câu hỏi lâm sàng tốt xuất phát từ điều dưỡng và bác sĩ tại giường bệnh.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1: đề cương nghiên cứu cho câu hỏi của nhóm, xây dựng mỗi hai tuần một phần và trình bày ở Buổi 8.</a:t>
            </a:r>
          </a:p>
          <a:p>
            <a:r>
              <a:rPr lang="en-US" sz="1400" b="0" dirty="0"/>
              <a:t>Sản phẩm 2: bản thảo bài báo viết từ bộ dữ liệu khóa học (FLUID-ICU). Mỗi nhóm trả lời một câu hỏi khác nhau trên cùng bộ dữ liệu. Phân tích ở Tuần 5-6, viết ở Tuần 7-8, và sau khóa học các nhóm phản biện chéo bản thảo của nhau và trả lời như tác giả thật.</a:t>
            </a:r>
          </a:p>
          <a:p>
            <a:r>
              <a:rPr lang="en-US" sz="1400" b="0" dirty="0"/>
              <a:t>Chỉ cho học viên Assignment/proposal_brief và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thẻ - mỗi thẻ ứng với hai tuần.</a:t>
            </a:r>
          </a:p>
          <a:p>
            <a:r>
              <a:rPr lang="en-US" sz="1400" b="0" dirty="0"/>
              <a:t>Điểm then chốt: mục tiêu là hiểu và diễn giải, không phải tính toán. Giảng viên chạy phân tích; các bạn học cách đọc và viết thành bài báo.</a:t>
            </a:r>
          </a:p>
          <a:p>
            <a:r>
              <a:rPr lang="en-US" sz="1400" b="0" dirty="0"/>
              <a:t>Hỏi cả lớp: thẻ nào làm bạn lo nhất? Dự kiến: PHÂN TÍCH. Trấn an: chúng ta đi chậm, dùng hình ảnh và kiểm tra mức hiểu mỗi 20 phút.</a:t>
            </a:r>
          </a:p>
          <a:p>
            <a:r>
              <a:rPr lang="en-US" sz="1400" b="0" dirty="0"/>
              <a:t>Quay lại slide này ở Buổi 8 để thấy sự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nhịp mỗi buổi: ôn tập, hai phần học có kiểm tra và hoạt động, 15 phút giải lao, và thời gian xây dựng đề cương hoặc bài báo.</a:t>
            </a:r>
          </a:p>
          <a:p>
            <a:r>
              <a:rPr lang="en-US" sz="1400" b="0" dirty="0"/>
              <a:t>Cứ 20 phút chúng ta dừng lại để kiểm tra nhanh mức hiểu - nếu lớp chưa theo kịp, chúng ta đi chậm lại. Cuối mỗi buổi có 'slide bổ sung' chỉ dùng khi còn thời gian; các bạn có thể tự đọc ở nhà.</a:t>
            </a:r>
          </a:p>
          <a:p>
            <a:r>
              <a:rPr lang="en-US" sz="1400" b="0" dirty="0"/>
              <a:t>Giữ giải lao đúng 15 phút -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 (Tuần 1-2): câu hỏi và tổng quan. Phần 2 (Tuần 3-4): thiết kế. Phần 3 (Tuần 5-6): dữ liệu và kế hoạch phân tích. Phần 4 (Buổi 7): đạo đức, tính khả thi và kế hoạch công bố.</a:t>
            </a:r>
          </a:p>
          <a:p>
            <a:r>
              <a:rPr lang="en-US" sz="1400" b="0" dirty="0"/>
              <a:t>Mỗi nhóm trình bày đề cương ở Buổi 8 (6 phút + 2 phút góp ý).</a:t>
            </a:r>
          </a:p>
          <a:p>
            <a:r>
              <a:rPr lang="en-US" sz="1400" b="0" dirty="0"/>
              <a:t>Mẫu: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nhóm nên trộn bác sĩ, điều dưỡng và dược sĩ - nhiều góc nhìn sẽ cho đề cương tốt hơn.</a:t>
            </a:r>
          </a:p>
          <a:p>
            <a:r>
              <a:rPr lang="en-US" sz="1400" b="0" dirty="0"/>
              <a:t>Vai trò giúp những người ít nói cũng tham gia; nên luân phiên thư ký.</a:t>
            </a:r>
          </a:p>
          <a:p>
            <a:r>
              <a:rPr lang="en-US" sz="1400" b="0" dirty="0"/>
              <a:t>Giảng viên: đi quanh các nhóm, ghi lại chủ đề tiềm năng của từng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Tạo không khí: đây là nơi an toàn để nói 'tôi chưa hiểu'.</a:t>
            </a:r>
          </a:p>
          <a:p>
            <a:r>
              <a:rPr lang="en-US" sz="1400" b="0" dirty="0"/>
              <a:t>Ngôn ngữ: thảo luận bằng tiếng Việt hoặc tiếng Anh - miễn giúp nhóm suy nghĩ tốt nhất.</a:t>
            </a:r>
          </a:p>
          <a:p>
            <a:r>
              <a:rPr lang="en-US" sz="1400" b="0" dirty="0"/>
              <a:t>Bảo mật người bệnh áp dụng cho mọi ví dụ: không nêu tên hay chi tiết nhận dạng.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biểu mẫu trực tuyến (khuyến nghị) hoặc bản giấy Assessment/pre_post_quiz.</a:t>
            </a:r>
          </a:p>
          <a:p>
            <a:r>
              <a:rPr lang="en-US" sz="1400" b="0" dirty="0"/>
              <a:t>Trấn an: kết quả ẩn danh, chỉ dùng để đo những gì KHÓA HỌC đạt được.</a:t>
            </a:r>
          </a:p>
          <a:p>
            <a:r>
              <a:rPr lang="en-US" sz="1400" b="0" dirty="0"/>
              <a:t>Thu bài sau 15 phút. Hôm nay không chữa đáp án - bài này được làm lại cuối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Phần mở đầu khóa học (chào mừng, lộ trình, chia nhóm, bài kiểm tra đầu khóa) vừa kết thúc.</a:t>
            </a:r>
          </a:p>
          <a:p>
            <a:r>
              <a:rPr lang="en-US" sz="1400" b="0" dirty="0"/>
              <a:t>Ý chính: hôm nay chỉ có một việc - mỗi nhóm ra về với MỘT câu hỏi nghiên cứu rõ ràng, trả lời được, cùng mục đích và mục tiêu. Thứ Bảy tuần sau (Buổi 2) ta tìm và đọc y văn cho câu hỏi đó.</a:t>
            </a:r>
          </a:p>
          <a:p>
            <a:r>
              <a:rPr lang="en-US" sz="1400" b="0" dirty="0"/>
              <a:t>Nhịp độ: học viên hầu như chưa có nền tảng nghiên cứu. Đi chậm, dùng các ví dụ mẫu, và dừng lại ở mọi slide 'Kiểm tra hiểu bài' - chúng được thiết kế ngắn.</a:t>
            </a:r>
          </a:p>
          <a:p>
            <a:r>
              <a:rPr lang="en-US" sz="1400" b="0" dirty="0"/>
              <a:t>Giới thiệu nhịp buổi học: ba phần giảng ngắn, giải lao, bài tập theo cặp, bài tập nhanh, rồi 30 phút làm việc nhóm cho đề cương.</a:t>
            </a:r>
          </a:p>
          <a:p>
            <a:r>
              <a:rPr lang="en-US" sz="1400" b="0" dirty="0"/>
              <a:t>Hỏi cả lớp: 'Ai đã từng tham gia một nghiên cứu - với vai trò nghiên cứu viên, người thu thập số liệu hay người tham gia?' Đếm số tay giơ để biết nên giảng ở mức nào.</a:t>
            </a:r>
          </a:p>
          <a:p>
            <a:r>
              <a:rPr lang="en-US" sz="1400" b="0" dirty="0"/>
              <a:t>Thời gian: 1 phút. Không đọc to chương trình; chỉ vào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1.1 (0:35-1:10).</a:t>
            </a:r>
          </a:p>
          <a:p>
            <a:r>
              <a:rPr lang="en-US" sz="1400" b="0" dirty="0"/>
              <a:t>Dừng lại ở câu hỏi và để lớp trả lời trước khi chuyển slide. Lấy 2-3 ý kiến.</a:t>
            </a:r>
          </a:p>
          <a:p>
            <a:r>
              <a:rPr lang="en-US" sz="1400" b="0" dirty="0"/>
              <a:t>Câu trả lời mong đợi: kinh nghiệm thiên về những ca đáng nhớ; đồng nghiệp bất đồng; thực hành thay đổi; ta cần biết điều mình làm có thực sự giúp ích không.</a:t>
            </a:r>
          </a:p>
          <a:p>
            <a:r>
              <a:rPr lang="en-US" sz="1400" b="0" dirty="0"/>
              <a:t>Ý chính: kinh nghiệm rất quý để nảy sinh câu hỏi, nhưng là cách yếu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bệnh nhân, một kỷ niệm sống động, không có nhóm so sánh.</a:t>
            </a:r>
          </a:p>
          <a:p>
            <a:r>
              <a:rPr lang="en-US" sz="1400" b="0" dirty="0"/>
              <a:t>Bên phải: mỗi nhóm 50 bệnh nhân, đếm mọi ca tử vong, cùng một kết cục được đo ở cả hai nhánh.</a:t>
            </a:r>
          </a:p>
          <a:p>
            <a:r>
              <a:rPr lang="en-US" sz="1400" b="0" dirty="0"/>
              <a:t>Các con số chỉ minh họa, nhưng xu hướng là có thật: thử nghiệm lớn CLASSIC (Meyhoff, NEJM 2022, 1.554 bệnh nhân sốc nhiễm khuẩn) cho thấy tử vong 90 ngày là 42,3% khi hạn chế dịch so với 42,1% khi truyền dịch chuẩn. Ba bệnh nhân 'thành công' có lẽ vẫn hồi phục dù dùng chiến lược nào.</a:t>
            </a:r>
          </a:p>
          <a:p>
            <a:r>
              <a:rPr lang="en-US" sz="1400" b="0" dirty="0"/>
              <a:t>Quan niệm sai: 'nếu có hiệu quả ở bệnh nhân của tôi thì là có hiệu quả'. Không có nhóm so sánh, ta không biết điều gì vẫn sẽ xảy ra (tự hồi phục, hồi quy về trung bình, trí nhớ chọn lọc).</a:t>
            </a:r>
          </a:p>
          <a:p>
            <a:r>
              <a:rPr lang="en-US" sz="1400" b="0" dirty="0"/>
              <a:t>Hỏi cả lớp: 'Vì sao ta nhớ ba kết cục tốt?' Trả lời mong đợi: sai lệch nhớ lại (recall bias) - ca kịch tính và gần đây dễ nhớ; ta quên các ca thất bại.</a:t>
            </a:r>
          </a:p>
          <a:p>
            <a:r>
              <a:rPr lang="en-US" sz="1400" b="0" dirty="0"/>
              <a:t>Thời gian: 4 phút. Đi chậm -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này là mô phỏng (hạt giống cố định): giả sử một bệnh có nguy cơ tử vong THẬT là 40%.</a:t>
            </a:r>
          </a:p>
          <a:p>
            <a:r>
              <a:rPr lang="en-US" sz="1400" b="0" dirty="0"/>
              <a:t>Hàng trên: 20 khoa, mỗi khoa chỉ gặp 5 bệnh nhân. Hoàn toàn do ngẫu nhiên, có khoa thấy 0% tử vong, có khoa thấy 80%. Mỗi khoa sẽ 'rút ra' một bài học khác nhau từ kinh nghiệm của mình.</a:t>
            </a:r>
          </a:p>
          <a:p>
            <a:r>
              <a:rPr lang="en-US" sz="1400" b="0" dirty="0"/>
              <a:t>Hàng giữa: nhóm 50 người - gần sự thật hơn nhưng vẫn phân tán. Hàng dưới: nhóm 500 người tập trung sát quanh 40%.</a:t>
            </a:r>
          </a:p>
          <a:p>
            <a:r>
              <a:rPr lang="en-US" sz="1400" b="0" dirty="0"/>
              <a:t>Ý chính: chỉ riêng ngẫu nhiên đã tạo ra những khác biệt trông rất ấn tượng ở số nhỏ. Vì vậy nghiên cứu cần đủ bệnh nhân và có nhóm so sánh - và vì sao 'ba bệnh nhân gần nhất của tôi' có thể gây hiểu lầm.</a:t>
            </a:r>
          </a:p>
          <a:p>
            <a:r>
              <a:rPr lang="en-US" sz="1400" b="0" dirty="0"/>
              <a:t>Quan niệm sai: 'khác biệt lớn ở nhóm nhỏ chắc chắn là thật'. Khác biệt lớn ở nhóm nhỏ chính là điều ngẫu nhiên hay tạo ra.</a:t>
            </a:r>
          </a:p>
          <a:p>
            <a:r>
              <a:rPr lang="en-US" sz="1400" b="0" dirty="0"/>
              <a:t>Hỏi cả lớp: 'Một khoa có 0/5 bệnh nhân tử vong sau quy trình mới. Quy trình có hiệu quả không?' Trả lời mong đợi: chưa thể biết - 0/5 xảy ra thường xuyên do ngẫu nhiên ngay cả khi nguy cơ thật là 40%.</a:t>
            </a:r>
          </a:p>
          <a:p>
            <a:r>
              <a:rPr lang="en-US" sz="1400" b="0" dirty="0"/>
              <a:t>Thời gian: 4 phút. Cỡ mẫu sẽ học lại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từ dưới lên: ý kiến chuyên gia và báo cáo ca, loạt ca và cắt ngang, bệnh - chứng, đoàn hệ, thử nghiệm ngẫu nhiên, và trên đỉnh là tổng quan hệ thống và phân tích gộp.</a:t>
            </a:r>
          </a:p>
          <a:p>
            <a:r>
              <a:rPr lang="en-US" sz="1400" b="0" dirty="0"/>
              <a:t>Ý chính: càng lên cao, thiết kế càng bảo vệ tốt hơn trước sai lệch. Vì vậy tầng cao cho độ tin cậy lớn hơn với câu hỏi 'điều trị X có hiệu quả không?'.</a:t>
            </a:r>
          </a:p>
          <a:p>
            <a:r>
              <a:rPr lang="en-US" sz="1400" b="0" dirty="0"/>
              <a:t>Quan niệm sai 1: 'RCT luôn đúng'. Thử nghiệm nhỏ hoặc làm kém có thể gây hiểu lầm. Các khung như GRADE đánh giá độ chắc chắn của cả tập hợp bằng chứng, không chỉ nhãn thiết kế.</a:t>
            </a:r>
          </a:p>
          <a:p>
            <a:r>
              <a:rPr lang="en-US" sz="1400" b="0" dirty="0"/>
              <a:t>Quan niệm sai 2: 'chỉ RCT mới có giá trị'. Với mức độ phổ biến, tác hại và tiên lượng, thiết kế quan sát thường là lựa chọn đúng (hoặc duy nhất hợp đạo đức). Nghiên cứu định tính nằm ngoài tháp này - nó trả lời câu hỏi khác.</a:t>
            </a:r>
          </a:p>
          <a:p>
            <a:r>
              <a:rPr lang="en-US" sz="1400" b="0" dirty="0"/>
              <a:t>Hỏi cả lớp: 'Tổng quan hệ thống gồm 10 thử nghiệm kém chất lượng nằm ở đâu?' Trả lời mong đợi: trên đỉnh theo nhãn, nhưng kết luận chỉ mạnh bằng các thử nghiệm bên trong.</a:t>
            </a:r>
          </a:p>
          <a:p>
            <a:r>
              <a:rPr lang="en-US" sz="1400" b="0" dirty="0"/>
              <a:t>Thời gian: 4 phút. Buổi 3 học kỹ từng thiết kế -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(ý kiến chuyên gia) &lt; B (đoàn hệ) &lt; C (RCT) &lt; D (tổng quan hệ thống / phân tích gộp).</a:t>
            </a:r>
          </a:p>
          <a:p>
            <a:r>
              <a:rPr lang="en-US" sz="1400" b="0" dirty="0"/>
              <a:t>C chính là thử nghiệm CLASSIC (NEJM 2022) - không khác biệt tử vong 90 ngày. B giống Bài báo 2 (Hyun 2023): cân bằng dịch dương ở ngày 2-3 liên quan với tử vong 28 ngày cao hơn.</a:t>
            </a:r>
          </a:p>
          <a:p>
            <a:r>
              <a:rPr lang="en-US" sz="1400" b="0" dirty="0"/>
              <a:t>Vì sao đoàn hệ thấy có hại mà thử nghiệm lại không? Trả lời mong đợi: trong đoàn hệ, bệnh nhân nặng hơn được truyền nhiều dịch hơn, nên dịch trông như có hại (nhiễu do chỉ định - confounding by indication) - xem trước Buổi 4.</a:t>
            </a:r>
          </a:p>
          <a:p>
            <a:r>
              <a:rPr lang="en-US" sz="1400" b="0" dirty="0"/>
              <a:t>Gợi ý điều phối: đếm '1-2-3' để các bàn giơ tay cùng lúc.</a:t>
            </a:r>
          </a:p>
          <a:p>
            <a:r>
              <a:rPr lang="en-US" sz="1400" b="0" dirty="0"/>
              <a:t>Thời gian: đúng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một vòng, mỗi ô một câu.</a:t>
            </a:r>
          </a:p>
          <a:p>
            <a:r>
              <a:rPr lang="en-US" sz="1400" b="0" dirty="0"/>
              <a:t>Tuần 1-2 = vấn đề lâm sàng và câu hỏi nghiên cứu (hôm nay), tìm y văn (thứ Bảy tuần sau) - ba ô màu xanh mòng két phía trên bên phải.</a:t>
            </a:r>
          </a:p>
          <a:p>
            <a:r>
              <a:rPr lang="en-US" sz="1400" b="0" dirty="0"/>
              <a:t>Ý chính: kết quả công bố làm thay đổi thực hành, từ đó lại nảy sinh điều chưa chắc chắn và câu hỏi mới.</a:t>
            </a:r>
          </a:p>
          <a:p>
            <a:r>
              <a:rPr lang="en-US" sz="1400" b="0" dirty="0"/>
              <a:t>Quan niệm sai: 'nghiên cứu = thu thập dữ liệu'. Thu thập dữ liệu đến SAU câu hỏi, thiết kế, đề cương và phê duyệt đạo đức.</a:t>
            </a:r>
          </a:p>
          <a:p>
            <a:r>
              <a:rPr lang="en-US" sz="1400" b="0" dirty="0"/>
              <a:t>Thời gian: 2 phút. Slide sau phóng to chính con đường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trên: loại dữ liệu. Nghiên cứu định lượng (quantitative) đếm và đo (tử vong, cân bằng dịch). Nghiên cứu định tính (qualitative) thu thập lời nói - phỏng vấn, thảo luận nhóm, quan sát - để hiểu trải nghiệm, lý do và rào cản. Phương pháp hỗn hợp (mixed methods) kết hợp cả hai trong một nghiên cứu.</a:t>
            </a:r>
          </a:p>
          <a:p>
            <a:r>
              <a:rPr lang="en-US" sz="1400" b="0" dirty="0"/>
              <a:t>Hàng dưới: nguồn dữ liệu. Nghiên cứu sơ cấp (primary) thu thập dữ liệu mới (Bài báo 1, một thử nghiệm mới). Nghiên cứu thứ cấp (secondary) dùng lại dữ liệu có sẵn - hồ sơ bệnh án, sổ đăng ký (Bài báo 2 dùng sổ đăng ký nhiễm khuẩn huyết) hoặc các nghiên cứu đã công bố (tổng quan hệ thống).</a:t>
            </a:r>
          </a:p>
          <a:p>
            <a:r>
              <a:rPr lang="en-US" sz="1400" b="0" dirty="0"/>
              <a:t>Ý chính: câu hỏi quyết định loại nghiên cứu. 'Hạn chế dịch có giảm tử vong không?' là định lượng; 'vì sao điều dưỡng ngại ngừng dịch?' là định tính.</a:t>
            </a:r>
          </a:p>
          <a:p>
            <a:r>
              <a:rPr lang="en-US" sz="1400" b="0" dirty="0"/>
              <a:t>Quan niệm sai: 'nghiên cứu định tính chỉ là ý kiến'. Nó có phương pháp chặt chẽ và hướng dẫn báo cáo riêng (COREQ cho phỏng vấn và thảo luận nhóm); là công cụ đúng khi con số không giải thích được hành vi.</a:t>
            </a:r>
          </a:p>
          <a:p>
            <a:r>
              <a:rPr lang="en-US" sz="1400" b="0" dirty="0"/>
              <a:t>Hỏi cả lớp: 'Loại nào cho thấy vì sao một quy trình dịch mới không được tuân thủ?' Trả lời mong đợi: định tính, hoặc hỗn hợp kèm một audit.</a:t>
            </a:r>
          </a:p>
          <a:p>
            <a:r>
              <a:rPr lang="en-US" sz="1400" b="0" dirty="0"/>
              <a:t>Thời gian: 3 phút. Thiết kế định tính được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không phải bài thi. Đọc từng câu và để cả lớp trả lời to.</a:t>
            </a:r>
          </a:p>
          <a:p>
            <a:r>
              <a:rPr lang="en-US" sz="1400" b="0" dirty="0"/>
              <a:t>Đáp án (slide sau): A định lượng, sơ cấp. B định tính, sơ cấp. C định lượng, thứ cấp (hồ sơ đã có sẵn). D phương pháp hỗn hợp, sơ cấp.</a:t>
            </a:r>
          </a:p>
          <a:p>
            <a:r>
              <a:rPr lang="en-US" sz="1400" b="0" dirty="0"/>
              <a:t>Nếu lớp lưỡng lự ở câu C: dữ liệu được thu thập cho chăm sóc, không phải cho nghiên cứu này - dùng lại chúng là nghiên cứu thứ cấp. Vẫn cần xét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bốn thẻ.</a:t>
            </a:r>
          </a:p>
          <a:p>
            <a:r>
              <a:rPr lang="en-US" sz="1400" b="0" dirty="0"/>
              <a:t>Ý chính: hai câu hỏi đơn giản phân loại được gần như mọi nghiên cứu - loại dữ liệu (con số hay lời nói) và nguồn dữ liệu (mới hay có sẵn).</a:t>
            </a:r>
          </a:p>
          <a:p>
            <a:r>
              <a:rPr lang="en-US" sz="1400" b="0" dirty="0"/>
              <a:t>Nghiên cứu thứ cấp thường khả thi nhất với một khoa bận rộn - nhưng chất lượng phụ thuộc vào cách ghi chép hồ sơ (Buổi 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tạo ra kiến thức mới, có thể khái quát hóa - phương án nào tốt nhất? Kiểm tra lâm sàng (audit) so sánh thực hành của ta với một tiêu chuẩn đã thống nhất. Cải tiến chất lượng (QI) thay đổi một quy trình tại chỗ từng bước, thường theo chu trình Lập kế hoạch - Thực hiện - Nghiên cứu - Hành động (PDSA).</a:t>
            </a:r>
          </a:p>
          <a:p>
            <a:r>
              <a:rPr lang="en-US" sz="1400" b="0" dirty="0"/>
              <a:t>Vì sao quan trọng: nghiên cứu luôn cần hội đồng đạo đức phê duyệt trước khi bắt đầu. Audit và QI thường chỉ cần phê duyệt nội bộ - nhưng nếu dự án phân nhóm ngẫu nhiên, thêm can thiệp hay rủi ro mới, hoặc thu thập dữ liệu ngoài chăm sóc thường quy, thì đó là nghiên cứu và cần xét duyệt đạo đức.</a:t>
            </a:r>
          </a:p>
          <a:p>
            <a:r>
              <a:rPr lang="en-US" sz="1400" b="0" dirty="0"/>
              <a:t>Công bố không làm thay đổi bản chất dự án. Tạp chí sẽ hỏi phê duyệt đạo đức hoặc quyết định miễn trừ chính thức, vì vậy hãy xác định - và hỏi - ngay từ đầu, không phải sau khi đã thu thập dữ liệu.</a:t>
            </a:r>
          </a:p>
          <a:p>
            <a:r>
              <a:rPr lang="en-US" sz="1400" b="0" dirty="0"/>
              <a:t>Quan niệm sai: 'audit và QI là nghiên cứu hạng hai'. Chúng trả lời câu hỏi khác và rất cần thiết; nhiều câu hỏi nghiên cứu hay bắt đầu từ kết quả audit.</a:t>
            </a:r>
          </a:p>
          <a:p>
            <a:r>
              <a:rPr lang="en-US" sz="1400" b="0" dirty="0"/>
              <a:t>Hỏi cả lớp: 'Kiểm tra xem cân bằng dịch có được ghi hằng ngày theo quy trình không - là nghiên cứu, audit hay QI?' Trả lời mong đợi: audit.</a:t>
            </a:r>
          </a:p>
          <a:p>
            <a:r>
              <a:rPr lang="en-US" sz="1400" b="0" dirty="0"/>
              <a:t>Lưu ý: quy định khác nhau giữa các cơ sở. Nhắc học viên xem quy định nội bộ và, nếu không chắc, hỏi hội đồng đạo đức.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1, 2 hoặc 3 ngón tay.</a:t>
            </a:r>
          </a:p>
          <a:p>
            <a:r>
              <a:rPr lang="en-US" sz="1400" b="0" dirty="0"/>
              <a:t>Đáp án (slide sau): A audit; B nghiên cứu (hội đồng đạo đức + đăng ký); C cải tiến chất lượng; D nghiên cứu (định tính - hội đồng đạo đức).</a:t>
            </a:r>
          </a:p>
          <a:p>
            <a:r>
              <a:rPr lang="en-US" sz="1400" b="0" dirty="0"/>
              <a:t>Ý chính: con đường đạo đức phụ thuộc vào việc bạn LÀM GÌ, không phụ thuộc vào việc có định công bố hay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dòng.</a:t>
            </a:r>
          </a:p>
          <a:p>
            <a:r>
              <a:rPr lang="en-US" sz="1400" b="0" dirty="0"/>
              <a:t>Hay nhầm: câu D có vẻ như 'chỉ là nói chuyện với đồng nghiệp', nhưng phỏng vấn có hệ thống, có ghi âm và phân tích là nghiên cứu, cần đồng ý tham gia và phê duyệt đạo đức.</a:t>
            </a:r>
          </a:p>
          <a:p>
            <a:r>
              <a:rPr lang="en-US" sz="1400" b="0" dirty="0"/>
              <a:t>Quan niệm sai: 'nếu sau này mới công bố thì sau này xin phép cũng được'. Tạp chí sẽ hỏi phê duyệt hoặc quyết định miễn trừ, và phê duyệt hồi cứu thường bị từ chối.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từ câu hỏi đến tác động. Màu sắc cho biết những tuần nào của khóa học dạy trạm đó.</a:t>
            </a:r>
          </a:p>
          <a:p>
            <a:r>
              <a:rPr lang="en-US" sz="1400" b="0" dirty="0"/>
              <a:t>Trạm 1-6 là lập kế hoạch và thực hiện: câu hỏi, thiết kế và đề cương, đăng ký (thử nghiệm phải đăng ký TRƯỚC bệnh nhân đầu tiên - Bài báo 1 đăng ký tháng 7/2021, bắt đầu tuyển tháng 9/2021), phê duyệt đạo đức, thu thập dữ liệu, phân tích.</a:t>
            </a:r>
          </a:p>
          <a:p>
            <a:r>
              <a:rPr lang="en-US" sz="1400" b="0" dirty="0"/>
              <a:t>Trạm 7-11 là công bố: viết bài, nộp bài, bình duyệt, công bố và tác động tới bệnh nhân. Con đường thường mất một đến ba năm; nhiều nghiên cứu tốt dừng lại ở trạm 7.</a:t>
            </a:r>
          </a:p>
          <a:p>
            <a:r>
              <a:rPr lang="en-US" sz="1400" b="0" dirty="0"/>
              <a:t>Ý chính: mọi trạm đều phụ thuộc trạm 1. Câu hỏi mơ hồ tạo ra đề cương yếu, phân tích không trả lời được và bài báo khó công bố.</a:t>
            </a:r>
          </a:p>
          <a:p>
            <a:r>
              <a:rPr lang="en-US" sz="1400" b="0" dirty="0"/>
              <a:t>Quan niệm sai: 'công bố là điểm kết thúc'. Mục đích là tác động - một hướng dẫn, quy trình hay thực hành được thay đổi.</a:t>
            </a:r>
          </a:p>
          <a:p>
            <a:r>
              <a:rPr lang="en-US" sz="1400" b="0" dirty="0"/>
              <a:t>Hỏi cả lớp: 'Theo bạn, nghiên cứu ở bệnh viện hay mắc kẹt ở trạm nào?' Mong đợi: thủ tục đạo đức, thu thập dữ liệu, hoặc viết bài (trạm 7) - ta sẽ giải quyết từng trạm.</a:t>
            </a:r>
          </a:p>
          <a:p>
            <a:r>
              <a:rPr lang="en-US" sz="1400" b="0" dirty="0"/>
              <a:t>Thời gian: 3 phút. Phần 1.1 kết thúc lúc 1:10 -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phiếu bài tập Buổi 1 lên bàn và viết các tình huống của bài tập theo cặp lên bảng giấy.</a:t>
            </a:r>
          </a:p>
          <a:p>
            <a:r>
              <a:rPr lang="en-US" sz="1400" b="0" dirty="0"/>
              <a:t>Bắt đầu lại đúng giờ -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1.2 (1:25-2:05).</a:t>
            </a:r>
          </a:p>
          <a:p>
            <a:r>
              <a:rPr lang="en-US" sz="1400" b="0" dirty="0"/>
              <a:t>Ý chính: một băn khoăn lâm sàng mơ hồ ('dịch truyền có hại không?') phải được chuyển thành câu hỏi chính xác, trả lời được, trước khi làm việc gì khác.</a:t>
            </a:r>
          </a:p>
          <a:p>
            <a:r>
              <a:rPr lang="en-US" sz="1400" b="0" dirty="0"/>
              <a:t>Ta sẽ xây PICO thật chậm qua nhiều ví dụ - ICU và khoa phòng - trước khi thực hành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thường gặp của câu hỏi hay, đều từ công việc hằng ngày.</a:t>
            </a:r>
          </a:p>
          <a:p>
            <a:r>
              <a:rPr lang="en-US" sz="1400" b="0" dirty="0"/>
              <a:t>Ô màu cam là quyết định then chốt: trước khi gọi một việc là nghiên cứu, hãy kiểm tra câu trả lời đã có chưa. Nếu đã có, việc cần làm là triển khai - hướng dẫn, audit hay dự án QI (phần 1.1).</a:t>
            </a:r>
          </a:p>
          <a:p>
            <a:r>
              <a:rPr lang="en-US" sz="1400" b="0" dirty="0"/>
              <a:t>Ý chính: 'cách biết' chính là tìm y văn - đó là nội dung Buổi 2 thứ Bảy tuần sau.</a:t>
            </a:r>
          </a:p>
          <a:p>
            <a:r>
              <a:rPr lang="en-US" sz="1400" b="0" dirty="0"/>
              <a:t>Hỏi cả lớp: 'Kể một việc trong khoa mà mỗi đồng nghiệp làm một kiểu.' Mong đợi: mục tiêu an thần, lượng dịch truyền, thay băng, thời điểm vận động sớm. Ghi lên bảng giấy - đó là chủ đề tiềm năng cho đề cương.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Đối tượng (Population), Can thiệp (Intervention), So sánh (Comparison), Kết cục (Outcome). T (Time - thời gian) cho biết khi nào đo kết cục.</a:t>
            </a:r>
          </a:p>
          <a:p>
            <a:r>
              <a:rPr lang="en-US" sz="1400" b="0" dirty="0"/>
              <a:t>Đọc năm ô, rồi đọc cả câu ở dưới. Đây là ví dụ xuyên suốt cả khóa học.</a:t>
            </a:r>
          </a:p>
          <a:p>
            <a:r>
              <a:rPr lang="en-US" sz="1400" b="0" dirty="0"/>
              <a:t>Ý chính: mỗi chữ cái buộc ta quyết định. Chính xác là bệnh nhân nào? Hạn chế thế nào? So với cái gì? Kết cục nào, đo lúc nào?</a:t>
            </a:r>
          </a:p>
          <a:p>
            <a:r>
              <a:rPr lang="en-US" sz="1400" b="0" dirty="0"/>
              <a:t>Biến thể: với câu hỏi quan sát, I thành E (phơi nhiễm - exposure), ví dụ 'cân bằng dịch dương' - PECO. Câu hỏi mô tả có thể chỉ cần P và O.</a:t>
            </a:r>
          </a:p>
          <a:p>
            <a:r>
              <a:rPr lang="en-US" sz="1400" b="0" dirty="0"/>
              <a:t>Quan niệm sai: 'nhóm so sánh thì hiển nhiên'. Chăm sóc thường quy khác nhau giữa các bệnh viện và theo thời gian - phải mô tả rõ.</a:t>
            </a:r>
          </a:p>
          <a:p>
            <a:r>
              <a:rPr lang="en-US" sz="1400" b="0" dirty="0"/>
              <a:t>Hỏi cả lớp: 'Tử vong 28 ngày có phải kết cục hợp lý duy nhất?' Mong đợi: tử vong 90 ngày, số ngày sống không cần hỗ trợ sự sống, tổn thương thận cần lọc máu, cân bằng dịch. Các thử nghiệm lớn dùng tử vong 90 ngày.</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KHÔNG về dịch truyền, để mọi ngành nghề đều thấy mình trong đó.</a:t>
            </a:r>
          </a:p>
          <a:p>
            <a:r>
              <a:rPr lang="en-US" sz="1400" b="0" dirty="0"/>
              <a:t>Dòng 1 - điều trị (PICO): người lớn thở máy; bảng kiểm đầu giường 2 lần/ngày so với chăm sóc thường quy; viêm phổi liên quan thở máy đến ngày 28 tại ICU.</a:t>
            </a:r>
          </a:p>
          <a:p>
            <a:r>
              <a:rPr lang="en-US" sz="1400" b="0" dirty="0"/>
              <a:t>Dòng 2 - yếu tố nguy cơ (PECO): ta không thể 'phân' béo phì cho bệnh nhân, nên I thành E (phơi nhiễm). Người lớn tại khoa nội; béo phì so với không béo phì; tổn thương do tì đè mới trong thời gian nằm viện.</a:t>
            </a:r>
          </a:p>
          <a:p>
            <a:r>
              <a:rPr lang="en-US" sz="1400" b="0" dirty="0"/>
              <a:t>Dòng 3 - bao nhiêu? Chỉ P và O (và T): người ≥65 tuổi sau mổ gãy cổ xương đùi; mê sảng sàng lọc bằng 4AT trong 7 ngày đầu.</a:t>
            </a:r>
          </a:p>
          <a:p>
            <a:r>
              <a:rPr lang="en-US" sz="1400" b="0" dirty="0"/>
              <a:t>Ý chính: các ô bạn điền đã cho biết loại câu hỏi - và sau này là thiết kế.</a:t>
            </a:r>
          </a:p>
          <a:p>
            <a:r>
              <a:rPr lang="en-US" sz="1400" b="0" dirty="0"/>
              <a:t>Hỏi cả lớp: 'Cho tôi một câu hỏi PECO từ khoa dược.' Ví dụ mong đợi: ở người lớn tại ICU, dùng nhiều thuốc (≥10 thuốc) so với ít hơn có liên quan với mê sảng không?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lớp 2 phút làm yên lặng, rồi 1 phút so sánh.</a:t>
            </a:r>
          </a:p>
          <a:p>
            <a:r>
              <a:rPr lang="en-US" sz="1400" b="0" dirty="0"/>
              <a:t>Đáp án (slide sau): P người ≥65 tuổi sau mổ gãy cổ xương đùi; I gói phòng mê sảng không dùng thuốc hằng ngày; C chăm sóc thường quy; O mê sảng; T 7 ngày đầu sau mổ.</a:t>
            </a:r>
          </a:p>
          <a:p>
            <a:r>
              <a:rPr lang="en-US" sz="1400" b="0" dirty="0"/>
              <a:t>Chú ý học viên gắn 'gãy cổ xương đùi' là kết cục - thực ra đó là một phần của đối tượng.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Hiện đáp án và hỏi bao nhiêu người đúng cả năm.</a:t>
            </a:r>
          </a:p>
          <a:p>
            <a:r>
              <a:rPr lang="en-US" sz="1400" b="0" dirty="0"/>
              <a:t>Ý chính: kết cục phải là điều có thể xảy ra SAU khi can thiệp bắt đầu. Gãy cổ xương đùi đã xảy ra - nó xác định ai đủ tiêu chuẩn.</a:t>
            </a:r>
          </a:p>
          <a:p>
            <a:r>
              <a:rPr lang="en-US" sz="1400" b="0" dirty="0"/>
              <a:t>Câu hỏi thêm nếu lớp đi nhanh: 'Đo mê sảng thế nào?' Mong đợi: dùng công cụ sàng lọc đã chuẩn hóa (ví dụ 4AT hoặc CAM) vào cùng giờ mỗi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tả: cái gì, bao nhiêu, ai - không cần nhóm so sánh.</a:t>
            </a:r>
          </a:p>
          <a:p>
            <a:r>
              <a:rPr lang="en-US" sz="1400" b="0" dirty="0"/>
              <a:t>Phân tích: X có liên quan tới Y (quan sát - ta theo dõi), hoặc X có gây ra Y (thực nghiệm - ta chủ động phân nhóm X).</a:t>
            </a:r>
          </a:p>
          <a:p>
            <a:r>
              <a:rPr lang="en-US" sz="1400" b="0" dirty="0"/>
              <a:t>Ý chính: động từ tiết lộ loại câu hỏi. 'Bao nhiêu' là mô tả; 'có liên quan với' là quan sát; 'có làm giảm' hàm ý thực nghiệm.</a:t>
            </a:r>
          </a:p>
          <a:p>
            <a:r>
              <a:rPr lang="en-US" sz="1400" b="0" dirty="0"/>
              <a:t>Quan niệm sai: 'nghiên cứu mô tả không phải nghiên cứu thật'. Chúng thường đi trước và cho thấy vấn đề có tồn tại.</a:t>
            </a:r>
          </a:p>
          <a:p>
            <a:r>
              <a:rPr lang="en-US" sz="1400" b="0" dirty="0"/>
              <a:t>Hỏi cả lớp: 'Bài báo 2 (Hyun) thuộc ô nào?' Mong đợi: phân tích, quan sát (đoàn hệ).</a:t>
            </a:r>
          </a:p>
          <a:p>
            <a:r>
              <a:rPr lang="en-US" sz="1400" b="0" dirty="0"/>
              <a:t>Thời gian: 3 phút. Danh mục thiết kế đầy đủ học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ta hay hỏi ngoài hành lang - từ nào cũng chưa được định nghĩa. Bên phải: cùng băn khoăn đó viết theo PICO(T).</a:t>
            </a:r>
          </a:p>
          <a:p>
            <a:r>
              <a:rPr lang="en-US" sz="1400" b="0" dirty="0"/>
              <a:t>Ý chính: câu hỏi nghiên cứu được phải cụ thể, có một kết cục chính, và gợi ra thiết kế.</a:t>
            </a:r>
          </a:p>
          <a:p>
            <a:r>
              <a:rPr lang="en-US" sz="1400" b="0" dirty="0"/>
              <a:t>Quan niệm sai: 'câu hỏi rộng thì quan trọng hơn'. Câu hỏi rộng cho câu trả lời mơ hồ.</a:t>
            </a:r>
          </a:p>
          <a:p>
            <a:r>
              <a:rPr lang="en-US" sz="1400" b="0" dirty="0"/>
              <a:t>Hỏi cả lớp: 'Hãy làm câu này trả lời được: Rửa tay có tốt không?' Hướng mong đợi: ở nhân viên ICU (P), chương trình phản hồi (I) so với không phản hồi (C) có làm tăng tuân thủ vệ sinh tay sau 3 tháng (O, T)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(Feasible, Interesting, Novel, Ethical, Relevant) do Hulley và cộng sự đề xuất trong sách Designing Clinical Research.</a:t>
            </a:r>
          </a:p>
          <a:p>
            <a:r>
              <a:rPr lang="en-US" sz="1400" b="0" dirty="0"/>
              <a:t>Khả thi là tiêu chí hay trượt nhất trong nghiên cứu tại bệnh viện: không đủ bệnh nhân, hoặc kết cục quá hiếm.</a:t>
            </a:r>
          </a:p>
          <a:p>
            <a:r>
              <a:rPr lang="en-US" sz="1400" b="0" dirty="0"/>
              <a:t>Mới không có nghĩa là 'chưa ai nghiên cứu'. Lặp lại ở bối cảnh mới, hoặc với thiết kế tốt hơn, vẫn có thể là mới - vì vậy tìm y văn rất quan trọng.</a:t>
            </a:r>
          </a:p>
          <a:p>
            <a:r>
              <a:rPr lang="en-US" sz="1400" b="0" dirty="0"/>
              <a:t>Đạo đức: có thực sự chưa chắc chắn (cân bằng lâm sàng - equipoise) lựa chọn nào tốt hơn không?</a:t>
            </a:r>
          </a:p>
          <a:p>
            <a:r>
              <a:rPr lang="en-US" sz="1400" b="0" dirty="0"/>
              <a:t>Hỏi cả lớp: 'Ví dụ xuyên suốt trượt tiêu chí nào?' Để lớp đoán - slide sau có đáp 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để thấy khác biệt vài điểm phần trăm về tử vong cần hơn một nghìn bệnh nhân. CLASSIC phân nhóm 1.554 người; CLOVERS (NEJM 2023) 1.563 người. Một ICU không làm được.</a:t>
            </a:r>
          </a:p>
          <a:p>
            <a:r>
              <a:rPr lang="en-US" sz="1400" b="0" dirty="0"/>
              <a:t>N màu vàng cam: đã có thử nghiệm lớn và không thử nghiệm nào thấy khác biệt về tử vong.</a:t>
            </a:r>
          </a:p>
          <a:p>
            <a:r>
              <a:rPr lang="en-US" sz="1400" b="0" dirty="0"/>
              <a:t>E màu vàng cam: cả hai chiến lược đều đang dùng nên có cân bằng lâm sàng, nhưng lấy đồng ý trong sốc nhiễm khuẩn rất khó (Buổi 7).</a:t>
            </a:r>
          </a:p>
          <a:p>
            <a:r>
              <a:rPr lang="en-US" sz="1400" b="0" dirty="0"/>
              <a:t>Cách cứu câu hỏi: đổi kết cục (cân bằng dịch ngày 5, như Bài báo 1), làm nghiên cứu thử nghiệm tính khả thi (pilot), hoặc đặt câu hỏi mô tả về thực hành của chính khoa mình.</a:t>
            </a:r>
          </a:p>
          <a:p>
            <a:r>
              <a:rPr lang="en-US" sz="1400" b="0" dirty="0"/>
              <a:t>Quan niệm sai: 'trượt FINER nghĩa là ý tưởng tồi'. Nghĩa là ý tưởng cần được định hình lại - bình thường và được mong đợi.</a:t>
            </a:r>
          </a:p>
          <a:p>
            <a:r>
              <a:rPr lang="en-US" sz="1400" b="0" dirty="0"/>
              <a:t>Hỏi cả lớp: 'Đề xuất một phiên bản khả thi cho khoa mình.' Mong đợi: một câu hỏi mô tả kiểu audit, hoặc một pilot như Bài báo 1.</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Ghép cặp: nếu được, mỗi cặp gồm hai nghề khác nhau.</a:t>
            </a:r>
          </a:p>
          <a:p>
            <a:r>
              <a:rPr lang="en-US" sz="1400" b="0" dirty="0"/>
              <a:t>Điều phối: đi vòng với ô 'thế nào là tốt' trong Course/Solutions/s1_solutions.md. Lỗi hay gặp: thiếu nhóm so sánh, kết cục không có mốc thời gian, nhồi hai kết cục vào một câu hỏi.</a:t>
            </a:r>
          </a:p>
          <a:p>
            <a:r>
              <a:rPr lang="en-US" sz="1400" b="0" dirty="0"/>
              <a:t>Ở phút thứ 8, dừng lại. Mời ba cặp đọc to câu hỏi; mời lớp gọi tên từng chữ cái PICO và hỏi 'chữ FINER nào làm bạn lo?'.</a:t>
            </a:r>
          </a:p>
          <a:p>
            <a:r>
              <a:rPr lang="en-US" sz="1400" b="0" dirty="0"/>
              <a:t>Cặp làm tổn thương do tì đè thường nhận ra câu hỏi đầu tiên nên là câu hỏi mô tả - hãy khen điều này.</a:t>
            </a:r>
          </a:p>
          <a:p>
            <a:r>
              <a:rPr lang="en-US" sz="1400" b="0" dirty="0"/>
              <a:t>Thời gian: 8 phút làm + 3 phút tổng kết. Phần 1.3 bắt đầu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1.3 (2:05-2:25).</a:t>
            </a:r>
          </a:p>
          <a:p>
            <a:r>
              <a:rPr lang="en-US" sz="1400" b="0" dirty="0"/>
              <a:t>Ý chính: mục đích, mục tiêu và giả thuyết là câu hỏi được viết thành kế hoạch. Hội đồng đạo đức và người xét duyệt tài trợ đọc phần này đầu tiên.</a:t>
            </a:r>
          </a:p>
          <a:p>
            <a:r>
              <a:rPr lang="en-US" sz="1400" b="0" dirty="0"/>
              <a:t>Giữ cụ thể: mọi ví dụ dùng ví dụ xuyên suốt hoặc tình huống của bài tập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(aim) = mục đích chung trong một câu ('So sánh...', 'Mô tả...').</a:t>
            </a:r>
          </a:p>
          <a:p>
            <a:r>
              <a:rPr lang="en-US" sz="1400" b="0" dirty="0"/>
              <a:t>Mục tiêu (objectives) = các bước cụ thể, đo được. Dùng động từ đo được: so sánh, ước tính, mô tả, xác định. Tránh 'tìm hiểu', 'khám phá', 'nghiên cứu'.</a:t>
            </a:r>
          </a:p>
          <a:p>
            <a:r>
              <a:rPr lang="en-US" sz="1400" b="0" dirty="0"/>
              <a:t>Đánh dấu mục tiêu chính - nó quyết định cỡ mẫu (Buổi 6).</a:t>
            </a:r>
          </a:p>
          <a:p>
            <a:r>
              <a:rPr lang="en-US" sz="1400" b="0" dirty="0"/>
              <a:t>Giả thuyết (hypothesis) = câu trả lời dự kiến cho mục tiêu phân tích chính, phát biểu sao cho dữ liệu có thể bác bỏ.</a:t>
            </a:r>
          </a:p>
          <a:p>
            <a:r>
              <a:rPr lang="en-US" sz="1400" b="0" dirty="0"/>
              <a:t>Quan niệm sai: 'nghiên cứu nào cũng cần giả thuyết'. Nghiên cứu thuần mô tả thì ước tính; không kiểm định giả thuyết.</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động từ mô tả mong muốn, không phải hành động kiểm tra được. Bên phải: động từ chỉ tới điều đếm được hoặc đo được.</a:t>
            </a:r>
          </a:p>
          <a:p>
            <a:r>
              <a:rPr lang="en-US" sz="1400" b="0" dirty="0"/>
              <a:t>Phía dưới: cùng một ý được viết lại. 'Tìm hiểu về quản lý dịch truyền' không thể hoàn thành hay kiểm tra; 'so sánh cân bằng dịch tích lũy ngày 5 giữa hai nhóm' cho biết kết cục, thời điểm và sự so sánh.</a:t>
            </a:r>
          </a:p>
          <a:p>
            <a:r>
              <a:rPr lang="en-US" sz="1400" b="0" dirty="0"/>
              <a:t>Ý chính: mỗi mục tiêu ứng với một kết cục và, sau này, một phân tích (Buổi 6).</a:t>
            </a:r>
          </a:p>
          <a:p>
            <a:r>
              <a:rPr lang="en-US" sz="1400" b="0" dirty="0"/>
              <a:t>Quan niệm sai: 'càng nhiều mục tiêu đề cương càng mạnh'. Hai hoặc ba mục tiêu tập trung tốt hơn tám mục tiêu mơ hồ.</a:t>
            </a:r>
          </a:p>
          <a:p>
            <a:r>
              <a:rPr lang="en-US" sz="1400" b="0" dirty="0"/>
              <a:t>Hỏi cả lớp: 'Viết lại: nghiên cứu về mê sảng ở khoa.' Mong đợi: ước tính tỷ lệ người ≥65 tuổi bị mê sảng trong 7 ngày đầu sau mổ gãy cổ xương đùi.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a:t>
            </a:r>
          </a:p>
          <a:p>
            <a:r>
              <a:rPr lang="en-US" sz="1400" b="0" dirty="0"/>
              <a:t>So sánh: tòa án giả định 'không có tội' (H0) cho đến khi bằng chứng đủ mạnh. 'Không có tội' không giống 'vô tội' - và 'khác biệt không có ý nghĩa thống kê' không giống 'không có khác biệt'.</a:t>
            </a:r>
          </a:p>
          <a:p>
            <a:r>
              <a:rPr lang="en-US" sz="1400" b="0" dirty="0"/>
              <a:t>H1 thường là hai phía, ngay cả khi kỳ vọng có lợi, vì hạn chế dịch cũng có thể gây hại.</a:t>
            </a:r>
          </a:p>
          <a:p>
            <a:r>
              <a:rPr lang="en-US" sz="1400" b="0" dirty="0"/>
              <a:t>Quan niệm sai: 'p &gt; 0,05 chứng minh hai điều trị như nhau'. Nghiên cứu nhỏ như Bài báo 1 (48 bệnh nhân) thường không phát hiện được khác biệt có thật. Giá trị p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5 phút viết + 2 phút đổi phiếu.</a:t>
            </a:r>
          </a:p>
          <a:p>
            <a:r>
              <a:rPr lang="en-US" sz="1400" b="0" dirty="0"/>
              <a:t>Đi vòng và tìm: 'tìm hiểu/biết/nghiên cứu', mục tiêu không có mốc thời gian, giả thuyết về một kết cục không có trong mục tiêu.</a:t>
            </a:r>
          </a:p>
          <a:p>
            <a:r>
              <a:rPr lang="en-US" sz="1400" b="0" dirty="0"/>
              <a:t>Đáp án mẫu cho ví dụ mê sảng ở slide sau và trong Course/Solutions/s1_solutions.md.</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a:t>
            </a:r>
          </a:p>
          <a:p>
            <a:r>
              <a:rPr lang="en-US" sz="1400" b="0" dirty="0"/>
              <a:t>Kiểm tra chuỗi: O của câu hỏi (mê sảng trong 7 ngày) = mục tiêu chính = kết cục trong H0/H1. Nếu các phần này khác nhau, đề cương thiếu nhất quán - người phản biện nhận ra ngay.</a:t>
            </a:r>
          </a:p>
          <a:p>
            <a:r>
              <a:rPr lang="en-US" sz="1400" b="0" dirty="0"/>
              <a:t>Phiên bản mô tả không cần giả thuyết: 'Ước tính tỷ lệ người ≥65 tuổi bị mê sảng trong 7 ngày đầu sau mổ gãy cổ xương đùi.'</a:t>
            </a:r>
          </a:p>
          <a:p>
            <a:r>
              <a:rPr lang="en-US" sz="1400" b="0" dirty="0"/>
              <a:t>Thời gian: 3 phút. Phần 1.3 kết thúc lúc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1 (2:25-2:55).</a:t>
            </a:r>
          </a:p>
          <a:p>
            <a:r>
              <a:rPr lang="en-US" sz="1400" b="0" dirty="0"/>
              <a:t>Ý chính: mọi điều học hôm nay giờ được áp dụng vào chủ đề của nhóm. Đến 2:55 mỗi nhóm có một câu hỏi PICO qua được FINER, một mục đích và 2-3 mục tiêu trong mẫu đề cương.</a:t>
            </a:r>
          </a:p>
          <a:p>
            <a:r>
              <a:rPr lang="en-US" sz="1400" b="0" dirty="0"/>
              <a:t>Mỗi nhóm chọn MỘT vấn đề. Nếu sau 5 phút chưa thống nhất, giao ví dụ xuyên suốt hoặc một ví dụ phụ (viêm phổi thở máy, tổn thương do tì đè, vệ sinh tay, thời gian cửa - kim, mê sảng, sai sót dùng thuốc).</a:t>
            </a:r>
          </a:p>
          <a:p>
            <a:r>
              <a:rPr lang="en-US" sz="1400" b="0" dirty="0"/>
              <a:t>Tìm kiếm, 5 tài liệu, đặt vấn đề và tên đề tài là việc của thứ Bảy tuần sau (Xây dựng đề cương 2).</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khoảng 6 người, đa ngành. Gợi ý vai trò: chủ trì, thư ký (gõ vào mẫu), người bấm giờ, và một người 'phản biện' kiểm tra FINER.</a:t>
            </a:r>
          </a:p>
          <a:p>
            <a:r>
              <a:rPr lang="en-US" sz="1400" b="0" dirty="0"/>
              <a:t>Giảng viên đi vòng. Dành 7 phút đầu để chắc chắn mỗi nhóm có MỘT vấn đề tập trung - đây là chỗ các nhóm hay mắc kẹt.</a:t>
            </a:r>
          </a:p>
          <a:p>
            <a:r>
              <a:rPr lang="en-US" sz="1400" b="0" dirty="0"/>
              <a:t>Kiểm tra câu hỏi của mỗi nhóm với PICO và FINER trước khi viết mục tiêu. Chữ F đỏ là vấn đề hay gặp nhất - giúp nhóm thu hẹp kết cục, rút ngắn thời gian, hoặc chuyển thành câu hỏi mô tả hay pilot.</a:t>
            </a:r>
          </a:p>
          <a:p>
            <a:r>
              <a:rPr lang="en-US" sz="1400" b="0" dirty="0"/>
              <a:t>Lần ghé thứ hai: mục tiêu chính có nêu cùng kết cục với câu hỏi không? Con đường phê duyệt (nghiên cứu / audit / QI) đã được ghi chưa?</a:t>
            </a:r>
          </a:p>
          <a:p>
            <a:r>
              <a:rPr lang="en-US" sz="1400" b="0" dirty="0"/>
              <a:t>Lúc 2:50 (phút thứ 25), dừng làm việc; một nhóm đọc to câu hỏi và mục đích; mời lớp góp một ý cải thiện.</a:t>
            </a:r>
          </a:p>
          <a:p>
            <a:r>
              <a:rPr lang="en-US" sz="1400" b="0" dirty="0"/>
              <a:t>Thế nào là tốt: Course/Solutions/s1_solutions.md (Bài tập 4).</a:t>
            </a:r>
          </a:p>
          <a:p>
            <a:r>
              <a:rPr lang="en-US" sz="1400" b="0" dirty="0"/>
              <a:t>Thời gian: 28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Mời một học viên giải thích PICO bằng lời của mình.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a:t>
            </a:r>
          </a:p>
          <a:p>
            <a:r>
              <a:rPr lang="en-US" sz="1400" b="0" dirty="0"/>
              <a:t>Nối sang buổi sau: thứ Bảy tuần sau (Buổi 2) ta tìm trên PubMed cho câu hỏi của từng nhóm, quản lý tài liệu tham khảo, và học cách đọc một bài báo trong 15 phút.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 Khả thi: kết cục tử vong cần hơn một nghìn bệnh nhân. 2 - ví dụ 'Ước tính tỷ lệ mới mắc tổn thương do tì đè độ 2 trở lên ở người lớn tại khoa trong 6 tháng'.</a:t>
            </a:r>
          </a:p>
          <a:p>
            <a:r>
              <a:rPr lang="en-US" sz="1400" b="0" dirty="0"/>
              <a:t>Đọc các tờ giấy trong tuần. Nếu nhiều người vẫn dùng động từ mơ hồ, mở đầu Buổi 2 bằng thêm một phút về mục tiêu.</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nhẹ nhàng: khoảng 30 phút trong tuần.</a:t>
            </a:r>
          </a:p>
          <a:p>
            <a:r>
              <a:rPr lang="en-US" sz="1400" b="0" dirty="0"/>
              <a:t>Danh sách từ đồng nghĩa giúp tìm kiếm PubMed thứ Bảy tuần sau nhanh hơn nhiều - PubMed tìm bằng tiếng Anh.</a:t>
            </a:r>
          </a:p>
          <a:p>
            <a:r>
              <a:rPr lang="en-US" sz="1400" b="0" dirty="0"/>
              <a:t>'Con số tại khoa' sẽ thành đoạn 3 của phần đặt vấn đề thứ Bảy tuần sau.</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khung câu hỏi chẩn đoán, tiên lượng và định tính.</a:t>
            </a:r>
          </a:p>
          <a:p>
            <a:r>
              <a:rPr lang="en-US" sz="1400" b="0" dirty="0"/>
              <a:t>Câu hỏi chẩn đoán: xét nghiệm cần đánh giá là I, tiêu chuẩn tham chiếu là C, kết cục là độ chính xác (độ nhạy, độ đặc hiệu - Buổi 4).</a:t>
            </a:r>
          </a:p>
          <a:p>
            <a:r>
              <a:rPr lang="en-US" sz="1400" b="0" dirty="0"/>
              <a:t>Tiên lượng: thường là PECO cộng mốc thời gian.</a:t>
            </a:r>
          </a:p>
          <a:p>
            <a:r>
              <a:rPr lang="en-US" sz="1400" b="0" dirty="0"/>
              <a:t>Câu hỏi định tính thường dùng SPIDER (Cooke và cộng sự, 2012): Sample (mẫu), Phenomenon of Interest (hiện tượng quan tâm), Design (thiết kế), Evaluation (đánh giá), Research type (loại nghiên cứu).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giả thuyết một phía và hai phía.</a:t>
            </a:r>
          </a:p>
          <a:p>
            <a:r>
              <a:rPr lang="en-US" sz="1400" b="0" dirty="0"/>
              <a:t>Giả thuyết hai phía là mặc định trong nghiên cứu lâm sàng vì can thiệp mới có thể gây hại cũng như có lợi.</a:t>
            </a:r>
          </a:p>
          <a:p>
            <a:r>
              <a:rPr lang="en-US" sz="1400" b="0" dirty="0"/>
              <a:t>Kiểm định một phía phải được định trước và có lý do; người phản biện thường nghi ngờ.</a:t>
            </a:r>
          </a:p>
          <a:p>
            <a:r>
              <a:rPr lang="en-US" sz="1400" b="0" dirty="0"/>
              <a:t>Câu hỏi không kém hơn (non-inferiority - lựa chọn rẻ hơn hay đơn giản hơn có kém đáng kể không?) có thiết kế riêng - Buổi 3.</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FINER.</a:t>
            </a:r>
          </a:p>
          <a:p>
            <a:r>
              <a:rPr lang="en-US" sz="1400" b="0" dirty="0"/>
              <a:t>Đáp án: 1 Khả thi (quá lớn, quá dài, quá tốn kém; cũng đã có thử nghiệm vitamin D lớn - Mới). 2 Đạo đức (hoãn kháng sinh trong sốc nhiễm khuẩn gây hại - không có cân bằng lâm sàng). 3 Mới (đã có số liệu: đây là câu hỏi audit). 4 Phù hợp (không có cơ chế hợp lý, không tác động tới thực hành).</a:t>
            </a:r>
          </a:p>
          <a:p>
            <a:r>
              <a:rPr lang="en-US" sz="1400" b="0" dirty="0"/>
              <a:t>Cũng có trong Bài tập 2 Phần B của phiếu học viên.</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chuyển câu hỏi mơ hồ thành trả lời được với ví dụ tại khoa.</a:t>
            </a:r>
          </a:p>
          <a:p>
            <a:r>
              <a:rPr lang="en-US" sz="1400" b="0" dirty="0"/>
              <a:t>Dùng lại slide này với một ví dụ tại khoa nếu lớp cần luyện thêm.</a:t>
            </a:r>
          </a:p>
          <a:p>
            <a:r>
              <a:rPr lang="en-US" sz="1400" b="0" dirty="0"/>
              <a:t>Hỏi: 'Làm câu này trả lời được: Ca đêm có gây sai sót thuốc không?' Hướng mong đợi: ở điều dưỡng khoa phòng (P), ca đêm (E) so với ca ngày (C) có liên quan với nhiều sai sót khi dùng thuốc hơn trên 1.000 liều (O) trong 6 tháng (T) không?</a:t>
            </a:r>
          </a:p>
          <a:p>
            <a:r>
              <a:rPr lang="en-US" sz="1400" b="0" dirty="0"/>
              <a:t>Chỉ ra đây là câu hỏi PECO (quan sát) vì khó phân nhóm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Cấp độ 1  -  Từ câu hỏi lâm sàng đến công bố</a:t>
            </a:r>
          </a:p>
          <a:p>
            <a:pPr marL="0" indent="0" algn="ctr">
              <a:spcBef>
                <a:spcPts val="440"/>
              </a:spcBef>
              <a:buNone/>
            </a:pPr>
            <a:r>
              <a:rPr lang="en-US" sz="2000" dirty="0">
                <a:solidFill>
                  <a:srgbClr val="000000"/>
                </a:solidFill>
                <a:latin typeface="Segoe UI"/>
                <a:cs typeface="Segoe UI"/>
              </a:rPr>
              <a:t>8 thứ Bảy  -  mỗi tuần một buổi  -  24 giờ học</a:t>
            </a:r>
          </a:p>
          <a:p>
            <a:pPr marL="0" indent="0" algn="ctr">
              <a:spcBef>
                <a:spcPts val="440"/>
              </a:spcBef>
              <a:buNone/>
            </a:pPr>
            <a:r>
              <a:rPr lang="en-US" sz="2000" dirty="0">
                <a:solidFill>
                  <a:srgbClr val="000000"/>
                </a:solidFill>
                <a:latin typeface="Segoe UI"/>
                <a:cs typeface="Segoe UI"/>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Mỗi ngày bạn đưa ra những quyết định mà nghiên cứu có thể giúp tốt hơn.</a:t>
            </a:r>
          </a:p>
          <a:p>
            <a:pPr marL="0" indent="0" algn="ctr">
              <a:spcBef>
                <a:spcPts val="1200"/>
              </a:spcBef>
              <a:buNone/>
            </a:pPr>
            <a:r>
              <a:rPr lang="en-US" sz="1900" i="1" dirty="0">
                <a:solidFill>
                  <a:srgbClr val="595959"/>
                </a:solidFill>
                <a:latin typeface="Segoe UI"/>
                <a:cs typeface="Segoe UI"/>
              </a:rPr>
              <a:t>Khóa học này giúp bạn đặt câu hỏi đúng cách - trả lời chúng -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đưa bạn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Cấp độ 1 là khóa học này; Cấp độ 2 là thực hành phân tích bằng R; Cấp độ 3 là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sản phẩm của nhóm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HỎI &amp;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Biến vấn đề thành câu hỏi PICO</a:t>
            </a:r>
          </a:p>
          <a:p>
            <a:pPr marL="0" indent="0" algn="l">
              <a:lnSpc>
                <a:spcPct val="104000"/>
              </a:lnSpc>
              <a:spcBef>
                <a:spcPts val="400"/>
              </a:spcBef>
              <a:buNone/>
            </a:pPr>
            <a:r>
              <a:rPr lang="en-US" sz="1600" dirty="0">
                <a:solidFill>
                  <a:srgbClr val="000000"/>
                </a:solidFill>
                <a:latin typeface="Segoe UI"/>
                <a:cs typeface="Segoe UI"/>
              </a:rPr>
              <a:t>Tìm PubMed, quản lý tài liệu</a:t>
            </a:r>
          </a:p>
          <a:p>
            <a:pPr marL="0" indent="0" algn="l">
              <a:lnSpc>
                <a:spcPct val="104000"/>
              </a:lnSpc>
              <a:spcBef>
                <a:spcPts val="400"/>
              </a:spcBef>
              <a:buNone/>
            </a:pPr>
            <a:r>
              <a:rPr lang="en-US" sz="1600" dirty="0">
                <a:solidFill>
                  <a:srgbClr val="000000"/>
                </a:solidFill>
                <a:latin typeface="Segoe UI"/>
                <a:cs typeface="Segoe UI"/>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đúng thiết kế nghiên cứu</a:t>
            </a:r>
          </a:p>
          <a:p>
            <a:pPr marL="0" indent="0" algn="l">
              <a:lnSpc>
                <a:spcPct val="104000"/>
              </a:lnSpc>
              <a:spcBef>
                <a:spcPts val="400"/>
              </a:spcBef>
              <a:buNone/>
            </a:pPr>
            <a:r>
              <a:rPr lang="en-US" sz="1600" dirty="0">
                <a:solidFill>
                  <a:srgbClr val="000000"/>
                </a:solidFill>
                <a:latin typeface="Segoe UI"/>
                <a:cs typeface="Segoe UI"/>
              </a:rPr>
              <a:t>Nhận biết sai lệch và nhiễu</a:t>
            </a:r>
          </a:p>
          <a:p>
            <a:pPr marL="0" indent="0" algn="l">
              <a:lnSpc>
                <a:spcPct val="104000"/>
              </a:lnSpc>
              <a:spcBef>
                <a:spcPts val="400"/>
              </a:spcBef>
              <a:buNone/>
            </a:pPr>
            <a:r>
              <a:rPr lang="en-US" sz="1600" dirty="0">
                <a:solidFill>
                  <a:srgbClr val="000000"/>
                </a:solidFill>
                <a:latin typeface="Segoe UI"/>
                <a:cs typeface="Segoe UI"/>
              </a:rPr>
              <a:t>Đọc RR, OR, NNT và biểu đồ rừng</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dữ liệu và CRF</a:t>
            </a:r>
          </a:p>
          <a:p>
            <a:pPr marL="0" indent="0" algn="l">
              <a:lnSpc>
                <a:spcPct val="104000"/>
              </a:lnSpc>
              <a:spcBef>
                <a:spcPts val="400"/>
              </a:spcBef>
              <a:buNone/>
            </a:pPr>
            <a:r>
              <a:rPr lang="en-US" sz="1600" dirty="0">
                <a:solidFill>
                  <a:srgbClr val="000000"/>
                </a:solidFill>
                <a:latin typeface="Segoe UI"/>
                <a:cs typeface="Segoe UI"/>
              </a:rPr>
              <a:t>Đọc CI, giá trị p, hồi quy</a:t>
            </a:r>
          </a:p>
          <a:p>
            <a:pPr marL="0" indent="0" algn="l">
              <a:lnSpc>
                <a:spcPct val="104000"/>
              </a:lnSpc>
              <a:spcBef>
                <a:spcPts val="400"/>
              </a:spcBef>
              <a:buNone/>
            </a:pPr>
            <a:r>
              <a:rPr lang="en-US" sz="1600" dirty="0">
                <a:solidFill>
                  <a:srgbClr val="000000"/>
                </a:solidFill>
                <a:latin typeface="Segoe UI"/>
                <a:cs typeface="Segoe UI"/>
              </a:rPr>
              <a:t>Diễn giải kết quả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 &amp;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đạo đức và đăng ký</a:t>
            </a:r>
          </a:p>
          <a:p>
            <a:pPr marL="0" indent="0" algn="l">
              <a:lnSpc>
                <a:spcPct val="104000"/>
              </a:lnSpc>
              <a:spcBef>
                <a:spcPts val="400"/>
              </a:spcBef>
              <a:buNone/>
            </a:pPr>
            <a:r>
              <a:rPr lang="en-US" sz="1600" dirty="0">
                <a:solidFill>
                  <a:srgbClr val="000000"/>
                </a:solidFill>
                <a:latin typeface="Segoe UI"/>
                <a:cs typeface="Segoe UI"/>
              </a:rPr>
              <a:t>Viết từng phần của bài báo</a:t>
            </a:r>
          </a:p>
          <a:p>
            <a:pPr marL="0" indent="0" algn="l">
              <a:lnSpc>
                <a:spcPct val="104000"/>
              </a:lnSpc>
              <a:spcBef>
                <a:spcPts val="400"/>
              </a:spcBef>
              <a:buNone/>
            </a:pPr>
            <a:r>
              <a:rPr lang="en-US" sz="1600" dirty="0">
                <a:solidFill>
                  <a:srgbClr val="000000"/>
                </a:solidFill>
                <a:latin typeface="Segoe UI"/>
                <a:cs typeface="Segoe UI"/>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Hiểu và diễn giải -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nhóm, cùng mẫu, mỗi hai tuần một phần, trình bày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quen với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Ngồi theo nhóm (5 nhóm, mỗi nhóm khoảng 6 người, trộn các nghề)</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Giới thiệu: tên, khoa, một câu hỏi bạn mong nghiên cứu trả lời được</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Thống nhất các vai trò bên cạnh - có thể luân phiên mỗi tuần</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Chọn tên nhóm</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 trong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phối - giúp mọi người cùng tham gia</a:t>
            </a:r>
          </a:p>
          <a:p>
            <a:pPr marL="274320" indent="-274320" algn="l">
              <a:lnSpc>
                <a:spcPct val="104000"/>
              </a:lnSpc>
              <a:spcBef>
                <a:spcPts val="300"/>
              </a:spcBef>
              <a:buFont typeface="Arial"/>
              <a:buChar char="•"/>
            </a:pPr>
            <a:r>
              <a:rPr lang="en-US" sz="1500" dirty="0">
                <a:solidFill>
                  <a:srgbClr val="000000"/>
                </a:solidFill>
                <a:latin typeface="Segoe UI"/>
                <a:cs typeface="Segoe UI"/>
              </a:rPr>
              <a:t>Thư ký - điền vào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Bấm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tài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phương pháp &amp; dữ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Tên nhóm + vai trò ghi trên phiếu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cùng học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Cứ hỏi</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có câu hỏi nào ngớ ngẩn</a:t>
            </a:r>
          </a:p>
          <a:p>
            <a:pPr marL="0" indent="0" algn="l">
              <a:lnSpc>
                <a:spcPct val="104000"/>
              </a:lnSpc>
              <a:spcBef>
                <a:spcPts val="400"/>
              </a:spcBef>
              <a:buNone/>
            </a:pPr>
            <a:r>
              <a:rPr lang="en-US" sz="1600" dirty="0">
                <a:solidFill>
                  <a:srgbClr val="000000"/>
                </a:solidFill>
                <a:latin typeface="Segoe UI"/>
                <a:cs typeface="Segoe UI"/>
              </a:rPr>
              <a:t>Nếu bạn chưa hiểu, người khác cũng vậy</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Đi chậm</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Chúng ta kiểm tra mức hiểu thường xuyên</a:t>
            </a:r>
          </a:p>
          <a:p>
            <a:pPr marL="0" indent="0" algn="l">
              <a:lnSpc>
                <a:spcPct val="104000"/>
              </a:lnSpc>
              <a:spcBef>
                <a:spcPts val="400"/>
              </a:spcBef>
              <a:buNone/>
            </a:pPr>
            <a:r>
              <a:rPr lang="en-US" sz="1600" dirty="0">
                <a:solidFill>
                  <a:srgbClr val="000000"/>
                </a:solidFill>
                <a:latin typeface="Segoe UI"/>
                <a:cs typeface="Segoe UI"/>
              </a:rPr>
              <a:t>Slide bổ sung chỉ khi còn thời gian</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Mang khoa phòng vào</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ví dụ từ thực hành của bạn</a:t>
            </a:r>
          </a:p>
          <a:p>
            <a:pPr marL="0" indent="0" algn="l">
              <a:lnSpc>
                <a:spcPct val="104000"/>
              </a:lnSpc>
              <a:spcBef>
                <a:spcPts val="400"/>
              </a:spcBef>
              <a:buNone/>
            </a:pPr>
            <a:r>
              <a:rPr lang="en-US" sz="1600" dirty="0">
                <a:solidFill>
                  <a:srgbClr val="000000"/>
                </a:solidFill>
                <a:latin typeface="Segoe UI"/>
                <a:cs typeface="Segoe UI"/>
              </a:rPr>
              <a:t>Kinh nghiệm của bạn là nguyên liệu</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Tôn trọng thời gian</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Bắt đầu và kết thúc đúng giờ</a:t>
            </a:r>
          </a:p>
          <a:p>
            <a:pPr marL="0" indent="0" algn="l">
              <a:lnSpc>
                <a:spcPct val="104000"/>
              </a:lnSpc>
              <a:spcBef>
                <a:spcPts val="400"/>
              </a:spcBef>
              <a:buNone/>
            </a:pPr>
            <a:r>
              <a:rPr lang="en-US" sz="1600" dirty="0">
                <a:solidFill>
                  <a:srgbClr val="000000"/>
                </a:solidFill>
                <a:latin typeface="Segoe UI"/>
                <a:cs typeface="Segoe UI"/>
              </a:rPr>
              <a:t>Tắt chuông điện thoại, nghỉ đúng giờ nghỉ</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đầu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Làm cá nhân, không thảo luận, không dùng điện thoại (trừ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24 câu trắc nghiệm - chọn một đáp án cho mỗi câu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Nếu không chắc, hãy đoán: đây không phải kỳ thi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Chỉ ghi mã số học viên, không ghi tên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Vì sao kiểm tra bây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Biết lớp đang bắt đầu từ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bài này ở Buổi 8</a:t>
            </a:r>
          </a:p>
          <a:p>
            <a:pPr marL="274320" indent="-274320" algn="l">
              <a:lnSpc>
                <a:spcPct val="104000"/>
              </a:lnSpc>
              <a:spcBef>
                <a:spcPts val="300"/>
              </a:spcBef>
              <a:buFont typeface="Arial"/>
              <a:buChar char="•"/>
            </a:pPr>
            <a:r>
              <a:rPr lang="en-US" sz="1500" dirty="0">
                <a:solidFill>
                  <a:srgbClr val="000000"/>
                </a:solidFill>
                <a:latin typeface="Segoe UI"/>
                <a:cs typeface="Segoe UI"/>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1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1.1  Vì sao cần nghiên cứu? Bằng chứng, các loại nghiên cứu, nghiên cứu và audit, con đường đến công bố</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1.2  Từ vấn đề đến câu hỏi: PICO(T) qua các ví dụ, FINER (bài tập theo cặp)</a:t>
            </a:r>
          </a:p>
          <a:p>
            <a:pPr marL="274320" indent="-274320" algn="l">
              <a:spcBef>
                <a:spcPts val="440"/>
              </a:spcBef>
              <a:buFont typeface="Arial"/>
              <a:buChar char="•"/>
            </a:pPr>
            <a:r>
              <a:rPr lang="en-US" sz="1900" dirty="0">
                <a:solidFill>
                  <a:srgbClr val="000000"/>
                </a:solidFill>
                <a:latin typeface="Segoe UI"/>
                <a:cs typeface="Segoe UI"/>
              </a:rPr>
              <a:t>1.3  Mục đích, mục tiêu và giả thuyết (bài tập nhanh)</a:t>
            </a:r>
          </a:p>
          <a:p>
            <a:pPr marL="274320" indent="-274320" algn="l">
              <a:spcBef>
                <a:spcPts val="440"/>
              </a:spcBef>
              <a:buFont typeface="Arial"/>
              <a:buChar char="•"/>
            </a:pPr>
            <a:r>
              <a:rPr lang="en-US" sz="1900" dirty="0">
                <a:solidFill>
                  <a:srgbClr val="000000"/>
                </a:solidFill>
                <a:latin typeface="Segoe UI"/>
                <a:cs typeface="Segoe UI"/>
              </a:rPr>
              <a:t>Xây dựng đề cương 1: chủ đề, PICO, câu hỏi, FINER, mục đích và mục tiêu</a:t>
            </a:r>
          </a:p>
          <a:p>
            <a:pPr marL="274320" indent="-274320" algn="l">
              <a:spcBef>
                <a:spcPts val="440"/>
              </a:spcBef>
              <a:buFont typeface="Arial"/>
              <a:buChar char="•"/>
            </a:pPr>
            <a:r>
              <a:rPr lang="en-US" sz="1900" dirty="0">
                <a:solidFill>
                  <a:srgbClr val="000000"/>
                </a:solidFill>
                <a:latin typeface="Segoe UI"/>
                <a:cs typeface="Segoe UI"/>
              </a:rPr>
              <a:t>Tổng kết: từ khóa, ôn tập, bài về nhà cho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Vì sao cần nghiên cứu khi chúng ta đã có kinh nghiệm?</a:t>
            </a:r>
          </a:p>
          <a:p>
            <a:pPr marL="0" indent="0" algn="ctr">
              <a:spcBef>
                <a:spcPts val="1200"/>
              </a:spcBef>
              <a:buNone/>
            </a:pPr>
            <a:r>
              <a:rPr lang="en-US" sz="1900" i="1" dirty="0">
                <a:solidFill>
                  <a:srgbClr val="595959"/>
                </a:solidFill>
                <a:latin typeface="Segoe UI"/>
                <a:cs typeface="Segoe UI"/>
              </a:rPr>
              <a:t>35 phút: bằng chứng, tháp bằng chứng, các loại nghiên cứu, nghiên cứu và audit, con đường đến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Kinh nghiệm gợi ra câu hỏi. So sánh công bằng trên nhiều bệnh nhân trả lời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Càng cao = càng ít nguy cơ sai lệch với câu hỏi về hiệu quả điều trị</a:t>
            </a:r>
          </a:p>
          <a:p>
            <a:pPr marL="274320" indent="-274320" algn="l">
              <a:spcBef>
                <a:spcPts val="440"/>
              </a:spcBef>
              <a:buFont typeface="Arial"/>
              <a:buChar char="•"/>
            </a:pPr>
            <a:r>
              <a:rPr lang="en-US" sz="1450" dirty="0">
                <a:solidFill>
                  <a:srgbClr val="000000"/>
                </a:solidFill>
                <a:latin typeface="Segoe UI"/>
                <a:cs typeface="Segoe UI"/>
              </a:rPr>
              <a:t>Bài báo 1 (Boulet) là RCT; Bài báo 2 (Hyun) là đoàn hệ</a:t>
            </a:r>
          </a:p>
          <a:p>
            <a:pPr marL="274320" indent="-274320" algn="l">
              <a:spcBef>
                <a:spcPts val="440"/>
              </a:spcBef>
              <a:buFont typeface="Arial"/>
              <a:buChar char="•"/>
            </a:pPr>
            <a:r>
              <a:rPr lang="en-US" sz="1450" dirty="0">
                <a:solidFill>
                  <a:srgbClr val="000000"/>
                </a:solidFill>
                <a:latin typeface="Segoe UI"/>
                <a:cs typeface="Segoe UI"/>
              </a:rPr>
              <a:t>Đoàn hệ làm tốt có thể hơn RCT làm kém</a:t>
            </a:r>
          </a:p>
          <a:p>
            <a:pPr marL="274320" indent="-274320" algn="l">
              <a:spcBef>
                <a:spcPts val="440"/>
              </a:spcBef>
              <a:buFont typeface="Arial"/>
              <a:buChar char="•"/>
            </a:pPr>
            <a:r>
              <a:rPr lang="en-US" sz="1450" dirty="0">
                <a:solidFill>
                  <a:srgbClr val="000000"/>
                </a:solidFill>
                <a:latin typeface="Segoe UI"/>
                <a:cs typeface="Segoe UI"/>
              </a:rPr>
              <a:t>Câu hỏi mô tả không cần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Tháp xếp hạng thiết kế, không phải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Bốn nguồn cùng trả lời: 'Hạn chế dịch có giảm tử vong trong sốc nhiễm khuẩn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A: một đồng nghiệp lâu năm: '20 năm nay, bệnh nhân để khô của tôi đều tốt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 một đoàn hệ từ sổ đăng ký gồm hàng nghìn bệnh nhân nhiễm khuẩn huyết tại 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 một thử nghiệm phân nhóm ngẫu nhiên 1.554 bệnh nhân sốc nhiễm khuẩn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D: một tổng quan gộp mọi thử nghiệm về hạn chế dịch</a:t>
            </a:r>
          </a:p>
          <a:p>
            <a:pPr marL="380000" indent="-380000" algn="l">
              <a:lnSpc>
                <a:spcPct val="104000"/>
              </a:lnSpc>
              <a:spcBef>
                <a:spcPts val="450"/>
              </a:spcBef>
              <a:buNone/>
            </a:pPr>
            <a:r>
              <a:rPr lang="en-US" sz="1650" b="1" dirty="0">
                <a:solidFill>
                  <a:srgbClr val="6C3483"/>
                </a:solidFill>
                <a:latin typeface="Segoe UI"/>
                <a:cs typeface="Segoe UI"/>
              </a:rPr>
              <a:t>6.  </a:t>
            </a:r>
            <a:r>
              <a:rPr lang="en-US" sz="1650" dirty="0">
                <a:solidFill>
                  <a:srgbClr val="000000"/>
                </a:solidFill>
                <a:latin typeface="Segoe UI"/>
                <a:cs typeface="Segoe UI"/>
              </a:rPr>
              <a:t>Xếp từ yếu nhất đến mạnh nhất - giơ ngón tay khi đếm đến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Rồi thảo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Nguồn nào sẽ làm bạn đổi cách thực hành?</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làm C yếu hơn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bàn thống nhất một thứ tự xếp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là một chu trình: kết quả công bố thay đổi thực hành và gợi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Con số trả lời bao nhiêu, mức nào; lời nói trả lời vì sao,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đếm số bệnh nhân ICU bị tổn thương do tì đè trong năm nay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phỏng vấn gia đình về quy định thăm bệnh ở ICU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phân tích lại hồ sơ ra viện 3 năm để tìm tái nhập viện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khảo sát thực hành vệ sinh tay kèm thảo luận nhóm với điều dưỡng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định lượng, định tính hay hỗn hợp? Sơ cấp hay thứ cấp?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Cả lớp trả lời to - slide sau có đáp 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liệu mới)</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tính</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(lời nói, vì sao)</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Thứ cấp</a:t>
            </a:r>
          </a:p>
          <a:p>
            <a:pPr marL="0" indent="0" algn="l">
              <a:lnSpc>
                <a:spcPct val="104000"/>
              </a:lnSpc>
              <a:spcBef>
                <a:spcPts val="400"/>
              </a:spcBef>
              <a:buNone/>
            </a:pPr>
            <a:r>
              <a:rPr lang="en-US" sz="1600" dirty="0">
                <a:solidFill>
                  <a:srgbClr val="000000"/>
                </a:solidFill>
                <a:latin typeface="Segoe UI"/>
                <a:cs typeface="Segoe UI"/>
              </a:rPr>
              <a:t>(dữ liệu có sẵn)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Hỗn hợp</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 lời nói)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hai điều: con số hay lời nói?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hỏi điều gì tốt nhất; audit hỏi ta có làm không; QI làm cho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kiểm tra cân bằng dịch có được ghi hằng ngày theo quy trình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phân nhóm ngẫu nhiên bệnh nhân vào hạn chế dịch hoặc dịch thường quy</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thử bảng kiểm bàn giao ca mới theo các chu trình PDSA nhỏ</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phỏng vấn điều dưỡng vì sao ngại ngừng dịch</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nghiên cứu, audit hay QI - và ai phải phê duyệt?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1 ngón cho nghiên cứu, 2 cho audit, 3 cho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Dự án</a:t>
                      </a:r>
                    </a:p>
                  </a:txBody>
                  <a:tcPr marL="73152" marR="73152" marT="36576" marB="36576" anchor="ctr">
                    <a:solidFill>
                      <a:srgbClr val="0D7377"/>
                    </a:solidFill>
                  </a:tcPr>
                </a:tc>
                <a:tc>
                  <a:txBody>
                    <a:bodyPr/>
                    <a:lstStyle/>
                    <a:p>
                      <a:pPr algn="l"/>
                      <a:r>
                        <a:rPr lang="en-US" sz="1500" b="1" dirty="0">
                          <a:solidFill>
                            <a:srgbClr val="FFFFFF"/>
                          </a:solidFill>
                          <a:latin typeface="Segoe UI"/>
                        </a:rPr>
                        <a:t>Loại</a:t>
                      </a:r>
                    </a:p>
                  </a:txBody>
                  <a:tcPr marL="73152" marR="73152" marT="36576" marB="36576" anchor="ctr">
                    <a:solidFill>
                      <a:srgbClr val="0D7377"/>
                    </a:solidFill>
                  </a:tcPr>
                </a:tc>
                <a:tc>
                  <a:txBody>
                    <a:bodyPr/>
                    <a:lstStyle/>
                    <a:p>
                      <a:pPr algn="l"/>
                      <a:r>
                        <a:rPr lang="en-US" sz="1500" b="1" dirty="0">
                          <a:solidFill>
                            <a:srgbClr val="FFFFFF"/>
                          </a:solidFill>
                          <a:latin typeface="Segoe UI"/>
                        </a:rPr>
                        <a:t>Phê duyệt trước khi bắt đầu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A  Cân bằng dịch có ghi hằng ngày?</a:t>
                      </a:r>
                    </a:p>
                  </a:txBody>
                  <a:tcPr marL="73152" marR="73152" marT="36576" marB="36576" anchor="ctr">
                    <a:solidFill>
                      <a:srgbClr val="FFFFFF"/>
                    </a:solidFill>
                  </a:tcPr>
                </a:tc>
                <a:tc>
                  <a:txBody>
                    <a:bodyPr/>
                    <a:lstStyle/>
                    <a:p>
                      <a:pPr algn="l"/>
                      <a:r>
                        <a:rPr lang="en-US" sz="1500" b="0" dirty="0">
                          <a:solidFill>
                            <a:srgbClr val="000000"/>
                          </a:solidFill>
                          <a:latin typeface="Segoe UI"/>
                        </a:rPr>
                        <a:t>Audit</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 quản lý chất lượng</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B  Phân nhóm hạn chế dịch vs thường quy</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 + đăng ký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C  Bảng kiểm bàn giao theo PDSA</a:t>
                      </a:r>
                    </a:p>
                  </a:txBody>
                  <a:tcPr marL="73152" marR="73152" marT="36576" marB="36576" anchor="ctr">
                    <a:solidFill>
                      <a:srgbClr val="FFFFFF"/>
                    </a:solidFill>
                  </a:tcPr>
                </a:tc>
                <a:tc>
                  <a:txBody>
                    <a:bodyPr/>
                    <a:lstStyle/>
                    <a:p>
                      <a:pPr algn="l"/>
                      <a:r>
                        <a:rPr lang="en-US" sz="1500" b="0" dirty="0">
                          <a:solidFill>
                            <a:srgbClr val="000000"/>
                          </a:solidFill>
                          <a:latin typeface="Segoe UI"/>
                        </a:rPr>
                        <a:t>Cải tiến chất lượng</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xét đạo đức nếu có rủi ro mới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D  Phỏng vấn điều dưỡng về ngừng dịch</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 (định tính)</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Quy định khác nhau giữa các cơ sở: xem quy định nội bộ và hỏi hội đồng đạo đức khi không chắc.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Khóa học đi hết con đường - đề cương của nhóm bao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câu hỏi tốt là một nửa câu trả lời.</a:t>
            </a:r>
          </a:p>
          <a:p>
            <a:pPr marL="0" indent="0" algn="ctr">
              <a:spcBef>
                <a:spcPts val="1200"/>
              </a:spcBef>
              <a:buNone/>
            </a:pPr>
            <a:r>
              <a:rPr lang="en-US" sz="1900" i="1" dirty="0">
                <a:solidFill>
                  <a:srgbClr val="595959"/>
                </a:solidFill>
                <a:latin typeface="Segoe UI"/>
                <a:cs typeface="Segoe UI"/>
              </a:rPr>
              <a:t>40 phút: câu hỏi đến từ đâu, PICO(T) qua các ví dụ, loại câu hỏi, FINER - rồi bài tập theo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Buổi nào chúng ta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tại khoa: ba ví dụ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điều trị dùng PICO, câu hỏi nguy cơ dùng PECO, câu hỏi 'bao nhiêu?' chỉ cần P và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câu hỏi: 'Ở người ≥65 tuổi sau mổ gãy cổ xương đùi, gói chăm sóc không dùng thuốc hằng ngày, so với chăm sóc thường quy, có giảm mê sảng trong 7 ngày đầu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Những từ nào là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năm chữ cái vào phiếu (Bài tập 1, phần khởi động)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So sánh với người bên cạnh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Năm phần được gắn nhãn -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Người ≥65 tuổi</a:t>
            </a:r>
          </a:p>
          <a:p>
            <a:pPr marL="0" indent="0" algn="l">
              <a:lnSpc>
                <a:spcPct val="104000"/>
              </a:lnSpc>
              <a:spcBef>
                <a:spcPts val="400"/>
              </a:spcBef>
              <a:buNone/>
            </a:pPr>
            <a:r>
              <a:rPr lang="en-US" sz="1450" dirty="0">
                <a:solidFill>
                  <a:srgbClr val="000000"/>
                </a:solidFill>
                <a:latin typeface="Segoe UI"/>
                <a:cs typeface="Segoe UI"/>
              </a:rPr>
              <a:t>sau mổ gãy</a:t>
            </a:r>
          </a:p>
          <a:p>
            <a:pPr marL="0" indent="0" algn="l">
              <a:lnSpc>
                <a:spcPct val="104000"/>
              </a:lnSpc>
              <a:spcBef>
                <a:spcPts val="400"/>
              </a:spcBef>
              <a:buNone/>
            </a:pPr>
            <a:r>
              <a:rPr lang="en-US" sz="1450" dirty="0">
                <a:solidFill>
                  <a:srgbClr val="000000"/>
                </a:solidFill>
                <a:latin typeface="Segoe UI"/>
                <a:cs typeface="Segoe UI"/>
              </a:rPr>
              <a:t>cổ xương đùi</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Gói phòng mê sảng</a:t>
            </a:r>
          </a:p>
          <a:p>
            <a:pPr marL="0" indent="0" algn="l">
              <a:lnSpc>
                <a:spcPct val="104000"/>
              </a:lnSpc>
              <a:spcBef>
                <a:spcPts val="400"/>
              </a:spcBef>
              <a:buNone/>
            </a:pPr>
            <a:r>
              <a:rPr lang="en-US" sz="1450" dirty="0">
                <a:solidFill>
                  <a:srgbClr val="000000"/>
                </a:solidFill>
                <a:latin typeface="Segoe UI"/>
                <a:cs typeface="Segoe UI"/>
              </a:rPr>
              <a:t>không dùng thuốc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Chăm sóc</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Mê sảng</a:t>
            </a:r>
          </a:p>
          <a:p>
            <a:pPr marL="0" indent="0" algn="l">
              <a:lnSpc>
                <a:spcPct val="104000"/>
              </a:lnSpc>
              <a:spcBef>
                <a:spcPts val="400"/>
              </a:spcBef>
              <a:buNone/>
            </a:pPr>
            <a:r>
              <a:rPr lang="en-US" sz="1450" dirty="0">
                <a:solidFill>
                  <a:srgbClr val="000000"/>
                </a:solidFill>
                <a:latin typeface="Segoe UI"/>
                <a:cs typeface="Segoe UI"/>
              </a:rPr>
              <a:t>(sàng lọc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7 ngày đầu</a:t>
            </a:r>
          </a:p>
          <a:p>
            <a:pPr marL="0" indent="0" algn="l">
              <a:lnSpc>
                <a:spcPct val="104000"/>
              </a:lnSpc>
              <a:spcBef>
                <a:spcPts val="400"/>
              </a:spcBef>
              <a:buNone/>
            </a:pPr>
            <a:r>
              <a:rPr lang="en-US" sz="1450" dirty="0">
                <a:solidFill>
                  <a:srgbClr val="000000"/>
                </a:solidFill>
                <a:latin typeface="Segoe UI"/>
                <a:cs typeface="Segoe UI"/>
              </a:rPr>
              <a:t>sau mổ</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Chẩn đoán khiến bệnh nhân vào nghiên cứu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mô tả thì mô tả. Câu hỏi phân tích thì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chưa điền đủ bốn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Kiểm tra mọi câu hỏi với năm tiêu chí trước khi đầu tư thời gian.</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Khả thi</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Đủ bệnh nhân</a:t>
            </a:r>
          </a:p>
          <a:p>
            <a:pPr marL="0" indent="0" algn="l">
              <a:lnSpc>
                <a:spcPct val="104000"/>
              </a:lnSpc>
              <a:spcBef>
                <a:spcPts val="400"/>
              </a:spcBef>
              <a:buNone/>
            </a:pPr>
            <a:r>
              <a:rPr lang="en-US" sz="1450" dirty="0">
                <a:solidFill>
                  <a:srgbClr val="000000"/>
                </a:solidFill>
                <a:latin typeface="Segoe UI"/>
                <a:cs typeface="Segoe UI"/>
              </a:rPr>
              <a:t>Thời gian, kinh phí,</a:t>
            </a:r>
          </a:p>
          <a:p>
            <a:pPr marL="0" indent="0" algn="l">
              <a:lnSpc>
                <a:spcPct val="104000"/>
              </a:lnSpc>
              <a:spcBef>
                <a:spcPts val="400"/>
              </a:spcBef>
              <a:buNone/>
            </a:pPr>
            <a:r>
              <a:rPr lang="en-US" sz="1450" dirty="0">
                <a:solidFill>
                  <a:srgbClr val="000000"/>
                </a:solidFill>
                <a:latin typeface="Segoe UI"/>
                <a:cs typeface="Segoe UI"/>
              </a:rPr>
              <a:t>kỹ năng, dữ liệu</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Thú vị</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Với bạn, nhóm</a:t>
            </a:r>
          </a:p>
          <a:p>
            <a:pPr marL="0" indent="0" algn="l">
              <a:lnSpc>
                <a:spcPct val="104000"/>
              </a:lnSpc>
              <a:spcBef>
                <a:spcPts val="400"/>
              </a:spcBef>
              <a:buNone/>
            </a:pPr>
            <a:r>
              <a:rPr lang="en-US" sz="1450" dirty="0">
                <a:solidFill>
                  <a:srgbClr val="000000"/>
                </a:solidFill>
                <a:latin typeface="Segoe UI"/>
                <a:cs typeface="Segoe UI"/>
              </a:rPr>
              <a:t>và người đọc</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Mới</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Khẳng định, bác bỏ</a:t>
            </a:r>
          </a:p>
          <a:p>
            <a:pPr marL="0" indent="0" algn="l">
              <a:lnSpc>
                <a:spcPct val="104000"/>
              </a:lnSpc>
              <a:spcBef>
                <a:spcPts val="400"/>
              </a:spcBef>
              <a:buNone/>
            </a:pPr>
            <a:r>
              <a:rPr lang="en-US" sz="1450" dirty="0">
                <a:solidFill>
                  <a:srgbClr val="000000"/>
                </a:solidFill>
                <a:latin typeface="Segoe UI"/>
                <a:cs typeface="Segoe UI"/>
              </a:rPr>
              <a:t>hoặc mở rộng</a:t>
            </a:r>
          </a:p>
          <a:p>
            <a:pPr marL="0" indent="0" algn="l">
              <a:lnSpc>
                <a:spcPct val="104000"/>
              </a:lnSpc>
              <a:spcBef>
                <a:spcPts val="400"/>
              </a:spcBef>
              <a:buNone/>
            </a:pPr>
            <a:r>
              <a:rPr lang="en-US" sz="1450" dirty="0">
                <a:solidFill>
                  <a:srgbClr val="000000"/>
                </a:solidFill>
                <a:latin typeface="Segoe UI"/>
                <a:cs typeface="Segoe UI"/>
              </a:rPr>
              <a:t>điều đã biết</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Đạo đức</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Hội đồng đạo đức</a:t>
            </a:r>
          </a:p>
          <a:p>
            <a:pPr marL="0" indent="0" algn="l">
              <a:lnSpc>
                <a:spcPct val="104000"/>
              </a:lnSpc>
              <a:spcBef>
                <a:spcPts val="400"/>
              </a:spcBef>
              <a:buNone/>
            </a:pPr>
            <a:r>
              <a:rPr lang="en-US" sz="1450" dirty="0">
                <a:solidFill>
                  <a:srgbClr val="000000"/>
                </a:solidFill>
                <a:latin typeface="Segoe UI"/>
                <a:cs typeface="Segoe UI"/>
              </a:rPr>
              <a:t>có thể phê duyệt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Phù hợp</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Có thể thay đổi</a:t>
            </a:r>
          </a:p>
          <a:p>
            <a:pPr marL="0" indent="0" algn="l">
              <a:lnSpc>
                <a:spcPct val="104000"/>
              </a:lnSpc>
              <a:spcBef>
                <a:spcPts val="400"/>
              </a:spcBef>
              <a:buNone/>
            </a:pPr>
            <a:r>
              <a:rPr lang="en-US" sz="1450" dirty="0">
                <a:solidFill>
                  <a:srgbClr val="000000"/>
                </a:solidFill>
                <a:latin typeface="Segoe UI"/>
                <a:cs typeface="Segoe UI"/>
              </a:rPr>
              <a:t>thực hành, chính sách</a:t>
            </a:r>
          </a:p>
          <a:p>
            <a:pPr marL="0" indent="0" algn="l">
              <a:lnSpc>
                <a:spcPct val="104000"/>
              </a:lnSpc>
              <a:spcBef>
                <a:spcPts val="400"/>
              </a:spcBef>
              <a:buNone/>
            </a:pPr>
            <a:r>
              <a:rPr lang="en-US" sz="1450" dirty="0">
                <a:solidFill>
                  <a:srgbClr val="000000"/>
                </a:solidFill>
                <a:latin typeface="Segoe UI"/>
                <a:cs typeface="Segoe UI"/>
              </a:rPr>
              <a:t>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quan trọng nhưng không khả thi với một khoa: cần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từ tình huống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Chọn MỘT tình huống trong Bài tập 1 của phiếu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Điền các ô PICO(T)</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câu hỏi thành một câu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Gắn đèn FINER nhanh (xanh / vàng / đỏ)</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H0 và H1 (hoặc giải thích vì sao không cần)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Tình huống</a:t>
            </a:r>
          </a:p>
          <a:p>
            <a:pPr marL="274320" indent="-274320" algn="l">
              <a:lnSpc>
                <a:spcPct val="104000"/>
              </a:lnSpc>
              <a:spcBef>
                <a:spcPts val="300"/>
              </a:spcBef>
              <a:buFont typeface="Arial"/>
              <a:buChar char="•"/>
            </a:pPr>
            <a:r>
              <a:rPr lang="en-US" sz="1500" dirty="0">
                <a:solidFill>
                  <a:srgbClr val="000000"/>
                </a:solidFill>
                <a:latin typeface="Segoe UI"/>
                <a:cs typeface="Segoe UI"/>
              </a:rPr>
              <a:t>Viêm phổi liên quan thở máy</a:t>
            </a:r>
          </a:p>
          <a:p>
            <a:pPr marL="274320" indent="-274320" algn="l">
              <a:lnSpc>
                <a:spcPct val="104000"/>
              </a:lnSpc>
              <a:spcBef>
                <a:spcPts val="300"/>
              </a:spcBef>
              <a:buFont typeface="Arial"/>
              <a:buChar char="•"/>
            </a:pPr>
            <a:r>
              <a:rPr lang="en-US" sz="1500" dirty="0">
                <a:solidFill>
                  <a:srgbClr val="000000"/>
                </a:solidFill>
                <a:latin typeface="Segoe UI"/>
                <a:cs typeface="Segoe UI"/>
              </a:rPr>
              <a:t>Tổn thương do tì đè</a:t>
            </a:r>
          </a:p>
          <a:p>
            <a:pPr marL="274320" indent="-274320" algn="l">
              <a:lnSpc>
                <a:spcPct val="104000"/>
              </a:lnSpc>
              <a:spcBef>
                <a:spcPts val="300"/>
              </a:spcBef>
              <a:buFont typeface="Arial"/>
              <a:buChar char="•"/>
            </a:pPr>
            <a:r>
              <a:rPr lang="en-US" sz="1500" dirty="0">
                <a:solidFill>
                  <a:srgbClr val="000000"/>
                </a:solidFill>
                <a:latin typeface="Segoe UI"/>
                <a:cs typeface="Segoe UI"/>
              </a:rPr>
              <a:t>Mê sảng</a:t>
            </a:r>
          </a:p>
          <a:p>
            <a:pPr marL="274320" indent="-274320" algn="l">
              <a:lnSpc>
                <a:spcPct val="104000"/>
              </a:lnSpc>
              <a:spcBef>
                <a:spcPts val="300"/>
              </a:spcBef>
              <a:buFont typeface="Arial"/>
              <a:buChar char="•"/>
            </a:pPr>
            <a:r>
              <a:rPr lang="en-US" sz="1500" dirty="0">
                <a:solidFill>
                  <a:srgbClr val="000000"/>
                </a:solidFill>
                <a:latin typeface="Segoe UI"/>
                <a:cs typeface="Segoe UI"/>
              </a:rPr>
              <a:t>Đột quỵ: thời gian cửa - kim</a:t>
            </a:r>
          </a:p>
          <a:p>
            <a:pPr marL="274320" indent="-274320" algn="l">
              <a:lnSpc>
                <a:spcPct val="104000"/>
              </a:lnSpc>
              <a:spcBef>
                <a:spcPts val="300"/>
              </a:spcBef>
              <a:buFont typeface="Arial"/>
              <a:buChar char="•"/>
            </a:pPr>
            <a:r>
              <a:rPr lang="en-US" sz="1500" dirty="0">
                <a:solidFill>
                  <a:srgbClr val="000000"/>
                </a:solidFill>
                <a:latin typeface="Segoe UI"/>
                <a:cs typeface="Segoe UI"/>
              </a:rPr>
              <a:t>Sai sót dùng thuốc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PICO + đèn FINER + giả thuyết, sẵn sàng đọc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1.3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Câu hỏi cho biết ta muốn biết gì. Mục đích và mục tiêu cho biết ta sẽ làm gì.</a:t>
            </a:r>
          </a:p>
          <a:p>
            <a:pPr marL="0" indent="0" algn="ctr">
              <a:spcBef>
                <a:spcPts val="1200"/>
              </a:spcBef>
              <a:buNone/>
            </a:pPr>
            <a:r>
              <a:rPr lang="en-US" sz="1900" i="1" dirty="0">
                <a:solidFill>
                  <a:srgbClr val="595959"/>
                </a:solidFill>
                <a:latin typeface="Segoe UI"/>
                <a:cs typeface="Segoe UI"/>
              </a:rPr>
              <a:t>20 phút: mục đích, mục tiêu, giả thuyết không và giả thuyết đối -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mục đích, 2-3 mục tiêu đo được, một giả thuyết cho mỗi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không nói được sẽ đo bằng cách nào, đó chưa phải là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Ta kiểm định H0. Dữ liệu có thể bác bỏ hoặc chưa bác bỏ được - không bao giờ chứng minh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nhanh: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Dùng câu hỏi từ bài tập theo cặp (hoặc ví dụ mê sảng)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Viết MỘT mục đích: 'So sánh...' hoặc 'Mô tả...'</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Viết HAI mục tiêu với động từ đo được; đánh dấu mục tiêu chính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Viết H0 và H1 cho mục tiêu chính - hoặc 'mô tả: không cần giả thuyết'</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mọi động từ có đo được không?</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Động từ dùng được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ước tính</a:t>
            </a:r>
          </a:p>
          <a:p>
            <a:pPr marL="274320" indent="-274320" algn="l">
              <a:lnSpc>
                <a:spcPct val="104000"/>
              </a:lnSpc>
              <a:spcBef>
                <a:spcPts val="300"/>
              </a:spcBef>
              <a:buFont typeface="Arial"/>
              <a:buChar char="•"/>
            </a:pPr>
            <a:r>
              <a:rPr lang="en-US" sz="1500" dirty="0">
                <a:solidFill>
                  <a:srgbClr val="000000"/>
                </a:solidFill>
                <a:latin typeface="Segoe UI"/>
                <a:cs typeface="Segoe UI"/>
              </a:rPr>
              <a:t>mô tả</a:t>
            </a:r>
          </a:p>
          <a:p>
            <a:pPr marL="274320" indent="-274320" algn="l">
              <a:lnSpc>
                <a:spcPct val="104000"/>
              </a:lnSpc>
              <a:spcBef>
                <a:spcPts val="300"/>
              </a:spcBef>
              <a:buFont typeface="Arial"/>
              <a:buChar char="•"/>
            </a:pPr>
            <a:r>
              <a:rPr lang="en-US" sz="1500" dirty="0">
                <a:solidFill>
                  <a:srgbClr val="000000"/>
                </a:solidFill>
                <a:latin typeface="Segoe UI"/>
                <a:cs typeface="Segoe UI"/>
              </a:rPr>
              <a:t>xác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Bài tập 3 trong phiếu - đáp án mẫu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mẫu: ví dụ mê sảng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đích</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gói chăm sóc</a:t>
            </a:r>
          </a:p>
          <a:p>
            <a:pPr marL="0" indent="0" algn="l">
              <a:lnSpc>
                <a:spcPct val="104000"/>
              </a:lnSpc>
              <a:spcBef>
                <a:spcPts val="400"/>
              </a:spcBef>
              <a:buNone/>
            </a:pPr>
            <a:r>
              <a:rPr lang="en-US" sz="1750" dirty="0">
                <a:solidFill>
                  <a:srgbClr val="000000"/>
                </a:solidFill>
                <a:latin typeface="Segoe UI"/>
                <a:cs typeface="Segoe UI"/>
              </a:rPr>
              <a:t>không dùng thuốc với</a:t>
            </a:r>
          </a:p>
          <a:p>
            <a:pPr marL="0" indent="0" algn="l">
              <a:lnSpc>
                <a:spcPct val="104000"/>
              </a:lnSpc>
              <a:spcBef>
                <a:spcPts val="400"/>
              </a:spcBef>
              <a:buNone/>
            </a:pPr>
            <a:r>
              <a:rPr lang="en-US" sz="1750" dirty="0">
                <a:solidFill>
                  <a:srgbClr val="000000"/>
                </a:solidFill>
                <a:latin typeface="Segoe UI"/>
                <a:cs typeface="Segoe UI"/>
              </a:rPr>
              <a:t>chăm sóc thường quy</a:t>
            </a:r>
          </a:p>
          <a:p>
            <a:pPr marL="0" indent="0" algn="l">
              <a:lnSpc>
                <a:spcPct val="104000"/>
              </a:lnSpc>
              <a:spcBef>
                <a:spcPts val="400"/>
              </a:spcBef>
              <a:buNone/>
            </a:pPr>
            <a:r>
              <a:rPr lang="en-US" sz="1750" dirty="0">
                <a:solidFill>
                  <a:srgbClr val="000000"/>
                </a:solidFill>
                <a:latin typeface="Segoe UI"/>
                <a:cs typeface="Segoe UI"/>
              </a:rPr>
              <a:t>sau mổ gãy cổ xương đùi</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tiêu</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(Chính) So sánh</a:t>
            </a:r>
          </a:p>
          <a:p>
            <a:pPr marL="0" indent="0" algn="l">
              <a:lnSpc>
                <a:spcPct val="104000"/>
              </a:lnSpc>
              <a:spcBef>
                <a:spcPts val="400"/>
              </a:spcBef>
              <a:buNone/>
            </a:pPr>
            <a:r>
              <a:rPr lang="en-US" sz="1750" dirty="0">
                <a:solidFill>
                  <a:srgbClr val="000000"/>
                </a:solidFill>
                <a:latin typeface="Segoe UI"/>
                <a:cs typeface="Segoe UI"/>
              </a:rPr>
              <a:t>mê sảng trong 7 ngày</a:t>
            </a:r>
          </a:p>
          <a:p>
            <a:pPr marL="0" indent="0" algn="l">
              <a:lnSpc>
                <a:spcPct val="104000"/>
              </a:lnSpc>
              <a:spcBef>
                <a:spcPts val="400"/>
              </a:spcBef>
              <a:buNone/>
            </a:pPr>
            <a:r>
              <a:rPr lang="en-US" sz="1750" dirty="0">
                <a:solidFill>
                  <a:srgbClr val="000000"/>
                </a:solidFill>
                <a:latin typeface="Segoe UI"/>
                <a:cs typeface="Segoe UI"/>
              </a:rPr>
              <a:t>2. So sánh thời gian</a:t>
            </a:r>
          </a:p>
          <a:p>
            <a:pPr marL="0" indent="0" algn="l">
              <a:lnSpc>
                <a:spcPct val="104000"/>
              </a:lnSpc>
              <a:spcBef>
                <a:spcPts val="400"/>
              </a:spcBef>
              <a:buNone/>
            </a:pPr>
            <a:r>
              <a:rPr lang="en-US" sz="1750" dirty="0">
                <a:solidFill>
                  <a:srgbClr val="000000"/>
                </a:solidFill>
                <a:latin typeface="Segoe UI"/>
                <a:cs typeface="Segoe UI"/>
              </a:rPr>
              <a:t>nằm viện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Giả thuyết</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H0: tỷ lệ mê sảng</a:t>
            </a:r>
          </a:p>
          <a:p>
            <a:pPr marL="0" indent="0" algn="l">
              <a:lnSpc>
                <a:spcPct val="104000"/>
              </a:lnSpc>
              <a:spcBef>
                <a:spcPts val="400"/>
              </a:spcBef>
              <a:buNone/>
            </a:pPr>
            <a:r>
              <a:rPr lang="en-US" sz="1750" dirty="0">
                <a:solidFill>
                  <a:srgbClr val="000000"/>
                </a:solidFill>
                <a:latin typeface="Segoe UI"/>
                <a:cs typeface="Segoe UI"/>
              </a:rPr>
              <a:t>như nhau ở hai nhóm</a:t>
            </a:r>
          </a:p>
          <a:p>
            <a:pPr marL="0" indent="0" algn="l">
              <a:lnSpc>
                <a:spcPct val="104000"/>
              </a:lnSpc>
              <a:spcBef>
                <a:spcPts val="400"/>
              </a:spcBef>
              <a:buNone/>
            </a:pPr>
            <a:r>
              <a:rPr lang="en-US" sz="1750" dirty="0">
                <a:solidFill>
                  <a:srgbClr val="000000"/>
                </a:solidFill>
                <a:latin typeface="Segoe UI"/>
                <a:cs typeface="Segoe UI"/>
              </a:rPr>
              <a:t>H1: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Mục đích,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Đến lượt nhóm bạn: một chủ đề, một câu hỏi, một mục đích.</a:t>
            </a:r>
          </a:p>
          <a:p>
            <a:pPr marL="0" indent="0" algn="ctr">
              <a:spcBef>
                <a:spcPts val="1200"/>
              </a:spcBef>
              <a:buNone/>
            </a:pPr>
            <a:r>
              <a:rPr lang="en-US" sz="1900" i="1" dirty="0">
                <a:solidFill>
                  <a:srgbClr val="595959"/>
                </a:solidFill>
                <a:latin typeface="Segoe UI"/>
                <a:cs typeface="Segoe UI"/>
              </a:rPr>
              <a:t>30 phút làm việc nhóm - khởi đầu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 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28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Chọn MỘT vấn đề của khoa (liệt kê 3 ý, bỏ phiếu, chọn một)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Điền bảng PICO(T) và viết câu hỏi trong một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Đèn FINER cho từng chữ cái; viết lại nếu có đèn đỏ</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Nghiên cứu, audit hay QI? Ghi con đường phê duyệt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Mục đích + 2-3 mục tiêu (đánh dấu mục tiêu chính) + H0/H1</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câu hỏi</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0-7 phút: chọn chủ đề</a:t>
            </a:r>
          </a:p>
          <a:p>
            <a:pPr marL="0" indent="0" algn="l">
              <a:lnSpc>
                <a:spcPct val="104000"/>
              </a:lnSpc>
              <a:spcBef>
                <a:spcPts val="300"/>
              </a:spcBef>
              <a:buNone/>
            </a:pPr>
            <a:r>
              <a:rPr lang="en-US" sz="1500" dirty="0">
                <a:solidFill>
                  <a:srgbClr val="000000"/>
                </a:solidFill>
                <a:latin typeface="Segoe UI"/>
                <a:cs typeface="Segoe UI"/>
              </a:rPr>
              <a:t>7-14: PICO + câu hỏi</a:t>
            </a:r>
          </a:p>
          <a:p>
            <a:pPr marL="0" indent="0" algn="l">
              <a:lnSpc>
                <a:spcPct val="104000"/>
              </a:lnSpc>
              <a:spcBef>
                <a:spcPts val="300"/>
              </a:spcBef>
              <a:buNone/>
            </a:pPr>
            <a:r>
              <a:rPr lang="en-US" sz="1500" dirty="0">
                <a:solidFill>
                  <a:srgbClr val="000000"/>
                </a:solidFill>
                <a:latin typeface="Segoe UI"/>
                <a:cs typeface="Segoe UI"/>
              </a:rPr>
              <a:t>14-19: FINER + viết lại</a:t>
            </a:r>
          </a:p>
          <a:p>
            <a:pPr marL="0" indent="0" algn="l">
              <a:lnSpc>
                <a:spcPct val="104000"/>
              </a:lnSpc>
              <a:spcBef>
                <a:spcPts val="300"/>
              </a:spcBef>
              <a:buNone/>
            </a:pPr>
            <a:r>
              <a:rPr lang="en-US" sz="1500" dirty="0">
                <a:solidFill>
                  <a:srgbClr val="000000"/>
                </a:solidFill>
                <a:latin typeface="Segoe UI"/>
                <a:cs typeface="Segoe UI"/>
              </a:rPr>
              <a:t>19-25: mục đích, mục tiêu, H0/H1</a:t>
            </a:r>
          </a:p>
          <a:p>
            <a:pPr marL="0" indent="0" algn="l">
              <a:lnSpc>
                <a:spcPct val="104000"/>
              </a:lnSpc>
              <a:spcBef>
                <a:spcPts val="300"/>
              </a:spcBef>
              <a:buNone/>
            </a:pPr>
            <a:r>
              <a:rPr lang="en-US" sz="1500" dirty="0">
                <a:solidFill>
                  <a:srgbClr val="000000"/>
                </a:solidFill>
                <a:latin typeface="Segoe UI"/>
                <a:cs typeface="Segoe UI"/>
              </a:rPr>
              <a:t>25-28: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Bắt đầu Đề cương Phần 1: PICO, câu hỏi, FINER, mục đích,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Tháp bằng chứng</a:t>
                      </a:r>
                    </a:p>
                  </a:txBody>
                  <a:tcPr marL="73152" marR="73152" marT="36576" marB="36576" anchor="ctr">
                    <a:solidFill>
                      <a:srgbClr val="FFFFFF"/>
                    </a:solidFill>
                  </a:tcPr>
                </a:tc>
                <a:tc>
                  <a:txBody>
                    <a:bodyPr/>
                    <a:lstStyle/>
                    <a:p>
                      <a:pPr algn="l"/>
                      <a:r>
                        <a:rPr lang="en-US" sz="1500" b="0" dirty="0">
                          <a:solidFill>
                            <a:srgbClr val="000000"/>
                          </a:solidFill>
                          <a:latin typeface="Segoe UI"/>
                        </a:rPr>
                        <a:t>Xếp hạng thiết kế theo mức chống sai lệch</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Nghiên cứu / audit / QI</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gì tốt nhất? / Ta có làm không? / Làm sao tốt hơn?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PICO(T) / PECO</a:t>
                      </a:r>
                    </a:p>
                  </a:txBody>
                  <a:tcPr marL="73152" marR="73152" marT="36576" marB="36576" anchor="ctr">
                    <a:solidFill>
                      <a:srgbClr val="FFFFFF"/>
                    </a:solidFill>
                  </a:tcPr>
                </a:tc>
                <a:tc>
                  <a:txBody>
                    <a:bodyPr/>
                    <a:lstStyle/>
                    <a:p>
                      <a:pPr algn="l"/>
                      <a:r>
                        <a:rPr lang="en-US" sz="1500" b="0" dirty="0">
                          <a:solidFill>
                            <a:srgbClr val="000000"/>
                          </a:solidFill>
                          <a:latin typeface="Segoe UI"/>
                        </a:rPr>
                        <a:t>Đối tượng, Can thiệp (hoặc Phơi nhiễm), So sánh, Kết cục, Thời gian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FINER</a:t>
                      </a:r>
                    </a:p>
                  </a:txBody>
                  <a:tcPr marL="73152" marR="73152" marT="36576" marB="36576" anchor="ctr">
                    <a:solidFill>
                      <a:srgbClr val="FFFFFF"/>
                    </a:solidFill>
                  </a:tcPr>
                </a:tc>
                <a:tc>
                  <a:txBody>
                    <a:bodyPr/>
                    <a:lstStyle/>
                    <a:p>
                      <a:pPr algn="l"/>
                      <a:r>
                        <a:rPr lang="en-US" sz="1500" b="0" dirty="0">
                          <a:solidFill>
                            <a:srgbClr val="000000"/>
                          </a:solidFill>
                          <a:latin typeface="Segoe UI"/>
                        </a:rPr>
                        <a:t>Khả thi, Thú vị, Mới, Đạo đức, Phù hợp</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Mục đích / mục tiêu</a:t>
                      </a:r>
                    </a:p>
                  </a:txBody>
                  <a:tcPr marL="73152" marR="73152" marT="36576" marB="36576" anchor="ctr">
                    <a:solidFill>
                      <a:srgbClr val="FFFFFF"/>
                    </a:solidFill>
                  </a:tcPr>
                </a:tc>
                <a:tc>
                  <a:txBody>
                    <a:bodyPr/>
                    <a:lstStyle/>
                    <a:p>
                      <a:pPr algn="l"/>
                      <a:r>
                        <a:rPr lang="en-US" sz="1500" b="0" dirty="0">
                          <a:solidFill>
                            <a:srgbClr val="000000"/>
                          </a:solidFill>
                          <a:latin typeface="Segoe UI"/>
                        </a:rPr>
                        <a:t>Lý do chung / việc cụ thể, đo được</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H0 / H1</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khác biệt / có khác biệt - ta kiểm định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Vì sao nghiên cứu</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Kinh nghiệm đặt câu hỏi;</a:t>
            </a:r>
          </a:p>
          <a:p>
            <a:pPr marL="0" indent="0" algn="l">
              <a:lnSpc>
                <a:spcPct val="104000"/>
              </a:lnSpc>
              <a:spcBef>
                <a:spcPts val="400"/>
              </a:spcBef>
              <a:buNone/>
            </a:pPr>
            <a:r>
              <a:rPr lang="en-US" sz="1750" dirty="0">
                <a:solidFill>
                  <a:srgbClr val="000000"/>
                </a:solidFill>
                <a:latin typeface="Segoe UI"/>
                <a:cs typeface="Segoe UI"/>
              </a:rPr>
              <a:t>so sánh công bằng</a:t>
            </a:r>
          </a:p>
          <a:p>
            <a:pPr marL="0" indent="0" algn="l">
              <a:lnSpc>
                <a:spcPct val="104000"/>
              </a:lnSpc>
              <a:spcBef>
                <a:spcPts val="400"/>
              </a:spcBef>
              <a:buNone/>
            </a:pPr>
            <a:r>
              <a:rPr lang="en-US" sz="1750" dirty="0">
                <a:solidFill>
                  <a:srgbClr val="000000"/>
                </a:solidFill>
                <a:latin typeface="Segoe UI"/>
                <a:cs typeface="Segoe UI"/>
              </a:rPr>
              <a:t>trên đủ bệnh nhân trả lời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Hỏi chính xác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Câu hỏi PICO(T),</a:t>
            </a:r>
          </a:p>
          <a:p>
            <a:pPr marL="0" indent="0" algn="l">
              <a:lnSpc>
                <a:spcPct val="104000"/>
              </a:lnSpc>
              <a:spcBef>
                <a:spcPts val="400"/>
              </a:spcBef>
              <a:buNone/>
            </a:pPr>
            <a:r>
              <a:rPr lang="en-US" sz="1750" dirty="0">
                <a:solidFill>
                  <a:srgbClr val="000000"/>
                </a:solidFill>
                <a:latin typeface="Segoe UI"/>
                <a:cs typeface="Segoe UI"/>
              </a:rPr>
              <a:t>một kết cục chính,</a:t>
            </a:r>
          </a:p>
          <a:p>
            <a:pPr marL="0" indent="0" algn="l">
              <a:lnSpc>
                <a:spcPct val="104000"/>
              </a:lnSpc>
              <a:spcBef>
                <a:spcPts val="400"/>
              </a:spcBef>
              <a:buNone/>
            </a:pPr>
            <a:r>
              <a:rPr lang="en-US" sz="1750" dirty="0">
                <a:solidFill>
                  <a:srgbClr val="000000"/>
                </a:solidFill>
                <a:latin typeface="Segoe UI"/>
                <a:cs typeface="Segoe UI"/>
              </a:rPr>
              <a:t>FINER trước khi bắt đầu</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mục đích, 2-3</a:t>
            </a:r>
          </a:p>
          <a:p>
            <a:pPr marL="0" indent="0" algn="l">
              <a:lnSpc>
                <a:spcPct val="104000"/>
              </a:lnSpc>
              <a:spcBef>
                <a:spcPts val="400"/>
              </a:spcBef>
              <a:buNone/>
            </a:pPr>
            <a:r>
              <a:rPr lang="en-US" sz="1750" dirty="0">
                <a:solidFill>
                  <a:srgbClr val="000000"/>
                </a:solidFill>
                <a:latin typeface="Segoe UI"/>
                <a:cs typeface="Segoe UI"/>
              </a:rPr>
              <a:t>mục tiêu đo được,</a:t>
            </a:r>
          </a:p>
          <a:p>
            <a:pPr marL="0" indent="0" algn="l">
              <a:lnSpc>
                <a:spcPct val="104000"/>
              </a:lnSpc>
              <a:spcBef>
                <a:spcPts val="400"/>
              </a:spcBef>
              <a:buNone/>
            </a:pPr>
            <a:r>
              <a:rPr lang="en-US" sz="1750" dirty="0">
                <a:solidFill>
                  <a:srgbClr val="000000"/>
                </a:solidFill>
                <a:latin typeface="Segoe UI"/>
                <a:cs typeface="Segoe UI"/>
              </a:rPr>
              <a:t>H0/H1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Ví dụ xuyên suốt trượt tiêu chí FINER nào, và vì sao?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Viết lại thành mục tiêu: 'Tìm hiểu về tổn thương do tì đè ở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PICO, câu hỏi, mục đích và mục tiêu nếu chưa xong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Mọi người: với mỗi từ PICO, viết 2-3 từ đồng nghĩa tiếng Anh (Bài tập 5)</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nghĩ một con số tại khoa cho thấy vấn đề (audit, số ca)</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Không bắt buộc: cài Zotero (miễn phí, zotero.org) lên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thứ Bảy tuần sau</a:t>
            </a:r>
          </a:p>
          <a:p>
            <a:pPr marL="274320" indent="-274320" algn="l">
              <a:lnSpc>
                <a:spcPct val="104000"/>
              </a:lnSpc>
              <a:spcBef>
                <a:spcPts val="300"/>
              </a:spcBef>
              <a:buFont typeface="Arial"/>
              <a:buChar char="•"/>
            </a:pPr>
            <a:r>
              <a:rPr lang="en-US" sz="1500" dirty="0">
                <a:solidFill>
                  <a:srgbClr val="000000"/>
                </a:solidFill>
                <a:latin typeface="Segoe UI"/>
                <a:cs typeface="Segoe UI"/>
              </a:rPr>
              <a:t>Câu hỏi PICO của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Danh sách từ đồng nghĩa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nhóm một laptop hoặc điện thoại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Câu hỏi PICO sẵn sàng cho buổi tìm kiếm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1</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Chẩn đoán</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người được xét nghiệm</a:t>
            </a:r>
          </a:p>
          <a:p>
            <a:pPr marL="0" indent="0" algn="l">
              <a:lnSpc>
                <a:spcPct val="104000"/>
              </a:lnSpc>
              <a:spcBef>
                <a:spcPts val="400"/>
              </a:spcBef>
              <a:buNone/>
            </a:pPr>
            <a:r>
              <a:rPr lang="en-US" sz="1750" dirty="0">
                <a:solidFill>
                  <a:srgbClr val="000000"/>
                </a:solidFill>
                <a:latin typeface="Segoe UI"/>
                <a:cs typeface="Segoe UI"/>
              </a:rPr>
              <a:t>I: xét nghiệm mới</a:t>
            </a:r>
          </a:p>
          <a:p>
            <a:pPr marL="0" indent="0" algn="l">
              <a:lnSpc>
                <a:spcPct val="104000"/>
              </a:lnSpc>
              <a:spcBef>
                <a:spcPts val="400"/>
              </a:spcBef>
              <a:buNone/>
            </a:pPr>
            <a:r>
              <a:rPr lang="en-US" sz="1750" dirty="0">
                <a:solidFill>
                  <a:srgbClr val="000000"/>
                </a:solidFill>
                <a:latin typeface="Segoe UI"/>
                <a:cs typeface="Segoe UI"/>
              </a:rPr>
              <a:t>C: tiêu chuẩn tham chiếu</a:t>
            </a:r>
          </a:p>
          <a:p>
            <a:pPr marL="0" indent="0" algn="l">
              <a:lnSpc>
                <a:spcPct val="104000"/>
              </a:lnSpc>
              <a:spcBef>
                <a:spcPts val="400"/>
              </a:spcBef>
              <a:buNone/>
            </a:pPr>
            <a:r>
              <a:rPr lang="en-US" sz="1750" dirty="0">
                <a:solidFill>
                  <a:srgbClr val="000000"/>
                </a:solidFill>
                <a:latin typeface="Segoe UI"/>
                <a:cs typeface="Segoe UI"/>
              </a:rPr>
              <a:t>O: độ chính xác</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Tiên lượng</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bệnh nhân mắc X</a:t>
            </a:r>
          </a:p>
          <a:p>
            <a:pPr marL="0" indent="0" algn="l">
              <a:lnSpc>
                <a:spcPct val="104000"/>
              </a:lnSpc>
              <a:spcBef>
                <a:spcPts val="400"/>
              </a:spcBef>
              <a:buNone/>
            </a:pPr>
            <a:r>
              <a:rPr lang="en-US" sz="1750" dirty="0">
                <a:solidFill>
                  <a:srgbClr val="000000"/>
                </a:solidFill>
                <a:latin typeface="Segoe UI"/>
                <a:cs typeface="Segoe UI"/>
              </a:rPr>
              <a:t>E: yếu tố nguy cơ</a:t>
            </a:r>
          </a:p>
          <a:p>
            <a:pPr marL="0" indent="0" algn="l">
              <a:lnSpc>
                <a:spcPct val="104000"/>
              </a:lnSpc>
              <a:spcBef>
                <a:spcPts val="400"/>
              </a:spcBef>
              <a:buNone/>
            </a:pPr>
            <a:r>
              <a:rPr lang="en-US" sz="1750" dirty="0">
                <a:solidFill>
                  <a:srgbClr val="000000"/>
                </a:solidFill>
                <a:latin typeface="Segoe UI"/>
                <a:cs typeface="Segoe UI"/>
              </a:rPr>
              <a:t>O: điều xảy ra</a:t>
            </a:r>
          </a:p>
          <a:p>
            <a:pPr marL="0" indent="0" algn="l">
              <a:lnSpc>
                <a:spcPct val="104000"/>
              </a:lnSpc>
              <a:spcBef>
                <a:spcPts val="400"/>
              </a:spcBef>
              <a:buNone/>
            </a:pPr>
            <a:r>
              <a:rPr lang="en-US" sz="1750" dirty="0">
                <a:solidFill>
                  <a:srgbClr val="000000"/>
                </a:solidFill>
                <a:latin typeface="Segoe UI"/>
                <a:cs typeface="Segoe UI"/>
              </a:rPr>
              <a:t>T: đến khi nào</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Định tính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Mẫu, Hiện tượng</a:t>
            </a:r>
          </a:p>
          <a:p>
            <a:pPr marL="0" indent="0" algn="l">
              <a:lnSpc>
                <a:spcPct val="104000"/>
              </a:lnSpc>
              <a:spcBef>
                <a:spcPts val="400"/>
              </a:spcBef>
              <a:buNone/>
            </a:pPr>
            <a:r>
              <a:rPr lang="en-US" sz="1750" dirty="0">
                <a:solidFill>
                  <a:srgbClr val="000000"/>
                </a:solidFill>
                <a:latin typeface="Segoe UI"/>
                <a:cs typeface="Segoe UI"/>
              </a:rPr>
              <a:t>quan tâm, Thiết kế,</a:t>
            </a:r>
          </a:p>
          <a:p>
            <a:pPr marL="0" indent="0" algn="l">
              <a:lnSpc>
                <a:spcPct val="104000"/>
              </a:lnSpc>
              <a:spcBef>
                <a:spcPts val="400"/>
              </a:spcBef>
              <a:buNone/>
            </a:pPr>
            <a:r>
              <a:rPr lang="en-US" sz="1750" dirty="0">
                <a:solidFill>
                  <a:srgbClr val="000000"/>
                </a:solidFill>
                <a:latin typeface="Segoe UI"/>
                <a:cs typeface="Segoe UI"/>
              </a:rPr>
              <a:t>Đánh giá,</a:t>
            </a:r>
          </a:p>
          <a:p>
            <a:pPr marL="0" indent="0" algn="l">
              <a:lnSpc>
                <a:spcPct val="104000"/>
              </a:lnSpc>
              <a:spcBef>
                <a:spcPts val="400"/>
              </a:spcBef>
              <a:buNone/>
            </a:pPr>
            <a:r>
              <a:rPr lang="en-US" sz="1750" dirty="0">
                <a:solidFill>
                  <a:srgbClr val="000000"/>
                </a:solidFill>
                <a:latin typeface="Segoe UI"/>
                <a:cs typeface="Segoe UI"/>
              </a:rPr>
              <a:t>Loại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Chữ cái thay đổi; nguyên tắc - nói rõ ràng - vẫn giữ nguyên.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H1 một phía hay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Hai phía (thường dùng)</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khác nhau'</a:t>
            </a:r>
          </a:p>
          <a:p>
            <a:pPr marL="0" indent="0" algn="l">
              <a:lnSpc>
                <a:spcPct val="104000"/>
              </a:lnSpc>
              <a:spcBef>
                <a:spcPts val="400"/>
              </a:spcBef>
              <a:buNone/>
            </a:pPr>
            <a:r>
              <a:rPr lang="en-US" sz="1750" dirty="0">
                <a:solidFill>
                  <a:srgbClr val="000000"/>
                </a:solidFill>
                <a:latin typeface="Segoe UI"/>
                <a:cs typeface="Segoe UI"/>
              </a:rPr>
              <a:t>Cho phép có lợi</a:t>
            </a:r>
          </a:p>
          <a:p>
            <a:pPr marL="0" indent="0" algn="l">
              <a:lnSpc>
                <a:spcPct val="104000"/>
              </a:lnSpc>
              <a:spcBef>
                <a:spcPts val="400"/>
              </a:spcBef>
              <a:buNone/>
            </a:pPr>
            <a:r>
              <a:rPr lang="en-US" sz="1750" dirty="0">
                <a:solidFill>
                  <a:srgbClr val="000000"/>
                </a:solidFill>
                <a:latin typeface="Segoe UI"/>
                <a:cs typeface="Segoe UI"/>
              </a:rPr>
              <a:t>HOẶC có hại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Một phía (hiếm)</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thấp hơn'</a:t>
            </a:r>
          </a:p>
          <a:p>
            <a:pPr marL="0" indent="0" algn="l">
              <a:lnSpc>
                <a:spcPct val="104000"/>
              </a:lnSpc>
              <a:spcBef>
                <a:spcPts val="400"/>
              </a:spcBef>
              <a:buNone/>
            </a:pPr>
            <a:r>
              <a:rPr lang="en-US" sz="1750" dirty="0">
                <a:solidFill>
                  <a:srgbClr val="000000"/>
                </a:solidFill>
                <a:latin typeface="Segoe UI"/>
                <a:cs typeface="Segoe UI"/>
              </a:rPr>
              <a:t>Bỏ qua khả năng có hại</a:t>
            </a:r>
          </a:p>
          <a:p>
            <a:pPr marL="0" indent="0" algn="l">
              <a:lnSpc>
                <a:spcPct val="104000"/>
              </a:lnSpc>
              <a:spcBef>
                <a:spcPts val="400"/>
              </a:spcBef>
              <a:buNone/>
            </a:pPr>
            <a:r>
              <a:rPr lang="en-US" sz="1750" dirty="0">
                <a:solidFill>
                  <a:srgbClr val="000000"/>
                </a:solidFill>
                <a:latin typeface="Segoe UI"/>
                <a:cs typeface="Segoe UI"/>
              </a:rPr>
              <a:t>Cần lý do mạnh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kém hơn quá</a:t>
            </a:r>
          </a:p>
          <a:p>
            <a:pPr marL="0" indent="0" algn="l">
              <a:lnSpc>
                <a:spcPct val="104000"/>
              </a:lnSpc>
              <a:spcBef>
                <a:spcPts val="400"/>
              </a:spcBef>
              <a:buNone/>
            </a:pPr>
            <a:r>
              <a:rPr lang="en-US" sz="1750" dirty="0">
                <a:solidFill>
                  <a:srgbClr val="000000"/>
                </a:solidFill>
                <a:latin typeface="Segoe UI"/>
                <a:cs typeface="Segoe UI"/>
              </a:rPr>
              <a:t>một ngưỡng định trước'</a:t>
            </a:r>
          </a:p>
          <a:p>
            <a:pPr marL="0" indent="0" algn="l">
              <a:lnSpc>
                <a:spcPct val="104000"/>
              </a:lnSpc>
              <a:spcBef>
                <a:spcPts val="400"/>
              </a:spcBef>
              <a:buNone/>
            </a:pPr>
            <a:r>
              <a:rPr lang="en-US" sz="1750" dirty="0">
                <a:solidFill>
                  <a:srgbClr val="000000"/>
                </a:solidFill>
                <a:latin typeface="Segoe UI"/>
                <a:cs typeface="Segoe UI"/>
              </a:rPr>
              <a:t>(Buổi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không chắc, hãy viết H1 hai phía.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Mọi người lớn nằm viện trong cả nước: vitamin D có giảm tử vong trong 10 năm?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Sốc nhiễm khuẩn: hoãn kháng sinh 24 giờ có giảm kháng thuốc?</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dưỡng ICU có rửa tay không? (đã audit hằng tháng suốt 5 năm)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chữ cái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Luyện trên khoa của bạn: lấy một câu hỏi hành lang và điền các ô PICO.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