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Mỗi giảng viên tự giới thiệu một câu.</a:t>
            </a:r>
          </a:p>
          <a:p>
            <a:r>
              <a:rPr lang="en-US" sz="1400" b="0" dirty="0"/>
              <a:t>Nhờ mọi người đổi tên hiển thị thành họ và tên đầy đủ, và tìm khung chat, chức năng bình chọn (poll) và nút 'giơ tay'.</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Tại sao cần nghiên cứu? Anh chị là bác sĩ hang ngày điều trị bệnh nhân. Mỗi quyết định của anh chị đều có thể ảnh hưởng đến người bệnh. Nhưng không phải lúc nào bằng chứng cũng có sẵn hoặc đủ mạnh để hỗ trợ các quyết định đấy. Và đó là những lúc những câu hỏi cần được giải quyết được đặt ra và đó là lúc chúng ta cần đến nghiên cứu. Và hi vọng sau khi nghiên cứu thì những quyết định mà anh chị đưa ra sẽ tốt hơn cho người bệnh. Và khóa học này sẽ giúp anh chị đạt được 3 mục tiêu chính, đó là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3 phút để gõ. Sau đó mời 4-5 người nói và chỉ ra các chủ đề chung (dịch truyền, an thần, nhiễm khuẩn, vận động sớm, an toàn dùng thuốc).</a:t>
            </a:r>
          </a:p>
          <a:p>
            <a:r>
              <a:rPr lang="en-US" sz="1400" b="0" dirty="0"/>
              <a:t>Các câu hỏi nằm sẵn trong chat để dùng ở phần Xây dựng đề cương 1.</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khối hai buổi, giữa hai buổi cách nhau một tuần.</a:t>
            </a:r>
          </a:p>
          <a:p>
            <a:r>
              <a:rPr lang="en-US" sz="1400" b="0" dirty="0"/>
              <a:t>Một ví dụ xuyên suốt: dịch truyền trong sốc nhiễm khuẩn và tử vong 28 ngày. Từ Buổi 5, ví dụ này tiếp tục trong nghiên cứu của khóa học, FLUID-ICU.</a:t>
            </a:r>
          </a:p>
          <a:p>
            <a:r>
              <a:rPr lang="en-US" sz="1400" b="0" dirty="0"/>
              <a:t>Yêu cầu nằm ở Proposal_Brief, gửi trước Buổi 1 cùng Presentation_Guide và Proposal_Rubric. Hướng dẫn viết bản thảo được chia sẻ ở Buổi 6.</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Cấp độ 1, giảng viên chạy phần mềm. Các bạn đọc và diễn giải kết quả.</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khoảng 5 bạn tình nguyện trình bày ở Buổi 8 (mỗi người 6 phút). Mọi người đều nộp đề cương và 6 slide qua email. Chi tiết: Proposal_Brief, gửi qua email trước Buổi 1.</a:t>
            </a:r>
          </a:p>
          <a:p>
            <a:r>
              <a:rPr lang="en-US" sz="1400" b="0" dirty="0"/>
              <a:t>Phần Kết quả: cuối Buổi 6, mỗi người chọn một câu hỏi FLUID-ICU (Q1 đến Q5) và viết phần Kết quả từ gói kết quả của câu đó. Sau Buổi 8, mỗi người phản biện bản thảo của một đồng nghiệp.</a:t>
            </a:r>
          </a:p>
          <a:p>
            <a:r>
              <a:rPr lang="en-US" sz="1400" b="0" dirty="0"/>
              <a:t>Viết bằng tiếng Anh. Có thể viết tiếng Việt nếu thật sự không viết được tiếng Anh.</a:t>
            </a:r>
          </a:p>
          <a:p>
            <a:r>
              <a:rPr lang="en-US" sz="1400" b="0" dirty="0"/>
              <a:t>Thời gian: 2 phút.</a:t>
            </a:r>
          </a:p>
          <a:p>
            <a:endParaRPr lang="en-US" sz="1400"/>
          </a:p>
          <a:p>
            <a:r>
              <a:rPr lang="en-US" sz="1400" b="0" dirty="0"/>
              <a:t>Show proposal brief that we sent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'Thẻ nào làm bạn lo nhất? Trả lời trong chat.' Thường là phân tích. Trấn an: lớp đi chậm và kiểm tra thường xuyên.</a:t>
            </a:r>
          </a:p>
          <a:p>
            <a:r>
              <a:rPr lang="en-US" sz="1400" b="0" dirty="0"/>
              <a:t>Thời gian: 1 phút.</a:t>
            </a:r>
          </a:p>
          <a:p>
            <a:endParaRPr lang="en-US" sz="1400"/>
          </a:p>
          <a:p>
            <a:r>
              <a:rPr lang="en-US" sz="1400" b="0" dirty="0"/>
              <a:t>Registration statistics: almost 50% have master’s degree so they more or less did research before. This course really goes to the basics, equip you with fundamental knowledge of doing research. Some concepts you might have known or heard, but still I think it’s valuable to re-visit them so that it helps you really master them. 30.4% of students want to write a scientific paper, and 26.1% wants to enhance their understanding of statistics (p-values, confidence interval)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nào cũng cùng một nhịp. Slide bổ sung ở cuối chỉ dùng khi còn thời gian.</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mỗi phần xây dựng đề cương, giảng viên điền trước phần đó cho ví dụ xuyên suốt trên màn hình. Sau đó mọi người viết cùng phần đó cho câu hỏi của mình.</a:t>
            </a:r>
          </a:p>
          <a:p>
            <a:r>
              <a:rPr lang="en-US" sz="1400" b="0" dirty="0"/>
              <a:t>Mẫu: Research_Proposal_Template_VN.docx (tiếng Việt) hoặc Research_Proposal_Template.docx (tiếng Anh), gửi qua email cùng hướng dẫn viết đề cương trước Buổi 1.</a:t>
            </a:r>
          </a:p>
          <a:p>
            <a:r>
              <a:rPr lang="en-US" sz="1400" b="0" dirty="0"/>
              <a:t>Thời gian: 1 phút.</a:t>
            </a:r>
          </a:p>
          <a:p>
            <a:endParaRPr lang="en-US" sz="1400"/>
          </a:p>
          <a:p>
            <a:r>
              <a:rPr lang="en-US" sz="1400" b="0" dirty="0"/>
              <a:t>Show them the research proposal template.</a:t>
            </a:r>
          </a:p>
          <a:p>
            <a:r>
              <a:rPr lang="en-US" sz="1400" b="0" dirty="0"/>
              <a:t>“Đây là 1 bản đề cương nghiên cứu được thiết kế rất hoành chỉnh. Nếu trước mỗi nghiên cứu anh chị đều làm 1 cái đề cương như thế này thì sẽ giúp đảm bảo chất lượng nghiên cứu của mình rất tốt”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thể nhắn riêng cho giảng viên. Chat bằng tiếng Việt hoặc tiếng Anh đều được.</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Question form in VNM - https://forms.gle/7U2tjio2qVatVJja7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lúc 20:05, ngay sau bài kiểm tra. Mục tiêu: mỗi người ra về với bản nháp câu hỏi, mục tiêu tổng quát và mục tiêu cụ thể.</a:t>
            </a:r>
          </a:p>
          <a:p>
            <a:r>
              <a:rPr lang="en-US" sz="1400" b="0" dirty="0"/>
              <a:t>Chỉ vào chương trình, không đọc to.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1.1: 20:05-20:40. Mời hai ba người trả lời. Thường gặp: mình nhớ những ca đáng nhớ, đồng nghiệp mỗi người một ý, thực hành thay đổi.</a:t>
            </a:r>
          </a:p>
          <a:p>
            <a:r>
              <a:rPr lang="en-US" sz="1400" b="0" dirty="0"/>
              <a:t>Ý chính: kinh nghiệm giúp nảy ra câu hỏi, nhưng không trả lời được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con số chỉ để minh họa. CLASSIC (NEJM 2022, 1554 người bệnh) thấy tử vong 90 ngày như nhau giữa hạn chế dịch và truyền dịch chuẩn (42.3% so với 42.1%).</a:t>
            </a:r>
          </a:p>
          <a:p>
            <a:r>
              <a:rPr lang="en-US" sz="1400" b="0" dirty="0"/>
              <a:t>Hỏi: 'Vì sao mình nhớ ba ca tốt?' Thường gặp: sai lệch nhớ lại (recall bias).</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Nguy cơ tử vong thật là 40%. Khoa có 5 người bệnh dao động từ 0% đến 80% do ngẫu nhiên. Nhóm 500 người tập trung quanh 40%.</a:t>
            </a:r>
          </a:p>
          <a:p>
            <a:r>
              <a:rPr lang="en-US" sz="1400" b="0" dirty="0"/>
              <a:t>Bình chọn: 'Một khoa có 0/5 tử vong sau quy trình mới. Quy trình có hiệu quả không?' Đáp án: chưa biết được.</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dưới lên. Thiết kế càng cao càng chống sai lệch tốt hơn với câu hỏi điều trị, nhưng thử nghiệm làm kém vẫn có thể sai.</a:t>
            </a:r>
          </a:p>
          <a:p>
            <a:r>
              <a:rPr lang="en-US" sz="1400" b="0" dirty="0"/>
              <a:t>Không dạy thiết kế ở đây (Buổi 3).</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B, C, D. C chính là thử nghiệm CLASSIC.</a:t>
            </a:r>
          </a:p>
          <a:p>
            <a:r>
              <a:rPr lang="en-US" sz="1400" b="0" dirty="0"/>
              <a:t>Điều gì làm C yếu hơn B? Quá nhỏ, mất nhiều người bệnh, hoặc người bệnh khác với người bệnh của mình.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1: thử nghiệm thí điểm (thử nghiệm nhỏ để xem có làm được thử nghiệm lớn không). Bài báo 2: thuần tập ghép cặp, giống lựa chọn B trong câu hỏi nhanh.</a:t>
            </a:r>
          </a:p>
          <a:p>
            <a:r>
              <a:rPr lang="en-US" sz="1400" b="0" dirty="0"/>
              <a:t>Chưa đọc bây giờ. Buổi 2 đọc phần tóm tắt của Bài báo 1.</a:t>
            </a:r>
          </a:p>
          <a:p>
            <a:r>
              <a:rPr lang="en-US" sz="1400" b="0" dirty="0"/>
              <a:t>Trước Buổi 1, gửi email hai tệp PDF gốc kèm phiếu bài tập Buổi 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ô một câu. Tuần 1-2 học ba ô màu xanh đậm.</a:t>
            </a:r>
          </a:p>
          <a:p>
            <a:r>
              <a:rPr lang="en-US" sz="1400" b="0" dirty="0"/>
              <a:t>Ý chính: thu thập số liệu đến sau câu hỏi, thiết kế và phê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nghiên cứu định tính có phương pháp chặt chẽ riêng.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hai ba người trả lời. Đáp án ở slide sau.</a:t>
            </a:r>
          </a:p>
          <a:p>
            <a:r>
              <a:rPr lang="en-US" sz="1400" b="0" dirty="0"/>
              <a:t>Nếu lớp lưỡng lự ở câu C: hồ sơ được ghi để chăm sóc người bệnh, nên dùng lại là nghiên cứu thứ cấp.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thứ cấp thường khả thi nhất với một khoa bận rộn, nếu hồ sơ được ghi tốt.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Trạm 1-6 là lên kế hoạch và thực hiện nghiên cứu. Trạm 7-11 là công bố.</a:t>
            </a:r>
          </a:p>
          <a:p>
            <a:r>
              <a:rPr lang="en-US" sz="1400" b="0" dirty="0"/>
              <a:t>Hỏi: 'Nghiên cứu ở bệnh viện hay bị kẹt ở trạm nào?' Thường gặp: thủ tục đạo đức, thu thập số liệu hoặc viết bài.</a:t>
            </a:r>
          </a:p>
          <a:p>
            <a:r>
              <a:rPr lang="en-US" sz="1400" b="0" dirty="0"/>
              <a:t>Thời gian: 3 phút + 3 phút hỏi đáp. Phần 1.1 kết thúc lúc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Gửi giờ bắt đầu lại và đường link phiếu bài tập Buổi 1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1.2: 20:55-21:35.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Nhắc lại các câu hỏi cả lớp đã gõ vào chat lúc đầu buổi.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chữ cái buộc mình phải quyết định.</a:t>
            </a:r>
          </a:p>
          <a:p>
            <a:r>
              <a:rPr lang="en-US" sz="1400" b="0" dirty="0"/>
              <a:t>Hỏi: 'Tử vong 28 ngày có phải kết cục hợp lý duy nhất?' Thường gặp: tử vong 90 ngày, tổn thương thận cần lọc máu, cân bằng dịch.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3 hỏi một điều phổ biến đến mức nào, nên chỉ cần P và O (và T).</a:t>
            </a:r>
          </a:p>
          <a:p>
            <a:r>
              <a:rPr lang="en-US" sz="1400" b="0" dirty="0"/>
              <a:t>Hỏi: 'Hãy đặt một câu hỏi PECO về dịch truyền.' Gợi ý: ở người lớn bị nhiễm khuẩn huyết, cân bằng dịch dương đến ngày 3, so với cân bằng trung tính hoặc âm, có liên quan với tử vong đến ngày 28 không? (Câu hỏi của Bài báo 2.)</a:t>
            </a:r>
          </a:p>
          <a:p>
            <a:r>
              <a:rPr lang="en-US" sz="1400" b="0" dirty="0"/>
              <a:t>Muốn học viên viết ba câu hỏi nghiên cứu: dùng slide dự phòng 'Bổ sung: ba ví dụ viết thành câu hỏi nghiên cứu' (phần slide bổ sung).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chậm câu hỏi. Cho 1 phút bình chọn. Đáp án: C. D là T, A thuộc P, B là I.</a:t>
            </a:r>
          </a:p>
          <a:p>
            <a:r>
              <a:rPr lang="en-US" sz="1400" b="0" dirty="0"/>
              <a:t>Chú ý nếu có người chọn 'sốc nhiễm khuẩn' là O: nó xác định ai đủ tiêu chuẩn.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cục của Bài báo 1 là cân bằng dịch, nên bài này không trả lời được câu hỏi tử vong.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Động từ cho biết loại câu hỏi: 'bao nhiêu', 'có liên quan với', 'có làm giảm'.</a:t>
            </a:r>
          </a:p>
          <a:p>
            <a:r>
              <a:rPr lang="en-US" sz="1400" b="0" dirty="0"/>
              <a:t>Hỏi: 'Bài báo 2 thuộc ô nào?' Đáp án: phân tích, quan sát (thuần tập).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'Hãy làm câu này trả lời được: Albumin có tốt hơn không?' Gợi ý: ở người lớn bị sốc nhiễm khuẩn, albumin kèm dịch tinh thể, so với chỉ dịch tinh thể, có làm giảm tử vong 28 ngày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Khả thi là tiêu chí hay trượt nhất trong nghiên cứu tại bệnh viện. Mới có thể là bối cảnh mới hoặc thiết kế tốt hơn.</a:t>
            </a:r>
          </a:p>
          <a:p>
            <a:r>
              <a:rPr lang="en-US" sz="1400" b="0" dirty="0"/>
              <a:t>Bình chọn (F, I, N, E, R): 'Ví dụ xuyên suốt trượt tiêu chí nào?'</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CLASSIC (2022) và CLOVERS (2023) mỗi thử nghiệm cần hơn 1500 người bệnh.</a:t>
            </a:r>
          </a:p>
          <a:p>
            <a:r>
              <a:rPr lang="en-US" sz="1400" b="0" dirty="0"/>
              <a:t>Cách thu nhỏ: đổi kết cục, làm thử nghiệm thí điểm, hoặc đặt câu hỏi mô tả.</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Gõ câu trả lời vào Bài tập 1 còn trống khi mọi người nói, mỗi chữ cái mời một người.</a:t>
            </a:r>
          </a:p>
          <a:p>
            <a:r>
              <a:rPr lang="en-US" sz="1400" b="0" dirty="0"/>
              <a:t>Nếu chia đều, chọn A (thử nghiệm thí điểm Bài báo 1 đã làm, dùng lại ở phần 1.3). B là câu hỏi PECO và là câu hỏi chính của FLUID-ICU.</a:t>
            </a:r>
          </a:p>
          <a:p>
            <a:r>
              <a:rPr lang="en-US" sz="1400" b="0" dirty="0"/>
              <a:t>Chú ý: thiếu nhóm so sánh, thiếu mốc thời gian, hai kết cục.</a:t>
            </a:r>
          </a:p>
          <a:p>
            <a:r>
              <a:rPr lang="en-US" sz="1400" b="0" dirty="0"/>
              <a:t>Đáp án: s1_solutions_VN, Bài tập 1.</a:t>
            </a:r>
          </a:p>
          <a:p>
            <a:r>
              <a:rPr lang="en-US" sz="1400" b="0" dirty="0"/>
              <a:t>Thời gian: 8 phút + 3 phút tổng kết. Phần 1.3 bắt đầu lúc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1.3: 21:35-21:55.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tiêu chính quyết định cỡ mẫu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'Viết lại: nghiên cứu về cân bằng dịch tại ICU của mình.' Gợi ý: ước tính tỷ lệ người lớn bị sốc nhiễm khuẩn tại ICU của mình có cân bằng dịch dương ở ngày 3.</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 sánh: tòa án coi bị cáo 'không có tội' (H0) cho đến khi bằng chứng đủ mạnh. 'Không đủ bằng chứng buộc tội' không có nghĩa là 'vô tội'.</a:t>
            </a:r>
          </a:p>
          <a:p>
            <a:r>
              <a:rPr lang="en-US" sz="1400" b="0" dirty="0"/>
              <a:t>Câu hỏi mô tả (phiên bản C) không cần giả thuyết.</a:t>
            </a:r>
          </a:p>
          <a:p>
            <a:r>
              <a:rPr lang="en-US" sz="1400" b="0" dirty="0"/>
              <a:t>Thời gian: 3 phút. Giá trị p học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phút tự viết, rồi hai ba người đọc mục tiêu chính.</a:t>
            </a:r>
          </a:p>
          <a:p>
            <a:r>
              <a:rPr lang="en-US" sz="1400" b="0" dirty="0"/>
              <a:t>Chú ý: động từ mơ hồ, thiếu mốc thời gian, hoặc giả thuyết về một kết cục không có trong mục tiêu.</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chuỗi: O của câu hỏi = mục tiêu chính = kết cục trong H0 và H1.</a:t>
            </a:r>
          </a:p>
          <a:p>
            <a:r>
              <a:rPr lang="en-US" sz="1400" b="0" dirty="0"/>
              <a:t>Đáp án: s1_solutions_VN, Bài tập 2.</a:t>
            </a:r>
          </a:p>
          <a:p>
            <a:r>
              <a:rPr lang="en-US" sz="1400" b="0" dirty="0"/>
              <a:t>Thời gian: 3 phút. Phần 1.3 kết thúc lúc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1: 21:55-22:25. 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0-8: chia sẻ Research_Proposal_Template_VN.docx và điền Phần 1 cho phiên bản A, vừa làm vừa nói lý do.</a:t>
            </a:r>
          </a:p>
          <a:p>
            <a:r>
              <a:rPr lang="en-US" sz="1400" b="0" dirty="0"/>
              <a:t>Phút 8-25: mỗi người tự viết. Trả lời câu hỏi trong chat. Chưa có chủ đề? Xem lại chat lúc chào mừng, hoặc tạm dùng phiên bản A hay C.</a:t>
            </a:r>
          </a:p>
          <a:p>
            <a:r>
              <a:rPr lang="en-US" sz="1400" b="0" dirty="0"/>
              <a:t>Phút 25-30: hai bạn tình nguyện đọc câu hỏi và mục tiêu.</a:t>
            </a:r>
          </a:p>
          <a:p>
            <a:r>
              <a:rPr lang="en-US" sz="1400" b="0" dirty="0"/>
              <a:t>Thời gian: 30 phút. Tổng kết lúc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nhanh các từ khóa.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Khả thi, tử vong cần hơn một nghìn người bệnh. Câu 2 ví dụ: 'Ước tính tỷ lệ người lớn bị sốc nhiễm khuẩn tại ICU của mình có cân bằng dịch dương ở ngày 3'.</a:t>
            </a:r>
          </a:p>
          <a:p>
            <a:r>
              <a:rPr lang="en-US" sz="1400" b="0" dirty="0"/>
              <a:t>Lưu khung chat. Nếu nhiều người vẫn dùng động từ mơ hồ, mở đầu Buổi 2 bằng một phút về mục tiêu.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45 phút. PubMed tìm bằng tiếng Anh, nên danh sách từ đồng nghĩa giúp tìm nhanh hơn.</a:t>
            </a:r>
          </a:p>
          <a:p>
            <a:r>
              <a:rPr lang="en-US" sz="1400" b="0" dirty="0"/>
              <a:t>Ai gặp khó khăn với Zotero hãy email giảng viên trước thứ Sáu.</a:t>
            </a:r>
          </a:p>
          <a:p>
            <a:r>
              <a:rPr lang="en-US" sz="1400" b="0" dirty="0"/>
              <a:t>Thời gian: 1 phút.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khi có người hỏi dự án có cần phê duyệt đạo đức không. Nếu phân bổ ngẫu nhiên, thêm rủi ro hoặc thu thập dữ liệu ngoài chăm sóc thường quy, đó là nghiên cứu. Xem quy định của cơ sở.</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Dự phòng cho 'Ba ví dụ khác'. Học viên viết mỗi dòng một câu hỏi vào chat, rồi chiếu slide này.</a:t>
            </a:r>
          </a:p>
          <a:p>
            <a:r>
              <a:rPr lang="en-US" sz="1400" b="0" dirty="0"/>
              <a:t>Ý chính: 'làm giảm' vì bảng kiểm được chủ động áp dụng, 'có liên quan' vì béo phì không được chỉ định, câu 'bao nhiêu' không có so sánh.</a:t>
            </a:r>
          </a:p>
          <a:p>
            <a:r>
              <a:rPr lang="en-US" sz="1400" b="0" dirty="0"/>
              <a:t>Thời gian: 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Chẩn đoán: xét nghiệm mới = I, tiêu chuẩn tham chiếu = C, kết cục = độ chính xác. Câu hỏi định tính thường dùng SPIDER (Cooke 2012).</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Khả thi. 2 Đạo đức. 3 Mới. 4 Phù hợp.</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PECO: khó phân bổ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buổi tối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01/11/2026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Mỗi ngày bạn đưa ra những quyết định mà nghiên cứu có thể giúp tốt hơn.</a:t>
            </a:r>
          </a:p>
          <a:p>
            <a:pPr marL="0" indent="0" algn="ctr">
              <a:spcBef>
                <a:spcPts val="1200"/>
              </a:spcBef>
              <a:buNone/>
            </a:pPr>
            <a:r>
              <a:rPr lang="en-US" sz="1900" i="1" dirty="0">
                <a:solidFill>
                  <a:srgbClr val="595959"/>
                </a:solidFill>
                <a:latin typeface="Arial"/>
                <a:cs typeface="Arial"/>
              </a:rPr>
              <a:t>Khóa học giúp bạn đặt câu hỏi đúng cách, trả lời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Chào mừng: giới thiệu bản thân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Gõ vào chat: tên, khoa và nghề nghiệp của bạn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Thêm một câu hỏi bạn mong nghiên cứu trả lời được cho khoa mình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Đọc tin nhắn của mọi người: nhiều câu là chủ đề nghiên cứu tiềm năng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Sau đó vài bạn bật micro nói câu hỏi của mình</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Tin nhắn mẫu</a:t>
            </a:r>
          </a:p>
          <a:p>
            <a:pPr marL="0" indent="0" algn="ctr">
              <a:lnSpc>
                <a:spcPct val="104000"/>
              </a:lnSpc>
              <a:spcBef>
                <a:spcPts val="300"/>
              </a:spcBef>
              <a:buNone/>
            </a:pPr>
            <a:r>
              <a:rPr lang="en-US" sz="1500" dirty="0">
                <a:solidFill>
                  <a:srgbClr val="000000"/>
                </a:solidFill>
                <a:latin typeface="Arial"/>
                <a:cs typeface="Arial"/>
              </a:rPr>
              <a:t>Lan, ICU, điều dưỡng</a:t>
            </a:r>
          </a:p>
          <a:p>
            <a:pPr marL="0" indent="0" algn="ctr">
              <a:lnSpc>
                <a:spcPct val="104000"/>
              </a:lnSpc>
              <a:spcBef>
                <a:spcPts val="300"/>
              </a:spcBef>
              <a:buNone/>
            </a:pPr>
            <a:r>
              <a:rPr lang="en-US" sz="1500" dirty="0">
                <a:solidFill>
                  <a:srgbClr val="000000"/>
                </a:solidFill>
                <a:latin typeface="Arial"/>
                <a:cs typeface="Arial"/>
              </a:rPr>
              <a:t>'Người bệnh sốc nhiễm khuẩn có cần ít dịch hơn lượng mình đang truyền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Mỗi người một lời giới thiệu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Tám tuần,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Tuần 1-2</a:t>
            </a:r>
          </a:p>
          <a:p>
            <a:pPr marL="0" indent="0" algn="ctr">
              <a:lnSpc>
                <a:spcPct val="100000"/>
              </a:lnSpc>
              <a:spcBef>
                <a:spcPts val="300"/>
              </a:spcBef>
              <a:buNone/>
            </a:pPr>
            <a:r>
              <a:rPr lang="en-US" sz="1400" dirty="0">
                <a:solidFill>
                  <a:srgbClr val="595959"/>
                </a:solidFill>
                <a:latin typeface="Arial"/>
                <a:cs typeface="Arial"/>
              </a:rPr>
              <a:t>Câu hỏi và bằng chứng</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Tuần 3-4</a:t>
            </a:r>
          </a:p>
          <a:p>
            <a:pPr marL="0" indent="0" algn="ctr">
              <a:lnSpc>
                <a:spcPct val="100000"/>
              </a:lnSpc>
              <a:spcBef>
                <a:spcPts val="300"/>
              </a:spcBef>
              <a:buNone/>
            </a:pPr>
            <a:r>
              <a:rPr lang="en-US" sz="1400" dirty="0">
                <a:solidFill>
                  <a:srgbClr val="595959"/>
                </a:solidFill>
                <a:latin typeface="Arial"/>
                <a:cs typeface="Arial"/>
              </a:rPr>
              <a:t>Thiết kế và sai lệch</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Tuần 5-6</a:t>
            </a:r>
          </a:p>
          <a:p>
            <a:pPr marL="0" indent="0" algn="ctr">
              <a:lnSpc>
                <a:spcPct val="100000"/>
              </a:lnSpc>
              <a:spcBef>
                <a:spcPts val="300"/>
              </a:spcBef>
              <a:buNone/>
            </a:pPr>
            <a:r>
              <a:rPr lang="en-US" sz="1400" dirty="0">
                <a:solidFill>
                  <a:srgbClr val="595959"/>
                </a:solidFill>
                <a:latin typeface="Arial"/>
                <a:cs typeface="Arial"/>
              </a:rPr>
              <a:t>Dữ liệu và phân tích</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Tuần 7-8</a:t>
            </a:r>
          </a:p>
          <a:p>
            <a:pPr marL="0" indent="0" algn="ctr">
              <a:lnSpc>
                <a:spcPct val="100000"/>
              </a:lnSpc>
              <a:spcBef>
                <a:spcPts val="300"/>
              </a:spcBef>
              <a:buNone/>
            </a:pPr>
            <a:r>
              <a:rPr lang="en-US" sz="1400" dirty="0">
                <a:solidFill>
                  <a:srgbClr val="595959"/>
                </a:solidFill>
                <a:latin typeface="Arial"/>
                <a:cs typeface="Arial"/>
              </a:rPr>
              <a:t>Đạo đức, viết, công bố</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Hỏi</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Tìm và đọc</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Thiết kế</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Sai lệch và tác động</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Dữ liệu</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Phân tích</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Bảo vệ và viết</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Công bố</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Đề cương</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1  (khóa học này)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Từ câu hỏi đến công bố</a:t>
            </a:r>
          </a:p>
          <a:p>
            <a:pPr marL="0" indent="0" algn="ctr">
              <a:lnSpc>
                <a:spcPct val="104000"/>
              </a:lnSpc>
              <a:spcBef>
                <a:spcPts val="400"/>
              </a:spcBef>
              <a:buNone/>
            </a:pPr>
            <a:r>
              <a:rPr lang="en-US" sz="1750" dirty="0">
                <a:solidFill>
                  <a:srgbClr val="000000"/>
                </a:solidFill>
                <a:latin typeface="Arial"/>
                <a:cs typeface="Arial"/>
              </a:rPr>
              <a:t>Hỏi, thiết kế, phân tích, viết và công bố</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2  (thực hành)</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Mô hình thống kê bằng R</a:t>
            </a:r>
          </a:p>
          <a:p>
            <a:pPr marL="0" indent="0" algn="ctr">
              <a:lnSpc>
                <a:spcPct val="104000"/>
              </a:lnSpc>
              <a:spcBef>
                <a:spcPts val="400"/>
              </a:spcBef>
              <a:buNone/>
            </a:pPr>
            <a:r>
              <a:rPr lang="en-US" sz="1750" dirty="0">
                <a:solidFill>
                  <a:srgbClr val="000000"/>
                </a:solidFill>
                <a:latin typeface="Arial"/>
                <a:cs typeface="Arial"/>
              </a:rPr>
              <a:t>Bạn tự chạy phân tích</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3  (nâng cao)</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Phương pháp nâng cao</a:t>
            </a:r>
          </a:p>
          <a:p>
            <a:pPr marL="0" indent="0" algn="ctr">
              <a:lnSpc>
                <a:spcPct val="104000"/>
              </a:lnSpc>
              <a:spcBef>
                <a:spcPts val="400"/>
              </a:spcBef>
              <a:buNone/>
            </a:pPr>
            <a:r>
              <a:rPr lang="en-US" sz="1750" dirty="0">
                <a:solidFill>
                  <a:srgbClr val="000000"/>
                </a:solidFill>
                <a:latin typeface="Arial"/>
                <a:cs typeface="Arial"/>
              </a:rPr>
              <a:t>Hội thảo chuyên đề theo yêu cầu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Cấp độ 1 là khóa học này. Cấp độ 2 và 3 dành cho ai muốn học sâu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sản phẩm, mỗi người tự làm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là bài cá nhân. Mỗi bản hướng dẫn nêu rõ yêu cầu và cách đánh giá.</a:t>
            </a:r>
          </a:p>
        </p:txBody>
      </p:sp>
      <p:sp>
        <p:nvSpPr>
          <p:cNvPr id="70" name="CardHead"/>
          <p:cNvSpPr/>
          <p:nvPr/>
        </p:nvSpPr>
        <p:spPr>
          <a:xfrm>
            <a:off x="457200" y="200161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nghiên cứu của bạn</a:t>
            </a:r>
          </a:p>
        </p:txBody>
      </p:sp>
      <p:sp>
        <p:nvSpPr>
          <p:cNvPr id="71" name="CardBody"/>
          <p:cNvSpPr/>
          <p:nvPr/>
        </p:nvSpPr>
        <p:spPr>
          <a:xfrm>
            <a:off x="4572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Về một câu hỏi từ chính khoa của bạn</a:t>
            </a:r>
          </a:p>
          <a:p>
            <a:pPr marL="0" indent="0" algn="ctr">
              <a:lnSpc>
                <a:spcPct val="104000"/>
              </a:lnSpc>
              <a:spcBef>
                <a:spcPts val="400"/>
              </a:spcBef>
              <a:buNone/>
            </a:pPr>
            <a:r>
              <a:rPr lang="en-US" sz="1750" dirty="0">
                <a:solidFill>
                  <a:srgbClr val="000000"/>
                </a:solidFill>
                <a:latin typeface="Arial"/>
                <a:cs typeface="Arial"/>
              </a:rPr>
              <a:t>Viết từng phần, từ Buổi 1 đến Buổi 7</a:t>
            </a:r>
          </a:p>
          <a:p>
            <a:pPr marL="0" indent="0" algn="ctr">
              <a:lnSpc>
                <a:spcPct val="104000"/>
              </a:lnSpc>
              <a:spcBef>
                <a:spcPts val="400"/>
              </a:spcBef>
              <a:buNone/>
            </a:pPr>
            <a:r>
              <a:rPr lang="en-US" sz="1750" dirty="0">
                <a:solidFill>
                  <a:srgbClr val="000000"/>
                </a:solidFill>
                <a:latin typeface="Arial"/>
                <a:cs typeface="Arial"/>
              </a:rPr>
              <a:t>Nộp ở Buổi 8 (khoảng 5 bạn tình nguyện trình bày)</a:t>
            </a:r>
          </a:p>
          <a:p>
            <a:pPr marL="0" indent="0" algn="ctr">
              <a:lnSpc>
                <a:spcPct val="104000"/>
              </a:lnSpc>
              <a:spcBef>
                <a:spcPts val="400"/>
              </a:spcBef>
              <a:buNone/>
            </a:pPr>
            <a:r>
              <a:rPr lang="en-US" sz="1750" dirty="0">
                <a:solidFill>
                  <a:srgbClr val="000000"/>
                </a:solidFill>
                <a:latin typeface="Arial"/>
                <a:cs typeface="Arial"/>
              </a:rPr>
              <a:t>Hướng dẫn viết đề cương: gửi trước Buổi 1</a:t>
            </a:r>
          </a:p>
        </p:txBody>
      </p:sp>
      <p:sp>
        <p:nvSpPr>
          <p:cNvPr id="72" name="CardHead"/>
          <p:cNvSpPr/>
          <p:nvPr/>
        </p:nvSpPr>
        <p:spPr>
          <a:xfrm>
            <a:off x="6196000" y="200161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Phần Kết quả, sẵn sàng để nộp</a:t>
            </a:r>
          </a:p>
        </p:txBody>
      </p:sp>
      <p:sp>
        <p:nvSpPr>
          <p:cNvPr id="73" name="CardBody"/>
          <p:cNvSpPr/>
          <p:nvPr/>
        </p:nvSpPr>
        <p:spPr>
          <a:xfrm>
            <a:off x="61960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 một câu hỏi của FLUID-ICU</a:t>
            </a:r>
          </a:p>
          <a:p>
            <a:pPr marL="0" indent="0" algn="ctr">
              <a:lnSpc>
                <a:spcPct val="104000"/>
              </a:lnSpc>
              <a:spcBef>
                <a:spcPts val="400"/>
              </a:spcBef>
              <a:buNone/>
            </a:pPr>
            <a:r>
              <a:rPr lang="en-US" sz="1750" dirty="0">
                <a:solidFill>
                  <a:srgbClr val="000000"/>
                </a:solidFill>
                <a:latin typeface="Arial"/>
                <a:cs typeface="Arial"/>
              </a:rPr>
              <a:t>Học viết mọi phần. Chỉ bắt buộc nộp phần Kết quả</a:t>
            </a:r>
          </a:p>
          <a:p>
            <a:pPr marL="0" indent="0" algn="ctr">
              <a:lnSpc>
                <a:spcPct val="104000"/>
              </a:lnSpc>
              <a:spcBef>
                <a:spcPts val="400"/>
              </a:spcBef>
              <a:buNone/>
            </a:pPr>
            <a:r>
              <a:rPr lang="en-US" sz="1750" dirty="0">
                <a:solidFill>
                  <a:srgbClr val="000000"/>
                </a:solidFill>
                <a:latin typeface="Arial"/>
                <a:cs typeface="Arial"/>
              </a:rPr>
              <a:t>Hướng dẫn viết bản thảo: chia sẻ ở Buổi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Hỏi và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Biến một vấn đề thành câu hỏi rõ ràng</a:t>
            </a:r>
          </a:p>
          <a:p>
            <a:pPr marL="0" indent="0" algn="ctr">
              <a:lnSpc>
                <a:spcPct val="104000"/>
              </a:lnSpc>
              <a:spcBef>
                <a:spcPts val="400"/>
              </a:spcBef>
              <a:buNone/>
            </a:pPr>
            <a:r>
              <a:rPr lang="en-US" sz="1600" dirty="0">
                <a:solidFill>
                  <a:srgbClr val="000000"/>
                </a:solidFill>
                <a:latin typeface="Arial"/>
                <a:cs typeface="Arial"/>
              </a:rPr>
              <a:t>Tìm trên PubMed và quản lý tài liệu</a:t>
            </a:r>
          </a:p>
          <a:p>
            <a:pPr marL="0" indent="0" algn="ctr">
              <a:lnSpc>
                <a:spcPct val="104000"/>
              </a:lnSpc>
              <a:spcBef>
                <a:spcPts val="400"/>
              </a:spcBef>
              <a:buNone/>
            </a:pPr>
            <a:r>
              <a:rPr lang="en-US" sz="1600" dirty="0">
                <a:solidFill>
                  <a:srgbClr val="000000"/>
                </a:solidFill>
                <a:latin typeface="Arial"/>
                <a:cs typeface="Arial"/>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thiết kế nghiên cứu</a:t>
            </a:r>
          </a:p>
          <a:p>
            <a:pPr marL="0" indent="0" algn="ctr">
              <a:lnSpc>
                <a:spcPct val="104000"/>
              </a:lnSpc>
              <a:spcBef>
                <a:spcPts val="400"/>
              </a:spcBef>
              <a:buNone/>
            </a:pPr>
            <a:r>
              <a:rPr lang="en-US" sz="1600" dirty="0">
                <a:solidFill>
                  <a:srgbClr val="000000"/>
                </a:solidFill>
                <a:latin typeface="Arial"/>
                <a:cs typeface="Arial"/>
              </a:rPr>
              <a:t>Nhận ra sai lệch</a:t>
            </a:r>
          </a:p>
          <a:p>
            <a:pPr marL="0" indent="0" algn="ctr">
              <a:lnSpc>
                <a:spcPct val="104000"/>
              </a:lnSpc>
              <a:spcBef>
                <a:spcPts val="400"/>
              </a:spcBef>
              <a:buNone/>
            </a:pPr>
            <a:r>
              <a:rPr lang="en-US" sz="1600" dirty="0">
                <a:solidFill>
                  <a:srgbClr val="000000"/>
                </a:solidFill>
                <a:latin typeface="Arial"/>
                <a:cs typeface="Arial"/>
              </a:rPr>
              <a:t>Đọc các chỉ số đo lường tác động chính</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dữ liệu cần thu thập</a:t>
            </a:r>
          </a:p>
          <a:p>
            <a:pPr marL="0" indent="0" algn="ctr">
              <a:lnSpc>
                <a:spcPct val="104000"/>
              </a:lnSpc>
              <a:spcBef>
                <a:spcPts val="400"/>
              </a:spcBef>
              <a:buNone/>
            </a:pPr>
            <a:r>
              <a:rPr lang="en-US" sz="1600" dirty="0">
                <a:solidFill>
                  <a:srgbClr val="000000"/>
                </a:solidFill>
                <a:latin typeface="Arial"/>
                <a:cs typeface="Arial"/>
              </a:rPr>
              <a:t>Đọc kết quả một phân tích</a:t>
            </a:r>
          </a:p>
          <a:p>
            <a:pPr marL="0" indent="0" algn="ctr">
              <a:lnSpc>
                <a:spcPct val="104000"/>
              </a:lnSpc>
              <a:spcBef>
                <a:spcPts val="400"/>
              </a:spcBef>
              <a:buNone/>
            </a:pPr>
            <a:r>
              <a:rPr lang="en-US" sz="1600" dirty="0">
                <a:solidFill>
                  <a:srgbClr val="000000"/>
                </a:solidFill>
                <a:latin typeface="Arial"/>
                <a:cs typeface="Arial"/>
              </a:rPr>
              <a:t>Diễn giải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 và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xin phê duyệt đạo đức</a:t>
            </a:r>
          </a:p>
          <a:p>
            <a:pPr marL="0" indent="0" algn="ctr">
              <a:lnSpc>
                <a:spcPct val="104000"/>
              </a:lnSpc>
              <a:spcBef>
                <a:spcPts val="400"/>
              </a:spcBef>
              <a:buNone/>
            </a:pPr>
            <a:r>
              <a:rPr lang="en-US" sz="1600" dirty="0">
                <a:solidFill>
                  <a:srgbClr val="000000"/>
                </a:solidFill>
                <a:latin typeface="Arial"/>
                <a:cs typeface="Arial"/>
              </a:rPr>
              <a:t>Viết từng phần của bài báo</a:t>
            </a:r>
          </a:p>
          <a:p>
            <a:pPr marL="0" indent="0" algn="ctr">
              <a:lnSpc>
                <a:spcPct val="104000"/>
              </a:lnSpc>
              <a:spcBef>
                <a:spcPts val="400"/>
              </a:spcBef>
              <a:buNone/>
            </a:pPr>
            <a:r>
              <a:rPr lang="en-US" sz="1600" dirty="0">
                <a:solidFill>
                  <a:srgbClr val="000000"/>
                </a:solidFill>
                <a:latin typeface="Arial"/>
                <a:cs typeface="Arial"/>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Ôn tập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Giải lao</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Xây dựng đề cương hoặc phần Kết quả</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Tổng kết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Cứ 20 phút kiểm tra mức hiểu một lần. Slide bổ sung chỉ dùng khi còn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đề cương của bạn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1-2</a:t>
            </a:r>
          </a:p>
          <a:p>
            <a:pPr marL="0" indent="0" algn="ctr">
              <a:lnSpc>
                <a:spcPct val="104000"/>
              </a:lnSpc>
              <a:spcBef>
                <a:spcPts val="200"/>
              </a:spcBef>
              <a:buNone/>
            </a:pPr>
            <a:r>
              <a:rPr lang="en-US" sz="1700" dirty="0">
                <a:solidFill>
                  <a:srgbClr val="000000"/>
                </a:solidFill>
                <a:latin typeface="Arial"/>
                <a:cs typeface="Arial"/>
              </a:rPr>
              <a:t>Câu hỏi, tổng quan, mục tiêu</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3-4</a:t>
            </a:r>
          </a:p>
          <a:p>
            <a:pPr marL="0" indent="0" algn="ctr">
              <a:lnSpc>
                <a:spcPct val="104000"/>
              </a:lnSpc>
              <a:spcBef>
                <a:spcPts val="200"/>
              </a:spcBef>
              <a:buNone/>
            </a:pPr>
            <a:r>
              <a:rPr lang="en-US" sz="1700" dirty="0">
                <a:solidFill>
                  <a:srgbClr val="000000"/>
                </a:solidFill>
                <a:latin typeface="Arial"/>
                <a:cs typeface="Arial"/>
              </a:rPr>
              <a:t>Thiết kế và đối tượng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5-6</a:t>
            </a:r>
          </a:p>
          <a:p>
            <a:pPr marL="0" indent="0" algn="ctr">
              <a:lnSpc>
                <a:spcPct val="104000"/>
              </a:lnSpc>
              <a:spcBef>
                <a:spcPts val="200"/>
              </a:spcBef>
              <a:buNone/>
            </a:pPr>
            <a:r>
              <a:rPr lang="en-US" sz="1700" dirty="0">
                <a:solidFill>
                  <a:srgbClr val="000000"/>
                </a:solidFill>
                <a:latin typeface="Arial"/>
                <a:cs typeface="Arial"/>
              </a:rPr>
              <a:t>Dữ liệu, cỡ mẫu, kế hoạch phân tích</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7</a:t>
            </a:r>
          </a:p>
          <a:p>
            <a:pPr marL="0" indent="0" algn="ctr">
              <a:lnSpc>
                <a:spcPct val="104000"/>
              </a:lnSpc>
              <a:spcBef>
                <a:spcPts val="200"/>
              </a:spcBef>
              <a:buNone/>
            </a:pPr>
            <a:r>
              <a:rPr lang="en-US" sz="1700" dirty="0">
                <a:solidFill>
                  <a:srgbClr val="000000"/>
                </a:solidFill>
                <a:latin typeface="Arial"/>
                <a:cs typeface="Arial"/>
              </a:rPr>
              <a:t>Đạo đức, tính khả thi, kế hoạch công bố</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8</a:t>
            </a:r>
          </a:p>
          <a:p>
            <a:pPr marL="0" indent="0" algn="ctr">
              <a:lnSpc>
                <a:spcPct val="104000"/>
              </a:lnSpc>
              <a:spcBef>
                <a:spcPts val="200"/>
              </a:spcBef>
              <a:buNone/>
            </a:pPr>
            <a:r>
              <a:rPr lang="en-US" sz="1700" dirty="0">
                <a:solidFill>
                  <a:srgbClr val="000000"/>
                </a:solidFill>
                <a:latin typeface="Arial"/>
                <a:cs typeface="Arial"/>
              </a:rPr>
              <a:t>Đề cương hoàn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của riêng bạn, một mẫu đề cương, mỗi hai tuần một phần.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Chúng ta cùng học trực tuyến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Cứ hỏi</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có câu hỏi nào ngớ ngẩn</a:t>
            </a:r>
          </a:p>
          <a:p>
            <a:pPr marL="0" indent="0" algn="ctr">
              <a:lnSpc>
                <a:spcPct val="104000"/>
              </a:lnSpc>
              <a:spcBef>
                <a:spcPts val="400"/>
              </a:spcBef>
              <a:buNone/>
            </a:pPr>
            <a:r>
              <a:rPr lang="en-US" sz="1600" dirty="0">
                <a:solidFill>
                  <a:srgbClr val="000000"/>
                </a:solidFill>
                <a:latin typeface="Arial"/>
                <a:cs typeface="Arial"/>
              </a:rPr>
              <a:t>Dùng chat hoặc nút 'giơ tay'</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Đi chậm</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tra mức hiểu thường xuyên</a:t>
            </a:r>
          </a:p>
          <a:p>
            <a:pPr marL="0" indent="0" algn="ctr">
              <a:lnSpc>
                <a:spcPct val="104000"/>
              </a:lnSpc>
              <a:spcBef>
                <a:spcPts val="400"/>
              </a:spcBef>
              <a:buNone/>
            </a:pPr>
            <a:r>
              <a:rPr lang="en-US" sz="1600" dirty="0">
                <a:solidFill>
                  <a:srgbClr val="000000"/>
                </a:solidFill>
                <a:latin typeface="Arial"/>
                <a:cs typeface="Arial"/>
              </a:rPr>
              <a:t>Slide bổ sung chỉ khi còn thời gian</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Lấy ví dụ từ khoa mình</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ví dụ từ thực hành của bạn</a:t>
            </a:r>
          </a:p>
          <a:p>
            <a:pPr marL="0" indent="0" algn="ctr">
              <a:lnSpc>
                <a:spcPct val="104000"/>
              </a:lnSpc>
              <a:spcBef>
                <a:spcPts val="400"/>
              </a:spcBef>
              <a:buNone/>
            </a:pPr>
            <a:r>
              <a:rPr lang="en-US" sz="1600" dirty="0">
                <a:solidFill>
                  <a:srgbClr val="000000"/>
                </a:solidFill>
                <a:latin typeface="Arial"/>
                <a:cs typeface="Arial"/>
              </a:rPr>
              <a:t>Không nêu tên hay chi tiết người bệnh</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Thói quen trực tuyến</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Bật camera khi có thể</a:t>
            </a:r>
          </a:p>
          <a:p>
            <a:pPr marL="0" indent="0" algn="ctr">
              <a:lnSpc>
                <a:spcPct val="104000"/>
              </a:lnSpc>
              <a:spcBef>
                <a:spcPts val="400"/>
              </a:spcBef>
              <a:buNone/>
            </a:pPr>
            <a:r>
              <a:rPr lang="en-US" sz="1600" dirty="0">
                <a:solidFill>
                  <a:srgbClr val="000000"/>
                </a:solidFill>
                <a:latin typeface="Arial"/>
                <a:cs typeface="Arial"/>
              </a:rPr>
              <a:t>Tắt micro khi không nói</a:t>
            </a:r>
          </a:p>
          <a:p>
            <a:pPr marL="0" indent="0" algn="ctr">
              <a:lnSpc>
                <a:spcPct val="104000"/>
              </a:lnSpc>
              <a:spcBef>
                <a:spcPts val="400"/>
              </a:spcBef>
              <a:buNone/>
            </a:pPr>
            <a:r>
              <a:rPr lang="en-US" sz="1600" dirty="0">
                <a:solidFill>
                  <a:srgbClr val="000000"/>
                </a:solidFill>
                <a:latin typeface="Arial"/>
                <a:cs typeface="Arial"/>
              </a:rPr>
              <a:t>Quay lại đúng giờ sau giải lao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đầu khóa (biểu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đang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 (giống mã đăng nhập Teams)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câu trắc nghiệm, chọn một đáp án cho mỗi câu (khoảng 12 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không xem tài liệu, không hỏi đồng nghiệp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Nếu không chắc, hãy đoán: đây không phải kỳ thi</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Vì sao kiểm tra bây giờ?</a:t>
            </a:r>
          </a:p>
          <a:p>
            <a:pPr marL="0" indent="0" algn="ctr">
              <a:lnSpc>
                <a:spcPct val="104000"/>
              </a:lnSpc>
              <a:spcBef>
                <a:spcPts val="300"/>
              </a:spcBef>
              <a:buNone/>
            </a:pPr>
            <a:r>
              <a:rPr lang="en-US" sz="1500" dirty="0">
                <a:solidFill>
                  <a:srgbClr val="000000"/>
                </a:solidFill>
                <a:latin typeface="Arial"/>
                <a:cs typeface="Arial"/>
              </a:rPr>
              <a:t>Làm lại cùng bài này ở Buổi 8</a:t>
            </a:r>
          </a:p>
          <a:p>
            <a:pPr marL="0" indent="0" algn="ctr">
              <a:lnSpc>
                <a:spcPct val="104000"/>
              </a:lnSpc>
              <a:spcBef>
                <a:spcPts val="300"/>
              </a:spcBef>
              <a:buNone/>
            </a:pPr>
            <a:r>
              <a:rPr lang="en-US" sz="1500" dirty="0">
                <a:solidFill>
                  <a:srgbClr val="000000"/>
                </a:solidFill>
                <a:latin typeface="Arial"/>
                <a:cs typeface="Arial"/>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1 · Chủ nhật</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Vì sao cần nghiên cứu? Bằng chứng, thiết kế nghiên cứu, hai bài báo của khóa học</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1.2  Từ vấn đề đến câu hỏi: PICO(T), PECO và FINER</a:t>
            </a:r>
          </a:p>
          <a:p>
            <a:pPr marL="274320" indent="-274320" algn="l">
              <a:spcBef>
                <a:spcPts val="440"/>
              </a:spcBef>
              <a:buFont typeface="Arial"/>
              <a:buChar char="•"/>
            </a:pPr>
            <a:r>
              <a:rPr lang="en-US" sz="1900" dirty="0">
                <a:solidFill>
                  <a:srgbClr val="000000"/>
                </a:solidFill>
                <a:latin typeface="Arial"/>
                <a:cs typeface="Arial"/>
              </a:rPr>
              <a:t>1.3  Mục tiêu tổng quát, mục tiêu cụ thể và giả thuyết</a:t>
            </a:r>
          </a:p>
          <a:p>
            <a:pPr marL="274320" indent="-274320" algn="l">
              <a:spcBef>
                <a:spcPts val="440"/>
              </a:spcBef>
              <a:buFont typeface="Arial"/>
              <a:buChar char="•"/>
            </a:pPr>
            <a:r>
              <a:rPr lang="en-US" sz="1900" dirty="0">
                <a:solidFill>
                  <a:srgbClr val="000000"/>
                </a:solidFill>
                <a:latin typeface="Arial"/>
                <a:cs typeface="Arial"/>
              </a:rPr>
              <a:t>Xây dựng đề cương 1: bắt đầu câu hỏi của riêng bạn</a:t>
            </a:r>
          </a:p>
          <a:p>
            <a:pPr marL="274320" indent="-274320" algn="l">
              <a:spcBef>
                <a:spcPts val="440"/>
              </a:spcBef>
              <a:buFont typeface="Arial"/>
              <a:buChar char="•"/>
            </a:pPr>
            <a:r>
              <a:rPr lang="en-US" sz="1900" dirty="0">
                <a:solidFill>
                  <a:srgbClr val="000000"/>
                </a:solidFill>
                <a:latin typeface="Arial"/>
                <a:cs typeface="Arial"/>
              </a:rPr>
              <a:t>Tổng kết: từ khóa, câu hỏi cuối buổi, bài về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Đã có kinh nghiệm, vì sao vẫn cần nghiên cứu?</a:t>
            </a:r>
          </a:p>
          <a:p>
            <a:pPr marL="0" indent="0" algn="ctr">
              <a:spcBef>
                <a:spcPts val="1200"/>
              </a:spcBef>
              <a:buNone/>
            </a:pPr>
            <a:r>
              <a:rPr lang="en-US" sz="1900" i="1" dirty="0">
                <a:solidFill>
                  <a:srgbClr val="595959"/>
                </a:solidFill>
                <a:latin typeface="Arial"/>
                <a:cs typeface="Arial"/>
              </a:rPr>
              <a:t>35 phút: bằng chứng, thiết kế nghiên cứu, hai bài báo của khóa học, các loại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Giai thoại</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"Tôi truyền ít dịch cho 3 người bệnh và cả 3 đều hồi phục tốt!"</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Ít người bệnh, không so sánh, chỉ nhớ những ca nổi bật</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Bằng chứng</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Hạn chế dịch</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Chăm sóc thường quy</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Nhiều người bệnh, so sánh công bằng, đếm mọi kết cục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Kinh nghiệm gợi ra câu hỏi. So sánh công bằng trên nhiều người bệnh mới trả lời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Càng lên cao, nguy cơ sai lệch càng thấp với câu hỏi về hiệu quả điều trị</a:t>
            </a:r>
          </a:p>
          <a:p>
            <a:pPr marL="274320" indent="-274320" algn="l">
              <a:spcBef>
                <a:spcPts val="440"/>
              </a:spcBef>
              <a:buFont typeface="Arial"/>
              <a:buChar char="•"/>
            </a:pPr>
            <a:r>
              <a:rPr lang="en-US" sz="1450" dirty="0">
                <a:solidFill>
                  <a:srgbClr val="000000"/>
                </a:solidFill>
                <a:latin typeface="Arial"/>
                <a:cs typeface="Arial"/>
              </a:rPr>
              <a:t>Thuần tập làm tốt có thể hơn thử nghiệm làm kém</a:t>
            </a:r>
          </a:p>
          <a:p>
            <a:pPr marL="274320" indent="-274320" algn="l">
              <a:spcBef>
                <a:spcPts val="440"/>
              </a:spcBef>
              <a:buFont typeface="Arial"/>
              <a:buChar char="•"/>
            </a:pPr>
            <a:r>
              <a:rPr lang="en-US" sz="1450" dirty="0">
                <a:solidFill>
                  <a:srgbClr val="000000"/>
                </a:solidFill>
                <a:latin typeface="Arial"/>
                <a:cs typeface="Arial"/>
              </a:rPr>
              <a:t>Câu hỏi mô tả không cần thử nghiệm</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ít sai lệch hơn, tin cậy hơn</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Ý kiến chuyên gia, báo cáo ca</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Loạt ca, nghiên cứu cắt ngang</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bệnh-chứng</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thuần tập</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Thử nghiệm ngẫu nhiên</a:t>
            </a:r>
          </a:p>
          <a:p>
            <a:pPr marL="0" indent="0" algn="ctr">
              <a:lnSpc>
                <a:spcPct val="100000"/>
              </a:lnSpc>
              <a:spcBef>
                <a:spcPts val="300"/>
              </a:spcBef>
              <a:buNone/>
            </a:pPr>
            <a:r>
              <a:rPr lang="en-US" sz="1500" b="1" dirty="0">
                <a:solidFill>
                  <a:srgbClr val="FFFFFF"/>
                </a:solidFill>
                <a:latin typeface="Arial"/>
                <a:cs typeface="Arial"/>
              </a:rPr>
              <a:t>có đối chứng</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Tổng quan hệ thống</a:t>
            </a:r>
          </a:p>
          <a:p>
            <a:pPr marL="0" indent="0" algn="ctr">
              <a:lnSpc>
                <a:spcPct val="100000"/>
              </a:lnSpc>
              <a:spcBef>
                <a:spcPts val="300"/>
              </a:spcBef>
              <a:buNone/>
            </a:pPr>
            <a:r>
              <a:rPr lang="en-US" sz="1500" b="1" dirty="0">
                <a:solidFill>
                  <a:srgbClr val="FFFFFF"/>
                </a:solidFill>
                <a:latin typeface="Arial"/>
                <a:cs typeface="Arial"/>
              </a:rPr>
              <a:t>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Tháp xếp hạng thiết kế, không xếp hạng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hạn chế dịch có làm giảm tử vong trong sốc nhiễm khuẩn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đồng nghiệp lâu năm: '20 năm nay, người bệnh tôi truyền ít dịch đều hồi phục tốt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một sổ đăng ký theo dõi hàng nghìn người bệnh ICU (thuần tập)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thử nghiệm phân bổ ngẫu nhiên 1554 người bệnh vào nhóm hạn chế dịch hoặc dịch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một tổng quan hệ thống gộp mọi thử nghiệm về hạn chế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thứ tự nào đi từ yếu nhất đến mạnh nhất?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hỏi: điều gì có thể làm C yếu hơn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cả lớp cùng đọc trong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truy cập mở. Bạn nhận hai tệp PDF qua email trước Buổi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Thử nghiệm ngẫu nhiên có đối chứng (RCT) thí điểm (pilot), 48 người bệnh</a:t>
            </a:r>
          </a:p>
          <a:p>
            <a:pPr marL="0" indent="0" algn="ctr">
              <a:lnSpc>
                <a:spcPct val="104000"/>
              </a:lnSpc>
              <a:spcBef>
                <a:spcPts val="400"/>
              </a:spcBef>
              <a:buNone/>
            </a:pPr>
            <a:r>
              <a:rPr lang="en-US" sz="1500" dirty="0">
                <a:solidFill>
                  <a:srgbClr val="000000"/>
                </a:solidFill>
                <a:latin typeface="Arial"/>
                <a:cs typeface="Arial"/>
              </a:rPr>
              <a:t>Kết cục chính: cân bằng dịch ngày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thuần tập</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Nghiên cứu thuần tập từ sổ đăng ký nhiễm khuẩn huyết Hàn Quốc</a:t>
            </a:r>
          </a:p>
          <a:p>
            <a:pPr marL="0" indent="0" algn="ctr">
              <a:lnSpc>
                <a:spcPct val="104000"/>
              </a:lnSpc>
              <a:spcBef>
                <a:spcPts val="400"/>
              </a:spcBef>
              <a:buNone/>
            </a:pPr>
            <a:r>
              <a:rPr lang="en-US" sz="1500" dirty="0">
                <a:solidFill>
                  <a:srgbClr val="000000"/>
                </a:solidFill>
                <a:latin typeface="Arial"/>
                <a:cs typeface="Arial"/>
              </a:rPr>
              <a:t>Kết cục chính: tử vong đến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1 là thử nghiệm, Bài báo 2 là thuần tập. Cả hai nghiên cứu dịch truyền trong nhiễm khuẩn 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Vấn đề lâm sàng</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Câu hỏi nghiên cứu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Tìm y văn</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Thiết kế và đề cương</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Phê duyệt đạo đức</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Thu thập dữ liệu</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Phân tích, diễn giải</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Công bố và</a:t>
            </a:r>
          </a:p>
          <a:p>
            <a:pPr marL="0" indent="0" algn="ctr">
              <a:lnSpc>
                <a:spcPct val="100000"/>
              </a:lnSpc>
              <a:spcBef>
                <a:spcPts val="300"/>
              </a:spcBef>
              <a:buNone/>
            </a:pPr>
            <a:r>
              <a:rPr lang="en-US" sz="1600" b="1" dirty="0">
                <a:solidFill>
                  <a:srgbClr val="FFFFFF"/>
                </a:solidFill>
                <a:latin typeface="Arial"/>
                <a:cs typeface="Arial"/>
              </a:rPr>
              <a:t>thay đổi thực hành</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Tuần 1-2</a:t>
            </a:r>
          </a:p>
          <a:p>
            <a:pPr marL="0" indent="0" algn="ctr">
              <a:lnSpc>
                <a:spcPct val="100000"/>
              </a:lnSpc>
              <a:spcBef>
                <a:spcPts val="300"/>
              </a:spcBef>
              <a:buNone/>
            </a:pPr>
            <a:r>
              <a:rPr lang="en-US" sz="1600" dirty="0">
                <a:solidFill>
                  <a:srgbClr val="1A1A1A"/>
                </a:solidFill>
                <a:latin typeface="Arial"/>
                <a:cs typeface="Arial"/>
              </a:rPr>
              <a:t>vấn đề, câu hỏi, tìm y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là một chu trình: kết quả công bố thay đổi thực hành và gợi ra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Loại nghiên cứu</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Cho biết điều gì</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Ví dụ</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Định lượng</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bao nhiêu? X có làm thay đổi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Tử vong 28 ngày với hai chiến lược dịch</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Định tính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Lời kể: vì sao? Như thế nào? Trải nghiệm ra sao?</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Phỏng vấn: vì sao điều dưỡng ngại ngừng dịch</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Hỗn hợp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và lời kể trong cùng một nghiên cứu</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Khảo sát thực hành dịch kèm thảo luận nhóm</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Nghiên cứu sơ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thu thập dữ liệu mới</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Bài báo 1: một thử nghiệm mới</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Nghiên cứu thứ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dùng lại dữ liệu có sẵn: hồ sơ, sổ đăng ký</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Bài báo 2: sổ đăng ký nhiễm khuẩn huyết</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Con số trả lời bao nhiêu, mức nào. Lời kể trả lời vì sao, như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đếm số người bệnh sốc nhiễm khuẩn có cân bằng dịch dương ở ngày 3 trong năm nay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phỏng vấn điều dưỡng ICU vì sao họ ngại ngừng dịch truyền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phân tích lại hồ sơ ICU 3 năm về cân bằng dịch và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khảo sát cách chỉ định dịch kèm thảo luận nhóm với bác sĩ</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con số, lời kể hay cả hai? Dữ liệu mới hay có sẵn?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Hai ba người trả lời, ví dụ 'A: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tính</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Thứ cấp</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Hỗn hợp</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hai điều: con số hay lời kể?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Câu hỏi</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Thiết kế và đề cương</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Đăng ký</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Phê duyệt đạo đức</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Thu thập dữ liệu</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Phân tích</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Viết bài</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Nộp bài</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Bình duyệt</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Công bố</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Tác động tới người bệnh</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1-2  Hỏi và tìm</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3-4  Thiết kế</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5-6  Đo lường</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7-8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Khóa học đi hết con đường. Đề cương của bạn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Đặt đúng câu hỏi là đã đi được nửa đường.</a:t>
            </a:r>
          </a:p>
          <a:p>
            <a:pPr marL="0" indent="0" algn="ctr">
              <a:spcBef>
                <a:spcPts val="1200"/>
              </a:spcBef>
              <a:buNone/>
            </a:pPr>
            <a:r>
              <a:rPr lang="en-US" sz="1900" i="1" dirty="0">
                <a:solidFill>
                  <a:srgbClr val="595959"/>
                </a:solidFill>
                <a:latin typeface="Arial"/>
                <a:cs typeface="Arial"/>
              </a:rPr>
              <a:t>40 phút: PICO(T) và PECO, loại câu hỏi, FINER, rồi một bài tập cả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Trước hết hãy kiểm tra: đã có câu trả lời chưa? Tìm y văn sẽ cho biết (Buổi 2).</a:t>
            </a:r>
          </a:p>
        </p:txBody>
      </p:sp>
      <p:sp>
        <p:nvSpPr>
          <p:cNvPr id="70" name="CardHead"/>
          <p:cNvSpPr/>
          <p:nvPr/>
        </p:nvSpPr>
        <p:spPr>
          <a:xfrm>
            <a:off x="457200" y="176402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hỏi đến từ đâu</a:t>
            </a:r>
          </a:p>
        </p:txBody>
      </p:sp>
      <p:sp>
        <p:nvSpPr>
          <p:cNvPr id="71" name="CardBody"/>
          <p:cNvSpPr/>
          <p:nvPr/>
        </p:nvSpPr>
        <p:spPr>
          <a:xfrm>
            <a:off x="457200" y="2404023"/>
            <a:ext cx="5438800" cy="263793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Băn khoăn tại giường: "Sao mình lại làm như vậy?"</a:t>
            </a:r>
          </a:p>
          <a:p>
            <a:pPr marL="274320" indent="-274320" algn="l">
              <a:lnSpc>
                <a:spcPct val="104000"/>
              </a:lnSpc>
              <a:spcBef>
                <a:spcPts val="400"/>
              </a:spcBef>
              <a:buFont typeface="Arial"/>
              <a:buChar char="•"/>
            </a:pPr>
            <a:r>
              <a:rPr lang="en-US" sz="1800" dirty="0">
                <a:solidFill>
                  <a:srgbClr val="000000"/>
                </a:solidFill>
                <a:latin typeface="Arial"/>
                <a:cs typeface="Arial"/>
              </a:rPr>
              <a:t>Mỗi đồng nghiệp làm một kiểu</a:t>
            </a:r>
          </a:p>
          <a:p>
            <a:pPr marL="274320" indent="-274320" algn="l">
              <a:lnSpc>
                <a:spcPct val="104000"/>
              </a:lnSpc>
              <a:spcBef>
                <a:spcPts val="400"/>
              </a:spcBef>
              <a:buFont typeface="Arial"/>
              <a:buChar char="•"/>
            </a:pPr>
            <a:r>
              <a:rPr lang="en-US" sz="1800" dirty="0">
                <a:solidFill>
                  <a:srgbClr val="000000"/>
                </a:solidFill>
                <a:latin typeface="Arial"/>
                <a:cs typeface="Arial"/>
              </a:rPr>
              <a:t>Số liệu sự cố, sổ đăng ký</a:t>
            </a:r>
          </a:p>
          <a:p>
            <a:pPr marL="274320" indent="-274320" algn="l">
              <a:lnSpc>
                <a:spcPct val="104000"/>
              </a:lnSpc>
              <a:spcBef>
                <a:spcPts val="400"/>
              </a:spcBef>
              <a:buFont typeface="Arial"/>
              <a:buChar char="•"/>
            </a:pPr>
            <a:r>
              <a:rPr lang="en-US" sz="1800" dirty="0">
                <a:solidFill>
                  <a:srgbClr val="000000"/>
                </a:solidFill>
                <a:latin typeface="Arial"/>
                <a:cs typeface="Arial"/>
              </a:rPr>
              <a:t>Hướng dẫn ghi "bằng chứng độ tin cậy thấp"</a:t>
            </a:r>
          </a:p>
          <a:p>
            <a:pPr marL="274320" indent="-274320" algn="l">
              <a:lnSpc>
                <a:spcPct val="104000"/>
              </a:lnSpc>
              <a:spcBef>
                <a:spcPts val="400"/>
              </a:spcBef>
              <a:buFont typeface="Arial"/>
              <a:buChar char="•"/>
            </a:pPr>
            <a:r>
              <a:rPr lang="en-US" sz="1800" dirty="0">
                <a:solidFill>
                  <a:srgbClr val="000000"/>
                </a:solidFill>
                <a:latin typeface="Arial"/>
                <a:cs typeface="Arial"/>
              </a:rPr>
              <a:t>Bài báo kết luận "cần thêm nghiên cứu"</a:t>
            </a:r>
          </a:p>
          <a:p>
            <a:pPr marL="274320" indent="-274320" algn="l">
              <a:lnSpc>
                <a:spcPct val="104000"/>
              </a:lnSpc>
              <a:spcBef>
                <a:spcPts val="400"/>
              </a:spcBef>
              <a:buFont typeface="Arial"/>
              <a:buChar char="•"/>
            </a:pPr>
            <a:r>
              <a:rPr lang="en-US" sz="1800" dirty="0">
                <a:solidFill>
                  <a:srgbClr val="000000"/>
                </a:solidFill>
                <a:latin typeface="Arial"/>
                <a:cs typeface="Arial"/>
              </a:rPr>
              <a:t>Câu hỏi của người bệnh và gia đình</a:t>
            </a:r>
          </a:p>
        </p:txBody>
      </p:sp>
      <p:sp>
        <p:nvSpPr>
          <p:cNvPr id="72" name="CardHead"/>
          <p:cNvSpPr/>
          <p:nvPr/>
        </p:nvSpPr>
        <p:spPr>
          <a:xfrm>
            <a:off x="6096000" y="176402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biết</a:t>
            </a:r>
          </a:p>
        </p:txBody>
      </p:sp>
      <p:sp>
        <p:nvSpPr>
          <p:cNvPr id="73" name="CardBody"/>
          <p:cNvSpPr/>
          <p:nvPr/>
        </p:nvSpPr>
        <p:spPr>
          <a:xfrm>
            <a:off x="60960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Áp dụng</a:t>
            </a:r>
          </a:p>
          <a:p>
            <a:pPr marL="0" indent="0" algn="ctr">
              <a:lnSpc>
                <a:spcPct val="104000"/>
              </a:lnSpc>
              <a:spcBef>
                <a:spcPts val="400"/>
              </a:spcBef>
              <a:buNone/>
            </a:pPr>
            <a:r>
              <a:rPr lang="en-US" sz="1800" dirty="0">
                <a:solidFill>
                  <a:srgbClr val="000000"/>
                </a:solidFill>
                <a:latin typeface="Arial"/>
                <a:cs typeface="Arial"/>
              </a:rPr>
              <a:t>Cập nhật hướng dẫn hoặc quy trình của khoa</a:t>
            </a:r>
          </a:p>
        </p:txBody>
      </p:sp>
      <p:sp>
        <p:nvSpPr>
          <p:cNvPr id="74" name="CardHead"/>
          <p:cNvSpPr/>
          <p:nvPr/>
        </p:nvSpPr>
        <p:spPr>
          <a:xfrm>
            <a:off x="9015400" y="176402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biết</a:t>
            </a:r>
          </a:p>
        </p:txBody>
      </p:sp>
      <p:sp>
        <p:nvSpPr>
          <p:cNvPr id="75" name="CardBody"/>
          <p:cNvSpPr/>
          <p:nvPr/>
        </p:nvSpPr>
        <p:spPr>
          <a:xfrm>
            <a:off x="90154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Câu hỏi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tại ICU, chiến lược hạn chế dịch, so với chăm sóc thường quy, có làm giảm tử vong 28 ngày không?</a:t>
            </a:r>
          </a:p>
        </p:txBody>
      </p:sp>
      <p:sp>
        <p:nvSpPr>
          <p:cNvPr id="70" name="CardHead"/>
          <p:cNvSpPr/>
          <p:nvPr/>
        </p:nvSpPr>
        <p:spPr>
          <a:xfrm>
            <a:off x="457200" y="224288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Đối tượng</a:t>
            </a:r>
          </a:p>
        </p:txBody>
      </p:sp>
      <p:sp>
        <p:nvSpPr>
          <p:cNvPr id="71" name="CardBody"/>
          <p:cNvSpPr/>
          <p:nvPr/>
        </p:nvSpPr>
        <p:spPr>
          <a:xfrm>
            <a:off x="45720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lớn (≥18 tuổi) bị sốc nhiễm khuẩn tại ICU</a:t>
            </a:r>
          </a:p>
        </p:txBody>
      </p:sp>
      <p:sp>
        <p:nvSpPr>
          <p:cNvPr id="72" name="CardHead"/>
          <p:cNvSpPr/>
          <p:nvPr/>
        </p:nvSpPr>
        <p:spPr>
          <a:xfrm>
            <a:off x="2752720" y="224288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Can thiệp</a:t>
            </a:r>
          </a:p>
        </p:txBody>
      </p:sp>
      <p:sp>
        <p:nvSpPr>
          <p:cNvPr id="73" name="CardBody"/>
          <p:cNvSpPr/>
          <p:nvPr/>
        </p:nvSpPr>
        <p:spPr>
          <a:xfrm>
            <a:off x="275272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Chiến lược hạn chế dịch</a:t>
            </a:r>
          </a:p>
        </p:txBody>
      </p:sp>
      <p:sp>
        <p:nvSpPr>
          <p:cNvPr id="74" name="CardHead"/>
          <p:cNvSpPr/>
          <p:nvPr/>
        </p:nvSpPr>
        <p:spPr>
          <a:xfrm>
            <a:off x="5048240" y="224288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So sánh</a:t>
            </a:r>
          </a:p>
        </p:txBody>
      </p:sp>
      <p:sp>
        <p:nvSpPr>
          <p:cNvPr id="75" name="CardBody"/>
          <p:cNvSpPr/>
          <p:nvPr/>
        </p:nvSpPr>
        <p:spPr>
          <a:xfrm>
            <a:off x="504824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Chăm sóc thường quy (dịch tiêu chuẩn)</a:t>
            </a:r>
          </a:p>
        </p:txBody>
      </p:sp>
      <p:sp>
        <p:nvSpPr>
          <p:cNvPr id="76" name="CardHead"/>
          <p:cNvSpPr/>
          <p:nvPr/>
        </p:nvSpPr>
        <p:spPr>
          <a:xfrm>
            <a:off x="7343760" y="224288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Kết cục</a:t>
            </a:r>
          </a:p>
        </p:txBody>
      </p:sp>
      <p:sp>
        <p:nvSpPr>
          <p:cNvPr id="77" name="CardBody"/>
          <p:cNvSpPr/>
          <p:nvPr/>
        </p:nvSpPr>
        <p:spPr>
          <a:xfrm>
            <a:off x="734376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Tử vong do mọi nguyên nhân</a:t>
            </a:r>
          </a:p>
        </p:txBody>
      </p:sp>
      <p:sp>
        <p:nvSpPr>
          <p:cNvPr id="78" name="CardHead"/>
          <p:cNvSpPr/>
          <p:nvPr/>
        </p:nvSpPr>
        <p:spPr>
          <a:xfrm>
            <a:off x="9639280" y="2242887"/>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Thời gian</a:t>
            </a:r>
          </a:p>
        </p:txBody>
      </p:sp>
      <p:sp>
        <p:nvSpPr>
          <p:cNvPr id="79" name="CardBody"/>
          <p:cNvSpPr/>
          <p:nvPr/>
        </p:nvSpPr>
        <p:spPr>
          <a:xfrm>
            <a:off x="963928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Trong vòng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Buổi nào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Ba ví dụ khác: PICO, PECO và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Điều trị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thở máy tại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Bảng kiểm đầu giường 2 lần/ngày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Chăm sóc thường quy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Viêm phổi liên quan thở máy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Ngày 28 tại ICU</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Yếu tố nguy cơ (PECO)</a:t>
                      </a:r>
                    </a:p>
                    <a:p>
                      <a:pPr algn="l"/>
                      <a:r>
                        <a:rPr lang="en-US" sz="1800" b="1" dirty="0">
                          <a:solidFill>
                            <a:srgbClr val="000000"/>
                          </a:solidFill>
                          <a:latin typeface="Arial"/>
                          <a:cs typeface="Arial"/>
                        </a:rPr>
                        <a:t>E = Phơi nhiễm</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tại khoa nội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Béo phì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dưới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Tổn thương do tì đè mới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Trong thời gian nằm viện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Bao nhiêu?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≥65 tuổi sau mổ gãy cổ xương đùi</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Mê sảng</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7 ngày đầu</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PECO: E = Phơi nhiễm (Exposure), dùng khi không thể chủ động phân bổ yếu tố đó (ví dụ béo phì).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của Bài báo 1: 'Ở người lớn bị sốc nhiễm khuẩn trong 24 giờ đầu dùng thuốc vận mạch, hạn chế dịch không nhằm hồi sức, so với chăm sóc thường quy, có làm giảm cân bằng dịch tích lũy ngày 5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những từ nào là kết cục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hai ba người nói đối tượng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sốc nhiễm khuẩn</a:t>
            </a:r>
          </a:p>
          <a:p>
            <a:pPr marL="0" indent="0" algn="ctr">
              <a:lnSpc>
                <a:spcPct val="104000"/>
              </a:lnSpc>
              <a:spcBef>
                <a:spcPts val="300"/>
              </a:spcBef>
              <a:buNone/>
            </a:pPr>
            <a:r>
              <a:rPr lang="en-US" sz="1500" dirty="0">
                <a:solidFill>
                  <a:srgbClr val="000000"/>
                </a:solidFill>
                <a:latin typeface="Arial"/>
                <a:cs typeface="Arial"/>
              </a:rPr>
              <a:t>B: hạn chế dịch không nhằm hồi sức</a:t>
            </a:r>
          </a:p>
          <a:p>
            <a:pPr marL="0" indent="0" algn="ctr">
              <a:lnSpc>
                <a:spcPct val="104000"/>
              </a:lnSpc>
              <a:spcBef>
                <a:spcPts val="300"/>
              </a:spcBef>
              <a:buNone/>
            </a:pPr>
            <a:r>
              <a:rPr lang="en-US" sz="1500" dirty="0">
                <a:solidFill>
                  <a:srgbClr val="000000"/>
                </a:solidFill>
                <a:latin typeface="Arial"/>
                <a:cs typeface="Arial"/>
              </a:rPr>
              <a:t>C: cân bằng dịch tích lũy</a:t>
            </a:r>
          </a:p>
          <a:p>
            <a:pPr marL="0" indent="0" algn="ctr">
              <a:lnSpc>
                <a:spcPct val="104000"/>
              </a:lnSpc>
              <a:spcBef>
                <a:spcPts val="300"/>
              </a:spcBef>
              <a:buNone/>
            </a:pPr>
            <a:r>
              <a:rPr lang="en-US" sz="1500" dirty="0">
                <a:solidFill>
                  <a:srgbClr val="000000"/>
                </a:solidFill>
                <a:latin typeface="Arial"/>
                <a:cs typeface="Arial"/>
              </a:rPr>
              <a:t>D: ngày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nói P thành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PICO trong câu hỏi của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Người lớn bị sốc nhiễm khuẩn</a:t>
            </a:r>
          </a:p>
          <a:p>
            <a:pPr marL="0" indent="0" algn="ctr">
              <a:lnSpc>
                <a:spcPct val="104000"/>
              </a:lnSpc>
              <a:spcBef>
                <a:spcPts val="400"/>
              </a:spcBef>
              <a:buNone/>
            </a:pPr>
            <a:r>
              <a:rPr lang="en-US" sz="1450" dirty="0">
                <a:solidFill>
                  <a:srgbClr val="000000"/>
                </a:solidFill>
                <a:latin typeface="Arial"/>
                <a:cs typeface="Arial"/>
              </a:rPr>
              <a:t>Trong 24 giờ đầu dùng thuốc vận mạch</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Hạn chế dịch không nhằm hồi sức</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Chăm sóc thường quy</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tích lũy</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Ngày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Tình trạng khiến người bệnh vào nghiên cứu (sốc nhiễm khuẩn)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quyết định thiết kế (học kỹ ở Buổi 3).</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Cái gì? Bao nhiêu? Ai?</a:t>
            </a:r>
          </a:p>
          <a:p>
            <a:pPr marL="0" indent="0" algn="ctr">
              <a:lnSpc>
                <a:spcPct val="104000"/>
              </a:lnSpc>
              <a:spcBef>
                <a:spcPts val="400"/>
              </a:spcBef>
              <a:buNone/>
            </a:pPr>
            <a:r>
              <a:rPr lang="en-US" sz="1750" dirty="0">
                <a:solidFill>
                  <a:srgbClr val="000000"/>
                </a:solidFill>
                <a:latin typeface="Arial"/>
                <a:cs typeface="Arial"/>
              </a:rPr>
              <a:t>"Bao nhiêu người bệnh sốc nhiễm khuẩn của khoa có cân bằng dịch dương vào ngày 3?"</a:t>
            </a:r>
          </a:p>
          <a:p>
            <a:pPr marL="0" indent="0" algn="ctr">
              <a:lnSpc>
                <a:spcPct val="104000"/>
              </a:lnSpc>
              <a:spcBef>
                <a:spcPts val="400"/>
              </a:spcBef>
              <a:buNone/>
            </a:pPr>
            <a:r>
              <a:rPr lang="en-US" sz="1750" b="1" dirty="0">
                <a:solidFill>
                  <a:srgbClr val="000000"/>
                </a:solidFill>
                <a:latin typeface="Arial"/>
                <a:cs typeface="Arial"/>
              </a:rPr>
              <a:t>Loạt ca, cắt ngang</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quan sát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liên quan tới Y?</a:t>
            </a:r>
          </a:p>
          <a:p>
            <a:pPr marL="0" indent="0" algn="ctr">
              <a:lnSpc>
                <a:spcPct val="104000"/>
              </a:lnSpc>
              <a:spcBef>
                <a:spcPts val="400"/>
              </a:spcBef>
              <a:buNone/>
            </a:pPr>
            <a:r>
              <a:rPr lang="en-US" sz="1750" dirty="0">
                <a:solidFill>
                  <a:srgbClr val="000000"/>
                </a:solidFill>
                <a:latin typeface="Arial"/>
                <a:cs typeface="Arial"/>
              </a:rPr>
              <a:t>"Cân bằng dịch dương có liên quan tới tử vong không?"</a:t>
            </a:r>
          </a:p>
          <a:p>
            <a:pPr marL="0" indent="0" algn="ctr">
              <a:lnSpc>
                <a:spcPct val="104000"/>
              </a:lnSpc>
              <a:spcBef>
                <a:spcPts val="400"/>
              </a:spcBef>
              <a:buNone/>
            </a:pPr>
            <a:r>
              <a:rPr lang="en-US" sz="1750" b="1" dirty="0">
                <a:solidFill>
                  <a:srgbClr val="000000"/>
                </a:solidFill>
                <a:latin typeface="Arial"/>
                <a:cs typeface="Arial"/>
              </a:rPr>
              <a:t>Thuần tập, bệnh-chứng</a:t>
            </a:r>
          </a:p>
        </p:txBody>
      </p:sp>
      <p:sp>
        <p:nvSpPr>
          <p:cNvPr id="74" name="CardHead"/>
          <p:cNvSpPr/>
          <p:nvPr/>
        </p:nvSpPr>
        <p:spPr>
          <a:xfrm>
            <a:off x="8108932" y="201855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can thiệp</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gây ra Y?</a:t>
            </a:r>
          </a:p>
          <a:p>
            <a:pPr marL="0" indent="0" algn="ctr">
              <a:lnSpc>
                <a:spcPct val="104000"/>
              </a:lnSpc>
              <a:spcBef>
                <a:spcPts val="400"/>
              </a:spcBef>
              <a:buNone/>
            </a:pPr>
            <a:r>
              <a:rPr lang="en-US" sz="1750" dirty="0">
                <a:solidFill>
                  <a:srgbClr val="000000"/>
                </a:solidFill>
                <a:latin typeface="Arial"/>
                <a:cs typeface="Arial"/>
              </a:rPr>
              <a:t>"Hạn chế dịch có làm giảm tử vong 28 ngày không?"</a:t>
            </a:r>
          </a:p>
          <a:p>
            <a:pPr marL="0" indent="0" algn="ctr">
              <a:lnSpc>
                <a:spcPct val="104000"/>
              </a:lnSpc>
              <a:spcBef>
                <a:spcPts val="400"/>
              </a:spcBef>
              <a:buNone/>
            </a:pPr>
            <a:r>
              <a:rPr lang="en-US" sz="1750" b="1" dirty="0">
                <a:solidFill>
                  <a:srgbClr val="000000"/>
                </a:solidFill>
                <a:latin typeface="Arial"/>
                <a:cs typeface="Arial"/>
              </a:rPr>
              <a:t>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mô tả để mô tả. Câu hỏi phân tích để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"Truyền dịch có hại cho người bệnh ICU không?"</a:t>
            </a:r>
          </a:p>
          <a:p>
            <a:pPr marL="0" indent="0" algn="ctr">
              <a:lnSpc>
                <a:spcPct val="104000"/>
              </a:lnSpc>
              <a:spcBef>
                <a:spcPts val="400"/>
              </a:spcBef>
              <a:buNone/>
            </a:pPr>
            <a:r>
              <a:rPr lang="en-US" sz="1950" dirty="0">
                <a:solidFill>
                  <a:srgbClr val="000000"/>
                </a:solidFill>
                <a:latin typeface="Arial"/>
                <a:cs typeface="Arial"/>
              </a:rPr>
              <a:t>Người bệnh nào?</a:t>
            </a:r>
          </a:p>
          <a:p>
            <a:pPr marL="0" indent="0" algn="ctr">
              <a:lnSpc>
                <a:spcPct val="104000"/>
              </a:lnSpc>
              <a:spcBef>
                <a:spcPts val="400"/>
              </a:spcBef>
              <a:buNone/>
            </a:pPr>
            <a:r>
              <a:rPr lang="en-US" sz="1950" dirty="0">
                <a:solidFill>
                  <a:srgbClr val="000000"/>
                </a:solidFill>
                <a:latin typeface="Arial"/>
                <a:cs typeface="Arial"/>
              </a:rPr>
              <a:t>Dịch gì, bao nhiêu?</a:t>
            </a:r>
          </a:p>
          <a:p>
            <a:pPr marL="0" indent="0" algn="ctr">
              <a:lnSpc>
                <a:spcPct val="104000"/>
              </a:lnSpc>
              <a:spcBef>
                <a:spcPts val="400"/>
              </a:spcBef>
              <a:buNone/>
            </a:pPr>
            <a:r>
              <a:rPr lang="en-US" sz="1950" dirty="0">
                <a:solidFill>
                  <a:srgbClr val="000000"/>
                </a:solidFill>
                <a:latin typeface="Arial"/>
                <a:cs typeface="Arial"/>
              </a:rPr>
              <a:t>Có hại so với cái gì?</a:t>
            </a:r>
          </a:p>
          <a:p>
            <a:pPr marL="0" indent="0" algn="ctr">
              <a:lnSpc>
                <a:spcPct val="104000"/>
              </a:lnSpc>
              <a:spcBef>
                <a:spcPts val="400"/>
              </a:spcBef>
              <a:buNone/>
            </a:pPr>
            <a:r>
              <a:rPr lang="en-US" sz="1950" dirty="0">
                <a:solidFill>
                  <a:srgbClr val="000000"/>
                </a:solidFill>
                <a:latin typeface="Arial"/>
                <a:cs typeface="Arial"/>
              </a:rPr>
              <a:t>Hại thế nào? Khi nào?</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người lớn bị sốc nhiễm khuẩn tại ICU,</a:t>
            </a:r>
          </a:p>
          <a:p>
            <a:pPr marL="0" indent="0" algn="ctr">
              <a:lnSpc>
                <a:spcPct val="104000"/>
              </a:lnSpc>
              <a:spcBef>
                <a:spcPts val="400"/>
              </a:spcBef>
              <a:buNone/>
            </a:pPr>
            <a:r>
              <a:rPr lang="en-US" sz="1950" dirty="0">
                <a:solidFill>
                  <a:srgbClr val="000000"/>
                </a:solidFill>
                <a:latin typeface="Arial"/>
                <a:cs typeface="Arial"/>
              </a:rPr>
              <a:t>I: chiến lược hạn chế dịch,</a:t>
            </a:r>
          </a:p>
          <a:p>
            <a:pPr marL="0" indent="0" algn="ctr">
              <a:lnSpc>
                <a:spcPct val="104000"/>
              </a:lnSpc>
              <a:spcBef>
                <a:spcPts val="400"/>
              </a:spcBef>
              <a:buNone/>
            </a:pPr>
            <a:r>
              <a:rPr lang="en-US" sz="1950" dirty="0">
                <a:solidFill>
                  <a:srgbClr val="000000"/>
                </a:solidFill>
                <a:latin typeface="Arial"/>
                <a:cs typeface="Arial"/>
              </a:rPr>
              <a:t>C: so với chăm sóc thường quy,</a:t>
            </a:r>
          </a:p>
          <a:p>
            <a:pPr marL="0" indent="0" algn="ctr">
              <a:lnSpc>
                <a:spcPct val="104000"/>
              </a:lnSpc>
              <a:spcBef>
                <a:spcPts val="400"/>
              </a:spcBef>
              <a:buNone/>
            </a:pPr>
            <a:r>
              <a:rPr lang="en-US" sz="1950" dirty="0">
                <a:solidFill>
                  <a:srgbClr val="000000"/>
                </a:solidFill>
                <a:latin typeface="Arial"/>
                <a:cs typeface="Arial"/>
              </a:rPr>
              <a:t>O: có làm giảm tử vong</a:t>
            </a:r>
          </a:p>
          <a:p>
            <a:pPr marL="0" indent="0" algn="ctr">
              <a:lnSpc>
                <a:spcPct val="104000"/>
              </a:lnSpc>
              <a:spcBef>
                <a:spcPts val="400"/>
              </a:spcBef>
              <a:buNone/>
            </a:pPr>
            <a:r>
              <a:rPr lang="en-US" sz="1950" dirty="0">
                <a:solidFill>
                  <a:srgbClr val="000000"/>
                </a:solidFill>
                <a:latin typeface="Arial"/>
                <a:cs typeface="Arial"/>
              </a:rPr>
              <a:t>T: 28 ngày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điền đủ các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Kiểm tra mọi câu hỏi với năm tiêu chí trước khi bỏ thời gian vào nó.</a:t>
            </a:r>
          </a:p>
        </p:txBody>
      </p:sp>
      <p:sp>
        <p:nvSpPr>
          <p:cNvPr id="70" name="CardHead"/>
          <p:cNvSpPr/>
          <p:nvPr/>
        </p:nvSpPr>
        <p:spPr>
          <a:xfrm>
            <a:off x="457200" y="208099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(Feasible)</a:t>
            </a:r>
          </a:p>
          <a:p>
            <a:pPr marL="0" indent="0" algn="ctr">
              <a:lnSpc>
                <a:spcPct val="104000"/>
              </a:lnSpc>
              <a:spcBef>
                <a:spcPts val="400"/>
              </a:spcBef>
              <a:buNone/>
            </a:pPr>
            <a:r>
              <a:rPr lang="en-US" sz="1450" dirty="0">
                <a:solidFill>
                  <a:srgbClr val="000000"/>
                </a:solidFill>
                <a:latin typeface="Arial"/>
                <a:cs typeface="Arial"/>
              </a:rPr>
              <a:t>Đủ người bệnh</a:t>
            </a:r>
          </a:p>
          <a:p>
            <a:pPr marL="0" indent="0" algn="ctr">
              <a:lnSpc>
                <a:spcPct val="104000"/>
              </a:lnSpc>
              <a:spcBef>
                <a:spcPts val="400"/>
              </a:spcBef>
              <a:buNone/>
            </a:pPr>
            <a:r>
              <a:rPr lang="en-US" sz="1450" dirty="0">
                <a:solidFill>
                  <a:srgbClr val="000000"/>
                </a:solidFill>
                <a:latin typeface="Arial"/>
                <a:cs typeface="Arial"/>
              </a:rPr>
              <a:t>Thời gian, kinh phí và kỹ năng</a:t>
            </a:r>
          </a:p>
          <a:p>
            <a:pPr marL="0" indent="0" algn="ctr">
              <a:lnSpc>
                <a:spcPct val="104000"/>
              </a:lnSpc>
              <a:spcBef>
                <a:spcPts val="400"/>
              </a:spcBef>
              <a:buNone/>
            </a:pPr>
            <a:r>
              <a:rPr lang="en-US" sz="1450" dirty="0">
                <a:solidFill>
                  <a:srgbClr val="000000"/>
                </a:solidFill>
                <a:latin typeface="Arial"/>
                <a:cs typeface="Arial"/>
              </a:rPr>
              <a:t>Lấy được dữ liệu</a:t>
            </a:r>
          </a:p>
        </p:txBody>
      </p:sp>
      <p:sp>
        <p:nvSpPr>
          <p:cNvPr id="72" name="CardHead"/>
          <p:cNvSpPr/>
          <p:nvPr/>
        </p:nvSpPr>
        <p:spPr>
          <a:xfrm>
            <a:off x="2752720" y="208099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(Interesting)</a:t>
            </a:r>
          </a:p>
          <a:p>
            <a:pPr marL="0" indent="0" algn="ctr">
              <a:lnSpc>
                <a:spcPct val="104000"/>
              </a:lnSpc>
              <a:spcBef>
                <a:spcPts val="400"/>
              </a:spcBef>
              <a:buNone/>
            </a:pPr>
            <a:r>
              <a:rPr lang="en-US" sz="1450" dirty="0">
                <a:solidFill>
                  <a:srgbClr val="000000"/>
                </a:solidFill>
                <a:latin typeface="Arial"/>
                <a:cs typeface="Arial"/>
              </a:rPr>
              <a:t>Với bạn và đồng nghiệp</a:t>
            </a:r>
          </a:p>
          <a:p>
            <a:pPr marL="0" indent="0" algn="ctr">
              <a:lnSpc>
                <a:spcPct val="104000"/>
              </a:lnSpc>
              <a:spcBef>
                <a:spcPts val="400"/>
              </a:spcBef>
              <a:buNone/>
            </a:pPr>
            <a:r>
              <a:rPr lang="en-US" sz="1450" dirty="0">
                <a:solidFill>
                  <a:srgbClr val="000000"/>
                </a:solidFill>
                <a:latin typeface="Arial"/>
                <a:cs typeface="Arial"/>
              </a:rPr>
              <a:t>Với người đọc</a:t>
            </a:r>
          </a:p>
        </p:txBody>
      </p:sp>
      <p:sp>
        <p:nvSpPr>
          <p:cNvPr id="74" name="CardHead"/>
          <p:cNvSpPr/>
          <p:nvPr/>
        </p:nvSpPr>
        <p:spPr>
          <a:xfrm>
            <a:off x="5048240" y="208099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(Novel)</a:t>
            </a:r>
          </a:p>
          <a:p>
            <a:pPr marL="0" indent="0" algn="ctr">
              <a:lnSpc>
                <a:spcPct val="104000"/>
              </a:lnSpc>
              <a:spcBef>
                <a:spcPts val="400"/>
              </a:spcBef>
              <a:buNone/>
            </a:pPr>
            <a:r>
              <a:rPr lang="en-US" sz="1450" dirty="0">
                <a:solidFill>
                  <a:srgbClr val="000000"/>
                </a:solidFill>
                <a:latin typeface="Arial"/>
                <a:cs typeface="Arial"/>
              </a:rPr>
              <a:t>Khẳng định, bác bỏ hoặc mở rộng điều đã biết</a:t>
            </a:r>
          </a:p>
        </p:txBody>
      </p:sp>
      <p:sp>
        <p:nvSpPr>
          <p:cNvPr id="76" name="CardHead"/>
          <p:cNvSpPr/>
          <p:nvPr/>
        </p:nvSpPr>
        <p:spPr>
          <a:xfrm>
            <a:off x="7343760" y="208099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(Ethical)</a:t>
            </a:r>
          </a:p>
          <a:p>
            <a:pPr marL="0" indent="0" algn="ctr">
              <a:lnSpc>
                <a:spcPct val="104000"/>
              </a:lnSpc>
              <a:spcBef>
                <a:spcPts val="400"/>
              </a:spcBef>
              <a:buNone/>
            </a:pPr>
            <a:r>
              <a:rPr lang="en-US" sz="1450" dirty="0">
                <a:solidFill>
                  <a:srgbClr val="000000"/>
                </a:solidFill>
                <a:latin typeface="Arial"/>
                <a:cs typeface="Arial"/>
              </a:rPr>
              <a:t>Hội đồng đạo đức có thể phê duyệt</a:t>
            </a:r>
          </a:p>
        </p:txBody>
      </p:sp>
      <p:sp>
        <p:nvSpPr>
          <p:cNvPr id="78" name="CardHead"/>
          <p:cNvSpPr/>
          <p:nvPr/>
        </p:nvSpPr>
        <p:spPr>
          <a:xfrm>
            <a:off x="9639280" y="208099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(Relevant)</a:t>
            </a:r>
          </a:p>
          <a:p>
            <a:pPr marL="0" indent="0" algn="ctr">
              <a:lnSpc>
                <a:spcPct val="104000"/>
              </a:lnSpc>
              <a:spcBef>
                <a:spcPts val="400"/>
              </a:spcBef>
              <a:buNone/>
            </a:pPr>
            <a:r>
              <a:rPr lang="en-US" sz="1450" dirty="0">
                <a:solidFill>
                  <a:srgbClr val="000000"/>
                </a:solidFill>
                <a:latin typeface="Arial"/>
                <a:cs typeface="Arial"/>
              </a:rPr>
              <a:t>Có thể thay đổi thực hành, chính sách 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Hạn chế dịch so với thường quy trong sốc nhiễm khuẩn: tử vong 28 ngày, tại chính ICU của bạn.</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Đỏ</a:t>
            </a:r>
          </a:p>
          <a:p>
            <a:pPr marL="0" indent="0" algn="ctr">
              <a:lnSpc>
                <a:spcPct val="104000"/>
              </a:lnSpc>
              <a:spcBef>
                <a:spcPts val="400"/>
              </a:spcBef>
              <a:buNone/>
            </a:pPr>
            <a:r>
              <a:rPr lang="en-US" sz="1450" dirty="0">
                <a:solidFill>
                  <a:srgbClr val="000000"/>
                </a:solidFill>
                <a:latin typeface="Arial"/>
                <a:cs typeface="Arial"/>
              </a:rPr>
              <a:t>Tử vong cần hơn 1000 người bệnh</a:t>
            </a:r>
          </a:p>
          <a:p>
            <a:pPr marL="0" indent="0" algn="ctr">
              <a:lnSpc>
                <a:spcPct val="104000"/>
              </a:lnSpc>
              <a:spcBef>
                <a:spcPts val="400"/>
              </a:spcBef>
              <a:buNone/>
            </a:pPr>
            <a:r>
              <a:rPr lang="en-US" sz="1450" dirty="0">
                <a:solidFill>
                  <a:srgbClr val="000000"/>
                </a:solidFill>
                <a:latin typeface="Arial"/>
                <a:cs typeface="Arial"/>
              </a:rPr>
              <a:t>Quá lớn với một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Dịch truyền được bàn cãi ở mọi buổi đi buồng</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Đã có những thử nghiệm lớn</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Cả hai chiến lược đang được dùng</a:t>
            </a:r>
          </a:p>
          <a:p>
            <a:pPr marL="0" indent="0" algn="ctr">
              <a:lnSpc>
                <a:spcPct val="104000"/>
              </a:lnSpc>
              <a:spcBef>
                <a:spcPts val="400"/>
              </a:spcBef>
              <a:buNone/>
            </a:pPr>
            <a:r>
              <a:rPr lang="en-US" sz="1450" dirty="0">
                <a:solidFill>
                  <a:srgbClr val="000000"/>
                </a:solidFill>
                <a:latin typeface="Arial"/>
                <a:cs typeface="Arial"/>
              </a:rPr>
              <a:t>Xin đồng ý ở ICU cần thận trọng</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Người bệnh sốc nhiễm khuẩn nào cũng được truyền dịch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Quan trọng, nhưng quá lớn với một ICU. Bước tiếp theo: thu nhỏ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cứu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Bài tập 1 trong phiếu bài tập Buổi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đưa ra ba phiên bản nhỏ hơn của câu hỏi: A, B và C (bên phải)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ICU của bạn làm được phiên bản nào trong vòng hai năm?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phiên bản được chọn, người được mời nói P, I hoặc E, C, O và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Cùng nhau: gọi tên loại câu hỏi và tô màu từng chữ cái FINER</a:t>
            </a:r>
          </a:p>
        </p:txBody>
      </p:sp>
      <p:sp>
        <p:nvSpPr>
          <p:cNvPr id="52" name="Side"/>
          <p:cNvSpPr/>
          <p:nvPr/>
        </p:nvSpPr>
        <p:spPr>
          <a:xfrm>
            <a:off x="7423760" y="1720000"/>
            <a:ext cx="4311040" cy="24061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Ba phiên bản</a:t>
            </a:r>
          </a:p>
          <a:p>
            <a:pPr marL="0" indent="0" algn="ctr">
              <a:lnSpc>
                <a:spcPct val="104000"/>
              </a:lnSpc>
              <a:spcBef>
                <a:spcPts val="300"/>
              </a:spcBef>
              <a:buNone/>
            </a:pPr>
            <a:r>
              <a:rPr lang="en-US" sz="1500" dirty="0">
                <a:solidFill>
                  <a:srgbClr val="000000"/>
                </a:solidFill>
                <a:latin typeface="Arial"/>
                <a:cs typeface="Arial"/>
              </a:rPr>
              <a:t>A: quy trình hạn chế dịch so với thường quy, cân bằng dịch ngày 5 (thử nghiệm thí điểm)</a:t>
            </a:r>
          </a:p>
          <a:p>
            <a:pPr marL="0" indent="0" algn="ctr">
              <a:lnSpc>
                <a:spcPct val="104000"/>
              </a:lnSpc>
              <a:spcBef>
                <a:spcPts val="300"/>
              </a:spcBef>
              <a:buNone/>
            </a:pPr>
            <a:r>
              <a:rPr lang="en-US" sz="1500" dirty="0">
                <a:solidFill>
                  <a:srgbClr val="000000"/>
                </a:solidFill>
                <a:latin typeface="Arial"/>
                <a:cs typeface="Arial"/>
              </a:rPr>
              <a:t>B: có hay không cân bằng dịch dương đến ngày 3, tử vong đến ngày 28 (thuần tập)</a:t>
            </a:r>
          </a:p>
          <a:p>
            <a:pPr marL="0" indent="0" algn="ctr">
              <a:lnSpc>
                <a:spcPct val="104000"/>
              </a:lnSpc>
              <a:spcBef>
                <a:spcPts val="300"/>
              </a:spcBef>
              <a:buNone/>
            </a:pPr>
            <a:r>
              <a:rPr lang="en-US" sz="1500" dirty="0">
                <a:solidFill>
                  <a:srgbClr val="000000"/>
                </a:solidFill>
                <a:latin typeface="Arial"/>
                <a:cs typeface="Arial"/>
              </a:rPr>
              <a:t>C: bao nhiêu người bệnh của bạn có cân bằng dịch dương ở ngày 3? (mô tả)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chung của lớp, có PICO(T) và màu FINER, gõ trên màn hình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Mục tiêu và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Câu hỏi cho biết mình muốn biết gì. Mục tiêu cho biết mình sẽ làm gì.</a:t>
            </a:r>
          </a:p>
          <a:p>
            <a:pPr marL="0" indent="0" algn="ctr">
              <a:spcBef>
                <a:spcPts val="1200"/>
              </a:spcBef>
              <a:buNone/>
            </a:pPr>
            <a:r>
              <a:rPr lang="en-US" sz="1900" i="1" dirty="0">
                <a:solidFill>
                  <a:srgbClr val="595959"/>
                </a:solidFill>
                <a:latin typeface="Arial"/>
                <a:cs typeface="Arial"/>
              </a:rPr>
              <a:t>20 phút: mục tiêu tổng quát, mục tiêu cụ thể, giả thuyết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Mục đích chung, trong một câu</a:t>
            </a:r>
          </a:p>
          <a:p>
            <a:pPr marL="0" indent="0" algn="ctr">
              <a:lnSpc>
                <a:spcPct val="104000"/>
              </a:lnSpc>
              <a:spcBef>
                <a:spcPts val="400"/>
              </a:spcBef>
              <a:buNone/>
            </a:pPr>
            <a:r>
              <a:rPr lang="en-US" sz="1900" dirty="0">
                <a:solidFill>
                  <a:srgbClr val="000000"/>
                </a:solidFill>
                <a:latin typeface="Arial"/>
                <a:cs typeface="Arial"/>
              </a:rPr>
              <a:t>So sánh chiến lược hạn chế dịch với chăm sóc thường quy ở người lớn bị sốc nhiễm khuẩn tại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Việc cụ thể, với động từ đo được</a:t>
            </a:r>
          </a:p>
          <a:p>
            <a:pPr marL="0" indent="0" algn="ctr">
              <a:lnSpc>
                <a:spcPct val="104000"/>
              </a:lnSpc>
              <a:spcBef>
                <a:spcPts val="400"/>
              </a:spcBef>
              <a:buNone/>
            </a:pPr>
            <a:r>
              <a:rPr lang="en-US" sz="1900" dirty="0">
                <a:solidFill>
                  <a:srgbClr val="000000"/>
                </a:solidFill>
                <a:latin typeface="Arial"/>
                <a:cs typeface="Arial"/>
              </a:rPr>
              <a:t>Chính: so sánh tử vong 28 ngày</a:t>
            </a:r>
          </a:p>
          <a:p>
            <a:pPr marL="0" indent="0" algn="ctr">
              <a:lnSpc>
                <a:spcPct val="104000"/>
              </a:lnSpc>
              <a:spcBef>
                <a:spcPts val="400"/>
              </a:spcBef>
              <a:buNone/>
            </a:pPr>
            <a:r>
              <a:rPr lang="en-US" sz="1900" dirty="0">
                <a:solidFill>
                  <a:srgbClr val="000000"/>
                </a:solidFill>
                <a:latin typeface="Arial"/>
                <a:cs typeface="Arial"/>
              </a:rPr>
              <a:t>So sánh cân bằng dịch ngày 5</a:t>
            </a:r>
          </a:p>
          <a:p>
            <a:pPr marL="0" indent="0" algn="ctr">
              <a:lnSpc>
                <a:spcPct val="104000"/>
              </a:lnSpc>
              <a:spcBef>
                <a:spcPts val="400"/>
              </a:spcBef>
              <a:buNone/>
            </a:pPr>
            <a:r>
              <a:rPr lang="en-US" sz="1900" dirty="0">
                <a:solidFill>
                  <a:srgbClr val="000000"/>
                </a:solidFill>
                <a:latin typeface="Arial"/>
                <a:cs typeface="Arial"/>
              </a:rPr>
              <a:t>So sánh tổn thương thận cần lọc máu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mục tiêu tổng quát, 2-3 mục tiêu cụ thể đo được. Đánh dấu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cụ thể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mơ hồ</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tìm hiểu, biết, nghiên cứu về, khám phá, xem xét</a:t>
            </a:r>
          </a:p>
          <a:p>
            <a:pPr marL="0" indent="0" algn="ctr">
              <a:lnSpc>
                <a:spcPct val="104000"/>
              </a:lnSpc>
              <a:spcBef>
                <a:spcPts val="400"/>
              </a:spcBef>
              <a:buNone/>
            </a:pPr>
            <a:r>
              <a:rPr lang="en-US" sz="2000" i="1" dirty="0">
                <a:solidFill>
                  <a:srgbClr val="000000"/>
                </a:solidFill>
                <a:latin typeface="Arial"/>
                <a:cs typeface="Arial"/>
              </a:rPr>
              <a:t>"Tìm hiểu về quản lý dịch truyền tại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đo được</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so sánh, ước tính, mô tả, xác định, đo lường</a:t>
            </a:r>
          </a:p>
          <a:p>
            <a:pPr marL="0" indent="0" algn="ctr">
              <a:lnSpc>
                <a:spcPct val="104000"/>
              </a:lnSpc>
              <a:spcBef>
                <a:spcPts val="400"/>
              </a:spcBef>
              <a:buNone/>
            </a:pPr>
            <a:r>
              <a:rPr lang="en-US" sz="2000" i="1" dirty="0">
                <a:solidFill>
                  <a:srgbClr val="000000"/>
                </a:solidFill>
                <a:latin typeface="Arial"/>
                <a:cs typeface="Arial"/>
              </a:rPr>
              <a:t>"So sánh cân bằng dịch tích lũy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nói được sẽ đo bằng cách nào, đó chưa phải là mục tiêu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Giả thuyết là câu trả lời dự kiến cho mục tiêu chính: so sánh tử vong 28 ngày.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giả thuyết không</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như nhau</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giả thuyết đối</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khác nhau</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H0: dữ liệu có thể bác bỏ H0, nhưng không bao giờ chứng minh được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Bài tập nhanh: mục tiêu và giả thuyết cho nghiên cứu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Câu hỏi thí điểm (phiên bản A): ở người lớn bị sốc nhiễm khuẩn, quy trình hạn chế dịch, so với chăm sóc thường quy, có làm giảm cân bằng dịch tích lũy ngày 5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một mục tiêu tổng quát: 'So sánh...'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hai mục tiêu cụ thể với động từ đo được. Đánh dấu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H0 và H1 cho mục tiêu chính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Động từ dùng được</a:t>
            </a:r>
          </a:p>
          <a:p>
            <a:pPr marL="0" indent="0" algn="ctr">
              <a:lnSpc>
                <a:spcPct val="104000"/>
              </a:lnSpc>
              <a:spcBef>
                <a:spcPts val="300"/>
              </a:spcBef>
              <a:buNone/>
            </a:pPr>
            <a:r>
              <a:rPr lang="en-US" sz="1500" dirty="0">
                <a:solidFill>
                  <a:srgbClr val="000000"/>
                </a:solidFill>
                <a:latin typeface="Arial"/>
                <a:cs typeface="Arial"/>
              </a:rPr>
              <a:t>so sánh</a:t>
            </a:r>
          </a:p>
          <a:p>
            <a:pPr marL="0" indent="0" algn="ctr">
              <a:lnSpc>
                <a:spcPct val="104000"/>
              </a:lnSpc>
              <a:spcBef>
                <a:spcPts val="300"/>
              </a:spcBef>
              <a:buNone/>
            </a:pPr>
            <a:r>
              <a:rPr lang="en-US" sz="1500" dirty="0">
                <a:solidFill>
                  <a:srgbClr val="000000"/>
                </a:solidFill>
                <a:latin typeface="Arial"/>
                <a:cs typeface="Arial"/>
              </a:rPr>
              <a:t>ước tính</a:t>
            </a:r>
          </a:p>
          <a:p>
            <a:pPr marL="0" indent="0" algn="ctr">
              <a:lnSpc>
                <a:spcPct val="104000"/>
              </a:lnSpc>
              <a:spcBef>
                <a:spcPts val="300"/>
              </a:spcBef>
              <a:buNone/>
            </a:pPr>
            <a:r>
              <a:rPr lang="en-US" sz="1500" dirty="0">
                <a:solidFill>
                  <a:srgbClr val="000000"/>
                </a:solidFill>
                <a:latin typeface="Arial"/>
                <a:cs typeface="Arial"/>
              </a:rPr>
              <a:t>mô tả</a:t>
            </a:r>
          </a:p>
          <a:p>
            <a:pPr marL="0" indent="0" algn="ctr">
              <a:lnSpc>
                <a:spcPct val="104000"/>
              </a:lnSpc>
              <a:spcBef>
                <a:spcPts val="300"/>
              </a:spcBef>
              <a:buNone/>
            </a:pPr>
            <a:r>
              <a:rPr lang="en-US" sz="1500" dirty="0">
                <a:solidFill>
                  <a:srgbClr val="000000"/>
                </a:solidFill>
                <a:latin typeface="Arial"/>
                <a:cs typeface="Arial"/>
              </a:rPr>
              <a:t>xác định</a:t>
            </a:r>
          </a:p>
          <a:p>
            <a:pPr marL="0" indent="0" algn="ctr">
              <a:lnSpc>
                <a:spcPct val="104000"/>
              </a:lnSpc>
              <a:spcBef>
                <a:spcPts val="300"/>
              </a:spcBef>
              <a:buNone/>
            </a:pPr>
            <a:r>
              <a:rPr lang="en-US" sz="1500" dirty="0">
                <a:solidFill>
                  <a:srgbClr val="000000"/>
                </a:solidFill>
                <a:latin typeface="Arial"/>
                <a:cs typeface="Arial"/>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Bài tập 2 trong phiếu bài tập. Hai ba người đọc to bài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mẫu: câu hỏi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quy trình hạn chế dịch với chăm sóc thường quy ở người lớn bị sốc nhiễm khuẩn tại ICU của bạn</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Chính: so sánh cân bằng dịch tích lũy (ml/kg) ở ngày 5 giữa hai nhóm</a:t>
            </a:r>
          </a:p>
          <a:p>
            <a:pPr marL="0" indent="0" algn="ctr">
              <a:lnSpc>
                <a:spcPct val="104000"/>
              </a:lnSpc>
              <a:spcBef>
                <a:spcPts val="400"/>
              </a:spcBef>
              <a:buNone/>
            </a:pPr>
            <a:r>
              <a:rPr lang="en-US" sz="1750" dirty="0">
                <a:solidFill>
                  <a:srgbClr val="000000"/>
                </a:solidFill>
                <a:latin typeface="Arial"/>
                <a:cs typeface="Arial"/>
              </a:rPr>
              <a:t>Phụ: ước tính tốc độ tuyển chọn và mức tuân thủ quy trình (tính khả thi)</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cân bằng dịch tích lũy ở ngày 5 như nhau ở hai nhóm</a:t>
            </a:r>
          </a:p>
          <a:p>
            <a:pPr marL="0" indent="0" algn="ctr">
              <a:lnSpc>
                <a:spcPct val="104000"/>
              </a:lnSpc>
              <a:spcBef>
                <a:spcPts val="400"/>
              </a:spcBef>
              <a:buNone/>
            </a:pPr>
            <a:r>
              <a:rPr lang="en-US" sz="1750" dirty="0">
                <a:solidFill>
                  <a:srgbClr val="000000"/>
                </a:solidFill>
                <a:latin typeface="Arial"/>
                <a:cs typeface="Arial"/>
              </a:rPr>
              <a:t>H1: có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Mục tiêu tổng quát,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bắt đầu đề cương của riêng bạn: một câu hỏi, một mục tiêu tổng quát.</a:t>
            </a:r>
          </a:p>
          <a:p>
            <a:pPr marL="0" indent="0" algn="ctr">
              <a:spcBef>
                <a:spcPts val="1200"/>
              </a:spcBef>
              <a:buNone/>
            </a:pPr>
            <a:r>
              <a:rPr lang="en-US" sz="1900" i="1" dirty="0">
                <a:solidFill>
                  <a:srgbClr val="595959"/>
                </a:solidFill>
                <a:latin typeface="Arial"/>
                <a:cs typeface="Arial"/>
              </a:rPr>
              <a:t>30 phút: giảng viên làm mẫu Phần 1 trên ví dụ xuyên suốt, rồi bạn viết phần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 câu hỏi của riêng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điền Phần 1 của mẫu đề cương cho ví dụ xuyên suốt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Mở bản mẫu đề cương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một vấn đề từ chính khoa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câu hỏi PICO(T) và kiểm tra bằng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Thêm một mục tiêu tổng quát, 2-3 mục tiêu cụ thể (đánh dấu mục tiêu chính) và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câu hỏi</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0-8 phút: giảng viên làm mẫu Phần 1</a:t>
            </a:r>
          </a:p>
          <a:p>
            <a:pPr marL="0" indent="0" algn="ctr">
              <a:lnSpc>
                <a:spcPct val="104000"/>
              </a:lnSpc>
              <a:spcBef>
                <a:spcPts val="300"/>
              </a:spcBef>
              <a:buNone/>
            </a:pPr>
            <a:r>
              <a:rPr lang="en-US" sz="1500" dirty="0">
                <a:solidFill>
                  <a:srgbClr val="000000"/>
                </a:solidFill>
                <a:latin typeface="Arial"/>
                <a:cs typeface="Arial"/>
              </a:rPr>
              <a:t>8-25 phút: bạn tự viết</a:t>
            </a:r>
          </a:p>
          <a:p>
            <a:pPr marL="0" indent="0" algn="ctr">
              <a:lnSpc>
                <a:spcPct val="104000"/>
              </a:lnSpc>
              <a:spcBef>
                <a:spcPts val="300"/>
              </a:spcBef>
              <a:buNone/>
            </a:pPr>
            <a:r>
              <a:rPr lang="en-US" sz="1500" dirty="0">
                <a:solidFill>
                  <a:srgbClr val="000000"/>
                </a:solidFill>
                <a:latin typeface="Arial"/>
                <a:cs typeface="Arial"/>
              </a:rPr>
              <a:t>25-30 phút: hai bạn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Bắt đầu Đề cương Phần 1: câu hỏi, FINER, mục tiêu, giả thuyết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Tháp bằng chứng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Xếp hạng thiết kế theo mức chống sai lệch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Đối tượng, Can thiệp, So sánh, Kết cục, Thời gian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Như PICO, với E = Phơi nhiễm, cho yếu tố không do mình chỉ định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Khả thi, Thú vị, Mới, Đạo đức, Phù hợp</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Mục tiêu tổng quát / cụ thể</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Mục đích chung / việc cụ thể, đo được</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khác biệt / có khác biệt (kiểm định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Vì sao nghiên cứu</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Kinh nghiệm gợi ra câu hỏi</a:t>
            </a:r>
          </a:p>
          <a:p>
            <a:pPr marL="0" indent="0" algn="ctr">
              <a:lnSpc>
                <a:spcPct val="104000"/>
              </a:lnSpc>
              <a:spcBef>
                <a:spcPts val="400"/>
              </a:spcBef>
              <a:buNone/>
            </a:pPr>
            <a:r>
              <a:rPr lang="en-US" sz="1750" dirty="0">
                <a:solidFill>
                  <a:srgbClr val="000000"/>
                </a:solidFill>
                <a:latin typeface="Arial"/>
                <a:cs typeface="Arial"/>
              </a:rPr>
              <a:t>So sánh công bằng trên đủ người bệnh trả lời câu hỏi</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Hỏi chính xác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câu hỏi PICO(T)</a:t>
            </a:r>
          </a:p>
          <a:p>
            <a:pPr marL="0" indent="0" algn="ctr">
              <a:lnSpc>
                <a:spcPct val="104000"/>
              </a:lnSpc>
              <a:spcBef>
                <a:spcPts val="400"/>
              </a:spcBef>
              <a:buNone/>
            </a:pPr>
            <a:r>
              <a:rPr lang="en-US" sz="1750" dirty="0">
                <a:solidFill>
                  <a:srgbClr val="000000"/>
                </a:solidFill>
                <a:latin typeface="Arial"/>
                <a:cs typeface="Arial"/>
              </a:rPr>
              <a:t>Một kết cục chính</a:t>
            </a:r>
          </a:p>
          <a:p>
            <a:pPr marL="0" indent="0" algn="ctr">
              <a:lnSpc>
                <a:spcPct val="104000"/>
              </a:lnSpc>
              <a:spcBef>
                <a:spcPts val="400"/>
              </a:spcBef>
              <a:buNone/>
            </a:pPr>
            <a:r>
              <a:rPr lang="en-US" sz="1750" dirty="0">
                <a:solidFill>
                  <a:srgbClr val="000000"/>
                </a:solidFill>
                <a:latin typeface="Arial"/>
                <a:cs typeface="Arial"/>
              </a:rPr>
              <a:t>Kiểm tra FINER trước khi bắt đầu</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mục tiêu tổng quát</a:t>
            </a:r>
          </a:p>
          <a:p>
            <a:pPr marL="0" indent="0" algn="ctr">
              <a:lnSpc>
                <a:spcPct val="104000"/>
              </a:lnSpc>
              <a:spcBef>
                <a:spcPts val="400"/>
              </a:spcBef>
              <a:buNone/>
            </a:pPr>
            <a:r>
              <a:rPr lang="en-US" sz="1750" dirty="0">
                <a:solidFill>
                  <a:srgbClr val="000000"/>
                </a:solidFill>
                <a:latin typeface="Arial"/>
                <a:cs typeface="Arial"/>
              </a:rPr>
              <a:t>2-3 mục tiêu cụ thể đo được</a:t>
            </a:r>
          </a:p>
          <a:p>
            <a:pPr marL="0" indent="0" algn="ctr">
              <a:lnSpc>
                <a:spcPct val="104000"/>
              </a:lnSpc>
              <a:spcBef>
                <a:spcPts val="400"/>
              </a:spcBef>
              <a:buNone/>
            </a:pPr>
            <a:r>
              <a:rPr lang="en-US" sz="1750" dirty="0">
                <a:solidFill>
                  <a:srgbClr val="000000"/>
                </a:solidFill>
                <a:latin typeface="Arial"/>
                <a:cs typeface="Arial"/>
              </a:rPr>
              <a:t>H0 và 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ví dụ xuyên suốt trượt tiêu chí FINER nào, và vì sao?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viết lại thành mục tiêu cụ thể: 'Tìm hiểu về cân bằng dịch tại ICU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bản nháp Đề cương Phần 1: câu hỏi, FINER, mục tiêu,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4 trong phiếu bài tập: 2-3 từ đồng nghĩa tiếng Anh cho mỗi từ PICO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Cài Zotero (miễn phí, zotero.org) và plug-in cho Word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Chuẩn bị cho thứ Bảy tuần sau</a:t>
            </a:r>
          </a:p>
          <a:p>
            <a:pPr marL="0" indent="0" algn="ctr">
              <a:lnSpc>
                <a:spcPct val="104000"/>
              </a:lnSpc>
              <a:spcBef>
                <a:spcPts val="300"/>
              </a:spcBef>
              <a:buNone/>
            </a:pPr>
            <a:r>
              <a:rPr lang="en-US" sz="1500" dirty="0">
                <a:solidFill>
                  <a:srgbClr val="000000"/>
                </a:solidFill>
                <a:latin typeface="Arial"/>
                <a:cs typeface="Arial"/>
              </a:rPr>
              <a:t>Câu hỏi PICO của bạn</a:t>
            </a:r>
          </a:p>
          <a:p>
            <a:pPr marL="0" indent="0" algn="ctr">
              <a:lnSpc>
                <a:spcPct val="104000"/>
              </a:lnSpc>
              <a:spcBef>
                <a:spcPts val="300"/>
              </a:spcBef>
              <a:buNone/>
            </a:pPr>
            <a:r>
              <a:rPr lang="en-US" sz="1500" dirty="0">
                <a:solidFill>
                  <a:srgbClr val="000000"/>
                </a:solidFill>
                <a:latin typeface="Arial"/>
                <a:cs typeface="Arial"/>
              </a:rPr>
              <a:t>Danh sách từ đồng nghĩa</a:t>
            </a:r>
          </a:p>
          <a:p>
            <a:pPr marL="0" indent="0" algn="ctr">
              <a:lnSpc>
                <a:spcPct val="104000"/>
              </a:lnSpc>
              <a:spcBef>
                <a:spcPts val="300"/>
              </a:spcBef>
              <a:buNone/>
            </a:pPr>
            <a:r>
              <a:rPr lang="en-US" sz="1500" dirty="0">
                <a:solidFill>
                  <a:srgbClr val="000000"/>
                </a:solidFill>
                <a:latin typeface="Arial"/>
                <a:cs typeface="Arial"/>
              </a:rPr>
              <a:t>Máy tính đã cài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hỏi, danh sách từ đồng nghĩa và Zotero sẵn sàng cho buổi tìm kiếm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1</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Audit lâm sàng</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Cải tiến chất lượng (QI)</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Câu hỏi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Cách làm nào tốt nhất?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có đạt tiêu chuẩn không?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Làm sao tốt hơn, từng bước?</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Ví dụ dịch truyền</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Hạn chế hay thường quy: cách nào tốt hơn?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có được ghi hằng ngày?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Bảng kiểm hằng ngày, thử qua từng vòng nhỏ</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Kết quả dùng cho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Người bệnh ở nơi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Đạo đức</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Luôn cần hội đồng đạo đức phê duyệt</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thường không cần hội đồng</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xét đạo đức nếu có rủi ro mới</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chắc là loại nào? Hãy hỏi hội đồng đạo đức trước khi bắt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hỏi cách nào tốt nhất. Audit hỏi mình có làm đúng không. QI giúp làm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ví dụ viết thành câu hỏi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Slide dự phòng cho 'Ba ví dụ khác': viết câu hỏi cho từng dòng, rồi so sánh.</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trị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thở máy tại ICU, bảng kiểm đầu giường 2 lần/ngày, so với chăm sóc thường quy, có làm giảm viêm phổi liên quan thở máy đến ngày 28 tại ICU không?</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Yếu tố nguy cơ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nằm khoa nội, béo phì (BMI từ 30 trở lên), so với BMI dưới 30, có liên quan với tổn thương do tì đè mới trong thời gian nằm viện không?</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Bao nhiêu?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từ 65 tuổi trở lên sau mổ gãy cổ xương đùi, mê sảng xảy ra ở bao nhiêu người trong 7 ngày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câu hỏi nêu rõ người bệnh, phép so sánh (nếu có), kết cục và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6170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Chẩn đoán</a:t>
            </a:r>
          </a:p>
        </p:txBody>
      </p:sp>
      <p:sp>
        <p:nvSpPr>
          <p:cNvPr id="71" name="CardBody"/>
          <p:cNvSpPr/>
          <p:nvPr/>
        </p:nvSpPr>
        <p:spPr>
          <a:xfrm>
            <a:off x="457200"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được xét nghiệm</a:t>
            </a:r>
          </a:p>
          <a:p>
            <a:pPr marL="0" indent="0" algn="ctr">
              <a:lnSpc>
                <a:spcPct val="104000"/>
              </a:lnSpc>
              <a:spcBef>
                <a:spcPts val="400"/>
              </a:spcBef>
              <a:buNone/>
            </a:pPr>
            <a:r>
              <a:rPr lang="en-US" sz="1400" dirty="0">
                <a:solidFill>
                  <a:srgbClr val="000000"/>
                </a:solidFill>
                <a:latin typeface="Arial"/>
                <a:cs typeface="Arial"/>
              </a:rPr>
              <a:t>I: xét nghiệm mới</a:t>
            </a:r>
          </a:p>
          <a:p>
            <a:pPr marL="0" indent="0" algn="ctr">
              <a:lnSpc>
                <a:spcPct val="104000"/>
              </a:lnSpc>
              <a:spcBef>
                <a:spcPts val="400"/>
              </a:spcBef>
              <a:buNone/>
            </a:pPr>
            <a:r>
              <a:rPr lang="en-US" sz="1400" dirty="0">
                <a:solidFill>
                  <a:srgbClr val="000000"/>
                </a:solidFill>
                <a:latin typeface="Arial"/>
                <a:cs typeface="Arial"/>
              </a:rPr>
              <a:t>C: tiêu chuẩn tham chiếu</a:t>
            </a:r>
          </a:p>
          <a:p>
            <a:pPr marL="0" indent="0" algn="ctr">
              <a:lnSpc>
                <a:spcPct val="104000"/>
              </a:lnSpc>
              <a:spcBef>
                <a:spcPts val="400"/>
              </a:spcBef>
              <a:buNone/>
            </a:pPr>
            <a:r>
              <a:rPr lang="en-US" sz="1400" dirty="0">
                <a:solidFill>
                  <a:srgbClr val="000000"/>
                </a:solidFill>
                <a:latin typeface="Arial"/>
                <a:cs typeface="Arial"/>
              </a:rPr>
              <a:t>O: độ chính xác</a:t>
            </a:r>
          </a:p>
          <a:p>
            <a:pPr marL="0" indent="0" algn="ctr">
              <a:lnSpc>
                <a:spcPct val="104000"/>
              </a:lnSpc>
              <a:spcBef>
                <a:spcPts val="400"/>
              </a:spcBef>
              <a:buNone/>
            </a:pPr>
            <a:r>
              <a:rPr lang="en-US" sz="1400" i="1" dirty="0">
                <a:solidFill>
                  <a:srgbClr val="000000"/>
                </a:solidFill>
                <a:latin typeface="Arial"/>
                <a:cs typeface="Arial"/>
              </a:rPr>
              <a:t>Ví dụ: ở người nghi nhiễm khuẩn huyết tại khoa cấp cứu, qSOFA chính xác đến đâu so với Sepsis-3?</a:t>
            </a:r>
          </a:p>
        </p:txBody>
      </p:sp>
      <p:sp>
        <p:nvSpPr>
          <p:cNvPr id="72" name="CardHead"/>
          <p:cNvSpPr/>
          <p:nvPr/>
        </p:nvSpPr>
        <p:spPr>
          <a:xfrm>
            <a:off x="4283066" y="156170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Tiên lượng</a:t>
            </a:r>
          </a:p>
        </p:txBody>
      </p:sp>
      <p:sp>
        <p:nvSpPr>
          <p:cNvPr id="73" name="CardBody"/>
          <p:cNvSpPr/>
          <p:nvPr/>
        </p:nvSpPr>
        <p:spPr>
          <a:xfrm>
            <a:off x="4283066"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bệnh mắc một tình trạng</a:t>
            </a:r>
          </a:p>
          <a:p>
            <a:pPr marL="0" indent="0" algn="ctr">
              <a:lnSpc>
                <a:spcPct val="104000"/>
              </a:lnSpc>
              <a:spcBef>
                <a:spcPts val="400"/>
              </a:spcBef>
              <a:buNone/>
            </a:pPr>
            <a:r>
              <a:rPr lang="en-US" sz="1400" dirty="0">
                <a:solidFill>
                  <a:srgbClr val="000000"/>
                </a:solidFill>
                <a:latin typeface="Arial"/>
                <a:cs typeface="Arial"/>
              </a:rPr>
              <a:t>E: yếu tố nguy cơ</a:t>
            </a:r>
          </a:p>
          <a:p>
            <a:pPr marL="0" indent="0" algn="ctr">
              <a:lnSpc>
                <a:spcPct val="104000"/>
              </a:lnSpc>
              <a:spcBef>
                <a:spcPts val="400"/>
              </a:spcBef>
              <a:buNone/>
            </a:pPr>
            <a:r>
              <a:rPr lang="en-US" sz="1400" dirty="0">
                <a:solidFill>
                  <a:srgbClr val="000000"/>
                </a:solidFill>
                <a:latin typeface="Arial"/>
                <a:cs typeface="Arial"/>
              </a:rPr>
              <a:t>O: điều xảy ra</a:t>
            </a:r>
          </a:p>
          <a:p>
            <a:pPr marL="0" indent="0" algn="ctr">
              <a:lnSpc>
                <a:spcPct val="104000"/>
              </a:lnSpc>
              <a:spcBef>
                <a:spcPts val="400"/>
              </a:spcBef>
              <a:buNone/>
            </a:pPr>
            <a:r>
              <a:rPr lang="en-US" sz="1400" dirty="0">
                <a:solidFill>
                  <a:srgbClr val="000000"/>
                </a:solidFill>
                <a:latin typeface="Arial"/>
                <a:cs typeface="Arial"/>
              </a:rPr>
              <a:t>T: đến khi nào</a:t>
            </a:r>
          </a:p>
          <a:p>
            <a:pPr marL="0" indent="0" algn="ctr">
              <a:lnSpc>
                <a:spcPct val="104000"/>
              </a:lnSpc>
              <a:spcBef>
                <a:spcPts val="400"/>
              </a:spcBef>
              <a:buNone/>
            </a:pPr>
            <a:r>
              <a:rPr lang="en-US" sz="1400" i="1" dirty="0">
                <a:solidFill>
                  <a:srgbClr val="000000"/>
                </a:solidFill>
                <a:latin typeface="Arial"/>
                <a:cs typeface="Arial"/>
              </a:rPr>
              <a:t>Ví dụ: trong sốc nhiễm khuẩn, lactate trên 4 mmol/L lúc nhập viện có liên quan với tử vong đến ngày 28 không?</a:t>
            </a:r>
          </a:p>
        </p:txBody>
      </p:sp>
      <p:sp>
        <p:nvSpPr>
          <p:cNvPr id="74" name="CardHead"/>
          <p:cNvSpPr/>
          <p:nvPr/>
        </p:nvSpPr>
        <p:spPr>
          <a:xfrm>
            <a:off x="8108932" y="156170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Định tính (SPIDER)</a:t>
            </a:r>
          </a:p>
        </p:txBody>
      </p:sp>
      <p:sp>
        <p:nvSpPr>
          <p:cNvPr id="75" name="CardBody"/>
          <p:cNvSpPr/>
          <p:nvPr/>
        </p:nvSpPr>
        <p:spPr>
          <a:xfrm>
            <a:off x="8108932"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Mẫu (Sample)</a:t>
            </a:r>
          </a:p>
          <a:p>
            <a:pPr marL="0" indent="0" algn="ctr">
              <a:lnSpc>
                <a:spcPct val="104000"/>
              </a:lnSpc>
              <a:spcBef>
                <a:spcPts val="400"/>
              </a:spcBef>
              <a:buNone/>
            </a:pPr>
            <a:r>
              <a:rPr lang="en-US" sz="1400" dirty="0">
                <a:solidFill>
                  <a:srgbClr val="000000"/>
                </a:solidFill>
                <a:latin typeface="Arial"/>
                <a:cs typeface="Arial"/>
              </a:rPr>
              <a:t>PI: Hiện tượng quan tâm</a:t>
            </a:r>
          </a:p>
          <a:p>
            <a:pPr marL="0" indent="0" algn="ctr">
              <a:lnSpc>
                <a:spcPct val="104000"/>
              </a:lnSpc>
              <a:spcBef>
                <a:spcPts val="400"/>
              </a:spcBef>
              <a:buNone/>
            </a:pPr>
            <a:r>
              <a:rPr lang="en-US" sz="1400" dirty="0">
                <a:solidFill>
                  <a:srgbClr val="000000"/>
                </a:solidFill>
                <a:latin typeface="Arial"/>
                <a:cs typeface="Arial"/>
              </a:rPr>
              <a:t>D: Thiết kế (Design)</a:t>
            </a:r>
          </a:p>
          <a:p>
            <a:pPr marL="0" indent="0" algn="ctr">
              <a:lnSpc>
                <a:spcPct val="104000"/>
              </a:lnSpc>
              <a:spcBef>
                <a:spcPts val="400"/>
              </a:spcBef>
              <a:buNone/>
            </a:pPr>
            <a:r>
              <a:rPr lang="en-US" sz="1400" dirty="0">
                <a:solidFill>
                  <a:srgbClr val="000000"/>
                </a:solidFill>
                <a:latin typeface="Arial"/>
                <a:cs typeface="Arial"/>
              </a:rPr>
              <a:t>E: Đánh giá, R: Loại nghiên cứu</a:t>
            </a:r>
          </a:p>
          <a:p>
            <a:pPr marL="0" indent="0" algn="ctr">
              <a:lnSpc>
                <a:spcPct val="104000"/>
              </a:lnSpc>
              <a:spcBef>
                <a:spcPts val="400"/>
              </a:spcBef>
              <a:buNone/>
            </a:pPr>
            <a:r>
              <a:rPr lang="en-US" sz="1400" i="1" dirty="0">
                <a:solidFill>
                  <a:srgbClr val="000000"/>
                </a:solidFill>
                <a:latin typeface="Arial"/>
                <a:cs typeface="Arial"/>
              </a:rPr>
              <a:t>Ví dụ: điều dưỡng ICU trải nghiệm việc ngừng dịch truyền như thế nào, qua phỏng vấn?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Chữ cái thay đổi, nhưng nguyên tắc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Mọi người lớn nằm viện trong cả nước: vitamin D có giảm tử vong trong 10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Sốc nhiễm khuẩn: hoãn kháng sinh 24 giờ có giảm kháng thuốc?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ICU có rửa tay không? (đã audit hằng tháng suốt 5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chữ cái, trong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Mơ hồ và trả lời được: thêm một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"Ca đêm có gây sai sót thuốc không?"</a:t>
            </a:r>
          </a:p>
          <a:p>
            <a:pPr marL="0" indent="0" algn="ctr">
              <a:lnSpc>
                <a:spcPct val="104000"/>
              </a:lnSpc>
              <a:spcBef>
                <a:spcPts val="400"/>
              </a:spcBef>
              <a:buNone/>
            </a:pPr>
            <a:r>
              <a:rPr lang="en-US" sz="1950" dirty="0">
                <a:solidFill>
                  <a:srgbClr val="000000"/>
                </a:solidFill>
                <a:latin typeface="Arial"/>
                <a:cs typeface="Arial"/>
              </a:rPr>
              <a:t>Nhân viên nào?</a:t>
            </a:r>
          </a:p>
          <a:p>
            <a:pPr marL="0" indent="0" algn="ctr">
              <a:lnSpc>
                <a:spcPct val="104000"/>
              </a:lnSpc>
              <a:spcBef>
                <a:spcPts val="400"/>
              </a:spcBef>
              <a:buNone/>
            </a:pPr>
            <a:r>
              <a:rPr lang="en-US" sz="1950" dirty="0">
                <a:solidFill>
                  <a:srgbClr val="000000"/>
                </a:solidFill>
                <a:latin typeface="Arial"/>
                <a:cs typeface="Arial"/>
              </a:rPr>
              <a:t>So với cái gì?</a:t>
            </a:r>
          </a:p>
          <a:p>
            <a:pPr marL="0" indent="0" algn="ctr">
              <a:lnSpc>
                <a:spcPct val="104000"/>
              </a:lnSpc>
              <a:spcBef>
                <a:spcPts val="400"/>
              </a:spcBef>
              <a:buNone/>
            </a:pPr>
            <a:r>
              <a:rPr lang="en-US" sz="1950" dirty="0">
                <a:solidFill>
                  <a:srgbClr val="000000"/>
                </a:solidFill>
                <a:latin typeface="Arial"/>
                <a:cs typeface="Arial"/>
              </a:rPr>
              <a:t>Sai sót nào, đếm thế nào?</a:t>
            </a:r>
          </a:p>
          <a:p>
            <a:pPr marL="0" indent="0" algn="ctr">
              <a:lnSpc>
                <a:spcPct val="104000"/>
              </a:lnSpc>
              <a:spcBef>
                <a:spcPts val="400"/>
              </a:spcBef>
              <a:buNone/>
            </a:pPr>
            <a:r>
              <a:rPr lang="en-US" sz="1950" dirty="0">
                <a:solidFill>
                  <a:srgbClr val="000000"/>
                </a:solidFill>
                <a:latin typeface="Arial"/>
                <a:cs typeface="Arial"/>
              </a:rPr>
              <a:t>Trong bao lâu?</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điều dưỡng khoa phòng,</a:t>
            </a:r>
          </a:p>
          <a:p>
            <a:pPr marL="0" indent="0" algn="ctr">
              <a:lnSpc>
                <a:spcPct val="104000"/>
              </a:lnSpc>
              <a:spcBef>
                <a:spcPts val="400"/>
              </a:spcBef>
              <a:buNone/>
            </a:pPr>
            <a:r>
              <a:rPr lang="en-US" sz="1950" dirty="0">
                <a:solidFill>
                  <a:srgbClr val="000000"/>
                </a:solidFill>
                <a:latin typeface="Arial"/>
                <a:cs typeface="Arial"/>
              </a:rPr>
              <a:t>E: làm ca đêm,</a:t>
            </a:r>
          </a:p>
          <a:p>
            <a:pPr marL="0" indent="0" algn="ctr">
              <a:lnSpc>
                <a:spcPct val="104000"/>
              </a:lnSpc>
              <a:spcBef>
                <a:spcPts val="400"/>
              </a:spcBef>
              <a:buNone/>
            </a:pPr>
            <a:r>
              <a:rPr lang="en-US" sz="1950" dirty="0">
                <a:solidFill>
                  <a:srgbClr val="000000"/>
                </a:solidFill>
                <a:latin typeface="Arial"/>
                <a:cs typeface="Arial"/>
              </a:rPr>
              <a:t>C: so với ca ngày,</a:t>
            </a:r>
          </a:p>
          <a:p>
            <a:pPr marL="0" indent="0" algn="ctr">
              <a:lnSpc>
                <a:spcPct val="104000"/>
              </a:lnSpc>
              <a:spcBef>
                <a:spcPts val="400"/>
              </a:spcBef>
              <a:buNone/>
            </a:pPr>
            <a:r>
              <a:rPr lang="en-US" sz="1950" dirty="0">
                <a:solidFill>
                  <a:srgbClr val="000000"/>
                </a:solidFill>
                <a:latin typeface="Arial"/>
                <a:cs typeface="Arial"/>
              </a:rPr>
              <a:t>O: có liên quan với nhiều sai sót hơn trên 1000 liều thuốc</a:t>
            </a:r>
          </a:p>
          <a:p>
            <a:pPr marL="0" indent="0" algn="ctr">
              <a:lnSpc>
                <a:spcPct val="104000"/>
              </a:lnSpc>
              <a:spcBef>
                <a:spcPts val="400"/>
              </a:spcBef>
              <a:buNone/>
            </a:pPr>
            <a:r>
              <a:rPr lang="en-US" sz="1950" dirty="0">
                <a:solidFill>
                  <a:srgbClr val="000000"/>
                </a:solidFill>
                <a:latin typeface="Arial"/>
                <a:cs typeface="Arial"/>
              </a:rPr>
              <a:t>T: trong 6 tháng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Luyện tại khoa của bạn: lấy một câu hỏi hành lang và điền vào các 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