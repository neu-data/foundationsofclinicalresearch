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 Id="rId153" Type="http://schemas.openxmlformats.org/officeDocument/2006/relationships/slide" Target="slides/slide54.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cả lớp. Mỗi giảng viên tự giới thiệu một câu.</a:t>
            </a:r>
          </a:p>
          <a:p>
            <a:r>
              <a:rPr lang="en-US" sz="1400" b="0" dirty="0"/>
              <a:t>Nhờ mọi người đổi tên hiển thị thành họ và tên đầy đủ, và tìm khung chat, chức năng bình chọn (poll) và nút 'giơ tay'.</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Tại sao cần nghiên cứu? Anh chị là bác sĩ hang ngày điều trị bệnh nhân. Mỗi quyết định của anh chị đều có thể ảnh hưởng đến người bệnh. Nhưng không phải lúc nào bằng chứng cũng có sẵn hoặc đủ mạnh để hỗ trợ các quyết định đấy. Và đó là những lúc những câu hỏi cần được giải quyết được đặt ra và đó là lúc chúng ta cần đến nghiên cứu. Và hi vọng sau khi nghiên cứu thì những quyết định mà anh chị đưa ra sẽ tốt hơn cho người bệnh. Và khóa học này sẽ giúp anh chị đạt được 3 mục tiêu chính, đó là ...</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Cho 3 phút để gõ. Sau đó mời 4-5 người nói và chỉ ra các chủ đề chung (dịch truyền, an thần, nhiễm khuẩn, vận động sớm, an toàn dùng thuốc).</a:t>
            </a:r>
          </a:p>
          <a:p>
            <a:r>
              <a:rPr lang="en-US" sz="1400" b="0" dirty="0"/>
              <a:t>Các câu hỏi nằm sẵn trong chat để dùng ở phần Xây dựng đề cương 1.</a:t>
            </a:r>
          </a:p>
          <a:p>
            <a:r>
              <a:rPr lang="en-US" sz="1400" b="0" dirty="0"/>
              <a:t>Thời gian: 6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Mỗi khối hai buổi, giữa hai buổi cách nhau một tuần.</a:t>
            </a:r>
          </a:p>
          <a:p>
            <a:r>
              <a:rPr lang="en-US" sz="1400" b="0" dirty="0"/>
              <a:t>Một ví dụ xuyên suốt: dịch truyền trong sốc nhiễm khuẩn và tử vong 28 ngày. Từ Buổi 5, ví dụ này tiếp tục trong nghiên cứu của khóa học, FLUID-ICU.</a:t>
            </a:r>
          </a:p>
          <a:p>
            <a:r>
              <a:rPr lang="en-US" sz="1400" b="0" dirty="0"/>
              <a:t>Yêu cầu nằm ở Proposal_Brief, gửi trước Buổi 1 cùng Presentation_Guide và Proposal_Rubric. Hướng dẫn viết bản thảo được chia sẻ ở Buổi 6.</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Ở Cấp độ 1, giảng viên chạy phần mềm. Các bạn đọc và diễn giải kết quả.</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Đề cương: khoảng 5 bạn tình nguyện trình bày ở Buổi 8 (mỗi người 6 phút). Mọi người đều nộp đề cương và 6 slide qua email. Chi tiết: Proposal_Brief, gửi qua email trước Buổi 1.</a:t>
            </a:r>
          </a:p>
          <a:p>
            <a:r>
              <a:rPr lang="en-US" sz="1400" b="0" dirty="0"/>
              <a:t>Phần Kết quả: cuối Buổi 6, mỗi người chọn một câu hỏi FLUID-ICU (Q1 đến Q5) và viết phần Kết quả từ gói kết quả của câu đó. Sau Buổi 8, mỗi người phản biện bản thảo của một đồng nghiệp.</a:t>
            </a:r>
          </a:p>
          <a:p>
            <a:r>
              <a:rPr lang="en-US" sz="1400" b="0" dirty="0"/>
              <a:t>Viết bằng tiếng Anh. Có thể viết tiếng Việt nếu thật sự không viết được tiếng Anh.</a:t>
            </a:r>
          </a:p>
          <a:p>
            <a:r>
              <a:rPr lang="en-US" sz="1400" b="0" dirty="0"/>
              <a:t>Thời gian: 2 phút.</a:t>
            </a:r>
          </a:p>
          <a:p>
            <a:endParaRPr lang="en-US" sz="1400"/>
          </a:p>
          <a:p>
            <a:r>
              <a:rPr lang="en-US" sz="1400" b="0" dirty="0"/>
              <a:t>Show proposal brief that we sent them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Hỏi: 'Thẻ nào làm bạn lo nhất? Trả lời trong chat.' Thường là phân tích. Trấn an: lớp đi chậm và kiểm tra thường xuyên.</a:t>
            </a:r>
          </a:p>
          <a:p>
            <a:r>
              <a:rPr lang="en-US" sz="1400" b="0" dirty="0"/>
              <a:t>Thời gian: 1 phút.</a:t>
            </a:r>
          </a:p>
          <a:p>
            <a:endParaRPr lang="en-US" sz="1400"/>
          </a:p>
          <a:p>
            <a:r>
              <a:rPr lang="en-US" sz="1400" b="0" dirty="0"/>
              <a:t>Registration statistics: almost 50% have master’s degree so they more or less did research before. This course really goes to the basics, equip you with fundamental knowledge of doing research. Some concepts you might have known or heard, but still I think it’s valuable to re-visit them so that it helps you really master them. 30.4% of students want to write a scientific paper, and 26.1% wants to enhance their understanding of statistics (p-values, confidence interval)</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Buổi nào cũng cùng một nhịp. Slide bổ sung ở cuối chỉ dùng khi còn thời gian.</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Trong mỗi phần xây dựng đề cương, giảng viên điền trước phần đó cho ví dụ xuyên suốt trên màn hình. Sau đó mọi người viết cùng phần đó cho câu hỏi của mình.</a:t>
            </a:r>
          </a:p>
          <a:p>
            <a:r>
              <a:rPr lang="en-US" sz="1400" b="0" dirty="0"/>
              <a:t>Mẫu: Research_Proposal_Template_VN.docx (tiếng Việt) hoặc Research_Proposal_Template.docx (tiếng Anh), gửi qua email cùng hướng dẫn viết đề cương trước Buổi 1.</a:t>
            </a:r>
          </a:p>
          <a:p>
            <a:r>
              <a:rPr lang="en-US" sz="1400" b="0" dirty="0"/>
              <a:t>Thời gian: 1 phút.</a:t>
            </a:r>
          </a:p>
          <a:p>
            <a:endParaRPr lang="en-US" sz="1400"/>
          </a:p>
          <a:p>
            <a:r>
              <a:rPr lang="en-US" sz="1400" b="0" dirty="0"/>
              <a:t>Show them the research proposal template.</a:t>
            </a:r>
          </a:p>
          <a:p>
            <a:r>
              <a:rPr lang="en-US" sz="1400" b="0" dirty="0"/>
              <a:t>“Đây là 1 bản đề cương nghiên cứu được thiết kế rất hoành chỉnh. Nếu trước mỗi nghiên cứu anh chị đều làm 1 cái đề cương như thế này thì sẽ giúp đảm bảo chất lượng nghiên cứu của mình rất tốt”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Có thể nhắn riêng cho giảng viên. Chat bằng tiếng Việt hoặc tiếng Anh đều được.</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Question form in VNM - https://forms.gle/7U2tjio2qVatVJja7</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Bắt đầu lúc 20:05, ngay sau bài kiểm tra. Mục tiêu: mỗi người ra về với bản nháp câu hỏi, mục tiêu tổng quát và mục tiêu cụ thể.</a:t>
            </a:r>
          </a:p>
          <a:p>
            <a:r>
              <a:rPr lang="en-US" sz="1400" b="0" dirty="0"/>
              <a:t>Chỉ vào chương trình, không đọc to. 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1.1: 20:05-20:40. Mời hai ba người trả lời. Thường gặp: mình nhớ những ca đáng nhớ, đồng nghiệp mỗi người một ý, thực hành thay đổi.</a:t>
            </a:r>
          </a:p>
          <a:p>
            <a:r>
              <a:rPr lang="en-US" sz="1400" b="0" dirty="0"/>
              <a:t>Ý chính: kinh nghiệm giúp nảy ra câu hỏi, nhưng không trả lời được câu hỏi.</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con số chỉ để minh họa. CLASSIC (NEJM 2022, 1554 người bệnh) thấy tử vong 90 ngày như nhau giữa hạn chế dịch và truyền dịch chuẩn (42.3% so với 42.1%).</a:t>
            </a:r>
          </a:p>
          <a:p>
            <a:r>
              <a:rPr lang="en-US" sz="1400" b="0" dirty="0"/>
              <a:t>Hỏi: 'Vì sao mình nhớ ba ca tốt?' Thường gặp: sai lệch nhớ lại (recall bias).</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Nguy cơ tử vong thật là 40%. Khoa có 5 người bệnh dao động từ 0% đến 80% do ngẫu nhiên. Nhóm 500 người tập trung quanh 40%.</a:t>
            </a:r>
          </a:p>
          <a:p>
            <a:r>
              <a:rPr lang="en-US" sz="1400" b="0" dirty="0"/>
              <a:t>Bình chọn: 'Một khoa có 0/5 tử vong sau quy trình mới. Quy trình có hiệu quả không?' Đáp án: chưa biết được.</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từ dưới lên. Thiết kế càng cao càng chống sai lệch tốt hơn với câu hỏi điều trị, nhưng thử nghiệm làm kém vẫn có thể sai.</a:t>
            </a:r>
          </a:p>
          <a:p>
            <a:r>
              <a:rPr lang="en-US" sz="1400" b="0" dirty="0"/>
              <a:t>Không dạy thiết kế ở đây (Buổi 3).</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A, B, C, D. C chính là thử nghiệm CLASSIC.</a:t>
            </a:r>
          </a:p>
          <a:p>
            <a:r>
              <a:rPr lang="en-US" sz="1400" b="0" dirty="0"/>
              <a:t>Điều gì làm C yếu hơn B? Quá nhỏ, mất nhiều người bệnh, hoặc người bệnh khác với người bệnh của mình.</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báo 1: thử nghiệm thí điểm (thử nghiệm nhỏ để xem có làm được thử nghiệm lớn không). Bài báo 2: thuần tập ghép cặp, giống lựa chọn B trong câu hỏi nhanh.</a:t>
            </a:r>
          </a:p>
          <a:p>
            <a:r>
              <a:rPr lang="en-US" sz="1400" b="0" dirty="0"/>
              <a:t>Chưa đọc bây giờ. Buổi 2 đọc phần tóm tắt của Bài báo 1.</a:t>
            </a:r>
          </a:p>
          <a:p>
            <a:r>
              <a:rPr lang="en-US" sz="1400" b="0" dirty="0"/>
              <a:t>Trước Buổi 1, gửi email hai tệp PDF gốc kèm phiếu bài tập Buổi 1.</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Mỗi ô một câu. Tuần 1-2 học ba ô màu xanh đậm.</a:t>
            </a:r>
          </a:p>
          <a:p>
            <a:r>
              <a:rPr lang="en-US" sz="1400" b="0" dirty="0"/>
              <a:t>Ý chính: thu thập số liệu đến sau câu hỏi, thiết kế và phê duyệt đạo đức.</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nghiên cứu định tính có phương pháp chặt chẽ riêng.</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Mời hai ba người trả lời. Đáp án ở slide sau.</a:t>
            </a:r>
          </a:p>
          <a:p>
            <a:r>
              <a:rPr lang="en-US" sz="1400" b="0" dirty="0"/>
              <a:t>Nếu lớp lưỡng lự ở câu C: hồ sơ được ghi để chăm sóc người bệnh, nên dùng lại là nghiên cứu thứ cấp.</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Nghiên cứu thứ cấp thường khả thi nhất với một khoa bận rộn, nếu hồ sơ được ghi tốt.</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Trạm 1-6 là lên kế hoạch và thực hiện nghiên cứu. Trạm 7-11 là công bố.</a:t>
            </a:r>
          </a:p>
          <a:p>
            <a:r>
              <a:rPr lang="en-US" sz="1400" b="0" dirty="0"/>
              <a:t>Hỏi: 'Nghiên cứu ở bệnh viện hay bị kẹt ở trạm nào?' Thường gặp: thủ tục đạo đức, thu thập số liệu hoặc viết bài.</a:t>
            </a:r>
          </a:p>
          <a:p>
            <a:r>
              <a:rPr lang="en-US" sz="1400" b="0" dirty="0"/>
              <a:t>Thời gian: 3 phút + 3 phút hỏi đáp. Phần 1.1 kết thúc lúc 20:40.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Giải lao 20:40-20:55. Gửi giờ bắt đầu lại và đường link phiếu bài tập Buổi 1 vào chat.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1.2: 20:55-21:35. 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Nhắc lại các câu hỏi cả lớp đã gõ vào chat lúc đầu buổi.</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Mỗi chữ cái buộc mình phải quyết định.</a:t>
            </a:r>
          </a:p>
          <a:p>
            <a:r>
              <a:rPr lang="en-US" sz="1400" b="0" dirty="0"/>
              <a:t>Hỏi: 'Tử vong 28 ngày có phải kết cục hợp lý duy nhất?' Thường gặp: tử vong 90 ngày, tổn thương thận cần lọc máu, cân bằng dịch.</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Hàng 3 hỏi một điều phổ biến đến mức nào, nên chỉ cần P và O (và T).</a:t>
            </a:r>
          </a:p>
          <a:p>
            <a:r>
              <a:rPr lang="en-US" sz="1400" b="0" dirty="0"/>
              <a:t>Hỏi: 'Hãy đặt một câu hỏi PECO về dịch truyền.' Gợi ý: ở người lớn bị nhiễm khuẩn huyết, cân bằng dịch dương đến ngày 3, so với cân bằng trung tính hoặc âm, có liên quan với tử vong đến ngày 28 không? (Câu hỏi của Bài báo 2.)</a:t>
            </a:r>
          </a:p>
          <a:p>
            <a:r>
              <a:rPr lang="en-US" sz="1400" b="0" dirty="0"/>
              <a:t>Muốn học viên viết ba câu hỏi nghiên cứu: dùng slide dự phòng 'Bổ sung: ba ví dụ viết thành câu hỏi nghiên cứu' (phần slide bổ sung).</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Đọc chậm câu hỏi. Cho 1 phút bình chọn. Đáp án: C. D là T, A thuộc P, B là I.</a:t>
            </a:r>
          </a:p>
          <a:p>
            <a:r>
              <a:rPr lang="en-US" sz="1400" b="0" dirty="0"/>
              <a:t>Chú ý nếu có người chọn 'sốc nhiễm khuẩn' là O: nó xác định ai đủ tiêu chuẩn.</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Kết cục của Bài báo 1 là cân bằng dịch, nên bài này không trả lời được câu hỏi tử vong.</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Động từ cho biết loại câu hỏi: 'bao nhiêu', 'có liên quan với', 'có làm giảm'.</a:t>
            </a:r>
          </a:p>
          <a:p>
            <a:r>
              <a:rPr lang="en-US" sz="1400" b="0" dirty="0"/>
              <a:t>Hỏi: 'Bài báo 2 thuộc ô nào?' Đáp án: phân tích, quan sát (thuần tập).</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Hỏi: 'Hãy làm câu này trả lời được: Albumin có tốt hơn không?' Gợi ý: ở người lớn bị sốc nhiễm khuẩn, albumin kèm dịch tinh thể, so với chỉ dịch tinh thể, có làm giảm tử vong 28 ngày không?</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Khả thi là tiêu chí hay trượt nhất trong nghiên cứu tại bệnh viện. Mới có thể là bối cảnh mới hoặc thiết kế tốt hơn.</a:t>
            </a:r>
          </a:p>
          <a:p>
            <a:r>
              <a:rPr lang="en-US" sz="1400" b="0" dirty="0"/>
              <a:t>Bình chọn (F, I, N, E, R): 'Ví dụ xuyên suốt trượt tiêu chí nào?'</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F màu đỏ: CLASSIC (2022) và CLOVERS (2023) mỗi thử nghiệm cần hơn 1500 người bệnh.</a:t>
            </a:r>
          </a:p>
          <a:p>
            <a:r>
              <a:rPr lang="en-US" sz="1400" b="0" dirty="0"/>
              <a:t>Cách thu nhỏ: đổi kết cục, làm thử nghiệm thí điểm, hoặc đặt câu hỏi mô tả.</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Gõ câu trả lời vào Bài tập 1 còn trống khi mọi người nói, mỗi chữ cái mời một người.</a:t>
            </a:r>
          </a:p>
          <a:p>
            <a:r>
              <a:rPr lang="en-US" sz="1400" b="0" dirty="0"/>
              <a:t>Nếu chia đều, chọn A (thử nghiệm thí điểm Bài báo 1 đã làm, dùng lại ở phần 1.3). B là câu hỏi PECO và là câu hỏi chính của FLUID-ICU.</a:t>
            </a:r>
          </a:p>
          <a:p>
            <a:r>
              <a:rPr lang="en-US" sz="1400" b="0" dirty="0"/>
              <a:t>Chú ý: thiếu nhóm so sánh, thiếu mốc thời gian, hai kết cục.</a:t>
            </a:r>
          </a:p>
          <a:p>
            <a:r>
              <a:rPr lang="en-US" sz="1400" b="0" dirty="0"/>
              <a:t>Đáp án: s1_solutions_VN, Bài tập 1.</a:t>
            </a:r>
          </a:p>
          <a:p>
            <a:r>
              <a:rPr lang="en-US" sz="1400" b="0" dirty="0"/>
              <a:t>Thời gian: 8 phút + 3 phút tổng kết. Phần 1.3 bắt đầu lúc 21:35.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1.3: 21:35-21:55. 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Mục tiêu chính quyết định cỡ mẫu (Buổi 6).</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Hỏi: 'Viết lại: nghiên cứu về cân bằng dịch tại ICU của mình.' Gợi ý: ước tính tỷ lệ người lớn bị sốc nhiễm khuẩn tại ICU của mình có cân bằng dịch dương ở ngày 3.</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So sánh: tòa án coi bị cáo 'không có tội' (H0) cho đến khi bằng chứng đủ mạnh. 'Không đủ bằng chứng buộc tội' không có nghĩa là 'vô tội'.</a:t>
            </a:r>
          </a:p>
          <a:p>
            <a:r>
              <a:rPr lang="en-US" sz="1400" b="0" dirty="0"/>
              <a:t>Câu hỏi mô tả (phiên bản C) không cần giả thuyết.</a:t>
            </a:r>
          </a:p>
          <a:p>
            <a:r>
              <a:rPr lang="en-US" sz="1400" b="0" dirty="0"/>
              <a:t>Thời gian: 3 phút. Giá trị p học ở Buổi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5 phút tự viết, rồi hai ba người đọc mục tiêu chính.</a:t>
            </a:r>
          </a:p>
          <a:p>
            <a:r>
              <a:rPr lang="en-US" sz="1400" b="0" dirty="0"/>
              <a:t>Chú ý: động từ mơ hồ, thiếu mốc thời gian, hoặc giả thuyết về một kết cục không có trong mục tiêu.</a:t>
            </a:r>
          </a:p>
          <a:p>
            <a:r>
              <a:rPr lang="en-US" sz="1400" b="0" dirty="0"/>
              <a:t>Thời gian: 7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chuỗi: O của câu hỏi = mục tiêu chính = kết cục trong H0 và H1.</a:t>
            </a:r>
          </a:p>
          <a:p>
            <a:r>
              <a:rPr lang="en-US" sz="1400" b="0" dirty="0"/>
              <a:t>Đáp án: s1_solutions_VN, Bài tập 2.</a:t>
            </a:r>
          </a:p>
          <a:p>
            <a:r>
              <a:rPr lang="en-US" sz="1400" b="0" dirty="0"/>
              <a:t>Thời gian: 3 phút. Phần 1.3 kết thúc lúc 21:55.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Xây dựng đề cương 1: 21:55-22:25. Chuyển ngay sang slide sau.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Phút 0-8: chia sẻ Research_Proposal_Template_VN.docx và điền Phần 1 cho phiên bản A, vừa làm vừa nói lý do.</a:t>
            </a:r>
          </a:p>
          <a:p>
            <a:r>
              <a:rPr lang="en-US" sz="1400" b="0" dirty="0"/>
              <a:t>Phút 8-25: mỗi người tự viết. Trả lời câu hỏi trong chat. Chưa có chủ đề? Xem lại chat lúc chào mừng, hoặc tạm dùng phiên bản A hay C.</a:t>
            </a:r>
          </a:p>
          <a:p>
            <a:r>
              <a:rPr lang="en-US" sz="1400" b="0" dirty="0"/>
              <a:t>Phút 25-30: hai bạn tình nguyện đọc câu hỏi và mục tiêu.</a:t>
            </a:r>
          </a:p>
          <a:p>
            <a:r>
              <a:rPr lang="en-US" sz="1400" b="0" dirty="0"/>
              <a:t>Thời gian: 30 phút. Tổng kết lúc 22:25.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Đọc nhanh các từ khóa. 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Câu 1 Khả thi, tử vong cần hơn một nghìn người bệnh. Câu 2 ví dụ: 'Ước tính tỷ lệ người lớn bị sốc nhiễm khuẩn tại ICU của mình có cân bằng dịch dương ở ngày 3'.</a:t>
            </a:r>
          </a:p>
          <a:p>
            <a:r>
              <a:rPr lang="en-US" sz="1400" b="0" dirty="0"/>
              <a:t>Lưu khung chat. Nếu nhiều người vẫn dùng động từ mơ hồ, mở đầu Buổi 2 bằng một phút về mục tiêu.</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Khoảng 45 phút. PubMed tìm bằng tiếng Anh, nên danh sách từ đồng nghĩa giúp tìm nhanh hơn.</a:t>
            </a:r>
          </a:p>
          <a:p>
            <a:r>
              <a:rPr lang="en-US" sz="1400" b="0" dirty="0"/>
              <a:t>Ai gặp khó khăn với Zotero hãy email giảng viên trước thứ Sáu.</a:t>
            </a:r>
          </a:p>
          <a:p>
            <a:r>
              <a:rPr lang="en-US" sz="1400" b="0" dirty="0"/>
              <a:t>Thời gian: 1 phút. Kết thúc đúng giờ.</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Tùy chọn. Dùng nếu còn thời gian, hoặc để tự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Dùng khi có người hỏi dự án có cần phê duyệt đạo đức không. Nếu phân bổ ngẫu nhiên, thêm rủi ro hoặc thu thập dữ liệu ngoài chăm sóc thường quy, đó là nghiên cứu. Xem quy định của cơ sở.</a:t>
            </a:r>
          </a:p>
          <a:p>
            <a:r>
              <a:rPr lang="en-US" sz="1400" b="0" dirty="0"/>
              <a:t>Thời gian: 3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Dự phòng cho 'Ba ví dụ khác'. Học viên viết mỗi dòng một câu hỏi vào chat, rồi chiếu slide này.</a:t>
            </a:r>
          </a:p>
          <a:p>
            <a:r>
              <a:rPr lang="en-US" sz="1400" b="0" dirty="0"/>
              <a:t>Ý chính: 'làm giảm' vì bảng kiểm được chủ động áp dụng, 'có liên quan' vì béo phì không được chỉ định, câu 'bao nhiêu' không có so sánh.</a:t>
            </a:r>
          </a:p>
          <a:p>
            <a:r>
              <a:rPr lang="en-US" sz="1400" b="0" dirty="0"/>
              <a:t>Thời gian: 5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Chẩn đoán: xét nghiệm mới = I, tiêu chuẩn tham chiếu = C, kết cục = độ chính xác. Câu hỏi định tính thường dùng SPIDER (Cooke 2012).</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1 Khả thi. 2 Đạo đức. 3 Mới. 4 Phù hợp.</a:t>
            </a:r>
          </a:p>
          <a:p>
            <a:r>
              <a:rPr lang="en-US" sz="1400" b="0" dirty="0"/>
              <a:t>Thời gian: 4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Câu hỏi PECO: khó phân bổ ngẫu nhiên điều dưỡng vào ca đêm.</a:t>
            </a:r>
          </a:p>
          <a:p>
            <a:r>
              <a:rPr lang="en-US" sz="1400" b="0" dirty="0"/>
              <a:t>Thời gian: 3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 Id="rId4" Type="http://schemas.openxmlformats.org/officeDocument/2006/relationships/image" Target="../media/image2.pn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768613" y="4410394"/>
            <a:ext cx="2566257" cy="2447606"/>
          </a:xfrm>
          <a:prstGeom prst="rect">
            <a:avLst/>
          </a:prstGeom>
        </p:spPr>
      </p:pic>
      <p:sp>
        <p:nvSpPr>
          <p:cNvPr id="3" name="Title"/>
          <p:cNvSpPr txBox="1"/>
          <p:nvPr/>
        </p:nvSpPr>
        <p:spPr>
          <a:xfrm>
            <a:off x="0" y="1500000"/>
            <a:ext cx="12192000" cy="1700000"/>
          </a:xfrm>
          <a:prstGeom prst="rect">
            <a:avLst/>
          </a:prstGeom>
          <a:noFill/>
          <a:ln>
            <a:noFill/>
          </a:ln>
        </p:spPr>
        <p:txBody>
          <a:bodyPr wrap="square" lIns="457200" tIns="0" rIns="457200" bIns="0" rtlCol="0" anchor="ctr"/>
          <a:lstStyle/>
          <a:p>
            <a:pPr marL="0" indent="0" algn="ctr">
              <a:buNone/>
            </a:pPr>
            <a:r>
              <a:rPr lang="en-US" sz="4000" b="1" dirty="0">
                <a:solidFill>
                  <a:srgbClr val="006666"/>
                </a:solidFill>
                <a:latin typeface="Arial"/>
                <a:cs typeface="Arial"/>
              </a:rPr>
              <a:t>Nền tảng Nghiên cứu Lâm sàng</a:t>
            </a:r>
          </a:p>
        </p:txBody>
      </p:sp>
      <p:sp>
        <p:nvSpPr>
          <p:cNvPr id="5" name="Subtitle"/>
          <p:cNvSpPr txBox="1"/>
          <p:nvPr/>
        </p:nvSpPr>
        <p:spPr>
          <a:xfrm>
            <a:off x="0" y="3250000"/>
            <a:ext cx="12192000" cy="1000000"/>
          </a:xfrm>
          <a:prstGeom prst="rect">
            <a:avLst/>
          </a:prstGeom>
          <a:noFill/>
          <a:ln>
            <a:noFill/>
          </a:ln>
        </p:spPr>
        <p:txBody>
          <a:bodyPr wrap="square" lIns="457200" tIns="45720" rIns="457200" bIns="45720" rtlCol="0" anchor="t"/>
          <a:lstStyle/>
          <a:p>
            <a:pPr marL="0" indent="0" algn="ctr">
              <a:spcBef>
                <a:spcPts val="440"/>
              </a:spcBef>
              <a:buNone/>
            </a:pPr>
            <a:r>
              <a:rPr lang="en-US" sz="2000" dirty="0">
                <a:solidFill>
                  <a:srgbClr val="000000"/>
                </a:solidFill>
                <a:latin typeface="Arial"/>
                <a:cs typeface="Arial"/>
              </a:rPr>
              <a:t>Cấp độ 1: Từ câu hỏi lâm sàng đến công bố</a:t>
            </a:r>
          </a:p>
          <a:p>
            <a:pPr marL="0" indent="0" algn="ctr">
              <a:spcBef>
                <a:spcPts val="440"/>
              </a:spcBef>
              <a:buNone/>
            </a:pPr>
            <a:r>
              <a:rPr lang="en-US" sz="2000" dirty="0">
                <a:solidFill>
                  <a:srgbClr val="000000"/>
                </a:solidFill>
                <a:latin typeface="Arial"/>
                <a:cs typeface="Arial"/>
              </a:rPr>
              <a:t>8 buổi tối trực tuyến, 19:30 đến 22:30, 24 giờ học</a:t>
            </a:r>
          </a:p>
          <a:p>
            <a:pPr marL="0" indent="0" algn="ctr">
              <a:spcBef>
                <a:spcPts val="440"/>
              </a:spcBef>
              <a:buNone/>
            </a:pPr>
            <a:r>
              <a:rPr lang="en-US" sz="2000" dirty="0">
                <a:solidFill>
                  <a:srgbClr val="000000"/>
                </a:solidFill>
                <a:latin typeface="Arial"/>
                <a:cs typeface="Arial"/>
              </a:rPr>
              <a:t>Giảng viên: Vương Mỹ Lượng &amp; Bernard Osang'ir</a:t>
            </a:r>
          </a:p>
        </p:txBody>
      </p:sp>
      <p:sp>
        <p:nvSpPr>
          <p:cNvPr id="6" name="Date"/>
          <p:cNvSpPr txBox="1"/>
          <p:nvPr/>
        </p:nvSpPr>
        <p:spPr>
          <a:xfrm>
            <a:off x="7902094" y="5833766"/>
            <a:ext cx="3465009" cy="326571"/>
          </a:xfrm>
          <a:prstGeom prst="rect">
            <a:avLst/>
          </a:prstGeom>
          <a:noFill/>
          <a:ln>
            <a:noFill/>
          </a:ln>
        </p:spPr>
        <p:txBody>
          <a:bodyPr wrap="square" lIns="0" tIns="0" rIns="0" bIns="0" rtlCol="0" anchor="b"/>
          <a:lstStyle/>
          <a:p>
            <a:pPr marL="0" indent="0" algn="r">
              <a:buNone/>
            </a:pPr>
            <a:r>
              <a:rPr lang="en-US" sz="1400" b="1" dirty="0">
                <a:solidFill>
                  <a:srgbClr val="000000"/>
                </a:solidFill>
                <a:latin typeface="Arial"/>
                <a:cs typeface="Arial"/>
              </a:rPr>
              <a:t>Ngày: 01/11/2026</a:t>
            </a:r>
          </a:p>
        </p:txBody>
      </p:sp>
      <p:sp>
        <p:nvSpPr>
          <p:cNvPr id="7"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Mỗi ngày bạn đưa ra những quyết định mà nghiên cứu có thể giúp tốt hơn.</a:t>
            </a:r>
          </a:p>
          <a:p>
            <a:pPr marL="0" indent="0" algn="ctr">
              <a:spcBef>
                <a:spcPts val="1200"/>
              </a:spcBef>
              <a:buNone/>
            </a:pPr>
            <a:r>
              <a:rPr lang="en-US" sz="1900" i="1" dirty="0">
                <a:solidFill>
                  <a:srgbClr val="595959"/>
                </a:solidFill>
                <a:latin typeface="Arial"/>
                <a:cs typeface="Arial"/>
              </a:rPr>
              <a:t>Khóa học giúp bạn đặt câu hỏi đúng cách, trả lời và công bố câu trả lời.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Chào mừng: giới thiệu bản thân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6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Gõ vào chat: tên, khoa và nghề nghiệp của bạn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Thêm một câu hỏi bạn mong nghiên cứu trả lời được cho khoa mình</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Đọc tin nhắn của mọi người: nhiều câu là chủ đề nghiên cứu tiềm năng</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Sau đó vài bạn bật micro nói câu hỏi của mình</a:t>
            </a:r>
          </a:p>
        </p:txBody>
      </p:sp>
      <p:sp>
        <p:nvSpPr>
          <p:cNvPr id="52" name="Side"/>
          <p:cNvSpPr/>
          <p:nvPr/>
        </p:nvSpPr>
        <p:spPr>
          <a:xfrm>
            <a:off x="7423760" y="1720000"/>
            <a:ext cx="4311040" cy="14155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Tin nhắn mẫu</a:t>
            </a:r>
          </a:p>
          <a:p>
            <a:pPr marL="0" indent="0" algn="ctr">
              <a:lnSpc>
                <a:spcPct val="104000"/>
              </a:lnSpc>
              <a:spcBef>
                <a:spcPts val="300"/>
              </a:spcBef>
              <a:buNone/>
            </a:pPr>
            <a:r>
              <a:rPr lang="en-US" sz="1500" dirty="0">
                <a:solidFill>
                  <a:srgbClr val="000000"/>
                </a:solidFill>
                <a:latin typeface="Arial"/>
                <a:cs typeface="Arial"/>
              </a:rPr>
              <a:t>Lan, ICU, điều dưỡng</a:t>
            </a:r>
          </a:p>
          <a:p>
            <a:pPr marL="0" indent="0" algn="ctr">
              <a:lnSpc>
                <a:spcPct val="104000"/>
              </a:lnSpc>
              <a:spcBef>
                <a:spcPts val="300"/>
              </a:spcBef>
              <a:buNone/>
            </a:pPr>
            <a:r>
              <a:rPr lang="en-US" sz="1500" dirty="0">
                <a:solidFill>
                  <a:srgbClr val="000000"/>
                </a:solidFill>
                <a:latin typeface="Arial"/>
                <a:cs typeface="Arial"/>
              </a:rPr>
              <a:t>'Người bệnh sốc nhiễm khuẩn có cần ít dịch hơn lượng mình đang truyền không?'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Mỗi người một lời giới thiệu trong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Tám tuần, tám buổi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cxnSp>
        <p:nvCxnSpPr>
          <p:cNvPr id="100" name="Line"/>
          <p:cNvCxnSpPr/>
          <p:nvPr/>
        </p:nvCxnSpPr>
        <p:spPr>
          <a:xfrm>
            <a:off x="1203960" y="3509280"/>
            <a:ext cx="9144000" cy="0"/>
          </a:xfrm>
          <a:prstGeom prst="straightConnector1">
            <a:avLst/>
          </a:prstGeom>
          <a:ln w="127000" cap="rnd">
            <a:solidFill>
              <a:srgbClr val="D5DDE1"/>
            </a:solidFill>
            <a:round/>
          </a:ln>
        </p:spPr>
      </p:cxnSp>
      <p:sp>
        <p:nvSpPr>
          <p:cNvPr id="101" name="Text"/>
          <p:cNvSpPr/>
          <p:nvPr/>
        </p:nvSpPr>
        <p:spPr>
          <a:xfrm>
            <a:off x="65532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D7377"/>
                </a:solidFill>
                <a:latin typeface="Arial"/>
                <a:cs typeface="Arial"/>
              </a:rPr>
              <a:t>Tuần 1-2</a:t>
            </a:r>
          </a:p>
          <a:p>
            <a:pPr marL="0" indent="0" algn="ctr">
              <a:lnSpc>
                <a:spcPct val="100000"/>
              </a:lnSpc>
              <a:spcBef>
                <a:spcPts val="300"/>
              </a:spcBef>
              <a:buNone/>
            </a:pPr>
            <a:r>
              <a:rPr lang="en-US" sz="1400" dirty="0">
                <a:solidFill>
                  <a:srgbClr val="595959"/>
                </a:solidFill>
                <a:latin typeface="Arial"/>
                <a:cs typeface="Arial"/>
              </a:rPr>
              <a:t>Câu hỏi và bằng chứng</a:t>
            </a:r>
          </a:p>
        </p:txBody>
      </p:sp>
      <p:sp>
        <p:nvSpPr>
          <p:cNvPr id="102" name="Box"/>
          <p:cNvSpPr/>
          <p:nvPr/>
        </p:nvSpPr>
        <p:spPr>
          <a:xfrm>
            <a:off x="701040" y="2695464"/>
            <a:ext cx="2194560" cy="64008"/>
          </a:xfrm>
          <a:prstGeom prst="roundRect">
            <a:avLst>
              <a:gd name="adj" fmla="val 50000"/>
            </a:avLst>
          </a:prstGeom>
          <a:solidFill>
            <a:srgbClr val="0D7377"/>
          </a:solidFill>
          <a:ln>
            <a:noFill/>
          </a:ln>
        </p:spPr>
        <p:txBody>
          <a:bodyPr wrap="square" lIns="54864" tIns="54864" rIns="54864" bIns="54864" rtlCol="0" anchor="ctr">
            <a:noAutofit/>
          </a:bodyPr>
          <a:lstStyle/>
          <a:p>
            <a:endParaRPr lang="en-US"/>
          </a:p>
        </p:txBody>
      </p:sp>
      <p:sp>
        <p:nvSpPr>
          <p:cNvPr id="103" name="Text"/>
          <p:cNvSpPr/>
          <p:nvPr/>
        </p:nvSpPr>
        <p:spPr>
          <a:xfrm>
            <a:off x="303276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B376C"/>
                </a:solidFill>
                <a:latin typeface="Arial"/>
                <a:cs typeface="Arial"/>
              </a:rPr>
              <a:t>Tuần 3-4</a:t>
            </a:r>
          </a:p>
          <a:p>
            <a:pPr marL="0" indent="0" algn="ctr">
              <a:lnSpc>
                <a:spcPct val="100000"/>
              </a:lnSpc>
              <a:spcBef>
                <a:spcPts val="300"/>
              </a:spcBef>
              <a:buNone/>
            </a:pPr>
            <a:r>
              <a:rPr lang="en-US" sz="1400" dirty="0">
                <a:solidFill>
                  <a:srgbClr val="595959"/>
                </a:solidFill>
                <a:latin typeface="Arial"/>
                <a:cs typeface="Arial"/>
              </a:rPr>
              <a:t>Thiết kế và sai lệch</a:t>
            </a:r>
          </a:p>
        </p:txBody>
      </p:sp>
      <p:sp>
        <p:nvSpPr>
          <p:cNvPr id="104" name="Box"/>
          <p:cNvSpPr/>
          <p:nvPr/>
        </p:nvSpPr>
        <p:spPr>
          <a:xfrm>
            <a:off x="3078480" y="2695464"/>
            <a:ext cx="2194560" cy="64008"/>
          </a:xfrm>
          <a:prstGeom prst="roundRect">
            <a:avLst>
              <a:gd name="adj" fmla="val 50000"/>
            </a:avLst>
          </a:prstGeom>
          <a:solidFill>
            <a:srgbClr val="0B376C"/>
          </a:solidFill>
          <a:ln>
            <a:noFill/>
          </a:ln>
        </p:spPr>
        <p:txBody>
          <a:bodyPr wrap="square" lIns="54864" tIns="54864" rIns="54864" bIns="54864" rtlCol="0" anchor="ctr">
            <a:noAutofit/>
          </a:bodyPr>
          <a:lstStyle/>
          <a:p>
            <a:endParaRPr lang="en-US"/>
          </a:p>
        </p:txBody>
      </p:sp>
      <p:sp>
        <p:nvSpPr>
          <p:cNvPr id="105" name="Text"/>
          <p:cNvSpPr/>
          <p:nvPr/>
        </p:nvSpPr>
        <p:spPr>
          <a:xfrm>
            <a:off x="541020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5FA39B"/>
                </a:solidFill>
                <a:latin typeface="Arial"/>
                <a:cs typeface="Arial"/>
              </a:rPr>
              <a:t>Tuần 5-6</a:t>
            </a:r>
          </a:p>
          <a:p>
            <a:pPr marL="0" indent="0" algn="ctr">
              <a:lnSpc>
                <a:spcPct val="100000"/>
              </a:lnSpc>
              <a:spcBef>
                <a:spcPts val="300"/>
              </a:spcBef>
              <a:buNone/>
            </a:pPr>
            <a:r>
              <a:rPr lang="en-US" sz="1400" dirty="0">
                <a:solidFill>
                  <a:srgbClr val="595959"/>
                </a:solidFill>
                <a:latin typeface="Arial"/>
                <a:cs typeface="Arial"/>
              </a:rPr>
              <a:t>Dữ liệu và phân tích</a:t>
            </a:r>
          </a:p>
        </p:txBody>
      </p:sp>
      <p:sp>
        <p:nvSpPr>
          <p:cNvPr id="106" name="Box"/>
          <p:cNvSpPr/>
          <p:nvPr/>
        </p:nvSpPr>
        <p:spPr>
          <a:xfrm>
            <a:off x="5455920" y="2695464"/>
            <a:ext cx="2194560" cy="64008"/>
          </a:xfrm>
          <a:prstGeom prst="roundRect">
            <a:avLst>
              <a:gd name="adj" fmla="val 50000"/>
            </a:avLst>
          </a:prstGeom>
          <a:solidFill>
            <a:srgbClr val="5FA39B"/>
          </a:solidFill>
          <a:ln>
            <a:noFill/>
          </a:ln>
        </p:spPr>
        <p:txBody>
          <a:bodyPr wrap="square" lIns="54864" tIns="54864" rIns="54864" bIns="54864" rtlCol="0" anchor="ctr">
            <a:noAutofit/>
          </a:bodyPr>
          <a:lstStyle/>
          <a:p>
            <a:endParaRPr lang="en-US"/>
          </a:p>
        </p:txBody>
      </p:sp>
      <p:sp>
        <p:nvSpPr>
          <p:cNvPr id="107" name="Text"/>
          <p:cNvSpPr/>
          <p:nvPr/>
        </p:nvSpPr>
        <p:spPr>
          <a:xfrm>
            <a:off x="778764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070C0"/>
                </a:solidFill>
                <a:latin typeface="Arial"/>
                <a:cs typeface="Arial"/>
              </a:rPr>
              <a:t>Tuần 7-8</a:t>
            </a:r>
          </a:p>
          <a:p>
            <a:pPr marL="0" indent="0" algn="ctr">
              <a:lnSpc>
                <a:spcPct val="100000"/>
              </a:lnSpc>
              <a:spcBef>
                <a:spcPts val="300"/>
              </a:spcBef>
              <a:buNone/>
            </a:pPr>
            <a:r>
              <a:rPr lang="en-US" sz="1400" dirty="0">
                <a:solidFill>
                  <a:srgbClr val="595959"/>
                </a:solidFill>
                <a:latin typeface="Arial"/>
                <a:cs typeface="Arial"/>
              </a:rPr>
              <a:t>Đạo đức, viết, công bố</a:t>
            </a:r>
          </a:p>
        </p:txBody>
      </p:sp>
      <p:sp>
        <p:nvSpPr>
          <p:cNvPr id="108" name="Box"/>
          <p:cNvSpPr/>
          <p:nvPr/>
        </p:nvSpPr>
        <p:spPr>
          <a:xfrm>
            <a:off x="7833360" y="2695464"/>
            <a:ext cx="2194560" cy="64008"/>
          </a:xfrm>
          <a:prstGeom prst="roundRect">
            <a:avLst>
              <a:gd name="adj" fmla="val 50000"/>
            </a:avLst>
          </a:prstGeom>
          <a:solidFill>
            <a:srgbClr val="0070C0"/>
          </a:solidFill>
          <a:ln>
            <a:noFill/>
          </a:ln>
        </p:spPr>
        <p:txBody>
          <a:bodyPr wrap="square" lIns="54864" tIns="54864" rIns="54864" bIns="54864" rtlCol="0" anchor="ctr">
            <a:noAutofit/>
          </a:bodyPr>
          <a:lstStyle/>
          <a:p>
            <a:endParaRPr lang="en-US"/>
          </a:p>
        </p:txBody>
      </p:sp>
      <p:sp>
        <p:nvSpPr>
          <p:cNvPr id="109" name="Ellipse"/>
          <p:cNvSpPr/>
          <p:nvPr/>
        </p:nvSpPr>
        <p:spPr>
          <a:xfrm>
            <a:off x="746760" y="3052080"/>
            <a:ext cx="914400" cy="914400"/>
          </a:xfrm>
          <a:prstGeom prst="ellipse">
            <a:avLst/>
          </a:prstGeom>
          <a:solidFill>
            <a:srgbClr val="0D7377"/>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1</a:t>
            </a:r>
          </a:p>
        </p:txBody>
      </p:sp>
      <p:sp>
        <p:nvSpPr>
          <p:cNvPr id="110" name="Text"/>
          <p:cNvSpPr/>
          <p:nvPr/>
        </p:nvSpPr>
        <p:spPr>
          <a:xfrm>
            <a:off x="60960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D7377"/>
                </a:solidFill>
                <a:latin typeface="Arial"/>
                <a:cs typeface="Arial"/>
              </a:rPr>
              <a:t>Hỏi</a:t>
            </a:r>
          </a:p>
        </p:txBody>
      </p:sp>
      <p:sp>
        <p:nvSpPr>
          <p:cNvPr id="111" name="Ellipse"/>
          <p:cNvSpPr/>
          <p:nvPr/>
        </p:nvSpPr>
        <p:spPr>
          <a:xfrm>
            <a:off x="1935480" y="3052080"/>
            <a:ext cx="914400" cy="914400"/>
          </a:xfrm>
          <a:prstGeom prst="ellipse">
            <a:avLst/>
          </a:prstGeom>
          <a:solidFill>
            <a:srgbClr val="0D7377"/>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2</a:t>
            </a:r>
          </a:p>
        </p:txBody>
      </p:sp>
      <p:sp>
        <p:nvSpPr>
          <p:cNvPr id="112" name="Text"/>
          <p:cNvSpPr/>
          <p:nvPr/>
        </p:nvSpPr>
        <p:spPr>
          <a:xfrm>
            <a:off x="179832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D7377"/>
                </a:solidFill>
                <a:latin typeface="Arial"/>
                <a:cs typeface="Arial"/>
              </a:rPr>
              <a:t>Tìm và đọc</a:t>
            </a:r>
          </a:p>
        </p:txBody>
      </p:sp>
      <p:sp>
        <p:nvSpPr>
          <p:cNvPr id="113" name="Ellipse"/>
          <p:cNvSpPr/>
          <p:nvPr/>
        </p:nvSpPr>
        <p:spPr>
          <a:xfrm>
            <a:off x="3124200" y="3052080"/>
            <a:ext cx="914400" cy="914400"/>
          </a:xfrm>
          <a:prstGeom prst="ellipse">
            <a:avLst/>
          </a:prstGeom>
          <a:solidFill>
            <a:srgbClr val="0B376C"/>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3</a:t>
            </a:r>
          </a:p>
        </p:txBody>
      </p:sp>
      <p:sp>
        <p:nvSpPr>
          <p:cNvPr id="114" name="Text"/>
          <p:cNvSpPr/>
          <p:nvPr/>
        </p:nvSpPr>
        <p:spPr>
          <a:xfrm>
            <a:off x="298704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B376C"/>
                </a:solidFill>
                <a:latin typeface="Arial"/>
                <a:cs typeface="Arial"/>
              </a:rPr>
              <a:t>Thiết kế</a:t>
            </a:r>
          </a:p>
        </p:txBody>
      </p:sp>
      <p:sp>
        <p:nvSpPr>
          <p:cNvPr id="115" name="Ellipse"/>
          <p:cNvSpPr/>
          <p:nvPr/>
        </p:nvSpPr>
        <p:spPr>
          <a:xfrm>
            <a:off x="4312920" y="3052080"/>
            <a:ext cx="914400" cy="914400"/>
          </a:xfrm>
          <a:prstGeom prst="ellipse">
            <a:avLst/>
          </a:prstGeom>
          <a:solidFill>
            <a:srgbClr val="0B376C"/>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4</a:t>
            </a:r>
          </a:p>
        </p:txBody>
      </p:sp>
      <p:sp>
        <p:nvSpPr>
          <p:cNvPr id="116" name="Text"/>
          <p:cNvSpPr/>
          <p:nvPr/>
        </p:nvSpPr>
        <p:spPr>
          <a:xfrm>
            <a:off x="417576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B376C"/>
                </a:solidFill>
                <a:latin typeface="Arial"/>
                <a:cs typeface="Arial"/>
              </a:rPr>
              <a:t>Sai lệch và tác động</a:t>
            </a:r>
          </a:p>
        </p:txBody>
      </p:sp>
      <p:sp>
        <p:nvSpPr>
          <p:cNvPr id="117" name="Ellipse"/>
          <p:cNvSpPr/>
          <p:nvPr/>
        </p:nvSpPr>
        <p:spPr>
          <a:xfrm>
            <a:off x="5501640" y="3052080"/>
            <a:ext cx="914400" cy="914400"/>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5</a:t>
            </a:r>
          </a:p>
        </p:txBody>
      </p:sp>
      <p:sp>
        <p:nvSpPr>
          <p:cNvPr id="118" name="Text"/>
          <p:cNvSpPr/>
          <p:nvPr/>
        </p:nvSpPr>
        <p:spPr>
          <a:xfrm>
            <a:off x="536448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5FA39B"/>
                </a:solidFill>
                <a:latin typeface="Arial"/>
                <a:cs typeface="Arial"/>
              </a:rPr>
              <a:t>Dữ liệu</a:t>
            </a:r>
          </a:p>
        </p:txBody>
      </p:sp>
      <p:sp>
        <p:nvSpPr>
          <p:cNvPr id="119" name="Ellipse"/>
          <p:cNvSpPr/>
          <p:nvPr/>
        </p:nvSpPr>
        <p:spPr>
          <a:xfrm>
            <a:off x="6690360" y="3052080"/>
            <a:ext cx="914400" cy="914400"/>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6</a:t>
            </a:r>
          </a:p>
        </p:txBody>
      </p:sp>
      <p:sp>
        <p:nvSpPr>
          <p:cNvPr id="120" name="Text"/>
          <p:cNvSpPr/>
          <p:nvPr/>
        </p:nvSpPr>
        <p:spPr>
          <a:xfrm>
            <a:off x="655320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5FA39B"/>
                </a:solidFill>
                <a:latin typeface="Arial"/>
                <a:cs typeface="Arial"/>
              </a:rPr>
              <a:t>Phân tích</a:t>
            </a:r>
          </a:p>
        </p:txBody>
      </p:sp>
      <p:sp>
        <p:nvSpPr>
          <p:cNvPr id="121" name="Ellipse"/>
          <p:cNvSpPr/>
          <p:nvPr/>
        </p:nvSpPr>
        <p:spPr>
          <a:xfrm>
            <a:off x="7879080" y="3052080"/>
            <a:ext cx="914400" cy="914400"/>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7</a:t>
            </a:r>
          </a:p>
        </p:txBody>
      </p:sp>
      <p:sp>
        <p:nvSpPr>
          <p:cNvPr id="122" name="Text"/>
          <p:cNvSpPr/>
          <p:nvPr/>
        </p:nvSpPr>
        <p:spPr>
          <a:xfrm>
            <a:off x="774192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070C0"/>
                </a:solidFill>
                <a:latin typeface="Arial"/>
                <a:cs typeface="Arial"/>
              </a:rPr>
              <a:t>Bảo vệ và viết</a:t>
            </a:r>
          </a:p>
        </p:txBody>
      </p:sp>
      <p:sp>
        <p:nvSpPr>
          <p:cNvPr id="123" name="Ellipse"/>
          <p:cNvSpPr/>
          <p:nvPr/>
        </p:nvSpPr>
        <p:spPr>
          <a:xfrm>
            <a:off x="9067800" y="3052080"/>
            <a:ext cx="914400" cy="914400"/>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8</a:t>
            </a:r>
          </a:p>
        </p:txBody>
      </p:sp>
      <p:sp>
        <p:nvSpPr>
          <p:cNvPr id="124" name="Text"/>
          <p:cNvSpPr/>
          <p:nvPr/>
        </p:nvSpPr>
        <p:spPr>
          <a:xfrm>
            <a:off x="893064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070C0"/>
                </a:solidFill>
                <a:latin typeface="Arial"/>
                <a:cs typeface="Arial"/>
              </a:rPr>
              <a:t>Công bố</a:t>
            </a:r>
          </a:p>
        </p:txBody>
      </p:sp>
      <p:sp>
        <p:nvSpPr>
          <p:cNvPr id="125" name="Box"/>
          <p:cNvSpPr/>
          <p:nvPr/>
        </p:nvSpPr>
        <p:spPr>
          <a:xfrm>
            <a:off x="10302240" y="2777760"/>
            <a:ext cx="1371600" cy="1463040"/>
          </a:xfrm>
          <a:prstGeom prst="roundRect">
            <a:avLst>
              <a:gd name="adj" fmla="val 12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Đề cương</a:t>
            </a:r>
          </a:p>
          <a:p>
            <a:pPr marL="0" indent="0" algn="ctr">
              <a:lnSpc>
                <a:spcPct val="100000"/>
              </a:lnSpc>
              <a:spcBef>
                <a:spcPts val="100"/>
              </a:spcBef>
              <a:buNone/>
            </a:pPr>
            <a:r>
              <a:rPr lang="en-US" sz="1500" b="1" dirty="0">
                <a:solidFill>
                  <a:srgbClr val="FFFFFF"/>
                </a:solidFill>
                <a:latin typeface="Arial"/>
                <a:cs typeface="Arial"/>
              </a:rPr>
              <a:t>+</a:t>
            </a:r>
          </a:p>
          <a:p>
            <a:pPr marL="0" indent="0" algn="ctr">
              <a:lnSpc>
                <a:spcPct val="100000"/>
              </a:lnSpc>
              <a:spcBef>
                <a:spcPts val="100"/>
              </a:spcBef>
              <a:buNone/>
            </a:pPr>
            <a:r>
              <a:rPr lang="en-US" sz="1500" b="1" dirty="0">
                <a:solidFill>
                  <a:srgbClr val="FFFFFF"/>
                </a:solidFill>
                <a:latin typeface="Arial"/>
                <a:cs typeface="Arial"/>
              </a:rPr>
              <a:t>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Khóa học này là Cấp độ 1 trong ba cấp độ</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1666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Cấp độ 1  (khóa học này)</a:t>
            </a:r>
          </a:p>
        </p:txBody>
      </p:sp>
      <p:sp>
        <p:nvSpPr>
          <p:cNvPr id="71" name="CardBody"/>
          <p:cNvSpPr/>
          <p:nvPr/>
        </p:nvSpPr>
        <p:spPr>
          <a:xfrm>
            <a:off x="457200" y="2556666"/>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Từ câu hỏi đến công bố</a:t>
            </a:r>
          </a:p>
          <a:p>
            <a:pPr marL="0" indent="0" algn="ctr">
              <a:lnSpc>
                <a:spcPct val="104000"/>
              </a:lnSpc>
              <a:spcBef>
                <a:spcPts val="400"/>
              </a:spcBef>
              <a:buNone/>
            </a:pPr>
            <a:r>
              <a:rPr lang="en-US" sz="1750" dirty="0">
                <a:solidFill>
                  <a:srgbClr val="000000"/>
                </a:solidFill>
                <a:latin typeface="Arial"/>
                <a:cs typeface="Arial"/>
              </a:rPr>
              <a:t>Hỏi, thiết kế, phân tích, viết và công bố</a:t>
            </a:r>
          </a:p>
        </p:txBody>
      </p:sp>
      <p:sp>
        <p:nvSpPr>
          <p:cNvPr id="72" name="CardHead"/>
          <p:cNvSpPr/>
          <p:nvPr/>
        </p:nvSpPr>
        <p:spPr>
          <a:xfrm>
            <a:off x="4283066" y="191666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Cấp độ 2  (thực hành)</a:t>
            </a:r>
          </a:p>
        </p:txBody>
      </p:sp>
      <p:sp>
        <p:nvSpPr>
          <p:cNvPr id="73" name="CardBody"/>
          <p:cNvSpPr/>
          <p:nvPr/>
        </p:nvSpPr>
        <p:spPr>
          <a:xfrm>
            <a:off x="4283066" y="2556666"/>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Mô hình thống kê bằng R</a:t>
            </a:r>
          </a:p>
          <a:p>
            <a:pPr marL="0" indent="0" algn="ctr">
              <a:lnSpc>
                <a:spcPct val="104000"/>
              </a:lnSpc>
              <a:spcBef>
                <a:spcPts val="400"/>
              </a:spcBef>
              <a:buNone/>
            </a:pPr>
            <a:r>
              <a:rPr lang="en-US" sz="1750" dirty="0">
                <a:solidFill>
                  <a:srgbClr val="000000"/>
                </a:solidFill>
                <a:latin typeface="Arial"/>
                <a:cs typeface="Arial"/>
              </a:rPr>
              <a:t>Bạn tự chạy phân tích</a:t>
            </a:r>
          </a:p>
        </p:txBody>
      </p:sp>
      <p:sp>
        <p:nvSpPr>
          <p:cNvPr id="74" name="CardHead"/>
          <p:cNvSpPr/>
          <p:nvPr/>
        </p:nvSpPr>
        <p:spPr>
          <a:xfrm>
            <a:off x="8108932" y="1916666"/>
            <a:ext cx="3625866" cy="640000"/>
          </a:xfrm>
          <a:prstGeom prst="rect">
            <a:avLst/>
          </a:prstGeom>
          <a:solidFill>
            <a:srgbClr val="04242F"/>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Cấp độ 3  (nâng cao)</a:t>
            </a:r>
          </a:p>
        </p:txBody>
      </p:sp>
      <p:sp>
        <p:nvSpPr>
          <p:cNvPr id="75" name="CardBody"/>
          <p:cNvSpPr/>
          <p:nvPr/>
        </p:nvSpPr>
        <p:spPr>
          <a:xfrm>
            <a:off x="8108932" y="2556666"/>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Phương pháp nâng cao</a:t>
            </a:r>
          </a:p>
          <a:p>
            <a:pPr marL="0" indent="0" algn="ctr">
              <a:lnSpc>
                <a:spcPct val="104000"/>
              </a:lnSpc>
              <a:spcBef>
                <a:spcPts val="400"/>
              </a:spcBef>
              <a:buNone/>
            </a:pPr>
            <a:r>
              <a:rPr lang="en-US" sz="1750" dirty="0">
                <a:solidFill>
                  <a:srgbClr val="000000"/>
                </a:solidFill>
                <a:latin typeface="Arial"/>
                <a:cs typeface="Arial"/>
              </a:rPr>
              <a:t>Hội thảo chuyên đề theo yêu cầu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Cấp độ 1 là khóa học này. Cấp độ 2 và 3 dành cho ai muốn học sâu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Hai sản phẩm, mỗi người tự làm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Cả hai đều là bài cá nhân. Mỗi bản hướng dẫn nêu rõ yêu cầu và cách đánh giá.</a:t>
            </a:r>
          </a:p>
        </p:txBody>
      </p:sp>
      <p:sp>
        <p:nvSpPr>
          <p:cNvPr id="70" name="CardHead"/>
          <p:cNvSpPr/>
          <p:nvPr/>
        </p:nvSpPr>
        <p:spPr>
          <a:xfrm>
            <a:off x="457200" y="2001619"/>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Đề cương nghiên cứu của bạn</a:t>
            </a:r>
          </a:p>
        </p:txBody>
      </p:sp>
      <p:sp>
        <p:nvSpPr>
          <p:cNvPr id="71" name="CardBody"/>
          <p:cNvSpPr/>
          <p:nvPr/>
        </p:nvSpPr>
        <p:spPr>
          <a:xfrm>
            <a:off x="457200" y="2641619"/>
            <a:ext cx="5538800" cy="19251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Về một câu hỏi từ chính khoa của bạn</a:t>
            </a:r>
          </a:p>
          <a:p>
            <a:pPr marL="0" indent="0" algn="ctr">
              <a:lnSpc>
                <a:spcPct val="104000"/>
              </a:lnSpc>
              <a:spcBef>
                <a:spcPts val="400"/>
              </a:spcBef>
              <a:buNone/>
            </a:pPr>
            <a:r>
              <a:rPr lang="en-US" sz="1750" dirty="0">
                <a:solidFill>
                  <a:srgbClr val="000000"/>
                </a:solidFill>
                <a:latin typeface="Arial"/>
                <a:cs typeface="Arial"/>
              </a:rPr>
              <a:t>Viết từng phần, từ Buổi 1 đến Buổi 7</a:t>
            </a:r>
          </a:p>
          <a:p>
            <a:pPr marL="0" indent="0" algn="ctr">
              <a:lnSpc>
                <a:spcPct val="104000"/>
              </a:lnSpc>
              <a:spcBef>
                <a:spcPts val="400"/>
              </a:spcBef>
              <a:buNone/>
            </a:pPr>
            <a:r>
              <a:rPr lang="en-US" sz="1750" dirty="0">
                <a:solidFill>
                  <a:srgbClr val="000000"/>
                </a:solidFill>
                <a:latin typeface="Arial"/>
                <a:cs typeface="Arial"/>
              </a:rPr>
              <a:t>Nộp ở Buổi 8 (khoảng 5 bạn tình nguyện trình bày)</a:t>
            </a:r>
          </a:p>
          <a:p>
            <a:pPr marL="0" indent="0" algn="ctr">
              <a:lnSpc>
                <a:spcPct val="104000"/>
              </a:lnSpc>
              <a:spcBef>
                <a:spcPts val="400"/>
              </a:spcBef>
              <a:buNone/>
            </a:pPr>
            <a:r>
              <a:rPr lang="en-US" sz="1750" dirty="0">
                <a:solidFill>
                  <a:srgbClr val="000000"/>
                </a:solidFill>
                <a:latin typeface="Arial"/>
                <a:cs typeface="Arial"/>
              </a:rPr>
              <a:t>Hướng dẫn viết đề cương: gửi trước Buổi 1</a:t>
            </a:r>
          </a:p>
        </p:txBody>
      </p:sp>
      <p:sp>
        <p:nvSpPr>
          <p:cNvPr id="72" name="CardHead"/>
          <p:cNvSpPr/>
          <p:nvPr/>
        </p:nvSpPr>
        <p:spPr>
          <a:xfrm>
            <a:off x="6196000" y="2001619"/>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Phần Kết quả, sẵn sàng để nộp</a:t>
            </a:r>
          </a:p>
        </p:txBody>
      </p:sp>
      <p:sp>
        <p:nvSpPr>
          <p:cNvPr id="73" name="CardBody"/>
          <p:cNvSpPr/>
          <p:nvPr/>
        </p:nvSpPr>
        <p:spPr>
          <a:xfrm>
            <a:off x="6196000" y="2641619"/>
            <a:ext cx="5538800" cy="19251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Cho một câu hỏi của FLUID-ICU</a:t>
            </a:r>
          </a:p>
          <a:p>
            <a:pPr marL="0" indent="0" algn="ctr">
              <a:lnSpc>
                <a:spcPct val="104000"/>
              </a:lnSpc>
              <a:spcBef>
                <a:spcPts val="400"/>
              </a:spcBef>
              <a:buNone/>
            </a:pPr>
            <a:r>
              <a:rPr lang="en-US" sz="1750" dirty="0">
                <a:solidFill>
                  <a:srgbClr val="000000"/>
                </a:solidFill>
                <a:latin typeface="Arial"/>
                <a:cs typeface="Arial"/>
              </a:rPr>
              <a:t>Học viết mọi phần. Chỉ bắt buộc nộp phần Kết quả</a:t>
            </a:r>
          </a:p>
          <a:p>
            <a:pPr marL="0" indent="0" algn="ctr">
              <a:lnSpc>
                <a:spcPct val="104000"/>
              </a:lnSpc>
              <a:spcBef>
                <a:spcPts val="400"/>
              </a:spcBef>
              <a:buNone/>
            </a:pPr>
            <a:r>
              <a:rPr lang="en-US" sz="1750" dirty="0">
                <a:solidFill>
                  <a:srgbClr val="000000"/>
                </a:solidFill>
                <a:latin typeface="Arial"/>
                <a:cs typeface="Arial"/>
              </a:rPr>
              <a:t>Hướng dẫn viết bản thảo: chia sẻ ở Buổi 6</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Sau khóa học, bạn sẽ có thể</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80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Hỏi và tìm</a:t>
            </a:r>
          </a:p>
        </p:txBody>
      </p:sp>
      <p:sp>
        <p:nvSpPr>
          <p:cNvPr id="71" name="CardBody"/>
          <p:cNvSpPr/>
          <p:nvPr/>
        </p:nvSpPr>
        <p:spPr>
          <a:xfrm>
            <a:off x="4572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Biến một vấn đề thành câu hỏi rõ ràng</a:t>
            </a:r>
          </a:p>
          <a:p>
            <a:pPr marL="0" indent="0" algn="ctr">
              <a:lnSpc>
                <a:spcPct val="104000"/>
              </a:lnSpc>
              <a:spcBef>
                <a:spcPts val="400"/>
              </a:spcBef>
              <a:buNone/>
            </a:pPr>
            <a:r>
              <a:rPr lang="en-US" sz="1600" dirty="0">
                <a:solidFill>
                  <a:srgbClr val="000000"/>
                </a:solidFill>
                <a:latin typeface="Arial"/>
                <a:cs typeface="Arial"/>
              </a:rPr>
              <a:t>Tìm trên PubMed và quản lý tài liệu</a:t>
            </a:r>
          </a:p>
          <a:p>
            <a:pPr marL="0" indent="0" algn="ctr">
              <a:lnSpc>
                <a:spcPct val="104000"/>
              </a:lnSpc>
              <a:spcBef>
                <a:spcPts val="400"/>
              </a:spcBef>
              <a:buNone/>
            </a:pPr>
            <a:r>
              <a:rPr lang="en-US" sz="1600" dirty="0">
                <a:solidFill>
                  <a:srgbClr val="000000"/>
                </a:solidFill>
                <a:latin typeface="Arial"/>
                <a:cs typeface="Arial"/>
              </a:rPr>
              <a:t>Đọc một bài báo trong 15 phút</a:t>
            </a:r>
          </a:p>
        </p:txBody>
      </p:sp>
      <p:sp>
        <p:nvSpPr>
          <p:cNvPr id="72" name="CardHead"/>
          <p:cNvSpPr/>
          <p:nvPr/>
        </p:nvSpPr>
        <p:spPr>
          <a:xfrm>
            <a:off x="3326600" y="1680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Thiết kế</a:t>
            </a:r>
          </a:p>
        </p:txBody>
      </p:sp>
      <p:sp>
        <p:nvSpPr>
          <p:cNvPr id="73" name="CardBody"/>
          <p:cNvSpPr/>
          <p:nvPr/>
        </p:nvSpPr>
        <p:spPr>
          <a:xfrm>
            <a:off x="33266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Chọn thiết kế nghiên cứu</a:t>
            </a:r>
          </a:p>
          <a:p>
            <a:pPr marL="0" indent="0" algn="ctr">
              <a:lnSpc>
                <a:spcPct val="104000"/>
              </a:lnSpc>
              <a:spcBef>
                <a:spcPts val="400"/>
              </a:spcBef>
              <a:buNone/>
            </a:pPr>
            <a:r>
              <a:rPr lang="en-US" sz="1600" dirty="0">
                <a:solidFill>
                  <a:srgbClr val="000000"/>
                </a:solidFill>
                <a:latin typeface="Arial"/>
                <a:cs typeface="Arial"/>
              </a:rPr>
              <a:t>Nhận ra sai lệch</a:t>
            </a:r>
          </a:p>
          <a:p>
            <a:pPr marL="0" indent="0" algn="ctr">
              <a:lnSpc>
                <a:spcPct val="104000"/>
              </a:lnSpc>
              <a:spcBef>
                <a:spcPts val="400"/>
              </a:spcBef>
              <a:buNone/>
            </a:pPr>
            <a:r>
              <a:rPr lang="en-US" sz="1600" dirty="0">
                <a:solidFill>
                  <a:srgbClr val="000000"/>
                </a:solidFill>
                <a:latin typeface="Arial"/>
                <a:cs typeface="Arial"/>
              </a:rPr>
              <a:t>Đọc các chỉ số đo lường tác động chính</a:t>
            </a:r>
          </a:p>
        </p:txBody>
      </p:sp>
      <p:sp>
        <p:nvSpPr>
          <p:cNvPr id="74" name="CardHead"/>
          <p:cNvSpPr/>
          <p:nvPr/>
        </p:nvSpPr>
        <p:spPr>
          <a:xfrm>
            <a:off x="6196000" y="1680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Phân tích</a:t>
            </a:r>
          </a:p>
        </p:txBody>
      </p:sp>
      <p:sp>
        <p:nvSpPr>
          <p:cNvPr id="75" name="CardBody"/>
          <p:cNvSpPr/>
          <p:nvPr/>
        </p:nvSpPr>
        <p:spPr>
          <a:xfrm>
            <a:off x="61960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Lên kế hoạch dữ liệu cần thu thập</a:t>
            </a:r>
          </a:p>
          <a:p>
            <a:pPr marL="0" indent="0" algn="ctr">
              <a:lnSpc>
                <a:spcPct val="104000"/>
              </a:lnSpc>
              <a:spcBef>
                <a:spcPts val="400"/>
              </a:spcBef>
              <a:buNone/>
            </a:pPr>
            <a:r>
              <a:rPr lang="en-US" sz="1600" dirty="0">
                <a:solidFill>
                  <a:srgbClr val="000000"/>
                </a:solidFill>
                <a:latin typeface="Arial"/>
                <a:cs typeface="Arial"/>
              </a:rPr>
              <a:t>Đọc kết quả một phân tích</a:t>
            </a:r>
          </a:p>
          <a:p>
            <a:pPr marL="0" indent="0" algn="ctr">
              <a:lnSpc>
                <a:spcPct val="104000"/>
              </a:lnSpc>
              <a:spcBef>
                <a:spcPts val="400"/>
              </a:spcBef>
              <a:buNone/>
            </a:pPr>
            <a:r>
              <a:rPr lang="en-US" sz="1600" dirty="0">
                <a:solidFill>
                  <a:srgbClr val="000000"/>
                </a:solidFill>
                <a:latin typeface="Arial"/>
                <a:cs typeface="Arial"/>
              </a:rPr>
              <a:t>Diễn giải một bộ dữ liệu thật</a:t>
            </a:r>
          </a:p>
        </p:txBody>
      </p:sp>
      <p:sp>
        <p:nvSpPr>
          <p:cNvPr id="76" name="CardHead"/>
          <p:cNvSpPr/>
          <p:nvPr/>
        </p:nvSpPr>
        <p:spPr>
          <a:xfrm>
            <a:off x="9065400" y="1680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Viết và công bố</a:t>
            </a:r>
          </a:p>
        </p:txBody>
      </p:sp>
      <p:sp>
        <p:nvSpPr>
          <p:cNvPr id="77" name="CardBody"/>
          <p:cNvSpPr/>
          <p:nvPr/>
        </p:nvSpPr>
        <p:spPr>
          <a:xfrm>
            <a:off x="90654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Lên kế hoạch xin phê duyệt đạo đức</a:t>
            </a:r>
          </a:p>
          <a:p>
            <a:pPr marL="0" indent="0" algn="ctr">
              <a:lnSpc>
                <a:spcPct val="104000"/>
              </a:lnSpc>
              <a:spcBef>
                <a:spcPts val="400"/>
              </a:spcBef>
              <a:buNone/>
            </a:pPr>
            <a:r>
              <a:rPr lang="en-US" sz="1600" dirty="0">
                <a:solidFill>
                  <a:srgbClr val="000000"/>
                </a:solidFill>
                <a:latin typeface="Arial"/>
                <a:cs typeface="Arial"/>
              </a:rPr>
              <a:t>Viết từng phần của bài báo</a:t>
            </a:r>
          </a:p>
          <a:p>
            <a:pPr marL="0" indent="0" algn="ctr">
              <a:lnSpc>
                <a:spcPct val="104000"/>
              </a:lnSpc>
              <a:spcBef>
                <a:spcPts val="400"/>
              </a:spcBef>
              <a:buNone/>
            </a:pPr>
            <a:r>
              <a:rPr lang="en-US" sz="1600" dirty="0">
                <a:solidFill>
                  <a:srgbClr val="000000"/>
                </a:solidFill>
                <a:latin typeface="Arial"/>
                <a:cs typeface="Arial"/>
              </a:rPr>
              <a:t>Nộp bài và trả lời phản biện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Hiểu và diễn giải: bạn sẽ không phải tự tính toán.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Mỗi buổi học diễn ra như thế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563880" y="2336320"/>
            <a:ext cx="578104" cy="1554480"/>
          </a:xfrm>
          <a:prstGeom prst="rect">
            <a:avLst/>
          </a:prstGeom>
          <a:solidFill>
            <a:srgbClr val="8A99A3"/>
          </a:solidFill>
          <a:ln>
            <a:noFill/>
          </a:ln>
        </p:spPr>
        <p:txBody>
          <a:bodyPr wrap="square" lIns="27432" tIns="27432" rIns="27432" bIns="27432" rtlCol="0" anchor="ctr">
            <a:noAutofit/>
          </a:bodyPr>
          <a:lstStyle/>
          <a:p>
            <a:pPr marL="0" indent="0" algn="ctr">
              <a:lnSpc>
                <a:spcPct val="100000"/>
              </a:lnSpc>
              <a:buNone/>
            </a:pPr>
            <a:r>
              <a:rPr lang="en-US" sz="1300" b="1" dirty="0">
                <a:solidFill>
                  <a:srgbClr val="FFFFFF"/>
                </a:solidFill>
                <a:latin typeface="Arial"/>
                <a:cs typeface="Arial"/>
              </a:rPr>
              <a:t>Ôn tập</a:t>
            </a:r>
          </a:p>
        </p:txBody>
      </p:sp>
      <p:sp>
        <p:nvSpPr>
          <p:cNvPr id="101" name="Text"/>
          <p:cNvSpPr/>
          <p:nvPr/>
        </p:nvSpPr>
        <p:spPr>
          <a:xfrm>
            <a:off x="19812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0:00</a:t>
            </a:r>
          </a:p>
        </p:txBody>
      </p:sp>
      <p:sp>
        <p:nvSpPr>
          <p:cNvPr id="102" name="Box"/>
          <p:cNvSpPr/>
          <p:nvPr/>
        </p:nvSpPr>
        <p:spPr>
          <a:xfrm>
            <a:off x="1178560" y="2336320"/>
            <a:ext cx="3651504" cy="1554480"/>
          </a:xfrm>
          <a:prstGeom prst="rect">
            <a:avLst/>
          </a:prstGeom>
          <a:solidFill>
            <a:srgbClr val="0D7377"/>
          </a:solidFill>
          <a:ln>
            <a:noFill/>
          </a:ln>
        </p:spPr>
        <p:txBody>
          <a:bodyPr wrap="square" lIns="27432" tIns="27432" rIns="27432" bIns="27432" rtlCol="0" anchor="ctr">
            <a:noAutofit/>
          </a:bodyPr>
          <a:lstStyle/>
          <a:p>
            <a:pPr marL="0" indent="0" algn="ctr">
              <a:lnSpc>
                <a:spcPct val="100000"/>
              </a:lnSpc>
              <a:buNone/>
            </a:pPr>
            <a:r>
              <a:rPr lang="en-US" sz="1800" b="1" dirty="0">
                <a:solidFill>
                  <a:srgbClr val="FFFFFF"/>
                </a:solidFill>
                <a:latin typeface="Arial"/>
                <a:cs typeface="Arial"/>
              </a:rPr>
              <a:t>Học, kiểm tra, thực hành (A)</a:t>
            </a:r>
          </a:p>
        </p:txBody>
      </p:sp>
      <p:sp>
        <p:nvSpPr>
          <p:cNvPr id="103" name="Text"/>
          <p:cNvSpPr/>
          <p:nvPr/>
        </p:nvSpPr>
        <p:spPr>
          <a:xfrm>
            <a:off x="81280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0:10</a:t>
            </a:r>
          </a:p>
        </p:txBody>
      </p:sp>
      <p:sp>
        <p:nvSpPr>
          <p:cNvPr id="104" name="Box"/>
          <p:cNvSpPr/>
          <p:nvPr/>
        </p:nvSpPr>
        <p:spPr>
          <a:xfrm>
            <a:off x="4866640" y="2336320"/>
            <a:ext cx="885444" cy="1554480"/>
          </a:xfrm>
          <a:prstGeom prst="rect">
            <a:avLst/>
          </a:prstGeom>
          <a:solidFill>
            <a:srgbClr val="D5DDE1"/>
          </a:solidFill>
          <a:ln>
            <a:noFill/>
          </a:ln>
        </p:spPr>
        <p:txBody>
          <a:bodyPr wrap="square" lIns="27432" tIns="27432" rIns="27432" bIns="27432" rtlCol="0" anchor="ctr">
            <a:noAutofit/>
          </a:bodyPr>
          <a:lstStyle/>
          <a:p>
            <a:pPr marL="0" indent="0" algn="ctr">
              <a:lnSpc>
                <a:spcPct val="100000"/>
              </a:lnSpc>
              <a:buNone/>
            </a:pPr>
            <a:r>
              <a:rPr lang="en-US" sz="1300" b="1" dirty="0">
                <a:solidFill>
                  <a:srgbClr val="000000"/>
                </a:solidFill>
                <a:latin typeface="Arial"/>
                <a:cs typeface="Arial"/>
              </a:rPr>
              <a:t>Giải lao</a:t>
            </a:r>
          </a:p>
        </p:txBody>
      </p:sp>
      <p:sp>
        <p:nvSpPr>
          <p:cNvPr id="105" name="Text"/>
          <p:cNvSpPr/>
          <p:nvPr/>
        </p:nvSpPr>
        <p:spPr>
          <a:xfrm>
            <a:off x="450088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1:10</a:t>
            </a:r>
          </a:p>
        </p:txBody>
      </p:sp>
      <p:sp>
        <p:nvSpPr>
          <p:cNvPr id="106" name="Box"/>
          <p:cNvSpPr/>
          <p:nvPr/>
        </p:nvSpPr>
        <p:spPr>
          <a:xfrm>
            <a:off x="5788660" y="2336320"/>
            <a:ext cx="3651504" cy="1554480"/>
          </a:xfrm>
          <a:prstGeom prst="rect">
            <a:avLst/>
          </a:prstGeom>
          <a:solidFill>
            <a:srgbClr val="0B376C"/>
          </a:solidFill>
          <a:ln>
            <a:noFill/>
          </a:ln>
        </p:spPr>
        <p:txBody>
          <a:bodyPr wrap="square" lIns="27432" tIns="27432" rIns="27432" bIns="27432" rtlCol="0" anchor="ctr">
            <a:noAutofit/>
          </a:bodyPr>
          <a:lstStyle/>
          <a:p>
            <a:pPr marL="0" indent="0" algn="ctr">
              <a:lnSpc>
                <a:spcPct val="100000"/>
              </a:lnSpc>
              <a:buNone/>
            </a:pPr>
            <a:r>
              <a:rPr lang="en-US" sz="1800" b="1" dirty="0">
                <a:solidFill>
                  <a:srgbClr val="FFFFFF"/>
                </a:solidFill>
                <a:latin typeface="Arial"/>
                <a:cs typeface="Arial"/>
              </a:rPr>
              <a:t>Học, kiểm tra, thực hành (B)</a:t>
            </a:r>
          </a:p>
        </p:txBody>
      </p:sp>
      <p:sp>
        <p:nvSpPr>
          <p:cNvPr id="107" name="Text"/>
          <p:cNvSpPr/>
          <p:nvPr/>
        </p:nvSpPr>
        <p:spPr>
          <a:xfrm>
            <a:off x="542290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1:25</a:t>
            </a:r>
          </a:p>
        </p:txBody>
      </p:sp>
      <p:sp>
        <p:nvSpPr>
          <p:cNvPr id="108" name="Box"/>
          <p:cNvSpPr/>
          <p:nvPr/>
        </p:nvSpPr>
        <p:spPr>
          <a:xfrm>
            <a:off x="9476740" y="2336320"/>
            <a:ext cx="1807464" cy="1554480"/>
          </a:xfrm>
          <a:prstGeom prst="rect">
            <a:avLst/>
          </a:prstGeom>
          <a:solidFill>
            <a:srgbClr val="055F56"/>
          </a:solidFill>
          <a:ln>
            <a:noFill/>
          </a:ln>
        </p:spPr>
        <p:txBody>
          <a:bodyPr wrap="square" lIns="27432" tIns="27432" rIns="27432" bIns="27432" rtlCol="0" anchor="ctr">
            <a:noAutofit/>
          </a:bodyPr>
          <a:lstStyle/>
          <a:p>
            <a:pPr marL="0" indent="0" algn="ctr">
              <a:lnSpc>
                <a:spcPct val="100000"/>
              </a:lnSpc>
              <a:buNone/>
            </a:pPr>
            <a:r>
              <a:rPr lang="en-US" sz="1800" b="1" dirty="0">
                <a:solidFill>
                  <a:srgbClr val="FFFFFF"/>
                </a:solidFill>
                <a:latin typeface="Arial"/>
                <a:cs typeface="Arial"/>
              </a:rPr>
              <a:t>Xây dựng đề cương hoặc phần Kết quả</a:t>
            </a:r>
          </a:p>
        </p:txBody>
      </p:sp>
      <p:sp>
        <p:nvSpPr>
          <p:cNvPr id="109" name="Text"/>
          <p:cNvSpPr/>
          <p:nvPr/>
        </p:nvSpPr>
        <p:spPr>
          <a:xfrm>
            <a:off x="911098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2:25</a:t>
            </a:r>
          </a:p>
        </p:txBody>
      </p:sp>
      <p:sp>
        <p:nvSpPr>
          <p:cNvPr id="110" name="Box"/>
          <p:cNvSpPr/>
          <p:nvPr/>
        </p:nvSpPr>
        <p:spPr>
          <a:xfrm>
            <a:off x="11320780" y="2336320"/>
            <a:ext cx="270764" cy="1554480"/>
          </a:xfrm>
          <a:prstGeom prst="rect">
            <a:avLst/>
          </a:prstGeom>
          <a:solidFill>
            <a:srgbClr val="8A99A3"/>
          </a:solidFill>
          <a:ln>
            <a:noFill/>
          </a:ln>
        </p:spPr>
        <p:txBody>
          <a:bodyPr wrap="square" lIns="27432" tIns="27432" rIns="27432" bIns="27432" rtlCol="0" anchor="ctr">
            <a:noAutofit/>
          </a:bodyPr>
          <a:lstStyle/>
          <a:p>
            <a:endParaRPr lang="en-US"/>
          </a:p>
        </p:txBody>
      </p:sp>
      <p:sp>
        <p:nvSpPr>
          <p:cNvPr id="111" name="Text"/>
          <p:cNvSpPr/>
          <p:nvPr/>
        </p:nvSpPr>
        <p:spPr>
          <a:xfrm>
            <a:off x="1121664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3:00</a:t>
            </a:r>
          </a:p>
        </p:txBody>
      </p:sp>
      <p:sp>
        <p:nvSpPr>
          <p:cNvPr id="112" name="Text"/>
          <p:cNvSpPr/>
          <p:nvPr/>
        </p:nvSpPr>
        <p:spPr>
          <a:xfrm>
            <a:off x="10165080" y="1879120"/>
            <a:ext cx="1463040" cy="365760"/>
          </a:xfrm>
          <a:prstGeom prst="rect">
            <a:avLst/>
          </a:prstGeom>
          <a:noFill/>
          <a:ln>
            <a:noFill/>
          </a:ln>
        </p:spPr>
        <p:txBody>
          <a:bodyPr wrap="square" lIns="54864" tIns="54864" rIns="54864" bIns="54864" rtlCol="0" anchor="ctr">
            <a:noAutofit/>
          </a:bodyPr>
          <a:lstStyle/>
          <a:p>
            <a:pPr marL="0" indent="0" algn="r">
              <a:lnSpc>
                <a:spcPct val="100000"/>
              </a:lnSpc>
              <a:buNone/>
            </a:pPr>
            <a:r>
              <a:rPr lang="en-US" sz="1400" dirty="0">
                <a:solidFill>
                  <a:srgbClr val="8A99A3"/>
                </a:solidFill>
                <a:latin typeface="Arial"/>
                <a:cs typeface="Arial"/>
              </a:rPr>
              <a:t>Tổng kết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Cứ 20 phút kiểm tra mức hiểu một lần. Slide bổ sung chỉ dùng khi còn thời gian.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Viết đề cương của bạn từng phần một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Phần 1</a:t>
            </a:r>
          </a:p>
        </p:txBody>
      </p:sp>
      <p:sp>
        <p:nvSpPr>
          <p:cNvPr id="81" name="StepText"/>
          <p:cNvSpPr/>
          <p:nvPr/>
        </p:nvSpPr>
        <p:spPr>
          <a:xfrm>
            <a:off x="49720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Buổi 1-2</a:t>
            </a:r>
          </a:p>
          <a:p>
            <a:pPr marL="0" indent="0" algn="ctr">
              <a:lnSpc>
                <a:spcPct val="104000"/>
              </a:lnSpc>
              <a:spcBef>
                <a:spcPts val="200"/>
              </a:spcBef>
              <a:buNone/>
            </a:pPr>
            <a:r>
              <a:rPr lang="en-US" sz="1700" dirty="0">
                <a:solidFill>
                  <a:srgbClr val="000000"/>
                </a:solidFill>
                <a:latin typeface="Arial"/>
                <a:cs typeface="Arial"/>
              </a:rPr>
              <a:t>Câu hỏi, tổng quan, mục tiêu</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Phần 2</a:t>
            </a:r>
          </a:p>
        </p:txBody>
      </p:sp>
      <p:sp>
        <p:nvSpPr>
          <p:cNvPr id="83" name="StepText"/>
          <p:cNvSpPr/>
          <p:nvPr/>
        </p:nvSpPr>
        <p:spPr>
          <a:xfrm>
            <a:off x="274072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Buổi 3-4</a:t>
            </a:r>
          </a:p>
          <a:p>
            <a:pPr marL="0" indent="0" algn="ctr">
              <a:lnSpc>
                <a:spcPct val="104000"/>
              </a:lnSpc>
              <a:spcBef>
                <a:spcPts val="200"/>
              </a:spcBef>
              <a:buNone/>
            </a:pPr>
            <a:r>
              <a:rPr lang="en-US" sz="1700" dirty="0">
                <a:solidFill>
                  <a:srgbClr val="000000"/>
                </a:solidFill>
                <a:latin typeface="Arial"/>
                <a:cs typeface="Arial"/>
              </a:rPr>
              <a:t>Thiết kế và đối tượng</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Phần 3</a:t>
            </a:r>
          </a:p>
        </p:txBody>
      </p:sp>
      <p:sp>
        <p:nvSpPr>
          <p:cNvPr id="85" name="StepText"/>
          <p:cNvSpPr/>
          <p:nvPr/>
        </p:nvSpPr>
        <p:spPr>
          <a:xfrm>
            <a:off x="498424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Buổi 5-6</a:t>
            </a:r>
          </a:p>
          <a:p>
            <a:pPr marL="0" indent="0" algn="ctr">
              <a:lnSpc>
                <a:spcPct val="104000"/>
              </a:lnSpc>
              <a:spcBef>
                <a:spcPts val="200"/>
              </a:spcBef>
              <a:buNone/>
            </a:pPr>
            <a:r>
              <a:rPr lang="en-US" sz="1700" dirty="0">
                <a:solidFill>
                  <a:srgbClr val="000000"/>
                </a:solidFill>
                <a:latin typeface="Arial"/>
                <a:cs typeface="Arial"/>
              </a:rPr>
              <a:t>Dữ liệu, cỡ mẫu, kế hoạch phân tích</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Phần 4</a:t>
            </a:r>
          </a:p>
        </p:txBody>
      </p:sp>
      <p:sp>
        <p:nvSpPr>
          <p:cNvPr id="87" name="StepText"/>
          <p:cNvSpPr/>
          <p:nvPr/>
        </p:nvSpPr>
        <p:spPr>
          <a:xfrm>
            <a:off x="722776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Buổi 7</a:t>
            </a:r>
          </a:p>
          <a:p>
            <a:pPr marL="0" indent="0" algn="ctr">
              <a:lnSpc>
                <a:spcPct val="104000"/>
              </a:lnSpc>
              <a:spcBef>
                <a:spcPts val="200"/>
              </a:spcBef>
              <a:buNone/>
            </a:pPr>
            <a:r>
              <a:rPr lang="en-US" sz="1700" dirty="0">
                <a:solidFill>
                  <a:srgbClr val="000000"/>
                </a:solidFill>
                <a:latin typeface="Arial"/>
                <a:cs typeface="Arial"/>
              </a:rPr>
              <a:t>Đạo đức, tính khả thi, kế hoạch công bố</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Nộp</a:t>
            </a:r>
          </a:p>
        </p:txBody>
      </p:sp>
      <p:sp>
        <p:nvSpPr>
          <p:cNvPr id="89" name="StepText"/>
          <p:cNvSpPr/>
          <p:nvPr/>
        </p:nvSpPr>
        <p:spPr>
          <a:xfrm>
            <a:off x="947128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Buổi 8</a:t>
            </a:r>
          </a:p>
          <a:p>
            <a:pPr marL="0" indent="0" algn="ctr">
              <a:lnSpc>
                <a:spcPct val="104000"/>
              </a:lnSpc>
              <a:spcBef>
                <a:spcPts val="200"/>
              </a:spcBef>
              <a:buNone/>
            </a:pPr>
            <a:r>
              <a:rPr lang="en-US" sz="1700" dirty="0">
                <a:solidFill>
                  <a:srgbClr val="000000"/>
                </a:solidFill>
                <a:latin typeface="Arial"/>
                <a:cs typeface="Arial"/>
              </a:rPr>
              <a:t>Đề cương hoàn chỉnh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Câu hỏi của riêng bạn, một mẫu đề cương, mỗi hai tuần một phần.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Chúng ta cùng học trực tuyến như thế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9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Cứ hỏi</a:t>
            </a:r>
          </a:p>
        </p:txBody>
      </p:sp>
      <p:sp>
        <p:nvSpPr>
          <p:cNvPr id="71" name="CardBody"/>
          <p:cNvSpPr/>
          <p:nvPr/>
        </p:nvSpPr>
        <p:spPr>
          <a:xfrm>
            <a:off x="4572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Không có câu hỏi nào ngớ ngẩn</a:t>
            </a:r>
          </a:p>
          <a:p>
            <a:pPr marL="0" indent="0" algn="ctr">
              <a:lnSpc>
                <a:spcPct val="104000"/>
              </a:lnSpc>
              <a:spcBef>
                <a:spcPts val="400"/>
              </a:spcBef>
              <a:buNone/>
            </a:pPr>
            <a:r>
              <a:rPr lang="en-US" sz="1600" dirty="0">
                <a:solidFill>
                  <a:srgbClr val="000000"/>
                </a:solidFill>
                <a:latin typeface="Arial"/>
                <a:cs typeface="Arial"/>
              </a:rPr>
              <a:t>Dùng chat hoặc nút 'giơ tay'</a:t>
            </a:r>
          </a:p>
        </p:txBody>
      </p:sp>
      <p:sp>
        <p:nvSpPr>
          <p:cNvPr id="72" name="CardHead"/>
          <p:cNvSpPr/>
          <p:nvPr/>
        </p:nvSpPr>
        <p:spPr>
          <a:xfrm>
            <a:off x="3326600" y="199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Đi chậm</a:t>
            </a:r>
          </a:p>
        </p:txBody>
      </p:sp>
      <p:sp>
        <p:nvSpPr>
          <p:cNvPr id="73" name="CardBody"/>
          <p:cNvSpPr/>
          <p:nvPr/>
        </p:nvSpPr>
        <p:spPr>
          <a:xfrm>
            <a:off x="33266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Kiểm tra mức hiểu thường xuyên</a:t>
            </a:r>
          </a:p>
          <a:p>
            <a:pPr marL="0" indent="0" algn="ctr">
              <a:lnSpc>
                <a:spcPct val="104000"/>
              </a:lnSpc>
              <a:spcBef>
                <a:spcPts val="400"/>
              </a:spcBef>
              <a:buNone/>
            </a:pPr>
            <a:r>
              <a:rPr lang="en-US" sz="1600" dirty="0">
                <a:solidFill>
                  <a:srgbClr val="000000"/>
                </a:solidFill>
                <a:latin typeface="Arial"/>
                <a:cs typeface="Arial"/>
              </a:rPr>
              <a:t>Slide bổ sung chỉ khi còn thời gian</a:t>
            </a:r>
          </a:p>
        </p:txBody>
      </p:sp>
      <p:sp>
        <p:nvSpPr>
          <p:cNvPr id="74" name="CardHead"/>
          <p:cNvSpPr/>
          <p:nvPr/>
        </p:nvSpPr>
        <p:spPr>
          <a:xfrm>
            <a:off x="6196000" y="199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Lấy ví dụ từ khoa mình</a:t>
            </a:r>
          </a:p>
        </p:txBody>
      </p:sp>
      <p:sp>
        <p:nvSpPr>
          <p:cNvPr id="75" name="CardBody"/>
          <p:cNvSpPr/>
          <p:nvPr/>
        </p:nvSpPr>
        <p:spPr>
          <a:xfrm>
            <a:off x="61960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Dùng ví dụ từ thực hành của bạn</a:t>
            </a:r>
          </a:p>
          <a:p>
            <a:pPr marL="0" indent="0" algn="ctr">
              <a:lnSpc>
                <a:spcPct val="104000"/>
              </a:lnSpc>
              <a:spcBef>
                <a:spcPts val="400"/>
              </a:spcBef>
              <a:buNone/>
            </a:pPr>
            <a:r>
              <a:rPr lang="en-US" sz="1600" dirty="0">
                <a:solidFill>
                  <a:srgbClr val="000000"/>
                </a:solidFill>
                <a:latin typeface="Arial"/>
                <a:cs typeface="Arial"/>
              </a:rPr>
              <a:t>Không nêu tên hay chi tiết người bệnh</a:t>
            </a:r>
          </a:p>
        </p:txBody>
      </p:sp>
      <p:sp>
        <p:nvSpPr>
          <p:cNvPr id="76" name="CardHead"/>
          <p:cNvSpPr/>
          <p:nvPr/>
        </p:nvSpPr>
        <p:spPr>
          <a:xfrm>
            <a:off x="9065400" y="199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Thói quen trực tuyến</a:t>
            </a:r>
          </a:p>
        </p:txBody>
      </p:sp>
      <p:sp>
        <p:nvSpPr>
          <p:cNvPr id="77" name="CardBody"/>
          <p:cNvSpPr/>
          <p:nvPr/>
        </p:nvSpPr>
        <p:spPr>
          <a:xfrm>
            <a:off x="90654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Bật camera khi có thể</a:t>
            </a:r>
          </a:p>
          <a:p>
            <a:pPr marL="0" indent="0" algn="ctr">
              <a:lnSpc>
                <a:spcPct val="104000"/>
              </a:lnSpc>
              <a:spcBef>
                <a:spcPts val="400"/>
              </a:spcBef>
              <a:buNone/>
            </a:pPr>
            <a:r>
              <a:rPr lang="en-US" sz="1600" dirty="0">
                <a:solidFill>
                  <a:srgbClr val="000000"/>
                </a:solidFill>
                <a:latin typeface="Arial"/>
                <a:cs typeface="Arial"/>
              </a:rPr>
              <a:t>Tắt micro khi không nói</a:t>
            </a:r>
          </a:p>
          <a:p>
            <a:pPr marL="0" indent="0" algn="ctr">
              <a:lnSpc>
                <a:spcPct val="104000"/>
              </a:lnSpc>
              <a:spcBef>
                <a:spcPts val="400"/>
              </a:spcBef>
              <a:buNone/>
            </a:pPr>
            <a:r>
              <a:rPr lang="en-US" sz="1600" dirty="0">
                <a:solidFill>
                  <a:srgbClr val="000000"/>
                </a:solidFill>
                <a:latin typeface="Arial"/>
                <a:cs typeface="Arial"/>
              </a:rPr>
              <a:t>Quay lại đúng giờ sau giải lao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kiểm tra đầu khóa (biểu mẫu trực tuyến)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15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Mở biểu mẫu: đường link đang có trong chat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Nhập họ và tên của bạn (giống mã đăng nhập Teams)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24 câu trắc nghiệm, chọn một đáp án cho mỗi câu (khoảng 12 phút)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Làm một mình: không xem tài liệu, không hỏi đồng nghiệp</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Nếu không chắc, hãy đoán: đây không phải kỳ thi</a:t>
            </a:r>
          </a:p>
        </p:txBody>
      </p:sp>
      <p:sp>
        <p:nvSpPr>
          <p:cNvPr id="52" name="Side"/>
          <p:cNvSpPr/>
          <p:nvPr/>
        </p:nvSpPr>
        <p:spPr>
          <a:xfrm>
            <a:off x="7423760" y="1720000"/>
            <a:ext cx="4311040" cy="14155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Vì sao kiểm tra bây giờ?</a:t>
            </a:r>
          </a:p>
          <a:p>
            <a:pPr marL="0" indent="0" algn="ctr">
              <a:lnSpc>
                <a:spcPct val="104000"/>
              </a:lnSpc>
              <a:spcBef>
                <a:spcPts val="300"/>
              </a:spcBef>
              <a:buNone/>
            </a:pPr>
            <a:r>
              <a:rPr lang="en-US" sz="1500" dirty="0">
                <a:solidFill>
                  <a:srgbClr val="000000"/>
                </a:solidFill>
                <a:latin typeface="Arial"/>
                <a:cs typeface="Arial"/>
              </a:rPr>
              <a:t>Làm lại cùng bài này ở Buổi 8</a:t>
            </a:r>
          </a:p>
          <a:p>
            <a:pPr marL="0" indent="0" algn="ctr">
              <a:lnSpc>
                <a:spcPct val="104000"/>
              </a:lnSpc>
              <a:spcBef>
                <a:spcPts val="300"/>
              </a:spcBef>
              <a:buNone/>
            </a:pPr>
            <a:r>
              <a:rPr lang="en-US" sz="1500" dirty="0">
                <a:solidFill>
                  <a:srgbClr val="000000"/>
                </a:solidFill>
                <a:latin typeface="Arial"/>
                <a:cs typeface="Arial"/>
              </a:rPr>
              <a:t>Chúng tôi đánh giá khóa học, không đánh giá bạn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Đã gửi biểu mẫu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600" b="1" dirty="0">
                <a:solidFill>
                  <a:srgbClr val="0D7377"/>
                </a:solidFill>
                <a:latin typeface="Arial"/>
                <a:cs typeface="Arial"/>
              </a:rPr>
              <a:t>Buổi 1 · Hỏi: từ vấn đề lâm sàng đến câu hỏi nghiên cứu</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1 · Chủ nhật</a:t>
            </a:r>
          </a:p>
          <a:p>
            <a:pPr>
              <a:buNone/>
            </a:pPr>
            <a:endParaRPr sz="800"/>
          </a:p>
          <a:p>
            <a:pPr marL="274320" indent="-274320" algn="l">
              <a:spcBef>
                <a:spcPts val="440"/>
              </a:spcBef>
              <a:buFont typeface="Arial"/>
              <a:buChar char="•"/>
            </a:pPr>
            <a:r>
              <a:rPr lang="en-US" sz="1900" dirty="0">
                <a:solidFill>
                  <a:srgbClr val="000000"/>
                </a:solidFill>
                <a:latin typeface="Arial"/>
                <a:cs typeface="Arial"/>
              </a:rPr>
              <a:t>1.1  Vì sao cần nghiên cứu? Bằng chứng, thiết kế nghiên cứu, hai bài báo của khóa học</a:t>
            </a:r>
          </a:p>
          <a:p>
            <a:pPr marL="274320" indent="-274320" algn="l">
              <a:spcBef>
                <a:spcPts val="440"/>
              </a:spcBef>
              <a:buFont typeface="Arial"/>
              <a:buChar char="•"/>
            </a:pPr>
            <a:r>
              <a:rPr lang="en-US" sz="1900" dirty="0">
                <a:solidFill>
                  <a:srgbClr val="000000"/>
                </a:solidFill>
                <a:latin typeface="Arial"/>
                <a:cs typeface="Arial"/>
              </a:rPr>
              <a:t>Giải lao</a:t>
            </a:r>
          </a:p>
          <a:p>
            <a:pPr marL="274320" indent="-274320" algn="l">
              <a:spcBef>
                <a:spcPts val="440"/>
              </a:spcBef>
              <a:buFont typeface="Arial"/>
              <a:buChar char="•"/>
            </a:pPr>
            <a:r>
              <a:rPr lang="en-US" sz="1900" dirty="0">
                <a:solidFill>
                  <a:srgbClr val="000000"/>
                </a:solidFill>
                <a:latin typeface="Arial"/>
                <a:cs typeface="Arial"/>
              </a:rPr>
              <a:t>1.2  Từ vấn đề đến câu hỏi: PICO(T), PECO và FINER</a:t>
            </a:r>
          </a:p>
          <a:p>
            <a:pPr marL="274320" indent="-274320" algn="l">
              <a:spcBef>
                <a:spcPts val="440"/>
              </a:spcBef>
              <a:buFont typeface="Arial"/>
              <a:buChar char="•"/>
            </a:pPr>
            <a:r>
              <a:rPr lang="en-US" sz="1900" dirty="0">
                <a:solidFill>
                  <a:srgbClr val="000000"/>
                </a:solidFill>
                <a:latin typeface="Arial"/>
                <a:cs typeface="Arial"/>
              </a:rPr>
              <a:t>1.3  Mục tiêu tổng quát, mục tiêu cụ thể và giả thuyết</a:t>
            </a:r>
          </a:p>
          <a:p>
            <a:pPr marL="274320" indent="-274320" algn="l">
              <a:spcBef>
                <a:spcPts val="440"/>
              </a:spcBef>
              <a:buFont typeface="Arial"/>
              <a:buChar char="•"/>
            </a:pPr>
            <a:r>
              <a:rPr lang="en-US" sz="1900" dirty="0">
                <a:solidFill>
                  <a:srgbClr val="000000"/>
                </a:solidFill>
                <a:latin typeface="Arial"/>
                <a:cs typeface="Arial"/>
              </a:rPr>
              <a:t>Xây dựng đề cương 1: bắt đầu câu hỏi của riêng bạn</a:t>
            </a:r>
          </a:p>
          <a:p>
            <a:pPr marL="274320" indent="-274320" algn="l">
              <a:spcBef>
                <a:spcPts val="440"/>
              </a:spcBef>
              <a:buFont typeface="Arial"/>
              <a:buChar char="•"/>
            </a:pPr>
            <a:r>
              <a:rPr lang="en-US" sz="1900" dirty="0">
                <a:solidFill>
                  <a:srgbClr val="000000"/>
                </a:solidFill>
                <a:latin typeface="Arial"/>
                <a:cs typeface="Arial"/>
              </a:rPr>
              <a:t>Tổng kết: từ khóa, câu hỏi cuối buổi, bài về nhà</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1.1  Vì sao cần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Đã có kinh nghiệm, vì sao vẫn cần nghiên cứu?</a:t>
            </a:r>
          </a:p>
          <a:p>
            <a:pPr marL="0" indent="0" algn="ctr">
              <a:spcBef>
                <a:spcPts val="1200"/>
              </a:spcBef>
              <a:buNone/>
            </a:pPr>
            <a:r>
              <a:rPr lang="en-US" sz="1900" i="1" dirty="0">
                <a:solidFill>
                  <a:srgbClr val="595959"/>
                </a:solidFill>
                <a:latin typeface="Arial"/>
                <a:cs typeface="Arial"/>
              </a:rPr>
              <a:t>35 phút: bằng chứng, thiết kế nghiên cứu, hai bài báo của khóa học, các loại nghiên cứu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Giai thoại và bằng chứng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1239040"/>
            <a:ext cx="4572000" cy="3931920"/>
          </a:xfrm>
          <a:prstGeom prst="roundRect">
            <a:avLst>
              <a:gd name="adj" fmla="val 5000"/>
            </a:avLst>
          </a:prstGeom>
          <a:noFill/>
          <a:ln w="31750">
            <a:solidFill>
              <a:srgbClr val="D9822B"/>
            </a:solidFill>
          </a:ln>
        </p:spPr>
        <p:txBody>
          <a:bodyPr wrap="square" lIns="54864" tIns="54864" rIns="54864" bIns="54864" rtlCol="0" anchor="ctr">
            <a:noAutofit/>
          </a:bodyPr>
          <a:lstStyle/>
          <a:p>
            <a:endParaRPr lang="en-US"/>
          </a:p>
        </p:txBody>
      </p:sp>
      <p:sp>
        <p:nvSpPr>
          <p:cNvPr id="101" name="Text"/>
          <p:cNvSpPr/>
          <p:nvPr/>
        </p:nvSpPr>
        <p:spPr>
          <a:xfrm>
            <a:off x="472440" y="1330480"/>
            <a:ext cx="4572000" cy="5029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200" b="1" dirty="0">
                <a:solidFill>
                  <a:srgbClr val="D9822B"/>
                </a:solidFill>
                <a:latin typeface="Arial"/>
                <a:cs typeface="Arial"/>
              </a:rPr>
              <a:t>Giai thoại</a:t>
            </a:r>
          </a:p>
        </p:txBody>
      </p:sp>
      <p:sp>
        <p:nvSpPr>
          <p:cNvPr id="102" name="PersonHead"/>
          <p:cNvSpPr/>
          <p:nvPr/>
        </p:nvSpPr>
        <p:spPr>
          <a:xfrm>
            <a:off x="934212" y="2199160"/>
            <a:ext cx="510235" cy="510235"/>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103" name="PersonBody"/>
          <p:cNvSpPr/>
          <p:nvPr/>
        </p:nvSpPr>
        <p:spPr>
          <a:xfrm>
            <a:off x="792480" y="2794434"/>
            <a:ext cx="793699" cy="822046"/>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104" name="Box"/>
          <p:cNvSpPr/>
          <p:nvPr/>
        </p:nvSpPr>
        <p:spPr>
          <a:xfrm>
            <a:off x="1798320" y="1924840"/>
            <a:ext cx="3017520" cy="1143000"/>
          </a:xfrm>
          <a:prstGeom prst="wedgeRoundRectCallout">
            <a:avLst>
              <a:gd name="adj1" fmla="val -64000"/>
              <a:gd name="adj2" fmla="val 4000"/>
              <a:gd name="adj3" fmla="val 16667"/>
            </a:avLst>
          </a:prstGeom>
          <a:solidFill>
            <a:srgbClr val="EAF2F5"/>
          </a:solidFill>
          <a:ln>
            <a:noFill/>
          </a:ln>
        </p:spPr>
        <p:txBody>
          <a:bodyPr wrap="square" lIns="109728" tIns="109728" rIns="109728" bIns="109728" rtlCol="0" anchor="ctr">
            <a:noAutofit/>
          </a:bodyPr>
          <a:lstStyle/>
          <a:p>
            <a:pPr marL="0" indent="0" algn="ctr">
              <a:lnSpc>
                <a:spcPct val="100000"/>
              </a:lnSpc>
              <a:buNone/>
            </a:pPr>
            <a:r>
              <a:rPr lang="en-US" sz="1600" dirty="0">
                <a:solidFill>
                  <a:srgbClr val="1A1A1A"/>
                </a:solidFill>
                <a:latin typeface="Arial"/>
                <a:cs typeface="Arial"/>
              </a:rPr>
              <a:t>"Tôi truyền ít dịch cho 3 người bệnh và cả 3 đều hồi phục tốt!"</a:t>
            </a:r>
          </a:p>
        </p:txBody>
      </p:sp>
      <p:sp>
        <p:nvSpPr>
          <p:cNvPr id="105" name="PersonHead"/>
          <p:cNvSpPr/>
          <p:nvPr/>
        </p:nvSpPr>
        <p:spPr>
          <a:xfrm>
            <a:off x="2346960" y="3250720"/>
            <a:ext cx="329184" cy="329184"/>
          </a:xfrm>
          <a:prstGeom prst="ellipse">
            <a:avLst/>
          </a:prstGeom>
          <a:solidFill>
            <a:srgbClr val="2E8B57"/>
          </a:solidFill>
          <a:ln>
            <a:noFill/>
          </a:ln>
        </p:spPr>
        <p:txBody>
          <a:bodyPr wrap="square" lIns="54864" tIns="54864" rIns="54864" bIns="54864" rtlCol="0" anchor="ctr">
            <a:noAutofit/>
          </a:bodyPr>
          <a:lstStyle/>
          <a:p>
            <a:endParaRPr lang="en-US"/>
          </a:p>
        </p:txBody>
      </p:sp>
      <p:sp>
        <p:nvSpPr>
          <p:cNvPr id="106" name="PersonBody"/>
          <p:cNvSpPr/>
          <p:nvPr/>
        </p:nvSpPr>
        <p:spPr>
          <a:xfrm>
            <a:off x="2255520" y="3634768"/>
            <a:ext cx="512064" cy="530352"/>
          </a:xfrm>
          <a:prstGeom prst="roundRect">
            <a:avLst>
              <a:gd name="adj" fmla="val 22000"/>
            </a:avLst>
          </a:prstGeom>
          <a:solidFill>
            <a:srgbClr val="2E8B57"/>
          </a:solidFill>
          <a:ln>
            <a:noFill/>
          </a:ln>
        </p:spPr>
        <p:txBody>
          <a:bodyPr wrap="square" lIns="54864" tIns="54864" rIns="54864" bIns="54864" rtlCol="0" anchor="ctr">
            <a:noAutofit/>
          </a:bodyPr>
          <a:lstStyle/>
          <a:p>
            <a:endParaRPr lang="en-US"/>
          </a:p>
        </p:txBody>
      </p:sp>
      <p:sp>
        <p:nvSpPr>
          <p:cNvPr id="107" name="PersonHead"/>
          <p:cNvSpPr/>
          <p:nvPr/>
        </p:nvSpPr>
        <p:spPr>
          <a:xfrm>
            <a:off x="3169920" y="3250720"/>
            <a:ext cx="329184" cy="329184"/>
          </a:xfrm>
          <a:prstGeom prst="ellipse">
            <a:avLst/>
          </a:prstGeom>
          <a:solidFill>
            <a:srgbClr val="2E8B57"/>
          </a:solidFill>
          <a:ln>
            <a:noFill/>
          </a:ln>
        </p:spPr>
        <p:txBody>
          <a:bodyPr wrap="square" lIns="54864" tIns="54864" rIns="54864" bIns="54864" rtlCol="0" anchor="ctr">
            <a:noAutofit/>
          </a:bodyPr>
          <a:lstStyle/>
          <a:p>
            <a:endParaRPr lang="en-US"/>
          </a:p>
        </p:txBody>
      </p:sp>
      <p:sp>
        <p:nvSpPr>
          <p:cNvPr id="108" name="PersonBody"/>
          <p:cNvSpPr/>
          <p:nvPr/>
        </p:nvSpPr>
        <p:spPr>
          <a:xfrm>
            <a:off x="3078480" y="3634768"/>
            <a:ext cx="512064" cy="530352"/>
          </a:xfrm>
          <a:prstGeom prst="roundRect">
            <a:avLst>
              <a:gd name="adj" fmla="val 22000"/>
            </a:avLst>
          </a:prstGeom>
          <a:solidFill>
            <a:srgbClr val="2E8B57"/>
          </a:solidFill>
          <a:ln>
            <a:noFill/>
          </a:ln>
        </p:spPr>
        <p:txBody>
          <a:bodyPr wrap="square" lIns="54864" tIns="54864" rIns="54864" bIns="54864" rtlCol="0" anchor="ctr">
            <a:noAutofit/>
          </a:bodyPr>
          <a:lstStyle/>
          <a:p>
            <a:endParaRPr lang="en-US"/>
          </a:p>
        </p:txBody>
      </p:sp>
      <p:sp>
        <p:nvSpPr>
          <p:cNvPr id="109" name="PersonHead"/>
          <p:cNvSpPr/>
          <p:nvPr/>
        </p:nvSpPr>
        <p:spPr>
          <a:xfrm>
            <a:off x="3992880" y="3250720"/>
            <a:ext cx="329184" cy="329184"/>
          </a:xfrm>
          <a:prstGeom prst="ellipse">
            <a:avLst/>
          </a:prstGeom>
          <a:solidFill>
            <a:srgbClr val="2E8B57"/>
          </a:solidFill>
          <a:ln>
            <a:noFill/>
          </a:ln>
        </p:spPr>
        <p:txBody>
          <a:bodyPr wrap="square" lIns="54864" tIns="54864" rIns="54864" bIns="54864" rtlCol="0" anchor="ctr">
            <a:noAutofit/>
          </a:bodyPr>
          <a:lstStyle/>
          <a:p>
            <a:endParaRPr lang="en-US"/>
          </a:p>
        </p:txBody>
      </p:sp>
      <p:sp>
        <p:nvSpPr>
          <p:cNvPr id="110" name="PersonBody"/>
          <p:cNvSpPr/>
          <p:nvPr/>
        </p:nvSpPr>
        <p:spPr>
          <a:xfrm>
            <a:off x="3901440" y="3634768"/>
            <a:ext cx="512064" cy="530352"/>
          </a:xfrm>
          <a:prstGeom prst="roundRect">
            <a:avLst>
              <a:gd name="adj" fmla="val 22000"/>
            </a:avLst>
          </a:prstGeom>
          <a:solidFill>
            <a:srgbClr val="2E8B57"/>
          </a:solidFill>
          <a:ln>
            <a:noFill/>
          </a:ln>
        </p:spPr>
        <p:txBody>
          <a:bodyPr wrap="square" lIns="54864" tIns="54864" rIns="54864" bIns="54864" rtlCol="0" anchor="ctr">
            <a:noAutofit/>
          </a:bodyPr>
          <a:lstStyle/>
          <a:p>
            <a:endParaRPr lang="en-US"/>
          </a:p>
        </p:txBody>
      </p:sp>
      <p:sp>
        <p:nvSpPr>
          <p:cNvPr id="111" name="Text"/>
          <p:cNvSpPr/>
          <p:nvPr/>
        </p:nvSpPr>
        <p:spPr>
          <a:xfrm>
            <a:off x="655320" y="4302280"/>
            <a:ext cx="42062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Ít người bệnh, không so sánh, chỉ nhớ những ca nổi bật</a:t>
            </a:r>
          </a:p>
        </p:txBody>
      </p:sp>
      <p:sp>
        <p:nvSpPr>
          <p:cNvPr id="112" name="Text"/>
          <p:cNvSpPr/>
          <p:nvPr/>
        </p:nvSpPr>
        <p:spPr>
          <a:xfrm>
            <a:off x="5044440" y="2930680"/>
            <a:ext cx="731520" cy="54864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8A99A3"/>
                </a:solidFill>
                <a:latin typeface="Arial"/>
                <a:cs typeface="Arial"/>
              </a:rPr>
              <a:t>vs</a:t>
            </a:r>
          </a:p>
        </p:txBody>
      </p:sp>
      <p:sp>
        <p:nvSpPr>
          <p:cNvPr id="113" name="Box"/>
          <p:cNvSpPr/>
          <p:nvPr/>
        </p:nvSpPr>
        <p:spPr>
          <a:xfrm>
            <a:off x="5775960" y="1239040"/>
            <a:ext cx="5943600" cy="3931920"/>
          </a:xfrm>
          <a:prstGeom prst="roundRect">
            <a:avLst>
              <a:gd name="adj" fmla="val 5000"/>
            </a:avLst>
          </a:prstGeom>
          <a:noFill/>
          <a:ln w="31750">
            <a:solidFill>
              <a:srgbClr val="0D7377"/>
            </a:solidFill>
          </a:ln>
        </p:spPr>
        <p:txBody>
          <a:bodyPr wrap="square" lIns="54864" tIns="54864" rIns="54864" bIns="54864" rtlCol="0" anchor="ctr">
            <a:noAutofit/>
          </a:bodyPr>
          <a:lstStyle/>
          <a:p>
            <a:endParaRPr lang="en-US"/>
          </a:p>
        </p:txBody>
      </p:sp>
      <p:sp>
        <p:nvSpPr>
          <p:cNvPr id="114" name="Text"/>
          <p:cNvSpPr/>
          <p:nvPr/>
        </p:nvSpPr>
        <p:spPr>
          <a:xfrm>
            <a:off x="5775960" y="1330480"/>
            <a:ext cx="5943600" cy="5029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200" b="1" dirty="0">
                <a:solidFill>
                  <a:srgbClr val="0D7377"/>
                </a:solidFill>
                <a:latin typeface="Arial"/>
                <a:cs typeface="Arial"/>
              </a:rPr>
              <a:t>Bằng chứng</a:t>
            </a:r>
          </a:p>
        </p:txBody>
      </p:sp>
      <p:sp>
        <p:nvSpPr>
          <p:cNvPr id="115" name="Text"/>
          <p:cNvSpPr/>
          <p:nvPr/>
        </p:nvSpPr>
        <p:spPr>
          <a:xfrm>
            <a:off x="5913120" y="1805968"/>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Hạn chế dịch</a:t>
            </a:r>
          </a:p>
        </p:txBody>
      </p:sp>
      <p:sp>
        <p:nvSpPr>
          <p:cNvPr id="116" name="Text"/>
          <p:cNvSpPr/>
          <p:nvPr/>
        </p:nvSpPr>
        <p:spPr>
          <a:xfrm>
            <a:off x="8839200" y="1805968"/>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B376C"/>
                </a:solidFill>
                <a:latin typeface="Arial"/>
                <a:cs typeface="Arial"/>
              </a:rPr>
              <a:t>Chăm sóc thường quy</a:t>
            </a:r>
          </a:p>
        </p:txBody>
      </p:sp>
      <p:sp>
        <p:nvSpPr>
          <p:cNvPr id="117" name="PersonHead"/>
          <p:cNvSpPr/>
          <p:nvPr/>
        </p:nvSpPr>
        <p:spPr>
          <a:xfrm>
            <a:off x="615452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18" name="PersonBody"/>
          <p:cNvSpPr/>
          <p:nvPr/>
        </p:nvSpPr>
        <p:spPr>
          <a:xfrm>
            <a:off x="612343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19" name="PersonHead"/>
          <p:cNvSpPr/>
          <p:nvPr/>
        </p:nvSpPr>
        <p:spPr>
          <a:xfrm>
            <a:off x="640141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0" name="PersonBody"/>
          <p:cNvSpPr/>
          <p:nvPr/>
        </p:nvSpPr>
        <p:spPr>
          <a:xfrm>
            <a:off x="637032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1" name="PersonHead"/>
          <p:cNvSpPr/>
          <p:nvPr/>
        </p:nvSpPr>
        <p:spPr>
          <a:xfrm>
            <a:off x="664829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2" name="PersonBody"/>
          <p:cNvSpPr/>
          <p:nvPr/>
        </p:nvSpPr>
        <p:spPr>
          <a:xfrm>
            <a:off x="661720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3" name="PersonHead"/>
          <p:cNvSpPr/>
          <p:nvPr/>
        </p:nvSpPr>
        <p:spPr>
          <a:xfrm>
            <a:off x="689518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4" name="PersonBody"/>
          <p:cNvSpPr/>
          <p:nvPr/>
        </p:nvSpPr>
        <p:spPr>
          <a:xfrm>
            <a:off x="686409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5" name="PersonHead"/>
          <p:cNvSpPr/>
          <p:nvPr/>
        </p:nvSpPr>
        <p:spPr>
          <a:xfrm>
            <a:off x="714207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6" name="PersonBody"/>
          <p:cNvSpPr/>
          <p:nvPr/>
        </p:nvSpPr>
        <p:spPr>
          <a:xfrm>
            <a:off x="711098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7" name="PersonHead"/>
          <p:cNvSpPr/>
          <p:nvPr/>
        </p:nvSpPr>
        <p:spPr>
          <a:xfrm>
            <a:off x="738896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8" name="PersonBody"/>
          <p:cNvSpPr/>
          <p:nvPr/>
        </p:nvSpPr>
        <p:spPr>
          <a:xfrm>
            <a:off x="735787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9" name="PersonHead"/>
          <p:cNvSpPr/>
          <p:nvPr/>
        </p:nvSpPr>
        <p:spPr>
          <a:xfrm>
            <a:off x="763585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0" name="PersonBody"/>
          <p:cNvSpPr/>
          <p:nvPr/>
        </p:nvSpPr>
        <p:spPr>
          <a:xfrm>
            <a:off x="760476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1" name="PersonHead"/>
          <p:cNvSpPr/>
          <p:nvPr/>
        </p:nvSpPr>
        <p:spPr>
          <a:xfrm>
            <a:off x="788273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2" name="PersonBody"/>
          <p:cNvSpPr/>
          <p:nvPr/>
        </p:nvSpPr>
        <p:spPr>
          <a:xfrm>
            <a:off x="785164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3" name="PersonHead"/>
          <p:cNvSpPr/>
          <p:nvPr/>
        </p:nvSpPr>
        <p:spPr>
          <a:xfrm>
            <a:off x="812962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4" name="PersonBody"/>
          <p:cNvSpPr/>
          <p:nvPr/>
        </p:nvSpPr>
        <p:spPr>
          <a:xfrm>
            <a:off x="809853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5" name="PersonHead"/>
          <p:cNvSpPr/>
          <p:nvPr/>
        </p:nvSpPr>
        <p:spPr>
          <a:xfrm>
            <a:off x="837651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6" name="PersonBody"/>
          <p:cNvSpPr/>
          <p:nvPr/>
        </p:nvSpPr>
        <p:spPr>
          <a:xfrm>
            <a:off x="834542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7" name="PersonHead"/>
          <p:cNvSpPr/>
          <p:nvPr/>
        </p:nvSpPr>
        <p:spPr>
          <a:xfrm>
            <a:off x="615452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8" name="PersonBody"/>
          <p:cNvSpPr/>
          <p:nvPr/>
        </p:nvSpPr>
        <p:spPr>
          <a:xfrm>
            <a:off x="612343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9" name="PersonHead"/>
          <p:cNvSpPr/>
          <p:nvPr/>
        </p:nvSpPr>
        <p:spPr>
          <a:xfrm>
            <a:off x="640141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0" name="PersonBody"/>
          <p:cNvSpPr/>
          <p:nvPr/>
        </p:nvSpPr>
        <p:spPr>
          <a:xfrm>
            <a:off x="637032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1" name="PersonHead"/>
          <p:cNvSpPr/>
          <p:nvPr/>
        </p:nvSpPr>
        <p:spPr>
          <a:xfrm>
            <a:off x="664829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2" name="PersonBody"/>
          <p:cNvSpPr/>
          <p:nvPr/>
        </p:nvSpPr>
        <p:spPr>
          <a:xfrm>
            <a:off x="661720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3" name="PersonHead"/>
          <p:cNvSpPr/>
          <p:nvPr/>
        </p:nvSpPr>
        <p:spPr>
          <a:xfrm>
            <a:off x="689518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4" name="PersonBody"/>
          <p:cNvSpPr/>
          <p:nvPr/>
        </p:nvSpPr>
        <p:spPr>
          <a:xfrm>
            <a:off x="686409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5" name="PersonHead"/>
          <p:cNvSpPr/>
          <p:nvPr/>
        </p:nvSpPr>
        <p:spPr>
          <a:xfrm>
            <a:off x="714207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6" name="PersonBody"/>
          <p:cNvSpPr/>
          <p:nvPr/>
        </p:nvSpPr>
        <p:spPr>
          <a:xfrm>
            <a:off x="711098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7" name="PersonHead"/>
          <p:cNvSpPr/>
          <p:nvPr/>
        </p:nvSpPr>
        <p:spPr>
          <a:xfrm>
            <a:off x="738896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8" name="PersonBody"/>
          <p:cNvSpPr/>
          <p:nvPr/>
        </p:nvSpPr>
        <p:spPr>
          <a:xfrm>
            <a:off x="735787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9" name="PersonHead"/>
          <p:cNvSpPr/>
          <p:nvPr/>
        </p:nvSpPr>
        <p:spPr>
          <a:xfrm>
            <a:off x="763585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0" name="PersonBody"/>
          <p:cNvSpPr/>
          <p:nvPr/>
        </p:nvSpPr>
        <p:spPr>
          <a:xfrm>
            <a:off x="760476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1" name="PersonHead"/>
          <p:cNvSpPr/>
          <p:nvPr/>
        </p:nvSpPr>
        <p:spPr>
          <a:xfrm>
            <a:off x="788273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2" name="PersonBody"/>
          <p:cNvSpPr/>
          <p:nvPr/>
        </p:nvSpPr>
        <p:spPr>
          <a:xfrm>
            <a:off x="785164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3" name="PersonHead"/>
          <p:cNvSpPr/>
          <p:nvPr/>
        </p:nvSpPr>
        <p:spPr>
          <a:xfrm>
            <a:off x="812962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4" name="PersonBody"/>
          <p:cNvSpPr/>
          <p:nvPr/>
        </p:nvSpPr>
        <p:spPr>
          <a:xfrm>
            <a:off x="809853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5" name="PersonHead"/>
          <p:cNvSpPr/>
          <p:nvPr/>
        </p:nvSpPr>
        <p:spPr>
          <a:xfrm>
            <a:off x="837651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6" name="PersonBody"/>
          <p:cNvSpPr/>
          <p:nvPr/>
        </p:nvSpPr>
        <p:spPr>
          <a:xfrm>
            <a:off x="834542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7" name="PersonHead"/>
          <p:cNvSpPr/>
          <p:nvPr/>
        </p:nvSpPr>
        <p:spPr>
          <a:xfrm>
            <a:off x="6154522" y="2994688"/>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8" name="PersonBody"/>
          <p:cNvSpPr/>
          <p:nvPr/>
        </p:nvSpPr>
        <p:spPr>
          <a:xfrm>
            <a:off x="6123432" y="3125264"/>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9" name="PersonHead"/>
          <p:cNvSpPr/>
          <p:nvPr/>
        </p:nvSpPr>
        <p:spPr>
          <a:xfrm>
            <a:off x="6401410"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0" name="PersonBody"/>
          <p:cNvSpPr/>
          <p:nvPr/>
        </p:nvSpPr>
        <p:spPr>
          <a:xfrm>
            <a:off x="6370320"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1" name="PersonHead"/>
          <p:cNvSpPr/>
          <p:nvPr/>
        </p:nvSpPr>
        <p:spPr>
          <a:xfrm>
            <a:off x="6648298"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2" name="PersonBody"/>
          <p:cNvSpPr/>
          <p:nvPr/>
        </p:nvSpPr>
        <p:spPr>
          <a:xfrm>
            <a:off x="6617208"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3" name="PersonHead"/>
          <p:cNvSpPr/>
          <p:nvPr/>
        </p:nvSpPr>
        <p:spPr>
          <a:xfrm>
            <a:off x="6895186"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4" name="PersonBody"/>
          <p:cNvSpPr/>
          <p:nvPr/>
        </p:nvSpPr>
        <p:spPr>
          <a:xfrm>
            <a:off x="6864096"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5" name="PersonHead"/>
          <p:cNvSpPr/>
          <p:nvPr/>
        </p:nvSpPr>
        <p:spPr>
          <a:xfrm>
            <a:off x="7142074"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6" name="PersonBody"/>
          <p:cNvSpPr/>
          <p:nvPr/>
        </p:nvSpPr>
        <p:spPr>
          <a:xfrm>
            <a:off x="7110984"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7" name="PersonHead"/>
          <p:cNvSpPr/>
          <p:nvPr/>
        </p:nvSpPr>
        <p:spPr>
          <a:xfrm>
            <a:off x="7388962"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8" name="PersonBody"/>
          <p:cNvSpPr/>
          <p:nvPr/>
        </p:nvSpPr>
        <p:spPr>
          <a:xfrm>
            <a:off x="7357872"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9" name="PersonHead"/>
          <p:cNvSpPr/>
          <p:nvPr/>
        </p:nvSpPr>
        <p:spPr>
          <a:xfrm>
            <a:off x="7635850"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0" name="PersonBody"/>
          <p:cNvSpPr/>
          <p:nvPr/>
        </p:nvSpPr>
        <p:spPr>
          <a:xfrm>
            <a:off x="7604760"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1" name="PersonHead"/>
          <p:cNvSpPr/>
          <p:nvPr/>
        </p:nvSpPr>
        <p:spPr>
          <a:xfrm>
            <a:off x="7882738"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2" name="PersonBody"/>
          <p:cNvSpPr/>
          <p:nvPr/>
        </p:nvSpPr>
        <p:spPr>
          <a:xfrm>
            <a:off x="7851648"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3" name="PersonHead"/>
          <p:cNvSpPr/>
          <p:nvPr/>
        </p:nvSpPr>
        <p:spPr>
          <a:xfrm>
            <a:off x="8129626"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4" name="PersonBody"/>
          <p:cNvSpPr/>
          <p:nvPr/>
        </p:nvSpPr>
        <p:spPr>
          <a:xfrm>
            <a:off x="8098536"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5" name="PersonHead"/>
          <p:cNvSpPr/>
          <p:nvPr/>
        </p:nvSpPr>
        <p:spPr>
          <a:xfrm>
            <a:off x="8376514"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6" name="PersonBody"/>
          <p:cNvSpPr/>
          <p:nvPr/>
        </p:nvSpPr>
        <p:spPr>
          <a:xfrm>
            <a:off x="8345424"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7" name="PersonHead"/>
          <p:cNvSpPr/>
          <p:nvPr/>
        </p:nvSpPr>
        <p:spPr>
          <a:xfrm>
            <a:off x="6154522"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8" name="PersonBody"/>
          <p:cNvSpPr/>
          <p:nvPr/>
        </p:nvSpPr>
        <p:spPr>
          <a:xfrm>
            <a:off x="6123432"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9" name="PersonHead"/>
          <p:cNvSpPr/>
          <p:nvPr/>
        </p:nvSpPr>
        <p:spPr>
          <a:xfrm>
            <a:off x="6401410"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0" name="PersonBody"/>
          <p:cNvSpPr/>
          <p:nvPr/>
        </p:nvSpPr>
        <p:spPr>
          <a:xfrm>
            <a:off x="6370320"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1" name="PersonHead"/>
          <p:cNvSpPr/>
          <p:nvPr/>
        </p:nvSpPr>
        <p:spPr>
          <a:xfrm>
            <a:off x="6648298"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2" name="PersonBody"/>
          <p:cNvSpPr/>
          <p:nvPr/>
        </p:nvSpPr>
        <p:spPr>
          <a:xfrm>
            <a:off x="6617208"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3" name="PersonHead"/>
          <p:cNvSpPr/>
          <p:nvPr/>
        </p:nvSpPr>
        <p:spPr>
          <a:xfrm>
            <a:off x="6895186"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4" name="PersonBody"/>
          <p:cNvSpPr/>
          <p:nvPr/>
        </p:nvSpPr>
        <p:spPr>
          <a:xfrm>
            <a:off x="6864096"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5" name="PersonHead"/>
          <p:cNvSpPr/>
          <p:nvPr/>
        </p:nvSpPr>
        <p:spPr>
          <a:xfrm>
            <a:off x="7142074"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6" name="PersonBody"/>
          <p:cNvSpPr/>
          <p:nvPr/>
        </p:nvSpPr>
        <p:spPr>
          <a:xfrm>
            <a:off x="7110984"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7" name="PersonHead"/>
          <p:cNvSpPr/>
          <p:nvPr/>
        </p:nvSpPr>
        <p:spPr>
          <a:xfrm>
            <a:off x="7388962"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8" name="PersonBody"/>
          <p:cNvSpPr/>
          <p:nvPr/>
        </p:nvSpPr>
        <p:spPr>
          <a:xfrm>
            <a:off x="7357872"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9" name="PersonHead"/>
          <p:cNvSpPr/>
          <p:nvPr/>
        </p:nvSpPr>
        <p:spPr>
          <a:xfrm>
            <a:off x="7635850"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0" name="PersonBody"/>
          <p:cNvSpPr/>
          <p:nvPr/>
        </p:nvSpPr>
        <p:spPr>
          <a:xfrm>
            <a:off x="7604760"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1" name="PersonHead"/>
          <p:cNvSpPr/>
          <p:nvPr/>
        </p:nvSpPr>
        <p:spPr>
          <a:xfrm>
            <a:off x="7882738"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2" name="PersonBody"/>
          <p:cNvSpPr/>
          <p:nvPr/>
        </p:nvSpPr>
        <p:spPr>
          <a:xfrm>
            <a:off x="7851648"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3" name="PersonHead"/>
          <p:cNvSpPr/>
          <p:nvPr/>
        </p:nvSpPr>
        <p:spPr>
          <a:xfrm>
            <a:off x="8129626"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4" name="PersonBody"/>
          <p:cNvSpPr/>
          <p:nvPr/>
        </p:nvSpPr>
        <p:spPr>
          <a:xfrm>
            <a:off x="8098536"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5" name="PersonHead"/>
          <p:cNvSpPr/>
          <p:nvPr/>
        </p:nvSpPr>
        <p:spPr>
          <a:xfrm>
            <a:off x="8376514"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6" name="PersonBody"/>
          <p:cNvSpPr/>
          <p:nvPr/>
        </p:nvSpPr>
        <p:spPr>
          <a:xfrm>
            <a:off x="8345424"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7" name="PersonHead"/>
          <p:cNvSpPr/>
          <p:nvPr/>
        </p:nvSpPr>
        <p:spPr>
          <a:xfrm>
            <a:off x="6154522"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8" name="PersonBody"/>
          <p:cNvSpPr/>
          <p:nvPr/>
        </p:nvSpPr>
        <p:spPr>
          <a:xfrm>
            <a:off x="6123432"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9" name="PersonHead"/>
          <p:cNvSpPr/>
          <p:nvPr/>
        </p:nvSpPr>
        <p:spPr>
          <a:xfrm>
            <a:off x="6401410"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0" name="PersonBody"/>
          <p:cNvSpPr/>
          <p:nvPr/>
        </p:nvSpPr>
        <p:spPr>
          <a:xfrm>
            <a:off x="6370320"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1" name="PersonHead"/>
          <p:cNvSpPr/>
          <p:nvPr/>
        </p:nvSpPr>
        <p:spPr>
          <a:xfrm>
            <a:off x="6648298"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2" name="PersonBody"/>
          <p:cNvSpPr/>
          <p:nvPr/>
        </p:nvSpPr>
        <p:spPr>
          <a:xfrm>
            <a:off x="6617208"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3" name="PersonHead"/>
          <p:cNvSpPr/>
          <p:nvPr/>
        </p:nvSpPr>
        <p:spPr>
          <a:xfrm>
            <a:off x="6895186"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4" name="PersonBody"/>
          <p:cNvSpPr/>
          <p:nvPr/>
        </p:nvSpPr>
        <p:spPr>
          <a:xfrm>
            <a:off x="6864096"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5" name="PersonHead"/>
          <p:cNvSpPr/>
          <p:nvPr/>
        </p:nvSpPr>
        <p:spPr>
          <a:xfrm>
            <a:off x="7142074"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6" name="PersonBody"/>
          <p:cNvSpPr/>
          <p:nvPr/>
        </p:nvSpPr>
        <p:spPr>
          <a:xfrm>
            <a:off x="7110984"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7" name="PersonHead"/>
          <p:cNvSpPr/>
          <p:nvPr/>
        </p:nvSpPr>
        <p:spPr>
          <a:xfrm>
            <a:off x="7388962"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8" name="PersonBody"/>
          <p:cNvSpPr/>
          <p:nvPr/>
        </p:nvSpPr>
        <p:spPr>
          <a:xfrm>
            <a:off x="7357872"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9" name="PersonHead"/>
          <p:cNvSpPr/>
          <p:nvPr/>
        </p:nvSpPr>
        <p:spPr>
          <a:xfrm>
            <a:off x="7635850"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0" name="PersonBody"/>
          <p:cNvSpPr/>
          <p:nvPr/>
        </p:nvSpPr>
        <p:spPr>
          <a:xfrm>
            <a:off x="7604760"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1" name="PersonHead"/>
          <p:cNvSpPr/>
          <p:nvPr/>
        </p:nvSpPr>
        <p:spPr>
          <a:xfrm>
            <a:off x="7882738"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2" name="PersonBody"/>
          <p:cNvSpPr/>
          <p:nvPr/>
        </p:nvSpPr>
        <p:spPr>
          <a:xfrm>
            <a:off x="7851648"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3" name="PersonHead"/>
          <p:cNvSpPr/>
          <p:nvPr/>
        </p:nvSpPr>
        <p:spPr>
          <a:xfrm>
            <a:off x="8129626"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4" name="PersonBody"/>
          <p:cNvSpPr/>
          <p:nvPr/>
        </p:nvSpPr>
        <p:spPr>
          <a:xfrm>
            <a:off x="8098536"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5" name="PersonHead"/>
          <p:cNvSpPr/>
          <p:nvPr/>
        </p:nvSpPr>
        <p:spPr>
          <a:xfrm>
            <a:off x="8376514"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6" name="PersonBody"/>
          <p:cNvSpPr/>
          <p:nvPr/>
        </p:nvSpPr>
        <p:spPr>
          <a:xfrm>
            <a:off x="8345424"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7" name="PersonHead"/>
          <p:cNvSpPr/>
          <p:nvPr/>
        </p:nvSpPr>
        <p:spPr>
          <a:xfrm>
            <a:off x="908060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18" name="PersonBody"/>
          <p:cNvSpPr/>
          <p:nvPr/>
        </p:nvSpPr>
        <p:spPr>
          <a:xfrm>
            <a:off x="904951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19" name="PersonHead"/>
          <p:cNvSpPr/>
          <p:nvPr/>
        </p:nvSpPr>
        <p:spPr>
          <a:xfrm>
            <a:off x="932749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0" name="PersonBody"/>
          <p:cNvSpPr/>
          <p:nvPr/>
        </p:nvSpPr>
        <p:spPr>
          <a:xfrm>
            <a:off x="929640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1" name="PersonHead"/>
          <p:cNvSpPr/>
          <p:nvPr/>
        </p:nvSpPr>
        <p:spPr>
          <a:xfrm>
            <a:off x="957437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2" name="PersonBody"/>
          <p:cNvSpPr/>
          <p:nvPr/>
        </p:nvSpPr>
        <p:spPr>
          <a:xfrm>
            <a:off x="954328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3" name="PersonHead"/>
          <p:cNvSpPr/>
          <p:nvPr/>
        </p:nvSpPr>
        <p:spPr>
          <a:xfrm>
            <a:off x="982126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4" name="PersonBody"/>
          <p:cNvSpPr/>
          <p:nvPr/>
        </p:nvSpPr>
        <p:spPr>
          <a:xfrm>
            <a:off x="979017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5" name="PersonHead"/>
          <p:cNvSpPr/>
          <p:nvPr/>
        </p:nvSpPr>
        <p:spPr>
          <a:xfrm>
            <a:off x="1006815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6" name="PersonBody"/>
          <p:cNvSpPr/>
          <p:nvPr/>
        </p:nvSpPr>
        <p:spPr>
          <a:xfrm>
            <a:off x="1003706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7" name="PersonHead"/>
          <p:cNvSpPr/>
          <p:nvPr/>
        </p:nvSpPr>
        <p:spPr>
          <a:xfrm>
            <a:off x="1031504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8" name="PersonBody"/>
          <p:cNvSpPr/>
          <p:nvPr/>
        </p:nvSpPr>
        <p:spPr>
          <a:xfrm>
            <a:off x="1028395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9" name="PersonHead"/>
          <p:cNvSpPr/>
          <p:nvPr/>
        </p:nvSpPr>
        <p:spPr>
          <a:xfrm>
            <a:off x="1056193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0" name="PersonBody"/>
          <p:cNvSpPr/>
          <p:nvPr/>
        </p:nvSpPr>
        <p:spPr>
          <a:xfrm>
            <a:off x="1053084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1" name="PersonHead"/>
          <p:cNvSpPr/>
          <p:nvPr/>
        </p:nvSpPr>
        <p:spPr>
          <a:xfrm>
            <a:off x="1080881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2" name="PersonBody"/>
          <p:cNvSpPr/>
          <p:nvPr/>
        </p:nvSpPr>
        <p:spPr>
          <a:xfrm>
            <a:off x="1077772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3" name="PersonHead"/>
          <p:cNvSpPr/>
          <p:nvPr/>
        </p:nvSpPr>
        <p:spPr>
          <a:xfrm>
            <a:off x="1105570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4" name="PersonBody"/>
          <p:cNvSpPr/>
          <p:nvPr/>
        </p:nvSpPr>
        <p:spPr>
          <a:xfrm>
            <a:off x="1102461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5" name="PersonHead"/>
          <p:cNvSpPr/>
          <p:nvPr/>
        </p:nvSpPr>
        <p:spPr>
          <a:xfrm>
            <a:off x="1130259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6" name="PersonBody"/>
          <p:cNvSpPr/>
          <p:nvPr/>
        </p:nvSpPr>
        <p:spPr>
          <a:xfrm>
            <a:off x="1127150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7" name="PersonHead"/>
          <p:cNvSpPr/>
          <p:nvPr/>
        </p:nvSpPr>
        <p:spPr>
          <a:xfrm>
            <a:off x="908060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8" name="PersonBody"/>
          <p:cNvSpPr/>
          <p:nvPr/>
        </p:nvSpPr>
        <p:spPr>
          <a:xfrm>
            <a:off x="904951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9" name="PersonHead"/>
          <p:cNvSpPr/>
          <p:nvPr/>
        </p:nvSpPr>
        <p:spPr>
          <a:xfrm>
            <a:off x="932749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0" name="PersonBody"/>
          <p:cNvSpPr/>
          <p:nvPr/>
        </p:nvSpPr>
        <p:spPr>
          <a:xfrm>
            <a:off x="929640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1" name="PersonHead"/>
          <p:cNvSpPr/>
          <p:nvPr/>
        </p:nvSpPr>
        <p:spPr>
          <a:xfrm>
            <a:off x="957437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2" name="PersonBody"/>
          <p:cNvSpPr/>
          <p:nvPr/>
        </p:nvSpPr>
        <p:spPr>
          <a:xfrm>
            <a:off x="954328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3" name="PersonHead"/>
          <p:cNvSpPr/>
          <p:nvPr/>
        </p:nvSpPr>
        <p:spPr>
          <a:xfrm>
            <a:off x="982126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4" name="PersonBody"/>
          <p:cNvSpPr/>
          <p:nvPr/>
        </p:nvSpPr>
        <p:spPr>
          <a:xfrm>
            <a:off x="979017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5" name="PersonHead"/>
          <p:cNvSpPr/>
          <p:nvPr/>
        </p:nvSpPr>
        <p:spPr>
          <a:xfrm>
            <a:off x="1006815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6" name="PersonBody"/>
          <p:cNvSpPr/>
          <p:nvPr/>
        </p:nvSpPr>
        <p:spPr>
          <a:xfrm>
            <a:off x="1003706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7" name="PersonHead"/>
          <p:cNvSpPr/>
          <p:nvPr/>
        </p:nvSpPr>
        <p:spPr>
          <a:xfrm>
            <a:off x="1031504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8" name="PersonBody"/>
          <p:cNvSpPr/>
          <p:nvPr/>
        </p:nvSpPr>
        <p:spPr>
          <a:xfrm>
            <a:off x="1028395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9" name="PersonHead"/>
          <p:cNvSpPr/>
          <p:nvPr/>
        </p:nvSpPr>
        <p:spPr>
          <a:xfrm>
            <a:off x="1056193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0" name="PersonBody"/>
          <p:cNvSpPr/>
          <p:nvPr/>
        </p:nvSpPr>
        <p:spPr>
          <a:xfrm>
            <a:off x="1053084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1" name="PersonHead"/>
          <p:cNvSpPr/>
          <p:nvPr/>
        </p:nvSpPr>
        <p:spPr>
          <a:xfrm>
            <a:off x="1080881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2" name="PersonBody"/>
          <p:cNvSpPr/>
          <p:nvPr/>
        </p:nvSpPr>
        <p:spPr>
          <a:xfrm>
            <a:off x="1077772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3" name="PersonHead"/>
          <p:cNvSpPr/>
          <p:nvPr/>
        </p:nvSpPr>
        <p:spPr>
          <a:xfrm>
            <a:off x="1105570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4" name="PersonBody"/>
          <p:cNvSpPr/>
          <p:nvPr/>
        </p:nvSpPr>
        <p:spPr>
          <a:xfrm>
            <a:off x="1102461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5" name="PersonHead"/>
          <p:cNvSpPr/>
          <p:nvPr/>
        </p:nvSpPr>
        <p:spPr>
          <a:xfrm>
            <a:off x="1130259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6" name="PersonBody"/>
          <p:cNvSpPr/>
          <p:nvPr/>
        </p:nvSpPr>
        <p:spPr>
          <a:xfrm>
            <a:off x="1127150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7" name="PersonHead"/>
          <p:cNvSpPr/>
          <p:nvPr/>
        </p:nvSpPr>
        <p:spPr>
          <a:xfrm>
            <a:off x="9080602" y="2994688"/>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8" name="PersonBody"/>
          <p:cNvSpPr/>
          <p:nvPr/>
        </p:nvSpPr>
        <p:spPr>
          <a:xfrm>
            <a:off x="9049512" y="3125264"/>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9" name="PersonHead"/>
          <p:cNvSpPr/>
          <p:nvPr/>
        </p:nvSpPr>
        <p:spPr>
          <a:xfrm>
            <a:off x="9327490"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0" name="PersonBody"/>
          <p:cNvSpPr/>
          <p:nvPr/>
        </p:nvSpPr>
        <p:spPr>
          <a:xfrm>
            <a:off x="9296400"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1" name="PersonHead"/>
          <p:cNvSpPr/>
          <p:nvPr/>
        </p:nvSpPr>
        <p:spPr>
          <a:xfrm>
            <a:off x="9574378"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2" name="PersonBody"/>
          <p:cNvSpPr/>
          <p:nvPr/>
        </p:nvSpPr>
        <p:spPr>
          <a:xfrm>
            <a:off x="9543288"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3" name="PersonHead"/>
          <p:cNvSpPr/>
          <p:nvPr/>
        </p:nvSpPr>
        <p:spPr>
          <a:xfrm>
            <a:off x="9821266"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4" name="PersonBody"/>
          <p:cNvSpPr/>
          <p:nvPr/>
        </p:nvSpPr>
        <p:spPr>
          <a:xfrm>
            <a:off x="9790176"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5" name="PersonHead"/>
          <p:cNvSpPr/>
          <p:nvPr/>
        </p:nvSpPr>
        <p:spPr>
          <a:xfrm>
            <a:off x="10068154"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6" name="PersonBody"/>
          <p:cNvSpPr/>
          <p:nvPr/>
        </p:nvSpPr>
        <p:spPr>
          <a:xfrm>
            <a:off x="10037064"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7" name="PersonHead"/>
          <p:cNvSpPr/>
          <p:nvPr/>
        </p:nvSpPr>
        <p:spPr>
          <a:xfrm>
            <a:off x="10315042"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8" name="PersonBody"/>
          <p:cNvSpPr/>
          <p:nvPr/>
        </p:nvSpPr>
        <p:spPr>
          <a:xfrm>
            <a:off x="10283952"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9" name="PersonHead"/>
          <p:cNvSpPr/>
          <p:nvPr/>
        </p:nvSpPr>
        <p:spPr>
          <a:xfrm>
            <a:off x="10561930"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0" name="PersonBody"/>
          <p:cNvSpPr/>
          <p:nvPr/>
        </p:nvSpPr>
        <p:spPr>
          <a:xfrm>
            <a:off x="10530840"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1" name="PersonHead"/>
          <p:cNvSpPr/>
          <p:nvPr/>
        </p:nvSpPr>
        <p:spPr>
          <a:xfrm>
            <a:off x="10808818"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2" name="PersonBody"/>
          <p:cNvSpPr/>
          <p:nvPr/>
        </p:nvSpPr>
        <p:spPr>
          <a:xfrm>
            <a:off x="10777728"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3" name="PersonHead"/>
          <p:cNvSpPr/>
          <p:nvPr/>
        </p:nvSpPr>
        <p:spPr>
          <a:xfrm>
            <a:off x="11055706"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4" name="PersonBody"/>
          <p:cNvSpPr/>
          <p:nvPr/>
        </p:nvSpPr>
        <p:spPr>
          <a:xfrm>
            <a:off x="11024616"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5" name="PersonHead"/>
          <p:cNvSpPr/>
          <p:nvPr/>
        </p:nvSpPr>
        <p:spPr>
          <a:xfrm>
            <a:off x="11302594"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6" name="PersonBody"/>
          <p:cNvSpPr/>
          <p:nvPr/>
        </p:nvSpPr>
        <p:spPr>
          <a:xfrm>
            <a:off x="11271504"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7" name="PersonHead"/>
          <p:cNvSpPr/>
          <p:nvPr/>
        </p:nvSpPr>
        <p:spPr>
          <a:xfrm>
            <a:off x="9080602"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8" name="PersonBody"/>
          <p:cNvSpPr/>
          <p:nvPr/>
        </p:nvSpPr>
        <p:spPr>
          <a:xfrm>
            <a:off x="9049512"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9" name="PersonHead"/>
          <p:cNvSpPr/>
          <p:nvPr/>
        </p:nvSpPr>
        <p:spPr>
          <a:xfrm>
            <a:off x="9327490"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0" name="PersonBody"/>
          <p:cNvSpPr/>
          <p:nvPr/>
        </p:nvSpPr>
        <p:spPr>
          <a:xfrm>
            <a:off x="9296400"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1" name="PersonHead"/>
          <p:cNvSpPr/>
          <p:nvPr/>
        </p:nvSpPr>
        <p:spPr>
          <a:xfrm>
            <a:off x="9574378"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2" name="PersonBody"/>
          <p:cNvSpPr/>
          <p:nvPr/>
        </p:nvSpPr>
        <p:spPr>
          <a:xfrm>
            <a:off x="9543288"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3" name="PersonHead"/>
          <p:cNvSpPr/>
          <p:nvPr/>
        </p:nvSpPr>
        <p:spPr>
          <a:xfrm>
            <a:off x="9821266"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4" name="PersonBody"/>
          <p:cNvSpPr/>
          <p:nvPr/>
        </p:nvSpPr>
        <p:spPr>
          <a:xfrm>
            <a:off x="9790176"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5" name="PersonHead"/>
          <p:cNvSpPr/>
          <p:nvPr/>
        </p:nvSpPr>
        <p:spPr>
          <a:xfrm>
            <a:off x="10068154"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6" name="PersonBody"/>
          <p:cNvSpPr/>
          <p:nvPr/>
        </p:nvSpPr>
        <p:spPr>
          <a:xfrm>
            <a:off x="10037064"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7" name="PersonHead"/>
          <p:cNvSpPr/>
          <p:nvPr/>
        </p:nvSpPr>
        <p:spPr>
          <a:xfrm>
            <a:off x="10315042"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8" name="PersonBody"/>
          <p:cNvSpPr/>
          <p:nvPr/>
        </p:nvSpPr>
        <p:spPr>
          <a:xfrm>
            <a:off x="10283952"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9" name="PersonHead"/>
          <p:cNvSpPr/>
          <p:nvPr/>
        </p:nvSpPr>
        <p:spPr>
          <a:xfrm>
            <a:off x="10561930"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0" name="PersonBody"/>
          <p:cNvSpPr/>
          <p:nvPr/>
        </p:nvSpPr>
        <p:spPr>
          <a:xfrm>
            <a:off x="10530840"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1" name="PersonHead"/>
          <p:cNvSpPr/>
          <p:nvPr/>
        </p:nvSpPr>
        <p:spPr>
          <a:xfrm>
            <a:off x="10808818"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2" name="PersonBody"/>
          <p:cNvSpPr/>
          <p:nvPr/>
        </p:nvSpPr>
        <p:spPr>
          <a:xfrm>
            <a:off x="10777728"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3" name="PersonHead"/>
          <p:cNvSpPr/>
          <p:nvPr/>
        </p:nvSpPr>
        <p:spPr>
          <a:xfrm>
            <a:off x="11055706"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4" name="PersonBody"/>
          <p:cNvSpPr/>
          <p:nvPr/>
        </p:nvSpPr>
        <p:spPr>
          <a:xfrm>
            <a:off x="11024616"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5" name="PersonHead"/>
          <p:cNvSpPr/>
          <p:nvPr/>
        </p:nvSpPr>
        <p:spPr>
          <a:xfrm>
            <a:off x="11302594"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6" name="PersonBody"/>
          <p:cNvSpPr/>
          <p:nvPr/>
        </p:nvSpPr>
        <p:spPr>
          <a:xfrm>
            <a:off x="11271504"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7" name="PersonHead"/>
          <p:cNvSpPr/>
          <p:nvPr/>
        </p:nvSpPr>
        <p:spPr>
          <a:xfrm>
            <a:off x="9080602"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8" name="PersonBody"/>
          <p:cNvSpPr/>
          <p:nvPr/>
        </p:nvSpPr>
        <p:spPr>
          <a:xfrm>
            <a:off x="9049512"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9" name="PersonHead"/>
          <p:cNvSpPr/>
          <p:nvPr/>
        </p:nvSpPr>
        <p:spPr>
          <a:xfrm>
            <a:off x="9327490"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0" name="PersonBody"/>
          <p:cNvSpPr/>
          <p:nvPr/>
        </p:nvSpPr>
        <p:spPr>
          <a:xfrm>
            <a:off x="9296400"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1" name="PersonHead"/>
          <p:cNvSpPr/>
          <p:nvPr/>
        </p:nvSpPr>
        <p:spPr>
          <a:xfrm>
            <a:off x="9574378"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2" name="PersonBody"/>
          <p:cNvSpPr/>
          <p:nvPr/>
        </p:nvSpPr>
        <p:spPr>
          <a:xfrm>
            <a:off x="9543288"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3" name="PersonHead"/>
          <p:cNvSpPr/>
          <p:nvPr/>
        </p:nvSpPr>
        <p:spPr>
          <a:xfrm>
            <a:off x="9821266"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4" name="PersonBody"/>
          <p:cNvSpPr/>
          <p:nvPr/>
        </p:nvSpPr>
        <p:spPr>
          <a:xfrm>
            <a:off x="9790176"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5" name="PersonHead"/>
          <p:cNvSpPr/>
          <p:nvPr/>
        </p:nvSpPr>
        <p:spPr>
          <a:xfrm>
            <a:off x="10068154"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6" name="PersonBody"/>
          <p:cNvSpPr/>
          <p:nvPr/>
        </p:nvSpPr>
        <p:spPr>
          <a:xfrm>
            <a:off x="10037064"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7" name="PersonHead"/>
          <p:cNvSpPr/>
          <p:nvPr/>
        </p:nvSpPr>
        <p:spPr>
          <a:xfrm>
            <a:off x="10315042"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8" name="PersonBody"/>
          <p:cNvSpPr/>
          <p:nvPr/>
        </p:nvSpPr>
        <p:spPr>
          <a:xfrm>
            <a:off x="10283952"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9" name="PersonHead"/>
          <p:cNvSpPr/>
          <p:nvPr/>
        </p:nvSpPr>
        <p:spPr>
          <a:xfrm>
            <a:off x="10561930"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0" name="PersonBody"/>
          <p:cNvSpPr/>
          <p:nvPr/>
        </p:nvSpPr>
        <p:spPr>
          <a:xfrm>
            <a:off x="10530840"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1" name="PersonHead"/>
          <p:cNvSpPr/>
          <p:nvPr/>
        </p:nvSpPr>
        <p:spPr>
          <a:xfrm>
            <a:off x="10808818"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2" name="PersonBody"/>
          <p:cNvSpPr/>
          <p:nvPr/>
        </p:nvSpPr>
        <p:spPr>
          <a:xfrm>
            <a:off x="10777728"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3" name="PersonHead"/>
          <p:cNvSpPr/>
          <p:nvPr/>
        </p:nvSpPr>
        <p:spPr>
          <a:xfrm>
            <a:off x="11055706"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4" name="PersonBody"/>
          <p:cNvSpPr/>
          <p:nvPr/>
        </p:nvSpPr>
        <p:spPr>
          <a:xfrm>
            <a:off x="11024616"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5" name="PersonHead"/>
          <p:cNvSpPr/>
          <p:nvPr/>
        </p:nvSpPr>
        <p:spPr>
          <a:xfrm>
            <a:off x="11302594"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6" name="PersonBody"/>
          <p:cNvSpPr/>
          <p:nvPr/>
        </p:nvSpPr>
        <p:spPr>
          <a:xfrm>
            <a:off x="11271504"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7" name="Text"/>
          <p:cNvSpPr/>
          <p:nvPr/>
        </p:nvSpPr>
        <p:spPr>
          <a:xfrm>
            <a:off x="5913120" y="4073680"/>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B23B2E"/>
                </a:solidFill>
                <a:latin typeface="Arial"/>
                <a:cs typeface="Arial"/>
              </a:rPr>
              <a:t>21/50 tử vong</a:t>
            </a:r>
          </a:p>
        </p:txBody>
      </p:sp>
      <p:sp>
        <p:nvSpPr>
          <p:cNvPr id="318" name="Text"/>
          <p:cNvSpPr/>
          <p:nvPr/>
        </p:nvSpPr>
        <p:spPr>
          <a:xfrm>
            <a:off x="8839200" y="4073680"/>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B23B2E"/>
                </a:solidFill>
                <a:latin typeface="Arial"/>
                <a:cs typeface="Arial"/>
              </a:rPr>
              <a:t>21/50 tử vong</a:t>
            </a:r>
          </a:p>
        </p:txBody>
      </p:sp>
      <p:sp>
        <p:nvSpPr>
          <p:cNvPr id="319" name="Text"/>
          <p:cNvSpPr/>
          <p:nvPr/>
        </p:nvSpPr>
        <p:spPr>
          <a:xfrm>
            <a:off x="5867400" y="4485160"/>
            <a:ext cx="5760720" cy="54864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Nhiều người bệnh, so sánh công bằng, đếm mọi kết cục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Kinh nghiệm gợi ra câu hỏi. So sánh công bằng trên nhiều người bệnh mới trả lời được.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Vì sao kinh nghiệm của một khoa là chưa đủ</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Số nhỏ dao động do ngẫu nhiên. So sánh lớn và công bằng mới ổn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Tháp bằng chứng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220000"/>
            <a:ext cx="3600000" cy="4030000"/>
          </a:xfrm>
          <a:prstGeom prst="rect">
            <a:avLst/>
          </a:prstGeom>
          <a:noFill/>
          <a:ln>
            <a:noFill/>
          </a:ln>
        </p:spPr>
        <p:txBody>
          <a:bodyPr wrap="square" lIns="91440" tIns="45720" rIns="91440" bIns="45720" rtlCol="0" anchor="ctr"/>
          <a:lstStyle/>
          <a:p>
            <a:pPr marL="0" indent="0" algn="l">
              <a:buNone/>
            </a:pPr>
            <a:r>
              <a:rPr lang="en-US" sz="1700" b="1" dirty="0">
                <a:solidFill>
                  <a:srgbClr val="0D7377"/>
                </a:solidFill>
                <a:latin typeface="Arial"/>
                <a:cs typeface="Arial"/>
              </a:rPr>
              <a:t>Cách đọc</a:t>
            </a:r>
          </a:p>
          <a:p>
            <a:pPr marL="274320" indent="-274320" algn="l">
              <a:spcBef>
                <a:spcPts val="440"/>
              </a:spcBef>
              <a:buFont typeface="Arial"/>
              <a:buChar char="•"/>
            </a:pPr>
            <a:r>
              <a:rPr lang="en-US" sz="1450" dirty="0">
                <a:solidFill>
                  <a:srgbClr val="000000"/>
                </a:solidFill>
                <a:latin typeface="Arial"/>
                <a:cs typeface="Arial"/>
              </a:rPr>
              <a:t>Càng lên cao, nguy cơ sai lệch càng thấp với câu hỏi về hiệu quả điều trị</a:t>
            </a:r>
          </a:p>
          <a:p>
            <a:pPr marL="274320" indent="-274320" algn="l">
              <a:spcBef>
                <a:spcPts val="440"/>
              </a:spcBef>
              <a:buFont typeface="Arial"/>
              <a:buChar char="•"/>
            </a:pPr>
            <a:r>
              <a:rPr lang="en-US" sz="1450" dirty="0">
                <a:solidFill>
                  <a:srgbClr val="000000"/>
                </a:solidFill>
                <a:latin typeface="Arial"/>
                <a:cs typeface="Arial"/>
              </a:rPr>
              <a:t>Thuần tập làm tốt có thể hơn thử nghiệm làm kém</a:t>
            </a:r>
          </a:p>
          <a:p>
            <a:pPr marL="274320" indent="-274320" algn="l">
              <a:spcBef>
                <a:spcPts val="440"/>
              </a:spcBef>
              <a:buFont typeface="Arial"/>
              <a:buChar char="•"/>
            </a:pPr>
            <a:r>
              <a:rPr lang="en-US" sz="1450" dirty="0">
                <a:solidFill>
                  <a:srgbClr val="000000"/>
                </a:solidFill>
                <a:latin typeface="Arial"/>
                <a:cs typeface="Arial"/>
              </a:rPr>
              <a:t>Câu hỏi mô tả không cần thử nghiệm</a:t>
            </a:r>
          </a:p>
        </p:txBody>
      </p:sp>
      <p:cxnSp>
        <p:nvCxnSpPr>
          <p:cNvPr id="100" name="Arrow"/>
          <p:cNvCxnSpPr/>
          <p:nvPr/>
        </p:nvCxnSpPr>
        <p:spPr>
          <a:xfrm flipV="1">
            <a:off x="4637720" y="1348768"/>
            <a:ext cx="0" cy="3730752"/>
          </a:xfrm>
          <a:prstGeom prst="straightConnector1">
            <a:avLst/>
          </a:prstGeom>
          <a:ln w="50800" cap="rnd">
            <a:solidFill>
              <a:srgbClr val="0D7377"/>
            </a:solidFill>
            <a:round/>
            <a:tailEnd type="triangle" w="med" len="med"/>
          </a:ln>
        </p:spPr>
      </p:cxnSp>
      <p:sp>
        <p:nvSpPr>
          <p:cNvPr id="101" name="Text"/>
          <p:cNvSpPr/>
          <p:nvPr/>
        </p:nvSpPr>
        <p:spPr>
          <a:xfrm>
            <a:off x="4774880" y="1513360"/>
            <a:ext cx="457200" cy="3474720"/>
          </a:xfrm>
          <a:prstGeom prst="rect">
            <a:avLst/>
          </a:prstGeom>
          <a:noFill/>
          <a:ln>
            <a:noFill/>
          </a:ln>
        </p:spPr>
        <p:txBody>
          <a:bodyPr wrap="square" lIns="54864" tIns="54864" rIns="54864" bIns="54864" rtlCol="0" anchor="ctr" vert="vert270">
            <a:noAutofit/>
          </a:bodyPr>
          <a:lstStyle/>
          <a:p>
            <a:pPr marL="0" indent="0" algn="ctr">
              <a:lnSpc>
                <a:spcPct val="100000"/>
              </a:lnSpc>
              <a:buNone/>
            </a:pPr>
            <a:r>
              <a:rPr lang="en-US" sz="1500" b="1" dirty="0">
                <a:solidFill>
                  <a:srgbClr val="0D7377"/>
                </a:solidFill>
                <a:latin typeface="Arial"/>
                <a:cs typeface="Arial"/>
              </a:rPr>
              <a:t>ít sai lệch hơn, tin cậy hơn</a:t>
            </a:r>
          </a:p>
        </p:txBody>
      </p:sp>
      <p:sp>
        <p:nvSpPr>
          <p:cNvPr id="102" name="Box"/>
          <p:cNvSpPr/>
          <p:nvPr/>
        </p:nvSpPr>
        <p:spPr>
          <a:xfrm>
            <a:off x="5369240" y="4549168"/>
            <a:ext cx="6309360" cy="603504"/>
          </a:xfrm>
          <a:prstGeom prst="trapezoid">
            <a:avLst>
              <a:gd name="adj" fmla="val 50000"/>
            </a:avLst>
          </a:prstGeom>
          <a:solidFill>
            <a:srgbClr val="8A99A3"/>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Ý kiến chuyên gia, báo cáo ca</a:t>
            </a:r>
          </a:p>
        </p:txBody>
      </p:sp>
      <p:sp>
        <p:nvSpPr>
          <p:cNvPr id="103" name="Box"/>
          <p:cNvSpPr/>
          <p:nvPr/>
        </p:nvSpPr>
        <p:spPr>
          <a:xfrm>
            <a:off x="5698424" y="3890800"/>
            <a:ext cx="5650992" cy="603504"/>
          </a:xfrm>
          <a:prstGeom prst="trapezoid">
            <a:avLst>
              <a:gd name="adj" fmla="val 50000"/>
            </a:avLst>
          </a:prstGeom>
          <a:solidFill>
            <a:srgbClr val="5FA39B"/>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Loạt ca, nghiên cứu cắt ngang</a:t>
            </a:r>
          </a:p>
        </p:txBody>
      </p:sp>
      <p:sp>
        <p:nvSpPr>
          <p:cNvPr id="104" name="Box"/>
          <p:cNvSpPr/>
          <p:nvPr/>
        </p:nvSpPr>
        <p:spPr>
          <a:xfrm>
            <a:off x="6027608" y="3232432"/>
            <a:ext cx="4992624" cy="603504"/>
          </a:xfrm>
          <a:prstGeom prst="trapezoid">
            <a:avLst>
              <a:gd name="adj" fmla="val 50000"/>
            </a:avLst>
          </a:prstGeom>
          <a:solidFill>
            <a:srgbClr val="0070C0"/>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Nghiên cứu bệnh-chứng</a:t>
            </a:r>
          </a:p>
        </p:txBody>
      </p:sp>
      <p:sp>
        <p:nvSpPr>
          <p:cNvPr id="105" name="Box"/>
          <p:cNvSpPr/>
          <p:nvPr/>
        </p:nvSpPr>
        <p:spPr>
          <a:xfrm>
            <a:off x="6356792" y="2574064"/>
            <a:ext cx="4334256" cy="603504"/>
          </a:xfrm>
          <a:prstGeom prst="trapezoid">
            <a:avLst>
              <a:gd name="adj" fmla="val 50000"/>
            </a:avLst>
          </a:prstGeom>
          <a:solidFill>
            <a:srgbClr val="0B376C"/>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Nghiên cứu thuần tập</a:t>
            </a:r>
          </a:p>
        </p:txBody>
      </p:sp>
      <p:sp>
        <p:nvSpPr>
          <p:cNvPr id="106" name="Box"/>
          <p:cNvSpPr/>
          <p:nvPr/>
        </p:nvSpPr>
        <p:spPr>
          <a:xfrm>
            <a:off x="6685976" y="1915696"/>
            <a:ext cx="3675888" cy="603504"/>
          </a:xfrm>
          <a:prstGeom prst="trapezoid">
            <a:avLst>
              <a:gd name="adj" fmla="val 50000"/>
            </a:avLst>
          </a:prstGeom>
          <a:solidFill>
            <a:srgbClr val="0D7377"/>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Thử nghiệm ngẫu nhiên</a:t>
            </a:r>
          </a:p>
          <a:p>
            <a:pPr marL="0" indent="0" algn="ctr">
              <a:lnSpc>
                <a:spcPct val="100000"/>
              </a:lnSpc>
              <a:spcBef>
                <a:spcPts val="300"/>
              </a:spcBef>
              <a:buNone/>
            </a:pPr>
            <a:r>
              <a:rPr lang="en-US" sz="1500" b="1" dirty="0">
                <a:solidFill>
                  <a:srgbClr val="FFFFFF"/>
                </a:solidFill>
                <a:latin typeface="Arial"/>
                <a:cs typeface="Arial"/>
              </a:rPr>
              <a:t>có đối chứng</a:t>
            </a:r>
          </a:p>
        </p:txBody>
      </p:sp>
      <p:sp>
        <p:nvSpPr>
          <p:cNvPr id="107" name="Box"/>
          <p:cNvSpPr/>
          <p:nvPr/>
        </p:nvSpPr>
        <p:spPr>
          <a:xfrm>
            <a:off x="7015160" y="1257328"/>
            <a:ext cx="3017520" cy="603504"/>
          </a:xfrm>
          <a:prstGeom prst="trapezoid">
            <a:avLst>
              <a:gd name="adj" fmla="val 50000"/>
            </a:avLst>
          </a:prstGeom>
          <a:solidFill>
            <a:srgbClr val="055F56"/>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Tổng quan hệ thống</a:t>
            </a:r>
          </a:p>
          <a:p>
            <a:pPr marL="0" indent="0" algn="ctr">
              <a:lnSpc>
                <a:spcPct val="100000"/>
              </a:lnSpc>
              <a:spcBef>
                <a:spcPts val="300"/>
              </a:spcBef>
              <a:buNone/>
            </a:pPr>
            <a:r>
              <a:rPr lang="en-US" sz="1500" b="1" dirty="0">
                <a:solidFill>
                  <a:srgbClr val="FFFFFF"/>
                </a:solidFill>
                <a:latin typeface="Arial"/>
                <a:cs typeface="Arial"/>
              </a:rPr>
              <a:t>và phân tích gộp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Tháp xếp hạng thiết kế, không xếp hạng từng bài báo: vẫn phải kiểm tra chất lượng.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nhanh: xếp hạng bằng chứng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hỏi: hạn chế dịch có làm giảm tử vong trong sốc nhiễm khuẩn không?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một đồng nghiệp lâu năm: '20 năm nay, người bệnh tôi truyền ít dịch đều hồi phục tốt hơn'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một sổ đăng ký theo dõi hàng nghìn người bệnh ICU (thuần tập)</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một thử nghiệm phân bổ ngẫu nhiên 1554 người bệnh vào nhóm hạn chế dịch hoặc dịch thường quy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D: một tổng quan hệ thống gộp mọi thử nghiệm về hạn chế dịch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Bình chọn: thứ tự nào đi từ yếu nhất đến mạnh nhất?</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Các lựa chọn</a:t>
            </a:r>
          </a:p>
          <a:p>
            <a:pPr marL="0" indent="0" algn="ctr">
              <a:lnSpc>
                <a:spcPct val="104000"/>
              </a:lnSpc>
              <a:spcBef>
                <a:spcPts val="300"/>
              </a:spcBef>
              <a:buNone/>
            </a:pPr>
            <a:r>
              <a:rPr lang="en-US" sz="1500" dirty="0">
                <a:solidFill>
                  <a:srgbClr val="000000"/>
                </a:solidFill>
                <a:latin typeface="Arial"/>
                <a:cs typeface="Arial"/>
              </a:rPr>
              <a:t>A, B, C, D</a:t>
            </a:r>
          </a:p>
          <a:p>
            <a:pPr marL="0" indent="0" algn="ctr">
              <a:lnSpc>
                <a:spcPct val="104000"/>
              </a:lnSpc>
              <a:spcBef>
                <a:spcPts val="300"/>
              </a:spcBef>
              <a:buNone/>
            </a:pPr>
            <a:r>
              <a:rPr lang="en-US" sz="1500" dirty="0">
                <a:solidFill>
                  <a:srgbClr val="000000"/>
                </a:solidFill>
                <a:latin typeface="Arial"/>
                <a:cs typeface="Arial"/>
              </a:rPr>
              <a:t>B, A, C, D</a:t>
            </a:r>
          </a:p>
          <a:p>
            <a:pPr marL="0" indent="0" algn="ctr">
              <a:lnSpc>
                <a:spcPct val="104000"/>
              </a:lnSpc>
              <a:spcBef>
                <a:spcPts val="300"/>
              </a:spcBef>
              <a:buNone/>
            </a:pPr>
            <a:r>
              <a:rPr lang="en-US" sz="1500" dirty="0">
                <a:solidFill>
                  <a:srgbClr val="000000"/>
                </a:solidFill>
                <a:latin typeface="Arial"/>
                <a:cs typeface="Arial"/>
              </a:rPr>
              <a:t>A, C, B, D</a:t>
            </a:r>
          </a:p>
          <a:p>
            <a:pPr marL="0" indent="0" algn="ctr">
              <a:lnSpc>
                <a:spcPct val="104000"/>
              </a:lnSpc>
              <a:spcBef>
                <a:spcPts val="300"/>
              </a:spcBef>
              <a:buNone/>
            </a:pPr>
            <a:r>
              <a:rPr lang="en-US" sz="1500" dirty="0">
                <a:solidFill>
                  <a:srgbClr val="000000"/>
                </a:solidFill>
                <a:latin typeface="Arial"/>
                <a:cs typeface="Arial"/>
              </a:rPr>
              <a:t>D, C, B, A</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Kết quả bình chọn, rồi hỏi: điều gì có thể làm C yếu hơn B?</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Hai bài báo cả lớp cùng đọc trong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Cả hai đều truy cập mở. Bạn nhận hai tệp PDF qua email trước Buổi 1.</a:t>
            </a:r>
          </a:p>
        </p:txBody>
      </p:sp>
      <p:sp>
        <p:nvSpPr>
          <p:cNvPr id="70" name="CardHead"/>
          <p:cNvSpPr/>
          <p:nvPr/>
        </p:nvSpPr>
        <p:spPr>
          <a:xfrm>
            <a:off x="457200" y="1909015"/>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báo 1: Boulet 2024, thử nghiệm</a:t>
            </a:r>
          </a:p>
        </p:txBody>
      </p:sp>
      <p:sp>
        <p:nvSpPr>
          <p:cNvPr id="71" name="CardBody"/>
          <p:cNvSpPr/>
          <p:nvPr/>
        </p:nvSpPr>
        <p:spPr>
          <a:xfrm>
            <a:off x="457200" y="2549015"/>
            <a:ext cx="5538800" cy="22029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b="1" dirty="0">
                <a:solidFill>
                  <a:srgbClr val="000000"/>
                </a:solidFill>
                <a:latin typeface="Arial"/>
                <a:cs typeface="Arial"/>
              </a:rPr>
              <a:t>Boulet N, et al. Crit Care 2024;28:429</a:t>
            </a:r>
          </a:p>
          <a:p>
            <a:pPr marL="0" indent="0" algn="ctr">
              <a:lnSpc>
                <a:spcPct val="104000"/>
              </a:lnSpc>
              <a:spcBef>
                <a:spcPts val="400"/>
              </a:spcBef>
              <a:buNone/>
            </a:pPr>
            <a:r>
              <a:rPr lang="en-US" sz="1500" i="1" dirty="0">
                <a:solidFill>
                  <a:srgbClr val="000000"/>
                </a:solidFill>
                <a:latin typeface="Arial"/>
                <a:cs typeface="Arial"/>
              </a:rPr>
              <a:t>Impact on fluid balance of an optimized restrictive strategy targeting non-resuscitative fluids in intensive care patients with septic shock</a:t>
            </a:r>
          </a:p>
          <a:p>
            <a:pPr marL="0" indent="0" algn="ctr">
              <a:lnSpc>
                <a:spcPct val="104000"/>
              </a:lnSpc>
              <a:spcBef>
                <a:spcPts val="400"/>
              </a:spcBef>
              <a:buNone/>
            </a:pPr>
            <a:r>
              <a:rPr lang="en-US" sz="1500" dirty="0">
                <a:solidFill>
                  <a:srgbClr val="000000"/>
                </a:solidFill>
                <a:latin typeface="Arial"/>
                <a:cs typeface="Arial"/>
              </a:rPr>
              <a:t>Thử nghiệm ngẫu nhiên có đối chứng (RCT) thí điểm (pilot), 48 người bệnh</a:t>
            </a:r>
          </a:p>
          <a:p>
            <a:pPr marL="0" indent="0" algn="ctr">
              <a:lnSpc>
                <a:spcPct val="104000"/>
              </a:lnSpc>
              <a:spcBef>
                <a:spcPts val="400"/>
              </a:spcBef>
              <a:buNone/>
            </a:pPr>
            <a:r>
              <a:rPr lang="en-US" sz="1500" dirty="0">
                <a:solidFill>
                  <a:srgbClr val="000000"/>
                </a:solidFill>
                <a:latin typeface="Arial"/>
                <a:cs typeface="Arial"/>
              </a:rPr>
              <a:t>Kết cục chính: cân bằng dịch ngày 5</a:t>
            </a:r>
          </a:p>
        </p:txBody>
      </p:sp>
      <p:sp>
        <p:nvSpPr>
          <p:cNvPr id="72" name="CardHead"/>
          <p:cNvSpPr/>
          <p:nvPr/>
        </p:nvSpPr>
        <p:spPr>
          <a:xfrm>
            <a:off x="6196000" y="1909015"/>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báo 2: Hyun 2023, thuần tập</a:t>
            </a:r>
          </a:p>
        </p:txBody>
      </p:sp>
      <p:sp>
        <p:nvSpPr>
          <p:cNvPr id="73" name="CardBody"/>
          <p:cNvSpPr/>
          <p:nvPr/>
        </p:nvSpPr>
        <p:spPr>
          <a:xfrm>
            <a:off x="6196000" y="2549015"/>
            <a:ext cx="5538800" cy="22029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b="1" dirty="0">
                <a:solidFill>
                  <a:srgbClr val="000000"/>
                </a:solidFill>
                <a:latin typeface="Arial"/>
                <a:cs typeface="Arial"/>
              </a:rPr>
              <a:t>Hyun DG, et al. Ann Intensive Care 2023;13:105</a:t>
            </a:r>
          </a:p>
          <a:p>
            <a:pPr marL="0" indent="0" algn="ctr">
              <a:lnSpc>
                <a:spcPct val="104000"/>
              </a:lnSpc>
              <a:spcBef>
                <a:spcPts val="400"/>
              </a:spcBef>
              <a:buNone/>
            </a:pPr>
            <a:r>
              <a:rPr lang="en-US" sz="1500" i="1" dirty="0">
                <a:solidFill>
                  <a:srgbClr val="000000"/>
                </a:solidFill>
                <a:latin typeface="Arial"/>
                <a:cs typeface="Arial"/>
              </a:rPr>
              <a:t>Impact of a cumulative positive fluid balance during the first three ICU days in patients with sepsis</a:t>
            </a:r>
          </a:p>
          <a:p>
            <a:pPr marL="0" indent="0" algn="ctr">
              <a:lnSpc>
                <a:spcPct val="104000"/>
              </a:lnSpc>
              <a:spcBef>
                <a:spcPts val="400"/>
              </a:spcBef>
              <a:buNone/>
            </a:pPr>
            <a:r>
              <a:rPr lang="en-US" sz="1500" dirty="0">
                <a:solidFill>
                  <a:srgbClr val="000000"/>
                </a:solidFill>
                <a:latin typeface="Arial"/>
                <a:cs typeface="Arial"/>
              </a:rPr>
              <a:t>Nghiên cứu thuần tập từ sổ đăng ký nhiễm khuẩn huyết Hàn Quốc</a:t>
            </a:r>
          </a:p>
          <a:p>
            <a:pPr marL="0" indent="0" algn="ctr">
              <a:lnSpc>
                <a:spcPct val="104000"/>
              </a:lnSpc>
              <a:spcBef>
                <a:spcPts val="400"/>
              </a:spcBef>
              <a:buNone/>
            </a:pPr>
            <a:r>
              <a:rPr lang="en-US" sz="1500" dirty="0">
                <a:solidFill>
                  <a:srgbClr val="000000"/>
                </a:solidFill>
                <a:latin typeface="Arial"/>
                <a:cs typeface="Arial"/>
              </a:rPr>
              <a:t>Kết cục chính: tử vong đến ngày 28</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Bài báo 1 là thử nghiệm, Bài báo 2 là thuần tập. Cả hai nghiên cứu dịch truyền trong nhiễm khuẩn huyết.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Chu trình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998720" y="1257328"/>
            <a:ext cx="2194560" cy="749808"/>
          </a:xfrm>
          <a:prstGeom prst="roundRect">
            <a:avLst>
              <a:gd name="adj" fmla="val 1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Vấn đề lâm sàng</a:t>
            </a:r>
          </a:p>
        </p:txBody>
      </p:sp>
      <p:sp>
        <p:nvSpPr>
          <p:cNvPr id="101" name="Box"/>
          <p:cNvSpPr/>
          <p:nvPr/>
        </p:nvSpPr>
        <p:spPr>
          <a:xfrm>
            <a:off x="8069968" y="1717981"/>
            <a:ext cx="2194560" cy="749808"/>
          </a:xfrm>
          <a:prstGeom prst="roundRect">
            <a:avLst>
              <a:gd name="adj" fmla="val 1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Câu hỏi nghiên cứu (PICO)</a:t>
            </a:r>
          </a:p>
        </p:txBody>
      </p:sp>
      <p:sp>
        <p:nvSpPr>
          <p:cNvPr id="102" name="Box"/>
          <p:cNvSpPr/>
          <p:nvPr/>
        </p:nvSpPr>
        <p:spPr>
          <a:xfrm>
            <a:off x="9342120" y="2830096"/>
            <a:ext cx="2194560" cy="749808"/>
          </a:xfrm>
          <a:prstGeom prst="roundRect">
            <a:avLst>
              <a:gd name="adj" fmla="val 1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Tìm y văn</a:t>
            </a:r>
          </a:p>
        </p:txBody>
      </p:sp>
      <p:sp>
        <p:nvSpPr>
          <p:cNvPr id="103" name="Box"/>
          <p:cNvSpPr/>
          <p:nvPr/>
        </p:nvSpPr>
        <p:spPr>
          <a:xfrm>
            <a:off x="8069968" y="3942211"/>
            <a:ext cx="2194560" cy="749808"/>
          </a:xfrm>
          <a:prstGeom prst="roundRect">
            <a:avLst>
              <a:gd name="adj" fmla="val 18000"/>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Thiết kế và đề cương</a:t>
            </a:r>
          </a:p>
        </p:txBody>
      </p:sp>
      <p:sp>
        <p:nvSpPr>
          <p:cNvPr id="104" name="Box"/>
          <p:cNvSpPr/>
          <p:nvPr/>
        </p:nvSpPr>
        <p:spPr>
          <a:xfrm>
            <a:off x="4998720" y="4402864"/>
            <a:ext cx="2194560" cy="749808"/>
          </a:xfrm>
          <a:prstGeom prst="roundRect">
            <a:avLst>
              <a:gd name="adj" fmla="val 18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Phê duyệt đạo đức</a:t>
            </a:r>
          </a:p>
        </p:txBody>
      </p:sp>
      <p:sp>
        <p:nvSpPr>
          <p:cNvPr id="105" name="Box"/>
          <p:cNvSpPr/>
          <p:nvPr/>
        </p:nvSpPr>
        <p:spPr>
          <a:xfrm>
            <a:off x="1927472" y="3942211"/>
            <a:ext cx="2194560" cy="749808"/>
          </a:xfrm>
          <a:prstGeom prst="roundRect">
            <a:avLst>
              <a:gd name="adj" fmla="val 18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Thu thập dữ liệu</a:t>
            </a:r>
          </a:p>
        </p:txBody>
      </p:sp>
      <p:sp>
        <p:nvSpPr>
          <p:cNvPr id="106" name="Box"/>
          <p:cNvSpPr/>
          <p:nvPr/>
        </p:nvSpPr>
        <p:spPr>
          <a:xfrm>
            <a:off x="655320" y="2830096"/>
            <a:ext cx="2194560" cy="749808"/>
          </a:xfrm>
          <a:prstGeom prst="roundRect">
            <a:avLst>
              <a:gd name="adj" fmla="val 18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Phân tích, diễn giải</a:t>
            </a:r>
          </a:p>
        </p:txBody>
      </p:sp>
      <p:sp>
        <p:nvSpPr>
          <p:cNvPr id="107" name="Box"/>
          <p:cNvSpPr/>
          <p:nvPr/>
        </p:nvSpPr>
        <p:spPr>
          <a:xfrm>
            <a:off x="1927472" y="1717981"/>
            <a:ext cx="2194560" cy="749808"/>
          </a:xfrm>
          <a:prstGeom prst="roundRect">
            <a:avLst>
              <a:gd name="adj" fmla="val 18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Công bố và</a:t>
            </a:r>
          </a:p>
          <a:p>
            <a:pPr marL="0" indent="0" algn="ctr">
              <a:lnSpc>
                <a:spcPct val="100000"/>
              </a:lnSpc>
              <a:spcBef>
                <a:spcPts val="300"/>
              </a:spcBef>
              <a:buNone/>
            </a:pPr>
            <a:r>
              <a:rPr lang="en-US" sz="1600" b="1" dirty="0">
                <a:solidFill>
                  <a:srgbClr val="FFFFFF"/>
                </a:solidFill>
                <a:latin typeface="Arial"/>
                <a:cs typeface="Arial"/>
              </a:rPr>
              <a:t>thay đổi thực hành</a:t>
            </a:r>
          </a:p>
        </p:txBody>
      </p:sp>
      <p:cxnSp>
        <p:nvCxnSpPr>
          <p:cNvPr id="108" name="Arrow"/>
          <p:cNvCxnSpPr/>
          <p:nvPr/>
        </p:nvCxnSpPr>
        <p:spPr>
          <a:xfrm>
            <a:off x="7265623" y="1807662"/>
            <a:ext cx="732002" cy="109792"/>
          </a:xfrm>
          <a:prstGeom prst="straightConnector1">
            <a:avLst/>
          </a:prstGeom>
          <a:ln w="31750" cap="rnd">
            <a:solidFill>
              <a:srgbClr val="8A99A3"/>
            </a:solidFill>
            <a:round/>
            <a:tailEnd type="triangle" w="med" len="med"/>
          </a:ln>
        </p:spPr>
      </p:cxnSp>
      <p:cxnSp>
        <p:nvCxnSpPr>
          <p:cNvPr id="109" name="Arrow"/>
          <p:cNvCxnSpPr/>
          <p:nvPr/>
        </p:nvCxnSpPr>
        <p:spPr>
          <a:xfrm>
            <a:off x="9651176" y="2515935"/>
            <a:ext cx="304296" cy="266015"/>
          </a:xfrm>
          <a:prstGeom prst="straightConnector1">
            <a:avLst/>
          </a:prstGeom>
          <a:ln w="31750" cap="rnd">
            <a:solidFill>
              <a:srgbClr val="8A99A3"/>
            </a:solidFill>
            <a:round/>
            <a:tailEnd type="triangle" w="med" len="med"/>
          </a:ln>
        </p:spPr>
      </p:cxnSp>
      <p:cxnSp>
        <p:nvCxnSpPr>
          <p:cNvPr id="110" name="Arrow"/>
          <p:cNvCxnSpPr/>
          <p:nvPr/>
        </p:nvCxnSpPr>
        <p:spPr>
          <a:xfrm flipH="1">
            <a:off x="9651176" y="3628050"/>
            <a:ext cx="304296" cy="266015"/>
          </a:xfrm>
          <a:prstGeom prst="straightConnector1">
            <a:avLst/>
          </a:prstGeom>
          <a:ln w="31750" cap="rnd">
            <a:solidFill>
              <a:srgbClr val="8A99A3"/>
            </a:solidFill>
            <a:round/>
            <a:tailEnd type="triangle" w="med" len="med"/>
          </a:ln>
        </p:spPr>
      </p:cxnSp>
      <p:cxnSp>
        <p:nvCxnSpPr>
          <p:cNvPr id="111" name="Arrow"/>
          <p:cNvCxnSpPr/>
          <p:nvPr/>
        </p:nvCxnSpPr>
        <p:spPr>
          <a:xfrm flipH="1">
            <a:off x="7265623" y="4492545"/>
            <a:ext cx="732002" cy="109792"/>
          </a:xfrm>
          <a:prstGeom prst="straightConnector1">
            <a:avLst/>
          </a:prstGeom>
          <a:ln w="31750" cap="rnd">
            <a:solidFill>
              <a:srgbClr val="8A99A3"/>
            </a:solidFill>
            <a:round/>
            <a:tailEnd type="triangle" w="med" len="med"/>
          </a:ln>
        </p:spPr>
      </p:cxnSp>
      <p:cxnSp>
        <p:nvCxnSpPr>
          <p:cNvPr id="112" name="Arrow"/>
          <p:cNvCxnSpPr/>
          <p:nvPr/>
        </p:nvCxnSpPr>
        <p:spPr>
          <a:xfrm flipH="1" flipV="1">
            <a:off x="4194375" y="4492545"/>
            <a:ext cx="732002" cy="109792"/>
          </a:xfrm>
          <a:prstGeom prst="straightConnector1">
            <a:avLst/>
          </a:prstGeom>
          <a:ln w="31750" cap="rnd">
            <a:solidFill>
              <a:srgbClr val="8A99A3"/>
            </a:solidFill>
            <a:round/>
            <a:tailEnd type="triangle" w="med" len="med"/>
          </a:ln>
        </p:spPr>
      </p:cxnSp>
      <p:cxnSp>
        <p:nvCxnSpPr>
          <p:cNvPr id="113" name="Arrow"/>
          <p:cNvCxnSpPr/>
          <p:nvPr/>
        </p:nvCxnSpPr>
        <p:spPr>
          <a:xfrm flipH="1" flipV="1">
            <a:off x="2236528" y="3628050"/>
            <a:ext cx="304296" cy="266015"/>
          </a:xfrm>
          <a:prstGeom prst="straightConnector1">
            <a:avLst/>
          </a:prstGeom>
          <a:ln w="31750" cap="rnd">
            <a:solidFill>
              <a:srgbClr val="8A99A3"/>
            </a:solidFill>
            <a:round/>
            <a:tailEnd type="triangle" w="med" len="med"/>
          </a:ln>
        </p:spPr>
      </p:cxnSp>
      <p:cxnSp>
        <p:nvCxnSpPr>
          <p:cNvPr id="114" name="Arrow"/>
          <p:cNvCxnSpPr/>
          <p:nvPr/>
        </p:nvCxnSpPr>
        <p:spPr>
          <a:xfrm flipV="1">
            <a:off x="2236528" y="2515935"/>
            <a:ext cx="304296" cy="266015"/>
          </a:xfrm>
          <a:prstGeom prst="straightConnector1">
            <a:avLst/>
          </a:prstGeom>
          <a:ln w="31750" cap="rnd">
            <a:solidFill>
              <a:srgbClr val="8A99A3"/>
            </a:solidFill>
            <a:round/>
            <a:tailEnd type="triangle" w="med" len="med"/>
          </a:ln>
        </p:spPr>
      </p:cxnSp>
      <p:cxnSp>
        <p:nvCxnSpPr>
          <p:cNvPr id="115" name="Arrow"/>
          <p:cNvCxnSpPr/>
          <p:nvPr/>
        </p:nvCxnSpPr>
        <p:spPr>
          <a:xfrm flipV="1">
            <a:off x="4194375" y="1807662"/>
            <a:ext cx="732002" cy="109792"/>
          </a:xfrm>
          <a:prstGeom prst="straightConnector1">
            <a:avLst/>
          </a:prstGeom>
          <a:ln w="31750" cap="rnd">
            <a:solidFill>
              <a:srgbClr val="8A99A3"/>
            </a:solidFill>
            <a:round/>
            <a:tailEnd type="triangle" w="med" len="med"/>
          </a:ln>
        </p:spPr>
      </p:cxnSp>
      <p:sp>
        <p:nvSpPr>
          <p:cNvPr id="116" name="Text"/>
          <p:cNvSpPr/>
          <p:nvPr/>
        </p:nvSpPr>
        <p:spPr>
          <a:xfrm>
            <a:off x="4358640" y="2564920"/>
            <a:ext cx="3474720" cy="12801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000" b="1" dirty="0">
                <a:solidFill>
                  <a:srgbClr val="0D7377"/>
                </a:solidFill>
                <a:latin typeface="Arial"/>
                <a:cs typeface="Arial"/>
              </a:rPr>
              <a:t>Tuần 1-2</a:t>
            </a:r>
          </a:p>
          <a:p>
            <a:pPr marL="0" indent="0" algn="ctr">
              <a:lnSpc>
                <a:spcPct val="100000"/>
              </a:lnSpc>
              <a:spcBef>
                <a:spcPts val="300"/>
              </a:spcBef>
              <a:buNone/>
            </a:pPr>
            <a:r>
              <a:rPr lang="en-US" sz="1600" dirty="0">
                <a:solidFill>
                  <a:srgbClr val="1A1A1A"/>
                </a:solidFill>
                <a:latin typeface="Arial"/>
                <a:cs typeface="Arial"/>
              </a:rPr>
              <a:t>vấn đề, câu hỏi, tìm y văn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Nghiên cứu là một chu trình: kết quả công bố thay đổi thực hành và gợi ra câu hỏi mới.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quyết định loại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76186"/>
          <a:ext cx="11277600" cy="4021440"/>
        </p:xfrm>
        <a:graphic>
          <a:graphicData uri="http://schemas.openxmlformats.org/drawingml/2006/table">
            <a:tbl>
              <a:tblPr firstRow="1" bandRow="1">
                <a:tableStyleId>{5C22544A-7EE6-4342-B048-85BDC9FD1C3A}</a:tableStyleId>
              </a:tblPr>
              <a:tblGrid>
                <a:gridCol w="2631440"/>
                <a:gridCol w="4636346"/>
                <a:gridCol w="4009814"/>
              </a:tblGrid>
              <a:tr h="416240">
                <a:tc>
                  <a:txBody>
                    <a:bodyPr/>
                    <a:lstStyle/>
                    <a:p>
                      <a:pPr algn="l"/>
                      <a:r>
                        <a:rPr lang="en-US" sz="2000" b="1" dirty="0">
                          <a:solidFill>
                            <a:srgbClr val="FFFFFF"/>
                          </a:solidFill>
                          <a:latin typeface="Arial"/>
                          <a:cs typeface="Arial"/>
                        </a:rPr>
                        <a:t>Loại nghiên cứu</a:t>
                      </a:r>
                    </a:p>
                  </a:txBody>
                  <a:tcPr marL="73152" marR="73152" marT="45720" marB="45720" anchor="ctr">
                    <a:solidFill>
                      <a:srgbClr val="0D7377"/>
                    </a:solidFill>
                  </a:tcPr>
                </a:tc>
                <a:tc>
                  <a:txBody>
                    <a:bodyPr/>
                    <a:lstStyle/>
                    <a:p>
                      <a:pPr algn="l"/>
                      <a:r>
                        <a:rPr lang="en-US" sz="2000" b="1" dirty="0">
                          <a:solidFill>
                            <a:srgbClr val="FFFFFF"/>
                          </a:solidFill>
                          <a:latin typeface="Arial"/>
                          <a:cs typeface="Arial"/>
                        </a:rPr>
                        <a:t>Cho biết điều gì</a:t>
                      </a:r>
                    </a:p>
                  </a:txBody>
                  <a:tcPr marL="73152" marR="73152" marT="45720" marB="45720" anchor="ctr">
                    <a:solidFill>
                      <a:srgbClr val="0D7377"/>
                    </a:solidFill>
                  </a:tcPr>
                </a:tc>
                <a:tc>
                  <a:txBody>
                    <a:bodyPr/>
                    <a:lstStyle/>
                    <a:p>
                      <a:pPr algn="l"/>
                      <a:r>
                        <a:rPr lang="en-US" sz="2000" b="1" dirty="0">
                          <a:solidFill>
                            <a:srgbClr val="FFFFFF"/>
                          </a:solidFill>
                          <a:latin typeface="Arial"/>
                          <a:cs typeface="Arial"/>
                        </a:rPr>
                        <a:t>Ví dụ</a:t>
                      </a:r>
                    </a:p>
                  </a:txBody>
                  <a:tcPr marL="73152" marR="73152" marT="45720" marB="45720" anchor="ctr">
                    <a:solidFill>
                      <a:srgbClr val="0D7377"/>
                    </a:solidFill>
                  </a:tcPr>
                </a:tc>
              </a:tr>
              <a:tr h="721040">
                <a:tc>
                  <a:txBody>
                    <a:bodyPr/>
                    <a:lstStyle/>
                    <a:p>
                      <a:pPr algn="l"/>
                      <a:r>
                        <a:rPr lang="en-US" sz="2000" b="1" dirty="0">
                          <a:solidFill>
                            <a:srgbClr val="000000"/>
                          </a:solidFill>
                          <a:latin typeface="Arial"/>
                          <a:cs typeface="Arial"/>
                        </a:rPr>
                        <a:t>Định lượng</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Con số: bao nhiêu? X có làm thay đổi Y?</a:t>
                      </a:r>
                    </a:p>
                  </a:txBody>
                  <a:tcPr marL="73152" marR="73152" marT="45720" marB="45720" anchor="ctr">
                    <a:solidFill>
                      <a:srgbClr val="FFFFFF"/>
                    </a:solidFill>
                  </a:tcPr>
                </a:tc>
                <a:tc>
                  <a:txBody>
                    <a:bodyPr/>
                    <a:lstStyle/>
                    <a:p>
                      <a:pPr algn="l"/>
                      <a:r>
                        <a:rPr lang="en-US" sz="2000" dirty="0">
                          <a:solidFill>
                            <a:srgbClr val="000000"/>
                          </a:solidFill>
                          <a:latin typeface="Arial"/>
                          <a:cs typeface="Arial"/>
                        </a:rPr>
                        <a:t>Tử vong 28 ngày với hai chiến lược dịch</a:t>
                      </a:r>
                    </a:p>
                  </a:txBody>
                  <a:tcPr marL="73152" marR="73152" marT="45720" marB="45720" anchor="ctr">
                    <a:solidFill>
                      <a:srgbClr val="FFFFFF"/>
                    </a:solidFill>
                  </a:tcPr>
                </a:tc>
              </a:tr>
              <a:tr h="721040">
                <a:tc>
                  <a:txBody>
                    <a:bodyPr/>
                    <a:lstStyle/>
                    <a:p>
                      <a:pPr algn="l"/>
                      <a:r>
                        <a:rPr lang="en-US" sz="2000" b="1" dirty="0">
                          <a:solidFill>
                            <a:srgbClr val="000000"/>
                          </a:solidFill>
                          <a:latin typeface="Arial"/>
                          <a:cs typeface="Arial"/>
                        </a:rPr>
                        <a:t>Định tính</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Lời kể: vì sao? Như thế nào? Trải nghiệm ra sao?</a:t>
                      </a:r>
                    </a:p>
                  </a:txBody>
                  <a:tcPr marL="73152" marR="73152" marT="45720" marB="45720" anchor="ctr">
                    <a:solidFill>
                      <a:srgbClr val="F5F9FA"/>
                    </a:solidFill>
                  </a:tcPr>
                </a:tc>
                <a:tc>
                  <a:txBody>
                    <a:bodyPr/>
                    <a:lstStyle/>
                    <a:p>
                      <a:pPr algn="l"/>
                      <a:r>
                        <a:rPr lang="en-US" sz="2000" dirty="0">
                          <a:solidFill>
                            <a:srgbClr val="000000"/>
                          </a:solidFill>
                          <a:latin typeface="Arial"/>
                          <a:cs typeface="Arial"/>
                        </a:rPr>
                        <a:t>Phỏng vấn: vì sao điều dưỡng ngại ngừng dịch</a:t>
                      </a:r>
                    </a:p>
                  </a:txBody>
                  <a:tcPr marL="73152" marR="73152" marT="45720" marB="45720" anchor="ctr">
                    <a:solidFill>
                      <a:srgbClr val="F5F9FA"/>
                    </a:solidFill>
                  </a:tcPr>
                </a:tc>
              </a:tr>
              <a:tr h="721040">
                <a:tc>
                  <a:txBody>
                    <a:bodyPr/>
                    <a:lstStyle/>
                    <a:p>
                      <a:pPr algn="l"/>
                      <a:r>
                        <a:rPr lang="en-US" sz="2000" b="1" dirty="0">
                          <a:solidFill>
                            <a:srgbClr val="000000"/>
                          </a:solidFill>
                          <a:latin typeface="Arial"/>
                          <a:cs typeface="Arial"/>
                        </a:rPr>
                        <a:t>Hỗn hợp</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Con số và lời kể trong cùng một nghiên cứu</a:t>
                      </a:r>
                    </a:p>
                  </a:txBody>
                  <a:tcPr marL="73152" marR="73152" marT="45720" marB="45720" anchor="ctr">
                    <a:solidFill>
                      <a:srgbClr val="FFFFFF"/>
                    </a:solidFill>
                  </a:tcPr>
                </a:tc>
                <a:tc>
                  <a:txBody>
                    <a:bodyPr/>
                    <a:lstStyle/>
                    <a:p>
                      <a:pPr algn="l"/>
                      <a:r>
                        <a:rPr lang="en-US" sz="2000" dirty="0">
                          <a:solidFill>
                            <a:srgbClr val="000000"/>
                          </a:solidFill>
                          <a:latin typeface="Arial"/>
                          <a:cs typeface="Arial"/>
                        </a:rPr>
                        <a:t>Khảo sát thực hành dịch kèm thảo luận nhóm</a:t>
                      </a:r>
                    </a:p>
                  </a:txBody>
                  <a:tcPr marL="73152" marR="73152" marT="45720" marB="45720" anchor="ctr">
                    <a:solidFill>
                      <a:srgbClr val="FFFFFF"/>
                    </a:solidFill>
                  </a:tcPr>
                </a:tc>
              </a:tr>
              <a:tr h="721040">
                <a:tc>
                  <a:txBody>
                    <a:bodyPr/>
                    <a:lstStyle/>
                    <a:p>
                      <a:pPr algn="l"/>
                      <a:r>
                        <a:rPr lang="en-US" sz="2000" b="1" dirty="0">
                          <a:solidFill>
                            <a:srgbClr val="000000"/>
                          </a:solidFill>
                          <a:latin typeface="Arial"/>
                          <a:cs typeface="Arial"/>
                        </a:rPr>
                        <a:t>Nghiên cứu sơ cấp</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Bạn thu thập dữ liệu mới</a:t>
                      </a:r>
                    </a:p>
                  </a:txBody>
                  <a:tcPr marL="73152" marR="73152" marT="45720" marB="45720" anchor="ctr">
                    <a:solidFill>
                      <a:srgbClr val="F5F9FA"/>
                    </a:solidFill>
                  </a:tcPr>
                </a:tc>
                <a:tc>
                  <a:txBody>
                    <a:bodyPr/>
                    <a:lstStyle/>
                    <a:p>
                      <a:pPr algn="l"/>
                      <a:r>
                        <a:rPr lang="en-US" sz="2000" dirty="0">
                          <a:solidFill>
                            <a:srgbClr val="000000"/>
                          </a:solidFill>
                          <a:latin typeface="Arial"/>
                          <a:cs typeface="Arial"/>
                        </a:rPr>
                        <a:t>Bài báo 1: một thử nghiệm mới</a:t>
                      </a:r>
                    </a:p>
                  </a:txBody>
                  <a:tcPr marL="73152" marR="73152" marT="45720" marB="45720" anchor="ctr">
                    <a:solidFill>
                      <a:srgbClr val="F5F9FA"/>
                    </a:solidFill>
                  </a:tcPr>
                </a:tc>
              </a:tr>
              <a:tr h="721040">
                <a:tc>
                  <a:txBody>
                    <a:bodyPr/>
                    <a:lstStyle/>
                    <a:p>
                      <a:pPr algn="l"/>
                      <a:r>
                        <a:rPr lang="en-US" sz="2000" b="1" dirty="0">
                          <a:solidFill>
                            <a:srgbClr val="000000"/>
                          </a:solidFill>
                          <a:latin typeface="Arial"/>
                          <a:cs typeface="Arial"/>
                        </a:rPr>
                        <a:t>Nghiên cứu thứ cấp</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Bạn dùng lại dữ liệu có sẵn: hồ sơ, sổ đăng ký</a:t>
                      </a:r>
                    </a:p>
                  </a:txBody>
                  <a:tcPr marL="73152" marR="73152" marT="45720" marB="45720" anchor="ctr">
                    <a:solidFill>
                      <a:srgbClr val="FFFFFF"/>
                    </a:solidFill>
                  </a:tcPr>
                </a:tc>
                <a:tc>
                  <a:txBody>
                    <a:bodyPr/>
                    <a:lstStyle/>
                    <a:p>
                      <a:pPr algn="l"/>
                      <a:r>
                        <a:rPr lang="en-US" sz="2000" dirty="0">
                          <a:solidFill>
                            <a:srgbClr val="000000"/>
                          </a:solidFill>
                          <a:latin typeface="Arial"/>
                          <a:cs typeface="Arial"/>
                        </a:rPr>
                        <a:t>Bài báo 2: sổ đăng ký nhiễm khuẩn huyết</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Con số trả lời bao nhiêu, mức nào. Lời kể trả lời vì sao, như thế nào.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hiểu bài: loại nghiên cứu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đếm số người bệnh sốc nhiễm khuẩn có cân bằng dịch dương ở ngày 3 trong năm nay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phỏng vấn điều dưỡng ICU vì sao họ ngại ngừng dịch truyền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phân tích lại hồ sơ ICU 3 năm về cân bằng dịch và tử vong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D: khảo sát cách chỉ định dịch kèm thảo luận nhóm với bác sĩ</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Mỗi câu: con số, lời kể hay cả hai? Dữ liệu mới hay có sẵn?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Hai ba người trả lời, ví dụ 'A: con số, mới'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Đáp án: loại nghiên cứu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1666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  Đếm số ca</a:t>
            </a:r>
          </a:p>
        </p:txBody>
      </p:sp>
      <p:sp>
        <p:nvSpPr>
          <p:cNvPr id="71" name="CardBody"/>
          <p:cNvSpPr/>
          <p:nvPr/>
        </p:nvSpPr>
        <p:spPr>
          <a:xfrm>
            <a:off x="4572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Định lượng</a:t>
            </a:r>
          </a:p>
          <a:p>
            <a:pPr marL="0" indent="0" algn="ctr">
              <a:lnSpc>
                <a:spcPct val="104000"/>
              </a:lnSpc>
              <a:spcBef>
                <a:spcPts val="400"/>
              </a:spcBef>
              <a:buNone/>
            </a:pPr>
            <a:r>
              <a:rPr lang="en-US" sz="1600" dirty="0">
                <a:solidFill>
                  <a:srgbClr val="000000"/>
                </a:solidFill>
                <a:latin typeface="Arial"/>
                <a:cs typeface="Arial"/>
              </a:rPr>
              <a:t>Sơ cấp</a:t>
            </a:r>
          </a:p>
        </p:txBody>
      </p:sp>
      <p:sp>
        <p:nvSpPr>
          <p:cNvPr id="72" name="CardHead"/>
          <p:cNvSpPr/>
          <p:nvPr/>
        </p:nvSpPr>
        <p:spPr>
          <a:xfrm>
            <a:off x="3326600" y="191666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  Phỏng vấn</a:t>
            </a:r>
          </a:p>
        </p:txBody>
      </p:sp>
      <p:sp>
        <p:nvSpPr>
          <p:cNvPr id="73" name="CardBody"/>
          <p:cNvSpPr/>
          <p:nvPr/>
        </p:nvSpPr>
        <p:spPr>
          <a:xfrm>
            <a:off x="33266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Định tính</a:t>
            </a:r>
          </a:p>
          <a:p>
            <a:pPr marL="0" indent="0" algn="ctr">
              <a:lnSpc>
                <a:spcPct val="104000"/>
              </a:lnSpc>
              <a:spcBef>
                <a:spcPts val="400"/>
              </a:spcBef>
              <a:buNone/>
            </a:pPr>
            <a:r>
              <a:rPr lang="en-US" sz="1600" dirty="0">
                <a:solidFill>
                  <a:srgbClr val="000000"/>
                </a:solidFill>
                <a:latin typeface="Arial"/>
                <a:cs typeface="Arial"/>
              </a:rPr>
              <a:t>Sơ cấp</a:t>
            </a:r>
          </a:p>
        </p:txBody>
      </p:sp>
      <p:sp>
        <p:nvSpPr>
          <p:cNvPr id="74" name="CardHead"/>
          <p:cNvSpPr/>
          <p:nvPr/>
        </p:nvSpPr>
        <p:spPr>
          <a:xfrm>
            <a:off x="6196000" y="191666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  Hồ sơ cũ</a:t>
            </a:r>
          </a:p>
        </p:txBody>
      </p:sp>
      <p:sp>
        <p:nvSpPr>
          <p:cNvPr id="75" name="CardBody"/>
          <p:cNvSpPr/>
          <p:nvPr/>
        </p:nvSpPr>
        <p:spPr>
          <a:xfrm>
            <a:off x="61960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Định lượng</a:t>
            </a:r>
          </a:p>
          <a:p>
            <a:pPr marL="0" indent="0" algn="ctr">
              <a:lnSpc>
                <a:spcPct val="104000"/>
              </a:lnSpc>
              <a:spcBef>
                <a:spcPts val="400"/>
              </a:spcBef>
              <a:buNone/>
            </a:pPr>
            <a:r>
              <a:rPr lang="en-US" sz="1600" dirty="0">
                <a:solidFill>
                  <a:srgbClr val="000000"/>
                </a:solidFill>
                <a:latin typeface="Arial"/>
                <a:cs typeface="Arial"/>
              </a:rPr>
              <a:t>Thứ cấp</a:t>
            </a:r>
          </a:p>
        </p:txBody>
      </p:sp>
      <p:sp>
        <p:nvSpPr>
          <p:cNvPr id="76" name="CardHead"/>
          <p:cNvSpPr/>
          <p:nvPr/>
        </p:nvSpPr>
        <p:spPr>
          <a:xfrm>
            <a:off x="9065400" y="191666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  Khảo sát + nhóm</a:t>
            </a:r>
          </a:p>
        </p:txBody>
      </p:sp>
      <p:sp>
        <p:nvSpPr>
          <p:cNvPr id="77" name="CardBody"/>
          <p:cNvSpPr/>
          <p:nvPr/>
        </p:nvSpPr>
        <p:spPr>
          <a:xfrm>
            <a:off x="90654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Hỗn hợp</a:t>
            </a:r>
          </a:p>
          <a:p>
            <a:pPr marL="0" indent="0" algn="ctr">
              <a:lnSpc>
                <a:spcPct val="104000"/>
              </a:lnSpc>
              <a:spcBef>
                <a:spcPts val="400"/>
              </a:spcBef>
              <a:buNone/>
            </a:pPr>
            <a:r>
              <a:rPr lang="en-US" sz="1600" dirty="0">
                <a:solidFill>
                  <a:srgbClr val="000000"/>
                </a:solidFill>
                <a:latin typeface="Arial"/>
                <a:cs typeface="Arial"/>
              </a:rPr>
              <a:t>Sơ cấp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Hỏi hai điều: con số hay lời kể? Dữ liệu mới hay có sẵn?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Cả con đường: từ ý tưởng đến công bố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cxnSp>
        <p:nvCxnSpPr>
          <p:cNvPr id="100" name="Line"/>
          <p:cNvCxnSpPr/>
          <p:nvPr/>
        </p:nvCxnSpPr>
        <p:spPr>
          <a:xfrm>
            <a:off x="1295400" y="2382040"/>
            <a:ext cx="9144000" cy="0"/>
          </a:xfrm>
          <a:prstGeom prst="straightConnector1">
            <a:avLst/>
          </a:prstGeom>
          <a:ln w="177800" cap="rnd">
            <a:solidFill>
              <a:srgbClr val="D5DDE1"/>
            </a:solidFill>
            <a:round/>
          </a:ln>
        </p:spPr>
      </p:cxnSp>
      <p:sp>
        <p:nvSpPr>
          <p:cNvPr id="101" name="Arc"/>
          <p:cNvSpPr/>
          <p:nvPr/>
        </p:nvSpPr>
        <p:spPr>
          <a:xfrm>
            <a:off x="9525000" y="2382040"/>
            <a:ext cx="1828800" cy="1828800"/>
          </a:xfrm>
          <a:prstGeom prst="arc">
            <a:avLst>
              <a:gd name="adj1" fmla="val 16200000"/>
              <a:gd name="adj2" fmla="val 5400000"/>
            </a:avLst>
          </a:prstGeom>
          <a:noFill/>
          <a:ln w="177800" cap="rnd">
            <a:solidFill>
              <a:srgbClr val="D5DDE1"/>
            </a:solidFill>
            <a:round/>
          </a:ln>
        </p:spPr>
      </p:sp>
      <p:cxnSp>
        <p:nvCxnSpPr>
          <p:cNvPr id="102" name="Line"/>
          <p:cNvCxnSpPr/>
          <p:nvPr/>
        </p:nvCxnSpPr>
        <p:spPr>
          <a:xfrm flipH="1">
            <a:off x="2209800" y="4210840"/>
            <a:ext cx="8229600" cy="0"/>
          </a:xfrm>
          <a:prstGeom prst="straightConnector1">
            <a:avLst/>
          </a:prstGeom>
          <a:ln w="177800" cap="rnd">
            <a:solidFill>
              <a:srgbClr val="D5DDE1"/>
            </a:solidFill>
            <a:round/>
          </a:ln>
        </p:spPr>
      </p:cxnSp>
      <p:sp>
        <p:nvSpPr>
          <p:cNvPr id="103" name="Ellipse"/>
          <p:cNvSpPr/>
          <p:nvPr/>
        </p:nvSpPr>
        <p:spPr>
          <a:xfrm>
            <a:off x="993648" y="2080288"/>
            <a:ext cx="603504" cy="603504"/>
          </a:xfrm>
          <a:prstGeom prst="ellipse">
            <a:avLst/>
          </a:prstGeom>
          <a:solidFill>
            <a:srgbClr val="0D7377"/>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1</a:t>
            </a:r>
          </a:p>
        </p:txBody>
      </p:sp>
      <p:sp>
        <p:nvSpPr>
          <p:cNvPr id="104" name="Text"/>
          <p:cNvSpPr/>
          <p:nvPr/>
        </p:nvSpPr>
        <p:spPr>
          <a:xfrm>
            <a:off x="3810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Câu hỏi</a:t>
            </a:r>
          </a:p>
        </p:txBody>
      </p:sp>
      <p:sp>
        <p:nvSpPr>
          <p:cNvPr id="105" name="Ellipse"/>
          <p:cNvSpPr/>
          <p:nvPr/>
        </p:nvSpPr>
        <p:spPr>
          <a:xfrm>
            <a:off x="2822448" y="2080288"/>
            <a:ext cx="603504" cy="603504"/>
          </a:xfrm>
          <a:prstGeom prst="ellipse">
            <a:avLst/>
          </a:prstGeom>
          <a:solidFill>
            <a:srgbClr val="0B376C"/>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2</a:t>
            </a:r>
          </a:p>
        </p:txBody>
      </p:sp>
      <p:sp>
        <p:nvSpPr>
          <p:cNvPr id="106" name="Text"/>
          <p:cNvSpPr/>
          <p:nvPr/>
        </p:nvSpPr>
        <p:spPr>
          <a:xfrm>
            <a:off x="22098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Thiết kế và đề cương</a:t>
            </a:r>
          </a:p>
        </p:txBody>
      </p:sp>
      <p:sp>
        <p:nvSpPr>
          <p:cNvPr id="107" name="Ellipse"/>
          <p:cNvSpPr/>
          <p:nvPr/>
        </p:nvSpPr>
        <p:spPr>
          <a:xfrm>
            <a:off x="4651248" y="20802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3</a:t>
            </a:r>
          </a:p>
        </p:txBody>
      </p:sp>
      <p:sp>
        <p:nvSpPr>
          <p:cNvPr id="108" name="Text"/>
          <p:cNvSpPr/>
          <p:nvPr/>
        </p:nvSpPr>
        <p:spPr>
          <a:xfrm>
            <a:off x="40386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Đăng ký</a:t>
            </a:r>
          </a:p>
        </p:txBody>
      </p:sp>
      <p:sp>
        <p:nvSpPr>
          <p:cNvPr id="109" name="Ellipse"/>
          <p:cNvSpPr/>
          <p:nvPr/>
        </p:nvSpPr>
        <p:spPr>
          <a:xfrm>
            <a:off x="6480048" y="20802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4</a:t>
            </a:r>
          </a:p>
        </p:txBody>
      </p:sp>
      <p:sp>
        <p:nvSpPr>
          <p:cNvPr id="110" name="Text"/>
          <p:cNvSpPr/>
          <p:nvPr/>
        </p:nvSpPr>
        <p:spPr>
          <a:xfrm>
            <a:off x="58674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Phê duyệt đạo đức</a:t>
            </a:r>
          </a:p>
        </p:txBody>
      </p:sp>
      <p:sp>
        <p:nvSpPr>
          <p:cNvPr id="111" name="Ellipse"/>
          <p:cNvSpPr/>
          <p:nvPr/>
        </p:nvSpPr>
        <p:spPr>
          <a:xfrm>
            <a:off x="8308848" y="2080288"/>
            <a:ext cx="603504" cy="603504"/>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5</a:t>
            </a:r>
          </a:p>
        </p:txBody>
      </p:sp>
      <p:sp>
        <p:nvSpPr>
          <p:cNvPr id="112" name="Text"/>
          <p:cNvSpPr/>
          <p:nvPr/>
        </p:nvSpPr>
        <p:spPr>
          <a:xfrm>
            <a:off x="76962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Thu thập dữ liệu</a:t>
            </a:r>
          </a:p>
        </p:txBody>
      </p:sp>
      <p:sp>
        <p:nvSpPr>
          <p:cNvPr id="113" name="Ellipse"/>
          <p:cNvSpPr/>
          <p:nvPr/>
        </p:nvSpPr>
        <p:spPr>
          <a:xfrm>
            <a:off x="10137648" y="2080288"/>
            <a:ext cx="603504" cy="603504"/>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6</a:t>
            </a:r>
          </a:p>
        </p:txBody>
      </p:sp>
      <p:sp>
        <p:nvSpPr>
          <p:cNvPr id="114" name="Text"/>
          <p:cNvSpPr/>
          <p:nvPr/>
        </p:nvSpPr>
        <p:spPr>
          <a:xfrm>
            <a:off x="95250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Phân tích</a:t>
            </a:r>
          </a:p>
        </p:txBody>
      </p:sp>
      <p:sp>
        <p:nvSpPr>
          <p:cNvPr id="115" name="Ellipse"/>
          <p:cNvSpPr/>
          <p:nvPr/>
        </p:nvSpPr>
        <p:spPr>
          <a:xfrm>
            <a:off x="101376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7</a:t>
            </a:r>
          </a:p>
        </p:txBody>
      </p:sp>
      <p:sp>
        <p:nvSpPr>
          <p:cNvPr id="116" name="Text"/>
          <p:cNvSpPr/>
          <p:nvPr/>
        </p:nvSpPr>
        <p:spPr>
          <a:xfrm>
            <a:off x="94335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Viết bài</a:t>
            </a:r>
          </a:p>
        </p:txBody>
      </p:sp>
      <p:sp>
        <p:nvSpPr>
          <p:cNvPr id="117" name="Ellipse"/>
          <p:cNvSpPr/>
          <p:nvPr/>
        </p:nvSpPr>
        <p:spPr>
          <a:xfrm>
            <a:off x="80802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8</a:t>
            </a:r>
          </a:p>
        </p:txBody>
      </p:sp>
      <p:sp>
        <p:nvSpPr>
          <p:cNvPr id="118" name="Text"/>
          <p:cNvSpPr/>
          <p:nvPr/>
        </p:nvSpPr>
        <p:spPr>
          <a:xfrm>
            <a:off x="73761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Nộp bài</a:t>
            </a:r>
          </a:p>
        </p:txBody>
      </p:sp>
      <p:sp>
        <p:nvSpPr>
          <p:cNvPr id="119" name="Ellipse"/>
          <p:cNvSpPr/>
          <p:nvPr/>
        </p:nvSpPr>
        <p:spPr>
          <a:xfrm>
            <a:off x="60228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9</a:t>
            </a:r>
          </a:p>
        </p:txBody>
      </p:sp>
      <p:sp>
        <p:nvSpPr>
          <p:cNvPr id="120" name="Text"/>
          <p:cNvSpPr/>
          <p:nvPr/>
        </p:nvSpPr>
        <p:spPr>
          <a:xfrm>
            <a:off x="53187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Bình duyệt</a:t>
            </a:r>
          </a:p>
        </p:txBody>
      </p:sp>
      <p:sp>
        <p:nvSpPr>
          <p:cNvPr id="121" name="Ellipse"/>
          <p:cNvSpPr/>
          <p:nvPr/>
        </p:nvSpPr>
        <p:spPr>
          <a:xfrm>
            <a:off x="39654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10</a:t>
            </a:r>
          </a:p>
        </p:txBody>
      </p:sp>
      <p:sp>
        <p:nvSpPr>
          <p:cNvPr id="122" name="Text"/>
          <p:cNvSpPr/>
          <p:nvPr/>
        </p:nvSpPr>
        <p:spPr>
          <a:xfrm>
            <a:off x="32613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Công bố</a:t>
            </a:r>
          </a:p>
        </p:txBody>
      </p:sp>
      <p:sp>
        <p:nvSpPr>
          <p:cNvPr id="123" name="Ellipse"/>
          <p:cNvSpPr/>
          <p:nvPr/>
        </p:nvSpPr>
        <p:spPr>
          <a:xfrm>
            <a:off x="1908048" y="3909088"/>
            <a:ext cx="603504" cy="603504"/>
          </a:xfrm>
          <a:prstGeom prst="ellipse">
            <a:avLst/>
          </a:prstGeom>
          <a:solidFill>
            <a:srgbClr val="055F56"/>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11</a:t>
            </a:r>
          </a:p>
        </p:txBody>
      </p:sp>
      <p:sp>
        <p:nvSpPr>
          <p:cNvPr id="124" name="Text"/>
          <p:cNvSpPr/>
          <p:nvPr/>
        </p:nvSpPr>
        <p:spPr>
          <a:xfrm>
            <a:off x="12039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Tác động tới người bệnh</a:t>
            </a:r>
          </a:p>
        </p:txBody>
      </p:sp>
      <p:sp>
        <p:nvSpPr>
          <p:cNvPr id="125" name="Box"/>
          <p:cNvSpPr/>
          <p:nvPr/>
        </p:nvSpPr>
        <p:spPr>
          <a:xfrm>
            <a:off x="1158240" y="3122704"/>
            <a:ext cx="2103120" cy="347472"/>
          </a:xfrm>
          <a:prstGeom prst="roundRect">
            <a:avLst>
              <a:gd name="adj" fmla="val 50000"/>
            </a:avLst>
          </a:prstGeom>
          <a:solidFill>
            <a:srgbClr val="0D7377"/>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Tuần 1-2  Hỏi và tìm</a:t>
            </a:r>
          </a:p>
        </p:txBody>
      </p:sp>
      <p:sp>
        <p:nvSpPr>
          <p:cNvPr id="126" name="Box"/>
          <p:cNvSpPr/>
          <p:nvPr/>
        </p:nvSpPr>
        <p:spPr>
          <a:xfrm>
            <a:off x="3352800" y="3122704"/>
            <a:ext cx="2103120" cy="347472"/>
          </a:xfrm>
          <a:prstGeom prst="roundRect">
            <a:avLst>
              <a:gd name="adj" fmla="val 50000"/>
            </a:avLst>
          </a:prstGeom>
          <a:solidFill>
            <a:srgbClr val="0B376C"/>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Tuần 3-4  Thiết kế</a:t>
            </a:r>
          </a:p>
        </p:txBody>
      </p:sp>
      <p:sp>
        <p:nvSpPr>
          <p:cNvPr id="127" name="Box"/>
          <p:cNvSpPr/>
          <p:nvPr/>
        </p:nvSpPr>
        <p:spPr>
          <a:xfrm>
            <a:off x="5547360" y="3122704"/>
            <a:ext cx="2103120" cy="347472"/>
          </a:xfrm>
          <a:prstGeom prst="roundRect">
            <a:avLst>
              <a:gd name="adj" fmla="val 50000"/>
            </a:avLst>
          </a:prstGeom>
          <a:solidFill>
            <a:srgbClr val="5FA39B"/>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Tuần 5-6  Đo lường</a:t>
            </a:r>
          </a:p>
        </p:txBody>
      </p:sp>
      <p:sp>
        <p:nvSpPr>
          <p:cNvPr id="128" name="Box"/>
          <p:cNvSpPr/>
          <p:nvPr/>
        </p:nvSpPr>
        <p:spPr>
          <a:xfrm>
            <a:off x="7741920" y="3122704"/>
            <a:ext cx="2103120" cy="347472"/>
          </a:xfrm>
          <a:prstGeom prst="roundRect">
            <a:avLst>
              <a:gd name="adj" fmla="val 50000"/>
            </a:avLst>
          </a:prstGeom>
          <a:solidFill>
            <a:srgbClr val="0070C0"/>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Tuần 7-8  Công bố</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Khóa học đi hết con đường. Đề cương của bạn gồm trạm 1 đến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1.2  Từ vấn đề đến câu hỏi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Đặt đúng câu hỏi là đã đi được nửa đường.</a:t>
            </a:r>
          </a:p>
          <a:p>
            <a:pPr marL="0" indent="0" algn="ctr">
              <a:spcBef>
                <a:spcPts val="1200"/>
              </a:spcBef>
              <a:buNone/>
            </a:pPr>
            <a:r>
              <a:rPr lang="en-US" sz="1900" i="1" dirty="0">
                <a:solidFill>
                  <a:srgbClr val="595959"/>
                </a:solidFill>
                <a:latin typeface="Arial"/>
                <a:cs typeface="Arial"/>
              </a:rPr>
              <a:t>40 phút: PICO(T) và PECO, loại câu hỏi, FINER, rồi một bài tập cả lớp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nghiên cứu đến từ đâu?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Trước hết hãy kiểm tra: đã có câu trả lời chưa? Tìm y văn sẽ cho biết (Buổi 2).</a:t>
            </a:r>
          </a:p>
        </p:txBody>
      </p:sp>
      <p:sp>
        <p:nvSpPr>
          <p:cNvPr id="70" name="CardHead"/>
          <p:cNvSpPr/>
          <p:nvPr/>
        </p:nvSpPr>
        <p:spPr>
          <a:xfrm>
            <a:off x="457200" y="1764023"/>
            <a:ext cx="54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Câu hỏi đến từ đâu</a:t>
            </a:r>
          </a:p>
        </p:txBody>
      </p:sp>
      <p:sp>
        <p:nvSpPr>
          <p:cNvPr id="71" name="CardBody"/>
          <p:cNvSpPr/>
          <p:nvPr/>
        </p:nvSpPr>
        <p:spPr>
          <a:xfrm>
            <a:off x="457200" y="2404023"/>
            <a:ext cx="5438800" cy="2637930"/>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800" dirty="0">
                <a:solidFill>
                  <a:srgbClr val="000000"/>
                </a:solidFill>
                <a:latin typeface="Arial"/>
                <a:cs typeface="Arial"/>
              </a:rPr>
              <a:t>Băn khoăn tại giường: "Sao mình lại làm như vậy?"</a:t>
            </a:r>
          </a:p>
          <a:p>
            <a:pPr marL="274320" indent="-274320" algn="l">
              <a:lnSpc>
                <a:spcPct val="104000"/>
              </a:lnSpc>
              <a:spcBef>
                <a:spcPts val="400"/>
              </a:spcBef>
              <a:buFont typeface="Arial"/>
              <a:buChar char="•"/>
            </a:pPr>
            <a:r>
              <a:rPr lang="en-US" sz="1800" dirty="0">
                <a:solidFill>
                  <a:srgbClr val="000000"/>
                </a:solidFill>
                <a:latin typeface="Arial"/>
                <a:cs typeface="Arial"/>
              </a:rPr>
              <a:t>Mỗi đồng nghiệp làm một kiểu</a:t>
            </a:r>
          </a:p>
          <a:p>
            <a:pPr marL="274320" indent="-274320" algn="l">
              <a:lnSpc>
                <a:spcPct val="104000"/>
              </a:lnSpc>
              <a:spcBef>
                <a:spcPts val="400"/>
              </a:spcBef>
              <a:buFont typeface="Arial"/>
              <a:buChar char="•"/>
            </a:pPr>
            <a:r>
              <a:rPr lang="en-US" sz="1800" dirty="0">
                <a:solidFill>
                  <a:srgbClr val="000000"/>
                </a:solidFill>
                <a:latin typeface="Arial"/>
                <a:cs typeface="Arial"/>
              </a:rPr>
              <a:t>Số liệu sự cố, sổ đăng ký</a:t>
            </a:r>
          </a:p>
          <a:p>
            <a:pPr marL="274320" indent="-274320" algn="l">
              <a:lnSpc>
                <a:spcPct val="104000"/>
              </a:lnSpc>
              <a:spcBef>
                <a:spcPts val="400"/>
              </a:spcBef>
              <a:buFont typeface="Arial"/>
              <a:buChar char="•"/>
            </a:pPr>
            <a:r>
              <a:rPr lang="en-US" sz="1800" dirty="0">
                <a:solidFill>
                  <a:srgbClr val="000000"/>
                </a:solidFill>
                <a:latin typeface="Arial"/>
                <a:cs typeface="Arial"/>
              </a:rPr>
              <a:t>Hướng dẫn ghi "bằng chứng độ tin cậy thấp"</a:t>
            </a:r>
          </a:p>
          <a:p>
            <a:pPr marL="274320" indent="-274320" algn="l">
              <a:lnSpc>
                <a:spcPct val="104000"/>
              </a:lnSpc>
              <a:spcBef>
                <a:spcPts val="400"/>
              </a:spcBef>
              <a:buFont typeface="Arial"/>
              <a:buChar char="•"/>
            </a:pPr>
            <a:r>
              <a:rPr lang="en-US" sz="1800" dirty="0">
                <a:solidFill>
                  <a:srgbClr val="000000"/>
                </a:solidFill>
                <a:latin typeface="Arial"/>
                <a:cs typeface="Arial"/>
              </a:rPr>
              <a:t>Bài báo kết luận "cần thêm nghiên cứu"</a:t>
            </a:r>
          </a:p>
          <a:p>
            <a:pPr marL="274320" indent="-274320" algn="l">
              <a:lnSpc>
                <a:spcPct val="104000"/>
              </a:lnSpc>
              <a:spcBef>
                <a:spcPts val="400"/>
              </a:spcBef>
              <a:buFont typeface="Arial"/>
              <a:buChar char="•"/>
            </a:pPr>
            <a:r>
              <a:rPr lang="en-US" sz="1800" dirty="0">
                <a:solidFill>
                  <a:srgbClr val="000000"/>
                </a:solidFill>
                <a:latin typeface="Arial"/>
                <a:cs typeface="Arial"/>
              </a:rPr>
              <a:t>Câu hỏi của người bệnh và gia đình</a:t>
            </a:r>
          </a:p>
        </p:txBody>
      </p:sp>
      <p:sp>
        <p:nvSpPr>
          <p:cNvPr id="72" name="CardHead"/>
          <p:cNvSpPr/>
          <p:nvPr/>
        </p:nvSpPr>
        <p:spPr>
          <a:xfrm>
            <a:off x="6096000" y="1764023"/>
            <a:ext cx="271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Đã biết</a:t>
            </a:r>
          </a:p>
        </p:txBody>
      </p:sp>
      <p:sp>
        <p:nvSpPr>
          <p:cNvPr id="73" name="CardBody"/>
          <p:cNvSpPr/>
          <p:nvPr/>
        </p:nvSpPr>
        <p:spPr>
          <a:xfrm>
            <a:off x="6096000" y="2404023"/>
            <a:ext cx="2719400" cy="26379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b="1" dirty="0">
                <a:solidFill>
                  <a:srgbClr val="000000"/>
                </a:solidFill>
                <a:latin typeface="Arial"/>
                <a:cs typeface="Arial"/>
              </a:rPr>
              <a:t>Áp dụng</a:t>
            </a:r>
          </a:p>
          <a:p>
            <a:pPr marL="0" indent="0" algn="ctr">
              <a:lnSpc>
                <a:spcPct val="104000"/>
              </a:lnSpc>
              <a:spcBef>
                <a:spcPts val="400"/>
              </a:spcBef>
              <a:buNone/>
            </a:pPr>
            <a:r>
              <a:rPr lang="en-US" sz="1800" dirty="0">
                <a:solidFill>
                  <a:srgbClr val="000000"/>
                </a:solidFill>
                <a:latin typeface="Arial"/>
                <a:cs typeface="Arial"/>
              </a:rPr>
              <a:t>Cập nhật hướng dẫn hoặc quy trình của khoa</a:t>
            </a:r>
          </a:p>
        </p:txBody>
      </p:sp>
      <p:sp>
        <p:nvSpPr>
          <p:cNvPr id="74" name="CardHead"/>
          <p:cNvSpPr/>
          <p:nvPr/>
        </p:nvSpPr>
        <p:spPr>
          <a:xfrm>
            <a:off x="9015400" y="1764023"/>
            <a:ext cx="27194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Chưa biết</a:t>
            </a:r>
          </a:p>
        </p:txBody>
      </p:sp>
      <p:sp>
        <p:nvSpPr>
          <p:cNvPr id="75" name="CardBody"/>
          <p:cNvSpPr/>
          <p:nvPr/>
        </p:nvSpPr>
        <p:spPr>
          <a:xfrm>
            <a:off x="9015400" y="2404023"/>
            <a:ext cx="2719400" cy="26379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b="1" dirty="0">
                <a:solidFill>
                  <a:srgbClr val="000000"/>
                </a:solidFill>
                <a:latin typeface="Arial"/>
                <a:cs typeface="Arial"/>
              </a:rPr>
              <a:t>Câu hỏi nghiên cứu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đã có câu trả lời, hãy áp dụng. Nếu chưa, bạn có một câu hỏi nghiên cứu.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PICO(T): ví dụ xuyên suốt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Ở người lớn bị sốc nhiễm khuẩn tại ICU, chiến lược hạn chế dịch, so với chăm sóc thường quy, có làm giảm tử vong 28 ngày không?</a:t>
            </a:r>
          </a:p>
        </p:txBody>
      </p:sp>
      <p:sp>
        <p:nvSpPr>
          <p:cNvPr id="70" name="CardHead"/>
          <p:cNvSpPr/>
          <p:nvPr/>
        </p:nvSpPr>
        <p:spPr>
          <a:xfrm>
            <a:off x="457200" y="2242887"/>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  Đối tượng</a:t>
            </a:r>
          </a:p>
        </p:txBody>
      </p:sp>
      <p:sp>
        <p:nvSpPr>
          <p:cNvPr id="71" name="CardBody"/>
          <p:cNvSpPr/>
          <p:nvPr/>
        </p:nvSpPr>
        <p:spPr>
          <a:xfrm>
            <a:off x="457200" y="2882887"/>
            <a:ext cx="2095520" cy="14949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Người lớn (≥18 tuổi) bị sốc nhiễm khuẩn tại ICU</a:t>
            </a:r>
          </a:p>
        </p:txBody>
      </p:sp>
      <p:sp>
        <p:nvSpPr>
          <p:cNvPr id="72" name="CardHead"/>
          <p:cNvSpPr/>
          <p:nvPr/>
        </p:nvSpPr>
        <p:spPr>
          <a:xfrm>
            <a:off x="2752720" y="2242887"/>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  Can thiệp</a:t>
            </a:r>
          </a:p>
        </p:txBody>
      </p:sp>
      <p:sp>
        <p:nvSpPr>
          <p:cNvPr id="73" name="CardBody"/>
          <p:cNvSpPr/>
          <p:nvPr/>
        </p:nvSpPr>
        <p:spPr>
          <a:xfrm>
            <a:off x="2752720" y="2882887"/>
            <a:ext cx="2095520" cy="14949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Chiến lược hạn chế dịch</a:t>
            </a:r>
          </a:p>
        </p:txBody>
      </p:sp>
      <p:sp>
        <p:nvSpPr>
          <p:cNvPr id="74" name="CardHead"/>
          <p:cNvSpPr/>
          <p:nvPr/>
        </p:nvSpPr>
        <p:spPr>
          <a:xfrm>
            <a:off x="5048240" y="2242887"/>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  So sánh</a:t>
            </a:r>
          </a:p>
        </p:txBody>
      </p:sp>
      <p:sp>
        <p:nvSpPr>
          <p:cNvPr id="75" name="CardBody"/>
          <p:cNvSpPr/>
          <p:nvPr/>
        </p:nvSpPr>
        <p:spPr>
          <a:xfrm>
            <a:off x="5048240" y="2882887"/>
            <a:ext cx="2095520" cy="14949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Chăm sóc thường quy (dịch tiêu chuẩn)</a:t>
            </a:r>
          </a:p>
        </p:txBody>
      </p:sp>
      <p:sp>
        <p:nvSpPr>
          <p:cNvPr id="76" name="CardHead"/>
          <p:cNvSpPr/>
          <p:nvPr/>
        </p:nvSpPr>
        <p:spPr>
          <a:xfrm>
            <a:off x="7343760" y="2242887"/>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  Kết cục</a:t>
            </a:r>
          </a:p>
        </p:txBody>
      </p:sp>
      <p:sp>
        <p:nvSpPr>
          <p:cNvPr id="77" name="CardBody"/>
          <p:cNvSpPr/>
          <p:nvPr/>
        </p:nvSpPr>
        <p:spPr>
          <a:xfrm>
            <a:off x="7343760" y="2882887"/>
            <a:ext cx="2095520" cy="14949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Tử vong do mọi nguyên nhân</a:t>
            </a:r>
          </a:p>
        </p:txBody>
      </p:sp>
      <p:sp>
        <p:nvSpPr>
          <p:cNvPr id="78" name="CardHead"/>
          <p:cNvSpPr/>
          <p:nvPr/>
        </p:nvSpPr>
        <p:spPr>
          <a:xfrm>
            <a:off x="9639280" y="2242887"/>
            <a:ext cx="2095520" cy="640000"/>
          </a:xfrm>
          <a:prstGeom prst="rect">
            <a:avLst/>
          </a:prstGeom>
          <a:solidFill>
            <a:srgbClr val="8A99A3"/>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  Thời gian</a:t>
            </a:r>
          </a:p>
        </p:txBody>
      </p:sp>
      <p:sp>
        <p:nvSpPr>
          <p:cNvPr id="79" name="CardBody"/>
          <p:cNvSpPr/>
          <p:nvPr/>
        </p:nvSpPr>
        <p:spPr>
          <a:xfrm>
            <a:off x="9639280" y="2882887"/>
            <a:ext cx="2095520" cy="14949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Trong vòng 28 ngày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Buổi nào cũng quay lại câu hỏi này.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Ba ví dụ khác: PICO, PECO và P + 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53680"/>
          <a:ext cx="11277600" cy="3188960"/>
        </p:xfrm>
        <a:graphic>
          <a:graphicData uri="http://schemas.openxmlformats.org/drawingml/2006/table">
            <a:tbl>
              <a:tblPr firstRow="1" bandRow="1">
                <a:tableStyleId>{5C22544A-7EE6-4342-B048-85BDC9FD1C3A}</a:tableStyleId>
              </a:tblPr>
              <a:tblGrid>
                <a:gridCol w="2182761"/>
                <a:gridCol w="2037243"/>
                <a:gridCol w="2037243"/>
                <a:gridCol w="1527932"/>
                <a:gridCol w="2037243"/>
                <a:gridCol w="1455178"/>
              </a:tblGrid>
              <a:tr h="385760">
                <a:tc>
                  <a:txBody>
                    <a:bodyPr/>
                    <a:lstStyle/>
                    <a:p>
                      <a:pPr algn="l"/>
                      <a:r>
                        <a:rPr lang="en-US" sz="18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800" b="1" dirty="0">
                          <a:solidFill>
                            <a:srgbClr val="FFFFFF"/>
                          </a:solidFill>
                          <a:latin typeface="Arial"/>
                          <a:cs typeface="Arial"/>
                        </a:rPr>
                        <a:t>P</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I / E</a:t>
                      </a:r>
                    </a:p>
                  </a:txBody>
                  <a:tcPr marL="73152" marR="73152" marT="45720" marB="45720" anchor="ctr">
                    <a:solidFill>
                      <a:srgbClr val="0B376C"/>
                    </a:solidFill>
                  </a:tcPr>
                </a:tc>
                <a:tc>
                  <a:txBody>
                    <a:bodyPr/>
                    <a:lstStyle/>
                    <a:p>
                      <a:pPr algn="l"/>
                      <a:r>
                        <a:rPr lang="en-US" sz="1800" b="1" dirty="0">
                          <a:solidFill>
                            <a:srgbClr val="FFFFFF"/>
                          </a:solidFill>
                          <a:latin typeface="Arial"/>
                          <a:cs typeface="Arial"/>
                        </a:rPr>
                        <a:t>C</a:t>
                      </a:r>
                    </a:p>
                  </a:txBody>
                  <a:tcPr marL="73152" marR="73152" marT="45720" marB="45720" anchor="ctr">
                    <a:solidFill>
                      <a:srgbClr val="5FA39B"/>
                    </a:solidFill>
                  </a:tcPr>
                </a:tc>
                <a:tc>
                  <a:txBody>
                    <a:bodyPr/>
                    <a:lstStyle/>
                    <a:p>
                      <a:pPr algn="l"/>
                      <a:r>
                        <a:rPr lang="en-US" sz="1800" b="1" dirty="0">
                          <a:solidFill>
                            <a:srgbClr val="FFFFFF"/>
                          </a:solidFill>
                          <a:latin typeface="Arial"/>
                          <a:cs typeface="Arial"/>
                        </a:rPr>
                        <a:t>O</a:t>
                      </a:r>
                    </a:p>
                  </a:txBody>
                  <a:tcPr marL="73152" marR="73152" marT="45720" marB="45720" anchor="ctr">
                    <a:solidFill>
                      <a:srgbClr val="0070C0"/>
                    </a:solidFill>
                  </a:tcPr>
                </a:tc>
                <a:tc>
                  <a:txBody>
                    <a:bodyPr/>
                    <a:lstStyle/>
                    <a:p>
                      <a:pPr algn="l"/>
                      <a:r>
                        <a:rPr lang="en-US" sz="1800" b="1" dirty="0">
                          <a:solidFill>
                            <a:srgbClr val="FFFFFF"/>
                          </a:solidFill>
                          <a:latin typeface="Arial"/>
                          <a:cs typeface="Arial"/>
                        </a:rPr>
                        <a:t>T</a:t>
                      </a:r>
                    </a:p>
                  </a:txBody>
                  <a:tcPr marL="73152" marR="73152" marT="45720" marB="45720" anchor="ctr">
                    <a:solidFill>
                      <a:srgbClr val="8A99A3"/>
                    </a:solidFill>
                  </a:tcPr>
                </a:tc>
              </a:tr>
              <a:tr h="934400">
                <a:tc>
                  <a:txBody>
                    <a:bodyPr/>
                    <a:lstStyle/>
                    <a:p>
                      <a:pPr algn="l"/>
                      <a:r>
                        <a:rPr lang="en-US" sz="1800" b="1" dirty="0">
                          <a:solidFill>
                            <a:srgbClr val="000000"/>
                          </a:solidFill>
                          <a:latin typeface="Arial"/>
                          <a:cs typeface="Arial"/>
                        </a:rPr>
                        <a:t>Điều trị (PICO)</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Người lớn thở máy tại ICU</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Bảng kiểm đầu giường 2 lần/ngày</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Chăm sóc thường quy</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Viêm phổi liên quan thở máy</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Ngày 28 tại ICU</a:t>
                      </a:r>
                    </a:p>
                  </a:txBody>
                  <a:tcPr marL="73152" marR="73152" marT="45720" marB="45720" anchor="ctr">
                    <a:solidFill>
                      <a:srgbClr val="FFFFFF"/>
                    </a:solidFill>
                  </a:tcPr>
                </a:tc>
              </a:tr>
              <a:tr h="934400">
                <a:tc>
                  <a:txBody>
                    <a:bodyPr/>
                    <a:lstStyle/>
                    <a:p>
                      <a:pPr algn="l"/>
                      <a:r>
                        <a:rPr lang="en-US" sz="1800" b="1" dirty="0">
                          <a:solidFill>
                            <a:srgbClr val="000000"/>
                          </a:solidFill>
                          <a:latin typeface="Arial"/>
                          <a:cs typeface="Arial"/>
                        </a:rPr>
                        <a:t>Yếu tố nguy cơ (PECO)</a:t>
                      </a:r>
                    </a:p>
                    <a:p>
                      <a:pPr algn="l"/>
                      <a:r>
                        <a:rPr lang="en-US" sz="1800" b="1" dirty="0">
                          <a:solidFill>
                            <a:srgbClr val="000000"/>
                          </a:solidFill>
                          <a:latin typeface="Arial"/>
                          <a:cs typeface="Arial"/>
                        </a:rPr>
                        <a:t>E = Phơi nhiễm</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Người lớn tại khoa nội</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Béo phì (BMI ≥30)</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BMI dưới 30</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Tổn thương do tì đè mới</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Trong thời gian nằm viện</a:t>
                      </a:r>
                    </a:p>
                  </a:txBody>
                  <a:tcPr marL="73152" marR="73152" marT="45720" marB="45720" anchor="ctr">
                    <a:solidFill>
                      <a:srgbClr val="F5F9FA"/>
                    </a:solidFill>
                  </a:tcPr>
                </a:tc>
              </a:tr>
              <a:tr h="934400">
                <a:tc>
                  <a:txBody>
                    <a:bodyPr/>
                    <a:lstStyle/>
                    <a:p>
                      <a:pPr algn="l"/>
                      <a:r>
                        <a:rPr lang="en-US" sz="1800" b="1" dirty="0">
                          <a:solidFill>
                            <a:srgbClr val="000000"/>
                          </a:solidFill>
                          <a:latin typeface="Arial"/>
                          <a:cs typeface="Arial"/>
                        </a:rPr>
                        <a:t>Bao nhiêu? (P + O)</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Người ≥65 tuổi sau mổ gãy cổ xương đùi</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Mê sảng</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7 ngày đầu</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PECO: E = Phơi nhiễm (Exposure), dùng khi không thể chủ động phân bổ yếu tố đó (ví dụ béo phì).</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hiểu bài: tìm PICO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hỏi của Bài báo 1: 'Ở người lớn bị sốc nhiễm khuẩn trong 24 giờ đầu dùng thuốc vận mạch, hạn chế dịch không nhằm hồi sức, so với chăm sóc thường quy, có làm giảm cân bằng dịch tích lũy ngày 5 không?'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Bình chọn: những từ nào là kết cục (O)?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Sau đó hai ba người nói đối tượng (P)</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Các lựa chọn</a:t>
            </a:r>
          </a:p>
          <a:p>
            <a:pPr marL="0" indent="0" algn="ctr">
              <a:lnSpc>
                <a:spcPct val="104000"/>
              </a:lnSpc>
              <a:spcBef>
                <a:spcPts val="300"/>
              </a:spcBef>
              <a:buNone/>
            </a:pPr>
            <a:r>
              <a:rPr lang="en-US" sz="1500" dirty="0">
                <a:solidFill>
                  <a:srgbClr val="000000"/>
                </a:solidFill>
                <a:latin typeface="Arial"/>
                <a:cs typeface="Arial"/>
              </a:rPr>
              <a:t>A: sốc nhiễm khuẩn</a:t>
            </a:r>
          </a:p>
          <a:p>
            <a:pPr marL="0" indent="0" algn="ctr">
              <a:lnSpc>
                <a:spcPct val="104000"/>
              </a:lnSpc>
              <a:spcBef>
                <a:spcPts val="300"/>
              </a:spcBef>
              <a:buNone/>
            </a:pPr>
            <a:r>
              <a:rPr lang="en-US" sz="1500" dirty="0">
                <a:solidFill>
                  <a:srgbClr val="000000"/>
                </a:solidFill>
                <a:latin typeface="Arial"/>
                <a:cs typeface="Arial"/>
              </a:rPr>
              <a:t>B: hạn chế dịch không nhằm hồi sức</a:t>
            </a:r>
          </a:p>
          <a:p>
            <a:pPr marL="0" indent="0" algn="ctr">
              <a:lnSpc>
                <a:spcPct val="104000"/>
              </a:lnSpc>
              <a:spcBef>
                <a:spcPts val="300"/>
              </a:spcBef>
              <a:buNone/>
            </a:pPr>
            <a:r>
              <a:rPr lang="en-US" sz="1500" dirty="0">
                <a:solidFill>
                  <a:srgbClr val="000000"/>
                </a:solidFill>
                <a:latin typeface="Arial"/>
                <a:cs typeface="Arial"/>
              </a:rPr>
              <a:t>C: cân bằng dịch tích lũy</a:t>
            </a:r>
          </a:p>
          <a:p>
            <a:pPr marL="0" indent="0" algn="ctr">
              <a:lnSpc>
                <a:spcPct val="104000"/>
              </a:lnSpc>
              <a:spcBef>
                <a:spcPts val="300"/>
              </a:spcBef>
              <a:buNone/>
            </a:pPr>
            <a:r>
              <a:rPr lang="en-US" sz="1500" dirty="0">
                <a:solidFill>
                  <a:srgbClr val="000000"/>
                </a:solidFill>
                <a:latin typeface="Arial"/>
                <a:cs typeface="Arial"/>
              </a:rPr>
              <a:t>D: ngày 5</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Kết quả bình chọn, rồi nói P thành lời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Đáp án: PICO trong câu hỏi của Bài báo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98256"/>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a:t>
            </a:r>
          </a:p>
        </p:txBody>
      </p:sp>
      <p:sp>
        <p:nvSpPr>
          <p:cNvPr id="71" name="CardBody"/>
          <p:cNvSpPr/>
          <p:nvPr/>
        </p:nvSpPr>
        <p:spPr>
          <a:xfrm>
            <a:off x="45720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Người lớn bị sốc nhiễm khuẩn</a:t>
            </a:r>
          </a:p>
          <a:p>
            <a:pPr marL="0" indent="0" algn="ctr">
              <a:lnSpc>
                <a:spcPct val="104000"/>
              </a:lnSpc>
              <a:spcBef>
                <a:spcPts val="400"/>
              </a:spcBef>
              <a:buNone/>
            </a:pPr>
            <a:r>
              <a:rPr lang="en-US" sz="1450" dirty="0">
                <a:solidFill>
                  <a:srgbClr val="000000"/>
                </a:solidFill>
                <a:latin typeface="Arial"/>
                <a:cs typeface="Arial"/>
              </a:rPr>
              <a:t>Trong 24 giờ đầu dùng thuốc vận mạch</a:t>
            </a:r>
          </a:p>
        </p:txBody>
      </p:sp>
      <p:sp>
        <p:nvSpPr>
          <p:cNvPr id="72" name="CardHead"/>
          <p:cNvSpPr/>
          <p:nvPr/>
        </p:nvSpPr>
        <p:spPr>
          <a:xfrm>
            <a:off x="2752720" y="1898256"/>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a:t>
            </a:r>
          </a:p>
        </p:txBody>
      </p:sp>
      <p:sp>
        <p:nvSpPr>
          <p:cNvPr id="73" name="CardBody"/>
          <p:cNvSpPr/>
          <p:nvPr/>
        </p:nvSpPr>
        <p:spPr>
          <a:xfrm>
            <a:off x="275272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Hạn chế dịch không nhằm hồi sức</a:t>
            </a:r>
          </a:p>
        </p:txBody>
      </p:sp>
      <p:sp>
        <p:nvSpPr>
          <p:cNvPr id="74" name="CardHead"/>
          <p:cNvSpPr/>
          <p:nvPr/>
        </p:nvSpPr>
        <p:spPr>
          <a:xfrm>
            <a:off x="5048240" y="1898256"/>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a:t>
            </a:r>
          </a:p>
        </p:txBody>
      </p:sp>
      <p:sp>
        <p:nvSpPr>
          <p:cNvPr id="75" name="CardBody"/>
          <p:cNvSpPr/>
          <p:nvPr/>
        </p:nvSpPr>
        <p:spPr>
          <a:xfrm>
            <a:off x="504824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Chăm sóc thường quy</a:t>
            </a:r>
          </a:p>
        </p:txBody>
      </p:sp>
      <p:sp>
        <p:nvSpPr>
          <p:cNvPr id="76" name="CardHead"/>
          <p:cNvSpPr/>
          <p:nvPr/>
        </p:nvSpPr>
        <p:spPr>
          <a:xfrm>
            <a:off x="7343760" y="1898256"/>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a:t>
            </a:r>
          </a:p>
        </p:txBody>
      </p:sp>
      <p:sp>
        <p:nvSpPr>
          <p:cNvPr id="77" name="CardBody"/>
          <p:cNvSpPr/>
          <p:nvPr/>
        </p:nvSpPr>
        <p:spPr>
          <a:xfrm>
            <a:off x="734376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Cân bằng dịch tích lũy</a:t>
            </a:r>
          </a:p>
        </p:txBody>
      </p:sp>
      <p:sp>
        <p:nvSpPr>
          <p:cNvPr id="78" name="CardHead"/>
          <p:cNvSpPr/>
          <p:nvPr/>
        </p:nvSpPr>
        <p:spPr>
          <a:xfrm>
            <a:off x="9639280" y="1898256"/>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a:t>
            </a:r>
          </a:p>
        </p:txBody>
      </p:sp>
      <p:sp>
        <p:nvSpPr>
          <p:cNvPr id="79" name="CardBody"/>
          <p:cNvSpPr/>
          <p:nvPr/>
        </p:nvSpPr>
        <p:spPr>
          <a:xfrm>
            <a:off x="963928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Ngày 5</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Tình trạng khiến người bệnh vào nghiên cứu (sốc nhiễm khuẩn) thuộc P, không phải 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Hai nhóm câu hỏi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hỏi quyết định thiết kế (học kỹ ở Buổi 3).</a:t>
            </a:r>
          </a:p>
        </p:txBody>
      </p:sp>
      <p:sp>
        <p:nvSpPr>
          <p:cNvPr id="70" name="CardHead"/>
          <p:cNvSpPr/>
          <p:nvPr/>
        </p:nvSpPr>
        <p:spPr>
          <a:xfrm>
            <a:off x="457200" y="201855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Mô tả</a:t>
            </a:r>
          </a:p>
        </p:txBody>
      </p:sp>
      <p:sp>
        <p:nvSpPr>
          <p:cNvPr id="71" name="CardBody"/>
          <p:cNvSpPr/>
          <p:nvPr/>
        </p:nvSpPr>
        <p:spPr>
          <a:xfrm>
            <a:off x="457200"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Cái gì? Bao nhiêu? Ai?</a:t>
            </a:r>
          </a:p>
          <a:p>
            <a:pPr marL="0" indent="0" algn="ctr">
              <a:lnSpc>
                <a:spcPct val="104000"/>
              </a:lnSpc>
              <a:spcBef>
                <a:spcPts val="400"/>
              </a:spcBef>
              <a:buNone/>
            </a:pPr>
            <a:r>
              <a:rPr lang="en-US" sz="1750" dirty="0">
                <a:solidFill>
                  <a:srgbClr val="000000"/>
                </a:solidFill>
                <a:latin typeface="Arial"/>
                <a:cs typeface="Arial"/>
              </a:rPr>
              <a:t>"Bao nhiêu người bệnh sốc nhiễm khuẩn của khoa có cân bằng dịch dương vào ngày 3?"</a:t>
            </a:r>
          </a:p>
          <a:p>
            <a:pPr marL="0" indent="0" algn="ctr">
              <a:lnSpc>
                <a:spcPct val="104000"/>
              </a:lnSpc>
              <a:spcBef>
                <a:spcPts val="400"/>
              </a:spcBef>
              <a:buNone/>
            </a:pPr>
            <a:r>
              <a:rPr lang="en-US" sz="1750" b="1" dirty="0">
                <a:solidFill>
                  <a:srgbClr val="000000"/>
                </a:solidFill>
                <a:latin typeface="Arial"/>
                <a:cs typeface="Arial"/>
              </a:rPr>
              <a:t>Loạt ca, cắt ngang</a:t>
            </a:r>
          </a:p>
        </p:txBody>
      </p:sp>
      <p:sp>
        <p:nvSpPr>
          <p:cNvPr id="72" name="CardHead"/>
          <p:cNvSpPr/>
          <p:nvPr/>
        </p:nvSpPr>
        <p:spPr>
          <a:xfrm>
            <a:off x="4283066" y="20185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Phân tích: quan sát</a:t>
            </a:r>
          </a:p>
        </p:txBody>
      </p:sp>
      <p:sp>
        <p:nvSpPr>
          <p:cNvPr id="73" name="CardBody"/>
          <p:cNvSpPr/>
          <p:nvPr/>
        </p:nvSpPr>
        <p:spPr>
          <a:xfrm>
            <a:off x="4283066"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X có liên quan tới Y?</a:t>
            </a:r>
          </a:p>
          <a:p>
            <a:pPr marL="0" indent="0" algn="ctr">
              <a:lnSpc>
                <a:spcPct val="104000"/>
              </a:lnSpc>
              <a:spcBef>
                <a:spcPts val="400"/>
              </a:spcBef>
              <a:buNone/>
            </a:pPr>
            <a:r>
              <a:rPr lang="en-US" sz="1750" dirty="0">
                <a:solidFill>
                  <a:srgbClr val="000000"/>
                </a:solidFill>
                <a:latin typeface="Arial"/>
                <a:cs typeface="Arial"/>
              </a:rPr>
              <a:t>"Cân bằng dịch dương có liên quan tới tử vong không?"</a:t>
            </a:r>
          </a:p>
          <a:p>
            <a:pPr marL="0" indent="0" algn="ctr">
              <a:lnSpc>
                <a:spcPct val="104000"/>
              </a:lnSpc>
              <a:spcBef>
                <a:spcPts val="400"/>
              </a:spcBef>
              <a:buNone/>
            </a:pPr>
            <a:r>
              <a:rPr lang="en-US" sz="1750" b="1" dirty="0">
                <a:solidFill>
                  <a:srgbClr val="000000"/>
                </a:solidFill>
                <a:latin typeface="Arial"/>
                <a:cs typeface="Arial"/>
              </a:rPr>
              <a:t>Thuần tập, bệnh-chứng</a:t>
            </a:r>
          </a:p>
        </p:txBody>
      </p:sp>
      <p:sp>
        <p:nvSpPr>
          <p:cNvPr id="74" name="CardHead"/>
          <p:cNvSpPr/>
          <p:nvPr/>
        </p:nvSpPr>
        <p:spPr>
          <a:xfrm>
            <a:off x="8108932" y="2018552"/>
            <a:ext cx="3625866"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Phân tích: can thiệp</a:t>
            </a:r>
          </a:p>
        </p:txBody>
      </p:sp>
      <p:sp>
        <p:nvSpPr>
          <p:cNvPr id="75" name="CardBody"/>
          <p:cNvSpPr/>
          <p:nvPr/>
        </p:nvSpPr>
        <p:spPr>
          <a:xfrm>
            <a:off x="8108932"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X có gây ra Y?</a:t>
            </a:r>
          </a:p>
          <a:p>
            <a:pPr marL="0" indent="0" algn="ctr">
              <a:lnSpc>
                <a:spcPct val="104000"/>
              </a:lnSpc>
              <a:spcBef>
                <a:spcPts val="400"/>
              </a:spcBef>
              <a:buNone/>
            </a:pPr>
            <a:r>
              <a:rPr lang="en-US" sz="1750" dirty="0">
                <a:solidFill>
                  <a:srgbClr val="000000"/>
                </a:solidFill>
                <a:latin typeface="Arial"/>
                <a:cs typeface="Arial"/>
              </a:rPr>
              <a:t>"Hạn chế dịch có làm giảm tử vong 28 ngày không?"</a:t>
            </a:r>
          </a:p>
          <a:p>
            <a:pPr marL="0" indent="0" algn="ctr">
              <a:lnSpc>
                <a:spcPct val="104000"/>
              </a:lnSpc>
              <a:spcBef>
                <a:spcPts val="400"/>
              </a:spcBef>
              <a:buNone/>
            </a:pPr>
            <a:r>
              <a:rPr lang="en-US" sz="1750" b="1" dirty="0">
                <a:solidFill>
                  <a:srgbClr val="000000"/>
                </a:solidFill>
                <a:latin typeface="Arial"/>
                <a:cs typeface="Arial"/>
              </a:rPr>
              <a:t>Thử nghiệm ngẫu nhiên có đối chứng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Câu hỏi mô tả để mô tả. Câu hỏi phân tích để so sánh hoặc kiểm định nguyên nhân.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băn khoăn mơ hồ đến câu hỏi trả lời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35249"/>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Mơ hồ</a:t>
            </a:r>
          </a:p>
        </p:txBody>
      </p:sp>
      <p:sp>
        <p:nvSpPr>
          <p:cNvPr id="71" name="CardBody"/>
          <p:cNvSpPr/>
          <p:nvPr/>
        </p:nvSpPr>
        <p:spPr>
          <a:xfrm>
            <a:off x="4572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b="1" dirty="0">
                <a:solidFill>
                  <a:srgbClr val="000000"/>
                </a:solidFill>
                <a:latin typeface="Arial"/>
                <a:cs typeface="Arial"/>
              </a:rPr>
              <a:t>"Truyền dịch có hại cho người bệnh ICU không?"</a:t>
            </a:r>
          </a:p>
          <a:p>
            <a:pPr marL="0" indent="0" algn="ctr">
              <a:lnSpc>
                <a:spcPct val="104000"/>
              </a:lnSpc>
              <a:spcBef>
                <a:spcPts val="400"/>
              </a:spcBef>
              <a:buNone/>
            </a:pPr>
            <a:r>
              <a:rPr lang="en-US" sz="1950" dirty="0">
                <a:solidFill>
                  <a:srgbClr val="000000"/>
                </a:solidFill>
                <a:latin typeface="Arial"/>
                <a:cs typeface="Arial"/>
              </a:rPr>
              <a:t>Người bệnh nào?</a:t>
            </a:r>
          </a:p>
          <a:p>
            <a:pPr marL="0" indent="0" algn="ctr">
              <a:lnSpc>
                <a:spcPct val="104000"/>
              </a:lnSpc>
              <a:spcBef>
                <a:spcPts val="400"/>
              </a:spcBef>
              <a:buNone/>
            </a:pPr>
            <a:r>
              <a:rPr lang="en-US" sz="1950" dirty="0">
                <a:solidFill>
                  <a:srgbClr val="000000"/>
                </a:solidFill>
                <a:latin typeface="Arial"/>
                <a:cs typeface="Arial"/>
              </a:rPr>
              <a:t>Dịch gì, bao nhiêu?</a:t>
            </a:r>
          </a:p>
          <a:p>
            <a:pPr marL="0" indent="0" algn="ctr">
              <a:lnSpc>
                <a:spcPct val="104000"/>
              </a:lnSpc>
              <a:spcBef>
                <a:spcPts val="400"/>
              </a:spcBef>
              <a:buNone/>
            </a:pPr>
            <a:r>
              <a:rPr lang="en-US" sz="1950" dirty="0">
                <a:solidFill>
                  <a:srgbClr val="000000"/>
                </a:solidFill>
                <a:latin typeface="Arial"/>
                <a:cs typeface="Arial"/>
              </a:rPr>
              <a:t>Có hại so với cái gì?</a:t>
            </a:r>
          </a:p>
          <a:p>
            <a:pPr marL="0" indent="0" algn="ctr">
              <a:lnSpc>
                <a:spcPct val="104000"/>
              </a:lnSpc>
              <a:spcBef>
                <a:spcPts val="400"/>
              </a:spcBef>
              <a:buNone/>
            </a:pPr>
            <a:r>
              <a:rPr lang="en-US" sz="1950" dirty="0">
                <a:solidFill>
                  <a:srgbClr val="000000"/>
                </a:solidFill>
                <a:latin typeface="Arial"/>
                <a:cs typeface="Arial"/>
              </a:rPr>
              <a:t>Hại thế nào? Khi nào?</a:t>
            </a:r>
          </a:p>
        </p:txBody>
      </p:sp>
      <p:sp>
        <p:nvSpPr>
          <p:cNvPr id="72" name="CardHead"/>
          <p:cNvSpPr/>
          <p:nvPr/>
        </p:nvSpPr>
        <p:spPr>
          <a:xfrm>
            <a:off x="6196000" y="1535249"/>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Trả lời được, nhờ PICO</a:t>
            </a:r>
          </a:p>
        </p:txBody>
      </p:sp>
      <p:sp>
        <p:nvSpPr>
          <p:cNvPr id="73" name="CardBody"/>
          <p:cNvSpPr/>
          <p:nvPr/>
        </p:nvSpPr>
        <p:spPr>
          <a:xfrm>
            <a:off x="61960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dirty="0">
                <a:solidFill>
                  <a:srgbClr val="000000"/>
                </a:solidFill>
                <a:latin typeface="Arial"/>
                <a:cs typeface="Arial"/>
              </a:rPr>
              <a:t>P: Ở người lớn bị sốc nhiễm khuẩn tại ICU,</a:t>
            </a:r>
          </a:p>
          <a:p>
            <a:pPr marL="0" indent="0" algn="ctr">
              <a:lnSpc>
                <a:spcPct val="104000"/>
              </a:lnSpc>
              <a:spcBef>
                <a:spcPts val="400"/>
              </a:spcBef>
              <a:buNone/>
            </a:pPr>
            <a:r>
              <a:rPr lang="en-US" sz="1950" dirty="0">
                <a:solidFill>
                  <a:srgbClr val="000000"/>
                </a:solidFill>
                <a:latin typeface="Arial"/>
                <a:cs typeface="Arial"/>
              </a:rPr>
              <a:t>I: chiến lược hạn chế dịch,</a:t>
            </a:r>
          </a:p>
          <a:p>
            <a:pPr marL="0" indent="0" algn="ctr">
              <a:lnSpc>
                <a:spcPct val="104000"/>
              </a:lnSpc>
              <a:spcBef>
                <a:spcPts val="400"/>
              </a:spcBef>
              <a:buNone/>
            </a:pPr>
            <a:r>
              <a:rPr lang="en-US" sz="1950" dirty="0">
                <a:solidFill>
                  <a:srgbClr val="000000"/>
                </a:solidFill>
                <a:latin typeface="Arial"/>
                <a:cs typeface="Arial"/>
              </a:rPr>
              <a:t>C: so với chăm sóc thường quy,</a:t>
            </a:r>
          </a:p>
          <a:p>
            <a:pPr marL="0" indent="0" algn="ctr">
              <a:lnSpc>
                <a:spcPct val="104000"/>
              </a:lnSpc>
              <a:spcBef>
                <a:spcPts val="400"/>
              </a:spcBef>
              <a:buNone/>
            </a:pPr>
            <a:r>
              <a:rPr lang="en-US" sz="1950" dirty="0">
                <a:solidFill>
                  <a:srgbClr val="000000"/>
                </a:solidFill>
                <a:latin typeface="Arial"/>
                <a:cs typeface="Arial"/>
              </a:rPr>
              <a:t>O: có làm giảm tử vong</a:t>
            </a:r>
          </a:p>
          <a:p>
            <a:pPr marL="0" indent="0" algn="ctr">
              <a:lnSpc>
                <a:spcPct val="104000"/>
              </a:lnSpc>
              <a:spcBef>
                <a:spcPts val="400"/>
              </a:spcBef>
              <a:buNone/>
            </a:pPr>
            <a:r>
              <a:rPr lang="en-US" sz="1950" dirty="0">
                <a:solidFill>
                  <a:srgbClr val="000000"/>
                </a:solidFill>
                <a:latin typeface="Arial"/>
                <a:cs typeface="Arial"/>
              </a:rPr>
              <a:t>T: 28 ngày không?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chưa điền đủ các ô PICO, câu hỏi chưa sẵn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FINER: câu hỏi có đáng hỏi không?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Kiểm tra mọi câu hỏi với năm tiêu chí trước khi bỏ thời gian vào nó.</a:t>
            </a:r>
          </a:p>
        </p:txBody>
      </p:sp>
      <p:sp>
        <p:nvSpPr>
          <p:cNvPr id="70" name="CardHead"/>
          <p:cNvSpPr/>
          <p:nvPr/>
        </p:nvSpPr>
        <p:spPr>
          <a:xfrm>
            <a:off x="457200" y="2080994"/>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F  Khả thi</a:t>
            </a:r>
          </a:p>
        </p:txBody>
      </p:sp>
      <p:sp>
        <p:nvSpPr>
          <p:cNvPr id="71" name="CardBody"/>
          <p:cNvSpPr/>
          <p:nvPr/>
        </p:nvSpPr>
        <p:spPr>
          <a:xfrm>
            <a:off x="457200" y="2720994"/>
            <a:ext cx="2095520" cy="16870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(Feasible)</a:t>
            </a:r>
          </a:p>
          <a:p>
            <a:pPr marL="0" indent="0" algn="ctr">
              <a:lnSpc>
                <a:spcPct val="104000"/>
              </a:lnSpc>
              <a:spcBef>
                <a:spcPts val="400"/>
              </a:spcBef>
              <a:buNone/>
            </a:pPr>
            <a:r>
              <a:rPr lang="en-US" sz="1450" dirty="0">
                <a:solidFill>
                  <a:srgbClr val="000000"/>
                </a:solidFill>
                <a:latin typeface="Arial"/>
                <a:cs typeface="Arial"/>
              </a:rPr>
              <a:t>Đủ người bệnh</a:t>
            </a:r>
          </a:p>
          <a:p>
            <a:pPr marL="0" indent="0" algn="ctr">
              <a:lnSpc>
                <a:spcPct val="104000"/>
              </a:lnSpc>
              <a:spcBef>
                <a:spcPts val="400"/>
              </a:spcBef>
              <a:buNone/>
            </a:pPr>
            <a:r>
              <a:rPr lang="en-US" sz="1450" dirty="0">
                <a:solidFill>
                  <a:srgbClr val="000000"/>
                </a:solidFill>
                <a:latin typeface="Arial"/>
                <a:cs typeface="Arial"/>
              </a:rPr>
              <a:t>Thời gian, kinh phí và kỹ năng</a:t>
            </a:r>
          </a:p>
          <a:p>
            <a:pPr marL="0" indent="0" algn="ctr">
              <a:lnSpc>
                <a:spcPct val="104000"/>
              </a:lnSpc>
              <a:spcBef>
                <a:spcPts val="400"/>
              </a:spcBef>
              <a:buNone/>
            </a:pPr>
            <a:r>
              <a:rPr lang="en-US" sz="1450" dirty="0">
                <a:solidFill>
                  <a:srgbClr val="000000"/>
                </a:solidFill>
                <a:latin typeface="Arial"/>
                <a:cs typeface="Arial"/>
              </a:rPr>
              <a:t>Lấy được dữ liệu</a:t>
            </a:r>
          </a:p>
        </p:txBody>
      </p:sp>
      <p:sp>
        <p:nvSpPr>
          <p:cNvPr id="72" name="CardHead"/>
          <p:cNvSpPr/>
          <p:nvPr/>
        </p:nvSpPr>
        <p:spPr>
          <a:xfrm>
            <a:off x="2752720" y="2080994"/>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  Thú vị</a:t>
            </a:r>
          </a:p>
        </p:txBody>
      </p:sp>
      <p:sp>
        <p:nvSpPr>
          <p:cNvPr id="73" name="CardBody"/>
          <p:cNvSpPr/>
          <p:nvPr/>
        </p:nvSpPr>
        <p:spPr>
          <a:xfrm>
            <a:off x="2752720" y="2720994"/>
            <a:ext cx="2095520" cy="16870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(Interesting)</a:t>
            </a:r>
          </a:p>
          <a:p>
            <a:pPr marL="0" indent="0" algn="ctr">
              <a:lnSpc>
                <a:spcPct val="104000"/>
              </a:lnSpc>
              <a:spcBef>
                <a:spcPts val="400"/>
              </a:spcBef>
              <a:buNone/>
            </a:pPr>
            <a:r>
              <a:rPr lang="en-US" sz="1450" dirty="0">
                <a:solidFill>
                  <a:srgbClr val="000000"/>
                </a:solidFill>
                <a:latin typeface="Arial"/>
                <a:cs typeface="Arial"/>
              </a:rPr>
              <a:t>Với bạn và đồng nghiệp</a:t>
            </a:r>
          </a:p>
          <a:p>
            <a:pPr marL="0" indent="0" algn="ctr">
              <a:lnSpc>
                <a:spcPct val="104000"/>
              </a:lnSpc>
              <a:spcBef>
                <a:spcPts val="400"/>
              </a:spcBef>
              <a:buNone/>
            </a:pPr>
            <a:r>
              <a:rPr lang="en-US" sz="1450" dirty="0">
                <a:solidFill>
                  <a:srgbClr val="000000"/>
                </a:solidFill>
                <a:latin typeface="Arial"/>
                <a:cs typeface="Arial"/>
              </a:rPr>
              <a:t>Với người đọc</a:t>
            </a:r>
          </a:p>
        </p:txBody>
      </p:sp>
      <p:sp>
        <p:nvSpPr>
          <p:cNvPr id="74" name="CardHead"/>
          <p:cNvSpPr/>
          <p:nvPr/>
        </p:nvSpPr>
        <p:spPr>
          <a:xfrm>
            <a:off x="5048240" y="2080994"/>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  Mới</a:t>
            </a:r>
          </a:p>
        </p:txBody>
      </p:sp>
      <p:sp>
        <p:nvSpPr>
          <p:cNvPr id="75" name="CardBody"/>
          <p:cNvSpPr/>
          <p:nvPr/>
        </p:nvSpPr>
        <p:spPr>
          <a:xfrm>
            <a:off x="5048240" y="2720994"/>
            <a:ext cx="2095520" cy="16870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(Novel)</a:t>
            </a:r>
          </a:p>
          <a:p>
            <a:pPr marL="0" indent="0" algn="ctr">
              <a:lnSpc>
                <a:spcPct val="104000"/>
              </a:lnSpc>
              <a:spcBef>
                <a:spcPts val="400"/>
              </a:spcBef>
              <a:buNone/>
            </a:pPr>
            <a:r>
              <a:rPr lang="en-US" sz="1450" dirty="0">
                <a:solidFill>
                  <a:srgbClr val="000000"/>
                </a:solidFill>
                <a:latin typeface="Arial"/>
                <a:cs typeface="Arial"/>
              </a:rPr>
              <a:t>Khẳng định, bác bỏ hoặc mở rộng điều đã biết</a:t>
            </a:r>
          </a:p>
        </p:txBody>
      </p:sp>
      <p:sp>
        <p:nvSpPr>
          <p:cNvPr id="76" name="CardHead"/>
          <p:cNvSpPr/>
          <p:nvPr/>
        </p:nvSpPr>
        <p:spPr>
          <a:xfrm>
            <a:off x="7343760" y="2080994"/>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E  Đạo đức</a:t>
            </a:r>
          </a:p>
        </p:txBody>
      </p:sp>
      <p:sp>
        <p:nvSpPr>
          <p:cNvPr id="77" name="CardBody"/>
          <p:cNvSpPr/>
          <p:nvPr/>
        </p:nvSpPr>
        <p:spPr>
          <a:xfrm>
            <a:off x="7343760" y="2720994"/>
            <a:ext cx="2095520" cy="16870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(Ethical)</a:t>
            </a:r>
          </a:p>
          <a:p>
            <a:pPr marL="0" indent="0" algn="ctr">
              <a:lnSpc>
                <a:spcPct val="104000"/>
              </a:lnSpc>
              <a:spcBef>
                <a:spcPts val="400"/>
              </a:spcBef>
              <a:buNone/>
            </a:pPr>
            <a:r>
              <a:rPr lang="en-US" sz="1450" dirty="0">
                <a:solidFill>
                  <a:srgbClr val="000000"/>
                </a:solidFill>
                <a:latin typeface="Arial"/>
                <a:cs typeface="Arial"/>
              </a:rPr>
              <a:t>Hội đồng đạo đức có thể phê duyệt</a:t>
            </a:r>
          </a:p>
        </p:txBody>
      </p:sp>
      <p:sp>
        <p:nvSpPr>
          <p:cNvPr id="78" name="CardHead"/>
          <p:cNvSpPr/>
          <p:nvPr/>
        </p:nvSpPr>
        <p:spPr>
          <a:xfrm>
            <a:off x="9639280" y="2080994"/>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R  Phù hợp</a:t>
            </a:r>
          </a:p>
        </p:txBody>
      </p:sp>
      <p:sp>
        <p:nvSpPr>
          <p:cNvPr id="79" name="CardBody"/>
          <p:cNvSpPr/>
          <p:nvPr/>
        </p:nvSpPr>
        <p:spPr>
          <a:xfrm>
            <a:off x="9639280" y="2720994"/>
            <a:ext cx="2095520" cy="16870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(Relevant)</a:t>
            </a:r>
          </a:p>
          <a:p>
            <a:pPr marL="0" indent="0" algn="ctr">
              <a:lnSpc>
                <a:spcPct val="104000"/>
              </a:lnSpc>
              <a:spcBef>
                <a:spcPts val="400"/>
              </a:spcBef>
              <a:buNone/>
            </a:pPr>
            <a:r>
              <a:rPr lang="en-US" sz="1450" dirty="0">
                <a:solidFill>
                  <a:srgbClr val="000000"/>
                </a:solidFill>
                <a:latin typeface="Arial"/>
                <a:cs typeface="Arial"/>
              </a:rPr>
              <a:t>Có thể thay đổi thực hành, chính sách hay nghiên cứu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câu hỏi trượt một tiêu chí, hãy viết lại trước khi đi tiếp.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FINER cho ví dụ xuyên suốt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Hạn chế dịch so với thường quy trong sốc nhiễm khuẩn: tử vong 28 ngày, tại chính ICU của bạn.</a:t>
            </a:r>
          </a:p>
        </p:txBody>
      </p:sp>
      <p:sp>
        <p:nvSpPr>
          <p:cNvPr id="70" name="CardHead"/>
          <p:cNvSpPr/>
          <p:nvPr/>
        </p:nvSpPr>
        <p:spPr>
          <a:xfrm>
            <a:off x="457200" y="2097927"/>
            <a:ext cx="209552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F  Khả thi</a:t>
            </a:r>
          </a:p>
        </p:txBody>
      </p:sp>
      <p:sp>
        <p:nvSpPr>
          <p:cNvPr id="71" name="CardBody"/>
          <p:cNvSpPr/>
          <p:nvPr/>
        </p:nvSpPr>
        <p:spPr>
          <a:xfrm>
            <a:off x="45720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B23B2E"/>
                </a:solidFill>
                <a:latin typeface="Arial"/>
                <a:cs typeface="Arial"/>
              </a:rPr>
              <a:t>Đỏ</a:t>
            </a:r>
          </a:p>
          <a:p>
            <a:pPr marL="0" indent="0" algn="ctr">
              <a:lnSpc>
                <a:spcPct val="104000"/>
              </a:lnSpc>
              <a:spcBef>
                <a:spcPts val="400"/>
              </a:spcBef>
              <a:buNone/>
            </a:pPr>
            <a:r>
              <a:rPr lang="en-US" sz="1450" dirty="0">
                <a:solidFill>
                  <a:srgbClr val="000000"/>
                </a:solidFill>
                <a:latin typeface="Arial"/>
                <a:cs typeface="Arial"/>
              </a:rPr>
              <a:t>Tử vong cần hơn 1000 người bệnh</a:t>
            </a:r>
          </a:p>
          <a:p>
            <a:pPr marL="0" indent="0" algn="ctr">
              <a:lnSpc>
                <a:spcPct val="104000"/>
              </a:lnSpc>
              <a:spcBef>
                <a:spcPts val="400"/>
              </a:spcBef>
              <a:buNone/>
            </a:pPr>
            <a:r>
              <a:rPr lang="en-US" sz="1450" dirty="0">
                <a:solidFill>
                  <a:srgbClr val="000000"/>
                </a:solidFill>
                <a:latin typeface="Arial"/>
                <a:cs typeface="Arial"/>
              </a:rPr>
              <a:t>Quá lớn với một ICU</a:t>
            </a:r>
          </a:p>
        </p:txBody>
      </p:sp>
      <p:sp>
        <p:nvSpPr>
          <p:cNvPr id="72" name="CardHead"/>
          <p:cNvSpPr/>
          <p:nvPr/>
        </p:nvSpPr>
        <p:spPr>
          <a:xfrm>
            <a:off x="2752720" y="2097927"/>
            <a:ext cx="209552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  Thú vị</a:t>
            </a:r>
          </a:p>
        </p:txBody>
      </p:sp>
      <p:sp>
        <p:nvSpPr>
          <p:cNvPr id="73" name="CardBody"/>
          <p:cNvSpPr/>
          <p:nvPr/>
        </p:nvSpPr>
        <p:spPr>
          <a:xfrm>
            <a:off x="275272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2E8B57"/>
                </a:solidFill>
                <a:latin typeface="Arial"/>
                <a:cs typeface="Arial"/>
              </a:rPr>
              <a:t>Xanh</a:t>
            </a:r>
          </a:p>
          <a:p>
            <a:pPr marL="0" indent="0" algn="ctr">
              <a:lnSpc>
                <a:spcPct val="104000"/>
              </a:lnSpc>
              <a:spcBef>
                <a:spcPts val="400"/>
              </a:spcBef>
              <a:buNone/>
            </a:pPr>
            <a:r>
              <a:rPr lang="en-US" sz="1450" dirty="0">
                <a:solidFill>
                  <a:srgbClr val="000000"/>
                </a:solidFill>
                <a:latin typeface="Arial"/>
                <a:cs typeface="Arial"/>
              </a:rPr>
              <a:t>Dịch truyền được bàn cãi ở mọi buổi đi buồng</a:t>
            </a:r>
          </a:p>
        </p:txBody>
      </p:sp>
      <p:sp>
        <p:nvSpPr>
          <p:cNvPr id="74" name="CardHead"/>
          <p:cNvSpPr/>
          <p:nvPr/>
        </p:nvSpPr>
        <p:spPr>
          <a:xfrm>
            <a:off x="5048240" y="2097927"/>
            <a:ext cx="2095520" cy="640000"/>
          </a:xfrm>
          <a:prstGeom prst="rect">
            <a:avLst/>
          </a:prstGeom>
          <a:solidFill>
            <a:srgbClr val="D9822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  Mới</a:t>
            </a:r>
          </a:p>
        </p:txBody>
      </p:sp>
      <p:sp>
        <p:nvSpPr>
          <p:cNvPr id="75" name="CardBody"/>
          <p:cNvSpPr/>
          <p:nvPr/>
        </p:nvSpPr>
        <p:spPr>
          <a:xfrm>
            <a:off x="504824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D9822B"/>
                </a:solidFill>
                <a:latin typeface="Arial"/>
                <a:cs typeface="Arial"/>
              </a:rPr>
              <a:t>Vàng</a:t>
            </a:r>
          </a:p>
          <a:p>
            <a:pPr marL="0" indent="0" algn="ctr">
              <a:lnSpc>
                <a:spcPct val="104000"/>
              </a:lnSpc>
              <a:spcBef>
                <a:spcPts val="400"/>
              </a:spcBef>
              <a:buNone/>
            </a:pPr>
            <a:r>
              <a:rPr lang="en-US" sz="1450" dirty="0">
                <a:solidFill>
                  <a:srgbClr val="000000"/>
                </a:solidFill>
                <a:latin typeface="Arial"/>
                <a:cs typeface="Arial"/>
              </a:rPr>
              <a:t>Đã có những thử nghiệm lớn</a:t>
            </a:r>
          </a:p>
        </p:txBody>
      </p:sp>
      <p:sp>
        <p:nvSpPr>
          <p:cNvPr id="76" name="CardHead"/>
          <p:cNvSpPr/>
          <p:nvPr/>
        </p:nvSpPr>
        <p:spPr>
          <a:xfrm>
            <a:off x="7343760" y="2097927"/>
            <a:ext cx="2095520" cy="640000"/>
          </a:xfrm>
          <a:prstGeom prst="rect">
            <a:avLst/>
          </a:prstGeom>
          <a:solidFill>
            <a:srgbClr val="D9822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E  Đạo đức</a:t>
            </a:r>
          </a:p>
        </p:txBody>
      </p:sp>
      <p:sp>
        <p:nvSpPr>
          <p:cNvPr id="77" name="CardBody"/>
          <p:cNvSpPr/>
          <p:nvPr/>
        </p:nvSpPr>
        <p:spPr>
          <a:xfrm>
            <a:off x="734376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D9822B"/>
                </a:solidFill>
                <a:latin typeface="Arial"/>
                <a:cs typeface="Arial"/>
              </a:rPr>
              <a:t>Vàng</a:t>
            </a:r>
          </a:p>
          <a:p>
            <a:pPr marL="0" indent="0" algn="ctr">
              <a:lnSpc>
                <a:spcPct val="104000"/>
              </a:lnSpc>
              <a:spcBef>
                <a:spcPts val="400"/>
              </a:spcBef>
              <a:buNone/>
            </a:pPr>
            <a:r>
              <a:rPr lang="en-US" sz="1450" dirty="0">
                <a:solidFill>
                  <a:srgbClr val="000000"/>
                </a:solidFill>
                <a:latin typeface="Arial"/>
                <a:cs typeface="Arial"/>
              </a:rPr>
              <a:t>Cả hai chiến lược đang được dùng</a:t>
            </a:r>
          </a:p>
          <a:p>
            <a:pPr marL="0" indent="0" algn="ctr">
              <a:lnSpc>
                <a:spcPct val="104000"/>
              </a:lnSpc>
              <a:spcBef>
                <a:spcPts val="400"/>
              </a:spcBef>
              <a:buNone/>
            </a:pPr>
            <a:r>
              <a:rPr lang="en-US" sz="1450" dirty="0">
                <a:solidFill>
                  <a:srgbClr val="000000"/>
                </a:solidFill>
                <a:latin typeface="Arial"/>
                <a:cs typeface="Arial"/>
              </a:rPr>
              <a:t>Xin đồng ý ở ICU cần thận trọng</a:t>
            </a:r>
          </a:p>
        </p:txBody>
      </p:sp>
      <p:sp>
        <p:nvSpPr>
          <p:cNvPr id="78" name="CardHead"/>
          <p:cNvSpPr/>
          <p:nvPr/>
        </p:nvSpPr>
        <p:spPr>
          <a:xfrm>
            <a:off x="9639280" y="2097927"/>
            <a:ext cx="209552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R  Phù hợp</a:t>
            </a:r>
          </a:p>
        </p:txBody>
      </p:sp>
      <p:sp>
        <p:nvSpPr>
          <p:cNvPr id="79" name="CardBody"/>
          <p:cNvSpPr/>
          <p:nvPr/>
        </p:nvSpPr>
        <p:spPr>
          <a:xfrm>
            <a:off x="963928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2E8B57"/>
                </a:solidFill>
                <a:latin typeface="Arial"/>
                <a:cs typeface="Arial"/>
              </a:rPr>
              <a:t>Xanh</a:t>
            </a:r>
          </a:p>
          <a:p>
            <a:pPr marL="0" indent="0" algn="ctr">
              <a:lnSpc>
                <a:spcPct val="104000"/>
              </a:lnSpc>
              <a:spcBef>
                <a:spcPts val="400"/>
              </a:spcBef>
              <a:buNone/>
            </a:pPr>
            <a:r>
              <a:rPr lang="en-US" sz="1450" dirty="0">
                <a:solidFill>
                  <a:srgbClr val="000000"/>
                </a:solidFill>
                <a:latin typeface="Arial"/>
                <a:cs typeface="Arial"/>
              </a:rPr>
              <a:t>Người bệnh sốc nhiễm khuẩn nào cũng được truyền dịch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Quan trọng, nhưng quá lớn với một ICU. Bước tiếp theo: thu nhỏ câu hỏi.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cả lớp: cứu ví dụ xuyên suốt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11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Mở Bài tập 1 trong phiếu bài tập Buổi 1</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Phiếu đưa ra ba phiên bản nhỏ hơn của câu hỏi: A, B và C (bên phải)</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ICU của bạn làm được phiên bản nào trong vòng hai năm?</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Với phiên bản được chọn, người được mời nói P, I hoặc E, C, O và 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Cùng nhau: gọi tên loại câu hỏi và tô màu từng chữ cái FINER</a:t>
            </a:r>
          </a:p>
        </p:txBody>
      </p:sp>
      <p:sp>
        <p:nvSpPr>
          <p:cNvPr id="52" name="Side"/>
          <p:cNvSpPr/>
          <p:nvPr/>
        </p:nvSpPr>
        <p:spPr>
          <a:xfrm>
            <a:off x="7423760" y="1720000"/>
            <a:ext cx="4311040" cy="24061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Ba phiên bản</a:t>
            </a:r>
          </a:p>
          <a:p>
            <a:pPr marL="0" indent="0" algn="ctr">
              <a:lnSpc>
                <a:spcPct val="104000"/>
              </a:lnSpc>
              <a:spcBef>
                <a:spcPts val="300"/>
              </a:spcBef>
              <a:buNone/>
            </a:pPr>
            <a:r>
              <a:rPr lang="en-US" sz="1500" dirty="0">
                <a:solidFill>
                  <a:srgbClr val="000000"/>
                </a:solidFill>
                <a:latin typeface="Arial"/>
                <a:cs typeface="Arial"/>
              </a:rPr>
              <a:t>A: quy trình hạn chế dịch so với thường quy, cân bằng dịch ngày 5 (thử nghiệm thí điểm)</a:t>
            </a:r>
          </a:p>
          <a:p>
            <a:pPr marL="0" indent="0" algn="ctr">
              <a:lnSpc>
                <a:spcPct val="104000"/>
              </a:lnSpc>
              <a:spcBef>
                <a:spcPts val="300"/>
              </a:spcBef>
              <a:buNone/>
            </a:pPr>
            <a:r>
              <a:rPr lang="en-US" sz="1500" dirty="0">
                <a:solidFill>
                  <a:srgbClr val="000000"/>
                </a:solidFill>
                <a:latin typeface="Arial"/>
                <a:cs typeface="Arial"/>
              </a:rPr>
              <a:t>B: có hay không cân bằng dịch dương đến ngày 3, tử vong đến ngày 28 (thuần tập)</a:t>
            </a:r>
          </a:p>
          <a:p>
            <a:pPr marL="0" indent="0" algn="ctr">
              <a:lnSpc>
                <a:spcPct val="104000"/>
              </a:lnSpc>
              <a:spcBef>
                <a:spcPts val="300"/>
              </a:spcBef>
              <a:buNone/>
            </a:pPr>
            <a:r>
              <a:rPr lang="en-US" sz="1500" dirty="0">
                <a:solidFill>
                  <a:srgbClr val="000000"/>
                </a:solidFill>
                <a:latin typeface="Arial"/>
                <a:cs typeface="Arial"/>
              </a:rPr>
              <a:t>C: bao nhiêu người bệnh của bạn có cân bằng dịch dương ở ngày 3? (mô tả)</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Một câu hỏi chung của lớp, có PICO(T) và màu FINER, gõ trên màn hình chia sẻ</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1.3  Mục tiêu và giả thuyết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Câu hỏi cho biết mình muốn biết gì. Mục tiêu cho biết mình sẽ làm gì.</a:t>
            </a:r>
          </a:p>
          <a:p>
            <a:pPr marL="0" indent="0" algn="ctr">
              <a:spcBef>
                <a:spcPts val="1200"/>
              </a:spcBef>
              <a:buNone/>
            </a:pPr>
            <a:r>
              <a:rPr lang="en-US" sz="1900" i="1" dirty="0">
                <a:solidFill>
                  <a:srgbClr val="595959"/>
                </a:solidFill>
                <a:latin typeface="Arial"/>
                <a:cs typeface="Arial"/>
              </a:rPr>
              <a:t>20 phút: mục tiêu tổng quát, mục tiêu cụ thể, giả thuyết và một bài tập nhanh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Mục tiêu: ví dụ xuyên suốt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69140"/>
            <a:ext cx="55388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Mục tiêu tổng quát</a:t>
            </a:r>
          </a:p>
        </p:txBody>
      </p:sp>
      <p:sp>
        <p:nvSpPr>
          <p:cNvPr id="71" name="CardBody"/>
          <p:cNvSpPr/>
          <p:nvPr/>
        </p:nvSpPr>
        <p:spPr>
          <a:xfrm>
            <a:off x="457200" y="2409140"/>
            <a:ext cx="5538800" cy="1742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00" b="1" dirty="0">
                <a:solidFill>
                  <a:srgbClr val="000000"/>
                </a:solidFill>
                <a:latin typeface="Arial"/>
                <a:cs typeface="Arial"/>
              </a:rPr>
              <a:t>Mục đích chung, trong một câu</a:t>
            </a:r>
          </a:p>
          <a:p>
            <a:pPr marL="0" indent="0" algn="ctr">
              <a:lnSpc>
                <a:spcPct val="104000"/>
              </a:lnSpc>
              <a:spcBef>
                <a:spcPts val="400"/>
              </a:spcBef>
              <a:buNone/>
            </a:pPr>
            <a:r>
              <a:rPr lang="en-US" sz="1900" dirty="0">
                <a:solidFill>
                  <a:srgbClr val="000000"/>
                </a:solidFill>
                <a:latin typeface="Arial"/>
                <a:cs typeface="Arial"/>
              </a:rPr>
              <a:t>So sánh chiến lược hạn chế dịch với chăm sóc thường quy ở người lớn bị sốc nhiễm khuẩn tại ICU</a:t>
            </a:r>
          </a:p>
        </p:txBody>
      </p:sp>
      <p:sp>
        <p:nvSpPr>
          <p:cNvPr id="72" name="CardHead"/>
          <p:cNvSpPr/>
          <p:nvPr/>
        </p:nvSpPr>
        <p:spPr>
          <a:xfrm>
            <a:off x="6196000" y="1769140"/>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Mục tiêu cụ thể</a:t>
            </a:r>
          </a:p>
        </p:txBody>
      </p:sp>
      <p:sp>
        <p:nvSpPr>
          <p:cNvPr id="73" name="CardBody"/>
          <p:cNvSpPr/>
          <p:nvPr/>
        </p:nvSpPr>
        <p:spPr>
          <a:xfrm>
            <a:off x="6196000" y="2409140"/>
            <a:ext cx="5538800" cy="1742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00" b="1" dirty="0">
                <a:solidFill>
                  <a:srgbClr val="000000"/>
                </a:solidFill>
                <a:latin typeface="Arial"/>
                <a:cs typeface="Arial"/>
              </a:rPr>
              <a:t>Việc cụ thể, với động từ đo được</a:t>
            </a:r>
          </a:p>
          <a:p>
            <a:pPr marL="0" indent="0" algn="ctr">
              <a:lnSpc>
                <a:spcPct val="104000"/>
              </a:lnSpc>
              <a:spcBef>
                <a:spcPts val="400"/>
              </a:spcBef>
              <a:buNone/>
            </a:pPr>
            <a:r>
              <a:rPr lang="en-US" sz="1900" dirty="0">
                <a:solidFill>
                  <a:srgbClr val="000000"/>
                </a:solidFill>
                <a:latin typeface="Arial"/>
                <a:cs typeface="Arial"/>
              </a:rPr>
              <a:t>Chính: so sánh tử vong 28 ngày</a:t>
            </a:r>
          </a:p>
          <a:p>
            <a:pPr marL="0" indent="0" algn="ctr">
              <a:lnSpc>
                <a:spcPct val="104000"/>
              </a:lnSpc>
              <a:spcBef>
                <a:spcPts val="400"/>
              </a:spcBef>
              <a:buNone/>
            </a:pPr>
            <a:r>
              <a:rPr lang="en-US" sz="1900" dirty="0">
                <a:solidFill>
                  <a:srgbClr val="000000"/>
                </a:solidFill>
                <a:latin typeface="Arial"/>
                <a:cs typeface="Arial"/>
              </a:rPr>
              <a:t>So sánh cân bằng dịch ngày 5</a:t>
            </a:r>
          </a:p>
          <a:p>
            <a:pPr marL="0" indent="0" algn="ctr">
              <a:lnSpc>
                <a:spcPct val="104000"/>
              </a:lnSpc>
              <a:spcBef>
                <a:spcPts val="400"/>
              </a:spcBef>
              <a:buNone/>
            </a:pPr>
            <a:r>
              <a:rPr lang="en-US" sz="1900" dirty="0">
                <a:solidFill>
                  <a:srgbClr val="000000"/>
                </a:solidFill>
                <a:latin typeface="Arial"/>
                <a:cs typeface="Arial"/>
              </a:rPr>
              <a:t>So sánh tổn thương thận cần lọc máu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Một mục tiêu tổng quát, 2-3 mục tiêu cụ thể đo được. Đánh dấu mục tiêu chính.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Mục tiêu cụ thể bắt đầu bằng động từ đo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81840"/>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Động từ mơ hồ</a:t>
            </a:r>
          </a:p>
        </p:txBody>
      </p:sp>
      <p:sp>
        <p:nvSpPr>
          <p:cNvPr id="71" name="CardBody"/>
          <p:cNvSpPr/>
          <p:nvPr/>
        </p:nvSpPr>
        <p:spPr>
          <a:xfrm>
            <a:off x="457200" y="2421840"/>
            <a:ext cx="55388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2000" dirty="0">
                <a:solidFill>
                  <a:srgbClr val="000000"/>
                </a:solidFill>
                <a:latin typeface="Arial"/>
                <a:cs typeface="Arial"/>
              </a:rPr>
              <a:t>tìm hiểu, biết, nghiên cứu về, khám phá, xem xét</a:t>
            </a:r>
          </a:p>
          <a:p>
            <a:pPr marL="0" indent="0" algn="ctr">
              <a:lnSpc>
                <a:spcPct val="104000"/>
              </a:lnSpc>
              <a:spcBef>
                <a:spcPts val="400"/>
              </a:spcBef>
              <a:buNone/>
            </a:pPr>
            <a:r>
              <a:rPr lang="en-US" sz="2000" i="1" dirty="0">
                <a:solidFill>
                  <a:srgbClr val="000000"/>
                </a:solidFill>
                <a:latin typeface="Arial"/>
                <a:cs typeface="Arial"/>
              </a:rPr>
              <a:t>"Tìm hiểu về quản lý dịch truyền tại ICU"</a:t>
            </a:r>
          </a:p>
        </p:txBody>
      </p:sp>
      <p:sp>
        <p:nvSpPr>
          <p:cNvPr id="72" name="CardHead"/>
          <p:cNvSpPr/>
          <p:nvPr/>
        </p:nvSpPr>
        <p:spPr>
          <a:xfrm>
            <a:off x="6196000" y="1781840"/>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Động từ đo được</a:t>
            </a:r>
          </a:p>
        </p:txBody>
      </p:sp>
      <p:sp>
        <p:nvSpPr>
          <p:cNvPr id="73" name="CardBody"/>
          <p:cNvSpPr/>
          <p:nvPr/>
        </p:nvSpPr>
        <p:spPr>
          <a:xfrm>
            <a:off x="6196000" y="2421840"/>
            <a:ext cx="55388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2000" dirty="0">
                <a:solidFill>
                  <a:srgbClr val="000000"/>
                </a:solidFill>
                <a:latin typeface="Arial"/>
                <a:cs typeface="Arial"/>
              </a:rPr>
              <a:t>so sánh, ước tính, mô tả, xác định, đo lường</a:t>
            </a:r>
          </a:p>
          <a:p>
            <a:pPr marL="0" indent="0" algn="ctr">
              <a:lnSpc>
                <a:spcPct val="104000"/>
              </a:lnSpc>
              <a:spcBef>
                <a:spcPts val="400"/>
              </a:spcBef>
              <a:buNone/>
            </a:pPr>
            <a:r>
              <a:rPr lang="en-US" sz="2000" i="1" dirty="0">
                <a:solidFill>
                  <a:srgbClr val="000000"/>
                </a:solidFill>
                <a:latin typeface="Arial"/>
                <a:cs typeface="Arial"/>
              </a:rPr>
              <a:t>"So sánh cân bằng dịch tích lũy ngày 5 giữa hai nhóm"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chưa nói được sẽ đo bằng cách nào, đó chưa phải là mục tiêu cụ thể.</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Giả thuyết không và giả thuyết đối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Giả thuyết là câu trả lời dự kiến cho mục tiêu chính: so sánh tử vong 28 ngày.</a:t>
            </a:r>
          </a:p>
        </p:txBody>
      </p:sp>
      <p:sp>
        <p:nvSpPr>
          <p:cNvPr id="100" name="Box"/>
          <p:cNvSpPr/>
          <p:nvPr/>
        </p:nvSpPr>
        <p:spPr>
          <a:xfrm>
            <a:off x="472440" y="1733360"/>
            <a:ext cx="5486400" cy="3383280"/>
          </a:xfrm>
          <a:prstGeom prst="roundRect">
            <a:avLst>
              <a:gd name="adj" fmla="val 5000"/>
            </a:avLst>
          </a:prstGeom>
          <a:noFill/>
          <a:ln w="31750">
            <a:solidFill>
              <a:srgbClr val="8A99A3"/>
            </a:solidFill>
          </a:ln>
        </p:spPr>
        <p:txBody>
          <a:bodyPr wrap="square" lIns="54864" tIns="54864" rIns="54864" bIns="54864" rtlCol="0" anchor="ctr">
            <a:noAutofit/>
          </a:bodyPr>
          <a:lstStyle/>
          <a:p>
            <a:endParaRPr lang="en-US"/>
          </a:p>
        </p:txBody>
      </p:sp>
      <p:sp>
        <p:nvSpPr>
          <p:cNvPr id="101" name="Text"/>
          <p:cNvSpPr/>
          <p:nvPr/>
        </p:nvSpPr>
        <p:spPr>
          <a:xfrm>
            <a:off x="472440" y="1806512"/>
            <a:ext cx="548640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000" b="1" dirty="0">
                <a:solidFill>
                  <a:srgbClr val="595959"/>
                </a:solidFill>
                <a:latin typeface="Arial"/>
                <a:cs typeface="Arial"/>
              </a:rPr>
              <a:t>H0  giả thuyết không</a:t>
            </a:r>
          </a:p>
        </p:txBody>
      </p:sp>
      <p:sp>
        <p:nvSpPr>
          <p:cNvPr id="102" name="Text"/>
          <p:cNvSpPr/>
          <p:nvPr/>
        </p:nvSpPr>
        <p:spPr>
          <a:xfrm>
            <a:off x="472440" y="2236280"/>
            <a:ext cx="54864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Tử vong 28 ngày như nhau</a:t>
            </a:r>
          </a:p>
        </p:txBody>
      </p:sp>
      <p:cxnSp>
        <p:nvCxnSpPr>
          <p:cNvPr id="103" name="Line"/>
          <p:cNvCxnSpPr/>
          <p:nvPr/>
        </p:nvCxnSpPr>
        <p:spPr>
          <a:xfrm>
            <a:off x="838200" y="4476560"/>
            <a:ext cx="4754880" cy="0"/>
          </a:xfrm>
          <a:prstGeom prst="straightConnector1">
            <a:avLst/>
          </a:prstGeom>
          <a:ln w="19050" cap="rnd">
            <a:solidFill>
              <a:srgbClr val="8A99A3"/>
            </a:solidFill>
            <a:round/>
          </a:ln>
        </p:spPr>
      </p:cxnSp>
      <p:sp>
        <p:nvSpPr>
          <p:cNvPr id="104" name="Box"/>
          <p:cNvSpPr/>
          <p:nvPr/>
        </p:nvSpPr>
        <p:spPr>
          <a:xfrm>
            <a:off x="1249680" y="3104960"/>
            <a:ext cx="1280160" cy="1371600"/>
          </a:xfrm>
          <a:prstGeom prst="rect">
            <a:avLst/>
          </a:prstGeom>
          <a:solidFill>
            <a:srgbClr val="0D7377"/>
          </a:solidFill>
          <a:ln>
            <a:noFill/>
          </a:ln>
        </p:spPr>
        <p:txBody>
          <a:bodyPr wrap="square" lIns="54864" tIns="54864" rIns="54864" bIns="54864" rtlCol="0" anchor="ctr">
            <a:noAutofit/>
          </a:bodyPr>
          <a:lstStyle/>
          <a:p>
            <a:endParaRPr lang="en-US"/>
          </a:p>
        </p:txBody>
      </p:sp>
      <p:sp>
        <p:nvSpPr>
          <p:cNvPr id="105" name="Text"/>
          <p:cNvSpPr/>
          <p:nvPr/>
        </p:nvSpPr>
        <p:spPr>
          <a:xfrm>
            <a:off x="1066800" y="272091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D7377"/>
                </a:solidFill>
                <a:latin typeface="Arial"/>
                <a:cs typeface="Arial"/>
              </a:rPr>
              <a:t>?%</a:t>
            </a:r>
          </a:p>
        </p:txBody>
      </p:sp>
      <p:sp>
        <p:nvSpPr>
          <p:cNvPr id="106" name="Text"/>
          <p:cNvSpPr/>
          <p:nvPr/>
        </p:nvSpPr>
        <p:spPr>
          <a:xfrm>
            <a:off x="79248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Hạn chế dịch</a:t>
            </a:r>
          </a:p>
        </p:txBody>
      </p:sp>
      <p:sp>
        <p:nvSpPr>
          <p:cNvPr id="107" name="Box"/>
          <p:cNvSpPr/>
          <p:nvPr/>
        </p:nvSpPr>
        <p:spPr>
          <a:xfrm>
            <a:off x="3901440" y="3104960"/>
            <a:ext cx="1280160" cy="1371600"/>
          </a:xfrm>
          <a:prstGeom prst="rect">
            <a:avLst/>
          </a:prstGeom>
          <a:solidFill>
            <a:srgbClr val="0B376C"/>
          </a:solidFill>
          <a:ln>
            <a:noFill/>
          </a:ln>
        </p:spPr>
        <p:txBody>
          <a:bodyPr wrap="square" lIns="54864" tIns="54864" rIns="54864" bIns="54864" rtlCol="0" anchor="ctr">
            <a:noAutofit/>
          </a:bodyPr>
          <a:lstStyle/>
          <a:p>
            <a:endParaRPr lang="en-US"/>
          </a:p>
        </p:txBody>
      </p:sp>
      <p:sp>
        <p:nvSpPr>
          <p:cNvPr id="108" name="Text"/>
          <p:cNvSpPr/>
          <p:nvPr/>
        </p:nvSpPr>
        <p:spPr>
          <a:xfrm>
            <a:off x="3718560" y="272091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B376C"/>
                </a:solidFill>
                <a:latin typeface="Arial"/>
                <a:cs typeface="Arial"/>
              </a:rPr>
              <a:t>?%</a:t>
            </a:r>
          </a:p>
        </p:txBody>
      </p:sp>
      <p:sp>
        <p:nvSpPr>
          <p:cNvPr id="109" name="Text"/>
          <p:cNvSpPr/>
          <p:nvPr/>
        </p:nvSpPr>
        <p:spPr>
          <a:xfrm>
            <a:off x="344424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Thường quy</a:t>
            </a:r>
          </a:p>
        </p:txBody>
      </p:sp>
      <p:sp>
        <p:nvSpPr>
          <p:cNvPr id="110" name="Text"/>
          <p:cNvSpPr/>
          <p:nvPr/>
        </p:nvSpPr>
        <p:spPr>
          <a:xfrm>
            <a:off x="2667000" y="3379280"/>
            <a:ext cx="109728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3600" b="1" dirty="0">
                <a:solidFill>
                  <a:srgbClr val="595959"/>
                </a:solidFill>
                <a:latin typeface="Arial"/>
                <a:cs typeface="Arial"/>
              </a:rPr>
              <a:t>=</a:t>
            </a:r>
          </a:p>
        </p:txBody>
      </p:sp>
      <p:sp>
        <p:nvSpPr>
          <p:cNvPr id="111" name="Box"/>
          <p:cNvSpPr/>
          <p:nvPr/>
        </p:nvSpPr>
        <p:spPr>
          <a:xfrm>
            <a:off x="6233160" y="1733360"/>
            <a:ext cx="5486400" cy="3383280"/>
          </a:xfrm>
          <a:prstGeom prst="roundRect">
            <a:avLst>
              <a:gd name="adj" fmla="val 5000"/>
            </a:avLst>
          </a:prstGeom>
          <a:noFill/>
          <a:ln w="31750">
            <a:solidFill>
              <a:srgbClr val="0D7377"/>
            </a:solidFill>
          </a:ln>
        </p:spPr>
        <p:txBody>
          <a:bodyPr wrap="square" lIns="54864" tIns="54864" rIns="54864" bIns="54864" rtlCol="0" anchor="ctr">
            <a:noAutofit/>
          </a:bodyPr>
          <a:lstStyle/>
          <a:p>
            <a:endParaRPr lang="en-US"/>
          </a:p>
        </p:txBody>
      </p:sp>
      <p:sp>
        <p:nvSpPr>
          <p:cNvPr id="112" name="Text"/>
          <p:cNvSpPr/>
          <p:nvPr/>
        </p:nvSpPr>
        <p:spPr>
          <a:xfrm>
            <a:off x="6233160" y="1806512"/>
            <a:ext cx="548640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000" b="1" dirty="0">
                <a:solidFill>
                  <a:srgbClr val="0D7377"/>
                </a:solidFill>
                <a:latin typeface="Arial"/>
                <a:cs typeface="Arial"/>
              </a:rPr>
              <a:t>H1  giả thuyết đối</a:t>
            </a:r>
          </a:p>
        </p:txBody>
      </p:sp>
      <p:sp>
        <p:nvSpPr>
          <p:cNvPr id="113" name="Text"/>
          <p:cNvSpPr/>
          <p:nvPr/>
        </p:nvSpPr>
        <p:spPr>
          <a:xfrm>
            <a:off x="6233160" y="2236280"/>
            <a:ext cx="54864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Tử vong 28 ngày khác nhau</a:t>
            </a:r>
          </a:p>
        </p:txBody>
      </p:sp>
      <p:cxnSp>
        <p:nvCxnSpPr>
          <p:cNvPr id="114" name="Line"/>
          <p:cNvCxnSpPr/>
          <p:nvPr/>
        </p:nvCxnSpPr>
        <p:spPr>
          <a:xfrm>
            <a:off x="6598920" y="4476560"/>
            <a:ext cx="4754880" cy="0"/>
          </a:xfrm>
          <a:prstGeom prst="straightConnector1">
            <a:avLst/>
          </a:prstGeom>
          <a:ln w="19050" cap="rnd">
            <a:solidFill>
              <a:srgbClr val="8A99A3"/>
            </a:solidFill>
            <a:round/>
          </a:ln>
        </p:spPr>
      </p:cxnSp>
      <p:sp>
        <p:nvSpPr>
          <p:cNvPr id="115" name="Box"/>
          <p:cNvSpPr/>
          <p:nvPr/>
        </p:nvSpPr>
        <p:spPr>
          <a:xfrm>
            <a:off x="7010400" y="3470720"/>
            <a:ext cx="1280160" cy="1005840"/>
          </a:xfrm>
          <a:prstGeom prst="rect">
            <a:avLst/>
          </a:prstGeom>
          <a:solidFill>
            <a:srgbClr val="0D7377"/>
          </a:solidFill>
          <a:ln>
            <a:noFill/>
          </a:ln>
        </p:spPr>
        <p:txBody>
          <a:bodyPr wrap="square" lIns="54864" tIns="54864" rIns="54864" bIns="54864" rtlCol="0" anchor="ctr">
            <a:noAutofit/>
          </a:bodyPr>
          <a:lstStyle/>
          <a:p>
            <a:endParaRPr lang="en-US"/>
          </a:p>
        </p:txBody>
      </p:sp>
      <p:sp>
        <p:nvSpPr>
          <p:cNvPr id="116" name="Text"/>
          <p:cNvSpPr/>
          <p:nvPr/>
        </p:nvSpPr>
        <p:spPr>
          <a:xfrm>
            <a:off x="6827520" y="308667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D7377"/>
                </a:solidFill>
                <a:latin typeface="Arial"/>
                <a:cs typeface="Arial"/>
              </a:rPr>
              <a:t>?%</a:t>
            </a:r>
          </a:p>
        </p:txBody>
      </p:sp>
      <p:sp>
        <p:nvSpPr>
          <p:cNvPr id="117" name="Text"/>
          <p:cNvSpPr/>
          <p:nvPr/>
        </p:nvSpPr>
        <p:spPr>
          <a:xfrm>
            <a:off x="655320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Hạn chế dịch</a:t>
            </a:r>
          </a:p>
        </p:txBody>
      </p:sp>
      <p:sp>
        <p:nvSpPr>
          <p:cNvPr id="118" name="Box"/>
          <p:cNvSpPr/>
          <p:nvPr/>
        </p:nvSpPr>
        <p:spPr>
          <a:xfrm>
            <a:off x="9662160" y="2967800"/>
            <a:ext cx="1280160" cy="1508760"/>
          </a:xfrm>
          <a:prstGeom prst="rect">
            <a:avLst/>
          </a:prstGeom>
          <a:solidFill>
            <a:srgbClr val="0B376C"/>
          </a:solidFill>
          <a:ln>
            <a:noFill/>
          </a:ln>
        </p:spPr>
        <p:txBody>
          <a:bodyPr wrap="square" lIns="54864" tIns="54864" rIns="54864" bIns="54864" rtlCol="0" anchor="ctr">
            <a:noAutofit/>
          </a:bodyPr>
          <a:lstStyle/>
          <a:p>
            <a:endParaRPr lang="en-US"/>
          </a:p>
        </p:txBody>
      </p:sp>
      <p:sp>
        <p:nvSpPr>
          <p:cNvPr id="119" name="Text"/>
          <p:cNvSpPr/>
          <p:nvPr/>
        </p:nvSpPr>
        <p:spPr>
          <a:xfrm>
            <a:off x="9479280" y="258375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B376C"/>
                </a:solidFill>
                <a:latin typeface="Arial"/>
                <a:cs typeface="Arial"/>
              </a:rPr>
              <a:t>?%</a:t>
            </a:r>
          </a:p>
        </p:txBody>
      </p:sp>
      <p:sp>
        <p:nvSpPr>
          <p:cNvPr id="120" name="Text"/>
          <p:cNvSpPr/>
          <p:nvPr/>
        </p:nvSpPr>
        <p:spPr>
          <a:xfrm>
            <a:off x="920496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Thường quy</a:t>
            </a:r>
          </a:p>
        </p:txBody>
      </p:sp>
      <p:sp>
        <p:nvSpPr>
          <p:cNvPr id="121" name="Text"/>
          <p:cNvSpPr/>
          <p:nvPr/>
        </p:nvSpPr>
        <p:spPr>
          <a:xfrm>
            <a:off x="8427720" y="3379280"/>
            <a:ext cx="109728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3600" b="1" dirty="0">
                <a:solidFill>
                  <a:srgbClr val="0D7377"/>
                </a:solidFill>
                <a:latin typeface="Arial"/>
                <a:cs typeface="Arial"/>
              </a:rPr>
              <a: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Kiểm định H0: dữ liệu có thể bác bỏ H0, nhưng không bao giờ chứng minh được H0.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Bài tập nhanh: mục tiêu và giả thuyết cho nghiên cứu thí điểm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   |   7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Câu hỏi thí điểm (phiên bản A): ở người lớn bị sốc nhiễm khuẩn, quy trình hạn chế dịch, so với chăm sóc thường quy, có làm giảm cân bằng dịch tích lũy ngày 5 không?</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Viết một mục tiêu tổng quát: 'So sánh...'</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Viết hai mục tiêu cụ thể với động từ đo được. Đánh dấu mục tiêu chính</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Viết H0 và H1 cho mục tiêu chính</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Động từ dùng được</a:t>
            </a:r>
          </a:p>
          <a:p>
            <a:pPr marL="0" indent="0" algn="ctr">
              <a:lnSpc>
                <a:spcPct val="104000"/>
              </a:lnSpc>
              <a:spcBef>
                <a:spcPts val="300"/>
              </a:spcBef>
              <a:buNone/>
            </a:pPr>
            <a:r>
              <a:rPr lang="en-US" sz="1500" dirty="0">
                <a:solidFill>
                  <a:srgbClr val="000000"/>
                </a:solidFill>
                <a:latin typeface="Arial"/>
                <a:cs typeface="Arial"/>
              </a:rPr>
              <a:t>so sánh</a:t>
            </a:r>
          </a:p>
          <a:p>
            <a:pPr marL="0" indent="0" algn="ctr">
              <a:lnSpc>
                <a:spcPct val="104000"/>
              </a:lnSpc>
              <a:spcBef>
                <a:spcPts val="300"/>
              </a:spcBef>
              <a:buNone/>
            </a:pPr>
            <a:r>
              <a:rPr lang="en-US" sz="1500" dirty="0">
                <a:solidFill>
                  <a:srgbClr val="000000"/>
                </a:solidFill>
                <a:latin typeface="Arial"/>
                <a:cs typeface="Arial"/>
              </a:rPr>
              <a:t>ước tính</a:t>
            </a:r>
          </a:p>
          <a:p>
            <a:pPr marL="0" indent="0" algn="ctr">
              <a:lnSpc>
                <a:spcPct val="104000"/>
              </a:lnSpc>
              <a:spcBef>
                <a:spcPts val="300"/>
              </a:spcBef>
              <a:buNone/>
            </a:pPr>
            <a:r>
              <a:rPr lang="en-US" sz="1500" dirty="0">
                <a:solidFill>
                  <a:srgbClr val="000000"/>
                </a:solidFill>
                <a:latin typeface="Arial"/>
                <a:cs typeface="Arial"/>
              </a:rPr>
              <a:t>mô tả</a:t>
            </a:r>
          </a:p>
          <a:p>
            <a:pPr marL="0" indent="0" algn="ctr">
              <a:lnSpc>
                <a:spcPct val="104000"/>
              </a:lnSpc>
              <a:spcBef>
                <a:spcPts val="300"/>
              </a:spcBef>
              <a:buNone/>
            </a:pPr>
            <a:r>
              <a:rPr lang="en-US" sz="1500" dirty="0">
                <a:solidFill>
                  <a:srgbClr val="000000"/>
                </a:solidFill>
                <a:latin typeface="Arial"/>
                <a:cs typeface="Arial"/>
              </a:rPr>
              <a:t>xác định</a:t>
            </a:r>
          </a:p>
          <a:p>
            <a:pPr marL="0" indent="0" algn="ctr">
              <a:lnSpc>
                <a:spcPct val="104000"/>
              </a:lnSpc>
              <a:spcBef>
                <a:spcPts val="300"/>
              </a:spcBef>
              <a:buNone/>
            </a:pPr>
            <a:r>
              <a:rPr lang="en-US" sz="1500" dirty="0">
                <a:solidFill>
                  <a:srgbClr val="000000"/>
                </a:solidFill>
                <a:latin typeface="Arial"/>
                <a:cs typeface="Arial"/>
              </a:rPr>
              <a:t>đo lường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Bài tập 2 trong phiếu bài tập. Hai ba người đọc to bài của mình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Đáp án mẫu: câu hỏi thí điểm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495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Mục tiêu tổng quát</a:t>
            </a:r>
          </a:p>
        </p:txBody>
      </p:sp>
      <p:sp>
        <p:nvSpPr>
          <p:cNvPr id="71" name="CardBody"/>
          <p:cNvSpPr/>
          <p:nvPr/>
        </p:nvSpPr>
        <p:spPr>
          <a:xfrm>
            <a:off x="457200" y="2289548"/>
            <a:ext cx="3625866" cy="21013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So sánh quy trình hạn chế dịch với chăm sóc thường quy ở người lớn bị sốc nhiễm khuẩn tại ICU của bạn</a:t>
            </a:r>
          </a:p>
        </p:txBody>
      </p:sp>
      <p:sp>
        <p:nvSpPr>
          <p:cNvPr id="72" name="CardHead"/>
          <p:cNvSpPr/>
          <p:nvPr/>
        </p:nvSpPr>
        <p:spPr>
          <a:xfrm>
            <a:off x="4283066" y="16495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Mục tiêu cụ thể</a:t>
            </a:r>
          </a:p>
        </p:txBody>
      </p:sp>
      <p:sp>
        <p:nvSpPr>
          <p:cNvPr id="73" name="CardBody"/>
          <p:cNvSpPr/>
          <p:nvPr/>
        </p:nvSpPr>
        <p:spPr>
          <a:xfrm>
            <a:off x="4283066" y="2289548"/>
            <a:ext cx="3625866" cy="21013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Chính: so sánh cân bằng dịch tích lũy (ml/kg) ở ngày 5 giữa hai nhóm</a:t>
            </a:r>
          </a:p>
          <a:p>
            <a:pPr marL="0" indent="0" algn="ctr">
              <a:lnSpc>
                <a:spcPct val="104000"/>
              </a:lnSpc>
              <a:spcBef>
                <a:spcPts val="400"/>
              </a:spcBef>
              <a:buNone/>
            </a:pPr>
            <a:r>
              <a:rPr lang="en-US" sz="1750" dirty="0">
                <a:solidFill>
                  <a:srgbClr val="000000"/>
                </a:solidFill>
                <a:latin typeface="Arial"/>
                <a:cs typeface="Arial"/>
              </a:rPr>
              <a:t>Phụ: ước tính tốc độ tuyển chọn và mức tuân thủ quy trình (tính khả thi)</a:t>
            </a:r>
          </a:p>
        </p:txBody>
      </p:sp>
      <p:sp>
        <p:nvSpPr>
          <p:cNvPr id="74" name="CardHead"/>
          <p:cNvSpPr/>
          <p:nvPr/>
        </p:nvSpPr>
        <p:spPr>
          <a:xfrm>
            <a:off x="8108932" y="16495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Giả thuyết</a:t>
            </a:r>
          </a:p>
        </p:txBody>
      </p:sp>
      <p:sp>
        <p:nvSpPr>
          <p:cNvPr id="75" name="CardBody"/>
          <p:cNvSpPr/>
          <p:nvPr/>
        </p:nvSpPr>
        <p:spPr>
          <a:xfrm>
            <a:off x="8108932" y="2289548"/>
            <a:ext cx="3625866" cy="21013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H0: cân bằng dịch tích lũy ở ngày 5 như nhau ở hai nhóm</a:t>
            </a:r>
          </a:p>
          <a:p>
            <a:pPr marL="0" indent="0" algn="ctr">
              <a:lnSpc>
                <a:spcPct val="104000"/>
              </a:lnSpc>
              <a:spcBef>
                <a:spcPts val="400"/>
              </a:spcBef>
              <a:buNone/>
            </a:pPr>
            <a:r>
              <a:rPr lang="en-US" sz="1750" dirty="0">
                <a:solidFill>
                  <a:srgbClr val="000000"/>
                </a:solidFill>
                <a:latin typeface="Arial"/>
                <a:cs typeface="Arial"/>
              </a:rPr>
              <a:t>H1: có khác nhau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Mục tiêu tổng quát, mục tiêu chính và giả thuyết cùng nêu một kết cục.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Giờ hãy bắt đầu đề cương của riêng bạn: một câu hỏi, một mục tiêu tổng quát.</a:t>
            </a:r>
          </a:p>
          <a:p>
            <a:pPr marL="0" indent="0" algn="ctr">
              <a:spcBef>
                <a:spcPts val="1200"/>
              </a:spcBef>
              <a:buNone/>
            </a:pPr>
            <a:r>
              <a:rPr lang="en-US" sz="1900" i="1" dirty="0">
                <a:solidFill>
                  <a:srgbClr val="595959"/>
                </a:solidFill>
                <a:latin typeface="Arial"/>
                <a:cs typeface="Arial"/>
              </a:rPr>
              <a:t>30 phút: giảng viên làm mẫu Phần 1 trên ví dụ xuyên suốt, rồi bạn viết phần của mình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1: câu hỏi của riêng bạn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XÂY DỰNG ĐỀ CƯƠNG   |   30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Xem giảng viên điền Phần 1 của mẫu đề cương cho ví dụ xuyên suốt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Mở bản mẫu đề cương của bạn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Chọn một vấn đề từ chính khoa của bạn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Viết câu hỏi PICO(T) và kiểm tra bằng FINER</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Thêm một mục tiêu tổng quát, 2-3 mục tiêu cụ thể (đánh dấu mục tiêu chính) và H0/H1</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Hai bạn tình nguyện đọc to câu hỏi</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Thời gian</a:t>
            </a:r>
          </a:p>
          <a:p>
            <a:pPr marL="0" indent="0" algn="ctr">
              <a:lnSpc>
                <a:spcPct val="104000"/>
              </a:lnSpc>
              <a:spcBef>
                <a:spcPts val="300"/>
              </a:spcBef>
              <a:buNone/>
            </a:pPr>
            <a:r>
              <a:rPr lang="en-US" sz="1500" dirty="0">
                <a:solidFill>
                  <a:srgbClr val="000000"/>
                </a:solidFill>
                <a:latin typeface="Arial"/>
                <a:cs typeface="Arial"/>
              </a:rPr>
              <a:t>0-8 phút: giảng viên làm mẫu Phần 1</a:t>
            </a:r>
          </a:p>
          <a:p>
            <a:pPr marL="0" indent="0" algn="ctr">
              <a:lnSpc>
                <a:spcPct val="104000"/>
              </a:lnSpc>
              <a:spcBef>
                <a:spcPts val="300"/>
              </a:spcBef>
              <a:buNone/>
            </a:pPr>
            <a:r>
              <a:rPr lang="en-US" sz="1500" dirty="0">
                <a:solidFill>
                  <a:srgbClr val="000000"/>
                </a:solidFill>
                <a:latin typeface="Arial"/>
                <a:cs typeface="Arial"/>
              </a:rPr>
              <a:t>8-25 phút: bạn tự viết</a:t>
            </a:r>
          </a:p>
          <a:p>
            <a:pPr marL="0" indent="0" algn="ctr">
              <a:lnSpc>
                <a:spcPct val="104000"/>
              </a:lnSpc>
              <a:spcBef>
                <a:spcPts val="300"/>
              </a:spcBef>
              <a:buNone/>
            </a:pPr>
            <a:r>
              <a:rPr lang="en-US" sz="1500" dirty="0">
                <a:solidFill>
                  <a:srgbClr val="000000"/>
                </a:solidFill>
                <a:latin typeface="Arial"/>
                <a:cs typeface="Arial"/>
              </a:rPr>
              <a:t>25-30 phút: hai bạn chia sẻ</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SẢN PHẨM   </a:t>
            </a:r>
            <a:r>
              <a:rPr lang="en-US" sz="1500" dirty="0">
                <a:solidFill>
                  <a:srgbClr val="000000"/>
                </a:solidFill>
                <a:latin typeface="Arial"/>
                <a:cs typeface="Arial"/>
              </a:rPr>
              <a:t>Bắt đầu Đề cương Phần 1: câu hỏi, FINER, mục tiêu, giả thuyết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buổi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86053"/>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Từ khóa</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Trong một câu</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Tháp bằng chứng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Xếp hạng thiết kế theo mức chống sai lệch</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PICO(T)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Đối tượng, Can thiệp, So sánh, Kết cục, Thời gian</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PECO</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Như PICO, với E = Phơi nhiễm, cho yếu tố không do mình chỉ định</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FINER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Khả thi, Thú vị, Mới, Đạo đức, Phù hợp</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Mục tiêu tổng quát / cụ thể</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Mục đích chung / việc cụ thể, đo được</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H0 / H1</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Không khác biệt / có khác biệt (kiểm định H0)</a:t>
                      </a:r>
                    </a:p>
                  </a:txBody>
                  <a:tcPr marL="73152" marR="73152" marT="45720" marB="45720" anchor="ctr">
                    <a:solidFill>
                      <a:srgbClr val="F5F9FA"/>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Buổi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17823"/>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Vì sao nghiên cứu</a:t>
            </a:r>
          </a:p>
        </p:txBody>
      </p:sp>
      <p:sp>
        <p:nvSpPr>
          <p:cNvPr id="71" name="CardBody"/>
          <p:cNvSpPr/>
          <p:nvPr/>
        </p:nvSpPr>
        <p:spPr>
          <a:xfrm>
            <a:off x="457200"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Kinh nghiệm gợi ra câu hỏi</a:t>
            </a:r>
          </a:p>
          <a:p>
            <a:pPr marL="0" indent="0" algn="ctr">
              <a:lnSpc>
                <a:spcPct val="104000"/>
              </a:lnSpc>
              <a:spcBef>
                <a:spcPts val="400"/>
              </a:spcBef>
              <a:buNone/>
            </a:pPr>
            <a:r>
              <a:rPr lang="en-US" sz="1750" dirty="0">
                <a:solidFill>
                  <a:srgbClr val="000000"/>
                </a:solidFill>
                <a:latin typeface="Arial"/>
                <a:cs typeface="Arial"/>
              </a:rPr>
              <a:t>So sánh công bằng trên đủ người bệnh trả lời câu hỏi</a:t>
            </a:r>
          </a:p>
        </p:txBody>
      </p:sp>
      <p:sp>
        <p:nvSpPr>
          <p:cNvPr id="72" name="CardHead"/>
          <p:cNvSpPr/>
          <p:nvPr/>
        </p:nvSpPr>
        <p:spPr>
          <a:xfrm>
            <a:off x="4283066" y="1817823"/>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Hỏi chính xác</a:t>
            </a:r>
          </a:p>
        </p:txBody>
      </p:sp>
      <p:sp>
        <p:nvSpPr>
          <p:cNvPr id="73" name="CardBody"/>
          <p:cNvSpPr/>
          <p:nvPr/>
        </p:nvSpPr>
        <p:spPr>
          <a:xfrm>
            <a:off x="4283066"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Một câu hỏi PICO(T)</a:t>
            </a:r>
          </a:p>
          <a:p>
            <a:pPr marL="0" indent="0" algn="ctr">
              <a:lnSpc>
                <a:spcPct val="104000"/>
              </a:lnSpc>
              <a:spcBef>
                <a:spcPts val="400"/>
              </a:spcBef>
              <a:buNone/>
            </a:pPr>
            <a:r>
              <a:rPr lang="en-US" sz="1750" dirty="0">
                <a:solidFill>
                  <a:srgbClr val="000000"/>
                </a:solidFill>
                <a:latin typeface="Arial"/>
                <a:cs typeface="Arial"/>
              </a:rPr>
              <a:t>Một kết cục chính</a:t>
            </a:r>
          </a:p>
          <a:p>
            <a:pPr marL="0" indent="0" algn="ctr">
              <a:lnSpc>
                <a:spcPct val="104000"/>
              </a:lnSpc>
              <a:spcBef>
                <a:spcPts val="400"/>
              </a:spcBef>
              <a:buNone/>
            </a:pPr>
            <a:r>
              <a:rPr lang="en-US" sz="1750" dirty="0">
                <a:solidFill>
                  <a:srgbClr val="000000"/>
                </a:solidFill>
                <a:latin typeface="Arial"/>
                <a:cs typeface="Arial"/>
              </a:rPr>
              <a:t>Kiểm tra FINER trước khi bắt đầu</a:t>
            </a:r>
          </a:p>
        </p:txBody>
      </p:sp>
      <p:sp>
        <p:nvSpPr>
          <p:cNvPr id="74" name="CardHead"/>
          <p:cNvSpPr/>
          <p:nvPr/>
        </p:nvSpPr>
        <p:spPr>
          <a:xfrm>
            <a:off x="8108932" y="1817823"/>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Lập kế hoạch</a:t>
            </a:r>
          </a:p>
        </p:txBody>
      </p:sp>
      <p:sp>
        <p:nvSpPr>
          <p:cNvPr id="75" name="CardBody"/>
          <p:cNvSpPr/>
          <p:nvPr/>
        </p:nvSpPr>
        <p:spPr>
          <a:xfrm>
            <a:off x="8108932"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Một mục tiêu tổng quát</a:t>
            </a:r>
          </a:p>
          <a:p>
            <a:pPr marL="0" indent="0" algn="ctr">
              <a:lnSpc>
                <a:spcPct val="104000"/>
              </a:lnSpc>
              <a:spcBef>
                <a:spcPts val="400"/>
              </a:spcBef>
              <a:buNone/>
            </a:pPr>
            <a:r>
              <a:rPr lang="en-US" sz="1750" dirty="0">
                <a:solidFill>
                  <a:srgbClr val="000000"/>
                </a:solidFill>
                <a:latin typeface="Arial"/>
                <a:cs typeface="Arial"/>
              </a:rPr>
              <a:t>2-3 mục tiêu cụ thể đo được</a:t>
            </a:r>
          </a:p>
          <a:p>
            <a:pPr marL="0" indent="0" algn="ctr">
              <a:lnSpc>
                <a:spcPct val="104000"/>
              </a:lnSpc>
              <a:spcBef>
                <a:spcPts val="400"/>
              </a:spcBef>
              <a:buNone/>
            </a:pPr>
            <a:r>
              <a:rPr lang="en-US" sz="1750" dirty="0">
                <a:solidFill>
                  <a:srgbClr val="000000"/>
                </a:solidFill>
                <a:latin typeface="Arial"/>
                <a:cs typeface="Arial"/>
              </a:rPr>
              <a:t>H0 và H1 kiểm định được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Thứ Bảy tuần sau: tìm và đọc những gì đã biết về câu hỏi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cuối buổi (trong chat)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Trả lời trong chat trước khi rời lớp</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1: ví dụ xuyên suốt trượt tiêu chí FINER nào, và vì sao?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2: viết lại thành mục tiêu cụ thể: 'Tìm hiểu về cân bằng dịch tại ICU của mình'</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người một câu trả lời ngắn trong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về nhà cho thứ Bảy tuần sau (Buổi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Hoàn thành bản nháp Đề cương Phần 1: câu hỏi, FINER, mục tiêu, H0/H1</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Bài tập 4 trong phiếu bài tập: 2-3 từ đồng nghĩa tiếng Anh cho mỗi từ PICO</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Cài Zotero (miễn phí, zotero.org) và plug-in cho Word</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Chuẩn bị cho thứ Bảy tuần sau</a:t>
            </a:r>
          </a:p>
          <a:p>
            <a:pPr marL="0" indent="0" algn="ctr">
              <a:lnSpc>
                <a:spcPct val="104000"/>
              </a:lnSpc>
              <a:spcBef>
                <a:spcPts val="300"/>
              </a:spcBef>
              <a:buNone/>
            </a:pPr>
            <a:r>
              <a:rPr lang="en-US" sz="1500" dirty="0">
                <a:solidFill>
                  <a:srgbClr val="000000"/>
                </a:solidFill>
                <a:latin typeface="Arial"/>
                <a:cs typeface="Arial"/>
              </a:rPr>
              <a:t>Câu hỏi PICO của bạn</a:t>
            </a:r>
          </a:p>
          <a:p>
            <a:pPr marL="0" indent="0" algn="ctr">
              <a:lnSpc>
                <a:spcPct val="104000"/>
              </a:lnSpc>
              <a:spcBef>
                <a:spcPts val="300"/>
              </a:spcBef>
              <a:buNone/>
            </a:pPr>
            <a:r>
              <a:rPr lang="en-US" sz="1500" dirty="0">
                <a:solidFill>
                  <a:srgbClr val="000000"/>
                </a:solidFill>
                <a:latin typeface="Arial"/>
                <a:cs typeface="Arial"/>
              </a:rPr>
              <a:t>Danh sách từ đồng nghĩa</a:t>
            </a:r>
          </a:p>
          <a:p>
            <a:pPr marL="0" indent="0" algn="ctr">
              <a:lnSpc>
                <a:spcPct val="104000"/>
              </a:lnSpc>
              <a:spcBef>
                <a:spcPts val="300"/>
              </a:spcBef>
              <a:buNone/>
            </a:pPr>
            <a:r>
              <a:rPr lang="en-US" sz="1500" dirty="0">
                <a:solidFill>
                  <a:srgbClr val="000000"/>
                </a:solidFill>
                <a:latin typeface="Arial"/>
                <a:cs typeface="Arial"/>
              </a:rPr>
              <a:t>Máy tính đã cài Zotero</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Câu hỏi, danh sách từ đồng nghĩa và Zotero sẵn sàng cho buổi tìm kiếm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Slide bổ sung: Buổi 1</a:t>
            </a:r>
          </a:p>
          <a:p>
            <a:pPr marL="0" indent="0" algn="ctr">
              <a:spcBef>
                <a:spcPts val="1200"/>
              </a:spcBef>
              <a:buNone/>
            </a:pPr>
            <a:r>
              <a:rPr lang="en-US" sz="1900" i="1" dirty="0">
                <a:solidFill>
                  <a:srgbClr val="595959"/>
                </a:solidFill>
                <a:latin typeface="Arial"/>
                <a:cs typeface="Arial"/>
              </a:rPr>
              <a:t>Dùng nếu còn thời gian, hoặc để tự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Nghiên cứu, audit hay cải tiến chất lượng?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31744"/>
          <a:ext cx="11277600" cy="2898392"/>
        </p:xfrm>
        <a:graphic>
          <a:graphicData uri="http://schemas.openxmlformats.org/drawingml/2006/table">
            <a:tbl>
              <a:tblPr firstRow="1" bandRow="1">
                <a:tableStyleId>{5C22544A-7EE6-4342-B048-85BDC9FD1C3A}</a:tableStyleId>
              </a:tblPr>
              <a:tblGrid>
                <a:gridCol w="2200507"/>
                <a:gridCol w="3025697"/>
                <a:gridCol w="3025697"/>
                <a:gridCol w="3025699"/>
              </a:tblGrid>
              <a:tr h="380000">
                <a:tc>
                  <a:txBody>
                    <a:bodyPr/>
                    <a:lstStyle/>
                    <a:p>
                      <a:pPr algn="l"/>
                      <a:r>
                        <a:rPr lang="en-US" sz="17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700" b="1" dirty="0">
                          <a:solidFill>
                            <a:srgbClr val="FFFFFF"/>
                          </a:solidFill>
                          <a:latin typeface="Arial"/>
                          <a:cs typeface="Arial"/>
                        </a:rPr>
                        <a:t>Nghiên cứu</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Audit lâm sàng</a:t>
                      </a:r>
                    </a:p>
                  </a:txBody>
                  <a:tcPr marL="73152" marR="73152" marT="45720" marB="45720" anchor="ctr">
                    <a:solidFill>
                      <a:srgbClr val="0B376C"/>
                    </a:solidFill>
                  </a:tcPr>
                </a:tc>
                <a:tc>
                  <a:txBody>
                    <a:bodyPr/>
                    <a:lstStyle/>
                    <a:p>
                      <a:pPr algn="l"/>
                      <a:r>
                        <a:rPr lang="en-US" sz="1700" b="1" dirty="0">
                          <a:solidFill>
                            <a:srgbClr val="FFFFFF"/>
                          </a:solidFill>
                          <a:latin typeface="Arial"/>
                          <a:cs typeface="Arial"/>
                        </a:rPr>
                        <a:t>Cải tiến chất lượng (QI)</a:t>
                      </a:r>
                    </a:p>
                  </a:txBody>
                  <a:tcPr marL="73152" marR="73152" marT="45720" marB="45720" anchor="ctr">
                    <a:solidFill>
                      <a:srgbClr val="5FA39B"/>
                    </a:solidFill>
                  </a:tcPr>
                </a:tc>
              </a:tr>
              <a:tr h="629598">
                <a:tc>
                  <a:txBody>
                    <a:bodyPr/>
                    <a:lstStyle/>
                    <a:p>
                      <a:pPr algn="l"/>
                      <a:r>
                        <a:rPr lang="en-US" sz="1700" b="1" dirty="0">
                          <a:solidFill>
                            <a:srgbClr val="000000"/>
                          </a:solidFill>
                          <a:latin typeface="Arial"/>
                          <a:cs typeface="Arial"/>
                        </a:rPr>
                        <a:t>Câu hỏi</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Cách làm nào tốt nhất?</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Khoa có đạt tiêu chuẩn không?</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Làm sao tốt hơn, từng bước?</a:t>
                      </a:r>
                    </a:p>
                  </a:txBody>
                  <a:tcPr marL="73152" marR="73152" marT="45720" marB="45720" anchor="ctr">
                    <a:solidFill>
                      <a:srgbClr val="FFFFFF"/>
                    </a:solidFill>
                  </a:tcPr>
                </a:tc>
              </a:tr>
              <a:tr h="629598">
                <a:tc>
                  <a:txBody>
                    <a:bodyPr/>
                    <a:lstStyle/>
                    <a:p>
                      <a:pPr algn="l"/>
                      <a:r>
                        <a:rPr lang="en-US" sz="1700" b="1" dirty="0">
                          <a:solidFill>
                            <a:srgbClr val="000000"/>
                          </a:solidFill>
                          <a:latin typeface="Arial"/>
                          <a:cs typeface="Arial"/>
                        </a:rPr>
                        <a:t>Ví dụ dịch truyền</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Hạn chế hay thường quy: cách nào tốt hơn?</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Cân bằng dịch có được ghi hằng ngày?</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Bảng kiểm hằng ngày, thử qua từng vòng nhỏ</a:t>
                      </a:r>
                    </a:p>
                  </a:txBody>
                  <a:tcPr marL="73152" marR="73152" marT="45720" marB="45720" anchor="ctr">
                    <a:solidFill>
                      <a:srgbClr val="F5F9FA"/>
                    </a:solidFill>
                  </a:tcPr>
                </a:tc>
              </a:tr>
              <a:tr h="629598">
                <a:tc>
                  <a:txBody>
                    <a:bodyPr/>
                    <a:lstStyle/>
                    <a:p>
                      <a:pPr algn="l"/>
                      <a:r>
                        <a:rPr lang="en-US" sz="1700" b="1" dirty="0">
                          <a:solidFill>
                            <a:srgbClr val="000000"/>
                          </a:solidFill>
                          <a:latin typeface="Arial"/>
                          <a:cs typeface="Arial"/>
                        </a:rPr>
                        <a:t>Kết quả dùng cho</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Người bệnh ở nơi khác</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Khoa mình</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Khoa mình</a:t>
                      </a:r>
                    </a:p>
                  </a:txBody>
                  <a:tcPr marL="73152" marR="73152" marT="45720" marB="45720" anchor="ctr">
                    <a:solidFill>
                      <a:srgbClr val="FFFFFF"/>
                    </a:solidFill>
                  </a:tcPr>
                </a:tc>
              </a:tr>
              <a:tr h="629598">
                <a:tc>
                  <a:txBody>
                    <a:bodyPr/>
                    <a:lstStyle/>
                    <a:p>
                      <a:pPr algn="l"/>
                      <a:r>
                        <a:rPr lang="en-US" sz="1700" b="1" dirty="0">
                          <a:solidFill>
                            <a:srgbClr val="000000"/>
                          </a:solidFill>
                          <a:latin typeface="Arial"/>
                          <a:cs typeface="Arial"/>
                        </a:rPr>
                        <a:t>Đạo đức</a:t>
                      </a:r>
                    </a:p>
                  </a:txBody>
                  <a:tcPr marL="73152" marR="73152" marT="45720" marB="45720" anchor="ctr">
                    <a:solidFill>
                      <a:srgbClr val="EAF2F5"/>
                    </a:solidFill>
                  </a:tcPr>
                </a:tc>
                <a:tc>
                  <a:txBody>
                    <a:bodyPr/>
                    <a:lstStyle/>
                    <a:p>
                      <a:pPr algn="l"/>
                      <a:r>
                        <a:rPr lang="en-US" sz="1700" b="1" dirty="0">
                          <a:solidFill>
                            <a:srgbClr val="B23B2E"/>
                          </a:solidFill>
                          <a:latin typeface="Arial"/>
                          <a:cs typeface="Arial"/>
                        </a:rPr>
                        <a:t>Luôn cần hội đồng đạo đức phê duyệt</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Phê duyệt nội bộ, thường không cần hội đồng</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Phê duyệt nội bộ, xét đạo đức nếu có rủi ro mới</a:t>
                      </a:r>
                    </a:p>
                  </a:txBody>
                  <a:tcPr marL="73152" marR="73152" marT="45720" marB="45720" anchor="ctr">
                    <a:solidFill>
                      <a:srgbClr val="F5F9FA"/>
                    </a:solidFill>
                  </a:tcPr>
                </a:tc>
              </a:tr>
            </a:tbl>
          </a:graphicData>
        </a:graphic>
      </p:graphicFrame>
      <p:sp>
        <p:nvSpPr>
          <p:cNvPr id="31" name="Caption"/>
          <p:cNvSpPr txBox="1"/>
          <p:nvPr/>
        </p:nvSpPr>
        <p:spPr>
          <a:xfrm>
            <a:off x="457200" y="4420136"/>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Không chắc là loại nào? Hãy hỏi hội đồng đạo đức trước khi bắt đầu.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Nghiên cứu hỏi cách nào tốt nhất. Audit hỏi mình có làm đúng không. QI giúp làm tốt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ba ví dụ viết thành câu hỏi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Slide dự phòng cho 'Ba ví dụ khác': viết câu hỏi cho từng dòng, rồi so sánh.</a:t>
            </a:r>
          </a:p>
        </p:txBody>
      </p:sp>
      <p:sp>
        <p:nvSpPr>
          <p:cNvPr id="70" name="CardHead"/>
          <p:cNvSpPr/>
          <p:nvPr/>
        </p:nvSpPr>
        <p:spPr>
          <a:xfrm>
            <a:off x="457200" y="19598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Điều trị (PICO)</a:t>
            </a:r>
          </a:p>
        </p:txBody>
      </p:sp>
      <p:sp>
        <p:nvSpPr>
          <p:cNvPr id="71" name="CardBody"/>
          <p:cNvSpPr/>
          <p:nvPr/>
        </p:nvSpPr>
        <p:spPr>
          <a:xfrm>
            <a:off x="457200" y="2599815"/>
            <a:ext cx="3625866" cy="20505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Ở người lớn thở máy tại ICU, bảng kiểm đầu giường 2 lần/ngày, so với chăm sóc thường quy, có làm giảm viêm phổi liên quan thở máy đến ngày 28 tại ICU không?</a:t>
            </a:r>
          </a:p>
        </p:txBody>
      </p:sp>
      <p:sp>
        <p:nvSpPr>
          <p:cNvPr id="72" name="CardHead"/>
          <p:cNvSpPr/>
          <p:nvPr/>
        </p:nvSpPr>
        <p:spPr>
          <a:xfrm>
            <a:off x="4283066" y="19598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Yếu tố nguy cơ (PECO)</a:t>
            </a:r>
          </a:p>
        </p:txBody>
      </p:sp>
      <p:sp>
        <p:nvSpPr>
          <p:cNvPr id="73" name="CardBody"/>
          <p:cNvSpPr/>
          <p:nvPr/>
        </p:nvSpPr>
        <p:spPr>
          <a:xfrm>
            <a:off x="4283066" y="2599815"/>
            <a:ext cx="3625866" cy="20505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Ở người lớn nằm khoa nội, béo phì (BMI từ 30 trở lên), so với BMI dưới 30, có liên quan với tổn thương do tì đè mới trong thời gian nằm viện không?</a:t>
            </a:r>
          </a:p>
        </p:txBody>
      </p:sp>
      <p:sp>
        <p:nvSpPr>
          <p:cNvPr id="74" name="CardHead"/>
          <p:cNvSpPr/>
          <p:nvPr/>
        </p:nvSpPr>
        <p:spPr>
          <a:xfrm>
            <a:off x="8108932" y="195981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Bao nhiêu? (P + O)</a:t>
            </a:r>
          </a:p>
        </p:txBody>
      </p:sp>
      <p:sp>
        <p:nvSpPr>
          <p:cNvPr id="75" name="CardBody"/>
          <p:cNvSpPr/>
          <p:nvPr/>
        </p:nvSpPr>
        <p:spPr>
          <a:xfrm>
            <a:off x="8108932" y="2599815"/>
            <a:ext cx="3625866" cy="20505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Ở người từ 65 tuổi trở lên sau mổ gãy cổ xương đùi, mê sảng xảy ra ở bao nhiêu người trong 7 ngày đầu?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Mỗi câu hỏi nêu rõ người bệnh, phép so sánh (nếu có), kết cục và thời gian.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PICO cho các loại câu hỏi khác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6170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Chẩn đoán</a:t>
            </a:r>
          </a:p>
        </p:txBody>
      </p:sp>
      <p:sp>
        <p:nvSpPr>
          <p:cNvPr id="71" name="CardBody"/>
          <p:cNvSpPr/>
          <p:nvPr/>
        </p:nvSpPr>
        <p:spPr>
          <a:xfrm>
            <a:off x="457200" y="2201706"/>
            <a:ext cx="3625866" cy="23648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P: người được xét nghiệm</a:t>
            </a:r>
          </a:p>
          <a:p>
            <a:pPr marL="0" indent="0" algn="ctr">
              <a:lnSpc>
                <a:spcPct val="104000"/>
              </a:lnSpc>
              <a:spcBef>
                <a:spcPts val="400"/>
              </a:spcBef>
              <a:buNone/>
            </a:pPr>
            <a:r>
              <a:rPr lang="en-US" sz="1400" dirty="0">
                <a:solidFill>
                  <a:srgbClr val="000000"/>
                </a:solidFill>
                <a:latin typeface="Arial"/>
                <a:cs typeface="Arial"/>
              </a:rPr>
              <a:t>I: xét nghiệm mới</a:t>
            </a:r>
          </a:p>
          <a:p>
            <a:pPr marL="0" indent="0" algn="ctr">
              <a:lnSpc>
                <a:spcPct val="104000"/>
              </a:lnSpc>
              <a:spcBef>
                <a:spcPts val="400"/>
              </a:spcBef>
              <a:buNone/>
            </a:pPr>
            <a:r>
              <a:rPr lang="en-US" sz="1400" dirty="0">
                <a:solidFill>
                  <a:srgbClr val="000000"/>
                </a:solidFill>
                <a:latin typeface="Arial"/>
                <a:cs typeface="Arial"/>
              </a:rPr>
              <a:t>C: tiêu chuẩn tham chiếu</a:t>
            </a:r>
          </a:p>
          <a:p>
            <a:pPr marL="0" indent="0" algn="ctr">
              <a:lnSpc>
                <a:spcPct val="104000"/>
              </a:lnSpc>
              <a:spcBef>
                <a:spcPts val="400"/>
              </a:spcBef>
              <a:buNone/>
            </a:pPr>
            <a:r>
              <a:rPr lang="en-US" sz="1400" dirty="0">
                <a:solidFill>
                  <a:srgbClr val="000000"/>
                </a:solidFill>
                <a:latin typeface="Arial"/>
                <a:cs typeface="Arial"/>
              </a:rPr>
              <a:t>O: độ chính xác</a:t>
            </a:r>
          </a:p>
          <a:p>
            <a:pPr marL="0" indent="0" algn="ctr">
              <a:lnSpc>
                <a:spcPct val="104000"/>
              </a:lnSpc>
              <a:spcBef>
                <a:spcPts val="400"/>
              </a:spcBef>
              <a:buNone/>
            </a:pPr>
            <a:r>
              <a:rPr lang="en-US" sz="1400" i="1" dirty="0">
                <a:solidFill>
                  <a:srgbClr val="000000"/>
                </a:solidFill>
                <a:latin typeface="Arial"/>
                <a:cs typeface="Arial"/>
              </a:rPr>
              <a:t>Ví dụ: ở người nghi nhiễm khuẩn huyết tại khoa cấp cứu, qSOFA chính xác đến đâu so với Sepsis-3?</a:t>
            </a:r>
          </a:p>
        </p:txBody>
      </p:sp>
      <p:sp>
        <p:nvSpPr>
          <p:cNvPr id="72" name="CardHead"/>
          <p:cNvSpPr/>
          <p:nvPr/>
        </p:nvSpPr>
        <p:spPr>
          <a:xfrm>
            <a:off x="4283066" y="156170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Tiên lượng</a:t>
            </a:r>
          </a:p>
        </p:txBody>
      </p:sp>
      <p:sp>
        <p:nvSpPr>
          <p:cNvPr id="73" name="CardBody"/>
          <p:cNvSpPr/>
          <p:nvPr/>
        </p:nvSpPr>
        <p:spPr>
          <a:xfrm>
            <a:off x="4283066" y="2201706"/>
            <a:ext cx="3625866" cy="23648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P: người bệnh mắc một tình trạng</a:t>
            </a:r>
          </a:p>
          <a:p>
            <a:pPr marL="0" indent="0" algn="ctr">
              <a:lnSpc>
                <a:spcPct val="104000"/>
              </a:lnSpc>
              <a:spcBef>
                <a:spcPts val="400"/>
              </a:spcBef>
              <a:buNone/>
            </a:pPr>
            <a:r>
              <a:rPr lang="en-US" sz="1400" dirty="0">
                <a:solidFill>
                  <a:srgbClr val="000000"/>
                </a:solidFill>
                <a:latin typeface="Arial"/>
                <a:cs typeface="Arial"/>
              </a:rPr>
              <a:t>E: yếu tố nguy cơ</a:t>
            </a:r>
          </a:p>
          <a:p>
            <a:pPr marL="0" indent="0" algn="ctr">
              <a:lnSpc>
                <a:spcPct val="104000"/>
              </a:lnSpc>
              <a:spcBef>
                <a:spcPts val="400"/>
              </a:spcBef>
              <a:buNone/>
            </a:pPr>
            <a:r>
              <a:rPr lang="en-US" sz="1400" dirty="0">
                <a:solidFill>
                  <a:srgbClr val="000000"/>
                </a:solidFill>
                <a:latin typeface="Arial"/>
                <a:cs typeface="Arial"/>
              </a:rPr>
              <a:t>O: điều xảy ra</a:t>
            </a:r>
          </a:p>
          <a:p>
            <a:pPr marL="0" indent="0" algn="ctr">
              <a:lnSpc>
                <a:spcPct val="104000"/>
              </a:lnSpc>
              <a:spcBef>
                <a:spcPts val="400"/>
              </a:spcBef>
              <a:buNone/>
            </a:pPr>
            <a:r>
              <a:rPr lang="en-US" sz="1400" dirty="0">
                <a:solidFill>
                  <a:srgbClr val="000000"/>
                </a:solidFill>
                <a:latin typeface="Arial"/>
                <a:cs typeface="Arial"/>
              </a:rPr>
              <a:t>T: đến khi nào</a:t>
            </a:r>
          </a:p>
          <a:p>
            <a:pPr marL="0" indent="0" algn="ctr">
              <a:lnSpc>
                <a:spcPct val="104000"/>
              </a:lnSpc>
              <a:spcBef>
                <a:spcPts val="400"/>
              </a:spcBef>
              <a:buNone/>
            </a:pPr>
            <a:r>
              <a:rPr lang="en-US" sz="1400" i="1" dirty="0">
                <a:solidFill>
                  <a:srgbClr val="000000"/>
                </a:solidFill>
                <a:latin typeface="Arial"/>
                <a:cs typeface="Arial"/>
              </a:rPr>
              <a:t>Ví dụ: trong sốc nhiễm khuẩn, lactate trên 4 mmol/L lúc nhập viện có liên quan với tử vong đến ngày 28 không?</a:t>
            </a:r>
          </a:p>
        </p:txBody>
      </p:sp>
      <p:sp>
        <p:nvSpPr>
          <p:cNvPr id="74" name="CardHead"/>
          <p:cNvSpPr/>
          <p:nvPr/>
        </p:nvSpPr>
        <p:spPr>
          <a:xfrm>
            <a:off x="8108932" y="1561706"/>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Định tính (SPIDER)</a:t>
            </a:r>
          </a:p>
        </p:txBody>
      </p:sp>
      <p:sp>
        <p:nvSpPr>
          <p:cNvPr id="75" name="CardBody"/>
          <p:cNvSpPr/>
          <p:nvPr/>
        </p:nvSpPr>
        <p:spPr>
          <a:xfrm>
            <a:off x="8108932" y="2201706"/>
            <a:ext cx="3625866" cy="23648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S: Mẫu (Sample)</a:t>
            </a:r>
          </a:p>
          <a:p>
            <a:pPr marL="0" indent="0" algn="ctr">
              <a:lnSpc>
                <a:spcPct val="104000"/>
              </a:lnSpc>
              <a:spcBef>
                <a:spcPts val="400"/>
              </a:spcBef>
              <a:buNone/>
            </a:pPr>
            <a:r>
              <a:rPr lang="en-US" sz="1400" dirty="0">
                <a:solidFill>
                  <a:srgbClr val="000000"/>
                </a:solidFill>
                <a:latin typeface="Arial"/>
                <a:cs typeface="Arial"/>
              </a:rPr>
              <a:t>PI: Hiện tượng quan tâm</a:t>
            </a:r>
          </a:p>
          <a:p>
            <a:pPr marL="0" indent="0" algn="ctr">
              <a:lnSpc>
                <a:spcPct val="104000"/>
              </a:lnSpc>
              <a:spcBef>
                <a:spcPts val="400"/>
              </a:spcBef>
              <a:buNone/>
            </a:pPr>
            <a:r>
              <a:rPr lang="en-US" sz="1400" dirty="0">
                <a:solidFill>
                  <a:srgbClr val="000000"/>
                </a:solidFill>
                <a:latin typeface="Arial"/>
                <a:cs typeface="Arial"/>
              </a:rPr>
              <a:t>D: Thiết kế (Design)</a:t>
            </a:r>
          </a:p>
          <a:p>
            <a:pPr marL="0" indent="0" algn="ctr">
              <a:lnSpc>
                <a:spcPct val="104000"/>
              </a:lnSpc>
              <a:spcBef>
                <a:spcPts val="400"/>
              </a:spcBef>
              <a:buNone/>
            </a:pPr>
            <a:r>
              <a:rPr lang="en-US" sz="1400" dirty="0">
                <a:solidFill>
                  <a:srgbClr val="000000"/>
                </a:solidFill>
                <a:latin typeface="Arial"/>
                <a:cs typeface="Arial"/>
              </a:rPr>
              <a:t>E: Đánh giá, R: Loại nghiên cứu</a:t>
            </a:r>
          </a:p>
          <a:p>
            <a:pPr marL="0" indent="0" algn="ctr">
              <a:lnSpc>
                <a:spcPct val="104000"/>
              </a:lnSpc>
              <a:spcBef>
                <a:spcPts val="400"/>
              </a:spcBef>
              <a:buNone/>
            </a:pPr>
            <a:r>
              <a:rPr lang="en-US" sz="1400" i="1" dirty="0">
                <a:solidFill>
                  <a:srgbClr val="000000"/>
                </a:solidFill>
                <a:latin typeface="Arial"/>
                <a:cs typeface="Arial"/>
              </a:rPr>
              <a:t>Ví dụ: điều dưỡng ICU trải nghiệm việc ngừng dịch truyền như thế nào, qua phỏng vấn?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Chữ cái thay đổi, nhưng nguyên tắc giữ nguyên: nói rõ ràng.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Luyện thêm: trượt tiêu chí FINER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4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Mọi người lớn nằm viện trong cả nước: vitamin D có giảm tử vong trong 10 năm?</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Sốc nhiễm khuẩn: hoãn kháng sinh 24 giờ có giảm kháng thuốc?</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Điều dưỡng ICU có rửa tay không? (đã audit hằng tháng suốt 5 năm)</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Viêm phổi: màu của tờ y lệnh có ảnh hưởng tử vong 28 ngày?</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câu một chữ cái, trong bình chọn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Mơ hồ và trả lời được: thêm một ví dụ tại khoa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35249"/>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Mơ hồ</a:t>
            </a:r>
          </a:p>
        </p:txBody>
      </p:sp>
      <p:sp>
        <p:nvSpPr>
          <p:cNvPr id="71" name="CardBody"/>
          <p:cNvSpPr/>
          <p:nvPr/>
        </p:nvSpPr>
        <p:spPr>
          <a:xfrm>
            <a:off x="4572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b="1" dirty="0">
                <a:solidFill>
                  <a:srgbClr val="000000"/>
                </a:solidFill>
                <a:latin typeface="Arial"/>
                <a:cs typeface="Arial"/>
              </a:rPr>
              <a:t>"Ca đêm có gây sai sót thuốc không?"</a:t>
            </a:r>
          </a:p>
          <a:p>
            <a:pPr marL="0" indent="0" algn="ctr">
              <a:lnSpc>
                <a:spcPct val="104000"/>
              </a:lnSpc>
              <a:spcBef>
                <a:spcPts val="400"/>
              </a:spcBef>
              <a:buNone/>
            </a:pPr>
            <a:r>
              <a:rPr lang="en-US" sz="1950" dirty="0">
                <a:solidFill>
                  <a:srgbClr val="000000"/>
                </a:solidFill>
                <a:latin typeface="Arial"/>
                <a:cs typeface="Arial"/>
              </a:rPr>
              <a:t>Nhân viên nào?</a:t>
            </a:r>
          </a:p>
          <a:p>
            <a:pPr marL="0" indent="0" algn="ctr">
              <a:lnSpc>
                <a:spcPct val="104000"/>
              </a:lnSpc>
              <a:spcBef>
                <a:spcPts val="400"/>
              </a:spcBef>
              <a:buNone/>
            </a:pPr>
            <a:r>
              <a:rPr lang="en-US" sz="1950" dirty="0">
                <a:solidFill>
                  <a:srgbClr val="000000"/>
                </a:solidFill>
                <a:latin typeface="Arial"/>
                <a:cs typeface="Arial"/>
              </a:rPr>
              <a:t>So với cái gì?</a:t>
            </a:r>
          </a:p>
          <a:p>
            <a:pPr marL="0" indent="0" algn="ctr">
              <a:lnSpc>
                <a:spcPct val="104000"/>
              </a:lnSpc>
              <a:spcBef>
                <a:spcPts val="400"/>
              </a:spcBef>
              <a:buNone/>
            </a:pPr>
            <a:r>
              <a:rPr lang="en-US" sz="1950" dirty="0">
                <a:solidFill>
                  <a:srgbClr val="000000"/>
                </a:solidFill>
                <a:latin typeface="Arial"/>
                <a:cs typeface="Arial"/>
              </a:rPr>
              <a:t>Sai sót nào, đếm thế nào?</a:t>
            </a:r>
          </a:p>
          <a:p>
            <a:pPr marL="0" indent="0" algn="ctr">
              <a:lnSpc>
                <a:spcPct val="104000"/>
              </a:lnSpc>
              <a:spcBef>
                <a:spcPts val="400"/>
              </a:spcBef>
              <a:buNone/>
            </a:pPr>
            <a:r>
              <a:rPr lang="en-US" sz="1950" dirty="0">
                <a:solidFill>
                  <a:srgbClr val="000000"/>
                </a:solidFill>
                <a:latin typeface="Arial"/>
                <a:cs typeface="Arial"/>
              </a:rPr>
              <a:t>Trong bao lâu?</a:t>
            </a:r>
          </a:p>
        </p:txBody>
      </p:sp>
      <p:sp>
        <p:nvSpPr>
          <p:cNvPr id="72" name="CardHead"/>
          <p:cNvSpPr/>
          <p:nvPr/>
        </p:nvSpPr>
        <p:spPr>
          <a:xfrm>
            <a:off x="6196000" y="1535249"/>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Trả lời được, nhờ PECO</a:t>
            </a:r>
          </a:p>
        </p:txBody>
      </p:sp>
      <p:sp>
        <p:nvSpPr>
          <p:cNvPr id="73" name="CardBody"/>
          <p:cNvSpPr/>
          <p:nvPr/>
        </p:nvSpPr>
        <p:spPr>
          <a:xfrm>
            <a:off x="61960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dirty="0">
                <a:solidFill>
                  <a:srgbClr val="000000"/>
                </a:solidFill>
                <a:latin typeface="Arial"/>
                <a:cs typeface="Arial"/>
              </a:rPr>
              <a:t>P: Ở điều dưỡng khoa phòng,</a:t>
            </a:r>
          </a:p>
          <a:p>
            <a:pPr marL="0" indent="0" algn="ctr">
              <a:lnSpc>
                <a:spcPct val="104000"/>
              </a:lnSpc>
              <a:spcBef>
                <a:spcPts val="400"/>
              </a:spcBef>
              <a:buNone/>
            </a:pPr>
            <a:r>
              <a:rPr lang="en-US" sz="1950" dirty="0">
                <a:solidFill>
                  <a:srgbClr val="000000"/>
                </a:solidFill>
                <a:latin typeface="Arial"/>
                <a:cs typeface="Arial"/>
              </a:rPr>
              <a:t>E: làm ca đêm,</a:t>
            </a:r>
          </a:p>
          <a:p>
            <a:pPr marL="0" indent="0" algn="ctr">
              <a:lnSpc>
                <a:spcPct val="104000"/>
              </a:lnSpc>
              <a:spcBef>
                <a:spcPts val="400"/>
              </a:spcBef>
              <a:buNone/>
            </a:pPr>
            <a:r>
              <a:rPr lang="en-US" sz="1950" dirty="0">
                <a:solidFill>
                  <a:srgbClr val="000000"/>
                </a:solidFill>
                <a:latin typeface="Arial"/>
                <a:cs typeface="Arial"/>
              </a:rPr>
              <a:t>C: so với ca ngày,</a:t>
            </a:r>
          </a:p>
          <a:p>
            <a:pPr marL="0" indent="0" algn="ctr">
              <a:lnSpc>
                <a:spcPct val="104000"/>
              </a:lnSpc>
              <a:spcBef>
                <a:spcPts val="400"/>
              </a:spcBef>
              <a:buNone/>
            </a:pPr>
            <a:r>
              <a:rPr lang="en-US" sz="1950" dirty="0">
                <a:solidFill>
                  <a:srgbClr val="000000"/>
                </a:solidFill>
                <a:latin typeface="Arial"/>
                <a:cs typeface="Arial"/>
              </a:rPr>
              <a:t>O: có liên quan với nhiều sai sót hơn trên 1000 liều thuốc</a:t>
            </a:r>
          </a:p>
          <a:p>
            <a:pPr marL="0" indent="0" algn="ctr">
              <a:lnSpc>
                <a:spcPct val="104000"/>
              </a:lnSpc>
              <a:spcBef>
                <a:spcPts val="400"/>
              </a:spcBef>
              <a:buNone/>
            </a:pPr>
            <a:r>
              <a:rPr lang="en-US" sz="1950" dirty="0">
                <a:solidFill>
                  <a:srgbClr val="000000"/>
                </a:solidFill>
                <a:latin typeface="Arial"/>
                <a:cs typeface="Arial"/>
              </a:rPr>
              <a:t>T: trong 6 tháng không?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Luyện tại khoa của bạn: lấy một câu hỏi hành lang và điền vào các ô.</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